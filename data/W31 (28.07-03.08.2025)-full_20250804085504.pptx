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xml" ContentType="application/vnd.openxmlformats-officedocument.presentationml.tags+xml"/>
  <Override PartName="/ppt/notesSlides/notesSlide24.xml" ContentType="application/vnd.openxmlformats-officedocument.presentationml.notesSlide+xml"/>
  <Override PartName="/ppt/charts/chart7.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3.xml" ContentType="application/vnd.openxmlformats-officedocument.drawingml.chart+xml"/>
  <Override PartName="/ppt/notesSlides/notesSlide37.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notesSlides/notesSlide38.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39.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70"/>
  </p:notesMasterIdLst>
  <p:sldIdLst>
    <p:sldId id="11486" r:id="rId5"/>
    <p:sldId id="11487" r:id="rId6"/>
    <p:sldId id="11488" r:id="rId7"/>
    <p:sldId id="12939" r:id="rId8"/>
    <p:sldId id="11493" r:id="rId9"/>
    <p:sldId id="12940" r:id="rId10"/>
    <p:sldId id="12941" r:id="rId11"/>
    <p:sldId id="12942" r:id="rId12"/>
    <p:sldId id="12943" r:id="rId13"/>
    <p:sldId id="12944" r:id="rId14"/>
    <p:sldId id="12945" r:id="rId15"/>
    <p:sldId id="12946" r:id="rId16"/>
    <p:sldId id="12573" r:id="rId17"/>
    <p:sldId id="12947" r:id="rId18"/>
    <p:sldId id="12948" r:id="rId19"/>
    <p:sldId id="12962" r:id="rId20"/>
    <p:sldId id="12963" r:id="rId21"/>
    <p:sldId id="12949" r:id="rId22"/>
    <p:sldId id="12950" r:id="rId23"/>
    <p:sldId id="12964" r:id="rId24"/>
    <p:sldId id="12965" r:id="rId25"/>
    <p:sldId id="12951" r:id="rId26"/>
    <p:sldId id="12612" r:id="rId27"/>
    <p:sldId id="12952" r:id="rId28"/>
    <p:sldId id="12909" r:id="rId29"/>
    <p:sldId id="12910" r:id="rId30"/>
    <p:sldId id="12911" r:id="rId31"/>
    <p:sldId id="12912" r:id="rId32"/>
    <p:sldId id="12913" r:id="rId33"/>
    <p:sldId id="12953" r:id="rId34"/>
    <p:sldId id="12954" r:id="rId35"/>
    <p:sldId id="12955" r:id="rId36"/>
    <p:sldId id="12956" r:id="rId37"/>
    <p:sldId id="12957" r:id="rId38"/>
    <p:sldId id="12958" r:id="rId39"/>
    <p:sldId id="12959" r:id="rId40"/>
    <p:sldId id="12960" r:id="rId41"/>
    <p:sldId id="12961" r:id="rId42"/>
    <p:sldId id="12966" r:id="rId43"/>
    <p:sldId id="12933" r:id="rId44"/>
    <p:sldId id="12934" r:id="rId45"/>
    <p:sldId id="12935" r:id="rId46"/>
    <p:sldId id="11545" r:id="rId47"/>
    <p:sldId id="12936" r:id="rId48"/>
    <p:sldId id="12937" r:id="rId49"/>
    <p:sldId id="12938" r:id="rId50"/>
    <p:sldId id="12915" r:id="rId51"/>
    <p:sldId id="12916" r:id="rId52"/>
    <p:sldId id="12917" r:id="rId53"/>
    <p:sldId id="12918" r:id="rId54"/>
    <p:sldId id="12919" r:id="rId55"/>
    <p:sldId id="12920" r:id="rId56"/>
    <p:sldId id="12921" r:id="rId57"/>
    <p:sldId id="12922" r:id="rId58"/>
    <p:sldId id="12923" r:id="rId59"/>
    <p:sldId id="12924" r:id="rId60"/>
    <p:sldId id="12925" r:id="rId61"/>
    <p:sldId id="12926" r:id="rId62"/>
    <p:sldId id="12927" r:id="rId63"/>
    <p:sldId id="12928" r:id="rId64"/>
    <p:sldId id="12929" r:id="rId65"/>
    <p:sldId id="12930" r:id="rId66"/>
    <p:sldId id="12931" r:id="rId67"/>
    <p:sldId id="12932" r:id="rId68"/>
    <p:sldId id="11888" r:id="rId6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5F6E"/>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2" autoAdjust="0"/>
    <p:restoredTop sz="94374" autoAdjust="0"/>
  </p:normalViewPr>
  <p:slideViewPr>
    <p:cSldViewPr>
      <p:cViewPr varScale="1">
        <p:scale>
          <a:sx n="113" d="100"/>
          <a:sy n="113" d="100"/>
        </p:scale>
        <p:origin x="322" y="67"/>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2" Type="http://schemas.openxmlformats.org/officeDocument/2006/relationships/oleObject" Target="file:///D:\Documents\01.%20VNA\01.%20MOC\02.%20C&#244;ng%20vi&#7879;c%20chung\03.%20B&#225;o%20c&#225;o%20tu&#7847;n\2025%20W31\W31%20(28.07-03.08.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31\W31%20(28.07-03.08.2025).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31\W31%20(28.07-03.08.2025).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31\W31%20(28.07-03.08.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31\W31%20(28.07-03.08.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31\W31%20(28.07-03.08.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31\DR-W31.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31\W31%20(28.07-03.08.2025).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'[W31 (28.07-03.08.2025).xlsx]Data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'[W31 (28.07-03.08.2025).xlsx]Data Chart'!$B$11:$B$16</c:f>
              <c:strCache>
                <c:ptCount val="6"/>
                <c:pt idx="0">
                  <c:v>A320</c:v>
                </c:pt>
                <c:pt idx="1">
                  <c:v>A321</c:v>
                </c:pt>
                <c:pt idx="2">
                  <c:v>A350</c:v>
                </c:pt>
                <c:pt idx="3">
                  <c:v>B787</c:v>
                </c:pt>
                <c:pt idx="4">
                  <c:v>ATR72</c:v>
                </c:pt>
                <c:pt idx="5">
                  <c:v>Tất cả</c:v>
                </c:pt>
              </c:strCache>
            </c:strRef>
          </c:cat>
          <c:val>
            <c:numRef>
              <c:f>'[W31 (28.07-03.08.2025).xlsx]Data Chart'!$C$11:$C$16</c:f>
              <c:numCache>
                <c:formatCode>General</c:formatCode>
                <c:ptCount val="6"/>
                <c:pt idx="0">
                  <c:v>0</c:v>
                </c:pt>
                <c:pt idx="1">
                  <c:v>6</c:v>
                </c:pt>
                <c:pt idx="2">
                  <c:v>1</c:v>
                </c:pt>
                <c:pt idx="3">
                  <c:v>2</c:v>
                </c:pt>
                <c:pt idx="4">
                  <c:v>2</c:v>
                </c:pt>
                <c:pt idx="5">
                  <c:v>11</c:v>
                </c:pt>
              </c:numCache>
            </c:numRef>
          </c:val>
          <c:extLst xmlns:c15="http://schemas.microsoft.com/office/drawing/2012/chart">
            <c:ext xmlns:c16="http://schemas.microsoft.com/office/drawing/2014/chart" uri="{C3380CC4-5D6E-409C-BE32-E72D297353CC}">
              <c16:uniqueId val="{00000000-AB7D-40F4-9E7E-E4A19E351A11}"/>
            </c:ext>
          </c:extLst>
        </c:ser>
        <c:ser>
          <c:idx val="1"/>
          <c:order val="1"/>
          <c:tx>
            <c:strRef>
              <c:f>'[W31 (28.07-03.08.2025).xlsx]Data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'[W31 (28.07-03.08.2025).xlsx]Data Chart'!$B$11:$B$16</c:f>
              <c:strCache>
                <c:ptCount val="6"/>
                <c:pt idx="0">
                  <c:v>A320</c:v>
                </c:pt>
                <c:pt idx="1">
                  <c:v>A321</c:v>
                </c:pt>
                <c:pt idx="2">
                  <c:v>A350</c:v>
                </c:pt>
                <c:pt idx="3">
                  <c:v>B787</c:v>
                </c:pt>
                <c:pt idx="4">
                  <c:v>ATR72</c:v>
                </c:pt>
                <c:pt idx="5">
                  <c:v>Tất cả</c:v>
                </c:pt>
              </c:strCache>
            </c:strRef>
          </c:cat>
          <c:val>
            <c:numRef>
              <c:f>'[W31 (28.07-03.08.2025).xlsx]Data Chart'!$D$11:$D$16</c:f>
              <c:numCache>
                <c:formatCode>General</c:formatCode>
                <c:ptCount val="6"/>
                <c:pt idx="0">
                  <c:v>0</c:v>
                </c:pt>
                <c:pt idx="1">
                  <c:v>10</c:v>
                </c:pt>
                <c:pt idx="2">
                  <c:v>1</c:v>
                </c:pt>
                <c:pt idx="3">
                  <c:v>2</c:v>
                </c:pt>
                <c:pt idx="4">
                  <c:v>1</c:v>
                </c:pt>
                <c:pt idx="5">
                  <c:v>14</c:v>
                </c:pt>
              </c:numCache>
            </c:numRef>
          </c:val>
          <c:extLst>
            <c:ext xmlns:c16="http://schemas.microsoft.com/office/drawing/2014/chart" uri="{C3380CC4-5D6E-409C-BE32-E72D297353CC}">
              <c16:uniqueId val="{00000001-AB7D-40F4-9E7E-E4A19E351A11}"/>
            </c:ext>
          </c:extLst>
        </c:ser>
        <c:dLbls>
          <c:dLblPos val="outEnd"/>
          <c:showLegendKey val="0"/>
          <c:showVal val="1"/>
          <c:showCatName val="0"/>
          <c:showSerName val="0"/>
          <c:showPercent val="0"/>
          <c:showBubbleSize val="0"/>
        </c:dLbls>
        <c:gapWidth val="219"/>
        <c:overlap val="-27"/>
        <c:axId val="390760432"/>
        <c:axId val="390762392"/>
        <c:extLst/>
      </c:barChart>
      <c:catAx>
        <c:axId val="39076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762392"/>
        <c:crosses val="autoZero"/>
        <c:auto val="1"/>
        <c:lblAlgn val="ctr"/>
        <c:lblOffset val="100"/>
        <c:noMultiLvlLbl val="0"/>
      </c:catAx>
      <c:valAx>
        <c:axId val="390762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76043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'[W31 (28.07-03.08.2025).xlsx]Data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'[W31 (28.07-03.08.2025).xlsx]Data Chart'!$B$21:$B$26</c:f>
              <c:strCache>
                <c:ptCount val="6"/>
                <c:pt idx="0">
                  <c:v>A320</c:v>
                </c:pt>
                <c:pt idx="1">
                  <c:v>A321</c:v>
                </c:pt>
                <c:pt idx="2">
                  <c:v>A350</c:v>
                </c:pt>
                <c:pt idx="3">
                  <c:v>B787</c:v>
                </c:pt>
                <c:pt idx="4">
                  <c:v>ATR72</c:v>
                </c:pt>
                <c:pt idx="5">
                  <c:v>Tất cả</c:v>
                </c:pt>
              </c:strCache>
            </c:strRef>
          </c:cat>
          <c:val>
            <c:numRef>
              <c:f>'[W31 (28.07-03.08.2025).xlsx]Data Chart'!$C$21:$C$26</c:f>
              <c:numCache>
                <c:formatCode>General</c:formatCode>
                <c:ptCount val="6"/>
                <c:pt idx="0">
                  <c:v>0</c:v>
                </c:pt>
                <c:pt idx="1">
                  <c:v>0</c:v>
                </c:pt>
                <c:pt idx="2">
                  <c:v>1</c:v>
                </c:pt>
                <c:pt idx="3">
                  <c:v>0</c:v>
                </c:pt>
                <c:pt idx="4">
                  <c:v>0</c:v>
                </c:pt>
                <c:pt idx="5">
                  <c:v>1</c:v>
                </c:pt>
              </c:numCache>
            </c:numRef>
          </c:val>
          <c:extLst xmlns:c15="http://schemas.microsoft.com/office/drawing/2012/chart">
            <c:ext xmlns:c16="http://schemas.microsoft.com/office/drawing/2014/chart" uri="{C3380CC4-5D6E-409C-BE32-E72D297353CC}">
              <c16:uniqueId val="{00000000-EB79-48CB-9E14-76859E72DE0E}"/>
            </c:ext>
          </c:extLst>
        </c:ser>
        <c:ser>
          <c:idx val="1"/>
          <c:order val="1"/>
          <c:tx>
            <c:strRef>
              <c:f>'[W31 (28.07-03.08.2025).xlsx]Data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'[W31 (28.07-03.08.2025).xlsx]Data Chart'!$B$21:$B$26</c:f>
              <c:strCache>
                <c:ptCount val="6"/>
                <c:pt idx="0">
                  <c:v>A320</c:v>
                </c:pt>
                <c:pt idx="1">
                  <c:v>A321</c:v>
                </c:pt>
                <c:pt idx="2">
                  <c:v>A350</c:v>
                </c:pt>
                <c:pt idx="3">
                  <c:v>B787</c:v>
                </c:pt>
                <c:pt idx="4">
                  <c:v>ATR72</c:v>
                </c:pt>
                <c:pt idx="5">
                  <c:v>Tất cả</c:v>
                </c:pt>
              </c:strCache>
            </c:strRef>
          </c:cat>
          <c:val>
            <c:numRef>
              <c:f>'[W31 (28.07-03.08.2025).xlsx]Data Chart'!$D$21:$D$26</c:f>
              <c:numCache>
                <c:formatCode>General</c:formatCode>
                <c:ptCount val="6"/>
                <c:pt idx="0">
                  <c:v>0</c:v>
                </c:pt>
                <c:pt idx="1">
                  <c:v>1</c:v>
                </c:pt>
                <c:pt idx="2">
                  <c:v>1</c:v>
                </c:pt>
                <c:pt idx="3">
                  <c:v>0</c:v>
                </c:pt>
                <c:pt idx="4">
                  <c:v>0</c:v>
                </c:pt>
                <c:pt idx="5">
                  <c:v>2</c:v>
                </c:pt>
              </c:numCache>
            </c:numRef>
          </c:val>
          <c:extLst>
            <c:ext xmlns:c16="http://schemas.microsoft.com/office/drawing/2014/chart" uri="{C3380CC4-5D6E-409C-BE32-E72D297353CC}">
              <c16:uniqueId val="{00000001-EB79-48CB-9E14-76859E72DE0E}"/>
            </c:ext>
          </c:extLst>
        </c:ser>
        <c:dLbls>
          <c:showLegendKey val="0"/>
          <c:showVal val="0"/>
          <c:showCatName val="0"/>
          <c:showSerName val="0"/>
          <c:showPercent val="0"/>
          <c:showBubbleSize val="0"/>
        </c:dLbls>
        <c:gapWidth val="219"/>
        <c:overlap val="-27"/>
        <c:axId val="313882640"/>
        <c:axId val="313886168"/>
        <c:extLst/>
      </c:barChart>
      <c:catAx>
        <c:axId val="313882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6168"/>
        <c:crosses val="autoZero"/>
        <c:auto val="1"/>
        <c:lblAlgn val="ctr"/>
        <c:lblOffset val="100"/>
        <c:noMultiLvlLbl val="0"/>
      </c:catAx>
      <c:valAx>
        <c:axId val="313886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264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'[W31 (28.07-03.08.2025).xlsx]Data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'[W31 (28.07-03.08.2025).xlsx]Data Chart'!$B$3:$B$8</c:f>
              <c:strCache>
                <c:ptCount val="6"/>
                <c:pt idx="0">
                  <c:v>A320</c:v>
                </c:pt>
                <c:pt idx="1">
                  <c:v>A321</c:v>
                </c:pt>
                <c:pt idx="2">
                  <c:v>A350</c:v>
                </c:pt>
                <c:pt idx="3">
                  <c:v>B787</c:v>
                </c:pt>
                <c:pt idx="4">
                  <c:v>ATR72</c:v>
                </c:pt>
                <c:pt idx="5">
                  <c:v>Tất cả</c:v>
                </c:pt>
              </c:strCache>
            </c:strRef>
          </c:cat>
          <c:val>
            <c:numRef>
              <c:f>'[W31 (28.07-03.08.2025).xlsx]Data Chart'!$C$3:$C$8</c:f>
              <c:numCache>
                <c:formatCode>General</c:formatCode>
                <c:ptCount val="6"/>
                <c:pt idx="0">
                  <c:v>0</c:v>
                </c:pt>
                <c:pt idx="1">
                  <c:v>0</c:v>
                </c:pt>
                <c:pt idx="2">
                  <c:v>0</c:v>
                </c:pt>
                <c:pt idx="3">
                  <c:v>0</c:v>
                </c:pt>
                <c:pt idx="4">
                  <c:v>1</c:v>
                </c:pt>
                <c:pt idx="5">
                  <c:v>1</c:v>
                </c:pt>
              </c:numCache>
            </c:numRef>
          </c:val>
          <c:extLst xmlns:c15="http://schemas.microsoft.com/office/drawing/2012/chart">
            <c:ext xmlns:c16="http://schemas.microsoft.com/office/drawing/2014/chart" uri="{C3380CC4-5D6E-409C-BE32-E72D297353CC}">
              <c16:uniqueId val="{00000000-4CD9-45DD-BDC0-1F7FE1CD9473}"/>
            </c:ext>
          </c:extLst>
        </c:ser>
        <c:ser>
          <c:idx val="1"/>
          <c:order val="1"/>
          <c:tx>
            <c:strRef>
              <c:f>'[W31 (28.07-03.08.2025).xlsx]Data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'[W31 (28.07-03.08.2025).xlsx]Data Chart'!$B$3:$B$8</c:f>
              <c:strCache>
                <c:ptCount val="6"/>
                <c:pt idx="0">
                  <c:v>A320</c:v>
                </c:pt>
                <c:pt idx="1">
                  <c:v>A321</c:v>
                </c:pt>
                <c:pt idx="2">
                  <c:v>A350</c:v>
                </c:pt>
                <c:pt idx="3">
                  <c:v>B787</c:v>
                </c:pt>
                <c:pt idx="4">
                  <c:v>ATR72</c:v>
                </c:pt>
                <c:pt idx="5">
                  <c:v>Tất cả</c:v>
                </c:pt>
              </c:strCache>
            </c:strRef>
          </c:cat>
          <c:val>
            <c:numRef>
              <c:f>'[W31 (28.07-03.08.2025).xlsx]Data Chart'!$D$3:$D$8</c:f>
              <c:numCache>
                <c:formatCode>General</c:formatCode>
                <c:ptCount val="6"/>
                <c:pt idx="0">
                  <c:v>0</c:v>
                </c:pt>
                <c:pt idx="1">
                  <c:v>2</c:v>
                </c:pt>
                <c:pt idx="2">
                  <c:v>0</c:v>
                </c:pt>
                <c:pt idx="3">
                  <c:v>0</c:v>
                </c:pt>
                <c:pt idx="4">
                  <c:v>0</c:v>
                </c:pt>
                <c:pt idx="5">
                  <c:v>2</c:v>
                </c:pt>
              </c:numCache>
            </c:numRef>
          </c:val>
          <c:extLst>
            <c:ext xmlns:c16="http://schemas.microsoft.com/office/drawing/2014/chart" uri="{C3380CC4-5D6E-409C-BE32-E72D297353CC}">
              <c16:uniqueId val="{00000001-4CD9-45DD-BDC0-1F7FE1CD9473}"/>
            </c:ext>
          </c:extLst>
        </c:ser>
        <c:dLbls>
          <c:dLblPos val="outEnd"/>
          <c:showLegendKey val="0"/>
          <c:showVal val="1"/>
          <c:showCatName val="0"/>
          <c:showSerName val="0"/>
          <c:showPercent val="0"/>
          <c:showBubbleSize val="0"/>
        </c:dLbls>
        <c:gapWidth val="219"/>
        <c:overlap val="-27"/>
        <c:axId val="313881072"/>
        <c:axId val="379423472"/>
        <c:extLst/>
      </c:barChart>
      <c:catAx>
        <c:axId val="313881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3472"/>
        <c:crosses val="autoZero"/>
        <c:auto val="1"/>
        <c:lblAlgn val="ctr"/>
        <c:lblOffset val="100"/>
        <c:noMultiLvlLbl val="0"/>
      </c:catAx>
      <c:valAx>
        <c:axId val="379423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1072"/>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'[W31 (28.07-03.08.2025).xlsx]Data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'[W31 (28.07-03.08.2025).xlsx]Data Chart'!$B$28:$B$33</c:f>
              <c:strCache>
                <c:ptCount val="6"/>
                <c:pt idx="0">
                  <c:v>A320</c:v>
                </c:pt>
                <c:pt idx="1">
                  <c:v>A321</c:v>
                </c:pt>
                <c:pt idx="2">
                  <c:v>A350</c:v>
                </c:pt>
                <c:pt idx="3">
                  <c:v>B787</c:v>
                </c:pt>
                <c:pt idx="4">
                  <c:v>ATR72</c:v>
                </c:pt>
                <c:pt idx="5">
                  <c:v>Tất cả</c:v>
                </c:pt>
              </c:strCache>
            </c:strRef>
          </c:cat>
          <c:val>
            <c:numRef>
              <c:f>'[W31 (28.07-03.08.2025).xlsx]Data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7EBA-4974-A1F8-E2C2F9A29F19}"/>
            </c:ext>
          </c:extLst>
        </c:ser>
        <c:ser>
          <c:idx val="1"/>
          <c:order val="1"/>
          <c:tx>
            <c:strRef>
              <c:f>'[W31 (28.07-03.08.2025).xlsx]Data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'[W31 (28.07-03.08.2025).xlsx]Data Chart'!$B$28:$B$33</c:f>
              <c:strCache>
                <c:ptCount val="6"/>
                <c:pt idx="0">
                  <c:v>A320</c:v>
                </c:pt>
                <c:pt idx="1">
                  <c:v>A321</c:v>
                </c:pt>
                <c:pt idx="2">
                  <c:v>A350</c:v>
                </c:pt>
                <c:pt idx="3">
                  <c:v>B787</c:v>
                </c:pt>
                <c:pt idx="4">
                  <c:v>ATR72</c:v>
                </c:pt>
                <c:pt idx="5">
                  <c:v>Tất cả</c:v>
                </c:pt>
              </c:strCache>
            </c:strRef>
          </c:cat>
          <c:val>
            <c:numRef>
              <c:f>'[W31 (28.07-03.08.2025).xlsx]Data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7EBA-4974-A1F8-E2C2F9A29F19}"/>
            </c:ext>
          </c:extLst>
        </c:ser>
        <c:dLbls>
          <c:showLegendKey val="0"/>
          <c:showVal val="0"/>
          <c:showCatName val="0"/>
          <c:showSerName val="0"/>
          <c:showPercent val="0"/>
          <c:showBubbleSize val="0"/>
        </c:dLbls>
        <c:gapWidth val="219"/>
        <c:overlap val="-27"/>
        <c:axId val="379421120"/>
        <c:axId val="379421512"/>
        <c:extLst/>
      </c:barChart>
      <c:catAx>
        <c:axId val="379421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1512"/>
        <c:crosses val="autoZero"/>
        <c:auto val="1"/>
        <c:lblAlgn val="ctr"/>
        <c:lblOffset val="100"/>
        <c:noMultiLvlLbl val="0"/>
      </c:catAx>
      <c:valAx>
        <c:axId val="379421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112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'[W31 (28.07-03.08.2025).xlsx]Thống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'[W31 (28.07-03.08.2025).xlsx]Thống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F6DE-4CAE-A02B-3B820102162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'[W31 (28.07-03.08.2025).xlsx]Thống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'[W31 (28.07-03.08.2025).xlsx]Thống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pt idx="22">
                  <c:v>0</c:v>
                </c:pt>
                <c:pt idx="23">
                  <c:v>0</c:v>
                </c:pt>
                <c:pt idx="24">
                  <c:v>0</c:v>
                </c:pt>
                <c:pt idx="25">
                  <c:v>0</c:v>
                </c:pt>
                <c:pt idx="26">
                  <c:v>0</c:v>
                </c:pt>
                <c:pt idx="27">
                  <c:v>0</c:v>
                </c:pt>
                <c:pt idx="28">
                  <c:v>1</c:v>
                </c:pt>
                <c:pt idx="29">
                  <c:v>0</c:v>
                </c:pt>
                <c:pt idx="30">
                  <c:v>0</c:v>
                </c:pt>
              </c:numCache>
            </c:numRef>
          </c:val>
          <c:smooth val="0"/>
          <c:extLst>
            <c:ext xmlns:c16="http://schemas.microsoft.com/office/drawing/2014/chart" uri="{C3380CC4-5D6E-409C-BE32-E72D297353CC}">
              <c16:uniqueId val="{00000001-F6DE-4CAE-A02B-3B8201021624}"/>
            </c:ext>
          </c:extLst>
        </c:ser>
        <c:dLbls>
          <c:showLegendKey val="0"/>
          <c:showVal val="0"/>
          <c:showCatName val="0"/>
          <c:showSerName val="0"/>
          <c:showPercent val="0"/>
          <c:showBubbleSize val="0"/>
        </c:dLbls>
        <c:marker val="1"/>
        <c:smooth val="0"/>
        <c:axId val="382763448"/>
        <c:axId val="382760312"/>
      </c:lineChart>
      <c:catAx>
        <c:axId val="3827634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60312"/>
        <c:crosses val="autoZero"/>
        <c:auto val="1"/>
        <c:lblAlgn val="ctr"/>
        <c:lblOffset val="100"/>
        <c:noMultiLvlLbl val="0"/>
      </c:catAx>
      <c:valAx>
        <c:axId val="3827603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63448"/>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'[W31 (28.07-03.08.2025).xlsx]Thống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FDCB-43EE-8E66-405D32009731}"/>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'[W31 (28.07-03.08.2025).xlsx]Thống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pt idx="22">
                  <c:v>3</c:v>
                </c:pt>
                <c:pt idx="23">
                  <c:v>5</c:v>
                </c:pt>
                <c:pt idx="24">
                  <c:v>2</c:v>
                </c:pt>
                <c:pt idx="25">
                  <c:v>1</c:v>
                </c:pt>
                <c:pt idx="26">
                  <c:v>1</c:v>
                </c:pt>
                <c:pt idx="27">
                  <c:v>1</c:v>
                </c:pt>
                <c:pt idx="28">
                  <c:v>2</c:v>
                </c:pt>
                <c:pt idx="29">
                  <c:v>1</c:v>
                </c:pt>
                <c:pt idx="30">
                  <c:v>2</c:v>
                </c:pt>
              </c:numCache>
            </c:numRef>
          </c:val>
          <c:smooth val="0"/>
          <c:extLst>
            <c:ext xmlns:c16="http://schemas.microsoft.com/office/drawing/2014/chart" uri="{C3380CC4-5D6E-409C-BE32-E72D297353CC}">
              <c16:uniqueId val="{00000001-FDCB-43EE-8E66-405D32009731}"/>
            </c:ext>
          </c:extLst>
        </c:ser>
        <c:dLbls>
          <c:showLegendKey val="0"/>
          <c:showVal val="0"/>
          <c:showCatName val="0"/>
          <c:showSerName val="0"/>
          <c:showPercent val="0"/>
          <c:showBubbleSize val="0"/>
        </c:dLbls>
        <c:marker val="1"/>
        <c:smooth val="0"/>
        <c:axId val="382756000"/>
        <c:axId val="382756784"/>
      </c:lineChart>
      <c:catAx>
        <c:axId val="382756000"/>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56784"/>
        <c:crosses val="autoZero"/>
        <c:auto val="1"/>
        <c:lblAlgn val="ctr"/>
        <c:lblOffset val="100"/>
        <c:noMultiLvlLbl val="0"/>
      </c:catAx>
      <c:valAx>
        <c:axId val="3827567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56000"/>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W30</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D392-4138-9154-06B3DE6E5953}"/>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99.667405764966745</c:v>
                </c:pt>
                <c:pt idx="1">
                  <c:v>99.598393574297191</c:v>
                </c:pt>
                <c:pt idx="2">
                  <c:v>99.717514124293785</c:v>
                </c:pt>
                <c:pt idx="3">
                  <c:v>99.545454545454547</c:v>
                </c:pt>
              </c:numCache>
            </c:numRef>
          </c:val>
          <c:extLst>
            <c:ext xmlns:c16="http://schemas.microsoft.com/office/drawing/2014/chart" uri="{C3380CC4-5D6E-409C-BE32-E72D297353CC}">
              <c16:uniqueId val="{00000001-D392-4138-9154-06B3DE6E5953}"/>
            </c:ext>
          </c:extLst>
        </c:ser>
        <c:ser>
          <c:idx val="1"/>
          <c:order val="1"/>
          <c:tx>
            <c:strRef>
              <c:f>DR!$D$3</c:f>
              <c:strCache>
                <c:ptCount val="1"/>
                <c:pt idx="0">
                  <c:v>W31</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99.730354391371336</c:v>
                </c:pt>
                <c:pt idx="1">
                  <c:v>99.613899613899619</c:v>
                </c:pt>
                <c:pt idx="2">
                  <c:v>99.452054794520549</c:v>
                </c:pt>
                <c:pt idx="3">
                  <c:v>99.504950495049499</c:v>
                </c:pt>
              </c:numCache>
            </c:numRef>
          </c:val>
          <c:extLst>
            <c:ext xmlns:c16="http://schemas.microsoft.com/office/drawing/2014/chart" uri="{C3380CC4-5D6E-409C-BE32-E72D297353CC}">
              <c16:uniqueId val="{00000002-D392-4138-9154-06B3DE6E5953}"/>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392-4138-9154-06B3DE6E5953}"/>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D392-4138-9154-06B3DE6E5953}"/>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D392-4138-9154-06B3DE6E5953}"/>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Sheet1!$D$8:$BG$8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Sheet1!$D$9:$BG$9</c:f>
              <c:numCache>
                <c:formatCode>General</c:formatCode>
                <c:ptCount val="12"/>
                <c:pt idx="0">
                  <c:v>22</c:v>
                </c:pt>
                <c:pt idx="1">
                  <c:v>23</c:v>
                </c:pt>
                <c:pt idx="2">
                  <c:v>23</c:v>
                </c:pt>
                <c:pt idx="3">
                  <c:v>23</c:v>
                </c:pt>
                <c:pt idx="4">
                  <c:v>22</c:v>
                </c:pt>
                <c:pt idx="5">
                  <c:v>23</c:v>
                </c:pt>
                <c:pt idx="6">
                  <c:v>22</c:v>
                </c:pt>
                <c:pt idx="7">
                  <c:v>23</c:v>
                </c:pt>
                <c:pt idx="8">
                  <c:v>22</c:v>
                </c:pt>
                <c:pt idx="9">
                  <c:v>22</c:v>
                </c:pt>
                <c:pt idx="10">
                  <c:v>22</c:v>
                </c:pt>
                <c:pt idx="11">
                  <c:v>22</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Sheet1!$D$10:$BG$10</c:f>
              <c:numCache>
                <c:formatCode>General</c:formatCode>
                <c:ptCount val="12"/>
                <c:pt idx="0">
                  <c:v>3</c:v>
                </c:pt>
                <c:pt idx="1">
                  <c:v>3</c:v>
                </c:pt>
                <c:pt idx="2">
                  <c:v>3</c:v>
                </c:pt>
                <c:pt idx="3">
                  <c:v>3</c:v>
                </c:pt>
                <c:pt idx="4">
                  <c:v>2</c:v>
                </c:pt>
                <c:pt idx="5">
                  <c:v>2</c:v>
                </c:pt>
                <c:pt idx="6">
                  <c:v>3</c:v>
                </c:pt>
                <c:pt idx="7">
                  <c:v>4</c:v>
                </c:pt>
                <c:pt idx="8">
                  <c:v>4</c:v>
                </c:pt>
                <c:pt idx="9">
                  <c:v>4</c:v>
                </c:pt>
                <c:pt idx="10">
                  <c:v>4</c:v>
                </c:pt>
                <c:pt idx="11">
                  <c:v>4</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Sheet1!$D$11:$BG$11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Sheet1!$D$12:$BG$12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1940978800"/>
        <c:axId val="-1940985872"/>
      </c:lineChart>
      <c:catAx>
        <c:axId val="-1940978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85872"/>
        <c:crosses val="autoZero"/>
        <c:auto val="1"/>
        <c:lblAlgn val="ctr"/>
        <c:lblOffset val="100"/>
        <c:tickMarkSkip val="1"/>
        <c:noMultiLvlLbl val="0"/>
      </c:catAx>
      <c:valAx>
        <c:axId val="-194098587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78800"/>
        <c:crosses val="autoZero"/>
        <c:crossBetween val="between"/>
      </c:valAx>
      <c:spPr>
        <a:noFill/>
        <a:ln>
          <a:noFill/>
        </a:ln>
        <a:effectLst/>
      </c:spPr>
    </c:plotArea>
    <c:legend>
      <c:legendPos val="b"/>
      <c:layout>
        <c:manualLayout>
          <c:xMode val="edge"/>
          <c:yMode val="edge"/>
          <c:x val="0.64490601981203965"/>
          <c:y val="0.45304720402554688"/>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188228338235609E-2"/>
          <c:y val="7.642113830338218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General</c:formatCode>
                <c:ptCount val="12"/>
                <c:pt idx="0">
                  <c:v>14.25</c:v>
                </c:pt>
                <c:pt idx="1">
                  <c:v>13.75</c:v>
                </c:pt>
                <c:pt idx="2">
                  <c:v>15.25</c:v>
                </c:pt>
                <c:pt idx="3">
                  <c:v>15</c:v>
                </c:pt>
                <c:pt idx="4">
                  <c:v>14.5</c:v>
                </c:pt>
                <c:pt idx="5">
                  <c:v>12.25</c:v>
                </c:pt>
                <c:pt idx="6">
                  <c:v>10.75</c:v>
                </c:pt>
                <c:pt idx="7">
                  <c:v>11.75</c:v>
                </c:pt>
                <c:pt idx="8">
                  <c:v>11.5</c:v>
                </c:pt>
                <c:pt idx="9">
                  <c:v>11</c:v>
                </c:pt>
                <c:pt idx="10">
                  <c:v>10.25</c:v>
                </c:pt>
                <c:pt idx="11">
                  <c:v>10</c:v>
                </c:pt>
              </c:numCache>
            </c:numRef>
          </c:val>
          <c:smooth val="0"/>
          <c:extLst>
            <c:ext xmlns:c16="http://schemas.microsoft.com/office/drawing/2014/chart" uri="{C3380CC4-5D6E-409C-BE32-E72D297353CC}">
              <c16:uniqueId val="{00000001-6D6A-460E-8E11-3C956E9EF4D8}"/>
            </c:ext>
          </c:extLst>
        </c:ser>
        <c:ser>
          <c:idx val="0"/>
          <c:order val="1"/>
          <c:tx>
            <c:strRef>
              <c:f>Sheet1!#REF!</c:f>
              <c:strCache>
                <c:ptCount val="1"/>
                <c:pt idx="0">
                  <c:v>#REF!</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Pt>
            <c:idx val="5"/>
            <c:marker>
              <c:symbol val="circle"/>
              <c:size val="25"/>
              <c:spPr>
                <a:noFill/>
                <a:ln w="9525">
                  <a:noFill/>
                </a:ln>
                <a:effectLst/>
              </c:spPr>
            </c:marker>
            <c:bubble3D val="0"/>
            <c:spPr>
              <a:ln w="28575" cap="rnd">
                <a:noFill/>
                <a:round/>
              </a:ln>
              <a:effectLst/>
            </c:spPr>
            <c:extLst>
              <c:ext xmlns:c16="http://schemas.microsoft.com/office/drawing/2014/chart" uri="{C3380CC4-5D6E-409C-BE32-E72D297353CC}">
                <c16:uniqueId val="{00000002-BADC-4A39-B3FA-08B2A3E82B11}"/>
              </c:ext>
            </c:extLst>
          </c:dPt>
          <c:dLbls>
            <c:dLbl>
              <c:idx val="5"/>
              <c:delete val="1"/>
              <c:extLst>
                <c:ext xmlns:c15="http://schemas.microsoft.com/office/drawing/2012/chart" uri="{CE6537A1-D6FC-4f65-9D91-7224C49458BB}"/>
                <c:ext xmlns:c16="http://schemas.microsoft.com/office/drawing/2014/chart" uri="{C3380CC4-5D6E-409C-BE32-E72D297353CC}">
                  <c16:uniqueId val="{00000002-BADC-4A39-B3FA-08B2A3E82B1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Sheet1!#REF!</c:f>
              <c:numCache>
                <c:formatCode>General</c:formatCode>
                <c:ptCount val="1"/>
                <c:pt idx="0">
                  <c:v>1</c:v>
                </c:pt>
              </c:numCache>
            </c:numRef>
          </c:val>
          <c:smooth val="0"/>
          <c:extLst>
            <c:ext xmlns:c16="http://schemas.microsoft.com/office/drawing/2014/chart" uri="{C3380CC4-5D6E-409C-BE32-E72D297353CC}">
              <c16:uniqueId val="{00000001-BADC-4A39-B3FA-08B2A3E82B11}"/>
            </c:ext>
          </c:extLst>
        </c:ser>
        <c:dLbls>
          <c:dLblPos val="ctr"/>
          <c:showLegendKey val="0"/>
          <c:showVal val="1"/>
          <c:showCatName val="0"/>
          <c:showSerName val="0"/>
          <c:showPercent val="0"/>
          <c:showBubbleSize val="0"/>
        </c:dLbls>
        <c:marker val="1"/>
        <c:smooth val="0"/>
        <c:axId val="-1940979888"/>
        <c:axId val="-1940977712"/>
      </c:lineChart>
      <c:catAx>
        <c:axId val="-1940979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940977712"/>
        <c:crosses val="autoZero"/>
        <c:auto val="1"/>
        <c:lblAlgn val="ctr"/>
        <c:lblOffset val="100"/>
        <c:noMultiLvlLbl val="0"/>
      </c:catAx>
      <c:valAx>
        <c:axId val="-1940977712"/>
        <c:scaling>
          <c:orientation val="minMax"/>
          <c:max val="16"/>
          <c:min val="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940979888"/>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9.4401646448990392E-2"/>
          <c:y val="8.7481770046878113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Sheet1!$A$18:$A$37</c:f>
              <c:strCache>
                <c:ptCount val="20"/>
                <c:pt idx="0">
                  <c:v>Jul-W1</c:v>
                </c:pt>
                <c:pt idx="1">
                  <c:v>Jul-W2</c:v>
                </c:pt>
                <c:pt idx="2">
                  <c:v>Jul-W3</c:v>
                </c:pt>
                <c:pt idx="3">
                  <c:v>Jul-W4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pt idx="16">
                  <c:v>Nov-W1</c:v>
                </c:pt>
                <c:pt idx="17">
                  <c:v>Nov-W2</c:v>
                </c:pt>
                <c:pt idx="18">
                  <c:v>Nov-W3</c:v>
                </c:pt>
                <c:pt idx="19">
                  <c:v>Novv-W4</c:v>
                </c:pt>
              </c:strCache>
            </c:strRef>
          </c:cat>
          <c:val>
            <c:numRef>
              <c:f>Sheet1!$B$18:$B$37</c:f>
              <c:numCache>
                <c:formatCode>General</c:formatCode>
                <c:ptCount val="20"/>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pt idx="16">
                  <c:v>17</c:v>
                </c:pt>
                <c:pt idx="17">
                  <c:v>17</c:v>
                </c:pt>
                <c:pt idx="18">
                  <c:v>17</c:v>
                </c:pt>
                <c:pt idx="19">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1940984240"/>
        <c:axId val="-1940982608"/>
      </c:lineChart>
      <c:catAx>
        <c:axId val="-1940984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1940982608"/>
        <c:crosses val="autoZero"/>
        <c:auto val="1"/>
        <c:lblAlgn val="ctr"/>
        <c:lblOffset val="100"/>
        <c:noMultiLvlLbl val="0"/>
      </c:catAx>
      <c:valAx>
        <c:axId val="-194098260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940984240"/>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1.25</c:v>
                </c:pt>
                <c:pt idx="7">
                  <c:v>2</c:v>
                </c:pt>
                <c:pt idx="8">
                  <c:v>2</c:v>
                </c:pt>
                <c:pt idx="9">
                  <c:v>2</c:v>
                </c:pt>
                <c:pt idx="10">
                  <c:v>2</c:v>
                </c:pt>
                <c:pt idx="11">
                  <c:v>1</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1832174480"/>
        <c:axId val="-1832163600"/>
      </c:lineChart>
      <c:catAx>
        <c:axId val="-1832174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832163600"/>
        <c:crosses val="autoZero"/>
        <c:auto val="1"/>
        <c:lblAlgn val="ctr"/>
        <c:lblOffset val="100"/>
        <c:noMultiLvlLbl val="0"/>
      </c:catAx>
      <c:valAx>
        <c:axId val="-1832163600"/>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83217448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1832167408"/>
        <c:axId val="-1832163056"/>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4</c:v>
                </c:pt>
                <c:pt idx="7">
                  <c:v>4</c:v>
                </c:pt>
                <c:pt idx="8">
                  <c:v>4</c:v>
                </c:pt>
                <c:pt idx="9">
                  <c:v>4</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1832167408"/>
        <c:axId val="-1832163056"/>
      </c:lineChart>
      <c:catAx>
        <c:axId val="-183216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832163056"/>
        <c:crosses val="autoZero"/>
        <c:auto val="1"/>
        <c:lblAlgn val="ctr"/>
        <c:lblOffset val="100"/>
        <c:noMultiLvlLbl val="0"/>
      </c:catAx>
      <c:valAx>
        <c:axId val="-1832163056"/>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832167408"/>
        <c:crosses val="autoZero"/>
        <c:crossBetween val="between"/>
      </c:valAx>
      <c:spPr>
        <a:noFill/>
        <a:ln>
          <a:noFill/>
        </a:ln>
        <a:effectLst/>
      </c:spPr>
    </c:plotArea>
    <c:legend>
      <c:legendPos val="r"/>
      <c:legendEntry>
        <c:idx val="0"/>
        <c:delete val="1"/>
      </c:legendEntry>
      <c:layout>
        <c:manualLayout>
          <c:xMode val="edge"/>
          <c:yMode val="edge"/>
          <c:x val="0.63481189410812311"/>
          <c:y val="0.51480903090419827"/>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overlay val="0"/>
    </c:title>
    <c:autoTitleDeleted val="0"/>
    <c:plotArea>
      <c:layout/>
      <c:barChart>
        <c:barDir val="col"/>
        <c:grouping val="clustered"/>
        <c:varyColors val="0"/>
        <c:ser>
          <c:idx val="0"/>
          <c:order val="0"/>
          <c:tx>
            <c:strRef>
              <c:f>'[W31 (28.07-03.08.2025).xlsx]Data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'[W31 (28.07-03.08.2025).xlsx]Data Chart'!$A$36:$B$41</c:f>
              <c:strCache>
                <c:ptCount val="6"/>
                <c:pt idx="0">
                  <c:v>A320</c:v>
                </c:pt>
                <c:pt idx="1">
                  <c:v>A321</c:v>
                </c:pt>
                <c:pt idx="2">
                  <c:v>A350</c:v>
                </c:pt>
                <c:pt idx="3">
                  <c:v>B787</c:v>
                </c:pt>
                <c:pt idx="4">
                  <c:v>ATR72</c:v>
                </c:pt>
                <c:pt idx="5">
                  <c:v>Tất cả</c:v>
                </c:pt>
              </c:strCache>
            </c:strRef>
          </c:cat>
          <c:val>
            <c:numRef>
              <c:f>'[W31 (28.07-03.08.2025).xlsx]Data Chart'!$C$36:$C$41</c:f>
              <c:numCache>
                <c:formatCode>General</c:formatCode>
                <c:ptCount val="6"/>
                <c:pt idx="0">
                  <c:v>1</c:v>
                </c:pt>
                <c:pt idx="1">
                  <c:v>1</c:v>
                </c:pt>
                <c:pt idx="2">
                  <c:v>0</c:v>
                </c:pt>
                <c:pt idx="3">
                  <c:v>0</c:v>
                </c:pt>
                <c:pt idx="4">
                  <c:v>0</c:v>
                </c:pt>
                <c:pt idx="5" formatCode="0">
                  <c:v>2</c:v>
                </c:pt>
              </c:numCache>
            </c:numRef>
          </c:val>
          <c:extLst>
            <c:ext xmlns:c16="http://schemas.microsoft.com/office/drawing/2014/chart" uri="{C3380CC4-5D6E-409C-BE32-E72D297353CC}">
              <c16:uniqueId val="{00000000-A60F-436B-81A9-B386539AAC51}"/>
            </c:ext>
          </c:extLst>
        </c:ser>
        <c:ser>
          <c:idx val="1"/>
          <c:order val="1"/>
          <c:tx>
            <c:strRef>
              <c:f>'[W31 (28.07-03.08.2025).xlsx]Data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'[W31 (28.07-03.08.2025).xlsx]Data Chart'!$A$36:$B$41</c:f>
              <c:strCache>
                <c:ptCount val="6"/>
                <c:pt idx="0">
                  <c:v>A320</c:v>
                </c:pt>
                <c:pt idx="1">
                  <c:v>A321</c:v>
                </c:pt>
                <c:pt idx="2">
                  <c:v>A350</c:v>
                </c:pt>
                <c:pt idx="3">
                  <c:v>B787</c:v>
                </c:pt>
                <c:pt idx="4">
                  <c:v>ATR72</c:v>
                </c:pt>
                <c:pt idx="5">
                  <c:v>Tất cả</c:v>
                </c:pt>
              </c:strCache>
            </c:strRef>
          </c:cat>
          <c:val>
            <c:numRef>
              <c:f>'[W31 (28.07-03.08.2025).xlsx]Data Chart'!$D$36:$D$41</c:f>
              <c:numCache>
                <c:formatCode>General</c:formatCode>
                <c:ptCount val="6"/>
                <c:pt idx="0">
                  <c:v>0</c:v>
                </c:pt>
                <c:pt idx="1">
                  <c:v>0</c:v>
                </c:pt>
                <c:pt idx="2">
                  <c:v>1</c:v>
                </c:pt>
                <c:pt idx="3">
                  <c:v>8</c:v>
                </c:pt>
                <c:pt idx="4">
                  <c:v>0</c:v>
                </c:pt>
                <c:pt idx="5" formatCode="0">
                  <c:v>9</c:v>
                </c:pt>
              </c:numCache>
            </c:numRef>
          </c:val>
          <c:extLst>
            <c:ext xmlns:c16="http://schemas.microsoft.com/office/drawing/2014/chart" uri="{C3380CC4-5D6E-409C-BE32-E72D297353CC}">
              <c16:uniqueId val="{00000001-A60F-436B-81A9-B386539AAC51}"/>
            </c:ext>
          </c:extLst>
        </c:ser>
        <c:dLbls>
          <c:showLegendKey val="0"/>
          <c:showVal val="0"/>
          <c:showCatName val="0"/>
          <c:showSerName val="0"/>
          <c:showPercent val="0"/>
          <c:showBubbleSize val="0"/>
        </c:dLbls>
        <c:gapWidth val="150"/>
        <c:axId val="313883032"/>
        <c:axId val="313886952"/>
      </c:barChart>
      <c:catAx>
        <c:axId val="313883032"/>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3886952"/>
        <c:crosses val="autoZero"/>
        <c:auto val="1"/>
        <c:lblAlgn val="ctr"/>
        <c:lblOffset val="100"/>
        <c:noMultiLvlLbl val="0"/>
      </c:catAx>
      <c:valAx>
        <c:axId val="313886952"/>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3883032"/>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6.4127604166666657E-2</c:v>
                </c:pt>
                <c:pt idx="1">
                  <c:v>7.7388702876984197E-2</c:v>
                </c:pt>
                <c:pt idx="2">
                  <c:v>8.7569444444444533E-2</c:v>
                </c:pt>
                <c:pt idx="3">
                  <c:v>0.13947740112994361</c:v>
                </c:pt>
                <c:pt idx="4">
                  <c:v>0.28383005401234596</c:v>
                </c:pt>
                <c:pt idx="5">
                  <c:v>0.27180899908172645</c:v>
                </c:pt>
                <c:pt idx="6">
                  <c:v>0.12999131944444445</c:v>
                </c:pt>
                <c:pt idx="7">
                  <c:v>0.14078065134099635</c:v>
                </c:pt>
                <c:pt idx="8">
                  <c:v>4.4051627384960761E-2</c:v>
                </c:pt>
              </c:numCache>
            </c:numRef>
          </c:val>
          <c:extLst>
            <c:ext xmlns:c16="http://schemas.microsoft.com/office/drawing/2014/chart" uri="{C3380CC4-5D6E-409C-BE32-E72D297353CC}">
              <c16:uniqueId val="{00000000-26FF-4ACC-8201-57F8CE7407E5}"/>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6.206337325349303E-2</c:v>
                </c:pt>
                <c:pt idx="1">
                  <c:v>7.8660761026043746E-2</c:v>
                </c:pt>
                <c:pt idx="2">
                  <c:v>9.176079852230766E-2</c:v>
                </c:pt>
                <c:pt idx="3">
                  <c:v>0.15893031189083823</c:v>
                </c:pt>
                <c:pt idx="4">
                  <c:v>0.28942837465564758</c:v>
                </c:pt>
                <c:pt idx="5">
                  <c:v>0.26804461942257224</c:v>
                </c:pt>
                <c:pt idx="6">
                  <c:v>0.13736735330836455</c:v>
                </c:pt>
                <c:pt idx="7">
                  <c:v>0.14379789272030666</c:v>
                </c:pt>
                <c:pt idx="8">
                  <c:v>4.4605872319688183E-2</c:v>
                </c:pt>
              </c:numCache>
            </c:numRef>
          </c:val>
          <c:extLst>
            <c:ext xmlns:c16="http://schemas.microsoft.com/office/drawing/2014/chart" uri="{C3380CC4-5D6E-409C-BE32-E72D297353CC}">
              <c16:uniqueId val="{00000001-26FF-4ACC-8201-57F8CE7407E5}"/>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7.6190476190476195</c:v>
                </c:pt>
                <c:pt idx="1">
                  <c:v>6.5641025641025639</c:v>
                </c:pt>
                <c:pt idx="2">
                  <c:v>5.7142857142857144</c:v>
                </c:pt>
                <c:pt idx="3">
                  <c:v>2.8791208791208791</c:v>
                </c:pt>
                <c:pt idx="4">
                  <c:v>3.0420168067226889</c:v>
                </c:pt>
                <c:pt idx="5">
                  <c:v>7.0714285714285712</c:v>
                </c:pt>
              </c:numCache>
            </c:numRef>
          </c:val>
          <c:extLst>
            <c:ext xmlns:c16="http://schemas.microsoft.com/office/drawing/2014/chart" uri="{C3380CC4-5D6E-409C-BE32-E72D297353CC}">
              <c16:uniqueId val="{00000000-7FBD-41D3-AE66-7C030AC00266}"/>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7.9523809523809517</c:v>
                </c:pt>
                <c:pt idx="1">
                  <c:v>6.5559845559845566</c:v>
                </c:pt>
                <c:pt idx="2">
                  <c:v>6.2063492063492065</c:v>
                </c:pt>
                <c:pt idx="3">
                  <c:v>2.5824175824175826</c:v>
                </c:pt>
                <c:pt idx="4">
                  <c:v>3.0336134453781511</c:v>
                </c:pt>
                <c:pt idx="5">
                  <c:v>8.1428571428571423</c:v>
                </c:pt>
              </c:numCache>
            </c:numRef>
          </c:val>
          <c:extLst>
            <c:ext xmlns:c16="http://schemas.microsoft.com/office/drawing/2014/chart" uri="{C3380CC4-5D6E-409C-BE32-E72D297353CC}">
              <c16:uniqueId val="{00000001-7FBD-41D3-AE66-7C030AC00266}"/>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603D-4E01-BAC2-0EF60E687514}"/>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603D-4E01-BAC2-0EF60E687514}"/>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603D-4E01-BAC2-0EF60E687514}"/>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603D-4E01-BAC2-0EF60E687514}"/>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603D-4E01-BAC2-0EF60E687514}"/>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603D-4E01-BAC2-0EF60E687514}"/>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603D-4E01-BAC2-0EF60E687514}"/>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603D-4E01-BAC2-0EF60E687514}"/>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Week!$B$35:$BL$35</c:f>
              <c:numCache>
                <c:formatCode>d\-mmm</c:formatCode>
                <c:ptCount val="63"/>
                <c:pt idx="0">
                  <c:v>45866</c:v>
                </c:pt>
                <c:pt idx="1">
                  <c:v>45867</c:v>
                </c:pt>
                <c:pt idx="2">
                  <c:v>45868</c:v>
                </c:pt>
                <c:pt idx="3">
                  <c:v>45869</c:v>
                </c:pt>
                <c:pt idx="4">
                  <c:v>45870</c:v>
                </c:pt>
                <c:pt idx="5">
                  <c:v>45871</c:v>
                </c:pt>
                <c:pt idx="6">
                  <c:v>45872</c:v>
                </c:pt>
                <c:pt idx="7">
                  <c:v>45873</c:v>
                </c:pt>
                <c:pt idx="8">
                  <c:v>45874</c:v>
                </c:pt>
                <c:pt idx="9">
                  <c:v>45875</c:v>
                </c:pt>
                <c:pt idx="10">
                  <c:v>45876</c:v>
                </c:pt>
                <c:pt idx="11">
                  <c:v>45877</c:v>
                </c:pt>
                <c:pt idx="12">
                  <c:v>45878</c:v>
                </c:pt>
                <c:pt idx="13">
                  <c:v>45879</c:v>
                </c:pt>
                <c:pt idx="14">
                  <c:v>45880</c:v>
                </c:pt>
                <c:pt idx="15">
                  <c:v>45881</c:v>
                </c:pt>
                <c:pt idx="16">
                  <c:v>45882</c:v>
                </c:pt>
                <c:pt idx="17">
                  <c:v>45883</c:v>
                </c:pt>
                <c:pt idx="18">
                  <c:v>45884</c:v>
                </c:pt>
                <c:pt idx="19">
                  <c:v>45885</c:v>
                </c:pt>
                <c:pt idx="20">
                  <c:v>45886</c:v>
                </c:pt>
                <c:pt idx="21">
                  <c:v>45887</c:v>
                </c:pt>
                <c:pt idx="22">
                  <c:v>45888</c:v>
                </c:pt>
                <c:pt idx="23">
                  <c:v>45889</c:v>
                </c:pt>
                <c:pt idx="24">
                  <c:v>45890</c:v>
                </c:pt>
                <c:pt idx="25">
                  <c:v>45891</c:v>
                </c:pt>
                <c:pt idx="26">
                  <c:v>45892</c:v>
                </c:pt>
                <c:pt idx="27">
                  <c:v>45893</c:v>
                </c:pt>
                <c:pt idx="28">
                  <c:v>45894</c:v>
                </c:pt>
                <c:pt idx="29">
                  <c:v>45895</c:v>
                </c:pt>
                <c:pt idx="30">
                  <c:v>45896</c:v>
                </c:pt>
                <c:pt idx="31">
                  <c:v>45897</c:v>
                </c:pt>
                <c:pt idx="32">
                  <c:v>45898</c:v>
                </c:pt>
                <c:pt idx="33">
                  <c:v>45899</c:v>
                </c:pt>
                <c:pt idx="34">
                  <c:v>45900</c:v>
                </c:pt>
              </c:numCache>
            </c:numRef>
          </c:cat>
          <c:val>
            <c:numRef>
              <c:f>Week!$B$36:$BL$36</c:f>
              <c:numCache>
                <c:formatCode>General</c:formatCode>
                <c:ptCount val="63"/>
                <c:pt idx="0">
                  <c:v>489</c:v>
                </c:pt>
                <c:pt idx="1">
                  <c:v>489</c:v>
                </c:pt>
                <c:pt idx="2">
                  <c:v>479</c:v>
                </c:pt>
                <c:pt idx="3">
                  <c:v>494</c:v>
                </c:pt>
                <c:pt idx="4">
                  <c:v>488</c:v>
                </c:pt>
                <c:pt idx="5">
                  <c:v>479</c:v>
                </c:pt>
                <c:pt idx="6">
                  <c:v>504</c:v>
                </c:pt>
                <c:pt idx="7">
                  <c:v>478</c:v>
                </c:pt>
                <c:pt idx="8">
                  <c:v>474</c:v>
                </c:pt>
                <c:pt idx="9">
                  <c:v>478</c:v>
                </c:pt>
                <c:pt idx="10">
                  <c:v>477</c:v>
                </c:pt>
                <c:pt idx="11">
                  <c:v>499</c:v>
                </c:pt>
                <c:pt idx="12">
                  <c:v>484</c:v>
                </c:pt>
                <c:pt idx="13">
                  <c:v>509</c:v>
                </c:pt>
                <c:pt idx="14">
                  <c:v>487</c:v>
                </c:pt>
                <c:pt idx="15">
                  <c:v>474</c:v>
                </c:pt>
                <c:pt idx="16">
                  <c:v>489</c:v>
                </c:pt>
                <c:pt idx="17">
                  <c:v>476</c:v>
                </c:pt>
                <c:pt idx="18">
                  <c:v>504</c:v>
                </c:pt>
                <c:pt idx="19">
                  <c:v>504</c:v>
                </c:pt>
                <c:pt idx="20">
                  <c:v>503</c:v>
                </c:pt>
                <c:pt idx="21">
                  <c:v>446</c:v>
                </c:pt>
                <c:pt idx="22">
                  <c:v>442</c:v>
                </c:pt>
                <c:pt idx="23">
                  <c:v>436</c:v>
                </c:pt>
                <c:pt idx="24">
                  <c:v>447</c:v>
                </c:pt>
                <c:pt idx="25">
                  <c:v>458</c:v>
                </c:pt>
                <c:pt idx="26">
                  <c:v>462</c:v>
                </c:pt>
                <c:pt idx="27">
                  <c:v>468</c:v>
                </c:pt>
                <c:pt idx="28">
                  <c:v>456</c:v>
                </c:pt>
                <c:pt idx="29">
                  <c:v>464</c:v>
                </c:pt>
                <c:pt idx="30">
                  <c:v>463</c:v>
                </c:pt>
                <c:pt idx="31">
                  <c:v>472</c:v>
                </c:pt>
                <c:pt idx="32">
                  <c:v>487</c:v>
                </c:pt>
                <c:pt idx="33">
                  <c:v>502</c:v>
                </c:pt>
                <c:pt idx="34">
                  <c:v>480</c:v>
                </c:pt>
              </c:numCache>
            </c:numRef>
          </c:val>
          <c:extLst>
            <c:ext xmlns:c16="http://schemas.microsoft.com/office/drawing/2014/chart" uri="{C3380CC4-5D6E-409C-BE32-E72D297353CC}">
              <c16:uniqueId val="{00000010-603D-4E01-BAC2-0EF60E687514}"/>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70"/>
          <c:min val="38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8/3/2025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973712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8E98D7D5-8080-14D6-1F34-C155BF6C58CA}"/>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18F8BF1-C024-3DF0-9EE9-F08CE803AE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0AF296F5-895A-D5FF-C9CB-00F88C9BEB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DE25D54D-F8D8-F892-9695-8AC829EBF11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19053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1849B01-8F94-9D9B-D094-573F91E2217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37A8B88E-FE4A-6C0F-C3FC-DB630C060D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27430AA-9774-BCB3-30E8-456E33F77C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B9B58AD-6E35-1A34-06C9-7A923DC4DD9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19072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8E98D7D5-8080-14D6-1F34-C155BF6C58CA}"/>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18F8BF1-C024-3DF0-9EE9-F08CE803AE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0AF296F5-895A-D5FF-C9CB-00F88C9BEB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DE25D54D-F8D8-F892-9695-8AC829EBF11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97095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3821735-317F-7486-1F91-889E48722F7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206C006-E3C5-2093-9621-DE3E0D836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B010B86-F4CD-F706-DD39-715EF101D0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198EC3D-2BB7-DD90-50D9-FA857632FF5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6067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3821735-317F-7486-1F91-889E48722F7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206C006-E3C5-2093-9621-DE3E0D836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B010B86-F4CD-F706-DD39-715EF101D0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198EC3D-2BB7-DD90-50D9-FA857632FF5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1950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3821735-317F-7486-1F91-889E48722F7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206C006-E3C5-2093-9621-DE3E0D836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B010B86-F4CD-F706-DD39-715EF101D0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198EC3D-2BB7-DD90-50D9-FA857632FF5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7127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C2DF52D-8959-E0ED-534D-A3BB90409D7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DC67B397-C3A8-4755-1FD1-E312C5D8B9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00C34B86-5713-03AD-33A1-A41ACBE625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9648C27-CE56-0DE3-969F-999E51841AA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53102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4702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DBB6745-44D5-651B-4F09-9B810353BD1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FBD03FB4-278D-F304-CAA3-838D62F0D8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C24AD3D-85C8-3FE9-243F-967CF61BC5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119786A6-A3A6-9111-7489-A897AF2DE86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38071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DBB6745-44D5-651B-4F09-9B810353BD1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FBD03FB4-278D-F304-CAA3-838D62F0D8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C24AD3D-85C8-3FE9-243F-967CF61BC5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119786A6-A3A6-9111-7489-A897AF2DE86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1167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1641864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3084685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16EF0736-B4D1-1209-1540-F93325373C2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1E17CC-6749-0EA1-8570-285F562FD1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E47C3A5-F3D5-80A2-DB30-507A7B3E36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F393642-B568-028A-2CA4-1DB2EE8361A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37151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16EF0736-B4D1-1209-1540-F93325373C2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1E17CC-6749-0EA1-8570-285F562FD1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E47C3A5-F3D5-80A2-DB30-507A7B3E36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F393642-B568-028A-2CA4-1DB2EE8361A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67742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24848714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2705180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07ED5419-F250-1981-ABC6-FEBBDBCC252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E901FB2-89E8-85B4-9EA0-987FC2D3F0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D2CF2BB-0C8E-A742-7160-91F58AEEEF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1D6DD79-FEB7-5633-D8D1-04D5FFEAF8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379144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4182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767812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3973896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11024076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4251519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1187032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85494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28221839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30</a:t>
            </a:fld>
            <a:endParaRPr/>
          </a:p>
        </p:txBody>
      </p:sp>
    </p:spTree>
    <p:extLst>
      <p:ext uri="{BB962C8B-B14F-4D97-AF65-F5344CB8AC3E}">
        <p14:creationId xmlns:p14="http://schemas.microsoft.com/office/powerpoint/2010/main" val="1948472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24704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39699738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39</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85985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40</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771768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42</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05003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07540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065055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46</a:t>
            </a:fld>
            <a:endParaRPr/>
          </a:p>
        </p:txBody>
      </p:sp>
    </p:spTree>
    <p:extLst>
      <p:ext uri="{BB962C8B-B14F-4D97-AF65-F5344CB8AC3E}">
        <p14:creationId xmlns:p14="http://schemas.microsoft.com/office/powerpoint/2010/main" val="22653949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18837171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035680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990475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50</a:t>
            </a:fld>
            <a:endParaRPr/>
          </a:p>
        </p:txBody>
      </p:sp>
    </p:spTree>
    <p:extLst>
      <p:ext uri="{BB962C8B-B14F-4D97-AF65-F5344CB8AC3E}">
        <p14:creationId xmlns:p14="http://schemas.microsoft.com/office/powerpoint/2010/main" val="39135810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2433604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52</a:t>
            </a:fld>
            <a:endParaRPr/>
          </a:p>
        </p:txBody>
      </p:sp>
    </p:spTree>
    <p:extLst>
      <p:ext uri="{BB962C8B-B14F-4D97-AF65-F5344CB8AC3E}">
        <p14:creationId xmlns:p14="http://schemas.microsoft.com/office/powerpoint/2010/main" val="22339710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53</a:t>
            </a:fld>
            <a:endParaRPr/>
          </a:p>
        </p:txBody>
      </p:sp>
    </p:spTree>
    <p:extLst>
      <p:ext uri="{BB962C8B-B14F-4D97-AF65-F5344CB8AC3E}">
        <p14:creationId xmlns:p14="http://schemas.microsoft.com/office/powerpoint/2010/main" val="20660416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222267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55</a:t>
            </a:fld>
            <a:endParaRPr/>
          </a:p>
        </p:txBody>
      </p:sp>
    </p:spTree>
    <p:extLst>
      <p:ext uri="{BB962C8B-B14F-4D97-AF65-F5344CB8AC3E}">
        <p14:creationId xmlns:p14="http://schemas.microsoft.com/office/powerpoint/2010/main" val="40510088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41244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754269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58</a:t>
            </a:fld>
            <a:endParaRPr sz="1200">
              <a:latin typeface="Calibri"/>
              <a:ea typeface="Calibri"/>
              <a:cs typeface="Calibri"/>
              <a:sym typeface="Calibri"/>
            </a:endParaRPr>
          </a:p>
        </p:txBody>
      </p:sp>
    </p:spTree>
    <p:extLst>
      <p:ext uri="{BB962C8B-B14F-4D97-AF65-F5344CB8AC3E}">
        <p14:creationId xmlns:p14="http://schemas.microsoft.com/office/powerpoint/2010/main" val="42383993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59</a:t>
            </a:fld>
            <a:endParaRPr sz="1200">
              <a:latin typeface="Calibri"/>
              <a:ea typeface="Calibri"/>
              <a:cs typeface="Calibri"/>
              <a:sym typeface="Calibri"/>
            </a:endParaRPr>
          </a:p>
        </p:txBody>
      </p:sp>
    </p:spTree>
    <p:extLst>
      <p:ext uri="{BB962C8B-B14F-4D97-AF65-F5344CB8AC3E}">
        <p14:creationId xmlns:p14="http://schemas.microsoft.com/office/powerpoint/2010/main" val="9755052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60</a:t>
            </a:fld>
            <a:endParaRPr sz="1200">
              <a:latin typeface="Calibri"/>
              <a:ea typeface="Calibri"/>
              <a:cs typeface="Calibri"/>
              <a:sym typeface="Calibri"/>
            </a:endParaRPr>
          </a:p>
        </p:txBody>
      </p:sp>
    </p:spTree>
    <p:extLst>
      <p:ext uri="{BB962C8B-B14F-4D97-AF65-F5344CB8AC3E}">
        <p14:creationId xmlns:p14="http://schemas.microsoft.com/office/powerpoint/2010/main" val="38232672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61</a:t>
            </a:fld>
            <a:endParaRPr sz="1200">
              <a:latin typeface="Calibri"/>
              <a:ea typeface="Calibri"/>
              <a:cs typeface="Calibri"/>
              <a:sym typeface="Calibri"/>
            </a:endParaRPr>
          </a:p>
        </p:txBody>
      </p:sp>
    </p:spTree>
    <p:extLst>
      <p:ext uri="{BB962C8B-B14F-4D97-AF65-F5344CB8AC3E}">
        <p14:creationId xmlns:p14="http://schemas.microsoft.com/office/powerpoint/2010/main" val="26257066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12397624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691784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84931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8/3/2025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68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7.bin"/><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chart" Target="../charts/char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31</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28/07/2025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08</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2" name="Chart 11">
            <a:extLst>
              <a:ext uri="{FF2B5EF4-FFF2-40B4-BE49-F238E27FC236}">
                <a16:creationId xmlns:a16="http://schemas.microsoft.com/office/drawing/2014/main" id="{00000000-0008-0000-0900-000004000000}"/>
              </a:ext>
            </a:extLst>
          </p:cNvPr>
          <p:cNvGraphicFramePr>
            <a:graphicFrameLocks/>
          </p:cNvGraphicFramePr>
          <p:nvPr/>
        </p:nvGraphicFramePr>
        <p:xfrm>
          <a:off x="6340994" y="856463"/>
          <a:ext cx="4206480" cy="2398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00000000-0008-0000-0900-000005000000}"/>
              </a:ext>
            </a:extLst>
          </p:cNvPr>
          <p:cNvGraphicFramePr>
            <a:graphicFrameLocks/>
          </p:cNvGraphicFramePr>
          <p:nvPr/>
        </p:nvGraphicFramePr>
        <p:xfrm>
          <a:off x="1638540" y="3618713"/>
          <a:ext cx="4124325" cy="23988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00000000-0008-0000-0900-00000F000000}"/>
              </a:ext>
            </a:extLst>
          </p:cNvPr>
          <p:cNvGraphicFramePr>
            <a:graphicFrameLocks/>
          </p:cNvGraphicFramePr>
          <p:nvPr/>
        </p:nvGraphicFramePr>
        <p:xfrm>
          <a:off x="1674735" y="831698"/>
          <a:ext cx="4143375" cy="23988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8347F7AA-5E77-475C-B68E-49E6EF5DA0A7}"/>
              </a:ext>
            </a:extLst>
          </p:cNvPr>
          <p:cNvGraphicFramePr>
            <a:graphicFrameLocks/>
          </p:cNvGraphicFramePr>
          <p:nvPr/>
        </p:nvGraphicFramePr>
        <p:xfrm>
          <a:off x="6346980" y="3627442"/>
          <a:ext cx="4206480" cy="239886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721906446"/>
              </p:ext>
            </p:extLst>
          </p:nvPr>
        </p:nvGraphicFramePr>
        <p:xfrm>
          <a:off x="1295400" y="914400"/>
          <a:ext cx="9658350" cy="27146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041922732"/>
              </p:ext>
            </p:extLst>
          </p:nvPr>
        </p:nvGraphicFramePr>
        <p:xfrm>
          <a:off x="1293640" y="3800475"/>
          <a:ext cx="9648045" cy="271652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lang="en-US" b="1">
                <a:solidFill>
                  <a:srgbClr val="FF0000"/>
                </a:solidFill>
                <a:latin typeface="Times New Roman" panose="02020603050405020304" pitchFamily="18" charset="0"/>
                <a:ea typeface="MS PGothic" pitchFamily="34" charset="-128"/>
                <a:cs typeface="Times New Roman" panose="02020603050405020304" pitchFamily="18" charset="0"/>
              </a:rPr>
              <a:t>02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a16="http://schemas.microsoft.com/office/drawing/2014/main" id="{EF045C3F-C571-552E-A142-F0F148F2AE40}"/>
              </a:ext>
            </a:extLst>
          </p:cNvPr>
          <p:cNvGraphicFramePr>
            <a:graphicFrameLocks noGrp="1"/>
          </p:cNvGraphicFramePr>
          <p:nvPr>
            <p:extLst/>
          </p:nvPr>
        </p:nvGraphicFramePr>
        <p:xfrm>
          <a:off x="333918" y="1066800"/>
          <a:ext cx="11553282" cy="4191000"/>
        </p:xfrm>
        <a:graphic>
          <a:graphicData uri="http://schemas.openxmlformats.org/drawingml/2006/table">
            <a:tbl>
              <a:tblPr/>
              <a:tblGrid>
                <a:gridCol w="473350">
                  <a:extLst>
                    <a:ext uri="{9D8B030D-6E8A-4147-A177-3AD203B41FA5}">
                      <a16:colId xmlns:a16="http://schemas.microsoft.com/office/drawing/2014/main" val="2366791199"/>
                    </a:ext>
                  </a:extLst>
                </a:gridCol>
                <a:gridCol w="421289">
                  <a:extLst>
                    <a:ext uri="{9D8B030D-6E8A-4147-A177-3AD203B41FA5}">
                      <a16:colId xmlns:a16="http://schemas.microsoft.com/office/drawing/2014/main" val="380038728"/>
                    </a:ext>
                  </a:extLst>
                </a:gridCol>
                <a:gridCol w="674062">
                  <a:extLst>
                    <a:ext uri="{9D8B030D-6E8A-4147-A177-3AD203B41FA5}">
                      <a16:colId xmlns:a16="http://schemas.microsoft.com/office/drawing/2014/main" val="1816131003"/>
                    </a:ext>
                  </a:extLst>
                </a:gridCol>
                <a:gridCol w="842578">
                  <a:extLst>
                    <a:ext uri="{9D8B030D-6E8A-4147-A177-3AD203B41FA5}">
                      <a16:colId xmlns:a16="http://schemas.microsoft.com/office/drawing/2014/main" val="2452487512"/>
                    </a:ext>
                  </a:extLst>
                </a:gridCol>
                <a:gridCol w="842578">
                  <a:extLst>
                    <a:ext uri="{9D8B030D-6E8A-4147-A177-3AD203B41FA5}">
                      <a16:colId xmlns:a16="http://schemas.microsoft.com/office/drawing/2014/main" val="4125799252"/>
                    </a:ext>
                  </a:extLst>
                </a:gridCol>
                <a:gridCol w="674062">
                  <a:extLst>
                    <a:ext uri="{9D8B030D-6E8A-4147-A177-3AD203B41FA5}">
                      <a16:colId xmlns:a16="http://schemas.microsoft.com/office/drawing/2014/main" val="355767024"/>
                    </a:ext>
                  </a:extLst>
                </a:gridCol>
                <a:gridCol w="1348125">
                  <a:extLst>
                    <a:ext uri="{9D8B030D-6E8A-4147-A177-3AD203B41FA5}">
                      <a16:colId xmlns:a16="http://schemas.microsoft.com/office/drawing/2014/main" val="17026393"/>
                    </a:ext>
                  </a:extLst>
                </a:gridCol>
                <a:gridCol w="1600898">
                  <a:extLst>
                    <a:ext uri="{9D8B030D-6E8A-4147-A177-3AD203B41FA5}">
                      <a16:colId xmlns:a16="http://schemas.microsoft.com/office/drawing/2014/main" val="2734111180"/>
                    </a:ext>
                  </a:extLst>
                </a:gridCol>
                <a:gridCol w="379194">
                  <a:extLst>
                    <a:ext uri="{9D8B030D-6E8A-4147-A177-3AD203B41FA5}">
                      <a16:colId xmlns:a16="http://schemas.microsoft.com/office/drawing/2014/main" val="2067814126"/>
                    </a:ext>
                  </a:extLst>
                </a:gridCol>
                <a:gridCol w="4297146">
                  <a:extLst>
                    <a:ext uri="{9D8B030D-6E8A-4147-A177-3AD203B41FA5}">
                      <a16:colId xmlns:a16="http://schemas.microsoft.com/office/drawing/2014/main" val="3875828855"/>
                    </a:ext>
                  </a:extLst>
                </a:gridCol>
              </a:tblGrid>
              <a:tr h="369626">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01666051"/>
                  </a:ext>
                </a:extLst>
              </a:tr>
              <a:tr h="1374581">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MEL-SGN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07:45 01/08/2025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 (GTB) DUE TO MSG F/CL SPTL HYD MECH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CRS OF HESTON C/O APPLIED MEL FOR R/H SPLR 1 DEACTIVE WITHOUT COLAR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cs typeface="Times New Roman" panose="02020603050405020304" pitchFamily="18" charset="0"/>
                        </a:rPr>
                        <a:t>Hỏng hóc FM: SERVO CTL-R SPLR 1,Y(1CL2) / SERVO MODULE-SERVO CTL,R SPLR 1 Y(101CL2) / FCRM-SERVO CTL,R SPLR 1 Y(201CL2) + FC: 2796F6AQ</a:t>
                      </a:r>
                    </a:p>
                    <a:p>
                      <a:pPr algn="l" fontAlgn="b"/>
                      <a:r>
                        <a:rPr lang="vi-VN" sz="1100" b="0" i="0" u="none" strike="noStrike">
                          <a:solidFill>
                            <a:srgbClr val="000000"/>
                          </a:solidFill>
                          <a:effectLst/>
                          <a:latin typeface="+mn-lt"/>
                          <a:cs typeface="Times New Roman" panose="02020603050405020304" pitchFamily="18" charset="0"/>
                        </a:rPr>
                        <a:t>Nguyên nhân do đứt gãy mối hàn trong bảng mạch.</a:t>
                      </a:r>
                    </a:p>
                    <a:p>
                      <a:pPr algn="l" fontAlgn="b"/>
                      <a:r>
                        <a:rPr lang="vi-VN" sz="1100" b="0" i="0" u="none" strike="noStrike">
                          <a:solidFill>
                            <a:srgbClr val="000000"/>
                          </a:solidFill>
                          <a:effectLst/>
                          <a:latin typeface="+mn-lt"/>
                          <a:cs typeface="Times New Roman" panose="02020603050405020304" pitchFamily="18" charset="0"/>
                        </a:rPr>
                        <a:t>Khối FCRM tháo xuống PN OFF CA71323-014, SN OFF 01706 là khối gốc trên tàu bay A890 từ khi EIS, đã khai thác được 6169 FC/ 32065 FH.</a:t>
                      </a:r>
                    </a:p>
                    <a:p>
                      <a:pPr algn="l" fontAlgn="b"/>
                      <a:r>
                        <a:rPr lang="vi-VN" sz="1100" b="0" i="0" u="none" strike="noStrike">
                          <a:solidFill>
                            <a:srgbClr val="000000"/>
                          </a:solidFill>
                          <a:effectLst/>
                          <a:latin typeface="+mn-lt"/>
                          <a:cs typeface="Times New Roman" panose="02020603050405020304" pitchFamily="18" charset="0"/>
                        </a:rPr>
                        <a:t>MOOG/AIB đã ban hành SB nâng cấp lên FCRM PN CA71323-017, nhưng chỉ hỗ trợ thực hiện on-attrition.</a:t>
                      </a: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3399248"/>
                  </a:ext>
                </a:extLst>
              </a:tr>
              <a:tr h="2446793">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09:00 01/08/2025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A610 [GTB] DUE TO ENG # 2 EGT OVERLIMIT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Check found EGT Harness insulation less than 1M</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C/o replace EGT harness, Bite test FADEC satis, IDLE check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77-20</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Động cơ A610 số hiệu V16540 có TSN/CSN = 28860/18680; TSO/CSO = 4388/2129, mới đi OVH về lắp lên T6/2024. Tình trạng động cơ trên ADEM không có gì bất thường. Nguyên nhân do EGT Harness bị ngấm nước gây báo giả (tối hôm trước HAN có mưa to). Thiết bị do STA cấp và lắp lên từ 2023. Hiện tượng EGT Harness bị ngấm nước là hiện tượng phổ biến của dòng động cơ V2500. NSX không có kế hoạch cải tiến để khắc phục hiện tượng này.</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Theo thống kê, từ đầu 2025 tới nay có 4 vụ hỏng hóc EGT Harness gây ra OI, trong đó có 3 vụ báo giả do EGT Harness bị ngấm nước mưa. Ban KT đã đánh giá việc sấy khô EGT Harness tại các sân bay trong nước sau khi trời mưa là không khả thi do không đủ nguồn lực và do hỏng hóc không liên quan đến tuổi hay tình trạng của thiết bị dẫn tới không khoanh vùng được. Giải pháp hiện tại là thực hiện sấy khô EGT Harness sau khi trời mưa đối với tàu dừng qua đêm tại sân bay nước ngoài đồng thời dự phòng EGT Harness tại các Base chính để giảm thiểu thời gian OI khi hỏng hóc xảy ra.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8159054"/>
                  </a:ext>
                </a:extLst>
              </a:tr>
            </a:tbl>
          </a:graphicData>
        </a:graphic>
      </p:graphicFrame>
    </p:spTree>
    <p:custDataLst>
      <p:tags r:id="rId1"/>
    </p:custDataLst>
    <p:extLst>
      <p:ext uri="{BB962C8B-B14F-4D97-AF65-F5344CB8AC3E}">
        <p14:creationId xmlns:p14="http://schemas.microsoft.com/office/powerpoint/2010/main" val="245930305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380213" y="295296"/>
            <a:ext cx="11407695" cy="3969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2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2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5" name="TextBox 4">
            <a:extLst>
              <a:ext uri="{FF2B5EF4-FFF2-40B4-BE49-F238E27FC236}">
                <a16:creationId xmlns:a16="http://schemas.microsoft.com/office/drawing/2014/main" id="{92DF34E4-5EAF-DD7F-DEE2-26E7FBD9CDA2}"/>
              </a:ext>
            </a:extLst>
          </p:cNvPr>
          <p:cNvSpPr txBox="1"/>
          <p:nvPr/>
        </p:nvSpPr>
        <p:spPr>
          <a:xfrm>
            <a:off x="404091" y="2251507"/>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10" name="Table 9"/>
          <p:cNvGraphicFramePr>
            <a:graphicFrameLocks noGrp="1"/>
          </p:cNvGraphicFramePr>
          <p:nvPr>
            <p:extLst>
              <p:ext uri="{D42A27DB-BD31-4B8C-83A1-F6EECF244321}">
                <p14:modId xmlns:p14="http://schemas.microsoft.com/office/powerpoint/2010/main" val="4155514406"/>
              </p:ext>
            </p:extLst>
          </p:nvPr>
        </p:nvGraphicFramePr>
        <p:xfrm>
          <a:off x="404091" y="1121945"/>
          <a:ext cx="11383816" cy="867307"/>
        </p:xfrm>
        <a:graphic>
          <a:graphicData uri="http://schemas.openxmlformats.org/drawingml/2006/table">
            <a:tbl>
              <a:tblPr/>
              <a:tblGrid>
                <a:gridCol w="417031">
                  <a:extLst>
                    <a:ext uri="{9D8B030D-6E8A-4147-A177-3AD203B41FA5}">
                      <a16:colId xmlns:a16="http://schemas.microsoft.com/office/drawing/2014/main" val="20000"/>
                    </a:ext>
                  </a:extLst>
                </a:gridCol>
                <a:gridCol w="518471">
                  <a:extLst>
                    <a:ext uri="{9D8B030D-6E8A-4147-A177-3AD203B41FA5}">
                      <a16:colId xmlns:a16="http://schemas.microsoft.com/office/drawing/2014/main" val="20001"/>
                    </a:ext>
                  </a:extLst>
                </a:gridCol>
                <a:gridCol w="371947">
                  <a:extLst>
                    <a:ext uri="{9D8B030D-6E8A-4147-A177-3AD203B41FA5}">
                      <a16:colId xmlns:a16="http://schemas.microsoft.com/office/drawing/2014/main" val="20002"/>
                    </a:ext>
                  </a:extLst>
                </a:gridCol>
                <a:gridCol w="1127111">
                  <a:extLst>
                    <a:ext uri="{9D8B030D-6E8A-4147-A177-3AD203B41FA5}">
                      <a16:colId xmlns:a16="http://schemas.microsoft.com/office/drawing/2014/main" val="20003"/>
                    </a:ext>
                  </a:extLst>
                </a:gridCol>
                <a:gridCol w="383217">
                  <a:extLst>
                    <a:ext uri="{9D8B030D-6E8A-4147-A177-3AD203B41FA5}">
                      <a16:colId xmlns:a16="http://schemas.microsoft.com/office/drawing/2014/main" val="20004"/>
                    </a:ext>
                  </a:extLst>
                </a:gridCol>
                <a:gridCol w="935501">
                  <a:extLst>
                    <a:ext uri="{9D8B030D-6E8A-4147-A177-3AD203B41FA5}">
                      <a16:colId xmlns:a16="http://schemas.microsoft.com/office/drawing/2014/main" val="20005"/>
                    </a:ext>
                  </a:extLst>
                </a:gridCol>
                <a:gridCol w="642453">
                  <a:extLst>
                    <a:ext uri="{9D8B030D-6E8A-4147-A177-3AD203B41FA5}">
                      <a16:colId xmlns:a16="http://schemas.microsoft.com/office/drawing/2014/main" val="20006"/>
                    </a:ext>
                  </a:extLst>
                </a:gridCol>
                <a:gridCol w="755164">
                  <a:extLst>
                    <a:ext uri="{9D8B030D-6E8A-4147-A177-3AD203B41FA5}">
                      <a16:colId xmlns:a16="http://schemas.microsoft.com/office/drawing/2014/main" val="20007"/>
                    </a:ext>
                  </a:extLst>
                </a:gridCol>
                <a:gridCol w="2773903">
                  <a:extLst>
                    <a:ext uri="{9D8B030D-6E8A-4147-A177-3AD203B41FA5}">
                      <a16:colId xmlns:a16="http://schemas.microsoft.com/office/drawing/2014/main" val="20008"/>
                    </a:ext>
                  </a:extLst>
                </a:gridCol>
                <a:gridCol w="3459018">
                  <a:extLst>
                    <a:ext uri="{9D8B030D-6E8A-4147-A177-3AD203B41FA5}">
                      <a16:colId xmlns:a16="http://schemas.microsoft.com/office/drawing/2014/main" val="20009"/>
                    </a:ext>
                  </a:extLst>
                </a:gridCol>
              </a:tblGrid>
              <a:tr h="228143">
                <a:tc>
                  <a:txBody>
                    <a:bodyPr/>
                    <a:lstStyle/>
                    <a:p>
                      <a:pPr algn="ctr" fontAlgn="ctr"/>
                      <a:r>
                        <a:rPr lang="en-US" sz="1000" b="1" i="0" u="none" strike="noStrike" dirty="0">
                          <a:solidFill>
                            <a:srgbClr val="000000"/>
                          </a:solidFill>
                          <a:effectLst/>
                          <a:latin typeface="Times New Roman" panose="02020603050405020304" pitchFamily="18" charset="0"/>
                        </a:rPr>
                        <a:t>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FLEET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A/C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DATE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STA</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MINUTES</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FLIGHT 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ROUTINE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DESC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dirty="0">
                          <a:solidFill>
                            <a:srgbClr val="000000"/>
                          </a:solidFill>
                          <a:effectLst/>
                          <a:latin typeface="Times New Roman" panose="02020603050405020304" pitchFamily="18" charset="0"/>
                        </a:rPr>
                        <a:t>DELAY ACTION</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88857">
                <a:tc>
                  <a:txBody>
                    <a:bodyPr/>
                    <a:lstStyle/>
                    <a:p>
                      <a:pPr algn="ctr" fontAlgn="ctr"/>
                      <a:r>
                        <a:rPr lang="en-150" sz="1200" b="0" i="0" u="none" strike="noStrike">
                          <a:solidFill>
                            <a:srgbClr val="000000"/>
                          </a:solidFill>
                          <a:effectLst/>
                          <a:latin typeface="Times New Roman" panose="02020603050405020304"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A610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200" b="0" i="0" u="none" strike="noStrike">
                          <a:solidFill>
                            <a:srgbClr val="000000"/>
                          </a:solidFill>
                          <a:effectLst/>
                          <a:latin typeface="Times New Roman" panose="02020603050405020304" pitchFamily="18" charset="0"/>
                        </a:rPr>
                        <a:t>01/08/2025 00:00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200" b="0" i="0" u="none" strike="noStrike">
                          <a:solidFill>
                            <a:srgbClr val="000000"/>
                          </a:solidFill>
                          <a:effectLst/>
                          <a:latin typeface="Times New Roman" panose="02020603050405020304" pitchFamily="18" charset="0"/>
                        </a:rPr>
                        <a:t>154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VN163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HAN-DAD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A610 GTB-AOG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Check found EGT Harness insulation less than 1M C/o replace EGT harness, Bite test FADEC satis, IDLE check satis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508619609"/>
              </p:ext>
            </p:extLst>
          </p:nvPr>
        </p:nvGraphicFramePr>
        <p:xfrm>
          <a:off x="404091" y="2689816"/>
          <a:ext cx="11383817" cy="2339384"/>
        </p:xfrm>
        <a:graphic>
          <a:graphicData uri="http://schemas.openxmlformats.org/drawingml/2006/table">
            <a:tbl>
              <a:tblPr/>
              <a:tblGrid>
                <a:gridCol w="249099">
                  <a:extLst>
                    <a:ext uri="{9D8B030D-6E8A-4147-A177-3AD203B41FA5}">
                      <a16:colId xmlns:a16="http://schemas.microsoft.com/office/drawing/2014/main" val="1307524450"/>
                    </a:ext>
                  </a:extLst>
                </a:gridCol>
                <a:gridCol w="473288">
                  <a:extLst>
                    <a:ext uri="{9D8B030D-6E8A-4147-A177-3AD203B41FA5}">
                      <a16:colId xmlns:a16="http://schemas.microsoft.com/office/drawing/2014/main" val="4088859418"/>
                    </a:ext>
                  </a:extLst>
                </a:gridCol>
                <a:gridCol w="448378">
                  <a:extLst>
                    <a:ext uri="{9D8B030D-6E8A-4147-A177-3AD203B41FA5}">
                      <a16:colId xmlns:a16="http://schemas.microsoft.com/office/drawing/2014/main" val="1749740493"/>
                    </a:ext>
                  </a:extLst>
                </a:gridCol>
                <a:gridCol w="1208129">
                  <a:extLst>
                    <a:ext uri="{9D8B030D-6E8A-4147-A177-3AD203B41FA5}">
                      <a16:colId xmlns:a16="http://schemas.microsoft.com/office/drawing/2014/main" val="1542231867"/>
                    </a:ext>
                  </a:extLst>
                </a:gridCol>
                <a:gridCol w="448378">
                  <a:extLst>
                    <a:ext uri="{9D8B030D-6E8A-4147-A177-3AD203B41FA5}">
                      <a16:colId xmlns:a16="http://schemas.microsoft.com/office/drawing/2014/main" val="2662129742"/>
                    </a:ext>
                  </a:extLst>
                </a:gridCol>
                <a:gridCol w="734842">
                  <a:extLst>
                    <a:ext uri="{9D8B030D-6E8A-4147-A177-3AD203B41FA5}">
                      <a16:colId xmlns:a16="http://schemas.microsoft.com/office/drawing/2014/main" val="2222610826"/>
                    </a:ext>
                  </a:extLst>
                </a:gridCol>
                <a:gridCol w="809571">
                  <a:extLst>
                    <a:ext uri="{9D8B030D-6E8A-4147-A177-3AD203B41FA5}">
                      <a16:colId xmlns:a16="http://schemas.microsoft.com/office/drawing/2014/main" val="3172529667"/>
                    </a:ext>
                  </a:extLst>
                </a:gridCol>
                <a:gridCol w="703235">
                  <a:extLst>
                    <a:ext uri="{9D8B030D-6E8A-4147-A177-3AD203B41FA5}">
                      <a16:colId xmlns:a16="http://schemas.microsoft.com/office/drawing/2014/main" val="1499666745"/>
                    </a:ext>
                  </a:extLst>
                </a:gridCol>
                <a:gridCol w="2819400">
                  <a:extLst>
                    <a:ext uri="{9D8B030D-6E8A-4147-A177-3AD203B41FA5}">
                      <a16:colId xmlns:a16="http://schemas.microsoft.com/office/drawing/2014/main" val="254540477"/>
                    </a:ext>
                  </a:extLst>
                </a:gridCol>
                <a:gridCol w="3489497">
                  <a:extLst>
                    <a:ext uri="{9D8B030D-6E8A-4147-A177-3AD203B41FA5}">
                      <a16:colId xmlns:a16="http://schemas.microsoft.com/office/drawing/2014/main" val="2271363113"/>
                    </a:ext>
                  </a:extLst>
                </a:gridCol>
              </a:tblGrid>
              <a:tr h="304726">
                <a:tc>
                  <a:txBody>
                    <a:bodyPr/>
                    <a:lstStyle/>
                    <a:p>
                      <a:pPr algn="l" fontAlgn="t"/>
                      <a:r>
                        <a:rPr lang="en-US" sz="105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A/C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STA</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830022682"/>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A357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21:00 30/07/2025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VN7175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MW #3 INNER SHOULDER EXPOSE CORE , GROOVE REMAIN 0.8MM.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I.A.W AMM 32-41-11-000/400-006A (REV01MAY/2025) C/O RPLD NEW MAIN WHEEL ASSY , ALL CHK SATIS EVENT CLOSED  TECH : 35 MINS , A/C LATE ; 40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282906"/>
                  </a:ext>
                </a:extLst>
              </a:tr>
              <a:tr h="421393">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21:52 30/07/2025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VN1350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SGN-CXR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T/X CHECK FOUND MW #4 INNER SHOULDER CORD EXPOSED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ACTION</a:t>
                      </a:r>
                      <a:r>
                        <a:rPr lang="en-US" sz="1100" b="0" i="0" u="none" strike="noStrike">
                          <a:solidFill>
                            <a:srgbClr val="000000"/>
                          </a:solidFill>
                          <a:effectLst/>
                          <a:latin typeface="Times New Roman" panose="02020603050405020304" pitchFamily="18" charset="0"/>
                          <a:cs typeface="Times New Roman" panose="02020603050405020304" pitchFamily="18" charset="0"/>
                        </a:rPr>
                        <a:t>: C/O REPLACED NEW MW#4 SATIS, A/C SERVICEABLE T/X CHECK FOUND MW #4 INNER SHOULDER CORD EXPOSED EVENT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CLOSED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19986"/>
                  </a:ext>
                </a:extLst>
              </a:tr>
              <a:tr h="475106">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3</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17:15 29/07/2025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VN679</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SGN-KUL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T/X CHECK FOUND MW #3 INNER SHOULDER CORD EXPOSED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C/O REPLACED NEW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MW#3</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7873544"/>
                  </a:ext>
                </a:extLst>
              </a:tr>
              <a:tr h="339662">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rPr>
                        <a:t>A321</a:t>
                      </a:r>
                      <a:endParaRPr lang="en-US" sz="1200" b="0" i="0" u="none" strike="noStrike">
                        <a:solidFill>
                          <a:srgbClr val="000000"/>
                        </a:solidFill>
                        <a:effectLst/>
                        <a:latin typeface="Times New Roman" panose="02020603050405020304" pitchFamily="18"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17:10 28/07/2025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VN7387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SGN-SIN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#4 SHOULDER CUT OUT OF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LIMIT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REPLACED </a:t>
                      </a:r>
                      <a:r>
                        <a:rPr lang="en-US" sz="1100" b="0" i="0" u="none" strike="noStrike">
                          <a:solidFill>
                            <a:srgbClr val="000000"/>
                          </a:solidFill>
                          <a:effectLst/>
                          <a:latin typeface="Times New Roman" panose="02020603050405020304" pitchFamily="18" charset="0"/>
                          <a:cs typeface="Times New Roman" panose="02020603050405020304" pitchFamily="18" charset="0"/>
                        </a:rPr>
                        <a:t>MW #4, CHECK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5121"/>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84CAD81-BF9D-A36F-45A9-ACF8A013EA8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264FAD8-8963-12C9-AA01-976F247BC22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A3AD3DF5-F10E-4F5F-A15E-A7A1D3BE931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1" name="TextBox 10">
            <a:extLst>
              <a:ext uri="{FF2B5EF4-FFF2-40B4-BE49-F238E27FC236}">
                <a16:creationId xmlns:a16="http://schemas.microsoft.com/office/drawing/2014/main" id="{5D6258D0-C5CD-40D6-AF63-5EB8B52BE0CE}"/>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GTB: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2" name="TextBox 11">
            <a:extLst>
              <a:ext uri="{FF2B5EF4-FFF2-40B4-BE49-F238E27FC236}">
                <a16:creationId xmlns:a16="http://schemas.microsoft.com/office/drawing/2014/main" id="{D8536E7E-7BFA-401C-8D3F-6B28E7E34833}"/>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 (2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 GTB</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E641EFF8-1E22-49AD-9407-6DFE88BAC0AC}"/>
              </a:ext>
            </a:extLst>
          </p:cNvPr>
          <p:cNvGraphicFramePr>
            <a:graphicFrameLocks noGrp="1"/>
          </p:cNvGraphicFramePr>
          <p:nvPr>
            <p:extLst/>
          </p:nvPr>
        </p:nvGraphicFramePr>
        <p:xfrm>
          <a:off x="134289" y="1521020"/>
          <a:ext cx="11553282" cy="2816419"/>
        </p:xfrm>
        <a:graphic>
          <a:graphicData uri="http://schemas.openxmlformats.org/drawingml/2006/table">
            <a:tbl>
              <a:tblPr/>
              <a:tblGrid>
                <a:gridCol w="473350">
                  <a:extLst>
                    <a:ext uri="{9D8B030D-6E8A-4147-A177-3AD203B41FA5}">
                      <a16:colId xmlns:a16="http://schemas.microsoft.com/office/drawing/2014/main" val="2366791199"/>
                    </a:ext>
                  </a:extLst>
                </a:gridCol>
                <a:gridCol w="421289">
                  <a:extLst>
                    <a:ext uri="{9D8B030D-6E8A-4147-A177-3AD203B41FA5}">
                      <a16:colId xmlns:a16="http://schemas.microsoft.com/office/drawing/2014/main" val="380038728"/>
                    </a:ext>
                  </a:extLst>
                </a:gridCol>
                <a:gridCol w="674062">
                  <a:extLst>
                    <a:ext uri="{9D8B030D-6E8A-4147-A177-3AD203B41FA5}">
                      <a16:colId xmlns:a16="http://schemas.microsoft.com/office/drawing/2014/main" val="1816131003"/>
                    </a:ext>
                  </a:extLst>
                </a:gridCol>
                <a:gridCol w="842578">
                  <a:extLst>
                    <a:ext uri="{9D8B030D-6E8A-4147-A177-3AD203B41FA5}">
                      <a16:colId xmlns:a16="http://schemas.microsoft.com/office/drawing/2014/main" val="2452487512"/>
                    </a:ext>
                  </a:extLst>
                </a:gridCol>
                <a:gridCol w="842578">
                  <a:extLst>
                    <a:ext uri="{9D8B030D-6E8A-4147-A177-3AD203B41FA5}">
                      <a16:colId xmlns:a16="http://schemas.microsoft.com/office/drawing/2014/main" val="4125799252"/>
                    </a:ext>
                  </a:extLst>
                </a:gridCol>
                <a:gridCol w="674062">
                  <a:extLst>
                    <a:ext uri="{9D8B030D-6E8A-4147-A177-3AD203B41FA5}">
                      <a16:colId xmlns:a16="http://schemas.microsoft.com/office/drawing/2014/main" val="355767024"/>
                    </a:ext>
                  </a:extLst>
                </a:gridCol>
                <a:gridCol w="1348125">
                  <a:extLst>
                    <a:ext uri="{9D8B030D-6E8A-4147-A177-3AD203B41FA5}">
                      <a16:colId xmlns:a16="http://schemas.microsoft.com/office/drawing/2014/main" val="17026393"/>
                    </a:ext>
                  </a:extLst>
                </a:gridCol>
                <a:gridCol w="1600898">
                  <a:extLst>
                    <a:ext uri="{9D8B030D-6E8A-4147-A177-3AD203B41FA5}">
                      <a16:colId xmlns:a16="http://schemas.microsoft.com/office/drawing/2014/main" val="2734111180"/>
                    </a:ext>
                  </a:extLst>
                </a:gridCol>
                <a:gridCol w="379194">
                  <a:extLst>
                    <a:ext uri="{9D8B030D-6E8A-4147-A177-3AD203B41FA5}">
                      <a16:colId xmlns:a16="http://schemas.microsoft.com/office/drawing/2014/main" val="2067814126"/>
                    </a:ext>
                  </a:extLst>
                </a:gridCol>
                <a:gridCol w="4297146">
                  <a:extLst>
                    <a:ext uri="{9D8B030D-6E8A-4147-A177-3AD203B41FA5}">
                      <a16:colId xmlns:a16="http://schemas.microsoft.com/office/drawing/2014/main" val="3875828855"/>
                    </a:ext>
                  </a:extLst>
                </a:gridCol>
              </a:tblGrid>
              <a:tr h="369626">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01666051"/>
                  </a:ext>
                </a:extLst>
              </a:tr>
              <a:tr h="2446793">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09:00 01/08/2025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A610 [GTB] DUE TO ENG # 2 EGT OVERLIMIT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Check found EGT Harness insulation less than 1M</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C/o replace EGT harness, Bite test FADEC satis, IDLE check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77-20</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Động cơ A610 số hiệu V16540 có TSN/CSN = 28860/18680; TSO/CSO = 4388/2129, mới đi OVH về lắp lên T6/2024. Tình trạng động cơ trên ADEM không có gì bất thường. Nguyên nhân do EGT Harness bị ngấm nước gây báo giả (tối hôm trước HAN có mưa to). Thiết bị do STA cấp và lắp lên từ 2023. Hiện tượng EGT Harness bị ngấm nước là hiện tượng phổ biến của dòng động cơ V2500. NSX không có kế hoạch cải tiến để khắc phục hiện tượng này.</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Theo thống kê, từ đầu 2025 tới nay có 4 vụ hỏng hóc EGT Harness gây ra OI, trong đó có 3 vụ báo giả do EGT Harness bị ngấm nước mưa. Ban KT đã đánh giá việc sấy khô EGT Harness tại các sân bay trong nước sau khi trời mưa là không khả thi do không đủ nguồn lực và do hỏng hóc không liên quan đến tuổi hay tình trạng của thiết bị dẫn tới không khoanh vùng được. Giải pháp hiện tại là thực hiện sấy khô EGT Harness sau khi trời mưa đối với tàu dừng qua đêm tại sân bay nước ngoài đồng thời dự phòng EGT Harness tại các Base chính để giảm thiểu thời gian OI khi hỏng hóc xảy ra.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8159054"/>
                  </a:ext>
                </a:extLst>
              </a:tr>
            </a:tbl>
          </a:graphicData>
        </a:graphic>
      </p:graphicFrame>
    </p:spTree>
    <p:extLst>
      <p:ext uri="{BB962C8B-B14F-4D97-AF65-F5344CB8AC3E}">
        <p14:creationId xmlns:p14="http://schemas.microsoft.com/office/powerpoint/2010/main" val="78063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AD57216-81AD-066B-1D9E-E0596E6D349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5DE47B-E104-F047-DF06-09D7663C3F5C}"/>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9B2BE76-CD13-92E2-7476-83EAF3143B32}"/>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1C8A335D-94DE-936B-5240-000D28556205}"/>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03 (01 non-tech) </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6405E8BF-B88F-518A-E76C-815B80998D18}"/>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 (2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 GTB</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EEB807A-4473-416D-B918-E36A98EA9C96}"/>
              </a:ext>
            </a:extLst>
          </p:cNvPr>
          <p:cNvGraphicFramePr>
            <a:graphicFrameLocks noGrp="1"/>
          </p:cNvGraphicFramePr>
          <p:nvPr>
            <p:extLst/>
          </p:nvPr>
        </p:nvGraphicFramePr>
        <p:xfrm>
          <a:off x="134289" y="1521021"/>
          <a:ext cx="11688715" cy="5098767"/>
        </p:xfrm>
        <a:graphic>
          <a:graphicData uri="http://schemas.openxmlformats.org/drawingml/2006/table">
            <a:tbl>
              <a:tblPr/>
              <a:tblGrid>
                <a:gridCol w="376465">
                  <a:extLst>
                    <a:ext uri="{9D8B030D-6E8A-4147-A177-3AD203B41FA5}">
                      <a16:colId xmlns:a16="http://schemas.microsoft.com/office/drawing/2014/main" val="439829933"/>
                    </a:ext>
                  </a:extLst>
                </a:gridCol>
                <a:gridCol w="632246">
                  <a:extLst>
                    <a:ext uri="{9D8B030D-6E8A-4147-A177-3AD203B41FA5}">
                      <a16:colId xmlns:a16="http://schemas.microsoft.com/office/drawing/2014/main" val="1704083537"/>
                    </a:ext>
                  </a:extLst>
                </a:gridCol>
                <a:gridCol w="685800">
                  <a:extLst>
                    <a:ext uri="{9D8B030D-6E8A-4147-A177-3AD203B41FA5}">
                      <a16:colId xmlns:a16="http://schemas.microsoft.com/office/drawing/2014/main" val="3278067950"/>
                    </a:ext>
                  </a:extLst>
                </a:gridCol>
                <a:gridCol w="381000">
                  <a:extLst>
                    <a:ext uri="{9D8B030D-6E8A-4147-A177-3AD203B41FA5}">
                      <a16:colId xmlns:a16="http://schemas.microsoft.com/office/drawing/2014/main" val="2069065738"/>
                    </a:ext>
                  </a:extLst>
                </a:gridCol>
                <a:gridCol w="1676400">
                  <a:extLst>
                    <a:ext uri="{9D8B030D-6E8A-4147-A177-3AD203B41FA5}">
                      <a16:colId xmlns:a16="http://schemas.microsoft.com/office/drawing/2014/main" val="1827819839"/>
                    </a:ext>
                  </a:extLst>
                </a:gridCol>
                <a:gridCol w="1600200">
                  <a:extLst>
                    <a:ext uri="{9D8B030D-6E8A-4147-A177-3AD203B41FA5}">
                      <a16:colId xmlns:a16="http://schemas.microsoft.com/office/drawing/2014/main" val="3969475393"/>
                    </a:ext>
                  </a:extLst>
                </a:gridCol>
                <a:gridCol w="381000">
                  <a:extLst>
                    <a:ext uri="{9D8B030D-6E8A-4147-A177-3AD203B41FA5}">
                      <a16:colId xmlns:a16="http://schemas.microsoft.com/office/drawing/2014/main" val="269388620"/>
                    </a:ext>
                  </a:extLst>
                </a:gridCol>
                <a:gridCol w="5955604">
                  <a:extLst>
                    <a:ext uri="{9D8B030D-6E8A-4147-A177-3AD203B41FA5}">
                      <a16:colId xmlns:a16="http://schemas.microsoft.com/office/drawing/2014/main" val="906467906"/>
                    </a:ext>
                  </a:extLst>
                </a:gridCol>
              </a:tblGrid>
              <a:tr h="354609">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28218725"/>
                  </a:ext>
                </a:extLst>
              </a:tr>
              <a:tr h="1923686">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A610</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09:00 01/08/2025</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13:02 01/08/2025</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A610 [GTB] DUE TO ENG # 2 EGT OVERLIMIT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Check found EGT Harness insulation less than 1M</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C/o replace EGT harness, Bite test FADEC satis, IDLE check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77-20</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Động cơ A610 số hiệu V16540 có TSN/CSN = 28860/18680; TSO/CSO = 4388/2129, mới đi OVH về lắp lên T6/2024. Tình trạng động cơ trên ADEM không có gì bất thường. Nguyên nhân do EGT Harness bị ngấm nước gây báo giả (tối hôm trước HAN có mưa to). Thiết bị do STA cấp và lắp lên từ 2023. Hiện tượng EGT Harness bị ngấm nước là hiện tượng phổ biến của dòng động cơ V2500. NSX không có kế hoạch cải tiến để khắc phục hiện tượng này.</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Theo thống kê, từ đầu 2025 tới nay có 4 vụ hỏng hóc EGT Harness gây ra OI, trong đó có 3 vụ báo giả do EGT Harness bị ngấm nước mưa. Ban KT đã đánh giá việc sấy khô EGT Harness tại các sân bay trong nước sau khi trời mưa là không khả thi do không đủ nguồn lực và do hỏng hóc không liên quan đến tuổi hay tình trạng của thiết bị dẫn tới không khoanh vùng được. Giải pháp hiện tại là thực hiện sấy khô EGT Harness sau khi trời mưa đối với tàu dừng qua đêm tại sân bay nước ngoài đồng thời dự phòng EGT Harness tại các Base chính để giảm thiểu thời gian OI khi hỏng hóc xảy ra.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2186563"/>
                  </a:ext>
                </a:extLst>
              </a:tr>
              <a:tr h="548354">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A604</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13:20 29/07/2025</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19:10 29/07/2025</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PNH</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FOUND M/W #4 CUT OUT OF LIMIT AFTER VN921 VTE-PNH.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SPARE FROM SGN</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RPL NEW M/W#4, SATIS.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Non-tech</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3662366"/>
                  </a:ext>
                </a:extLst>
              </a:tr>
              <a:tr h="2272118">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A512</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03:41 29/07/2025</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02:53 30/07/2025</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TERM CHECK FOUND ENG 1 SOME BLADE OF LPT 3RD STAGE HAVE EVIDENCE DISCOLOR</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No EGT over limit warning</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Checked ENG FADEC – no exceedance recorded</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borescope CC, HPT, LPT and followed answer from pw and reinspected LPT stage 3;confirmed in serviceable condition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Động cơ số #1 tàu A512 ESN: P771703 có TSN/ CSN = 8516 FH / 5975 FC, TSLSV/CSLSV = 2883 FH /1650 FC. Trong quá trình Taxi về Gate sau khi hạ cánh chuyến bay VN1562, thợ máy từ khu vực khác quan sát thấy động cơ có hiện tượng nóng đỏ khu vực ống xả, động cơ không phát sinh cảnh báo gì liên quan đến EGT trong chuyến bay cũng như các chuyến bay trước đó, cũng như bất kì báo cáo bất thường từ tổ bay. </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000" b="0" i="0" u="none" strike="noStrike">
                          <a:solidFill>
                            <a:srgbClr val="000000"/>
                          </a:solidFill>
                          <a:effectLst/>
                          <a:latin typeface="Times New Roman" panose="02020603050405020304" pitchFamily="18" charset="0"/>
                          <a:cs typeface="Times New Roman" panose="02020603050405020304" pitchFamily="18" charset="0"/>
                        </a:rPr>
                        <a:t>VAECO đã thực hiện FADEC Test không phát hiện bất thường, đồng thời triển khai soi toàn bộ Module LPT và gửi kết quả cho PW để đánh giá. Theo kết quả cung cấp, PW đánh giá hỏng hóc phát hiện trên lá LPT tầng 3 trong giới hạn AMM/EMM, do đó tàu đưa lại khai thác bình thường và không yêu cầu kiểm tra hay theo dõi thêm. Đây là hỏng hóc đơn lẻ, tuy nhiên Ban KT đã phối hợp VAECO trao đổi với PW về khuyến cáo và triển khai khi có phản hồi để tránh hỏng hóc lặp lại.</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2111091"/>
                  </a:ext>
                </a:extLst>
              </a:tr>
            </a:tbl>
          </a:graphicData>
        </a:graphic>
      </p:graphicFrame>
    </p:spTree>
    <p:extLst>
      <p:ext uri="{BB962C8B-B14F-4D97-AF65-F5344CB8AC3E}">
        <p14:creationId xmlns:p14="http://schemas.microsoft.com/office/powerpoint/2010/main" val="3049388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84CAD81-BF9D-A36F-45A9-ACF8A013EA8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264FAD8-8963-12C9-AA01-976F247BC22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A3AD3DF5-F10E-4F5F-A15E-A7A1D3BE931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68A3FAC-3F97-9EE5-2D74-C2C7ADD5CA99}"/>
              </a:ext>
            </a:extLst>
          </p:cNvPr>
          <p:cNvGraphicFramePr>
            <a:graphicFrameLocks noGrp="1"/>
          </p:cNvGraphicFramePr>
          <p:nvPr>
            <p:extLst/>
          </p:nvPr>
        </p:nvGraphicFramePr>
        <p:xfrm>
          <a:off x="117664" y="1521021"/>
          <a:ext cx="11723450" cy="5098767"/>
        </p:xfrm>
        <a:graphic>
          <a:graphicData uri="http://schemas.openxmlformats.org/drawingml/2006/table">
            <a:tbl>
              <a:tblPr/>
              <a:tblGrid>
                <a:gridCol w="381073">
                  <a:extLst>
                    <a:ext uri="{9D8B030D-6E8A-4147-A177-3AD203B41FA5}">
                      <a16:colId xmlns:a16="http://schemas.microsoft.com/office/drawing/2014/main" val="2284300101"/>
                    </a:ext>
                  </a:extLst>
                </a:gridCol>
                <a:gridCol w="698464">
                  <a:extLst>
                    <a:ext uri="{9D8B030D-6E8A-4147-A177-3AD203B41FA5}">
                      <a16:colId xmlns:a16="http://schemas.microsoft.com/office/drawing/2014/main" val="3376405456"/>
                    </a:ext>
                  </a:extLst>
                </a:gridCol>
                <a:gridCol w="419078">
                  <a:extLst>
                    <a:ext uri="{9D8B030D-6E8A-4147-A177-3AD203B41FA5}">
                      <a16:colId xmlns:a16="http://schemas.microsoft.com/office/drawing/2014/main" val="2653704242"/>
                    </a:ext>
                  </a:extLst>
                </a:gridCol>
                <a:gridCol w="698464">
                  <a:extLst>
                    <a:ext uri="{9D8B030D-6E8A-4147-A177-3AD203B41FA5}">
                      <a16:colId xmlns:a16="http://schemas.microsoft.com/office/drawing/2014/main" val="3369821226"/>
                    </a:ext>
                  </a:extLst>
                </a:gridCol>
                <a:gridCol w="769327">
                  <a:extLst>
                    <a:ext uri="{9D8B030D-6E8A-4147-A177-3AD203B41FA5}">
                      <a16:colId xmlns:a16="http://schemas.microsoft.com/office/drawing/2014/main" val="775914175"/>
                    </a:ext>
                  </a:extLst>
                </a:gridCol>
                <a:gridCol w="692320">
                  <a:extLst>
                    <a:ext uri="{9D8B030D-6E8A-4147-A177-3AD203B41FA5}">
                      <a16:colId xmlns:a16="http://schemas.microsoft.com/office/drawing/2014/main" val="1357391052"/>
                    </a:ext>
                  </a:extLst>
                </a:gridCol>
                <a:gridCol w="1757680">
                  <a:extLst>
                    <a:ext uri="{9D8B030D-6E8A-4147-A177-3AD203B41FA5}">
                      <a16:colId xmlns:a16="http://schemas.microsoft.com/office/drawing/2014/main" val="1399571794"/>
                    </a:ext>
                  </a:extLst>
                </a:gridCol>
                <a:gridCol w="2422158">
                  <a:extLst>
                    <a:ext uri="{9D8B030D-6E8A-4147-A177-3AD203B41FA5}">
                      <a16:colId xmlns:a16="http://schemas.microsoft.com/office/drawing/2014/main" val="386609919"/>
                    </a:ext>
                  </a:extLst>
                </a:gridCol>
                <a:gridCol w="471979">
                  <a:extLst>
                    <a:ext uri="{9D8B030D-6E8A-4147-A177-3AD203B41FA5}">
                      <a16:colId xmlns:a16="http://schemas.microsoft.com/office/drawing/2014/main" val="1685409337"/>
                    </a:ext>
                  </a:extLst>
                </a:gridCol>
                <a:gridCol w="3412907">
                  <a:extLst>
                    <a:ext uri="{9D8B030D-6E8A-4147-A177-3AD203B41FA5}">
                      <a16:colId xmlns:a16="http://schemas.microsoft.com/office/drawing/2014/main" val="2020567769"/>
                    </a:ext>
                  </a:extLst>
                </a:gridCol>
              </a:tblGrid>
              <a:tr h="658892">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601199">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10:51 03/08/2025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VN1382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AFTER CLOSED DOOR FOUND DOOR 1L NOT SHOW ARM ON FAP.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TOTAL DELAY: 120 MINS, TECH DELAY: 45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Hiện Vaeco đang xin lịch TS để xác định nguyên nhân là do bình khí hay do lỗi hiển thị trên bảng FAP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41374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A515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12:38 02/08/2025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VN1575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HAN-DLI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CAPT REPORT “F/O SEATBELT NOT RETRACT”. A515 VN1572/VN1575 DLI-HAN-DLI (TRANSIT): CAPT REPORT “F/O SEATBELT NOT RETRACT”.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ACTION: CABIN C/O ADJUST F/O SEATBELT -&gt;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Cabin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1424931">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06:11 02/08/2025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ECAM MSG NAV TCAS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ACTION: C/O REPLACED TOP TCAS ANTENNA -&gt; SATIS. A/C WAITTING SEALANT DRY TO 15:00 DATE 02/08.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TCAS antenna PN 622-8973-104, hỏng hóc được khắc phục sau khi thay part. Hỏng hóc xảy ra do antenna bị nhiễm nước. Hiện tượng này đã được AIB nhận diện (TFU 34.43.00048). AIB đã có giải pháp tạm thời: dán băng dính ở connector để chống nước, Ban KT đã ban hành SO để VAECO triển khai, công việc sẽ được thực hiện trong C-check do tốn nhiều thời gian.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
        <p:nvSpPr>
          <p:cNvPr id="11" name="TextBox 10">
            <a:extLst>
              <a:ext uri="{FF2B5EF4-FFF2-40B4-BE49-F238E27FC236}">
                <a16:creationId xmlns:a16="http://schemas.microsoft.com/office/drawing/2014/main" id="{5D6258D0-C5CD-40D6-AF63-5EB8B52BE0CE}"/>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09 (2 non tech) + 6 Event không tính Delay</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2" name="TextBox 11">
            <a:extLst>
              <a:ext uri="{FF2B5EF4-FFF2-40B4-BE49-F238E27FC236}">
                <a16:creationId xmlns:a16="http://schemas.microsoft.com/office/drawing/2014/main" id="{D8536E7E-7BFA-401C-8D3F-6B28E7E34833}"/>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 (2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 GTB</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25779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180AAA-DB59-6E1B-1DBD-C9E21CA19F1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F3B1F9D-597A-4434-9865-4659C3BE8EC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475CDC5F-5ECC-CC81-1B1D-2B6ABD930BB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61494941-067F-3C93-282D-201A9BF6C26C}"/>
              </a:ext>
            </a:extLst>
          </p:cNvPr>
          <p:cNvGraphicFramePr>
            <a:graphicFrameLocks noGrp="1"/>
          </p:cNvGraphicFramePr>
          <p:nvPr>
            <p:extLst/>
          </p:nvPr>
        </p:nvGraphicFramePr>
        <p:xfrm>
          <a:off x="117663" y="1521021"/>
          <a:ext cx="11921937" cy="5274225"/>
        </p:xfrm>
        <a:graphic>
          <a:graphicData uri="http://schemas.openxmlformats.org/drawingml/2006/table">
            <a:tbl>
              <a:tblPr/>
              <a:tblGrid>
                <a:gridCol w="398423">
                  <a:extLst>
                    <a:ext uri="{9D8B030D-6E8A-4147-A177-3AD203B41FA5}">
                      <a16:colId xmlns:a16="http://schemas.microsoft.com/office/drawing/2014/main" val="2284300101"/>
                    </a:ext>
                  </a:extLst>
                </a:gridCol>
                <a:gridCol w="657239">
                  <a:extLst>
                    <a:ext uri="{9D8B030D-6E8A-4147-A177-3AD203B41FA5}">
                      <a16:colId xmlns:a16="http://schemas.microsoft.com/office/drawing/2014/main" val="3376405456"/>
                    </a:ext>
                  </a:extLst>
                </a:gridCol>
                <a:gridCol w="426875">
                  <a:extLst>
                    <a:ext uri="{9D8B030D-6E8A-4147-A177-3AD203B41FA5}">
                      <a16:colId xmlns:a16="http://schemas.microsoft.com/office/drawing/2014/main" val="2653704242"/>
                    </a:ext>
                  </a:extLst>
                </a:gridCol>
                <a:gridCol w="685800">
                  <a:extLst>
                    <a:ext uri="{9D8B030D-6E8A-4147-A177-3AD203B41FA5}">
                      <a16:colId xmlns:a16="http://schemas.microsoft.com/office/drawing/2014/main" val="3369821226"/>
                    </a:ext>
                  </a:extLst>
                </a:gridCol>
                <a:gridCol w="609600">
                  <a:extLst>
                    <a:ext uri="{9D8B030D-6E8A-4147-A177-3AD203B41FA5}">
                      <a16:colId xmlns:a16="http://schemas.microsoft.com/office/drawing/2014/main" val="775914175"/>
                    </a:ext>
                  </a:extLst>
                </a:gridCol>
                <a:gridCol w="685800">
                  <a:extLst>
                    <a:ext uri="{9D8B030D-6E8A-4147-A177-3AD203B41FA5}">
                      <a16:colId xmlns:a16="http://schemas.microsoft.com/office/drawing/2014/main" val="1357391052"/>
                    </a:ext>
                  </a:extLst>
                </a:gridCol>
                <a:gridCol w="1827463">
                  <a:extLst>
                    <a:ext uri="{9D8B030D-6E8A-4147-A177-3AD203B41FA5}">
                      <a16:colId xmlns:a16="http://schemas.microsoft.com/office/drawing/2014/main" val="1399571794"/>
                    </a:ext>
                  </a:extLst>
                </a:gridCol>
                <a:gridCol w="3140140">
                  <a:extLst>
                    <a:ext uri="{9D8B030D-6E8A-4147-A177-3AD203B41FA5}">
                      <a16:colId xmlns:a16="http://schemas.microsoft.com/office/drawing/2014/main" val="386609919"/>
                    </a:ext>
                  </a:extLst>
                </a:gridCol>
                <a:gridCol w="486434">
                  <a:extLst>
                    <a:ext uri="{9D8B030D-6E8A-4147-A177-3AD203B41FA5}">
                      <a16:colId xmlns:a16="http://schemas.microsoft.com/office/drawing/2014/main" val="1685409337"/>
                    </a:ext>
                  </a:extLst>
                </a:gridCol>
                <a:gridCol w="3004163">
                  <a:extLst>
                    <a:ext uri="{9D8B030D-6E8A-4147-A177-3AD203B41FA5}">
                      <a16:colId xmlns:a16="http://schemas.microsoft.com/office/drawing/2014/main" val="2020567769"/>
                    </a:ext>
                  </a:extLst>
                </a:gridCol>
              </a:tblGrid>
              <a:tr h="275091">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552412">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20:33 01/08/2025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VN1806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HAN-DIN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CHECK DOOR PRESSURE AT 4LH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TOTAL DELAY 101MIN, TECH 39MIN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Nguyên nhân do lớp màng chắn trong cơ cấu giảm chấn bị rách dẫn tới không giữ được áp suất. Đây là dạng hỏng hóc ít gặp và do màng chắn nằm ở bên trong nên không thể phát hiện bằng phương pháp thông thường. AIB cũng không có topic nào liên quan đến hiện tượng này.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36418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06:30 31/07/2025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VN581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KHH-SGN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F/CTL YAW DAMPER 1 DURING ENG RUN UP FOR DISPATCH APPEAR MSG F/CTL YAW DAMPER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CI TECHNICAL C/O RESET, MSG DISAPPEARED F/CTL YAW DAMPER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được khắc phục sau khi thực hiện test và reset khối FAC. Hỏng hóc có thể do lỗi kết nối. Cần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707132">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13:00 31/07/2025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VN7386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IR 2/3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RESET &amp;amp; ALIGN CHECK SATIS IR 2/3 FAULT EVENT CLOSED  TOTAL DELAY 22 MINS, TECH DELAY 5 MINS</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NOTE: A/C ARRIVAL 17 MINS &amp;amp; SHORT TRANSIT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 &lt; 15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r h="707132">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21:00 30/07/2025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VN7175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MW #3 INNER SHOULDER EXPOSE CORE , GROOVE REMAIN 0.8MM.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I.A.W AMM 32-41-11-000/400-006A (REV01MAY/2025) C/O RPLD NEW MAIN WHEEL ASSY , ALL CHK SATIS EVENT CLOSED  TECH : 35 MINS , A/C LATE ; 40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Non 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8031385"/>
                  </a:ext>
                </a:extLst>
              </a:tr>
              <a:tr h="826027">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21:52 30/07/2025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SGN-CXR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T/X CHECK FOUND MW #4 INNER SHOULDER CORD EXPOSED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ACTION: C/O REPLACED NEW MW#4 SATIS, A/C SERVICEABLE T/X CHECK FOUND MW #4 INNER SHOULDER CORD EXPOSED EVENT CLOSED  -T/X CHECK FOUND MW #4 INNER SHOULDER CORD EXPOSED, REMAINING SHOULDER ~0.5MM, SHORT TRANSIT FROM 19:15-19:45</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-A/C TOTAL DELAY: 20MINS, TECH: 0MINS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5340714"/>
                  </a:ext>
                </a:extLst>
              </a:tr>
            </a:tbl>
          </a:graphicData>
        </a:graphic>
      </p:graphicFrame>
      <p:sp>
        <p:nvSpPr>
          <p:cNvPr id="8" name="TextBox 7">
            <a:extLst>
              <a:ext uri="{FF2B5EF4-FFF2-40B4-BE49-F238E27FC236}">
                <a16:creationId xmlns:a16="http://schemas.microsoft.com/office/drawing/2014/main" id="{C63F9B0B-AF70-4DBA-B74F-22C9F7633F5D}"/>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 non tech) + 6 Event không tính Delay</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id="{297F6699-A317-4C84-A607-80F468435E31}"/>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 GTB</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78463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180AAA-DB59-6E1B-1DBD-C9E21CA19F1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F3B1F9D-597A-4434-9865-4659C3BE8EC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475CDC5F-5ECC-CC81-1B1D-2B6ABD930BB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61494941-067F-3C93-282D-201A9BF6C26C}"/>
              </a:ext>
            </a:extLst>
          </p:cNvPr>
          <p:cNvGraphicFramePr>
            <a:graphicFrameLocks noGrp="1"/>
          </p:cNvGraphicFramePr>
          <p:nvPr>
            <p:extLst>
              <p:ext uri="{D42A27DB-BD31-4B8C-83A1-F6EECF244321}">
                <p14:modId xmlns:p14="http://schemas.microsoft.com/office/powerpoint/2010/main" val="2125211347"/>
              </p:ext>
            </p:extLst>
          </p:nvPr>
        </p:nvGraphicFramePr>
        <p:xfrm>
          <a:off x="117663" y="1521021"/>
          <a:ext cx="11723451" cy="4399453"/>
        </p:xfrm>
        <a:graphic>
          <a:graphicData uri="http://schemas.openxmlformats.org/drawingml/2006/table">
            <a:tbl>
              <a:tblPr/>
              <a:tblGrid>
                <a:gridCol w="568137">
                  <a:extLst>
                    <a:ext uri="{9D8B030D-6E8A-4147-A177-3AD203B41FA5}">
                      <a16:colId xmlns:a16="http://schemas.microsoft.com/office/drawing/2014/main" val="2284300101"/>
                    </a:ext>
                  </a:extLst>
                </a:gridCol>
                <a:gridCol w="390437">
                  <a:extLst>
                    <a:ext uri="{9D8B030D-6E8A-4147-A177-3AD203B41FA5}">
                      <a16:colId xmlns:a16="http://schemas.microsoft.com/office/drawing/2014/main" val="3376405456"/>
                    </a:ext>
                  </a:extLst>
                </a:gridCol>
                <a:gridCol w="356192">
                  <a:extLst>
                    <a:ext uri="{9D8B030D-6E8A-4147-A177-3AD203B41FA5}">
                      <a16:colId xmlns:a16="http://schemas.microsoft.com/office/drawing/2014/main" val="2653704242"/>
                    </a:ext>
                  </a:extLst>
                </a:gridCol>
                <a:gridCol w="641145">
                  <a:extLst>
                    <a:ext uri="{9D8B030D-6E8A-4147-A177-3AD203B41FA5}">
                      <a16:colId xmlns:a16="http://schemas.microsoft.com/office/drawing/2014/main" val="3369821226"/>
                    </a:ext>
                  </a:extLst>
                </a:gridCol>
                <a:gridCol w="783622">
                  <a:extLst>
                    <a:ext uri="{9D8B030D-6E8A-4147-A177-3AD203B41FA5}">
                      <a16:colId xmlns:a16="http://schemas.microsoft.com/office/drawing/2014/main" val="775914175"/>
                    </a:ext>
                  </a:extLst>
                </a:gridCol>
                <a:gridCol w="463154">
                  <a:extLst>
                    <a:ext uri="{9D8B030D-6E8A-4147-A177-3AD203B41FA5}">
                      <a16:colId xmlns:a16="http://schemas.microsoft.com/office/drawing/2014/main" val="1357391052"/>
                    </a:ext>
                  </a:extLst>
                </a:gridCol>
                <a:gridCol w="1785050">
                  <a:extLst>
                    <a:ext uri="{9D8B030D-6E8A-4147-A177-3AD203B41FA5}">
                      <a16:colId xmlns:a16="http://schemas.microsoft.com/office/drawing/2014/main" val="1399571794"/>
                    </a:ext>
                  </a:extLst>
                </a:gridCol>
                <a:gridCol w="5299724">
                  <a:extLst>
                    <a:ext uri="{9D8B030D-6E8A-4147-A177-3AD203B41FA5}">
                      <a16:colId xmlns:a16="http://schemas.microsoft.com/office/drawing/2014/main" val="386609919"/>
                    </a:ext>
                  </a:extLst>
                </a:gridCol>
                <a:gridCol w="498669">
                  <a:extLst>
                    <a:ext uri="{9D8B030D-6E8A-4147-A177-3AD203B41FA5}">
                      <a16:colId xmlns:a16="http://schemas.microsoft.com/office/drawing/2014/main" val="1685409337"/>
                    </a:ext>
                  </a:extLst>
                </a:gridCol>
                <a:gridCol w="937321">
                  <a:extLst>
                    <a:ext uri="{9D8B030D-6E8A-4147-A177-3AD203B41FA5}">
                      <a16:colId xmlns:a16="http://schemas.microsoft.com/office/drawing/2014/main" val="2020567769"/>
                    </a:ext>
                  </a:extLst>
                </a:gridCol>
              </a:tblGrid>
              <a:tr h="304157">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610779">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A353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17:29 29/07/2025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VN7824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PQC-SGN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DURING T/X CHK, FOUND AIR PACK 1 REGUL FAULT.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C/O RESET AND CHECK SATIS DURING T/X CHK, FOUND AIR PACK 1 REGUL FAULT. EVENT CLOSED  -DURING T/X CHK, FOUND AIR PACK 1 REGUL FAULT.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-CHUYẾN BAY DELAY 20 MINS, DELAY KT 15 MINS (TÀU ĐÁP TRỄ 5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812463">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17:15 29/07/2025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VN679</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SGN-KUL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T/X CHECK FOUND MW #3 INNER SHOULDER CORD EXPOSED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C/O REPLACED NEW MW#3 SATIS T/X CHECK FOUND MW #3 INNER SHOULDER CORD EXPOSED EVENT CLOSED  -T/X CHECK FOUND MW #3 INNER SHOULDER CORD EXPOSED, REMAINING SHOULDER ~1.6MM</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FINAL</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-CHUYẾN BAY DELAY 43 MINS, DELAY KT 0 MINS. (SHORT TRANSIT TÀU ĐÁP TRỄ).</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1014146">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16:07 29/07/2025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VN132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CAPT REPORT SUSPECT BIRDSTRIKE INTO ENG 1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ACTION: C/O CHK ENG NO SIGN OF BIRDSTRIKE, MCC CONFIRM FAN BLADE 05 WAS REPAIRED</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CAPT REPORT SUSPECT BIRDSTRIKE INTO ENG 1 EVENT CLOSED  AFTER VN1383 DLI-SGN ,CAPT REPORT SUSPECT BIRDSTRIKE INTO ENG 1(NO ENTRY TO TECHLOG), CHK FOUND FAN BLADE 05 OF ENG 1 BEND.</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44 MINS , DELAY KT 31 MINS, SHORT TRANSIT (29MINS).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Non-tech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r h="30825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17:10 28/07/2025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VN7387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SGN-SIN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#4 SHOULDER CUT OUT OF LIMIT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ACTION: REPLACED MW #4, CHECK SATIS</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26 MINS, TECH DELAY 0 MINS</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A/C ARRIVAL LATE 21 MINS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8031385"/>
                  </a:ext>
                </a:extLst>
              </a:tr>
            </a:tbl>
          </a:graphicData>
        </a:graphic>
      </p:graphicFrame>
      <p:sp>
        <p:nvSpPr>
          <p:cNvPr id="7" name="TextBox 6">
            <a:extLst>
              <a:ext uri="{FF2B5EF4-FFF2-40B4-BE49-F238E27FC236}">
                <a16:creationId xmlns:a16="http://schemas.microsoft.com/office/drawing/2014/main" id="{C63F9B0B-AF70-4DBA-B74F-22C9F7633F5D}"/>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 non tech) + 6 Event không tính Delay</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297F6699-A317-4C84-A607-80F468435E31}"/>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 GTB</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907794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180AAA-DB59-6E1B-1DBD-C9E21CA19F1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F3B1F9D-597A-4434-9865-4659C3BE8EC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475CDC5F-5ECC-CC81-1B1D-2B6ABD930BB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61494941-067F-3C93-282D-201A9BF6C26C}"/>
              </a:ext>
            </a:extLst>
          </p:cNvPr>
          <p:cNvGraphicFramePr>
            <a:graphicFrameLocks noGrp="1"/>
          </p:cNvGraphicFramePr>
          <p:nvPr>
            <p:extLst/>
          </p:nvPr>
        </p:nvGraphicFramePr>
        <p:xfrm>
          <a:off x="117663" y="1530634"/>
          <a:ext cx="11788535" cy="5098766"/>
        </p:xfrm>
        <a:graphic>
          <a:graphicData uri="http://schemas.openxmlformats.org/drawingml/2006/table">
            <a:tbl>
              <a:tblPr/>
              <a:tblGrid>
                <a:gridCol w="365125">
                  <a:extLst>
                    <a:ext uri="{9D8B030D-6E8A-4147-A177-3AD203B41FA5}">
                      <a16:colId xmlns:a16="http://schemas.microsoft.com/office/drawing/2014/main" val="2284300101"/>
                    </a:ext>
                  </a:extLst>
                </a:gridCol>
                <a:gridCol w="725296">
                  <a:extLst>
                    <a:ext uri="{9D8B030D-6E8A-4147-A177-3AD203B41FA5}">
                      <a16:colId xmlns:a16="http://schemas.microsoft.com/office/drawing/2014/main" val="3376405456"/>
                    </a:ext>
                  </a:extLst>
                </a:gridCol>
                <a:gridCol w="489721">
                  <a:extLst>
                    <a:ext uri="{9D8B030D-6E8A-4147-A177-3AD203B41FA5}">
                      <a16:colId xmlns:a16="http://schemas.microsoft.com/office/drawing/2014/main" val="2653704242"/>
                    </a:ext>
                  </a:extLst>
                </a:gridCol>
                <a:gridCol w="653279">
                  <a:extLst>
                    <a:ext uri="{9D8B030D-6E8A-4147-A177-3AD203B41FA5}">
                      <a16:colId xmlns:a16="http://schemas.microsoft.com/office/drawing/2014/main" val="3369821226"/>
                    </a:ext>
                  </a:extLst>
                </a:gridCol>
                <a:gridCol w="609600">
                  <a:extLst>
                    <a:ext uri="{9D8B030D-6E8A-4147-A177-3AD203B41FA5}">
                      <a16:colId xmlns:a16="http://schemas.microsoft.com/office/drawing/2014/main" val="775914175"/>
                    </a:ext>
                  </a:extLst>
                </a:gridCol>
                <a:gridCol w="685800">
                  <a:extLst>
                    <a:ext uri="{9D8B030D-6E8A-4147-A177-3AD203B41FA5}">
                      <a16:colId xmlns:a16="http://schemas.microsoft.com/office/drawing/2014/main" val="1357391052"/>
                    </a:ext>
                  </a:extLst>
                </a:gridCol>
                <a:gridCol w="1295400">
                  <a:extLst>
                    <a:ext uri="{9D8B030D-6E8A-4147-A177-3AD203B41FA5}">
                      <a16:colId xmlns:a16="http://schemas.microsoft.com/office/drawing/2014/main" val="1399571794"/>
                    </a:ext>
                  </a:extLst>
                </a:gridCol>
                <a:gridCol w="3595061">
                  <a:extLst>
                    <a:ext uri="{9D8B030D-6E8A-4147-A177-3AD203B41FA5}">
                      <a16:colId xmlns:a16="http://schemas.microsoft.com/office/drawing/2014/main" val="386609919"/>
                    </a:ext>
                  </a:extLst>
                </a:gridCol>
                <a:gridCol w="396385">
                  <a:extLst>
                    <a:ext uri="{9D8B030D-6E8A-4147-A177-3AD203B41FA5}">
                      <a16:colId xmlns:a16="http://schemas.microsoft.com/office/drawing/2014/main" val="1685409337"/>
                    </a:ext>
                  </a:extLst>
                </a:gridCol>
                <a:gridCol w="2972868">
                  <a:extLst>
                    <a:ext uri="{9D8B030D-6E8A-4147-A177-3AD203B41FA5}">
                      <a16:colId xmlns:a16="http://schemas.microsoft.com/office/drawing/2014/main" val="2020567769"/>
                    </a:ext>
                  </a:extLst>
                </a:gridCol>
              </a:tblGrid>
              <a:tr h="565676">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51103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13:15 28/07/2025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HKG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VN593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HKG-HAN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MSG ENG 1 REVERSER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CRS OF PAPAS C/O DEACTIVED REVERSER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Theo thống kê hỏng hóc từ 2024 đến nay thì phần lớn là reset và thay junction của TM817/824 là có thể clear defect. Do đó đánh giá có thể có hiện tượng đầu cắm bị chập chờn gây ra cảnh báo. Ban KT đã ra SO yêu cầu thay thế toàn bộ junction của TM để phòng ngừa hỏng hóc. Ngoài ra cũng sẽ kiểm tra theo tần suất hiện tượng HCU bị quá nhiệt  2Y/ 1 lần.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51103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13:20 28/07/2025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VN7170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WING ANTI ICE FAULT CAPT REPORT WING ANTI ICE UNUSABLE IN FLT WITH FAULT MSG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 DEACTIVATED RH WING ANTI ICE VLV IN CLOSE POSITION AND OPEN ADD B1996: “R/H WING ANTI ICE VLV INOP IN CLOSE POSITION” CAPT REPORT WING ANTI ICE UNUSABLE IN FLT WITH FAULT MSG EVENT CLOSED  &lt;div&gt;&lt;strong&gt;WING ANTI ICE UNUSABLE IN FLT WITH FAULT MSG&lt;/strong&gt;&lt;/div&gt;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anti ice valve đã được nhận diện. Nguyên nhân là do bụi bẩn tích luỹ làm valve bị kẹt. Ban KT đã triển khai SO thực hiện kiểm tra hoạt động của valve tần suất EA để hạn chế hiện tượng này. Ngoài ra AIB có khuyến cáo gửi valve cao giờ đi ovh, tuy nhiên đánh giá là chưa cần thiết ở thời điểm hiện tại.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151103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11:30 28/07/2025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AFTER BOARDING, FAP SHOW MESG DEU-B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 `- 11:20 TÀU ĐÁP, ĐÁP TRỄ 30P</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- 11:40  TÀU XUẤT HIỆN MESSAGE TRÊN BẢNG FAP DEU B</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- 12:06 TÀU ĐÓNG CỬA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C/O RESET 2 TIMES  &amp; TEST THEN PASS. A/C SERVICEABLE"</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31MINS ( MB VỀ MUỘN 30P) TECH DEALAY 6 MINS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Delay&lt;15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
        <p:nvSpPr>
          <p:cNvPr id="7" name="TextBox 6">
            <a:extLst>
              <a:ext uri="{FF2B5EF4-FFF2-40B4-BE49-F238E27FC236}">
                <a16:creationId xmlns:a16="http://schemas.microsoft.com/office/drawing/2014/main" id="{C63F9B0B-AF70-4DBA-B74F-22C9F7633F5D}"/>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 non tech) + 6 Event không tính Delay</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297F6699-A317-4C84-A607-80F468435E31}"/>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 GTB</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98545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4B04B6D-C0DF-33E9-33F7-1943154DEC1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52AACF6-C1B5-20C7-8BA1-3AF103069616}"/>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3E6351F-93BE-7A2F-1BA7-92372701A57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2B34795-3F43-78B6-A20D-0E6C6C8964F6}"/>
              </a:ext>
            </a:extLst>
          </p:cNvPr>
          <p:cNvGraphicFramePr>
            <a:graphicFrameLocks noGrp="1"/>
          </p:cNvGraphicFramePr>
          <p:nvPr>
            <p:extLst/>
          </p:nvPr>
        </p:nvGraphicFramePr>
        <p:xfrm>
          <a:off x="117663" y="1521021"/>
          <a:ext cx="11705341" cy="5038075"/>
        </p:xfrm>
        <a:graphic>
          <a:graphicData uri="http://schemas.openxmlformats.org/drawingml/2006/table">
            <a:tbl>
              <a:tblPr/>
              <a:tblGrid>
                <a:gridCol w="339537">
                  <a:extLst>
                    <a:ext uri="{9D8B030D-6E8A-4147-A177-3AD203B41FA5}">
                      <a16:colId xmlns:a16="http://schemas.microsoft.com/office/drawing/2014/main" val="2284300101"/>
                    </a:ext>
                  </a:extLst>
                </a:gridCol>
                <a:gridCol w="554370">
                  <a:extLst>
                    <a:ext uri="{9D8B030D-6E8A-4147-A177-3AD203B41FA5}">
                      <a16:colId xmlns:a16="http://schemas.microsoft.com/office/drawing/2014/main" val="3376405456"/>
                    </a:ext>
                  </a:extLst>
                </a:gridCol>
                <a:gridCol w="360030">
                  <a:extLst>
                    <a:ext uri="{9D8B030D-6E8A-4147-A177-3AD203B41FA5}">
                      <a16:colId xmlns:a16="http://schemas.microsoft.com/office/drawing/2014/main" val="2653704242"/>
                    </a:ext>
                  </a:extLst>
                </a:gridCol>
                <a:gridCol w="491597">
                  <a:extLst>
                    <a:ext uri="{9D8B030D-6E8A-4147-A177-3AD203B41FA5}">
                      <a16:colId xmlns:a16="http://schemas.microsoft.com/office/drawing/2014/main" val="3369821226"/>
                    </a:ext>
                  </a:extLst>
                </a:gridCol>
                <a:gridCol w="465072">
                  <a:extLst>
                    <a:ext uri="{9D8B030D-6E8A-4147-A177-3AD203B41FA5}">
                      <a16:colId xmlns:a16="http://schemas.microsoft.com/office/drawing/2014/main" val="775914175"/>
                    </a:ext>
                  </a:extLst>
                </a:gridCol>
                <a:gridCol w="380514">
                  <a:extLst>
                    <a:ext uri="{9D8B030D-6E8A-4147-A177-3AD203B41FA5}">
                      <a16:colId xmlns:a16="http://schemas.microsoft.com/office/drawing/2014/main" val="1357391052"/>
                    </a:ext>
                  </a:extLst>
                </a:gridCol>
                <a:gridCol w="2585081">
                  <a:extLst>
                    <a:ext uri="{9D8B030D-6E8A-4147-A177-3AD203B41FA5}">
                      <a16:colId xmlns:a16="http://schemas.microsoft.com/office/drawing/2014/main" val="1399571794"/>
                    </a:ext>
                  </a:extLst>
                </a:gridCol>
                <a:gridCol w="3158871">
                  <a:extLst>
                    <a:ext uri="{9D8B030D-6E8A-4147-A177-3AD203B41FA5}">
                      <a16:colId xmlns:a16="http://schemas.microsoft.com/office/drawing/2014/main" val="386609919"/>
                    </a:ext>
                  </a:extLst>
                </a:gridCol>
                <a:gridCol w="235556">
                  <a:extLst>
                    <a:ext uri="{9D8B030D-6E8A-4147-A177-3AD203B41FA5}">
                      <a16:colId xmlns:a16="http://schemas.microsoft.com/office/drawing/2014/main" val="1685409337"/>
                    </a:ext>
                  </a:extLst>
                </a:gridCol>
                <a:gridCol w="3134713">
                  <a:extLst>
                    <a:ext uri="{9D8B030D-6E8A-4147-A177-3AD203B41FA5}">
                      <a16:colId xmlns:a16="http://schemas.microsoft.com/office/drawing/2014/main" val="2020567769"/>
                    </a:ext>
                  </a:extLst>
                </a:gridCol>
              </a:tblGrid>
              <a:tr h="71472">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478546">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14:50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DURING T/X CHK , FOUND &amp;#160;HINGE OF LH LANDING LT BROKEN.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 RPLD NEW LH LADING LIGHT, CHK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Landing light PN 727-1213-03. Hỏng hóc được khắc phục sau khi thay part. PN 727-1213-03 đã là part mới nhất tu nhiên vẫn chưa nâng cao được ĐTC. Hỏng hóc chủ yếu của part thường liên quan đến bộ phận bản lề khiến đèn bị kẹt ở vị trí mở/đóng.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830612">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11:14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HAN-UIH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VN1540/VN7621 HUI-HAN-UIH (TRANSIT): APPEAR MSG “Y RESERVOIR LOW LEVEL’; ENG 2 PUMP FAULT ; ELEC PUMP FAULT IF PUSH”.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 TSM 29-13-00-810-801-A, CONFIRMED FALSE ECAM ALERT, RAISE ADD B2762 FOR HYD Y RSVR LO LVL FALSE ALERT AND  03 CONSEQUENCE ADD B2703,2704,2705 FOR PB FAULT LIGHT OF Y ELEC PUMP/ENG2 PUMP, PTU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low level switch. Sau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thế</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thì</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còn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các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cảnh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bảo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Hiện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AIB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topic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nào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ĐTC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của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thiết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bị</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Tiếp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tục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theo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dõi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thêm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122328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09:43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FOUND MSG : ENG #2 FAIL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RESET FWC 1 AND 2. AFTER RESET, MSG IS CLEARED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31-53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FWC PN 350E053022323, hỏng hóc được khắc phục sau khi thực hiện reset. PN 350E053022323 đang là part mới nhất, được nâng cấp để giảm các cảnh báo giả. Hiện không có thông tin về ISI, TFU liên quan đến vấn đề ĐTC của part này. Theo dõi thêm.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
        <p:nvSpPr>
          <p:cNvPr id="7" name="TextBox 6">
            <a:extLst>
              <a:ext uri="{FF2B5EF4-FFF2-40B4-BE49-F238E27FC236}">
                <a16:creationId xmlns:a16="http://schemas.microsoft.com/office/drawing/2014/main" id="{C63F9B0B-AF70-4DBA-B74F-22C9F7633F5D}"/>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 non tech) + 6 Event không tính Delay</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297F6699-A317-4C84-A607-80F468435E31}"/>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 GTB</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490263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990600" y="152400"/>
            <a:ext cx="10481849"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pic>
        <p:nvPicPr>
          <p:cNvPr id="6" name="Picture 5">
            <a:extLst>
              <a:ext uri="{FF2B5EF4-FFF2-40B4-BE49-F238E27FC236}">
                <a16:creationId xmlns:a16="http://schemas.microsoft.com/office/drawing/2014/main" id="{080C0838-9051-64A0-0A76-F05871117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3561" y="1066800"/>
            <a:ext cx="4627692" cy="2971800"/>
          </a:xfrm>
          <a:prstGeom prst="rect">
            <a:avLst/>
          </a:prstGeom>
        </p:spPr>
      </p:pic>
      <p:sp>
        <p:nvSpPr>
          <p:cNvPr id="4" name="Rectangle 3">
            <a:extLst>
              <a:ext uri="{FF2B5EF4-FFF2-40B4-BE49-F238E27FC236}">
                <a16:creationId xmlns:a16="http://schemas.microsoft.com/office/drawing/2014/main" id="{F9BC0898-399F-EB51-D932-4907C5E9DAD2}"/>
              </a:ext>
            </a:extLst>
          </p:cNvPr>
          <p:cNvSpPr/>
          <p:nvPr/>
        </p:nvSpPr>
        <p:spPr>
          <a:xfrm>
            <a:off x="609600" y="984542"/>
            <a:ext cx="5867400" cy="2831544"/>
          </a:xfrm>
          <a:prstGeom prst="rect">
            <a:avLst/>
          </a:prstGeom>
        </p:spPr>
        <p:txBody>
          <a:bodyPr wrap="square">
            <a:spAutoFit/>
          </a:bodyPr>
          <a:lstStyle/>
          <a:p>
            <a:pPr algn="just">
              <a:buClrTx/>
              <a:buFontTx/>
              <a:buNone/>
            </a:pPr>
            <a:r>
              <a:rPr lang="en-US" sz="1600" b="1" dirty="0">
                <a:solidFill>
                  <a:prstClr val="black"/>
                </a:solidFill>
                <a:latin typeface="Times New Roman" panose="02020603050405020304" pitchFamily="18" charset="0"/>
                <a:cs typeface="Times New Roman" panose="02020603050405020304" pitchFamily="18" charset="0"/>
              </a:rPr>
              <a:t>A321: </a:t>
            </a:r>
          </a:p>
          <a:p>
            <a:pPr algn="just"/>
            <a:r>
              <a:rPr lang="en-US">
                <a:latin typeface="Times New Roman" panose="02020603050405020304" pitchFamily="18" charset="0"/>
                <a:cs typeface="Times New Roman" panose="02020603050405020304" pitchFamily="18" charset="0"/>
              </a:rPr>
              <a:t>Tình trạng kỹ thuật đội bay A321 trong tuần </a:t>
            </a:r>
            <a:r>
              <a:rPr lang="vi-VN" smtClean="0">
                <a:cs typeface="Times New Roman" panose="02020603050405020304" pitchFamily="18" charset="0"/>
              </a:rPr>
              <a:t>phát </a:t>
            </a:r>
            <a:r>
              <a:rPr lang="vi-VN">
                <a:cs typeface="Times New Roman" panose="02020603050405020304" pitchFamily="18" charset="0"/>
              </a:rPr>
              <a:t>sinh một số hỏng hóc liên quan đến hệ thống động cơ, cụ thể:</a:t>
            </a:r>
          </a:p>
          <a:p>
            <a:pPr marL="285750" indent="-285750" algn="just">
              <a:buFont typeface="Wingdings" panose="05000000000000000000" pitchFamily="2" charset="2"/>
              <a:buChar char="Ø"/>
            </a:pPr>
            <a:r>
              <a:rPr lang="vi-VN">
                <a:cs typeface="Times New Roman" panose="02020603050405020304" pitchFamily="18" charset="0"/>
              </a:rPr>
              <a:t>A512 AOG sau chuyến VN1562 do hiện tượng nóng đỏ khu vực ống xả của ENG1, không phát sinh cảnh báo gì khác. VNA/VAECO đã gửi KQ soi cho PW và kết luận hỏng hóc vẫn nằm trong giới hạn và tiếp tục khai thác</a:t>
            </a:r>
          </a:p>
          <a:p>
            <a:pPr marL="285750" indent="-285750" algn="just">
              <a:buFont typeface="Wingdings" panose="05000000000000000000" pitchFamily="2" charset="2"/>
              <a:buChar char="Ø"/>
            </a:pPr>
            <a:r>
              <a:rPr lang="vi-VN">
                <a:cs typeface="Times New Roman" panose="02020603050405020304" pitchFamily="18" charset="0"/>
              </a:rPr>
              <a:t>A610 GTB DUE TO ENG # 2 EGT OVERLIMIT, hỏng hóc thuộc top OI (khi mưa to nước mưa ngấm vào dây truyền tín hiệu gây ra báo giả và phải thay </a:t>
            </a:r>
            <a:r>
              <a:rPr lang="vi-VN">
                <a:cs typeface="Times New Roman" panose="02020603050405020304" pitchFamily="18" charset="0"/>
              </a:rPr>
              <a:t>dây</a:t>
            </a:r>
            <a:r>
              <a:rPr lang="vi-VN" smtClean="0">
                <a:cs typeface="Times New Roman" panose="02020603050405020304" pitchFamily="18" charset="0"/>
              </a:rPr>
              <a:t>)</a:t>
            </a:r>
            <a:r>
              <a:rPr lang="en-US"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1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781B61D-6BE9-4DF7-A2B8-D1187903C81A}"/>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A5F70F2-0599-4D29-0646-FC1134E217B0}"/>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873DC72-16F1-E226-9FA5-C0C970BA04A6}"/>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786AEEC8-8E48-B08A-E5ED-540FFDEE7644}"/>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GTB: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8F09E07-0161-2EFF-55BC-827D68473881}"/>
              </a:ext>
            </a:extLst>
          </p:cNvPr>
          <p:cNvSpPr txBox="1"/>
          <p:nvPr/>
        </p:nvSpPr>
        <p:spPr>
          <a:xfrm>
            <a:off x="165098" y="730561"/>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event &lt;15p)</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3" name="Table 2">
            <a:extLst>
              <a:ext uri="{FF2B5EF4-FFF2-40B4-BE49-F238E27FC236}">
                <a16:creationId xmlns:a16="http://schemas.microsoft.com/office/drawing/2014/main" id="{274BDC7C-A5DF-4EE4-96A8-10611B98EF86}"/>
              </a:ext>
            </a:extLst>
          </p:cNvPr>
          <p:cNvGraphicFramePr>
            <a:graphicFrameLocks noGrp="1"/>
          </p:cNvGraphicFramePr>
          <p:nvPr>
            <p:extLst/>
          </p:nvPr>
        </p:nvGraphicFramePr>
        <p:xfrm>
          <a:off x="287832" y="1600200"/>
          <a:ext cx="11553282" cy="1744207"/>
        </p:xfrm>
        <a:graphic>
          <a:graphicData uri="http://schemas.openxmlformats.org/drawingml/2006/table">
            <a:tbl>
              <a:tblPr/>
              <a:tblGrid>
                <a:gridCol w="473350">
                  <a:extLst>
                    <a:ext uri="{9D8B030D-6E8A-4147-A177-3AD203B41FA5}">
                      <a16:colId xmlns:a16="http://schemas.microsoft.com/office/drawing/2014/main" val="1256614108"/>
                    </a:ext>
                  </a:extLst>
                </a:gridCol>
                <a:gridCol w="421289">
                  <a:extLst>
                    <a:ext uri="{9D8B030D-6E8A-4147-A177-3AD203B41FA5}">
                      <a16:colId xmlns:a16="http://schemas.microsoft.com/office/drawing/2014/main" val="845328635"/>
                    </a:ext>
                  </a:extLst>
                </a:gridCol>
                <a:gridCol w="674062">
                  <a:extLst>
                    <a:ext uri="{9D8B030D-6E8A-4147-A177-3AD203B41FA5}">
                      <a16:colId xmlns:a16="http://schemas.microsoft.com/office/drawing/2014/main" val="2826930270"/>
                    </a:ext>
                  </a:extLst>
                </a:gridCol>
                <a:gridCol w="842578">
                  <a:extLst>
                    <a:ext uri="{9D8B030D-6E8A-4147-A177-3AD203B41FA5}">
                      <a16:colId xmlns:a16="http://schemas.microsoft.com/office/drawing/2014/main" val="1787504177"/>
                    </a:ext>
                  </a:extLst>
                </a:gridCol>
                <a:gridCol w="842578">
                  <a:extLst>
                    <a:ext uri="{9D8B030D-6E8A-4147-A177-3AD203B41FA5}">
                      <a16:colId xmlns:a16="http://schemas.microsoft.com/office/drawing/2014/main" val="1025642175"/>
                    </a:ext>
                  </a:extLst>
                </a:gridCol>
                <a:gridCol w="674062">
                  <a:extLst>
                    <a:ext uri="{9D8B030D-6E8A-4147-A177-3AD203B41FA5}">
                      <a16:colId xmlns:a16="http://schemas.microsoft.com/office/drawing/2014/main" val="3775301779"/>
                    </a:ext>
                  </a:extLst>
                </a:gridCol>
                <a:gridCol w="1348125">
                  <a:extLst>
                    <a:ext uri="{9D8B030D-6E8A-4147-A177-3AD203B41FA5}">
                      <a16:colId xmlns:a16="http://schemas.microsoft.com/office/drawing/2014/main" val="623067447"/>
                    </a:ext>
                  </a:extLst>
                </a:gridCol>
                <a:gridCol w="1600898">
                  <a:extLst>
                    <a:ext uri="{9D8B030D-6E8A-4147-A177-3AD203B41FA5}">
                      <a16:colId xmlns:a16="http://schemas.microsoft.com/office/drawing/2014/main" val="2048545075"/>
                    </a:ext>
                  </a:extLst>
                </a:gridCol>
                <a:gridCol w="379194">
                  <a:extLst>
                    <a:ext uri="{9D8B030D-6E8A-4147-A177-3AD203B41FA5}">
                      <a16:colId xmlns:a16="http://schemas.microsoft.com/office/drawing/2014/main" val="3024810284"/>
                    </a:ext>
                  </a:extLst>
                </a:gridCol>
                <a:gridCol w="4297146">
                  <a:extLst>
                    <a:ext uri="{9D8B030D-6E8A-4147-A177-3AD203B41FA5}">
                      <a16:colId xmlns:a16="http://schemas.microsoft.com/office/drawing/2014/main" val="4070419696"/>
                    </a:ext>
                  </a:extLst>
                </a:gridCol>
              </a:tblGrid>
              <a:tr h="369626">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91498574"/>
                  </a:ext>
                </a:extLst>
              </a:tr>
              <a:tr h="1374581">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MEL-SGN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07:45 01/08/2025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 (GTB) DUE TO MSG F/CL SPTL HYD MECH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CRS OF HESTON C/O APPLIED MEL FOR R/H SPLR 1 DEACTIVE WITHOUT COLAR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cs typeface="Times New Roman" panose="02020603050405020304" pitchFamily="18" charset="0"/>
                        </a:rPr>
                        <a:t>Hỏng hóc FM: SERVO CTL-R SPLR 1,Y(1CL2) / SERVO MODULE-SERVO CTL,R SPLR 1 Y(101CL2) / FCRM-SERVO CTL,R SPLR 1 Y(201CL2) + FC: 2796F6AQ</a:t>
                      </a:r>
                    </a:p>
                    <a:p>
                      <a:pPr algn="l" fontAlgn="b"/>
                      <a:r>
                        <a:rPr lang="vi-VN" sz="1100" b="0" i="0" u="none" strike="noStrike">
                          <a:solidFill>
                            <a:srgbClr val="000000"/>
                          </a:solidFill>
                          <a:effectLst/>
                          <a:latin typeface="+mn-lt"/>
                          <a:cs typeface="Times New Roman" panose="02020603050405020304" pitchFamily="18" charset="0"/>
                        </a:rPr>
                        <a:t>Nguyên nhân do đứt gãy mối hàn trong bảng mạch.</a:t>
                      </a:r>
                    </a:p>
                    <a:p>
                      <a:pPr algn="l" fontAlgn="b"/>
                      <a:r>
                        <a:rPr lang="vi-VN" sz="1100" b="0" i="0" u="none" strike="noStrike">
                          <a:solidFill>
                            <a:srgbClr val="000000"/>
                          </a:solidFill>
                          <a:effectLst/>
                          <a:latin typeface="+mn-lt"/>
                          <a:cs typeface="Times New Roman" panose="02020603050405020304" pitchFamily="18" charset="0"/>
                        </a:rPr>
                        <a:t>Khối FCRM tháo xuống PN OFF CA71323-014, SN OFF 01706 là khối gốc trên tàu bay A890 từ khi EIS, đã khai thác được 6169 FC/ 32065 FH.</a:t>
                      </a:r>
                    </a:p>
                    <a:p>
                      <a:pPr algn="l" fontAlgn="b"/>
                      <a:r>
                        <a:rPr lang="vi-VN" sz="1100" b="0" i="0" u="none" strike="noStrike">
                          <a:solidFill>
                            <a:srgbClr val="000000"/>
                          </a:solidFill>
                          <a:effectLst/>
                          <a:latin typeface="+mn-lt"/>
                          <a:cs typeface="Times New Roman" panose="02020603050405020304" pitchFamily="18" charset="0"/>
                        </a:rPr>
                        <a:t>MOOG/AIB đã ban hành SB nâng cấp lên FCRM PN CA71323-017, nhưng chỉ hỗ trợ thực hiện on-attrition.</a:t>
                      </a: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6394075"/>
                  </a:ext>
                </a:extLst>
              </a:tr>
            </a:tbl>
          </a:graphicData>
        </a:graphic>
      </p:graphicFrame>
    </p:spTree>
    <p:extLst>
      <p:ext uri="{BB962C8B-B14F-4D97-AF65-F5344CB8AC3E}">
        <p14:creationId xmlns:p14="http://schemas.microsoft.com/office/powerpoint/2010/main" val="736704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781B61D-6BE9-4DF7-A2B8-D1187903C81A}"/>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A5F70F2-0599-4D29-0646-FC1134E217B0}"/>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873DC72-16F1-E226-9FA5-C0C970BA04A6}"/>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786AEEC8-8E48-B08A-E5ED-540FFDEE7644}"/>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8F09E07-0161-2EFF-55BC-827D68473881}"/>
              </a:ext>
            </a:extLst>
          </p:cNvPr>
          <p:cNvSpPr txBox="1"/>
          <p:nvPr/>
        </p:nvSpPr>
        <p:spPr>
          <a:xfrm>
            <a:off x="165098" y="730561"/>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event &lt;15p)</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5" name="Table 4">
            <a:extLst>
              <a:ext uri="{FF2B5EF4-FFF2-40B4-BE49-F238E27FC236}">
                <a16:creationId xmlns:a16="http://schemas.microsoft.com/office/drawing/2014/main" id="{763C26AC-F441-7537-19DA-CA12FC8EC7A9}"/>
              </a:ext>
            </a:extLst>
          </p:cNvPr>
          <p:cNvGraphicFramePr>
            <a:graphicFrameLocks noGrp="1"/>
          </p:cNvGraphicFramePr>
          <p:nvPr>
            <p:extLst>
              <p:ext uri="{D42A27DB-BD31-4B8C-83A1-F6EECF244321}">
                <p14:modId xmlns:p14="http://schemas.microsoft.com/office/powerpoint/2010/main" val="787153279"/>
              </p:ext>
            </p:extLst>
          </p:nvPr>
        </p:nvGraphicFramePr>
        <p:xfrm>
          <a:off x="134289" y="1447801"/>
          <a:ext cx="11719524" cy="4327911"/>
        </p:xfrm>
        <a:graphic>
          <a:graphicData uri="http://schemas.openxmlformats.org/drawingml/2006/table">
            <a:tbl>
              <a:tblPr/>
              <a:tblGrid>
                <a:gridCol w="444518">
                  <a:extLst>
                    <a:ext uri="{9D8B030D-6E8A-4147-A177-3AD203B41FA5}">
                      <a16:colId xmlns:a16="http://schemas.microsoft.com/office/drawing/2014/main" val="2739692636"/>
                    </a:ext>
                  </a:extLst>
                </a:gridCol>
                <a:gridCol w="498844">
                  <a:extLst>
                    <a:ext uri="{9D8B030D-6E8A-4147-A177-3AD203B41FA5}">
                      <a16:colId xmlns:a16="http://schemas.microsoft.com/office/drawing/2014/main" val="3341851503"/>
                    </a:ext>
                  </a:extLst>
                </a:gridCol>
                <a:gridCol w="427580">
                  <a:extLst>
                    <a:ext uri="{9D8B030D-6E8A-4147-A177-3AD203B41FA5}">
                      <a16:colId xmlns:a16="http://schemas.microsoft.com/office/drawing/2014/main" val="1317429446"/>
                    </a:ext>
                  </a:extLst>
                </a:gridCol>
                <a:gridCol w="783898">
                  <a:extLst>
                    <a:ext uri="{9D8B030D-6E8A-4147-A177-3AD203B41FA5}">
                      <a16:colId xmlns:a16="http://schemas.microsoft.com/office/drawing/2014/main" val="3735092681"/>
                    </a:ext>
                  </a:extLst>
                </a:gridCol>
                <a:gridCol w="745847">
                  <a:extLst>
                    <a:ext uri="{9D8B030D-6E8A-4147-A177-3AD203B41FA5}">
                      <a16:colId xmlns:a16="http://schemas.microsoft.com/office/drawing/2014/main" val="58077959"/>
                    </a:ext>
                  </a:extLst>
                </a:gridCol>
                <a:gridCol w="353426">
                  <a:extLst>
                    <a:ext uri="{9D8B030D-6E8A-4147-A177-3AD203B41FA5}">
                      <a16:colId xmlns:a16="http://schemas.microsoft.com/office/drawing/2014/main" val="2308665628"/>
                    </a:ext>
                  </a:extLst>
                </a:gridCol>
                <a:gridCol w="1743548">
                  <a:extLst>
                    <a:ext uri="{9D8B030D-6E8A-4147-A177-3AD203B41FA5}">
                      <a16:colId xmlns:a16="http://schemas.microsoft.com/office/drawing/2014/main" val="3614108611"/>
                    </a:ext>
                  </a:extLst>
                </a:gridCol>
                <a:gridCol w="1567795">
                  <a:extLst>
                    <a:ext uri="{9D8B030D-6E8A-4147-A177-3AD203B41FA5}">
                      <a16:colId xmlns:a16="http://schemas.microsoft.com/office/drawing/2014/main" val="1197103076"/>
                    </a:ext>
                  </a:extLst>
                </a:gridCol>
                <a:gridCol w="498844">
                  <a:extLst>
                    <a:ext uri="{9D8B030D-6E8A-4147-A177-3AD203B41FA5}">
                      <a16:colId xmlns:a16="http://schemas.microsoft.com/office/drawing/2014/main" val="134315133"/>
                    </a:ext>
                  </a:extLst>
                </a:gridCol>
                <a:gridCol w="4655224">
                  <a:extLst>
                    <a:ext uri="{9D8B030D-6E8A-4147-A177-3AD203B41FA5}">
                      <a16:colId xmlns:a16="http://schemas.microsoft.com/office/drawing/2014/main" val="931530744"/>
                    </a:ext>
                  </a:extLst>
                </a:gridCol>
              </a:tblGrid>
              <a:tr h="358530">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24271864"/>
                  </a:ext>
                </a:extLst>
              </a:tr>
              <a:tr h="2451096">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07:45 01/08/2025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MEL-SGN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 (GTB) DUE TO MSG F/CL SPTL HYD MECH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CRS OF HESTON C/O APPLIED MEL FOR R/H SPLR 1 DEACTIVE WITHOUT COLAR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FM: SERVO CTL-R SPLR 1,Y(1CL2) / SERVO MODULE-SERVO CTL,R SPLR 1 Y(101CL2) / FCRM-SERVO CTL,R SPLR 1 Y(201CL2) + FC: 2796F6AQ</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Nguyên nhân do đứt gãy mối hàn trong bảng mạch.</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Khối FCRM tháo xuống PN OFF CA71323-014, SN OFF 01706 là khối gốc trên tàu bay A890 từ khi EIS, đã khai thác được 6169 FC/ 32065 FH.</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MOOG/AIB đã ban hành SB nâng cấp lên FCRM PN CA71323-017, nhưng chỉ hỗ trợ thực hiện on-attrition.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7950337"/>
                  </a:ext>
                </a:extLst>
              </a:tr>
              <a:tr h="1076573">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21:30 28/07/2025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SGN-MEL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AFTER BOARDING, FOUND NO COOLING ON ALL GALLEYS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NO COOLING ON ALL GALLEYS</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20 MINS, TECH DELAY: 15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Delay </a:t>
                      </a:r>
                      <a:r>
                        <a:rPr lang="en-US" sz="1100" b="0" i="0" u="none" strike="noStrike">
                          <a:solidFill>
                            <a:srgbClr val="000000"/>
                          </a:solidFill>
                          <a:effectLst/>
                          <a:latin typeface="Times New Roman" panose="02020603050405020304" pitchFamily="18" charset="0"/>
                          <a:cs typeface="Times New Roman" panose="02020603050405020304" pitchFamily="18" charset="0"/>
                        </a:rPr>
                        <a:t>dưới 15 phút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2435144"/>
                  </a:ext>
                </a:extLst>
              </a:tr>
            </a:tbl>
          </a:graphicData>
        </a:graphic>
      </p:graphicFrame>
    </p:spTree>
    <p:extLst>
      <p:ext uri="{BB962C8B-B14F-4D97-AF65-F5344CB8AC3E}">
        <p14:creationId xmlns:p14="http://schemas.microsoft.com/office/powerpoint/2010/main" val="1974826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4564936E-AC2E-D07E-21C6-1481CA0B802E}"/>
              </a:ext>
            </a:extLst>
          </p:cNvPr>
          <p:cNvGraphicFramePr>
            <a:graphicFrameLocks noGrp="1"/>
          </p:cNvGraphicFramePr>
          <p:nvPr>
            <p:extLst/>
          </p:nvPr>
        </p:nvGraphicFramePr>
        <p:xfrm>
          <a:off x="257575" y="509149"/>
          <a:ext cx="11770637" cy="6339102"/>
        </p:xfrm>
        <a:graphic>
          <a:graphicData uri="http://schemas.openxmlformats.org/drawingml/2006/table">
            <a:tbl>
              <a:tblPr/>
              <a:tblGrid>
                <a:gridCol w="505664">
                  <a:extLst>
                    <a:ext uri="{9D8B030D-6E8A-4147-A177-3AD203B41FA5}">
                      <a16:colId xmlns:a16="http://schemas.microsoft.com/office/drawing/2014/main" val="3081911354"/>
                    </a:ext>
                  </a:extLst>
                </a:gridCol>
                <a:gridCol w="515435">
                  <a:extLst>
                    <a:ext uri="{9D8B030D-6E8A-4147-A177-3AD203B41FA5}">
                      <a16:colId xmlns:a16="http://schemas.microsoft.com/office/drawing/2014/main" val="2761919618"/>
                    </a:ext>
                  </a:extLst>
                </a:gridCol>
                <a:gridCol w="1377795">
                  <a:extLst>
                    <a:ext uri="{9D8B030D-6E8A-4147-A177-3AD203B41FA5}">
                      <a16:colId xmlns:a16="http://schemas.microsoft.com/office/drawing/2014/main" val="484145423"/>
                    </a:ext>
                  </a:extLst>
                </a:gridCol>
                <a:gridCol w="1110167">
                  <a:extLst>
                    <a:ext uri="{9D8B030D-6E8A-4147-A177-3AD203B41FA5}">
                      <a16:colId xmlns:a16="http://schemas.microsoft.com/office/drawing/2014/main" val="2731475131"/>
                    </a:ext>
                  </a:extLst>
                </a:gridCol>
                <a:gridCol w="1635512">
                  <a:extLst>
                    <a:ext uri="{9D8B030D-6E8A-4147-A177-3AD203B41FA5}">
                      <a16:colId xmlns:a16="http://schemas.microsoft.com/office/drawing/2014/main" val="810631668"/>
                    </a:ext>
                  </a:extLst>
                </a:gridCol>
                <a:gridCol w="6626064">
                  <a:extLst>
                    <a:ext uri="{9D8B030D-6E8A-4147-A177-3AD203B41FA5}">
                      <a16:colId xmlns:a16="http://schemas.microsoft.com/office/drawing/2014/main" val="1803225350"/>
                    </a:ext>
                  </a:extLst>
                </a:gridCol>
              </a:tblGrid>
              <a:tr h="205739">
                <a:tc>
                  <a:txBody>
                    <a:bodyPr/>
                    <a:lstStyle/>
                    <a:p>
                      <a:pPr algn="ctr" fontAlgn="ctr"/>
                      <a:r>
                        <a:rPr lang="en-US" sz="1300" b="0" i="0" u="none" strike="noStrike">
                          <a:solidFill>
                            <a:srgbClr val="000000"/>
                          </a:solidFill>
                          <a:effectLst/>
                          <a:latin typeface="Calibri" panose="020F0502020204030204" pitchFamily="34" charset="0"/>
                        </a:rPr>
                        <a:t>Fleet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353327"/>
                  </a:ext>
                </a:extLst>
              </a:tr>
              <a:tr h="6121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C1456 RAISED CHILLER SYS INOP</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B1390 RAISED LH BELLY FAIRING TO FLAP TRUNNION SEAL (ON PANEL 097FL) DAMAGE</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4. ADD B1414 RAISED DM AIR REDUNDANCY LOSS ON FUEL INERTING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2114671"/>
                  </a:ext>
                </a:extLst>
              </a:tr>
              <a:tr h="6121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2. ADD C1270 RAISED CHILLER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3. ADD B1309 DM F/CTL ONE GYRO/ ACCLMTR</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5133526"/>
                  </a:ext>
                </a:extLst>
              </a:tr>
              <a:tr h="8153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soi heatshield 2400FH/400FC,  giảm tần suất soi HPT blade 2000FH/250FC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ADD C1236 RAISED CHILLER SYS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5. ADD  B1444 RAISED "DM BRAKES BRK 06 RELEASED"</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0373271"/>
                  </a:ext>
                </a:extLst>
              </a:tr>
              <a:tr h="6121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B1306 RAISED FOR AIR LEAK DET REDUNDANCY</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5465134"/>
                  </a:ext>
                </a:extLst>
              </a:tr>
              <a:tr h="8153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B1558 RAISED ICE INDICATION LGT ON BOTH SIDE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C1521 RAISED AIR CHILLER SYSTEM INTERMITTENT FAIL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B1577 RAISED RAISED FLAP 1 PCU FAULT</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ADD B1583:"DM: F/CTL ONE GYRO/ACCLMTR"</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8590836"/>
                  </a:ext>
                </a:extLst>
              </a:tr>
              <a:tr h="2057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600734"/>
                  </a:ext>
                </a:extLst>
              </a:tr>
              <a:tr h="4089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C1203 RAISED CHILLER SYS INOP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B1624 RAISED DM ENG 2 SINGLE FIRE LOOP</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5571890"/>
                  </a:ext>
                </a:extLst>
              </a:tr>
              <a:tr h="2057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C1191 RAISED CHILLER AT AFT CREWREST INOP</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2835092"/>
                  </a:ext>
                </a:extLst>
              </a:tr>
              <a:tr h="2057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21317  giảm tần suất soi IPC blade root 100FC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9995452"/>
                  </a:ext>
                </a:extLst>
              </a:tr>
              <a:tr h="2057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4961449"/>
                  </a:ext>
                </a:extLst>
              </a:tr>
              <a:tr h="4089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C855 RAISED CHILLER SYSTEM INOP</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B1091 RAISED ENG#2 SINGLE IGN (IGNITER PLUG 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9112135"/>
                  </a:ext>
                </a:extLst>
              </a:tr>
              <a:tr h="207556">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029497"/>
                  </a:ext>
                </a:extLst>
              </a:tr>
              <a:tr h="6121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soi HPT blade 200FH/25FC, giảm tần suất soi IPC blade root 100FCC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B1208 RAISED AFT GALLEY HEATER FAULT</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B1220 RAISED FOR DM: FUEL INERTING SYS</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6609801"/>
                  </a:ext>
                </a:extLst>
              </a:tr>
              <a:tr h="205739">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2943840"/>
                  </a:ext>
                </a:extLst>
              </a:tr>
            </a:tbl>
          </a:graphicData>
        </a:graphic>
      </p:graphicFrame>
    </p:spTree>
    <p:extLst>
      <p:ext uri="{BB962C8B-B14F-4D97-AF65-F5344CB8AC3E}">
        <p14:creationId xmlns:p14="http://schemas.microsoft.com/office/powerpoint/2010/main" val="1058733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69386" y="476426"/>
            <a:ext cx="11910532" cy="2308324"/>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tương đối tốt với 01 TH GTB.</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A890 GTB VN789 MEL-SGN ngày 01/08 do MSG F/CL SPTL HYD MECH -&gt; C/O APPLIED MEL FOR R/H SPLR 1 DEACTIVE WITHOUT COLAR. Sau khi về VN đã thay FCRM để khắc phục.</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FM: SERVO CTL-R SPLR 1,Y(1CL2) / SERVO MODULE-SERVO CTL,R SPLR 1 Y(101CL2) / FCRM-SERVO CTL,R SPLR 1 Y(201CL2) + FC: 2796F6AQ Nguyên nhân do đứt gãy mối hàn trong bảng mạch. Khối FCRM tháo xuống PN OFF CA71323-014, SN OFF 01706 là khối gốc trên tàu bay A890 từ khi EIS, đã khai thác được 6169 FC/ 32065 FH. MOOG/AIB đã ban hành SB nâng cấp lên FCRM PN CA71323-017, nhưng chỉ hỗ trợ thực hiện on-attrition.</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7304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54881FF-3EEB-F233-5D9A-37C624EF10F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99184FA-839E-6DE6-7572-8A33CADA77D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6BC49F0-CAB5-A26A-3709-79D7029D71AE}"/>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A18E023-88CE-4DF7-92F4-761F22654A06}"/>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05 (3 non-tech)</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9419AB4C-20B1-4FD3-BA76-A4F91B874EE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05 (3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9DB065F-E5F4-431E-1FF0-C1833E4D32FF}"/>
              </a:ext>
            </a:extLst>
          </p:cNvPr>
          <p:cNvGraphicFramePr>
            <a:graphicFrameLocks noGrp="1"/>
          </p:cNvGraphicFramePr>
          <p:nvPr>
            <p:extLst/>
          </p:nvPr>
        </p:nvGraphicFramePr>
        <p:xfrm>
          <a:off x="134289" y="1407669"/>
          <a:ext cx="11925314" cy="5395768"/>
        </p:xfrm>
        <a:graphic>
          <a:graphicData uri="http://schemas.openxmlformats.org/drawingml/2006/table">
            <a:tbl>
              <a:tblPr/>
              <a:tblGrid>
                <a:gridCol w="365125">
                  <a:extLst>
                    <a:ext uri="{9D8B030D-6E8A-4147-A177-3AD203B41FA5}">
                      <a16:colId xmlns:a16="http://schemas.microsoft.com/office/drawing/2014/main" val="3631826415"/>
                    </a:ext>
                  </a:extLst>
                </a:gridCol>
                <a:gridCol w="719786">
                  <a:extLst>
                    <a:ext uri="{9D8B030D-6E8A-4147-A177-3AD203B41FA5}">
                      <a16:colId xmlns:a16="http://schemas.microsoft.com/office/drawing/2014/main" val="2985415475"/>
                    </a:ext>
                  </a:extLst>
                </a:gridCol>
                <a:gridCol w="358775">
                  <a:extLst>
                    <a:ext uri="{9D8B030D-6E8A-4147-A177-3AD203B41FA5}">
                      <a16:colId xmlns:a16="http://schemas.microsoft.com/office/drawing/2014/main" val="3429498714"/>
                    </a:ext>
                  </a:extLst>
                </a:gridCol>
                <a:gridCol w="631825">
                  <a:extLst>
                    <a:ext uri="{9D8B030D-6E8A-4147-A177-3AD203B41FA5}">
                      <a16:colId xmlns:a16="http://schemas.microsoft.com/office/drawing/2014/main" val="1120058905"/>
                    </a:ext>
                  </a:extLst>
                </a:gridCol>
                <a:gridCol w="445054">
                  <a:extLst>
                    <a:ext uri="{9D8B030D-6E8A-4147-A177-3AD203B41FA5}">
                      <a16:colId xmlns:a16="http://schemas.microsoft.com/office/drawing/2014/main" val="144532814"/>
                    </a:ext>
                  </a:extLst>
                </a:gridCol>
                <a:gridCol w="376908">
                  <a:extLst>
                    <a:ext uri="{9D8B030D-6E8A-4147-A177-3AD203B41FA5}">
                      <a16:colId xmlns:a16="http://schemas.microsoft.com/office/drawing/2014/main" val="3010832180"/>
                    </a:ext>
                  </a:extLst>
                </a:gridCol>
                <a:gridCol w="1921238">
                  <a:extLst>
                    <a:ext uri="{9D8B030D-6E8A-4147-A177-3AD203B41FA5}">
                      <a16:colId xmlns:a16="http://schemas.microsoft.com/office/drawing/2014/main" val="4147137956"/>
                    </a:ext>
                  </a:extLst>
                </a:gridCol>
                <a:gridCol w="3768277">
                  <a:extLst>
                    <a:ext uri="{9D8B030D-6E8A-4147-A177-3AD203B41FA5}">
                      <a16:colId xmlns:a16="http://schemas.microsoft.com/office/drawing/2014/main" val="2286568677"/>
                    </a:ext>
                  </a:extLst>
                </a:gridCol>
                <a:gridCol w="233323">
                  <a:extLst>
                    <a:ext uri="{9D8B030D-6E8A-4147-A177-3AD203B41FA5}">
                      <a16:colId xmlns:a16="http://schemas.microsoft.com/office/drawing/2014/main" val="1193621248"/>
                    </a:ext>
                  </a:extLst>
                </a:gridCol>
                <a:gridCol w="3105003">
                  <a:extLst>
                    <a:ext uri="{9D8B030D-6E8A-4147-A177-3AD203B41FA5}">
                      <a16:colId xmlns:a16="http://schemas.microsoft.com/office/drawing/2014/main" val="512002783"/>
                    </a:ext>
                  </a:extLst>
                </a:gridCol>
              </a:tblGrid>
              <a:tr h="143536">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7899618"/>
                  </a:ext>
                </a:extLst>
              </a:tr>
              <a:tr h="502389">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14:51 02/08/2025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CAPT REPORT A/C HAS ALL FUNTIONAL SELECTOR OF MCP INOP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ACTION: RPLD MCP &amp;amp; OPS TEST SATIS, A/C SERVICEABLE CAPT REPORT A/C HAS ALL FUNTIONAL SELECTOR OF MCP INOP EVENT CLOSED  -DURING PREFLIGHT CHECK,CAPT REPORT A/C HAS ALL FUNTIONAL SELECTOR OF MCP INOP</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32 MINS, TECH DELAY: 30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cs typeface="Times New Roman" panose="02020603050405020304" pitchFamily="18" charset="0"/>
                        </a:rPr>
                        <a:t>Hỏng hóc đơn lẻ. Hiện không có FTD liên quan. Tiếp tục theo dõi xu hướng hỏng hóc trong thời gian tới để đánh giá tiếp</a:t>
                      </a: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312448"/>
                  </a:ext>
                </a:extLst>
              </a:tr>
              <a:tr h="142788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23:00 01/08/2025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SGN-NRT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DUE TO BAD WEATHER AT NRT STATION A/C HAD ADD WEATHER RADAR R AND WEATHER RADAR L INTERMITTENT IN FLT (ON GROUND TEST NORMAL). DUE TO BAD WEATHER AT NRT STATION. CAPT REJECT FLT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- 20:45 : TÀU ĐÁP VÀO BÃI CAPT GHI SỔ VÀ BÁO WEATHER RADAR L INTERMITTENT IN FLIGHT, TÀU ĐÃ CÓ ADD VỀ WEATHER RADAR R, ĐÃ BÁO B VÀ MCC HAN XIN HƯỚNG GIẢI QUYẾT, CHK NIL SPARE,</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- 21:30: CRS B BÁO APPLIED FIM TASK TEST PASSED</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- 23:00: CAPT RA TÀU BÁO CHUYẾN NÀY VN306 ĐI NRT CÓ BAY QUA BÃO, NẾU CẤT CÁNH CÓ KHẢ NĂNG NẾU MMSG LÊN LẠI TỔ BAY CÓ THỂ SẼ ATB. NÊN CAPT BÁO OCC TỪ CHỐI BAY</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- 00:00: OCC, ASOC BÁO ĐỔI TÀU A879/SGN-NRT/NETD: 01:30&amp;#43; BAY THAY A873</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- 01:37: TÀU ĐÓNG CỬA VÀ ĐẨY</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FINAL ACTION: C/O OPS TEST CHECK SATIS, A/C SERVICEABLE WEATHER RADAR L INTERMITTENT IN FLIGHT, EVENT CLOSED - FINAL ACTION: C/O OPS TEST CHECK SATIS, A/C SERVICEABLE A/C TOTAL DELAY 72MINS , TECH: 0MINSA873 A/C HAD ADD WEATHER RADAR R AND WEATHER RADAR L INTERMITTENT IN FLT (ON GROUND TEST NORMAL). DUE TO BAD WEATHER AT NRT STATION. CAPT REJECT FLT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Hiện đang thực hiện chương trình softime thay FOC WXR encoder interval =4500FH để khắc phục tạm thời các hỏng hóc liên quan đến WXR. Ban KT đang tiếp tục làm việc với Collins/Boeing cho giải pháp triệt để (Collins is currently working on the potential solution of parylene coated optical encoder disk: Parylene proved to provide strong resistance to moisture and offered promising potential). Boeing SB: TBD.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8927097"/>
                  </a:ext>
                </a:extLst>
              </a:tr>
              <a:tr h="288813">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01:32 31/07/2025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VN416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HAN-ICN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MEDICAL KIT USED MEDICAL KIT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CABIN REPLACED MEDICAL KIT VN416 TOTAL DELAY 22 MINS (15 MINS DUE TO FLIGHT OPERATION AND 07 MINS DUE TO WAITING CABIN REPLACED MEDICAL KIT).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Non 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171072"/>
                  </a:ext>
                </a:extLst>
              </a:tr>
            </a:tbl>
          </a:graphicData>
        </a:graphic>
      </p:graphicFrame>
    </p:spTree>
    <p:extLst>
      <p:ext uri="{BB962C8B-B14F-4D97-AF65-F5344CB8AC3E}">
        <p14:creationId xmlns:p14="http://schemas.microsoft.com/office/powerpoint/2010/main" val="268449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54881FF-3EEB-F233-5D9A-37C624EF10F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99184FA-839E-6DE6-7572-8A33CADA77D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6BC49F0-CAB5-A26A-3709-79D7029D71AE}"/>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A18E023-88CE-4DF7-92F4-761F22654A06}"/>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05 (3 non-tech)</a:t>
            </a:r>
            <a:endPar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9419AB4C-20B1-4FD3-BA76-A4F91B874EE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05 (3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9DB065F-E5F4-431E-1FF0-C1833E4D32FF}"/>
              </a:ext>
            </a:extLst>
          </p:cNvPr>
          <p:cNvGraphicFramePr>
            <a:graphicFrameLocks noGrp="1"/>
          </p:cNvGraphicFramePr>
          <p:nvPr>
            <p:extLst/>
          </p:nvPr>
        </p:nvGraphicFramePr>
        <p:xfrm>
          <a:off x="134289" y="1407669"/>
          <a:ext cx="11925314" cy="4212763"/>
        </p:xfrm>
        <a:graphic>
          <a:graphicData uri="http://schemas.openxmlformats.org/drawingml/2006/table">
            <a:tbl>
              <a:tblPr/>
              <a:tblGrid>
                <a:gridCol w="365125">
                  <a:extLst>
                    <a:ext uri="{9D8B030D-6E8A-4147-A177-3AD203B41FA5}">
                      <a16:colId xmlns:a16="http://schemas.microsoft.com/office/drawing/2014/main" val="3631826415"/>
                    </a:ext>
                  </a:extLst>
                </a:gridCol>
                <a:gridCol w="719786">
                  <a:extLst>
                    <a:ext uri="{9D8B030D-6E8A-4147-A177-3AD203B41FA5}">
                      <a16:colId xmlns:a16="http://schemas.microsoft.com/office/drawing/2014/main" val="2985415475"/>
                    </a:ext>
                  </a:extLst>
                </a:gridCol>
                <a:gridCol w="358775">
                  <a:extLst>
                    <a:ext uri="{9D8B030D-6E8A-4147-A177-3AD203B41FA5}">
                      <a16:colId xmlns:a16="http://schemas.microsoft.com/office/drawing/2014/main" val="3429498714"/>
                    </a:ext>
                  </a:extLst>
                </a:gridCol>
                <a:gridCol w="631825">
                  <a:extLst>
                    <a:ext uri="{9D8B030D-6E8A-4147-A177-3AD203B41FA5}">
                      <a16:colId xmlns:a16="http://schemas.microsoft.com/office/drawing/2014/main" val="1120058905"/>
                    </a:ext>
                  </a:extLst>
                </a:gridCol>
                <a:gridCol w="445054">
                  <a:extLst>
                    <a:ext uri="{9D8B030D-6E8A-4147-A177-3AD203B41FA5}">
                      <a16:colId xmlns:a16="http://schemas.microsoft.com/office/drawing/2014/main" val="144532814"/>
                    </a:ext>
                  </a:extLst>
                </a:gridCol>
                <a:gridCol w="376908">
                  <a:extLst>
                    <a:ext uri="{9D8B030D-6E8A-4147-A177-3AD203B41FA5}">
                      <a16:colId xmlns:a16="http://schemas.microsoft.com/office/drawing/2014/main" val="3010832180"/>
                    </a:ext>
                  </a:extLst>
                </a:gridCol>
                <a:gridCol w="1921238">
                  <a:extLst>
                    <a:ext uri="{9D8B030D-6E8A-4147-A177-3AD203B41FA5}">
                      <a16:colId xmlns:a16="http://schemas.microsoft.com/office/drawing/2014/main" val="4147137956"/>
                    </a:ext>
                  </a:extLst>
                </a:gridCol>
                <a:gridCol w="3768277">
                  <a:extLst>
                    <a:ext uri="{9D8B030D-6E8A-4147-A177-3AD203B41FA5}">
                      <a16:colId xmlns:a16="http://schemas.microsoft.com/office/drawing/2014/main" val="2286568677"/>
                    </a:ext>
                  </a:extLst>
                </a:gridCol>
                <a:gridCol w="233323">
                  <a:extLst>
                    <a:ext uri="{9D8B030D-6E8A-4147-A177-3AD203B41FA5}">
                      <a16:colId xmlns:a16="http://schemas.microsoft.com/office/drawing/2014/main" val="1193621248"/>
                    </a:ext>
                  </a:extLst>
                </a:gridCol>
                <a:gridCol w="3105003">
                  <a:extLst>
                    <a:ext uri="{9D8B030D-6E8A-4147-A177-3AD203B41FA5}">
                      <a16:colId xmlns:a16="http://schemas.microsoft.com/office/drawing/2014/main" val="512002783"/>
                    </a:ext>
                  </a:extLst>
                </a:gridCol>
              </a:tblGrid>
              <a:tr h="143536">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7899618"/>
                  </a:ext>
                </a:extLst>
              </a:tr>
              <a:tr h="502389">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19:10 29/07/2025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AFTER BOARDING COMPLETED, A/C HAS STS BRAKE 8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AFTER BOARDING COMPLETED, A/C HAS STS BRAKE 8 EVENT CLOSED ACTION: C/O DEACTIVATED BRK 8 &amp;amp; ADD RAISED. A/C SERVICEABLE</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55 MINS. TECH DELAY 35 MINS. STS BRAKE 8</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55 MINS. TECH DELAY 35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Dự kiến thay EBAC để khắc phục hỏng hóc.</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FTD 32-17001: EBAC bị hỏng do corrosion một số chi tiết trên bảng mạch.</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Giải pháp: nâng cấp lên P/N C20606100 Amendment C contains the HPS module with improved sulfur resistance bắt đầu từ SN 1891 ( L/N 541)</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Inservice sẽ thực hiện SB C20606-32-111 (787-SL-32-041) on attrition</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Khối lắp trên A866 là khối nguyên bản, chưa SN &lt; 1891, chưa nâng cấp theo MOD này.</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ĐTC: lịch sử đã tháo 36 khối MTBUR 45265 &gt; RSPL 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312448"/>
                  </a:ext>
                </a:extLst>
              </a:tr>
              <a:tr h="142788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17:06 29/07/2025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THE CONTAINER IMPACTED TO CARGO DOOR.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ACTION: C/O CHK AND RAISED ADD FOR</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AFT CARGO LOADING LIGHT LENS AND COVERS ARE BROKEN</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COVER INTERIOUS OF VENT DOOR AT AFT CARGO BROKEN. THE CONTAINER IMPACTED TO CARGO DOOR. EVENT CLOSED  -TRANSIT CHK, DURING VIAGS LOADING AT AFT CARGO, THE CONTAINER IMPACTED TO CARGO DOOR.</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-CHUYẾN BAY TOTAL DELAY 54 MINS, DELAY KT 0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non 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8927097"/>
                  </a:ext>
                </a:extLst>
              </a:tr>
            </a:tbl>
          </a:graphicData>
        </a:graphic>
      </p:graphicFrame>
    </p:spTree>
    <p:extLst>
      <p:ext uri="{BB962C8B-B14F-4D97-AF65-F5344CB8AC3E}">
        <p14:creationId xmlns:p14="http://schemas.microsoft.com/office/powerpoint/2010/main" val="267380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14064714-8E59-CCFA-FDA3-DEF637B8DD90}"/>
              </a:ext>
            </a:extLst>
          </p:cNvPr>
          <p:cNvGraphicFramePr>
            <a:graphicFrameLocks noGrp="1"/>
          </p:cNvGraphicFramePr>
          <p:nvPr>
            <p:extLst/>
          </p:nvPr>
        </p:nvGraphicFramePr>
        <p:xfrm>
          <a:off x="175690" y="501464"/>
          <a:ext cx="11840624" cy="6236700"/>
        </p:xfrm>
        <a:graphic>
          <a:graphicData uri="http://schemas.openxmlformats.org/drawingml/2006/table">
            <a:tbl>
              <a:tblPr/>
              <a:tblGrid>
                <a:gridCol w="448779">
                  <a:extLst>
                    <a:ext uri="{9D8B030D-6E8A-4147-A177-3AD203B41FA5}">
                      <a16:colId xmlns:a16="http://schemas.microsoft.com/office/drawing/2014/main" val="3094472601"/>
                    </a:ext>
                  </a:extLst>
                </a:gridCol>
                <a:gridCol w="555083">
                  <a:extLst>
                    <a:ext uri="{9D8B030D-6E8A-4147-A177-3AD203B41FA5}">
                      <a16:colId xmlns:a16="http://schemas.microsoft.com/office/drawing/2014/main" val="1243845001"/>
                    </a:ext>
                  </a:extLst>
                </a:gridCol>
                <a:gridCol w="535259">
                  <a:extLst>
                    <a:ext uri="{9D8B030D-6E8A-4147-A177-3AD203B41FA5}">
                      <a16:colId xmlns:a16="http://schemas.microsoft.com/office/drawing/2014/main" val="408674558"/>
                    </a:ext>
                  </a:extLst>
                </a:gridCol>
                <a:gridCol w="1467005">
                  <a:extLst>
                    <a:ext uri="{9D8B030D-6E8A-4147-A177-3AD203B41FA5}">
                      <a16:colId xmlns:a16="http://schemas.microsoft.com/office/drawing/2014/main" val="1585291082"/>
                    </a:ext>
                  </a:extLst>
                </a:gridCol>
                <a:gridCol w="1149815">
                  <a:extLst>
                    <a:ext uri="{9D8B030D-6E8A-4147-A177-3AD203B41FA5}">
                      <a16:colId xmlns:a16="http://schemas.microsoft.com/office/drawing/2014/main" val="2215945164"/>
                    </a:ext>
                  </a:extLst>
                </a:gridCol>
                <a:gridCol w="1744547">
                  <a:extLst>
                    <a:ext uri="{9D8B030D-6E8A-4147-A177-3AD203B41FA5}">
                      <a16:colId xmlns:a16="http://schemas.microsoft.com/office/drawing/2014/main" val="526270716"/>
                    </a:ext>
                  </a:extLst>
                </a:gridCol>
                <a:gridCol w="5940136">
                  <a:extLst>
                    <a:ext uri="{9D8B030D-6E8A-4147-A177-3AD203B41FA5}">
                      <a16:colId xmlns:a16="http://schemas.microsoft.com/office/drawing/2014/main" val="3156144008"/>
                    </a:ext>
                  </a:extLst>
                </a:gridCol>
              </a:tblGrid>
              <a:tr h="208201">
                <a:tc>
                  <a:txBody>
                    <a:bodyPr/>
                    <a:lstStyle/>
                    <a:p>
                      <a:pPr algn="ctr" fontAlgn="ctr"/>
                      <a:r>
                        <a:rPr lang="en-US" sz="1300" b="0" i="0" u="none" strike="noStrike">
                          <a:solidFill>
                            <a:srgbClr val="000000"/>
                          </a:solidFill>
                          <a:effectLst/>
                          <a:latin typeface="Calibri" panose="020F0502020204030204" pitchFamily="34" charset="0"/>
                        </a:rPr>
                        <a:t>No</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1749467"/>
                  </a:ext>
                </a:extLst>
              </a:tr>
              <a:tr h="208201">
                <a:tc>
                  <a:txBody>
                    <a:bodyPr/>
                    <a:lstStyle/>
                    <a:p>
                      <a:pPr algn="ctr" fontAlgn="ctr"/>
                      <a:r>
                        <a:rPr lang="en-US" sz="1300" b="0" i="0" u="none" strike="noStrike">
                          <a:solidFill>
                            <a:srgbClr val="000000"/>
                          </a:solidFill>
                          <a:effectLst/>
                          <a:latin typeface="Calibri" panose="020F0502020204030204" pitchFamily="34" charset="0"/>
                        </a:rPr>
                        <a:t>1</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18789"/>
                  </a:ext>
                </a:extLst>
              </a:tr>
              <a:tr h="411401">
                <a:tc>
                  <a:txBody>
                    <a:bodyPr/>
                    <a:lstStyle/>
                    <a:p>
                      <a:pPr algn="ctr" fontAlgn="ctr"/>
                      <a:r>
                        <a:rPr lang="en-US" sz="1300" b="0" i="0" u="none" strike="noStrike">
                          <a:solidFill>
                            <a:srgbClr val="000000"/>
                          </a:solidFill>
                          <a:effectLst/>
                          <a:latin typeface="Calibri" panose="020F0502020204030204" pitchFamily="34" charset="0"/>
                        </a:rPr>
                        <a:t>2</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B1407 APPLIED I.A.W BSI REPORT: BSI02-250463 L/H ENG BSI INSPECTION HPT STAGE 1 BLADES REMOVE ENGINE IN 10 CYCLES OR LESS.</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183733"/>
                  </a:ext>
                </a:extLst>
              </a:tr>
              <a:tr h="614601">
                <a:tc>
                  <a:txBody>
                    <a:bodyPr/>
                    <a:lstStyle/>
                    <a:p>
                      <a:pPr algn="ctr" fontAlgn="ctr"/>
                      <a:r>
                        <a:rPr lang="en-US" sz="1300" b="0" i="0" u="none" strike="noStrike">
                          <a:solidFill>
                            <a:srgbClr val="000000"/>
                          </a:solidFill>
                          <a:effectLst/>
                          <a:latin typeface="Calibri" panose="020F0502020204030204" pitchFamily="34" charset="0"/>
                        </a:rPr>
                        <a:t>3</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B1741 RAISED FOR LOWER DU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B1743 RAISED FOR AHRU L INOP</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3448897"/>
                  </a:ext>
                </a:extLst>
              </a:tr>
              <a:tr h="411401">
                <a:tc>
                  <a:txBody>
                    <a:bodyPr/>
                    <a:lstStyle/>
                    <a:p>
                      <a:pPr algn="ctr" fontAlgn="ctr"/>
                      <a:r>
                        <a:rPr lang="en-US" sz="1300" b="0" i="0" u="none" strike="noStrike">
                          <a:solidFill>
                            <a:srgbClr val="000000"/>
                          </a:solidFill>
                          <a:effectLst/>
                          <a:latin typeface="Calibri" panose="020F0502020204030204" pitchFamily="34" charset="0"/>
                        </a:rPr>
                        <a:t>4</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300" b="0" i="0" u="none" strike="noStrike">
                          <a:solidFill>
                            <a:srgbClr val="000000"/>
                          </a:solidFill>
                          <a:effectLst/>
                          <a:latin typeface="Calibri" panose="020F0502020204030204" pitchFamily="34" charset="0"/>
                        </a:rPr>
                        <a:t>B1326 LIDQUID COOLING R PUMP 1 </a:t>
                      </a:r>
                      <a:br>
                        <a:rPr lang="pt-BR" sz="1300" b="0" i="0" u="none" strike="noStrike">
                          <a:solidFill>
                            <a:srgbClr val="000000"/>
                          </a:solidFill>
                          <a:effectLst/>
                          <a:latin typeface="Calibri" panose="020F0502020204030204" pitchFamily="34" charset="0"/>
                        </a:rPr>
                      </a:br>
                      <a:r>
                        <a:rPr lang="pt-BR" sz="1300" b="0" i="0" u="none" strike="noStrike">
                          <a:solidFill>
                            <a:srgbClr val="000000"/>
                          </a:solidFill>
                          <a:effectLst/>
                          <a:latin typeface="Calibri" panose="020F0502020204030204" pitchFamily="34" charset="0"/>
                        </a:rPr>
                        <a:t>B1330 ANTI -ICE CAC R</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519310"/>
                  </a:ext>
                </a:extLst>
              </a:tr>
              <a:tr h="208201">
                <a:tc>
                  <a:txBody>
                    <a:bodyPr/>
                    <a:lstStyle/>
                    <a:p>
                      <a:pPr algn="ctr" fontAlgn="ctr"/>
                      <a:r>
                        <a:rPr lang="en-US" sz="1300" b="0" i="0" u="none" strike="noStrike">
                          <a:solidFill>
                            <a:srgbClr val="000000"/>
                          </a:solidFill>
                          <a:effectLst/>
                          <a:latin typeface="Calibri" panose="020F0502020204030204" pitchFamily="34" charset="0"/>
                        </a:rPr>
                        <a:t>5</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4911216"/>
                  </a:ext>
                </a:extLst>
              </a:tr>
              <a:tr h="258883">
                <a:tc>
                  <a:txBody>
                    <a:bodyPr/>
                    <a:lstStyle/>
                    <a:p>
                      <a:pPr algn="ctr" fontAlgn="ctr"/>
                      <a:r>
                        <a:rPr lang="en-US" sz="1300" b="0" i="0" u="none" strike="noStrike">
                          <a:solidFill>
                            <a:srgbClr val="000000"/>
                          </a:solidFill>
                          <a:effectLst/>
                          <a:latin typeface="Calibri" panose="020F0502020204030204" pitchFamily="34" charset="0"/>
                        </a:rPr>
                        <a:t>6</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16350"/>
                  </a:ext>
                </a:extLst>
              </a:tr>
              <a:tr h="1021001">
                <a:tc>
                  <a:txBody>
                    <a:bodyPr/>
                    <a:lstStyle/>
                    <a:p>
                      <a:pPr algn="ctr" fontAlgn="ctr"/>
                      <a:r>
                        <a:rPr lang="en-US" sz="1300" b="0" i="0" u="none" strike="noStrike">
                          <a:solidFill>
                            <a:srgbClr val="000000"/>
                          </a:solidFill>
                          <a:effectLst/>
                          <a:latin typeface="Calibri" panose="020F0502020204030204" pitchFamily="34" charset="0"/>
                        </a:rPr>
                        <a:t>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giảm tần suất soi 250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B1614 CABIN AIR CPRSR L1</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B1616 CCR GPM 8R.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B1618 WEATHER RADAR SYS 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B1620 ENG VIB MONITOR L</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6558037"/>
                  </a:ext>
                </a:extLst>
              </a:tr>
              <a:tr h="208201">
                <a:tc>
                  <a:txBody>
                    <a:bodyPr/>
                    <a:lstStyle/>
                    <a:p>
                      <a:pPr algn="ctr" fontAlgn="ctr"/>
                      <a:r>
                        <a:rPr lang="en-US" sz="1300" b="0" i="0" u="none" strike="noStrike">
                          <a:solidFill>
                            <a:srgbClr val="000000"/>
                          </a:solidFill>
                          <a:effectLst/>
                          <a:latin typeface="Calibri" panose="020F0502020204030204" pitchFamily="34" charset="0"/>
                        </a:rPr>
                        <a:t>8</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B1178 WEATHER RADAR SYS L</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7787159"/>
                  </a:ext>
                </a:extLst>
              </a:tr>
              <a:tr h="614601">
                <a:tc>
                  <a:txBody>
                    <a:bodyPr/>
                    <a:lstStyle/>
                    <a:p>
                      <a:pPr algn="ctr" fontAlgn="ctr"/>
                      <a:r>
                        <a:rPr lang="en-US" sz="1300" b="0" i="0" u="none" strike="noStrike">
                          <a:solidFill>
                            <a:srgbClr val="000000"/>
                          </a:solidFill>
                          <a:effectLst/>
                          <a:latin typeface="Calibri" panose="020F0502020204030204" pitchFamily="34" charset="0"/>
                        </a:rPr>
                        <a:t>9</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B1073:TAIL AIR FLOW SYS</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6699933"/>
                  </a:ext>
                </a:extLst>
              </a:tr>
              <a:tr h="208201">
                <a:tc>
                  <a:txBody>
                    <a:bodyPr/>
                    <a:lstStyle/>
                    <a:p>
                      <a:pPr algn="ctr" fontAlgn="ctr"/>
                      <a:r>
                        <a:rPr lang="en-US" sz="1300" b="0" i="0" u="none" strike="noStrike">
                          <a:solidFill>
                            <a:srgbClr val="000000"/>
                          </a:solidFill>
                          <a:effectLst/>
                          <a:latin typeface="Calibri" panose="020F0502020204030204" pitchFamily="34" charset="0"/>
                        </a:rPr>
                        <a:t>10</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520524"/>
                  </a:ext>
                </a:extLst>
              </a:tr>
              <a:tr h="208201">
                <a:tc>
                  <a:txBody>
                    <a:bodyPr/>
                    <a:lstStyle/>
                    <a:p>
                      <a:pPr algn="ctr" fontAlgn="ctr"/>
                      <a:r>
                        <a:rPr lang="en-US" sz="1300" b="0" i="0" u="none" strike="noStrike">
                          <a:solidFill>
                            <a:srgbClr val="000000"/>
                          </a:solidFill>
                          <a:effectLst/>
                          <a:latin typeface="Calibri" panose="020F0502020204030204" pitchFamily="34" charset="0"/>
                        </a:rPr>
                        <a:t>11</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8139379"/>
                  </a:ext>
                </a:extLst>
              </a:tr>
              <a:tr h="208201">
                <a:tc>
                  <a:txBody>
                    <a:bodyPr/>
                    <a:lstStyle/>
                    <a:p>
                      <a:pPr algn="ctr" fontAlgn="ctr"/>
                      <a:r>
                        <a:rPr lang="en-US" sz="1300" b="0" i="0" u="none" strike="noStrike">
                          <a:solidFill>
                            <a:srgbClr val="000000"/>
                          </a:solidFill>
                          <a:effectLst/>
                          <a:latin typeface="Calibri" panose="020F0502020204030204" pitchFamily="34" charset="0"/>
                        </a:rPr>
                        <a:t>12</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6688851"/>
                  </a:ext>
                </a:extLst>
              </a:tr>
              <a:tr h="208201">
                <a:tc>
                  <a:txBody>
                    <a:bodyPr/>
                    <a:lstStyle/>
                    <a:p>
                      <a:pPr algn="ctr" fontAlgn="ctr"/>
                      <a:r>
                        <a:rPr lang="en-US" sz="1300" b="0" i="0" u="none" strike="noStrike">
                          <a:solidFill>
                            <a:srgbClr val="000000"/>
                          </a:solidFill>
                          <a:effectLst/>
                          <a:latin typeface="Calibri" panose="020F0502020204030204" pitchFamily="34" charset="0"/>
                        </a:rPr>
                        <a:t>13</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145108"/>
                  </a:ext>
                </a:extLst>
              </a:tr>
              <a:tr h="208201">
                <a:tc>
                  <a:txBody>
                    <a:bodyPr/>
                    <a:lstStyle/>
                    <a:p>
                      <a:pPr algn="ctr" fontAlgn="ctr"/>
                      <a:r>
                        <a:rPr lang="en-US" sz="1300" b="0" i="0" u="none" strike="noStrike">
                          <a:solidFill>
                            <a:srgbClr val="000000"/>
                          </a:solidFill>
                          <a:effectLst/>
                          <a:latin typeface="Calibri" panose="020F0502020204030204" pitchFamily="34" charset="0"/>
                        </a:rPr>
                        <a:t>14</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4601524"/>
                  </a:ext>
                </a:extLst>
              </a:tr>
              <a:tr h="208201">
                <a:tc>
                  <a:txBody>
                    <a:bodyPr/>
                    <a:lstStyle/>
                    <a:p>
                      <a:pPr algn="ctr" fontAlgn="ctr"/>
                      <a:r>
                        <a:rPr lang="en-US" sz="1300" b="0" i="0" u="none" strike="noStrike">
                          <a:solidFill>
                            <a:srgbClr val="000000"/>
                          </a:solidFill>
                          <a:effectLst/>
                          <a:latin typeface="Calibri" panose="020F0502020204030204" pitchFamily="34" charset="0"/>
                        </a:rPr>
                        <a:t>15</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585371"/>
                  </a:ext>
                </a:extLst>
              </a:tr>
              <a:tr h="208201">
                <a:tc>
                  <a:txBody>
                    <a:bodyPr/>
                    <a:lstStyle/>
                    <a:p>
                      <a:pPr algn="ctr" fontAlgn="ctr"/>
                      <a:r>
                        <a:rPr lang="en-US" sz="1300" b="0" i="0" u="none" strike="noStrike">
                          <a:solidFill>
                            <a:srgbClr val="000000"/>
                          </a:solidFill>
                          <a:effectLst/>
                          <a:latin typeface="Calibri" panose="020F0502020204030204" pitchFamily="34" charset="0"/>
                        </a:rPr>
                        <a:t>16</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0292543"/>
                  </a:ext>
                </a:extLst>
              </a:tr>
              <a:tr h="614601">
                <a:tc>
                  <a:txBody>
                    <a:bodyPr/>
                    <a:lstStyle/>
                    <a:p>
                      <a:pPr algn="ctr" fontAlgn="ctr"/>
                      <a:r>
                        <a:rPr lang="en-US" sz="1300" b="0" i="0" u="none" strike="noStrike">
                          <a:solidFill>
                            <a:srgbClr val="000000"/>
                          </a:solidFill>
                          <a:effectLst/>
                          <a:latin typeface="Calibri" panose="020F0502020204030204" pitchFamily="34" charset="0"/>
                        </a:rPr>
                        <a:t>17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B603 WEATHER RADAR SYS L ON STATUS</a:t>
                      </a:r>
                    </a:p>
                  </a:txBody>
                  <a:tcPr marL="5001" marR="5001" marT="50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6740377"/>
                  </a:ext>
                </a:extLst>
              </a:tr>
            </a:tbl>
          </a:graphicData>
        </a:graphic>
      </p:graphicFrame>
    </p:spTree>
    <p:extLst>
      <p:ext uri="{BB962C8B-B14F-4D97-AF65-F5344CB8AC3E}">
        <p14:creationId xmlns:p14="http://schemas.microsoft.com/office/powerpoint/2010/main" val="3609671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4"/>
            <a:ext cx="11941351"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en-US" sz="1600">
                <a:solidFill>
                  <a:prstClr val="black"/>
                </a:solidFill>
                <a:latin typeface="Times New Roman" panose="02020603050405020304" pitchFamily="18" charset="0"/>
                <a:cs typeface="Times New Roman" panose="02020603050405020304" pitchFamily="18" charset="0"/>
              </a:rPr>
              <a:t>A862 soi động cơ số 1 HPT STG1 (tần suất 100FC) phát sinh hỏng hóc phải thay trong 10FC, đang xin GE cấp DR soi tần suất 50FC</a:t>
            </a:r>
            <a:r>
              <a:rPr lang="en-SG" sz="1600">
                <a:solidFill>
                  <a:prstClr val="black"/>
                </a:solidFill>
                <a:latin typeface="Times New Roman" panose="02020603050405020304" pitchFamily="18" charset="0"/>
                <a:cs typeface="Times New Roman" panose="02020603050405020304" pitchFamily="18" charset="0"/>
              </a:rPr>
              <a:t>.</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297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66A1A4DA-5404-8AE3-9CA5-ED8F18DD50B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49CA139-88A6-36AB-3BCF-1F78FCF4547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5C3D4B4-4E3F-272B-9817-3B5A741685A8}"/>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p>
        </p:txBody>
      </p:sp>
      <p:sp>
        <p:nvSpPr>
          <p:cNvPr id="7" name="TextBox 6">
            <a:extLst>
              <a:ext uri="{FF2B5EF4-FFF2-40B4-BE49-F238E27FC236}">
                <a16:creationId xmlns:a16="http://schemas.microsoft.com/office/drawing/2014/main" id="{9FD4AB25-2D78-D08F-17FA-70DA4FE8281D}"/>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vi-VN"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00</a:t>
            </a:r>
          </a:p>
        </p:txBody>
      </p:sp>
      <p:sp>
        <p:nvSpPr>
          <p:cNvPr id="8" name="TextBox 7">
            <a:extLst>
              <a:ext uri="{FF2B5EF4-FFF2-40B4-BE49-F238E27FC236}">
                <a16:creationId xmlns:a16="http://schemas.microsoft.com/office/drawing/2014/main" id="{46F5AF14-6DC1-4B99-9C41-54045E5B90D5}"/>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DF688BC-0B15-4304-9EA5-515B6575964A}"/>
              </a:ext>
            </a:extLst>
          </p:cNvPr>
          <p:cNvGraphicFramePr>
            <a:graphicFrameLocks noGrp="1"/>
          </p:cNvGraphicFramePr>
          <p:nvPr>
            <p:extLst>
              <p:ext uri="{D42A27DB-BD31-4B8C-83A1-F6EECF244321}">
                <p14:modId xmlns:p14="http://schemas.microsoft.com/office/powerpoint/2010/main" val="85016102"/>
              </p:ext>
            </p:extLst>
          </p:nvPr>
        </p:nvGraphicFramePr>
        <p:xfrm>
          <a:off x="139570" y="1676400"/>
          <a:ext cx="11701543" cy="2193311"/>
        </p:xfrm>
        <a:graphic>
          <a:graphicData uri="http://schemas.openxmlformats.org/drawingml/2006/table">
            <a:tbl>
              <a:tblPr/>
              <a:tblGrid>
                <a:gridCol w="339996">
                  <a:extLst>
                    <a:ext uri="{9D8B030D-6E8A-4147-A177-3AD203B41FA5}">
                      <a16:colId xmlns:a16="http://schemas.microsoft.com/office/drawing/2014/main" val="2167270052"/>
                    </a:ext>
                  </a:extLst>
                </a:gridCol>
                <a:gridCol w="991657">
                  <a:extLst>
                    <a:ext uri="{9D8B030D-6E8A-4147-A177-3AD203B41FA5}">
                      <a16:colId xmlns:a16="http://schemas.microsoft.com/office/drawing/2014/main" val="607022477"/>
                    </a:ext>
                  </a:extLst>
                </a:gridCol>
                <a:gridCol w="339996">
                  <a:extLst>
                    <a:ext uri="{9D8B030D-6E8A-4147-A177-3AD203B41FA5}">
                      <a16:colId xmlns:a16="http://schemas.microsoft.com/office/drawing/2014/main" val="309384701"/>
                    </a:ext>
                  </a:extLst>
                </a:gridCol>
                <a:gridCol w="927907">
                  <a:extLst>
                    <a:ext uri="{9D8B030D-6E8A-4147-A177-3AD203B41FA5}">
                      <a16:colId xmlns:a16="http://schemas.microsoft.com/office/drawing/2014/main" val="2043570856"/>
                    </a:ext>
                  </a:extLst>
                </a:gridCol>
                <a:gridCol w="698881">
                  <a:extLst>
                    <a:ext uri="{9D8B030D-6E8A-4147-A177-3AD203B41FA5}">
                      <a16:colId xmlns:a16="http://schemas.microsoft.com/office/drawing/2014/main" val="4241240668"/>
                    </a:ext>
                  </a:extLst>
                </a:gridCol>
                <a:gridCol w="752993">
                  <a:extLst>
                    <a:ext uri="{9D8B030D-6E8A-4147-A177-3AD203B41FA5}">
                      <a16:colId xmlns:a16="http://schemas.microsoft.com/office/drawing/2014/main" val="509454684"/>
                    </a:ext>
                  </a:extLst>
                </a:gridCol>
                <a:gridCol w="2133600">
                  <a:extLst>
                    <a:ext uri="{9D8B030D-6E8A-4147-A177-3AD203B41FA5}">
                      <a16:colId xmlns:a16="http://schemas.microsoft.com/office/drawing/2014/main" val="4101460068"/>
                    </a:ext>
                  </a:extLst>
                </a:gridCol>
                <a:gridCol w="2667000">
                  <a:extLst>
                    <a:ext uri="{9D8B030D-6E8A-4147-A177-3AD203B41FA5}">
                      <a16:colId xmlns:a16="http://schemas.microsoft.com/office/drawing/2014/main" val="3187636527"/>
                    </a:ext>
                  </a:extLst>
                </a:gridCol>
                <a:gridCol w="609600">
                  <a:extLst>
                    <a:ext uri="{9D8B030D-6E8A-4147-A177-3AD203B41FA5}">
                      <a16:colId xmlns:a16="http://schemas.microsoft.com/office/drawing/2014/main" val="1761743781"/>
                    </a:ext>
                  </a:extLst>
                </a:gridCol>
                <a:gridCol w="2239913">
                  <a:extLst>
                    <a:ext uri="{9D8B030D-6E8A-4147-A177-3AD203B41FA5}">
                      <a16:colId xmlns:a16="http://schemas.microsoft.com/office/drawing/2014/main" val="545986220"/>
                    </a:ext>
                  </a:extLst>
                </a:gridCol>
              </a:tblGrid>
              <a:tr h="205740">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759093117"/>
                  </a:ext>
                </a:extLst>
              </a:tr>
              <a:tr h="185166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B221</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12:55 31/07/2025</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PQC</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0V8074</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PQC-VCA</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DURING BOARDING FOUND TOILET NOT FLUSH </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vi-VN" sz="1100" b="0" i="0" u="none" strike="noStrike">
                          <a:solidFill>
                            <a:srgbClr val="000000"/>
                          </a:solidFill>
                          <a:effectLst/>
                          <a:latin typeface="Times New Roman" panose="02020603050405020304" pitchFamily="18" charset="0"/>
                          <a:cs typeface="Times New Roman" panose="02020603050405020304" pitchFamily="18" charset="0"/>
                        </a:rPr>
                        <a:t>ACTION: C/O CHECKED TOILET CAN FLUSH INFLIGHT. A/C SERVICEABLE</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TOTAL </a:t>
                      </a:r>
                      <a:r>
                        <a:rPr lang="vi-VN" sz="1100" b="0" i="0" u="none" strike="noStrike">
                          <a:solidFill>
                            <a:srgbClr val="000000"/>
                          </a:solidFill>
                          <a:effectLst/>
                          <a:latin typeface="Times New Roman" panose="02020603050405020304" pitchFamily="18" charset="0"/>
                          <a:cs typeface="Times New Roman" panose="02020603050405020304" pitchFamily="18" charset="0"/>
                        </a:rPr>
                        <a:t>DELAY: 37 MINS, TECH: 20 MINS.</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25-40</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Cabin</a:t>
                      </a:r>
                    </a:p>
                  </a:txBody>
                  <a:tcPr marL="6371" marR="6371" marT="63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2441563"/>
                  </a:ext>
                </a:extLst>
              </a:tr>
            </a:tbl>
          </a:graphicData>
        </a:graphic>
      </p:graphicFrame>
    </p:spTree>
    <p:extLst>
      <p:ext uri="{BB962C8B-B14F-4D97-AF65-F5344CB8AC3E}">
        <p14:creationId xmlns:p14="http://schemas.microsoft.com/office/powerpoint/2010/main" val="2951126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991722" y="762000"/>
            <a:ext cx="9981078"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991722" y="1428169"/>
            <a:ext cx="10264462" cy="584775"/>
          </a:xfrm>
          <a:prstGeom prst="rect">
            <a:avLst/>
          </a:prstGeom>
          <a:noFill/>
        </p:spPr>
        <p:txBody>
          <a:bodyPr wrap="square">
            <a:spAutoFit/>
          </a:bodyPr>
          <a:lstStyle/>
          <a:p>
            <a:pPr algn="just">
              <a:buClrTx/>
              <a:buFontTx/>
              <a:buNone/>
              <a:defRPr/>
            </a:pPr>
            <a:r>
              <a:rPr lang="en-US" sz="1600" b="1" kern="1200" dirty="0" err="1">
                <a:solidFill>
                  <a:prstClr val="black"/>
                </a:solidFill>
                <a:latin typeface="Times New Roman" panose="02020603050405020304" pitchFamily="18" charset="0"/>
                <a:cs typeface="Times New Roman" panose="02020603050405020304" pitchFamily="18" charset="0"/>
              </a:rPr>
              <a:t>Đội</a:t>
            </a:r>
            <a:r>
              <a:rPr lang="en-US" sz="1600" b="1" kern="1200" dirty="0">
                <a:solidFill>
                  <a:prstClr val="black"/>
                </a:solidFill>
                <a:latin typeface="Times New Roman" panose="02020603050405020304" pitchFamily="18" charset="0"/>
                <a:cs typeface="Times New Roman" panose="02020603050405020304" pitchFamily="18" charset="0"/>
              </a:rPr>
              <a:t> bay ATR72</a:t>
            </a:r>
            <a:r>
              <a:rPr lang="en-US" sz="1600" b="1" kern="1200">
                <a:solidFill>
                  <a:prstClr val="black"/>
                </a:solidFill>
                <a:latin typeface="Times New Roman" panose="02020603050405020304" pitchFamily="18" charset="0"/>
                <a:cs typeface="Times New Roman" panose="02020603050405020304" pitchFamily="18" charset="0"/>
              </a:rPr>
              <a:t>: </a:t>
            </a:r>
            <a:r>
              <a:rPr lang="en-US" sz="1600" smtClean="0">
                <a:solidFill>
                  <a:prstClr val="black"/>
                </a:solidFill>
                <a:latin typeface="Times New Roman" panose="02020603050405020304" pitchFamily="18" charset="0"/>
                <a:cs typeface="Times New Roman" panose="02020603050405020304" pitchFamily="18" charset="0"/>
              </a:rPr>
              <a:t>trong </a:t>
            </a:r>
            <a:r>
              <a:rPr lang="en-US" sz="1600">
                <a:solidFill>
                  <a:prstClr val="black"/>
                </a:solidFill>
                <a:latin typeface="Times New Roman" panose="02020603050405020304" pitchFamily="18" charset="0"/>
                <a:cs typeface="Times New Roman" panose="02020603050405020304" pitchFamily="18" charset="0"/>
              </a:rPr>
              <a:t>tuần chỉ có 01 TH </a:t>
            </a:r>
            <a:r>
              <a:rPr lang="en-US" sz="1600" smtClean="0">
                <a:solidFill>
                  <a:prstClr val="black"/>
                </a:solidFill>
                <a:latin typeface="Times New Roman" panose="02020603050405020304" pitchFamily="18" charset="0"/>
                <a:cs typeface="Times New Roman" panose="02020603050405020304" pitchFamily="18" charset="0"/>
              </a:rPr>
              <a:t>Delay </a:t>
            </a:r>
            <a:r>
              <a:rPr lang="en-US" sz="1600">
                <a:solidFill>
                  <a:prstClr val="black"/>
                </a:solidFill>
                <a:latin typeface="Times New Roman" panose="02020603050405020304" pitchFamily="18" charset="0"/>
                <a:cs typeface="Times New Roman" panose="02020603050405020304" pitchFamily="18" charset="0"/>
              </a:rPr>
              <a:t>tàu </a:t>
            </a:r>
            <a:r>
              <a:rPr lang="en-US" sz="1600" smtClean="0">
                <a:solidFill>
                  <a:prstClr val="black"/>
                </a:solidFill>
                <a:latin typeface="Times New Roman" panose="02020603050405020304" pitchFamily="18" charset="0"/>
                <a:cs typeface="Times New Roman" panose="02020603050405020304" pitchFamily="18" charset="0"/>
              </a:rPr>
              <a:t>B221 </a:t>
            </a:r>
            <a:r>
              <a:rPr lang="en-US" sz="1600">
                <a:solidFill>
                  <a:prstClr val="black"/>
                </a:solidFill>
                <a:latin typeface="Times New Roman" panose="02020603050405020304" pitchFamily="18" charset="0"/>
                <a:cs typeface="Times New Roman" panose="02020603050405020304" pitchFamily="18" charset="0"/>
              </a:rPr>
              <a:t>tại </a:t>
            </a:r>
            <a:r>
              <a:rPr lang="en-US" sz="1600" smtClean="0">
                <a:solidFill>
                  <a:prstClr val="black"/>
                </a:solidFill>
                <a:latin typeface="Times New Roman" panose="02020603050405020304" pitchFamily="18" charset="0"/>
                <a:cs typeface="Times New Roman" panose="02020603050405020304" pitchFamily="18" charset="0"/>
              </a:rPr>
              <a:t>PQC do toilet không flush được dưới đất. VAECO đã kiểm tra và xác định toilet có thể flush được khi tàu đang bay.</a:t>
            </a:r>
            <a:endParaRPr lang="en-US" sz="16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395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W31 (28/07/2025-03/08/20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lang="en-US" sz="1400" noProof="0">
                <a:solidFill>
                  <a:prstClr val="black"/>
                </a:solidFill>
                <a:latin typeface="Times New Roman" panose="02020603050405020304" pitchFamily="18" charset="0"/>
                <a:cs typeface="Times New Roman" panose="02020603050405020304" pitchFamily="18" charset="0"/>
              </a:rPr>
              <a:t>31</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a:t>
            </a:r>
            <a:r>
              <a:rPr lang="en-US" sz="1400" noProof="0">
                <a:solidFill>
                  <a:prstClr val="black"/>
                </a:solidFill>
                <a:latin typeface="Times New Roman" panose="02020603050405020304" pitchFamily="18" charset="0"/>
                <a:cs typeface="Times New Roman" panose="02020603050405020304" pitchFamily="18" charset="0"/>
              </a:rPr>
              <a:t>đội các đội A321, A350, B787 đạt mục tiêu, riêng đội ATR72 không đạt mục tiêu</a:t>
            </a:r>
            <a:r>
              <a:rPr lang="en-US" sz="1400">
                <a:solidFill>
                  <a:prstClr val="black"/>
                </a:solidFill>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99,73% cao hơn 0,10%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99,61% cao hơn 0,17%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r>
              <a:rPr lang="pt-BR" sz="140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99,45% cao</a:t>
            </a:r>
            <a:r>
              <a:rPr lang="en-US" sz="1400">
                <a:latin typeface="Times New Roman" panose="02020603050405020304" pitchFamily="18" charset="0"/>
                <a:cs typeface="Times New Roman" panose="02020603050405020304" pitchFamily="18" charset="0"/>
              </a:rPr>
              <a:t> hơn 0,09%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99,50% thấp hơn 0,15%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01 sự kiện tàu B221 toilet not flush </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extLst/>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2596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extLst/>
          </p:nvPr>
        </p:nvGraphicFramePr>
        <p:xfrm>
          <a:off x="552665" y="843523"/>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481019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24</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3" y="0"/>
            <a:ext cx="11878433"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22507594"/>
              </p:ext>
            </p:extLst>
          </p:nvPr>
        </p:nvGraphicFramePr>
        <p:xfrm>
          <a:off x="156783" y="606959"/>
          <a:ext cx="11878434" cy="605762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46876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rPr>
                        <a:t>SSA 2024 đã ký với mức hỗ trợ SSA 2024 13.5k cho 2024/10k cho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rPr>
                        <a:t>PW đã cung cấp tổng cộng 17 slot.</a:t>
                      </a:r>
                      <a:endPar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họp telecon với PW ngày 03/05 về nội dung liên quan đến slot Induct, SSA 2024 CAP, Lease engine  PW cung cấp cho VNA thuê 01 ĐC từ tháng 6, đồng thời xem xét gia hạn CAP SSA khi vượt ng</a:t>
                      </a:r>
                      <a:r>
                        <a:rPr lang="vi-VN" sz="1250" u="none" strike="noStrike" kern="1200" baseline="0" smtClean="0">
                          <a:solidFill>
                            <a:schemeClr val="tx1"/>
                          </a:solidFill>
                          <a:effectLst/>
                          <a:latin typeface="+mn-lt"/>
                          <a:ea typeface="+mn-ea"/>
                          <a:cs typeface="Times New Roman" panose="02020603050405020304" pitchFamily="18" charset="0"/>
                          <a:sym typeface="Wingdings" panose="05000000000000000000" pitchFamily="2" charset="2"/>
                        </a:rPr>
                        <a:t>ư</a:t>
                      </a: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 cung cấp 14-16 slot induct.</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tiếp thục follow các vấn đề liên quan đến Slot induct, Lease Engine theo Letter Chủ tịch gửi PW 07/06/2025.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 tịch PW đã có trả lời thư và thông báo sẽ tìm cho VNA thêm 01 động cơ GTF trong quý 3. </a:t>
                      </a:r>
                      <a:r>
                        <a:rPr lang="en-US" sz="1250" u="none" strike="noStrike" kern="1200" baseline="0" smtClean="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PW đã gửi hồ sơ động cơ thuê thứ 3, dự kiến về đầu tháng 9.</a:t>
                      </a:r>
                      <a:endPar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a:t>
                      </a:r>
                      <a:endPar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25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25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VP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EVP 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03/07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commercial,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vẫn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chưa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đạt</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cụ</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25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TAT.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35191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25</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66441" y="38100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572003514"/>
              </p:ext>
            </p:extLst>
          </p:nvPr>
        </p:nvGraphicFramePr>
        <p:xfrm>
          <a:off x="169662" y="1073089"/>
          <a:ext cx="11878434" cy="461593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524548">
                  <a:extLst>
                    <a:ext uri="{9D8B030D-6E8A-4147-A177-3AD203B41FA5}">
                      <a16:colId xmlns:a16="http://schemas.microsoft.com/office/drawing/2014/main" val="426833219"/>
                    </a:ext>
                  </a:extLst>
                </a:gridCol>
                <a:gridCol w="1748216">
                  <a:extLst>
                    <a:ext uri="{9D8B030D-6E8A-4147-A177-3AD203B41FA5}">
                      <a16:colId xmlns:a16="http://schemas.microsoft.com/office/drawing/2014/main" val="3649942957"/>
                    </a:ext>
                  </a:extLst>
                </a:gridCol>
              </a:tblGrid>
              <a:tr h="43283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11589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Chuẩn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 ký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SwissAS</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a:solidFill>
                            <a:schemeClr val="tx1"/>
                          </a:solidFill>
                          <a:effectLst/>
                          <a:latin typeface="Times New Roman" panose="02020603050405020304" pitchFamily="18" charset="0"/>
                          <a:cs typeface="Times New Roman" panose="02020603050405020304" pitchFamily="18" charset="0"/>
                        </a:rPr>
                        <a:t>Sau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hợp</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đồng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với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SAS,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Tổ</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eTL</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các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liên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quan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Mục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tiêu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đ</a:t>
                      </a:r>
                      <a:r>
                        <a:rPr lang="vi-VN" sz="1300" b="0" i="0" u="none" strike="noStrike" dirty="0">
                          <a:solidFill>
                            <a:schemeClr val="tx1"/>
                          </a:solidFill>
                          <a:effectLst/>
                          <a:latin typeface="Times New Roman" panose="02020603050405020304" pitchFamily="18" charset="0"/>
                          <a:cs typeface="Times New Roman" panose="02020603050405020304" pitchFamily="18" charset="0"/>
                        </a:rPr>
                        <a:t>ư</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a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vào</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sử</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dụng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đầu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năm</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2026</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478659">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B787 VN-A863</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600"/>
                        </a:spcBef>
                        <a:spcAft>
                          <a:spcPts val="0"/>
                        </a:spcAft>
                        <a:buClrTx/>
                        <a:buSzTx/>
                        <a:buFontTx/>
                        <a:buNone/>
                        <a:tabLst>
                          <a:tab pos="173038" algn="l"/>
                        </a:tabLst>
                        <a:defRPr/>
                      </a:pPr>
                      <a:r>
                        <a:rPr lang="en-US" sz="1300" b="0" u="none" strike="noStrike" kern="1200" baseline="0" smtClean="0">
                          <a:solidFill>
                            <a:schemeClr val="tx1"/>
                          </a:solidFill>
                          <a:effectLst/>
                          <a:latin typeface="+mn-lt"/>
                          <a:ea typeface="+mn-ea"/>
                          <a:cs typeface="Times New Roman" panose="02020603050405020304" pitchFamily="18" charset="0"/>
                          <a:sym typeface="Wingdings" panose="05000000000000000000" pitchFamily="2" charset="2"/>
                        </a:rPr>
                        <a:t>- A863 </a:t>
                      </a:r>
                      <a:r>
                        <a:rPr lang="en-US" sz="1300" b="0" u="none" strike="noStrike" kern="1200" baseline="0">
                          <a:solidFill>
                            <a:schemeClr val="tx1"/>
                          </a:solidFill>
                          <a:effectLst/>
                          <a:latin typeface="+mn-lt"/>
                          <a:ea typeface="+mn-ea"/>
                          <a:cs typeface="Times New Roman" panose="02020603050405020304" pitchFamily="18" charset="0"/>
                          <a:sym typeface="Wingdings" panose="05000000000000000000" pitchFamily="2" charset="2"/>
                        </a:rPr>
                        <a:t>đã hoàn thành sửa chữa ngày 01/08</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4907250"/>
                  </a:ext>
                </a:extLst>
              </a:tr>
              <a:tr h="1478659">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IFC 10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smtClean="0">
                          <a:solidFill>
                            <a:schemeClr val="tx1"/>
                          </a:solidFill>
                          <a:latin typeface="Times New Roman" panose="02020603050405020304" pitchFamily="18" charset="0"/>
                          <a:cs typeface="Times New Roman" panose="02020603050405020304" pitchFamily="18" charset="0"/>
                        </a:rPr>
                        <a:t>05 tàu đã nâng cấp HW (on-wing/off-wing): A891, A899, A893, A897 và A896</a:t>
                      </a:r>
                    </a:p>
                    <a:p>
                      <a:pPr marL="176213" lvl="1" indent="-176213">
                        <a:lnSpc>
                          <a:spcPct val="130000"/>
                        </a:lnSpc>
                        <a:buFontTx/>
                        <a:buChar char="-"/>
                      </a:pPr>
                      <a:r>
                        <a:rPr lang="en-US" sz="1400" smtClean="0">
                          <a:solidFill>
                            <a:schemeClr val="tx1"/>
                          </a:solidFill>
                          <a:latin typeface="Times New Roman" panose="02020603050405020304" pitchFamily="18" charset="0"/>
                          <a:cs typeface="Times New Roman" panose="02020603050405020304" pitchFamily="18" charset="0"/>
                        </a:rPr>
                        <a:t>KH activation 05 tàu: </a:t>
                      </a:r>
                      <a:r>
                        <a:rPr lang="en-US" sz="1400" b="1" smtClean="0">
                          <a:solidFill>
                            <a:srgbClr val="FF0000"/>
                          </a:solidFill>
                          <a:latin typeface="Times New Roman" panose="02020603050405020304" pitchFamily="18" charset="0"/>
                          <a:cs typeface="Times New Roman" panose="02020603050405020304" pitchFamily="18" charset="0"/>
                        </a:rPr>
                        <a:t>A899 (28/7), A896 (29/7), A891 (30/7), A897 (31/7), A893 (09/8)</a:t>
                      </a:r>
                    </a:p>
                    <a:p>
                      <a:pPr marL="176213" lvl="1" indent="-176213">
                        <a:lnSpc>
                          <a:spcPct val="130000"/>
                        </a:lnSpc>
                        <a:buFontTx/>
                        <a:buChar char="-"/>
                      </a:pPr>
                      <a:r>
                        <a:rPr lang="en-US" sz="1400" b="1" smtClean="0">
                          <a:solidFill>
                            <a:schemeClr val="tx1"/>
                          </a:solidFill>
                          <a:latin typeface="Times New Roman" panose="02020603050405020304" pitchFamily="18" charset="0"/>
                          <a:cs typeface="Times New Roman" panose="02020603050405020304" pitchFamily="18" charset="0"/>
                        </a:rPr>
                        <a:t>Đã thực hiện activate IFC 04 tàu:</a:t>
                      </a:r>
                      <a:r>
                        <a:rPr lang="en-US" sz="1400" b="1" smtClean="0">
                          <a:solidFill>
                            <a:srgbClr val="FF0000"/>
                          </a:solidFill>
                          <a:latin typeface="Times New Roman" panose="02020603050405020304" pitchFamily="18" charset="0"/>
                          <a:cs typeface="Times New Roman" panose="02020603050405020304" pitchFamily="18" charset="0"/>
                        </a:rPr>
                        <a:t> A899, A891, A896, A897 </a:t>
                      </a:r>
                      <a:endParaRPr lang="en-US" sz="1400" b="1" dirty="0">
                        <a:solidFill>
                          <a:srgbClr val="FF0000"/>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bl>
          </a:graphicData>
        </a:graphic>
      </p:graphicFrame>
    </p:spTree>
    <p:extLst>
      <p:ext uri="{BB962C8B-B14F-4D97-AF65-F5344CB8AC3E}">
        <p14:creationId xmlns:p14="http://schemas.microsoft.com/office/powerpoint/2010/main" val="1922243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26</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256447268"/>
              </p:ext>
            </p:extLst>
          </p:nvPr>
        </p:nvGraphicFramePr>
        <p:xfrm>
          <a:off x="156782" y="838200"/>
          <a:ext cx="11959018" cy="5668898"/>
        </p:xfrm>
        <a:graphic>
          <a:graphicData uri="http://schemas.openxmlformats.org/drawingml/2006/table">
            <a:tbl>
              <a:tblPr>
                <a:tableStyleId>{5C22544A-7EE6-4342-B048-85BDC9FD1C3A}</a:tableStyleId>
              </a:tblPr>
              <a:tblGrid>
                <a:gridCol w="425595">
                  <a:extLst>
                    <a:ext uri="{9D8B030D-6E8A-4147-A177-3AD203B41FA5}">
                      <a16:colId xmlns:a16="http://schemas.microsoft.com/office/drawing/2014/main" val="2758273930"/>
                    </a:ext>
                  </a:extLst>
                </a:gridCol>
                <a:gridCol w="1771669">
                  <a:extLst>
                    <a:ext uri="{9D8B030D-6E8A-4147-A177-3AD203B41FA5}">
                      <a16:colId xmlns:a16="http://schemas.microsoft.com/office/drawing/2014/main" val="221963637"/>
                    </a:ext>
                  </a:extLst>
                </a:gridCol>
                <a:gridCol w="8710582">
                  <a:extLst>
                    <a:ext uri="{9D8B030D-6E8A-4147-A177-3AD203B41FA5}">
                      <a16:colId xmlns:a16="http://schemas.microsoft.com/office/drawing/2014/main" val="426833219"/>
                    </a:ext>
                  </a:extLst>
                </a:gridCol>
                <a:gridCol w="1051172">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1. Giải pháp B787: </a:t>
                      </a:r>
                    </a:p>
                    <a:p>
                      <a:pPr marL="342900" marR="0" lvl="1" indent="-342900" algn="l" defTabSz="914400" rtl="0" eaLnBrk="1" fontAlgn="auto" latinLnBrk="0" hangingPunct="1">
                        <a:lnSpc>
                          <a:spcPct val="130000"/>
                        </a:lnSpc>
                        <a:spcBef>
                          <a:spcPts val="0"/>
                        </a:spcBef>
                        <a:spcAft>
                          <a:spcPts val="0"/>
                        </a:spcAft>
                        <a:buClrTx/>
                        <a:buSzTx/>
                        <a:buFontTx/>
                        <a:buAutoNum type="alphaLcPeriod"/>
                        <a:tabLst/>
                        <a:defRPr/>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Starlink: leadtime 15MO; chi phí HW&amp; SB: 1.6trUSD/tàu (Starlink yêu cầu ký cả A321 và B787) =&gt; bản chào Boeing (T8/2025)</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Safran và Intelsat: Boeing đang đánh giá chưa phê chuẩn, leadtime 24-36MO; chi phí HW&amp; SB: 1.5-1.8 trUSD/tàu</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Viasat: Boeing chưa có lộ trình phê chuẩn (leadtime – TBD); chi phí HW&amp; SB: 1.4trUSD/tàu </a:t>
                      </a:r>
                    </a:p>
                    <a:p>
                      <a:pPr marL="0" lvl="1" indent="0">
                        <a:lnSpc>
                          <a:spcPct val="130000"/>
                        </a:lnSpc>
                        <a:buFontTx/>
                        <a:buNone/>
                      </a:pPr>
                      <a:r>
                        <a:rPr kumimoji="0" lang="en-US" sz="14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2. Giải pháp A321</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Starlink: leadtime 15MO; chi phí HW&amp; STC: 350K/tàu (Starlink yêu cầu ký cả A321 và B787)</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leadtime 12MO; chi phí HW&amp; SB: 500K/ tàu</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Safran: leadtime 12 MO; chi phí HW &amp; SB: 830K/tàu</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Skyfive A2G: leadtime 12-15 MO, chi phí HW &amp; SB: 250K/tàu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180301"/>
                  </a:ext>
                </a:extLst>
              </a:tr>
              <a:tr h="818864">
                <a:tc>
                  <a:txBody>
                    <a:bodyPr/>
                    <a:lstStyle/>
                    <a:p>
                      <a:pPr algn="ctr" fontAlgn="b"/>
                      <a:r>
                        <a:rPr lang="en-US" sz="1400" b="0" i="0" u="none" strike="noStrike" smtClean="0">
                          <a:solidFill>
                            <a:schemeClr val="tx1"/>
                          </a:solidFill>
                          <a:effectLst/>
                          <a:latin typeface="Times New Roman" panose="02020603050405020304" pitchFamily="18" charset="0"/>
                          <a:cs typeface="Times New Roman" panose="02020603050405020304" pitchFamily="18" charset="0"/>
                        </a:rPr>
                        <a:t>8</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CĐCH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smtClean="0">
                          <a:solidFill>
                            <a:schemeClr val="tx1"/>
                          </a:solidFill>
                          <a:latin typeface="Times New Roman" panose="02020603050405020304" pitchFamily="18" charset="0"/>
                          <a:cs typeface="Times New Roman" panose="02020603050405020304" pitchFamily="18" charset="0"/>
                        </a:rPr>
                        <a:t>HĐQT đã thông quả kết quả LC NCC ghế và SB</a:t>
                      </a:r>
                    </a:p>
                    <a:p>
                      <a:pPr marL="176213" lvl="1" indent="-176213">
                        <a:lnSpc>
                          <a:spcPct val="130000"/>
                        </a:lnSpc>
                        <a:buFontTx/>
                        <a:buChar char="-"/>
                      </a:pPr>
                      <a:r>
                        <a:rPr lang="en-US" sz="1400" smtClean="0">
                          <a:solidFill>
                            <a:schemeClr val="tx1"/>
                          </a:solidFill>
                          <a:latin typeface="Times New Roman" panose="02020603050405020304" pitchFamily="18" charset="0"/>
                          <a:cs typeface="Times New Roman" panose="02020603050405020304" pitchFamily="18" charset="0"/>
                        </a:rPr>
                        <a:t>Họp ICMT ngày 2-3 tháng 7/2025. KQ họp ICTM:</a:t>
                      </a:r>
                    </a:p>
                    <a:p>
                      <a:pPr marL="0" lvl="1" indent="0">
                        <a:lnSpc>
                          <a:spcPct val="130000"/>
                        </a:lnSpc>
                        <a:buFontTx/>
                        <a:buNone/>
                      </a:pPr>
                      <a:r>
                        <a:rPr lang="en-US" sz="1400" smtClean="0">
                          <a:solidFill>
                            <a:schemeClr val="tx1"/>
                          </a:solidFill>
                          <a:latin typeface="Times New Roman" panose="02020603050405020304" pitchFamily="18" charset="0"/>
                          <a:cs typeface="Times New Roman" panose="02020603050405020304" pitchFamily="18" charset="0"/>
                        </a:rPr>
                        <a:t>   + Thống nhất Work scope, timeline dự án, LOPA. </a:t>
                      </a:r>
                      <a:r>
                        <a:rPr lang="en-US" sz="1400" b="1" smtClean="0">
                          <a:solidFill>
                            <a:schemeClr val="tx1"/>
                          </a:solidFill>
                          <a:latin typeface="Times New Roman" panose="02020603050405020304" pitchFamily="18" charset="0"/>
                          <a:cs typeface="Times New Roman" panose="02020603050405020304" pitchFamily="18" charset="0"/>
                        </a:rPr>
                        <a:t>Dự kiến tàu đầu tiên thực hiện đầu tháng 12/2025</a:t>
                      </a:r>
                      <a:r>
                        <a:rPr lang="en-US" sz="1400" smtClean="0">
                          <a:solidFill>
                            <a:schemeClr val="tx1"/>
                          </a:solidFill>
                          <a:latin typeface="Times New Roman" panose="02020603050405020304" pitchFamily="18" charset="0"/>
                          <a:cs typeface="Times New Roman" panose="02020603050405020304" pitchFamily="18" charset="0"/>
                        </a:rPr>
                        <a:t> để kịp xin phê chuẩn STC trong năm 2025 (KH thực hiện 23 tàu bay từ T12/2025 – T4/2026)</a:t>
                      </a:r>
                    </a:p>
                    <a:p>
                      <a:pPr marL="0" lvl="1" indent="0">
                        <a:lnSpc>
                          <a:spcPct val="130000"/>
                        </a:lnSpc>
                        <a:buFontTx/>
                        <a:buNone/>
                      </a:pPr>
                      <a:r>
                        <a:rPr lang="en-US" sz="1400" smtClean="0">
                          <a:solidFill>
                            <a:schemeClr val="tx1"/>
                          </a:solidFill>
                          <a:latin typeface="Times New Roman" panose="02020603050405020304" pitchFamily="18" charset="0"/>
                          <a:cs typeface="Times New Roman" panose="02020603050405020304" pitchFamily="18" charset="0"/>
                        </a:rPr>
                        <a:t>   + Thống nhất AAR tìm P/A sử dụng used part cho tàu đầu tiên để rút ngắn leadtime; đàm phán sử dụng lại EEPL trên ghế của VNA để tiết kiệm chi phí</a:t>
                      </a:r>
                    </a:p>
                    <a:p>
                      <a:pPr marL="0" lvl="0" indent="0">
                        <a:lnSpc>
                          <a:spcPct val="130000"/>
                        </a:lnSpc>
                        <a:buFontTx/>
                        <a:buNone/>
                      </a:pPr>
                      <a:r>
                        <a:rPr lang="en-US" sz="1400" smtClean="0">
                          <a:solidFill>
                            <a:schemeClr val="tx1"/>
                          </a:solidFill>
                          <a:latin typeface="Times New Roman" panose="02020603050405020304" pitchFamily="18" charset="0"/>
                          <a:cs typeface="Times New Roman" panose="02020603050405020304" pitchFamily="18" charset="0"/>
                        </a:rPr>
                        <a:t>-  Tổ tiếp tục triển khai các gói còn lại: vải áo ghế (đã chọn Botani), vận chuyển, thiết bị khẩn nguy để kịp timeline từ seat OEM .</a:t>
                      </a:r>
                      <a:br>
                        <a:rPr lang="en-US" sz="1400" smtClean="0">
                          <a:solidFill>
                            <a:schemeClr val="tx1"/>
                          </a:solidFill>
                          <a:latin typeface="Times New Roman" panose="02020603050405020304" pitchFamily="18" charset="0"/>
                          <a:cs typeface="Times New Roman" panose="02020603050405020304" pitchFamily="18" charset="0"/>
                        </a:rPr>
                      </a:br>
                      <a:r>
                        <a:rPr lang="en-US" sz="1400" smtClean="0">
                          <a:solidFill>
                            <a:schemeClr val="tx1"/>
                          </a:solidFill>
                          <a:latin typeface="Times New Roman" panose="02020603050405020304" pitchFamily="18" charset="0"/>
                          <a:cs typeface="Times New Roman" panose="02020603050405020304" pitchFamily="18" charset="0"/>
                        </a:rPr>
                        <a:t>- Triển khai ký HĐ thực hiện CĐCH với VAECO</a:t>
                      </a:r>
                      <a:endParaRPr lang="en-US" sz="140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81467" y="222876"/>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713132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27</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506809003"/>
              </p:ext>
            </p:extLst>
          </p:nvPr>
        </p:nvGraphicFramePr>
        <p:xfrm>
          <a:off x="156782" y="838200"/>
          <a:ext cx="11959018" cy="4559426"/>
        </p:xfrm>
        <a:graphic>
          <a:graphicData uri="http://schemas.openxmlformats.org/drawingml/2006/table">
            <a:tbl>
              <a:tblPr>
                <a:tableStyleId>{5C22544A-7EE6-4342-B048-85BDC9FD1C3A}</a:tableStyleId>
              </a:tblPr>
              <a:tblGrid>
                <a:gridCol w="425595">
                  <a:extLst>
                    <a:ext uri="{9D8B030D-6E8A-4147-A177-3AD203B41FA5}">
                      <a16:colId xmlns:a16="http://schemas.microsoft.com/office/drawing/2014/main" val="2758273930"/>
                    </a:ext>
                  </a:extLst>
                </a:gridCol>
                <a:gridCol w="1771669">
                  <a:extLst>
                    <a:ext uri="{9D8B030D-6E8A-4147-A177-3AD203B41FA5}">
                      <a16:colId xmlns:a16="http://schemas.microsoft.com/office/drawing/2014/main" val="221963637"/>
                    </a:ext>
                  </a:extLst>
                </a:gridCol>
                <a:gridCol w="8710582">
                  <a:extLst>
                    <a:ext uri="{9D8B030D-6E8A-4147-A177-3AD203B41FA5}">
                      <a16:colId xmlns:a16="http://schemas.microsoft.com/office/drawing/2014/main" val="426833219"/>
                    </a:ext>
                  </a:extLst>
                </a:gridCol>
                <a:gridCol w="1051172">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Giải pháp: </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Local mod:  tự nghiên cứu và phê chuẩn mod thực hiện</a:t>
                      </a:r>
                    </a:p>
                    <a:p>
                      <a:pPr marL="0" lvl="1" indent="0">
                        <a:lnSpc>
                          <a:spcPct val="130000"/>
                        </a:lnSpc>
                        <a:buFontTx/>
                        <a:buNone/>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 VNA và VAECO đã thực hiện khảo sát và tháo các chi tiết ghế để đánh giá khả năng thực hiện local mod.</a:t>
                      </a:r>
                    </a:p>
                    <a:p>
                      <a:pPr marL="0" lvl="1" indent="0">
                        <a:lnSpc>
                          <a:spcPct val="130000"/>
                        </a:lnSpc>
                        <a:buFontTx/>
                        <a:buNone/>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=&gt; VAECO đánh giá không thể thực hiện</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Mua Mod và phê chuẩn EASA</a:t>
                      </a:r>
                    </a:p>
                    <a:p>
                      <a:pPr marL="0" lvl="1" indent="0">
                        <a:lnSpc>
                          <a:spcPct val="130000"/>
                        </a:lnSpc>
                        <a:buFontTx/>
                        <a:buNone/>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 VNA đã  làm việc với một số đôi tác trong đó có OEM Safran. Hiện có DOA regent đồng ý nghiên cứu và chào phương án sửa đổi ghế C để lắp vách ngăn ghế C</a:t>
                      </a:r>
                    </a:p>
                    <a:p>
                      <a:pPr marL="0" lvl="1" indent="0">
                        <a:lnSpc>
                          <a:spcPct val="130000"/>
                        </a:lnSpc>
                        <a:buFontTx/>
                        <a:buNone/>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 VNA đã cung cấp tài liệu, ảnh chụp, video và thông tin cấu trúc ghế cho Regent </a:t>
                      </a:r>
                      <a:r>
                        <a:rPr kumimoji="0" lang="en-US" sz="14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=&gt; Regent đã cung cấp thiết kế. KT đang hỏi ý kiến DVHK về design vách ngăn trước khi triển khai mua giải pháp</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5772556"/>
                  </a:ext>
                </a:extLst>
              </a:tr>
              <a:tr h="8188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Đã phê chuẩn local mode cho 20 tàu A321 (thiết kế dựa trên mẫu của Boeing/Airbus)</a:t>
                      </a:r>
                    </a:p>
                    <a:p>
                      <a:pPr marL="342900" lvl="1" indent="-342900">
                        <a:lnSpc>
                          <a:spcPct val="130000"/>
                        </a:lnSpc>
                        <a:buFontTx/>
                        <a:buAutoNum type="alphaLcPeriod"/>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Đã mua vật tư đủ cho 20 tàu bay và đang triển khai lắp trên tàu bay theo nhu cầu sử dụng từ OCC. Tiến độ thực hiện: 4/20 tàu. Tàu thực hiện làm mod khi vào check</a:t>
                      </a:r>
                    </a:p>
                    <a:p>
                      <a:pPr marL="0" lvl="1" indent="0">
                        <a:lnSpc>
                          <a:spcPct val="130000"/>
                        </a:lnSpc>
                        <a:buFontTx/>
                        <a:buNone/>
                      </a:pP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=&gt; DVHK có ý kiến việc lắp rèm ảnh hưởng tới thẩm mỹ và di chuyển của hành khách. Đã tổ chức họp các đơn vị đánh giá nhu cầu, giải pháp</a:t>
                      </a:r>
                      <a:b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14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=&gt; triển khai cải tiến (điều chỉnh thu ngắn khung rèm). Đã thực hiện cho 04 tàu đã lắp rèm</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97073" y="22860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433204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372671" y="76200"/>
            <a:ext cx="11487298"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1075421559"/>
              </p:ext>
            </p:extLst>
          </p:nvPr>
        </p:nvGraphicFramePr>
        <p:xfrm>
          <a:off x="353817" y="648317"/>
          <a:ext cx="11487298" cy="5083322"/>
        </p:xfrm>
        <a:graphic>
          <a:graphicData uri="http://schemas.openxmlformats.org/drawingml/2006/table">
            <a:tbl>
              <a:tblPr>
                <a:tableStyleId>{5C22544A-7EE6-4342-B048-85BDC9FD1C3A}</a:tableStyleId>
              </a:tblPr>
              <a:tblGrid>
                <a:gridCol w="408808">
                  <a:extLst>
                    <a:ext uri="{9D8B030D-6E8A-4147-A177-3AD203B41FA5}">
                      <a16:colId xmlns:a16="http://schemas.microsoft.com/office/drawing/2014/main" val="3304650821"/>
                    </a:ext>
                  </a:extLst>
                </a:gridCol>
                <a:gridCol w="1701786">
                  <a:extLst>
                    <a:ext uri="{9D8B030D-6E8A-4147-A177-3AD203B41FA5}">
                      <a16:colId xmlns:a16="http://schemas.microsoft.com/office/drawing/2014/main" val="1220325190"/>
                    </a:ext>
                  </a:extLst>
                </a:gridCol>
                <a:gridCol w="8223028">
                  <a:extLst>
                    <a:ext uri="{9D8B030D-6E8A-4147-A177-3AD203B41FA5}">
                      <a16:colId xmlns:a16="http://schemas.microsoft.com/office/drawing/2014/main" val="3909604654"/>
                    </a:ext>
                  </a:extLst>
                </a:gridCol>
                <a:gridCol w="1153676">
                  <a:extLst>
                    <a:ext uri="{9D8B030D-6E8A-4147-A177-3AD203B41FA5}">
                      <a16:colId xmlns:a16="http://schemas.microsoft.com/office/drawing/2014/main" val="1269662541"/>
                    </a:ext>
                  </a:extLst>
                </a:gridCol>
              </a:tblGrid>
              <a:tr h="418483">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5361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GIA HẠN THUÊ 10 TÀU VALC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smtClean="0">
                          <a:latin typeface="+mn-lt"/>
                          <a:cs typeface="Times New Roman" panose="02020603050405020304" pitchFamily="18" charset="0"/>
                        </a:rPr>
                        <a:t>Thủ tục bán tàu của VALC chậm nên VNA và VALC đã đồng ý và ký kết gia hạn hợp đồng thuê tiếp 10 tàu bay A321CEO 3 tháng đến hết 30/06/2025 đang triển khai gia hạn thuê tiếp đến hết tháng 12/2025.</a:t>
                      </a:r>
                    </a:p>
                    <a:p>
                      <a:pPr algn="just">
                        <a:lnSpc>
                          <a:spcPct val="150000"/>
                        </a:lnSpc>
                      </a:pPr>
                      <a:r>
                        <a:rPr lang="vi-VN" sz="1300" smtClean="0">
                          <a:latin typeface="+mn-lt"/>
                          <a:cs typeface="Times New Roman" panose="02020603050405020304" pitchFamily="18" charset="0"/>
                        </a:rPr>
                        <a:t>Hiện tại VNA đang chờ kết quả bán tàu từ VALC, tiếp theo sẽ cần triển khai đàm phán hợp đồng thuê trong trường hợp chuyển đổi chủ sở hữu tàu bay.</a:t>
                      </a:r>
                      <a:r>
                        <a:rPr lang="en-US" sz="1300" smtClean="0">
                          <a:latin typeface="Times New Roman" panose="02020603050405020304" pitchFamily="18" charset="0"/>
                          <a:cs typeface="Times New Roman" panose="02020603050405020304" pitchFamily="18" charset="0"/>
                        </a:rPr>
                        <a:t>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1416754"/>
                  </a:ext>
                </a:extLst>
              </a:tr>
              <a:tr h="2133821">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latin typeface="Times New Roman" panose="02020603050405020304" pitchFamily="18" charset="0"/>
                          <a:cs typeface="Times New Roman" panose="02020603050405020304" pitchFamily="18" charset="0"/>
                        </a:rPr>
                        <a:t>DỰ ÁN THUÊ KHÔ 05 TÀU GAT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just">
                        <a:lnSpc>
                          <a:spcPct val="150000"/>
                        </a:lnSpc>
                        <a:buFontTx/>
                        <a:buChar char="-"/>
                        <a:defRPr/>
                      </a:pPr>
                      <a:r>
                        <a:rPr lang="en-US" sz="1300" smtClean="0">
                          <a:latin typeface="Times New Roman" panose="02020603050405020304" pitchFamily="18" charset="0"/>
                          <a:cs typeface="Times New Roman" panose="02020603050405020304" pitchFamily="18" charset="0"/>
                        </a:rPr>
                        <a:t>GAT gửi bản chào cập nhật cho 03 tàu A321 26/07 và update specs 31/07 các nội dung đàm phán về kỹ thuật về điều kiện trả/nhận chưa phản hồi theo nội dung VNA đề nghị(vẫn giữ nội dung cũ):</a:t>
                      </a:r>
                    </a:p>
                    <a:p>
                      <a:r>
                        <a:rPr lang="en-US" sz="1300" smtClean="0">
                          <a:latin typeface="Times New Roman" panose="02020603050405020304" pitchFamily="18" charset="0"/>
                          <a:cs typeface="Times New Roman" panose="02020603050405020304" pitchFamily="18" charset="0"/>
                        </a:rPr>
                        <a:t>       + Bản 03 tàu A321( 02 tàu SX 2017 giá 285K/1Mo và 01 tàu SX 2015 giá 275K/1Mo),  thời gian thuê 7 năm. Đã đánh giá sơ bộ specs VNA cần thực hiện toàn bộ 6Y/12Y checks, ENG OVH(LLP), APU SV, LDG OVH cho cả 3 tàu trong quá trình khai thác. Quỹ bảo dưỡng LDG: 5,2K$/1 Mo, 6Y: 15,9K$/1 Mo, 12Y: 9,5K$/1 Mo, APU: 52 &amp;/1 APU hour</a:t>
                      </a:r>
                    </a:p>
                    <a:p>
                      <a:pPr algn="just">
                        <a:lnSpc>
                          <a:spcPct val="150000"/>
                        </a:lnSpc>
                        <a:defRPr/>
                      </a:pPr>
                      <a:r>
                        <a:rPr lang="en-US" sz="1300" smtClean="0">
                          <a:latin typeface="Times New Roman" panose="02020603050405020304" pitchFamily="18" charset="0"/>
                          <a:cs typeface="Times New Roman" panose="02020603050405020304" pitchFamily="18" charset="0"/>
                        </a:rPr>
                        <a:t>       + Điều kiện trả: Thực hiện clear C check. AD clearance: 6 tháng, LDG remaining: 24 tháng. Engine remaining 6000 FH/3000 FC tới next SV.  </a:t>
                      </a:r>
                    </a:p>
                    <a:p>
                      <a:pPr algn="just">
                        <a:lnSpc>
                          <a:spcPct val="150000"/>
                        </a:lnSpc>
                        <a:defRPr/>
                      </a:pPr>
                      <a:r>
                        <a:rPr lang="en-US" sz="1300" smtClean="0">
                          <a:latin typeface="Times New Roman" panose="02020603050405020304" pitchFamily="18" charset="0"/>
                          <a:cs typeface="Times New Roman" panose="02020603050405020304" pitchFamily="18" charset="0"/>
                        </a:rPr>
                        <a:t>Tổ TMTB đang trình HĐTV phương án </a:t>
                      </a:r>
                      <a:r>
                        <a:rPr lang="en-US" sz="1300" b="1" smtClean="0">
                          <a:latin typeface="Times New Roman" panose="02020603050405020304" pitchFamily="18" charset="0"/>
                          <a:cs typeface="Times New Roman" panose="02020603050405020304" pitchFamily="18" charset="0"/>
                        </a:rPr>
                        <a:t>thuê 3 </a:t>
                      </a:r>
                      <a:r>
                        <a:rPr lang="en-US" sz="1300" smtClean="0">
                          <a:latin typeface="Times New Roman" panose="02020603050405020304" pitchFamily="18" charset="0"/>
                          <a:cs typeface="Times New Roman" panose="02020603050405020304" pitchFamily="18" charset="0"/>
                        </a:rPr>
                        <a:t>tàu A321 CEO để bù cho 03 tàu A321 đã cho PA thuê và tổ TMTB đang xây dựng RFP.</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849073"/>
                  </a:ext>
                </a:extLst>
              </a:tr>
              <a:tr h="1085981">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13</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DỰ ÁN TÀU BAY FREIGHTER .</a:t>
                      </a: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smtClean="0">
                          <a:latin typeface="Times New Roman" panose="02020603050405020304" pitchFamily="18" charset="0"/>
                          <a:cs typeface="Times New Roman" panose="02020603050405020304" pitchFamily="18" charset="0"/>
                        </a:rPr>
                        <a:t>VNA triển khai dự án thuê 02 tàu bay freighter(A321 CEO) dự kiến nhận Q4/2025 và Q2/2026. Đang triển khai thuê trước 1 tàu Q4/2025. VNA đã phát hành RFP thứ 6 ngày 25/07 và đang đánh giá các bản chào của các đối tác (có 4 đối tác ST/ATSG/BBAM/JPLS).</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29803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4241057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30</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1912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T8-T10/2025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381000" y="592815"/>
          <a:ext cx="11811000" cy="6265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0156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31</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368842"/>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12/08/2025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21/08/2025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6891771"/>
                  </a:ext>
                </a:extLst>
              </a:tr>
              <a:tr h="195070">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SGN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95070">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08/09/2025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 (</a:t>
                      </a:r>
                      <a:r>
                        <a:rPr lang="en-GB" sz="1100" dirty="0" err="1">
                          <a:solidFill>
                            <a:schemeClr val="tx1"/>
                          </a:solidFill>
                          <a:latin typeface="Times New Roman" panose="02020603050405020304" pitchFamily="18" charset="0"/>
                          <a:cs typeface="Times New Roman" panose="02020603050405020304" pitchFamily="18" charset="0"/>
                        </a:rPr>
                        <a:t>động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cơ</a:t>
                      </a:r>
                      <a:r>
                        <a:rPr lang="en-GB" sz="1100">
                          <a:solidFill>
                            <a:schemeClr val="tx1"/>
                          </a:solidFill>
                          <a:latin typeface="Times New Roman" panose="02020603050405020304" pitchFamily="18" charset="0"/>
                          <a:cs typeface="Times New Roman" panose="02020603050405020304" pitchFamily="18" charset="0"/>
                        </a:rPr>
                        <a:t> K6)</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923531"/>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5173775"/>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3592768"/>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912868"/>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012570"/>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20/11/2025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72277"/>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21/11/2025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28/11/2025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714181"/>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02/12/2025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145760"/>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V16137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induct 12/08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800963"/>
                  </a:ext>
                </a:extLst>
              </a:tr>
              <a:tr h="1950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405524"/>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Q3-Q4/2025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26-28/08/2025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V16563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A363#1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04-06/09/2025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322186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09-10/09/2025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VNA,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772198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10-12/09/2025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11-13/10/2025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V11696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V11933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15-17/10/2025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11893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A608#2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26-28/10/2025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V16582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95416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V18371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207948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24-26/11/2025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3113905"/>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47955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extLst/>
          </p:nvPr>
        </p:nvGraphicFramePr>
        <p:xfrm>
          <a:off x="5760208" y="3901494"/>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Sunbird</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19/06/2026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bl>
          </a:graphicData>
        </a:graphic>
      </p:graphicFrame>
    </p:spTree>
    <p:extLst>
      <p:ext uri="{BB962C8B-B14F-4D97-AF65-F5344CB8AC3E}">
        <p14:creationId xmlns:p14="http://schemas.microsoft.com/office/powerpoint/2010/main" val="3311879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A321NEO</a:t>
            </a: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4300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984" y="2578785"/>
            <a:ext cx="5167083" cy="53860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AOG do thiếu động c</a:t>
            </a:r>
            <a:r>
              <a:rPr kumimoji="0" lang="vi-VN"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96133" y="3790099"/>
          <a:ext cx="5765457" cy="661252"/>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267768">
                <a:tc>
                  <a:txBody>
                    <a:bodyPr/>
                    <a:lstStyle/>
                    <a:p>
                      <a:pPr algn="ctr"/>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356452">
                <a:tc>
                  <a:txBody>
                    <a:bodyPr/>
                    <a:lstStyle/>
                    <a:p>
                      <a:pPr algn="ctr"/>
                      <a:r>
                        <a:rPr lang="en-US" sz="1200" b="1">
                          <a:latin typeface="Times New Roman" panose="02020603050405020304" pitchFamily="18" charset="0"/>
                          <a:cs typeface="Times New Roman" panose="02020603050405020304" pitchFamily="18" charset="0"/>
                        </a:rPr>
                        <a:t>A505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a:solidFill>
                            <a:prstClr val="black"/>
                          </a:solidFill>
                          <a:latin typeface="Times New Roman" panose="02020603050405020304" pitchFamily="18" charset="0"/>
                          <a:ea typeface="+mn-ea"/>
                          <a:cs typeface="Times New Roman" panose="02020603050405020304" pitchFamily="18" charset="0"/>
                        </a:rPr>
                        <a:t>Dk cuối T9 có đủ động cơ: P771373 + P771185 thuê Aercap</a:t>
                      </a:r>
                      <a:endParaRPr lang="en-US" sz="1400" kern="1200" dirty="0">
                        <a:solidFill>
                          <a:prstClr val="black"/>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1074696803"/>
                  </a:ext>
                </a:extLst>
              </a:tr>
            </a:tbl>
          </a:graphicData>
        </a:graphic>
      </p:graphicFrame>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12328" y="307436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770" y="987232"/>
            <a:ext cx="5909513" cy="1452001"/>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600"/>
              </a:spcBef>
              <a:spcAft>
                <a:spcPts val="0"/>
              </a:spcAft>
              <a:buClrTx/>
              <a:buSzTx/>
              <a:buFontTx/>
              <a:buAutoNum type="arabicPeriod"/>
              <a:tabLst/>
              <a:defRPr/>
            </a:pP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Rủi ro tháo động c</a:t>
            </a:r>
            <a:r>
              <a:rPr kumimoji="0" lang="vi-VN"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ngoài KH: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Rủi ro tháo do hỏng HPT Blade (A625 S/N P772905 &amp; A621 S/N P771710 BSI Reduced Interval 675 FH/337 FC);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A621 S/N P771710 Ground Stall;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N2 Transient Vibration, HPT Blade, Oil leak, #3DFS worn (all fleet);</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8C24F927-43FE-43A1-80E2-A11360025336}"/>
              </a:ext>
            </a:extLst>
          </p:cNvPr>
          <p:cNvSpPr txBox="1"/>
          <p:nvPr/>
        </p:nvSpPr>
        <p:spPr>
          <a:xfrm>
            <a:off x="5860989" y="5736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23027" y="838078"/>
          <a:ext cx="5765458" cy="2563961"/>
        </p:xfrm>
        <a:graphic>
          <a:graphicData uri="http://schemas.openxmlformats.org/drawingml/2006/table">
            <a:tbl>
              <a:tblPr firstRow="1" bandRow="1">
                <a:tableStyleId>{5C22544A-7EE6-4342-B048-85BDC9FD1C3A}</a:tableStyleId>
              </a:tblPr>
              <a:tblGrid>
                <a:gridCol w="793078">
                  <a:extLst>
                    <a:ext uri="{9D8B030D-6E8A-4147-A177-3AD203B41FA5}">
                      <a16:colId xmlns:a16="http://schemas.microsoft.com/office/drawing/2014/main" val="3123040184"/>
                    </a:ext>
                  </a:extLst>
                </a:gridCol>
                <a:gridCol w="890615">
                  <a:extLst>
                    <a:ext uri="{9D8B030D-6E8A-4147-A177-3AD203B41FA5}">
                      <a16:colId xmlns:a16="http://schemas.microsoft.com/office/drawing/2014/main" val="2204338324"/>
                    </a:ext>
                  </a:extLst>
                </a:gridCol>
                <a:gridCol w="820738">
                  <a:extLst>
                    <a:ext uri="{9D8B030D-6E8A-4147-A177-3AD203B41FA5}">
                      <a16:colId xmlns:a16="http://schemas.microsoft.com/office/drawing/2014/main" val="1128924154"/>
                    </a:ext>
                  </a:extLst>
                </a:gridCol>
                <a:gridCol w="933075">
                  <a:extLst>
                    <a:ext uri="{9D8B030D-6E8A-4147-A177-3AD203B41FA5}">
                      <a16:colId xmlns:a16="http://schemas.microsoft.com/office/drawing/2014/main" val="2627377997"/>
                    </a:ext>
                  </a:extLst>
                </a:gridCol>
                <a:gridCol w="2327952">
                  <a:extLst>
                    <a:ext uri="{9D8B030D-6E8A-4147-A177-3AD203B41FA5}">
                      <a16:colId xmlns:a16="http://schemas.microsoft.com/office/drawing/2014/main" val="1687818387"/>
                    </a:ext>
                  </a:extLst>
                </a:gridCol>
              </a:tblGrid>
              <a:tr h="198166">
                <a:tc>
                  <a:txBody>
                    <a:bodyPr/>
                    <a:lstStyle/>
                    <a:p>
                      <a:pPr algn="l" rtl="0" fontAlgn="ctr"/>
                      <a:r>
                        <a:rPr lang="vi-VN" sz="1100" b="1" u="none" strike="noStrike" dirty="0">
                          <a:solidFill>
                            <a:srgbClr val="FFFFFF"/>
                          </a:solidFill>
                          <a:effectLst/>
                          <a:latin typeface="+mn-lt"/>
                        </a:rPr>
                        <a:t>Động cơ</a:t>
                      </a:r>
                      <a:endParaRPr lang="vi-VN" sz="1100" b="1" i="0" u="none" strike="noStrike" dirty="0">
                        <a:solidFill>
                          <a:srgbClr val="FFFFFF"/>
                        </a:solidFill>
                        <a:effectLst/>
                        <a:latin typeface="+mn-lt"/>
                      </a:endParaRPr>
                    </a:p>
                  </a:txBody>
                  <a:tcPr marL="47527" marR="5281" marT="5281" marB="0" anchor="ctr"/>
                </a:tc>
                <a:tc>
                  <a:txBody>
                    <a:bodyPr/>
                    <a:lstStyle/>
                    <a:p>
                      <a:pPr algn="ctr" rtl="0" fontAlgn="ctr"/>
                      <a:r>
                        <a:rPr lang="en-GB" sz="1100" b="1" u="none" strike="noStrike">
                          <a:solidFill>
                            <a:srgbClr val="FFFFFF"/>
                          </a:solidFill>
                          <a:effectLst/>
                          <a:latin typeface="+mn-lt"/>
                        </a:rPr>
                        <a:t>Induction</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Dự kiến về</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KH Sử dụng</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Remark</a:t>
                      </a:r>
                      <a:endParaRPr lang="en-GB" sz="1100" b="1" i="0" u="none" strike="noStrike">
                        <a:solidFill>
                          <a:srgbClr val="FFFFFF"/>
                        </a:solidFill>
                        <a:effectLst/>
                        <a:latin typeface="+mn-lt"/>
                      </a:endParaRPr>
                    </a:p>
                  </a:txBody>
                  <a:tcPr marL="5281" marR="5281" marT="5281" marB="0" anchor="ctr"/>
                </a:tc>
                <a:extLst>
                  <a:ext uri="{0D108BD9-81ED-4DB2-BD59-A6C34878D82A}">
                    <a16:rowId xmlns:a16="http://schemas.microsoft.com/office/drawing/2014/main" val="1673130687"/>
                  </a:ext>
                </a:extLst>
              </a:tr>
              <a:tr h="360961">
                <a:tc>
                  <a:txBody>
                    <a:bodyPr/>
                    <a:lstStyle/>
                    <a:p>
                      <a:pPr algn="ctr" rtl="0" fontAlgn="ctr"/>
                      <a:r>
                        <a:rPr lang="en-GB" sz="1100" b="0" u="none" strike="noStrike">
                          <a:solidFill>
                            <a:schemeClr val="tx1"/>
                          </a:solidFill>
                          <a:effectLst/>
                          <a:latin typeface="+mn-lt"/>
                        </a:rPr>
                        <a:t>P771373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20/02/2025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15/09/2025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a:solidFill>
                            <a:schemeClr val="tx1">
                              <a:lumMod val="85000"/>
                              <a:lumOff val="15000"/>
                            </a:schemeClr>
                          </a:solidFill>
                          <a:effectLst/>
                          <a:latin typeface="+mn-lt"/>
                        </a:rPr>
                        <a:t>Lắp cho A505 cùng v</a:t>
                      </a:r>
                      <a:r>
                        <a:rPr lang="en-US" sz="1100" b="0" i="0" u="none" strike="noStrike">
                          <a:solidFill>
                            <a:schemeClr val="tx1">
                              <a:lumMod val="85000"/>
                              <a:lumOff val="15000"/>
                            </a:schemeClr>
                          </a:solidFill>
                          <a:effectLst/>
                          <a:latin typeface="+mn-lt"/>
                        </a:rPr>
                        <a:t>ới động c</a:t>
                      </a:r>
                      <a:r>
                        <a:rPr lang="vi-VN" sz="1100" b="0" i="0" u="none" strike="noStrike">
                          <a:solidFill>
                            <a:schemeClr val="tx1">
                              <a:lumMod val="85000"/>
                              <a:lumOff val="15000"/>
                            </a:schemeClr>
                          </a:solidFill>
                          <a:effectLst/>
                          <a:latin typeface="+mn-lt"/>
                        </a:rPr>
                        <a:t>ơ</a:t>
                      </a:r>
                      <a:r>
                        <a:rPr lang="en-US" sz="1100" b="0" i="0" u="none" strike="noStrike">
                          <a:solidFill>
                            <a:schemeClr val="tx1">
                              <a:lumMod val="85000"/>
                              <a:lumOff val="15000"/>
                            </a:schemeClr>
                          </a:solidFill>
                          <a:effectLst/>
                          <a:latin typeface="+mn-lt"/>
                        </a:rPr>
                        <a:t> thuê Aercap hoặc PW</a:t>
                      </a: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a16="http://schemas.microsoft.com/office/drawing/2014/main" val="3042752024"/>
                  </a:ext>
                </a:extLst>
              </a:tr>
              <a:tr h="334139">
                <a:tc>
                  <a:txBody>
                    <a:bodyPr/>
                    <a:lstStyle/>
                    <a:p>
                      <a:pPr algn="ctr" rtl="0" fontAlgn="ctr"/>
                      <a:r>
                        <a:rPr lang="en-GB" sz="1100" b="0" i="0" u="none" strike="noStrike">
                          <a:solidFill>
                            <a:schemeClr val="tx1"/>
                          </a:solidFill>
                          <a:effectLst/>
                          <a:latin typeface="+mn-lt"/>
                        </a:rPr>
                        <a:t>P771079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15/05/2025</a:t>
                      </a:r>
                    </a:p>
                  </a:txBody>
                  <a:tcPr marL="5281" marR="5281" marT="5281" marB="0" anchor="ctr"/>
                </a:tc>
                <a:tc>
                  <a:txBody>
                    <a:bodyPr/>
                    <a:lstStyle/>
                    <a:p>
                      <a:pPr algn="ctr" rtl="0" fontAlgn="ctr"/>
                      <a:r>
                        <a:rPr lang="en-GB" sz="1100" b="0" u="none" strike="noStrike">
                          <a:solidFill>
                            <a:srgbClr val="FF0000"/>
                          </a:solidFill>
                          <a:effectLst/>
                          <a:latin typeface="+mn-lt"/>
                        </a:rPr>
                        <a:t>12/11/2025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algn="l" rtl="0" fontAlgn="ctr"/>
                      <a:endParaRPr lang="en-GB" sz="1100" b="0" i="0" u="none" strike="noStrike">
                        <a:solidFill>
                          <a:schemeClr val="tx1"/>
                        </a:solidFill>
                        <a:effectLst/>
                        <a:latin typeface="+mn-lt"/>
                      </a:endParaRPr>
                    </a:p>
                  </a:txBody>
                  <a:tcPr marL="5281" marR="5281" marT="5281" marB="0" anchor="ctr"/>
                </a:tc>
                <a:extLst>
                  <a:ext uri="{0D108BD9-81ED-4DB2-BD59-A6C34878D82A}">
                    <a16:rowId xmlns:a16="http://schemas.microsoft.com/office/drawing/2014/main" val="3826051407"/>
                  </a:ext>
                </a:extLst>
              </a:tr>
              <a:tr h="334139">
                <a:tc>
                  <a:txBody>
                    <a:bodyPr/>
                    <a:lstStyle/>
                    <a:p>
                      <a:pPr algn="ctr" rtl="0" fontAlgn="ctr"/>
                      <a:r>
                        <a:rPr lang="en-GB" sz="1100" b="0" i="0" u="none" strike="noStrike">
                          <a:solidFill>
                            <a:schemeClr val="tx1"/>
                          </a:solidFill>
                          <a:effectLst/>
                          <a:latin typeface="+mn-lt"/>
                        </a:rPr>
                        <a:t>P771119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17/06/2025</a:t>
                      </a:r>
                    </a:p>
                  </a:txBody>
                  <a:tcPr marL="5281" marR="5281" marT="5281" marB="0" anchor="ctr"/>
                </a:tc>
                <a:tc>
                  <a:txBody>
                    <a:bodyPr/>
                    <a:lstStyle/>
                    <a:p>
                      <a:pPr algn="ctr" rtl="0" fontAlgn="ctr"/>
                      <a:r>
                        <a:rPr lang="en-GB" sz="1100" b="0" u="none" strike="noStrike">
                          <a:solidFill>
                            <a:srgbClr val="FF0000"/>
                          </a:solidFill>
                          <a:effectLst/>
                          <a:latin typeface="+mn-lt"/>
                        </a:rPr>
                        <a:t>11/11/2025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2247301018"/>
                  </a:ext>
                </a:extLst>
              </a:tr>
              <a:tr h="334139">
                <a:tc>
                  <a:txBody>
                    <a:bodyPr/>
                    <a:lstStyle/>
                    <a:p>
                      <a:pPr algn="ctr" rtl="0" fontAlgn="ctr"/>
                      <a:r>
                        <a:rPr lang="en-GB" sz="1100" b="0" i="0" u="none" strike="noStrike">
                          <a:solidFill>
                            <a:schemeClr val="tx1"/>
                          </a:solidFill>
                          <a:effectLst/>
                          <a:latin typeface="+mn-lt"/>
                        </a:rPr>
                        <a:t>P771463</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19/06/2025</a:t>
                      </a:r>
                    </a:p>
                  </a:txBody>
                  <a:tcPr marL="5281" marR="5281" marT="5281" marB="0" anchor="ctr"/>
                </a:tc>
                <a:tc>
                  <a:txBody>
                    <a:bodyPr/>
                    <a:lstStyle/>
                    <a:p>
                      <a:pPr algn="ctr" rtl="0" fontAlgn="ctr"/>
                      <a:r>
                        <a:rPr lang="en-GB" sz="1100" b="0" u="none" strike="noStrike">
                          <a:solidFill>
                            <a:srgbClr val="FF0000"/>
                          </a:solidFill>
                          <a:effectLst/>
                          <a:latin typeface="+mn-lt"/>
                        </a:rPr>
                        <a:t>29/12/2025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784712550"/>
                  </a:ext>
                </a:extLst>
              </a:tr>
              <a:tr h="334139">
                <a:tc>
                  <a:txBody>
                    <a:bodyPr/>
                    <a:lstStyle/>
                    <a:p>
                      <a:pPr algn="ctr" fontAlgn="ctr"/>
                      <a:r>
                        <a:rPr lang="en-US" sz="1100" b="0" i="0" u="none" strike="noStrike" kern="1200">
                          <a:solidFill>
                            <a:schemeClr val="tx1"/>
                          </a:solidFill>
                          <a:effectLst/>
                          <a:latin typeface="+mn-lt"/>
                          <a:ea typeface="+mn-ea"/>
                          <a:cs typeface="+mn-cs"/>
                        </a:rPr>
                        <a:t>P771175</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08/08/2025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4127060481"/>
                  </a:ext>
                </a:extLst>
              </a:tr>
              <a:tr h="334139">
                <a:tc>
                  <a:txBody>
                    <a:bodyPr/>
                    <a:lstStyle/>
                    <a:p>
                      <a:pPr algn="ctr" fontAlgn="ctr"/>
                      <a:r>
                        <a:rPr lang="en-US" sz="1100" b="0" i="0" u="none" strike="noStrike" kern="1200">
                          <a:solidFill>
                            <a:schemeClr val="tx1"/>
                          </a:solidFill>
                          <a:effectLst/>
                          <a:latin typeface="+mn-lt"/>
                          <a:ea typeface="+mn-ea"/>
                          <a:cs typeface="+mn-cs"/>
                        </a:rPr>
                        <a:t>P771687</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21/08/2025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2265960962"/>
                  </a:ext>
                </a:extLst>
              </a:tr>
              <a:tr h="334139">
                <a:tc>
                  <a:txBody>
                    <a:bodyPr/>
                    <a:lstStyle/>
                    <a:p>
                      <a:pPr algn="ctr" fontAlgn="ctr"/>
                      <a:r>
                        <a:rPr lang="en-US" sz="1100" b="0" i="0" u="none" strike="noStrike" kern="1200">
                          <a:solidFill>
                            <a:schemeClr val="tx1"/>
                          </a:solidFill>
                          <a:effectLst/>
                          <a:latin typeface="+mn-lt"/>
                          <a:ea typeface="+mn-ea"/>
                          <a:cs typeface="+mn-cs"/>
                        </a:rPr>
                        <a:t>P771685</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Sep/2025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3207586866"/>
                  </a:ext>
                </a:extLst>
              </a:tr>
            </a:tbl>
          </a:graphicData>
        </a:graphic>
      </p:graphicFrame>
      <p:sp>
        <p:nvSpPr>
          <p:cNvPr id="14" name="TextBox 13">
            <a:extLst>
              <a:ext uri="{FF2B5EF4-FFF2-40B4-BE49-F238E27FC236}">
                <a16:creationId xmlns:a16="http://schemas.microsoft.com/office/drawing/2014/main" id="{3665DF89-9C1E-039A-24B3-2AC39417A7A0}"/>
              </a:ext>
            </a:extLst>
          </p:cNvPr>
          <p:cNvSpPr txBox="1"/>
          <p:nvPr/>
        </p:nvSpPr>
        <p:spPr>
          <a:xfrm>
            <a:off x="0" y="3420766"/>
            <a:ext cx="583409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8" name="TextBox 17">
            <a:extLst>
              <a:ext uri="{FF2B5EF4-FFF2-40B4-BE49-F238E27FC236}">
                <a16:creationId xmlns:a16="http://schemas.microsoft.com/office/drawing/2014/main" id="{CC5E228E-E3EC-4098-B50D-0EB6E35D60A1}"/>
              </a:ext>
            </a:extLst>
          </p:cNvPr>
          <p:cNvSpPr txBox="1"/>
          <p:nvPr/>
        </p:nvSpPr>
        <p:spPr>
          <a:xfrm>
            <a:off x="0" y="4724400"/>
            <a:ext cx="6266703"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en-US" b="1">
                <a:solidFill>
                  <a:srgbClr val="002060"/>
                </a:solidFill>
                <a:latin typeface="Times New Roman" panose="02020603050405020304" pitchFamily="18" charset="0"/>
                <a:cs typeface="Times New Roman" panose="02020603050405020304" pitchFamily="18" charset="0"/>
              </a:rPr>
              <a:t>giữ giờ phục vụ CĐ tết 2026</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9" name="TextBox 18">
            <a:extLst>
              <a:ext uri="{FF2B5EF4-FFF2-40B4-BE49-F238E27FC236}">
                <a16:creationId xmlns:a16="http://schemas.microsoft.com/office/drawing/2014/main" id="{646654A8-2338-4BFD-A6E9-33BD153433BE}"/>
              </a:ext>
            </a:extLst>
          </p:cNvPr>
          <p:cNvSpPr txBox="1"/>
          <p:nvPr/>
        </p:nvSpPr>
        <p:spPr>
          <a:xfrm>
            <a:off x="96133" y="5131057"/>
            <a:ext cx="5737176" cy="1107996"/>
          </a:xfrm>
          <a:prstGeom prst="rect">
            <a:avLst/>
          </a:prstGeom>
          <a:solidFill>
            <a:schemeClr val="accent4">
              <a:lumMod val="40000"/>
              <a:lumOff val="60000"/>
            </a:schemeClr>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1200"/>
              </a:spcBef>
              <a:spcAft>
                <a:spcPts val="0"/>
              </a:spcAft>
              <a:buClrTx/>
              <a:buSzTx/>
              <a:buFont typeface="+mj-lt"/>
              <a:buAutoNum type="arabicPeriod"/>
              <a:tabLst/>
              <a:defRPr/>
            </a:pPr>
            <a:r>
              <a:rPr lang="en-US" sz="1400">
                <a:solidFill>
                  <a:prstClr val="black"/>
                </a:solidFill>
                <a:latin typeface="Times New Roman" panose="02020603050405020304" pitchFamily="18" charset="0"/>
                <a:cs typeface="Times New Roman" panose="02020603050405020304" pitchFamily="18" charset="0"/>
              </a:rPr>
              <a:t>Swap động cơ A621#2 với A625#1. A621 sẽ dừng giữ 50-70 FC từ đầu Tháng 8, A625 tiếp tục khai thác. Đã thực hiện.</a:t>
            </a:r>
          </a:p>
          <a:p>
            <a:pPr marL="342900" marR="0" lvl="0" indent="-342900" algn="just" defTabSz="1219170" rtl="0" eaLnBrk="1" fontAlgn="auto" latinLnBrk="0" hangingPunct="1">
              <a:lnSpc>
                <a:spcPct val="100000"/>
              </a:lnSpc>
              <a:spcBef>
                <a:spcPts val="1200"/>
              </a:spcBef>
              <a:spcAft>
                <a:spcPts val="0"/>
              </a:spcAft>
              <a:buClrTx/>
              <a:buSzTx/>
              <a:buFont typeface="+mj-lt"/>
              <a:buAutoNum type="arabicPeriod"/>
              <a:tabLst/>
              <a:defRPr/>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Swap động cơ </a:t>
            </a:r>
            <a:r>
              <a:rPr lang="en-US" sz="1400">
                <a:solidFill>
                  <a:prstClr val="black"/>
                </a:solidFill>
                <a:latin typeface="Times New Roman" panose="02020603050405020304" pitchFamily="18" charset="0"/>
                <a:cs typeface="Times New Roman" panose="02020603050405020304" pitchFamily="18" charset="0"/>
              </a:rPr>
              <a:t>A618#2 với A619#1. Dự kiến thực hiện cuối tháng 9. A618 giữ giờ đến CĐ tết 2025, A619 khai thác bình thường.</a:t>
            </a:r>
          </a:p>
        </p:txBody>
      </p:sp>
    </p:spTree>
    <p:extLst>
      <p:ext uri="{BB962C8B-B14F-4D97-AF65-F5344CB8AC3E}">
        <p14:creationId xmlns:p14="http://schemas.microsoft.com/office/powerpoint/2010/main" val="304645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33</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33</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extLst/>
          </p:nvPr>
        </p:nvGraphicFramePr>
        <p:xfrm>
          <a:off x="6248401" y="502765"/>
          <a:ext cx="5855025" cy="395365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79337" y="3129806"/>
            <a:ext cx="6054134"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200" b="1" dirty="0" err="1">
                <a:solidFill>
                  <a:schemeClr val="tx1"/>
                </a:solidFill>
                <a:latin typeface="Times New Roman" panose="02020603050405020304" pitchFamily="18" charset="0"/>
                <a:cs typeface="Times New Roman" panose="02020603050405020304" pitchFamily="18" charset="0"/>
              </a:rPr>
              <a:t>Động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cơ</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dự</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err="1">
                <a:solidFill>
                  <a:schemeClr val="tx1"/>
                </a:solidFill>
                <a:latin typeface="Times New Roman" panose="02020603050405020304" pitchFamily="18" charset="0"/>
                <a:cs typeface="Times New Roman" panose="02020603050405020304" pitchFamily="18" charset="0"/>
              </a:rPr>
              <a:t>phòng</a:t>
            </a:r>
            <a:r>
              <a:rPr lang="en-US" sz="1200" b="1">
                <a:solidFill>
                  <a:schemeClr val="tx1"/>
                </a:solidFill>
                <a:latin typeface="Times New Roman" panose="02020603050405020304" pitchFamily="18" charset="0"/>
                <a:cs typeface="Times New Roman" panose="02020603050405020304" pitchFamily="18" charset="0"/>
              </a:rPr>
              <a:t>:</a:t>
            </a:r>
            <a:r>
              <a:rPr lang="en-US" sz="1200">
                <a:solidFill>
                  <a:schemeClr val="tx1"/>
                </a:solidFill>
                <a:latin typeface="Times New Roman" panose="02020603050405020304" pitchFamily="18" charset="0"/>
                <a:cs typeface="Times New Roman" panose="02020603050405020304" pitchFamily="18" charset="0"/>
              </a:rPr>
              <a:t> Hiện có 956599 đã về SGN </a:t>
            </a:r>
          </a:p>
          <a:p>
            <a:pPr marL="380990" indent="-380990" defTabSz="1219170">
              <a:buFontTx/>
              <a:buChar char="-"/>
              <a:defRPr/>
            </a:pPr>
            <a:r>
              <a:rPr lang="en-US" sz="1200" b="1">
                <a:solidFill>
                  <a:schemeClr val="tx1"/>
                </a:solidFill>
                <a:latin typeface="Times New Roman" panose="02020603050405020304" pitchFamily="18" charset="0"/>
                <a:cs typeface="Times New Roman" panose="02020603050405020304" pitchFamily="18" charset="0"/>
              </a:rPr>
              <a:t>Động </a:t>
            </a:r>
            <a:r>
              <a:rPr lang="en-US" sz="1200" b="1" dirty="0" err="1">
                <a:solidFill>
                  <a:schemeClr val="tx1"/>
                </a:solidFill>
                <a:latin typeface="Times New Roman" panose="02020603050405020304" pitchFamily="18" charset="0"/>
                <a:cs typeface="Times New Roman" panose="02020603050405020304" pitchFamily="18" charset="0"/>
              </a:rPr>
              <a:t>cơ</a:t>
            </a:r>
            <a:r>
              <a:rPr lang="en-US" sz="1200" b="1" dirty="0">
                <a:solidFill>
                  <a:schemeClr val="tx1"/>
                </a:solidFill>
                <a:latin typeface="Times New Roman" panose="02020603050405020304" pitchFamily="18" charset="0"/>
                <a:cs typeface="Times New Roman" panose="02020603050405020304" pitchFamily="18" charset="0"/>
              </a:rPr>
              <a:t> on-watch &amp; </a:t>
            </a:r>
            <a:r>
              <a:rPr lang="en-US" sz="1200" b="1" dirty="0" err="1">
                <a:solidFill>
                  <a:schemeClr val="tx1"/>
                </a:solidFill>
                <a:latin typeface="Times New Roman" panose="02020603050405020304" pitchFamily="18" charset="0"/>
                <a:cs typeface="Times New Roman" panose="02020603050405020304" pitchFamily="18" charset="0"/>
              </a:rPr>
              <a:t>Hạn</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chế</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khai</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thác</a:t>
            </a:r>
            <a:r>
              <a:rPr lang="en-US" sz="1200"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200" dirty="0">
                <a:solidFill>
                  <a:schemeClr val="tx1"/>
                </a:solidFill>
                <a:cs typeface="Times New Roman" panose="02020603050405020304" pitchFamily="18" charset="0"/>
              </a:rPr>
              <a:t>6</a:t>
            </a:r>
            <a:r>
              <a:rPr lang="en-US" sz="120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động</a:t>
            </a:r>
            <a:r>
              <a:rPr lang="en-US" sz="1200" dirty="0">
                <a:solidFill>
                  <a:schemeClr val="tx1"/>
                </a:solidFill>
                <a:cs typeface="Times New Roman" panose="02020603050405020304" pitchFamily="18" charset="0"/>
              </a:rPr>
              <a:t> c</a:t>
            </a:r>
            <a:r>
              <a:rPr lang="vi-VN" sz="1200" dirty="0">
                <a:solidFill>
                  <a:schemeClr val="tx1"/>
                </a:solidFill>
                <a:cs typeface="Times New Roman" panose="02020603050405020304" pitchFamily="18" charset="0"/>
              </a:rPr>
              <a:t>ơ</a:t>
            </a:r>
            <a:r>
              <a:rPr lang="en-US" sz="1200" dirty="0">
                <a:solidFill>
                  <a:schemeClr val="tx1"/>
                </a:solidFill>
                <a:cs typeface="Times New Roman" panose="02020603050405020304" pitchFamily="18" charset="0"/>
              </a:rPr>
              <a:t> on-watch 50 </a:t>
            </a:r>
            <a:r>
              <a:rPr lang="en-US" sz="1200">
                <a:solidFill>
                  <a:schemeClr val="tx1"/>
                </a:solidFill>
                <a:cs typeface="Times New Roman" panose="02020603050405020304" pitchFamily="18" charset="0"/>
              </a:rPr>
              <a:t>– 250FC, trong đó A862 956600 phát hiện hỏng hóc phải tháo trong 10FC, hiện đang xin GE gia hạn. </a:t>
            </a:r>
            <a:endParaRPr lang="en-US" sz="1200" dirty="0">
              <a:solidFill>
                <a:schemeClr val="tx1"/>
              </a:solidFill>
              <a:cs typeface="Times New Roman" panose="02020603050405020304" pitchFamily="18" charset="0"/>
            </a:endParaRPr>
          </a:p>
          <a:p>
            <a:pPr marL="380990" indent="-380990" defTabSz="1219170">
              <a:buFontTx/>
              <a:buChar char="-"/>
              <a:defRPr/>
            </a:pPr>
            <a:r>
              <a:rPr lang="en-US" sz="1200" b="1">
                <a:solidFill>
                  <a:schemeClr val="tx1"/>
                </a:solidFill>
                <a:latin typeface="Times New Roman" panose="02020603050405020304" pitchFamily="18" charset="0"/>
                <a:cs typeface="Times New Roman" panose="02020603050405020304" pitchFamily="18" charset="0"/>
              </a:rPr>
              <a:t>Rủi </a:t>
            </a:r>
            <a:r>
              <a:rPr lang="en-US" sz="1200" b="1" dirty="0" err="1">
                <a:solidFill>
                  <a:schemeClr val="tx1"/>
                </a:solidFill>
                <a:latin typeface="Times New Roman" panose="02020603050405020304" pitchFamily="18" charset="0"/>
                <a:cs typeface="Times New Roman" panose="02020603050405020304" pitchFamily="18" charset="0"/>
              </a:rPr>
              <a:t>ro</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và</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công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việc</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trọng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điểm</a:t>
            </a:r>
            <a:r>
              <a:rPr lang="en-US" sz="1200" b="1" dirty="0">
                <a:solidFill>
                  <a:schemeClr val="tx1"/>
                </a:solidFill>
                <a:latin typeface="Times New Roman" panose="02020603050405020304" pitchFamily="18" charset="0"/>
                <a:cs typeface="Times New Roman" panose="02020603050405020304" pitchFamily="18" charset="0"/>
              </a:rPr>
              <a:t> 2H 2025:</a:t>
            </a:r>
            <a:endParaRPr lang="en-US" sz="1200"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200" dirty="0">
                <a:solidFill>
                  <a:schemeClr val="tx1"/>
                </a:solidFill>
                <a:latin typeface="Times New Roman" panose="02020603050405020304" pitchFamily="18" charset="0"/>
                <a:cs typeface="Times New Roman" panose="02020603050405020304" pitchFamily="18" charset="0"/>
              </a:rPr>
              <a:t>Các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on-watch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rủi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tháo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sớm</a:t>
            </a:r>
            <a:r>
              <a:rPr lang="en-US" sz="1200" dirty="0">
                <a:solidFill>
                  <a:schemeClr val="tx1"/>
                </a:solidFill>
                <a:latin typeface="Times New Roman" panose="02020603050405020304" pitchFamily="18" charset="0"/>
                <a:cs typeface="Times New Roman" panose="02020603050405020304" pitchFamily="18" charset="0"/>
              </a:rPr>
              <a:t>. Các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spare </a:t>
            </a:r>
            <a:r>
              <a:rPr lang="en-US" sz="1200" dirty="0" err="1">
                <a:solidFill>
                  <a:schemeClr val="tx1"/>
                </a:solidFill>
                <a:latin typeface="Times New Roman" panose="02020603050405020304" pitchFamily="18" charset="0"/>
                <a:cs typeface="Times New Roman" panose="02020603050405020304" pitchFamily="18" charset="0"/>
              </a:rPr>
              <a:t>sẽ</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lượt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trong</a:t>
            </a:r>
            <a:r>
              <a:rPr lang="en-US" sz="1200" dirty="0">
                <a:solidFill>
                  <a:schemeClr val="tx1"/>
                </a:solidFill>
                <a:latin typeface="Times New Roman" panose="02020603050405020304" pitchFamily="18" charset="0"/>
                <a:cs typeface="Times New Roman" panose="02020603050405020304" pitchFamily="18" charset="0"/>
              </a:rPr>
              <a:t> </a:t>
            </a:r>
            <a:r>
              <a:rPr lang="en-US" sz="1200" err="1">
                <a:solidFill>
                  <a:schemeClr val="tx1"/>
                </a:solidFill>
                <a:latin typeface="Times New Roman" panose="02020603050405020304" pitchFamily="18" charset="0"/>
                <a:cs typeface="Times New Roman" panose="02020603050405020304" pitchFamily="18" charset="0"/>
              </a:rPr>
              <a:t>tháng</a:t>
            </a:r>
            <a:r>
              <a:rPr lang="en-US" sz="1200">
                <a:solidFill>
                  <a:schemeClr val="tx1"/>
                </a:solidFill>
                <a:latin typeface="Times New Roman" panose="02020603050405020304" pitchFamily="18" charset="0"/>
                <a:cs typeface="Times New Roman" panose="02020603050405020304" pitchFamily="18" charset="0"/>
              </a:rPr>
              <a:t> 8– </a:t>
            </a:r>
            <a:r>
              <a:rPr lang="en-US" sz="1200" dirty="0">
                <a:solidFill>
                  <a:schemeClr val="tx1"/>
                </a:solidFill>
                <a:latin typeface="Times New Roman" panose="02020603050405020304" pitchFamily="18" charset="0"/>
                <a:cs typeface="Times New Roman" panose="02020603050405020304" pitchFamily="18" charset="0"/>
              </a:rPr>
              <a:t>9 </a:t>
            </a:r>
            <a:r>
              <a:rPr lang="en-US" sz="1200" dirty="0" err="1">
                <a:solidFill>
                  <a:schemeClr val="tx1"/>
                </a:solidFill>
                <a:latin typeface="Times New Roman" panose="02020603050405020304" pitchFamily="18" charset="0"/>
                <a:cs typeface="Times New Roman" panose="02020603050405020304" pitchFamily="18" charset="0"/>
              </a:rPr>
              <a:t>tuy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nhiên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thể</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bị</a:t>
            </a:r>
            <a:r>
              <a:rPr lang="en-US" sz="1200" dirty="0">
                <a:solidFill>
                  <a:schemeClr val="tx1"/>
                </a:solidFill>
                <a:latin typeface="Times New Roman" panose="02020603050405020304" pitchFamily="18" charset="0"/>
                <a:cs typeface="Times New Roman" panose="02020603050405020304" pitchFamily="18" charset="0"/>
              </a:rPr>
              <a:t> delay. </a:t>
            </a:r>
          </a:p>
          <a:p>
            <a:pPr marL="548640" indent="-182880">
              <a:buFont typeface="Wingdings" panose="05000000000000000000" pitchFamily="2" charset="2"/>
              <a:buChar char="§"/>
              <a:defRPr/>
            </a:pPr>
            <a:r>
              <a:rPr lang="en-US" sz="1200" dirty="0">
                <a:solidFill>
                  <a:schemeClr val="tx1"/>
                </a:solidFill>
                <a:latin typeface="Times New Roman" panose="02020603050405020304" pitchFamily="18" charset="0"/>
                <a:cs typeface="Times New Roman" panose="02020603050405020304" pitchFamily="18" charset="0"/>
              </a:rPr>
              <a:t>958266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lịch</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trả</a:t>
            </a:r>
            <a:r>
              <a:rPr lang="en-US" sz="1200" dirty="0">
                <a:solidFill>
                  <a:schemeClr val="tx1"/>
                </a:solidFill>
                <a:latin typeface="Times New Roman" panose="02020603050405020304" pitchFamily="18" charset="0"/>
                <a:cs typeface="Times New Roman" panose="02020603050405020304" pitchFamily="18" charset="0"/>
              </a:rPr>
              <a:t> T9/2025 – </a:t>
            </a:r>
            <a:r>
              <a:rPr lang="en-US" sz="1200" dirty="0" err="1">
                <a:solidFill>
                  <a:schemeClr val="tx1"/>
                </a:solidFill>
                <a:latin typeface="Times New Roman" panose="02020603050405020304" pitchFamily="18" charset="0"/>
                <a:cs typeface="Times New Roman" panose="02020603050405020304" pitchFamily="18" charset="0"/>
              </a:rPr>
              <a:t>dự</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kiến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dùng</a:t>
            </a:r>
            <a:r>
              <a:rPr lang="en-US" sz="1200" dirty="0">
                <a:solidFill>
                  <a:schemeClr val="tx1"/>
                </a:solidFill>
                <a:latin typeface="Times New Roman" panose="02020603050405020304" pitchFamily="18" charset="0"/>
                <a:cs typeface="Times New Roman" panose="02020603050405020304" pitchFamily="18" charset="0"/>
              </a:rPr>
              <a:t> spare </a:t>
            </a:r>
            <a:r>
              <a:rPr lang="en-US" sz="1200" dirty="0" err="1">
                <a:solidFill>
                  <a:schemeClr val="tx1"/>
                </a:solidFill>
                <a:latin typeface="Times New Roman" panose="02020603050405020304" pitchFamily="18" charset="0"/>
                <a:cs typeface="Times New Roman" panose="02020603050405020304" pitchFamily="18" charset="0"/>
              </a:rPr>
              <a:t>đổi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với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Aercap</a:t>
            </a:r>
            <a:r>
              <a:rPr lang="en-US" sz="1200" dirty="0">
                <a:solidFill>
                  <a:schemeClr val="tx1"/>
                </a:solidFill>
                <a:latin typeface="Times New Roman" panose="02020603050405020304" pitchFamily="18" charset="0"/>
                <a:cs typeface="Times New Roman" panose="02020603050405020304" pitchFamily="18" charset="0"/>
              </a:rPr>
              <a:t> </a:t>
            </a:r>
            <a:r>
              <a:rPr lang="en-US" sz="1200" err="1">
                <a:solidFill>
                  <a:schemeClr val="tx1"/>
                </a:solidFill>
                <a:latin typeface="Times New Roman" panose="02020603050405020304" pitchFamily="18" charset="0"/>
                <a:cs typeface="Times New Roman" panose="02020603050405020304" pitchFamily="18" charset="0"/>
              </a:rPr>
              <a:t>vào</a:t>
            </a:r>
            <a:r>
              <a:rPr lang="en-US" sz="1200">
                <a:solidFill>
                  <a:schemeClr val="tx1"/>
                </a:solidFill>
                <a:latin typeface="Times New Roman" panose="02020603050405020304" pitchFamily="18" charset="0"/>
                <a:cs typeface="Times New Roman" panose="02020603050405020304" pitchFamily="18" charset="0"/>
              </a:rPr>
              <a:t> 17/08</a:t>
            </a:r>
          </a:p>
          <a:p>
            <a:pPr marL="548640" indent="-182880">
              <a:buFont typeface="Wingdings" panose="05000000000000000000" pitchFamily="2" charset="2"/>
              <a:buChar char="§"/>
              <a:defRPr/>
            </a:pPr>
            <a:r>
              <a:rPr lang="en-US" sz="1200">
                <a:solidFill>
                  <a:schemeClr val="tx1"/>
                </a:solidFill>
                <a:latin typeface="Times New Roman" panose="02020603050405020304" pitchFamily="18" charset="0"/>
                <a:cs typeface="Times New Roman" panose="02020603050405020304" pitchFamily="18" charset="0"/>
              </a:rPr>
              <a:t>Tháo trả 2 spare 956626 &amp; 956933 trong T11-T12, tháo 3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on-watch  đi shop.</a:t>
            </a:r>
            <a:endParaRPr lang="en-US" sz="1200"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extLst/>
          </p:nvPr>
        </p:nvGraphicFramePr>
        <p:xfrm>
          <a:off x="88573" y="502766"/>
          <a:ext cx="6054135" cy="2541427"/>
        </p:xfrm>
        <a:graphic>
          <a:graphicData uri="http://schemas.openxmlformats.org/drawingml/2006/table">
            <a:tbl>
              <a:tblPr firstRow="1" bandRow="1">
                <a:tableStyleId>{7DF18680-E054-41AD-8BC1-D1AEF772440D}</a:tableStyleId>
              </a:tblPr>
              <a:tblGrid>
                <a:gridCol w="679825">
                  <a:extLst>
                    <a:ext uri="{9D8B030D-6E8A-4147-A177-3AD203B41FA5}">
                      <a16:colId xmlns:a16="http://schemas.microsoft.com/office/drawing/2014/main" val="1598605427"/>
                    </a:ext>
                  </a:extLst>
                </a:gridCol>
                <a:gridCol w="603202">
                  <a:extLst>
                    <a:ext uri="{9D8B030D-6E8A-4147-A177-3AD203B41FA5}">
                      <a16:colId xmlns:a16="http://schemas.microsoft.com/office/drawing/2014/main" val="3845954792"/>
                    </a:ext>
                  </a:extLst>
                </a:gridCol>
                <a:gridCol w="989327">
                  <a:extLst>
                    <a:ext uri="{9D8B030D-6E8A-4147-A177-3AD203B41FA5}">
                      <a16:colId xmlns:a16="http://schemas.microsoft.com/office/drawing/2014/main" val="3803391337"/>
                    </a:ext>
                  </a:extLst>
                </a:gridCol>
                <a:gridCol w="1372873">
                  <a:extLst>
                    <a:ext uri="{9D8B030D-6E8A-4147-A177-3AD203B41FA5}">
                      <a16:colId xmlns:a16="http://schemas.microsoft.com/office/drawing/2014/main" val="2148822928"/>
                    </a:ext>
                  </a:extLst>
                </a:gridCol>
                <a:gridCol w="990600">
                  <a:extLst>
                    <a:ext uri="{9D8B030D-6E8A-4147-A177-3AD203B41FA5}">
                      <a16:colId xmlns:a16="http://schemas.microsoft.com/office/drawing/2014/main" val="1106888684"/>
                    </a:ext>
                  </a:extLst>
                </a:gridCol>
                <a:gridCol w="1418308">
                  <a:extLst>
                    <a:ext uri="{9D8B030D-6E8A-4147-A177-3AD203B41FA5}">
                      <a16:colId xmlns:a16="http://schemas.microsoft.com/office/drawing/2014/main" val="558551088"/>
                    </a:ext>
                  </a:extLst>
                </a:gridCol>
              </a:tblGrid>
              <a:tr h="449728">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a:solidFill>
                            <a:schemeClr val="bg1"/>
                          </a:solidFill>
                          <a:effectLst/>
                          <a:latin typeface="+mn-lt"/>
                        </a:rPr>
                        <a:t>Status</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32411">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T2/2026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a:solidFill>
                            <a:schemeClr val="tx1"/>
                          </a:solidFill>
                          <a:effectLst/>
                          <a:latin typeface="+mn-lt"/>
                          <a:cs typeface="Times New Roman" panose="02020603050405020304" pitchFamily="18" charset="0"/>
                        </a:rPr>
                        <a:t>Ship</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 25/08/2025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T4/2026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32411">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24/06/2025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T2/2026</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T1/2026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20/09/25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Tháo đ/c on-watch</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21/11/25</a:t>
                      </a:r>
                    </a:p>
                  </a:txBody>
                  <a:tcPr marL="12700" marR="12700" marT="12700" marB="0" anchor="ctr"/>
                </a:tc>
                <a:tc>
                  <a:txBody>
                    <a:bodyPr/>
                    <a:lstStyle/>
                    <a:p>
                      <a:pPr algn="ctr" fontAlgn="ctr"/>
                      <a:r>
                        <a:rPr lang="en-US" sz="1200" b="0" i="0" u="none" strike="noStrike">
                          <a:solidFill>
                            <a:schemeClr val="tx1"/>
                          </a:solidFill>
                          <a:effectLst/>
                          <a:latin typeface="+mn-lt"/>
                          <a:cs typeface="Times New Roman" panose="02020603050405020304" pitchFamily="18" charset="0"/>
                        </a:rPr>
                        <a:t>Trả đ/c thuê</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15/05/2025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04/09/25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Tháo đ/c on-watch</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49697906"/>
                  </a:ext>
                </a:extLst>
              </a:tr>
              <a:tr h="232411">
                <a:tc>
                  <a:txBody>
                    <a:bodyPr/>
                    <a:lstStyle/>
                    <a:p>
                      <a:pPr algn="ctr" fontAlgn="ctr"/>
                      <a:r>
                        <a:rPr lang="en-US" sz="1200" b="0" i="0" u="none" strike="noStrike">
                          <a:solidFill>
                            <a:schemeClr val="tx1"/>
                          </a:solidFill>
                          <a:effectLst/>
                          <a:latin typeface="+mn-lt"/>
                          <a:cs typeface="Times New Roman" panose="02020603050405020304" pitchFamily="18" charset="0"/>
                        </a:rPr>
                        <a:t>958435</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18/06/2025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a:t>
                      </a:r>
                      <a:r>
                        <a:rPr lang="en-US" sz="1200" b="0" u="none" strike="noStrike" baseline="0" dirty="0">
                          <a:solidFill>
                            <a:schemeClr val="tx1"/>
                          </a:solidFill>
                          <a:effectLst/>
                          <a:latin typeface="+mn-lt"/>
                          <a:cs typeface="Times New Roman" panose="02020603050405020304" pitchFamily="18" charset="0"/>
                        </a:rPr>
                        <a:t> </a:t>
                      </a:r>
                      <a:r>
                        <a:rPr lang="en-US" sz="1200" b="0" u="none" strike="noStrike" dirty="0">
                          <a:solidFill>
                            <a:schemeClr val="tx1"/>
                          </a:solidFill>
                          <a:effectLst/>
                          <a:latin typeface="+mn-lt"/>
                          <a:cs typeface="Times New Roman" panose="02020603050405020304" pitchFamily="18" charset="0"/>
                        </a:rPr>
                        <a:t>30/07/2025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dirty="0">
                          <a:solidFill>
                            <a:schemeClr val="tx1"/>
                          </a:solidFill>
                          <a:effectLst/>
                          <a:latin typeface="+mn-lt"/>
                          <a:cs typeface="Times New Roman" panose="02020603050405020304" pitchFamily="18" charset="0"/>
                        </a:rPr>
                        <a:t>12/12/25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Trả đ/c thuê</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68071698"/>
                  </a:ext>
                </a:extLst>
              </a:tr>
              <a:tr h="232411">
                <a:tc>
                  <a:txBody>
                    <a:bodyPr/>
                    <a:lstStyle/>
                    <a:p>
                      <a:pPr algn="ctr" fontAlgn="ctr"/>
                      <a:r>
                        <a:rPr lang="en-US" sz="1200" b="0" i="0" u="none" strike="noStrike">
                          <a:solidFill>
                            <a:schemeClr val="tx1"/>
                          </a:solidFill>
                          <a:effectLst/>
                          <a:latin typeface="+mn-lt"/>
                          <a:cs typeface="Times New Roman" panose="02020603050405020304" pitchFamily="18" charset="0"/>
                        </a:rPr>
                        <a:t>958438</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mn-lt"/>
                          <a:cs typeface="Times New Roman" panose="02020603050405020304" pitchFamily="18" charset="0"/>
                        </a:rPr>
                        <a:t>SGN</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20/07/2025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Induct</a:t>
                      </a:r>
                      <a:r>
                        <a:rPr lang="en-US" sz="1200" b="0" u="none" strike="noStrike" baseline="0">
                          <a:solidFill>
                            <a:schemeClr val="tx1"/>
                          </a:solidFill>
                          <a:effectLst/>
                          <a:latin typeface="+mn-lt"/>
                          <a:cs typeface="Times New Roman" panose="02020603050405020304" pitchFamily="18" charset="0"/>
                        </a:rPr>
                        <a:t> 18</a:t>
                      </a:r>
                      <a:r>
                        <a:rPr lang="en-US" sz="1200" b="0" u="none" strike="noStrike">
                          <a:solidFill>
                            <a:schemeClr val="tx1"/>
                          </a:solidFill>
                          <a:effectLst/>
                          <a:latin typeface="+mn-lt"/>
                          <a:cs typeface="Times New Roman" panose="02020603050405020304" pitchFamily="18" charset="0"/>
                        </a:rPr>
                        <a:t>/08/2025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a:solidFill>
                            <a:schemeClr val="tx1"/>
                          </a:solidFill>
                          <a:effectLst/>
                          <a:latin typeface="+mn-lt"/>
                          <a:cs typeface="Times New Roman" panose="02020603050405020304" pitchFamily="18" charset="0"/>
                        </a:rPr>
                        <a:t>T1/2026</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Trả đ/c thuê</a:t>
                      </a: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612265"/>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A9D91912-17CF-433C-B165-5E5AB289CBE4}"/>
              </a:ext>
            </a:extLst>
          </p:cNvPr>
          <p:cNvGraphicFramePr>
            <a:graphicFrameLocks noGrp="1"/>
          </p:cNvGraphicFramePr>
          <p:nvPr>
            <p:extLst/>
          </p:nvPr>
        </p:nvGraphicFramePr>
        <p:xfrm>
          <a:off x="6306496" y="4514855"/>
          <a:ext cx="5885504" cy="2227568"/>
        </p:xfrm>
        <a:graphic>
          <a:graphicData uri="http://schemas.openxmlformats.org/drawingml/2006/table">
            <a:tbl>
              <a:tblPr firstRow="1" bandRow="1">
                <a:tableStyleId>{93296810-A885-4BE3-A3E7-6D5BEEA58F35}</a:tableStyleId>
              </a:tblPr>
              <a:tblGrid>
                <a:gridCol w="459580">
                  <a:extLst>
                    <a:ext uri="{9D8B030D-6E8A-4147-A177-3AD203B41FA5}">
                      <a16:colId xmlns:a16="http://schemas.microsoft.com/office/drawing/2014/main" val="3292621586"/>
                    </a:ext>
                  </a:extLst>
                </a:gridCol>
                <a:gridCol w="919160">
                  <a:extLst>
                    <a:ext uri="{9D8B030D-6E8A-4147-A177-3AD203B41FA5}">
                      <a16:colId xmlns:a16="http://schemas.microsoft.com/office/drawing/2014/main" val="3587079032"/>
                    </a:ext>
                  </a:extLst>
                </a:gridCol>
                <a:gridCol w="612773">
                  <a:extLst>
                    <a:ext uri="{9D8B030D-6E8A-4147-A177-3AD203B41FA5}">
                      <a16:colId xmlns:a16="http://schemas.microsoft.com/office/drawing/2014/main" val="3691161886"/>
                    </a:ext>
                  </a:extLst>
                </a:gridCol>
                <a:gridCol w="1225547">
                  <a:extLst>
                    <a:ext uri="{9D8B030D-6E8A-4147-A177-3AD203B41FA5}">
                      <a16:colId xmlns:a16="http://schemas.microsoft.com/office/drawing/2014/main" val="1199058238"/>
                    </a:ext>
                  </a:extLst>
                </a:gridCol>
                <a:gridCol w="2668444">
                  <a:extLst>
                    <a:ext uri="{9D8B030D-6E8A-4147-A177-3AD203B41FA5}">
                      <a16:colId xmlns:a16="http://schemas.microsoft.com/office/drawing/2014/main" val="2279892850"/>
                    </a:ext>
                  </a:extLst>
                </a:gridCol>
              </a:tblGrid>
              <a:tr h="318224">
                <a:tc>
                  <a:txBody>
                    <a:bodyPr/>
                    <a:lstStyle/>
                    <a:p>
                      <a:endParaRPr lang="en-US" sz="1200" dirty="0"/>
                    </a:p>
                  </a:txBody>
                  <a:tcPr/>
                </a:tc>
                <a:tc>
                  <a:txBody>
                    <a:bodyPr/>
                    <a:lstStyle/>
                    <a:p>
                      <a:r>
                        <a:rPr lang="en-US" sz="1200"/>
                        <a:t>ESN</a:t>
                      </a:r>
                    </a:p>
                  </a:txBody>
                  <a:tcPr/>
                </a:tc>
                <a:tc>
                  <a:txBody>
                    <a:bodyPr/>
                    <a:lstStyle/>
                    <a:p>
                      <a:r>
                        <a:rPr lang="en-US" sz="1200"/>
                        <a:t>AC</a:t>
                      </a:r>
                    </a:p>
                  </a:txBody>
                  <a:tcPr/>
                </a:tc>
                <a:tc>
                  <a:txBody>
                    <a:bodyPr/>
                    <a:lstStyle/>
                    <a:p>
                      <a:r>
                        <a:rPr lang="en-US" sz="1200"/>
                        <a:t>Interval</a:t>
                      </a:r>
                    </a:p>
                  </a:txBody>
                  <a:tcPr/>
                </a:tc>
                <a:tc>
                  <a:txBody>
                    <a:bodyPr/>
                    <a:lstStyle/>
                    <a:p>
                      <a:r>
                        <a:rPr lang="en-US" sz="1200"/>
                        <a:t>Remark</a:t>
                      </a:r>
                    </a:p>
                  </a:txBody>
                  <a:tcPr/>
                </a:tc>
                <a:extLst>
                  <a:ext uri="{0D108BD9-81ED-4DB2-BD59-A6C34878D82A}">
                    <a16:rowId xmlns:a16="http://schemas.microsoft.com/office/drawing/2014/main" val="2389571425"/>
                  </a:ext>
                </a:extLst>
              </a:tr>
              <a:tr h="318224">
                <a:tc>
                  <a:txBody>
                    <a:bodyPr/>
                    <a:lstStyle/>
                    <a:p>
                      <a:r>
                        <a:rPr lang="en-US" sz="1200"/>
                        <a:t>1</a:t>
                      </a:r>
                    </a:p>
                  </a:txBody>
                  <a:tcPr/>
                </a:tc>
                <a:tc>
                  <a:txBody>
                    <a:bodyPr/>
                    <a:lstStyle/>
                    <a:p>
                      <a:r>
                        <a:rPr lang="en-US" sz="1200"/>
                        <a:t>956600</a:t>
                      </a:r>
                    </a:p>
                  </a:txBody>
                  <a:tcPr/>
                </a:tc>
                <a:tc>
                  <a:txBody>
                    <a:bodyPr/>
                    <a:lstStyle/>
                    <a:p>
                      <a:r>
                        <a:rPr lang="en-US" sz="1200"/>
                        <a:t>A862</a:t>
                      </a:r>
                    </a:p>
                  </a:txBody>
                  <a:tcPr/>
                </a:tc>
                <a:tc>
                  <a:txBody>
                    <a:bodyPr/>
                    <a:lstStyle/>
                    <a:p>
                      <a:r>
                        <a:rPr lang="en-US" sz="1200"/>
                        <a:t>Remove 10FC</a:t>
                      </a:r>
                    </a:p>
                  </a:txBody>
                  <a:tcPr/>
                </a:tc>
                <a:tc>
                  <a:txBody>
                    <a:bodyPr/>
                    <a:lstStyle/>
                    <a:p>
                      <a:r>
                        <a:rPr lang="en-US" sz="1200"/>
                        <a:t>Đang xin GE extend.  Có Spare ở SGN. </a:t>
                      </a:r>
                      <a:endParaRPr lang="en-US" sz="1200" dirty="0"/>
                    </a:p>
                  </a:txBody>
                  <a:tcPr/>
                </a:tc>
                <a:extLst>
                  <a:ext uri="{0D108BD9-81ED-4DB2-BD59-A6C34878D82A}">
                    <a16:rowId xmlns:a16="http://schemas.microsoft.com/office/drawing/2014/main" val="3899119871"/>
                  </a:ext>
                </a:extLst>
              </a:tr>
              <a:tr h="318224">
                <a:tc>
                  <a:txBody>
                    <a:bodyPr/>
                    <a:lstStyle/>
                    <a:p>
                      <a:r>
                        <a:rPr lang="en-US" sz="1200"/>
                        <a:t>2</a:t>
                      </a:r>
                    </a:p>
                  </a:txBody>
                  <a:tcPr/>
                </a:tc>
                <a:tc>
                  <a:txBody>
                    <a:bodyPr/>
                    <a:lstStyle/>
                    <a:p>
                      <a:r>
                        <a:rPr lang="en-US" sz="1200" dirty="0"/>
                        <a:t>958170</a:t>
                      </a:r>
                    </a:p>
                  </a:txBody>
                  <a:tcPr/>
                </a:tc>
                <a:tc>
                  <a:txBody>
                    <a:bodyPr/>
                    <a:lstStyle/>
                    <a:p>
                      <a:r>
                        <a:rPr lang="en-US" sz="1200"/>
                        <a:t>A863</a:t>
                      </a:r>
                    </a:p>
                  </a:txBody>
                  <a:tcPr/>
                </a:tc>
                <a:tc>
                  <a:txBody>
                    <a:bodyPr/>
                    <a:lstStyle/>
                    <a:p>
                      <a:r>
                        <a:rPr lang="en-US" sz="1200"/>
                        <a:t>50FC</a:t>
                      </a:r>
                    </a:p>
                  </a:txBody>
                  <a:tcPr/>
                </a:tc>
                <a:tc>
                  <a:txBody>
                    <a:bodyPr/>
                    <a:lstStyle/>
                    <a:p>
                      <a:r>
                        <a:rPr lang="en-US" sz="1200" baseline="0"/>
                        <a:t>GE đã cấp </a:t>
                      </a:r>
                      <a:r>
                        <a:rPr lang="en-US" sz="1200" baseline="0" dirty="0"/>
                        <a:t>DR </a:t>
                      </a:r>
                      <a:r>
                        <a:rPr lang="en-US" sz="1200" baseline="0" dirty="0" err="1"/>
                        <a:t>thêm</a:t>
                      </a:r>
                      <a:r>
                        <a:rPr lang="en-US" sz="1200" baseline="0" dirty="0"/>
                        <a:t> 50FC</a:t>
                      </a:r>
                      <a:r>
                        <a:rPr lang="en-US" sz="1200" baseline="0"/>
                        <a:t>. </a:t>
                      </a:r>
                      <a:endParaRPr lang="en-US" sz="1200" dirty="0"/>
                    </a:p>
                  </a:txBody>
                  <a:tcPr/>
                </a:tc>
                <a:extLst>
                  <a:ext uri="{0D108BD9-81ED-4DB2-BD59-A6C34878D82A}">
                    <a16:rowId xmlns:a16="http://schemas.microsoft.com/office/drawing/2014/main" val="3244585303"/>
                  </a:ext>
                </a:extLst>
              </a:tr>
              <a:tr h="318224">
                <a:tc>
                  <a:txBody>
                    <a:bodyPr/>
                    <a:lstStyle/>
                    <a:p>
                      <a:r>
                        <a:rPr lang="en-US" sz="1200"/>
                        <a:t>3</a:t>
                      </a:r>
                    </a:p>
                  </a:txBody>
                  <a:tcPr/>
                </a:tc>
                <a:tc>
                  <a:txBody>
                    <a:bodyPr/>
                    <a:lstStyle/>
                    <a:p>
                      <a:r>
                        <a:rPr lang="en-US" sz="1200"/>
                        <a:t>958266</a:t>
                      </a:r>
                    </a:p>
                  </a:txBody>
                  <a:tcPr/>
                </a:tc>
                <a:tc>
                  <a:txBody>
                    <a:bodyPr/>
                    <a:lstStyle/>
                    <a:p>
                      <a:r>
                        <a:rPr lang="en-US" sz="1200"/>
                        <a:t>A874</a:t>
                      </a:r>
                    </a:p>
                  </a:txBody>
                  <a:tcPr/>
                </a:tc>
                <a:tc>
                  <a:txBody>
                    <a:bodyPr/>
                    <a:lstStyle/>
                    <a:p>
                      <a:r>
                        <a:rPr lang="en-US" sz="1200"/>
                        <a:t>100FC</a:t>
                      </a:r>
                    </a:p>
                  </a:txBody>
                  <a:tcPr/>
                </a:tc>
                <a:tc>
                  <a:txBody>
                    <a:bodyPr/>
                    <a:lstStyle/>
                    <a:p>
                      <a:r>
                        <a:rPr lang="en-US" sz="1200" dirty="0"/>
                        <a:t>Thay </a:t>
                      </a:r>
                      <a:r>
                        <a:rPr lang="en-US" sz="1200" dirty="0" err="1"/>
                        <a:t>giữa</a:t>
                      </a:r>
                      <a:r>
                        <a:rPr lang="en-US" sz="1200" dirty="0"/>
                        <a:t> </a:t>
                      </a:r>
                      <a:r>
                        <a:rPr lang="en-US" sz="1200"/>
                        <a:t>T8 để trả động c</a:t>
                      </a:r>
                      <a:r>
                        <a:rPr lang="vi-VN" sz="1200"/>
                        <a:t>ơ</a:t>
                      </a:r>
                      <a:endParaRPr lang="en-US" sz="1200" dirty="0"/>
                    </a:p>
                  </a:txBody>
                  <a:tcPr/>
                </a:tc>
                <a:extLst>
                  <a:ext uri="{0D108BD9-81ED-4DB2-BD59-A6C34878D82A}">
                    <a16:rowId xmlns:a16="http://schemas.microsoft.com/office/drawing/2014/main" val="2820853633"/>
                  </a:ext>
                </a:extLst>
              </a:tr>
              <a:tr h="318224">
                <a:tc>
                  <a:txBody>
                    <a:bodyPr/>
                    <a:lstStyle/>
                    <a:p>
                      <a:r>
                        <a:rPr lang="en-US" sz="1200"/>
                        <a:t>4</a:t>
                      </a:r>
                    </a:p>
                  </a:txBody>
                  <a:tcPr/>
                </a:tc>
                <a:tc>
                  <a:txBody>
                    <a:bodyPr/>
                    <a:lstStyle/>
                    <a:p>
                      <a:r>
                        <a:rPr lang="en-US" sz="1200" dirty="0"/>
                        <a:t>958374</a:t>
                      </a:r>
                    </a:p>
                  </a:txBody>
                  <a:tcPr/>
                </a:tc>
                <a:tc>
                  <a:txBody>
                    <a:bodyPr/>
                    <a:lstStyle/>
                    <a:p>
                      <a:r>
                        <a:rPr lang="en-US" sz="1200" dirty="0"/>
                        <a:t>A861</a:t>
                      </a:r>
                    </a:p>
                  </a:txBody>
                  <a:tcPr/>
                </a:tc>
                <a:tc>
                  <a:txBody>
                    <a:bodyPr/>
                    <a:lstStyle/>
                    <a:p>
                      <a:r>
                        <a:rPr lang="en-US" sz="1200"/>
                        <a:t>100FC</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mbria"/>
                          <a:ea typeface="+mn-ea"/>
                          <a:cs typeface="+mn-cs"/>
                        </a:rPr>
                        <a:t>TBD, phụ thuộc tình trạng spare</a:t>
                      </a:r>
                      <a:endParaRPr kumimoji="0" lang="en-US" sz="1200" b="0" i="0" u="none" strike="noStrike" kern="1200" cap="none" spc="0" normalizeH="0" baseline="0" noProof="0" dirty="0">
                        <a:ln>
                          <a:noFill/>
                        </a:ln>
                        <a:solidFill>
                          <a:prstClr val="black"/>
                        </a:solidFill>
                        <a:effectLst/>
                        <a:uLnTx/>
                        <a:uFillTx/>
                        <a:latin typeface="Cambria"/>
                        <a:ea typeface="+mn-ea"/>
                        <a:cs typeface="+mn-cs"/>
                      </a:endParaRPr>
                    </a:p>
                  </a:txBody>
                  <a:tcPr/>
                </a:tc>
                <a:extLst>
                  <a:ext uri="{0D108BD9-81ED-4DB2-BD59-A6C34878D82A}">
                    <a16:rowId xmlns:a16="http://schemas.microsoft.com/office/drawing/2014/main" val="3676968406"/>
                  </a:ext>
                </a:extLst>
              </a:tr>
              <a:tr h="318224">
                <a:tc>
                  <a:txBody>
                    <a:bodyPr/>
                    <a:lstStyle/>
                    <a:p>
                      <a:r>
                        <a:rPr lang="en-US" sz="1200"/>
                        <a:t>5</a:t>
                      </a:r>
                    </a:p>
                  </a:txBody>
                  <a:tcPr/>
                </a:tc>
                <a:tc>
                  <a:txBody>
                    <a:bodyPr/>
                    <a:lstStyle/>
                    <a:p>
                      <a:r>
                        <a:rPr lang="en-US" sz="1200"/>
                        <a:t>956639</a:t>
                      </a:r>
                    </a:p>
                  </a:txBody>
                  <a:tcPr/>
                </a:tc>
                <a:tc>
                  <a:txBody>
                    <a:bodyPr/>
                    <a:lstStyle/>
                    <a:p>
                      <a:r>
                        <a:rPr lang="en-US" sz="1200"/>
                        <a:t>A865</a:t>
                      </a:r>
                    </a:p>
                  </a:txBody>
                  <a:tcPr/>
                </a:tc>
                <a:tc>
                  <a:txBody>
                    <a:bodyPr/>
                    <a:lstStyle/>
                    <a:p>
                      <a:r>
                        <a:rPr lang="en-US" sz="1200"/>
                        <a:t>250FC</a:t>
                      </a:r>
                    </a:p>
                  </a:txBody>
                  <a:tcPr/>
                </a:tc>
                <a:tc>
                  <a:txBody>
                    <a:bodyPr/>
                    <a:lstStyle/>
                    <a:p>
                      <a:r>
                        <a:rPr lang="en-US" sz="1200"/>
                        <a:t>TBD, phụ thuộc tình trạng soi và spare</a:t>
                      </a:r>
                      <a:endParaRPr lang="en-US" sz="1200" dirty="0"/>
                    </a:p>
                  </a:txBody>
                  <a:tcPr/>
                </a:tc>
                <a:extLst>
                  <a:ext uri="{0D108BD9-81ED-4DB2-BD59-A6C34878D82A}">
                    <a16:rowId xmlns:a16="http://schemas.microsoft.com/office/drawing/2014/main" val="1805137390"/>
                  </a:ext>
                </a:extLst>
              </a:tr>
              <a:tr h="318224">
                <a:tc>
                  <a:txBody>
                    <a:bodyPr/>
                    <a:lstStyle/>
                    <a:p>
                      <a:r>
                        <a:rPr lang="en-US" sz="1200"/>
                        <a:t>6</a:t>
                      </a:r>
                    </a:p>
                  </a:txBody>
                  <a:tcPr/>
                </a:tc>
                <a:tc>
                  <a:txBody>
                    <a:bodyPr/>
                    <a:lstStyle/>
                    <a:p>
                      <a:r>
                        <a:rPr lang="en-US" sz="1200" dirty="0"/>
                        <a:t>956555</a:t>
                      </a:r>
                    </a:p>
                  </a:txBody>
                  <a:tcPr/>
                </a:tc>
                <a:tc>
                  <a:txBody>
                    <a:bodyPr/>
                    <a:lstStyle/>
                    <a:p>
                      <a:r>
                        <a:rPr lang="en-US" sz="1200" dirty="0"/>
                        <a:t>A862</a:t>
                      </a:r>
                    </a:p>
                  </a:txBody>
                  <a:tcPr/>
                </a:tc>
                <a:tc>
                  <a:txBody>
                    <a:bodyPr/>
                    <a:lstStyle/>
                    <a:p>
                      <a:r>
                        <a:rPr lang="en-US" sz="1200" dirty="0"/>
                        <a:t>250FC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mbria"/>
                          <a:ea typeface="+mn-ea"/>
                          <a:cs typeface="+mn-cs"/>
                        </a:rPr>
                        <a:t>TBD, phụ thuộc tình trạng soi và spare</a:t>
                      </a:r>
                      <a:endParaRPr kumimoji="0" lang="en-US" sz="1200" b="0" i="0" u="none" strike="noStrike" kern="1200" cap="none" spc="0" normalizeH="0" baseline="0" noProof="0" dirty="0">
                        <a:ln>
                          <a:noFill/>
                        </a:ln>
                        <a:solidFill>
                          <a:prstClr val="black"/>
                        </a:solidFill>
                        <a:effectLst/>
                        <a:uLnTx/>
                        <a:uFillTx/>
                        <a:latin typeface="Cambria"/>
                        <a:ea typeface="+mn-ea"/>
                        <a:cs typeface="+mn-cs"/>
                      </a:endParaRPr>
                    </a:p>
                  </a:txBody>
                  <a:tcPr/>
                </a:tc>
                <a:extLst>
                  <a:ext uri="{0D108BD9-81ED-4DB2-BD59-A6C34878D82A}">
                    <a16:rowId xmlns:a16="http://schemas.microsoft.com/office/drawing/2014/main" val="1886295833"/>
                  </a:ext>
                </a:extLst>
              </a:tr>
            </a:tbl>
          </a:graphicData>
        </a:graphic>
      </p:graphicFrame>
      <p:graphicFrame>
        <p:nvGraphicFramePr>
          <p:cNvPr id="9" name="Table 8">
            <a:extLst>
              <a:ext uri="{FF2B5EF4-FFF2-40B4-BE49-F238E27FC236}">
                <a16:creationId xmlns:a16="http://schemas.microsoft.com/office/drawing/2014/main" id="{483CB24C-784B-49EB-9EDF-12ACC4AD5110}"/>
              </a:ext>
            </a:extLst>
          </p:cNvPr>
          <p:cNvGraphicFramePr>
            <a:graphicFrameLocks noGrp="1"/>
          </p:cNvGraphicFramePr>
          <p:nvPr>
            <p:extLst/>
          </p:nvPr>
        </p:nvGraphicFramePr>
        <p:xfrm>
          <a:off x="64957" y="4969745"/>
          <a:ext cx="6054135" cy="2068122"/>
        </p:xfrm>
        <a:graphic>
          <a:graphicData uri="http://schemas.openxmlformats.org/drawingml/2006/table">
            <a:tbl>
              <a:tblPr firstRow="1" bandRow="1">
                <a:tableStyleId>{21E4AEA4-8DFA-4A89-87EB-49C32662AFE0}</a:tableStyleId>
              </a:tblPr>
              <a:tblGrid>
                <a:gridCol w="773243">
                  <a:extLst>
                    <a:ext uri="{9D8B030D-6E8A-4147-A177-3AD203B41FA5}">
                      <a16:colId xmlns:a16="http://schemas.microsoft.com/office/drawing/2014/main" val="3587079032"/>
                    </a:ext>
                  </a:extLst>
                </a:gridCol>
                <a:gridCol w="736164">
                  <a:extLst>
                    <a:ext uri="{9D8B030D-6E8A-4147-A177-3AD203B41FA5}">
                      <a16:colId xmlns:a16="http://schemas.microsoft.com/office/drawing/2014/main" val="3691161886"/>
                    </a:ext>
                  </a:extLst>
                </a:gridCol>
                <a:gridCol w="4544728">
                  <a:extLst>
                    <a:ext uri="{9D8B030D-6E8A-4147-A177-3AD203B41FA5}">
                      <a16:colId xmlns:a16="http://schemas.microsoft.com/office/drawing/2014/main" val="1199058238"/>
                    </a:ext>
                  </a:extLst>
                </a:gridCol>
              </a:tblGrid>
              <a:tr h="295446">
                <a:tc>
                  <a:txBody>
                    <a:bodyPr/>
                    <a:lstStyle/>
                    <a:p>
                      <a:pPr algn="ctr"/>
                      <a:r>
                        <a:rPr lang="en-US" sz="1200"/>
                        <a:t>ESN</a:t>
                      </a:r>
                    </a:p>
                  </a:txBody>
                  <a:tcPr/>
                </a:tc>
                <a:tc>
                  <a:txBody>
                    <a:bodyPr/>
                    <a:lstStyle/>
                    <a:p>
                      <a:pPr algn="ctr"/>
                      <a:r>
                        <a:rPr lang="en-US" sz="1200"/>
                        <a:t>AC</a:t>
                      </a:r>
                    </a:p>
                  </a:txBody>
                  <a:tcPr/>
                </a:tc>
                <a:tc>
                  <a:txBody>
                    <a:bodyPr/>
                    <a:lstStyle/>
                    <a:p>
                      <a:pPr algn="ctr"/>
                      <a:r>
                        <a:rPr lang="en-US" sz="1200"/>
                        <a:t>Kế hoạch thay động c</a:t>
                      </a:r>
                      <a:r>
                        <a:rPr lang="vi-VN" sz="1200"/>
                        <a:t>ơ</a:t>
                      </a:r>
                      <a:r>
                        <a:rPr lang="en-US" sz="1200"/>
                        <a:t> sắp tới</a:t>
                      </a:r>
                    </a:p>
                  </a:txBody>
                  <a:tcPr/>
                </a:tc>
                <a:extLst>
                  <a:ext uri="{0D108BD9-81ED-4DB2-BD59-A6C34878D82A}">
                    <a16:rowId xmlns:a16="http://schemas.microsoft.com/office/drawing/2014/main" val="2389571425"/>
                  </a:ext>
                </a:extLst>
              </a:tr>
              <a:tr h="295446">
                <a:tc>
                  <a:txBody>
                    <a:bodyPr/>
                    <a:lstStyle/>
                    <a:p>
                      <a:r>
                        <a:rPr lang="en-US" sz="1200"/>
                        <a:t>956600</a:t>
                      </a:r>
                    </a:p>
                  </a:txBody>
                  <a:tcPr/>
                </a:tc>
                <a:tc>
                  <a:txBody>
                    <a:bodyPr/>
                    <a:lstStyle/>
                    <a:p>
                      <a:r>
                        <a:rPr lang="en-US" sz="1200"/>
                        <a:t>A862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T8. Thay bằng động c</a:t>
                      </a:r>
                      <a:r>
                        <a:rPr lang="vi-VN" sz="1200"/>
                        <a:t>ơ</a:t>
                      </a:r>
                      <a:r>
                        <a:rPr lang="en-US" sz="1200"/>
                        <a:t> 956599 đã về (nếu không đ</a:t>
                      </a:r>
                      <a:r>
                        <a:rPr lang="vi-VN" sz="1200"/>
                        <a:t>ư</a:t>
                      </a:r>
                      <a:r>
                        <a:rPr lang="en-US" sz="1200"/>
                        <a:t>ợc extend)</a:t>
                      </a:r>
                    </a:p>
                  </a:txBody>
                  <a:tcPr/>
                </a:tc>
                <a:extLst>
                  <a:ext uri="{0D108BD9-81ED-4DB2-BD59-A6C34878D82A}">
                    <a16:rowId xmlns:a16="http://schemas.microsoft.com/office/drawing/2014/main" val="3899119871"/>
                  </a:ext>
                </a:extLst>
              </a:tr>
              <a:tr h="295446">
                <a:tc>
                  <a:txBody>
                    <a:bodyPr/>
                    <a:lstStyle/>
                    <a:p>
                      <a:r>
                        <a:rPr lang="en-US" sz="1200"/>
                        <a:t>958266</a:t>
                      </a:r>
                      <a:endParaRPr lang="en-US" sz="1200" dirty="0"/>
                    </a:p>
                  </a:txBody>
                  <a:tcPr/>
                </a:tc>
                <a:tc>
                  <a:txBody>
                    <a:bodyPr/>
                    <a:lstStyle/>
                    <a:p>
                      <a:r>
                        <a:rPr lang="en-US" sz="1200"/>
                        <a:t>A874</a:t>
                      </a:r>
                    </a:p>
                  </a:txBody>
                  <a:tcPr/>
                </a:tc>
                <a:tc>
                  <a:txBody>
                    <a:bodyPr/>
                    <a:lstStyle/>
                    <a:p>
                      <a:r>
                        <a:rPr lang="en-US" sz="1200"/>
                        <a:t>17/08. Thay bằng động c</a:t>
                      </a:r>
                      <a:r>
                        <a:rPr lang="vi-VN" sz="1200"/>
                        <a:t>ơ</a:t>
                      </a:r>
                      <a:r>
                        <a:rPr lang="en-US" sz="1200"/>
                        <a:t> 956677 của Aercap để trả động c</a:t>
                      </a:r>
                      <a:r>
                        <a:rPr lang="vi-VN" sz="1200"/>
                        <a:t>ơ</a:t>
                      </a:r>
                      <a:r>
                        <a:rPr lang="en-US" sz="1200"/>
                        <a:t> thuê</a:t>
                      </a:r>
                    </a:p>
                  </a:txBody>
                  <a:tcPr/>
                </a:tc>
                <a:extLst>
                  <a:ext uri="{0D108BD9-81ED-4DB2-BD59-A6C34878D82A}">
                    <a16:rowId xmlns:a16="http://schemas.microsoft.com/office/drawing/2014/main" val="3244585303"/>
                  </a:ext>
                </a:extLst>
              </a:tr>
              <a:tr h="295446">
                <a:tc>
                  <a:txBody>
                    <a:bodyPr/>
                    <a:lstStyle/>
                    <a:p>
                      <a:r>
                        <a:rPr lang="en-US" sz="1200"/>
                        <a:t>958170</a:t>
                      </a:r>
                    </a:p>
                  </a:txBody>
                  <a:tcPr/>
                </a:tc>
                <a:tc>
                  <a:txBody>
                    <a:bodyPr/>
                    <a:lstStyle/>
                    <a:p>
                      <a:r>
                        <a:rPr lang="en-US" sz="1200"/>
                        <a:t>A863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T9: Thay bằng spare 958395 đi shop về đầu T9</a:t>
                      </a:r>
                    </a:p>
                  </a:txBody>
                  <a:tcPr/>
                </a:tc>
                <a:extLst>
                  <a:ext uri="{0D108BD9-81ED-4DB2-BD59-A6C34878D82A}">
                    <a16:rowId xmlns:a16="http://schemas.microsoft.com/office/drawing/2014/main" val="2820853633"/>
                  </a:ext>
                </a:extLst>
              </a:tr>
              <a:tr h="295446">
                <a:tc>
                  <a:txBody>
                    <a:bodyPr/>
                    <a:lstStyle/>
                    <a:p>
                      <a:r>
                        <a:rPr lang="en-US" sz="1200"/>
                        <a:t>958374</a:t>
                      </a:r>
                    </a:p>
                  </a:txBody>
                  <a:tcPr/>
                </a:tc>
                <a:tc>
                  <a:txBody>
                    <a:bodyPr/>
                    <a:lstStyle/>
                    <a:p>
                      <a:r>
                        <a:rPr lang="en-US" sz="1200"/>
                        <a:t>A861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T10: On-watch, gửi đi sửa chữa</a:t>
                      </a:r>
                    </a:p>
                  </a:txBody>
                  <a:tcPr/>
                </a:tc>
                <a:extLst>
                  <a:ext uri="{0D108BD9-81ED-4DB2-BD59-A6C34878D82A}">
                    <a16:rowId xmlns:a16="http://schemas.microsoft.com/office/drawing/2014/main" val="3229904371"/>
                  </a:ext>
                </a:extLst>
              </a:tr>
              <a:tr h="295446">
                <a:tc>
                  <a:txBody>
                    <a:bodyPr/>
                    <a:lstStyle/>
                    <a:p>
                      <a:r>
                        <a:rPr lang="en-US" sz="1200"/>
                        <a:t>956626</a:t>
                      </a:r>
                    </a:p>
                  </a:txBody>
                  <a:tcPr/>
                </a:tc>
                <a:tc>
                  <a:txBody>
                    <a:bodyPr/>
                    <a:lstStyle/>
                    <a:p>
                      <a:r>
                        <a:rPr lang="en-US" sz="1200"/>
                        <a:t>A871</a:t>
                      </a:r>
                    </a:p>
                  </a:txBody>
                  <a:tcPr/>
                </a:tc>
                <a:tc>
                  <a:txBody>
                    <a:bodyPr/>
                    <a:lstStyle/>
                    <a:p>
                      <a:r>
                        <a:rPr lang="en-US" sz="1200"/>
                        <a:t>T11: trả động c</a:t>
                      </a:r>
                      <a:r>
                        <a:rPr lang="vi-VN" sz="1200"/>
                        <a:t>ơ</a:t>
                      </a:r>
                      <a:r>
                        <a:rPr lang="en-US" sz="1200"/>
                        <a:t> thuê</a:t>
                      </a:r>
                      <a:endParaRPr lang="en-US" sz="1200" dirty="0"/>
                    </a:p>
                  </a:txBody>
                  <a:tcPr/>
                </a:tc>
                <a:extLst>
                  <a:ext uri="{0D108BD9-81ED-4DB2-BD59-A6C34878D82A}">
                    <a16:rowId xmlns:a16="http://schemas.microsoft.com/office/drawing/2014/main" val="3676968406"/>
                  </a:ext>
                </a:extLst>
              </a:tr>
              <a:tr h="295446">
                <a:tc>
                  <a:txBody>
                    <a:bodyPr/>
                    <a:lstStyle/>
                    <a:p>
                      <a:r>
                        <a:rPr lang="en-US" sz="1200"/>
                        <a:t>956933</a:t>
                      </a:r>
                      <a:endParaRPr lang="en-US" sz="1200" dirty="0"/>
                    </a:p>
                  </a:txBody>
                  <a:tcPr/>
                </a:tc>
                <a:tc>
                  <a:txBody>
                    <a:bodyPr/>
                    <a:lstStyle/>
                    <a:p>
                      <a:r>
                        <a:rPr lang="en-US" sz="1200"/>
                        <a:t>A872</a:t>
                      </a:r>
                      <a:endParaRPr lang="en-US" sz="1200" dirty="0"/>
                    </a:p>
                  </a:txBody>
                  <a:tcPr/>
                </a:tc>
                <a:tc>
                  <a:txBody>
                    <a:bodyPr/>
                    <a:lstStyle/>
                    <a:p>
                      <a:r>
                        <a:rPr lang="en-US" sz="1200"/>
                        <a:t>T11: trả động c</a:t>
                      </a:r>
                      <a:r>
                        <a:rPr lang="vi-VN" sz="1200"/>
                        <a:t>ơ</a:t>
                      </a:r>
                      <a:r>
                        <a:rPr lang="en-US" sz="1200"/>
                        <a:t> thuê</a:t>
                      </a:r>
                      <a:endParaRPr lang="en-US" sz="1200" dirty="0"/>
                    </a:p>
                  </a:txBody>
                  <a:tcPr/>
                </a:tc>
                <a:extLst>
                  <a:ext uri="{0D108BD9-81ED-4DB2-BD59-A6C34878D82A}">
                    <a16:rowId xmlns:a16="http://schemas.microsoft.com/office/drawing/2014/main" val="1805137390"/>
                  </a:ext>
                </a:extLst>
              </a:tr>
            </a:tbl>
          </a:graphicData>
        </a:graphic>
      </p:graphicFrame>
    </p:spTree>
    <p:extLst>
      <p:ext uri="{BB962C8B-B14F-4D97-AF65-F5344CB8AC3E}">
        <p14:creationId xmlns:p14="http://schemas.microsoft.com/office/powerpoint/2010/main" val="2422528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extLst/>
          </p:nvPr>
        </p:nvGraphicFramePr>
        <p:xfrm>
          <a:off x="151306" y="707662"/>
          <a:ext cx="5765456" cy="3064965"/>
        </p:xfrm>
        <a:graphic>
          <a:graphicData uri="http://schemas.openxmlformats.org/drawingml/2006/table">
            <a:tbl>
              <a:tblPr firstRow="1" bandRow="1">
                <a:tableStyleId>{5C22544A-7EE6-4342-B048-85BDC9FD1C3A}</a:tableStyleId>
              </a:tblPr>
              <a:tblGrid>
                <a:gridCol w="657752">
                  <a:extLst>
                    <a:ext uri="{9D8B030D-6E8A-4147-A177-3AD203B41FA5}">
                      <a16:colId xmlns:a16="http://schemas.microsoft.com/office/drawing/2014/main" val="1930757539"/>
                    </a:ext>
                  </a:extLst>
                </a:gridCol>
                <a:gridCol w="656705">
                  <a:extLst>
                    <a:ext uri="{9D8B030D-6E8A-4147-A177-3AD203B41FA5}">
                      <a16:colId xmlns:a16="http://schemas.microsoft.com/office/drawing/2014/main" val="1674463010"/>
                    </a:ext>
                  </a:extLst>
                </a:gridCol>
                <a:gridCol w="591637">
                  <a:extLst>
                    <a:ext uri="{9D8B030D-6E8A-4147-A177-3AD203B41FA5}">
                      <a16:colId xmlns:a16="http://schemas.microsoft.com/office/drawing/2014/main" val="1549944897"/>
                    </a:ext>
                  </a:extLst>
                </a:gridCol>
                <a:gridCol w="2057400">
                  <a:extLst>
                    <a:ext uri="{9D8B030D-6E8A-4147-A177-3AD203B41FA5}">
                      <a16:colId xmlns:a16="http://schemas.microsoft.com/office/drawing/2014/main" val="3687717734"/>
                    </a:ext>
                  </a:extLst>
                </a:gridCol>
                <a:gridCol w="1801962">
                  <a:extLst>
                    <a:ext uri="{9D8B030D-6E8A-4147-A177-3AD203B41FA5}">
                      <a16:colId xmlns:a16="http://schemas.microsoft.com/office/drawing/2014/main" val="2727922721"/>
                    </a:ext>
                  </a:extLst>
                </a:gridCol>
              </a:tblGrid>
              <a:tr h="455078">
                <a:tc>
                  <a:txBody>
                    <a:bodyPr/>
                    <a:lstStyle/>
                    <a:p>
                      <a:pPr algn="ct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100" dirty="0">
                          <a:latin typeface="Times New Roman" panose="02020603050405020304" pitchFamily="18" charset="0"/>
                          <a:cs typeface="Times New Roman" panose="02020603050405020304" pitchFamily="18" charset="0"/>
                        </a:rPr>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a:latin typeface="Times New Roman" panose="02020603050405020304" pitchFamily="18" charset="0"/>
                          <a:cs typeface="Times New Roman" panose="02020603050405020304" pitchFamily="18" charset="0"/>
                        </a:rPr>
                        <a:t>TAT</a:t>
                      </a:r>
                    </a:p>
                  </a:txBody>
                  <a:tcPr marL="121920" marR="121920" marT="60960" marB="60960" anchor="ct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err="1">
                          <a:latin typeface="Times New Roman" panose="02020603050405020304" pitchFamily="18" charset="0"/>
                          <a:cs typeface="Times New Roman" panose="02020603050405020304" pitchFamily="18" charset="0"/>
                        </a:rPr>
                        <a:t>Kế</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hoạch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sử</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333724">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21043</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257</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latin typeface="Times New Roman" panose="02020603050405020304" pitchFamily="18" charset="0"/>
                          <a:cs typeface="Times New Roman" panose="02020603050405020304" pitchFamily="18" charset="0"/>
                        </a:rPr>
                        <a:t>05/08/2025</a:t>
                      </a:r>
                    </a:p>
                    <a:p>
                      <a:pPr algn="l"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a:t>
                      </a:r>
                      <a:r>
                        <a:rPr lang="en-US" sz="1100" b="0" u="none" strike="noStrike" dirty="0" err="1">
                          <a:solidFill>
                            <a:schemeClr val="tx1"/>
                          </a:solidFill>
                          <a:effectLst/>
                          <a:latin typeface="Times New Roman" panose="02020603050405020304" pitchFamily="18" charset="0"/>
                          <a:cs typeface="Times New Roman" panose="02020603050405020304" pitchFamily="18" charset="0"/>
                        </a:rPr>
                        <a:t>tổng</a:t>
                      </a:r>
                      <a:r>
                        <a:rPr lang="en-US" sz="1100" b="0" u="none" strike="noStrike" dirty="0">
                          <a:solidFill>
                            <a:schemeClr val="tx1"/>
                          </a:solidFill>
                          <a:effectLst/>
                          <a:latin typeface="Times New Roman" panose="02020603050405020304" pitchFamily="18" charset="0"/>
                          <a:cs typeface="Times New Roman" panose="02020603050405020304" pitchFamily="18" charset="0"/>
                        </a:rPr>
                        <a:t> TAT delay 57 </a:t>
                      </a:r>
                      <a:r>
                        <a:rPr lang="en-US" sz="1100" b="0" u="none" strike="noStrike" dirty="0" err="1">
                          <a:solidFill>
                            <a:schemeClr val="tx1"/>
                          </a:solidFill>
                          <a:effectLst/>
                          <a:latin typeface="Times New Roman" panose="02020603050405020304" pitchFamily="18" charset="0"/>
                          <a:cs typeface="Times New Roman" panose="02020603050405020304" pitchFamily="18" charset="0"/>
                        </a:rPr>
                        <a:t>ngày</a:t>
                      </a:r>
                      <a:r>
                        <a:rPr lang="en-GB" sz="1100" b="0" u="none" strike="noStrike" dirty="0">
                          <a:solidFill>
                            <a:schemeClr val="tx1"/>
                          </a:solidFill>
                          <a:effectLst/>
                          <a:latin typeface="Times New Roman" panose="02020603050405020304" pitchFamily="18" charset="0"/>
                          <a:cs typeface="Times New Roman" panose="02020603050405020304" pitchFamily="18" charset="0"/>
                        </a:rPr>
                        <a:t>)</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l"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A898 (21268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đến</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hạn</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kiểm</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tra</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LPT)</a:t>
                      </a:r>
                    </a:p>
                  </a:txBody>
                  <a:tcPr marL="0" marR="0" marT="0" marB="0" anchor="ctr"/>
                </a:tc>
                <a:extLst>
                  <a:ext uri="{0D108BD9-81ED-4DB2-BD59-A6C34878D82A}">
                    <a16:rowId xmlns:a16="http://schemas.microsoft.com/office/drawing/2014/main" val="3135666374"/>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21414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134</a:t>
                      </a: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26/08/2025</a:t>
                      </a:r>
                    </a:p>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latin typeface="Times New Roman" panose="02020603050405020304" pitchFamily="18" charset="0"/>
                          <a:cs typeface="Times New Roman" panose="02020603050405020304" pitchFamily="18" charset="0"/>
                        </a:rPr>
                        <a:t>(delay 2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so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với</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tuần</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trước</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a:solidFill>
                            <a:srgbClr val="FF0000"/>
                          </a:solidFill>
                          <a:effectLst/>
                          <a:latin typeface="Times New Roman" panose="02020603050405020304" pitchFamily="18" charset="0"/>
                          <a:cs typeface="Times New Roman" panose="02020603050405020304" pitchFamily="18" charset="0"/>
                        </a:rPr>
                        <a:t>TAT delay 26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A894 (21346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đến</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hạn</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kiểm</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tra</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LPT)</a:t>
                      </a:r>
                    </a:p>
                  </a:txBody>
                  <a:tcPr marL="0" marR="0" marT="0" marB="0" anchor="ctr"/>
                </a:tc>
                <a:extLst>
                  <a:ext uri="{0D108BD9-81ED-4DB2-BD59-A6C34878D82A}">
                    <a16:rowId xmlns:a16="http://schemas.microsoft.com/office/drawing/2014/main" val="587742417"/>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21137</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247</a:t>
                      </a: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07/09/2025</a:t>
                      </a:r>
                    </a:p>
                    <a:p>
                      <a:pPr algn="l" fontAlgn="ctr"/>
                      <a:r>
                        <a:rPr lang="en-GB" sz="1100" b="0" u="none" strike="noStrike" dirty="0">
                          <a:solidFill>
                            <a:srgbClr val="FF0000"/>
                          </a:solidFill>
                          <a:effectLst/>
                          <a:latin typeface="Times New Roman" panose="02020603050405020304" pitchFamily="18" charset="0"/>
                          <a:cs typeface="Times New Roman" panose="02020603050405020304" pitchFamily="18" charset="0"/>
                        </a:rPr>
                        <a:t>(delay 10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so v</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ới</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tuần</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tr</a:t>
                      </a:r>
                      <a:r>
                        <a:rPr lang="vi-VN" sz="1100" b="0" u="none" strike="noStrike" dirty="0">
                          <a:solidFill>
                            <a:srgbClr val="FF0000"/>
                          </a:solidFill>
                          <a:effectLst/>
                          <a:latin typeface="Times New Roman" panose="02020603050405020304" pitchFamily="18" charset="0"/>
                          <a:cs typeface="Times New Roman" panose="02020603050405020304" pitchFamily="18" charset="0"/>
                        </a:rPr>
                        <a:t>ư</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ớc</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TAT delay 68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l" fontAlgn="ct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A895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cs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34618264"/>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21604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134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10/09/2025</a:t>
                      </a:r>
                    </a:p>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TAT delay 33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A895(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cs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245775366"/>
                  </a:ext>
                </a:extLst>
              </a:tr>
              <a:tr h="186273">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21048</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190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08/11/2025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2430177177"/>
                  </a:ext>
                </a:extLst>
              </a:tr>
              <a:tr h="186273">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21024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190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01/12/2025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2287308911"/>
                  </a:ext>
                </a:extLst>
              </a:tr>
              <a:tr h="186273">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21035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HAESL</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120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02/12/2025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1533439476"/>
                  </a:ext>
                </a:extLst>
              </a:tr>
              <a:tr h="186273">
                <a:tc>
                  <a:txBody>
                    <a:bodyPr/>
                    <a:lstStyle/>
                    <a:p>
                      <a:pPr algn="ctr" fontAlgn="ctr"/>
                      <a:r>
                        <a:rPr lang="en-GB" sz="1100" b="0" i="0" u="none" strike="noStrike">
                          <a:solidFill>
                            <a:schemeClr val="tx1"/>
                          </a:solidFill>
                          <a:effectLst/>
                          <a:latin typeface="Times New Roman" panose="02020603050405020304" pitchFamily="18" charset="0"/>
                          <a:cs typeface="Times New Roman" panose="02020603050405020304" pitchFamily="18" charset="0"/>
                        </a:rPr>
                        <a:t>21425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3223524369"/>
                  </a:ext>
                </a:extLst>
              </a:tr>
              <a:tr h="186273">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21418</a:t>
                      </a:r>
                    </a:p>
                  </a:txBody>
                  <a:tcPr marL="0" marR="0" marT="0" marB="0" anchor="ctr"/>
                </a:tc>
                <a:tc>
                  <a:txBody>
                    <a:bodyPr/>
                    <a:lstStyle/>
                    <a:p>
                      <a:pPr algn="ctr" fontAlgn="ct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3946219434"/>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chờ</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do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thiếu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extLst/>
          </p:nvPr>
        </p:nvGraphicFramePr>
        <p:xfrm>
          <a:off x="148809" y="6182077"/>
          <a:ext cx="5765457" cy="57912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đủ</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vào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T9)</a:t>
                      </a: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126610" y="5812745"/>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(01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extLst/>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112" y="842032"/>
            <a:ext cx="5909513"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200" dirty="0">
                <a:solidFill>
                  <a:prstClr val="black"/>
                </a:solidFill>
                <a:latin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200" dirty="0">
                <a:solidFill>
                  <a:prstClr val="black"/>
                </a:solidFill>
                <a:latin typeface="Times New Roman" panose="02020603050405020304" pitchFamily="18" charset="0"/>
                <a:cs typeface="Times New Roman" panose="02020603050405020304" pitchFamily="18" charset="0"/>
              </a:rPr>
              <a:t>(</a:t>
            </a:r>
            <a:r>
              <a:rPr lang="en-US" sz="1200" dirty="0" err="1">
                <a:solidFill>
                  <a:prstClr val="black"/>
                </a:solidFill>
                <a:latin typeface="Times New Roman" panose="02020603050405020304" pitchFamily="18" charset="0"/>
                <a:cs typeface="Times New Roman" panose="02020603050405020304" pitchFamily="18" charset="0"/>
              </a:rPr>
              <a:t>A898</a:t>
            </a:r>
            <a:r>
              <a:rPr lang="en-US" sz="1200" dirty="0">
                <a:solidFill>
                  <a:prstClr val="black"/>
                </a:solidFill>
                <a:latin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A894</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A895</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gây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phải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giờ</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tháo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ngoài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Blade (A889#1 21088 </a:t>
            </a:r>
            <a:r>
              <a:rPr lang="en-US" sz="1200" dirty="0">
                <a:solidFill>
                  <a:prstClr val="black"/>
                </a:solidFill>
                <a:latin typeface="Times New Roman" panose="02020603050405020304" pitchFamily="18" charset="0"/>
                <a:cs typeface="Times New Roman" panose="02020603050405020304" pitchFamily="18" charset="0"/>
              </a:rPr>
              <a:t>100</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FC</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A898#2 21268 </a:t>
            </a:r>
            <a:r>
              <a:rPr lang="en-US" sz="1200" dirty="0">
                <a:solidFill>
                  <a:prstClr val="black"/>
                </a:solidFill>
                <a:latin typeface="Times New Roman" panose="02020603050405020304" pitchFamily="18" charset="0"/>
                <a:cs typeface="Times New Roman" panose="02020603050405020304" pitchFamily="18" charset="0"/>
              </a:rPr>
              <a:t>25</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FC);</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Crack IPC (A898#2 21268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A894#1 21317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crack soi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suất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100FC, A889#1 21088 interval 200FC);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High Oil Consumption (A887#2 21369); Oil Hiding (A889#2 21034, A888#1 21052)</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9870" y="335369"/>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 name="Rectangle 5">
            <a:extLst>
              <a:ext uri="{FF2B5EF4-FFF2-40B4-BE49-F238E27FC236}">
                <a16:creationId xmlns:a16="http://schemas.microsoft.com/office/drawing/2014/main" id="{2BA759F6-D850-4EB4-AD1E-1FF6AF20FC2A}"/>
              </a:ext>
            </a:extLst>
          </p:cNvPr>
          <p:cNvSpPr/>
          <p:nvPr/>
        </p:nvSpPr>
        <p:spPr>
          <a:xfrm>
            <a:off x="6934200" y="5743545"/>
            <a:ext cx="2971800" cy="400110"/>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T8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và</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T9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tăng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thành</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02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tàu</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AOG </a:t>
            </a:r>
            <a:r>
              <a:rPr lang="en-US" sz="1000" i="1" dirty="0" err="1">
                <a:solidFill>
                  <a:srgbClr val="FF0000"/>
                </a:solidFill>
                <a:latin typeface="Times New Roman" panose="02020603050405020304" pitchFamily="18" charset="0"/>
                <a:cs typeface="Times New Roman" panose="02020603050405020304" pitchFamily="18" charset="0"/>
              </a:rPr>
              <a:t>từ</a:t>
            </a:r>
            <a:r>
              <a:rPr lang="en-US" sz="1000" i="1" dirty="0">
                <a:solidFill>
                  <a:srgbClr val="FF0000"/>
                </a:solidFill>
                <a:latin typeface="Times New Roman" panose="02020603050405020304" pitchFamily="18" charset="0"/>
                <a:cs typeface="Times New Roman" panose="02020603050405020304" pitchFamily="18" charset="0"/>
              </a:rPr>
              <a:t> 07/08 </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do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21414, 21604, 21137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lang="en-US" sz="1000" i="1" dirty="0">
                <a:solidFill>
                  <a:srgbClr val="FF0000"/>
                </a:solidFill>
                <a:latin typeface="Times New Roman" panose="02020603050405020304" pitchFamily="18" charset="0"/>
                <a:cs typeface="Times New Roman" panose="02020603050405020304" pitchFamily="18" charset="0"/>
              </a:rPr>
              <a:t>.</a:t>
            </a:r>
            <a:endParaRPr kumimoji="0" lang="en-GB"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77D4BF57-1C59-4961-BDE7-C3F8E37C5EBD}"/>
              </a:ext>
            </a:extLst>
          </p:cNvPr>
          <p:cNvGraphicFramePr>
            <a:graphicFrameLocks noGrp="1"/>
          </p:cNvGraphicFramePr>
          <p:nvPr>
            <p:extLst/>
          </p:nvPr>
        </p:nvGraphicFramePr>
        <p:xfrm>
          <a:off x="148809" y="4138171"/>
          <a:ext cx="5765457" cy="1727400"/>
        </p:xfrm>
        <a:graphic>
          <a:graphicData uri="http://schemas.openxmlformats.org/drawingml/2006/table">
            <a:tbl>
              <a:tblPr firstRow="1" bandRow="1">
                <a:tableStyleId>{21E4AEA4-8DFA-4A89-87EB-49C32662AFE0}</a:tableStyleId>
              </a:tblPr>
              <a:tblGrid>
                <a:gridCol w="865200">
                  <a:extLst>
                    <a:ext uri="{9D8B030D-6E8A-4147-A177-3AD203B41FA5}">
                      <a16:colId xmlns:a16="http://schemas.microsoft.com/office/drawing/2014/main" val="1930757539"/>
                    </a:ext>
                  </a:extLst>
                </a:gridCol>
                <a:gridCol w="1377500">
                  <a:extLst>
                    <a:ext uri="{9D8B030D-6E8A-4147-A177-3AD203B41FA5}">
                      <a16:colId xmlns:a16="http://schemas.microsoft.com/office/drawing/2014/main" val="1674463010"/>
                    </a:ext>
                  </a:extLst>
                </a:gridCol>
                <a:gridCol w="3522757">
                  <a:extLst>
                    <a:ext uri="{9D8B030D-6E8A-4147-A177-3AD203B41FA5}">
                      <a16:colId xmlns:a16="http://schemas.microsoft.com/office/drawing/2014/main" val="3226218833"/>
                    </a:ext>
                  </a:extLst>
                </a:gridCol>
              </a:tblGrid>
              <a:tr h="0">
                <a:tc>
                  <a:txBody>
                    <a:bodyPr/>
                    <a:lstStyle/>
                    <a:p>
                      <a:r>
                        <a:rPr lang="en-US" sz="1100">
                          <a:latin typeface="Times New Roman" panose="02020603050405020304" pitchFamily="18" charset="0"/>
                          <a:cs typeface="Times New Roman" panose="02020603050405020304" pitchFamily="18" charset="0"/>
                        </a:rPr>
                        <a:t>Động c</a:t>
                      </a:r>
                      <a:r>
                        <a:rPr lang="vi-VN" sz="110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t>Vị trí</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latin typeface="Times New Roman" panose="02020603050405020304" pitchFamily="18" charset="0"/>
                          <a:cs typeface="Times New Roman" panose="02020603050405020304" pitchFamily="18" charset="0"/>
                        </a:rPr>
                        <a:t>KH tháo</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21268</a:t>
                      </a:r>
                      <a:endParaRPr lang="en-US" sz="1100" b="1"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A898</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T8</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~15FC</a:t>
                      </a:r>
                    </a:p>
                  </a:txBody>
                  <a:tcPr marL="36000" marR="36000" marT="36000" marB="36000" anchor="ctr"/>
                </a:tc>
                <a:extLst>
                  <a:ext uri="{0D108BD9-81ED-4DB2-BD59-A6C34878D82A}">
                    <a16:rowId xmlns:a16="http://schemas.microsoft.com/office/drawing/2014/main" val="3218884716"/>
                  </a:ext>
                </a:extLst>
              </a:tr>
              <a:tr h="0">
                <a:tc>
                  <a:txBody>
                    <a:bodyPr/>
                    <a:lstStyle/>
                    <a:p>
                      <a:r>
                        <a:rPr lang="en-US" sz="1100" b="0">
                          <a:latin typeface="Times New Roman" panose="02020603050405020304" pitchFamily="18" charset="0"/>
                          <a:cs typeface="Times New Roman" panose="02020603050405020304" pitchFamily="18" charset="0"/>
                        </a:rPr>
                        <a:t>21346</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T8</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~23FC</a:t>
                      </a:r>
                    </a:p>
                  </a:txBody>
                  <a:tcPr marL="36000" marR="36000" marT="36000" marB="36000" anchor="ctr"/>
                </a:tc>
                <a:extLst>
                  <a:ext uri="{0D108BD9-81ED-4DB2-BD59-A6C34878D82A}">
                    <a16:rowId xmlns:a16="http://schemas.microsoft.com/office/drawing/2014/main" val="2115461348"/>
                  </a:ext>
                </a:extLst>
              </a:tr>
              <a:tr h="0">
                <a:tc>
                  <a:txBody>
                    <a:bodyPr/>
                    <a:lstStyle/>
                    <a:p>
                      <a:r>
                        <a:rPr lang="en-US" sz="1100" b="0">
                          <a:latin typeface="Times New Roman" panose="02020603050405020304" pitchFamily="18" charset="0"/>
                          <a:cs typeface="Times New Roman" panose="02020603050405020304" pitchFamily="18" charset="0"/>
                        </a:rPr>
                        <a:t>21317</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T9.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~88FC (+</a:t>
                      </a:r>
                      <a:r>
                        <a:rPr lang="en-US" sz="1100" dirty="0" err="1">
                          <a:latin typeface="Times New Roman" panose="02020603050405020304" pitchFamily="18" charset="0"/>
                          <a:cs typeface="Times New Roman" panose="02020603050405020304" pitchFamily="18" charset="0"/>
                        </a:rPr>
                        <a:t>thời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gian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tàu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chờ</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thay</a:t>
                      </a:r>
                      <a:r>
                        <a:rPr lang="en-US" sz="1100" dirty="0">
                          <a:latin typeface="Times New Roman" panose="02020603050405020304" pitchFamily="18" charset="0"/>
                          <a:cs typeface="Times New Roman" panose="02020603050405020304" pitchFamily="18" charset="0"/>
                        </a:rPr>
                        <a:t> 21346)</a:t>
                      </a:r>
                    </a:p>
                  </a:txBody>
                  <a:tcPr marL="36000" marR="36000" marT="36000" marB="36000" anchor="ctr"/>
                </a:tc>
                <a:extLst>
                  <a:ext uri="{0D108BD9-81ED-4DB2-BD59-A6C34878D82A}">
                    <a16:rowId xmlns:a16="http://schemas.microsoft.com/office/drawing/2014/main" val="3390329999"/>
                  </a:ext>
                </a:extLst>
              </a:tr>
              <a:tr h="0">
                <a:tc>
                  <a:txBody>
                    <a:bodyPr/>
                    <a:lstStyle/>
                    <a:p>
                      <a:r>
                        <a:rPr lang="en-US" sz="1100" b="0">
                          <a:latin typeface="Times New Roman" panose="02020603050405020304" pitchFamily="18" charset="0"/>
                          <a:cs typeface="Times New Roman" panose="02020603050405020304" pitchFamily="18" charset="0"/>
                        </a:rPr>
                        <a:t>21170</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T9.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~92FC</a:t>
                      </a:r>
                    </a:p>
                  </a:txBody>
                  <a:tcPr marL="36000" marR="36000" marT="36000" marB="36000" anchor="ctr"/>
                </a:tc>
                <a:extLst>
                  <a:ext uri="{0D108BD9-81ED-4DB2-BD59-A6C34878D82A}">
                    <a16:rowId xmlns:a16="http://schemas.microsoft.com/office/drawing/2014/main" val="1994482227"/>
                  </a:ext>
                </a:extLst>
              </a:tr>
              <a:tr h="0">
                <a:tc>
                  <a:txBody>
                    <a:bodyPr/>
                    <a:lstStyle/>
                    <a:p>
                      <a:r>
                        <a:rPr lang="en-US" sz="1100" b="0">
                          <a:latin typeface="Times New Roman" panose="02020603050405020304" pitchFamily="18" charset="0"/>
                          <a:cs typeface="Times New Roman" panose="02020603050405020304" pitchFamily="18" charset="0"/>
                        </a:rPr>
                        <a:t>21368</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A892</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T10</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~185FC</a:t>
                      </a:r>
                    </a:p>
                  </a:txBody>
                  <a:tcPr marL="36000" marR="36000" marT="36000" marB="36000" anchor="ctr"/>
                </a:tc>
                <a:extLst>
                  <a:ext uri="{0D108BD9-81ED-4DB2-BD59-A6C34878D82A}">
                    <a16:rowId xmlns:a16="http://schemas.microsoft.com/office/drawing/2014/main" val="1605329921"/>
                  </a:ext>
                </a:extLst>
              </a:tr>
              <a:tr h="0">
                <a:tc>
                  <a:txBody>
                    <a:bodyPr/>
                    <a:lstStyle/>
                    <a:p>
                      <a:r>
                        <a:rPr lang="en-US" sz="1100" b="0">
                          <a:latin typeface="Times New Roman" panose="02020603050405020304" pitchFamily="18" charset="0"/>
                          <a:cs typeface="Times New Roman" panose="02020603050405020304" pitchFamily="18" charset="0"/>
                        </a:rPr>
                        <a:t>21369</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A887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T11.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~300FC</a:t>
                      </a:r>
                    </a:p>
                  </a:txBody>
                  <a:tcPr marL="36000" marR="36000" marT="36000" marB="36000" anchor="ctr"/>
                </a:tc>
                <a:extLst>
                  <a:ext uri="{0D108BD9-81ED-4DB2-BD59-A6C34878D82A}">
                    <a16:rowId xmlns:a16="http://schemas.microsoft.com/office/drawing/2014/main" val="1844911163"/>
                  </a:ext>
                </a:extLst>
              </a:tr>
            </a:tbl>
          </a:graphicData>
        </a:graphic>
      </p:graphicFrame>
      <p:sp>
        <p:nvSpPr>
          <p:cNvPr id="18" name="TextBox 17">
            <a:extLst>
              <a:ext uri="{FF2B5EF4-FFF2-40B4-BE49-F238E27FC236}">
                <a16:creationId xmlns:a16="http://schemas.microsoft.com/office/drawing/2014/main" id="{DD5D1154-5101-4974-B303-960D55C1C05F}"/>
              </a:ext>
            </a:extLst>
          </p:cNvPr>
          <p:cNvSpPr txBox="1"/>
          <p:nvPr/>
        </p:nvSpPr>
        <p:spPr>
          <a:xfrm>
            <a:off x="0" y="3768839"/>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đến</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lịch</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tháo 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18657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35</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Q3-Q4/2025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28140"/>
          <a:ext cx="6207275" cy="230870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398718">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302940">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Oil Leak,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33659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ED0206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B221#1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034303709"/>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ED0206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70234962"/>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20-22/10/2025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ED0233</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05-07/11/2025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OVH, lắp ED0214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3741233"/>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ED0217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5397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1" y="3368377"/>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4" y="3793658"/>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T12/2025. Do động cơ sửa chữa về muộn.</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28140"/>
          <a:ext cx="5144652" cy="2283932"/>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418134">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420863">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rgbClr val="FF0000"/>
                          </a:solidFill>
                          <a:latin typeface="Times New Roman" panose="02020603050405020304" pitchFamily="18" charset="0"/>
                          <a:ea typeface="+mn-ea"/>
                          <a:cs typeface="Times New Roman" panose="02020603050405020304" pitchFamily="18" charset="0"/>
                        </a:rPr>
                        <a:t>25/09/2025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B221#1</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24122">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T12/2025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B223#2</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40271">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T11/2025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B220#1</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40271">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T10/2025</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B219#2</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r h="340271">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Aug/2025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9592887"/>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799" y="3773237"/>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8" y="3336844"/>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44033" y="5580410"/>
            <a:ext cx="11772189" cy="102893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spcBef>
                <a:spcPts val="1200"/>
              </a:spcBef>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Đã bàn giao cho K6 thuê khô tàu B225 từ 28/06/2025 – 25/10/2025 và gia hạn cho K6 thuê tàu B220 từ T7/2025 đến T11/2025. </a:t>
            </a:r>
          </a:p>
          <a:p>
            <a:pPr marL="380990" indent="-380990" defTabSz="1219170">
              <a:lnSpc>
                <a:spcPct val="125000"/>
              </a:lnSpc>
              <a:spcBef>
                <a:spcPts val="1200"/>
              </a:spcBef>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Hiện tại B221 không có slot thực hiện check trong tháng 9, động cơ ED0238 delay đến nửa cuối tháng 9 </a:t>
            </a:r>
            <a:r>
              <a:rPr lang="en-US" sz="140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Rủi ro tàu XU238 (B220) dừng đầu tháng 9 do động cơ hết hạn LLP. Tiếp tục phối hợp QLVT, VASCO, K6 về P/A động cơ cho XU238.</a:t>
            </a:r>
            <a:endParaRPr lang="en-US" sz="14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9716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extLst/>
          </p:nvPr>
        </p:nvGraphicFramePr>
        <p:xfrm>
          <a:off x="548320" y="609601"/>
          <a:ext cx="11169547" cy="4221865"/>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70325">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31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A327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350140">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P-4774</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18-Jul-25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Sep-25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mn-lt"/>
                          <a:cs typeface="Times New Roman" panose="02020603050405020304" pitchFamily="18" charset="0"/>
                        </a:rPr>
                        <a:t>A325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941714106"/>
                  </a:ext>
                </a:extLst>
              </a:tr>
              <a:tr h="350140">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P-5117</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28-Jul-25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Sep-25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A511</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61329750"/>
                  </a:ext>
                </a:extLst>
              </a:tr>
              <a:tr h="350140">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P-4752</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vi-VN"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rgbClr val="FF0000"/>
                          </a:solidFill>
                          <a:effectLst/>
                          <a:latin typeface="Times New Roman" panose="02020603050405020304" pitchFamily="18" charset="0"/>
                          <a:cs typeface="Times New Roman" panose="02020603050405020304" pitchFamily="18" charset="0"/>
                        </a:rPr>
                        <a:t>TBD</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rgbClr val="FF0000"/>
                          </a:solidFill>
                          <a:effectLst/>
                          <a:latin typeface="Times New Roman" panose="02020603050405020304" pitchFamily="18" charset="0"/>
                          <a:cs typeface="Times New Roman" panose="02020603050405020304" pitchFamily="18" charset="0"/>
                        </a:rPr>
                        <a:t>TBD</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190498433"/>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16-Aug-25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A617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P-6347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15</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A616</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59025434"/>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P-4887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11-Jul-25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A625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039005"/>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Z925603</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23-Jun-25</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23-Sep-25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A862</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t>
                      </a:r>
                      <a:r>
                        <a:rPr lang="vi-VN" sz="1500" b="0" i="0" u="none" strike="noStrike" dirty="0">
                          <a:solidFill>
                            <a:schemeClr val="tx1"/>
                          </a:solidFill>
                          <a:effectLst/>
                          <a:latin typeface="Times New Roman" panose="02020603050405020304" pitchFamily="18" charset="0"/>
                          <a:cs typeface="Times New Roman" panose="02020603050405020304" pitchFamily="18" charset="0"/>
                        </a:rPr>
                        <a:t>Aug</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A898</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P-00116</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rgbClr val="FF0000"/>
                          </a:solidFill>
                          <a:effectLst/>
                          <a:latin typeface="Times New Roman" panose="02020603050405020304" pitchFamily="18" charset="0"/>
                          <a:cs typeface="Times New Roman" panose="02020603050405020304" pitchFamily="18" charset="0"/>
                        </a:rPr>
                        <a:t>TBD</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rgbClr val="FF0000"/>
                          </a:solidFill>
                          <a:effectLst/>
                          <a:latin typeface="Times New Roman" panose="02020603050405020304" pitchFamily="18" charset="0"/>
                          <a:cs typeface="Times New Roman" panose="02020603050405020304" pitchFamily="18" charset="0"/>
                        </a:rPr>
                        <a:t>TBD</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45462591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31387" y="5245394"/>
            <a:ext cx="11567481" cy="120032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Hiện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QLVT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thuê</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01 APU spare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điểm</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hè</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0649963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vi-VN" sz="1600" dirty="0">
                <a:solidFill>
                  <a:prstClr val="black"/>
                </a:solidFill>
                <a:latin typeface="Times New Roman" panose="02020603050405020304" pitchFamily="18" charset="0"/>
                <a:cs typeface="Times New Roman" panose="02020603050405020304" pitchFamily="18" charset="0"/>
              </a:rPr>
              <a:t>28</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07</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/2025 – </a:t>
            </a:r>
            <a:r>
              <a:rPr lang="en-US" sz="1600" dirty="0">
                <a:solidFill>
                  <a:prstClr val="black"/>
                </a:solidFill>
                <a:latin typeface="Times New Roman" panose="02020603050405020304" pitchFamily="18" charset="0"/>
                <a:cs typeface="Times New Roman" panose="02020603050405020304" pitchFamily="18" charset="0"/>
              </a:rPr>
              <a:t>03</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/08/2025:</a:t>
            </a:r>
          </a:p>
          <a:p>
            <a:pPr marL="380990" lvl="0" indent="-380990" defTabSz="1219170">
              <a:buFont typeface="Times New Roman" panose="02020603050405020304" pitchFamily="18" charset="0"/>
              <a:buChar char="⁃"/>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A867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ASG), A614 – A888 – A870 (Ops test).</a:t>
            </a:r>
          </a:p>
          <a:p>
            <a:pPr marL="380990" indent="-380990">
              <a:buFont typeface="Times New Roman" panose="02020603050405020304" pitchFamily="18" charset="0"/>
              <a:buChar char="⁃"/>
              <a:defRPr/>
            </a:pP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APU c</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NIL</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extLst/>
          </p:nvPr>
        </p:nvGraphicFramePr>
        <p:xfrm>
          <a:off x="61186" y="1787549"/>
          <a:ext cx="12054615" cy="3106334"/>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260200">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6860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500" b="0" kern="1200" dirty="0">
                          <a:solidFill>
                            <a:schemeClr val="tx1"/>
                          </a:solidFill>
                          <a:effectLst/>
                          <a:latin typeface="+mn-lt"/>
                          <a:ea typeface="+mn-ea"/>
                          <a:cs typeface="Times New Roman" panose="02020603050405020304" pitchFamily="18" charset="0"/>
                        </a:rPr>
                        <a:t>NIL</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500" b="0" kern="1200" dirty="0">
                          <a:solidFill>
                            <a:schemeClr val="tx1"/>
                          </a:solidFill>
                          <a:effectLst/>
                          <a:latin typeface="+mn-lt"/>
                          <a:ea typeface="+mn-ea"/>
                          <a:cs typeface="Times New Roman" panose="02020603050405020304" pitchFamily="18" charset="0"/>
                        </a:rPr>
                        <a:t>NIL</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500" b="0" kern="1200" dirty="0">
                          <a:solidFill>
                            <a:schemeClr val="tx1"/>
                          </a:solidFill>
                          <a:effectLst/>
                          <a:latin typeface="Times New Roman" panose="02020603050405020304" pitchFamily="18" charset="0"/>
                          <a:ea typeface="+mn-ea"/>
                          <a:cs typeface="Times New Roman" panose="02020603050405020304" pitchFamily="18" charset="0"/>
                        </a:rPr>
                        <a:t>NIL</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dụng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01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91397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781051" y="740535"/>
            <a:ext cx="11068012" cy="70318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300" b="1" dirty="0">
                <a:cs typeface="Times New Roman" panose="02020603050405020304" pitchFamily="18" charset="0"/>
              </a:rPr>
              <a:t>I. A321: </a:t>
            </a:r>
          </a:p>
          <a:p>
            <a:pPr marL="12700" indent="0" algn="just">
              <a:lnSpc>
                <a:spcPct val="150000"/>
              </a:lnSpc>
              <a:spcBef>
                <a:spcPts val="0"/>
              </a:spcBef>
              <a:buSzPts val="1100"/>
              <a:buNone/>
            </a:pPr>
            <a:r>
              <a:rPr lang="es-ES" sz="1300" b="1" dirty="0">
                <a:solidFill>
                  <a:srgbClr val="FF0000"/>
                </a:solidFill>
                <a:cs typeface="Times New Roman" panose="02020603050405020304" pitchFamily="18" charset="0"/>
                <a:sym typeface="Wingdings" panose="05000000000000000000" pitchFamily="2" charset="2"/>
              </a:rPr>
              <a:t> 1</a:t>
            </a:r>
            <a:r>
              <a:rPr lang="es-ES" sz="1300" b="1">
                <a:solidFill>
                  <a:srgbClr val="FF0000"/>
                </a:solidFill>
                <a:cs typeface="Times New Roman" panose="02020603050405020304" pitchFamily="18" charset="0"/>
                <a:sym typeface="Wingdings" panose="05000000000000000000" pitchFamily="2" charset="2"/>
              </a:rPr>
              <a:t>. </a:t>
            </a:r>
            <a:r>
              <a:rPr lang="es-ES" sz="1300" b="1" smtClean="0">
                <a:solidFill>
                  <a:srgbClr val="FF0000"/>
                </a:solidFill>
                <a:cs typeface="Times New Roman" panose="02020603050405020304" pitchFamily="18" charset="0"/>
                <a:sym typeface="Wingdings" panose="05000000000000000000" pitchFamily="2" charset="2"/>
              </a:rPr>
              <a:t>A323_SGN_C01+Y01+EA02_01-08/08</a:t>
            </a:r>
            <a:r>
              <a:rPr lang="es-ES" sz="1300" b="1" dirty="0">
                <a:solidFill>
                  <a:srgbClr val="FF0000"/>
                </a:solidFill>
                <a:cs typeface="Times New Roman" panose="02020603050405020304" pitchFamily="18" charset="0"/>
                <a:sym typeface="Wingdings" panose="05000000000000000000" pitchFamily="2" charset="2"/>
              </a:rPr>
              <a:t>: </a:t>
            </a:r>
            <a:r>
              <a:rPr lang="es-ES" sz="1300" b="1" dirty="0" err="1">
                <a:solidFill>
                  <a:srgbClr val="FF0000"/>
                </a:solidFill>
                <a:cs typeface="Times New Roman" panose="02020603050405020304" pitchFamily="18" charset="0"/>
                <a:sym typeface="Wingdings" panose="05000000000000000000" pitchFamily="2" charset="2"/>
              </a:rPr>
              <a:t>On</a:t>
            </a:r>
            <a:r>
              <a:rPr lang="es-ES" sz="1300" b="1" dirty="0">
                <a:solidFill>
                  <a:srgbClr val="FF0000"/>
                </a:solidFill>
                <a:cs typeface="Times New Roman" panose="02020603050405020304" pitchFamily="18" charset="0"/>
                <a:sym typeface="Wingdings" panose="05000000000000000000" pitchFamily="2" charset="2"/>
              </a:rPr>
              <a:t> </a:t>
            </a:r>
            <a:r>
              <a:rPr lang="es-ES" sz="1300" b="1" dirty="0" err="1">
                <a:solidFill>
                  <a:srgbClr val="FF0000"/>
                </a:solidFill>
                <a:cs typeface="Times New Roman" panose="02020603050405020304" pitchFamily="18" charset="0"/>
                <a:sym typeface="Wingdings" panose="05000000000000000000" pitchFamily="2" charset="2"/>
              </a:rPr>
              <a:t>sked</a:t>
            </a:r>
            <a:endParaRPr lang="en-US" sz="1300" b="1" dirty="0">
              <a:solidFill>
                <a:srgbClr val="FF0000"/>
              </a:solidFill>
              <a:cs typeface="Times New Roman" panose="02020603050405020304" pitchFamily="18" charset="0"/>
              <a:sym typeface="Wingdings" panose="05000000000000000000" pitchFamily="2" charset="2"/>
            </a:endParaRPr>
          </a:p>
          <a:p>
            <a:pPr marL="12700" indent="0">
              <a:lnSpc>
                <a:spcPct val="120000"/>
              </a:lnSpc>
              <a:buSzPts val="1100"/>
              <a:buNone/>
            </a:pPr>
            <a:r>
              <a:rPr lang="en-US" sz="1300" b="1">
                <a:cs typeface="Times New Roman" panose="02020603050405020304" pitchFamily="18" charset="0"/>
              </a:rPr>
              <a:t>II</a:t>
            </a:r>
            <a:r>
              <a:rPr lang="en-US" sz="1300" b="1" dirty="0">
                <a:cs typeface="Times New Roman" panose="02020603050405020304" pitchFamily="18" charset="0"/>
              </a:rPr>
              <a:t>. A350:</a:t>
            </a:r>
            <a:r>
              <a:rPr lang="es-ES" sz="1300" i="1" dirty="0">
                <a:cs typeface="Times New Roman" panose="02020603050405020304" pitchFamily="18" charset="0"/>
                <a:sym typeface="Wingdings" panose="05000000000000000000" pitchFamily="2" charset="2"/>
              </a:rPr>
              <a:t> </a:t>
            </a:r>
          </a:p>
          <a:p>
            <a:pPr marL="12700" indent="0" algn="just">
              <a:lnSpc>
                <a:spcPct val="150000"/>
              </a:lnSpc>
              <a:buSzPts val="1100"/>
              <a:buNone/>
            </a:pPr>
            <a:r>
              <a:rPr lang="es-ES" sz="1400" b="1" dirty="0">
                <a:solidFill>
                  <a:srgbClr val="FF0000"/>
                </a:solidFill>
                <a:cs typeface="Times New Roman" panose="02020603050405020304" pitchFamily="18" charset="0"/>
                <a:sym typeface="Wingdings" panose="05000000000000000000" pitchFamily="2" charset="2"/>
              </a:rPr>
              <a:t> 1. </a:t>
            </a:r>
            <a:r>
              <a:rPr lang="pt-BR" sz="1400" b="1" dirty="0">
                <a:solidFill>
                  <a:srgbClr val="FF0000"/>
                </a:solidFill>
                <a:cs typeface="Times New Roman" panose="02020603050405020304" pitchFamily="18" charset="0"/>
                <a:sym typeface="Wingdings" panose="05000000000000000000" pitchFamily="2" charset="2"/>
              </a:rPr>
              <a:t>A893_HAN_ A09+C01+C02+C04_01-09/08: On sked</a:t>
            </a:r>
          </a:p>
          <a:p>
            <a:pPr marL="12700" indent="0" algn="just">
              <a:lnSpc>
                <a:spcPct val="150000"/>
              </a:lnSpc>
              <a:buSzPts val="1100"/>
              <a:buNone/>
            </a:pPr>
            <a:endParaRPr lang="fr-FR"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s-ES" sz="1300" b="1" dirty="0">
                <a:solidFill>
                  <a:srgbClr val="FF0000"/>
                </a:solidFill>
                <a:cs typeface="Times New Roman" panose="02020603050405020304" pitchFamily="18" charset="0"/>
                <a:sym typeface="Wingdings" panose="05000000000000000000" pitchFamily="2" charset="2"/>
              </a:rPr>
              <a:t> 2. </a:t>
            </a:r>
            <a:r>
              <a:rPr lang="en-US" sz="1300" b="1" dirty="0">
                <a:solidFill>
                  <a:srgbClr val="FF0000"/>
                </a:solidFill>
                <a:cs typeface="Times New Roman" panose="02020603050405020304" pitchFamily="18" charset="0"/>
                <a:sym typeface="Wingdings" panose="05000000000000000000" pitchFamily="2" charset="2"/>
              </a:rPr>
              <a:t>A895_HAN_ENG1CHG+ENG2CHG+A04-A08+C01+C02+C04+RTS_27/07-15/09: On sked</a:t>
            </a:r>
          </a:p>
          <a:p>
            <a:pPr marL="12700" indent="0" algn="just">
              <a:lnSpc>
                <a:spcPct val="100000"/>
              </a:lnSpc>
              <a:spcBef>
                <a:spcPts val="600"/>
              </a:spcBef>
              <a:buSzPts val="1100"/>
              <a:buNone/>
            </a:pPr>
            <a:r>
              <a:rPr lang="en-US" sz="1300" b="1" dirty="0">
                <a:solidFill>
                  <a:srgbClr val="FF0000"/>
                </a:solidFill>
                <a:cs typeface="Times New Roman" panose="02020603050405020304" pitchFamily="18" charset="0"/>
                <a:sym typeface="Wingdings" panose="05000000000000000000" pitchFamily="2" charset="2"/>
              </a:rPr>
              <a:t>    </a:t>
            </a:r>
            <a:r>
              <a:rPr lang="en-US" sz="1300" dirty="0">
                <a:cs typeface="Times New Roman" panose="02020603050405020304" pitchFamily="18" charset="0"/>
                <a:sym typeface="Wingdings" panose="05000000000000000000" pitchFamily="2" charset="2"/>
              </a:rPr>
              <a:t>- ENG#1 Est Avail 28/8, </a:t>
            </a:r>
            <a:r>
              <a:rPr lang="en-US" sz="1300" dirty="0" err="1">
                <a:cs typeface="Times New Roman" panose="02020603050405020304" pitchFamily="18" charset="0"/>
                <a:sym typeface="Wingdings" panose="05000000000000000000" pitchFamily="2" charset="2"/>
              </a:rPr>
              <a:t>cần</a:t>
            </a:r>
            <a:r>
              <a:rPr lang="en-US" sz="1300" dirty="0">
                <a:cs typeface="Times New Roman" panose="02020603050405020304" pitchFamily="18" charset="0"/>
                <a:sym typeface="Wingdings" panose="05000000000000000000" pitchFamily="2" charset="2"/>
              </a:rPr>
              <a:t> build </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ENG #2 Est 10/9, </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&gt; ENG </a:t>
            </a:r>
            <a:r>
              <a:rPr lang="en-US" sz="1300" dirty="0" err="1">
                <a:cs typeface="Times New Roman" panose="02020603050405020304" pitchFamily="18" charset="0"/>
                <a:sym typeface="Wingdings" panose="05000000000000000000" pitchFamily="2" charset="2"/>
              </a:rPr>
              <a:t>thư</a:t>
            </a:r>
            <a:r>
              <a:rPr lang="en-US" sz="1300" dirty="0">
                <a:cs typeface="Times New Roman" panose="02020603050405020304" pitchFamily="18" charset="0"/>
                <a:sym typeface="Wingdings" panose="05000000000000000000" pitchFamily="2" charset="2"/>
              </a:rPr>
              <a:t>́ 2 </a:t>
            </a:r>
            <a:r>
              <a:rPr lang="en-US" sz="1300" dirty="0" err="1">
                <a:cs typeface="Times New Roman" panose="02020603050405020304" pitchFamily="18" charset="0"/>
                <a:sym typeface="Wingdings" panose="05000000000000000000" pitchFamily="2" charset="2"/>
              </a:rPr>
              <a:t>vê</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lệch</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nhiều</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ngày</a:t>
            </a:r>
            <a:r>
              <a:rPr lang="en-US" sz="1300" dirty="0">
                <a:cs typeface="Times New Roman" panose="02020603050405020304" pitchFamily="18" charset="0"/>
                <a:sym typeface="Wingdings" panose="05000000000000000000" pitchFamily="2" charset="2"/>
              </a:rPr>
              <a:t> so </a:t>
            </a:r>
            <a:r>
              <a:rPr lang="en-US" sz="1300" dirty="0" err="1">
                <a:cs typeface="Times New Roman" panose="02020603050405020304" pitchFamily="18" charset="0"/>
                <a:sym typeface="Wingdings" panose="05000000000000000000" pitchFamily="2" charset="2"/>
              </a:rPr>
              <a:t>với</a:t>
            </a:r>
            <a:r>
              <a:rPr lang="en-US" sz="1300" dirty="0">
                <a:cs typeface="Times New Roman" panose="02020603050405020304" pitchFamily="18" charset="0"/>
                <a:sym typeface="Wingdings" panose="05000000000000000000" pitchFamily="2" charset="2"/>
              </a:rPr>
              <a:t> ENG 1= &gt; Sẽ </a:t>
            </a:r>
            <a:r>
              <a:rPr lang="en-US" sz="1300" dirty="0" err="1">
                <a:cs typeface="Times New Roman" panose="02020603050405020304" pitchFamily="18" charset="0"/>
                <a:sym typeface="Wingdings" panose="05000000000000000000" pitchFamily="2" charset="2"/>
              </a:rPr>
              <a:t>triển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khai</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lắp</a:t>
            </a:r>
            <a:r>
              <a:rPr lang="en-US" sz="1300" dirty="0">
                <a:cs typeface="Times New Roman" panose="02020603050405020304" pitchFamily="18" charset="0"/>
                <a:sym typeface="Wingdings" panose="05000000000000000000" pitchFamily="2" charset="2"/>
              </a:rPr>
              <a:t> U/S ENG </a:t>
            </a:r>
            <a:r>
              <a:rPr lang="en-US" sz="1300" dirty="0" err="1">
                <a:cs typeface="Times New Roman" panose="02020603050405020304" pitchFamily="18" charset="0"/>
                <a:sym typeface="Wingdings" panose="05000000000000000000" pitchFamily="2" charset="2"/>
              </a:rPr>
              <a:t>lên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đê</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thực</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hiện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các</a:t>
            </a:r>
            <a:r>
              <a:rPr lang="en-US" sz="1300" dirty="0">
                <a:cs typeface="Times New Roman" panose="02020603050405020304" pitchFamily="18" charset="0"/>
                <a:sym typeface="Wingdings" panose="05000000000000000000" pitchFamily="2" charset="2"/>
              </a:rPr>
              <a:t> Task </a:t>
            </a:r>
            <a:r>
              <a:rPr lang="en-US" sz="1300" dirty="0" err="1">
                <a:cs typeface="Times New Roman" panose="02020603050405020304" pitchFamily="18" charset="0"/>
                <a:sym typeface="Wingdings" panose="05000000000000000000" pitchFamily="2" charset="2"/>
              </a:rPr>
              <a:t>cân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tàu</a:t>
            </a:r>
            <a:r>
              <a:rPr lang="en-US" sz="1300" dirty="0">
                <a:cs typeface="Times New Roman" panose="02020603050405020304" pitchFamily="18" charset="0"/>
                <a:sym typeface="Wingdings" panose="05000000000000000000" pitchFamily="2" charset="2"/>
              </a:rPr>
              <a:t>, Jacking, Test TM </a:t>
            </a:r>
            <a:r>
              <a:rPr lang="en-US" sz="1300" dirty="0" err="1">
                <a:cs typeface="Times New Roman" panose="02020603050405020304" pitchFamily="18" charset="0"/>
                <a:sym typeface="Wingdings" panose="05000000000000000000" pitchFamily="2" charset="2"/>
              </a:rPr>
              <a:t>theo</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yêu</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cầu</a:t>
            </a:r>
            <a:r>
              <a:rPr lang="en-US" sz="1300" dirty="0">
                <a:cs typeface="Times New Roman" panose="02020603050405020304" pitchFamily="18" charset="0"/>
                <a:sym typeface="Wingdings" panose="05000000000000000000" pitchFamily="2" charset="2"/>
              </a:rPr>
              <a:t> Airbus. Sẽ </a:t>
            </a:r>
            <a:r>
              <a:rPr lang="en-US" sz="1300" dirty="0" err="1">
                <a:cs typeface="Times New Roman" panose="02020603050405020304" pitchFamily="18" charset="0"/>
                <a:sym typeface="Wingdings" panose="05000000000000000000" pitchFamily="2" charset="2"/>
              </a:rPr>
              <a:t>giảm</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được</a:t>
            </a:r>
            <a:r>
              <a:rPr lang="en-US" sz="1300" dirty="0">
                <a:cs typeface="Times New Roman" panose="02020603050405020304" pitchFamily="18" charset="0"/>
                <a:sym typeface="Wingdings" panose="05000000000000000000" pitchFamily="2" charset="2"/>
              </a:rPr>
              <a:t> TAT </a:t>
            </a:r>
            <a:r>
              <a:rPr lang="en-US" sz="1300" dirty="0" err="1">
                <a:cs typeface="Times New Roman" panose="02020603050405020304" pitchFamily="18" charset="0"/>
                <a:sym typeface="Wingdings" panose="05000000000000000000" pitchFamily="2" charset="2"/>
              </a:rPr>
              <a:t>khoảng</a:t>
            </a:r>
            <a:r>
              <a:rPr lang="en-US" sz="1300" dirty="0">
                <a:cs typeface="Times New Roman" panose="02020603050405020304" pitchFamily="18" charset="0"/>
                <a:sym typeface="Wingdings" panose="05000000000000000000" pitchFamily="2" charset="2"/>
              </a:rPr>
              <a:t> 7 </a:t>
            </a:r>
            <a:r>
              <a:rPr lang="en-US" sz="1300" dirty="0" err="1">
                <a:cs typeface="Times New Roman" panose="02020603050405020304" pitchFamily="18" charset="0"/>
                <a:sym typeface="Wingdings" panose="05000000000000000000" pitchFamily="2" charset="2"/>
              </a:rPr>
              <a:t>ngày</a:t>
            </a:r>
            <a:r>
              <a:rPr lang="en-US" sz="1300" dirty="0">
                <a:cs typeface="Times New Roman" panose="02020603050405020304" pitchFamily="18" charset="0"/>
                <a:sym typeface="Wingdings" panose="05000000000000000000" pitchFamily="2" charset="2"/>
              </a:rPr>
              <a:t> so </a:t>
            </a:r>
            <a:r>
              <a:rPr lang="en-US" sz="1300" dirty="0" err="1">
                <a:cs typeface="Times New Roman" panose="02020603050405020304" pitchFamily="18" charset="0"/>
                <a:sym typeface="Wingdings" panose="05000000000000000000" pitchFamily="2" charset="2"/>
              </a:rPr>
              <a:t>với</a:t>
            </a:r>
            <a:r>
              <a:rPr lang="en-US" sz="1300" dirty="0">
                <a:cs typeface="Times New Roman" panose="02020603050405020304" pitchFamily="18" charset="0"/>
                <a:sym typeface="Wingdings" panose="05000000000000000000" pitchFamily="2" charset="2"/>
              </a:rPr>
              <a:t> KH.</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&gt; Đ/n Ban QLVT, CƯVT </a:t>
            </a:r>
            <a:r>
              <a:rPr lang="en-US" sz="1300" dirty="0" err="1">
                <a:cs typeface="Times New Roman" panose="02020603050405020304" pitchFamily="18" charset="0"/>
                <a:sym typeface="Wingdings" panose="05000000000000000000" pitchFamily="2" charset="2"/>
              </a:rPr>
              <a:t>cung</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ứng</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vật</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tư</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đảm</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bảo</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tàu</a:t>
            </a:r>
            <a:r>
              <a:rPr lang="en-US" sz="1300" dirty="0">
                <a:cs typeface="Times New Roman" panose="02020603050405020304" pitchFamily="18" charset="0"/>
                <a:sym typeface="Wingdings" panose="05000000000000000000" pitchFamily="2" charset="2"/>
              </a:rPr>
              <a:t> có </a:t>
            </a:r>
            <a:r>
              <a:rPr lang="en-US" sz="1300" dirty="0" err="1">
                <a:cs typeface="Times New Roman" panose="02020603050405020304" pitchFamily="18" charset="0"/>
                <a:sym typeface="Wingdings" panose="05000000000000000000" pitchFamily="2" charset="2"/>
              </a:rPr>
              <a:t>thê</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ra</a:t>
            </a:r>
            <a:r>
              <a:rPr lang="en-US" sz="1300" dirty="0">
                <a:cs typeface="Times New Roman" panose="02020603050405020304" pitchFamily="18" charset="0"/>
                <a:sym typeface="Wingdings" panose="05000000000000000000" pitchFamily="2" charset="2"/>
              </a:rPr>
              <a:t> check </a:t>
            </a:r>
            <a:r>
              <a:rPr lang="en-US" sz="1300" dirty="0" err="1">
                <a:cs typeface="Times New Roman" panose="02020603050405020304" pitchFamily="18" charset="0"/>
                <a:sym typeface="Wingdings" panose="05000000000000000000" pitchFamily="2" charset="2"/>
              </a:rPr>
              <a:t>theo</a:t>
            </a:r>
            <a:r>
              <a:rPr lang="en-US" sz="1300" dirty="0">
                <a:cs typeface="Times New Roman" panose="02020603050405020304" pitchFamily="18" charset="0"/>
                <a:sym typeface="Wingdings" panose="05000000000000000000" pitchFamily="2" charset="2"/>
              </a:rPr>
              <a:t> KH </a:t>
            </a:r>
            <a:r>
              <a:rPr lang="en-US" sz="1300" dirty="0" err="1">
                <a:cs typeface="Times New Roman" panose="02020603050405020304" pitchFamily="18" charset="0"/>
                <a:sym typeface="Wingdings" panose="05000000000000000000" pitchFamily="2" charset="2"/>
              </a:rPr>
              <a:t>vào</a:t>
            </a:r>
            <a:r>
              <a:rPr lang="en-US" sz="1300" dirty="0">
                <a:cs typeface="Times New Roman" panose="02020603050405020304" pitchFamily="18" charset="0"/>
                <a:sym typeface="Wingdings" panose="05000000000000000000" pitchFamily="2" charset="2"/>
              </a:rPr>
              <a:t> 15/9.</a:t>
            </a:r>
          </a:p>
          <a:p>
            <a:pPr marL="12700" indent="0" algn="just">
              <a:lnSpc>
                <a:spcPct val="100000"/>
              </a:lnSpc>
              <a:spcBef>
                <a:spcPts val="600"/>
              </a:spcBef>
              <a:buSzPts val="1100"/>
              <a:buNone/>
            </a:pP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s-ES" sz="1300" b="1" dirty="0">
                <a:cs typeface="Times New Roman" panose="02020603050405020304" pitchFamily="18" charset="0"/>
                <a:sym typeface="Wingdings" panose="05000000000000000000" pitchFamily="2" charset="2"/>
              </a:rPr>
              <a:t>III. B787:</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b="1" dirty="0">
                <a:solidFill>
                  <a:srgbClr val="FF0000"/>
                </a:solidFill>
                <a:sym typeface="Wingdings" panose="05000000000000000000" pitchFamily="2" charset="2"/>
              </a:rPr>
              <a:t>Nil</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endParaRPr lang="en-US" sz="1500" dirty="0">
              <a:cs typeface="Times New Roman" panose="02020603050405020304" pitchFamily="18" charset="0"/>
              <a:sym typeface="Wingdings" panose="05000000000000000000" pitchFamily="2" charset="2"/>
            </a:endParaRPr>
          </a:p>
          <a:p>
            <a:pPr marL="12700" indent="0">
              <a:lnSpc>
                <a:spcPct val="120000"/>
              </a:lnSpc>
              <a:buSzPts val="1100"/>
              <a:buNone/>
            </a:pPr>
            <a:r>
              <a:rPr lang="es-ES" sz="1300" b="1" dirty="0">
                <a:sym typeface="Wingdings" panose="05000000000000000000" pitchFamily="2" charset="2"/>
              </a:rPr>
              <a:t>IV. ATR72:</a:t>
            </a:r>
          </a:p>
          <a:p>
            <a:pPr marL="12700" indent="0">
              <a:lnSpc>
                <a:spcPct val="120000"/>
              </a:lnSpc>
              <a:buSzPts val="1100"/>
              <a:buNone/>
            </a:pPr>
            <a:r>
              <a:rPr lang="en-US" sz="1300" b="1" dirty="0">
                <a:solidFill>
                  <a:srgbClr val="FF0000"/>
                </a:solidFill>
                <a:sym typeface="Wingdings" panose="05000000000000000000" pitchFamily="2" charset="2"/>
              </a:rPr>
              <a:t>Nil</a:t>
            </a:r>
            <a:endParaRPr lang="en-US" sz="1300" dirty="0">
              <a:cs typeface="Times New Roman" panose="02020603050405020304" pitchFamily="18" charset="0"/>
              <a:sym typeface="Wingdings" panose="05000000000000000000" pitchFamily="2" charset="2"/>
            </a:endParaRPr>
          </a:p>
          <a:p>
            <a:pPr marL="12700" indent="0">
              <a:lnSpc>
                <a:spcPct val="120000"/>
              </a:lnSpc>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942617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3" name="Table 2">
            <a:extLst>
              <a:ext uri="{FF2B5EF4-FFF2-40B4-BE49-F238E27FC236}">
                <a16:creationId xmlns:a16="http://schemas.microsoft.com/office/drawing/2014/main" id="{BDEFEE58-F595-4CBD-A51E-E003C7C37F48}"/>
              </a:ext>
            </a:extLst>
          </p:cNvPr>
          <p:cNvGraphicFramePr>
            <a:graphicFrameLocks noGrp="1"/>
          </p:cNvGraphicFramePr>
          <p:nvPr>
            <p:extLst/>
          </p:nvPr>
        </p:nvGraphicFramePr>
        <p:xfrm>
          <a:off x="457200" y="914400"/>
          <a:ext cx="11430001" cy="5606854"/>
        </p:xfrm>
        <a:graphic>
          <a:graphicData uri="http://schemas.openxmlformats.org/drawingml/2006/table">
            <a:tbl>
              <a:tblPr/>
              <a:tblGrid>
                <a:gridCol w="318521">
                  <a:extLst>
                    <a:ext uri="{9D8B030D-6E8A-4147-A177-3AD203B41FA5}">
                      <a16:colId xmlns:a16="http://schemas.microsoft.com/office/drawing/2014/main" val="2255676265"/>
                    </a:ext>
                  </a:extLst>
                </a:gridCol>
                <a:gridCol w="2584920">
                  <a:extLst>
                    <a:ext uri="{9D8B030D-6E8A-4147-A177-3AD203B41FA5}">
                      <a16:colId xmlns:a16="http://schemas.microsoft.com/office/drawing/2014/main" val="1048129368"/>
                    </a:ext>
                  </a:extLst>
                </a:gridCol>
                <a:gridCol w="453280">
                  <a:extLst>
                    <a:ext uri="{9D8B030D-6E8A-4147-A177-3AD203B41FA5}">
                      <a16:colId xmlns:a16="http://schemas.microsoft.com/office/drawing/2014/main" val="2877621620"/>
                    </a:ext>
                  </a:extLst>
                </a:gridCol>
                <a:gridCol w="502283">
                  <a:extLst>
                    <a:ext uri="{9D8B030D-6E8A-4147-A177-3AD203B41FA5}">
                      <a16:colId xmlns:a16="http://schemas.microsoft.com/office/drawing/2014/main" val="1964391267"/>
                    </a:ext>
                  </a:extLst>
                </a:gridCol>
                <a:gridCol w="477782">
                  <a:extLst>
                    <a:ext uri="{9D8B030D-6E8A-4147-A177-3AD203B41FA5}">
                      <a16:colId xmlns:a16="http://schemas.microsoft.com/office/drawing/2014/main" val="4284668229"/>
                    </a:ext>
                  </a:extLst>
                </a:gridCol>
                <a:gridCol w="490032">
                  <a:extLst>
                    <a:ext uri="{9D8B030D-6E8A-4147-A177-3AD203B41FA5}">
                      <a16:colId xmlns:a16="http://schemas.microsoft.com/office/drawing/2014/main" val="1142984062"/>
                    </a:ext>
                  </a:extLst>
                </a:gridCol>
                <a:gridCol w="502283">
                  <a:extLst>
                    <a:ext uri="{9D8B030D-6E8A-4147-A177-3AD203B41FA5}">
                      <a16:colId xmlns:a16="http://schemas.microsoft.com/office/drawing/2014/main" val="2508200215"/>
                    </a:ext>
                  </a:extLst>
                </a:gridCol>
                <a:gridCol w="502283">
                  <a:extLst>
                    <a:ext uri="{9D8B030D-6E8A-4147-A177-3AD203B41FA5}">
                      <a16:colId xmlns:a16="http://schemas.microsoft.com/office/drawing/2014/main" val="3345086765"/>
                    </a:ext>
                  </a:extLst>
                </a:gridCol>
                <a:gridCol w="477782">
                  <a:extLst>
                    <a:ext uri="{9D8B030D-6E8A-4147-A177-3AD203B41FA5}">
                      <a16:colId xmlns:a16="http://schemas.microsoft.com/office/drawing/2014/main" val="62931312"/>
                    </a:ext>
                  </a:extLst>
                </a:gridCol>
                <a:gridCol w="490032">
                  <a:extLst>
                    <a:ext uri="{9D8B030D-6E8A-4147-A177-3AD203B41FA5}">
                      <a16:colId xmlns:a16="http://schemas.microsoft.com/office/drawing/2014/main" val="3189466286"/>
                    </a:ext>
                  </a:extLst>
                </a:gridCol>
                <a:gridCol w="4630803">
                  <a:extLst>
                    <a:ext uri="{9D8B030D-6E8A-4147-A177-3AD203B41FA5}">
                      <a16:colId xmlns:a16="http://schemas.microsoft.com/office/drawing/2014/main" val="773532726"/>
                    </a:ext>
                  </a:extLst>
                </a:gridCol>
              </a:tblGrid>
              <a:tr h="295158">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a:t>
                      </a:r>
                      <a:r>
                        <a:rPr lang="en-US" sz="1400" b="1" i="0" u="none" strike="noStrike" dirty="0" smtClean="0">
                          <a:solidFill>
                            <a:srgbClr val="000000"/>
                          </a:solidFill>
                          <a:effectLst/>
                          <a:latin typeface="Times New Roman" panose="02020603050405020304" pitchFamily="18" charset="0"/>
                        </a:rPr>
                        <a:t>01/08)</a:t>
                      </a:r>
                      <a:endParaRPr lang="en-US" sz="1400" b="1" i="0" u="none" strike="noStrike" dirty="0">
                        <a:solidFill>
                          <a:srgbClr val="000000"/>
                        </a:solidFill>
                        <a:effectLst/>
                        <a:latin typeface="Times New Roman" panose="02020603050405020304" pitchFamily="18" charset="0"/>
                      </a:endParaRP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83241971"/>
                  </a:ext>
                </a:extLst>
              </a:tr>
              <a:tr h="357767">
                <a:tc>
                  <a:txBody>
                    <a:bodyPr/>
                    <a:lstStyle/>
                    <a:p>
                      <a:pPr algn="ctr" fontAlgn="ctr"/>
                      <a:r>
                        <a:rPr lang="en-US" sz="1100" b="1" i="0" u="none" strike="noStrike">
                          <a:solidFill>
                            <a:srgbClr val="000000"/>
                          </a:solidFill>
                          <a:effectLst/>
                          <a:latin typeface="Times New Roman" panose="02020603050405020304" pitchFamily="18" charset="0"/>
                        </a:rPr>
                        <a:t>STT</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A/C</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Jul-25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Aug-25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Sep-25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Oct-25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Nov-25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Dec-25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Jan-26</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Feb-26</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Note</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913143900"/>
                  </a:ext>
                </a:extLst>
              </a:tr>
              <a:tr h="1556875">
                <a:tc>
                  <a:txBody>
                    <a:bodyPr/>
                    <a:lstStyle/>
                    <a:p>
                      <a:pPr algn="ctr" fontAlgn="ctr"/>
                      <a:r>
                        <a:rPr lang="en-US" sz="1100" b="1" i="0" u="none" strike="noStrike">
                          <a:solidFill>
                            <a:srgbClr val="000000"/>
                          </a:solidFill>
                          <a:effectLst/>
                          <a:latin typeface="Times New Roman" panose="02020603050405020304" pitchFamily="18" charset="0"/>
                        </a:rPr>
                        <a:t>1</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rPr>
                        <a:t>A321 NEO AOG</a:t>
                      </a:r>
                      <a:br>
                        <a:rPr lang="pt-BR" sz="1100" b="1" i="0" u="none" strike="noStrike">
                          <a:solidFill>
                            <a:srgbClr val="000000"/>
                          </a:solidFill>
                          <a:effectLst/>
                          <a:latin typeface="Times New Roman" panose="02020603050405020304" pitchFamily="18" charset="0"/>
                        </a:rPr>
                      </a:br>
                      <a:r>
                        <a:rPr lang="pt-BR" sz="1100" b="1" i="0" u="none" strike="noStrike">
                          <a:solidFill>
                            <a:srgbClr val="000000"/>
                          </a:solidFill>
                          <a:effectLst/>
                          <a:latin typeface="Times New Roman" panose="02020603050405020304" pitchFamily="18" charset="0"/>
                        </a:rPr>
                        <a:t> do thiếu ENG</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10.75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FF0000"/>
                          </a:solidFill>
                          <a:effectLst/>
                          <a:latin typeface="Times New Roman" panose="02020603050405020304" pitchFamily="18" charset="0"/>
                        </a:rPr>
                        <a:t>11.00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FF0000"/>
                          </a:solidFill>
                          <a:effectLst/>
                          <a:latin typeface="Times New Roman" panose="02020603050405020304" pitchFamily="18" charset="0"/>
                        </a:rPr>
                        <a:t>11.00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FF0000"/>
                          </a:solidFill>
                          <a:effectLst/>
                          <a:latin typeface="Times New Roman" panose="02020603050405020304" pitchFamily="18" charset="0"/>
                        </a:rPr>
                        <a:t>11.00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FF0000"/>
                          </a:solidFill>
                          <a:effectLst/>
                          <a:latin typeface="Times New Roman" panose="02020603050405020304" pitchFamily="18" charset="0"/>
                        </a:rPr>
                        <a:t>11.00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FF0000"/>
                          </a:solidFill>
                          <a:effectLst/>
                          <a:latin typeface="Times New Roman" panose="02020603050405020304" pitchFamily="18" charset="0"/>
                        </a:rPr>
                        <a:t>10.00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FF0000"/>
                          </a:solidFill>
                          <a:effectLst/>
                          <a:latin typeface="Times New Roman" panose="02020603050405020304" pitchFamily="18" charset="0"/>
                        </a:rPr>
                        <a:t>9.00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rgbClr val="FF0000"/>
                          </a:solidFill>
                          <a:effectLst/>
                          <a:latin typeface="Times New Roman" panose="02020603050405020304" pitchFamily="18" charset="0"/>
                        </a:rPr>
                        <a:t>- 2025 có 16 induction slot, 2026: 6 tháng đầu năm mỗi tháng có 2 induction slot</a:t>
                      </a:r>
                      <a:br>
                        <a:rPr lang="vi-VN" sz="1100" b="0" i="0" u="none" strike="noStrike" dirty="0">
                          <a:solidFill>
                            <a:srgbClr val="FF0000"/>
                          </a:solidFill>
                          <a:effectLst/>
                          <a:latin typeface="Times New Roman" panose="02020603050405020304" pitchFamily="18" charset="0"/>
                        </a:rPr>
                      </a:br>
                      <a:r>
                        <a:rPr lang="vi-VN" sz="1100" b="0" i="0" u="none" strike="noStrike" dirty="0">
                          <a:solidFill>
                            <a:srgbClr val="FF0000"/>
                          </a:solidFill>
                          <a:effectLst/>
                          <a:latin typeface="Times New Roman" panose="02020603050405020304" pitchFamily="18" charset="0"/>
                        </a:rPr>
                        <a:t>- Thuê thêm 1 đông cơ PWEL về đầu tháng 9 thay cho A507</a:t>
                      </a:r>
                      <a:br>
                        <a:rPr lang="vi-VN" sz="1100" b="0" i="0" u="none" strike="noStrike" dirty="0">
                          <a:solidFill>
                            <a:srgbClr val="FF0000"/>
                          </a:solidFill>
                          <a:effectLst/>
                          <a:latin typeface="Times New Roman" panose="02020603050405020304" pitchFamily="18" charset="0"/>
                        </a:rPr>
                      </a:br>
                      <a:r>
                        <a:rPr lang="vi-VN" sz="1100" b="0" i="0" u="none" strike="noStrike" dirty="0">
                          <a:solidFill>
                            <a:srgbClr val="FF0000"/>
                          </a:solidFill>
                          <a:effectLst/>
                          <a:latin typeface="Times New Roman" panose="02020603050405020304" pitchFamily="18" charset="0"/>
                        </a:rPr>
                        <a:t>- Swap ENG A621 &amp; A625 từ cuối tháng 7 để giữ giờ ENG A621 khoảng 70CY khai thác cao điểm tết. </a:t>
                      </a:r>
                      <a:br>
                        <a:rPr lang="vi-VN" sz="1100" b="0" i="0" u="none" strike="noStrike" dirty="0">
                          <a:solidFill>
                            <a:srgbClr val="FF0000"/>
                          </a:solidFill>
                          <a:effectLst/>
                          <a:latin typeface="Times New Roman" panose="02020603050405020304" pitchFamily="18" charset="0"/>
                        </a:rPr>
                      </a:br>
                      <a:r>
                        <a:rPr lang="vi-VN" sz="1100" b="0" i="0" u="none" strike="noStrike" dirty="0">
                          <a:solidFill>
                            <a:srgbClr val="FF0000"/>
                          </a:solidFill>
                          <a:effectLst/>
                          <a:latin typeface="Times New Roman" panose="02020603050405020304" pitchFamily="18" charset="0"/>
                        </a:rPr>
                        <a:t>- Swap A618 vs A619 cuối tháng 9. Dừng đến cuối T1/26</a:t>
                      </a:r>
                      <a:br>
                        <a:rPr lang="vi-VN" sz="1100" b="0" i="0" u="none" strike="noStrike" dirty="0">
                          <a:solidFill>
                            <a:srgbClr val="FF0000"/>
                          </a:solidFill>
                          <a:effectLst/>
                          <a:latin typeface="Times New Roman" panose="02020603050405020304" pitchFamily="18" charset="0"/>
                        </a:rPr>
                      </a:br>
                      <a:r>
                        <a:rPr lang="vi-VN" sz="1100" b="0" i="0" u="none" strike="noStrike" dirty="0">
                          <a:solidFill>
                            <a:srgbClr val="FF0000"/>
                          </a:solidFill>
                          <a:effectLst/>
                          <a:latin typeface="Times New Roman" panose="02020603050405020304" pitchFamily="18" charset="0"/>
                        </a:rPr>
                        <a:t>- Swap A512 vs A616 tại thời điểm Y6 =&gt; giữ được giờ A512 1 tháng, A616 khai thác</a:t>
                      </a:r>
                      <a:br>
                        <a:rPr lang="vi-VN" sz="1100" b="0" i="0" u="none" strike="noStrike" dirty="0">
                          <a:solidFill>
                            <a:srgbClr val="FF0000"/>
                          </a:solidFill>
                          <a:effectLst/>
                          <a:latin typeface="Times New Roman" panose="02020603050405020304" pitchFamily="18" charset="0"/>
                        </a:rPr>
                      </a:br>
                      <a:r>
                        <a:rPr lang="vi-VN" sz="1100" b="0" i="0" u="none" strike="noStrike" dirty="0">
                          <a:solidFill>
                            <a:srgbClr val="FF0000"/>
                          </a:solidFill>
                          <a:effectLst/>
                          <a:latin typeface="Times New Roman" panose="02020603050405020304" pitchFamily="18" charset="0"/>
                        </a:rPr>
                        <a:t>+ 09/2025: giảm 1 tàu dừng</a:t>
                      </a:r>
                      <a:br>
                        <a:rPr lang="vi-VN" sz="1100" b="0" i="0" u="none" strike="noStrike" dirty="0">
                          <a:solidFill>
                            <a:srgbClr val="FF0000"/>
                          </a:solidFill>
                          <a:effectLst/>
                          <a:latin typeface="Times New Roman" panose="02020603050405020304" pitchFamily="18" charset="0"/>
                        </a:rPr>
                      </a:br>
                      <a:r>
                        <a:rPr lang="vi-VN" sz="1100" b="0" i="0" u="none" strike="noStrike" dirty="0">
                          <a:solidFill>
                            <a:srgbClr val="FF0000"/>
                          </a:solidFill>
                          <a:effectLst/>
                          <a:latin typeface="Times New Roman" panose="02020603050405020304" pitchFamily="18" charset="0"/>
                        </a:rPr>
                        <a:t>+ 10/2025 - 01/2026: giảm 0.5-1.5 tàu dừng</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9037756"/>
                  </a:ext>
                </a:extLst>
              </a:tr>
              <a:tr h="1066800">
                <a:tc>
                  <a:txBody>
                    <a:bodyPr/>
                    <a:lstStyle/>
                    <a:p>
                      <a:pPr algn="ctr" fontAlgn="ctr"/>
                      <a:r>
                        <a:rPr lang="en-US" sz="1100" b="1" i="0" u="none" strike="noStrike">
                          <a:solidFill>
                            <a:srgbClr val="000000"/>
                          </a:solidFill>
                          <a:effectLst/>
                          <a:latin typeface="Times New Roman" panose="02020603050405020304" pitchFamily="18" charset="0"/>
                        </a:rPr>
                        <a:t>1'</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100" b="1" i="0" u="none" strike="noStrike">
                          <a:solidFill>
                            <a:srgbClr val="000000"/>
                          </a:solidFill>
                          <a:effectLst/>
                          <a:latin typeface="Times New Roman" panose="02020603050405020304" pitchFamily="18" charset="0"/>
                        </a:rPr>
                        <a:t>A321 NEO AOG</a:t>
                      </a:r>
                      <a:br>
                        <a:rPr lang="en-US" sz="1100" b="1" i="0" u="none" strike="noStrike">
                          <a:solidFill>
                            <a:srgbClr val="000000"/>
                          </a:solidFill>
                          <a:effectLst/>
                          <a:latin typeface="Times New Roman" panose="02020603050405020304" pitchFamily="18" charset="0"/>
                        </a:rPr>
                      </a:br>
                      <a:r>
                        <a:rPr lang="en-US" sz="1100" b="1" i="0" u="none" strike="noStrike">
                          <a:solidFill>
                            <a:srgbClr val="000000"/>
                          </a:solidFill>
                          <a:effectLst/>
                          <a:latin typeface="Times New Roman" panose="02020603050405020304" pitchFamily="18" charset="0"/>
                        </a:rPr>
                        <a:t> do thiếu ENG (last update to KHPT 01/07)</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100" b="0" i="0" u="none" strike="noStrike">
                          <a:solidFill>
                            <a:srgbClr val="000000"/>
                          </a:solidFill>
                          <a:effectLst/>
                          <a:latin typeface="Times New Roman" panose="02020603050405020304" pitchFamily="18" charset="0"/>
                        </a:rPr>
                        <a:t>10.75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100" b="0" i="0" u="none" strike="noStrike">
                          <a:solidFill>
                            <a:srgbClr val="000000"/>
                          </a:solidFill>
                          <a:effectLst/>
                          <a:latin typeface="Times New Roman" panose="02020603050405020304" pitchFamily="18" charset="0"/>
                        </a:rPr>
                        <a:t>11.00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100" b="0" i="0" u="none" strike="noStrike">
                          <a:solidFill>
                            <a:srgbClr val="000000"/>
                          </a:solidFill>
                          <a:effectLst/>
                          <a:latin typeface="Times New Roman" panose="02020603050405020304" pitchFamily="18" charset="0"/>
                        </a:rPr>
                        <a:t>12.00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100" b="0" i="0" u="none" strike="noStrike">
                          <a:solidFill>
                            <a:srgbClr val="000000"/>
                          </a:solidFill>
                          <a:effectLst/>
                          <a:latin typeface="Times New Roman" panose="02020603050405020304" pitchFamily="18" charset="0"/>
                        </a:rPr>
                        <a:t>12.00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100" b="0" i="0" u="none" strike="noStrike" dirty="0">
                          <a:solidFill>
                            <a:srgbClr val="000000"/>
                          </a:solidFill>
                          <a:effectLst/>
                          <a:latin typeface="Times New Roman" panose="02020603050405020304" pitchFamily="18" charset="0"/>
                        </a:rPr>
                        <a:t>1</a:t>
                      </a:r>
                      <a:r>
                        <a:rPr lang="vi-VN" sz="1100" b="0" i="0" u="none" strike="noStrike" dirty="0">
                          <a:solidFill>
                            <a:srgbClr val="000000"/>
                          </a:solidFill>
                          <a:effectLst/>
                          <a:latin typeface="Times New Roman" panose="02020603050405020304" pitchFamily="18" charset="0"/>
                        </a:rPr>
                        <a:t>1</a:t>
                      </a:r>
                      <a:r>
                        <a:rPr lang="en-US" sz="1100" b="0" i="0" u="none" strike="noStrike" dirty="0">
                          <a:solidFill>
                            <a:srgbClr val="000000"/>
                          </a:solidFill>
                          <a:effectLst/>
                          <a:latin typeface="Times New Roman" panose="02020603050405020304" pitchFamily="18" charset="0"/>
                        </a:rPr>
                        <a:t>.75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100" b="0" i="0" u="none" strike="noStrike" dirty="0">
                          <a:solidFill>
                            <a:srgbClr val="000000"/>
                          </a:solidFill>
                          <a:effectLst/>
                          <a:latin typeface="Times New Roman" panose="02020603050405020304" pitchFamily="18" charset="0"/>
                        </a:rPr>
                        <a:t>1</a:t>
                      </a:r>
                      <a:r>
                        <a:rPr lang="vi-VN" sz="1100" b="0" i="0" u="none" strike="noStrike" dirty="0">
                          <a:solidFill>
                            <a:srgbClr val="000000"/>
                          </a:solidFill>
                          <a:effectLst/>
                          <a:latin typeface="Times New Roman" panose="02020603050405020304" pitchFamily="18" charset="0"/>
                        </a:rPr>
                        <a:t>1</a:t>
                      </a:r>
                      <a:r>
                        <a:rPr lang="en-US" sz="1100" b="0" i="0" u="none" strike="noStrike" dirty="0">
                          <a:solidFill>
                            <a:srgbClr val="000000"/>
                          </a:solidFill>
                          <a:effectLst/>
                          <a:latin typeface="Times New Roman" panose="02020603050405020304" pitchFamily="18" charset="0"/>
                        </a:rPr>
                        <a:t>.75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100" b="0" i="0" u="none" strike="noStrike" dirty="0">
                          <a:solidFill>
                            <a:srgbClr val="000000"/>
                          </a:solidFill>
                          <a:effectLst/>
                          <a:latin typeface="Times New Roman" panose="02020603050405020304" pitchFamily="18" charset="0"/>
                        </a:rPr>
                        <a:t>11.50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100" b="0" i="0" u="none" strike="noStrike">
                          <a:solidFill>
                            <a:srgbClr val="000000"/>
                          </a:solidFill>
                          <a:effectLst/>
                          <a:latin typeface="Times New Roman" panose="02020603050405020304" pitchFamily="18" charset="0"/>
                        </a:rPr>
                        <a:t>9.50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en-US" sz="1100" b="0" i="0" u="none" strike="noStrike">
                          <a:solidFill>
                            <a:srgbClr val="000000"/>
                          </a:solidFill>
                          <a:effectLst/>
                          <a:latin typeface="Times New Roman" panose="02020603050405020304" pitchFamily="18" charset="0"/>
                        </a:rPr>
                        <a:t>Kịch bản: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Dừng giữ giờ 2 ENG A618 (dự kiến hết L/L cuối tháng 10) 1.5 tháng 18/08/25-09/2025, khai thác tháng 10, sau đó dừng từ 11/2025 - 01/26 để khai thác 02/2026-12/03/2026</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Swap ENG P770904/A616 với P771703/A512 (dự kiến hết hạn 02/2026) và giữ giờ 1 tháng 10/2025 để khai thác cao điểm tết 02/2026</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extLst>
                  <a:ext uri="{0D108BD9-81ED-4DB2-BD59-A6C34878D82A}">
                    <a16:rowId xmlns:a16="http://schemas.microsoft.com/office/drawing/2014/main" val="2603902588"/>
                  </a:ext>
                </a:extLst>
              </a:tr>
              <a:tr h="308872">
                <a:tc>
                  <a:txBody>
                    <a:bodyPr/>
                    <a:lstStyle/>
                    <a:p>
                      <a:pPr algn="ctr" fontAlgn="ctr"/>
                      <a:r>
                        <a:rPr lang="en-US" sz="1100" b="1" i="0" u="none" strike="noStrike">
                          <a:solidFill>
                            <a:srgbClr val="000000"/>
                          </a:solidFill>
                          <a:effectLst/>
                          <a:latin typeface="Times New Roman" panose="02020603050405020304" pitchFamily="18" charset="0"/>
                        </a:rPr>
                        <a:t>2</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100" b="1" i="0" u="none" strike="noStrike">
                          <a:solidFill>
                            <a:srgbClr val="000000"/>
                          </a:solidFill>
                          <a:effectLst/>
                          <a:latin typeface="Times New Roman" panose="02020603050405020304" pitchFamily="18" charset="0"/>
                        </a:rPr>
                        <a:t>A321 CEO AOG do thiếu ENG</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005650331"/>
                  </a:ext>
                </a:extLst>
              </a:tr>
              <a:tr h="330934">
                <a:tc>
                  <a:txBody>
                    <a:bodyPr/>
                    <a:lstStyle/>
                    <a:p>
                      <a:pPr algn="ctr" fontAlgn="ctr"/>
                      <a:r>
                        <a:rPr lang="en-US" sz="1100" b="1" i="0" u="none" strike="noStrike">
                          <a:solidFill>
                            <a:srgbClr val="000000"/>
                          </a:solidFill>
                          <a:effectLst/>
                          <a:latin typeface="Times New Roman" panose="02020603050405020304" pitchFamily="18" charset="0"/>
                        </a:rPr>
                        <a:t>3</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A321 dừng thực hiện BD</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1.10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3.50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FF0000"/>
                          </a:solidFill>
                          <a:effectLst/>
                          <a:latin typeface="Times New Roman" panose="02020603050405020304" pitchFamily="18" charset="0"/>
                        </a:rPr>
                        <a:t>4.80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FF0000"/>
                          </a:solidFill>
                          <a:effectLst/>
                          <a:latin typeface="Times New Roman" panose="02020603050405020304" pitchFamily="18" charset="0"/>
                        </a:rPr>
                        <a:t>5.00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0.30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EE0000"/>
                          </a:solidFill>
                          <a:effectLst/>
                          <a:latin typeface="Times New Roman" panose="02020603050405020304" pitchFamily="18" charset="0"/>
                        </a:rPr>
                        <a:t> </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098414"/>
                  </a:ext>
                </a:extLst>
              </a:tr>
              <a:tr h="375655">
                <a:tc>
                  <a:txBody>
                    <a:bodyPr/>
                    <a:lstStyle/>
                    <a:p>
                      <a:pPr algn="ctr" fontAlgn="ctr"/>
                      <a:r>
                        <a:rPr lang="en-US" sz="1100" b="1" i="0" u="none" strike="noStrike">
                          <a:solidFill>
                            <a:srgbClr val="000000"/>
                          </a:solidFill>
                          <a:effectLst/>
                          <a:latin typeface="Times New Roman" panose="02020603050405020304" pitchFamily="18" charset="0"/>
                        </a:rPr>
                        <a:t>4</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Tổng số tàu A321 Dừng</a:t>
                      </a:r>
                      <a:br>
                        <a:rPr lang="en-US" sz="1100" b="1" i="0" u="none" strike="noStrike">
                          <a:solidFill>
                            <a:srgbClr val="000000"/>
                          </a:solidFill>
                          <a:effectLst/>
                          <a:latin typeface="Times New Roman" panose="02020603050405020304" pitchFamily="18" charset="0"/>
                        </a:rPr>
                      </a:br>
                      <a:r>
                        <a:rPr lang="en-US" sz="1100" b="1" i="0" u="none" strike="noStrike">
                          <a:solidFill>
                            <a:srgbClr val="000000"/>
                          </a:solidFill>
                          <a:effectLst/>
                          <a:latin typeface="Times New Roman" panose="02020603050405020304" pitchFamily="18" charset="0"/>
                        </a:rPr>
                        <a:t>(Do thiếu ENG + BD)</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11.85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14.50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15.80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16.00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14.00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15.00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14.00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9.30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002857726"/>
                  </a:ext>
                </a:extLst>
              </a:tr>
              <a:tr h="563483">
                <a:tc>
                  <a:txBody>
                    <a:bodyPr/>
                    <a:lstStyle/>
                    <a:p>
                      <a:pPr algn="ctr" fontAlgn="ctr"/>
                      <a:r>
                        <a:rPr lang="en-US" sz="1100" b="1" i="0" u="none" strike="noStrike">
                          <a:solidFill>
                            <a:srgbClr val="000000"/>
                          </a:solidFill>
                          <a:effectLst/>
                          <a:latin typeface="Times New Roman" panose="02020603050405020304" pitchFamily="18" charset="0"/>
                        </a:rPr>
                        <a:t>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Tổng số tàu A321 thực tế có thể khai thác (bao gồm tàu thuê)</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53.75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52.50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51.20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53.00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54.00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55.40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59.70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Times New Roman" panose="02020603050405020304" pitchFamily="18" charset="0"/>
                        </a:rPr>
                        <a:t>Kịch bản:</a:t>
                      </a:r>
                      <a:br>
                        <a:rPr lang="vi-VN" sz="1100" b="0" i="0" u="none" strike="noStrike">
                          <a:solidFill>
                            <a:srgbClr val="000000"/>
                          </a:solidFill>
                          <a:effectLst/>
                          <a:latin typeface="Times New Roman" panose="02020603050405020304" pitchFamily="18" charset="0"/>
                        </a:rPr>
                      </a:br>
                      <a:r>
                        <a:rPr lang="vi-VN" sz="1100" b="0" i="0" u="none" strike="noStrike">
                          <a:solidFill>
                            <a:srgbClr val="000000"/>
                          </a:solidFill>
                          <a:effectLst/>
                          <a:latin typeface="Times New Roman" panose="02020603050405020304" pitchFamily="18" charset="0"/>
                        </a:rPr>
                        <a:t>- 2 tàu thuê ướt từ 21/07/25-21/01/26</a:t>
                      </a:r>
                      <a:br>
                        <a:rPr lang="vi-VN" sz="1100" b="0" i="0" u="none" strike="noStrike">
                          <a:solidFill>
                            <a:srgbClr val="000000"/>
                          </a:solidFill>
                          <a:effectLst/>
                          <a:latin typeface="Times New Roman" panose="02020603050405020304" pitchFamily="18" charset="0"/>
                        </a:rPr>
                      </a:br>
                      <a:r>
                        <a:rPr lang="vi-VN" sz="1100" b="0" i="0" u="none" strike="noStrike">
                          <a:solidFill>
                            <a:srgbClr val="000000"/>
                          </a:solidFill>
                          <a:effectLst/>
                          <a:latin typeface="Times New Roman" panose="02020603050405020304" pitchFamily="18" charset="0"/>
                        </a:rPr>
                        <a:t>- 5 tàu thuê khô  (12/2025: 2, 01/2026: 1, 02/2026: 1, 05/2026: 1)</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1851612"/>
                  </a:ext>
                </a:extLst>
              </a:tr>
              <a:tr h="375655">
                <a:tc>
                  <a:txBody>
                    <a:bodyPr/>
                    <a:lstStyle/>
                    <a:p>
                      <a:pPr algn="ctr" fontAlgn="ctr"/>
                      <a:r>
                        <a:rPr lang="en-US" sz="1100" b="1" i="0" u="none" strike="noStrike">
                          <a:solidFill>
                            <a:srgbClr val="000000"/>
                          </a:solidFill>
                          <a:effectLst/>
                          <a:latin typeface="Times New Roman" panose="02020603050405020304" pitchFamily="18" charset="0"/>
                        </a:rPr>
                        <a:t>6</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Tổng nhu cầu A321 yêu cầu từ KHPT</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53.00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50.20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50.10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50.00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56.00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62242270"/>
                  </a:ext>
                </a:extLst>
              </a:tr>
              <a:tr h="375655">
                <a:tc>
                  <a:txBody>
                    <a:bodyPr/>
                    <a:lstStyle/>
                    <a:p>
                      <a:pPr algn="ctr" fontAlgn="ctr"/>
                      <a:r>
                        <a:rPr lang="en-US" sz="1100" b="1" i="0" u="none" strike="noStrike">
                          <a:solidFill>
                            <a:srgbClr val="000000"/>
                          </a:solidFill>
                          <a:effectLst/>
                          <a:latin typeface="Times New Roman" panose="02020603050405020304" pitchFamily="18" charset="0"/>
                        </a:rPr>
                        <a:t>7</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Tổng số A321 so với nhu cầu của KHPT</a:t>
                      </a:r>
                      <a:br>
                        <a:rPr lang="en-US" sz="1100" b="1" i="0" u="none" strike="noStrike">
                          <a:solidFill>
                            <a:srgbClr val="000000"/>
                          </a:solidFill>
                          <a:effectLst/>
                          <a:latin typeface="Times New Roman" panose="02020603050405020304" pitchFamily="18" charset="0"/>
                        </a:rPr>
                      </a:br>
                      <a:r>
                        <a:rPr lang="en-US" sz="1100" b="1" i="0" u="none" strike="noStrike">
                          <a:solidFill>
                            <a:srgbClr val="000000"/>
                          </a:solidFill>
                          <a:effectLst/>
                          <a:latin typeface="Times New Roman" panose="02020603050405020304" pitchFamily="18" charset="0"/>
                        </a:rPr>
                        <a:t>(7) = (6) - (5)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0.75</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ctr" fontAlgn="ctr"/>
                      <a:r>
                        <a:rPr lang="en-US" sz="1100" b="0" i="0" u="none" strike="noStrike">
                          <a:solidFill>
                            <a:srgbClr val="000000"/>
                          </a:solidFill>
                          <a:effectLst/>
                          <a:latin typeface="Times New Roman" panose="02020603050405020304" pitchFamily="18" charset="0"/>
                        </a:rPr>
                        <a:t>2.30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100" b="0" i="0" u="none" strike="noStrike">
                          <a:solidFill>
                            <a:srgbClr val="000000"/>
                          </a:solidFill>
                          <a:effectLst/>
                          <a:latin typeface="Times New Roman" panose="02020603050405020304" pitchFamily="18" charset="0"/>
                        </a:rPr>
                        <a:t>1.10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670"/>
                    </a:solidFill>
                  </a:tcPr>
                </a:tc>
                <a:tc>
                  <a:txBody>
                    <a:bodyPr/>
                    <a:lstStyle/>
                    <a:p>
                      <a:pPr algn="ctr" fontAlgn="ctr"/>
                      <a:r>
                        <a:rPr lang="en-US" sz="1100" b="0" i="0" u="none" strike="noStrike">
                          <a:solidFill>
                            <a:srgbClr val="000000"/>
                          </a:solidFill>
                          <a:effectLst/>
                          <a:latin typeface="Times New Roman" panose="02020603050405020304" pitchFamily="18" charset="0"/>
                        </a:rPr>
                        <a:t>1.00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D6F"/>
                    </a:solidFill>
                  </a:tcPr>
                </a:tc>
                <a:tc>
                  <a:txBody>
                    <a:bodyPr/>
                    <a:lstStyle/>
                    <a:p>
                      <a:pPr algn="ctr" fontAlgn="ctr"/>
                      <a:r>
                        <a:rPr lang="en-US" sz="1100" b="0" i="0" u="none" strike="noStrike">
                          <a:solidFill>
                            <a:srgbClr val="000000"/>
                          </a:solidFill>
                          <a:effectLst/>
                          <a:latin typeface="Times New Roman" panose="02020603050405020304" pitchFamily="18" charset="0"/>
                        </a:rPr>
                        <a:t>2.00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ctr" fontAlgn="ctr"/>
                      <a:r>
                        <a:rPr lang="en-US" sz="1100" b="0" i="0" u="none" strike="noStrike">
                          <a:solidFill>
                            <a:srgbClr val="000000"/>
                          </a:solidFill>
                          <a:effectLst/>
                          <a:latin typeface="Times New Roman" panose="02020603050405020304" pitchFamily="18" charset="0"/>
                        </a:rPr>
                        <a:t>3.00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r>
                        <a:rPr lang="en-US" sz="1100" b="0" i="0" u="none" strike="noStrike">
                          <a:solidFill>
                            <a:srgbClr val="000000"/>
                          </a:solidFill>
                          <a:effectLst/>
                          <a:latin typeface="Times New Roman" panose="02020603050405020304" pitchFamily="18" charset="0"/>
                        </a:rPr>
                        <a:t>4.40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7D27F"/>
                    </a:solidFill>
                  </a:tcPr>
                </a:tc>
                <a:tc>
                  <a:txBody>
                    <a:bodyPr/>
                    <a:lstStyle/>
                    <a:p>
                      <a:pPr algn="ctr" fontAlgn="ctr"/>
                      <a:r>
                        <a:rPr lang="en-US" sz="1100" b="0" i="0" u="none" strike="noStrike">
                          <a:solidFill>
                            <a:srgbClr val="000000"/>
                          </a:solidFill>
                          <a:effectLst/>
                          <a:latin typeface="Times New Roman" panose="02020603050405020304" pitchFamily="18" charset="0"/>
                        </a:rPr>
                        <a:t>3.70</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A81"/>
                    </a:solidFill>
                  </a:tcPr>
                </a:tc>
                <a:tc>
                  <a:txBody>
                    <a:bodyPr/>
                    <a:lstStyle/>
                    <a:p>
                      <a:pPr algn="l" fontAlgn="ctr"/>
                      <a:r>
                        <a:rPr lang="en-US" sz="1100" b="0" i="0" u="none" strike="noStrike" dirty="0">
                          <a:solidFill>
                            <a:srgbClr val="000000"/>
                          </a:solidFill>
                          <a:effectLst/>
                          <a:latin typeface="Times New Roman" panose="02020603050405020304" pitchFamily="18" charset="0"/>
                        </a:rPr>
                        <a:t> </a:t>
                      </a:r>
                    </a:p>
                  </a:txBody>
                  <a:tcPr marL="6618" marR="6618" marT="6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752272"/>
                  </a:ext>
                </a:extLst>
              </a:tr>
            </a:tbl>
          </a:graphicData>
        </a:graphic>
      </p:graphicFrame>
    </p:spTree>
    <p:extLst>
      <p:ext uri="{BB962C8B-B14F-4D97-AF65-F5344CB8AC3E}">
        <p14:creationId xmlns:p14="http://schemas.microsoft.com/office/powerpoint/2010/main" val="40325253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a:extLst>
              <a:ext uri="{FF2B5EF4-FFF2-40B4-BE49-F238E27FC236}">
                <a16:creationId xmlns:a16="http://schemas.microsoft.com/office/drawing/2014/main" id="{C6FEA97E-CB80-4AA8-8950-DBC2ECA362D5}"/>
              </a:ext>
            </a:extLst>
          </p:cNvPr>
          <p:cNvGraphicFramePr>
            <a:graphicFrameLocks noGrp="1"/>
          </p:cNvGraphicFramePr>
          <p:nvPr>
            <p:extLst/>
          </p:nvPr>
        </p:nvGraphicFramePr>
        <p:xfrm>
          <a:off x="381000" y="513534"/>
          <a:ext cx="11582400" cy="6317184"/>
        </p:xfrm>
        <a:graphic>
          <a:graphicData uri="http://schemas.openxmlformats.org/drawingml/2006/table">
            <a:tbl>
              <a:tblPr/>
              <a:tblGrid>
                <a:gridCol w="367209">
                  <a:extLst>
                    <a:ext uri="{9D8B030D-6E8A-4147-A177-3AD203B41FA5}">
                      <a16:colId xmlns:a16="http://schemas.microsoft.com/office/drawing/2014/main" val="1333450527"/>
                    </a:ext>
                  </a:extLst>
                </a:gridCol>
                <a:gridCol w="2524565">
                  <a:extLst>
                    <a:ext uri="{9D8B030D-6E8A-4147-A177-3AD203B41FA5}">
                      <a16:colId xmlns:a16="http://schemas.microsoft.com/office/drawing/2014/main" val="400861185"/>
                    </a:ext>
                  </a:extLst>
                </a:gridCol>
                <a:gridCol w="452892">
                  <a:extLst>
                    <a:ext uri="{9D8B030D-6E8A-4147-A177-3AD203B41FA5}">
                      <a16:colId xmlns:a16="http://schemas.microsoft.com/office/drawing/2014/main" val="1217709462"/>
                    </a:ext>
                  </a:extLst>
                </a:gridCol>
                <a:gridCol w="514094">
                  <a:extLst>
                    <a:ext uri="{9D8B030D-6E8A-4147-A177-3AD203B41FA5}">
                      <a16:colId xmlns:a16="http://schemas.microsoft.com/office/drawing/2014/main" val="2882438134"/>
                    </a:ext>
                  </a:extLst>
                </a:gridCol>
                <a:gridCol w="489613">
                  <a:extLst>
                    <a:ext uri="{9D8B030D-6E8A-4147-A177-3AD203B41FA5}">
                      <a16:colId xmlns:a16="http://schemas.microsoft.com/office/drawing/2014/main" val="1035340649"/>
                    </a:ext>
                  </a:extLst>
                </a:gridCol>
                <a:gridCol w="489613">
                  <a:extLst>
                    <a:ext uri="{9D8B030D-6E8A-4147-A177-3AD203B41FA5}">
                      <a16:colId xmlns:a16="http://schemas.microsoft.com/office/drawing/2014/main" val="1545078690"/>
                    </a:ext>
                  </a:extLst>
                </a:gridCol>
                <a:gridCol w="514094">
                  <a:extLst>
                    <a:ext uri="{9D8B030D-6E8A-4147-A177-3AD203B41FA5}">
                      <a16:colId xmlns:a16="http://schemas.microsoft.com/office/drawing/2014/main" val="303825875"/>
                    </a:ext>
                  </a:extLst>
                </a:gridCol>
                <a:gridCol w="501853">
                  <a:extLst>
                    <a:ext uri="{9D8B030D-6E8A-4147-A177-3AD203B41FA5}">
                      <a16:colId xmlns:a16="http://schemas.microsoft.com/office/drawing/2014/main" val="3090450353"/>
                    </a:ext>
                  </a:extLst>
                </a:gridCol>
                <a:gridCol w="477371">
                  <a:extLst>
                    <a:ext uri="{9D8B030D-6E8A-4147-A177-3AD203B41FA5}">
                      <a16:colId xmlns:a16="http://schemas.microsoft.com/office/drawing/2014/main" val="4283031715"/>
                    </a:ext>
                  </a:extLst>
                </a:gridCol>
                <a:gridCol w="477371">
                  <a:extLst>
                    <a:ext uri="{9D8B030D-6E8A-4147-A177-3AD203B41FA5}">
                      <a16:colId xmlns:a16="http://schemas.microsoft.com/office/drawing/2014/main" val="4054242429"/>
                    </a:ext>
                  </a:extLst>
                </a:gridCol>
                <a:gridCol w="4773725">
                  <a:extLst>
                    <a:ext uri="{9D8B030D-6E8A-4147-A177-3AD203B41FA5}">
                      <a16:colId xmlns:a16="http://schemas.microsoft.com/office/drawing/2014/main" val="1583049258"/>
                    </a:ext>
                  </a:extLst>
                </a:gridCol>
              </a:tblGrid>
              <a:tr h="267992">
                <a:tc gridSpan="11">
                  <a:txBody>
                    <a:bodyPr/>
                    <a:lstStyle/>
                    <a:p>
                      <a:pPr algn="ctr" fontAlgn="ctr"/>
                      <a:r>
                        <a:rPr lang="en-US" sz="14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(CẬP NHẬT </a:t>
                      </a:r>
                      <a:r>
                        <a:rPr lang="en-US" sz="1400" b="1" i="0" u="none" strike="noStrike" dirty="0" smtClean="0">
                          <a:solidFill>
                            <a:srgbClr val="000000"/>
                          </a:solidFill>
                          <a:effectLst/>
                          <a:latin typeface="Times New Roman" panose="02020603050405020304" pitchFamily="18" charset="0"/>
                          <a:cs typeface="Times New Roman" panose="02020603050405020304" pitchFamily="18" charset="0"/>
                        </a:rPr>
                        <a:t>01/08)</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870" marR="5870" marT="58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36867587"/>
                  </a:ext>
                </a:extLst>
              </a:tr>
              <a:tr h="253916">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Jan-26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Feb-26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Note</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052996379"/>
                  </a:ext>
                </a:extLst>
              </a:tr>
              <a:tr h="479136">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0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FF0000"/>
                          </a:solidFill>
                          <a:effectLst/>
                          <a:latin typeface="Times New Roman" panose="02020603050405020304" pitchFamily="18" charset="0"/>
                          <a:cs typeface="Times New Roman" panose="02020603050405020304" pitchFamily="18" charset="0"/>
                        </a:rPr>
                        <a:t>2.0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FF0000"/>
                          </a:solidFill>
                          <a:effectLst/>
                          <a:latin typeface="Times New Roman" panose="02020603050405020304" pitchFamily="18" charset="0"/>
                          <a:cs typeface="Times New Roman" panose="02020603050405020304" pitchFamily="18" charset="0"/>
                        </a:rPr>
                        <a:t>2.0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FF0000"/>
                          </a:solidFill>
                          <a:effectLst/>
                          <a:latin typeface="Times New Roman" panose="02020603050405020304" pitchFamily="18" charset="0"/>
                          <a:cs typeface="Times New Roman" panose="02020603050405020304" pitchFamily="18" charset="0"/>
                        </a:rPr>
                        <a:t>1.5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- 08/2025: tăng 0.5 tàu do ENG về muộn, trong đó giai doạn từ 11-25/08 có 3 tàu A350 dừng (KH cũ 2 tàu dừng)</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- 09/2025: tăng 0.5 tàu do ENG về muộn</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8152960"/>
                  </a:ext>
                </a:extLst>
              </a:tr>
              <a:tr h="33295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A350 AOG do thiếu ENG</a:t>
                      </a:r>
                      <a:br>
                        <a:rPr lang="en-US" sz="1000" b="1" i="0" u="none" strike="noStrike">
                          <a:solidFill>
                            <a:srgbClr val="000000"/>
                          </a:solidFill>
                          <a:effectLst/>
                          <a:latin typeface="Times New Roman" panose="02020603050405020304" pitchFamily="18" charset="0"/>
                          <a:cs typeface="Times New Roman" panose="02020603050405020304" pitchFamily="18" charset="0"/>
                        </a:rPr>
                      </a:br>
                      <a:r>
                        <a:rPr lang="en-US" sz="1000" b="1" i="0" u="none" strike="noStrike">
                          <a:solidFill>
                            <a:srgbClr val="000000"/>
                          </a:solidFill>
                          <a:effectLst/>
                          <a:latin typeface="Times New Roman" panose="02020603050405020304" pitchFamily="18" charset="0"/>
                          <a:cs typeface="Times New Roman" panose="02020603050405020304" pitchFamily="18" charset="0"/>
                        </a:rPr>
                        <a:t>(last update to KHPT 01/07)</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C2C2"/>
                    </a:solidFill>
                  </a:tcPr>
                </a:tc>
                <a:extLst>
                  <a:ext uri="{0D108BD9-81ED-4DB2-BD59-A6C34878D82A}">
                    <a16:rowId xmlns:a16="http://schemas.microsoft.com/office/drawing/2014/main" val="3500107830"/>
                  </a:ext>
                </a:extLst>
              </a:tr>
              <a:tr h="739007">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0.2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000" b="0" i="0" u="none" strike="noStrike" dirty="0">
                          <a:solidFill>
                            <a:schemeClr val="tx1"/>
                          </a:solidFill>
                          <a:effectLst/>
                          <a:latin typeface="Times New Roman" panose="02020603050405020304" pitchFamily="18" charset="0"/>
                          <a:cs typeface="Times New Roman" panose="02020603050405020304" pitchFamily="18" charset="0"/>
                        </a:rPr>
                        <a:t>- 07/2025: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Giảm</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0.2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tàu</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dừng</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do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lùi</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Check A894, A898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chỉ</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làm</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gói</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tối</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thiểu</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rút</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ngắt</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RTS A886 2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ngày</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dự</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kiến</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hết</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03/07 (KH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cũ</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05/07)</a:t>
                      </a:r>
                      <a:br>
                        <a:rPr lang="en-US" sz="1000" b="0" i="0" u="none" strike="noStrike" dirty="0">
                          <a:solidFill>
                            <a:schemeClr val="tx1"/>
                          </a:solidFill>
                          <a:effectLst/>
                          <a:latin typeface="Times New Roman" panose="02020603050405020304" pitchFamily="18" charset="0"/>
                          <a:cs typeface="Times New Roman" panose="02020603050405020304" pitchFamily="18" charset="0"/>
                        </a:rPr>
                      </a:br>
                      <a:r>
                        <a:rPr lang="en-US" sz="1000" b="0" i="0" u="none" strike="noStrike" dirty="0">
                          <a:solidFill>
                            <a:schemeClr val="tx1"/>
                          </a:solidFill>
                          <a:effectLst/>
                          <a:latin typeface="Times New Roman" panose="02020603050405020304" pitchFamily="18" charset="0"/>
                          <a:cs typeface="Times New Roman" panose="02020603050405020304" pitchFamily="18" charset="0"/>
                        </a:rPr>
                        <a:t>- 09/2025: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xin</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NN Y3 A890 (TAT 10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ngày</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để</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giữ</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nguồn</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lực</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do A895 RTS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muộn</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dự</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kiến</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15/09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thay</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KH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cũ</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cuối</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000" b="0" i="0" u="none" strike="noStrike" dirty="0" err="1">
                          <a:solidFill>
                            <a:schemeClr val="tx1"/>
                          </a:solidFill>
                          <a:effectLst/>
                          <a:latin typeface="Times New Roman" panose="02020603050405020304" pitchFamily="18" charset="0"/>
                          <a:cs typeface="Times New Roman" panose="02020603050405020304" pitchFamily="18" charset="0"/>
                        </a:rPr>
                        <a:t>tháng</a:t>
                      </a:r>
                      <a:r>
                        <a:rPr lang="en-US" sz="1000" b="0" i="0" u="none" strike="noStrike" dirty="0">
                          <a:solidFill>
                            <a:schemeClr val="tx1"/>
                          </a:solidFill>
                          <a:effectLst/>
                          <a:latin typeface="Times New Roman" panose="02020603050405020304" pitchFamily="18" charset="0"/>
                          <a:cs typeface="Times New Roman" panose="02020603050405020304" pitchFamily="18" charset="0"/>
                        </a:rPr>
                        <a:t> 8/2025)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312541894"/>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000" b="1" i="0" u="none" strike="noStrike">
                          <a:solidFill>
                            <a:srgbClr val="000000"/>
                          </a:solidFill>
                          <a:effectLst/>
                          <a:latin typeface="Times New Roman" panose="02020603050405020304" pitchFamily="18" charset="0"/>
                          <a:cs typeface="Times New Roman" panose="02020603050405020304" pitchFamily="18" charset="0"/>
                        </a:rPr>
                      </a:br>
                      <a:r>
                        <a:rPr lang="en-US" sz="10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1.2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3024644"/>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000" b="1" i="0" u="none" strike="noStrike">
                          <a:solidFill>
                            <a:srgbClr val="000000"/>
                          </a:solidFill>
                          <a:effectLst/>
                          <a:latin typeface="Times New Roman" panose="02020603050405020304" pitchFamily="18" charset="0"/>
                          <a:cs typeface="Times New Roman" panose="02020603050405020304" pitchFamily="18" charset="0"/>
                        </a:rPr>
                      </a:br>
                      <a:r>
                        <a:rPr lang="en-US" sz="10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12.8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13.8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15443420"/>
                  </a:ext>
                </a:extLst>
              </a:tr>
              <a:tr h="267992">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0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Rủi</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ro</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phát</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sinh</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tàu</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AOG do ENG A863 BSI 50CY.</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4615719"/>
                  </a:ext>
                </a:extLst>
              </a:tr>
              <a:tr h="1080086">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FF0000"/>
                          </a:solidFill>
                          <a:effectLst/>
                          <a:latin typeface="Times New Roman" panose="02020603050405020304" pitchFamily="18" charset="0"/>
                          <a:cs typeface="Times New Roman" panose="02020603050405020304" pitchFamily="18" charset="0"/>
                        </a:rPr>
                        <a:t>1.3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FF0000"/>
                          </a:solidFill>
                          <a:effectLst/>
                          <a:latin typeface="Times New Roman" panose="02020603050405020304" pitchFamily="18" charset="0"/>
                          <a:cs typeface="Times New Roman" panose="02020603050405020304" pitchFamily="18" charset="0"/>
                        </a:rPr>
                        <a:t>1.4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FF0000"/>
                          </a:solidFill>
                          <a:effectLst/>
                          <a:latin typeface="Times New Roman" panose="02020603050405020304" pitchFamily="18" charset="0"/>
                          <a:cs typeface="Times New Roman" panose="02020603050405020304" pitchFamily="18" charset="0"/>
                        </a:rPr>
                        <a:t>1.3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0.2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000" b="0" i="0" u="none" strike="noStrike" dirty="0">
                          <a:solidFill>
                            <a:schemeClr val="tx1"/>
                          </a:solidFill>
                          <a:effectLst/>
                          <a:latin typeface="+mn-lt"/>
                          <a:cs typeface="Times New Roman" panose="02020603050405020304" pitchFamily="18" charset="0"/>
                        </a:rPr>
                        <a:t>'- 07/2025: Tăng 0.5 tàu do A863 AOG từ 27/06 - 01/08 do va chạm với A338, lùi các định kỳ dưới đây sáng tháng 8 để bay bù A863:</a:t>
                      </a:r>
                    </a:p>
                    <a:p>
                      <a:pPr algn="l" fontAlgn="ctr"/>
                      <a:r>
                        <a:rPr lang="vi-VN" sz="1000" b="0" i="0" u="none" strike="noStrike" dirty="0">
                          <a:solidFill>
                            <a:schemeClr val="tx1"/>
                          </a:solidFill>
                          <a:effectLst/>
                          <a:latin typeface="Times New Roman" panose="02020603050405020304" pitchFamily="18" charset="0"/>
                          <a:cs typeface="Times New Roman" panose="02020603050405020304" pitchFamily="18" charset="0"/>
                        </a:rPr>
                        <a:t>+ A879: A04 + PIVOT PIN từ 25-28/07 (xin NN làm gói MIN WS tháng 08)</a:t>
                      </a:r>
                      <a:br>
                        <a:rPr lang="vi-VN" sz="1000" b="0" i="0" u="none" strike="noStrike" dirty="0">
                          <a:solidFill>
                            <a:schemeClr val="tx1"/>
                          </a:solidFill>
                          <a:effectLst/>
                          <a:latin typeface="Times New Roman" panose="02020603050405020304" pitchFamily="18" charset="0"/>
                          <a:cs typeface="Times New Roman" panose="02020603050405020304" pitchFamily="18" charset="0"/>
                        </a:rPr>
                      </a:br>
                      <a:r>
                        <a:rPr lang="vi-VN" sz="1000" b="0" i="0" u="none" strike="noStrike" dirty="0">
                          <a:solidFill>
                            <a:schemeClr val="tx1"/>
                          </a:solidFill>
                          <a:effectLst/>
                          <a:latin typeface="Times New Roman" panose="02020603050405020304" pitchFamily="18" charset="0"/>
                          <a:cs typeface="Times New Roman" panose="02020603050405020304" pitchFamily="18" charset="0"/>
                        </a:rPr>
                        <a:t>+ A872: A04 từ 29-30/07 (xin NN làm gói MIN WS tháng 08)</a:t>
                      </a:r>
                      <a:br>
                        <a:rPr lang="vi-VN" sz="1000" b="0" i="0" u="none" strike="noStrike" dirty="0">
                          <a:solidFill>
                            <a:schemeClr val="tx1"/>
                          </a:solidFill>
                          <a:effectLst/>
                          <a:latin typeface="Times New Roman" panose="02020603050405020304" pitchFamily="18" charset="0"/>
                          <a:cs typeface="Times New Roman" panose="02020603050405020304" pitchFamily="18" charset="0"/>
                        </a:rPr>
                      </a:br>
                      <a:r>
                        <a:rPr lang="vi-VN" sz="1000" b="0" i="0" u="none" strike="noStrike" dirty="0">
                          <a:solidFill>
                            <a:schemeClr val="tx1"/>
                          </a:solidFill>
                          <a:effectLst/>
                          <a:latin typeface="Times New Roman" panose="02020603050405020304" pitchFamily="18" charset="0"/>
                          <a:cs typeface="Times New Roman" panose="02020603050405020304" pitchFamily="18" charset="0"/>
                        </a:rPr>
                        <a:t>+ A864: A06 từ 31/07-03/08 (xin NN làm gói MIN WS tháng 08).</a:t>
                      </a:r>
                      <a:r>
                        <a:rPr lang="vi-VN" sz="1000" b="0" i="0" u="none" strike="noStrike" dirty="0">
                          <a:solidFill>
                            <a:srgbClr val="EE0000"/>
                          </a:solidFill>
                          <a:effectLst/>
                          <a:latin typeface="Times New Roman" panose="02020603050405020304" pitchFamily="18" charset="0"/>
                          <a:cs typeface="Times New Roman" panose="02020603050405020304" pitchFamily="18" charset="0"/>
                        </a:rPr>
                        <a:t/>
                      </a:r>
                      <a:br>
                        <a:rPr lang="vi-VN" sz="1000" b="0" i="0" u="none" strike="noStrike" dirty="0">
                          <a:solidFill>
                            <a:srgbClr val="EE0000"/>
                          </a:solidFill>
                          <a:effectLst/>
                          <a:latin typeface="Times New Roman" panose="02020603050405020304" pitchFamily="18" charset="0"/>
                          <a:cs typeface="Times New Roman" panose="02020603050405020304" pitchFamily="18" charset="0"/>
                        </a:rPr>
                      </a:br>
                      <a:r>
                        <a:rPr lang="vi-VN" sz="1000" b="0" i="0" u="none" strike="noStrike" dirty="0">
                          <a:solidFill>
                            <a:srgbClr val="EE0000"/>
                          </a:solidFill>
                          <a:effectLst/>
                          <a:latin typeface="Times New Roman" panose="02020603050405020304" pitchFamily="18" charset="0"/>
                          <a:cs typeface="Times New Roman" panose="02020603050405020304" pitchFamily="18" charset="0"/>
                        </a:rPr>
                        <a:t>- 09/2025: tăng 0.3 tàu do bổ sung sơn cánh A871</a:t>
                      </a:r>
                    </a:p>
                    <a:p>
                      <a:pPr marL="0" algn="l" defTabSz="914400" rtl="0" eaLnBrk="1" fontAlgn="ctr" latinLnBrk="0" hangingPunct="1"/>
                      <a:r>
                        <a:rPr lang="vi-VN" sz="1000" b="0" i="0" u="none" strike="noStrike" kern="1200" dirty="0">
                          <a:solidFill>
                            <a:srgbClr val="EE0000"/>
                          </a:solidFill>
                          <a:effectLst/>
                          <a:latin typeface="Times New Roman" panose="02020603050405020304" pitchFamily="18" charset="0"/>
                          <a:ea typeface="+mn-ea"/>
                          <a:cs typeface="Times New Roman" panose="02020603050405020304" pitchFamily="18" charset="0"/>
                        </a:rPr>
                        <a:t>- 10-11/2025: tăng 1.3-1.4 tàu do dồn dịch lịch từ tháng 07/2025 và thực hiện AD US-2025-06-13 “Floor Beam Fiting Inspection” deadline: 08/12/2027 trong check Y6 A872/A873/A879, Y3 A871</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8008082"/>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7</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0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000" b="1" i="0" u="none" strike="noStrike">
                          <a:solidFill>
                            <a:srgbClr val="000000"/>
                          </a:solidFill>
                          <a:effectLst/>
                          <a:latin typeface="Times New Roman" panose="02020603050405020304" pitchFamily="18" charset="0"/>
                          <a:cs typeface="Times New Roman" panose="02020603050405020304" pitchFamily="18" charset="0"/>
                        </a:rPr>
                      </a:br>
                      <a:r>
                        <a:rPr lang="nb-NO" sz="10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9813369"/>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16.0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15.7</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15.7</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16.0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16.0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16.8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7241593"/>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9</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000" b="1" i="0" u="none" strike="noStrike">
                          <a:solidFill>
                            <a:srgbClr val="000000"/>
                          </a:solidFill>
                          <a:effectLst/>
                          <a:latin typeface="Times New Roman" panose="02020603050405020304" pitchFamily="18" charset="0"/>
                          <a:cs typeface="Times New Roman" panose="02020603050405020304" pitchFamily="18" charset="0"/>
                        </a:rPr>
                      </a:br>
                      <a:r>
                        <a:rPr lang="en-US" sz="10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8535145"/>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000" b="1" i="0" u="none" strike="noStrike">
                          <a:solidFill>
                            <a:srgbClr val="000000"/>
                          </a:solidFill>
                          <a:effectLst/>
                          <a:latin typeface="Times New Roman" panose="02020603050405020304" pitchFamily="18" charset="0"/>
                          <a:cs typeface="Times New Roman" panose="02020603050405020304" pitchFamily="18" charset="0"/>
                        </a:rPr>
                      </a:br>
                      <a:r>
                        <a:rPr lang="en-US" sz="10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28.6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26.2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26.6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26.7</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28.5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30.6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583304769"/>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Tổng nhu cầu A350/B787 yêu cầu từ KHPT</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29.0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28.0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30.0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1814663"/>
                  </a:ext>
                </a:extLst>
              </a:tr>
              <a:tr h="32483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A350/B787 so với nhu cầu của KHPT</a:t>
                      </a:r>
                      <a:br>
                        <a:rPr lang="en-US" sz="1000" b="1" i="0" u="none" strike="noStrike">
                          <a:solidFill>
                            <a:srgbClr val="000000"/>
                          </a:solidFill>
                          <a:effectLst/>
                          <a:latin typeface="Times New Roman" panose="02020603050405020304" pitchFamily="18" charset="0"/>
                          <a:cs typeface="Times New Roman" panose="02020603050405020304" pitchFamily="18" charset="0"/>
                        </a:rPr>
                      </a:br>
                      <a:r>
                        <a:rPr lang="en-US" sz="1000" b="1" i="0" u="none" strike="noStrike">
                          <a:solidFill>
                            <a:srgbClr val="000000"/>
                          </a:solidFill>
                          <a:effectLst/>
                          <a:latin typeface="Times New Roman" panose="02020603050405020304" pitchFamily="18" charset="0"/>
                          <a:cs typeface="Times New Roman" panose="02020603050405020304" pitchFamily="18" charset="0"/>
                        </a:rPr>
                        <a:t>(12) = (11) - (10)</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-0.8</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-0.4</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-0.3</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0.5</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0.6</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870" marR="5870" marT="58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086287109"/>
                  </a:ext>
                </a:extLst>
              </a:tr>
            </a:tbl>
          </a:graphicData>
        </a:graphic>
      </p:graphicFrame>
    </p:spTree>
    <p:extLst>
      <p:ext uri="{BB962C8B-B14F-4D97-AF65-F5344CB8AC3E}">
        <p14:creationId xmlns:p14="http://schemas.microsoft.com/office/powerpoint/2010/main" val="29870846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70778"/>
            <a:ext cx="2743200" cy="365125"/>
          </a:xfrm>
        </p:spPr>
        <p:txBody>
          <a:bodyPr>
            <a:normAutofit/>
          </a:bodyPr>
          <a:lstStyle/>
          <a:p>
            <a:fld id="{6C6B6B8D-D74E-47CD-B5EE-156060B7CD17}" type="slidenum">
              <a:rPr lang="en-US" sz="1100" smtClean="0"/>
              <a:pPr/>
              <a:t>41</a:t>
            </a:fld>
            <a:endParaRPr lang="en-US" sz="1100" dirty="0"/>
          </a:p>
        </p:txBody>
      </p:sp>
      <p:sp>
        <p:nvSpPr>
          <p:cNvPr id="21" name="TextBox 20"/>
          <p:cNvSpPr txBox="1"/>
          <p:nvPr/>
        </p:nvSpPr>
        <p:spPr>
          <a:xfrm>
            <a:off x="685800" y="59329"/>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31</a:t>
            </a:r>
            <a:endParaRPr lang="vi-VN" sz="2700" dirty="0"/>
          </a:p>
        </p:txBody>
      </p:sp>
      <p:sp>
        <p:nvSpPr>
          <p:cNvPr id="22" name="TextBox 21"/>
          <p:cNvSpPr txBox="1"/>
          <p:nvPr/>
        </p:nvSpPr>
        <p:spPr>
          <a:xfrm>
            <a:off x="381000" y="3429000"/>
            <a:ext cx="11674151" cy="317221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2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2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endParaRPr lang="en-US" sz="1400" b="1" dirty="0">
              <a:latin typeface="Times New Roman" panose="02020603050405020304" pitchFamily="18" charset="0"/>
              <a:cs typeface="Times New Roman" panose="02020603050405020304" pitchFamily="18" charset="0"/>
            </a:endParaRPr>
          </a:p>
          <a:p>
            <a:pPr marL="285750" indent="-285750">
              <a:lnSpc>
                <a:spcPct val="120000"/>
              </a:lnSpc>
              <a:buFontTx/>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19a,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16ea.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09</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07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panose="02020603050405020304" pitchFamily="18" charset="0"/>
              <a:cs typeface="Times New Roman" panose="02020603050405020304" pitchFamily="18" charset="0"/>
            </a:endParaRPr>
          </a:p>
          <a:p>
            <a:pPr lvl="1">
              <a:lnSpc>
                <a:spcPct val="120000"/>
              </a:lnSpc>
              <a:buClr>
                <a:srgbClr val="000000"/>
              </a:buClr>
              <a:buSzPts val="1300"/>
            </a:pPr>
            <a:r>
              <a:rPr lang="en-US" sz="1400" dirty="0">
                <a:latin typeface="Times New Roman" panose="02020603050405020304" pitchFamily="18" charset="0"/>
                <a:cs typeface="Times New Roman" panose="02020603050405020304" pitchFamily="18" charset="0"/>
              </a:rPr>
              <a:t>=&gt; KT </a:t>
            </a:r>
            <a:r>
              <a:rPr lang="en-US" sz="1400" dirty="0" err="1">
                <a:latin typeface="Times New Roman" panose="02020603050405020304" pitchFamily="18" charset="0"/>
                <a:cs typeface="Times New Roman" panose="02020603050405020304" pitchFamily="18" charset="0"/>
              </a:rPr>
              <a:t>tiếp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tục</a:t>
            </a:r>
            <a:r>
              <a:rPr lang="en-US" sz="1400" dirty="0">
                <a:latin typeface="Times New Roman" panose="02020603050405020304" pitchFamily="18" charset="0"/>
                <a:cs typeface="Times New Roman" panose="02020603050405020304" pitchFamily="18" charset="0"/>
              </a:rPr>
              <a:t> claim Collins support FOC loan chiller </a:t>
            </a:r>
            <a:r>
              <a:rPr lang="en-US" sz="1400" dirty="0" err="1">
                <a:latin typeface="Times New Roman" panose="02020603050405020304" pitchFamily="18" charset="0"/>
                <a:cs typeface="Times New Roman" panose="02020603050405020304" pitchFamily="18" charset="0"/>
              </a:rPr>
              <a:t>khắc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on-wing  </a:t>
            </a:r>
          </a:p>
          <a:p>
            <a:pPr marL="285750" indent="-285750">
              <a:lnSpc>
                <a:spcPct val="120000"/>
              </a:lnSpc>
              <a:buClr>
                <a:srgbClr val="000000"/>
              </a:buClr>
              <a:buSzPts val="1300"/>
              <a:buFont typeface="Times New Roman" panose="02020603050405020304" pitchFamily="18" charset="0"/>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oven: </a:t>
            </a:r>
            <a:r>
              <a:rPr lang="en-US" sz="1400" b="1" dirty="0">
                <a:solidFill>
                  <a:srgbClr val="FF0000"/>
                </a:solidFill>
                <a:latin typeface="Times New Roman" panose="02020603050405020304" pitchFamily="18" charset="0"/>
                <a:cs typeface="Times New Roman" panose="02020603050405020304" pitchFamily="18" charset="0"/>
              </a:rPr>
              <a:t>hỏng </a:t>
            </a:r>
            <a:r>
              <a:rPr lang="en-US" sz="1400" b="1" dirty="0" err="1">
                <a:solidFill>
                  <a:srgbClr val="FF0000"/>
                </a:solidFill>
                <a:latin typeface="Times New Roman" panose="02020603050405020304" pitchFamily="18" charset="0"/>
                <a:cs typeface="Times New Roman" panose="02020603050405020304" pitchFamily="18" charset="0"/>
              </a:rPr>
              <a:t>hóc</a:t>
            </a:r>
            <a:r>
              <a:rPr lang="en-US" sz="1400" b="1" dirty="0">
                <a:solidFill>
                  <a:srgbClr val="FF0000"/>
                </a:solidFill>
                <a:latin typeface="Times New Roman" panose="02020603050405020304" pitchFamily="18" charset="0"/>
                <a:cs typeface="Times New Roman" panose="02020603050405020304" pitchFamily="18" charset="0"/>
              </a:rPr>
              <a:t> 20ea, khắc </a:t>
            </a:r>
            <a:r>
              <a:rPr lang="en-US" sz="1400" b="1" dirty="0" err="1">
                <a:solidFill>
                  <a:srgbClr val="FF0000"/>
                </a:solidFill>
                <a:latin typeface="Times New Roman" panose="02020603050405020304" pitchFamily="18" charset="0"/>
                <a:cs typeface="Times New Roman" panose="02020603050405020304" pitchFamily="18" charset="0"/>
              </a:rPr>
              <a:t>phục</a:t>
            </a:r>
            <a:r>
              <a:rPr lang="en-US" sz="1400" b="1" dirty="0">
                <a:solidFill>
                  <a:srgbClr val="FF0000"/>
                </a:solidFill>
                <a:latin typeface="Times New Roman" panose="02020603050405020304" pitchFamily="18" charset="0"/>
                <a:cs typeface="Times New Roman" panose="02020603050405020304" pitchFamily="18" charset="0"/>
              </a:rPr>
              <a:t> 04ea, </a:t>
            </a:r>
            <a:r>
              <a:rPr lang="en-US" sz="1400" b="1" dirty="0" err="1">
                <a:solidFill>
                  <a:srgbClr val="FF0000"/>
                </a:solidFill>
                <a:latin typeface="Times New Roman" panose="02020603050405020304" pitchFamily="18" charset="0"/>
                <a:cs typeface="Times New Roman" panose="02020603050405020304" pitchFamily="18" charset="0"/>
              </a:rPr>
              <a:t>tồn</a:t>
            </a:r>
            <a:r>
              <a:rPr lang="en-US" sz="1400" b="1" dirty="0">
                <a:solidFill>
                  <a:srgbClr val="FF0000"/>
                </a:solidFill>
                <a:latin typeface="Times New Roman" panose="02020603050405020304" pitchFamily="18" charset="0"/>
                <a:cs typeface="Times New Roman" panose="02020603050405020304" pitchFamily="18" charset="0"/>
              </a:rPr>
              <a:t> 16ea </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Safran A350A: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13ea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 oven). Oven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A350A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nhiều</a:t>
            </a:r>
            <a:r>
              <a:rPr lang="en-US" sz="1400" dirty="0">
                <a:solidFill>
                  <a:schemeClr val="tx1"/>
                </a:solidFill>
                <a:latin typeface="Times New Roman" panose="02020603050405020304" pitchFamily="18" charset="0"/>
                <a:cs typeface="Times New Roman" panose="02020603050405020304" pitchFamily="18" charset="0"/>
              </a:rPr>
              <a:t>, obsolete .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32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02 oven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về</a:t>
            </a:r>
            <a:endParaRPr lang="en-US" sz="1400" dirty="0">
              <a:solidFill>
                <a:schemeClr val="tx1"/>
              </a:solidFill>
              <a:latin typeface="Times New Roman" panose="02020603050405020304" pitchFamily="18" charset="0"/>
              <a:cs typeface="Times New Roman" panose="02020603050405020304" pitchFamily="18" charset="0"/>
            </a:endParaRPr>
          </a:p>
          <a:p>
            <a:pPr lvl="1">
              <a:lnSpc>
                <a:spcPct val="120000"/>
              </a:lnSpc>
              <a:buClr>
                <a:srgbClr val="000000"/>
              </a:buClr>
              <a:buSzPts val="1300"/>
            </a:pPr>
            <a:r>
              <a:rPr lang="en-US" sz="1400" dirty="0">
                <a:solidFill>
                  <a:schemeClr val="tx1"/>
                </a:solidFill>
                <a:latin typeface="Times New Roman" panose="02020603050405020304" pitchFamily="18" charset="0"/>
                <a:cs typeface="Times New Roman" panose="02020603050405020304" pitchFamily="18" charset="0"/>
              </a:rPr>
              <a:t>     +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KT: Safran </a:t>
            </a:r>
            <a:r>
              <a:rPr lang="en-US" sz="1400" dirty="0" err="1">
                <a:solidFill>
                  <a:schemeClr val="tx1"/>
                </a:solidFill>
                <a:latin typeface="Times New Roman" panose="02020603050405020304" pitchFamily="18" charset="0"/>
                <a:cs typeface="Times New Roman" panose="02020603050405020304" pitchFamily="18" charset="0"/>
              </a:rPr>
              <a:t>phương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án</a:t>
            </a:r>
            <a:r>
              <a:rPr lang="en-US" sz="1400" dirty="0">
                <a:solidFill>
                  <a:schemeClr val="tx1"/>
                </a:solidFill>
                <a:latin typeface="Times New Roman" panose="02020603050405020304" pitchFamily="18" charset="0"/>
                <a:cs typeface="Times New Roman" panose="02020603050405020304" pitchFamily="18" charset="0"/>
              </a:rPr>
              <a:t> retrofit – T10/2025. KT </a:t>
            </a:r>
            <a:r>
              <a:rPr lang="en-US" sz="1400" dirty="0" err="1">
                <a:solidFill>
                  <a:schemeClr val="tx1"/>
                </a:solidFill>
                <a:latin typeface="Times New Roman" panose="02020603050405020304" pitchFamily="18" charset="0"/>
                <a:cs typeface="Times New Roman" panose="02020603050405020304" pitchFamily="18" charset="0"/>
              </a:rPr>
              <a:t>viết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cap claim Safran </a:t>
            </a:r>
            <a:r>
              <a:rPr lang="en-US" sz="1400" dirty="0" err="1">
                <a:solidFill>
                  <a:schemeClr val="tx1"/>
                </a:solidFill>
                <a:latin typeface="Times New Roman" panose="02020603050405020304" pitchFamily="18" charset="0"/>
                <a:cs typeface="Times New Roman" panose="02020603050405020304" pitchFamily="18" charset="0"/>
              </a:rPr>
              <a:t>tìm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sớm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retrofit. </a:t>
            </a:r>
          </a:p>
          <a:p>
            <a:pPr lvl="1">
              <a:lnSpc>
                <a:spcPct val="120000"/>
              </a:lnSpc>
              <a:buClr>
                <a:srgbClr val="000000"/>
              </a:buClr>
              <a:buSzPts val="1300"/>
            </a:pP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 Quy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ĐTV </a:t>
            </a:r>
            <a:r>
              <a:rPr lang="en-US" sz="1400" dirty="0" err="1">
                <a:solidFill>
                  <a:schemeClr val="tx1"/>
                </a:solidFill>
                <a:latin typeface="Times New Roman" panose="02020603050405020304" pitchFamily="18" charset="0"/>
                <a:cs typeface="Times New Roman" panose="02020603050405020304" pitchFamily="18" charset="0"/>
              </a:rPr>
              <a:t>thực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quy</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warm up 5 </a:t>
            </a:r>
            <a:r>
              <a:rPr lang="en-US" sz="1400" dirty="0" err="1">
                <a:solidFill>
                  <a:schemeClr val="tx1"/>
                </a:solidFill>
                <a:latin typeface="Times New Roman" panose="02020603050405020304" pitchFamily="18" charset="0"/>
                <a:cs typeface="Times New Roman" panose="02020603050405020304" pitchFamily="18" charset="0"/>
              </a:rPr>
              <a:t>phút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trước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dirty="0">
                <a:solidFill>
                  <a:schemeClr val="tx1"/>
                </a:solidFill>
                <a:latin typeface="Times New Roman" panose="02020603050405020304" pitchFamily="18" charset="0"/>
                <a:cs typeface="Times New Roman" panose="02020603050405020304" pitchFamily="18" charset="0"/>
              </a:rPr>
              <a:t> Oven (</a:t>
            </a:r>
            <a:r>
              <a:rPr lang="en-US" sz="1400" dirty="0" err="1">
                <a:solidFill>
                  <a:schemeClr val="tx1"/>
                </a:solidFill>
                <a:latin typeface="Times New Roman" panose="02020603050405020304" pitchFamily="18" charset="0"/>
                <a:cs typeface="Times New Roman" panose="02020603050405020304" pitchFamily="18" charset="0"/>
              </a:rPr>
              <a:t>khuyến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từ</a:t>
            </a:r>
            <a:r>
              <a:rPr lang="en-US" sz="1400" dirty="0">
                <a:solidFill>
                  <a:schemeClr val="tx1"/>
                </a:solidFill>
                <a:latin typeface="Times New Roman" panose="02020603050405020304" pitchFamily="18" charset="0"/>
                <a:cs typeface="Times New Roman" panose="02020603050405020304" pitchFamily="18" charset="0"/>
              </a:rPr>
              <a:t> Safran)</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A321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A35X: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3 oven (02 oven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=&gt;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được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kiểm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soát</a:t>
            </a:r>
            <a:r>
              <a:rPr lang="en-US" sz="1400" dirty="0">
                <a:solidFill>
                  <a:schemeClr val="tx1"/>
                </a:solidFill>
                <a:latin typeface="Times New Roman" panose="02020603050405020304" pitchFamily="18" charset="0"/>
                <a:cs typeface="Times New Roman" panose="02020603050405020304" pitchFamily="18" charset="0"/>
              </a:rPr>
              <a:t>; QLVT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mua</a:t>
            </a:r>
            <a:r>
              <a:rPr lang="en-US" sz="1400" dirty="0">
                <a:solidFill>
                  <a:schemeClr val="tx1"/>
                </a:solidFill>
                <a:latin typeface="Times New Roman" panose="02020603050405020304" pitchFamily="18" charset="0"/>
                <a:cs typeface="Times New Roman" panose="02020603050405020304" pitchFamily="18" charset="0"/>
              </a:rPr>
              <a:t> used part/new part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SB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386231" y="1777651"/>
            <a:ext cx="11674150" cy="7386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3348/3478 SVDU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130 INOP SVDU). </a:t>
            </a:r>
            <a:r>
              <a:rPr lang="en-US" sz="1400" dirty="0">
                <a:solidFill>
                  <a:schemeClr val="tx1"/>
                </a:solidFill>
                <a:latin typeface="Times New Roman" panose="02020603050405020304" pitchFamily="18" charset="0"/>
                <a:cs typeface="Times New Roman" panose="02020603050405020304" pitchFamily="18" charset="0"/>
              </a:rPr>
              <a:t>Trong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30:  hỏng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55 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58ea. </a:t>
            </a:r>
            <a:endParaRPr lang="en-GB" sz="1400" dirty="0">
              <a:solidFill>
                <a:schemeClr val="tx1"/>
              </a:solidFill>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=&gt; </a:t>
            </a:r>
            <a:r>
              <a:rPr lang="vi-VN" sz="1400" dirty="0"/>
              <a:t>Hỏng hóc</a:t>
            </a:r>
            <a:r>
              <a:rPr lang="en-US" sz="1400" dirty="0"/>
              <a:t> </a:t>
            </a:r>
            <a:r>
              <a:rPr lang="en-US" sz="1400" dirty="0" err="1"/>
              <a:t>tăng</a:t>
            </a:r>
            <a:r>
              <a:rPr lang="en-US" sz="1400" dirty="0"/>
              <a:t> </a:t>
            </a:r>
            <a:r>
              <a:rPr lang="en-US" sz="1400" dirty="0" err="1"/>
              <a:t>trở</a:t>
            </a:r>
            <a:r>
              <a:rPr lang="en-US" sz="1400" dirty="0"/>
              <a:t> </a:t>
            </a:r>
            <a:r>
              <a:rPr lang="en-US" sz="1400" dirty="0" err="1"/>
              <a:t>lại</a:t>
            </a:r>
            <a:r>
              <a:rPr lang="en-US" sz="1400" dirty="0"/>
              <a:t> </a:t>
            </a:r>
            <a:r>
              <a:rPr lang="en-US" sz="1400" dirty="0" err="1"/>
              <a:t>các</a:t>
            </a:r>
            <a:r>
              <a:rPr lang="en-US" sz="1400" dirty="0"/>
              <a:t> </a:t>
            </a:r>
            <a:r>
              <a:rPr lang="en-US" sz="1400" dirty="0" err="1"/>
              <a:t>khối</a:t>
            </a:r>
            <a:r>
              <a:rPr lang="en-US" sz="1400" dirty="0"/>
              <a:t> pre-mod intermittent</a:t>
            </a:r>
            <a:br>
              <a:rPr lang="en-US" sz="1400" dirty="0"/>
            </a:br>
            <a:r>
              <a:rPr lang="en-US" sz="1400" dirty="0"/>
              <a:t>=&gt; </a:t>
            </a:r>
            <a:r>
              <a:rPr lang="en-US" sz="1400" dirty="0" err="1"/>
              <a:t>Vật</a:t>
            </a:r>
            <a:r>
              <a:rPr lang="en-US" sz="1400" dirty="0"/>
              <a:t> </a:t>
            </a:r>
            <a:r>
              <a:rPr lang="en-US" sz="1400" dirty="0" err="1"/>
              <a:t>tư</a:t>
            </a:r>
            <a:r>
              <a:rPr lang="en-US" sz="1400" dirty="0"/>
              <a:t> quay </a:t>
            </a:r>
            <a:r>
              <a:rPr lang="en-US" sz="1400" dirty="0" err="1"/>
              <a:t>vòng</a:t>
            </a:r>
            <a:r>
              <a:rPr lang="en-US" sz="1400" dirty="0"/>
              <a:t> it (130 </a:t>
            </a:r>
            <a:r>
              <a:rPr lang="en-US" sz="1400" dirty="0" err="1"/>
              <a:t>ea</a:t>
            </a:r>
            <a:r>
              <a:rPr lang="en-US" sz="1400" dirty="0"/>
              <a:t>) =&gt; </a:t>
            </a:r>
            <a:r>
              <a:rPr lang="en-US" sz="1400" dirty="0" err="1"/>
              <a:t>cần</a:t>
            </a:r>
            <a:r>
              <a:rPr lang="en-US" sz="1400" dirty="0"/>
              <a:t> </a:t>
            </a:r>
            <a:r>
              <a:rPr lang="en-US" sz="1400" dirty="0" err="1"/>
              <a:t>cân</a:t>
            </a:r>
            <a:r>
              <a:rPr lang="en-US" sz="1400" dirty="0"/>
              <a:t> </a:t>
            </a:r>
            <a:r>
              <a:rPr lang="en-US" sz="1400" dirty="0" err="1"/>
              <a:t>đối</a:t>
            </a:r>
            <a:r>
              <a:rPr lang="en-US" sz="1400" dirty="0"/>
              <a:t> </a:t>
            </a:r>
            <a:r>
              <a:rPr lang="en-US" sz="1400" dirty="0" err="1"/>
              <a:t>vật</a:t>
            </a:r>
            <a:r>
              <a:rPr lang="en-US" sz="1400" dirty="0"/>
              <a:t> </a:t>
            </a:r>
            <a:r>
              <a:rPr lang="en-US" sz="1400" dirty="0" err="1"/>
              <a:t>tư</a:t>
            </a:r>
            <a:r>
              <a:rPr lang="en-US" sz="1400" dirty="0"/>
              <a:t> </a:t>
            </a:r>
            <a:r>
              <a:rPr lang="en-US" sz="1400" dirty="0" err="1"/>
              <a:t>khắc</a:t>
            </a:r>
            <a:r>
              <a:rPr lang="en-US" sz="1400" dirty="0"/>
              <a:t> </a:t>
            </a:r>
            <a:r>
              <a:rPr lang="en-US" sz="1400" dirty="0" err="1"/>
              <a:t>phục</a:t>
            </a:r>
            <a:r>
              <a:rPr lang="en-US" sz="1400" dirty="0"/>
              <a:t> </a:t>
            </a:r>
            <a:r>
              <a:rPr lang="en-US" sz="1400" dirty="0" err="1"/>
              <a:t>hỏng</a:t>
            </a:r>
            <a:r>
              <a:rPr lang="en-US" sz="1400" dirty="0"/>
              <a:t> </a:t>
            </a:r>
            <a:r>
              <a:rPr lang="en-US" sz="1400" dirty="0" err="1"/>
              <a:t>hóc</a:t>
            </a:r>
            <a:r>
              <a:rPr lang="en-US" sz="1400" dirty="0"/>
              <a:t> </a:t>
            </a:r>
            <a:r>
              <a:rPr lang="en-US" sz="1400" dirty="0" err="1"/>
              <a:t>và</a:t>
            </a:r>
            <a:r>
              <a:rPr lang="en-US" sz="1400" dirty="0"/>
              <a:t> </a:t>
            </a:r>
            <a:r>
              <a:rPr lang="en-US" sz="1400" dirty="0" err="1"/>
              <a:t>chuẩn</a:t>
            </a:r>
            <a:r>
              <a:rPr lang="en-US" sz="1400" dirty="0"/>
              <a:t> </a:t>
            </a:r>
            <a:r>
              <a:rPr lang="en-US" sz="1400" dirty="0" err="1"/>
              <a:t>bị</a:t>
            </a:r>
            <a:r>
              <a:rPr lang="en-US" sz="1400" dirty="0"/>
              <a:t> RTS A895 (</a:t>
            </a:r>
            <a:r>
              <a:rPr lang="en-US" sz="1400" dirty="0" err="1"/>
              <a:t>đang</a:t>
            </a:r>
            <a:r>
              <a:rPr lang="en-US" sz="1400" dirty="0"/>
              <a:t> </a:t>
            </a:r>
            <a:r>
              <a:rPr lang="en-US" sz="1400" dirty="0" err="1"/>
              <a:t>thiếu</a:t>
            </a:r>
            <a:r>
              <a:rPr lang="en-US" sz="1400" dirty="0"/>
              <a:t> 150 SVDU).</a:t>
            </a:r>
            <a:endParaRPr lang="en-US"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383638" y="2514600"/>
            <a:ext cx="1167303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LAV:</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06ea,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6" name="TextBox 25"/>
          <p:cNvSpPr txBox="1"/>
          <p:nvPr/>
        </p:nvSpPr>
        <p:spPr>
          <a:xfrm>
            <a:off x="365449" y="533400"/>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31: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281 (</a:t>
            </a:r>
            <a:r>
              <a:rPr lang="en-US" sz="1400" dirty="0" err="1">
                <a:latin typeface="Times New Roman" panose="02020603050405020304" pitchFamily="18" charset="0"/>
                <a:cs typeface="Times New Roman" panose="02020603050405020304" pitchFamily="18" charset="0"/>
              </a:rPr>
              <a:t>tăng</a:t>
            </a:r>
            <a:r>
              <a:rPr lang="en-US" sz="1400" dirty="0">
                <a:latin typeface="Times New Roman" panose="02020603050405020304" pitchFamily="18" charset="0"/>
                <a:cs typeface="Times New Roman" panose="02020603050405020304" pitchFamily="18" charset="0"/>
              </a:rPr>
              <a:t> 6%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30),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112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168 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1 %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30).</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75591" y="937736"/>
            <a:ext cx="11674150" cy="7386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31</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02,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02.</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12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09,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83038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42</a:t>
            </a:fld>
            <a:endParaRPr lang="en-US"/>
          </a:p>
        </p:txBody>
      </p:sp>
      <p:sp>
        <p:nvSpPr>
          <p:cNvPr id="5" name="Title 4"/>
          <p:cNvSpPr>
            <a:spLocks noGrp="1"/>
          </p:cNvSpPr>
          <p:nvPr>
            <p:ph type="title"/>
          </p:nvPr>
        </p:nvSpPr>
        <p:spPr>
          <a:xfrm>
            <a:off x="457200" y="259563"/>
            <a:ext cx="62726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1212688676"/>
              </p:ext>
            </p:extLst>
          </p:nvPr>
        </p:nvGraphicFramePr>
        <p:xfrm>
          <a:off x="4022322" y="741608"/>
          <a:ext cx="4147356" cy="23803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583417330"/>
              </p:ext>
            </p:extLst>
          </p:nvPr>
        </p:nvGraphicFramePr>
        <p:xfrm>
          <a:off x="457200" y="3200400"/>
          <a:ext cx="11353798" cy="3311561"/>
        </p:xfrm>
        <a:graphic>
          <a:graphicData uri="http://schemas.openxmlformats.org/drawingml/2006/table">
            <a:tbl>
              <a:tblPr/>
              <a:tblGrid>
                <a:gridCol w="207423">
                  <a:extLst>
                    <a:ext uri="{9D8B030D-6E8A-4147-A177-3AD203B41FA5}">
                      <a16:colId xmlns:a16="http://schemas.microsoft.com/office/drawing/2014/main" val="2174568330"/>
                    </a:ext>
                  </a:extLst>
                </a:gridCol>
                <a:gridCol w="1326251">
                  <a:extLst>
                    <a:ext uri="{9D8B030D-6E8A-4147-A177-3AD203B41FA5}">
                      <a16:colId xmlns:a16="http://schemas.microsoft.com/office/drawing/2014/main" val="2861743258"/>
                    </a:ext>
                  </a:extLst>
                </a:gridCol>
                <a:gridCol w="427417">
                  <a:extLst>
                    <a:ext uri="{9D8B030D-6E8A-4147-A177-3AD203B41FA5}">
                      <a16:colId xmlns:a16="http://schemas.microsoft.com/office/drawing/2014/main" val="3137232769"/>
                    </a:ext>
                  </a:extLst>
                </a:gridCol>
                <a:gridCol w="460940">
                  <a:extLst>
                    <a:ext uri="{9D8B030D-6E8A-4147-A177-3AD203B41FA5}">
                      <a16:colId xmlns:a16="http://schemas.microsoft.com/office/drawing/2014/main" val="1426877819"/>
                    </a:ext>
                  </a:extLst>
                </a:gridCol>
                <a:gridCol w="6107461">
                  <a:extLst>
                    <a:ext uri="{9D8B030D-6E8A-4147-A177-3AD203B41FA5}">
                      <a16:colId xmlns:a16="http://schemas.microsoft.com/office/drawing/2014/main" val="3876368447"/>
                    </a:ext>
                  </a:extLst>
                </a:gridCol>
                <a:gridCol w="515415">
                  <a:extLst>
                    <a:ext uri="{9D8B030D-6E8A-4147-A177-3AD203B41FA5}">
                      <a16:colId xmlns:a16="http://schemas.microsoft.com/office/drawing/2014/main" val="633383194"/>
                    </a:ext>
                  </a:extLst>
                </a:gridCol>
                <a:gridCol w="609698">
                  <a:extLst>
                    <a:ext uri="{9D8B030D-6E8A-4147-A177-3AD203B41FA5}">
                      <a16:colId xmlns:a16="http://schemas.microsoft.com/office/drawing/2014/main" val="1834307495"/>
                    </a:ext>
                  </a:extLst>
                </a:gridCol>
                <a:gridCol w="1340917">
                  <a:extLst>
                    <a:ext uri="{9D8B030D-6E8A-4147-A177-3AD203B41FA5}">
                      <a16:colId xmlns:a16="http://schemas.microsoft.com/office/drawing/2014/main" val="68979486"/>
                    </a:ext>
                  </a:extLst>
                </a:gridCol>
                <a:gridCol w="358276">
                  <a:extLst>
                    <a:ext uri="{9D8B030D-6E8A-4147-A177-3AD203B41FA5}">
                      <a16:colId xmlns:a16="http://schemas.microsoft.com/office/drawing/2014/main" val="3337804940"/>
                    </a:ext>
                  </a:extLst>
                </a:gridCol>
              </a:tblGrid>
              <a:tr h="209501">
                <a:tc gridSpan="9">
                  <a:txBody>
                    <a:bodyPr/>
                    <a:lstStyle/>
                    <a:p>
                      <a:pPr algn="ctr" fontAlgn="ctr"/>
                      <a:r>
                        <a:rPr lang="vi-VN" sz="1000" b="1" i="0" u="none" strike="noStrike">
                          <a:solidFill>
                            <a:srgbClr val="000000"/>
                          </a:solidFill>
                          <a:effectLst/>
                          <a:latin typeface="Times New Roman" panose="02020603050405020304" pitchFamily="18" charset="0"/>
                        </a:rPr>
                        <a:t>BẢNG TỔNG HỢP VÀ THEO DÕI NHÂN NHƯỢNG - VIETNAM AIRLINES</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0098482"/>
                  </a:ext>
                </a:extLst>
              </a:tr>
              <a:tr h="124349">
                <a:tc>
                  <a:txBody>
                    <a:bodyPr/>
                    <a:lstStyle/>
                    <a:p>
                      <a:pPr algn="ctr" fontAlgn="ctr"/>
                      <a:r>
                        <a:rPr lang="en-US" sz="1000" b="1" i="0" u="none" strike="noStrike">
                          <a:solidFill>
                            <a:srgbClr val="000000"/>
                          </a:solidFill>
                          <a:effectLst/>
                          <a:latin typeface="Times New Roman" panose="02020603050405020304" pitchFamily="18" charset="0"/>
                        </a:rPr>
                        <a:t>No</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Concession No.</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Type</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Reg</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Description</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By</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Date</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ADD/CHK/Task No</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Status</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0571117"/>
                  </a:ext>
                </a:extLst>
              </a:tr>
              <a:tr h="263566">
                <a:tc>
                  <a:txBody>
                    <a:bodyPr/>
                    <a:lstStyle/>
                    <a:p>
                      <a:pPr algn="ctr" fontAlgn="ctr"/>
                      <a:r>
                        <a:rPr lang="en-150" sz="1000" b="0" i="0" u="none" strike="noStrike">
                          <a:solidFill>
                            <a:srgbClr val="000000"/>
                          </a:solidFill>
                          <a:effectLst/>
                          <a:latin typeface="Times New Roman" panose="02020603050405020304" pitchFamily="18" charset="0"/>
                        </a:rPr>
                        <a:t>1</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893 -05/25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TASK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A893</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impacts on the operation schedule, schedule of AMP task 321100-00M04-01  “Main landing gear functional check of MLG Torque links for excessive play” needs to be extended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31-Jul-2025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TASK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OPEN</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8998478"/>
                  </a:ext>
                </a:extLst>
              </a:tr>
              <a:tr h="263566">
                <a:tc>
                  <a:txBody>
                    <a:bodyPr/>
                    <a:lstStyle/>
                    <a:p>
                      <a:pPr algn="ctr" fontAlgn="ctr"/>
                      <a:r>
                        <a:rPr lang="en-150" sz="1000" b="0" i="0" u="none" strike="noStrike">
                          <a:solidFill>
                            <a:srgbClr val="000000"/>
                          </a:solidFill>
                          <a:effectLst/>
                          <a:latin typeface="Times New Roman" panose="02020603050405020304" pitchFamily="18" charset="0"/>
                        </a:rPr>
                        <a:t>2</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879-11/25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A879</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AMP tasks check A04 for VN-A879 needs to be extended. List of tasks attached except mandatory tasks: AD, CMR, AWL, LLP, SCI (ALI, CDCCL).</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28-Jul-2025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OPEN</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5648032"/>
                  </a:ext>
                </a:extLst>
              </a:tr>
              <a:tr h="263566">
                <a:tc>
                  <a:txBody>
                    <a:bodyPr/>
                    <a:lstStyle/>
                    <a:p>
                      <a:pPr algn="ctr" fontAlgn="ctr"/>
                      <a:r>
                        <a:rPr lang="en-150" sz="1000" b="0" i="0" u="none" strike="noStrike">
                          <a:solidFill>
                            <a:srgbClr val="000000"/>
                          </a:solidFill>
                          <a:effectLst/>
                          <a:latin typeface="Times New Roman" panose="02020603050405020304" pitchFamily="18" charset="0"/>
                        </a:rPr>
                        <a:t>3</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879-12/25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A879</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CMP tasks check A04 for VN-A879 needs to be extended.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28-Jul-2025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3219547"/>
                  </a:ext>
                </a:extLst>
              </a:tr>
              <a:tr h="263566">
                <a:tc>
                  <a:txBody>
                    <a:bodyPr/>
                    <a:lstStyle/>
                    <a:p>
                      <a:pPr algn="ctr" fontAlgn="ctr"/>
                      <a:r>
                        <a:rPr lang="en-150" sz="1000" b="0" i="0" u="none" strike="noStrike">
                          <a:solidFill>
                            <a:srgbClr val="000000"/>
                          </a:solidFill>
                          <a:effectLst/>
                          <a:latin typeface="Times New Roman" panose="02020603050405020304" pitchFamily="18" charset="0"/>
                        </a:rPr>
                        <a:t>4</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872-08/25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A872</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AMP tasks check A04 for VN-A872 needs to be extended. List of tasks attached except mandatory tasks: AD, CMR, AWL, LLP, SCI (ALI, CDCCL)</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29-Jul-2025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218433"/>
                  </a:ext>
                </a:extLst>
              </a:tr>
              <a:tr h="263566">
                <a:tc>
                  <a:txBody>
                    <a:bodyPr/>
                    <a:lstStyle/>
                    <a:p>
                      <a:pPr algn="ctr" fontAlgn="ctr"/>
                      <a:r>
                        <a:rPr lang="en-150" sz="1000" b="0" i="0" u="none" strike="noStrike">
                          <a:solidFill>
                            <a:srgbClr val="000000"/>
                          </a:solidFill>
                          <a:effectLst/>
                          <a:latin typeface="Times New Roman" panose="02020603050405020304" pitchFamily="18" charset="0"/>
                        </a:rPr>
                        <a:t>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872-09/25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A872</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CMP tasks check A04 for VN-A872 needs to be extended.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30-Jul-2025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8445017"/>
                  </a:ext>
                </a:extLst>
              </a:tr>
              <a:tr h="263566">
                <a:tc>
                  <a:txBody>
                    <a:bodyPr/>
                    <a:lstStyle/>
                    <a:p>
                      <a:pPr algn="ctr" fontAlgn="ctr"/>
                      <a:r>
                        <a:rPr lang="en-150" sz="1000" b="0" i="0" u="none" strike="noStrike">
                          <a:solidFill>
                            <a:srgbClr val="000000"/>
                          </a:solidFill>
                          <a:effectLst/>
                          <a:latin typeface="Times New Roman" panose="02020603050405020304" pitchFamily="18" charset="0"/>
                        </a:rPr>
                        <a:t>6</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864-09/25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A864</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AMP tasks check A06 for VN-A864 needs to be extended. List of tasks attached except mandatory tasks: AD, CMR, AWL, LLP, SCI (ALI, CDCCL).</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1-Aug-2025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3068983"/>
                  </a:ext>
                </a:extLst>
              </a:tr>
              <a:tr h="124349">
                <a:tc>
                  <a:txBody>
                    <a:bodyPr/>
                    <a:lstStyle/>
                    <a:p>
                      <a:pPr algn="ctr" fontAlgn="ctr"/>
                      <a:r>
                        <a:rPr lang="en-150" sz="1000" b="0" i="0" u="none" strike="noStrike">
                          <a:solidFill>
                            <a:srgbClr val="000000"/>
                          </a:solidFill>
                          <a:effectLst/>
                          <a:latin typeface="Times New Roman" panose="02020603050405020304" pitchFamily="18" charset="0"/>
                        </a:rPr>
                        <a:t>7</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864-10/25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A864</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ADD B1326: STS LIDQUID COOLING R PUMP 1 RAISED PER MEL 21-81-05 REV 09 CAT C. DEADLINE: 03/08/2025.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2-Aug-2025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 B1326</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00" b="0" i="0" u="none" strike="noStrike">
                          <a:solidFill>
                            <a:srgbClr val="000000"/>
                          </a:solidFill>
                          <a:effectLst/>
                          <a:latin typeface="Times New Roman" panose="02020603050405020304" pitchFamily="18" charset="0"/>
                        </a:rPr>
                        <a:t> </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5782394"/>
                  </a:ext>
                </a:extLst>
              </a:tr>
              <a:tr h="124349">
                <a:tc>
                  <a:txBody>
                    <a:bodyPr/>
                    <a:lstStyle/>
                    <a:p>
                      <a:pPr algn="ctr" fontAlgn="ctr"/>
                      <a:r>
                        <a:rPr lang="en-150" sz="1000" b="0" i="0" u="none" strike="noStrike">
                          <a:solidFill>
                            <a:srgbClr val="000000"/>
                          </a:solidFill>
                          <a:effectLst/>
                          <a:latin typeface="Times New Roman" panose="02020603050405020304" pitchFamily="18" charset="0"/>
                        </a:rPr>
                        <a:t>8</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868-03/25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A868</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ADD B1185 RAISED: STS “EQUIP SUPPLY AFT FAN 2”, PER MEL 21-27-26, REV 09, CAT C, DEADLINE: 30/07/2025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30-Jul-2025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 B1185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00" b="0" i="0" u="none" strike="noStrike">
                          <a:solidFill>
                            <a:srgbClr val="000000"/>
                          </a:solidFill>
                          <a:effectLst/>
                          <a:latin typeface="Times New Roman" panose="02020603050405020304" pitchFamily="18" charset="0"/>
                        </a:rPr>
                        <a:t> </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0736867"/>
                  </a:ext>
                </a:extLst>
              </a:tr>
              <a:tr h="124349">
                <a:tc>
                  <a:txBody>
                    <a:bodyPr/>
                    <a:lstStyle/>
                    <a:p>
                      <a:pPr algn="ctr" fontAlgn="ctr"/>
                      <a:r>
                        <a:rPr lang="en-150" sz="1000" b="0" i="0" u="none" strike="noStrike">
                          <a:solidFill>
                            <a:srgbClr val="000000"/>
                          </a:solidFill>
                          <a:effectLst/>
                          <a:latin typeface="Times New Roman" panose="02020603050405020304" pitchFamily="18" charset="0"/>
                        </a:rPr>
                        <a:t>9</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864-08/25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A864</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ADD B1323 RAISED SEAT BELT SIGN 29DEF INOP REF MEL 33-2401A, CATC, EXP: 30-JUL-2025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29-Jul-2025</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 B1323</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00" b="0" i="0" u="none" strike="noStrike">
                          <a:solidFill>
                            <a:srgbClr val="000000"/>
                          </a:solidFill>
                          <a:effectLst/>
                          <a:latin typeface="Times New Roman" panose="02020603050405020304" pitchFamily="18" charset="0"/>
                        </a:rPr>
                        <a:t> </a:t>
                      </a:r>
                    </a:p>
                  </a:txBody>
                  <a:tcPr marL="5406" marR="5406" marT="54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7582775"/>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822544"/>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52193">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300614">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52193">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246:15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138.68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52193">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980:55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52193">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789:20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489:55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52193">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822545"/>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248:45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434:50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817:00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78642">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244:05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972328"/>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371114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7"/>
        </p:xfrm>
        <a:graphic>
          <a:graphicData uri="http://schemas.openxmlformats.org/drawingml/2006/table">
            <a:tbl>
              <a:tblPr/>
              <a:tblGrid>
                <a:gridCol w="598583">
                  <a:extLst>
                    <a:ext uri="{9D8B030D-6E8A-4147-A177-3AD203B41FA5}">
                      <a16:colId xmlns:a16="http://schemas.microsoft.com/office/drawing/2014/main" val="4007203340"/>
                    </a:ext>
                  </a:extLst>
                </a:gridCol>
                <a:gridCol w="574752">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04181">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419836">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04181">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04181">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04181">
                <a:tc>
                  <a:txBody>
                    <a:bodyPr/>
                    <a:lstStyle/>
                    <a:p>
                      <a:pPr algn="ctr" fontAlgn="ctr"/>
                      <a:r>
                        <a:rPr lang="en-US" sz="1400" b="0" i="0" u="none" strike="noStrike" smtClean="0">
                          <a:solidFill>
                            <a:srgbClr val="000000"/>
                          </a:solidFill>
                          <a:effectLst/>
                          <a:latin typeface="Times New Roman" panose="02020603050405020304" pitchFamily="18" charset="0"/>
                        </a:rPr>
                        <a:t>ATR72</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extLst/>
          </p:nvPr>
        </p:nvGraphicFramePr>
        <p:xfrm>
          <a:off x="925418" y="1219200"/>
          <a:ext cx="10521106" cy="216401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30247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914399" y="1371600"/>
          <a:ext cx="10820401" cy="5105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7855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
        <p:nvSpPr>
          <p:cNvPr id="158" name="Google Shape;158;g31ccdae391d_0_248"/>
          <p:cNvSpPr/>
          <p:nvPr/>
        </p:nvSpPr>
        <p:spPr>
          <a:xfrm>
            <a:off x="137375" y="569550"/>
            <a:ext cx="117552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1">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A323: C01+Y01+EA02 (01/08-08/08): không có phát sinh vật tư</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a:t>
            </a:r>
            <a:endParaRPr sz="1500" b="1">
              <a:solidFill>
                <a:schemeClr val="dk1"/>
              </a:solidFill>
              <a:latin typeface="Times New Roman"/>
              <a:ea typeface="Times New Roman"/>
              <a:cs typeface="Times New Roman"/>
              <a:sym typeface="Times New Roman"/>
            </a:endParaRPr>
          </a:p>
          <a:p>
            <a:pPr marL="914400" marR="0" lvl="1" indent="-323850" algn="just" rtl="0">
              <a:lnSpc>
                <a:spcPct val="110000"/>
              </a:lnSpc>
              <a:spcBef>
                <a:spcPts val="6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A356 hỏng ELT PN S1823502-03: vật tư đã nhập kho</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436825" y="2656513"/>
            <a:ext cx="10134600" cy="3743325"/>
          </a:xfrm>
          <a:prstGeom prst="rect">
            <a:avLst/>
          </a:prstGeom>
          <a:noFill/>
          <a:ln>
            <a:noFill/>
          </a:ln>
        </p:spPr>
      </p:pic>
    </p:spTree>
    <p:extLst>
      <p:ext uri="{BB962C8B-B14F-4D97-AF65-F5344CB8AC3E}">
        <p14:creationId xmlns:p14="http://schemas.microsoft.com/office/powerpoint/2010/main" val="1185710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51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92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24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a:t>
            </a:r>
            <a:r>
              <a:rPr lang="en-US" sz="1500">
                <a:solidFill>
                  <a:schemeClr val="dk1"/>
                </a:solidFill>
                <a:latin typeface="Times New Roman"/>
                <a:ea typeface="Times New Roman"/>
                <a:cs typeface="Times New Roman"/>
                <a:sym typeface="Times New Roman"/>
              </a:rPr>
              <a:t> 39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19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23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08 overdue orders / total 30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913575" y="2058499"/>
            <a:ext cx="8895626" cy="4384525"/>
          </a:xfrm>
          <a:prstGeom prst="rect">
            <a:avLst/>
          </a:prstGeom>
          <a:noFill/>
          <a:ln>
            <a:noFill/>
          </a:ln>
        </p:spPr>
      </p:pic>
    </p:spTree>
    <p:extLst>
      <p:ext uri="{BB962C8B-B14F-4D97-AF65-F5344CB8AC3E}">
        <p14:creationId xmlns:p14="http://schemas.microsoft.com/office/powerpoint/2010/main" val="41664973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6" name="Google Shape;176;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177" name="Google Shape;177;g31ccdae391d_0_285"/>
          <p:cNvSpPr txBox="1"/>
          <p:nvPr/>
        </p:nvSpPr>
        <p:spPr>
          <a:xfrm>
            <a:off x="469725" y="1005200"/>
            <a:ext cx="108840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2000" b="1">
                <a:solidFill>
                  <a:schemeClr val="dk1"/>
                </a:solidFill>
                <a:latin typeface="Times New Roman"/>
                <a:ea typeface="Times New Roman"/>
                <a:cs typeface="Times New Roman"/>
                <a:sym typeface="Times New Roman"/>
              </a:rPr>
              <a:t>1. Danh mục ngoài pool:  </a:t>
            </a:r>
            <a:r>
              <a:rPr lang="en-US" sz="2000">
                <a:solidFill>
                  <a:schemeClr val="dk1"/>
                </a:solidFill>
                <a:latin typeface="Times New Roman"/>
                <a:ea typeface="Times New Roman"/>
                <a:cs typeface="Times New Roman"/>
                <a:sym typeface="Times New Roman"/>
              </a:rPr>
              <a:t>có 01 mục thiếu dự phòng so với yêu cầu: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Starter Duct NEO: hiện đã dùng các thiết bị dự phòng cho tàu NEO bảo quản, có thể rob từ engine dự phòng hoặc tàu bảo quản khi cần gấp</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b="1">
                <a:solidFill>
                  <a:schemeClr val="dk1"/>
                </a:solidFill>
                <a:latin typeface="Times New Roman"/>
                <a:ea typeface="Times New Roman"/>
                <a:cs typeface="Times New Roman"/>
                <a:sym typeface="Times New Roman"/>
              </a:rPr>
              <a:t>2. Danh mục pool: </a:t>
            </a:r>
            <a:r>
              <a:rPr lang="en-US" sz="2000">
                <a:solidFill>
                  <a:schemeClr val="dk1"/>
                </a:solidFill>
                <a:latin typeface="Times New Roman"/>
                <a:ea typeface="Times New Roman"/>
                <a:cs typeface="Times New Roman"/>
                <a:sym typeface="Times New Roman"/>
              </a:rPr>
              <a:t>có 21 mục thiếu dự phòng so với yêu cầu như sau: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- 02 mục có stock alternate (EEC NEO, Primary heat exchanger)</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- 10 mới bị dùng cho tàu khai thác: sẽ về trước 30/07 (ACC VALVE NEO, SSTU, Sensor Delta Pressure, PRV và HPV CEO...)</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- 04 mục không có mức kho MBK (SSU captain, IPCV NEO, Valve Surge control, EIU NEO)</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- 05 mục khó khăn trong việc cung ứng như sau: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Motor Converter: OEM Safran không có stock, leadtime dài (tháng 8/25)</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IFPC PUMP NEO: OEM Collins thiếu PTVT sửa chữa</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Skin Outlet Valve: VSTEA thiếu PTVT sửa chữa</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Travel limitation unit: mới dùng cho tàu bị sự cố A338, đang làm việc với ST</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000" b="1">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265058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graphicFrame>
        <p:nvGraphicFramePr>
          <p:cNvPr id="185" name="Google Shape;185;g31ccdae391d_0_278"/>
          <p:cNvGraphicFramePr/>
          <p:nvPr/>
        </p:nvGraphicFramePr>
        <p:xfrm>
          <a:off x="558675" y="462325"/>
          <a:ext cx="10287000" cy="6141469"/>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a:t>
                      </a:r>
                      <a:r>
                        <a:rPr lang="en-US" sz="1300">
                          <a:latin typeface="Times New Roman"/>
                          <a:ea typeface="Times New Roman"/>
                          <a:cs typeface="Times New Roman"/>
                          <a:sym typeface="Times New Roman"/>
                        </a:rPr>
                        <a:t>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10/08 có 1ea </a:t>
                      </a:r>
                      <a:r>
                        <a:rPr lang="en-US" sz="1300">
                          <a:solidFill>
                            <a:schemeClr val="dk1"/>
                          </a:solidFill>
                          <a:latin typeface="Times New Roman"/>
                          <a:ea typeface="Times New Roman"/>
                          <a:cs typeface="Times New Roman"/>
                          <a:sym typeface="Times New Roman"/>
                        </a:rPr>
                        <a:t>(Vật tư có nguồn cung ứng khó khăn)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không có mức kho dự phòng</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15/08 có 2ea (Vật tư có nguồn cung ứng khó khăn)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5105501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2" name="Google Shape;192;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
        <p:nvSpPr>
          <p:cNvPr id="193" name="Google Shape;193;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16</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28</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14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20</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8</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94" name="Google Shape;194;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95" name="Google Shape;195;g31ccdae391d_0_299"/>
          <p:cNvPicPr preferRelativeResize="0"/>
          <p:nvPr/>
        </p:nvPicPr>
        <p:blipFill>
          <a:blip r:embed="rId3">
            <a:alphaModFix/>
          </a:blip>
          <a:stretch>
            <a:fillRect/>
          </a:stretch>
        </p:blipFill>
        <p:spPr>
          <a:xfrm>
            <a:off x="2181225" y="1745524"/>
            <a:ext cx="7213450" cy="4383826"/>
          </a:xfrm>
          <a:prstGeom prst="rect">
            <a:avLst/>
          </a:prstGeom>
          <a:noFill/>
          <a:ln>
            <a:noFill/>
          </a:ln>
        </p:spPr>
      </p:pic>
    </p:spTree>
    <p:extLst>
      <p:ext uri="{BB962C8B-B14F-4D97-AF65-F5344CB8AC3E}">
        <p14:creationId xmlns:p14="http://schemas.microsoft.com/office/powerpoint/2010/main" val="12817789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2" name="Google Shape;202;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graphicFrame>
        <p:nvGraphicFramePr>
          <p:cNvPr id="203" name="Google Shape;203;g31ccdae391d_0_308"/>
          <p:cNvGraphicFramePr/>
          <p:nvPr>
            <p:extLst/>
          </p:nvPr>
        </p:nvGraphicFramePr>
        <p:xfrm>
          <a:off x="607288" y="787650"/>
          <a:ext cx="11227800" cy="4360600"/>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01ea in stock + 01 in Vip Kit, 01ea giáo SGN 06/08..</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a:t>
                      </a:r>
                      <a:r>
                        <a:rPr lang="en-US" sz="1300" u="none" strike="noStrike" cap="none" dirty="0">
                          <a:latin typeface="Times New Roman"/>
                          <a:ea typeface="Times New Roman"/>
                          <a:cs typeface="Times New Roman"/>
                          <a:sym typeface="Times New Roman"/>
                        </a:rPr>
                        <a:t> fleet B787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04</a:t>
                      </a:r>
                      <a:r>
                        <a:rPr lang="en-US" sz="1300" u="none" strike="noStrike" cap="none" dirty="0" smtClean="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RO mới vào shop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RO vào shop trong tuần 32.</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 + 01ea lấp đầy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CMSC</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7000045H03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Hỏng hóc nhiều tại vị trí CAC chưa được làm nâng cấp lên H04 (dự kiến SB có trong tháng 9)</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01ea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128875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211" name="Google Shape;211;g31ccdae391d_0_315"/>
          <p:cNvSpPr/>
          <p:nvPr/>
        </p:nvSpPr>
        <p:spPr>
          <a:xfrm>
            <a:off x="500990" y="31436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dirty="0">
                <a:solidFill>
                  <a:schemeClr val="dk1"/>
                </a:solidFill>
                <a:latin typeface="Times New Roman"/>
                <a:ea typeface="Times New Roman"/>
                <a:cs typeface="Times New Roman"/>
                <a:sym typeface="Times New Roman"/>
              </a:rPr>
              <a:t>PTVT </a:t>
            </a:r>
            <a:r>
              <a:rPr lang="en-US" sz="1600" b="0" i="0" u="none" strike="noStrike" cap="none" dirty="0" err="1">
                <a:solidFill>
                  <a:schemeClr val="dk1"/>
                </a:solidFill>
                <a:latin typeface="Times New Roman"/>
                <a:ea typeface="Times New Roman"/>
                <a:cs typeface="Times New Roman"/>
                <a:sym typeface="Times New Roman"/>
              </a:rPr>
              <a:t>thay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VFSG,</a:t>
            </a:r>
            <a:r>
              <a:rPr lang="en-US" sz="1600" dirty="0">
                <a:solidFill>
                  <a:schemeClr val="dk1"/>
                </a:solidFill>
                <a:latin typeface="Times New Roman"/>
                <a:ea typeface="Times New Roman"/>
                <a:cs typeface="Times New Roman"/>
                <a:sym typeface="Times New Roman"/>
              </a:rPr>
              <a:t> CMSC</a:t>
            </a:r>
            <a:r>
              <a:rPr lang="en-US" sz="1600" b="0" i="0" u="none" strike="noStrike" cap="none" dirty="0">
                <a:solidFill>
                  <a:schemeClr val="dk1"/>
                </a:solidFill>
                <a:latin typeface="Times New Roman"/>
                <a:ea typeface="Times New Roman"/>
                <a:cs typeface="Times New Roman"/>
                <a:sym typeface="Times New Roman"/>
              </a:rPr>
              <a:t>, NSG, CAC, GWIV.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algn="just">
              <a:buClr>
                <a:schemeClr val="dk1"/>
              </a:buClr>
              <a:buSzPts val="1100"/>
            </a:pPr>
            <a:r>
              <a:rPr lang="en-US" sz="1600" dirty="0">
                <a:solidFill>
                  <a:schemeClr val="dk1"/>
                </a:solidFill>
                <a:latin typeface="Times New Roman"/>
                <a:ea typeface="Times New Roman"/>
                <a:cs typeface="Times New Roman"/>
                <a:sym typeface="Times New Roman"/>
              </a:rPr>
              <a:t>• A863 - LAV DOOR 3L INOP LOCK </a:t>
            </a:r>
            <a:r>
              <a:rPr lang="en-US" sz="1600" dirty="0" smtClean="0">
                <a:solidFill>
                  <a:schemeClr val="dk1"/>
                </a:solidFill>
                <a:latin typeface="Times New Roman"/>
                <a:ea typeface="Times New Roman"/>
                <a:cs typeface="Times New Roman"/>
                <a:sym typeface="Times New Roman"/>
              </a:rPr>
              <a:t>CLOSE: </a:t>
            </a:r>
            <a:r>
              <a:rPr lang="en-US" sz="1600" dirty="0" err="1" smtClean="0">
                <a:solidFill>
                  <a:schemeClr val="dk1"/>
                </a:solidFill>
                <a:latin typeface="Times New Roman"/>
                <a:ea typeface="Times New Roman"/>
                <a:cs typeface="Times New Roman"/>
                <a:sym typeface="Times New Roman"/>
              </a:rPr>
              <a:t>mới</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đặt</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hàng</a:t>
            </a:r>
            <a:r>
              <a:rPr lang="en-US" sz="1600" dirty="0" smtClean="0">
                <a:solidFill>
                  <a:schemeClr val="dk1"/>
                </a:solidFill>
                <a:latin typeface="Times New Roman"/>
                <a:ea typeface="Times New Roman"/>
                <a:cs typeface="Times New Roman"/>
                <a:sym typeface="Times New Roman"/>
              </a:rPr>
              <a:t> Toilet Assembly </a:t>
            </a:r>
            <a:r>
              <a:rPr lang="en-US" sz="1600" dirty="0" err="1" smtClean="0">
                <a:solidFill>
                  <a:schemeClr val="dk1"/>
                </a:solidFill>
                <a:latin typeface="Times New Roman"/>
                <a:ea typeface="Times New Roman"/>
                <a:cs typeface="Times New Roman"/>
                <a:sym typeface="Times New Roman"/>
              </a:rPr>
              <a:t>ngày</a:t>
            </a:r>
            <a:r>
              <a:rPr lang="en-US" sz="1600" dirty="0" smtClean="0">
                <a:solidFill>
                  <a:schemeClr val="dk1"/>
                </a:solidFill>
                <a:latin typeface="Times New Roman"/>
                <a:ea typeface="Times New Roman"/>
                <a:cs typeface="Times New Roman"/>
                <a:sym typeface="Times New Roman"/>
              </a:rPr>
              <a:t> 03/08, </a:t>
            </a:r>
            <a:r>
              <a:rPr lang="en-US" sz="1600" dirty="0" err="1" smtClean="0">
                <a:solidFill>
                  <a:schemeClr val="dk1"/>
                </a:solidFill>
                <a:latin typeface="Times New Roman"/>
                <a:ea typeface="Times New Roman"/>
                <a:cs typeface="Times New Roman"/>
                <a:sym typeface="Times New Roman"/>
              </a:rPr>
              <a:t>chờ</a:t>
            </a:r>
            <a:r>
              <a:rPr lang="en-US" sz="1600" dirty="0" smtClean="0">
                <a:solidFill>
                  <a:schemeClr val="dk1"/>
                </a:solidFill>
                <a:latin typeface="Times New Roman"/>
                <a:ea typeface="Times New Roman"/>
                <a:cs typeface="Times New Roman"/>
                <a:sym typeface="Times New Roman"/>
              </a:rPr>
              <a:t> KLM </a:t>
            </a:r>
            <a:r>
              <a:rPr lang="en-US" sz="1600" dirty="0" err="1" smtClean="0">
                <a:solidFill>
                  <a:schemeClr val="dk1"/>
                </a:solidFill>
                <a:latin typeface="Times New Roman"/>
                <a:ea typeface="Times New Roman"/>
                <a:cs typeface="Times New Roman"/>
                <a:sym typeface="Times New Roman"/>
              </a:rPr>
              <a:t>cập</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nhật</a:t>
            </a:r>
            <a:r>
              <a:rPr lang="en-US" sz="1600" dirty="0" smtClean="0">
                <a:solidFill>
                  <a:schemeClr val="dk1"/>
                </a:solidFill>
                <a:latin typeface="Times New Roman"/>
                <a:ea typeface="Times New Roman"/>
                <a:cs typeface="Times New Roman"/>
                <a:sym typeface="Times New Roman"/>
              </a:rPr>
              <a:t>.</a:t>
            </a:r>
            <a:endParaRPr lang="en-US" sz="1600" dirty="0">
              <a:solidFill>
                <a:schemeClr val="dk1"/>
              </a:solidFill>
              <a:latin typeface="Times New Roman"/>
              <a:ea typeface="Times New Roman"/>
              <a:cs typeface="Times New Roman"/>
              <a:sym typeface="Times New Roman"/>
            </a:endParaRPr>
          </a:p>
          <a:p>
            <a:pPr marL="457200" lvl="0" algn="just">
              <a:buClr>
                <a:schemeClr val="dk1"/>
              </a:buClr>
              <a:buSzPts val="1100"/>
            </a:pPr>
            <a:r>
              <a:rPr lang="en-US" sz="1600" dirty="0">
                <a:solidFill>
                  <a:schemeClr val="dk1"/>
                </a:solidFill>
                <a:latin typeface="Times New Roman"/>
                <a:ea typeface="Times New Roman"/>
                <a:cs typeface="Times New Roman"/>
                <a:sym typeface="Times New Roman"/>
              </a:rPr>
              <a:t>• A864 - SEAT BELT SIGN 29DEF INOP: </a:t>
            </a:r>
            <a:r>
              <a:rPr lang="en-US" sz="1600" dirty="0" err="1">
                <a:solidFill>
                  <a:schemeClr val="dk1"/>
                </a:solidFill>
                <a:latin typeface="Times New Roman"/>
                <a:ea typeface="Times New Roman"/>
                <a:cs typeface="Times New Roman"/>
                <a:sym typeface="Times New Roman"/>
              </a:rPr>
              <a:t>khắc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phục</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định</a:t>
            </a:r>
            <a:r>
              <a:rPr lang="en-US" sz="1600" dirty="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kì</a:t>
            </a:r>
            <a:r>
              <a:rPr lang="en-US" sz="1600" dirty="0" smtClean="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A874 - ELEC GEN SYS APU L: ASG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SGN 02/08.</a:t>
            </a:r>
            <a:endParaRPr sz="16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p:txBody>
      </p:sp>
      <p:pic>
        <p:nvPicPr>
          <p:cNvPr id="212" name="Google Shape;212;g31ccdae391d_0_315"/>
          <p:cNvPicPr preferRelativeResize="0"/>
          <p:nvPr/>
        </p:nvPicPr>
        <p:blipFill>
          <a:blip r:embed="rId3">
            <a:alphaModFix/>
          </a:blip>
          <a:stretch>
            <a:fillRect/>
          </a:stretch>
        </p:blipFill>
        <p:spPr>
          <a:xfrm>
            <a:off x="785813" y="2619375"/>
            <a:ext cx="10620375" cy="4057650"/>
          </a:xfrm>
          <a:prstGeom prst="rect">
            <a:avLst/>
          </a:prstGeom>
          <a:noFill/>
          <a:ln>
            <a:noFill/>
          </a:ln>
        </p:spPr>
      </p:pic>
    </p:spTree>
    <p:extLst>
      <p:ext uri="{BB962C8B-B14F-4D97-AF65-F5344CB8AC3E}">
        <p14:creationId xmlns:p14="http://schemas.microsoft.com/office/powerpoint/2010/main" val="39919664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9" name="Google Shape;219;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sp>
        <p:nvSpPr>
          <p:cNvPr id="220" name="Google Shape;220;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44</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85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14 </a:t>
            </a:r>
            <a:r>
              <a:rPr lang="en-US" sz="1500" b="0" i="0" u="none" strike="noStrike" cap="none">
                <a:solidFill>
                  <a:schemeClr val="dk1"/>
                </a:solidFill>
                <a:latin typeface="Times New Roman"/>
                <a:ea typeface="Times New Roman"/>
                <a:cs typeface="Times New Roman"/>
                <a:sym typeface="Times New Roman"/>
              </a:rPr>
              <a:t>overdue LO / total </a:t>
            </a:r>
            <a:r>
              <a:rPr lang="en-US" sz="1500">
                <a:solidFill>
                  <a:schemeClr val="dk1"/>
                </a:solidFill>
                <a:latin typeface="Times New Roman"/>
                <a:ea typeface="Times New Roman"/>
                <a:cs typeface="Times New Roman"/>
                <a:sym typeface="Times New Roman"/>
              </a:rPr>
              <a:t>16</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30 </a:t>
            </a:r>
            <a:r>
              <a:rPr lang="en-US" sz="1500" b="0" i="0" u="none" strike="noStrike" cap="none">
                <a:solidFill>
                  <a:schemeClr val="dk1"/>
                </a:solidFill>
                <a:latin typeface="Times New Roman"/>
                <a:ea typeface="Times New Roman"/>
                <a:cs typeface="Times New Roman"/>
                <a:sym typeface="Times New Roman"/>
              </a:rPr>
              <a:t>overdue EO / total </a:t>
            </a:r>
            <a:r>
              <a:rPr lang="en-US" sz="1500">
                <a:solidFill>
                  <a:schemeClr val="dk1"/>
                </a:solidFill>
                <a:latin typeface="Times New Roman"/>
                <a:ea typeface="Times New Roman"/>
                <a:cs typeface="Times New Roman"/>
                <a:sym typeface="Times New Roman"/>
              </a:rPr>
              <a:t>69</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1" name="Google Shape;221;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2" name="Google Shape;222;g31ccdae391d_0_323"/>
          <p:cNvPicPr preferRelativeResize="0"/>
          <p:nvPr/>
        </p:nvPicPr>
        <p:blipFill>
          <a:blip r:embed="rId3">
            <a:alphaModFix/>
          </a:blip>
          <a:stretch>
            <a:fillRect/>
          </a:stretch>
        </p:blipFill>
        <p:spPr>
          <a:xfrm>
            <a:off x="2357448" y="2180873"/>
            <a:ext cx="6525200" cy="4472350"/>
          </a:xfrm>
          <a:prstGeom prst="rect">
            <a:avLst/>
          </a:prstGeom>
          <a:noFill/>
          <a:ln>
            <a:noFill/>
          </a:ln>
        </p:spPr>
      </p:pic>
    </p:spTree>
    <p:extLst>
      <p:ext uri="{BB962C8B-B14F-4D97-AF65-F5344CB8AC3E}">
        <p14:creationId xmlns:p14="http://schemas.microsoft.com/office/powerpoint/2010/main" val="214211066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9" name="Google Shape;229;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graphicFrame>
        <p:nvGraphicFramePr>
          <p:cNvPr id="230" name="Google Shape;230;g31ccdae391d_0_332"/>
          <p:cNvGraphicFramePr/>
          <p:nvPr>
            <p:extLst/>
          </p:nvPr>
        </p:nvGraphicFramePr>
        <p:xfrm>
          <a:off x="474783" y="301869"/>
          <a:ext cx="11561850" cy="5972722"/>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63119">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63119">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dirty="0">
                          <a:latin typeface="Times New Roman"/>
                          <a:ea typeface="Times New Roman"/>
                          <a:cs typeface="Times New Roman"/>
                          <a:sym typeface="Times New Roman"/>
                        </a:rPr>
                        <a:t>STT</a:t>
                      </a:r>
                      <a:endParaRPr sz="1300" b="1" i="0" u="none" strike="noStrike" cap="none" dirty="0">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85278">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Spoiler Servo control</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FCRM</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CA67003-018/020/025</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CA71323-016 / -015</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Spoiler Servo:</a:t>
                      </a:r>
                      <a:r>
                        <a:rPr lang="en-US" sz="1300" dirty="0">
                          <a:latin typeface="Times New Roman"/>
                          <a:ea typeface="Times New Roman"/>
                          <a:cs typeface="Times New Roman"/>
                          <a:sym typeface="Times New Roman"/>
                        </a:rPr>
                        <a:t> 01 </a:t>
                      </a:r>
                      <a:r>
                        <a:rPr lang="en-US" sz="1300" dirty="0" err="1">
                          <a:latin typeface="Times New Roman"/>
                          <a:ea typeface="Times New Roman"/>
                          <a:cs typeface="Times New Roman"/>
                          <a:sym typeface="Times New Roman"/>
                        </a:rPr>
                        <a:t>lấp</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đầy</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chưa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EDD</a:t>
                      </a:r>
                      <a:r>
                        <a:rPr lang="en-US" sz="1300" u="none" strike="noStrike" cap="none"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FCRM: </a:t>
                      </a:r>
                      <a:r>
                        <a:rPr lang="en-US" sz="1300" dirty="0">
                          <a:solidFill>
                            <a:schemeClr val="dk1"/>
                          </a:solidFill>
                          <a:latin typeface="Times New Roman"/>
                          <a:ea typeface="Times New Roman"/>
                          <a:cs typeface="Times New Roman"/>
                          <a:sym typeface="Times New Roman"/>
                        </a:rPr>
                        <a:t>01ea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HAN </a:t>
                      </a:r>
                      <a:r>
                        <a:rPr lang="en-US" sz="1300" dirty="0" smtClean="0">
                          <a:solidFill>
                            <a:schemeClr val="dk1"/>
                          </a:solidFill>
                          <a:latin typeface="Times New Roman"/>
                          <a:ea typeface="Times New Roman"/>
                          <a:cs typeface="Times New Roman"/>
                          <a:sym typeface="Times New Roman"/>
                        </a:rPr>
                        <a:t>04/08.</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20094">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688-6/688-6-00-100</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1</a:t>
                      </a:r>
                      <a:r>
                        <a:rPr lang="en-US" sz="1300" dirty="0">
                          <a:latin typeface="Times New Roman"/>
                          <a:ea typeface="Times New Roman"/>
                          <a:cs typeface="Times New Roman"/>
                          <a:sym typeface="Times New Roman"/>
                        </a:rPr>
                        <a:t>4</a:t>
                      </a:r>
                      <a:r>
                        <a:rPr lang="en-US" sz="1300" u="none" strike="noStrike" cap="none" dirty="0">
                          <a:latin typeface="Times New Roman"/>
                          <a:ea typeface="Times New Roman"/>
                          <a:cs typeface="Times New Roman"/>
                          <a:sym typeface="Times New Roman"/>
                        </a:rPr>
                        <a:t>ea (</a:t>
                      </a:r>
                      <a:r>
                        <a:rPr lang="en-US" sz="1300" dirty="0">
                          <a:latin typeface="Times New Roman"/>
                          <a:ea typeface="Times New Roman"/>
                          <a:cs typeface="Times New Roman"/>
                          <a:sym typeface="Times New Roman"/>
                        </a:rPr>
                        <a:t>12</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a:t>
                      </a:r>
                      <a:r>
                        <a:rPr lang="en-US" sz="1300" dirty="0">
                          <a:latin typeface="Times New Roman"/>
                          <a:ea typeface="Times New Roman"/>
                          <a:cs typeface="Times New Roman"/>
                          <a:sym typeface="Times New Roman"/>
                        </a:rPr>
                        <a:t>2</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NIL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- 07</a:t>
                      </a:r>
                      <a:r>
                        <a:rPr lang="en-US" sz="1300" u="none" strike="noStrike" cap="none">
                          <a:solidFill>
                            <a:schemeClr val="dk1"/>
                          </a:solidFill>
                          <a:latin typeface="Times New Roman"/>
                          <a:ea typeface="Times New Roman"/>
                          <a:cs typeface="Times New Roman"/>
                          <a:sym typeface="Times New Roman"/>
                        </a:rPr>
                        <a:t>RO</a:t>
                      </a:r>
                      <a:r>
                        <a:rPr lang="en-US" sz="1300">
                          <a:solidFill>
                            <a:schemeClr val="dk1"/>
                          </a:solidFill>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giao HAN 04/08</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EDD 11/08.</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+ 03ea EDD 22/09..</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885278">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05</a:t>
                      </a:r>
                      <a:r>
                        <a:rPr lang="en-US" sz="1300" u="none" strike="noStrike" cap="none">
                          <a:solidFill>
                            <a:schemeClr val="dk1"/>
                          </a:solidFill>
                          <a:latin typeface="Times New Roman"/>
                          <a:ea typeface="Times New Roman"/>
                          <a:cs typeface="Times New Roman"/>
                          <a:sym typeface="Times New Roman"/>
                        </a:rPr>
                        <a:t>ea in stock</a:t>
                      </a:r>
                      <a:r>
                        <a:rPr lang="en-US" sz="1300">
                          <a:solidFill>
                            <a:schemeClr val="dk1"/>
                          </a:solidFill>
                          <a:latin typeface="Times New Roman"/>
                          <a:ea typeface="Times New Roman"/>
                          <a:cs typeface="Times New Roman"/>
                          <a:sym typeface="Times New Roman"/>
                        </a:rPr>
                        <a:t> (trong đó 04ea là của tàu BQ A895).</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885278">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hệ</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thống</a:t>
                      </a:r>
                      <a:r>
                        <a:rPr lang="en-US" sz="1300" u="none" strike="noStrike" cap="none" dirty="0">
                          <a:latin typeface="Times New Roman"/>
                          <a:ea typeface="Times New Roman"/>
                          <a:cs typeface="Times New Roman"/>
                          <a:sym typeface="Times New Roman"/>
                        </a:rPr>
                        <a:t> chiller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bay.</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TAT </a:t>
                      </a:r>
                      <a:r>
                        <a:rPr lang="en-US" sz="1300" u="none" strike="noStrike" cap="none" dirty="0" err="1">
                          <a:latin typeface="Times New Roman"/>
                          <a:ea typeface="Times New Roman"/>
                          <a:cs typeface="Times New Roman"/>
                          <a:sym typeface="Times New Roman"/>
                        </a:rPr>
                        <a:t>sửa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chữa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tại</a:t>
                      </a:r>
                      <a:r>
                        <a:rPr lang="en-US" sz="1300" u="none" strike="noStrike" cap="none" dirty="0">
                          <a:latin typeface="Times New Roman"/>
                          <a:ea typeface="Times New Roman"/>
                          <a:cs typeface="Times New Roman"/>
                          <a:sym typeface="Times New Roman"/>
                        </a:rPr>
                        <a:t> shop Honeywell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dài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chưa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được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việc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cung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ứng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hàng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Airbus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chậm</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01ea VCRU in stock</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885278">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Độ tin cậy kém nên hỏng hóc rất nhiều.</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15ea </a:t>
                      </a:r>
                      <a:r>
                        <a:rPr lang="en-US" sz="1300" dirty="0" err="1">
                          <a:solidFill>
                            <a:schemeClr val="dk1"/>
                          </a:solidFill>
                          <a:latin typeface="Times New Roman"/>
                          <a:ea typeface="Times New Roman"/>
                          <a:cs typeface="Times New Roman"/>
                          <a:sym typeface="Times New Roman"/>
                        </a:rPr>
                        <a:t>hỏng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hóc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dự</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kiến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cuối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32 release 03ea</a:t>
                      </a:r>
                      <a:r>
                        <a:rPr lang="en-US" sz="1300" dirty="0" smtClean="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r h="885278">
                <a:tc>
                  <a:txBody>
                    <a:bodyPr/>
                    <a:lstStyle/>
                    <a:p>
                      <a:pPr marL="0" marR="0" lvl="0" indent="0" algn="ctr" rtl="0">
                        <a:lnSpc>
                          <a:spcPct val="100000"/>
                        </a:lnSpc>
                        <a:spcBef>
                          <a:spcPts val="0"/>
                        </a:spcBef>
                        <a:spcAft>
                          <a:spcPts val="0"/>
                        </a:spcAft>
                        <a:buNone/>
                      </a:pPr>
                      <a:r>
                        <a:rPr lang="en-US" sz="1300">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latin typeface="Times New Roman"/>
                          <a:ea typeface="Times New Roman"/>
                          <a:cs typeface="Times New Roman"/>
                          <a:sym typeface="Times New Roman"/>
                        </a:rPr>
                        <a:t>Starter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solidFill>
                            <a:schemeClr val="dk1"/>
                          </a:solidFill>
                          <a:latin typeface="Times New Roman"/>
                          <a:ea typeface="Times New Roman"/>
                          <a:cs typeface="Times New Roman"/>
                          <a:sym typeface="Times New Roman"/>
                        </a:rPr>
                        <a:t>1714214A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latin typeface="Times New Roman"/>
                          <a:ea typeface="Times New Roman"/>
                          <a:cs typeface="Times New Roman"/>
                          <a:sym typeface="Times New Roman"/>
                        </a:rPr>
                        <a:t>+ Hỏng nhiều trên fleet A350 và rất nhiều quote BER repair, nguồn hàng từ OEM Collins không có sẵn, tàu BQ đã bị rob hết nhưng cũng không đủ.</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cần</a:t>
                      </a:r>
                      <a:r>
                        <a:rPr lang="en-US" sz="1300" dirty="0">
                          <a:solidFill>
                            <a:schemeClr val="dk1"/>
                          </a:solidFill>
                          <a:latin typeface="Times New Roman"/>
                          <a:ea typeface="Times New Roman"/>
                          <a:cs typeface="Times New Roman"/>
                          <a:sym typeface="Times New Roman"/>
                        </a:rPr>
                        <a:t> 02ea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A895.</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300" dirty="0">
                          <a:solidFill>
                            <a:schemeClr val="dk1"/>
                          </a:solidFill>
                          <a:latin typeface="Times New Roman"/>
                          <a:ea typeface="Times New Roman"/>
                          <a:cs typeface="Times New Roman"/>
                          <a:sym typeface="Times New Roman"/>
                        </a:rPr>
                        <a:t>+ 03ea PO </a:t>
                      </a:r>
                      <a:r>
                        <a:rPr lang="en-US" sz="1300" dirty="0" smtClean="0">
                          <a:solidFill>
                            <a:schemeClr val="dk1"/>
                          </a:solidFill>
                          <a:latin typeface="Times New Roman"/>
                          <a:ea typeface="Times New Roman"/>
                          <a:cs typeface="Times New Roman"/>
                          <a:sym typeface="Times New Roman"/>
                        </a:rPr>
                        <a:t>EDD 2026.</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300" dirty="0">
                          <a:solidFill>
                            <a:schemeClr val="dk1"/>
                          </a:solidFill>
                          <a:latin typeface="Times New Roman"/>
                          <a:ea typeface="Times New Roman"/>
                          <a:cs typeface="Times New Roman"/>
                          <a:sym typeface="Times New Roman"/>
                        </a:rPr>
                        <a:t>+ 03 RO: 01ea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HAN 05/08, 01ea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xin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phê</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duyệt</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sửa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chữa</a:t>
                      </a:r>
                      <a:r>
                        <a:rPr lang="en-US" sz="1300" dirty="0">
                          <a:solidFill>
                            <a:schemeClr val="dk1"/>
                          </a:solidFill>
                          <a:latin typeface="Times New Roman"/>
                          <a:ea typeface="Times New Roman"/>
                          <a:cs typeface="Times New Roman"/>
                          <a:sym typeface="Times New Roman"/>
                        </a:rPr>
                        <a:t> BER, 01ea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đến</a:t>
                      </a:r>
                      <a:r>
                        <a:rPr lang="en-US" sz="1300" dirty="0">
                          <a:solidFill>
                            <a:schemeClr val="dk1"/>
                          </a:solidFill>
                          <a:latin typeface="Times New Roman"/>
                          <a:ea typeface="Times New Roman"/>
                          <a:cs typeface="Times New Roman"/>
                          <a:sym typeface="Times New Roman"/>
                        </a:rPr>
                        <a:t> shop..</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4209849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238" name="Google Shape;238;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A886, A887, A888, A890, A892, A896 - CHILLER SYS INOP: đặt hàng VCRU hiện chỉ có 01ea in stock..</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A889 - ADR #1 INOP: đã có Probe.</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40" name="Google Shape;240;g31ccdae391d_0_339"/>
          <p:cNvPicPr preferRelativeResize="0"/>
          <p:nvPr/>
        </p:nvPicPr>
        <p:blipFill>
          <a:blip r:embed="rId3">
            <a:alphaModFix/>
          </a:blip>
          <a:stretch>
            <a:fillRect/>
          </a:stretch>
        </p:blipFill>
        <p:spPr>
          <a:xfrm>
            <a:off x="952500" y="2776538"/>
            <a:ext cx="10591800" cy="3438525"/>
          </a:xfrm>
          <a:prstGeom prst="rect">
            <a:avLst/>
          </a:prstGeom>
          <a:noFill/>
          <a:ln>
            <a:noFill/>
          </a:ln>
        </p:spPr>
      </p:pic>
    </p:spTree>
    <p:extLst>
      <p:ext uri="{BB962C8B-B14F-4D97-AF65-F5344CB8AC3E}">
        <p14:creationId xmlns:p14="http://schemas.microsoft.com/office/powerpoint/2010/main" val="7687132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7" name="Google Shape;247;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248" name="Google Shape;248;g31ccdae391d_0_347"/>
          <p:cNvGraphicFramePr/>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06EA: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02RO: SCRAP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EST 30/09</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ACM</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2205120-4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Cabin Hot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05RO: chưa có EDD do thiếu PTVT thay thế. Trong đó có 4 warranty order bị từ chối bảo hành do bị oil and carbon contamination</a:t>
                      </a:r>
                      <a:endParaRPr sz="1100">
                        <a:solidFill>
                          <a:srgbClr val="1F497D"/>
                        </a:solidFill>
                        <a:latin typeface="Calibri"/>
                        <a:ea typeface="Calibri"/>
                        <a:cs typeface="Calibri"/>
                        <a:sym typeface="Calibri"/>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01LO: thuê từ ngày 30/6 (min. 3 tháng)</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3716404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5" name="Google Shape;255;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graphicFrame>
        <p:nvGraphicFramePr>
          <p:cNvPr id="256" name="Google Shape;256;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05ea in stock</a:t>
                      </a:r>
                      <a:endParaRPr>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01ea Vip kit + 01ea FAK Nga.</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03ea in stock. Dự kiến tuần 32 VSTEA xuất xưởng thêm 03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04ea in stock. trong tuần 32 dự kiến sẽ có thêm 05ea.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8634697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3" name="Google Shape;263;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
        <p:nvSpPr>
          <p:cNvPr id="264" name="Google Shape;264;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b="1" i="0" u="none" strike="noStrike" cap="none">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03ea (thuê dài hạn) &amp; 03 động cơ thuê ngắn hạn + </a:t>
            </a:r>
            <a:r>
              <a:rPr lang="en-US" sz="1500">
                <a:solidFill>
                  <a:schemeClr val="dk1"/>
                </a:solidFill>
                <a:highlight>
                  <a:schemeClr val="lt1"/>
                </a:highlight>
                <a:latin typeface="Times New Roman"/>
                <a:ea typeface="Times New Roman"/>
                <a:cs typeface="Times New Roman"/>
                <a:sym typeface="Times New Roman"/>
              </a:rPr>
              <a:t>01 động cơ new (giao HAN 22/01).</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01ea (ENG 21136)</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 0</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ea (0</a:t>
            </a:r>
            <a:r>
              <a:rPr lang="en-US" sz="1500">
                <a:solidFill>
                  <a:schemeClr val="dk1"/>
                </a:solidFill>
                <a:highlight>
                  <a:schemeClr val="lt1"/>
                </a:highlight>
                <a:latin typeface="Times New Roman"/>
                <a:ea typeface="Times New Roman"/>
                <a:cs typeface="Times New Roman"/>
                <a:sym typeface="Times New Roman"/>
              </a:rPr>
              <a:t>4</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21043 và </a:t>
            </a:r>
            <a:r>
              <a:rPr lang="en-US" sz="1500">
                <a:solidFill>
                  <a:schemeClr val="dk1"/>
                </a:solidFill>
                <a:highlight>
                  <a:schemeClr val="lt1"/>
                </a:highlight>
                <a:latin typeface="Times New Roman"/>
                <a:ea typeface="Times New Roman"/>
                <a:cs typeface="Times New Roman"/>
                <a:sym typeface="Times New Roman"/>
              </a:rPr>
              <a:t>21137</a:t>
            </a:r>
            <a:r>
              <a:rPr lang="en-US" sz="1500" b="0" i="0" u="none" strike="noStrike" cap="none">
                <a:solidFill>
                  <a:schemeClr val="dk1"/>
                </a:solidFill>
                <a:highlight>
                  <a:schemeClr val="lt1"/>
                </a:highlight>
                <a:latin typeface="Times New Roman"/>
                <a:ea typeface="Times New Roman"/>
                <a:cs typeface="Times New Roman"/>
                <a:sym typeface="Times New Roman"/>
              </a:rPr>
              <a:t>, 21048</a:t>
            </a:r>
            <a:r>
              <a:rPr lang="en-US" sz="1500">
                <a:solidFill>
                  <a:schemeClr val="dk1"/>
                </a:solidFill>
                <a:highlight>
                  <a:schemeClr val="lt1"/>
                </a:highlight>
                <a:latin typeface="Times New Roman"/>
                <a:ea typeface="Times New Roman"/>
                <a:cs typeface="Times New Roman"/>
                <a:sym typeface="Times New Roman"/>
              </a:rPr>
              <a:t>, 21024 </a:t>
            </a:r>
            <a:r>
              <a:rPr lang="en-US" sz="1500" b="0" i="0" u="none" strike="noStrike" cap="none">
                <a:solidFill>
                  <a:schemeClr val="dk1"/>
                </a:solidFill>
                <a:highlight>
                  <a:schemeClr val="lt1"/>
                </a:highlight>
                <a:latin typeface="Times New Roman"/>
                <a:ea typeface="Times New Roman"/>
                <a:cs typeface="Times New Roman"/>
                <a:sym typeface="Times New Roman"/>
              </a:rPr>
              <a:t>sửa tại N3 và</a:t>
            </a:r>
            <a:r>
              <a:rPr lang="en-US" sz="1500">
                <a:solidFill>
                  <a:schemeClr val="dk1"/>
                </a:solidFill>
                <a:highlight>
                  <a:schemeClr val="lt1"/>
                </a:highlight>
                <a:latin typeface="Times New Roman"/>
                <a:ea typeface="Times New Roman"/>
                <a:cs typeface="Times New Roman"/>
                <a:sym typeface="Times New Roman"/>
              </a:rPr>
              <a:t> 02 tại SEASL 21414 và 21604</a:t>
            </a:r>
            <a:r>
              <a:rPr lang="en-US" sz="1500" b="0" i="0" u="none" strike="noStrike" cap="none">
                <a:solidFill>
                  <a:schemeClr val="dk1"/>
                </a:solidFill>
                <a:highlight>
                  <a:schemeClr val="lt1"/>
                </a:highlight>
                <a:latin typeface="Times New Roman"/>
                <a:ea typeface="Times New Roman"/>
                <a:cs typeface="Times New Roman"/>
                <a:sym typeface="Times New Roman"/>
              </a:rPr>
              <a:t>)</a:t>
            </a:r>
            <a:r>
              <a:rPr lang="en-US" sz="1500">
                <a:solidFill>
                  <a:schemeClr val="dk1"/>
                </a:solidFill>
                <a:highlight>
                  <a:schemeClr val="lt1"/>
                </a:highlight>
                <a:latin typeface="Times New Roman"/>
                <a:ea typeface="Times New Roman"/>
                <a:cs typeface="Times New Roman"/>
                <a:sym typeface="Times New Roman"/>
              </a:rPr>
              <a:t>. 02 động cơ 21425 sẽ gửi N3 và 21035 gửi HAESL tháng 7/2025</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01 </a:t>
            </a:r>
            <a:r>
              <a:rPr lang="en-US" sz="1500">
                <a:solidFill>
                  <a:schemeClr val="dk1"/>
                </a:solidFill>
                <a:highlight>
                  <a:schemeClr val="lt1"/>
                </a:highlight>
                <a:latin typeface="Times New Roman"/>
                <a:ea typeface="Times New Roman"/>
                <a:cs typeface="Times New Roman"/>
                <a:sym typeface="Times New Roman"/>
              </a:rPr>
              <a:t>ENG </a:t>
            </a:r>
            <a:r>
              <a:rPr lang="en-US" sz="1500">
                <a:solidFill>
                  <a:schemeClr val="dk1"/>
                </a:solidFill>
                <a:latin typeface="Times New Roman"/>
                <a:ea typeface="Times New Roman"/>
                <a:cs typeface="Times New Roman"/>
                <a:sym typeface="Times New Roman"/>
              </a:rPr>
              <a:t>21043 tại N3 dự kiến giao Vaeco 05Aug.</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01 </a:t>
            </a:r>
            <a:r>
              <a:rPr lang="en-US" sz="1500">
                <a:solidFill>
                  <a:schemeClr val="dk1"/>
                </a:solidFill>
                <a:highlight>
                  <a:schemeClr val="lt1"/>
                </a:highlight>
                <a:latin typeface="Times New Roman"/>
                <a:ea typeface="Times New Roman"/>
                <a:cs typeface="Times New Roman"/>
                <a:sym typeface="Times New Roman"/>
              </a:rPr>
              <a:t>ENG </a:t>
            </a:r>
            <a:r>
              <a:rPr lang="en-US" sz="1500">
                <a:solidFill>
                  <a:schemeClr val="dk1"/>
                </a:solidFill>
                <a:latin typeface="Times New Roman"/>
                <a:ea typeface="Times New Roman"/>
                <a:cs typeface="Times New Roman"/>
                <a:sym typeface="Times New Roman"/>
              </a:rPr>
              <a:t>21137 pickup 01Sep tại N3 dự kiến giao Vaeco 10Sep.</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01 ENG 21414 giao 24Aug tại SIN giao Vaeco 05Sep.</a:t>
            </a: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a:t>
            </a:r>
            <a:r>
              <a:rPr lang="en-US" sz="1500">
                <a:solidFill>
                  <a:schemeClr val="dk1"/>
                </a:solidFill>
                <a:highlight>
                  <a:schemeClr val="lt1"/>
                </a:highlight>
                <a:latin typeface="Times New Roman"/>
                <a:ea typeface="Times New Roman"/>
                <a:cs typeface="Times New Roman"/>
                <a:sym typeface="Times New Roman"/>
              </a:rPr>
              <a:t>10</a:t>
            </a:r>
            <a:r>
              <a:rPr lang="en-US" sz="1500" b="0" i="0" u="none" strike="noStrike" cap="none">
                <a:solidFill>
                  <a:schemeClr val="dk1"/>
                </a:solidFill>
                <a:highlight>
                  <a:schemeClr val="lt1"/>
                </a:highlight>
                <a:latin typeface="Times New Roman"/>
                <a:ea typeface="Times New Roman"/>
                <a:cs typeface="Times New Roman"/>
                <a:sym typeface="Times New Roman"/>
              </a:rPr>
              <a:t>ea (2 sở hữu, 2 dài hạn và </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 ngắn hạn) đã ký thêm </a:t>
            </a:r>
            <a:r>
              <a:rPr lang="en-US" sz="1500">
                <a:solidFill>
                  <a:schemeClr val="dk1"/>
                </a:solidFill>
                <a:highlight>
                  <a:schemeClr val="lt1"/>
                </a:highlight>
                <a:latin typeface="Times New Roman"/>
                <a:ea typeface="Times New Roman"/>
                <a:cs typeface="Times New Roman"/>
                <a:sym typeface="Times New Roman"/>
              </a:rPr>
              <a:t>01</a:t>
            </a:r>
            <a:r>
              <a:rPr lang="en-US" sz="1500" b="0" i="0" u="none" strike="noStrike" cap="none">
                <a:solidFill>
                  <a:schemeClr val="dk1"/>
                </a:solidFill>
                <a:highlight>
                  <a:schemeClr val="lt1"/>
                </a:highlight>
                <a:latin typeface="Times New Roman"/>
                <a:ea typeface="Times New Roman"/>
                <a:cs typeface="Times New Roman"/>
                <a:sym typeface="Times New Roman"/>
              </a:rPr>
              <a:t> hđ thuê đc M</a:t>
            </a:r>
            <a:r>
              <a:rPr lang="en-US" sz="1500">
                <a:solidFill>
                  <a:schemeClr val="dk1"/>
                </a:solidFill>
                <a:highlight>
                  <a:schemeClr val="lt1"/>
                </a:highlight>
                <a:latin typeface="Times New Roman"/>
                <a:ea typeface="Times New Roman"/>
                <a:cs typeface="Times New Roman"/>
                <a:sym typeface="Times New Roman"/>
              </a:rPr>
              <a:t>ar/2025 </a:t>
            </a:r>
            <a:r>
              <a:rPr lang="en-US" sz="1500" b="0" i="0" u="none" strike="noStrike" cap="none">
                <a:solidFill>
                  <a:schemeClr val="dk1"/>
                </a:solidFill>
                <a:highlight>
                  <a:schemeClr val="lt1"/>
                </a:highlight>
                <a:latin typeface="Times New Roman"/>
                <a:ea typeface="Times New Roman"/>
                <a:cs typeface="Times New Roman"/>
                <a:sym typeface="Times New Roman"/>
              </a:rPr>
              <a:t>với Aercap.</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01ea in stock (ENG 956599)</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5 </a:t>
            </a:r>
            <a:r>
              <a:rPr lang="en-US" sz="1500" b="0" i="0" u="none" strike="noStrike" cap="none">
                <a:solidFill>
                  <a:schemeClr val="dk1"/>
                </a:solidFill>
                <a:highlight>
                  <a:schemeClr val="lt1"/>
                </a:highlight>
                <a:latin typeface="Times New Roman"/>
                <a:ea typeface="Times New Roman"/>
                <a:cs typeface="Times New Roman"/>
                <a:sym typeface="Times New Roman"/>
              </a:rPr>
              <a:t>động cơ ở KLM shop:</a:t>
            </a:r>
            <a:r>
              <a:rPr lang="en-US" sz="1500">
                <a:solidFill>
                  <a:schemeClr val="dk1"/>
                </a:solidFill>
                <a:highlight>
                  <a:schemeClr val="lt1"/>
                </a:highlight>
                <a:latin typeface="Times New Roman"/>
                <a:ea typeface="Times New Roman"/>
                <a:cs typeface="Times New Roman"/>
                <a:sym typeface="Times New Roman"/>
              </a:rPr>
              <a:t> </a:t>
            </a:r>
            <a:r>
              <a:rPr lang="en-US" sz="1500" b="0" i="0" u="none" strike="noStrike" cap="none">
                <a:solidFill>
                  <a:schemeClr val="dk1"/>
                </a:solidFill>
                <a:highlight>
                  <a:schemeClr val="lt1"/>
                </a:highlight>
                <a:latin typeface="Times New Roman"/>
                <a:ea typeface="Times New Roman"/>
                <a:cs typeface="Times New Roman"/>
                <a:sym typeface="Times New Roman"/>
              </a:rPr>
              <a:t>956947, 956534</a:t>
            </a:r>
            <a:r>
              <a:rPr lang="en-US" sz="1500">
                <a:solidFill>
                  <a:schemeClr val="dk1"/>
                </a:solidFill>
                <a:highlight>
                  <a:schemeClr val="lt1"/>
                </a:highlight>
                <a:latin typeface="Times New Roman"/>
                <a:ea typeface="Times New Roman"/>
                <a:cs typeface="Times New Roman"/>
                <a:sym typeface="Times New Roman"/>
              </a:rPr>
              <a:t>, 956913, 956638, 956577.</a:t>
            </a:r>
            <a:endParaRPr sz="150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highlight>
                  <a:schemeClr val="lt1"/>
                </a:highlight>
                <a:latin typeface="Times New Roman"/>
                <a:ea typeface="Times New Roman"/>
                <a:cs typeface="Times New Roman"/>
                <a:sym typeface="Times New Roman"/>
              </a:rPr>
              <a:t>02 động cơ ở tại GE shop trong đó 01 động cơ 959395 đang sửa tại GE shop dự kiến xong cuối tháng 8/2025.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a:highlight>
                  <a:schemeClr val="lt1"/>
                </a:highlight>
                <a:latin typeface="Times New Roman"/>
                <a:ea typeface="Times New Roman"/>
                <a:cs typeface="Times New Roman"/>
                <a:sym typeface="Times New Roman"/>
              </a:rPr>
              <a:t>Thuê </a:t>
            </a:r>
            <a:r>
              <a:rPr lang="en-US" sz="1500" b="0" i="0" u="none" strike="noStrike" cap="none">
                <a:solidFill>
                  <a:srgbClr val="000000"/>
                </a:solidFill>
                <a:highlight>
                  <a:schemeClr val="lt1"/>
                </a:highlight>
                <a:latin typeface="Times New Roman"/>
                <a:ea typeface="Times New Roman"/>
                <a:cs typeface="Times New Roman"/>
                <a:sym typeface="Times New Roman"/>
              </a:rPr>
              <a:t>động cơ đáp ứng KH sửa 2024-2025: B787 có 04 dự phòng và đang thuê 0</a:t>
            </a:r>
            <a:r>
              <a:rPr lang="en-US" sz="1500">
                <a:highlight>
                  <a:schemeClr val="lt1"/>
                </a:highlight>
                <a:latin typeface="Times New Roman"/>
                <a:ea typeface="Times New Roman"/>
                <a:cs typeface="Times New Roman"/>
                <a:sym typeface="Times New Roman"/>
              </a:rPr>
              <a:t>6</a:t>
            </a:r>
            <a:r>
              <a:rPr lang="en-US" sz="1500" b="0" i="0" u="none" strike="noStrike" cap="none">
                <a:solidFill>
                  <a:srgbClr val="000000"/>
                </a:solidFill>
                <a:highlight>
                  <a:schemeClr val="lt1"/>
                </a:highlight>
                <a:latin typeface="Times New Roman"/>
                <a:ea typeface="Times New Roman"/>
                <a:cs typeface="Times New Roman"/>
                <a:sym typeface="Times New Roman"/>
              </a:rPr>
              <a:t> của Aercap (956933; 958266 và 958934 958966 và 956626, 956980)</a:t>
            </a:r>
            <a:r>
              <a:rPr lang="en-US" sz="1500">
                <a:highlight>
                  <a:schemeClr val="lt1"/>
                </a:highlight>
                <a:latin typeface="Times New Roman"/>
                <a:ea typeface="Times New Roman"/>
                <a:cs typeface="Times New Roman"/>
                <a:sym typeface="Times New Roman"/>
              </a:rPr>
              <a:t> trong đó 956980 mới thuê do 01 đc trên A868 phải tháo đầu tháng 4/2025</a:t>
            </a:r>
            <a:r>
              <a:rPr lang="en-US" sz="1500" b="0" i="0" u="none" strike="noStrike" cap="none">
                <a:solidFill>
                  <a:srgbClr val="000000"/>
                </a:solidFill>
                <a:highlight>
                  <a:schemeClr val="lt1"/>
                </a:highlight>
                <a:latin typeface="Times New Roman"/>
                <a:ea typeface="Times New Roman"/>
                <a:cs typeface="Times New Roman"/>
                <a:sym typeface="Times New Roman"/>
              </a:rPr>
              <a:t>  </a:t>
            </a:r>
            <a:endParaRPr sz="15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5725452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1" name="Google Shape;271;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72" name="Google Shape;272;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a:t>
            </a:r>
            <a:r>
              <a:rPr lang="en-US" sz="1600">
                <a:solidFill>
                  <a:schemeClr val="dk1"/>
                </a:solidFill>
                <a:latin typeface="Times New Roman"/>
                <a:ea typeface="Times New Roman"/>
                <a:cs typeface="Times New Roman"/>
                <a:sym typeface="Times New Roman"/>
              </a:rPr>
              <a:t> NIL</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a:t>
            </a:r>
            <a:r>
              <a:rPr lang="en-US" sz="1600">
                <a:solidFill>
                  <a:schemeClr val="dk1"/>
                </a:solidFill>
                <a:latin typeface="Times New Roman"/>
                <a:ea typeface="Times New Roman"/>
                <a:cs typeface="Times New Roman"/>
                <a:sym typeface="Times New Roman"/>
              </a:rPr>
              <a:t>09ea</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chờ chuyển đi shop: V16570</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cho K6 thuê: 01ea (V12505) - dự kiến trả cuối tháng 8/2025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thuê tháo trả : V10533 (đã tháo 29/6, đã hoàn thiện tại VAECO, Willis đã nhận, đang hoàn thiện thủ tục)</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227902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79" name="Google Shape;279;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6</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4 t</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1</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Đang làm việc với shop, không có indution slot vào tháng 7</a:t>
            </a:r>
            <a:endParaRPr sz="1500" b="0" i="0" u="none" strike="noStrike" cap="none">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Đã kí HĐ thuê thêm 2 động cơ </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AerCap đã có engine GTF PW1127G-JM sẽ ready vào tháng 9</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ELFC có 02 engine GTF PW1127G-JM sẽ ready vào tháng 9 -10</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ALC có 02 engine GTF PW11333GA-JM sẽ ready vào tháng 10</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PTVT thiếu hụt, đặc biệt là khác khối AP51</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9774810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86" name="Google Shape;286;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a:t>
            </a:r>
            <a:r>
              <a:rPr lang="en-US" sz="1500">
                <a:solidFill>
                  <a:schemeClr val="dk1"/>
                </a:solidFill>
                <a:latin typeface="Times New Roman"/>
                <a:ea typeface="Times New Roman"/>
                <a:cs typeface="Times New Roman"/>
                <a:sym typeface="Times New Roman"/>
              </a:rPr>
              <a:t> -</a:t>
            </a:r>
            <a:r>
              <a:rPr lang="en-US" sz="1500" b="0" i="0" u="none" strike="noStrike" cap="none">
                <a:solidFill>
                  <a:schemeClr val="dk1"/>
                </a:solidFill>
                <a:latin typeface="Times New Roman"/>
                <a:ea typeface="Times New Roman"/>
                <a:cs typeface="Times New Roman"/>
                <a:sym typeface="Times New Roman"/>
              </a:rPr>
              <a:t> 06</a:t>
            </a:r>
            <a:r>
              <a:rPr lang="en-US" sz="1500">
                <a:solidFill>
                  <a:schemeClr val="dk1"/>
                </a:solidFill>
                <a:latin typeface="Times New Roman"/>
                <a:ea typeface="Times New Roman"/>
                <a:cs typeface="Times New Roman"/>
                <a:sym typeface="Times New Roman"/>
              </a:rPr>
              <a:t> gồm </a:t>
            </a:r>
            <a:r>
              <a:rPr lang="en-US" sz="1500" b="0" i="0" u="none" strike="noStrike" cap="none">
                <a:solidFill>
                  <a:schemeClr val="dk1"/>
                </a:solidFill>
                <a:latin typeface="Times New Roman"/>
                <a:ea typeface="Times New Roman"/>
                <a:cs typeface="Times New Roman"/>
                <a:sym typeface="Times New Roman"/>
              </a:rPr>
              <a:t>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ED0237, ED0217, 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r>
              <a:rPr lang="en-US"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Lịch release ED0238 tại PWC delay từ cuối tháng 8/2025 sang giữa tháng 09/2025 (đang sửa AOG)</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Lịch release ED0214 tại SA delay sang đầu tháng 10/2025. (đang sửa AOG).</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StandardAero: 250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PWC: 240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287" name="Google Shape;287;g31ccdae391d_0_389"/>
          <p:cNvPicPr preferRelativeResize="0"/>
          <p:nvPr/>
        </p:nvPicPr>
        <p:blipFill>
          <a:blip r:embed="rId3">
            <a:alphaModFix/>
          </a:blip>
          <a:stretch>
            <a:fillRect/>
          </a:stretch>
        </p:blipFill>
        <p:spPr>
          <a:xfrm>
            <a:off x="0" y="3491500"/>
            <a:ext cx="12192000" cy="2571801"/>
          </a:xfrm>
          <a:prstGeom prst="rect">
            <a:avLst/>
          </a:prstGeom>
          <a:noFill/>
          <a:ln>
            <a:noFill/>
          </a:ln>
        </p:spPr>
      </p:pic>
    </p:spTree>
    <p:extLst>
      <p:ext uri="{BB962C8B-B14F-4D97-AF65-F5344CB8AC3E}">
        <p14:creationId xmlns:p14="http://schemas.microsoft.com/office/powerpoint/2010/main" val="220074589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294" name="Google Shape;294;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95" name="Google Shape;295;g31ccdae391d_0_396"/>
          <p:cNvSpPr/>
          <p:nvPr/>
        </p:nvSpPr>
        <p:spPr>
          <a:xfrm>
            <a:off x="609900" y="3074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21043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N3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05Aug.</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21414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SEASL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05Sep.</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ENG 21137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N3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10Sep.</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01ea in stock (ENG 965599).</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958395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30/Aug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15/Sep</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8: V16517 (27/8), V16694 (21/8).</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mới</a:t>
            </a:r>
            <a:r>
              <a:rPr lang="en-US" sz="1600" dirty="0">
                <a:solidFill>
                  <a:schemeClr val="dk1"/>
                </a:solidFill>
                <a:latin typeface="Times New Roman"/>
                <a:ea typeface="Times New Roman"/>
                <a:cs typeface="Times New Roman"/>
                <a:sym typeface="Times New Roman"/>
              </a:rPr>
              <a:t> P771185 (AERCAP) ETA VAECO Han </a:t>
            </a:r>
            <a:r>
              <a:rPr lang="en-US" sz="1600" dirty="0" smtClean="0">
                <a:solidFill>
                  <a:schemeClr val="dk1"/>
                </a:solidFill>
                <a:latin typeface="Times New Roman"/>
                <a:ea typeface="Times New Roman"/>
                <a:cs typeface="Times New Roman"/>
                <a:sym typeface="Times New Roman"/>
              </a:rPr>
              <a:t>28-30/09.</a:t>
            </a:r>
            <a:endParaRPr sz="1600"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mới</a:t>
            </a:r>
            <a:r>
              <a:rPr lang="en-US" sz="1600" dirty="0">
                <a:solidFill>
                  <a:schemeClr val="dk1"/>
                </a:solidFill>
                <a:latin typeface="Times New Roman"/>
                <a:ea typeface="Times New Roman"/>
                <a:cs typeface="Times New Roman"/>
                <a:sym typeface="Times New Roman"/>
              </a:rPr>
              <a:t> P771346 (PWEL) ETA VAECO Han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đầu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9.</a:t>
            </a:r>
            <a:r>
              <a:rPr lang="en-US" sz="1600" dirty="0">
                <a:solidFill>
                  <a:schemeClr val="dk1"/>
                </a:solidFill>
                <a:latin typeface="Times New Roman"/>
                <a:ea typeface="Times New Roman"/>
                <a:cs typeface="Times New Roman"/>
                <a:sym typeface="Times New Roman"/>
              </a:rPr>
              <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P771373 ETA VAECO Han </a:t>
            </a:r>
            <a:r>
              <a:rPr lang="en-US" sz="1600" dirty="0" smtClean="0">
                <a:solidFill>
                  <a:schemeClr val="dk1"/>
                </a:solidFill>
                <a:latin typeface="Times New Roman"/>
                <a:ea typeface="Times New Roman"/>
                <a:cs typeface="Times New Roman"/>
                <a:sym typeface="Times New Roman"/>
              </a:rPr>
              <a:t>23/9.</a:t>
            </a:r>
            <a:r>
              <a:rPr lang="en-US" sz="1600" dirty="0">
                <a:solidFill>
                  <a:schemeClr val="dk1"/>
                </a:solidFill>
                <a:latin typeface="Times New Roman"/>
                <a:ea typeface="Times New Roman"/>
                <a:cs typeface="Times New Roman"/>
                <a:sym typeface="Times New Roman"/>
              </a:rPr>
              <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P771119 ETA VAECO Han </a:t>
            </a:r>
            <a:r>
              <a:rPr lang="en-US" sz="1600" dirty="0" smtClean="0">
                <a:solidFill>
                  <a:schemeClr val="dk1"/>
                </a:solidFill>
                <a:latin typeface="Times New Roman"/>
                <a:ea typeface="Times New Roman"/>
                <a:cs typeface="Times New Roman"/>
                <a:sym typeface="Times New Roman"/>
              </a:rPr>
              <a:t>11/11.</a:t>
            </a:r>
            <a:endParaRPr sz="1600" dirty="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P771079 ETA VAECO Han </a:t>
            </a:r>
            <a:r>
              <a:rPr lang="en-US" sz="1600" dirty="0" smtClean="0">
                <a:solidFill>
                  <a:schemeClr val="dk1"/>
                </a:solidFill>
                <a:latin typeface="Times New Roman"/>
                <a:ea typeface="Times New Roman"/>
                <a:cs typeface="Times New Roman"/>
                <a:sym typeface="Times New Roman"/>
              </a:rPr>
              <a:t>12/11.</a:t>
            </a:r>
            <a:endParaRPr sz="1600" dirty="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P771463 ETA VAECO Han </a:t>
            </a:r>
            <a:r>
              <a:rPr lang="en-US" sz="1600" dirty="0" smtClean="0">
                <a:solidFill>
                  <a:schemeClr val="dk1"/>
                </a:solidFill>
                <a:latin typeface="Times New Roman"/>
                <a:ea typeface="Times New Roman"/>
                <a:cs typeface="Times New Roman"/>
                <a:sym typeface="Times New Roman"/>
              </a:rPr>
              <a:t>29/12.</a:t>
            </a:r>
            <a:endParaRPr sz="1600" dirty="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NIL stock</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ED0238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PWC: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giữa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9/2025.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AOG)</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ED0214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release 01/10/2025.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AOG)</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8125634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2" name="Google Shape;302;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303" name="Google Shape;303;g31ccdae391d_0_403"/>
          <p:cNvSpPr txBox="1"/>
          <p:nvPr/>
        </p:nvSpPr>
        <p:spPr>
          <a:xfrm>
            <a:off x="7807000" y="495300"/>
            <a:ext cx="3783300" cy="3462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a:t>
            </a:r>
            <a:r>
              <a:rPr lang="en-US">
                <a:solidFill>
                  <a:schemeClr val="dk1"/>
                </a:solidFill>
                <a:latin typeface="Times New Roman"/>
                <a:ea typeface="Times New Roman"/>
                <a:cs typeface="Times New Roman"/>
                <a:sym typeface="Times New Roman"/>
              </a:rPr>
              <a:t>01 in stock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endParaRPr sz="1500" b="1">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01 (P-00113)</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đang sửa chữa: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P-00391: waiting for returning shipment.</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01ea stock SGN.</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đang sửa tại shop chưa có dk về</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04" name="Google Shape;304;g31ccdae391d_0_403"/>
          <p:cNvPicPr preferRelativeResize="0"/>
          <p:nvPr/>
        </p:nvPicPr>
        <p:blipFill>
          <a:blip r:embed="rId3">
            <a:alphaModFix/>
          </a:blip>
          <a:stretch>
            <a:fillRect/>
          </a:stretch>
        </p:blipFill>
        <p:spPr>
          <a:xfrm>
            <a:off x="287050" y="459200"/>
            <a:ext cx="7404850" cy="6183500"/>
          </a:xfrm>
          <a:prstGeom prst="rect">
            <a:avLst/>
          </a:prstGeom>
          <a:noFill/>
          <a:ln>
            <a:noFill/>
          </a:ln>
        </p:spPr>
      </p:pic>
    </p:spTree>
    <p:extLst>
      <p:ext uri="{BB962C8B-B14F-4D97-AF65-F5344CB8AC3E}">
        <p14:creationId xmlns:p14="http://schemas.microsoft.com/office/powerpoint/2010/main" val="3892668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E18D4A-261A-4850-B6EF-E8D1177C057C}">
  <ds:schemaRefs>
    <ds:schemaRef ds:uri="http://purl.org/dc/terms/"/>
    <ds:schemaRef ds:uri="http://schemas.openxmlformats.org/package/2006/metadata/core-properties"/>
    <ds:schemaRef ds:uri="e189f61e-1295-4779-a752-040c7fad5177"/>
    <ds:schemaRef ds:uri="http://purl.org/dc/dcmitype/"/>
    <ds:schemaRef ds:uri="b6015720-aa74-4be3-ba0d-eab08776cb9b"/>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78063</TotalTime>
  <Words>14771</Words>
  <Application>Microsoft Office PowerPoint</Application>
  <PresentationFormat>Widescreen</PresentationFormat>
  <Paragraphs>2751</Paragraphs>
  <Slides>65</Slides>
  <Notes>58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MS PGothic</vt:lpstr>
      <vt:lpstr>Arial</vt:lpstr>
      <vt:lpstr>Calibri</vt:lpstr>
      <vt:lpstr>Cambria</vt:lpstr>
      <vt:lpstr>Montserrat</vt:lpstr>
      <vt:lpstr>Montserrat SemiBold</vt:lpstr>
      <vt:lpstr>Tahoma</vt:lpstr>
      <vt:lpstr>Times New Roman</vt:lpstr>
      <vt:lpstr>Wingdings</vt:lpstr>
      <vt:lpstr>16-9 MASTER TEMPLATE</vt:lpstr>
      <vt:lpstr>BÁO CÁO KỸ THUẬT (Tuần 31: 28/07/2025 – 03/08/2025)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A350</vt:lpstr>
      <vt:lpstr>TÌNH TRẠNG KỸ THUẬT ĐỘI BAY – A350</vt:lpstr>
      <vt:lpstr>PowerPoint Presentation</vt:lpstr>
      <vt:lpstr>PowerPoint Presentation</vt:lpstr>
      <vt:lpstr>TÌNH TRẠNG KỸ THUẬT ĐỘI BAY – B787</vt:lpstr>
      <vt:lpstr>TÌNH TRẠNG KỸ THUẬT ĐỘI BAY – B787</vt:lpstr>
      <vt:lpstr>PowerPoint Presentation</vt:lpstr>
      <vt:lpstr>PowerPoint Presentation</vt:lpstr>
      <vt:lpstr>TÌNH TRẠNG KỸ THUẬT ĐỘI BAY – ATR72</vt:lpstr>
      <vt:lpstr>TÌNH TRẠNG KỸ THUẬT ĐỘI BAY – ATR72</vt:lpstr>
      <vt:lpstr>DISPATCH RELIABILITY W31 (28/07/2025-03/08/2025)</vt:lpstr>
      <vt:lpstr>CÁC CÔNG VIỆC TRỌNG ĐIỂM TRONG TUẦN</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Vu Chi Thanh</cp:lastModifiedBy>
  <cp:revision>12161</cp:revision>
  <cp:lastPrinted>2019-03-27T09:25:07Z</cp:lastPrinted>
  <dcterms:created xsi:type="dcterms:W3CDTF">2018-12-27T04:50:36Z</dcterms:created>
  <dcterms:modified xsi:type="dcterms:W3CDTF">2025-08-03T14:21:21Z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