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theme/themeOverride1.xml" ContentType="application/vnd.openxmlformats-officedocument.themeOverride+xml"/>
  <Override PartName="/ppt/charts/chart2.xml" ContentType="application/vnd.openxmlformats-officedocument.drawingml.chart+xml"/>
  <Override PartName="/ppt/theme/themeOverride2.xml" ContentType="application/vnd.openxmlformats-officedocument.themeOverride+xml"/>
  <Override PartName="/ppt/charts/chart3.xml" ContentType="application/vnd.openxmlformats-officedocument.drawingml.chart+xml"/>
  <Override PartName="/ppt/charts/style1.xml" ContentType="application/vnd.ms-office.chartstyle+xml"/>
  <Override PartName="/ppt/charts/colors1.xml" ContentType="application/vnd.ms-office.chartcolorstyle+xml"/>
  <Override PartName="/ppt/theme/themeOverride3.xml" ContentType="application/vnd.openxmlformats-officedocument.themeOverride+xml"/>
  <Override PartName="/ppt/charts/chart4.xml" ContentType="application/vnd.openxmlformats-officedocument.drawingml.chart+xml"/>
  <Override PartName="/ppt/charts/style2.xml" ContentType="application/vnd.ms-office.chartstyle+xml"/>
  <Override PartName="/ppt/charts/colors2.xml" ContentType="application/vnd.ms-office.chartcolorstyle+xml"/>
  <Override PartName="/ppt/theme/themeOverride4.xml" ContentType="application/vnd.openxmlformats-officedocument.themeOverride+xml"/>
  <Override PartName="/ppt/notesSlides/notesSlide3.xml" ContentType="application/vnd.openxmlformats-officedocument.presentationml.notesSlide+xml"/>
  <Override PartName="/ppt/charts/chart5.xml" ContentType="application/vnd.openxmlformats-officedocument.drawingml.chart+xml"/>
  <Override PartName="/ppt/theme/themeOverride5.xml" ContentType="application/vnd.openxmlformats-officedocument.themeOverride+xml"/>
  <Override PartName="/ppt/charts/chart6.xml" ContentType="application/vnd.openxmlformats-officedocument.drawingml.chart+xml"/>
  <Override PartName="/ppt/theme/themeOverride6.xml" ContentType="application/vnd.openxmlformats-officedocument.themeOverride+xml"/>
  <Override PartName="/ppt/tags/tag1.xml" ContentType="application/vnd.openxmlformats-officedocument.presentationml.tags+xml"/>
  <Override PartName="/ppt/notesSlides/notesSlide4.xml" ContentType="application/vnd.openxmlformats-officedocument.presentationml.notesSlide+xml"/>
  <Override PartName="/ppt/tags/tag2.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7.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8.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2.xml" ContentType="application/vnd.openxmlformats-officedocument.presentationml.notesSlide+xml"/>
  <Override PartName="/ppt/charts/chart9.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3.xml" ContentType="application/vnd.openxmlformats-officedocument.presentationml.notesSlide+xml"/>
  <Override PartName="/ppt/charts/chart10.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34.xml" ContentType="application/vnd.openxmlformats-officedocument.presentationml.notesSlide+xml"/>
  <Override PartName="/ppt/charts/chart11.xml" ContentType="application/vnd.openxmlformats-officedocument.drawingml.chart+xml"/>
  <Override PartName="/ppt/charts/style6.xml" ContentType="application/vnd.ms-office.chartstyle+xml"/>
  <Override PartName="/ppt/charts/colors6.xml" ContentType="application/vnd.ms-office.chartcolorstyle+xml"/>
  <Override PartName="/ppt/charts/chart12.xml" ContentType="application/vnd.openxmlformats-officedocument.drawingml.chart+xml"/>
  <Override PartName="/ppt/charts/style7.xml" ContentType="application/vnd.ms-office.chartstyle+xml"/>
  <Override PartName="/ppt/charts/colors7.xml" ContentType="application/vnd.ms-office.chartcolorstyle+xml"/>
  <Override PartName="/ppt/charts/chart13.xml" ContentType="application/vnd.openxmlformats-officedocument.drawingml.chart+xml"/>
  <Override PartName="/ppt/charts/style8.xml" ContentType="application/vnd.ms-office.chartstyle+xml"/>
  <Override PartName="/ppt/charts/colors8.xml" ContentType="application/vnd.ms-office.chartcolorstyle+xml"/>
  <Override PartName="/ppt/charts/chart14.xml" ContentType="application/vnd.openxmlformats-officedocument.drawingml.chart+xml"/>
  <Override PartName="/ppt/charts/style9.xml" ContentType="application/vnd.ms-office.chartstyle+xml"/>
  <Override PartName="/ppt/charts/colors9.xml" ContentType="application/vnd.ms-office.chartcolorstyl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15.xml" ContentType="application/vnd.openxmlformats-officedocument.drawingml.chart+xml"/>
  <Override PartName="/ppt/theme/themeOverride7.xml" ContentType="application/vnd.openxmlformats-officedocument.themeOverride+xml"/>
  <Override PartName="/ppt/notesSlides/notesSlide42.xml" ContentType="application/vnd.openxmlformats-officedocument.presentationml.notesSlide+xml"/>
  <Override PartName="/ppt/charts/chart16.xml" ContentType="application/vnd.openxmlformats-officedocument.drawingml.chart+xml"/>
  <Override PartName="/ppt/charts/style10.xml" ContentType="application/vnd.ms-office.chartstyle+xml"/>
  <Override PartName="/ppt/charts/colors10.xml" ContentType="application/vnd.ms-office.chartcolorstyle+xml"/>
  <Override PartName="/ppt/theme/themeOverride8.xml" ContentType="application/vnd.openxmlformats-officedocument.themeOverride+xml"/>
  <Override PartName="/ppt/notesSlides/notesSlide43.xml" ContentType="application/vnd.openxmlformats-officedocument.presentationml.notesSlide+xml"/>
  <Override PartName="/ppt/charts/chart17.xml" ContentType="application/vnd.openxmlformats-officedocument.drawingml.chart+xml"/>
  <Override PartName="/ppt/charts/style11.xml" ContentType="application/vnd.ms-office.chartstyle+xml"/>
  <Override PartName="/ppt/charts/colors11.xml" ContentType="application/vnd.ms-office.chartcolorstyle+xml"/>
  <Override PartName="/ppt/theme/themeOverride9.xml" ContentType="application/vnd.openxmlformats-officedocument.themeOverride+xml"/>
  <Override PartName="/ppt/notesSlides/notesSlide44.xml" ContentType="application/vnd.openxmlformats-officedocument.presentationml.notesSlide+xml"/>
  <Override PartName="/ppt/charts/chart18.xml" ContentType="application/vnd.openxmlformats-officedocument.drawingml.chart+xml"/>
  <Override PartName="/ppt/charts/style12.xml" ContentType="application/vnd.ms-office.chartstyle+xml"/>
  <Override PartName="/ppt/charts/colors12.xml" ContentType="application/vnd.ms-office.chartcolorstyle+xml"/>
  <Override PartName="/ppt/theme/themeOverride10.xml" ContentType="application/vnd.openxmlformats-officedocument.themeOverr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658" r:id="rId4"/>
  </p:sldMasterIdLst>
  <p:notesMasterIdLst>
    <p:notesMasterId r:id="rId79"/>
  </p:notesMasterIdLst>
  <p:sldIdLst>
    <p:sldId id="11486" r:id="rId5"/>
    <p:sldId id="11487" r:id="rId6"/>
    <p:sldId id="11488" r:id="rId7"/>
    <p:sldId id="11784" r:id="rId8"/>
    <p:sldId id="11786" r:id="rId9"/>
    <p:sldId id="11492" r:id="rId10"/>
    <p:sldId id="11493" r:id="rId11"/>
    <p:sldId id="11788" r:id="rId12"/>
    <p:sldId id="11789" r:id="rId13"/>
    <p:sldId id="11790" r:id="rId14"/>
    <p:sldId id="11777" r:id="rId15"/>
    <p:sldId id="11778" r:id="rId16"/>
    <p:sldId id="11779" r:id="rId17"/>
    <p:sldId id="11791" r:id="rId18"/>
    <p:sldId id="11782" r:id="rId19"/>
    <p:sldId id="11792" r:id="rId20"/>
    <p:sldId id="11793" r:id="rId21"/>
    <p:sldId id="11803" r:id="rId22"/>
    <p:sldId id="11505" r:id="rId23"/>
    <p:sldId id="11804" r:id="rId24"/>
    <p:sldId id="257" r:id="rId25"/>
    <p:sldId id="262" r:id="rId26"/>
    <p:sldId id="11805" r:id="rId27"/>
    <p:sldId id="263" r:id="rId28"/>
    <p:sldId id="264" r:id="rId29"/>
    <p:sldId id="11785" r:id="rId30"/>
    <p:sldId id="11523" r:id="rId31"/>
    <p:sldId id="11787" r:id="rId32"/>
    <p:sldId id="11807" r:id="rId33"/>
    <p:sldId id="11808" r:id="rId34"/>
    <p:sldId id="11809" r:id="rId35"/>
    <p:sldId id="11810" r:id="rId36"/>
    <p:sldId id="11811" r:id="rId37"/>
    <p:sldId id="11812" r:id="rId38"/>
    <p:sldId id="11794" r:id="rId39"/>
    <p:sldId id="11795" r:id="rId40"/>
    <p:sldId id="11796" r:id="rId41"/>
    <p:sldId id="11797" r:id="rId42"/>
    <p:sldId id="11798" r:id="rId43"/>
    <p:sldId id="11799" r:id="rId44"/>
    <p:sldId id="11800" r:id="rId45"/>
    <p:sldId id="11801" r:id="rId46"/>
    <p:sldId id="11802" r:id="rId47"/>
    <p:sldId id="11780" r:id="rId48"/>
    <p:sldId id="11781" r:id="rId49"/>
    <p:sldId id="11783" r:id="rId50"/>
    <p:sldId id="11403" r:id="rId51"/>
    <p:sldId id="11404" r:id="rId52"/>
    <p:sldId id="11406" r:id="rId53"/>
    <p:sldId id="11776" r:id="rId54"/>
    <p:sldId id="11545" r:id="rId55"/>
    <p:sldId id="11774" r:id="rId56"/>
    <p:sldId id="11775" r:id="rId57"/>
    <p:sldId id="11489" r:id="rId58"/>
    <p:sldId id="256" r:id="rId59"/>
    <p:sldId id="11770" r:id="rId60"/>
    <p:sldId id="258" r:id="rId61"/>
    <p:sldId id="259" r:id="rId62"/>
    <p:sldId id="260" r:id="rId63"/>
    <p:sldId id="261" r:id="rId64"/>
    <p:sldId id="11771" r:id="rId65"/>
    <p:sldId id="11772" r:id="rId66"/>
    <p:sldId id="11773" r:id="rId67"/>
    <p:sldId id="265" r:id="rId68"/>
    <p:sldId id="266" r:id="rId69"/>
    <p:sldId id="267" r:id="rId70"/>
    <p:sldId id="268" r:id="rId71"/>
    <p:sldId id="269" r:id="rId72"/>
    <p:sldId id="270" r:id="rId73"/>
    <p:sldId id="271" r:id="rId74"/>
    <p:sldId id="272" r:id="rId75"/>
    <p:sldId id="273" r:id="rId76"/>
    <p:sldId id="274" r:id="rId77"/>
    <p:sldId id="275" r:id="rId78"/>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en Dinh Thanh" initials="NDT" lastIdx="1" clrIdx="0">
    <p:extLst>
      <p:ext uri="{19B8F6BF-5375-455C-9EA6-DF929625EA0E}">
        <p15:presenceInfo xmlns:p15="http://schemas.microsoft.com/office/powerpoint/2012/main" userId="d098a10a9a17dfc3" providerId="Windows Live"/>
      </p:ext>
    </p:extLst>
  </p:cmAuthor>
  <p:cmAuthor id="2" name="MayTinhBachVuong" initials="M" lastIdx="1" clrIdx="1">
    <p:extLst>
      <p:ext uri="{19B8F6BF-5375-455C-9EA6-DF929625EA0E}">
        <p15:presenceInfo xmlns:p15="http://schemas.microsoft.com/office/powerpoint/2012/main" userId="MayTinhBachVuo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F6E"/>
    <a:srgbClr val="FFFF00"/>
    <a:srgbClr val="0099FF"/>
    <a:srgbClr val="D2A43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376" autoAdjust="0"/>
    <p:restoredTop sz="95337" autoAdjust="0"/>
  </p:normalViewPr>
  <p:slideViewPr>
    <p:cSldViewPr>
      <p:cViewPr varScale="1">
        <p:scale>
          <a:sx n="115" d="100"/>
          <a:sy n="115" d="100"/>
        </p:scale>
        <p:origin x="120" y="84"/>
      </p:cViewPr>
      <p:guideLst>
        <p:guide orient="horz" pos="2160"/>
        <p:guide pos="3840"/>
      </p:guideLst>
    </p:cSldViewPr>
  </p:slideViewPr>
  <p:outlineViewPr>
    <p:cViewPr>
      <p:scale>
        <a:sx n="33" d="100"/>
        <a:sy n="33" d="100"/>
      </p:scale>
      <p:origin x="0" y="-26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tableStyles" Target="tableStyle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82" Type="http://schemas.openxmlformats.org/officeDocument/2006/relationships/viewProps" Target="viewProp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s>
</file>

<file path=ppt/charts/_rels/chart1.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9\W09%20(24.02.2025-02.03.2025).xlsx" TargetMode="External"/><Relationship Id="rId1" Type="http://schemas.openxmlformats.org/officeDocument/2006/relationships/themeOverride" Target="../theme/themeOverride1.xml"/></Relationships>
</file>

<file path=ppt/charts/_rels/chart2.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9\W09%20(24.02.2025-02.03.2025).xlsx" TargetMode="External"/><Relationship Id="rId1" Type="http://schemas.openxmlformats.org/officeDocument/2006/relationships/themeOverride" Target="../theme/themeOverride2.xml"/></Relationships>
</file>

<file path=ppt/charts/_rels/chart3.xml.rels><?xml version="1.0" encoding="UTF-8" standalone="yes"?>
<Relationships xmlns="http://schemas.openxmlformats.org/package/2006/relationships"><Relationship Id="rId3" Type="http://schemas.openxmlformats.org/officeDocument/2006/relationships/themeOverride" Target="../theme/themeOverride3.xml"/><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oleObject" Target="file:///D:\thanh_ggdrive\work\B&#193;O%20C&#193;O\B&#225;o%20c&#225;o%20tu&#7847;n\2025\Week%2009\W09%20(24.02.2025-02.03.2025).xlsx" TargetMode="External"/></Relationships>
</file>

<file path=ppt/charts/_rels/chart4.xml.rels><?xml version="1.0" encoding="UTF-8" standalone="yes"?>
<Relationships xmlns="http://schemas.openxmlformats.org/package/2006/relationships"><Relationship Id="rId3" Type="http://schemas.openxmlformats.org/officeDocument/2006/relationships/themeOverride" Target="../theme/themeOverride4.xml"/><Relationship Id="rId2" Type="http://schemas.microsoft.com/office/2011/relationships/chartColorStyle" Target="colors2.xml"/><Relationship Id="rId1" Type="http://schemas.microsoft.com/office/2011/relationships/chartStyle" Target="style2.xml"/><Relationship Id="rId4" Type="http://schemas.openxmlformats.org/officeDocument/2006/relationships/oleObject" Target="file:///D:\thanh_ggdrive\work\B&#193;O%20C&#193;O\B&#225;o%20c&#225;o%20tu&#7847;n\2025\Week%2009\W09%20(24.02.2025-02.03.2025).xlsx" TargetMode="External"/></Relationships>
</file>

<file path=ppt/charts/_rels/chart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9\W09%20(24.02.2025-02.03.2025).xlsx" TargetMode="External"/><Relationship Id="rId1" Type="http://schemas.openxmlformats.org/officeDocument/2006/relationships/themeOverride" Target="../theme/themeOverride5.xml"/></Relationships>
</file>

<file path=ppt/charts/_rels/chart6.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9\W09%20(24.02.2025-02.03.2025).xlsx" TargetMode="External"/><Relationship Id="rId1" Type="http://schemas.openxmlformats.org/officeDocument/2006/relationships/themeOverride" Target="../theme/themeOverride6.xml"/></Relationships>
</file>

<file path=ppt/charts/_rels/chart7.xml.rels><?xml version="1.0" encoding="UTF-8" standalone="yes"?>
<Relationships xmlns="http://schemas.openxmlformats.org/package/2006/relationships"><Relationship Id="rId1" Type="http://schemas.openxmlformats.org/officeDocument/2006/relationships/oleObject" Target="file:///H:\My%20Drive\BAO%20CAO%20DO%20TIN%20CAY\BAO%20CAO%20TUAN\BC%20chu%20nhat\2025\09\DR\DR-W09.xlsx" TargetMode="Externa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3.xml"/><Relationship Id="rId1" Type="http://schemas.microsoft.com/office/2011/relationships/chartStyle" Target="style3.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4.xml"/><Relationship Id="rId1" Type="http://schemas.microsoft.com/office/2011/relationships/chartStyle" Target="style4.xml"/></Relationships>
</file>

<file path=ppt/charts/_rels/chart10.xml.rels><?xml version="1.0" encoding="UTF-8" standalone="yes"?>
<Relationships xmlns="http://schemas.openxmlformats.org/package/2006/relationships"><Relationship Id="rId3" Type="http://schemas.openxmlformats.org/officeDocument/2006/relationships/oleObject" Target="file:///E:\My%20Drive\1.%20GTF\Removal%20Plan%20Sy%20update.xlsx" TargetMode="External"/><Relationship Id="rId2" Type="http://schemas.microsoft.com/office/2011/relationships/chartColorStyle" Target="colors5.xml"/><Relationship Id="rId1" Type="http://schemas.microsoft.com/office/2011/relationships/chartStyle" Target="style5.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6.xml"/><Relationship Id="rId1" Type="http://schemas.microsoft.com/office/2011/relationships/chartStyle" Target="style6.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7.xml"/><Relationship Id="rId1" Type="http://schemas.microsoft.com/office/2011/relationships/chartStyle" Target="style7.xml"/></Relationships>
</file>

<file path=ppt/charts/_rels/chart13.xml.rels><?xml version="1.0" encoding="UTF-8" standalone="yes"?>
<Relationships xmlns="http://schemas.openxmlformats.org/package/2006/relationships"><Relationship Id="rId3" Type="http://schemas.openxmlformats.org/officeDocument/2006/relationships/oleObject" Target="file:///E:\My%20Drive\2.%20TRENT\TRENT%20Management.xlsx" TargetMode="External"/><Relationship Id="rId2" Type="http://schemas.microsoft.com/office/2011/relationships/chartColorStyle" Target="colors8.xml"/><Relationship Id="rId1" Type="http://schemas.microsoft.com/office/2011/relationships/chartStyle" Target="style8.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9.xml"/><Relationship Id="rId1" Type="http://schemas.microsoft.com/office/2011/relationships/chartStyle" Target="style9.xml"/></Relationships>
</file>

<file path=ppt/charts/_rels/chart15.xml.rels><?xml version="1.0" encoding="UTF-8" standalone="yes"?>
<Relationships xmlns="http://schemas.openxmlformats.org/package/2006/relationships"><Relationship Id="rId2" Type="http://schemas.openxmlformats.org/officeDocument/2006/relationships/oleObject" Target="file:///D:\thanh_ggdrive\work\B&#193;O%20C&#193;O\B&#225;o%20c&#225;o%20tu&#7847;n\2025\Week%2009\W09%20(24.02.2025-02.03.2025).xlsx" TargetMode="External"/><Relationship Id="rId1" Type="http://schemas.openxmlformats.org/officeDocument/2006/relationships/themeOverride" Target="../theme/themeOverride7.xml"/></Relationships>
</file>

<file path=ppt/charts/_rels/chart16.xml.rels><?xml version="1.0" encoding="UTF-8" standalone="yes"?>
<Relationships xmlns="http://schemas.openxmlformats.org/package/2006/relationships"><Relationship Id="rId3" Type="http://schemas.openxmlformats.org/officeDocument/2006/relationships/themeOverride" Target="../theme/themeOverride8.xml"/><Relationship Id="rId2" Type="http://schemas.microsoft.com/office/2011/relationships/chartColorStyle" Target="colors10.xml"/><Relationship Id="rId1" Type="http://schemas.microsoft.com/office/2011/relationships/chartStyle" Target="style10.xml"/><Relationship Id="rId4" Type="http://schemas.openxmlformats.org/officeDocument/2006/relationships/oleObject" Target="file:///D:\P.MOC\B&#225;o%20c&#225;o%20tu&#7847;n\L&#7883;ch%20bay%20h&#224;ng%20tu&#7847;n%202025.xlsx" TargetMode="External"/></Relationships>
</file>

<file path=ppt/charts/_rels/chart17.xml.rels><?xml version="1.0" encoding="UTF-8" standalone="yes"?>
<Relationships xmlns="http://schemas.openxmlformats.org/package/2006/relationships"><Relationship Id="rId3" Type="http://schemas.openxmlformats.org/officeDocument/2006/relationships/themeOverride" Target="../theme/themeOverride9.xml"/><Relationship Id="rId2" Type="http://schemas.microsoft.com/office/2011/relationships/chartColorStyle" Target="colors11.xml"/><Relationship Id="rId1" Type="http://schemas.microsoft.com/office/2011/relationships/chartStyle" Target="style11.xml"/><Relationship Id="rId4" Type="http://schemas.openxmlformats.org/officeDocument/2006/relationships/oleObject" Target="file:///D:\P.MOC\B&#225;o%20c&#225;o%20tu&#7847;n\L&#7883;ch%20bay%20h&#224;ng%20tu&#7847;n%202025.xlsx" TargetMode="External"/></Relationships>
</file>

<file path=ppt/charts/_rels/chart18.xml.rels><?xml version="1.0" encoding="UTF-8" standalone="yes"?>
<Relationships xmlns="http://schemas.openxmlformats.org/package/2006/relationships"><Relationship Id="rId3" Type="http://schemas.openxmlformats.org/officeDocument/2006/relationships/themeOverride" Target="../theme/themeOverride10.xml"/><Relationship Id="rId2" Type="http://schemas.microsoft.com/office/2011/relationships/chartColorStyle" Target="colors12.xml"/><Relationship Id="rId1" Type="http://schemas.microsoft.com/office/2011/relationships/chartStyle" Target="style12.xml"/><Relationship Id="rId4" Type="http://schemas.openxmlformats.org/officeDocument/2006/relationships/oleObject" Target="file:///D:\P.MOC\B&#225;o%20c&#225;o%20tu&#7847;n\L&#7883;ch%20bay%20h&#224;ng%20tu&#7847;n%202025.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vert="horz"/>
          <a:lstStyle/>
          <a:p>
            <a:pPr>
              <a:defRPr sz="1600">
                <a:latin typeface="Times New Roman" panose="02020603050405020304" pitchFamily="18" charset="0"/>
                <a:cs typeface="Times New Roman" panose="02020603050405020304" pitchFamily="18" charset="0"/>
              </a:defRPr>
            </a:pPr>
            <a:r>
              <a:rPr lang="en-US" sz="1600">
                <a:latin typeface="Times New Roman" panose="02020603050405020304" pitchFamily="18" charset="0"/>
                <a:cs typeface="Times New Roman" panose="02020603050405020304" pitchFamily="18" charset="0"/>
              </a:rPr>
              <a:t>Delay</a:t>
            </a:r>
          </a:p>
        </c:rich>
      </c:tx>
      <c:layout>
        <c:manualLayout>
          <c:xMode val="edge"/>
          <c:yMode val="edge"/>
          <c:x val="0.42060411198600178"/>
          <c:y val="2.7777777777777776E-2"/>
        </c:manualLayout>
      </c:layout>
      <c:overlay val="0"/>
      <c:spPr>
        <a:noFill/>
        <a:ln>
          <a:noFill/>
        </a:ln>
        <a:effectLst/>
      </c:spPr>
    </c:title>
    <c:autoTitleDeleted val="0"/>
    <c:plotArea>
      <c:layout/>
      <c:barChart>
        <c:barDir val="col"/>
        <c:grouping val="clustered"/>
        <c:varyColors val="0"/>
        <c:ser>
          <c:idx val="0"/>
          <c:order val="0"/>
          <c:tx>
            <c:strRef>
              <c:f>'Data Chart'!$C$10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Chart'!$C$11:$C$16</c:f>
              <c:numCache>
                <c:formatCode>General</c:formatCode>
                <c:ptCount val="6"/>
                <c:pt idx="0">
                  <c:v>0</c:v>
                </c:pt>
                <c:pt idx="1">
                  <c:v>5</c:v>
                </c:pt>
                <c:pt idx="2">
                  <c:v>1</c:v>
                </c:pt>
                <c:pt idx="3">
                  <c:v>3</c:v>
                </c:pt>
                <c:pt idx="4">
                  <c:v>0</c:v>
                </c:pt>
                <c:pt idx="5">
                  <c:v>9</c:v>
                </c:pt>
              </c:numCache>
            </c:numRef>
          </c:val>
          <c:extLst xmlns:c15="http://schemas.microsoft.com/office/drawing/2012/chart">
            <c:ext xmlns:c16="http://schemas.microsoft.com/office/drawing/2014/chart" uri="{C3380CC4-5D6E-409C-BE32-E72D297353CC}">
              <c16:uniqueId val="{00000000-C305-4DC8-B50C-410736F8F073}"/>
            </c:ext>
          </c:extLst>
        </c:ser>
        <c:ser>
          <c:idx val="1"/>
          <c:order val="1"/>
          <c:tx>
            <c:strRef>
              <c:f>'Data Chart'!$D$10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000">
                    <a:solidFill>
                      <a:schemeClr val="tx1"/>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Chart'!$B$11:$B$16</c:f>
              <c:strCache>
                <c:ptCount val="6"/>
                <c:pt idx="0">
                  <c:v>A320</c:v>
                </c:pt>
                <c:pt idx="1">
                  <c:v>A321</c:v>
                </c:pt>
                <c:pt idx="2">
                  <c:v>A350</c:v>
                </c:pt>
                <c:pt idx="3">
                  <c:v>B787</c:v>
                </c:pt>
                <c:pt idx="4">
                  <c:v>ATR72</c:v>
                </c:pt>
                <c:pt idx="5">
                  <c:v>Tất cả</c:v>
                </c:pt>
              </c:strCache>
            </c:strRef>
          </c:cat>
          <c:val>
            <c:numRef>
              <c:f>'Data Chart'!$D$11:$D$16</c:f>
              <c:numCache>
                <c:formatCode>General</c:formatCode>
                <c:ptCount val="6"/>
                <c:pt idx="0">
                  <c:v>0</c:v>
                </c:pt>
                <c:pt idx="1">
                  <c:v>12</c:v>
                </c:pt>
                <c:pt idx="2">
                  <c:v>0</c:v>
                </c:pt>
                <c:pt idx="3">
                  <c:v>0</c:v>
                </c:pt>
                <c:pt idx="4">
                  <c:v>0</c:v>
                </c:pt>
                <c:pt idx="5">
                  <c:v>12</c:v>
                </c:pt>
              </c:numCache>
            </c:numRef>
          </c:val>
          <c:extLst>
            <c:ext xmlns:c16="http://schemas.microsoft.com/office/drawing/2014/chart" uri="{C3380CC4-5D6E-409C-BE32-E72D297353CC}">
              <c16:uniqueId val="{00000001-C305-4DC8-B50C-410736F8F073}"/>
            </c:ext>
          </c:extLst>
        </c:ser>
        <c:dLbls>
          <c:dLblPos val="outEnd"/>
          <c:showLegendKey val="0"/>
          <c:showVal val="1"/>
          <c:showCatName val="0"/>
          <c:showSerName val="0"/>
          <c:showPercent val="0"/>
          <c:showBubbleSize val="0"/>
        </c:dLbls>
        <c:gapWidth val="219"/>
        <c:overlap val="-27"/>
        <c:axId val="318750776"/>
        <c:axId val="318757832"/>
        <c:extLst/>
      </c:barChart>
      <c:catAx>
        <c:axId val="3187507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7832"/>
        <c:crosses val="autoZero"/>
        <c:auto val="1"/>
        <c:lblAlgn val="ctr"/>
        <c:lblOffset val="100"/>
        <c:noMultiLvlLbl val="0"/>
      </c:catAx>
      <c:valAx>
        <c:axId val="31875783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vert="horz"/>
          <a:lstStyle/>
          <a:p>
            <a:pPr>
              <a:defRPr>
                <a:solidFill>
                  <a:schemeClr val="tx1"/>
                </a:solidFill>
                <a:latin typeface="Times New Roman" panose="02020603050405020304" pitchFamily="18" charset="0"/>
                <a:cs typeface="Times New Roman" panose="02020603050405020304" pitchFamily="18" charset="0"/>
              </a:defRPr>
            </a:pPr>
            <a:endParaRPr lang="en-US"/>
          </a:p>
        </c:txPr>
        <c:crossAx val="318750776"/>
        <c:crosses val="autoZero"/>
        <c:crossBetween val="between"/>
        <c:majorUnit val="5"/>
      </c:valAx>
      <c:spPr>
        <a:noFill/>
        <a:ln>
          <a:noFill/>
        </a:ln>
        <a:effectLst/>
      </c:spPr>
    </c:plotArea>
    <c:legend>
      <c:legendPos val="b"/>
      <c:layout>
        <c:manualLayout>
          <c:xMode val="edge"/>
          <c:yMode val="edge"/>
          <c:x val="0.28759995625546803"/>
          <c:y val="0.89409667541557303"/>
          <c:w val="0.53172947799883274"/>
          <c:h val="7.8125546806649168E-2"/>
        </c:manualLayout>
      </c:layout>
      <c:overlay val="0"/>
      <c:spPr>
        <a:noFill/>
        <a:ln>
          <a:noFill/>
        </a:ln>
        <a:effectLst/>
      </c:spPr>
      <c:txPr>
        <a:bodyPr rot="0" vert="horz"/>
        <a:lstStyle/>
        <a:p>
          <a:pPr>
            <a:defRPr>
              <a:latin typeface="Times New Roman" panose="02020603050405020304" pitchFamily="18" charset="0"/>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a:latin typeface="+mn-lt"/>
          <a:cs typeface="Times New Roman" panose="02020603050405020304" pitchFamily="18" charset="0"/>
        </a:defRPr>
      </a:pPr>
      <a:endParaRPr lang="en-US"/>
    </a:p>
  </c:txPr>
  <c:externalData r:id="rId2">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Thống</a:t>
            </a:r>
            <a:r>
              <a:rPr lang="en-US" sz="1600" b="1" baseline="0">
                <a:solidFill>
                  <a:schemeClr val="tx1"/>
                </a:solidFill>
                <a:latin typeface="Times New Roman" panose="02020603050405020304" pitchFamily="18" charset="0"/>
                <a:cs typeface="Times New Roman" panose="02020603050405020304" pitchFamily="18" charset="0"/>
              </a:rPr>
              <a:t> kê </a:t>
            </a:r>
            <a:r>
              <a:rPr lang="en-US" sz="1600" b="1">
                <a:solidFill>
                  <a:schemeClr val="tx1"/>
                </a:solidFill>
                <a:latin typeface="Times New Roman" panose="02020603050405020304" pitchFamily="18" charset="0"/>
                <a:cs typeface="Times New Roman" panose="02020603050405020304" pitchFamily="18" charset="0"/>
              </a:rPr>
              <a:t>GTB</a:t>
            </a:r>
          </a:p>
        </c:rich>
      </c:tx>
      <c:overlay val="0"/>
      <c:spPr>
        <a:noFill/>
        <a:ln>
          <a:noFill/>
        </a:ln>
        <a:effectLst/>
      </c:spPr>
    </c:title>
    <c:autoTitleDeleted val="0"/>
    <c:plotArea>
      <c:layout>
        <c:manualLayout>
          <c:layoutTarget val="inner"/>
          <c:xMode val="edge"/>
          <c:yMode val="edge"/>
          <c:x val="4.8553271516007079E-2"/>
          <c:y val="0.23258718451685151"/>
          <c:w val="0.92392962136768553"/>
          <c:h val="0.51878764300478664"/>
        </c:manualLayout>
      </c:layout>
      <c:barChart>
        <c:barDir val="col"/>
        <c:grouping val="clustered"/>
        <c:varyColors val="0"/>
        <c:ser>
          <c:idx val="0"/>
          <c:order val="0"/>
          <c:tx>
            <c:strRef>
              <c:f>'Data Chart'!$C$20</c:f>
              <c:strCache>
                <c:ptCount val="1"/>
                <c:pt idx="0">
                  <c:v>Last week</c:v>
                </c:pt>
              </c:strCache>
            </c:strRef>
          </c:tx>
          <c:spPr>
            <a:solidFill>
              <a:srgbClr val="FFC00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Chart'!$C$21:$C$26</c:f>
              <c:numCache>
                <c:formatCode>General</c:formatCode>
                <c:ptCount val="6"/>
                <c:pt idx="0">
                  <c:v>0</c:v>
                </c:pt>
                <c:pt idx="1">
                  <c:v>2</c:v>
                </c:pt>
                <c:pt idx="2">
                  <c:v>0</c:v>
                </c:pt>
                <c:pt idx="3">
                  <c:v>1</c:v>
                </c:pt>
                <c:pt idx="4">
                  <c:v>0</c:v>
                </c:pt>
                <c:pt idx="5">
                  <c:v>3</c:v>
                </c:pt>
              </c:numCache>
            </c:numRef>
          </c:val>
          <c:extLst xmlns:c15="http://schemas.microsoft.com/office/drawing/2012/chart">
            <c:ext xmlns:c16="http://schemas.microsoft.com/office/drawing/2014/chart" uri="{C3380CC4-5D6E-409C-BE32-E72D297353CC}">
              <c16:uniqueId val="{00000000-27A3-475F-8F37-6893B6609F5D}"/>
            </c:ext>
          </c:extLst>
        </c:ser>
        <c:ser>
          <c:idx val="1"/>
          <c:order val="1"/>
          <c:tx>
            <c:strRef>
              <c:f>'Data Chart'!$D$20</c:f>
              <c:strCache>
                <c:ptCount val="1"/>
                <c:pt idx="0">
                  <c:v>This week</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a:solidFill>
                      <a:schemeClr val="tx1"/>
                    </a:solidFill>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Chart'!$B$21:$B$26</c:f>
              <c:strCache>
                <c:ptCount val="6"/>
                <c:pt idx="0">
                  <c:v>A320</c:v>
                </c:pt>
                <c:pt idx="1">
                  <c:v>A321</c:v>
                </c:pt>
                <c:pt idx="2">
                  <c:v>A350</c:v>
                </c:pt>
                <c:pt idx="3">
                  <c:v>B787</c:v>
                </c:pt>
                <c:pt idx="4">
                  <c:v>ATR72</c:v>
                </c:pt>
                <c:pt idx="5">
                  <c:v>Tất cả</c:v>
                </c:pt>
              </c:strCache>
            </c:strRef>
          </c:cat>
          <c:val>
            <c:numRef>
              <c:f>'Data Chart'!$D$21:$D$26</c:f>
              <c:numCache>
                <c:formatCode>General</c:formatCode>
                <c:ptCount val="6"/>
                <c:pt idx="0">
                  <c:v>0</c:v>
                </c:pt>
                <c:pt idx="1">
                  <c:v>4</c:v>
                </c:pt>
                <c:pt idx="2">
                  <c:v>0</c:v>
                </c:pt>
                <c:pt idx="3">
                  <c:v>0</c:v>
                </c:pt>
                <c:pt idx="4">
                  <c:v>0</c:v>
                </c:pt>
                <c:pt idx="5">
                  <c:v>4</c:v>
                </c:pt>
              </c:numCache>
            </c:numRef>
          </c:val>
          <c:extLst>
            <c:ext xmlns:c16="http://schemas.microsoft.com/office/drawing/2014/chart" uri="{C3380CC4-5D6E-409C-BE32-E72D297353CC}">
              <c16:uniqueId val="{00000001-27A3-475F-8F37-6893B6609F5D}"/>
            </c:ext>
          </c:extLst>
        </c:ser>
        <c:dLbls>
          <c:showLegendKey val="0"/>
          <c:showVal val="0"/>
          <c:showCatName val="0"/>
          <c:showSerName val="0"/>
          <c:showPercent val="0"/>
          <c:showBubbleSize val="0"/>
        </c:dLbls>
        <c:gapWidth val="219"/>
        <c:overlap val="-27"/>
        <c:axId val="318757048"/>
        <c:axId val="318756656"/>
        <c:extLst/>
      </c:barChart>
      <c:catAx>
        <c:axId val="31875704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6656"/>
        <c:crosses val="autoZero"/>
        <c:auto val="1"/>
        <c:lblAlgn val="ctr"/>
        <c:lblOffset val="100"/>
        <c:noMultiLvlLbl val="0"/>
      </c:catAx>
      <c:valAx>
        <c:axId val="318756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757048"/>
        <c:crosses val="autoZero"/>
        <c:crossBetween val="between"/>
        <c:majorUnit val="1"/>
      </c:valAx>
      <c:spPr>
        <a:noFill/>
        <a:ln>
          <a:noFill/>
        </a:ln>
        <a:effectLst/>
      </c:spPr>
    </c:plotArea>
    <c:legend>
      <c:legendPos val="b"/>
      <c:layout>
        <c:manualLayout>
          <c:xMode val="edge"/>
          <c:yMode val="edge"/>
          <c:x val="0.23472701799472892"/>
          <c:y val="0.88146435647144594"/>
          <c:w val="0.56147071762910628"/>
          <c:h val="9.517110362403696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r>
              <a:rPr lang="en-US" sz="1600" b="1">
                <a:solidFill>
                  <a:schemeClr val="tx1"/>
                </a:solidFill>
                <a:latin typeface="Times New Roman" panose="02020603050405020304" pitchFamily="18" charset="0"/>
                <a:cs typeface="Times New Roman" panose="02020603050405020304" pitchFamily="18" charset="0"/>
              </a:rPr>
              <a:t>AOG</a:t>
            </a:r>
          </a:p>
        </c:rich>
      </c:tx>
      <c:overlay val="0"/>
      <c:spPr>
        <a:noFill/>
        <a:ln>
          <a:noFill/>
        </a:ln>
        <a:effectLst/>
      </c:spPr>
      <c:txPr>
        <a:bodyPr rot="0" spcFirstLastPara="1" vertOverflow="ellipsis" vert="horz" wrap="square" anchor="ctr" anchorCtr="1"/>
        <a:lstStyle/>
        <a:p>
          <a:pPr>
            <a:defRPr sz="1600" b="1" i="0" u="none" strike="noStrike" kern="1200" spc="0" baseline="0">
              <a:solidFill>
                <a:schemeClr val="tx1">
                  <a:lumMod val="65000"/>
                  <a:lumOff val="35000"/>
                </a:schemeClr>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Chart'!$C$3:$C$8</c:f>
              <c:numCache>
                <c:formatCode>General</c:formatCode>
                <c:ptCount val="6"/>
                <c:pt idx="0">
                  <c:v>0</c:v>
                </c:pt>
                <c:pt idx="1">
                  <c:v>3</c:v>
                </c:pt>
                <c:pt idx="2">
                  <c:v>0</c:v>
                </c:pt>
                <c:pt idx="3">
                  <c:v>0</c:v>
                </c:pt>
                <c:pt idx="4">
                  <c:v>0</c:v>
                </c:pt>
                <c:pt idx="5">
                  <c:v>3</c:v>
                </c:pt>
              </c:numCache>
            </c:numRef>
          </c:val>
          <c:extLst xmlns:c15="http://schemas.microsoft.com/office/drawing/2012/chart">
            <c:ext xmlns:c16="http://schemas.microsoft.com/office/drawing/2014/chart" uri="{C3380CC4-5D6E-409C-BE32-E72D297353CC}">
              <c16:uniqueId val="{00000000-076F-4BE4-89B5-B0E0A7C40962}"/>
            </c:ext>
          </c:extLst>
        </c:ser>
        <c:ser>
          <c:idx val="1"/>
          <c:order val="1"/>
          <c:tx>
            <c:strRef>
              <c:f>'Data Chart'!$D$2</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Chart'!$B$3:$B$8</c:f>
              <c:strCache>
                <c:ptCount val="6"/>
                <c:pt idx="0">
                  <c:v>A320</c:v>
                </c:pt>
                <c:pt idx="1">
                  <c:v>A321</c:v>
                </c:pt>
                <c:pt idx="2">
                  <c:v>A350</c:v>
                </c:pt>
                <c:pt idx="3">
                  <c:v>B787</c:v>
                </c:pt>
                <c:pt idx="4">
                  <c:v>ATR72</c:v>
                </c:pt>
                <c:pt idx="5">
                  <c:v>Tất cả</c:v>
                </c:pt>
              </c:strCache>
            </c:strRef>
          </c:cat>
          <c:val>
            <c:numRef>
              <c:f>'Data Chart'!$D$3:$D$8</c:f>
              <c:numCache>
                <c:formatCode>General</c:formatCode>
                <c:ptCount val="6"/>
                <c:pt idx="0">
                  <c:v>0</c:v>
                </c:pt>
                <c:pt idx="1">
                  <c:v>1</c:v>
                </c:pt>
                <c:pt idx="2">
                  <c:v>0</c:v>
                </c:pt>
                <c:pt idx="3">
                  <c:v>0</c:v>
                </c:pt>
                <c:pt idx="4">
                  <c:v>1</c:v>
                </c:pt>
                <c:pt idx="5">
                  <c:v>2</c:v>
                </c:pt>
              </c:numCache>
            </c:numRef>
          </c:val>
          <c:extLst>
            <c:ext xmlns:c16="http://schemas.microsoft.com/office/drawing/2014/chart" uri="{C3380CC4-5D6E-409C-BE32-E72D297353CC}">
              <c16:uniqueId val="{00000001-076F-4BE4-89B5-B0E0A7C40962}"/>
            </c:ext>
          </c:extLst>
        </c:ser>
        <c:dLbls>
          <c:dLblPos val="outEnd"/>
          <c:showLegendKey val="0"/>
          <c:showVal val="1"/>
          <c:showCatName val="0"/>
          <c:showSerName val="0"/>
          <c:showPercent val="0"/>
          <c:showBubbleSize val="0"/>
        </c:dLbls>
        <c:gapWidth val="219"/>
        <c:overlap val="-27"/>
        <c:axId val="318908544"/>
        <c:axId val="318912072"/>
        <c:extLst/>
      </c:barChart>
      <c:catAx>
        <c:axId val="31890854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2072"/>
        <c:crosses val="autoZero"/>
        <c:auto val="1"/>
        <c:lblAlgn val="ctr"/>
        <c:lblOffset val="100"/>
        <c:noMultiLvlLbl val="0"/>
      </c:catAx>
      <c:valAx>
        <c:axId val="31891207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08544"/>
        <c:crosses val="autoZero"/>
        <c:crossBetween val="between"/>
        <c:majorUnit val="3"/>
      </c:valAx>
      <c:spPr>
        <a:noFill/>
        <a:ln>
          <a:noFill/>
        </a:ln>
        <a:effectLst/>
      </c:spPr>
    </c:plotArea>
    <c:legend>
      <c:legendPos val="b"/>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a:glow>
        <a:schemeClr val="accent1">
          <a:alpha val="40000"/>
        </a:schemeClr>
      </a:glow>
    </a:effectLst>
  </c:spPr>
  <c:txPr>
    <a:bodyPr/>
    <a:lstStyle/>
    <a:p>
      <a:pPr>
        <a:defRPr/>
      </a:pPr>
      <a:endParaRPr lang="en-US"/>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1" i="0" baseline="0">
                <a:solidFill>
                  <a:schemeClr val="tx1"/>
                </a:solidFill>
                <a:effectLst/>
                <a:latin typeface="Times New Roman" panose="02020603050405020304" pitchFamily="18" charset="0"/>
                <a:cs typeface="Times New Roman" panose="02020603050405020304" pitchFamily="18" charset="0"/>
              </a:rPr>
              <a:t>Thống kê ATB</a:t>
            </a:r>
            <a:endParaRPr lang="en-US" sz="1600">
              <a:solidFill>
                <a:schemeClr val="tx1"/>
              </a:solidFill>
              <a:effectLst/>
              <a:latin typeface="Times New Roman" panose="02020603050405020304" pitchFamily="18" charset="0"/>
              <a:cs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'Data Chart'!$C$27</c:f>
              <c:strCache>
                <c:ptCount val="1"/>
                <c:pt idx="0">
                  <c:v>Last week</c:v>
                </c:pt>
              </c:strCache>
            </c:strRef>
          </c:tx>
          <c:spPr>
            <a:solidFill>
              <a:srgbClr val="FFC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xmlns:c15="http://schemas.microsoft.com/office/drawing/2012/char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Chart'!$C$28:$C$33</c:f>
              <c:numCache>
                <c:formatCode>General</c:formatCode>
                <c:ptCount val="6"/>
                <c:pt idx="0">
                  <c:v>0</c:v>
                </c:pt>
                <c:pt idx="1">
                  <c:v>0</c:v>
                </c:pt>
                <c:pt idx="2">
                  <c:v>1</c:v>
                </c:pt>
                <c:pt idx="3">
                  <c:v>0</c:v>
                </c:pt>
                <c:pt idx="4">
                  <c:v>0</c:v>
                </c:pt>
                <c:pt idx="5">
                  <c:v>1</c:v>
                </c:pt>
              </c:numCache>
            </c:numRef>
          </c:val>
          <c:extLst xmlns:c15="http://schemas.microsoft.com/office/drawing/2012/chart">
            <c:ext xmlns:c16="http://schemas.microsoft.com/office/drawing/2014/chart" uri="{C3380CC4-5D6E-409C-BE32-E72D297353CC}">
              <c16:uniqueId val="{00000000-3B5A-45FF-B5AC-D0BFE34BE04C}"/>
            </c:ext>
          </c:extLst>
        </c:ser>
        <c:ser>
          <c:idx val="1"/>
          <c:order val="1"/>
          <c:tx>
            <c:strRef>
              <c:f>'Data Chart'!$D$27</c:f>
              <c:strCache>
                <c:ptCount val="1"/>
                <c:pt idx="0">
                  <c:v>This week</c:v>
                </c:pt>
              </c:strCache>
            </c:strRef>
          </c:tx>
          <c:spPr>
            <a:solidFill>
              <a:srgbClr val="00B0F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Chart'!$B$28:$B$33</c:f>
              <c:strCache>
                <c:ptCount val="6"/>
                <c:pt idx="0">
                  <c:v>A320</c:v>
                </c:pt>
                <c:pt idx="1">
                  <c:v>A321</c:v>
                </c:pt>
                <c:pt idx="2">
                  <c:v>A350</c:v>
                </c:pt>
                <c:pt idx="3">
                  <c:v>B787</c:v>
                </c:pt>
                <c:pt idx="4">
                  <c:v>ATR72</c:v>
                </c:pt>
                <c:pt idx="5">
                  <c:v>Tất cả</c:v>
                </c:pt>
              </c:strCache>
            </c:strRef>
          </c:cat>
          <c:val>
            <c:numRef>
              <c:f>'Data Chart'!$D$28:$D$33</c:f>
              <c:numCache>
                <c:formatCode>General</c:formatCode>
                <c:ptCount val="6"/>
                <c:pt idx="0">
                  <c:v>0</c:v>
                </c:pt>
                <c:pt idx="1">
                  <c:v>0</c:v>
                </c:pt>
                <c:pt idx="2">
                  <c:v>0</c:v>
                </c:pt>
                <c:pt idx="3">
                  <c:v>0</c:v>
                </c:pt>
                <c:pt idx="4">
                  <c:v>0</c:v>
                </c:pt>
                <c:pt idx="5">
                  <c:v>0</c:v>
                </c:pt>
              </c:numCache>
            </c:numRef>
          </c:val>
          <c:extLst>
            <c:ext xmlns:c16="http://schemas.microsoft.com/office/drawing/2014/chart" uri="{C3380CC4-5D6E-409C-BE32-E72D297353CC}">
              <c16:uniqueId val="{00000001-3B5A-45FF-B5AC-D0BFE34BE04C}"/>
            </c:ext>
          </c:extLst>
        </c:ser>
        <c:dLbls>
          <c:showLegendKey val="0"/>
          <c:showVal val="0"/>
          <c:showCatName val="0"/>
          <c:showSerName val="0"/>
          <c:showPercent val="0"/>
          <c:showBubbleSize val="0"/>
        </c:dLbls>
        <c:gapWidth val="219"/>
        <c:overlap val="-27"/>
        <c:axId val="318911680"/>
        <c:axId val="318910504"/>
        <c:extLst/>
      </c:barChart>
      <c:catAx>
        <c:axId val="318911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0504"/>
        <c:crosses val="autoZero"/>
        <c:auto val="1"/>
        <c:lblAlgn val="ctr"/>
        <c:lblOffset val="100"/>
        <c:noMultiLvlLbl val="0"/>
      </c:catAx>
      <c:valAx>
        <c:axId val="31891050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8911680"/>
        <c:crosses val="autoZero"/>
        <c:crossBetween val="between"/>
        <c:majorUnit val="1"/>
      </c:valAx>
      <c:spPr>
        <a:noFill/>
        <a:ln>
          <a:noFill/>
        </a:ln>
        <a:effectLst/>
      </c:spPr>
    </c:plotArea>
    <c:legend>
      <c:legendPos val="b"/>
      <c:layout>
        <c:manualLayout>
          <c:xMode val="edge"/>
          <c:yMode val="edge"/>
          <c:x val="0.30501405613658977"/>
          <c:y val="0.87827375237682981"/>
          <c:w val="0.50965540838670731"/>
          <c:h val="9.8401482124286316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12700" cap="flat" cmpd="sng" algn="ctr">
      <a:solidFill>
        <a:schemeClr val="tx1"/>
      </a:solidFill>
      <a:round/>
    </a:ln>
    <a:effectLst/>
  </c:spPr>
  <c:txPr>
    <a:bodyPr/>
    <a:lstStyle/>
    <a:p>
      <a:pPr>
        <a:defRPr/>
      </a:pPr>
      <a:endParaRPr lang="en-US"/>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ATB Comparison</a:t>
            </a:r>
          </a:p>
        </c:rich>
      </c:tx>
      <c:overlay val="0"/>
      <c:spPr>
        <a:noFill/>
        <a:ln>
          <a:noFill/>
        </a:ln>
        <a:effectLst/>
      </c:spPr>
    </c:title>
    <c:autoTitleDeleted val="0"/>
    <c:plotArea>
      <c:layout/>
      <c:lineChart>
        <c:grouping val="standard"/>
        <c:varyColors val="0"/>
        <c:ser>
          <c:idx val="0"/>
          <c:order val="0"/>
          <c:tx>
            <c:v>ATB in 2024</c:v>
          </c:tx>
          <c:spPr>
            <a:ln w="19050" cap="rnd">
              <a:solidFill>
                <a:srgbClr val="FFC000"/>
              </a:solidFill>
              <a:round/>
            </a:ln>
            <a:effectLst/>
          </c:spPr>
          <c:marker>
            <c:symbol val="circle"/>
            <c:size val="5"/>
            <c:spPr>
              <a:solidFill>
                <a:srgbClr val="FFC000"/>
              </a:solidFill>
              <a:ln w="9525">
                <a:solidFill>
                  <a:srgbClr val="FFC00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GTB'!$B$3:$B$54</c:f>
              <c:numCache>
                <c:formatCode>General</c:formatCode>
                <c:ptCount val="52"/>
                <c:pt idx="0">
                  <c:v>1</c:v>
                </c:pt>
                <c:pt idx="1">
                  <c:v>1</c:v>
                </c:pt>
                <c:pt idx="2">
                  <c:v>1</c:v>
                </c:pt>
                <c:pt idx="3">
                  <c:v>0</c:v>
                </c:pt>
                <c:pt idx="4">
                  <c:v>1</c:v>
                </c:pt>
                <c:pt idx="5">
                  <c:v>0</c:v>
                </c:pt>
                <c:pt idx="6">
                  <c:v>1</c:v>
                </c:pt>
                <c:pt idx="7">
                  <c:v>0</c:v>
                </c:pt>
                <c:pt idx="8">
                  <c:v>0</c:v>
                </c:pt>
                <c:pt idx="9">
                  <c:v>0</c:v>
                </c:pt>
                <c:pt idx="10">
                  <c:v>0</c:v>
                </c:pt>
                <c:pt idx="11">
                  <c:v>0</c:v>
                </c:pt>
                <c:pt idx="12">
                  <c:v>0</c:v>
                </c:pt>
                <c:pt idx="13">
                  <c:v>0</c:v>
                </c:pt>
                <c:pt idx="14">
                  <c:v>0</c:v>
                </c:pt>
                <c:pt idx="15">
                  <c:v>0</c:v>
                </c:pt>
                <c:pt idx="16">
                  <c:v>0</c:v>
                </c:pt>
                <c:pt idx="17">
                  <c:v>0</c:v>
                </c:pt>
                <c:pt idx="18">
                  <c:v>0</c:v>
                </c:pt>
                <c:pt idx="19">
                  <c:v>1</c:v>
                </c:pt>
                <c:pt idx="20">
                  <c:v>0</c:v>
                </c:pt>
                <c:pt idx="21">
                  <c:v>0</c:v>
                </c:pt>
                <c:pt idx="22">
                  <c:v>1</c:v>
                </c:pt>
                <c:pt idx="23">
                  <c:v>0</c:v>
                </c:pt>
                <c:pt idx="24">
                  <c:v>0</c:v>
                </c:pt>
                <c:pt idx="25">
                  <c:v>0</c:v>
                </c:pt>
                <c:pt idx="26">
                  <c:v>1</c:v>
                </c:pt>
                <c:pt idx="27">
                  <c:v>2</c:v>
                </c:pt>
                <c:pt idx="28">
                  <c:v>0</c:v>
                </c:pt>
                <c:pt idx="29">
                  <c:v>2</c:v>
                </c:pt>
                <c:pt idx="30">
                  <c:v>0</c:v>
                </c:pt>
                <c:pt idx="31">
                  <c:v>0</c:v>
                </c:pt>
                <c:pt idx="32">
                  <c:v>0</c:v>
                </c:pt>
                <c:pt idx="33">
                  <c:v>0</c:v>
                </c:pt>
                <c:pt idx="34">
                  <c:v>0</c:v>
                </c:pt>
                <c:pt idx="35">
                  <c:v>0</c:v>
                </c:pt>
                <c:pt idx="36">
                  <c:v>1</c:v>
                </c:pt>
                <c:pt idx="37">
                  <c:v>0</c:v>
                </c:pt>
                <c:pt idx="38">
                  <c:v>1</c:v>
                </c:pt>
                <c:pt idx="39">
                  <c:v>0</c:v>
                </c:pt>
                <c:pt idx="40">
                  <c:v>1</c:v>
                </c:pt>
                <c:pt idx="41">
                  <c:v>0</c:v>
                </c:pt>
                <c:pt idx="42">
                  <c:v>0</c:v>
                </c:pt>
                <c:pt idx="43">
                  <c:v>1</c:v>
                </c:pt>
                <c:pt idx="44">
                  <c:v>0</c:v>
                </c:pt>
                <c:pt idx="45">
                  <c:v>0</c:v>
                </c:pt>
                <c:pt idx="46">
                  <c:v>0</c:v>
                </c:pt>
                <c:pt idx="47">
                  <c:v>1</c:v>
                </c:pt>
                <c:pt idx="48">
                  <c:v>0</c:v>
                </c:pt>
                <c:pt idx="49">
                  <c:v>2</c:v>
                </c:pt>
                <c:pt idx="50">
                  <c:v>1</c:v>
                </c:pt>
                <c:pt idx="51">
                  <c:v>0</c:v>
                </c:pt>
              </c:numCache>
            </c:numRef>
          </c:val>
          <c:smooth val="0"/>
          <c:extLst>
            <c:ext xmlns:c16="http://schemas.microsoft.com/office/drawing/2014/chart" uri="{C3380CC4-5D6E-409C-BE32-E72D297353CC}">
              <c16:uniqueId val="{00000000-4B8B-4EBC-B891-71C28CB2DAE4}"/>
            </c:ext>
          </c:extLst>
        </c:ser>
        <c:ser>
          <c:idx val="1"/>
          <c:order val="1"/>
          <c:tx>
            <c:v>ATB in 2025</c:v>
          </c:tx>
          <c:spPr>
            <a:ln w="19050" cap="rnd">
              <a:solidFill>
                <a:srgbClr val="00B0F0"/>
              </a:solidFill>
              <a:round/>
            </a:ln>
            <a:effectLst/>
          </c:spPr>
          <c:marker>
            <c:symbol val="circle"/>
            <c:size val="5"/>
            <c:spPr>
              <a:solidFill>
                <a:srgbClr val="00B0F0"/>
              </a:solidFill>
              <a:ln w="9525">
                <a:solidFill>
                  <a:srgbClr val="00B0F0"/>
                </a:solidFill>
              </a:ln>
              <a:effectLst/>
            </c:spPr>
          </c:marker>
          <c:cat>
            <c:numRef>
              <c:f>'Thống kê ATB, GTB'!$E$3:$E$55</c:f>
              <c:numCache>
                <c:formatCode>General</c:formatCode>
                <c:ptCount val="53"/>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numCache>
            </c:numRef>
          </c:cat>
          <c:val>
            <c:numRef>
              <c:f>'Thống kê ATB, GTB'!$F$3:$F$54</c:f>
              <c:numCache>
                <c:formatCode>General</c:formatCode>
                <c:ptCount val="52"/>
                <c:pt idx="0">
                  <c:v>0</c:v>
                </c:pt>
                <c:pt idx="1">
                  <c:v>0</c:v>
                </c:pt>
                <c:pt idx="2">
                  <c:v>0</c:v>
                </c:pt>
                <c:pt idx="3">
                  <c:v>0</c:v>
                </c:pt>
                <c:pt idx="4">
                  <c:v>0</c:v>
                </c:pt>
                <c:pt idx="5">
                  <c:v>0</c:v>
                </c:pt>
                <c:pt idx="6">
                  <c:v>0</c:v>
                </c:pt>
                <c:pt idx="7">
                  <c:v>0</c:v>
                </c:pt>
                <c:pt idx="8">
                  <c:v>0</c:v>
                </c:pt>
              </c:numCache>
            </c:numRef>
          </c:val>
          <c:smooth val="0"/>
          <c:extLst>
            <c:ext xmlns:c16="http://schemas.microsoft.com/office/drawing/2014/chart" uri="{C3380CC4-5D6E-409C-BE32-E72D297353CC}">
              <c16:uniqueId val="{00000001-4B8B-4EBC-B891-71C28CB2DAE4}"/>
            </c:ext>
          </c:extLst>
        </c:ser>
        <c:dLbls>
          <c:showLegendKey val="0"/>
          <c:showVal val="0"/>
          <c:showCatName val="0"/>
          <c:showSerName val="0"/>
          <c:showPercent val="0"/>
          <c:showBubbleSize val="0"/>
        </c:dLbls>
        <c:marker val="1"/>
        <c:smooth val="0"/>
        <c:axId val="265590648"/>
        <c:axId val="266798184"/>
      </c:lineChart>
      <c:catAx>
        <c:axId val="265590648"/>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4479109594402"/>
              <c:y val="0.9044444444444445"/>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6798184"/>
        <c:crosses val="autoZero"/>
        <c:auto val="1"/>
        <c:lblAlgn val="ctr"/>
        <c:lblOffset val="100"/>
        <c:noMultiLvlLbl val="0"/>
      </c:catAx>
      <c:valAx>
        <c:axId val="266798184"/>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ATB</a:t>
                </a:r>
              </a:p>
            </c:rich>
          </c:tx>
          <c:layout>
            <c:manualLayout>
              <c:xMode val="edge"/>
              <c:yMode val="edge"/>
              <c:x val="9.2776673293571907E-3"/>
              <c:y val="0.43418862642169731"/>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65590648"/>
        <c:crosses val="autoZero"/>
        <c:crossBetween val="between"/>
        <c:majorUnit val="1"/>
        <c:minorUnit val="1"/>
      </c:valAx>
      <c:spPr>
        <a:noFill/>
        <a:ln>
          <a:solidFill>
            <a:schemeClr val="tx1">
              <a:lumMod val="25000"/>
              <a:lumOff val="75000"/>
            </a:schemeClr>
          </a:solid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6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600" b="0">
                <a:solidFill>
                  <a:schemeClr val="tx1"/>
                </a:solidFill>
                <a:latin typeface="Times New Roman" panose="02020603050405020304" pitchFamily="18" charset="0"/>
                <a:cs typeface="Times New Roman" panose="02020603050405020304" pitchFamily="18" charset="0"/>
              </a:rPr>
              <a:t>GTB Comparison</a:t>
            </a:r>
          </a:p>
        </c:rich>
      </c:tx>
      <c:overlay val="0"/>
      <c:spPr>
        <a:noFill/>
        <a:ln>
          <a:noFill/>
        </a:ln>
        <a:effectLst/>
      </c:spPr>
    </c:title>
    <c:autoTitleDeleted val="0"/>
    <c:plotArea>
      <c:layout/>
      <c:lineChart>
        <c:grouping val="standard"/>
        <c:varyColors val="0"/>
        <c:ser>
          <c:idx val="0"/>
          <c:order val="0"/>
          <c:tx>
            <c:v>GTB in 2024</c:v>
          </c:tx>
          <c:spPr>
            <a:ln w="19050" cap="rnd">
              <a:solidFill>
                <a:srgbClr val="FFC000"/>
              </a:solidFill>
              <a:round/>
            </a:ln>
            <a:effectLst/>
          </c:spPr>
          <c:marker>
            <c:symbol val="circle"/>
            <c:size val="5"/>
            <c:spPr>
              <a:solidFill>
                <a:srgbClr val="FFC000"/>
              </a:solidFill>
              <a:ln w="9525">
                <a:solidFill>
                  <a:srgbClr val="FFC000"/>
                </a:solidFill>
              </a:ln>
              <a:effectLst/>
            </c:spPr>
          </c:marker>
          <c:val>
            <c:numRef>
              <c:f>'Thống kê ATB, GTB'!$C$3:$C$54</c:f>
              <c:numCache>
                <c:formatCode>General</c:formatCode>
                <c:ptCount val="52"/>
                <c:pt idx="0">
                  <c:v>2</c:v>
                </c:pt>
                <c:pt idx="1">
                  <c:v>1</c:v>
                </c:pt>
                <c:pt idx="2">
                  <c:v>1</c:v>
                </c:pt>
                <c:pt idx="3">
                  <c:v>3</c:v>
                </c:pt>
                <c:pt idx="4">
                  <c:v>0</c:v>
                </c:pt>
                <c:pt idx="5">
                  <c:v>4</c:v>
                </c:pt>
                <c:pt idx="6">
                  <c:v>2</c:v>
                </c:pt>
                <c:pt idx="7">
                  <c:v>2</c:v>
                </c:pt>
                <c:pt idx="8">
                  <c:v>4</c:v>
                </c:pt>
                <c:pt idx="9">
                  <c:v>2</c:v>
                </c:pt>
                <c:pt idx="10">
                  <c:v>0</c:v>
                </c:pt>
                <c:pt idx="11">
                  <c:v>0</c:v>
                </c:pt>
                <c:pt idx="12">
                  <c:v>2</c:v>
                </c:pt>
                <c:pt idx="13">
                  <c:v>3</c:v>
                </c:pt>
                <c:pt idx="14">
                  <c:v>1</c:v>
                </c:pt>
                <c:pt idx="15">
                  <c:v>0</c:v>
                </c:pt>
                <c:pt idx="16">
                  <c:v>6</c:v>
                </c:pt>
                <c:pt idx="17">
                  <c:v>2</c:v>
                </c:pt>
                <c:pt idx="18">
                  <c:v>1</c:v>
                </c:pt>
                <c:pt idx="19">
                  <c:v>0</c:v>
                </c:pt>
                <c:pt idx="20">
                  <c:v>2</c:v>
                </c:pt>
                <c:pt idx="21">
                  <c:v>4</c:v>
                </c:pt>
                <c:pt idx="22">
                  <c:v>1</c:v>
                </c:pt>
                <c:pt idx="23">
                  <c:v>1</c:v>
                </c:pt>
                <c:pt idx="24">
                  <c:v>2</c:v>
                </c:pt>
                <c:pt idx="25">
                  <c:v>3</c:v>
                </c:pt>
                <c:pt idx="26">
                  <c:v>1</c:v>
                </c:pt>
                <c:pt idx="27">
                  <c:v>3</c:v>
                </c:pt>
                <c:pt idx="28">
                  <c:v>0</c:v>
                </c:pt>
                <c:pt idx="29">
                  <c:v>1</c:v>
                </c:pt>
                <c:pt idx="30">
                  <c:v>1</c:v>
                </c:pt>
                <c:pt idx="31">
                  <c:v>3</c:v>
                </c:pt>
                <c:pt idx="32">
                  <c:v>2</c:v>
                </c:pt>
                <c:pt idx="33">
                  <c:v>1</c:v>
                </c:pt>
                <c:pt idx="34">
                  <c:v>1</c:v>
                </c:pt>
                <c:pt idx="35">
                  <c:v>1</c:v>
                </c:pt>
                <c:pt idx="36">
                  <c:v>1</c:v>
                </c:pt>
                <c:pt idx="37">
                  <c:v>0</c:v>
                </c:pt>
                <c:pt idx="38">
                  <c:v>2</c:v>
                </c:pt>
                <c:pt idx="39">
                  <c:v>2</c:v>
                </c:pt>
                <c:pt idx="40">
                  <c:v>0</c:v>
                </c:pt>
                <c:pt idx="41">
                  <c:v>4</c:v>
                </c:pt>
                <c:pt idx="42">
                  <c:v>0</c:v>
                </c:pt>
                <c:pt idx="43">
                  <c:v>1</c:v>
                </c:pt>
                <c:pt idx="44">
                  <c:v>1</c:v>
                </c:pt>
                <c:pt idx="45">
                  <c:v>3</c:v>
                </c:pt>
                <c:pt idx="46">
                  <c:v>0</c:v>
                </c:pt>
                <c:pt idx="47">
                  <c:v>3</c:v>
                </c:pt>
                <c:pt idx="48">
                  <c:v>0</c:v>
                </c:pt>
                <c:pt idx="49">
                  <c:v>7</c:v>
                </c:pt>
                <c:pt idx="50">
                  <c:v>5</c:v>
                </c:pt>
                <c:pt idx="51">
                  <c:v>1</c:v>
                </c:pt>
              </c:numCache>
            </c:numRef>
          </c:val>
          <c:smooth val="0"/>
          <c:extLst>
            <c:ext xmlns:c16="http://schemas.microsoft.com/office/drawing/2014/chart" uri="{C3380CC4-5D6E-409C-BE32-E72D297353CC}">
              <c16:uniqueId val="{00000000-6B42-4BA5-9C46-504631355C40}"/>
            </c:ext>
          </c:extLst>
        </c:ser>
        <c:ser>
          <c:idx val="1"/>
          <c:order val="1"/>
          <c:tx>
            <c:v>GTB in 2025</c:v>
          </c:tx>
          <c:spPr>
            <a:ln w="19050" cap="rnd">
              <a:solidFill>
                <a:srgbClr val="00B0F0"/>
              </a:solidFill>
              <a:round/>
            </a:ln>
            <a:effectLst/>
          </c:spPr>
          <c:marker>
            <c:symbol val="circle"/>
            <c:size val="5"/>
            <c:spPr>
              <a:solidFill>
                <a:srgbClr val="00B0F0"/>
              </a:solidFill>
              <a:ln w="9525">
                <a:solidFill>
                  <a:srgbClr val="00B0F0"/>
                </a:solidFill>
              </a:ln>
              <a:effectLst/>
            </c:spPr>
          </c:marker>
          <c:val>
            <c:numRef>
              <c:f>'Thống kê ATB, GTB'!$G$3:$G$54</c:f>
              <c:numCache>
                <c:formatCode>General</c:formatCode>
                <c:ptCount val="52"/>
                <c:pt idx="0">
                  <c:v>1</c:v>
                </c:pt>
                <c:pt idx="1">
                  <c:v>2</c:v>
                </c:pt>
                <c:pt idx="2">
                  <c:v>1</c:v>
                </c:pt>
                <c:pt idx="3">
                  <c:v>3</c:v>
                </c:pt>
                <c:pt idx="4">
                  <c:v>3</c:v>
                </c:pt>
                <c:pt idx="5">
                  <c:v>1</c:v>
                </c:pt>
                <c:pt idx="6">
                  <c:v>3</c:v>
                </c:pt>
                <c:pt idx="7">
                  <c:v>2</c:v>
                </c:pt>
                <c:pt idx="8">
                  <c:v>4</c:v>
                </c:pt>
              </c:numCache>
            </c:numRef>
          </c:val>
          <c:smooth val="0"/>
          <c:extLst>
            <c:ext xmlns:c16="http://schemas.microsoft.com/office/drawing/2014/chart" uri="{C3380CC4-5D6E-409C-BE32-E72D297353CC}">
              <c16:uniqueId val="{00000001-6B42-4BA5-9C46-504631355C40}"/>
            </c:ext>
          </c:extLst>
        </c:ser>
        <c:dLbls>
          <c:showLegendKey val="0"/>
          <c:showVal val="0"/>
          <c:showCatName val="0"/>
          <c:showSerName val="0"/>
          <c:showPercent val="0"/>
          <c:showBubbleSize val="0"/>
        </c:dLbls>
        <c:marker val="1"/>
        <c:smooth val="0"/>
        <c:axId val="317742616"/>
        <c:axId val="317745056"/>
      </c:lineChart>
      <c:catAx>
        <c:axId val="317742616"/>
        <c:scaling>
          <c:orientation val="minMax"/>
        </c:scaling>
        <c:delete val="0"/>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Week</a:t>
                </a:r>
              </a:p>
            </c:rich>
          </c:tx>
          <c:layout>
            <c:manualLayout>
              <c:xMode val="edge"/>
              <c:yMode val="edge"/>
              <c:x val="0.44707953377849297"/>
              <c:y val="0.91333330300378057"/>
            </c:manualLayout>
          </c:layout>
          <c:overlay val="0"/>
          <c:spPr>
            <a:noFill/>
            <a:ln>
              <a:noFill/>
            </a:ln>
            <a:effectLst/>
          </c:sp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5056"/>
        <c:crosses val="autoZero"/>
        <c:auto val="1"/>
        <c:lblAlgn val="ctr"/>
        <c:lblOffset val="100"/>
        <c:noMultiLvlLbl val="0"/>
      </c:catAx>
      <c:valAx>
        <c:axId val="317745056"/>
        <c:scaling>
          <c:orientation val="minMax"/>
        </c:scaling>
        <c:delete val="0"/>
        <c:axPos val="l"/>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54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r>
                  <a:rPr lang="en-US">
                    <a:solidFill>
                      <a:schemeClr val="tx1"/>
                    </a:solidFill>
                    <a:latin typeface="Times New Roman" panose="02020603050405020304" pitchFamily="18" charset="0"/>
                    <a:cs typeface="Times New Roman" panose="02020603050405020304" pitchFamily="18" charset="0"/>
                  </a:rPr>
                  <a:t>GTB</a:t>
                </a:r>
              </a:p>
            </c:rich>
          </c:tx>
          <c:layout>
            <c:manualLayout>
              <c:xMode val="edge"/>
              <c:yMode val="edge"/>
              <c:x val="9.2876556191622411E-3"/>
              <c:y val="0.42974433236897019"/>
            </c:manualLayout>
          </c:layout>
          <c:overlay val="0"/>
          <c:spPr>
            <a:noFill/>
            <a:ln>
              <a:noFill/>
            </a:ln>
            <a:effectLst/>
          </c:sp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31774261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chemeClr val="tx1"/>
      </a:solidFill>
      <a:round/>
    </a:ln>
    <a:effectLst/>
  </c:spPr>
  <c:txPr>
    <a:bodyPr/>
    <a:lstStyle/>
    <a:p>
      <a:pPr>
        <a:defRPr/>
      </a:pPr>
      <a:endParaRPr lang="en-US"/>
    </a:p>
  </c:txPr>
  <c:externalData r:id="rId2">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484713059516321E-2"/>
          <c:y val="6.2711374378903909E-2"/>
          <c:w val="0.92226413421295206"/>
          <c:h val="0.76374283652369968"/>
        </c:manualLayout>
      </c:layout>
      <c:barChart>
        <c:barDir val="col"/>
        <c:grouping val="clustered"/>
        <c:varyColors val="0"/>
        <c:ser>
          <c:idx val="0"/>
          <c:order val="0"/>
          <c:tx>
            <c:strRef>
              <c:f>DR!$C$3</c:f>
              <c:strCache>
                <c:ptCount val="1"/>
                <c:pt idx="0">
                  <c:v>W08</c:v>
                </c:pt>
              </c:strCache>
            </c:strRef>
          </c:tx>
          <c:spPr>
            <a:solidFill>
              <a:schemeClr val="accent5">
                <a:lumMod val="50000"/>
              </a:schemeClr>
            </a:solidFill>
            <a:ln>
              <a:noFill/>
            </a:ln>
            <a:effectLst/>
          </c:spPr>
          <c:invertIfNegative val="0"/>
          <c:dLbls>
            <c:dLbl>
              <c:idx val="0"/>
              <c:layout>
                <c:manualLayout>
                  <c:x val="-4.4182621502209382E-3"/>
                  <c:y val="-1.1121491174714888E-7"/>
                </c:manualLayout>
              </c:layout>
              <c:showLegendKey val="0"/>
              <c:showVal val="1"/>
              <c:showCatName val="0"/>
              <c:showSerName val="0"/>
              <c:showPercent val="0"/>
              <c:showBubbleSize val="0"/>
              <c:extLst>
                <c:ext xmlns:c15="http://schemas.microsoft.com/office/drawing/2012/chart" uri="{CE6537A1-D6FC-4f65-9D91-7224C49458BB}">
                  <c15:layout>
                    <c:manualLayout>
                      <c:w val="4.8703937780973254E-2"/>
                      <c:h val="6.3644067796610151E-2"/>
                    </c:manualLayout>
                  </c15:layout>
                </c:ext>
                <c:ext xmlns:c16="http://schemas.microsoft.com/office/drawing/2014/chart" uri="{C3380CC4-5D6E-409C-BE32-E72D297353CC}">
                  <c16:uniqueId val="{00000000-61B9-444A-8265-01AEA6B5D684}"/>
                </c:ext>
              </c:extLst>
            </c:dLbl>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DR!$C$5:$C$8</c:f>
              <c:numCache>
                <c:formatCode>0.00</c:formatCode>
                <c:ptCount val="4"/>
                <c:pt idx="0">
                  <c:v>99.695276790248855</c:v>
                </c:pt>
                <c:pt idx="1">
                  <c:v>99.397590361445779</c:v>
                </c:pt>
                <c:pt idx="2">
                  <c:v>99.168975069252085</c:v>
                </c:pt>
                <c:pt idx="3">
                  <c:v>100</c:v>
                </c:pt>
              </c:numCache>
            </c:numRef>
          </c:val>
          <c:extLst>
            <c:ext xmlns:c16="http://schemas.microsoft.com/office/drawing/2014/chart" uri="{C3380CC4-5D6E-409C-BE32-E72D297353CC}">
              <c16:uniqueId val="{00000000-B224-4F6E-98D6-A53FC849C4F5}"/>
            </c:ext>
          </c:extLst>
        </c:ser>
        <c:ser>
          <c:idx val="1"/>
          <c:order val="1"/>
          <c:tx>
            <c:strRef>
              <c:f>DR!$D$3</c:f>
              <c:strCache>
                <c:ptCount val="1"/>
                <c:pt idx="0">
                  <c:v>W09</c:v>
                </c:pt>
              </c:strCache>
            </c:strRef>
          </c:tx>
          <c:spPr>
            <a:solidFill>
              <a:srgbClr val="00B0F0"/>
            </a:solidFill>
            <a:ln>
              <a:noFill/>
            </a:ln>
            <a:effectLst/>
          </c:spPr>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DR!$D$5:$D$8</c:f>
              <c:numCache>
                <c:formatCode>0.00</c:formatCode>
                <c:ptCount val="4"/>
                <c:pt idx="0">
                  <c:v>99.444724886421</c:v>
                </c:pt>
                <c:pt idx="1">
                  <c:v>100</c:v>
                </c:pt>
                <c:pt idx="2">
                  <c:v>100</c:v>
                </c:pt>
                <c:pt idx="3">
                  <c:v>100</c:v>
                </c:pt>
              </c:numCache>
            </c:numRef>
          </c:val>
          <c:extLst>
            <c:ext xmlns:c16="http://schemas.microsoft.com/office/drawing/2014/chart" uri="{C3380CC4-5D6E-409C-BE32-E72D297353CC}">
              <c16:uniqueId val="{00000002-B224-4F6E-98D6-A53FC849C4F5}"/>
            </c:ext>
          </c:extLst>
        </c:ser>
        <c:ser>
          <c:idx val="2"/>
          <c:order val="3"/>
          <c:tx>
            <c:strRef>
              <c:f>DR!$F$3</c:f>
              <c:strCache>
                <c:ptCount val="1"/>
                <c:pt idx="0">
                  <c:v>Target</c:v>
                </c:pt>
              </c:strCache>
            </c:strRef>
          </c:tx>
          <c:spPr>
            <a:solidFill>
              <a:srgbClr val="FFC000"/>
            </a:solidFill>
          </c:spPr>
          <c:invertIfNegative val="0"/>
          <c:dLbls>
            <c:dLbl>
              <c:idx val="0"/>
              <c:spPr>
                <a:noFill/>
                <a:ln>
                  <a:noFill/>
                </a:ln>
                <a:effectLst/>
              </c:spPr>
              <c:txPr>
                <a:bodyPr wrap="square" lIns="38100" tIns="19050" rIns="38100" bIns="19050" anchor="ctr">
                  <a:no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87E8-4D57-AA4D-8D3A9D16C4B6}"/>
                </c:ext>
              </c:extLst>
            </c:dLbl>
            <c:spPr>
              <a:noFill/>
              <a:ln>
                <a:noFill/>
              </a:ln>
              <a:effectLst/>
            </c:spPr>
            <c:txPr>
              <a:bodyPr wrap="square" lIns="38100" tIns="19050" rIns="38100" bIns="19050" anchor="ctr">
                <a:spAutoFit/>
              </a:bodyPr>
              <a:lstStyle/>
              <a:p>
                <a:pPr>
                  <a:defRPr sz="1100" b="1">
                    <a:solidFill>
                      <a:srgbClr val="FF0000"/>
                    </a:solidFill>
                    <a:latin typeface="Times New Roman" panose="02020603050405020304" pitchFamily="18" charset="0"/>
                    <a:cs typeface="Times New Roman" panose="02020603050405020304" pitchFamily="18" charset="0"/>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DR!$B$5:$B$8</c:f>
              <c:strCache>
                <c:ptCount val="4"/>
                <c:pt idx="0">
                  <c:v>A321</c:v>
                </c:pt>
                <c:pt idx="1">
                  <c:v>A350</c:v>
                </c:pt>
                <c:pt idx="2">
                  <c:v>B787</c:v>
                </c:pt>
                <c:pt idx="3">
                  <c:v>ATR72</c:v>
                </c:pt>
              </c:strCache>
            </c:strRef>
          </c:cat>
          <c:val>
            <c:numRef>
              <c:f>DR!$F$5:$F$8</c:f>
              <c:numCache>
                <c:formatCode>0.00</c:formatCode>
                <c:ptCount val="4"/>
                <c:pt idx="0">
                  <c:v>99.63</c:v>
                </c:pt>
                <c:pt idx="1">
                  <c:v>99.44</c:v>
                </c:pt>
                <c:pt idx="2">
                  <c:v>99.36</c:v>
                </c:pt>
                <c:pt idx="3">
                  <c:v>99.65</c:v>
                </c:pt>
              </c:numCache>
            </c:numRef>
          </c:val>
          <c:extLst>
            <c:ext xmlns:c16="http://schemas.microsoft.com/office/drawing/2014/chart" uri="{C3380CC4-5D6E-409C-BE32-E72D297353CC}">
              <c16:uniqueId val="{00000003-B224-4F6E-98D6-A53FC849C4F5}"/>
            </c:ext>
          </c:extLst>
        </c:ser>
        <c:dLbls>
          <c:showLegendKey val="0"/>
          <c:showVal val="0"/>
          <c:showCatName val="0"/>
          <c:showSerName val="0"/>
          <c:showPercent val="0"/>
          <c:showBubbleSize val="0"/>
        </c:dLbls>
        <c:gapWidth val="219"/>
        <c:overlap val="-27"/>
        <c:axId val="314458896"/>
        <c:axId val="314455088"/>
        <c:extLst>
          <c:ext xmlns:c15="http://schemas.microsoft.com/office/drawing/2012/chart" uri="{02D57815-91ED-43cb-92C2-25804820EDAC}">
            <c15:filteredBarSeries>
              <c15:ser>
                <c:idx val="3"/>
                <c:order val="2"/>
                <c:tx>
                  <c:strRef>
                    <c:extLst>
                      <c:ext uri="{02D57815-91ED-43cb-92C2-25804820EDAC}">
                        <c15:formulaRef>
                          <c15:sqref>DR!$E$3</c15:sqref>
                        </c15:formulaRef>
                      </c:ext>
                    </c:extLst>
                    <c:strCache>
                      <c:ptCount val="1"/>
                    </c:strCache>
                  </c:strRef>
                </c:tx>
                <c:invertIfNegative val="0"/>
                <c:dLbls>
                  <c:spPr>
                    <a:noFill/>
                    <a:ln>
                      <a:noFill/>
                    </a:ln>
                    <a:effectLst/>
                  </c:spPr>
                  <c:txPr>
                    <a:bodyPr wrap="square" lIns="38100" tIns="19050" rIns="38100" bIns="19050" anchor="ctr">
                      <a:spAutoFit/>
                    </a:bodyPr>
                    <a:lstStyle/>
                    <a:p>
                      <a:pPr>
                        <a:defRPr sz="1100" b="1">
                          <a:latin typeface="Times New Roman" panose="02020603050405020304" pitchFamily="18" charset="0"/>
                          <a:cs typeface="Times New Roman" panose="02020603050405020304" pitchFamily="18" charset="0"/>
                        </a:defRPr>
                      </a:pPr>
                      <a:endParaRPr lang="en-US"/>
                    </a:p>
                  </c:txPr>
                  <c:showLegendKey val="0"/>
                  <c:showVal val="1"/>
                  <c:showCatName val="0"/>
                  <c:showSerName val="0"/>
                  <c:showPercent val="0"/>
                  <c:showBubbleSize val="0"/>
                  <c:showLeaderLines val="0"/>
                  <c:extLst>
                    <c:ext uri="{CE6537A1-D6FC-4f65-9D91-7224C49458BB}">
                      <c15:showLeaderLines val="1"/>
                    </c:ext>
                  </c:extLst>
                </c:dLbls>
                <c:cat>
                  <c:strRef>
                    <c:extLst>
                      <c:ext uri="{02D57815-91ED-43cb-92C2-25804820EDAC}">
                        <c15:formulaRef>
                          <c15:sqref>DR!$B$5:$B$8</c15:sqref>
                        </c15:formulaRef>
                      </c:ext>
                    </c:extLst>
                    <c:strCache>
                      <c:ptCount val="4"/>
                      <c:pt idx="0">
                        <c:v>A321</c:v>
                      </c:pt>
                      <c:pt idx="1">
                        <c:v>A350</c:v>
                      </c:pt>
                      <c:pt idx="2">
                        <c:v>B787</c:v>
                      </c:pt>
                      <c:pt idx="3">
                        <c:v>ATR72</c:v>
                      </c:pt>
                    </c:strCache>
                  </c:strRef>
                </c:cat>
                <c:val>
                  <c:numRef>
                    <c:extLst>
                      <c:ext uri="{02D57815-91ED-43cb-92C2-25804820EDAC}">
                        <c15:formulaRef>
                          <c15:sqref>DR!$E$5:$E$8</c15:sqref>
                        </c15:formulaRef>
                      </c:ext>
                    </c:extLst>
                    <c:numCache>
                      <c:formatCode>General</c:formatCode>
                      <c:ptCount val="4"/>
                    </c:numCache>
                  </c:numRef>
                </c:val>
                <c:extLst>
                  <c:ext xmlns:c16="http://schemas.microsoft.com/office/drawing/2014/chart" uri="{C3380CC4-5D6E-409C-BE32-E72D297353CC}">
                    <c16:uniqueId val="{00000000-1BE6-446D-A1D5-6441B0EDBFB3}"/>
                  </c:ext>
                </c:extLst>
              </c15:ser>
            </c15:filteredBarSeries>
          </c:ext>
        </c:extLst>
      </c:barChart>
      <c:catAx>
        <c:axId val="314458896"/>
        <c:scaling>
          <c:orientation val="minMax"/>
        </c:scaling>
        <c:delete val="0"/>
        <c:axPos val="b"/>
        <c:numFmt formatCode="General" sourceLinked="1"/>
        <c:majorTickMark val="none"/>
        <c:minorTickMark val="none"/>
        <c:tickLblPos val="nextTo"/>
        <c:spPr>
          <a:noFill/>
          <a:ln w="19050" cap="flat" cmpd="sng" algn="ctr">
            <a:solidFill>
              <a:srgbClr val="000000"/>
            </a:solidFill>
            <a:round/>
            <a:tailEnd type="triangle"/>
          </a:ln>
          <a:effectLst/>
        </c:spPr>
        <c:txPr>
          <a:bodyPr rot="-60000000" spcFirstLastPara="1" vertOverflow="ellipsis" vert="horz" wrap="square" anchor="ctr" anchorCtr="1"/>
          <a:lstStyle/>
          <a:p>
            <a:pPr>
              <a:defRPr sz="1400" b="1" i="0" u="none" strike="noStrike" kern="1200" baseline="0">
                <a:solidFill>
                  <a:sysClr val="windowText" lastClr="000000"/>
                </a:solidFill>
                <a:latin typeface="+mn-lt"/>
                <a:ea typeface="+mn-ea"/>
                <a:cs typeface="+mn-cs"/>
              </a:defRPr>
            </a:pPr>
            <a:endParaRPr lang="en-US"/>
          </a:p>
        </c:txPr>
        <c:crossAx val="314455088"/>
        <c:crosses val="autoZero"/>
        <c:auto val="1"/>
        <c:lblAlgn val="ctr"/>
        <c:lblOffset val="100"/>
        <c:noMultiLvlLbl val="0"/>
      </c:catAx>
      <c:valAx>
        <c:axId val="314455088"/>
        <c:scaling>
          <c:orientation val="minMax"/>
          <c:max val="100"/>
          <c:min val="95"/>
        </c:scaling>
        <c:delete val="0"/>
        <c:axPos val="l"/>
        <c:numFmt formatCode="0.0" sourceLinked="0"/>
        <c:majorTickMark val="none"/>
        <c:minorTickMark val="none"/>
        <c:tickLblPos val="nextTo"/>
        <c:spPr>
          <a:noFill/>
          <a:ln w="15875">
            <a:solidFill>
              <a:srgbClr val="000000"/>
            </a:solidFill>
            <a:tailEnd type="triangle"/>
          </a:ln>
          <a:effectLst/>
        </c:spPr>
        <c:txPr>
          <a:bodyPr rot="-6000000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crossAx val="314458896"/>
        <c:crosses val="autoZero"/>
        <c:crossBetween val="between"/>
        <c:majorUnit val="1"/>
        <c:minorUnit val="0.5"/>
      </c:valAx>
      <c:spPr>
        <a:noFill/>
        <a:ln>
          <a:noFill/>
        </a:ln>
        <a:effectLst/>
      </c:spPr>
    </c:plotArea>
    <c:legend>
      <c:legendPos val="b"/>
      <c:layout>
        <c:manualLayout>
          <c:xMode val="edge"/>
          <c:yMode val="edge"/>
          <c:x val="0.33530118013598875"/>
          <c:y val="0.93235963844755665"/>
          <c:w val="0.28837344986830094"/>
          <c:h val="6.7640217261685578E-2"/>
        </c:manualLayout>
      </c:layout>
      <c:overlay val="0"/>
      <c:spPr>
        <a:noFill/>
        <a:ln>
          <a:noFill/>
        </a:ln>
        <a:effectLst/>
      </c:spPr>
      <c:txPr>
        <a:bodyPr rot="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lumMod val="15000"/>
          <a:lumOff val="85000"/>
        </a:schemeClr>
      </a:solidFill>
      <a:round/>
    </a:ln>
    <a:effectLst/>
  </c:spPr>
  <c:txPr>
    <a:bodyPr/>
    <a:lstStyle/>
    <a:p>
      <a:pPr>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3.4789942122619287E-2"/>
          <c:y val="4.4293689684825485E-2"/>
          <c:w val="0.93681234355610998"/>
          <c:h val="0.8358298845569484"/>
        </c:manualLayout>
      </c:layout>
      <c:lineChart>
        <c:grouping val="standard"/>
        <c:varyColors val="0"/>
        <c:ser>
          <c:idx val="0"/>
          <c:order val="0"/>
          <c:tx>
            <c:strRef>
              <c:f>Sheet1!$C$8</c:f>
              <c:strCache>
                <c:ptCount val="1"/>
                <c:pt idx="0">
                  <c:v>A321CEO</c:v>
                </c:pt>
              </c:strCache>
            </c:strRef>
          </c:tx>
          <c:spPr>
            <a:ln w="19050" cap="rnd">
              <a:solidFill>
                <a:srgbClr val="FFC000"/>
              </a:solidFill>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Sheet1!$D$8:$AC$8</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0-D6AD-4063-8EE1-45911A2334ED}"/>
            </c:ext>
          </c:extLst>
        </c:ser>
        <c:ser>
          <c:idx val="2"/>
          <c:order val="2"/>
          <c:tx>
            <c:strRef>
              <c:f>Sheet1!$C$10</c:f>
              <c:strCache>
                <c:ptCount val="1"/>
                <c:pt idx="0">
                  <c:v>A350</c:v>
                </c:pt>
              </c:strCache>
            </c:strRef>
          </c:tx>
          <c:spPr>
            <a:ln w="19050" cap="rnd">
              <a:solidFill>
                <a:srgbClr val="00B0F0"/>
              </a:solidFill>
              <a:round/>
            </a:ln>
            <a:effectLst/>
          </c:spPr>
          <c:marker>
            <c:symbol val="circle"/>
            <c:size val="23"/>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Sheet1!$D$10:$AC$10</c:f>
              <c:numCache>
                <c:formatCode>General</c:formatCode>
                <c:ptCount val="6"/>
                <c:pt idx="0">
                  <c:v>8</c:v>
                </c:pt>
                <c:pt idx="1">
                  <c:v>8.5</c:v>
                </c:pt>
                <c:pt idx="2">
                  <c:v>8</c:v>
                </c:pt>
                <c:pt idx="3">
                  <c:v>7</c:v>
                </c:pt>
                <c:pt idx="4">
                  <c:v>6</c:v>
                </c:pt>
                <c:pt idx="5">
                  <c:v>4</c:v>
                </c:pt>
              </c:numCache>
            </c:numRef>
          </c:val>
          <c:smooth val="0"/>
          <c:extLst>
            <c:ext xmlns:c16="http://schemas.microsoft.com/office/drawing/2014/chart" uri="{C3380CC4-5D6E-409C-BE32-E72D297353CC}">
              <c16:uniqueId val="{00000001-D6AD-4063-8EE1-45911A2334ED}"/>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Sheet1!$D$11:$AC$11</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2-D6AD-4063-8EE1-45911A2334ED}"/>
            </c:ext>
          </c:extLst>
        </c:ser>
        <c:dLbls>
          <c:dLblPos val="ctr"/>
          <c:showLegendKey val="0"/>
          <c:showVal val="1"/>
          <c:showCatName val="0"/>
          <c:showSerName val="0"/>
          <c:showPercent val="0"/>
          <c:showBubbleSize val="0"/>
        </c:dLbls>
        <c:marker val="1"/>
        <c:smooth val="0"/>
        <c:axId val="369124040"/>
        <c:axId val="369143248"/>
      </c:lineChart>
      <c:lineChart>
        <c:grouping val="standard"/>
        <c:varyColors val="0"/>
        <c:ser>
          <c:idx val="1"/>
          <c:order val="1"/>
          <c:tx>
            <c:strRef>
              <c:f>Sheet1!$C$9</c:f>
              <c:strCache>
                <c:ptCount val="1"/>
                <c:pt idx="0">
                  <c:v>A321NEO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Sheet1!$D$9:$AC$9</c:f>
              <c:numCache>
                <c:formatCode>General</c:formatCode>
                <c:ptCount val="6"/>
                <c:pt idx="0">
                  <c:v>28.5</c:v>
                </c:pt>
                <c:pt idx="1">
                  <c:v>27.5</c:v>
                </c:pt>
                <c:pt idx="2">
                  <c:v>29.25</c:v>
                </c:pt>
                <c:pt idx="3">
                  <c:v>27.5</c:v>
                </c:pt>
                <c:pt idx="4">
                  <c:v>25.25</c:v>
                </c:pt>
                <c:pt idx="5">
                  <c:v>22</c:v>
                </c:pt>
              </c:numCache>
            </c:numRef>
          </c:val>
          <c:smooth val="0"/>
          <c:extLst>
            <c:ext xmlns:c16="http://schemas.microsoft.com/office/drawing/2014/chart" uri="{C3380CC4-5D6E-409C-BE32-E72D297353CC}">
              <c16:uniqueId val="{00000003-D6AD-4063-8EE1-45911A2334ED}"/>
            </c:ext>
          </c:extLst>
        </c:ser>
        <c:ser>
          <c:idx val="4"/>
          <c:order val="4"/>
          <c:tx>
            <c:strRef>
              <c:f>Sheet1!$C$12</c:f>
              <c:strCache>
                <c:ptCount val="1"/>
                <c:pt idx="0">
                  <c:v>ATR72</c:v>
                </c:pt>
              </c:strCache>
            </c:strRef>
          </c:tx>
          <c:spPr>
            <a:ln w="19050" cap="rnd">
              <a:solidFill>
                <a:schemeClr val="accent4">
                  <a:lumMod val="60000"/>
                </a:schemeClr>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2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Sheet1!$D$7:$AC$7</c:f>
              <c:strCache>
                <c:ptCount val="6"/>
                <c:pt idx="0">
                  <c:v>T1/25</c:v>
                </c:pt>
                <c:pt idx="1">
                  <c:v>T2</c:v>
                </c:pt>
                <c:pt idx="2">
                  <c:v>T3</c:v>
                </c:pt>
                <c:pt idx="3">
                  <c:v>T4</c:v>
                </c:pt>
                <c:pt idx="4">
                  <c:v>T5</c:v>
                </c:pt>
                <c:pt idx="5">
                  <c:v>T6</c:v>
                </c:pt>
              </c:strCache>
            </c:strRef>
          </c:cat>
          <c:val>
            <c:numRef>
              <c:f>Sheet1!$D$12:$AC$12</c:f>
              <c:numCache>
                <c:formatCode>General</c:formatCode>
                <c:ptCount val="6"/>
                <c:pt idx="0">
                  <c:v>0</c:v>
                </c:pt>
                <c:pt idx="1">
                  <c:v>0</c:v>
                </c:pt>
                <c:pt idx="2">
                  <c:v>0</c:v>
                </c:pt>
                <c:pt idx="3">
                  <c:v>0</c:v>
                </c:pt>
                <c:pt idx="4">
                  <c:v>0</c:v>
                </c:pt>
                <c:pt idx="5">
                  <c:v>0</c:v>
                </c:pt>
              </c:numCache>
            </c:numRef>
          </c:val>
          <c:smooth val="0"/>
          <c:extLst>
            <c:ext xmlns:c16="http://schemas.microsoft.com/office/drawing/2014/chart" uri="{C3380CC4-5D6E-409C-BE32-E72D297353CC}">
              <c16:uniqueId val="{00000004-D6AD-4063-8EE1-45911A2334ED}"/>
            </c:ext>
          </c:extLst>
        </c:ser>
        <c:dLbls>
          <c:showLegendKey val="0"/>
          <c:showVal val="0"/>
          <c:showCatName val="0"/>
          <c:showSerName val="0"/>
          <c:showPercent val="0"/>
          <c:showBubbleSize val="0"/>
        </c:dLbls>
        <c:marker val="1"/>
        <c:smooth val="0"/>
        <c:axId val="369141680"/>
        <c:axId val="369140112"/>
      </c:lineChart>
      <c:catAx>
        <c:axId val="3691240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3248"/>
        <c:crosses val="autoZero"/>
        <c:auto val="1"/>
        <c:lblAlgn val="ctr"/>
        <c:lblOffset val="100"/>
        <c:noMultiLvlLbl val="0"/>
      </c:catAx>
      <c:valAx>
        <c:axId val="369143248"/>
        <c:scaling>
          <c:orientation val="minMax"/>
          <c:max val="20"/>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24040"/>
        <c:crosses val="autoZero"/>
        <c:crossBetween val="between"/>
      </c:valAx>
      <c:valAx>
        <c:axId val="369140112"/>
        <c:scaling>
          <c:orientation val="minMax"/>
          <c:max val="35"/>
          <c:min val="0"/>
        </c:scaling>
        <c:delete val="0"/>
        <c:axPos val="r"/>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600" b="1" i="0" u="none" strike="noStrike" kern="1200" baseline="0">
                <a:solidFill>
                  <a:sysClr val="windowText" lastClr="000000"/>
                </a:solidFill>
                <a:latin typeface="+mn-lt"/>
                <a:ea typeface="+mn-ea"/>
                <a:cs typeface="+mn-cs"/>
              </a:defRPr>
            </a:pPr>
            <a:endParaRPr lang="en-US"/>
          </a:p>
        </c:txPr>
        <c:crossAx val="369141680"/>
        <c:crosses val="max"/>
        <c:crossBetween val="between"/>
      </c:valAx>
      <c:catAx>
        <c:axId val="369141680"/>
        <c:scaling>
          <c:orientation val="minMax"/>
        </c:scaling>
        <c:delete val="1"/>
        <c:axPos val="b"/>
        <c:numFmt formatCode="General" sourceLinked="1"/>
        <c:majorTickMark val="out"/>
        <c:minorTickMark val="none"/>
        <c:tickLblPos val="nextTo"/>
        <c:crossAx val="369140112"/>
        <c:crosses val="autoZero"/>
        <c:auto val="1"/>
        <c:lblAlgn val="ctr"/>
        <c:lblOffset val="100"/>
        <c:noMultiLvlLbl val="0"/>
      </c:catAx>
      <c:spPr>
        <a:noFill/>
        <a:ln>
          <a:noFill/>
        </a:ln>
        <a:effectLst/>
      </c:spPr>
    </c:plotArea>
    <c:legend>
      <c:legendPos val="b"/>
      <c:layout>
        <c:manualLayout>
          <c:xMode val="edge"/>
          <c:yMode val="edge"/>
          <c:x val="3.2108065818695741E-2"/>
          <c:y val="1.3638679970698371E-2"/>
          <c:w val="0.89903166467431961"/>
          <c:h val="7.3197199055431955E-2"/>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2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4.4871626623595125E-2"/>
          <c:y val="4.7882687702116004E-2"/>
          <c:w val="0.93681234355610998"/>
          <c:h val="0.87227703924009881"/>
        </c:manualLayout>
      </c:layout>
      <c:lineChart>
        <c:grouping val="standard"/>
        <c:varyColors val="0"/>
        <c:ser>
          <c:idx val="0"/>
          <c:order val="0"/>
          <c:tx>
            <c:strRef>
              <c:f>Sheet1!$C$8</c:f>
              <c:strCache>
                <c:ptCount val="1"/>
                <c:pt idx="0">
                  <c:v>A321CEO</c:v>
                </c:pt>
              </c:strCache>
            </c:strRef>
          </c:tx>
          <c:spPr>
            <a:ln w="19050"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Sheet1!$D$8:$AM$8</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0-BD83-4FDB-9BCE-4410951EBD59}"/>
            </c:ext>
          </c:extLst>
        </c:ser>
        <c:ser>
          <c:idx val="1"/>
          <c:order val="1"/>
          <c:tx>
            <c:strRef>
              <c:f>Sheet1!$C$9</c:f>
              <c:strCache>
                <c:ptCount val="1"/>
                <c:pt idx="0">
                  <c:v>A321NEO</c:v>
                </c:pt>
              </c:strCache>
            </c:strRef>
          </c:tx>
          <c:spPr>
            <a:ln w="19050" cap="rnd">
              <a:solidFill>
                <a:srgbClr val="00B0F0"/>
              </a:solidFill>
              <a:round/>
            </a:ln>
            <a:effectLst/>
          </c:spPr>
          <c:marker>
            <c:symbol val="circle"/>
            <c:size val="20"/>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Sheet1!$D$9:$AM$9</c:f>
              <c:numCache>
                <c:formatCode>General</c:formatCode>
                <c:ptCount val="12"/>
                <c:pt idx="0">
                  <c:v>26</c:v>
                </c:pt>
                <c:pt idx="1">
                  <c:v>26</c:v>
                </c:pt>
                <c:pt idx="2">
                  <c:v>30</c:v>
                </c:pt>
                <c:pt idx="3">
                  <c:v>29</c:v>
                </c:pt>
                <c:pt idx="4">
                  <c:v>30</c:v>
                </c:pt>
                <c:pt idx="5">
                  <c:v>29</c:v>
                </c:pt>
                <c:pt idx="6">
                  <c:v>29</c:v>
                </c:pt>
                <c:pt idx="7">
                  <c:v>29</c:v>
                </c:pt>
                <c:pt idx="8">
                  <c:v>29</c:v>
                </c:pt>
                <c:pt idx="9">
                  <c:v>28</c:v>
                </c:pt>
                <c:pt idx="10">
                  <c:v>27</c:v>
                </c:pt>
                <c:pt idx="11">
                  <c:v>26</c:v>
                </c:pt>
              </c:numCache>
            </c:numRef>
          </c:val>
          <c:smooth val="0"/>
          <c:extLst>
            <c:ext xmlns:c16="http://schemas.microsoft.com/office/drawing/2014/chart" uri="{C3380CC4-5D6E-409C-BE32-E72D297353CC}">
              <c16:uniqueId val="{00000001-BD83-4FDB-9BCE-4410951EBD59}"/>
            </c:ext>
          </c:extLst>
        </c:ser>
        <c:ser>
          <c:idx val="2"/>
          <c:order val="2"/>
          <c:tx>
            <c:strRef>
              <c:f>Sheet1!$C$10</c:f>
              <c:strCache>
                <c:ptCount val="1"/>
                <c:pt idx="0">
                  <c:v>A350</c:v>
                </c:pt>
              </c:strCache>
            </c:strRef>
          </c:tx>
          <c:spPr>
            <a:ln w="19050" cap="rnd">
              <a:solidFill>
                <a:schemeClr val="accent6"/>
              </a:solidFill>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Sheet1!$D$10:$AM$10</c:f>
              <c:numCache>
                <c:formatCode>General</c:formatCode>
                <c:ptCount val="12"/>
                <c:pt idx="0">
                  <c:v>8</c:v>
                </c:pt>
                <c:pt idx="1">
                  <c:v>8</c:v>
                </c:pt>
                <c:pt idx="2">
                  <c:v>9</c:v>
                </c:pt>
                <c:pt idx="3">
                  <c:v>8</c:v>
                </c:pt>
                <c:pt idx="4">
                  <c:v>8</c:v>
                </c:pt>
                <c:pt idx="5">
                  <c:v>8</c:v>
                </c:pt>
                <c:pt idx="6">
                  <c:v>8</c:v>
                </c:pt>
                <c:pt idx="7">
                  <c:v>7</c:v>
                </c:pt>
                <c:pt idx="8">
                  <c:v>8</c:v>
                </c:pt>
                <c:pt idx="9">
                  <c:v>8</c:v>
                </c:pt>
                <c:pt idx="10">
                  <c:v>7</c:v>
                </c:pt>
                <c:pt idx="11">
                  <c:v>7</c:v>
                </c:pt>
              </c:numCache>
            </c:numRef>
          </c:val>
          <c:smooth val="0"/>
          <c:extLst>
            <c:ext xmlns:c16="http://schemas.microsoft.com/office/drawing/2014/chart" uri="{C3380CC4-5D6E-409C-BE32-E72D297353CC}">
              <c16:uniqueId val="{00000002-BD83-4FDB-9BCE-4410951EBD59}"/>
            </c:ext>
          </c:extLst>
        </c:ser>
        <c:ser>
          <c:idx val="3"/>
          <c:order val="3"/>
          <c:tx>
            <c:strRef>
              <c:f>Sheet1!$C$11</c:f>
              <c:strCache>
                <c:ptCount val="1"/>
                <c:pt idx="0">
                  <c:v>B787</c:v>
                </c:pt>
              </c:strCache>
            </c:strRef>
          </c:tx>
          <c:spPr>
            <a:ln w="19050" cap="rnd">
              <a:solidFill>
                <a:schemeClr val="accent2">
                  <a:lumMod val="60000"/>
                </a:schemeClr>
              </a:solidFill>
              <a:round/>
            </a:ln>
            <a:effectLst/>
          </c:spPr>
          <c:marker>
            <c:symbol val="circle"/>
            <c:size val="20"/>
            <c:spPr>
              <a:solidFill>
                <a:schemeClr val="accent2">
                  <a:lumMod val="50000"/>
                </a:schemeClr>
              </a:solidFill>
              <a:ln w="9525">
                <a:solidFill>
                  <a:schemeClr val="accent2">
                    <a:lumMod val="5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Sheet1!$D$11:$AM$11</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3-BD83-4FDB-9BCE-4410951EBD59}"/>
            </c:ext>
          </c:extLst>
        </c:ser>
        <c:ser>
          <c:idx val="4"/>
          <c:order val="4"/>
          <c:tx>
            <c:strRef>
              <c:f>Sheet1!$C$12</c:f>
              <c:strCache>
                <c:ptCount val="1"/>
                <c:pt idx="0">
                  <c:v>ATR72</c:v>
                </c:pt>
              </c:strCache>
            </c:strRef>
          </c:tx>
          <c:spPr>
            <a:ln w="19050" cap="rnd">
              <a:solidFill>
                <a:srgbClr val="FFC000"/>
              </a:solidFill>
              <a:round/>
            </a:ln>
            <a:effectLst/>
          </c:spPr>
          <c:marker>
            <c:symbol val="circle"/>
            <c:size val="20"/>
            <c:spPr>
              <a:solidFill>
                <a:schemeClr val="accent4">
                  <a:lumMod val="60000"/>
                </a:schemeClr>
              </a:solidFill>
              <a:ln w="9525">
                <a:solidFill>
                  <a:schemeClr val="accent4">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400" b="1" i="0" u="none" strike="noStrike" kern="1200" baseline="0">
                    <a:solidFill>
                      <a:sysClr val="windowText" lastClr="000000"/>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Sheet1!$D$7:$AM$7</c:f>
              <c:strCache>
                <c:ptCount val="12"/>
                <c:pt idx="0">
                  <c:v>Feb-W1</c:v>
                </c:pt>
                <c:pt idx="1">
                  <c:v>Feb-W2</c:v>
                </c:pt>
                <c:pt idx="2">
                  <c:v>Feb-W3</c:v>
                </c:pt>
                <c:pt idx="3">
                  <c:v>Feb-W4</c:v>
                </c:pt>
                <c:pt idx="4">
                  <c:v>Mar-W1</c:v>
                </c:pt>
                <c:pt idx="5">
                  <c:v>Mar-W2</c:v>
                </c:pt>
                <c:pt idx="6">
                  <c:v>Mar-W3</c:v>
                </c:pt>
                <c:pt idx="7">
                  <c:v>Mar-W4</c:v>
                </c:pt>
                <c:pt idx="8">
                  <c:v>Apr-W1</c:v>
                </c:pt>
                <c:pt idx="9">
                  <c:v>Apr-W2</c:v>
                </c:pt>
                <c:pt idx="10">
                  <c:v>Apr-W3</c:v>
                </c:pt>
                <c:pt idx="11">
                  <c:v>Apr-W4</c:v>
                </c:pt>
              </c:strCache>
            </c:strRef>
          </c:cat>
          <c:val>
            <c:numRef>
              <c:f>Sheet1!$D$12:$AM$12</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smooth val="0"/>
          <c:extLst>
            <c:ext xmlns:c16="http://schemas.microsoft.com/office/drawing/2014/chart" uri="{C3380CC4-5D6E-409C-BE32-E72D297353CC}">
              <c16:uniqueId val="{00000004-BD83-4FDB-9BCE-4410951EBD59}"/>
            </c:ext>
          </c:extLst>
        </c:ser>
        <c:dLbls>
          <c:dLblPos val="ctr"/>
          <c:showLegendKey val="0"/>
          <c:showVal val="1"/>
          <c:showCatName val="0"/>
          <c:showSerName val="0"/>
          <c:showPercent val="0"/>
          <c:showBubbleSize val="0"/>
        </c:dLbls>
        <c:marker val="1"/>
        <c:smooth val="0"/>
        <c:axId val="369136192"/>
        <c:axId val="369138152"/>
      </c:lineChart>
      <c:catAx>
        <c:axId val="369136192"/>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8152"/>
        <c:crosses val="autoZero"/>
        <c:auto val="1"/>
        <c:lblAlgn val="ctr"/>
        <c:lblOffset val="100"/>
        <c:tickMarkSkip val="1"/>
        <c:noMultiLvlLbl val="0"/>
      </c:catAx>
      <c:valAx>
        <c:axId val="369138152"/>
        <c:scaling>
          <c:orientation val="minMax"/>
          <c:max val="34"/>
          <c:min val="-2"/>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crossAx val="369136192"/>
        <c:crosses val="autoZero"/>
        <c:crossBetween val="between"/>
      </c:valAx>
      <c:spPr>
        <a:noFill/>
        <a:ln>
          <a:noFill/>
        </a:ln>
        <a:effectLst/>
      </c:spPr>
    </c:plotArea>
    <c:legend>
      <c:legendPos val="b"/>
      <c:layout>
        <c:manualLayout>
          <c:xMode val="edge"/>
          <c:yMode val="edge"/>
          <c:x val="0.45427866677955575"/>
          <c:y val="0.36957218535300551"/>
          <c:w val="0.26506228656901759"/>
          <c:h val="0.21602423181857586"/>
        </c:manualLayout>
      </c:layout>
      <c:overlay val="0"/>
      <c:spPr>
        <a:solidFill>
          <a:schemeClr val="bg1"/>
        </a:solidFill>
        <a:ln>
          <a:solidFill>
            <a:schemeClr val="accent1"/>
          </a:solidFill>
        </a:ln>
        <a:effectLst/>
      </c:spPr>
      <c:txPr>
        <a:bodyPr rot="0" spcFirstLastPara="1" vertOverflow="ellipsis" vert="horz" wrap="square" anchor="ctr" anchorCtr="1"/>
        <a:lstStyle/>
        <a:p>
          <a:pPr>
            <a:defRPr sz="1100" b="1" i="0" u="none" strike="noStrike" kern="1200" baseline="0">
              <a:solidFill>
                <a:sysClr val="windowText" lastClr="000000"/>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solidFill>
        <a:schemeClr val="tx1"/>
      </a:solidFill>
    </a:ln>
    <a:effectLst/>
  </c:spPr>
  <c:txPr>
    <a:bodyPr/>
    <a:lstStyle/>
    <a:p>
      <a:pPr>
        <a:defRPr sz="1600" b="1">
          <a:solidFill>
            <a:sysClr val="windowText" lastClr="000000"/>
          </a:solidFill>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val>
            <c:numRef>
              <c:f>'Nguồn lực'!$C$3:$AD$3</c:f>
              <c:numCache>
                <c:formatCode>[=0]\ 0;0.##</c:formatCode>
                <c:ptCount val="12"/>
                <c:pt idx="0">
                  <c:v>13</c:v>
                </c:pt>
                <c:pt idx="1">
                  <c:v>12.5</c:v>
                </c:pt>
                <c:pt idx="2">
                  <c:v>14</c:v>
                </c:pt>
                <c:pt idx="3">
                  <c:v>13</c:v>
                </c:pt>
                <c:pt idx="4">
                  <c:v>13</c:v>
                </c:pt>
                <c:pt idx="5">
                  <c:v>12</c:v>
                </c:pt>
                <c:pt idx="6">
                  <c:v>12</c:v>
                </c:pt>
                <c:pt idx="7">
                  <c:v>11</c:v>
                </c:pt>
                <c:pt idx="8">
                  <c:v>11</c:v>
                </c:pt>
                <c:pt idx="9">
                  <c:v>11</c:v>
                </c:pt>
                <c:pt idx="10">
                  <c:v>10</c:v>
                </c:pt>
                <c:pt idx="11">
                  <c:v>10</c:v>
                </c:pt>
              </c:numCache>
            </c:numRef>
          </c:val>
          <c:extLst>
            <c:ext xmlns:c16="http://schemas.microsoft.com/office/drawing/2014/chart" uri="{C3380CC4-5D6E-409C-BE32-E72D297353CC}">
              <c16:uniqueId val="{00000000-D18E-4DB3-A24E-EDC97E9B4FBA}"/>
            </c:ext>
          </c:extLst>
        </c:ser>
        <c:dLbls>
          <c:showLegendKey val="0"/>
          <c:showVal val="0"/>
          <c:showCatName val="0"/>
          <c:showSerName val="0"/>
          <c:showPercent val="0"/>
          <c:showBubbleSize val="0"/>
        </c:dLbls>
        <c:axId val="750948664"/>
        <c:axId val="750956584"/>
      </c:areaChart>
      <c:lineChart>
        <c:grouping val="standard"/>
        <c:varyColors val="0"/>
        <c:ser>
          <c:idx val="1"/>
          <c:order val="1"/>
          <c:tx>
            <c:strRef>
              <c:f>'Nguồn lực'!$B$4</c:f>
              <c:strCache>
                <c:ptCount val="1"/>
                <c:pt idx="0">
                  <c:v>KB tốt</c:v>
                </c:pt>
              </c:strCache>
            </c:strRef>
          </c:tx>
          <c:spPr>
            <a:ln w="28575" cap="rnd">
              <a:solidFill>
                <a:schemeClr val="accent2"/>
              </a:solidFill>
              <a:round/>
            </a:ln>
            <a:effectLst/>
          </c:spPr>
          <c:marker>
            <c:symbol val="circle"/>
            <c:size val="5"/>
            <c:spPr>
              <a:solidFill>
                <a:srgbClr val="00B0F0"/>
              </a:solidFill>
              <a:ln w="9525">
                <a:solidFill>
                  <a:srgbClr val="00B0F0"/>
                </a:solidFill>
              </a:ln>
              <a:effectLst/>
            </c:spPr>
          </c:marker>
          <c:val>
            <c:numRef>
              <c:f>'Nguồn lực'!$C$4:$AD$4</c:f>
            </c:numRef>
          </c:val>
          <c:smooth val="0"/>
          <c:extLst>
            <c:ext xmlns:c16="http://schemas.microsoft.com/office/drawing/2014/chart" uri="{C3380CC4-5D6E-409C-BE32-E72D297353CC}">
              <c16:uniqueId val="{00000001-D18E-4DB3-A24E-EDC97E9B4FBA}"/>
            </c:ext>
          </c:extLst>
        </c:ser>
        <c:ser>
          <c:idx val="2"/>
          <c:order val="2"/>
          <c:tx>
            <c:strRef>
              <c:f>'Nguồn lực'!$B$5</c:f>
              <c:strCache>
                <c:ptCount val="1"/>
                <c:pt idx="0">
                  <c:v>KB tốt + giữ giờ</c:v>
                </c:pt>
              </c:strCache>
            </c:strRef>
          </c:tx>
          <c:spPr>
            <a:ln w="28575" cap="rnd">
              <a:solidFill>
                <a:srgbClr val="00B050"/>
              </a:solidFill>
              <a:prstDash val="solid"/>
              <a:round/>
            </a:ln>
            <a:effectLst/>
          </c:spPr>
          <c:marker>
            <c:symbol val="circle"/>
            <c:size val="20"/>
            <c:spPr>
              <a:solidFill>
                <a:srgbClr val="00B050"/>
              </a:solidFill>
              <a:ln w="9525">
                <a:solidFill>
                  <a:srgbClr val="00B05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14.25</c:v>
                </c:pt>
                <c:pt idx="1">
                  <c:v>13.75</c:v>
                </c:pt>
                <c:pt idx="2">
                  <c:v>15.25</c:v>
                </c:pt>
                <c:pt idx="3">
                  <c:v>14.25</c:v>
                </c:pt>
                <c:pt idx="4">
                  <c:v>14</c:v>
                </c:pt>
                <c:pt idx="5">
                  <c:v>12</c:v>
                </c:pt>
                <c:pt idx="6">
                  <c:v>11</c:v>
                </c:pt>
                <c:pt idx="7">
                  <c:v>11.5</c:v>
                </c:pt>
                <c:pt idx="8">
                  <c:v>12</c:v>
                </c:pt>
                <c:pt idx="9">
                  <c:v>12</c:v>
                </c:pt>
                <c:pt idx="10">
                  <c:v>12</c:v>
                </c:pt>
                <c:pt idx="11">
                  <c:v>11</c:v>
                </c:pt>
              </c:numCache>
            </c:numRef>
          </c:val>
          <c:smooth val="0"/>
          <c:extLst>
            <c:ext xmlns:c16="http://schemas.microsoft.com/office/drawing/2014/chart" uri="{C3380CC4-5D6E-409C-BE32-E72D297353CC}">
              <c16:uniqueId val="{00000002-D18E-4DB3-A24E-EDC97E9B4FBA}"/>
            </c:ext>
          </c:extLst>
        </c:ser>
        <c:ser>
          <c:idx val="3"/>
          <c:order val="3"/>
          <c:tx>
            <c:strRef>
              <c:f>'Nguồn lực'!$B$6</c:f>
              <c:strCache>
                <c:ptCount val="1"/>
                <c:pt idx="0">
                  <c:v>KB xấu</c:v>
                </c:pt>
              </c:strCache>
            </c:strRef>
          </c:tx>
          <c:spPr>
            <a:ln w="28575" cap="rnd">
              <a:solidFill>
                <a:schemeClr val="accent4"/>
              </a:solidFill>
              <a:round/>
            </a:ln>
            <a:effectLst/>
          </c:spPr>
          <c:marker>
            <c:symbol val="circle"/>
            <c:size val="5"/>
            <c:spPr>
              <a:solidFill>
                <a:srgbClr val="FF0000"/>
              </a:solidFill>
              <a:ln w="9525">
                <a:solidFill>
                  <a:srgbClr val="FF0000"/>
                </a:solidFill>
              </a:ln>
              <a:effectLst/>
            </c:spPr>
          </c:marker>
          <c:val>
            <c:numRef>
              <c:f>'Nguồn lực'!$C$6:$AD$6</c:f>
            </c:numRef>
          </c:val>
          <c:smooth val="0"/>
          <c:extLst>
            <c:ext xmlns:c16="http://schemas.microsoft.com/office/drawing/2014/chart" uri="{C3380CC4-5D6E-409C-BE32-E72D297353CC}">
              <c16:uniqueId val="{00000003-D18E-4DB3-A24E-EDC97E9B4FBA}"/>
            </c:ext>
          </c:extLst>
        </c:ser>
        <c:ser>
          <c:idx val="4"/>
          <c:order val="4"/>
          <c:tx>
            <c:strRef>
              <c:f>'Nguồn lực'!$B$7</c:f>
              <c:strCache>
                <c:ptCount val="1"/>
                <c:pt idx="0">
                  <c:v>KB Xấu + giữ giờ</c:v>
                </c:pt>
              </c:strCache>
            </c:strRef>
          </c:tx>
          <c:spPr>
            <a:ln w="28575" cap="rnd">
              <a:solidFill>
                <a:srgbClr val="FFC000"/>
              </a:solidFill>
              <a:prstDash val="solid"/>
              <a:round/>
            </a:ln>
            <a:effectLst/>
          </c:spPr>
          <c:marker>
            <c:symbol val="circle"/>
            <c:size val="20"/>
            <c:spPr>
              <a:solidFill>
                <a:srgbClr val="FFC000"/>
              </a:solidFill>
              <a:ln w="9525">
                <a:solidFill>
                  <a:srgbClr val="FFC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lực'!$C$7:$AD$7</c:f>
              <c:numCache>
                <c:formatCode>[=0]\ 0;0.##</c:formatCode>
                <c:ptCount val="12"/>
                <c:pt idx="0">
                  <c:v>14.25</c:v>
                </c:pt>
                <c:pt idx="1">
                  <c:v>13.75</c:v>
                </c:pt>
                <c:pt idx="2">
                  <c:v>16.25</c:v>
                </c:pt>
                <c:pt idx="3">
                  <c:v>15.25</c:v>
                </c:pt>
                <c:pt idx="4">
                  <c:v>14.5</c:v>
                </c:pt>
                <c:pt idx="5">
                  <c:v>12.5</c:v>
                </c:pt>
                <c:pt idx="6">
                  <c:v>11.5</c:v>
                </c:pt>
                <c:pt idx="7">
                  <c:v>11.5</c:v>
                </c:pt>
                <c:pt idx="8">
                  <c:v>13</c:v>
                </c:pt>
                <c:pt idx="9">
                  <c:v>12</c:v>
                </c:pt>
                <c:pt idx="10">
                  <c:v>13</c:v>
                </c:pt>
                <c:pt idx="11">
                  <c:v>12</c:v>
                </c:pt>
              </c:numCache>
            </c:numRef>
          </c:val>
          <c:smooth val="0"/>
          <c:extLst>
            <c:ext xmlns:c16="http://schemas.microsoft.com/office/drawing/2014/chart" uri="{C3380CC4-5D6E-409C-BE32-E72D297353CC}">
              <c16:uniqueId val="{00000004-D18E-4DB3-A24E-EDC97E9B4FBA}"/>
            </c:ext>
          </c:extLst>
        </c:ser>
        <c:dLbls>
          <c:showLegendKey val="0"/>
          <c:showVal val="0"/>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min val="8"/>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valAx>
      <c:valAx>
        <c:axId val="750956584"/>
        <c:scaling>
          <c:orientation val="minMax"/>
          <c:max val="16"/>
          <c:min val="8"/>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8664"/>
        <c:crosses val="max"/>
        <c:crossBetween val="between"/>
      </c:valAx>
      <c:catAx>
        <c:axId val="750948664"/>
        <c:scaling>
          <c:orientation val="minMax"/>
        </c:scaling>
        <c:delete val="1"/>
        <c:axPos val="b"/>
        <c:majorTickMark val="out"/>
        <c:minorTickMark val="none"/>
        <c:tickLblPos val="nextTo"/>
        <c:crossAx val="750956584"/>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latin typeface="Times New Roman" panose="02020603050405020304" pitchFamily="18" charset="0"/>
              </a:rPr>
              <a:t>ĐỘI</a:t>
            </a:r>
            <a:r>
              <a:rPr lang="en-US" sz="1000" baseline="0" dirty="0">
                <a:solidFill>
                  <a:schemeClr val="tx1"/>
                </a:solidFill>
                <a:latin typeface="Times New Roman" panose="02020603050405020304" pitchFamily="18" charset="0"/>
              </a:rPr>
              <a:t> BAY B787</a:t>
            </a:r>
            <a:endParaRPr lang="en-US" sz="1000" dirty="0">
              <a:solidFill>
                <a:schemeClr val="tx1"/>
              </a:solidFill>
              <a:latin typeface="Times New Roman" panose="02020603050405020304" pitchFamily="18" charset="0"/>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8.78943944380291E-2"/>
          <c:y val="8.7481841457847848E-2"/>
          <c:w val="0.88719896978880353"/>
          <c:h val="0.79400996275743063"/>
        </c:manualLayout>
      </c:layout>
      <c:lineChart>
        <c:grouping val="standard"/>
        <c:varyColors val="0"/>
        <c:ser>
          <c:idx val="5"/>
          <c:order val="0"/>
          <c:tx>
            <c:strRef>
              <c:f>Sheet1!$G$1</c:f>
              <c:strCache>
                <c:ptCount val="1"/>
                <c:pt idx="0">
                  <c:v>B787 Available</c:v>
                </c:pt>
              </c:strCache>
            </c:strRef>
          </c:tx>
          <c:spPr>
            <a:ln w="28575" cap="rnd">
              <a:solidFill>
                <a:srgbClr val="FF0000"/>
              </a:solidFill>
              <a:round/>
            </a:ln>
            <a:effectLst/>
          </c:spPr>
          <c:marker>
            <c:symbol val="circle"/>
            <c:size val="20"/>
            <c:spPr>
              <a:solidFill>
                <a:srgbClr val="002060"/>
              </a:solidFill>
              <a:ln w="9525">
                <a:solidFill>
                  <a:srgbClr val="00206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Sheet1!$A$104:$A$115</c:f>
              <c:strCache>
                <c:ptCount val="12"/>
                <c:pt idx="0">
                  <c:v>Jan-W1</c:v>
                </c:pt>
                <c:pt idx="1">
                  <c:v>Jan-W2</c:v>
                </c:pt>
                <c:pt idx="2">
                  <c:v>Jan-W3</c:v>
                </c:pt>
                <c:pt idx="3">
                  <c:v>Jan-W4</c:v>
                </c:pt>
                <c:pt idx="4">
                  <c:v>Feb-W1</c:v>
                </c:pt>
                <c:pt idx="5">
                  <c:v>Feb-W2</c:v>
                </c:pt>
                <c:pt idx="6">
                  <c:v>Feb-W3</c:v>
                </c:pt>
                <c:pt idx="7">
                  <c:v>Feb-W4</c:v>
                </c:pt>
                <c:pt idx="8">
                  <c:v>Mar-W1</c:v>
                </c:pt>
                <c:pt idx="9">
                  <c:v>Mar-W2</c:v>
                </c:pt>
                <c:pt idx="10">
                  <c:v>Mar-W3</c:v>
                </c:pt>
                <c:pt idx="11">
                  <c:v>Mar-W4</c:v>
                </c:pt>
              </c:strCache>
            </c:strRef>
          </c:cat>
          <c:val>
            <c:numRef>
              <c:f>Sheet1!$G$104:$G$115</c:f>
              <c:numCache>
                <c:formatCode>General</c:formatCode>
                <c:ptCount val="12"/>
                <c:pt idx="0">
                  <c:v>17</c:v>
                </c:pt>
                <c:pt idx="1">
                  <c:v>17</c:v>
                </c:pt>
                <c:pt idx="2">
                  <c:v>17</c:v>
                </c:pt>
                <c:pt idx="3">
                  <c:v>17</c:v>
                </c:pt>
                <c:pt idx="4">
                  <c:v>17</c:v>
                </c:pt>
                <c:pt idx="5">
                  <c:v>17</c:v>
                </c:pt>
                <c:pt idx="6">
                  <c:v>17</c:v>
                </c:pt>
                <c:pt idx="7">
                  <c:v>17</c:v>
                </c:pt>
                <c:pt idx="8">
                  <c:v>17</c:v>
                </c:pt>
                <c:pt idx="9">
                  <c:v>17</c:v>
                </c:pt>
                <c:pt idx="10">
                  <c:v>17</c:v>
                </c:pt>
                <c:pt idx="11">
                  <c:v>17</c:v>
                </c:pt>
              </c:numCache>
            </c:numRef>
          </c:val>
          <c:smooth val="0"/>
          <c:extLst>
            <c:ext xmlns:c16="http://schemas.microsoft.com/office/drawing/2014/chart" uri="{C3380CC4-5D6E-409C-BE32-E72D297353CC}">
              <c16:uniqueId val="{00000000-39BA-43F7-838F-DB44C72A4044}"/>
            </c:ext>
          </c:extLst>
        </c:ser>
        <c:dLbls>
          <c:dLblPos val="ctr"/>
          <c:showLegendKey val="0"/>
          <c:showVal val="1"/>
          <c:showCatName val="0"/>
          <c:showSerName val="0"/>
          <c:showPercent val="0"/>
          <c:showBubbleSize val="0"/>
        </c:dLbls>
        <c:marker val="1"/>
        <c:smooth val="0"/>
        <c:axId val="322939128"/>
        <c:axId val="322941088"/>
      </c:lineChart>
      <c:catAx>
        <c:axId val="322939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41088"/>
        <c:crosses val="autoZero"/>
        <c:auto val="1"/>
        <c:lblAlgn val="ctr"/>
        <c:lblOffset val="100"/>
        <c:noMultiLvlLbl val="0"/>
      </c:catAx>
      <c:valAx>
        <c:axId val="322941088"/>
        <c:scaling>
          <c:orientation val="minMax"/>
          <c:min val="1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39128"/>
        <c:crosses val="autoZero"/>
        <c:crossBetween val="between"/>
      </c:valAx>
      <c:spPr>
        <a:noFill/>
        <a:ln>
          <a:noFill/>
        </a:ln>
        <a:effectLst/>
      </c:spPr>
    </c:plotArea>
    <c:legend>
      <c:legendPos val="b"/>
      <c:layout>
        <c:manualLayout>
          <c:xMode val="edge"/>
          <c:yMode val="edge"/>
          <c:x val="0.61250891982889899"/>
          <c:y val="0.55532237636395698"/>
          <c:w val="0.35697479887302619"/>
          <c:h val="9.3332332586484101E-2"/>
        </c:manualLayout>
      </c:layout>
      <c:overlay val="0"/>
      <c:spPr>
        <a:solidFill>
          <a:schemeClr val="bg1"/>
        </a:solidFill>
        <a:ln>
          <a:solidFill>
            <a:srgbClr val="00B0F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chemeClr val="tx1"/>
      </a:solid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r>
              <a:rPr lang="en-US" sz="1400" b="1">
                <a:solidFill>
                  <a:schemeClr val="tx1"/>
                </a:solidFill>
              </a:rPr>
              <a:t>Số</a:t>
            </a:r>
            <a:r>
              <a:rPr lang="en-US" sz="1400" b="1" baseline="0">
                <a:solidFill>
                  <a:schemeClr val="tx1"/>
                </a:solidFill>
              </a:rPr>
              <a:t> lượng A350 thiếu động cơ</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00" b="1"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4.9428675307576782E-2"/>
          <c:y val="0.11299278803028311"/>
          <c:w val="0.943893299494588"/>
          <c:h val="0.77445073016708332"/>
        </c:manualLayout>
      </c:layout>
      <c:lineChart>
        <c:grouping val="standard"/>
        <c:varyColors val="0"/>
        <c:ser>
          <c:idx val="0"/>
          <c:order val="0"/>
          <c:tx>
            <c:strRef>
              <c:f>Sheet1!$B$1</c:f>
              <c:strCache>
                <c:ptCount val="1"/>
                <c:pt idx="0">
                  <c:v>NL báo KHPT</c:v>
                </c:pt>
              </c:strCache>
            </c:strRef>
          </c:tx>
          <c:spPr>
            <a:ln w="28575" cap="rnd">
              <a:solidFill>
                <a:schemeClr val="accent1"/>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3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Sheet1!$B$9:$B$32</c:f>
            </c:numRef>
          </c:val>
          <c:smooth val="1"/>
          <c:extLst>
            <c:ext xmlns:c16="http://schemas.microsoft.com/office/drawing/2014/chart" uri="{C3380CC4-5D6E-409C-BE32-E72D297353CC}">
              <c16:uniqueId val="{00000000-7DB7-40A0-96F5-1D2E7AF0F464}"/>
            </c:ext>
          </c:extLst>
        </c:ser>
        <c:ser>
          <c:idx val="1"/>
          <c:order val="1"/>
          <c:tx>
            <c:strRef>
              <c:f>Sheet1!$C$1</c:f>
              <c:strCache>
                <c:ptCount val="1"/>
                <c:pt idx="0">
                  <c:v>KH hiện tại</c:v>
                </c:pt>
              </c:strCache>
            </c:strRef>
          </c:tx>
          <c:spPr>
            <a:ln w="28575" cap="rnd">
              <a:solidFill>
                <a:srgbClr val="FF0000"/>
              </a:solidFill>
              <a:round/>
            </a:ln>
            <a:effectLst/>
          </c:spPr>
          <c:marker>
            <c:symbol val="circle"/>
            <c:size val="20"/>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Sheet1!$A$9:$A$32</c:f>
              <c:strCache>
                <c:ptCount val="12"/>
                <c:pt idx="0">
                  <c:v>Mar-W1</c:v>
                </c:pt>
                <c:pt idx="1">
                  <c:v>Mar-W2</c:v>
                </c:pt>
                <c:pt idx="2">
                  <c:v>Mar-W3</c:v>
                </c:pt>
                <c:pt idx="3">
                  <c:v>Mar-W4</c:v>
                </c:pt>
                <c:pt idx="4">
                  <c:v>Apr-W1</c:v>
                </c:pt>
                <c:pt idx="5">
                  <c:v>Apr-W2</c:v>
                </c:pt>
                <c:pt idx="6">
                  <c:v>Apr-W3</c:v>
                </c:pt>
                <c:pt idx="7">
                  <c:v>Apr-W4</c:v>
                </c:pt>
                <c:pt idx="8">
                  <c:v>May-W1</c:v>
                </c:pt>
                <c:pt idx="9">
                  <c:v>May-W2</c:v>
                </c:pt>
                <c:pt idx="10">
                  <c:v>May-W3</c:v>
                </c:pt>
                <c:pt idx="11">
                  <c:v>May-W4</c:v>
                </c:pt>
              </c:strCache>
            </c:strRef>
          </c:cat>
          <c:val>
            <c:numRef>
              <c:f>Sheet1!$C$9:$C$32</c:f>
              <c:numCache>
                <c:formatCode>General</c:formatCode>
                <c:ptCount val="12"/>
                <c:pt idx="0">
                  <c:v>4</c:v>
                </c:pt>
                <c:pt idx="1">
                  <c:v>4</c:v>
                </c:pt>
                <c:pt idx="2">
                  <c:v>4</c:v>
                </c:pt>
                <c:pt idx="3">
                  <c:v>4</c:v>
                </c:pt>
                <c:pt idx="4">
                  <c:v>4</c:v>
                </c:pt>
                <c:pt idx="5">
                  <c:v>4</c:v>
                </c:pt>
                <c:pt idx="6">
                  <c:v>4</c:v>
                </c:pt>
                <c:pt idx="7">
                  <c:v>4</c:v>
                </c:pt>
                <c:pt idx="8">
                  <c:v>3</c:v>
                </c:pt>
                <c:pt idx="9">
                  <c:v>3</c:v>
                </c:pt>
                <c:pt idx="10">
                  <c:v>3</c:v>
                </c:pt>
                <c:pt idx="11">
                  <c:v>3</c:v>
                </c:pt>
              </c:numCache>
            </c:numRef>
          </c:val>
          <c:smooth val="1"/>
          <c:extLst>
            <c:ext xmlns:c16="http://schemas.microsoft.com/office/drawing/2014/chart" uri="{C3380CC4-5D6E-409C-BE32-E72D297353CC}">
              <c16:uniqueId val="{00000001-7DB7-40A0-96F5-1D2E7AF0F464}"/>
            </c:ext>
          </c:extLst>
        </c:ser>
        <c:dLbls>
          <c:showLegendKey val="0"/>
          <c:showVal val="0"/>
          <c:showCatName val="0"/>
          <c:showSerName val="0"/>
          <c:showPercent val="0"/>
          <c:showBubbleSize val="0"/>
        </c:dLbls>
        <c:marker val="1"/>
        <c:smooth val="0"/>
        <c:axId val="322945400"/>
        <c:axId val="322952456"/>
      </c:lineChart>
      <c:catAx>
        <c:axId val="3229454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1" i="0" u="none" strike="noStrike" kern="1200" baseline="0">
                <a:solidFill>
                  <a:schemeClr val="tx1"/>
                </a:solidFill>
                <a:latin typeface="+mn-lt"/>
                <a:ea typeface="+mn-ea"/>
                <a:cs typeface="+mn-cs"/>
              </a:defRPr>
            </a:pPr>
            <a:endParaRPr lang="en-US"/>
          </a:p>
        </c:txPr>
        <c:crossAx val="322952456"/>
        <c:crosses val="autoZero"/>
        <c:auto val="1"/>
        <c:lblAlgn val="ctr"/>
        <c:lblOffset val="100"/>
        <c:noMultiLvlLbl val="0"/>
      </c:catAx>
      <c:valAx>
        <c:axId val="322952456"/>
        <c:scaling>
          <c:orientation val="minMax"/>
          <c:max val="6"/>
          <c:min val="1"/>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322945400"/>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solidFill>
        <a:schemeClr val="accent1"/>
      </a:solid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cked"/>
        <c:varyColors val="0"/>
        <c:ser>
          <c:idx val="0"/>
          <c:order val="0"/>
          <c:tx>
            <c:strRef>
              <c:f>'Nguồn lực'!$B$3</c:f>
              <c:strCache>
                <c:ptCount val="1"/>
                <c:pt idx="0">
                  <c:v>KB Cũ</c:v>
                </c:pt>
              </c:strCache>
            </c:strRef>
          </c:tx>
          <c:spPr>
            <a:solidFill>
              <a:schemeClr val="bg1">
                <a:lumMod val="85000"/>
                <a:alpha val="50000"/>
              </a:schemeClr>
            </a:solidFill>
            <a:ln>
              <a:noFill/>
            </a:ln>
            <a:effectLst/>
          </c:spPr>
          <c:dLbls>
            <c:delete val="1"/>
          </c:dLbls>
          <c:val>
            <c:numRef>
              <c:f>'Nguồn lực'!$C$3:$AD$3</c:f>
              <c:numCache>
                <c:formatCode>[=0]\ 0;0.##</c:formatCode>
                <c:ptCount val="12"/>
                <c:pt idx="0">
                  <c:v>4</c:v>
                </c:pt>
                <c:pt idx="1">
                  <c:v>4.5</c:v>
                </c:pt>
                <c:pt idx="2">
                  <c:v>4.5</c:v>
                </c:pt>
                <c:pt idx="3">
                  <c:v>4</c:v>
                </c:pt>
                <c:pt idx="4">
                  <c:v>3.5</c:v>
                </c:pt>
                <c:pt idx="5">
                  <c:v>0.5</c:v>
                </c:pt>
                <c:pt idx="6">
                  <c:v>0.5</c:v>
                </c:pt>
                <c:pt idx="7">
                  <c:v>1</c:v>
                </c:pt>
                <c:pt idx="8">
                  <c:v>2</c:v>
                </c:pt>
                <c:pt idx="9">
                  <c:v>2</c:v>
                </c:pt>
                <c:pt idx="10">
                  <c:v>2</c:v>
                </c:pt>
                <c:pt idx="11">
                  <c:v>1</c:v>
                </c:pt>
              </c:numCache>
            </c:numRef>
          </c:val>
          <c:extLst>
            <c:ext xmlns:c16="http://schemas.microsoft.com/office/drawing/2014/chart" uri="{C3380CC4-5D6E-409C-BE32-E72D297353CC}">
              <c16:uniqueId val="{00000000-4D65-4133-A13A-D06D51E9FDF7}"/>
            </c:ext>
          </c:extLst>
        </c:ser>
        <c:dLbls>
          <c:showLegendKey val="0"/>
          <c:showVal val="1"/>
          <c:showCatName val="0"/>
          <c:showSerName val="0"/>
          <c:showPercent val="0"/>
          <c:showBubbleSize val="0"/>
        </c:dLbls>
        <c:axId val="750948664"/>
        <c:axId val="750956584"/>
      </c:areaChart>
      <c:lineChart>
        <c:grouping val="standard"/>
        <c:varyColors val="0"/>
        <c:ser>
          <c:idx val="2"/>
          <c:order val="1"/>
          <c:tx>
            <c:strRef>
              <c:f>'Nguồn lực'!$B$5</c:f>
              <c:strCache>
                <c:ptCount val="1"/>
                <c:pt idx="0">
                  <c:v>KB tốt + giữ giờ</c:v>
                </c:pt>
              </c:strCache>
            </c:strRef>
          </c:tx>
          <c:spPr>
            <a:ln w="25400" cap="rnd">
              <a:solidFill>
                <a:srgbClr val="00B0F0"/>
              </a:solidFill>
              <a:round/>
            </a:ln>
            <a:effectLst/>
          </c:spPr>
          <c:marker>
            <c:symbol val="circle"/>
            <c:size val="25"/>
            <c:spPr>
              <a:solidFill>
                <a:srgbClr val="00B0F0"/>
              </a:solidFill>
              <a:ln w="9525">
                <a:solidFill>
                  <a:srgbClr val="00B0F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lực'!$C$5:$AD$5</c:f>
              <c:numCache>
                <c:formatCode>[=0]\ 0;0.##</c:formatCode>
                <c:ptCount val="12"/>
                <c:pt idx="0">
                  <c:v>4</c:v>
                </c:pt>
                <c:pt idx="1">
                  <c:v>4</c:v>
                </c:pt>
                <c:pt idx="2">
                  <c:v>4</c:v>
                </c:pt>
                <c:pt idx="3">
                  <c:v>4</c:v>
                </c:pt>
                <c:pt idx="4">
                  <c:v>3</c:v>
                </c:pt>
                <c:pt idx="5">
                  <c:v>1.5</c:v>
                </c:pt>
                <c:pt idx="6">
                  <c:v>0.5</c:v>
                </c:pt>
                <c:pt idx="7">
                  <c:v>0.5</c:v>
                </c:pt>
                <c:pt idx="8">
                  <c:v>2</c:v>
                </c:pt>
                <c:pt idx="9">
                  <c:v>1.5</c:v>
                </c:pt>
                <c:pt idx="10">
                  <c:v>1.5</c:v>
                </c:pt>
                <c:pt idx="11">
                  <c:v>2</c:v>
                </c:pt>
              </c:numCache>
            </c:numRef>
          </c:val>
          <c:smooth val="0"/>
          <c:extLst>
            <c:ext xmlns:c16="http://schemas.microsoft.com/office/drawing/2014/chart" uri="{C3380CC4-5D6E-409C-BE32-E72D297353CC}">
              <c16:uniqueId val="{00000002-4D65-4133-A13A-D06D51E9FDF7}"/>
            </c:ext>
          </c:extLst>
        </c:ser>
        <c:ser>
          <c:idx val="4"/>
          <c:order val="2"/>
          <c:tx>
            <c:strRef>
              <c:f>'Nguồn lực'!$B$7</c:f>
              <c:strCache>
                <c:ptCount val="1"/>
                <c:pt idx="0">
                  <c:v>KB Xấu + giữ giờ</c:v>
                </c:pt>
              </c:strCache>
            </c:strRef>
          </c:tx>
          <c:spPr>
            <a:ln w="25400" cap="rnd">
              <a:solidFill>
                <a:srgbClr val="FF0000"/>
              </a:solidFill>
              <a:prstDash val="solid"/>
              <a:round/>
            </a:ln>
            <a:effectLst/>
          </c:spPr>
          <c:marker>
            <c:symbol val="circle"/>
            <c:size val="25"/>
            <c:spPr>
              <a:solidFill>
                <a:srgbClr val="FF0000"/>
              </a:solidFill>
              <a:ln w="9525">
                <a:solidFill>
                  <a:srgbClr val="FF0000"/>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Agency FB" panose="020B0503020202020204" pitchFamily="34" charset="0"/>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val>
            <c:numRef>
              <c:f>'Nguồn lực'!$C$7:$AD$7</c:f>
              <c:numCache>
                <c:formatCode>[=0]\ 0;0.##</c:formatCode>
                <c:ptCount val="12"/>
                <c:pt idx="0">
                  <c:v>4</c:v>
                </c:pt>
                <c:pt idx="1">
                  <c:v>4</c:v>
                </c:pt>
                <c:pt idx="2">
                  <c:v>4</c:v>
                </c:pt>
                <c:pt idx="3">
                  <c:v>4.5</c:v>
                </c:pt>
                <c:pt idx="4">
                  <c:v>4.5</c:v>
                </c:pt>
                <c:pt idx="5">
                  <c:v>3</c:v>
                </c:pt>
                <c:pt idx="6">
                  <c:v>1.5</c:v>
                </c:pt>
                <c:pt idx="7">
                  <c:v>1.5</c:v>
                </c:pt>
                <c:pt idx="8">
                  <c:v>2</c:v>
                </c:pt>
                <c:pt idx="9">
                  <c:v>2.75</c:v>
                </c:pt>
                <c:pt idx="10">
                  <c:v>2</c:v>
                </c:pt>
                <c:pt idx="11">
                  <c:v>2</c:v>
                </c:pt>
              </c:numCache>
            </c:numRef>
          </c:val>
          <c:smooth val="0"/>
          <c:extLst>
            <c:ext xmlns:c16="http://schemas.microsoft.com/office/drawing/2014/chart" uri="{C3380CC4-5D6E-409C-BE32-E72D297353CC}">
              <c16:uniqueId val="{00000004-4D65-4133-A13A-D06D51E9FDF7}"/>
            </c:ext>
          </c:extLst>
        </c:ser>
        <c:dLbls>
          <c:showLegendKey val="0"/>
          <c:showVal val="1"/>
          <c:showCatName val="0"/>
          <c:showSerName val="0"/>
          <c:showPercent val="0"/>
          <c:showBubbleSize val="0"/>
        </c:dLbls>
        <c:marker val="1"/>
        <c:smooth val="0"/>
        <c:axId val="751032904"/>
        <c:axId val="751033624"/>
      </c:lineChart>
      <c:catAx>
        <c:axId val="751032904"/>
        <c:scaling>
          <c:orientation val="minMax"/>
        </c:scaling>
        <c:delete val="0"/>
        <c:axPos val="b"/>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3624"/>
        <c:crosses val="autoZero"/>
        <c:auto val="1"/>
        <c:lblAlgn val="ctr"/>
        <c:lblOffset val="100"/>
        <c:noMultiLvlLbl val="0"/>
      </c:catAx>
      <c:valAx>
        <c:axId val="751033624"/>
        <c:scaling>
          <c:orientation val="minMax"/>
        </c:scaling>
        <c:delete val="0"/>
        <c:axPos val="l"/>
        <c:majorGridlines>
          <c:spPr>
            <a:ln w="9525" cap="flat" cmpd="sng" algn="ctr">
              <a:solidFill>
                <a:schemeClr val="tx1">
                  <a:lumMod val="15000"/>
                  <a:lumOff val="85000"/>
                </a:schemeClr>
              </a:solidFill>
              <a:round/>
            </a:ln>
            <a:effectLst/>
          </c:spPr>
        </c:majorGridlines>
        <c:numFmt formatCode="[=0]\ 0;0.##"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lumMod val="65000"/>
                    <a:lumOff val="35000"/>
                  </a:schemeClr>
                </a:solidFill>
                <a:latin typeface="+mn-lt"/>
                <a:ea typeface="+mn-ea"/>
                <a:cs typeface="+mn-cs"/>
              </a:defRPr>
            </a:pPr>
            <a:endParaRPr lang="en-US"/>
          </a:p>
        </c:txPr>
        <c:crossAx val="751032904"/>
        <c:crosses val="autoZero"/>
        <c:crossBetween val="between"/>
        <c:majorUnit val="1"/>
      </c:valAx>
      <c:valAx>
        <c:axId val="750956584"/>
        <c:scaling>
          <c:orientation val="minMax"/>
          <c:max val="5"/>
        </c:scaling>
        <c:delete val="0"/>
        <c:axPos val="r"/>
        <c:numFmt formatCode="[=0]\ 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50948664"/>
        <c:crosses val="max"/>
        <c:crossBetween val="between"/>
      </c:valAx>
      <c:catAx>
        <c:axId val="750948664"/>
        <c:scaling>
          <c:orientation val="minMax"/>
        </c:scaling>
        <c:delete val="1"/>
        <c:axPos val="b"/>
        <c:majorTickMark val="out"/>
        <c:minorTickMark val="none"/>
        <c:tickLblPos val="nextTo"/>
        <c:crossAx val="750956584"/>
        <c:crosses val="autoZero"/>
        <c:auto val="1"/>
        <c:lblAlgn val="ctr"/>
        <c:lblOffset val="100"/>
        <c:noMultiLvlLbl val="0"/>
      </c:catAx>
      <c:spPr>
        <a:noFill/>
        <a:ln>
          <a:noFill/>
        </a:ln>
        <a:effectLst/>
      </c:spPr>
    </c:plotArea>
    <c:legend>
      <c:legendPos val="b"/>
      <c:layout>
        <c:manualLayout>
          <c:xMode val="edge"/>
          <c:yMode val="edge"/>
          <c:x val="0.15144093610372283"/>
          <c:y val="0.93521153495255305"/>
          <c:w val="0.75508914228530799"/>
          <c:h val="5.1455128914462765E-2"/>
        </c:manualLayout>
      </c:layout>
      <c:overlay val="0"/>
      <c:spPr>
        <a:noFill/>
        <a:ln>
          <a:noFill/>
        </a:ln>
        <a:effectLst/>
      </c:spPr>
      <c:txPr>
        <a:bodyPr rot="0" spcFirstLastPara="1" vertOverflow="ellipsis" vert="horz" wrap="square" anchor="ctr" anchorCtr="1"/>
        <a:lstStyle/>
        <a:p>
          <a:pPr>
            <a:defRPr sz="16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r>
              <a:rPr lang="en-US" sz="1000" dirty="0">
                <a:solidFill>
                  <a:schemeClr val="tx1"/>
                </a:solidFill>
              </a:rPr>
              <a:t>ĐỘI</a:t>
            </a:r>
            <a:r>
              <a:rPr lang="en-US" sz="1000" baseline="0" dirty="0">
                <a:solidFill>
                  <a:schemeClr val="tx1"/>
                </a:solidFill>
              </a:rPr>
              <a:t> </a:t>
            </a:r>
            <a:r>
              <a:rPr lang="en-US" sz="1000" baseline="0">
                <a:solidFill>
                  <a:schemeClr val="tx1"/>
                </a:solidFill>
              </a:rPr>
              <a:t>BAY ATR72</a:t>
            </a:r>
            <a:endParaRPr lang="en-US" sz="1000" dirty="0">
              <a:solidFill>
                <a:schemeClr val="tx1"/>
              </a:solidFill>
            </a:endParaRPr>
          </a:p>
        </c:rich>
      </c:tx>
      <c:overlay val="0"/>
      <c:spPr>
        <a:noFill/>
        <a:ln>
          <a:noFill/>
        </a:ln>
        <a:effectLst/>
      </c:spPr>
      <c:txPr>
        <a:bodyPr rot="0" spcFirstLastPara="1" vertOverflow="ellipsis" vert="horz" wrap="square" anchor="ctr" anchorCtr="1"/>
        <a:lstStyle/>
        <a:p>
          <a:pPr>
            <a:defRPr sz="10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7.6741006124173256E-2"/>
          <c:y val="7.6421014126223277E-2"/>
          <c:w val="0.86908620881679688"/>
          <c:h val="0.76207697550003184"/>
        </c:manualLayout>
      </c:layout>
      <c:barChart>
        <c:barDir val="col"/>
        <c:grouping val="clustered"/>
        <c:varyColors val="0"/>
        <c:ser>
          <c:idx val="3"/>
          <c:order val="0"/>
          <c:tx>
            <c:strRef>
              <c:f>Sheet1!$E$1</c:f>
              <c:strCache>
                <c:ptCount val="1"/>
                <c:pt idx="0">
                  <c:v>ATR AOG</c:v>
                </c:pt>
              </c:strCache>
            </c:strRef>
          </c:tx>
          <c:spPr>
            <a:solidFill>
              <a:schemeClr val="accent6">
                <a:lumMod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Sheet1!$E$10:$E$33</c:f>
              <c:numCache>
                <c:formatCode>General</c:formatCode>
                <c:ptCount val="12"/>
                <c:pt idx="0">
                  <c:v>0</c:v>
                </c:pt>
                <c:pt idx="1">
                  <c:v>0</c:v>
                </c:pt>
                <c:pt idx="2">
                  <c:v>0</c:v>
                </c:pt>
                <c:pt idx="3">
                  <c:v>0</c:v>
                </c:pt>
                <c:pt idx="4">
                  <c:v>0</c:v>
                </c:pt>
                <c:pt idx="5">
                  <c:v>0</c:v>
                </c:pt>
                <c:pt idx="6">
                  <c:v>0</c:v>
                </c:pt>
                <c:pt idx="7">
                  <c:v>0</c:v>
                </c:pt>
                <c:pt idx="8">
                  <c:v>0</c:v>
                </c:pt>
                <c:pt idx="9">
                  <c:v>0</c:v>
                </c:pt>
                <c:pt idx="10">
                  <c:v>0</c:v>
                </c:pt>
                <c:pt idx="11">
                  <c:v>0</c:v>
                </c:pt>
              </c:numCache>
            </c:numRef>
          </c:val>
          <c:extLst>
            <c:ext xmlns:c16="http://schemas.microsoft.com/office/drawing/2014/chart" uri="{C3380CC4-5D6E-409C-BE32-E72D297353CC}">
              <c16:uniqueId val="{00000000-5DD9-45B0-A857-E17C1999913E}"/>
            </c:ext>
          </c:extLst>
        </c:ser>
        <c:dLbls>
          <c:dLblPos val="ctr"/>
          <c:showLegendKey val="0"/>
          <c:showVal val="1"/>
          <c:showCatName val="0"/>
          <c:showSerName val="0"/>
          <c:showPercent val="0"/>
          <c:showBubbleSize val="0"/>
        </c:dLbls>
        <c:gapWidth val="150"/>
        <c:axId val="322954024"/>
        <c:axId val="322950888"/>
      </c:barChart>
      <c:lineChart>
        <c:grouping val="standard"/>
        <c:varyColors val="0"/>
        <c:ser>
          <c:idx val="4"/>
          <c:order val="1"/>
          <c:tx>
            <c:strRef>
              <c:f>Sheet1!$F$1</c:f>
              <c:strCache>
                <c:ptCount val="1"/>
                <c:pt idx="0">
                  <c:v>ATR có thể khai thác</c:v>
                </c:pt>
              </c:strCache>
            </c:strRef>
          </c:tx>
          <c:spPr>
            <a:ln w="28575" cap="rnd">
              <a:solidFill>
                <a:schemeClr val="accent5">
                  <a:lumMod val="60000"/>
                </a:schemeClr>
              </a:solidFill>
              <a:round/>
            </a:ln>
            <a:effectLst/>
          </c:spPr>
          <c:marker>
            <c:symbol val="circle"/>
            <c:size val="20"/>
            <c:spPr>
              <a:solidFill>
                <a:schemeClr val="accent5">
                  <a:lumMod val="60000"/>
                </a:schemeClr>
              </a:solidFill>
              <a:ln w="9525">
                <a:solidFill>
                  <a:schemeClr val="accent5">
                    <a:lumMod val="60000"/>
                  </a:schemeClr>
                </a:solidFill>
              </a:ln>
              <a:effectLst/>
            </c:spPr>
          </c:marker>
          <c:dLbls>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Sheet1!$A$10:$A$33</c:f>
              <c:strCache>
                <c:ptCount val="12"/>
                <c:pt idx="0">
                  <c:v>Jan/25</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Sheet1!$F$10:$F$33</c:f>
              <c:numCache>
                <c:formatCode>General</c:formatCode>
                <c:ptCount val="12"/>
                <c:pt idx="0">
                  <c:v>5</c:v>
                </c:pt>
                <c:pt idx="1">
                  <c:v>5</c:v>
                </c:pt>
                <c:pt idx="2">
                  <c:v>5</c:v>
                </c:pt>
                <c:pt idx="3">
                  <c:v>5</c:v>
                </c:pt>
                <c:pt idx="4">
                  <c:v>5</c:v>
                </c:pt>
                <c:pt idx="5">
                  <c:v>5</c:v>
                </c:pt>
                <c:pt idx="6">
                  <c:v>6</c:v>
                </c:pt>
                <c:pt idx="7">
                  <c:v>6</c:v>
                </c:pt>
                <c:pt idx="8">
                  <c:v>6</c:v>
                </c:pt>
                <c:pt idx="9">
                  <c:v>6</c:v>
                </c:pt>
                <c:pt idx="10">
                  <c:v>6</c:v>
                </c:pt>
                <c:pt idx="11">
                  <c:v>6</c:v>
                </c:pt>
              </c:numCache>
            </c:numRef>
          </c:val>
          <c:smooth val="0"/>
          <c:extLst>
            <c:ext xmlns:c16="http://schemas.microsoft.com/office/drawing/2014/chart" uri="{C3380CC4-5D6E-409C-BE32-E72D297353CC}">
              <c16:uniqueId val="{00000001-5DD9-45B0-A857-E17C1999913E}"/>
            </c:ext>
          </c:extLst>
        </c:ser>
        <c:dLbls>
          <c:showLegendKey val="0"/>
          <c:showVal val="0"/>
          <c:showCatName val="0"/>
          <c:showSerName val="0"/>
          <c:showPercent val="0"/>
          <c:showBubbleSize val="0"/>
        </c:dLbls>
        <c:marker val="1"/>
        <c:smooth val="0"/>
        <c:axId val="322954024"/>
        <c:axId val="322950888"/>
      </c:lineChart>
      <c:catAx>
        <c:axId val="32295402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crossAx val="322950888"/>
        <c:crosses val="autoZero"/>
        <c:auto val="1"/>
        <c:lblAlgn val="ctr"/>
        <c:lblOffset val="100"/>
        <c:noMultiLvlLbl val="0"/>
      </c:catAx>
      <c:valAx>
        <c:axId val="322950888"/>
        <c:scaling>
          <c:orientation val="minMax"/>
          <c:min val="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400" b="1" i="0" u="none" strike="noStrike" kern="1200" baseline="0">
                <a:solidFill>
                  <a:schemeClr val="tx1"/>
                </a:solidFill>
                <a:latin typeface="+mn-lt"/>
                <a:ea typeface="+mn-ea"/>
                <a:cs typeface="+mn-cs"/>
              </a:defRPr>
            </a:pPr>
            <a:endParaRPr lang="en-US"/>
          </a:p>
        </c:txPr>
        <c:crossAx val="322954024"/>
        <c:crosses val="autoZero"/>
        <c:crossBetween val="between"/>
      </c:valAx>
      <c:spPr>
        <a:noFill/>
        <a:ln>
          <a:noFill/>
        </a:ln>
        <a:effectLst/>
      </c:spPr>
    </c:plotArea>
    <c:legend>
      <c:legendPos val="b"/>
      <c:layout>
        <c:manualLayout>
          <c:xMode val="edge"/>
          <c:yMode val="edge"/>
          <c:x val="0.67513027291531713"/>
          <c:y val="6.004108159602075E-2"/>
          <c:w val="0.30713392618610735"/>
          <c:h val="5.4412364558412099E-2"/>
        </c:manualLayout>
      </c:layout>
      <c:overlay val="0"/>
      <c:spPr>
        <a:solidFill>
          <a:schemeClr val="bg1"/>
        </a:solidFill>
        <a:ln>
          <a:solidFill>
            <a:srgbClr val="00FF00"/>
          </a:solid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w="28575">
      <a:solidFill>
        <a:srgbClr val="00B050"/>
      </a:solid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a:lstStyle/>
          <a:p>
            <a:pPr>
              <a:defRPr sz="1600"/>
            </a:pPr>
            <a:r>
              <a:rPr lang="en-US" sz="1600"/>
              <a:t>Số nhân nhượng theo tuần</a:t>
            </a:r>
            <a:endParaRPr lang="vi-VN" sz="1600"/>
          </a:p>
        </c:rich>
      </c:tx>
      <c:overlay val="0"/>
    </c:title>
    <c:autoTitleDeleted val="0"/>
    <c:plotArea>
      <c:layout/>
      <c:barChart>
        <c:barDir val="col"/>
        <c:grouping val="clustered"/>
        <c:varyColors val="0"/>
        <c:ser>
          <c:idx val="0"/>
          <c:order val="0"/>
          <c:tx>
            <c:strRef>
              <c:f>'Data Chart'!$C$35</c:f>
              <c:strCache>
                <c:ptCount val="1"/>
                <c:pt idx="0">
                  <c:v>Last week</c:v>
                </c:pt>
              </c:strCache>
            </c:strRef>
          </c:tx>
          <c:spPr>
            <a:solidFill>
              <a:srgbClr val="FFC00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Chart'!$C$36:$C$41</c:f>
              <c:numCache>
                <c:formatCode>General</c:formatCode>
                <c:ptCount val="6"/>
                <c:pt idx="0">
                  <c:v>0</c:v>
                </c:pt>
                <c:pt idx="1">
                  <c:v>3</c:v>
                </c:pt>
                <c:pt idx="2">
                  <c:v>0</c:v>
                </c:pt>
                <c:pt idx="3">
                  <c:v>1</c:v>
                </c:pt>
                <c:pt idx="4">
                  <c:v>0</c:v>
                </c:pt>
                <c:pt idx="5" formatCode="0">
                  <c:v>4</c:v>
                </c:pt>
              </c:numCache>
            </c:numRef>
          </c:val>
          <c:extLst>
            <c:ext xmlns:c16="http://schemas.microsoft.com/office/drawing/2014/chart" uri="{C3380CC4-5D6E-409C-BE32-E72D297353CC}">
              <c16:uniqueId val="{00000000-7CBE-4F13-978A-9EBC1CFD193A}"/>
            </c:ext>
          </c:extLst>
        </c:ser>
        <c:ser>
          <c:idx val="1"/>
          <c:order val="1"/>
          <c:tx>
            <c:strRef>
              <c:f>'Data Chart'!$D$35</c:f>
              <c:strCache>
                <c:ptCount val="1"/>
                <c:pt idx="0">
                  <c:v>This week</c:v>
                </c:pt>
              </c:strCache>
            </c:strRef>
          </c:tx>
          <c:spPr>
            <a:solidFill>
              <a:srgbClr val="00B0F0"/>
            </a:solidFill>
          </c:spPr>
          <c:invertIfNegative val="0"/>
          <c:dLbls>
            <c:spPr>
              <a:noFill/>
              <a:ln>
                <a:noFill/>
              </a:ln>
              <a:effectLst/>
            </c:spPr>
            <c:txPr>
              <a:bodyPr wrap="square" lIns="38100" tIns="19050" rIns="38100" bIns="19050" anchor="ctr">
                <a:spAutoFit/>
              </a:bodyPr>
              <a:lstStyle/>
              <a:p>
                <a:pPr>
                  <a:defRPr sz="10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'Data Chart'!$A$36:$B$41</c:f>
              <c:strCache>
                <c:ptCount val="6"/>
                <c:pt idx="0">
                  <c:v>A320</c:v>
                </c:pt>
                <c:pt idx="1">
                  <c:v>A321</c:v>
                </c:pt>
                <c:pt idx="2">
                  <c:v>A350</c:v>
                </c:pt>
                <c:pt idx="3">
                  <c:v>B787</c:v>
                </c:pt>
                <c:pt idx="4">
                  <c:v>ATR72</c:v>
                </c:pt>
                <c:pt idx="5">
                  <c:v>Tất cả</c:v>
                </c:pt>
              </c:strCache>
            </c:strRef>
          </c:cat>
          <c:val>
            <c:numRef>
              <c:f>'Data Chart'!$D$36:$D$41</c:f>
              <c:numCache>
                <c:formatCode>General</c:formatCode>
                <c:ptCount val="6"/>
                <c:pt idx="0">
                  <c:v>0</c:v>
                </c:pt>
                <c:pt idx="1">
                  <c:v>3</c:v>
                </c:pt>
                <c:pt idx="2">
                  <c:v>3</c:v>
                </c:pt>
                <c:pt idx="3">
                  <c:v>2</c:v>
                </c:pt>
                <c:pt idx="4">
                  <c:v>0</c:v>
                </c:pt>
                <c:pt idx="5" formatCode="0">
                  <c:v>8</c:v>
                </c:pt>
              </c:numCache>
            </c:numRef>
          </c:val>
          <c:extLst>
            <c:ext xmlns:c16="http://schemas.microsoft.com/office/drawing/2014/chart" uri="{C3380CC4-5D6E-409C-BE32-E72D297353CC}">
              <c16:uniqueId val="{00000001-7CBE-4F13-978A-9EBC1CFD193A}"/>
            </c:ext>
          </c:extLst>
        </c:ser>
        <c:dLbls>
          <c:showLegendKey val="0"/>
          <c:showVal val="0"/>
          <c:showCatName val="0"/>
          <c:showSerName val="0"/>
          <c:showPercent val="0"/>
          <c:showBubbleSize val="0"/>
        </c:dLbls>
        <c:gapWidth val="150"/>
        <c:axId val="318754304"/>
        <c:axId val="318751168"/>
      </c:barChart>
      <c:catAx>
        <c:axId val="318754304"/>
        <c:scaling>
          <c:orientation val="minMax"/>
        </c:scaling>
        <c:delete val="0"/>
        <c:axPos val="b"/>
        <c:numFmt formatCode="General" sourceLinked="0"/>
        <c:majorTickMark val="out"/>
        <c:minorTickMark val="none"/>
        <c:tickLblPos val="nextTo"/>
        <c:txPr>
          <a:bodyPr/>
          <a:lstStyle/>
          <a:p>
            <a:pPr>
              <a:defRPr sz="1000">
                <a:solidFill>
                  <a:schemeClr val="tx1"/>
                </a:solidFill>
              </a:defRPr>
            </a:pPr>
            <a:endParaRPr lang="en-US"/>
          </a:p>
        </c:txPr>
        <c:crossAx val="318751168"/>
        <c:crosses val="autoZero"/>
        <c:auto val="1"/>
        <c:lblAlgn val="ctr"/>
        <c:lblOffset val="100"/>
        <c:noMultiLvlLbl val="0"/>
      </c:catAx>
      <c:valAx>
        <c:axId val="318751168"/>
        <c:scaling>
          <c:orientation val="minMax"/>
        </c:scaling>
        <c:delete val="0"/>
        <c:axPos val="l"/>
        <c:numFmt formatCode="General" sourceLinked="1"/>
        <c:majorTickMark val="out"/>
        <c:minorTickMark val="none"/>
        <c:tickLblPos val="nextTo"/>
        <c:txPr>
          <a:bodyPr/>
          <a:lstStyle/>
          <a:p>
            <a:pPr>
              <a:defRPr sz="1000">
                <a:solidFill>
                  <a:schemeClr val="tx1"/>
                </a:solidFill>
              </a:defRPr>
            </a:pPr>
            <a:endParaRPr lang="en-US"/>
          </a:p>
        </c:txPr>
        <c:crossAx val="318754304"/>
        <c:crosses val="autoZero"/>
        <c:crossBetween val="between"/>
        <c:majorUnit val="4"/>
        <c:minorUnit val="2"/>
      </c:valAx>
    </c:plotArea>
    <c:legend>
      <c:legendPos val="b"/>
      <c:overlay val="0"/>
      <c:txPr>
        <a:bodyPr/>
        <a:lstStyle/>
        <a:p>
          <a:pPr>
            <a:defRPr sz="1000"/>
          </a:pPr>
          <a:endParaRPr lang="en-US"/>
        </a:p>
      </c:txPr>
    </c:legend>
    <c:plotVisOnly val="1"/>
    <c:dispBlanksAs val="gap"/>
    <c:showDLblsOverMax val="0"/>
  </c:chart>
  <c:spPr>
    <a:ln w="12700">
      <a:solidFill>
        <a:schemeClr val="tx1"/>
      </a:solidFill>
    </a:ln>
  </c:spPr>
  <c:txPr>
    <a:bodyPr/>
    <a:lstStyle/>
    <a:p>
      <a:pPr>
        <a:defRPr sz="1200">
          <a:latin typeface="Times New Roman" panose="02020603050405020304" pitchFamily="18" charset="0"/>
          <a:cs typeface="Times New Roman" panose="02020603050405020304" pitchFamily="18" charset="0"/>
        </a:defRPr>
      </a:pPr>
      <a:endParaRPr lang="en-US"/>
    </a:p>
  </c:txPr>
  <c:externalData r:id="rId2">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US" sz="1400" b="1">
                <a:solidFill>
                  <a:schemeClr val="tx1"/>
                </a:solidFill>
              </a:rPr>
              <a:t>Trung bình giờ bay các</a:t>
            </a:r>
            <a:r>
              <a:rPr lang="en-US" sz="1400" b="1" baseline="0">
                <a:solidFill>
                  <a:schemeClr val="tx1"/>
                </a:solidFill>
              </a:rPr>
              <a:t> đội tàu</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44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Week!$A$2</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Week!$E$4:$E$12</c:f>
              <c:numCache>
                <c:formatCode>[h]:mm</c:formatCode>
                <c:ptCount val="9"/>
                <c:pt idx="0">
                  <c:v>6.6967933006535973E-2</c:v>
                </c:pt>
                <c:pt idx="1">
                  <c:v>7.9540703170448063E-2</c:v>
                </c:pt>
                <c:pt idx="2">
                  <c:v>8.8888888888888878E-2</c:v>
                </c:pt>
                <c:pt idx="3">
                  <c:v>0.20572916666666666</c:v>
                </c:pt>
                <c:pt idx="4">
                  <c:v>0.29166666666666685</c:v>
                </c:pt>
                <c:pt idx="5">
                  <c:v>0.28151455026455036</c:v>
                </c:pt>
                <c:pt idx="6">
                  <c:v>0.17549603174603173</c:v>
                </c:pt>
                <c:pt idx="7">
                  <c:v>0.14610690235690255</c:v>
                </c:pt>
                <c:pt idx="8">
                  <c:v>4.328440656565663E-2</c:v>
                </c:pt>
              </c:numCache>
            </c:numRef>
          </c:val>
          <c:extLst>
            <c:ext xmlns:c16="http://schemas.microsoft.com/office/drawing/2014/chart" uri="{C3380CC4-5D6E-409C-BE32-E72D297353CC}">
              <c16:uniqueId val="{00000000-B851-4290-9677-126A9023EC51}"/>
            </c:ext>
          </c:extLst>
        </c:ser>
        <c:ser>
          <c:idx val="6"/>
          <c:order val="1"/>
          <c:tx>
            <c:strRef>
              <c:f>Week!$G$2</c:f>
              <c:strCache>
                <c:ptCount val="1"/>
                <c:pt idx="0">
                  <c:v>Next Week</c:v>
                </c:pt>
              </c:strCache>
            </c:strRef>
          </c:tx>
          <c:spPr>
            <a:solidFill>
              <a:schemeClr val="accent2"/>
            </a:solidFill>
            <a:ln>
              <a:solidFill>
                <a:schemeClr val="accent2"/>
              </a:solidFill>
            </a:ln>
            <a:effectLst/>
          </c:spPr>
          <c:invertIfNegative val="0"/>
          <c:dLbls>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Week!$B$4:$B$12</c:f>
              <c:strCache>
                <c:ptCount val="9"/>
                <c:pt idx="0">
                  <c:v>A320NEO</c:v>
                </c:pt>
                <c:pt idx="1">
                  <c:v>A321CEO</c:v>
                </c:pt>
                <c:pt idx="2">
                  <c:v>A321NEO</c:v>
                </c:pt>
                <c:pt idx="3">
                  <c:v>35A</c:v>
                </c:pt>
                <c:pt idx="4">
                  <c:v>35B</c:v>
                </c:pt>
                <c:pt idx="5">
                  <c:v>78A</c:v>
                </c:pt>
                <c:pt idx="6">
                  <c:v>78B</c:v>
                </c:pt>
                <c:pt idx="7">
                  <c:v>78C</c:v>
                </c:pt>
                <c:pt idx="8">
                  <c:v>ATR</c:v>
                </c:pt>
              </c:strCache>
            </c:strRef>
          </c:cat>
          <c:val>
            <c:numRef>
              <c:f>Week!$K$4:$K$12</c:f>
              <c:numCache>
                <c:formatCode>[h]:mm</c:formatCode>
                <c:ptCount val="9"/>
                <c:pt idx="0">
                  <c:v>6.3704648526077115E-2</c:v>
                </c:pt>
                <c:pt idx="1">
                  <c:v>7.9163495687468416E-2</c:v>
                </c:pt>
                <c:pt idx="2">
                  <c:v>8.8374224478285482E-2</c:v>
                </c:pt>
                <c:pt idx="3">
                  <c:v>0.17635995370370364</c:v>
                </c:pt>
                <c:pt idx="4">
                  <c:v>0.27080817230273768</c:v>
                </c:pt>
                <c:pt idx="5">
                  <c:v>0.28783411949685539</c:v>
                </c:pt>
                <c:pt idx="6">
                  <c:v>0.15389384920634921</c:v>
                </c:pt>
                <c:pt idx="7">
                  <c:v>0.13782731776362375</c:v>
                </c:pt>
                <c:pt idx="8">
                  <c:v>4.3719686948853649E-2</c:v>
                </c:pt>
              </c:numCache>
            </c:numRef>
          </c:val>
          <c:extLst>
            <c:ext xmlns:c16="http://schemas.microsoft.com/office/drawing/2014/chart" uri="{C3380CC4-5D6E-409C-BE32-E72D297353CC}">
              <c16:uniqueId val="{00000001-B851-4290-9677-126A9023EC51}"/>
            </c:ext>
          </c:extLst>
        </c:ser>
        <c:dLbls>
          <c:showLegendKey val="0"/>
          <c:showVal val="0"/>
          <c:showCatName val="0"/>
          <c:showSerName val="0"/>
          <c:showPercent val="0"/>
          <c:showBubbleSize val="0"/>
        </c:dLbls>
        <c:gapWidth val="75"/>
        <c:axId val="1014707104"/>
        <c:axId val="1014707520"/>
      </c:barChart>
      <c:catAx>
        <c:axId val="101470710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520"/>
        <c:crosses val="autoZero"/>
        <c:auto val="1"/>
        <c:lblAlgn val="ctr"/>
        <c:lblOffset val="100"/>
        <c:noMultiLvlLbl val="0"/>
      </c:catAx>
      <c:valAx>
        <c:axId val="1014707520"/>
        <c:scaling>
          <c:orientation val="minMax"/>
        </c:scaling>
        <c:delete val="0"/>
        <c:axPos val="l"/>
        <c:majorGridlines>
          <c:spPr>
            <a:ln w="9525" cap="flat" cmpd="sng" algn="ctr">
              <a:solidFill>
                <a:schemeClr val="tx1">
                  <a:lumMod val="15000"/>
                  <a:lumOff val="85000"/>
                </a:schemeClr>
              </a:solidFill>
              <a:round/>
            </a:ln>
            <a:effectLst/>
          </c:spPr>
        </c:majorGridlines>
        <c:numFmt formatCode="[h]:mm"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1014707104"/>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2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2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r>
              <a:rPr lang="en-GB" sz="1400" b="1">
                <a:solidFill>
                  <a:schemeClr val="tx1"/>
                </a:solidFill>
              </a:rPr>
              <a:t>Số chuyến bay trung bình theo ngày của các Fleet tàu bay trong tuần</a:t>
            </a:r>
            <a:endParaRPr lang="en-US" sz="1400" b="1">
              <a:solidFill>
                <a:schemeClr val="tx1"/>
              </a:solidFill>
            </a:endParaRP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Times New Roman" panose="02020603050405020304" pitchFamily="18" charset="0"/>
              <a:ea typeface="+mn-ea"/>
              <a:cs typeface="Times New Roman" panose="02020603050405020304" pitchFamily="18" charset="0"/>
            </a:defRPr>
          </a:pPr>
          <a:endParaRPr lang="en-US"/>
        </a:p>
      </c:txPr>
    </c:title>
    <c:autoTitleDeleted val="0"/>
    <c:plotArea>
      <c:layout/>
      <c:barChart>
        <c:barDir val="col"/>
        <c:grouping val="clustered"/>
        <c:varyColors val="0"/>
        <c:ser>
          <c:idx val="0"/>
          <c:order val="0"/>
          <c:tx>
            <c:strRef>
              <c:f>Week!$A$15</c:f>
              <c:strCache>
                <c:ptCount val="1"/>
                <c:pt idx="0">
                  <c:v>This Week</c:v>
                </c:pt>
              </c:strCache>
            </c:strRef>
          </c:tx>
          <c:spPr>
            <a:solidFill>
              <a:srgbClr val="0070C0"/>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Week!$I$17:$I$22</c:f>
              <c:numCache>
                <c:formatCode>0.00</c:formatCode>
                <c:ptCount val="6"/>
                <c:pt idx="0">
                  <c:v>6.4761904761904754</c:v>
                </c:pt>
                <c:pt idx="1">
                  <c:v>5.7443609022556386</c:v>
                </c:pt>
                <c:pt idx="2">
                  <c:v>4.5714285714285712</c:v>
                </c:pt>
                <c:pt idx="3">
                  <c:v>2.2285714285714286</c:v>
                </c:pt>
                <c:pt idx="4">
                  <c:v>2.8571428571428577</c:v>
                </c:pt>
                <c:pt idx="5">
                  <c:v>7.5428571428571436</c:v>
                </c:pt>
              </c:numCache>
            </c:numRef>
          </c:val>
          <c:extLst>
            <c:ext xmlns:c16="http://schemas.microsoft.com/office/drawing/2014/chart" uri="{C3380CC4-5D6E-409C-BE32-E72D297353CC}">
              <c16:uniqueId val="{00000000-11D6-4776-8A4D-BD04B7B22FC7}"/>
            </c:ext>
          </c:extLst>
        </c:ser>
        <c:ser>
          <c:idx val="1"/>
          <c:order val="1"/>
          <c:tx>
            <c:strRef>
              <c:f>Week!$K$15</c:f>
              <c:strCache>
                <c:ptCount val="1"/>
                <c:pt idx="0">
                  <c:v>Next Week</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Week!$A$17:$A$22</c:f>
              <c:strCache>
                <c:ptCount val="6"/>
                <c:pt idx="0">
                  <c:v>A320NEO</c:v>
                </c:pt>
                <c:pt idx="1">
                  <c:v>A321CEO</c:v>
                </c:pt>
                <c:pt idx="2">
                  <c:v>A321NEO</c:v>
                </c:pt>
                <c:pt idx="3">
                  <c:v>A350</c:v>
                </c:pt>
                <c:pt idx="4">
                  <c:v>B787</c:v>
                </c:pt>
                <c:pt idx="5">
                  <c:v>ATR72</c:v>
                </c:pt>
              </c:strCache>
            </c:strRef>
          </c:cat>
          <c:val>
            <c:numRef>
              <c:f>Week!$S$17:$S$22</c:f>
              <c:numCache>
                <c:formatCode>0.00</c:formatCode>
                <c:ptCount val="6"/>
                <c:pt idx="0">
                  <c:v>7</c:v>
                </c:pt>
                <c:pt idx="1">
                  <c:v>5.615384615384615</c:v>
                </c:pt>
                <c:pt idx="2">
                  <c:v>5.5714285714285712</c:v>
                </c:pt>
                <c:pt idx="3">
                  <c:v>2.6571428571428575</c:v>
                </c:pt>
                <c:pt idx="4">
                  <c:v>3.0982142857142856</c:v>
                </c:pt>
                <c:pt idx="5">
                  <c:v>7.2000000000000011</c:v>
                </c:pt>
              </c:numCache>
            </c:numRef>
          </c:val>
          <c:extLst>
            <c:ext xmlns:c16="http://schemas.microsoft.com/office/drawing/2014/chart" uri="{C3380CC4-5D6E-409C-BE32-E72D297353CC}">
              <c16:uniqueId val="{00000001-11D6-4776-8A4D-BD04B7B22FC7}"/>
            </c:ext>
          </c:extLst>
        </c:ser>
        <c:dLbls>
          <c:showLegendKey val="0"/>
          <c:showVal val="1"/>
          <c:showCatName val="0"/>
          <c:showSerName val="0"/>
          <c:showPercent val="0"/>
          <c:showBubbleSize val="0"/>
        </c:dLbls>
        <c:gapWidth val="150"/>
        <c:axId val="931954720"/>
        <c:axId val="931955968"/>
      </c:barChart>
      <c:catAx>
        <c:axId val="931954720"/>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5968"/>
        <c:crosses val="autoZero"/>
        <c:auto val="1"/>
        <c:lblAlgn val="ctr"/>
        <c:lblOffset val="100"/>
        <c:noMultiLvlLbl val="0"/>
      </c:catAx>
      <c:valAx>
        <c:axId val="931955968"/>
        <c:scaling>
          <c:orientation val="minMax"/>
        </c:scaling>
        <c:delete val="0"/>
        <c:axPos val="l"/>
        <c:majorGridlines>
          <c:spPr>
            <a:ln w="9525" cap="flat" cmpd="sng" algn="ctr">
              <a:solidFill>
                <a:schemeClr val="tx1">
                  <a:lumMod val="15000"/>
                  <a:lumOff val="85000"/>
                </a:schemeClr>
              </a:solidFill>
              <a:round/>
            </a:ln>
            <a:effectLst/>
          </c:spPr>
        </c:majorGridlines>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931954720"/>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legend>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barChart>
        <c:barDir val="col"/>
        <c:grouping val="clustered"/>
        <c:varyColors val="0"/>
        <c:ser>
          <c:idx val="0"/>
          <c:order val="0"/>
          <c:spPr>
            <a:solidFill>
              <a:srgbClr val="0070C0"/>
            </a:solidFill>
            <a:ln w="9525" cap="flat" cmpd="sng" algn="ctr">
              <a:solidFill>
                <a:srgbClr val="0070C0"/>
              </a:solidFill>
              <a:round/>
            </a:ln>
            <a:effectLst/>
          </c:spPr>
          <c:invertIfNegative val="0"/>
          <c:dPt>
            <c:idx val="0"/>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1-7D9C-4687-8902-DE21E06D82A6}"/>
              </c:ext>
            </c:extLst>
          </c:dPt>
          <c:dPt>
            <c:idx val="1"/>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3-7D9C-4687-8902-DE21E06D82A6}"/>
              </c:ext>
            </c:extLst>
          </c:dPt>
          <c:dPt>
            <c:idx val="2"/>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5-7D9C-4687-8902-DE21E06D82A6}"/>
              </c:ext>
            </c:extLst>
          </c:dPt>
          <c:dPt>
            <c:idx val="3"/>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7-7D9C-4687-8902-DE21E06D82A6}"/>
              </c:ext>
            </c:extLst>
          </c:dPt>
          <c:dPt>
            <c:idx val="4"/>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9-7D9C-4687-8902-DE21E06D82A6}"/>
              </c:ext>
            </c:extLst>
          </c:dPt>
          <c:dPt>
            <c:idx val="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B-7D9C-4687-8902-DE21E06D82A6}"/>
              </c:ext>
            </c:extLst>
          </c:dPt>
          <c:dPt>
            <c:idx val="6"/>
            <c:invertIfNegative val="0"/>
            <c:bubble3D val="0"/>
            <c:spPr>
              <a:solidFill>
                <a:srgbClr val="ED7D31"/>
              </a:solidFill>
              <a:ln w="9525" cap="flat" cmpd="sng" algn="ctr">
                <a:solidFill>
                  <a:srgbClr val="0070C0"/>
                </a:solidFill>
                <a:round/>
              </a:ln>
              <a:effectLst/>
            </c:spPr>
            <c:extLst>
              <c:ext xmlns:c16="http://schemas.microsoft.com/office/drawing/2014/chart" uri="{C3380CC4-5D6E-409C-BE32-E72D297353CC}">
                <c16:uniqueId val="{0000000D-7D9C-4687-8902-DE21E06D82A6}"/>
              </c:ext>
            </c:extLst>
          </c:dPt>
          <c:dPt>
            <c:idx val="15"/>
            <c:invertIfNegative val="0"/>
            <c:bubble3D val="0"/>
            <c:spPr>
              <a:solidFill>
                <a:srgbClr val="0070C0"/>
              </a:solidFill>
              <a:ln w="9525" cap="flat" cmpd="sng" algn="ctr">
                <a:solidFill>
                  <a:srgbClr val="0070C0"/>
                </a:solidFill>
                <a:round/>
              </a:ln>
              <a:effectLst/>
            </c:spPr>
            <c:extLst>
              <c:ext xmlns:c16="http://schemas.microsoft.com/office/drawing/2014/chart" uri="{C3380CC4-5D6E-409C-BE32-E72D297353CC}">
                <c16:uniqueId val="{0000000F-7D9C-4687-8902-DE21E06D82A6}"/>
              </c:ext>
            </c:extLst>
          </c:dPt>
          <c:dLbls>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numRef>
              <c:f>Week!$B$35:$BQ$35</c:f>
              <c:numCache>
                <c:formatCode>d\-mmm</c:formatCode>
                <c:ptCount val="68"/>
                <c:pt idx="0">
                  <c:v>45712</c:v>
                </c:pt>
                <c:pt idx="1">
                  <c:v>45713</c:v>
                </c:pt>
                <c:pt idx="2">
                  <c:v>45714</c:v>
                </c:pt>
                <c:pt idx="3">
                  <c:v>45715</c:v>
                </c:pt>
                <c:pt idx="4">
                  <c:v>45716</c:v>
                </c:pt>
                <c:pt idx="5">
                  <c:v>45717</c:v>
                </c:pt>
                <c:pt idx="6">
                  <c:v>45718</c:v>
                </c:pt>
                <c:pt idx="7">
                  <c:v>45719</c:v>
                </c:pt>
                <c:pt idx="8">
                  <c:v>45720</c:v>
                </c:pt>
                <c:pt idx="9">
                  <c:v>45721</c:v>
                </c:pt>
                <c:pt idx="10">
                  <c:v>45722</c:v>
                </c:pt>
                <c:pt idx="11">
                  <c:v>45723</c:v>
                </c:pt>
                <c:pt idx="12">
                  <c:v>45724</c:v>
                </c:pt>
                <c:pt idx="13">
                  <c:v>45725</c:v>
                </c:pt>
                <c:pt idx="14">
                  <c:v>45726</c:v>
                </c:pt>
                <c:pt idx="15">
                  <c:v>45727</c:v>
                </c:pt>
                <c:pt idx="16">
                  <c:v>45728</c:v>
                </c:pt>
                <c:pt idx="17">
                  <c:v>45729</c:v>
                </c:pt>
                <c:pt idx="18">
                  <c:v>45730</c:v>
                </c:pt>
                <c:pt idx="19">
                  <c:v>45731</c:v>
                </c:pt>
                <c:pt idx="20">
                  <c:v>45732</c:v>
                </c:pt>
                <c:pt idx="21">
                  <c:v>45733</c:v>
                </c:pt>
                <c:pt idx="22">
                  <c:v>45734</c:v>
                </c:pt>
                <c:pt idx="23">
                  <c:v>45735</c:v>
                </c:pt>
                <c:pt idx="24">
                  <c:v>45736</c:v>
                </c:pt>
                <c:pt idx="25">
                  <c:v>45737</c:v>
                </c:pt>
                <c:pt idx="26">
                  <c:v>45738</c:v>
                </c:pt>
                <c:pt idx="27">
                  <c:v>45739</c:v>
                </c:pt>
                <c:pt idx="28">
                  <c:v>45740</c:v>
                </c:pt>
                <c:pt idx="29">
                  <c:v>45741</c:v>
                </c:pt>
                <c:pt idx="30">
                  <c:v>45742</c:v>
                </c:pt>
                <c:pt idx="31">
                  <c:v>45743</c:v>
                </c:pt>
                <c:pt idx="32">
                  <c:v>45744</c:v>
                </c:pt>
                <c:pt idx="33">
                  <c:v>45745</c:v>
                </c:pt>
                <c:pt idx="34">
                  <c:v>45746</c:v>
                </c:pt>
                <c:pt idx="35">
                  <c:v>45747</c:v>
                </c:pt>
                <c:pt idx="36">
                  <c:v>45748</c:v>
                </c:pt>
                <c:pt idx="37">
                  <c:v>45749</c:v>
                </c:pt>
                <c:pt idx="38">
                  <c:v>45750</c:v>
                </c:pt>
                <c:pt idx="39">
                  <c:v>45751</c:v>
                </c:pt>
                <c:pt idx="40">
                  <c:v>45752</c:v>
                </c:pt>
                <c:pt idx="41">
                  <c:v>45753</c:v>
                </c:pt>
                <c:pt idx="42">
                  <c:v>45754</c:v>
                </c:pt>
                <c:pt idx="43">
                  <c:v>45755</c:v>
                </c:pt>
                <c:pt idx="44">
                  <c:v>45756</c:v>
                </c:pt>
                <c:pt idx="45">
                  <c:v>45757</c:v>
                </c:pt>
                <c:pt idx="46">
                  <c:v>45758</c:v>
                </c:pt>
                <c:pt idx="47">
                  <c:v>45759</c:v>
                </c:pt>
                <c:pt idx="48">
                  <c:v>45760</c:v>
                </c:pt>
                <c:pt idx="49">
                  <c:v>45761</c:v>
                </c:pt>
                <c:pt idx="50">
                  <c:v>45762</c:v>
                </c:pt>
                <c:pt idx="51">
                  <c:v>45763</c:v>
                </c:pt>
                <c:pt idx="52">
                  <c:v>45764</c:v>
                </c:pt>
                <c:pt idx="53">
                  <c:v>45765</c:v>
                </c:pt>
                <c:pt idx="54">
                  <c:v>45766</c:v>
                </c:pt>
                <c:pt idx="55">
                  <c:v>45767</c:v>
                </c:pt>
                <c:pt idx="56">
                  <c:v>45768</c:v>
                </c:pt>
                <c:pt idx="57">
                  <c:v>45769</c:v>
                </c:pt>
                <c:pt idx="58">
                  <c:v>45770</c:v>
                </c:pt>
                <c:pt idx="59">
                  <c:v>45771</c:v>
                </c:pt>
                <c:pt idx="60">
                  <c:v>45772</c:v>
                </c:pt>
                <c:pt idx="61">
                  <c:v>45773</c:v>
                </c:pt>
                <c:pt idx="62">
                  <c:v>45774</c:v>
                </c:pt>
                <c:pt idx="63">
                  <c:v>45775</c:v>
                </c:pt>
                <c:pt idx="64">
                  <c:v>45776</c:v>
                </c:pt>
                <c:pt idx="65">
                  <c:v>45777</c:v>
                </c:pt>
              </c:numCache>
            </c:numRef>
          </c:cat>
          <c:val>
            <c:numRef>
              <c:f>Week!$B$36:$BQ$36</c:f>
              <c:numCache>
                <c:formatCode>General</c:formatCode>
                <c:ptCount val="68"/>
                <c:pt idx="0">
                  <c:v>384</c:v>
                </c:pt>
                <c:pt idx="1">
                  <c:v>393</c:v>
                </c:pt>
                <c:pt idx="2">
                  <c:v>393</c:v>
                </c:pt>
                <c:pt idx="3">
                  <c:v>380</c:v>
                </c:pt>
                <c:pt idx="4">
                  <c:v>398</c:v>
                </c:pt>
                <c:pt idx="5">
                  <c:v>395</c:v>
                </c:pt>
                <c:pt idx="6">
                  <c:v>404</c:v>
                </c:pt>
                <c:pt idx="7">
                  <c:v>387</c:v>
                </c:pt>
                <c:pt idx="8">
                  <c:v>387</c:v>
                </c:pt>
                <c:pt idx="9">
                  <c:v>401</c:v>
                </c:pt>
                <c:pt idx="10">
                  <c:v>398</c:v>
                </c:pt>
                <c:pt idx="11">
                  <c:v>417</c:v>
                </c:pt>
                <c:pt idx="12">
                  <c:v>406</c:v>
                </c:pt>
                <c:pt idx="13">
                  <c:v>418</c:v>
                </c:pt>
                <c:pt idx="14">
                  <c:v>411</c:v>
                </c:pt>
                <c:pt idx="15">
                  <c:v>387</c:v>
                </c:pt>
                <c:pt idx="16">
                  <c:v>397</c:v>
                </c:pt>
                <c:pt idx="17">
                  <c:v>409</c:v>
                </c:pt>
                <c:pt idx="18">
                  <c:v>416</c:v>
                </c:pt>
                <c:pt idx="19">
                  <c:v>419</c:v>
                </c:pt>
                <c:pt idx="20">
                  <c:v>420</c:v>
                </c:pt>
                <c:pt idx="21">
                  <c:v>403</c:v>
                </c:pt>
                <c:pt idx="22">
                  <c:v>405</c:v>
                </c:pt>
                <c:pt idx="23">
                  <c:v>402</c:v>
                </c:pt>
                <c:pt idx="24">
                  <c:v>400</c:v>
                </c:pt>
                <c:pt idx="25">
                  <c:v>418</c:v>
                </c:pt>
                <c:pt idx="26">
                  <c:v>398</c:v>
                </c:pt>
                <c:pt idx="27">
                  <c:v>407</c:v>
                </c:pt>
                <c:pt idx="28">
                  <c:v>403</c:v>
                </c:pt>
                <c:pt idx="29">
                  <c:v>399</c:v>
                </c:pt>
                <c:pt idx="30">
                  <c:v>411</c:v>
                </c:pt>
                <c:pt idx="31">
                  <c:v>406</c:v>
                </c:pt>
                <c:pt idx="32">
                  <c:v>418</c:v>
                </c:pt>
                <c:pt idx="33">
                  <c:v>414</c:v>
                </c:pt>
                <c:pt idx="34">
                  <c:v>419</c:v>
                </c:pt>
                <c:pt idx="35">
                  <c:v>426</c:v>
                </c:pt>
                <c:pt idx="36">
                  <c:v>410</c:v>
                </c:pt>
                <c:pt idx="37">
                  <c:v>413</c:v>
                </c:pt>
                <c:pt idx="38">
                  <c:v>409</c:v>
                </c:pt>
                <c:pt idx="39">
                  <c:v>445</c:v>
                </c:pt>
                <c:pt idx="40">
                  <c:v>452</c:v>
                </c:pt>
                <c:pt idx="41">
                  <c:v>445</c:v>
                </c:pt>
                <c:pt idx="42">
                  <c:v>451</c:v>
                </c:pt>
                <c:pt idx="43">
                  <c:v>443</c:v>
                </c:pt>
                <c:pt idx="44">
                  <c:v>414</c:v>
                </c:pt>
                <c:pt idx="45">
                  <c:v>419</c:v>
                </c:pt>
                <c:pt idx="46">
                  <c:v>426</c:v>
                </c:pt>
                <c:pt idx="47">
                  <c:v>414</c:v>
                </c:pt>
                <c:pt idx="48">
                  <c:v>421</c:v>
                </c:pt>
                <c:pt idx="49">
                  <c:v>428</c:v>
                </c:pt>
                <c:pt idx="50">
                  <c:v>409</c:v>
                </c:pt>
                <c:pt idx="51">
                  <c:v>420</c:v>
                </c:pt>
                <c:pt idx="52">
                  <c:v>420</c:v>
                </c:pt>
                <c:pt idx="53">
                  <c:v>419</c:v>
                </c:pt>
                <c:pt idx="54">
                  <c:v>414</c:v>
                </c:pt>
                <c:pt idx="55">
                  <c:v>435</c:v>
                </c:pt>
                <c:pt idx="56">
                  <c:v>429</c:v>
                </c:pt>
                <c:pt idx="57">
                  <c:v>407</c:v>
                </c:pt>
                <c:pt idx="58">
                  <c:v>408</c:v>
                </c:pt>
                <c:pt idx="59">
                  <c:v>417</c:v>
                </c:pt>
                <c:pt idx="60">
                  <c:v>427</c:v>
                </c:pt>
                <c:pt idx="61">
                  <c:v>449</c:v>
                </c:pt>
                <c:pt idx="62">
                  <c:v>460</c:v>
                </c:pt>
                <c:pt idx="63">
                  <c:v>428</c:v>
                </c:pt>
                <c:pt idx="64">
                  <c:v>438</c:v>
                </c:pt>
                <c:pt idx="65">
                  <c:v>451</c:v>
                </c:pt>
              </c:numCache>
            </c:numRef>
          </c:val>
          <c:extLst>
            <c:ext xmlns:c16="http://schemas.microsoft.com/office/drawing/2014/chart" uri="{C3380CC4-5D6E-409C-BE32-E72D297353CC}">
              <c16:uniqueId val="{00000010-7D9C-4687-8902-DE21E06D82A6}"/>
            </c:ext>
          </c:extLst>
        </c:ser>
        <c:dLbls>
          <c:showLegendKey val="0"/>
          <c:showVal val="1"/>
          <c:showCatName val="0"/>
          <c:showSerName val="0"/>
          <c:showPercent val="0"/>
          <c:showBubbleSize val="0"/>
        </c:dLbls>
        <c:gapWidth val="75"/>
        <c:axId val="2029441984"/>
        <c:axId val="2029444064"/>
      </c:barChart>
      <c:dateAx>
        <c:axId val="2029441984"/>
        <c:scaling>
          <c:orientation val="minMax"/>
        </c:scaling>
        <c:delete val="0"/>
        <c:axPos val="b"/>
        <c:numFmt formatCode="d\-mmm"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4064"/>
        <c:crosses val="autoZero"/>
        <c:auto val="1"/>
        <c:lblOffset val="100"/>
        <c:baseTimeUnit val="days"/>
      </c:dateAx>
      <c:valAx>
        <c:axId val="2029444064"/>
        <c:scaling>
          <c:orientation val="minMax"/>
          <c:max val="480"/>
          <c:min val="300"/>
        </c:scaling>
        <c:delete val="0"/>
        <c:axPos val="l"/>
        <c:numFmt formatCode="General" sourceLinked="1"/>
        <c:majorTickMark val="none"/>
        <c:minorTickMark val="none"/>
        <c:tickLblPos val="nextTo"/>
        <c:spPr>
          <a:noFill/>
          <a:ln w="9525">
            <a:solidFill>
              <a:schemeClr val="tx1"/>
            </a:solidFill>
          </a:ln>
          <a:effectLst/>
        </c:spPr>
        <c:txPr>
          <a:bodyPr rot="-60000000" spcFirstLastPara="1" vertOverflow="ellipsis" vert="horz" wrap="square" anchor="ctr" anchorCtr="1"/>
          <a:lstStyle/>
          <a:p>
            <a:pPr>
              <a:defRPr sz="1100" b="0" i="0" u="none" strike="noStrike" kern="1200" baseline="0">
                <a:solidFill>
                  <a:schemeClr val="tx1"/>
                </a:solidFill>
                <a:latin typeface="Times New Roman" panose="02020603050405020304" pitchFamily="18" charset="0"/>
                <a:ea typeface="+mn-ea"/>
                <a:cs typeface="Times New Roman" panose="02020603050405020304" pitchFamily="18" charset="0"/>
              </a:defRPr>
            </a:pPr>
            <a:endParaRPr lang="en-US"/>
          </a:p>
        </c:txPr>
        <c:crossAx val="2029441984"/>
        <c:crosses val="autoZero"/>
        <c:crossBetween val="between"/>
        <c:majorUnit val="30"/>
        <c:minorUnit val="5"/>
      </c:valAx>
      <c:spPr>
        <a:noFill/>
        <a:ln>
          <a:noFill/>
        </a:ln>
        <a:effectLst/>
      </c:spPr>
    </c:plotArea>
    <c:plotVisOnly val="1"/>
    <c:dispBlanksAs val="gap"/>
    <c:showDLblsOverMax val="0"/>
  </c:chart>
  <c:spPr>
    <a:solidFill>
      <a:schemeClr val="bg1"/>
    </a:solidFill>
    <a:ln w="12700" cap="flat" cmpd="sng" algn="ctr">
      <a:solidFill>
        <a:sysClr val="windowText" lastClr="000000"/>
      </a:solidFill>
      <a:round/>
    </a:ln>
    <a:effectLst/>
  </c:spPr>
  <c:txPr>
    <a:bodyPr/>
    <a:lstStyle/>
    <a:p>
      <a:pPr>
        <a:defRPr sz="1100">
          <a:solidFill>
            <a:schemeClr val="tx1"/>
          </a:solidFill>
          <a:latin typeface="Times New Roman" panose="02020603050405020304" pitchFamily="18" charset="0"/>
          <a:cs typeface="Times New Roman" panose="02020603050405020304" pitchFamily="18" charset="0"/>
        </a:defRPr>
      </a:pPr>
      <a:endParaRPr lang="en-US"/>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3">
  <a:schemeClr val="accent6"/>
  <a:schemeClr val="accent5"/>
  <a:schemeClr val="accent4"/>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8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6">
  <cs:axisTitle>
    <cs:lnRef idx="0"/>
    <cs:fillRef idx="0"/>
    <cs:effectRef idx="0"/>
    <cs:fontRef idx="minor">
      <a:schemeClr val="tx1">
        <a:lumMod val="50000"/>
        <a:lumOff val="50000"/>
      </a:schemeClr>
    </cs:fontRef>
    <cs:defRPr sz="900" kern="1200" cap="all"/>
  </cs:axisTitle>
  <cs:category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50000"/>
        <a:lumOff val="50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
  <cs:dataPoint3D>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3D>
  <cs:dataPointLine>
    <cs:lnRef idx="0">
      <cs:styleClr val="auto"/>
    </cs:lnRef>
    <cs:fillRef idx="2">
      <cs:styleClr val="auto"/>
    </cs:fillRef>
    <cs:effectRef idx="1"/>
    <cs:fontRef idx="minor">
      <a:schemeClr val="dk1"/>
    </cs:fontRef>
    <cs:spPr>
      <a:ln w="15875" cap="rnd">
        <a:solidFill>
          <a:schemeClr val="phClr"/>
        </a:solidFill>
        <a:round/>
      </a:ln>
    </cs:spPr>
  </cs:dataPointLine>
  <cs:dataPointMarker>
    <cs:lnRef idx="0">
      <cs:styleClr val="auto"/>
    </cs:lnRef>
    <cs:fillRef idx="2">
      <cs:styleClr val="auto"/>
    </cs:fillRef>
    <cs:effectRef idx="1"/>
    <cs:fontRef idx="minor">
      <a:schemeClr val="dk1"/>
    </cs:fontRef>
    <cs:spPr>
      <a:ln w="9525" cap="flat" cmpd="sng" algn="ctr">
        <a:solidFill>
          <a:schemeClr val="phClr">
            <a:shade val="95000"/>
          </a:schemeClr>
        </a:solidFill>
        <a:round/>
      </a:ln>
    </cs:spPr>
  </cs:dataPointMarker>
  <cs:dataPointMarkerLayout symbol="circle" size="4"/>
  <cs:dataPointWireframe>
    <cs:lnRef idx="0">
      <cs:styleClr val="auto"/>
    </cs:lnRef>
    <cs:fillRef idx="2"/>
    <cs:effectRef idx="0"/>
    <cs:fontRef idx="minor">
      <a:schemeClr val="dk1"/>
    </cs:fontRef>
    <cs:spPr>
      <a:ln w="9525" cap="rnd">
        <a:solidFill>
          <a:schemeClr val="phClr"/>
        </a:solidFill>
        <a:round/>
      </a:ln>
    </cs:spPr>
  </cs:dataPointWireframe>
  <cs:dataTable>
    <cs:lnRef idx="0"/>
    <cs:fillRef idx="0"/>
    <cs:effectRef idx="0"/>
    <cs:fontRef idx="minor">
      <a:schemeClr val="tx1">
        <a:lumMod val="50000"/>
        <a:lumOff val="50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prstDash val="dash"/>
      </a:ln>
    </cs:spPr>
  </cs:dropLine>
  <cs:errorBar>
    <cs:lnRef idx="0"/>
    <cs:fillRef idx="0"/>
    <cs:effectRef idx="0"/>
    <cs:fontRef idx="minor">
      <a:schemeClr val="dk1"/>
    </cs:fontRef>
    <cs:spPr>
      <a:ln w="9525">
        <a:solidFill>
          <a:schemeClr val="tx1">
            <a:lumMod val="50000"/>
            <a:lumOff val="50000"/>
          </a:schemeClr>
        </a:solidFill>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50000"/>
        <a:lumOff val="50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50000"/>
        <a:lumOff val="50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dk1"/>
    </cs:fontRef>
    <cs:spPr>
      <a:ln w="9525">
        <a:solidFill>
          <a:schemeClr val="tx1">
            <a:lumMod val="35000"/>
            <a:lumOff val="65000"/>
          </a:schemeClr>
        </a:solidFill>
        <a:prstDash val="dash"/>
      </a:ln>
    </cs:spPr>
  </cs:seriesLine>
  <cs:title>
    <cs:lnRef idx="0"/>
    <cs:fillRef idx="0"/>
    <cs:effectRef idx="0"/>
    <cs:fontRef idx="minor">
      <a:schemeClr val="tx1">
        <a:lumMod val="50000"/>
        <a:lumOff val="50000"/>
      </a:schemeClr>
    </cs:fontRef>
    <cs:defRPr sz="1400" kern="1200" cap="none" spc="20" baseline="0"/>
  </cs:title>
  <cs:trendline>
    <cs:lnRef idx="0">
      <cs:styleClr val="auto"/>
    </cs:lnRef>
    <cs:fillRef idx="2"/>
    <cs:effectRef idx="0"/>
    <cs:fontRef idx="minor">
      <a:schemeClr val="dk1"/>
    </cs:fontRef>
    <cs:spPr>
      <a:ln w="9525" cap="rnd">
        <a:solidFill>
          <a:schemeClr val="phClr"/>
        </a:solidFill>
      </a:ln>
    </cs:spPr>
  </cs:trendline>
  <cs:trendlineLabel>
    <cs:lnRef idx="0"/>
    <cs:fillRef idx="0"/>
    <cs:effectRef idx="0"/>
    <cs:fontRef idx="minor">
      <a:schemeClr val="tx1">
        <a:lumMod val="50000"/>
        <a:lumOff val="50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50000"/>
        <a:lumOff val="50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1440" tIns="45720" rIns="91440" bIns="45720" rtlCol="0"/>
          <a:lstStyle>
            <a:lvl1pPr algn="r">
              <a:defRPr sz="1200"/>
            </a:lvl1pPr>
          </a:lstStyle>
          <a:p>
            <a:fld id="{64E30043-8C10-7B47-A809-3F1C83F4798E}" type="datetimeFigureOut">
              <a:rPr lang="en-US" smtClean="0"/>
              <a:t>3/3/2025</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041" y="4473893"/>
            <a:ext cx="5608320" cy="3660458"/>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1440" tIns="45720" rIns="91440" bIns="45720" rtlCol="0" anchor="b"/>
          <a:lstStyle>
            <a:lvl1pPr algn="r">
              <a:defRPr sz="1200"/>
            </a:lvl1pPr>
          </a:lstStyle>
          <a:p>
            <a:fld id="{19A373DA-F9AA-A644-86AE-7CBAAC246365}" type="slidenum">
              <a:rPr lang="en-US" smtClean="0"/>
              <a:t>‹#›</a:t>
            </a:fld>
            <a:endParaRPr lang="en-US"/>
          </a:p>
        </p:txBody>
      </p:sp>
    </p:spTree>
    <p:extLst>
      <p:ext uri="{BB962C8B-B14F-4D97-AF65-F5344CB8AC3E}">
        <p14:creationId xmlns:p14="http://schemas.microsoft.com/office/powerpoint/2010/main" val="3310150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
        <p:cNvGrpSpPr/>
        <p:nvPr/>
      </p:nvGrpSpPr>
      <p:grpSpPr>
        <a:xfrm>
          <a:off x="0" y="0"/>
          <a:ext cx="0" cy="0"/>
          <a:chOff x="0" y="0"/>
          <a:chExt cx="0" cy="0"/>
        </a:xfrm>
      </p:grpSpPr>
      <p:sp>
        <p:nvSpPr>
          <p:cNvPr id="23" name="Google Shape;23;g301f5ae314a_0_0: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 name="Google Shape;24;g301f5ae314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606987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9A373DA-F9AA-A644-86AE-7CBAAC246365}" type="slidenum">
              <a:rPr lang="en-US" smtClean="0"/>
              <a:t>1</a:t>
            </a:fld>
            <a:endParaRPr lang="en-US"/>
          </a:p>
        </p:txBody>
      </p:sp>
    </p:spTree>
    <p:extLst>
      <p:ext uri="{BB962C8B-B14F-4D97-AF65-F5344CB8AC3E}">
        <p14:creationId xmlns:p14="http://schemas.microsoft.com/office/powerpoint/2010/main" val="27952602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9A373DA-F9AA-A644-86AE-7CBAAC246365}" type="slidenum">
              <a:rPr lang="en-US" smtClean="0"/>
              <a:t>2</a:t>
            </a:fld>
            <a:endParaRPr lang="en-US"/>
          </a:p>
        </p:txBody>
      </p:sp>
    </p:spTree>
    <p:extLst>
      <p:ext uri="{BB962C8B-B14F-4D97-AF65-F5344CB8AC3E}">
        <p14:creationId xmlns:p14="http://schemas.microsoft.com/office/powerpoint/2010/main" val="3780144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662362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sz="800" dirty="0">
              <a:latin typeface="+mn-lt"/>
            </a:endParaRPr>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C4CC002-4D4A-4293-9E33-071F59E80170}" type="slidenum">
              <a:rPr kumimoji="0" lang="en-US" altLang="en-US" sz="1200" b="0" i="0" u="none" strike="noStrike" kern="1200" cap="none" spc="0" normalizeH="0" baseline="0" noProof="0" smtClean="0">
                <a:ln>
                  <a:noFill/>
                </a:ln>
                <a:solidFill>
                  <a:srgbClr val="000000"/>
                </a:solidFill>
                <a:effectLst/>
                <a:uLnTx/>
                <a:uFillTx/>
                <a:latin typeface="Calibri" panose="020F050202020403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mn-cs"/>
            </a:endParaRPr>
          </a:p>
        </p:txBody>
      </p:sp>
    </p:spTree>
    <p:extLst>
      <p:ext uri="{BB962C8B-B14F-4D97-AF65-F5344CB8AC3E}">
        <p14:creationId xmlns:p14="http://schemas.microsoft.com/office/powerpoint/2010/main" val="32020525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9" name="Slide Image Placeholder 1"/>
          <p:cNvSpPr>
            <a:spLocks noGrp="1" noRot="1" noChangeAspect="1"/>
          </p:cNvSpPr>
          <p:nvPr>
            <p:ph type="sldImg"/>
          </p:nvPr>
        </p:nvSpPr>
        <p:spPr/>
      </p:sp>
      <p:sp>
        <p:nvSpPr>
          <p:cNvPr id="1048600" name="Notes Placeholder 2"/>
          <p:cNvSpPr>
            <a:spLocks noGrp="1"/>
          </p:cNvSpPr>
          <p:nvPr>
            <p:ph type="body" idx="1"/>
          </p:nvPr>
        </p:nvSpPr>
        <p:spPr/>
        <p:txBody>
          <a:bodyPr/>
          <a:lstStyle/>
          <a:p>
            <a:endParaRPr lang="en-US" dirty="0"/>
          </a:p>
        </p:txBody>
      </p:sp>
      <p:sp>
        <p:nvSpPr>
          <p:cNvPr id="1048601"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19A373DA-F9AA-A644-86AE-7CBAAC24636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22172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6</a:t>
            </a:fld>
            <a:endParaRPr/>
          </a:p>
        </p:txBody>
      </p:sp>
    </p:spTree>
    <p:extLst>
      <p:ext uri="{BB962C8B-B14F-4D97-AF65-F5344CB8AC3E}">
        <p14:creationId xmlns:p14="http://schemas.microsoft.com/office/powerpoint/2010/main" val="2378055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4AF5EB47-E03D-0D91-39FC-CC804F8BF772}"/>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FBD9FDC-6CB7-9CDF-6D99-A6F2219A5F7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E6A12EB-B4C3-DAA4-7E0D-96E242DAFFF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78678873-6256-3E24-DC72-D1919FF17EB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944242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37721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8330041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173197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06723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5952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816204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14-Dec </a:t>
            </a:r>
            <a:endParaRPr lang="en-US"/>
          </a:p>
        </p:txBody>
      </p:sp>
      <p:sp>
        <p:nvSpPr>
          <p:cNvPr id="4" name="Slide Number Placeholder 3"/>
          <p:cNvSpPr>
            <a:spLocks noGrp="1"/>
          </p:cNvSpPr>
          <p:nvPr>
            <p:ph type="sldNum" sz="quarter" idx="10"/>
          </p:nvPr>
        </p:nvSpPr>
        <p:spPr/>
        <p:txBody>
          <a:bodyPr/>
          <a:lstStyle/>
          <a:p>
            <a:fld id="{D27FAC9D-6C4D-45A1-835A-6091318B370B}" type="slidenum">
              <a:rPr lang="en-US" smtClean="0"/>
              <a:pPr/>
              <a:t>14</a:t>
            </a:fld>
            <a:endParaRPr lang="en-US" dirty="0"/>
          </a:p>
        </p:txBody>
      </p:sp>
    </p:spTree>
    <p:extLst>
      <p:ext uri="{BB962C8B-B14F-4D97-AF65-F5344CB8AC3E}">
        <p14:creationId xmlns:p14="http://schemas.microsoft.com/office/powerpoint/2010/main" val="29477395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A869 14-Jul-24 HAN-DAD GTB STS: ELEC BRAKE POWER UNIT LO. A/C came back to gate </a:t>
            </a:r>
            <a:r>
              <a:rPr lang="en-US" b="1" dirty="0">
                <a:sym typeface="Wingdings" panose="05000000000000000000" pitchFamily="2" charset="2"/>
              </a:rPr>
              <a:t> </a:t>
            </a:r>
            <a:r>
              <a:rPr lang="en-US" b="1" dirty="0" err="1">
                <a:sym typeface="Wingdings" panose="05000000000000000000" pitchFamily="2" charset="2"/>
              </a:rPr>
              <a:t>thay</a:t>
            </a:r>
            <a:r>
              <a:rPr lang="en-US" b="1" dirty="0">
                <a:sym typeface="Wingdings" panose="05000000000000000000" pitchFamily="2" charset="2"/>
              </a:rPr>
              <a:t> contactor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87-FTD-24-14005 Failure of the Hot Battery Bus (HBB) contactor coil that results in a short, can propagate the failure to the EBPSU contactor driver thereby damaging the EBPSU. EBPSU damage will trigger the "ELEC BRAKE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POWER UNIT" EICAS status message identifying an EBPSU failure.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 operator reported one event that resulted in damage to 4 EBPSUs. In this case the shorted contactor was not replaced prior to installing the new EBPSU's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LI ® MM 24-43611 - Left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LO®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RI ®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RO ® 24-43622 Center 2 Electric Brake Power Supply Unit is failed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068040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A869 14-Jul-24 HAN-DAD GTB STS: ELEC BRAKE POWER UNIT LO. A/C came back to gate </a:t>
            </a:r>
            <a:r>
              <a:rPr lang="en-US" b="1" dirty="0">
                <a:sym typeface="Wingdings" panose="05000000000000000000" pitchFamily="2" charset="2"/>
              </a:rPr>
              <a:t> </a:t>
            </a:r>
            <a:r>
              <a:rPr lang="en-US" b="1" dirty="0" err="1">
                <a:sym typeface="Wingdings" panose="05000000000000000000" pitchFamily="2" charset="2"/>
              </a:rPr>
              <a:t>thay</a:t>
            </a:r>
            <a:r>
              <a:rPr lang="en-US" b="1" dirty="0">
                <a:sym typeface="Wingdings" panose="05000000000000000000" pitchFamily="2" charset="2"/>
              </a:rPr>
              <a:t> contactor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87-FTD-24-14005 Failure of the Hot Battery Bus (HBB) contactor coil that results in a short, can propagate the failure to the EBPSU contactor driver thereby damaging the EBPSU. EBPSU damage will trigger the "ELEC BRAKE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POWER UNIT" EICAS status message identifying an EBPSU failure.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 operator reported one event that resulted in damage to 4 EBPSUs. In this case the shorted contactor was not replaced prior to installing the new EBPSU's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LI ® MM 24-43611 - Left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LO®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RI ®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RO ® 24-43622 Center 2 Electric Brake Power Supply Unit is failed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9102645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A869 14-Jul-24 HAN-DAD GTB STS: ELEC BRAKE POWER UNIT LO. A/C came back to gate </a:t>
            </a:r>
            <a:r>
              <a:rPr lang="en-US" b="1" dirty="0">
                <a:sym typeface="Wingdings" panose="05000000000000000000" pitchFamily="2" charset="2"/>
              </a:rPr>
              <a:t> </a:t>
            </a:r>
            <a:r>
              <a:rPr lang="en-US" b="1" dirty="0" err="1">
                <a:sym typeface="Wingdings" panose="05000000000000000000" pitchFamily="2" charset="2"/>
              </a:rPr>
              <a:t>thay</a:t>
            </a:r>
            <a:r>
              <a:rPr lang="en-US" b="1" dirty="0">
                <a:sym typeface="Wingdings" panose="05000000000000000000" pitchFamily="2" charset="2"/>
              </a:rPr>
              <a:t> contactor</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87-FTD-24-14005 Failure of the Hot Battery Bus (HBB) contactor coil that results in a short, can propagate the failure to the EBPSU contactor driver thereby damaging the EBPSU. EBPSU damage will trigger the "ELEC BRAKE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POWER UNIT" EICAS status message identifying an EBPSU failure.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An operator reported one event that resulted in damage to 4 EBPSUs. In this case the shorted contactor was not replaced prior to installing the new EBPSU's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LI ® MM 24-43611 - Left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LO®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RI ® MM 24-43612 - Right Electric Brake Power Supply Unit is failed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ELEC BRAKE POWER UNIT RO ® 24-43622 Center 2 Electric Brake Power Supply Unit is failed</a:t>
            </a:r>
          </a:p>
          <a:p>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70427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18</a:t>
            </a:fld>
            <a:endParaRPr lang="en-US" altLang="en-US">
              <a:solidFill>
                <a:srgbClr val="000000"/>
              </a:solidFill>
            </a:endParaRPr>
          </a:p>
        </p:txBody>
      </p:sp>
    </p:spTree>
    <p:extLst>
      <p:ext uri="{BB962C8B-B14F-4D97-AF65-F5344CB8AC3E}">
        <p14:creationId xmlns:p14="http://schemas.microsoft.com/office/powerpoint/2010/main" val="41359332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5125FDB2-27E1-9377-DBBD-DFFA8321F261}"/>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0D681CF1-17CC-AFF9-11AC-217D14FDF96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EE6DD6C9-BAEE-6753-BE87-8E1F6249842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A9790D4-8A59-6CB8-4B30-291C61C21E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9113373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20</a:t>
            </a:fld>
            <a:endParaRPr/>
          </a:p>
        </p:txBody>
      </p:sp>
    </p:spTree>
    <p:extLst>
      <p:ext uri="{BB962C8B-B14F-4D97-AF65-F5344CB8AC3E}">
        <p14:creationId xmlns:p14="http://schemas.microsoft.com/office/powerpoint/2010/main" val="41760671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21</a:t>
            </a:fld>
            <a:endParaRPr/>
          </a:p>
        </p:txBody>
      </p:sp>
    </p:spTree>
    <p:extLst>
      <p:ext uri="{BB962C8B-B14F-4D97-AF65-F5344CB8AC3E}">
        <p14:creationId xmlns:p14="http://schemas.microsoft.com/office/powerpoint/2010/main" val="9771180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6D6698A7-A523-FA8F-1560-38B78DE6C5C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D2FE96-8DD4-7F86-2AD5-717EFC1A57E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7893F7A7-EB19-4D7A-3CFF-F28D2ED9E1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3163EDE2-855A-FFA1-3437-7A3D1A0D74D5}"/>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8634910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23</a:t>
            </a:fld>
            <a:endParaRPr/>
          </a:p>
        </p:txBody>
      </p:sp>
    </p:spTree>
    <p:extLst>
      <p:ext uri="{BB962C8B-B14F-4D97-AF65-F5344CB8AC3E}">
        <p14:creationId xmlns:p14="http://schemas.microsoft.com/office/powerpoint/2010/main" val="11312558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24</a:t>
            </a:fld>
            <a:endParaRPr/>
          </a:p>
        </p:txBody>
      </p:sp>
    </p:spTree>
    <p:extLst>
      <p:ext uri="{BB962C8B-B14F-4D97-AF65-F5344CB8AC3E}">
        <p14:creationId xmlns:p14="http://schemas.microsoft.com/office/powerpoint/2010/main" val="19390159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F9B03CD1-C0E6-1C7C-34ED-254B01290D96}"/>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DBBAABCF-6E17-65AB-19CF-B8E318AFA7D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9D557719-C459-58BF-9F1E-C946E9A38FEC}"/>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9EE1A640-ADF2-5D4E-64B5-18E39B9B4A4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57251665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p>
        </p:txBody>
      </p:sp>
      <p:sp>
        <p:nvSpPr>
          <p:cNvPr id="368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fontAlgn="base">
              <a:spcBef>
                <a:spcPct val="0"/>
              </a:spcBef>
              <a:spcAft>
                <a:spcPct val="0"/>
              </a:spcAft>
            </a:pPr>
            <a:fld id="{5A07728F-659E-4563-8681-F0461742A695}" type="slidenum">
              <a:rPr lang="en-US" altLang="en-US" smtClean="0">
                <a:solidFill>
                  <a:srgbClr val="000000"/>
                </a:solidFill>
              </a:rPr>
              <a:pPr fontAlgn="base">
                <a:spcBef>
                  <a:spcPct val="0"/>
                </a:spcBef>
                <a:spcAft>
                  <a:spcPct val="0"/>
                </a:spcAft>
              </a:pPr>
              <a:t>26</a:t>
            </a:fld>
            <a:endParaRPr lang="en-US" altLang="en-US">
              <a:solidFill>
                <a:srgbClr val="000000"/>
              </a:solidFill>
            </a:endParaRPr>
          </a:p>
        </p:txBody>
      </p:sp>
    </p:spTree>
    <p:extLst>
      <p:ext uri="{BB962C8B-B14F-4D97-AF65-F5344CB8AC3E}">
        <p14:creationId xmlns:p14="http://schemas.microsoft.com/office/powerpoint/2010/main" val="3727637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FC104A0-13B4-310F-A29D-C2D066A04A15}"/>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248459CD-70C2-5C9B-A2E9-60B9628C0AE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46DBF351-C24B-1104-8F07-A554E6D4FF1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753D8A8-F896-0803-20E6-3DC18FF98DD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64884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2E53086E-BA67-F7D5-601D-3BC64674159C}"/>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8FB9FFF4-B94A-8ACE-FF47-53997CD9131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C96A7E5F-0647-77E9-FE53-9444D066EE3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04A1ED49-3ACD-63F1-EFEE-FC3D6B3AAD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28</a:t>
            </a:fld>
            <a:endParaRPr/>
          </a:p>
        </p:txBody>
      </p:sp>
    </p:spTree>
    <p:extLst>
      <p:ext uri="{BB962C8B-B14F-4D97-AF65-F5344CB8AC3E}">
        <p14:creationId xmlns:p14="http://schemas.microsoft.com/office/powerpoint/2010/main" val="40474781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B0F878AF-BBDD-C6ED-7AD5-5B685E158E0F}"/>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72F52688-1CC4-541B-43BC-86DB6E07C05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ED4F4CC-70E6-F17D-4EB8-ECA86EB25FE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578DA26F-93B7-623C-25F5-0AA25B416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29</a:t>
            </a:fld>
            <a:endParaRPr/>
          </a:p>
        </p:txBody>
      </p:sp>
    </p:spTree>
    <p:extLst>
      <p:ext uri="{BB962C8B-B14F-4D97-AF65-F5344CB8AC3E}">
        <p14:creationId xmlns:p14="http://schemas.microsoft.com/office/powerpoint/2010/main" val="55316974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2FA8-72AD-740C-B2A4-D59CA329E2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13B04E-D2CA-6404-597A-9282068096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E61739-826D-7AAF-B33B-18FF92150DF4}"/>
              </a:ext>
            </a:extLst>
          </p:cNvPr>
          <p:cNvSpPr>
            <a:spLocks noGrp="1"/>
          </p:cNvSpPr>
          <p:nvPr>
            <p:ph type="body" idx="1"/>
          </p:nvPr>
        </p:nvSpPr>
        <p:spPr/>
        <p:txBody>
          <a:bodyPr/>
          <a:lstStyle/>
          <a:p>
            <a:endParaRPr lang="en-US" sz="120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676FAD88-11AB-C429-5B65-435A43FFA940}"/>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7666ED7-631A-46AF-B451-227D0A8685A0}"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379907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A7C44048-5E54-913D-6718-81ADD22A47C0}"/>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C3F2927F-22E1-2406-3F6D-272971FBB35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F3BCC66C-F401-1539-F528-5C627ACEAA0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29AD5FCB-0938-657E-F99F-296B870A9CD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31</a:t>
            </a:fld>
            <a:endParaRPr/>
          </a:p>
        </p:txBody>
      </p:sp>
    </p:spTree>
    <p:extLst>
      <p:ext uri="{BB962C8B-B14F-4D97-AF65-F5344CB8AC3E}">
        <p14:creationId xmlns:p14="http://schemas.microsoft.com/office/powerpoint/2010/main" val="38116492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E26068CF-38DB-1D6C-6DC7-F7D2D084AA39}"/>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65B994C1-1E18-D0D0-66A3-BAFA78B7E1C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2F0393F5-5A1F-BE21-BFE8-F6468BBE159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4DCB08EB-58F1-3868-A15A-E5412B0FB1B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32</a:t>
            </a:fld>
            <a:endParaRPr/>
          </a:p>
        </p:txBody>
      </p:sp>
    </p:spTree>
    <p:extLst>
      <p:ext uri="{BB962C8B-B14F-4D97-AF65-F5344CB8AC3E}">
        <p14:creationId xmlns:p14="http://schemas.microsoft.com/office/powerpoint/2010/main" val="172916858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a:extLst>
            <a:ext uri="{FF2B5EF4-FFF2-40B4-BE49-F238E27FC236}">
              <a16:creationId xmlns:a16="http://schemas.microsoft.com/office/drawing/2014/main" id="{345BC7C4-A2AF-0A92-C797-AFA7332B9B77}"/>
            </a:ext>
          </a:extLst>
        </p:cNvPr>
        <p:cNvGrpSpPr/>
        <p:nvPr/>
      </p:nvGrpSpPr>
      <p:grpSpPr>
        <a:xfrm>
          <a:off x="0" y="0"/>
          <a:ext cx="0" cy="0"/>
          <a:chOff x="0" y="0"/>
          <a:chExt cx="0" cy="0"/>
        </a:xfrm>
      </p:grpSpPr>
      <p:sp>
        <p:nvSpPr>
          <p:cNvPr id="32" name="Google Shape;32;g301f5ae314a_0_9:notes">
            <a:extLst>
              <a:ext uri="{FF2B5EF4-FFF2-40B4-BE49-F238E27FC236}">
                <a16:creationId xmlns:a16="http://schemas.microsoft.com/office/drawing/2014/main" id="{1DE54FAD-9C5B-FBB2-4944-B4F81AD9ACD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a:extLst>
              <a:ext uri="{FF2B5EF4-FFF2-40B4-BE49-F238E27FC236}">
                <a16:creationId xmlns:a16="http://schemas.microsoft.com/office/drawing/2014/main" id="{8D2EAB10-7BA4-F850-28F0-A084C51F22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a:extLst>
              <a:ext uri="{FF2B5EF4-FFF2-40B4-BE49-F238E27FC236}">
                <a16:creationId xmlns:a16="http://schemas.microsoft.com/office/drawing/2014/main" id="{8983371B-1407-FBAF-7F23-5A67DD72E0C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vi"/>
              <a:t>33</a:t>
            </a:fld>
            <a:endParaRPr/>
          </a:p>
        </p:txBody>
      </p:sp>
    </p:spTree>
    <p:extLst>
      <p:ext uri="{BB962C8B-B14F-4D97-AF65-F5344CB8AC3E}">
        <p14:creationId xmlns:p14="http://schemas.microsoft.com/office/powerpoint/2010/main" val="15892453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43</a:t>
            </a:fld>
            <a:endParaRPr/>
          </a:p>
        </p:txBody>
      </p:sp>
    </p:spTree>
    <p:extLst>
      <p:ext uri="{BB962C8B-B14F-4D97-AF65-F5344CB8AC3E}">
        <p14:creationId xmlns:p14="http://schemas.microsoft.com/office/powerpoint/2010/main" val="35438488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44</a:t>
            </a:fld>
            <a:endParaRPr/>
          </a:p>
        </p:txBody>
      </p:sp>
    </p:spTree>
    <p:extLst>
      <p:ext uri="{BB962C8B-B14F-4D97-AF65-F5344CB8AC3E}">
        <p14:creationId xmlns:p14="http://schemas.microsoft.com/office/powerpoint/2010/main" val="28088708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 name="Google Shape;72;p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3" name="Google Shape;73;p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45</a:t>
            </a:fld>
            <a:endParaRPr/>
          </a:p>
        </p:txBody>
      </p:sp>
    </p:spTree>
    <p:extLst>
      <p:ext uri="{BB962C8B-B14F-4D97-AF65-F5344CB8AC3E}">
        <p14:creationId xmlns:p14="http://schemas.microsoft.com/office/powerpoint/2010/main" val="39246483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rtl="0">
              <a:lnSpc>
                <a:spcPct val="100000"/>
              </a:lnSpc>
              <a:spcBef>
                <a:spcPts val="0"/>
              </a:spcBef>
              <a:spcAft>
                <a:spcPts val="0"/>
              </a:spcAft>
              <a:buClr>
                <a:srgbClr val="000000"/>
              </a:buClr>
              <a:buSzPts val="1300"/>
              <a:buFont typeface="Times New Roman"/>
              <a:buNone/>
            </a:pPr>
            <a:fld id="{00000000-1234-1234-1234-123412341234}" type="slidenum">
              <a:rPr lang="en-US" sz="1300" b="0" i="0" u="none" strike="noStrike" cap="none">
                <a:solidFill>
                  <a:srgbClr val="000000"/>
                </a:solidFill>
                <a:latin typeface="Times New Roman"/>
                <a:ea typeface="Times New Roman"/>
                <a:cs typeface="Times New Roman"/>
                <a:sym typeface="Times New Roman"/>
              </a:rPr>
              <a:t>46</a:t>
            </a:fld>
            <a:endParaRPr sz="130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18918808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2bf661c5817_1_224:notes"/>
          <p:cNvSpPr>
            <a:spLocks noGrp="1" noRot="1" noChangeAspect="1"/>
          </p:cNvSpPr>
          <p:nvPr>
            <p:ph type="sldImg" idx="2"/>
          </p:nvPr>
        </p:nvSpPr>
        <p:spPr>
          <a:xfrm>
            <a:off x="877888" y="1260475"/>
            <a:ext cx="6048375" cy="340201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g2bf661c5817_1_224:notes"/>
          <p:cNvSpPr txBox="1">
            <a:spLocks noGrp="1"/>
          </p:cNvSpPr>
          <p:nvPr>
            <p:ph type="body" idx="1"/>
          </p:nvPr>
        </p:nvSpPr>
        <p:spPr>
          <a:xfrm>
            <a:off x="780289" y="4851612"/>
            <a:ext cx="6242100" cy="3969600"/>
          </a:xfrm>
          <a:prstGeom prst="rect">
            <a:avLst/>
          </a:prstGeom>
          <a:noFill/>
          <a:ln>
            <a:noFill/>
          </a:ln>
        </p:spPr>
        <p:txBody>
          <a:bodyPr spcFirstLastPara="1" wrap="square" lIns="97000" tIns="48500" rIns="97000" bIns="48500" anchor="t" anchorCtr="0">
            <a:noAutofit/>
          </a:bodyPr>
          <a:lstStyle/>
          <a:p>
            <a:pPr marL="0" lvl="0" indent="0" algn="l" rtl="0">
              <a:lnSpc>
                <a:spcPct val="100000"/>
              </a:lnSpc>
              <a:spcBef>
                <a:spcPts val="0"/>
              </a:spcBef>
              <a:spcAft>
                <a:spcPts val="0"/>
              </a:spcAft>
              <a:buClr>
                <a:schemeClr val="dk1"/>
              </a:buClr>
              <a:buSzPts val="1500"/>
              <a:buFont typeface="Calibri"/>
              <a:buNone/>
            </a:pPr>
            <a:endParaRPr sz="1500" dirty="0"/>
          </a:p>
        </p:txBody>
      </p:sp>
      <p:sp>
        <p:nvSpPr>
          <p:cNvPr id="196" name="Google Shape;196;g2bf661c5817_1_224:notes"/>
          <p:cNvSpPr txBox="1">
            <a:spLocks noGrp="1"/>
          </p:cNvSpPr>
          <p:nvPr>
            <p:ph type="sldNum" idx="12"/>
          </p:nvPr>
        </p:nvSpPr>
        <p:spPr>
          <a:xfrm>
            <a:off x="4419826" y="9575461"/>
            <a:ext cx="3381300" cy="505800"/>
          </a:xfrm>
          <a:prstGeom prst="rect">
            <a:avLst/>
          </a:prstGeom>
          <a:noFill/>
          <a:ln>
            <a:noFill/>
          </a:ln>
        </p:spPr>
        <p:txBody>
          <a:bodyPr spcFirstLastPara="1" wrap="square" lIns="97000" tIns="48500" rIns="97000" bIns="48500" anchor="b" anchorCtr="0">
            <a:noAutofit/>
          </a:bodyPr>
          <a:lstStyle/>
          <a:p>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fld id="{00000000-1234-1234-1234-123412341234}" type="slidenum">
              <a:rPr kumimoji="0" lang="en-US"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rPr>
              <a:pPr marL="0" marR="0" lvl="0" indent="0" algn="r" defTabSz="914400" rtl="0" eaLnBrk="1" fontAlgn="base" latinLnBrk="0" hangingPunct="1">
                <a:lnSpc>
                  <a:spcPct val="100000"/>
                </a:lnSpc>
                <a:spcBef>
                  <a:spcPts val="0"/>
                </a:spcBef>
                <a:spcAft>
                  <a:spcPts val="0"/>
                </a:spcAft>
                <a:buClr>
                  <a:srgbClr val="000000"/>
                </a:buClr>
                <a:buSzPts val="1300"/>
                <a:buFont typeface="Times New Roman"/>
                <a:buNone/>
                <a:tabLst/>
                <a:defRPr/>
              </a:pPr>
              <a:t>47</a:t>
            </a:fld>
            <a:endParaRPr kumimoji="0" sz="1300" b="0" i="0" u="none" strike="noStrike" kern="1200" cap="none" spc="0" normalizeH="0" baseline="0" noProof="0">
              <a:ln>
                <a:noFill/>
              </a:ln>
              <a:solidFill>
                <a:srgbClr val="000000"/>
              </a:solidFill>
              <a:effectLst/>
              <a:uLnTx/>
              <a:uFillTx/>
              <a:latin typeface="Times New Roman"/>
              <a:ea typeface="Times New Roman"/>
              <a:cs typeface="Times New Roman"/>
              <a:sym typeface="Times New Roman"/>
            </a:endParaRPr>
          </a:p>
        </p:txBody>
      </p:sp>
    </p:spTree>
    <p:extLst>
      <p:ext uri="{BB962C8B-B14F-4D97-AF65-F5344CB8AC3E}">
        <p14:creationId xmlns:p14="http://schemas.microsoft.com/office/powerpoint/2010/main" val="131231750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301f5ae314a_0_3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g301f5ae314a_0_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94516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9A373DA-F9AA-A644-86AE-7CBAAC246365}" type="slidenum">
              <a:rPr lang="en-US" smtClean="0"/>
              <a:t>50</a:t>
            </a:fld>
            <a:endParaRPr lang="en-US"/>
          </a:p>
        </p:txBody>
      </p:sp>
    </p:spTree>
    <p:extLst>
      <p:ext uri="{BB962C8B-B14F-4D97-AF65-F5344CB8AC3E}">
        <p14:creationId xmlns:p14="http://schemas.microsoft.com/office/powerpoint/2010/main" val="123349978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3851939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74059307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g301f5ae314a_0_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g301f5ae314a_0_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 name="Google Shape;34;g301f5ae314a_0_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31338991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31ccdae391d_0_24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3" name="Google Shape;153;g31ccdae391d_0_24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54" name="Google Shape;154;g31ccdae391d_0_24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54</a:t>
            </a:fld>
            <a:endParaRPr/>
          </a:p>
        </p:txBody>
      </p:sp>
    </p:spTree>
    <p:extLst>
      <p:ext uri="{BB962C8B-B14F-4D97-AF65-F5344CB8AC3E}">
        <p14:creationId xmlns:p14="http://schemas.microsoft.com/office/powerpoint/2010/main" val="211990144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1ccdae391d_0_271: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g31ccdae391d_0_271: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3" name="Google Shape;163;g31ccdae391d_0_271: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9394328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31ccdae391d_0_27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0" name="Google Shape;170;g31ccdae391d_0_27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1" name="Google Shape;171;g31ccdae391d_0_27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68198810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1ccdae391d_0_28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8" name="Google Shape;178;g31ccdae391d_0_28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9" name="Google Shape;179;g31ccdae391d_0_28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57</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9817050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31ccdae391d_0_29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6" name="Google Shape;186;g31ccdae391d_0_29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g31ccdae391d_0_29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58</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59574707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31ccdae391d_0_29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4" name="Google Shape;194;g31ccdae391d_0_29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5" name="Google Shape;195;g31ccdae391d_0_29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59</a:t>
            </a:fld>
            <a:endParaRPr/>
          </a:p>
        </p:txBody>
      </p:sp>
    </p:spTree>
    <p:extLst>
      <p:ext uri="{BB962C8B-B14F-4D97-AF65-F5344CB8AC3E}">
        <p14:creationId xmlns:p14="http://schemas.microsoft.com/office/powerpoint/2010/main" val="393022134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31ccdae391d_0_308: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4" name="Google Shape;204;g31ccdae391d_0_308: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g31ccdae391d_0_308: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60</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4848727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1ccdae391d_0_315: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2" name="Google Shape;212;g31ccdae391d_0_315: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g31ccdae391d_0_315: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61</a:t>
            </a:fld>
            <a:endParaRPr/>
          </a:p>
        </p:txBody>
      </p:sp>
    </p:spTree>
    <p:extLst>
      <p:ext uri="{BB962C8B-B14F-4D97-AF65-F5344CB8AC3E}">
        <p14:creationId xmlns:p14="http://schemas.microsoft.com/office/powerpoint/2010/main" val="35830503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31ccdae391d_0_32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1" name="Google Shape;221;g31ccdae391d_0_32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31ccdae391d_0_32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62</a:t>
            </a:fld>
            <a:endParaRPr/>
          </a:p>
        </p:txBody>
      </p:sp>
    </p:spTree>
    <p:extLst>
      <p:ext uri="{BB962C8B-B14F-4D97-AF65-F5344CB8AC3E}">
        <p14:creationId xmlns:p14="http://schemas.microsoft.com/office/powerpoint/2010/main" val="41740258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1ccdae391d_0_332: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1" name="Google Shape;231;g31ccdae391d_0_332: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g31ccdae391d_0_332: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1390695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31ccdae391d_0_339: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9" name="Google Shape;239;g31ccdae391d_0_339: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g31ccdae391d_0_339: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64</a:t>
            </a:fld>
            <a:endParaRPr/>
          </a:p>
        </p:txBody>
      </p:sp>
    </p:spTree>
    <p:extLst>
      <p:ext uri="{BB962C8B-B14F-4D97-AF65-F5344CB8AC3E}">
        <p14:creationId xmlns:p14="http://schemas.microsoft.com/office/powerpoint/2010/main" val="2064379048"/>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ccdae391d_0_347: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1ccdae391d_0_347: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1ccdae391d_0_347: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65</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82239776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31ccdae391d_0_354: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g31ccdae391d_0_354: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7" name="Google Shape;257;g31ccdae391d_0_354: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66</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02016714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31ccdae391d_0_361: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g31ccdae391d_0_361: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g31ccdae391d_0_361: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67</a:t>
            </a:fld>
            <a:endParaRPr sz="1200">
              <a:latin typeface="Calibri"/>
              <a:ea typeface="Calibri"/>
              <a:cs typeface="Calibri"/>
              <a:sym typeface="Calibri"/>
            </a:endParaRPr>
          </a:p>
        </p:txBody>
      </p:sp>
    </p:spTree>
    <p:extLst>
      <p:ext uri="{BB962C8B-B14F-4D97-AF65-F5344CB8AC3E}">
        <p14:creationId xmlns:p14="http://schemas.microsoft.com/office/powerpoint/2010/main" val="10619351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31ccdae391d_0_368: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g31ccdae391d_0_368: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73" name="Google Shape;273;g31ccdae391d_0_368: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68</a:t>
            </a:fld>
            <a:endParaRPr sz="1200">
              <a:latin typeface="Calibri"/>
              <a:ea typeface="Calibri"/>
              <a:cs typeface="Calibri"/>
              <a:sym typeface="Calibri"/>
            </a:endParaRPr>
          </a:p>
        </p:txBody>
      </p:sp>
    </p:spTree>
    <p:extLst>
      <p:ext uri="{BB962C8B-B14F-4D97-AF65-F5344CB8AC3E}">
        <p14:creationId xmlns:p14="http://schemas.microsoft.com/office/powerpoint/2010/main" val="2397693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1ccdae391d_0_375: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0" name="Google Shape;280;g31ccdae391d_0_375: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81" name="Google Shape;281;g31ccdae391d_0_375: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69</a:t>
            </a:fld>
            <a:endParaRPr sz="1200">
              <a:latin typeface="Calibri"/>
              <a:ea typeface="Calibri"/>
              <a:cs typeface="Calibri"/>
              <a:sym typeface="Calibri"/>
            </a:endParaRPr>
          </a:p>
        </p:txBody>
      </p:sp>
    </p:spTree>
    <p:extLst>
      <p:ext uri="{BB962C8B-B14F-4D97-AF65-F5344CB8AC3E}">
        <p14:creationId xmlns:p14="http://schemas.microsoft.com/office/powerpoint/2010/main" val="100021917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g31ccdae391d_0_383: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g31ccdae391d_0_383: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0" name="Google Shape;290;g31ccdae391d_0_383: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70</a:t>
            </a:fld>
            <a:endParaRPr sz="1200">
              <a:latin typeface="Calibri"/>
              <a:ea typeface="Calibri"/>
              <a:cs typeface="Calibri"/>
              <a:sym typeface="Calibri"/>
            </a:endParaRPr>
          </a:p>
        </p:txBody>
      </p:sp>
    </p:spTree>
    <p:extLst>
      <p:ext uri="{BB962C8B-B14F-4D97-AF65-F5344CB8AC3E}">
        <p14:creationId xmlns:p14="http://schemas.microsoft.com/office/powerpoint/2010/main" val="86602385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31ccdae391d_0_389: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g31ccdae391d_0_389: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g31ccdae391d_0_389:notes"/>
          <p:cNvSpPr txBox="1">
            <a:spLocks noGrp="1"/>
          </p:cNvSpPr>
          <p:nvPr>
            <p:ph type="sldNum" idx="12"/>
          </p:nvPr>
        </p:nvSpPr>
        <p:spPr>
          <a:xfrm>
            <a:off x="4143587" y="9119475"/>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71</a:t>
            </a:fld>
            <a:endParaRPr sz="1200">
              <a:latin typeface="Calibri"/>
              <a:ea typeface="Calibri"/>
              <a:cs typeface="Calibri"/>
              <a:sym typeface="Calibri"/>
            </a:endParaRPr>
          </a:p>
        </p:txBody>
      </p:sp>
    </p:spTree>
    <p:extLst>
      <p:ext uri="{BB962C8B-B14F-4D97-AF65-F5344CB8AC3E}">
        <p14:creationId xmlns:p14="http://schemas.microsoft.com/office/powerpoint/2010/main" val="302005625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1ccdae391d_0_396:notes"/>
          <p:cNvSpPr>
            <a:spLocks noGrp="1" noRot="1" noChangeAspect="1"/>
          </p:cNvSpPr>
          <p:nvPr>
            <p:ph type="sldImg" idx="2"/>
          </p:nvPr>
        </p:nvSpPr>
        <p:spPr>
          <a:xfrm>
            <a:off x="777875" y="1200150"/>
            <a:ext cx="5759450" cy="32400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4" name="Google Shape;304;g31ccdae391d_0_396:notes"/>
          <p:cNvSpPr txBox="1">
            <a:spLocks noGrp="1"/>
          </p:cNvSpPr>
          <p:nvPr>
            <p:ph type="body" idx="1"/>
          </p:nvPr>
        </p:nvSpPr>
        <p:spPr>
          <a:xfrm>
            <a:off x="731521" y="4620578"/>
            <a:ext cx="5852100" cy="3780600"/>
          </a:xfrm>
          <a:prstGeom prst="rect">
            <a:avLst/>
          </a:prstGeom>
          <a:noFill/>
          <a:ln>
            <a:noFill/>
          </a:ln>
        </p:spPr>
        <p:txBody>
          <a:bodyPr spcFirstLastPara="1" wrap="square" lIns="94825" tIns="47400" rIns="94825" bIns="47400" anchor="t" anchorCtr="0">
            <a:noAutofit/>
          </a:bodyPr>
          <a:lstStyle/>
          <a:p>
            <a:pPr marL="0" lvl="0" indent="0" algn="l" rtl="0">
              <a:lnSpc>
                <a:spcPct val="100000"/>
              </a:lnSpc>
              <a:spcBef>
                <a:spcPts val="0"/>
              </a:spcBef>
              <a:spcAft>
                <a:spcPts val="0"/>
              </a:spcAft>
              <a:buSzPts val="1400"/>
              <a:buNone/>
            </a:pPr>
            <a:endParaRPr/>
          </a:p>
        </p:txBody>
      </p:sp>
      <p:sp>
        <p:nvSpPr>
          <p:cNvPr id="305" name="Google Shape;305;g31ccdae391d_0_396:notes"/>
          <p:cNvSpPr txBox="1">
            <a:spLocks noGrp="1"/>
          </p:cNvSpPr>
          <p:nvPr>
            <p:ph type="sldNum" idx="12"/>
          </p:nvPr>
        </p:nvSpPr>
        <p:spPr>
          <a:xfrm>
            <a:off x="4143588" y="9119474"/>
            <a:ext cx="3169800" cy="481800"/>
          </a:xfrm>
          <a:prstGeom prst="rect">
            <a:avLst/>
          </a:prstGeom>
          <a:noFill/>
          <a:ln>
            <a:noFill/>
          </a:ln>
        </p:spPr>
        <p:txBody>
          <a:bodyPr spcFirstLastPara="1" wrap="square" lIns="94825" tIns="47400" rIns="94825" bIns="47400" anchor="b" anchorCtr="0">
            <a:noAutofit/>
          </a:bodyPr>
          <a:lstStyle/>
          <a:p>
            <a:pPr marL="0" lvl="0" indent="0" algn="r" rtl="0">
              <a:lnSpc>
                <a:spcPct val="100000"/>
              </a:lnSpc>
              <a:spcBef>
                <a:spcPts val="0"/>
              </a:spcBef>
              <a:spcAft>
                <a:spcPts val="0"/>
              </a:spcAft>
              <a:buSzPts val="1200"/>
              <a:buNone/>
            </a:pPr>
            <a:fld id="{00000000-1234-1234-1234-123412341234}" type="slidenum">
              <a:rPr lang="en-US" sz="1200">
                <a:latin typeface="Calibri"/>
                <a:ea typeface="Calibri"/>
                <a:cs typeface="Calibri"/>
                <a:sym typeface="Calibri"/>
              </a:rPr>
              <a:t>72</a:t>
            </a:fld>
            <a:endParaRPr sz="1200">
              <a:latin typeface="Calibri"/>
              <a:ea typeface="Calibri"/>
              <a:cs typeface="Calibri"/>
              <a:sym typeface="Calibri"/>
            </a:endParaRPr>
          </a:p>
        </p:txBody>
      </p:sp>
    </p:spTree>
    <p:extLst>
      <p:ext uri="{BB962C8B-B14F-4D97-AF65-F5344CB8AC3E}">
        <p14:creationId xmlns:p14="http://schemas.microsoft.com/office/powerpoint/2010/main" val="383305551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31ccdae391d_0_403:notes"/>
          <p:cNvSpPr>
            <a:spLocks noGrp="1" noRot="1" noChangeAspect="1"/>
          </p:cNvSpPr>
          <p:nvPr>
            <p:ph type="sldImg" idx="2"/>
          </p:nvPr>
        </p:nvSpPr>
        <p:spPr>
          <a:xfrm>
            <a:off x="717550" y="1162050"/>
            <a:ext cx="5575300" cy="31369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g31ccdae391d_0_403:notes"/>
          <p:cNvSpPr txBox="1">
            <a:spLocks noGrp="1"/>
          </p:cNvSpPr>
          <p:nvPr>
            <p:ph type="body" idx="1"/>
          </p:nvPr>
        </p:nvSpPr>
        <p:spPr>
          <a:xfrm>
            <a:off x="701041" y="4473893"/>
            <a:ext cx="5608200" cy="366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g31ccdae391d_0_403:notes"/>
          <p:cNvSpPr txBox="1">
            <a:spLocks noGrp="1"/>
          </p:cNvSpPr>
          <p:nvPr>
            <p:ph type="sldNum" idx="12"/>
          </p:nvPr>
        </p:nvSpPr>
        <p:spPr>
          <a:xfrm>
            <a:off x="3970938" y="8829967"/>
            <a:ext cx="3037800" cy="4665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Calibri"/>
              <a:buNone/>
            </a:pPr>
            <a:fld id="{00000000-1234-1234-1234-123412341234}" type="slidenum">
              <a:rPr lang="en-US" sz="1200" b="0" i="0" u="none" strike="noStrike" cap="none">
                <a:solidFill>
                  <a:srgbClr val="000000"/>
                </a:solidFill>
                <a:latin typeface="Calibri"/>
                <a:ea typeface="Calibri"/>
                <a:cs typeface="Calibri"/>
                <a:sym typeface="Calibri"/>
              </a:rPr>
              <a:t>73</a:t>
            </a:fld>
            <a:endParaRPr sz="1200" b="0" i="0" u="none" strike="noStrike" cap="none">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30753674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13660853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bg1"/>
        </a:soli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3" name="Content Placeholder 2"/>
          <p:cNvSpPr>
            <a:spLocks noGrp="1"/>
          </p:cNvSpPr>
          <p:nvPr>
            <p:ph idx="1"/>
          </p:nvPr>
        </p:nvSpPr>
        <p:spPr>
          <a:xfrm>
            <a:off x="838200" y="1378039"/>
            <a:ext cx="10515600" cy="4291916"/>
          </a:xfrm>
        </p:spPr>
        <p:txBody>
          <a:bodyPr>
            <a:normAutofit/>
          </a:bodyPr>
          <a:lstStyle>
            <a:lvl1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1pPr>
            <a:lvl2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2pPr>
            <a:lvl3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3pPr>
            <a:lvl4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4pPr>
            <a:lvl5pPr>
              <a:lnSpc>
                <a:spcPct val="150000"/>
              </a:lnSpc>
              <a:buFont typeface="Wingdings" pitchFamily="2" charset="2"/>
              <a:buChar char="ü"/>
              <a:defRPr sz="2000">
                <a:latin typeface="Times New Roman" panose="02020603050405020304" pitchFamily="18" charset="0"/>
                <a:ea typeface="Tahoma" pitchFamily="34"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1"/>
          <p:cNvSpPr>
            <a:spLocks noGrp="1"/>
          </p:cNvSpPr>
          <p:nvPr>
            <p:ph type="title"/>
          </p:nvPr>
        </p:nvSpPr>
        <p:spPr>
          <a:xfrm>
            <a:off x="838200" y="365126"/>
            <a:ext cx="10515600" cy="793974"/>
          </a:xfrm>
        </p:spPr>
        <p:txBody>
          <a:bodyPr>
            <a:normAutofit/>
          </a:bodyPr>
          <a:lstStyle>
            <a:lvl1pPr algn="ctr">
              <a:defRPr sz="2400" b="1" i="0">
                <a:solidFill>
                  <a:schemeClr val="accent4">
                    <a:lumMod val="75000"/>
                  </a:schemeClr>
                </a:solidFill>
                <a:latin typeface="Times New Roman" panose="02020603050405020304" pitchFamily="18" charset="0"/>
                <a:ea typeface="Tahoma" pitchFamily="34" charset="0"/>
                <a:cs typeface="Times New Roman" panose="02020603050405020304" pitchFamily="18" charset="0"/>
              </a:defRPr>
            </a:lvl1pPr>
          </a:lstStyle>
          <a:p>
            <a:r>
              <a:rPr lang="en-US" dirty="0"/>
              <a:t>Click to edit Master title style</a:t>
            </a:r>
          </a:p>
        </p:txBody>
      </p:sp>
      <p:sp>
        <p:nvSpPr>
          <p:cNvPr id="10"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4190353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Content Placeholder 2"/>
          <p:cNvSpPr>
            <a:spLocks noGrp="1"/>
          </p:cNvSpPr>
          <p:nvPr>
            <p:ph sz="half" idx="1"/>
          </p:nvPr>
        </p:nvSpPr>
        <p:spPr>
          <a:xfrm>
            <a:off x="838200" y="1825625"/>
            <a:ext cx="5181600" cy="387442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6"/>
            <a:ext cx="5181600" cy="3874420"/>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33901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2" name="Picture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a:xfrm>
            <a:off x="839788"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3" name="Text Placeholder 2"/>
          <p:cNvSpPr>
            <a:spLocks noGrp="1"/>
          </p:cNvSpPr>
          <p:nvPr>
            <p:ph type="body" idx="1"/>
          </p:nvPr>
        </p:nvSpPr>
        <p:spPr>
          <a:xfrm>
            <a:off x="839788" y="1681163"/>
            <a:ext cx="5157787"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839788" y="2505075"/>
            <a:ext cx="5157787"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6172200" y="1681163"/>
            <a:ext cx="5183188" cy="737297"/>
          </a:xfrm>
        </p:spPr>
        <p:txBody>
          <a:bodyPr anchor="b"/>
          <a:lstStyle>
            <a:lvl1pPr marL="0" indent="0">
              <a:buNone/>
              <a:defRPr sz="2400" b="1" i="0">
                <a:solidFill>
                  <a:srgbClr val="D2A43B"/>
                </a:solidFill>
                <a:latin typeface="Times New Roman" panose="02020603050405020304" pitchFamily="18"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6172200" y="2505075"/>
            <a:ext cx="5183188" cy="3212061"/>
          </a:xfrm>
        </p:spPr>
        <p:txBody>
          <a:bodyPr/>
          <a:lstStyle>
            <a:lvl1pPr>
              <a:defRPr>
                <a:latin typeface="Times New Roman" panose="02020603050405020304" pitchFamily="18" charset="0"/>
              </a:defRPr>
            </a:lvl1pPr>
            <a:lvl2pPr>
              <a:defRPr>
                <a:latin typeface="Times New Roman" panose="02020603050405020304" pitchFamily="18" charset="0"/>
              </a:defRPr>
            </a:lvl2pPr>
            <a:lvl3pPr>
              <a:defRPr>
                <a:latin typeface="Times New Roman" panose="02020603050405020304" pitchFamily="18" charset="0"/>
              </a:defRPr>
            </a:lvl3pPr>
            <a:lvl4pPr>
              <a:defRPr>
                <a:latin typeface="Times New Roman" panose="02020603050405020304" pitchFamily="18" charset="0"/>
              </a:defRPr>
            </a:lvl4pPr>
            <a:lvl5pPr>
              <a:defRPr>
                <a:latin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3"/>
          <p:cNvSpPr>
            <a:spLocks noGrp="1"/>
          </p:cNvSpPr>
          <p:nvPr>
            <p:ph type="sldNum" sz="quarter" idx="12"/>
          </p:nvPr>
        </p:nvSpPr>
        <p:spPr>
          <a:xfrm>
            <a:off x="8610600" y="5809416"/>
            <a:ext cx="2743200" cy="365125"/>
          </a:xfrm>
        </p:spPr>
        <p:txBody>
          <a:bodyPr/>
          <a:lstStyle>
            <a:lvl1pPr>
              <a:defRPr b="0" i="0">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935352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2" name="Title 1"/>
          <p:cNvSpPr>
            <a:spLocks noGrp="1"/>
          </p:cNvSpPr>
          <p:nvPr>
            <p:ph type="title"/>
          </p:nvPr>
        </p:nvSpPr>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
        <p:nvSpPr>
          <p:cNvPr id="7"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Tree>
    <p:extLst>
      <p:ext uri="{BB962C8B-B14F-4D97-AF65-F5344CB8AC3E}">
        <p14:creationId xmlns:p14="http://schemas.microsoft.com/office/powerpoint/2010/main" val="2799317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80497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5183188" y="2057400"/>
            <a:ext cx="6172200" cy="3642646"/>
          </a:xfrm>
        </p:spPr>
        <p:txBody>
          <a:bodyPr/>
          <a:lstStyle>
            <a:lvl1pPr>
              <a:defRPr sz="3200">
                <a:latin typeface="Times New Roman" panose="02020603050405020304" pitchFamily="18" charset="0"/>
              </a:defRPr>
            </a:lvl1pPr>
            <a:lvl2pPr>
              <a:defRPr sz="2800">
                <a:latin typeface="Times New Roman" panose="02020603050405020304" pitchFamily="18" charset="0"/>
              </a:defRPr>
            </a:lvl2pPr>
            <a:lvl3pPr>
              <a:defRPr sz="2400">
                <a:latin typeface="Times New Roman" panose="02020603050405020304" pitchFamily="18" charset="0"/>
              </a:defRPr>
            </a:lvl3pPr>
            <a:lvl4pPr>
              <a:defRPr sz="2000">
                <a:latin typeface="Times New Roman" panose="02020603050405020304" pitchFamily="18" charset="0"/>
              </a:defRPr>
            </a:lvl4pPr>
            <a:lvl5pPr>
              <a:defRPr sz="2000">
                <a:latin typeface="Times New Roman" panose="02020603050405020304" pitchFamily="18" charset="0"/>
              </a:defRPr>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839788" y="2057400"/>
            <a:ext cx="3932237" cy="3642646"/>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pic>
        <p:nvPicPr>
          <p:cNvPr id="11" name="Picture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spTree>
    <p:extLst>
      <p:ext uri="{BB962C8B-B14F-4D97-AF65-F5344CB8AC3E}">
        <p14:creationId xmlns:p14="http://schemas.microsoft.com/office/powerpoint/2010/main" val="3175623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5183188" y="2057400"/>
            <a:ext cx="6172200" cy="3642645"/>
          </a:xfrm>
        </p:spPr>
        <p:txBody>
          <a:bodyPr/>
          <a:lstStyle>
            <a:lvl1pPr marL="0" indent="0">
              <a:buNone/>
              <a:defRPr sz="3200">
                <a:latin typeface="Times New Roman" panose="02020603050405020304" pitchFamily="18"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642645"/>
          </a:xfrm>
        </p:spPr>
        <p:txBody>
          <a:bodyPr/>
          <a:lstStyle>
            <a:lvl1pPr marL="0" indent="0">
              <a:buNone/>
              <a:defRPr sz="1600">
                <a:latin typeface="Times New Roman" panose="020206030504050203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9" name="Slide Number Placeholder 3"/>
          <p:cNvSpPr>
            <a:spLocks noGrp="1"/>
          </p:cNvSpPr>
          <p:nvPr>
            <p:ph type="sldNum" sz="quarter" idx="12"/>
          </p:nvPr>
        </p:nvSpPr>
        <p:spPr>
          <a:xfrm>
            <a:off x="8610600" y="5809416"/>
            <a:ext cx="2743200" cy="365125"/>
          </a:xfrm>
        </p:spPr>
        <p:txBody>
          <a:bodyPr/>
          <a:lstStyle>
            <a:lvl1pPr>
              <a:defRPr>
                <a:solidFill>
                  <a:srgbClr val="D2A43B"/>
                </a:solidFill>
                <a:latin typeface="Times New Roman" panose="02020603050405020304" pitchFamily="18" charset="0"/>
              </a:defRPr>
            </a:lvl1pPr>
          </a:lstStyle>
          <a:p>
            <a:fld id="{6C6B6B8D-D74E-47CD-B5EE-156060B7CD17}" type="slidenum">
              <a:rPr lang="en-US" smtClean="0"/>
              <a:pPr/>
              <a:t>‹#›</a:t>
            </a:fld>
            <a:endParaRPr lang="en-US" dirty="0"/>
          </a:p>
        </p:txBody>
      </p:sp>
      <p:sp>
        <p:nvSpPr>
          <p:cNvPr id="10" name="Title 1"/>
          <p:cNvSpPr>
            <a:spLocks noGrp="1"/>
          </p:cNvSpPr>
          <p:nvPr>
            <p:ph type="title"/>
          </p:nvPr>
        </p:nvSpPr>
        <p:spPr>
          <a:xfrm>
            <a:off x="838200" y="365125"/>
            <a:ext cx="10515600" cy="1325563"/>
          </a:xfrm>
        </p:spPr>
        <p:txBody>
          <a:bodyPr/>
          <a:lstStyle>
            <a:lvl1pPr>
              <a:defRPr b="1" i="0">
                <a:solidFill>
                  <a:srgbClr val="D2A43B"/>
                </a:solidFill>
                <a:latin typeface="Times New Roman" panose="02020603050405020304" pitchFamily="18" charset="0"/>
              </a:defRPr>
            </a:lvl1pPr>
          </a:lstStyle>
          <a:p>
            <a:r>
              <a:rPr lang="en-US" dirty="0"/>
              <a:t>Click to edit Master title style</a:t>
            </a:r>
          </a:p>
        </p:txBody>
      </p:sp>
      <p:pic>
        <p:nvPicPr>
          <p:cNvPr id="7" name="Picture 6">
            <a:extLst>
              <a:ext uri="{FF2B5EF4-FFF2-40B4-BE49-F238E27FC236}">
                <a16:creationId xmlns:a16="http://schemas.microsoft.com/office/drawing/2014/main" id="{89D8EE4B-A928-AF41-A818-5448DED387C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8"/>
            <a:ext cx="12192000" cy="6857143"/>
          </a:xfrm>
          <a:prstGeom prst="rect">
            <a:avLst/>
          </a:prstGeom>
        </p:spPr>
      </p:pic>
    </p:spTree>
    <p:extLst>
      <p:ext uri="{BB962C8B-B14F-4D97-AF65-F5344CB8AC3E}">
        <p14:creationId xmlns:p14="http://schemas.microsoft.com/office/powerpoint/2010/main" val="391650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1_Title Slide">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3050B2F-3EDC-3C41-A9C5-C176E080B547}"/>
              </a:ext>
            </a:extLst>
          </p:cNvPr>
          <p:cNvSpPr>
            <a:spLocks noGrp="1"/>
          </p:cNvSpPr>
          <p:nvPr>
            <p:ph type="title"/>
          </p:nvPr>
        </p:nvSpPr>
        <p:spPr>
          <a:xfrm>
            <a:off x="1886673" y="3756507"/>
            <a:ext cx="9387068" cy="1325563"/>
          </a:xfrm>
        </p:spPr>
        <p:txBody>
          <a:bodyPr/>
          <a:lstStyle>
            <a:lvl1pPr>
              <a:defRPr b="1" i="0">
                <a:solidFill>
                  <a:srgbClr val="D2A43B"/>
                </a:solidFill>
                <a:latin typeface="Times New Roman" panose="02020603050405020304" pitchFamily="18" charset="0"/>
                <a:cs typeface="Times New Roman" panose="02020603050405020304" pitchFamily="18" charset="0"/>
              </a:defRPr>
            </a:lvl1pPr>
          </a:lstStyle>
          <a:p>
            <a:r>
              <a:rPr lang="en-US" dirty="0"/>
              <a:t>Click to edit Master title style</a:t>
            </a:r>
          </a:p>
        </p:txBody>
      </p:sp>
      <p:pic>
        <p:nvPicPr>
          <p:cNvPr id="2" name="Picture 1"/>
          <p:cNvPicPr>
            <a:picLocks noChangeAspect="1"/>
          </p:cNvPicPr>
          <p:nvPr userDrawn="1"/>
        </p:nvPicPr>
        <p:blipFill>
          <a:blip r:embed="rId3" cstate="print"/>
          <a:stretch>
            <a:fillRect/>
          </a:stretch>
        </p:blipFill>
        <p:spPr>
          <a:xfrm>
            <a:off x="7603958" y="541897"/>
            <a:ext cx="1795803" cy="544909"/>
          </a:xfrm>
          <a:prstGeom prst="rect">
            <a:avLst/>
          </a:prstGeom>
        </p:spPr>
      </p:pic>
    </p:spTree>
    <p:extLst>
      <p:ext uri="{BB962C8B-B14F-4D97-AF65-F5344CB8AC3E}">
        <p14:creationId xmlns:p14="http://schemas.microsoft.com/office/powerpoint/2010/main" val="3677509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slide" type="title">
  <p:cSld name="2_Title slide">
    <p:spTree>
      <p:nvGrpSpPr>
        <p:cNvPr id="1" name="Shape 9"/>
        <p:cNvGrpSpPr/>
        <p:nvPr/>
      </p:nvGrpSpPr>
      <p:grpSpPr>
        <a:xfrm>
          <a:off x="0" y="0"/>
          <a:ext cx="0" cy="0"/>
          <a:chOff x="0" y="0"/>
          <a:chExt cx="0" cy="0"/>
        </a:xfrm>
      </p:grpSpPr>
      <p:sp>
        <p:nvSpPr>
          <p:cNvPr id="10" name="Google Shape;10;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vi" smtClean="0"/>
              <a:pPr/>
              <a:t>‹#›</a:t>
            </a:fld>
            <a:endParaRPr lang="vi"/>
          </a:p>
        </p:txBody>
      </p:sp>
      <p:sp>
        <p:nvSpPr>
          <p:cNvPr id="11" name="Google Shape;11;p2"/>
          <p:cNvSpPr>
            <a:spLocks noGrp="1"/>
          </p:cNvSpPr>
          <p:nvPr>
            <p:ph type="pic" idx="2"/>
          </p:nvPr>
        </p:nvSpPr>
        <p:spPr>
          <a:xfrm>
            <a:off x="509151" y="2698833"/>
            <a:ext cx="4972400" cy="2784400"/>
          </a:xfrm>
          <a:prstGeom prst="rect">
            <a:avLst/>
          </a:prstGeom>
          <a:noFill/>
          <a:ln>
            <a:noFill/>
          </a:ln>
        </p:spPr>
      </p:sp>
      <p:pic>
        <p:nvPicPr>
          <p:cNvPr id="12" name="Google Shape;12;p2" descr="A black and yellow lines on a blue surface&#10;&#10;Description automatically generated"/>
          <p:cNvPicPr preferRelativeResize="0"/>
          <p:nvPr/>
        </p:nvPicPr>
        <p:blipFill rotWithShape="1">
          <a:blip r:embed="rId2">
            <a:alphaModFix/>
          </a:blip>
          <a:srcRect/>
          <a:stretch/>
        </p:blipFill>
        <p:spPr>
          <a:xfrm>
            <a:off x="8650521" y="4650486"/>
            <a:ext cx="3545983" cy="2207517"/>
          </a:xfrm>
          <a:prstGeom prst="rect">
            <a:avLst/>
          </a:prstGeom>
          <a:noFill/>
          <a:ln>
            <a:noFill/>
          </a:ln>
        </p:spPr>
      </p:pic>
      <p:sp>
        <p:nvSpPr>
          <p:cNvPr id="13" name="Google Shape;13;p2"/>
          <p:cNvSpPr txBox="1">
            <a:spLocks noGrp="1"/>
          </p:cNvSpPr>
          <p:nvPr>
            <p:ph type="title"/>
          </p:nvPr>
        </p:nvSpPr>
        <p:spPr>
          <a:xfrm>
            <a:off x="509167" y="439933"/>
            <a:ext cx="25232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DEA610"/>
              </a:buClr>
              <a:buSzPts val="2100"/>
              <a:buFont typeface="Montserrat"/>
              <a:buNone/>
              <a:defRPr sz="2800" b="1">
                <a:solidFill>
                  <a:srgbClr val="DEA610"/>
                </a:solidFill>
                <a:latin typeface="Montserrat"/>
                <a:ea typeface="Montserrat"/>
                <a:cs typeface="Montserrat"/>
                <a:sym typeface="Montserrat"/>
              </a:defRPr>
            </a:lvl1pPr>
            <a:lvl2pPr lvl="1">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2pPr>
            <a:lvl3pPr lvl="2">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3pPr>
            <a:lvl4pPr lvl="3">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4pPr>
            <a:lvl5pPr lvl="4">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5pPr>
            <a:lvl6pPr lvl="5">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6pPr>
            <a:lvl7pPr lvl="6">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7pPr>
            <a:lvl8pPr lvl="7">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8pPr>
            <a:lvl9pPr lvl="8">
              <a:spcBef>
                <a:spcPts val="0"/>
              </a:spcBef>
              <a:spcAft>
                <a:spcPts val="0"/>
              </a:spcAft>
              <a:buClr>
                <a:srgbClr val="008BA7"/>
              </a:buClr>
              <a:buSzPts val="2100"/>
              <a:buFont typeface="Montserrat"/>
              <a:buNone/>
              <a:defRPr sz="2800" b="1">
                <a:solidFill>
                  <a:srgbClr val="008BA7"/>
                </a:solidFill>
                <a:latin typeface="Montserrat"/>
                <a:ea typeface="Montserrat"/>
                <a:cs typeface="Montserrat"/>
                <a:sym typeface="Montserrat"/>
              </a:defRPr>
            </a:lvl9pPr>
          </a:lstStyle>
          <a:p>
            <a:endParaRPr/>
          </a:p>
        </p:txBody>
      </p:sp>
      <p:sp>
        <p:nvSpPr>
          <p:cNvPr id="14" name="Google Shape;14;p2"/>
          <p:cNvSpPr txBox="1">
            <a:spLocks noGrp="1"/>
          </p:cNvSpPr>
          <p:nvPr>
            <p:ph type="title" idx="3"/>
          </p:nvPr>
        </p:nvSpPr>
        <p:spPr>
          <a:xfrm>
            <a:off x="5736767"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5" name="Google Shape;15;p2"/>
          <p:cNvSpPr txBox="1">
            <a:spLocks noGrp="1"/>
          </p:cNvSpPr>
          <p:nvPr>
            <p:ph type="title" idx="4"/>
          </p:nvPr>
        </p:nvSpPr>
        <p:spPr>
          <a:xfrm>
            <a:off x="5736767"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6" name="Google Shape;16;p2"/>
          <p:cNvSpPr txBox="1">
            <a:spLocks noGrp="1"/>
          </p:cNvSpPr>
          <p:nvPr>
            <p:ph type="title" idx="5"/>
          </p:nvPr>
        </p:nvSpPr>
        <p:spPr>
          <a:xfrm>
            <a:off x="8777600" y="2600867"/>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7" name="Google Shape;17;p2"/>
          <p:cNvSpPr txBox="1">
            <a:spLocks noGrp="1"/>
          </p:cNvSpPr>
          <p:nvPr>
            <p:ph type="title" idx="6"/>
          </p:nvPr>
        </p:nvSpPr>
        <p:spPr>
          <a:xfrm>
            <a:off x="8777600" y="3170233"/>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18" name="Google Shape;18;p2"/>
          <p:cNvSpPr txBox="1">
            <a:spLocks noGrp="1"/>
          </p:cNvSpPr>
          <p:nvPr>
            <p:ph type="title" idx="7"/>
          </p:nvPr>
        </p:nvSpPr>
        <p:spPr>
          <a:xfrm>
            <a:off x="5736767"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19" name="Google Shape;19;p2"/>
          <p:cNvSpPr txBox="1">
            <a:spLocks noGrp="1"/>
          </p:cNvSpPr>
          <p:nvPr>
            <p:ph type="title" idx="8"/>
          </p:nvPr>
        </p:nvSpPr>
        <p:spPr>
          <a:xfrm>
            <a:off x="5736767"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
        <p:nvSpPr>
          <p:cNvPr id="20" name="Google Shape;20;p2"/>
          <p:cNvSpPr txBox="1">
            <a:spLocks noGrp="1"/>
          </p:cNvSpPr>
          <p:nvPr>
            <p:ph type="title" idx="9"/>
          </p:nvPr>
        </p:nvSpPr>
        <p:spPr>
          <a:xfrm>
            <a:off x="8777600" y="4358184"/>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1pPr>
            <a:lvl2pPr lvl="1">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2pPr>
            <a:lvl3pPr lvl="2">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3pPr>
            <a:lvl4pPr lvl="3">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4pPr>
            <a:lvl5pPr lvl="4">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5pPr>
            <a:lvl6pPr lvl="5">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6pPr>
            <a:lvl7pPr lvl="6">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7pPr>
            <a:lvl8pPr lvl="7">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8pPr>
            <a:lvl9pPr lvl="8">
              <a:spcBef>
                <a:spcPts val="0"/>
              </a:spcBef>
              <a:spcAft>
                <a:spcPts val="0"/>
              </a:spcAft>
              <a:buClr>
                <a:srgbClr val="008BA7"/>
              </a:buClr>
              <a:buSzPts val="1200"/>
              <a:buFont typeface="Montserrat"/>
              <a:buNone/>
              <a:defRPr sz="1600" b="1">
                <a:solidFill>
                  <a:srgbClr val="008BA7"/>
                </a:solidFill>
                <a:latin typeface="Montserrat"/>
                <a:ea typeface="Montserrat"/>
                <a:cs typeface="Montserrat"/>
                <a:sym typeface="Montserrat"/>
              </a:defRPr>
            </a:lvl9pPr>
          </a:lstStyle>
          <a:p>
            <a:endParaRPr/>
          </a:p>
        </p:txBody>
      </p:sp>
      <p:sp>
        <p:nvSpPr>
          <p:cNvPr id="21" name="Google Shape;21;p2"/>
          <p:cNvSpPr txBox="1">
            <a:spLocks noGrp="1"/>
          </p:cNvSpPr>
          <p:nvPr>
            <p:ph type="title" idx="13"/>
          </p:nvPr>
        </p:nvSpPr>
        <p:spPr>
          <a:xfrm>
            <a:off x="8777600" y="4927551"/>
            <a:ext cx="2816400" cy="815200"/>
          </a:xfrm>
          <a:prstGeom prst="rect">
            <a:avLst/>
          </a:prstGeom>
        </p:spPr>
        <p:txBody>
          <a:bodyPr spcFirstLastPara="1" wrap="square" lIns="91425" tIns="91425" rIns="91425" bIns="91425" anchor="t" anchorCtr="0">
            <a:normAutofit/>
          </a:bodyPr>
          <a:lstStyle>
            <a:lvl1pPr lvl="0">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1pPr>
            <a:lvl2pPr lvl="1">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2pPr>
            <a:lvl3pPr lvl="2">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3pPr>
            <a:lvl4pPr lvl="3">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4pPr>
            <a:lvl5pPr lvl="4">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5pPr>
            <a:lvl6pPr lvl="5">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6pPr>
            <a:lvl7pPr lvl="6">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7pPr>
            <a:lvl8pPr lvl="7">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8pPr>
            <a:lvl9pPr lvl="8">
              <a:spcBef>
                <a:spcPts val="0"/>
              </a:spcBef>
              <a:spcAft>
                <a:spcPts val="0"/>
              </a:spcAft>
              <a:buClr>
                <a:srgbClr val="008BA7"/>
              </a:buClr>
              <a:buSzPts val="900"/>
              <a:buFont typeface="Montserrat"/>
              <a:buNone/>
              <a:defRPr sz="1200">
                <a:solidFill>
                  <a:srgbClr val="008BA7"/>
                </a:solidFill>
                <a:latin typeface="Montserrat"/>
                <a:ea typeface="Montserrat"/>
                <a:cs typeface="Montserrat"/>
                <a:sym typeface="Montserrat"/>
              </a:defRPr>
            </a:lvl9pPr>
          </a:lstStyle>
          <a:p>
            <a:endParaRPr/>
          </a:p>
        </p:txBody>
      </p:sp>
    </p:spTree>
    <p:extLst>
      <p:ext uri="{BB962C8B-B14F-4D97-AF65-F5344CB8AC3E}">
        <p14:creationId xmlns:p14="http://schemas.microsoft.com/office/powerpoint/2010/main" val="27697742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2_Title and Content">
    <p:spTree>
      <p:nvGrpSpPr>
        <p:cNvPr id="1" name="Shape 78"/>
        <p:cNvGrpSpPr/>
        <p:nvPr/>
      </p:nvGrpSpPr>
      <p:grpSpPr>
        <a:xfrm>
          <a:off x="0" y="0"/>
          <a:ext cx="0" cy="0"/>
          <a:chOff x="0" y="0"/>
          <a:chExt cx="0" cy="0"/>
        </a:xfrm>
      </p:grpSpPr>
      <p:sp>
        <p:nvSpPr>
          <p:cNvPr id="79" name="Google Shape;79;g31ccdae391d_0_417"/>
          <p:cNvSpPr txBox="1">
            <a:spLocks noGrp="1"/>
          </p:cNvSpPr>
          <p:nvPr>
            <p:ph type="body" idx="1"/>
          </p:nvPr>
        </p:nvSpPr>
        <p:spPr>
          <a:xfrm>
            <a:off x="838200" y="1825626"/>
            <a:ext cx="10515600" cy="38829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Clr>
                <a:schemeClr val="dk1"/>
              </a:buClr>
              <a:buSzPts val="2800"/>
              <a:buChar char="•"/>
              <a:defRPr>
                <a:latin typeface="Montserrat"/>
                <a:ea typeface="Montserrat"/>
                <a:cs typeface="Montserrat"/>
                <a:sym typeface="Montserrat"/>
              </a:defRPr>
            </a:lvl1pPr>
            <a:lvl2pPr marL="914400" lvl="1" indent="-381000" algn="l">
              <a:lnSpc>
                <a:spcPct val="90000"/>
              </a:lnSpc>
              <a:spcBef>
                <a:spcPts val="500"/>
              </a:spcBef>
              <a:spcAft>
                <a:spcPts val="0"/>
              </a:spcAft>
              <a:buClr>
                <a:schemeClr val="dk1"/>
              </a:buClr>
              <a:buSzPts val="2400"/>
              <a:buChar char="•"/>
              <a:defRPr>
                <a:latin typeface="Montserrat"/>
                <a:ea typeface="Montserrat"/>
                <a:cs typeface="Montserrat"/>
                <a:sym typeface="Montserrat"/>
              </a:defRPr>
            </a:lvl2pPr>
            <a:lvl3pPr marL="1371600" lvl="2" indent="-355600" algn="l">
              <a:lnSpc>
                <a:spcPct val="90000"/>
              </a:lnSpc>
              <a:spcBef>
                <a:spcPts val="500"/>
              </a:spcBef>
              <a:spcAft>
                <a:spcPts val="0"/>
              </a:spcAft>
              <a:buClr>
                <a:schemeClr val="dk1"/>
              </a:buClr>
              <a:buSzPts val="2000"/>
              <a:buChar char="•"/>
              <a:defRPr>
                <a:latin typeface="Montserrat"/>
                <a:ea typeface="Montserrat"/>
                <a:cs typeface="Montserrat"/>
                <a:sym typeface="Montserrat"/>
              </a:defRPr>
            </a:lvl3pPr>
            <a:lvl4pPr marL="1828800" lvl="3"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4pPr>
            <a:lvl5pPr marL="2286000" lvl="4" indent="-342900" algn="l">
              <a:lnSpc>
                <a:spcPct val="90000"/>
              </a:lnSpc>
              <a:spcBef>
                <a:spcPts val="500"/>
              </a:spcBef>
              <a:spcAft>
                <a:spcPts val="0"/>
              </a:spcAft>
              <a:buClr>
                <a:schemeClr val="dk1"/>
              </a:buClr>
              <a:buSzPts val="1800"/>
              <a:buChar char="•"/>
              <a:defRPr>
                <a:latin typeface="Montserrat"/>
                <a:ea typeface="Montserrat"/>
                <a:cs typeface="Montserrat"/>
                <a:sym typeface="Montserrat"/>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g31ccdae391d_0_417"/>
          <p:cNvSpPr txBox="1">
            <a:spLocks noGrp="1"/>
          </p:cNvSpPr>
          <p:nvPr>
            <p:ph type="title"/>
          </p:nvPr>
        </p:nvSpPr>
        <p:spPr>
          <a:xfrm>
            <a:off x="838200" y="365125"/>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D2A43B"/>
              </a:buClr>
              <a:buSzPts val="4400"/>
              <a:buFont typeface="Montserrat"/>
              <a:buNone/>
              <a:defRPr b="1" i="0">
                <a:solidFill>
                  <a:srgbClr val="D2A43B"/>
                </a:solidFill>
                <a:latin typeface="Montserrat"/>
                <a:ea typeface="Montserrat"/>
                <a:cs typeface="Montserrat"/>
                <a:sym typeface="Montserrat"/>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g31ccdae391d_0_41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D2A43B"/>
                </a:solidFill>
                <a:latin typeface="Montserrat"/>
                <a:ea typeface="Montserrat"/>
                <a:cs typeface="Montserrat"/>
                <a:sym typeface="Montserrat"/>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33307503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7" name="Slide Number Placeholder 3">
            <a:extLst>
              <a:ext uri="{FF2B5EF4-FFF2-40B4-BE49-F238E27FC236}">
                <a16:creationId xmlns:a16="http://schemas.microsoft.com/office/drawing/2014/main" id="{7CD31424-8E36-40E6-9371-E332C871D5A5}"/>
              </a:ext>
            </a:extLst>
          </p:cNvPr>
          <p:cNvSpPr txBox="1">
            <a:spLocks/>
          </p:cNvSpPr>
          <p:nvPr userDrawn="1"/>
        </p:nvSpPr>
        <p:spPr>
          <a:xfrm>
            <a:off x="11486223" y="6421949"/>
            <a:ext cx="611905" cy="365125"/>
          </a:xfrm>
          <a:prstGeom prst="rect">
            <a:avLst/>
          </a:prstGeom>
        </p:spPr>
        <p:txBody>
          <a:bodyPr vert="horz" lIns="91440" tIns="45720" rIns="91440" bIns="45720" rtlCol="0" anchor="ctr"/>
          <a:lstStyle>
            <a:defPPr>
              <a:defRPr lang="en-VN"/>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0A3A1DAE-E79D-4DA5-B482-81DDF4B01157}" type="slidenum">
              <a:rPr kumimoji="0" lang="en-VN" sz="1200" b="0" i="0" u="none" strike="noStrike" kern="1200" cap="none" spc="0" normalizeH="0" baseline="0" noProof="0" smtClean="0">
                <a:ln>
                  <a:noFill/>
                </a:ln>
                <a:solidFill>
                  <a:prstClr val="white"/>
                </a:solidFill>
                <a:effectLst/>
                <a:uLnTx/>
                <a:uFillTx/>
                <a:latin typeface="Exo"/>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VN" sz="1200" b="0" i="0" u="none" strike="noStrike" kern="1200" cap="none" spc="0" normalizeH="0" baseline="0" noProof="0" dirty="0">
              <a:ln>
                <a:noFill/>
              </a:ln>
              <a:solidFill>
                <a:prstClr val="white"/>
              </a:solidFill>
              <a:effectLst/>
              <a:uLnTx/>
              <a:uFillTx/>
              <a:latin typeface="Exo"/>
              <a:ea typeface="+mn-ea"/>
              <a:cs typeface="+mn-cs"/>
            </a:endParaRPr>
          </a:p>
        </p:txBody>
      </p:sp>
      <p:pic>
        <p:nvPicPr>
          <p:cNvPr id="11" name="Picture 10">
            <a:extLst>
              <a:ext uri="{FF2B5EF4-FFF2-40B4-BE49-F238E27FC236}">
                <a16:creationId xmlns:a16="http://schemas.microsoft.com/office/drawing/2014/main" id="{E46A7E23-6711-4728-BF6F-BC4B89E39E0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0096" y="136257"/>
            <a:ext cx="537821" cy="505652"/>
          </a:xfrm>
          <a:prstGeom prst="rect">
            <a:avLst/>
          </a:prstGeom>
        </p:spPr>
      </p:pic>
    </p:spTree>
    <p:extLst>
      <p:ext uri="{BB962C8B-B14F-4D97-AF65-F5344CB8AC3E}">
        <p14:creationId xmlns:p14="http://schemas.microsoft.com/office/powerpoint/2010/main" val="5286972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E876FE3-6897-AC45-A781-6CFE41690726}" type="datetime1">
              <a:rPr lang="en-US" smtClean="0">
                <a:solidFill>
                  <a:prstClr val="black">
                    <a:tint val="75000"/>
                  </a:prstClr>
                </a:solidFill>
              </a:rPr>
              <a:pPr/>
              <a:t>3/3/2025</a:t>
            </a:fld>
            <a:endParaRPr lang="en-US" dirty="0">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6C6B6B8D-D74E-47CD-B5EE-156060B7CD17}"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33946212"/>
      </p:ext>
    </p:extLst>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74" r:id="rId10"/>
    <p:sldLayoutId id="2147483716" r:id="rId11"/>
    <p:sldLayoutId id="2147483717"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3.xml"/><Relationship Id="rId1" Type="http://schemas.openxmlformats.org/officeDocument/2006/relationships/slideLayout" Target="../slideLayouts/slideLayout10.xml"/><Relationship Id="rId4" Type="http://schemas.openxmlformats.org/officeDocument/2006/relationships/chart" Target="../charts/chart6.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0.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0.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3.xml"/><Relationship Id="rId5" Type="http://schemas.openxmlformats.org/officeDocument/2006/relationships/chart" Target="../charts/chart8.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33.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chart" Target="../charts/chart11.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chart" Target="../charts/chart12.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chart" Target="../charts/chart13.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chart" Target="../charts/chart14.xml"/><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51.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2.xml"/><Relationship Id="rId1" Type="http://schemas.openxmlformats.org/officeDocument/2006/relationships/slideLayout" Target="../slideLayouts/slideLayout10.xml"/><Relationship Id="rId4" Type="http://schemas.openxmlformats.org/officeDocument/2006/relationships/chart" Target="../charts/chart16.xml"/></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0.xml"/><Relationship Id="rId4" Type="http://schemas.openxmlformats.org/officeDocument/2006/relationships/chart" Target="../charts/chart17.xml"/></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4.xml"/><Relationship Id="rId1" Type="http://schemas.openxmlformats.org/officeDocument/2006/relationships/slideLayout" Target="../slideLayouts/slideLayout10.xml"/><Relationship Id="rId4" Type="http://schemas.openxmlformats.org/officeDocument/2006/relationships/chart" Target="../charts/chart18.xml"/></Relationships>
</file>

<file path=ppt/slides/_rels/slide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7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
        <p:cNvGrpSpPr/>
        <p:nvPr/>
      </p:nvGrpSpPr>
      <p:grpSpPr>
        <a:xfrm>
          <a:off x="0" y="0"/>
          <a:ext cx="0" cy="0"/>
          <a:chOff x="0" y="0"/>
          <a:chExt cx="0" cy="0"/>
        </a:xfrm>
      </p:grpSpPr>
      <p:pic>
        <p:nvPicPr>
          <p:cNvPr id="26" name="Google Shape;26;p3" descr="A blue background with yellow lines&#10;&#10;Description automatically generated"/>
          <p:cNvPicPr preferRelativeResize="0"/>
          <p:nvPr/>
        </p:nvPicPr>
        <p:blipFill rotWithShape="1">
          <a:blip r:embed="rId3">
            <a:alphaModFix/>
          </a:blip>
          <a:srcRect/>
          <a:stretch/>
        </p:blipFill>
        <p:spPr>
          <a:xfrm>
            <a:off x="1" y="9197"/>
            <a:ext cx="12191999" cy="6972297"/>
          </a:xfrm>
          <a:prstGeom prst="rect">
            <a:avLst/>
          </a:prstGeom>
          <a:noFill/>
          <a:ln>
            <a:noFill/>
          </a:ln>
        </p:spPr>
      </p:pic>
      <p:pic>
        <p:nvPicPr>
          <p:cNvPr id="28" name="Google Shape;28;p3" descr="A white text on a black background&#10;&#10;Description automatically generated"/>
          <p:cNvPicPr preferRelativeResize="0"/>
          <p:nvPr/>
        </p:nvPicPr>
        <p:blipFill rotWithShape="1">
          <a:blip r:embed="rId4">
            <a:alphaModFix/>
          </a:blip>
          <a:srcRect/>
          <a:stretch/>
        </p:blipFill>
        <p:spPr>
          <a:xfrm>
            <a:off x="615360" y="508566"/>
            <a:ext cx="2833825" cy="462665"/>
          </a:xfrm>
          <a:prstGeom prst="rect">
            <a:avLst/>
          </a:prstGeom>
          <a:noFill/>
          <a:ln>
            <a:noFill/>
          </a:ln>
        </p:spPr>
      </p:pic>
      <p:sp>
        <p:nvSpPr>
          <p:cNvPr id="30" name="Google Shape;30;p3"/>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0</a:t>
            </a:fld>
            <a:endParaRPr/>
          </a:p>
        </p:txBody>
      </p:sp>
      <p:sp>
        <p:nvSpPr>
          <p:cNvPr id="7" name="Title 1"/>
          <p:cNvSpPr>
            <a:spLocks noGrp="1"/>
          </p:cNvSpPr>
          <p:nvPr>
            <p:ph type="title"/>
          </p:nvPr>
        </p:nvSpPr>
        <p:spPr>
          <a:xfrm>
            <a:off x="584880" y="2667000"/>
            <a:ext cx="10417006" cy="2067564"/>
          </a:xfrm>
        </p:spPr>
        <p:txBody>
          <a:bodyPr>
            <a:normAutofit/>
          </a:bodyPr>
          <a:lstStyle/>
          <a:p>
            <a:pPr algn="ctr">
              <a:lnSpc>
                <a:spcPct val="150000"/>
              </a:lnSpc>
            </a:pP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BÁO CÁO KỸ THUẬT</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r>
            <a:b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b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Tuần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09</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24/02/2025</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 </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02</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r>
              <a:rPr lang="en-US"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03</a:t>
            </a:r>
            <a:r>
              <a:rPr lang="vi-VN" sz="40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/202</a:t>
            </a:r>
            <a:r>
              <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5</a:t>
            </a:r>
            <a:r>
              <a:rPr lang="vi-VN"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a:t>
            </a:r>
            <a:endParaRPr lang="en-US" sz="40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0936106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1</a:t>
            </a:fld>
            <a:endParaRPr lang="en-US"/>
          </a:p>
        </p:txBody>
      </p:sp>
      <p:sp>
        <p:nvSpPr>
          <p:cNvPr id="5" name="Title 4"/>
          <p:cNvSpPr>
            <a:spLocks noGrp="1"/>
          </p:cNvSpPr>
          <p:nvPr>
            <p:ph type="title"/>
          </p:nvPr>
        </p:nvSpPr>
        <p:spPr>
          <a:xfrm>
            <a:off x="990599" y="142581"/>
            <a:ext cx="10306011" cy="506023"/>
          </a:xfrm>
        </p:spPr>
        <p:txBody>
          <a:bodyPr>
            <a:noAutofit/>
          </a:bodyPr>
          <a:lstStyle/>
          <a:p>
            <a:pPr algn="ctr"/>
            <a:r>
              <a:rPr lang="en-US" sz="2800">
                <a:ln w="0"/>
                <a:solidFill>
                  <a:schemeClr val="accent4"/>
                </a:solidFill>
                <a:latin typeface="Times New Roman" panose="02020603050405020304" pitchFamily="18" charset="0"/>
                <a:cs typeface="Times New Roman" panose="02020603050405020304" pitchFamily="18" charset="0"/>
              </a:rPr>
              <a:t>TỔNG HỢP AOG, DELAY VÀ GTB/ATB/DIV</a:t>
            </a:r>
            <a:endParaRPr lang="vi-VN" sz="28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4000000}"/>
              </a:ext>
            </a:extLst>
          </p:cNvPr>
          <p:cNvGraphicFramePr>
            <a:graphicFrameLocks/>
          </p:cNvGraphicFramePr>
          <p:nvPr/>
        </p:nvGraphicFramePr>
        <p:xfrm>
          <a:off x="6334269" y="956035"/>
          <a:ext cx="4176910" cy="2291384"/>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900-000005000000}"/>
              </a:ext>
            </a:extLst>
          </p:cNvPr>
          <p:cNvGraphicFramePr>
            <a:graphicFrameLocks/>
          </p:cNvGraphicFramePr>
          <p:nvPr/>
        </p:nvGraphicFramePr>
        <p:xfrm>
          <a:off x="1684359" y="3601852"/>
          <a:ext cx="4098451" cy="229138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5">
            <a:extLst>
              <a:ext uri="{FF2B5EF4-FFF2-40B4-BE49-F238E27FC236}">
                <a16:creationId xmlns:a16="http://schemas.microsoft.com/office/drawing/2014/main" id="{00000000-0008-0000-0900-00000F000000}"/>
              </a:ext>
            </a:extLst>
          </p:cNvPr>
          <p:cNvGraphicFramePr>
            <a:graphicFrameLocks/>
          </p:cNvGraphicFramePr>
          <p:nvPr/>
        </p:nvGraphicFramePr>
        <p:xfrm>
          <a:off x="1674834" y="959845"/>
          <a:ext cx="4117501" cy="2291384"/>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6">
            <a:extLst>
              <a:ext uri="{FF2B5EF4-FFF2-40B4-BE49-F238E27FC236}">
                <a16:creationId xmlns:a16="http://schemas.microsoft.com/office/drawing/2014/main" id="{8347F7AA-5E77-475C-B68E-49E6EF5DA0A7}"/>
              </a:ext>
            </a:extLst>
          </p:cNvPr>
          <p:cNvGraphicFramePr>
            <a:graphicFrameLocks/>
          </p:cNvGraphicFramePr>
          <p:nvPr/>
        </p:nvGraphicFramePr>
        <p:xfrm>
          <a:off x="6340255" y="3610581"/>
          <a:ext cx="4176910" cy="229138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23681914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2</a:t>
            </a:fld>
            <a:endParaRPr lang="en-US"/>
          </a:p>
        </p:txBody>
      </p:sp>
      <p:sp>
        <p:nvSpPr>
          <p:cNvPr id="5" name="Title 4"/>
          <p:cNvSpPr>
            <a:spLocks noGrp="1"/>
          </p:cNvSpPr>
          <p:nvPr>
            <p:ph type="title"/>
          </p:nvPr>
        </p:nvSpPr>
        <p:spPr>
          <a:xfrm>
            <a:off x="1141240" y="304800"/>
            <a:ext cx="9983960" cy="429008"/>
          </a:xfrm>
        </p:spPr>
        <p:txBody>
          <a:bodyPr>
            <a:normAutofit fontScale="90000"/>
          </a:bodyPr>
          <a:lstStyle/>
          <a:p>
            <a:pPr algn="ctr"/>
            <a:r>
              <a:rPr lang="en-US" sz="2800">
                <a:ln w="0"/>
                <a:solidFill>
                  <a:srgbClr val="FFC000"/>
                </a:solidFill>
                <a:latin typeface="Times New Roman" panose="02020603050405020304" pitchFamily="18" charset="0"/>
                <a:cs typeface="Times New Roman" panose="02020603050405020304" pitchFamily="18" charset="0"/>
              </a:rPr>
              <a:t>ATB/GTB COMPARISON</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600-000004000000}"/>
              </a:ext>
            </a:extLst>
          </p:cNvPr>
          <p:cNvGraphicFramePr>
            <a:graphicFrameLocks/>
          </p:cNvGraphicFramePr>
          <p:nvPr>
            <p:extLst>
              <p:ext uri="{D42A27DB-BD31-4B8C-83A1-F6EECF244321}">
                <p14:modId xmlns:p14="http://schemas.microsoft.com/office/powerpoint/2010/main" val="2288868884"/>
              </p:ext>
            </p:extLst>
          </p:nvPr>
        </p:nvGraphicFramePr>
        <p:xfrm>
          <a:off x="1309758" y="990600"/>
          <a:ext cx="9572483" cy="2615821"/>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 name="Chart 2">
            <a:extLst>
              <a:ext uri="{FF2B5EF4-FFF2-40B4-BE49-F238E27FC236}">
                <a16:creationId xmlns:a16="http://schemas.microsoft.com/office/drawing/2014/main" id="{00000000-0008-0000-0600-000005000000}"/>
              </a:ext>
            </a:extLst>
          </p:cNvPr>
          <p:cNvGraphicFramePr>
            <a:graphicFrameLocks/>
          </p:cNvGraphicFramePr>
          <p:nvPr>
            <p:extLst>
              <p:ext uri="{D42A27DB-BD31-4B8C-83A1-F6EECF244321}">
                <p14:modId xmlns:p14="http://schemas.microsoft.com/office/powerpoint/2010/main" val="3818134928"/>
              </p:ext>
            </p:extLst>
          </p:nvPr>
        </p:nvGraphicFramePr>
        <p:xfrm>
          <a:off x="1307998" y="3771284"/>
          <a:ext cx="9562178" cy="261748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7655838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3</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04		    DIV: 00</a:t>
            </a:r>
          </a:p>
        </p:txBody>
      </p:sp>
      <p:graphicFrame>
        <p:nvGraphicFramePr>
          <p:cNvPr id="3" name="Table 2"/>
          <p:cNvGraphicFramePr>
            <a:graphicFrameLocks noGrp="1"/>
          </p:cNvGraphicFramePr>
          <p:nvPr>
            <p:extLst>
              <p:ext uri="{D42A27DB-BD31-4B8C-83A1-F6EECF244321}">
                <p14:modId xmlns:p14="http://schemas.microsoft.com/office/powerpoint/2010/main" val="3495015126"/>
              </p:ext>
            </p:extLst>
          </p:nvPr>
        </p:nvGraphicFramePr>
        <p:xfrm>
          <a:off x="228602" y="1089938"/>
          <a:ext cx="11553282" cy="5384008"/>
        </p:xfrm>
        <a:graphic>
          <a:graphicData uri="http://schemas.openxmlformats.org/drawingml/2006/table">
            <a:tbl>
              <a:tblPr/>
              <a:tblGrid>
                <a:gridCol w="304798">
                  <a:extLst>
                    <a:ext uri="{9D8B030D-6E8A-4147-A177-3AD203B41FA5}">
                      <a16:colId xmlns:a16="http://schemas.microsoft.com/office/drawing/2014/main" val="2069637928"/>
                    </a:ext>
                  </a:extLst>
                </a:gridCol>
                <a:gridCol w="533400">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4572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A356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BKK</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VN614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BKK-HAN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26/02/2025 16:00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RTG DUE TO APU AUTO SHUTDOWN AND ENG#2 START FAULT &lt;p&gt;RTG DUE TO APU AUTO SHUTDOWN AND ENG#2 START FAULT.&lt;/p&gt;</a:t>
                      </a: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&lt;p&gt;- RESET CB APU AND DRY MOTORING ENG.2 FOUND NORMAL&lt;br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-RAISED ADD FOR APU INOP&lt;/p&gt; ACTION EVENT CLOSED &lt;p&gt;EVENT CLOSED&lt;/p&gt; &lt;p&gt;RTG DUE TO APU AUTO SHUTDOWN AND ENG#2 START FAULT.&lt;/p&gt;&lt;p&gt;RTG DUE TO APU AUTO SHUTDOWN AND ENG#2 START FAULT.&lt;/p&gt;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72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APU auto shutdown trong quá trình khởi động engine gây start fault.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APU A356 S/N P-5198 có TSLSV/CSLSV = 4367/3602, là APU thấp giờ. APU có fault code high oil temp, hỏng hóc được clear sau khi thay khối Oil Cooler.</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Khối Oil Cooler PN 160494-1 SN 7020 tháo xuống dùng từ 2018, do đó đã khá cao giờ (khoảng 12k APU FH). Theo hồ sơ shop của các APU A321 cao giờ (&gt;7000 APU FH), Oil Cooler thường có hiện tượng bụi bẩn làm tắc hoặc hỏng các lá tản nhiệt, giảm hiệu quả làm mát dầu và có thể dẫn đến auto shutdown do high oil temp.</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Theo thống kê, từ năm 2022-2024 đã tháo lần lượt 1-12-4 khối, tuy nhiên chủ yếu thay trong quá trình T/S APU bad smell và nhiều khối trong đó đã được re-cert lại để làm spare.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r h="1311036">
                <a:tc>
                  <a:txBody>
                    <a:bodyPr/>
                    <a:lstStyle/>
                    <a:p>
                      <a:pPr algn="ctr" fontAlgn="b"/>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VII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VN1268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24/02/2025 20:10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ENG 2 REVERSER FAULT + LOSS ENG 2 OIL QTY ON ENG PAGE &lt;p&gt;DURING PUSHBACK CAP INFORMATION ENG 2 REVERSER FAULT, LOSS ENG 2 OIL QTY ON ENG PAGE&lt;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&lt;p&gt;ACTION PERFORMED BY VAE00933 ON 24.FEB.2025, 14:05&lt;br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REF TSM:79-00-00-810-832-A REV 2/25.C/OUT OPS TEST THRUST REVERSER ENG&lt;br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 VIA CFDS IAW AMM 78-31-00-710-041 REV 2/25 ALL FOUND SATIS,C/OUT OPS&lt;br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EIU ENG 2 IAW AMM 73-25-34-710-042 REV 2/25 ALL FOUND SATIS. ENG OIL&lt;br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QTY ENG2 INDICATION NORMAL.A/</a:t>
                      </a:r>
                      <a:r>
                        <a:rPr lang="vi-VN" sz="1100" b="0" i="0" u="none" strike="noStrike">
                          <a:solidFill>
                            <a:srgbClr val="000000"/>
                          </a:solidFill>
                          <a:effectLst/>
                          <a:latin typeface="Calibri" panose="020F0502020204030204" pitchFamily="34" charset="0"/>
                        </a:rPr>
                        <a:t>C DISPATCH</a:t>
                      </a:r>
                      <a:endParaRPr lang="vi-VN"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79-00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Hiện trượng TR Fault đã được Airbus nhận diện, Tàu A390 thực hiện OPS test satis, sau đó đã được thay Terminal Block (TM817) để phòng tránh hỏng hóc lặp lại. Theo thống kê sơ bộ, khoảng 30% số vụ OI do thồi ngược được khắc  phục sau khi thực hiện OPS test và khoảng 7% số vụ thực hiện thay TM817. Nguyên nhân phổ biến là do lỏng hoặc damage dây Linear Variable Differential Transducer (LVDT). Ngoài ra, hỏng hóc đoản mạch Terminal Block TM817 đi kèm msg “check oil QTY XMTR"/"check n4 BRG SCAV press XMTR circuit 4005en” là do hai chấu kim loại Terminal Block Rail chà xát vào Terminal Block do vibration. AIrbus đã có nâng cấp Terminal Block (đã thực hiện trên đội bay VNA) tuy nhiên họ cũng xác nhận tình trạng vibration vẫn có thể xảy ra sau đó.</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7114326"/>
                  </a:ext>
                </a:extLst>
              </a:tr>
            </a:tbl>
          </a:graphicData>
        </a:graphic>
      </p:graphicFrame>
    </p:spTree>
    <p:custDataLst>
      <p:tags r:id="rId1"/>
    </p:custDataLst>
    <p:extLst>
      <p:ext uri="{BB962C8B-B14F-4D97-AF65-F5344CB8AC3E}">
        <p14:creationId xmlns:p14="http://schemas.microsoft.com/office/powerpoint/2010/main" val="986582040"/>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52452E6-5DF7-4F8A-959D-4B1DD34CA726}" type="slidenum">
              <a:rPr kumimoji="0" lang="en-US" altLang="en-US" sz="1200" b="0" i="0" u="none" strike="noStrike" kern="1200" cap="none" spc="0" normalizeH="0" baseline="0" noProof="0" smtClean="0">
                <a:ln>
                  <a:noFill/>
                </a:ln>
                <a:solidFill>
                  <a:srgbClr val="D2A43B"/>
                </a:solidFill>
                <a:effectLst/>
                <a:uLnTx/>
                <a:uFillTx/>
                <a:latin typeface="Montserrat"/>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4</a:t>
            </a:fld>
            <a:endParaRPr kumimoji="0" lang="en-US" altLang="en-US" sz="1200" b="0" i="0" u="none" strike="noStrike" kern="1200" cap="none" spc="0" normalizeH="0" baseline="0" noProof="0">
              <a:ln>
                <a:noFill/>
              </a:ln>
              <a:solidFill>
                <a:srgbClr val="D2A43B"/>
              </a:solidFill>
              <a:effectLst/>
              <a:uLnTx/>
              <a:uFillTx/>
              <a:latin typeface="Montserrat"/>
              <a:ea typeface="+mn-ea"/>
              <a:cs typeface="+mn-cs"/>
            </a:endParaRPr>
          </a:p>
        </p:txBody>
      </p:sp>
      <p:sp>
        <p:nvSpPr>
          <p:cNvPr id="21506" name="Title 4"/>
          <p:cNvSpPr>
            <a:spLocks noGrp="1"/>
          </p:cNvSpPr>
          <p:nvPr>
            <p:ph type="title"/>
          </p:nvPr>
        </p:nvSpPr>
        <p:spPr>
          <a:xfrm>
            <a:off x="125862" y="49270"/>
            <a:ext cx="5131938" cy="636530"/>
          </a:xfrm>
        </p:spPr>
        <p:txBody>
          <a:bodyPr>
            <a:normAutofit/>
          </a:bodyPr>
          <a:lstStyle/>
          <a:p>
            <a:pPr algn="ctr" eaLnBrk="1" hangingPunct="1"/>
            <a:r>
              <a:rPr lang="en-US" alt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CÁC SỰ KIỆN ATB/GTB/DIV</a:t>
            </a:r>
            <a:endParaRPr lang="vi-VN" altLang="en-US" sz="2800"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CFEE23C1-B7EA-476A-9DFD-176A034D5BAE}"/>
              </a:ext>
            </a:extLst>
          </p:cNvPr>
          <p:cNvSpPr txBox="1"/>
          <p:nvPr/>
        </p:nvSpPr>
        <p:spPr>
          <a:xfrm>
            <a:off x="228602" y="615269"/>
            <a:ext cx="11553282" cy="369332"/>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RTO: </a:t>
            </a:r>
            <a:r>
              <a:rPr kumimoji="0" lang="vi-VN"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0</a:t>
            </a:r>
            <a:r>
              <a:rPr lang="en-US" b="1" dirty="0">
                <a:solidFill>
                  <a:prstClr val="black"/>
                </a:solidFill>
                <a:latin typeface="Times New Roman" panose="02020603050405020304" pitchFamily="18" charset="0"/>
                <a:ea typeface="MS PGothic" pitchFamily="34" charset="-128"/>
                <a:cs typeface="Times New Roman" panose="02020603050405020304" pitchFamily="18" charset="0"/>
              </a:rPr>
              <a:t>0</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ATB: 00</a:t>
            </a:r>
            <a:r>
              <a:rPr kumimoji="0" lang="en-US" sz="1800" b="1" i="0" u="none" strike="noStrike" kern="1200" cap="none" spc="0" normalizeH="0" baseline="0" noProof="0" dirty="0">
                <a:ln>
                  <a:noFill/>
                </a:ln>
                <a:solidFill>
                  <a:srgbClr val="FF0000"/>
                </a:solidFill>
                <a:effectLst/>
                <a:uLnTx/>
                <a:uFillTx/>
                <a:latin typeface="Times New Roman" panose="02020603050405020304" pitchFamily="18" charset="0"/>
                <a:ea typeface="MS PGothic" pitchFamily="34" charset="-128"/>
                <a:cs typeface="Times New Roman" panose="02020603050405020304" pitchFamily="18" charset="0"/>
              </a:rPr>
              <a:t>                      </a:t>
            </a:r>
            <a:r>
              <a:rPr kumimoji="0" lang="en-US" sz="1800" b="1" i="0" u="none" strike="noStrike" kern="1200" cap="none" spc="0" normalizeH="0" baseline="0" noProof="0" dirty="0">
                <a:ln>
                  <a:noFill/>
                </a:ln>
                <a:solidFill>
                  <a:prstClr val="black"/>
                </a:solidFill>
                <a:effectLst/>
                <a:uLnTx/>
                <a:uFillTx/>
                <a:latin typeface="Times New Roman" panose="02020603050405020304" pitchFamily="18" charset="0"/>
                <a:ea typeface="MS PGothic" pitchFamily="34" charset="-128"/>
                <a:cs typeface="Times New Roman" panose="02020603050405020304" pitchFamily="18" charset="0"/>
              </a:rPr>
              <a:t>GTB: 04		    DIV: 00</a:t>
            </a:r>
          </a:p>
        </p:txBody>
      </p:sp>
      <p:graphicFrame>
        <p:nvGraphicFramePr>
          <p:cNvPr id="3" name="Table 2"/>
          <p:cNvGraphicFramePr>
            <a:graphicFrameLocks noGrp="1"/>
          </p:cNvGraphicFramePr>
          <p:nvPr>
            <p:extLst>
              <p:ext uri="{D42A27DB-BD31-4B8C-83A1-F6EECF244321}">
                <p14:modId xmlns:p14="http://schemas.microsoft.com/office/powerpoint/2010/main" val="3072546354"/>
              </p:ext>
            </p:extLst>
          </p:nvPr>
        </p:nvGraphicFramePr>
        <p:xfrm>
          <a:off x="228602" y="1089938"/>
          <a:ext cx="11553282" cy="4881088"/>
        </p:xfrm>
        <a:graphic>
          <a:graphicData uri="http://schemas.openxmlformats.org/drawingml/2006/table">
            <a:tbl>
              <a:tblPr/>
              <a:tblGrid>
                <a:gridCol w="304798">
                  <a:extLst>
                    <a:ext uri="{9D8B030D-6E8A-4147-A177-3AD203B41FA5}">
                      <a16:colId xmlns:a16="http://schemas.microsoft.com/office/drawing/2014/main" val="2069637928"/>
                    </a:ext>
                  </a:extLst>
                </a:gridCol>
                <a:gridCol w="533400">
                  <a:extLst>
                    <a:ext uri="{9D8B030D-6E8A-4147-A177-3AD203B41FA5}">
                      <a16:colId xmlns:a16="http://schemas.microsoft.com/office/drawing/2014/main" val="464945370"/>
                    </a:ext>
                  </a:extLst>
                </a:gridCol>
                <a:gridCol w="381000">
                  <a:extLst>
                    <a:ext uri="{9D8B030D-6E8A-4147-A177-3AD203B41FA5}">
                      <a16:colId xmlns:a16="http://schemas.microsoft.com/office/drawing/2014/main" val="983633470"/>
                    </a:ext>
                  </a:extLst>
                </a:gridCol>
                <a:gridCol w="457200">
                  <a:extLst>
                    <a:ext uri="{9D8B030D-6E8A-4147-A177-3AD203B41FA5}">
                      <a16:colId xmlns:a16="http://schemas.microsoft.com/office/drawing/2014/main" val="3546262789"/>
                    </a:ext>
                  </a:extLst>
                </a:gridCol>
                <a:gridCol w="533400">
                  <a:extLst>
                    <a:ext uri="{9D8B030D-6E8A-4147-A177-3AD203B41FA5}">
                      <a16:colId xmlns:a16="http://schemas.microsoft.com/office/drawing/2014/main" val="1884039996"/>
                    </a:ext>
                  </a:extLst>
                </a:gridCol>
                <a:gridCol w="533400">
                  <a:extLst>
                    <a:ext uri="{9D8B030D-6E8A-4147-A177-3AD203B41FA5}">
                      <a16:colId xmlns:a16="http://schemas.microsoft.com/office/drawing/2014/main" val="3708349863"/>
                    </a:ext>
                  </a:extLst>
                </a:gridCol>
                <a:gridCol w="685800">
                  <a:extLst>
                    <a:ext uri="{9D8B030D-6E8A-4147-A177-3AD203B41FA5}">
                      <a16:colId xmlns:a16="http://schemas.microsoft.com/office/drawing/2014/main" val="2348454438"/>
                    </a:ext>
                  </a:extLst>
                </a:gridCol>
                <a:gridCol w="533400">
                  <a:extLst>
                    <a:ext uri="{9D8B030D-6E8A-4147-A177-3AD203B41FA5}">
                      <a16:colId xmlns:a16="http://schemas.microsoft.com/office/drawing/2014/main" val="546762004"/>
                    </a:ext>
                  </a:extLst>
                </a:gridCol>
                <a:gridCol w="1600200">
                  <a:extLst>
                    <a:ext uri="{9D8B030D-6E8A-4147-A177-3AD203B41FA5}">
                      <a16:colId xmlns:a16="http://schemas.microsoft.com/office/drawing/2014/main" val="995365909"/>
                    </a:ext>
                  </a:extLst>
                </a:gridCol>
                <a:gridCol w="2362200">
                  <a:extLst>
                    <a:ext uri="{9D8B030D-6E8A-4147-A177-3AD203B41FA5}">
                      <a16:colId xmlns:a16="http://schemas.microsoft.com/office/drawing/2014/main" val="2373089142"/>
                    </a:ext>
                  </a:extLst>
                </a:gridCol>
                <a:gridCol w="457200">
                  <a:extLst>
                    <a:ext uri="{9D8B030D-6E8A-4147-A177-3AD203B41FA5}">
                      <a16:colId xmlns:a16="http://schemas.microsoft.com/office/drawing/2014/main" val="403226314"/>
                    </a:ext>
                  </a:extLst>
                </a:gridCol>
                <a:gridCol w="3171284">
                  <a:extLst>
                    <a:ext uri="{9D8B030D-6E8A-4147-A177-3AD203B41FA5}">
                      <a16:colId xmlns:a16="http://schemas.microsoft.com/office/drawing/2014/main" val="1024986741"/>
                    </a:ext>
                  </a:extLst>
                </a:gridCol>
              </a:tblGrid>
              <a:tr h="163879">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cs typeface="Times New Roman" panose="02020603050405020304" pitchFamily="18" charset="0"/>
                        </a:rPr>
                        <a:t>FLEET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STA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ROUTE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DATE</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EVENT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REASON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ACTION TAKEN</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ATA</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cs typeface="Times New Roman" panose="02020603050405020304" pitchFamily="18" charset="0"/>
                        </a:rPr>
                        <a:t>Engineering Assessment</a:t>
                      </a:r>
                    </a:p>
                  </a:txBody>
                  <a:tcPr marL="6828" marR="6828" marT="682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960306995"/>
                  </a:ext>
                </a:extLst>
              </a:tr>
              <a:tr h="1311036">
                <a:tc>
                  <a:txBody>
                    <a:bodyPr/>
                    <a:lstStyle/>
                    <a:p>
                      <a:pPr algn="ctr" fontAlgn="b"/>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A335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VN1374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SGN-HUI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24/02/2025 16:20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A335+GTB/MOR: A/C HAD MSG `AIR L WING LEAK` &lt;p&gt;AFTER START ENG CAPT INFORM VIA VHF A/C HAD MSG &amp;#96;AIR L WING LEAK&amp;#96; .&amp;#160;TSV &amp;#160;ADVICE CAPT FOLLOW PROCEDURE.CAPT DECIDED RETURN GATE&lt;/p&gt;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FINAL </a:t>
                      </a:r>
                      <a:r>
                        <a:rPr lang="en-US" sz="1100" b="0" i="0" u="none" strike="noStrike" dirty="0">
                          <a:solidFill>
                            <a:srgbClr val="000000"/>
                          </a:solidFill>
                          <a:effectLst/>
                          <a:latin typeface="Calibri" panose="020F0502020204030204" pitchFamily="34" charset="0"/>
                        </a:rPr>
                        <a:t>ACTION:&lt;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REPLACED NEW CABLE AND LEAK CHECK PACK SATIS. A/C SERVICEABLE&lt;/p&gt;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 A/C HAD MSG `AIR L WING LEAK` EVENT CLOSED &lt;p</a:t>
                      </a:r>
                      <a:r>
                        <a:rPr lang="en-US" sz="1100" b="0" i="0" u="none" strike="noStrike">
                          <a:solidFill>
                            <a:srgbClr val="000000"/>
                          </a:solidFill>
                          <a:effectLst/>
                          <a:latin typeface="Calibri" panose="020F0502020204030204" pitchFamily="34" charset="0"/>
                        </a:rPr>
                        <a:t>&gt;FINAL</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dirty="0">
                          <a:solidFill>
                            <a:srgbClr val="000000"/>
                          </a:solidFill>
                          <a:effectLst/>
                          <a:latin typeface="Calibri" panose="020F0502020204030204" pitchFamily="34" charset="0"/>
                        </a:rPr>
                        <a:t>36-00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Nguyên nhân là do đứt cable , trước đây đã xảy ra 02 lần trên A334 năm 2022 và A606 năm 2023 gây ra leak khí và xuất hiện cảnh báo air wing leak. Đánh giá nguyên nhân là do độ bền của dây cáp bị xuống cấp sau một thời gian dài khai thác hoặc do dây bị căng quá mức cùng với ảnh hưởng của quá trình khai thác. Hiện phòng KT đã yêu cầu Vaeco trong thời gian tới khi thực hiện kiểm tra check leak sẽ kiểm tra lại cả chất lượng dây cáp ở các vị trí đã có lịch sử bị đứt và torque lại, nếu chất lượng không đảm bảo sẽ cho thay mới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20185624"/>
                  </a:ext>
                </a:extLst>
              </a:tr>
              <a:tr h="1311036">
                <a:tc>
                  <a:txBody>
                    <a:bodyPr/>
                    <a:lstStyle/>
                    <a:p>
                      <a:pPr algn="ctr" fontAlgn="b"/>
                      <a:r>
                        <a:rPr lang="en-US" sz="1100" b="0" i="0" u="none" strike="noStrike" dirty="0">
                          <a:solidFill>
                            <a:srgbClr val="000000"/>
                          </a:solidFill>
                          <a:effectLst/>
                          <a:latin typeface="Calibri" panose="020F0502020204030204" pitchFamily="34" charset="0"/>
                        </a:rPr>
                        <a:t>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A321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A608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VN1237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HAN-PQC</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24/02/2025 10:15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OGTB</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DURING PUSHBACK CAPT’ REPORT: ENG#2 START FAULT &lt;p&gt;During pushback Capt’ report: Eng#2 start fault. A/c return to gate&lt;/p&gt;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&lt;p&gt;Eng#2 start fault (Eng 2 starter valve not open), After return to gate, Capt’ re-start Eng#2 -&amp;gt; satis&lt;/p&gt; CAPT’ REPORT: ENG#2 START FAULT EVENT CLOSED &lt;p&gt;&lt;/p&gt; &lt;div&gt;&lt;strong&gt;ENG#2 START FAULT&lt;/strong&gt;&lt;/div&gt;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&lt;p&gt;&amp;#160;&lt;/p&gt;&lt;div&gt;&lt;strong&gt;ENG#2 START FAULT&lt;/strong&gt;&lt;/div&gt;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100" b="0" i="0" u="none" strike="noStrike">
                          <a:solidFill>
                            <a:srgbClr val="000000"/>
                          </a:solidFill>
                          <a:effectLst/>
                          <a:latin typeface="Calibri" panose="020F0502020204030204" pitchFamily="34" charset="0"/>
                        </a:rPr>
                        <a:t>80-13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100" b="0" i="0" u="none" strike="noStrike" dirty="0">
                          <a:solidFill>
                            <a:srgbClr val="000000"/>
                          </a:solidFill>
                          <a:effectLst/>
                          <a:latin typeface="Calibri" panose="020F0502020204030204" pitchFamily="34" charset="0"/>
                        </a:rPr>
                        <a:t>Động cơ V16402 có TSN/CSN = 32162/18452; TSO/CSO = 10094/7014. Khi tàu push back, tổ bay không khởi động được động cơ do Starter Valve không mở nhưng tổ bay không gọi VHF mà cho tàu quay lại luôn. Với hỏng hóc này có thể manual start, tuy nhiên sau khi quay lại, tổ bay tự nổ lại thành công mà không cần nổ manual. Khi tàu N/S, Vaeco đã cho thay Starter Valve để theo dõi thêm. Trong năm 2024 chỉ tháo 2 khối Starter Valve ngoài kế hoạch. Starter Valve PN 790424-4 SN A4595 có TSO/CSO = 350/253, lắp lên V16402 ngày 15/01 trong check do bị rob. Do thiết bị mới OVH nên đang nghi ngờ khả năng bị intermittent. Vaeco đang hỏi OEM về việc cho recertify và dùng lại. Qua theo dõi trên ADEM, động cơ V16402 có dấu hiệu bị HPC bleed leak kể từ ngày 23/02. Vaeco đang lên kế hoạch T/S theo khuyến cáo của P&amp;W. Sẽ tiếp tục theo dõi và cập nhật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2639194"/>
                  </a:ext>
                </a:extLst>
              </a:tr>
            </a:tbl>
          </a:graphicData>
        </a:graphic>
      </p:graphicFrame>
    </p:spTree>
    <p:custDataLst>
      <p:tags r:id="rId1"/>
    </p:custDataLst>
    <p:extLst>
      <p:ext uri="{BB962C8B-B14F-4D97-AF65-F5344CB8AC3E}">
        <p14:creationId xmlns:p14="http://schemas.microsoft.com/office/powerpoint/2010/main" val="1963383438"/>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6"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6C6B6B8D-D74E-47CD-B5EE-156060B7CD17}" type="slidenum">
              <a:rPr kumimoji="0" lang="en-US" sz="1200" b="0" i="0" u="none" strike="noStrike" kern="1200" cap="none" spc="0" normalizeH="0" baseline="0" noProof="0" smtClean="0">
                <a:ln>
                  <a:noFill/>
                </a:ln>
                <a:solidFill>
                  <a:srgbClr val="D2A43B"/>
                </a:solidFill>
                <a:effectLst/>
                <a:uLnTx/>
                <a:uFillTx/>
                <a:latin typeface="Montserrat" pitchFamily="2" charset="77"/>
                <a:ea typeface="+mn-ea"/>
                <a:cs typeface="+mn-cs"/>
              </a:rPr>
              <a:t>5</a:t>
            </a:fld>
            <a:endParaRPr kumimoji="0" lang="en-US" sz="1200" b="0" i="0" u="none" strike="noStrike" kern="1200" cap="none" spc="0" normalizeH="0" baseline="0" noProof="0">
              <a:ln>
                <a:noFill/>
              </a:ln>
              <a:solidFill>
                <a:srgbClr val="D2A43B"/>
              </a:solidFill>
              <a:effectLst/>
              <a:uLnTx/>
              <a:uFillTx/>
              <a:latin typeface="Montserrat" pitchFamily="2" charset="77"/>
              <a:ea typeface="+mn-ea"/>
              <a:cs typeface="+mn-cs"/>
            </a:endParaRPr>
          </a:p>
        </p:txBody>
      </p:sp>
      <p:sp>
        <p:nvSpPr>
          <p:cNvPr id="1048595" name="Title 4"/>
          <p:cNvSpPr>
            <a:spLocks noGrp="1"/>
          </p:cNvSpPr>
          <p:nvPr>
            <p:ph type="title"/>
          </p:nvPr>
        </p:nvSpPr>
        <p:spPr>
          <a:xfrm>
            <a:off x="381000" y="290517"/>
            <a:ext cx="11277597" cy="428634"/>
          </a:xfrm>
        </p:spPr>
        <p:txBody>
          <a:bodyPr>
            <a:normAutofit fontScale="90000"/>
          </a:bodyPr>
          <a:lstStyle/>
          <a:p>
            <a:pPr algn="ctr"/>
            <a:r>
              <a:rPr kumimoji="0" lang="en-US" sz="2800" b="1" i="0" u="none" strike="noStrike" kern="1200" cap="none" spc="0" normalizeH="0" baseline="0" noProof="0">
                <a:ln>
                  <a:noFill/>
                </a:ln>
                <a:solidFill>
                  <a:srgbClr val="FFC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CÁC SỰ KIỆN </a:t>
            </a:r>
            <a:r>
              <a:rPr lang="en-US" sz="280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MOR</a:t>
            </a:r>
            <a:endParaRPr lang="vi-VN" sz="2800" dirty="0">
              <a:ln w="0"/>
              <a:solidFill>
                <a:srgbClr val="FFC000"/>
              </a:solidFill>
              <a:latin typeface="Times New Roman" panose="02020603050405020304" pitchFamily="18" charset="0"/>
              <a:cs typeface="Times New Roman" panose="02020603050405020304" pitchFamily="18" charset="0"/>
            </a:endParaRPr>
          </a:p>
        </p:txBody>
      </p:sp>
      <p:graphicFrame>
        <p:nvGraphicFramePr>
          <p:cNvPr id="2" name="Table 1">
            <a:extLst>
              <a:ext uri="{FF2B5EF4-FFF2-40B4-BE49-F238E27FC236}">
                <a16:creationId xmlns:a16="http://schemas.microsoft.com/office/drawing/2014/main" id="{7190AA65-ACD8-DB65-2862-8FE1EA5FD7D4}"/>
              </a:ext>
            </a:extLst>
          </p:cNvPr>
          <p:cNvGraphicFramePr>
            <a:graphicFrameLocks noGrp="1"/>
          </p:cNvGraphicFramePr>
          <p:nvPr>
            <p:extLst>
              <p:ext uri="{D42A27DB-BD31-4B8C-83A1-F6EECF244321}">
                <p14:modId xmlns:p14="http://schemas.microsoft.com/office/powerpoint/2010/main" val="2552343536"/>
              </p:ext>
            </p:extLst>
          </p:nvPr>
        </p:nvGraphicFramePr>
        <p:xfrm>
          <a:off x="228600" y="838200"/>
          <a:ext cx="11582401" cy="5905640"/>
        </p:xfrm>
        <a:graphic>
          <a:graphicData uri="http://schemas.openxmlformats.org/drawingml/2006/table">
            <a:tbl>
              <a:tblPr/>
              <a:tblGrid>
                <a:gridCol w="639205">
                  <a:extLst>
                    <a:ext uri="{9D8B030D-6E8A-4147-A177-3AD203B41FA5}">
                      <a16:colId xmlns:a16="http://schemas.microsoft.com/office/drawing/2014/main" val="1159410311"/>
                    </a:ext>
                  </a:extLst>
                </a:gridCol>
                <a:gridCol w="524148">
                  <a:extLst>
                    <a:ext uri="{9D8B030D-6E8A-4147-A177-3AD203B41FA5}">
                      <a16:colId xmlns:a16="http://schemas.microsoft.com/office/drawing/2014/main" val="806861015"/>
                    </a:ext>
                  </a:extLst>
                </a:gridCol>
                <a:gridCol w="575285">
                  <a:extLst>
                    <a:ext uri="{9D8B030D-6E8A-4147-A177-3AD203B41FA5}">
                      <a16:colId xmlns:a16="http://schemas.microsoft.com/office/drawing/2014/main" val="2527962719"/>
                    </a:ext>
                  </a:extLst>
                </a:gridCol>
                <a:gridCol w="600853">
                  <a:extLst>
                    <a:ext uri="{9D8B030D-6E8A-4147-A177-3AD203B41FA5}">
                      <a16:colId xmlns:a16="http://schemas.microsoft.com/office/drawing/2014/main" val="2541031"/>
                    </a:ext>
                  </a:extLst>
                </a:gridCol>
                <a:gridCol w="549717">
                  <a:extLst>
                    <a:ext uri="{9D8B030D-6E8A-4147-A177-3AD203B41FA5}">
                      <a16:colId xmlns:a16="http://schemas.microsoft.com/office/drawing/2014/main" val="4072588774"/>
                    </a:ext>
                  </a:extLst>
                </a:gridCol>
                <a:gridCol w="473012">
                  <a:extLst>
                    <a:ext uri="{9D8B030D-6E8A-4147-A177-3AD203B41FA5}">
                      <a16:colId xmlns:a16="http://schemas.microsoft.com/office/drawing/2014/main" val="3575509229"/>
                    </a:ext>
                  </a:extLst>
                </a:gridCol>
                <a:gridCol w="639205">
                  <a:extLst>
                    <a:ext uri="{9D8B030D-6E8A-4147-A177-3AD203B41FA5}">
                      <a16:colId xmlns:a16="http://schemas.microsoft.com/office/drawing/2014/main" val="3821834433"/>
                    </a:ext>
                  </a:extLst>
                </a:gridCol>
                <a:gridCol w="754263">
                  <a:extLst>
                    <a:ext uri="{9D8B030D-6E8A-4147-A177-3AD203B41FA5}">
                      <a16:colId xmlns:a16="http://schemas.microsoft.com/office/drawing/2014/main" val="484707431"/>
                    </a:ext>
                  </a:extLst>
                </a:gridCol>
                <a:gridCol w="3004265">
                  <a:extLst>
                    <a:ext uri="{9D8B030D-6E8A-4147-A177-3AD203B41FA5}">
                      <a16:colId xmlns:a16="http://schemas.microsoft.com/office/drawing/2014/main" val="1534104731"/>
                    </a:ext>
                  </a:extLst>
                </a:gridCol>
                <a:gridCol w="3822448">
                  <a:extLst>
                    <a:ext uri="{9D8B030D-6E8A-4147-A177-3AD203B41FA5}">
                      <a16:colId xmlns:a16="http://schemas.microsoft.com/office/drawing/2014/main" val="736056807"/>
                    </a:ext>
                  </a:extLst>
                </a:gridCol>
              </a:tblGrid>
              <a:tr h="166740">
                <a:tc>
                  <a:txBody>
                    <a:bodyPr/>
                    <a:lstStyle/>
                    <a:p>
                      <a:pPr algn="ctr" fontAlgn="ctr"/>
                      <a:r>
                        <a:rPr lang="en-US" sz="1100" b="0" i="0" u="none" strike="noStrike">
                          <a:solidFill>
                            <a:srgbClr val="000000"/>
                          </a:solidFill>
                          <a:effectLst/>
                          <a:latin typeface="Times New Roman" panose="02020603050405020304" pitchFamily="18" charset="0"/>
                        </a:rPr>
                        <a:t>REG.</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FLEET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YEAR</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MONTH</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DATE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FLIGHT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DEP-ARV</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CORRECTIVE ACTION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533462523"/>
                  </a:ext>
                </a:extLst>
              </a:tr>
              <a:tr h="327243">
                <a:tc>
                  <a:txBody>
                    <a:bodyPr/>
                    <a:lstStyle/>
                    <a:p>
                      <a:pPr algn="l" fontAlgn="ctr"/>
                      <a:r>
                        <a:rPr lang="en-US" sz="1100" b="0" i="0" u="none" strike="noStrike">
                          <a:solidFill>
                            <a:srgbClr val="000000"/>
                          </a:solidFill>
                          <a:effectLst/>
                          <a:latin typeface="Calibri" panose="020F0502020204030204" pitchFamily="34" charset="0"/>
                        </a:rPr>
                        <a:t>A608</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VN1237</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HAN-PQC</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DURING PUSHBACK CAPT’ REPORT: ENG#2 START FAULT </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Eng#2 start fault (Eng 2 starter valve not open), After return to gate, Capt’ re-start Eng#2; satis</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6853266"/>
                  </a:ext>
                </a:extLst>
              </a:tr>
              <a:tr h="817814">
                <a:tc>
                  <a:txBody>
                    <a:bodyPr/>
                    <a:lstStyle/>
                    <a:p>
                      <a:pPr algn="l" fontAlgn="ctr"/>
                      <a:r>
                        <a:rPr lang="en-US" sz="1100" b="0" i="0" u="none" strike="noStrike">
                          <a:solidFill>
                            <a:srgbClr val="000000"/>
                          </a:solidFill>
                          <a:effectLst/>
                          <a:latin typeface="Calibri" panose="020F0502020204030204" pitchFamily="34" charset="0"/>
                        </a:rPr>
                        <a:t>A335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VN1374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SGN-HUI</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A335+GTB/MOR: A/C HAD MSG `AIR L WING LEAK` AFTER START ENG CAPT INFORM VIA VHF A/C HAD MSG &amp;#96;AIR L WING LEAK&amp;#96; .&amp;#160;TSV &amp;#160;ADVICE CAPT FOLLOW PROCEDURE.CAPT DECIDED RETURN GATE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C/O REPLACED NEW CABLE AND LEAK CHECK PACK SATIS. A/C SERVICEABLE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9629089"/>
                  </a:ext>
                </a:extLst>
              </a:tr>
              <a:tr h="1308971">
                <a:tc>
                  <a:txBody>
                    <a:bodyPr/>
                    <a:lstStyle/>
                    <a:p>
                      <a:pPr algn="l" fontAlgn="ctr"/>
                      <a:r>
                        <a:rPr lang="en-US" sz="1100" b="0" i="0" u="none" strike="noStrike">
                          <a:solidFill>
                            <a:srgbClr val="000000"/>
                          </a:solidFill>
                          <a:effectLst/>
                          <a:latin typeface="Calibri" panose="020F0502020204030204" pitchFamily="34" charset="0"/>
                        </a:rPr>
                        <a:t>A611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VN604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SGN-TPE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DURING TRANSIT FOUND BIRD STRIKE AT ENG#1 &lt;p&gt;AFTER VN604/BKK-SGN &amp;#160;FOUND BIRD STRIKE AT ENG#1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FINAL ACTION:</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C/O INSP A/C &amp;#160;AFTER &amp;#160;BIRD STRIKE &amp;#160;REF AMM &amp;#160;05-51-15-200-803A, NO OTHER DAMAGE</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REF BSI &amp;#160;REPORT BSI02-250093 INSPECTION LPC , STAGE 1.5,2.5, HPC STAGE 3,6, &amp;#160;AND AMM 72-00-00-200-010-A INSP ENG#1 AFTER BIRD STRIKE , CHECK SATIS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CLEAN ALL BIRD DEBRIS, CHECK SATIS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 SERVICEABLE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979520215"/>
                  </a:ext>
                </a:extLst>
              </a:tr>
              <a:tr h="1145058">
                <a:tc>
                  <a:txBody>
                    <a:bodyPr/>
                    <a:lstStyle/>
                    <a:p>
                      <a:pPr algn="l" fontAlgn="ctr"/>
                      <a:r>
                        <a:rPr lang="en-US" sz="1100" b="0" i="0" u="none" strike="noStrike">
                          <a:solidFill>
                            <a:srgbClr val="000000"/>
                          </a:solidFill>
                          <a:effectLst/>
                          <a:latin typeface="Calibri" panose="020F0502020204030204" pitchFamily="34" charset="0"/>
                        </a:rPr>
                        <a:t>A390</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VII</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VN1268</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ENG 2 REVERSER FAULT + LOSS ENG 2 OIL QTY ON ENG PAGE &lt;p&gt;DURING PUSHBACK CAP INFORMATION ENG 2 REVERSER FAULT, LOSS ENG 2 OIL QTY ON ENG PAGE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REF TSM:79-00-00-810-832-A REV 2/25.C/OUT OPS TEST THRUST REVERSER ENG</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2 VIA CFDS IAW AMM 78-31-00-710-041 REV 2/25 ALL FOUND SATIS,C/OUT OPS</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EIU ENG 2 IAW AMM 73-25-34-710-042 REV 2/25 ALL FOUND SATIS. ENG OIL</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QTY ENG2 INDICATION NORMAL.A/C DISPATCH</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09292998"/>
                  </a:ext>
                </a:extLst>
              </a:tr>
              <a:tr h="654485">
                <a:tc>
                  <a:txBody>
                    <a:bodyPr/>
                    <a:lstStyle/>
                    <a:p>
                      <a:pPr algn="l" fontAlgn="ctr"/>
                      <a:r>
                        <a:rPr lang="en-US" sz="1100" b="0" i="0" u="none" strike="noStrike">
                          <a:solidFill>
                            <a:srgbClr val="000000"/>
                          </a:solidFill>
                          <a:effectLst/>
                          <a:latin typeface="Calibri" panose="020F0502020204030204" pitchFamily="34" charset="0"/>
                        </a:rPr>
                        <a:t>A398</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VN1405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SGN-HUI</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TRANSIT CHECK FOUND BIRD STRIKE AT RADOM </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REPLACED RADOM CHECK SATIS, A/C SERVICEABLE&lt;/p&gt; TRANSIT CHECK FOUND BIRD STRIKE AT RADOM EVENT CLOSED </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
                      </a:r>
                      <a:br>
                        <a:rPr lang="en-SG" sz="1100" b="0" i="0" u="none" strike="noStrike">
                          <a:solidFill>
                            <a:srgbClr val="000000"/>
                          </a:solidFill>
                          <a:effectLst/>
                          <a:latin typeface="Calibri" panose="020F0502020204030204" pitchFamily="34" charset="0"/>
                        </a:rPr>
                      </a:br>
                      <a:endParaRPr lang="en-SG" sz="1100" b="0" i="0" u="none" strike="noStrike">
                        <a:solidFill>
                          <a:srgbClr val="000000"/>
                        </a:solidFill>
                        <a:effectLst/>
                        <a:latin typeface="Calibri" panose="020F0502020204030204" pitchFamily="34" charset="0"/>
                      </a:endParaRP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7350864"/>
                  </a:ext>
                </a:extLst>
              </a:tr>
              <a:tr h="491157">
                <a:tc>
                  <a:txBody>
                    <a:bodyPr/>
                    <a:lstStyle/>
                    <a:p>
                      <a:pPr algn="l" fontAlgn="ctr"/>
                      <a:r>
                        <a:rPr lang="en-US" sz="1100" b="0" i="0" u="none" strike="noStrike">
                          <a:solidFill>
                            <a:srgbClr val="000000"/>
                          </a:solidFill>
                          <a:effectLst/>
                          <a:latin typeface="Calibri" panose="020F0502020204030204" pitchFamily="34" charset="0"/>
                        </a:rPr>
                        <a:t>A356</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A321</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26</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BKK</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VN614</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BKK-HAN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RTG DUE TO APU AUTO SHUTDOWN AND ENG#2 START FAULT RTG DUE TO APU AUTO SHUTDOWN AND ENG#2 START FAULT.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RESET CB APU AND DRY MOTORING ENG.2 FOUND NORMAL</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RAISED ADD FOR APU INOP</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01328630"/>
                  </a:ext>
                </a:extLst>
              </a:tr>
              <a:tr h="817814">
                <a:tc>
                  <a:txBody>
                    <a:bodyPr/>
                    <a:lstStyle/>
                    <a:p>
                      <a:pPr algn="l" fontAlgn="ctr"/>
                      <a:r>
                        <a:rPr lang="en-US" sz="1100" b="0" i="0" u="none" strike="noStrike">
                          <a:solidFill>
                            <a:srgbClr val="000000"/>
                          </a:solidFill>
                          <a:effectLst/>
                          <a:latin typeface="Calibri" panose="020F0502020204030204" pitchFamily="34" charset="0"/>
                        </a:rPr>
                        <a:t>B219</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ATR72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2025</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r" fontAlgn="ctr"/>
                      <a:r>
                        <a:rPr lang="en-US" sz="1100" b="0" i="0" u="none" strike="noStrike">
                          <a:solidFill>
                            <a:srgbClr val="000000"/>
                          </a:solidFill>
                          <a:effectLst/>
                          <a:latin typeface="Calibri" panose="020F0502020204030204" pitchFamily="34" charset="0"/>
                        </a:rPr>
                        <a:t>26</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SGN</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VN8056</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100" b="0" i="0" u="none" strike="noStrike">
                          <a:solidFill>
                            <a:srgbClr val="000000"/>
                          </a:solidFill>
                          <a:effectLst/>
                          <a:latin typeface="Calibri" panose="020F0502020204030204" pitchFamily="34" charset="0"/>
                        </a:rPr>
                        <a:t>VCS - </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ENG #1 UPPER COWL CRACKED ON LH EDGE DAMAGE OUT OF LIMIT. AFTER VN8056 VCS-SGN: TERMINAL CHECK FOUND ENG #1 UPPER COWL CRACKED ON LH EDGE</a:t>
                      </a:r>
                      <a:br>
                        <a:rPr lang="en-SG" sz="1100" b="0" i="0" u="none" strike="noStrike">
                          <a:solidFill>
                            <a:srgbClr val="000000"/>
                          </a:solidFill>
                          <a:effectLst/>
                          <a:latin typeface="Calibri" panose="020F0502020204030204" pitchFamily="34" charset="0"/>
                        </a:rPr>
                      </a:br>
                      <a:r>
                        <a:rPr lang="en-SG" sz="1100" b="0" i="0" u="none" strike="noStrike">
                          <a:solidFill>
                            <a:srgbClr val="000000"/>
                          </a:solidFill>
                          <a:effectLst/>
                          <a:latin typeface="Calibri" panose="020F0502020204030204" pitchFamily="34" charset="0"/>
                        </a:rPr>
                        <a:t>DAMAGE OUT OF LIMIT</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Calibri" panose="020F0502020204030204" pitchFamily="34" charset="0"/>
                        </a:rPr>
                        <a:t>&lt;p&gt;FINAL ACTION: C/O REPAIRED UPPER COWL FAIRING OF ENG#1 SATIS &amp;#160;(I.A.W SRM 54-12-61-300-812-A01; 54-12-61-300-813-A01 REV 118). A/C SERVICEABLE</a:t>
                      </a:r>
                    </a:p>
                  </a:txBody>
                  <a:tcPr marL="4780" marR="4780" marT="478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74733196"/>
                  </a:ext>
                </a:extLst>
              </a:tr>
            </a:tbl>
          </a:graphicData>
        </a:graphic>
      </p:graphicFrame>
    </p:spTree>
    <p:extLst>
      <p:ext uri="{BB962C8B-B14F-4D97-AF65-F5344CB8AC3E}">
        <p14:creationId xmlns:p14="http://schemas.microsoft.com/office/powerpoint/2010/main" val="2167133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6</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07979" y="295296"/>
            <a:ext cx="11556838" cy="424691"/>
          </a:xfrm>
          <a:prstGeom prst="rect">
            <a:avLst/>
          </a:prstGeom>
          <a:noFill/>
          <a:ln>
            <a:noFill/>
          </a:ln>
        </p:spPr>
        <p:txBody>
          <a:bodyPr spcFirstLastPara="1" wrap="square" lIns="91433" tIns="45700" rIns="91433" bIns="45700" anchor="t" anchorCtr="0">
            <a:spAutoFit/>
          </a:bodyPr>
          <a:lstStyle/>
          <a:p>
            <a:pPr lvl="0">
              <a:lnSpc>
                <a:spcPct val="90000"/>
              </a:lnSpc>
              <a:buClr>
                <a:srgbClr val="DEA610"/>
              </a:buClr>
              <a:buSzPts val="2100"/>
            </a:pPr>
            <a:r>
              <a:rPr lang="en-US"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SemiBold"/>
              </a:rPr>
              <a:t>CÁC CHUYẾN BAY DELAY ĐẦU NGÀY VÀ DELAY DO THAY LỐP</a:t>
            </a:r>
            <a:endParaRPr sz="2400" b="1"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sym typeface="Montserrat"/>
            </a:endParaRPr>
          </a:p>
        </p:txBody>
      </p:sp>
      <p:sp>
        <p:nvSpPr>
          <p:cNvPr id="6" name="TextBox 5">
            <a:extLst>
              <a:ext uri="{FF2B5EF4-FFF2-40B4-BE49-F238E27FC236}">
                <a16:creationId xmlns:a16="http://schemas.microsoft.com/office/drawing/2014/main" id="{2A0D8269-7016-40C9-871E-187A7FEACF1F}"/>
              </a:ext>
            </a:extLst>
          </p:cNvPr>
          <p:cNvSpPr txBox="1"/>
          <p:nvPr/>
        </p:nvSpPr>
        <p:spPr>
          <a:xfrm>
            <a:off x="302664" y="74355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ĐẦU NGÀY</a:t>
            </a:r>
          </a:p>
        </p:txBody>
      </p:sp>
      <p:graphicFrame>
        <p:nvGraphicFramePr>
          <p:cNvPr id="3" name="Table 2"/>
          <p:cNvGraphicFramePr>
            <a:graphicFrameLocks noGrp="1"/>
          </p:cNvGraphicFramePr>
          <p:nvPr>
            <p:extLst>
              <p:ext uri="{D42A27DB-BD31-4B8C-83A1-F6EECF244321}">
                <p14:modId xmlns:p14="http://schemas.microsoft.com/office/powerpoint/2010/main" val="3295577304"/>
              </p:ext>
            </p:extLst>
          </p:nvPr>
        </p:nvGraphicFramePr>
        <p:xfrm>
          <a:off x="301591" y="1079799"/>
          <a:ext cx="11463226" cy="868299"/>
        </p:xfrm>
        <a:graphic>
          <a:graphicData uri="http://schemas.openxmlformats.org/drawingml/2006/table">
            <a:tbl>
              <a:tblPr/>
              <a:tblGrid>
                <a:gridCol w="427560">
                  <a:extLst>
                    <a:ext uri="{9D8B030D-6E8A-4147-A177-3AD203B41FA5}">
                      <a16:colId xmlns:a16="http://schemas.microsoft.com/office/drawing/2014/main" val="1400939127"/>
                    </a:ext>
                  </a:extLst>
                </a:gridCol>
                <a:gridCol w="531561">
                  <a:extLst>
                    <a:ext uri="{9D8B030D-6E8A-4147-A177-3AD203B41FA5}">
                      <a16:colId xmlns:a16="http://schemas.microsoft.com/office/drawing/2014/main" val="815328117"/>
                    </a:ext>
                  </a:extLst>
                </a:gridCol>
                <a:gridCol w="381337">
                  <a:extLst>
                    <a:ext uri="{9D8B030D-6E8A-4147-A177-3AD203B41FA5}">
                      <a16:colId xmlns:a16="http://schemas.microsoft.com/office/drawing/2014/main" val="1720360630"/>
                    </a:ext>
                  </a:extLst>
                </a:gridCol>
                <a:gridCol w="1155567">
                  <a:extLst>
                    <a:ext uri="{9D8B030D-6E8A-4147-A177-3AD203B41FA5}">
                      <a16:colId xmlns:a16="http://schemas.microsoft.com/office/drawing/2014/main" val="1684777201"/>
                    </a:ext>
                  </a:extLst>
                </a:gridCol>
                <a:gridCol w="392893">
                  <a:extLst>
                    <a:ext uri="{9D8B030D-6E8A-4147-A177-3AD203B41FA5}">
                      <a16:colId xmlns:a16="http://schemas.microsoft.com/office/drawing/2014/main" val="1451179484"/>
                    </a:ext>
                  </a:extLst>
                </a:gridCol>
                <a:gridCol w="751118">
                  <a:extLst>
                    <a:ext uri="{9D8B030D-6E8A-4147-A177-3AD203B41FA5}">
                      <a16:colId xmlns:a16="http://schemas.microsoft.com/office/drawing/2014/main" val="2273417757"/>
                    </a:ext>
                  </a:extLst>
                </a:gridCol>
                <a:gridCol w="658673">
                  <a:extLst>
                    <a:ext uri="{9D8B030D-6E8A-4147-A177-3AD203B41FA5}">
                      <a16:colId xmlns:a16="http://schemas.microsoft.com/office/drawing/2014/main" val="3922052826"/>
                    </a:ext>
                  </a:extLst>
                </a:gridCol>
                <a:gridCol w="774230">
                  <a:extLst>
                    <a:ext uri="{9D8B030D-6E8A-4147-A177-3AD203B41FA5}">
                      <a16:colId xmlns:a16="http://schemas.microsoft.com/office/drawing/2014/main" val="3029852354"/>
                    </a:ext>
                  </a:extLst>
                </a:gridCol>
                <a:gridCol w="2403580">
                  <a:extLst>
                    <a:ext uri="{9D8B030D-6E8A-4147-A177-3AD203B41FA5}">
                      <a16:colId xmlns:a16="http://schemas.microsoft.com/office/drawing/2014/main" val="2636508086"/>
                    </a:ext>
                  </a:extLst>
                </a:gridCol>
                <a:gridCol w="3986707">
                  <a:extLst>
                    <a:ext uri="{9D8B030D-6E8A-4147-A177-3AD203B41FA5}">
                      <a16:colId xmlns:a16="http://schemas.microsoft.com/office/drawing/2014/main" val="1882276902"/>
                    </a:ext>
                  </a:extLst>
                </a:gridCol>
              </a:tblGrid>
              <a:tr h="289698">
                <a:tc>
                  <a:txBody>
                    <a:bodyPr/>
                    <a:lstStyle/>
                    <a:p>
                      <a:pPr algn="ctr" fontAlgn="ctr"/>
                      <a:r>
                        <a:rPr lang="en-US" sz="1200" b="1" i="0" u="none" strike="noStrike" dirty="0">
                          <a:solidFill>
                            <a:srgbClr val="000000"/>
                          </a:solidFill>
                          <a:effectLst/>
                          <a:latin typeface="Times New Roman" panose="02020603050405020304" pitchFamily="18" charset="0"/>
                          <a:cs typeface="Times New Roman" panose="02020603050405020304" pitchFamily="18" charset="0"/>
                        </a:rPr>
                        <a:t>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FLEET</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A/C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DATE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STA</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MINUTES</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FLIGHT NO</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ROUTINE</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DESC</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200" b="1" i="0" u="none" strike="noStrike">
                          <a:solidFill>
                            <a:srgbClr val="000000"/>
                          </a:solidFill>
                          <a:effectLst/>
                          <a:latin typeface="Times New Roman" panose="02020603050405020304" pitchFamily="18" charset="0"/>
                          <a:cs typeface="Times New Roman" panose="02020603050405020304" pitchFamily="18" charset="0"/>
                        </a:rPr>
                        <a:t>DELAY ACTION</a:t>
                      </a:r>
                    </a:p>
                  </a:txBody>
                  <a:tcPr marL="6360" marR="6360" marT="636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1039288818"/>
                  </a:ext>
                </a:extLst>
              </a:tr>
              <a:tr h="496179">
                <a:tc>
                  <a:txBody>
                    <a:bodyPr/>
                    <a:lstStyle/>
                    <a:p>
                      <a:pPr algn="ctr"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Nil</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US"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vi-VN" sz="12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97811605"/>
                  </a:ext>
                </a:extLst>
              </a:tr>
            </a:tbl>
          </a:graphicData>
        </a:graphic>
      </p:graphicFrame>
      <p:sp>
        <p:nvSpPr>
          <p:cNvPr id="5" name="TextBox 4">
            <a:extLst>
              <a:ext uri="{FF2B5EF4-FFF2-40B4-BE49-F238E27FC236}">
                <a16:creationId xmlns:a16="http://schemas.microsoft.com/office/drawing/2014/main" id="{92DF34E4-5EAF-DD7F-DEE2-26E7FBD9CDA2}"/>
              </a:ext>
            </a:extLst>
          </p:cNvPr>
          <p:cNvSpPr txBox="1"/>
          <p:nvPr/>
        </p:nvSpPr>
        <p:spPr>
          <a:xfrm>
            <a:off x="400672" y="2207514"/>
            <a:ext cx="11171451" cy="338554"/>
          </a:xfrm>
          <a:prstGeom prst="rect">
            <a:avLst/>
          </a:prstGeom>
          <a:noFill/>
        </p:spPr>
        <p:txBody>
          <a:bodyPr wrap="square">
            <a:spAutoFit/>
          </a:bodyPr>
          <a:lstStyle/>
          <a:p>
            <a:pPr algn="just">
              <a:buClrTx/>
              <a:buFontTx/>
              <a:buNone/>
              <a:defRPr/>
            </a:pPr>
            <a:r>
              <a:rPr lang="en-US" sz="1600" b="1" dirty="0">
                <a:solidFill>
                  <a:prstClr val="black"/>
                </a:solidFill>
                <a:latin typeface="Times New Roman" panose="02020603050405020304" pitchFamily="18" charset="0"/>
                <a:cs typeface="Times New Roman" panose="02020603050405020304" pitchFamily="18" charset="0"/>
              </a:rPr>
              <a:t>CÁC CHUYẾN BAY DELAY DO THAY LỐP</a:t>
            </a:r>
          </a:p>
        </p:txBody>
      </p:sp>
      <p:graphicFrame>
        <p:nvGraphicFramePr>
          <p:cNvPr id="7" name="Table 6">
            <a:extLst>
              <a:ext uri="{FF2B5EF4-FFF2-40B4-BE49-F238E27FC236}">
                <a16:creationId xmlns:a16="http://schemas.microsoft.com/office/drawing/2014/main" id="{D5A904B8-5BDE-D191-8F0D-EC1117FE9923}"/>
              </a:ext>
            </a:extLst>
          </p:cNvPr>
          <p:cNvGraphicFramePr>
            <a:graphicFrameLocks noGrp="1"/>
          </p:cNvGraphicFramePr>
          <p:nvPr>
            <p:extLst>
              <p:ext uri="{D42A27DB-BD31-4B8C-83A1-F6EECF244321}">
                <p14:modId xmlns:p14="http://schemas.microsoft.com/office/powerpoint/2010/main" val="952681995"/>
              </p:ext>
            </p:extLst>
          </p:nvPr>
        </p:nvGraphicFramePr>
        <p:xfrm>
          <a:off x="301590" y="2627146"/>
          <a:ext cx="11463224" cy="3306645"/>
        </p:xfrm>
        <a:graphic>
          <a:graphicData uri="http://schemas.openxmlformats.org/drawingml/2006/table">
            <a:tbl>
              <a:tblPr/>
              <a:tblGrid>
                <a:gridCol w="350405">
                  <a:extLst>
                    <a:ext uri="{9D8B030D-6E8A-4147-A177-3AD203B41FA5}">
                      <a16:colId xmlns:a16="http://schemas.microsoft.com/office/drawing/2014/main" val="2808791243"/>
                    </a:ext>
                  </a:extLst>
                </a:gridCol>
                <a:gridCol w="570658">
                  <a:extLst>
                    <a:ext uri="{9D8B030D-6E8A-4147-A177-3AD203B41FA5}">
                      <a16:colId xmlns:a16="http://schemas.microsoft.com/office/drawing/2014/main" val="3287676015"/>
                    </a:ext>
                  </a:extLst>
                </a:gridCol>
                <a:gridCol w="570658">
                  <a:extLst>
                    <a:ext uri="{9D8B030D-6E8A-4147-A177-3AD203B41FA5}">
                      <a16:colId xmlns:a16="http://schemas.microsoft.com/office/drawing/2014/main" val="1184273817"/>
                    </a:ext>
                  </a:extLst>
                </a:gridCol>
                <a:gridCol w="1031190">
                  <a:extLst>
                    <a:ext uri="{9D8B030D-6E8A-4147-A177-3AD203B41FA5}">
                      <a16:colId xmlns:a16="http://schemas.microsoft.com/office/drawing/2014/main" val="1349917120"/>
                    </a:ext>
                  </a:extLst>
                </a:gridCol>
                <a:gridCol w="570658">
                  <a:extLst>
                    <a:ext uri="{9D8B030D-6E8A-4147-A177-3AD203B41FA5}">
                      <a16:colId xmlns:a16="http://schemas.microsoft.com/office/drawing/2014/main" val="4172897229"/>
                    </a:ext>
                  </a:extLst>
                </a:gridCol>
                <a:gridCol w="410473">
                  <a:extLst>
                    <a:ext uri="{9D8B030D-6E8A-4147-A177-3AD203B41FA5}">
                      <a16:colId xmlns:a16="http://schemas.microsoft.com/office/drawing/2014/main" val="3351808577"/>
                    </a:ext>
                  </a:extLst>
                </a:gridCol>
                <a:gridCol w="650750">
                  <a:extLst>
                    <a:ext uri="{9D8B030D-6E8A-4147-A177-3AD203B41FA5}">
                      <a16:colId xmlns:a16="http://schemas.microsoft.com/office/drawing/2014/main" val="685332106"/>
                    </a:ext>
                  </a:extLst>
                </a:gridCol>
                <a:gridCol w="760878">
                  <a:extLst>
                    <a:ext uri="{9D8B030D-6E8A-4147-A177-3AD203B41FA5}">
                      <a16:colId xmlns:a16="http://schemas.microsoft.com/office/drawing/2014/main" val="2899165020"/>
                    </a:ext>
                  </a:extLst>
                </a:gridCol>
                <a:gridCol w="3013477">
                  <a:extLst>
                    <a:ext uri="{9D8B030D-6E8A-4147-A177-3AD203B41FA5}">
                      <a16:colId xmlns:a16="http://schemas.microsoft.com/office/drawing/2014/main" val="3304681419"/>
                    </a:ext>
                  </a:extLst>
                </a:gridCol>
                <a:gridCol w="3534077">
                  <a:extLst>
                    <a:ext uri="{9D8B030D-6E8A-4147-A177-3AD203B41FA5}">
                      <a16:colId xmlns:a16="http://schemas.microsoft.com/office/drawing/2014/main" val="449720868"/>
                    </a:ext>
                  </a:extLst>
                </a:gridCol>
              </a:tblGrid>
              <a:tr h="554683">
                <a:tc>
                  <a:txBody>
                    <a:bodyPr/>
                    <a:lstStyle/>
                    <a:p>
                      <a:pPr algn="ctr" fontAlgn="t"/>
                      <a:r>
                        <a:rPr lang="en-US" sz="1200" b="1" i="0" u="none" strike="noStrike">
                          <a:solidFill>
                            <a:srgbClr val="000000"/>
                          </a:solidFill>
                          <a:effectLst/>
                          <a:latin typeface="Cambria" panose="02040503050406030204" pitchFamily="18" charset="0"/>
                        </a:rPr>
                        <a:t>NO</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FLEET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A/C</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DATE</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STA</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MINUTES</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FLIGHT NO</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ROUTE</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DESC</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200" b="1" i="0" u="none" strike="noStrike">
                          <a:solidFill>
                            <a:srgbClr val="000000"/>
                          </a:solidFill>
                          <a:effectLst/>
                          <a:latin typeface="Cambria" panose="02040503050406030204" pitchFamily="18" charset="0"/>
                        </a:rPr>
                        <a:t>DELAY ACTION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2870474732"/>
                  </a:ext>
                </a:extLst>
              </a:tr>
              <a:tr h="576486">
                <a:tc>
                  <a:txBody>
                    <a:bodyPr/>
                    <a:lstStyle/>
                    <a:p>
                      <a:pPr algn="ctr" fontAlgn="b"/>
                      <a:r>
                        <a:rPr lang="en-US" sz="1200" b="0" i="0" u="none" strike="noStrike">
                          <a:solidFill>
                            <a:srgbClr val="000000"/>
                          </a:solidFill>
                          <a:effectLst/>
                          <a:latin typeface="Calibri" panose="020F0502020204030204" pitchFamily="34" charset="0"/>
                        </a:rPr>
                        <a:t>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A321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A612</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24/02/2025 10:00</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30</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VN631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SGN-CGK</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Calibri" panose="020F0502020204030204" pitchFamily="34" charset="0"/>
                        </a:rPr>
                        <a:t>TRANSIT CHECK FOUND MW #4 SHOULDER WORN TO LIMIT (ABNORMAL) </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US" sz="1200" b="0" i="0" u="none" strike="noStrike">
                          <a:solidFill>
                            <a:srgbClr val="000000"/>
                          </a:solidFill>
                          <a:effectLst/>
                          <a:latin typeface="Calibri" panose="020F0502020204030204" pitchFamily="34" charset="0"/>
                        </a:rPr>
                        <a:t>&lt;p&gt;C/O RPLD MW#4 SATIS, A/C SERVICEABLE&lt;/p&gt; TRANSIT CHECK FOUND MW #4 SHOULDER WORN TO LIMIT (ABNORMAL) EVENT CLOSED &lt;p&gt;&lt;/p&gt; &lt;p&gt;TOTAL DELAY: 30 MINS, TECH: 0 MIN&lt;/p&gt;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3195438"/>
                  </a:ext>
                </a:extLst>
              </a:tr>
              <a:tr h="1728084">
                <a:tc>
                  <a:txBody>
                    <a:bodyPr/>
                    <a:lstStyle/>
                    <a:p>
                      <a:pPr algn="ctr" fontAlgn="b"/>
                      <a:r>
                        <a:rPr lang="en-US" sz="1200" b="0" i="0" u="none" strike="noStrike">
                          <a:solidFill>
                            <a:srgbClr val="000000"/>
                          </a:solidFill>
                          <a:effectLst/>
                          <a:latin typeface="Calibri" panose="020F0502020204030204" pitchFamily="34" charset="0"/>
                        </a:rPr>
                        <a:t>2</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A321</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A613</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27/02/2025 13:13</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9</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VN7148</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US" sz="1200" b="0" i="0" u="none" strike="noStrike">
                          <a:solidFill>
                            <a:srgbClr val="000000"/>
                          </a:solidFill>
                          <a:effectLst/>
                          <a:latin typeface="Calibri" panose="020F0502020204030204" pitchFamily="34" charset="0"/>
                        </a:rPr>
                        <a:t>SGN-DAD</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SG" sz="1200" b="0" i="0" u="none" strike="noStrike">
                          <a:solidFill>
                            <a:srgbClr val="000000"/>
                          </a:solidFill>
                          <a:effectLst/>
                          <a:latin typeface="Calibri" panose="020F0502020204030204" pitchFamily="34" charset="0"/>
                        </a:rPr>
                        <a:t>T/X FOUND MW #4 WORN TO LIMIT ABNORMAL </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vi-VN" sz="1200" b="0" i="0" u="none" strike="noStrike">
                          <a:solidFill>
                            <a:srgbClr val="000000"/>
                          </a:solidFill>
                          <a:effectLst/>
                          <a:latin typeface="Calibri" panose="020F0502020204030204" pitchFamily="34" charset="0"/>
                        </a:rPr>
                        <a:t>&lt;p&gt;- 13:13 TÀU VÀO BÃI&lt;br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- 13:17 CRS BÁO THAY LỐP&lt;br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- 13:35 XE LỐP TỚI NƠI&lt;br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- 14:02 HẠ KÍCH , BÁO BOARDING&lt;br /&gt;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- 14:12 TÀU ĐÓNG CỬA&lt;/p&gt; ACTION: C/O RPLD MW#4 SATIS , A/C SERVICEABLE EVENT CLOSED &lt;p&gt;&lt;/p&gt; &lt;p&gt;ACTION: C/O RPLD MW#4 SATIS , A/C SERVICEABLE&lt;/p&gt;</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
                      </a:r>
                      <a:br>
                        <a:rPr lang="vi-VN" sz="1200" b="0" i="0" u="none" strike="noStrike">
                          <a:solidFill>
                            <a:srgbClr val="000000"/>
                          </a:solidFill>
                          <a:effectLst/>
                          <a:latin typeface="Calibri" panose="020F0502020204030204" pitchFamily="34" charset="0"/>
                        </a:rPr>
                      </a:br>
                      <a:r>
                        <a:rPr lang="vi-VN" sz="1200" b="0" i="0" u="none" strike="noStrike">
                          <a:solidFill>
                            <a:srgbClr val="000000"/>
                          </a:solidFill>
                          <a:effectLst/>
                          <a:latin typeface="Calibri" panose="020F0502020204030204" pitchFamily="34" charset="0"/>
                        </a:rPr>
                        <a:t>&lt;p&gt;TOTAL DELAY 9MINS, TECH DELAY 0MIN&lt;/p&gt;</a:t>
                      </a:r>
                    </a:p>
                  </a:txBody>
                  <a:tcPr marL="4935" marR="4935" marT="493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33662966"/>
                  </a:ext>
                </a:extLst>
              </a:tr>
            </a:tbl>
          </a:graphicData>
        </a:graphic>
      </p:graphicFrame>
    </p:spTree>
    <p:extLst>
      <p:ext uri="{BB962C8B-B14F-4D97-AF65-F5344CB8AC3E}">
        <p14:creationId xmlns:p14="http://schemas.microsoft.com/office/powerpoint/2010/main" val="550881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AA5D49C-15C9-37CE-7BA9-BE2BBFA9A454}"/>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0D69D7C3-0595-0160-49CC-961C3B307824}"/>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F0CA75EA-080A-64A9-246F-8C137B5AAA1A}"/>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sp>
        <p:nvSpPr>
          <p:cNvPr id="9" name="TextBox 8">
            <a:extLst>
              <a:ext uri="{FF2B5EF4-FFF2-40B4-BE49-F238E27FC236}">
                <a16:creationId xmlns:a16="http://schemas.microsoft.com/office/drawing/2014/main" id="{5FE3B712-9690-42A3-A50E-24E99475755A}"/>
              </a:ext>
            </a:extLst>
          </p:cNvPr>
          <p:cNvSpPr txBox="1"/>
          <p:nvPr/>
        </p:nvSpPr>
        <p:spPr>
          <a:xfrm>
            <a:off x="134290" y="73056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3" name="Table 2">
            <a:extLst>
              <a:ext uri="{FF2B5EF4-FFF2-40B4-BE49-F238E27FC236}">
                <a16:creationId xmlns:a16="http://schemas.microsoft.com/office/drawing/2014/main" id="{A8AA4BD9-FDEC-2CC2-1A85-C72F397A4621}"/>
              </a:ext>
            </a:extLst>
          </p:cNvPr>
          <p:cNvGraphicFramePr>
            <a:graphicFrameLocks noGrp="1"/>
          </p:cNvGraphicFramePr>
          <p:nvPr/>
        </p:nvGraphicFramePr>
        <p:xfrm>
          <a:off x="170509" y="1553215"/>
          <a:ext cx="11670606" cy="3866526"/>
        </p:xfrm>
        <a:graphic>
          <a:graphicData uri="http://schemas.openxmlformats.org/drawingml/2006/table">
            <a:tbl>
              <a:tblPr/>
              <a:tblGrid>
                <a:gridCol w="364108">
                  <a:extLst>
                    <a:ext uri="{9D8B030D-6E8A-4147-A177-3AD203B41FA5}">
                      <a16:colId xmlns:a16="http://schemas.microsoft.com/office/drawing/2014/main" val="1705838175"/>
                    </a:ext>
                  </a:extLst>
                </a:gridCol>
                <a:gridCol w="364108">
                  <a:extLst>
                    <a:ext uri="{9D8B030D-6E8A-4147-A177-3AD203B41FA5}">
                      <a16:colId xmlns:a16="http://schemas.microsoft.com/office/drawing/2014/main" val="435942644"/>
                    </a:ext>
                  </a:extLst>
                </a:gridCol>
                <a:gridCol w="873334">
                  <a:extLst>
                    <a:ext uri="{9D8B030D-6E8A-4147-A177-3AD203B41FA5}">
                      <a16:colId xmlns:a16="http://schemas.microsoft.com/office/drawing/2014/main" val="276862112"/>
                    </a:ext>
                  </a:extLst>
                </a:gridCol>
                <a:gridCol w="812049">
                  <a:extLst>
                    <a:ext uri="{9D8B030D-6E8A-4147-A177-3AD203B41FA5}">
                      <a16:colId xmlns:a16="http://schemas.microsoft.com/office/drawing/2014/main" val="2191467762"/>
                    </a:ext>
                  </a:extLst>
                </a:gridCol>
                <a:gridCol w="442936">
                  <a:extLst>
                    <a:ext uri="{9D8B030D-6E8A-4147-A177-3AD203B41FA5}">
                      <a16:colId xmlns:a16="http://schemas.microsoft.com/office/drawing/2014/main" val="2342651692"/>
                    </a:ext>
                  </a:extLst>
                </a:gridCol>
                <a:gridCol w="2140857">
                  <a:extLst>
                    <a:ext uri="{9D8B030D-6E8A-4147-A177-3AD203B41FA5}">
                      <a16:colId xmlns:a16="http://schemas.microsoft.com/office/drawing/2014/main" val="3654957790"/>
                    </a:ext>
                  </a:extLst>
                </a:gridCol>
                <a:gridCol w="2680699">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611515">
                  <a:extLst>
                    <a:ext uri="{9D8B030D-6E8A-4147-A177-3AD203B41FA5}">
                      <a16:colId xmlns:a16="http://schemas.microsoft.com/office/drawing/2014/main" val="1400684824"/>
                    </a:ext>
                  </a:extLst>
                </a:gridCol>
              </a:tblGrid>
              <a:tr h="129110">
                <a:tc>
                  <a:txBody>
                    <a:bodyPr/>
                    <a:lstStyle/>
                    <a:p>
                      <a:pPr algn="ctr" fontAlgn="ctr"/>
                      <a:r>
                        <a:rPr lang="en-US" sz="1100" b="0" i="0" u="none" strike="noStrike" dirty="0">
                          <a:solidFill>
                            <a:srgbClr val="000000"/>
                          </a:solidFill>
                          <a:effectLst/>
                          <a:latin typeface="Times New Roman" panose="02020603050405020304" pitchFamily="18" charset="0"/>
                        </a:rPr>
                        <a:t>NO</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A356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23/02/2025 17:35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24/02/2025 03:04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CAPT REPORT “BAD SMELL FROM PACK (ALL FLIGHT)” &lt;p&gt;VN1650/VN197 TBB-HAN-DAD (TRANSIT): CAPT REPORT “BAD SMELL FROM PACK (ALL FLIGHT)”. A/C AOG FOR T/S.&lt;/p&gt;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r>
                        <a:rPr lang="en-US" sz="1100" b="0" i="0" u="none" strike="noStrike">
                          <a:solidFill>
                            <a:srgbClr val="000000"/>
                          </a:solidFill>
                          <a:effectLst/>
                          <a:latin typeface="Calibri" panose="020F0502020204030204" pitchFamily="34" charset="0"/>
                        </a:rPr>
                        <a:t>&lt;p&gt;REF TSM 71-00-00-810-801-A C/O REPLACE 2 RECECULATION FILTER. BOTH ENGINEs RUN UP TO 1.25 EPR-&amp;gt; CHECK FOUND NO BAD SMELL&lt;br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 SERVICEABLE&lt;/p&gt; CAPT REPORT “BAD SMELL FROM PACK (ALL FLIGHT) EVENT CLOSED &lt;p&gt;&lt;/p&gt; &lt;div&gt;&lt;strong&gt;“BAD SMELL FROM PACK (ALL FLIGHT)”&lt;/strong&gt;&lt;/div&gt;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&lt;p&gt;- 17:35: CRS báo AOG để T/S&lt;br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- 17:45: có lịch đổi A399 bay thay A356 đi DAD ETD-19:10; tàu A399 về HAN lúc 18:20&lt;br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-18:04 OCC báo đổi A399 bay VN197 (18:38 tàu A399 đáp HAN)&lt;br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- 19:00 Capt ra tàu&lt;br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- 19:51 Boarding xong-&amp;gt; đóng cửa&lt;br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VN197 delay 41 phút không phải do kỹ thuật&lt;br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- 19:00 tàu kéo vào VAECO để nổ Idle kiểm tra&lt;/p&gt;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&lt;p&gt;- 03:04 báo Serviceable&lt;/p&gt;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được khắc phục sau khi thay Recirculation Filter của tàu bay. Tiếp tục theo dõi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bl>
          </a:graphicData>
        </a:graphic>
      </p:graphicFrame>
    </p:spTree>
    <p:extLst>
      <p:ext uri="{BB962C8B-B14F-4D97-AF65-F5344CB8AC3E}">
        <p14:creationId xmlns:p14="http://schemas.microsoft.com/office/powerpoint/2010/main" val="29542938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436800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A356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23/02/2025 17:35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41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VN197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HAN-DAD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CAPT REPORT “BAD SMELL FROM PACK (ALL FLIGHT)” &lt;p&gt;VN1650/VN197 TBB-HAN-DAD (TRANSIT): CAPT REPORT “BAD SMELL FROM PACK (ALL FLIGHT)”. A/C AOG FOR T/S.&lt;/p&gt;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gridSpan="2">
                  <a:txBody>
                    <a:bodyPr/>
                    <a:lstStyle/>
                    <a:p>
                      <a:pPr algn="l" fontAlgn="b"/>
                      <a:r>
                        <a:rPr lang="en-US" sz="1100" b="0" i="0" u="none" strike="noStrike">
                          <a:solidFill>
                            <a:srgbClr val="000000"/>
                          </a:solidFill>
                          <a:effectLst/>
                          <a:latin typeface="Calibri" panose="020F0502020204030204" pitchFamily="34" charset="0"/>
                        </a:rPr>
                        <a:t>&lt;p&gt;REF TSM 71-00-00-810-801-A C/O REPLACE 2 RECECULATION FILTER. BOTH ENGINEs RUN UP TO 1.25 EPR-&amp;gt; CHECK FOUND NO BAD SMELL&lt;br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A/C SERVICEABLE&lt;/p&gt; CAPT REPORT “BAD SMELL FROM PACK (ALL FLIGHT) EVENT CLOSED &lt;p&gt;&lt;/p&gt; &lt;div&gt;&lt;strong&gt;“BAD SMELL FROM PACK (ALL FLIGHT)”&lt;/strong&gt;&lt;/div&gt;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&lt;p&gt;&amp;#160;&lt;/p&gt;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&lt;p&gt;- 17:35: CRS báo AOG để T/S&lt;br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- 17:45: có lịch đổi A399 bay thay A356 đi DAD ETD-19:10; tàu A399 về HAN lúc 18:20&lt;br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-18:04 OCC báo đổi A399 bay VN197 (18:38 tàu A399 đáp HAN)&lt;br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- 19:00 Capt ra tàu&lt;br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- 19:51 Boarding xong-&amp;gt; đóng cửa&lt;br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VN197 delay 41 phút không phải do kỹ thuật&lt;br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- 19:00 tàu kéo vào VAECO để nổ Idle kiểm tra&lt;/p&gt;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&lt;p&gt;- 03:04 báo Serviceable&lt;/p&gt;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hMerge="1">
                  <a:txBody>
                    <a:bodyPr/>
                    <a:lstStyle/>
                    <a:p>
                      <a:endParaRPr lang="en-US"/>
                    </a:p>
                  </a:txBody>
                  <a:tcP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được khắc phục sau khi thay Recirculation Filter của tàu bay. Tiếp tục theo dõi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bl>
          </a:graphicData>
        </a:graphic>
      </p:graphicFrame>
    </p:spTree>
    <p:extLst>
      <p:ext uri="{BB962C8B-B14F-4D97-AF65-F5344CB8AC3E}">
        <p14:creationId xmlns:p14="http://schemas.microsoft.com/office/powerpoint/2010/main" val="9061760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4544371"/>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A339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01/03/2025 21:30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VN602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pt-BR" sz="1100" b="0" i="0" u="none" strike="noStrike">
                          <a:solidFill>
                            <a:srgbClr val="000000"/>
                          </a:solidFill>
                          <a:effectLst/>
                          <a:latin typeface="Calibri" panose="020F0502020204030204" pitchFamily="34" charset="0"/>
                        </a:rPr>
                        <a:t>FUEL CTR R XFR FAULT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EVENT CLOSED &lt;p&gt;- WAIT TVJ ON-CALL</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C/O OPS TEST OF THE MAIN XFR SYS FOUND SYS NORMAL&lt;/p&gt; &lt;p&gt;FUEL CTR R XFR FAULT&lt;/p&gt;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28-26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Sau khi reset thì hệ thống hoạt động bình thường, tiếp tục theo dõi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666583">
                <a:tc>
                  <a:txBody>
                    <a:bodyPr/>
                    <a:lstStyle/>
                    <a:p>
                      <a:pPr algn="ctr" fontAlgn="t"/>
                      <a:r>
                        <a:rPr lang="en-US" sz="1100" b="0" i="0" u="none" strike="noStrike" dirty="0">
                          <a:solidFill>
                            <a:srgbClr val="000000"/>
                          </a:solidFill>
                          <a:effectLst/>
                          <a:latin typeface="Calibri" panose="020F0502020204030204" pitchFamily="34" charset="0"/>
                        </a:rPr>
                        <a:t>3</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A399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01/03/2025 11:00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VENT AVIONICS SYS FAULT &lt;p&gt;A399/BKK TRANSIT CAPT REPORT &amp;#160;VENT AVIONICS SYS FAULT&lt;br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(chuyến bay do Capt ký sổ , TVJ Oncall)&lt;/p&gt;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&lt;p&gt;TVJ C/O CHECK THEN APPLIED MEL&lt;/p&gt; ADD RAISED EVENT CLOSED &lt;p&gt;&lt;/p&gt;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21-26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Sau khi thực hiện TS không phát hiện bất thường, tiếp tục theo dõi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845222"/>
                  </a:ext>
                </a:extLst>
              </a:tr>
              <a:tr h="666583">
                <a:tc>
                  <a:txBody>
                    <a:bodyPr/>
                    <a:lstStyle/>
                    <a:p>
                      <a:pPr algn="ctr" fontAlgn="t"/>
                      <a:r>
                        <a:rPr lang="en-US" sz="1100" b="0" i="0" u="none" strike="noStrike" dirty="0">
                          <a:solidFill>
                            <a:srgbClr val="000000"/>
                          </a:solidFill>
                          <a:effectLst/>
                          <a:latin typeface="Calibri" panose="020F0502020204030204" pitchFamily="34" charset="0"/>
                        </a:rPr>
                        <a:t>4</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A323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01/03/2025 07:55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CXR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VN1341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SGN-CXR</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TRANSIT FOUND ENG 2 SENSOR FAULT  AND EGT N2 CROSS AMBER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 C/O TSM 77-20-00-810-802B(REV FEB25 ) GVI EGT HARNESS ENG2 FOUND NORMAL. GVI HARNESS CONNETOR EGT ENG2 AND TIGHTEN CONNECTOR.&lt;br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 START ENG2 FOUND EGT AND PARAMETER NORMAL&lt;/p&gt; ENG 2 SENSOR FAULT  AND EGT N2 CROSS AMBER EVENT CLOSED &lt;p&gt;&lt;/p&gt; &lt;p&gt;TECH DELAY : 20 MINS TOTAL DELAY : 34 MINS&lt;/p&gt;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77-20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Động cơ V11700 không có cảnh báo bất thường trên ADEM. Vaeco kiểm tra EGT Harness và EGT Thermocouple không phát hiện hỏng hóc. Kết luận báo giả. Tiếp tục theo dõi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1268826"/>
                  </a:ext>
                </a:extLst>
              </a:tr>
              <a:tr h="666583">
                <a:tc>
                  <a:txBody>
                    <a:bodyPr/>
                    <a:lstStyle/>
                    <a:p>
                      <a:pPr algn="ctr" fontAlgn="t"/>
                      <a:r>
                        <a:rPr lang="en-US" sz="1100" b="0" i="0" u="none" strike="noStrike" dirty="0">
                          <a:solidFill>
                            <a:srgbClr val="000000"/>
                          </a:solidFill>
                          <a:effectLst/>
                          <a:latin typeface="Calibri" panose="020F0502020204030204" pitchFamily="34" charset="0"/>
                        </a:rPr>
                        <a:t>5</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A357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27/02/2025 08:00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50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VN158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DAD-HAN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DURING PAX BORADING:  HYD B RSVR LO AIR PR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&lt;p&gt;REF TSM 29-12-00-810-801A&lt;/p&gt; FILL RSVR AND CHECK NO LEAK, SATIS EVENT CLOSED &lt;p&gt;&lt;/p&gt;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29-12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err="1">
                          <a:solidFill>
                            <a:srgbClr val="000000"/>
                          </a:solidFill>
                          <a:effectLst/>
                          <a:latin typeface="Calibri" panose="020F0502020204030204" pitchFamily="34" charset="0"/>
                        </a:rPr>
                        <a:t>Sau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và</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nạp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lại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thì</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không</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còn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cảnh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báo</a:t>
                      </a:r>
                      <a:r>
                        <a:rPr lang="en-US" sz="1100" b="0" i="0" u="none" strike="noStrike" dirty="0">
                          <a:solidFill>
                            <a:srgbClr val="000000"/>
                          </a:solidFill>
                          <a:effectLst/>
                          <a:latin typeface="Calibri" panose="020F0502020204030204" pitchFamily="34" charset="0"/>
                        </a:rPr>
                        <a:t>. Theo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6778765"/>
                  </a:ext>
                </a:extLst>
              </a:tr>
            </a:tbl>
          </a:graphicData>
        </a:graphic>
      </p:graphicFrame>
    </p:spTree>
    <p:extLst>
      <p:ext uri="{BB962C8B-B14F-4D97-AF65-F5344CB8AC3E}">
        <p14:creationId xmlns:p14="http://schemas.microsoft.com/office/powerpoint/2010/main" val="32808214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420671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2361428">
                  <a:extLst>
                    <a:ext uri="{9D8B030D-6E8A-4147-A177-3AD203B41FA5}">
                      <a16:colId xmlns:a16="http://schemas.microsoft.com/office/drawing/2014/main" val="3411328682"/>
                    </a:ext>
                  </a:extLst>
                </a:gridCol>
                <a:gridCol w="368973">
                  <a:extLst>
                    <a:ext uri="{9D8B030D-6E8A-4147-A177-3AD203B41FA5}">
                      <a16:colId xmlns:a16="http://schemas.microsoft.com/office/drawing/2014/main" val="3312070597"/>
                    </a:ext>
                  </a:extLst>
                </a:gridCol>
                <a:gridCol w="4014075">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6</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A356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26/02/2025 16:00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VN614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BKK-HAN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RTG DUE TO APU AUTO SHUTDOWN AND ENG#2 START FAULT &lt;p&gt;RTG DUE TO APU AUTO SHUTDOWN AND ENG#2 START FAULT.&lt;/p&gt;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&lt;p&gt;&lt;a </a:t>
                      </a:r>
                      <a:r>
                        <a:rPr lang="en-US" sz="1100" b="0" i="0" u="none" strike="noStrike" dirty="0" err="1">
                          <a:solidFill>
                            <a:srgbClr val="000000"/>
                          </a:solidFill>
                          <a:effectLst/>
                          <a:latin typeface="Calibri" panose="020F0502020204030204" pitchFamily="34" charset="0"/>
                        </a:rPr>
                        <a:t>href</a:t>
                      </a:r>
                      <a:r>
                        <a:rPr lang="en-US" sz="1100" b="0" i="0" u="none" strike="noStrike" dirty="0">
                          <a:solidFill>
                            <a:srgbClr val="000000"/>
                          </a:solidFill>
                          <a:effectLst/>
                          <a:latin typeface="Calibri" panose="020F0502020204030204" pitchFamily="34" charset="0"/>
                        </a:rPr>
                        <a:t>="web://MCC/A321/A356%20BKK%20GTB%2026feb25/"&gt;&lt;</a:t>
                      </a:r>
                      <a:r>
                        <a:rPr lang="en-US" sz="1100" b="0" i="0" u="none" strike="noStrike" dirty="0" err="1">
                          <a:solidFill>
                            <a:srgbClr val="000000"/>
                          </a:solidFill>
                          <a:effectLst/>
                          <a:latin typeface="Calibri" panose="020F0502020204030204" pitchFamily="34" charset="0"/>
                        </a:rPr>
                        <a:t>img</a:t>
                      </a:r>
                      <a:r>
                        <a:rPr lang="en-US" sz="1100" b="0" i="0" u="none" strike="noStrike" dirty="0">
                          <a:solidFill>
                            <a:srgbClr val="000000"/>
                          </a:solidFill>
                          <a:effectLst/>
                          <a:latin typeface="Calibri" panose="020F0502020204030204" pitchFamily="34" charset="0"/>
                        </a:rPr>
                        <a:t> border="0" </a:t>
                      </a:r>
                      <a:r>
                        <a:rPr lang="en-US" sz="1100" b="0" i="0" u="none" strike="noStrike" dirty="0" err="1">
                          <a:solidFill>
                            <a:srgbClr val="000000"/>
                          </a:solidFill>
                          <a:effectLst/>
                          <a:latin typeface="Calibri" panose="020F0502020204030204" pitchFamily="34" charset="0"/>
                        </a:rPr>
                        <a:t>src</a:t>
                      </a:r>
                      <a:r>
                        <a:rPr lang="en-US" sz="1100" b="0" i="0" u="none" strike="noStrike" dirty="0">
                          <a:solidFill>
                            <a:srgbClr val="000000"/>
                          </a:solidFill>
                          <a:effectLst/>
                          <a:latin typeface="Calibri" panose="020F0502020204030204" pitchFamily="34" charset="0"/>
                        </a:rPr>
                        <a:t>="Icons/modem_earth.png" /&gt;Web-Drive &amp;#34;A356 BKK GTB 26feb25&amp;#34;&lt;/a&gt;&lt;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 RESET CB APU AND DRY MOTORING ENG.2 FOUND NORMAL&lt;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-RAISED ADD FOR APU INOP&lt;/p&gt; ACTION EVENT CLOSED &lt;p&gt;EVENT CLOSED&lt;/p&gt; &lt;p&gt;RTG DUE TO APU AUTO SHUTDOWN AND ENG#2 START FAULT.&lt;/p&gt;&lt;p&gt;RTG DUE TO APU AUTO SHUTDOWN AND ENG#2 START FAULT.&lt;/p&gt;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72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APU auto shutdown trong quá trình khởi động engine gây start fault.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APU A356 S/N P-5198 có TSLSV/CSLSV = 4367/3602, là APU thấp giờ. APU có fault code high oil temp, hỏng hóc được clear sau khi thay khối Oil Cooler.</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Khối Oil Cooler PN 160494-1 SN 7020 tháo xuống dùng từ 2018, do đó đã khá cao giờ (khoảng 12k APU FH). Theo hồ sơ shop của các APU A321 cao giờ (&gt;7000 APU FH), Oil Cooler thường có hiện tượng bụi bẩn làm tắc hoặc hỏng các lá tản nhiệt, giảm hiệu quả làm mát dầu và có thể dẫn đến auto shutdown do high oil temp.</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Theo thống kê, từ năm 2022-2024 đã tháo lần lượt 1-12-4 khối, tuy nhiên chủ yếu thay trong quá trình T/S APU bad smell và nhiều khối trong đó đã được re-cert lại để làm spare.</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666583">
                <a:tc>
                  <a:txBody>
                    <a:bodyPr/>
                    <a:lstStyle/>
                    <a:p>
                      <a:pPr algn="ctr" fontAlgn="t"/>
                      <a:r>
                        <a:rPr lang="en-US" sz="1100" b="0" i="0" u="none" strike="noStrike" dirty="0">
                          <a:solidFill>
                            <a:srgbClr val="000000"/>
                          </a:solidFill>
                          <a:effectLst/>
                          <a:latin typeface="Calibri" panose="020F0502020204030204" pitchFamily="34" charset="0"/>
                        </a:rPr>
                        <a:t>7</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A618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26/02/2025 15:00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VN1202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VCA-HAN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AFTER PAX BOARDING, A/S HAS MSG CHECK DOOR 1R ON FAP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&lt;p&gt;RAISE ADD, DO BRIEFING WITH CABIN AND FLIGHT CREW&lt;/p&gt; AFTER PAX BOARDING, A/S HAS MSG CHECK DOOR 1R ON FAP EVENT CLOSED &lt;p&gt;&lt;/p&gt; &lt;p&gt;TOTAL DELAY 40 MINS, TECH DELAY 25 MINS&lt;/p&gt;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 </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Hiện tượng bình áp suất cửa bị thoát khí đã được nhận diện. Ban KT đã triển khai EO kiểm tra áp suất định kì với tần suất 65 ngày, tuy nhiên EO này chưa áp dụng cho tàu bay NEO. Ban KT sẽ đánh giá triển khai cho đội tàu NEO.</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845222"/>
                  </a:ext>
                </a:extLst>
              </a:tr>
            </a:tbl>
          </a:graphicData>
        </a:graphic>
      </p:graphicFrame>
      <p:sp>
        <p:nvSpPr>
          <p:cNvPr id="7" name="TextBox 6">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5037909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503856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2751960">
                  <a:extLst>
                    <a:ext uri="{9D8B030D-6E8A-4147-A177-3AD203B41FA5}">
                      <a16:colId xmlns:a16="http://schemas.microsoft.com/office/drawing/2014/main" val="3411328682"/>
                    </a:ext>
                  </a:extLst>
                </a:gridCol>
                <a:gridCol w="457200">
                  <a:extLst>
                    <a:ext uri="{9D8B030D-6E8A-4147-A177-3AD203B41FA5}">
                      <a16:colId xmlns:a16="http://schemas.microsoft.com/office/drawing/2014/main" val="3312070597"/>
                    </a:ext>
                  </a:extLst>
                </a:gridCol>
                <a:gridCol w="3535316">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8</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A390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24/02/2025 20:10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VII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99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VN1268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ENG 2 REVERSER FAULT + LOSS ENG 2 OIL QTY ON ENG PAGE &lt;p&gt;DURING PUSHBACK CAP INFORMATION ENG 2 REVERSER FAULT, LOSS ENG 2 OIL QTY ON ENG PAGE&lt;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&lt;p&gt;ACTION PERFORMED BY VAE00933 ON 24.FEB.2025, 14:05&lt;br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REF TSM:79-00-00-810-832-A REV 2/25.C/OUT OPS TEST THRUST REVERSER ENG&lt;br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2 VIA CFDS IAW AMM 78-31-00-710-041 REV 2/25 ALL FOUND SATIS,C/OUT OPS&lt;br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EIU ENG 2 IAW AMM 73-25-34-710-042 REV 2/25 ALL FOUND SATIS. ENG OIL&lt;br </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QTY ENG2 INDICATION NORMAL.A/C DISPATCH&lt;br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PERFORMED SIGN VAE00933&lt;br /&gt;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&amp;#160;&lt;/p&gt; ACTION PERFORMED BY VAE00933 ON 24.FEB.2025, 14:05 EVENT CLOSED &lt;p&gt;- 19:50 tàu đẩy ra đường lăn, Capt báo cần kiểm tra kỹ thuật.&amp;#160;&lt;/p&gt;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&lt;p&gt;- 20:06 đóng chèn.&amp;#160;&lt;/p&gt;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&lt;p&gt;- 20:10 CRS tiếp cận tàu, thực hiện T/S.&amp;#160;&lt;/p&gt;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&lt;p&gt;- 21:05 đóng cửa.&amp;#160;&lt;/p&gt;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&lt;p&gt;- 21:09 rút chèn.&amp;#160;&lt;/p&gt;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&lt;p&gt;Delay 01h39&amp;#96; so với kế hoạch ban đầu.&lt;/p&gt; &lt;div&gt;&lt;strong&gt;ENG 2 REVERSER FAULT &amp;#43; LOSS ENG 2 OIL QTY ON ENG PAGE&lt;/strong&gt;&lt;/div&gt;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&lt;p&gt;&amp;#160;&lt;/p&gt;&lt;div&gt;&lt;strong&gt;ENG 2 REVERSER FAULT &amp;#43; LOSS ENG 2 OIL QTY ON ENG PAGE&lt;/strong&gt;&lt;/div&gt;</a:t>
                      </a:r>
                      <a:br>
                        <a:rPr lang="vi-VN" sz="1100" b="0" i="0" u="none" strike="noStrike" dirty="0">
                          <a:solidFill>
                            <a:srgbClr val="000000"/>
                          </a:solidFill>
                          <a:effectLst/>
                          <a:latin typeface="Calibri" panose="020F0502020204030204" pitchFamily="34" charset="0"/>
                        </a:rPr>
                      </a:br>
                      <a:r>
                        <a:rPr lang="vi-VN" sz="1100" b="0" i="0" u="none" strike="noStrike" dirty="0">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79-00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Hiện trượng TR Fault đã được Airbus nhận diện, Tàu A390 thực hiện OPS test satis, sau đó đã được thay Terminal Block (TM817) để phòng tránh hỏng hóc lặp lại. Theo thống kê sơ bộ, khoảng 30% số vụ OI do thồi ngược được khắc  phục sau khi thực hiện OPS test và khoảng 7% số vụ thực hiện thay TM817. Nguyên nhân phổ biến là do lỏng hoặc damage dây Linear Variable Differential Transducer (LVDT). Ngoài ra, hỏng hóc đoản mạch Terminal Block TM817 đi kèm msg “check oil QTY XMTR"/"check n4 BRG SCAV press XMTR circuit 4005en” là do hai chấu kim loại Terminal Block Rail chà xát vào Terminal Block do vibration. AIrbus đã có nâng cấp Terminal Block (đã thực hiện trên đội bay VNA) tuy nhiên họ cũng xác nhận tình trạng vibration vẫn có thể xảy ra sau đó.</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61268826"/>
                  </a:ext>
                </a:extLst>
              </a:tr>
            </a:tbl>
          </a:graphicData>
        </a:graphic>
      </p:graphicFrame>
      <p:sp>
        <p:nvSpPr>
          <p:cNvPr id="7" name="TextBox 6">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8682475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9" y="1570679"/>
          <a:ext cx="11688717" cy="520620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664152">
                  <a:extLst>
                    <a:ext uri="{9D8B030D-6E8A-4147-A177-3AD203B41FA5}">
                      <a16:colId xmlns:a16="http://schemas.microsoft.com/office/drawing/2014/main" val="4104333813"/>
                    </a:ext>
                  </a:extLst>
                </a:gridCol>
                <a:gridCol w="295178">
                  <a:extLst>
                    <a:ext uri="{9D8B030D-6E8A-4147-A177-3AD203B41FA5}">
                      <a16:colId xmlns:a16="http://schemas.microsoft.com/office/drawing/2014/main" val="2544045720"/>
                    </a:ext>
                  </a:extLst>
                </a:gridCol>
                <a:gridCol w="664923">
                  <a:extLst>
                    <a:ext uri="{9D8B030D-6E8A-4147-A177-3AD203B41FA5}">
                      <a16:colId xmlns:a16="http://schemas.microsoft.com/office/drawing/2014/main" val="3951547359"/>
                    </a:ext>
                  </a:extLst>
                </a:gridCol>
                <a:gridCol w="457200">
                  <a:extLst>
                    <a:ext uri="{9D8B030D-6E8A-4147-A177-3AD203B41FA5}">
                      <a16:colId xmlns:a16="http://schemas.microsoft.com/office/drawing/2014/main" val="379936116"/>
                    </a:ext>
                  </a:extLst>
                </a:gridCol>
                <a:gridCol w="609600">
                  <a:extLst>
                    <a:ext uri="{9D8B030D-6E8A-4147-A177-3AD203B41FA5}">
                      <a16:colId xmlns:a16="http://schemas.microsoft.com/office/drawing/2014/main" val="905265164"/>
                    </a:ext>
                  </a:extLst>
                </a:gridCol>
                <a:gridCol w="1515240">
                  <a:extLst>
                    <a:ext uri="{9D8B030D-6E8A-4147-A177-3AD203B41FA5}">
                      <a16:colId xmlns:a16="http://schemas.microsoft.com/office/drawing/2014/main" val="1766184023"/>
                    </a:ext>
                  </a:extLst>
                </a:gridCol>
                <a:gridCol w="3132960">
                  <a:extLst>
                    <a:ext uri="{9D8B030D-6E8A-4147-A177-3AD203B41FA5}">
                      <a16:colId xmlns:a16="http://schemas.microsoft.com/office/drawing/2014/main" val="3411328682"/>
                    </a:ext>
                  </a:extLst>
                </a:gridCol>
                <a:gridCol w="457200">
                  <a:extLst>
                    <a:ext uri="{9D8B030D-6E8A-4147-A177-3AD203B41FA5}">
                      <a16:colId xmlns:a16="http://schemas.microsoft.com/office/drawing/2014/main" val="3312070597"/>
                    </a:ext>
                  </a:extLst>
                </a:gridCol>
                <a:gridCol w="3154316">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9</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A335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24/02/2025 16:20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40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VN1374</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SGN-HUI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A335+GTB/MOR: A/C HAD MSG `AIR L WING LEAK` &lt;p&gt;AFTER START ENG CAPT INFORM VIA VHF A/C HAD MSG &amp;#96;AIR L WING LEAK&amp;#96; .&amp;#160;TSV &amp;#160;ADVICE CAPT FOLLOW PROCEDURE.CAPT DECIDED RETURN GATE&lt;/p&gt;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&lt;p&gt;- 16:20 CAPT INFORM VIA VHF A/C HAD MSG &amp;#96;AIR L WING LEAK&amp;#96;. TSV &amp;#160;ADVICE CAPT FOLLOW PROCEDURE.CAPT DECIDED RETURN GATE&lt;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- 16:35 TÀU VÀO BÃI 72&lt;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- 16:40 OCC ĐỔI LỊCH A609 BAY VN1374/NETD 18:05 THAY A335&lt;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- 17:05: &amp;#160;CHECK FOUND CABLE BETWEEN PACK1 OUTLET COMPRESSOR AND HEAT EXCHANGER BROKEN&lt;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- 19:00: THAY XONG CABLE VÀ &amp;#160;BÁO TÀU SER&lt;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FINAL ACTION:&lt;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REPLACED NEW CABLE AND LEAK CHECK PACK SATIS. A/C SERVICEABLE&lt;/p&gt;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 A/C HAD MSG `AIR L WING LEAK` EVENT CLOSED &lt;p&gt;FINAL ACTION:</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C/O REPLACED NEW CABLE AND LEAK CHECK PACK SATIS. A/C SERVICEABLE&lt;/p&gt; &lt;p&gt;DUE TO A335 HAS MSG NO GO: AIR L WING LEAK&amp;#96;&lt;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- 16:40 OCC ĐỔI LỊCH A609 BAY VN1374/NETD 18:05 THAY A335&lt;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- 18:11 DOOR CLOSED&lt;/p&gt;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&lt;p&gt;TOTAL DELAY 151 MINS. TECH DELAY 40 MINS.&lt;/p&gt;&lt;p&gt;AFTER START ENG CAPT INFORM VIA VHF A/C HAD MSG &amp;#96;AIR L WING LEAK&amp;#96;. CAPT DECIDED RETURN GATE&lt;/p&gt;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36-00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Nguyên nhân là do đứt cable , trước đây đã xảy ra 02 lần trên A334 năm 2022 và A606 năm 2023 gây ra leak khí và xuất hiện cảnh báo air wing leak. Đánh giá nguyên nhân là do độ bền của dây cáp bị xuống cấp sau một thời gian dài khai thác hoặc do dây bị căng quá mức cùng với ảnh hưởng của quá trình khai thác. Hiện phòng KT đã yêu cầu Vaeco trong thời gian tới khi thực hiện kiểm tra check leak sẽ kiểm tra lại cả chất lượng dây cáp ở các vị trí đã có lịch sử bị đứt và torque lại, nếu chất lượng không đảm bảo sẽ cho thay mới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6778765"/>
                  </a:ext>
                </a:extLst>
              </a:tr>
            </a:tbl>
          </a:graphicData>
        </a:graphic>
      </p:graphicFrame>
      <p:sp>
        <p:nvSpPr>
          <p:cNvPr id="7" name="TextBox 6">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13431539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a:t>
            </a:r>
            <a:r>
              <a:rPr lang="en-US">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 A320/A321</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graphicFrame>
        <p:nvGraphicFramePr>
          <p:cNvPr id="5" name="Table 4">
            <a:extLst>
              <a:ext uri="{FF2B5EF4-FFF2-40B4-BE49-F238E27FC236}">
                <a16:creationId xmlns:a16="http://schemas.microsoft.com/office/drawing/2014/main" id="{A63AE000-73D5-A499-5571-75ACA673658F}"/>
              </a:ext>
            </a:extLst>
          </p:cNvPr>
          <p:cNvGraphicFramePr>
            <a:graphicFrameLocks noGrp="1"/>
          </p:cNvGraphicFramePr>
          <p:nvPr/>
        </p:nvGraphicFramePr>
        <p:xfrm>
          <a:off x="152398" y="1483484"/>
          <a:ext cx="11688717" cy="5386548"/>
        </p:xfrm>
        <a:graphic>
          <a:graphicData uri="http://schemas.openxmlformats.org/drawingml/2006/table">
            <a:tbl>
              <a:tblPr/>
              <a:tblGrid>
                <a:gridCol w="368974">
                  <a:extLst>
                    <a:ext uri="{9D8B030D-6E8A-4147-A177-3AD203B41FA5}">
                      <a16:colId xmlns:a16="http://schemas.microsoft.com/office/drawing/2014/main" val="3497691420"/>
                    </a:ext>
                  </a:extLst>
                </a:gridCol>
                <a:gridCol w="368974">
                  <a:extLst>
                    <a:ext uri="{9D8B030D-6E8A-4147-A177-3AD203B41FA5}">
                      <a16:colId xmlns:a16="http://schemas.microsoft.com/office/drawing/2014/main" val="3316182388"/>
                    </a:ext>
                  </a:extLst>
                </a:gridCol>
                <a:gridCol w="557453">
                  <a:extLst>
                    <a:ext uri="{9D8B030D-6E8A-4147-A177-3AD203B41FA5}">
                      <a16:colId xmlns:a16="http://schemas.microsoft.com/office/drawing/2014/main" val="4104333813"/>
                    </a:ext>
                  </a:extLst>
                </a:gridCol>
                <a:gridCol w="304800">
                  <a:extLst>
                    <a:ext uri="{9D8B030D-6E8A-4147-A177-3AD203B41FA5}">
                      <a16:colId xmlns:a16="http://schemas.microsoft.com/office/drawing/2014/main" val="2544045720"/>
                    </a:ext>
                  </a:extLst>
                </a:gridCol>
                <a:gridCol w="685800">
                  <a:extLst>
                    <a:ext uri="{9D8B030D-6E8A-4147-A177-3AD203B41FA5}">
                      <a16:colId xmlns:a16="http://schemas.microsoft.com/office/drawing/2014/main" val="3951547359"/>
                    </a:ext>
                  </a:extLst>
                </a:gridCol>
                <a:gridCol w="533400">
                  <a:extLst>
                    <a:ext uri="{9D8B030D-6E8A-4147-A177-3AD203B41FA5}">
                      <a16:colId xmlns:a16="http://schemas.microsoft.com/office/drawing/2014/main" val="379936116"/>
                    </a:ext>
                  </a:extLst>
                </a:gridCol>
                <a:gridCol w="381000">
                  <a:extLst>
                    <a:ext uri="{9D8B030D-6E8A-4147-A177-3AD203B41FA5}">
                      <a16:colId xmlns:a16="http://schemas.microsoft.com/office/drawing/2014/main" val="905265164"/>
                    </a:ext>
                  </a:extLst>
                </a:gridCol>
                <a:gridCol w="1143000">
                  <a:extLst>
                    <a:ext uri="{9D8B030D-6E8A-4147-A177-3AD203B41FA5}">
                      <a16:colId xmlns:a16="http://schemas.microsoft.com/office/drawing/2014/main" val="1766184023"/>
                    </a:ext>
                  </a:extLst>
                </a:gridCol>
                <a:gridCol w="2743200">
                  <a:extLst>
                    <a:ext uri="{9D8B030D-6E8A-4147-A177-3AD203B41FA5}">
                      <a16:colId xmlns:a16="http://schemas.microsoft.com/office/drawing/2014/main" val="3411328682"/>
                    </a:ext>
                  </a:extLst>
                </a:gridCol>
                <a:gridCol w="381000">
                  <a:extLst>
                    <a:ext uri="{9D8B030D-6E8A-4147-A177-3AD203B41FA5}">
                      <a16:colId xmlns:a16="http://schemas.microsoft.com/office/drawing/2014/main" val="3312070597"/>
                    </a:ext>
                  </a:extLst>
                </a:gridCol>
                <a:gridCol w="4221116">
                  <a:extLst>
                    <a:ext uri="{9D8B030D-6E8A-4147-A177-3AD203B41FA5}">
                      <a16:colId xmlns:a16="http://schemas.microsoft.com/office/drawing/2014/main" val="1807191619"/>
                    </a:ext>
                  </a:extLst>
                </a:gridCol>
              </a:tblGrid>
              <a:tr h="29521">
                <a:tc>
                  <a:txBody>
                    <a:bodyPr/>
                    <a:lstStyle/>
                    <a:p>
                      <a:pPr algn="ctr" fontAlgn="t"/>
                      <a:r>
                        <a:rPr lang="en-US" sz="1100" b="0" i="0" u="none" strike="noStrike" dirty="0">
                          <a:solidFill>
                            <a:srgbClr val="000000"/>
                          </a:solidFill>
                          <a:effectLst/>
                          <a:latin typeface="Times New Roman" panose="02020603050405020304" pitchFamily="18" charset="0"/>
                        </a:rPr>
                        <a:t>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dirty="0">
                          <a:solidFill>
                            <a:srgbClr val="000000"/>
                          </a:solidFill>
                          <a:effectLst/>
                          <a:latin typeface="Times New Roman" panose="02020603050405020304" pitchFamily="18" charset="0"/>
                        </a:rPr>
                        <a:t>A/C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DATE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STA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MINUTES</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FLIGHT NO</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ROUTINE</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DESC</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DELAY ACTION</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ATA</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t"/>
                      <a:r>
                        <a:rPr lang="en-US" sz="1100" b="0" i="0" u="none" strike="noStrike">
                          <a:solidFill>
                            <a:srgbClr val="000000"/>
                          </a:solidFill>
                          <a:effectLst/>
                          <a:latin typeface="Times New Roman" panose="02020603050405020304" pitchFamily="18" charset="0"/>
                        </a:rPr>
                        <a:t>Engineering Assessment</a:t>
                      </a:r>
                    </a:p>
                  </a:txBody>
                  <a:tcPr marL="3018" marR="3018" marT="3018"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809290284"/>
                  </a:ext>
                </a:extLst>
              </a:tr>
              <a:tr h="666583">
                <a:tc>
                  <a:txBody>
                    <a:bodyPr/>
                    <a:lstStyle/>
                    <a:p>
                      <a:pPr algn="ctr" fontAlgn="t"/>
                      <a:r>
                        <a:rPr lang="en-US" sz="1100" b="0" i="0" u="none" strike="noStrike" dirty="0">
                          <a:solidFill>
                            <a:srgbClr val="000000"/>
                          </a:solidFill>
                          <a:effectLst/>
                          <a:latin typeface="Calibri" panose="020F0502020204030204" pitchFamily="34" charset="0"/>
                        </a:rPr>
                        <a:t>10</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A608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24/02/2025 10:15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VN1237</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HAN-PQC</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DURING PUSHBACK CAPT’ REPORT: ENG#2 START FAULT &lt;p&gt;During pushback </a:t>
                      </a:r>
                      <a:r>
                        <a:rPr lang="en-US" sz="1100" b="0" i="0" u="none" strike="noStrike" dirty="0" err="1">
                          <a:solidFill>
                            <a:srgbClr val="000000"/>
                          </a:solidFill>
                          <a:effectLst/>
                          <a:latin typeface="Calibri" panose="020F0502020204030204" pitchFamily="34" charset="0"/>
                        </a:rPr>
                        <a:t>Capt</a:t>
                      </a:r>
                      <a:r>
                        <a:rPr lang="en-US" sz="1100" b="0" i="0" u="none" strike="noStrike" dirty="0">
                          <a:solidFill>
                            <a:srgbClr val="000000"/>
                          </a:solidFill>
                          <a:effectLst/>
                          <a:latin typeface="Calibri" panose="020F0502020204030204" pitchFamily="34" charset="0"/>
                        </a:rPr>
                        <a:t>’ report: Eng#2 start fault. A/c return to gate&lt;/p&gt;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&lt;p&gt;Eng#2 start fault (</a:t>
                      </a:r>
                      <a:r>
                        <a:rPr lang="en-US" sz="1100" b="0" i="0" u="none" strike="noStrike" dirty="0" err="1">
                          <a:solidFill>
                            <a:srgbClr val="000000"/>
                          </a:solidFill>
                          <a:effectLst/>
                          <a:latin typeface="Calibri" panose="020F0502020204030204" pitchFamily="34" charset="0"/>
                        </a:rPr>
                        <a:t>Eng</a:t>
                      </a:r>
                      <a:r>
                        <a:rPr lang="en-US" sz="1100" b="0" i="0" u="none" strike="noStrike" dirty="0">
                          <a:solidFill>
                            <a:srgbClr val="000000"/>
                          </a:solidFill>
                          <a:effectLst/>
                          <a:latin typeface="Calibri" panose="020F0502020204030204" pitchFamily="34" charset="0"/>
                        </a:rPr>
                        <a:t> 2 starter valve not open), After return to gate, </a:t>
                      </a:r>
                      <a:r>
                        <a:rPr lang="en-US" sz="1100" b="0" i="0" u="none" strike="noStrike" dirty="0" err="1">
                          <a:solidFill>
                            <a:srgbClr val="000000"/>
                          </a:solidFill>
                          <a:effectLst/>
                          <a:latin typeface="Calibri" panose="020F0502020204030204" pitchFamily="34" charset="0"/>
                        </a:rPr>
                        <a:t>Capt</a:t>
                      </a:r>
                      <a:r>
                        <a:rPr lang="en-US" sz="1100" b="0" i="0" u="none" strike="noStrike" dirty="0">
                          <a:solidFill>
                            <a:srgbClr val="000000"/>
                          </a:solidFill>
                          <a:effectLst/>
                          <a:latin typeface="Calibri" panose="020F0502020204030204" pitchFamily="34" charset="0"/>
                        </a:rPr>
                        <a:t>’ re-start Eng#2 -&amp;</a:t>
                      </a:r>
                      <a:r>
                        <a:rPr lang="en-US" sz="1100" b="0" i="0" u="none" strike="noStrike" dirty="0" err="1">
                          <a:solidFill>
                            <a:srgbClr val="000000"/>
                          </a:solidFill>
                          <a:effectLst/>
                          <a:latin typeface="Calibri" panose="020F0502020204030204" pitchFamily="34" charset="0"/>
                        </a:rPr>
                        <a:t>gt</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satis</a:t>
                      </a:r>
                      <a:r>
                        <a:rPr lang="en-US" sz="1100" b="0" i="0" u="none" strike="noStrike" dirty="0">
                          <a:solidFill>
                            <a:srgbClr val="000000"/>
                          </a:solidFill>
                          <a:effectLst/>
                          <a:latin typeface="Calibri" panose="020F0502020204030204" pitchFamily="34" charset="0"/>
                        </a:rPr>
                        <a:t>&lt;/p&gt; CAPT’ REPORT: ENG#2 START FAULT EVENT CLOSED &lt;p&gt;&lt;/p&gt; &lt;div&gt;&lt;strong&gt;ENG#2 START FAULT&lt;/strong&gt;&lt;/div&gt;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&lt;p&gt;&amp;#160;&lt;/p&gt;&lt;div&gt;&lt;strong&gt;ENG#2 START FAULT&lt;/strong&gt;&lt;/div&gt;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80-13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Động cơ V16402 có TSN/CSN = 32162/18452; TSO/CSO = 10094/7014. Khi tàu push back, tổ bay không khởi động được động cơ do Starter Valve không mở nhưng tổ bay không gọi VHF mà cho tàu quay lại luôn. Với hỏng hóc này có thể manual start, tuy nhiên sau khi quay lại, tổ bay tự nổ lại thành công mà không cần nổ manual. Khi tàu N/S, Vaeco đã cho thay Starter Valve để theo dõi thêm. Starter Valve PN 790424-4 SN A4595 có TSO/CSO = 350/253, lắp lên V16402 ngày 15/01 trong check do bị rob. Do thiết bị mới OVH nên đang nghi ngờ khả năng bị intermittent. Vaeco đang hỏi OEM về việc cho recertify và dùng lại. Qua theo dõi trên ADEM, động cơ V16402 có dấu hiệu bị HPC bleed leak kể từ ngày 23/02. Vaeco đang lên kế hoạch T/S theo khuyến cáo của P&amp;W. Sẽ tiếp tục theo dõi và cập nhật thêm.</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8696778"/>
                  </a:ext>
                </a:extLst>
              </a:tr>
              <a:tr h="666583">
                <a:tc>
                  <a:txBody>
                    <a:bodyPr/>
                    <a:lstStyle/>
                    <a:p>
                      <a:pPr algn="ctr" fontAlgn="t"/>
                      <a:r>
                        <a:rPr lang="en-US" sz="1100" b="0" i="0" u="none" strike="noStrike" dirty="0">
                          <a:solidFill>
                            <a:srgbClr val="000000"/>
                          </a:solidFill>
                          <a:effectLst/>
                          <a:latin typeface="Calibri" panose="020F0502020204030204" pitchFamily="34" charset="0"/>
                        </a:rPr>
                        <a:t>11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A326</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24/02/2025 07:25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18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HAN-VII</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AFTER BOARDING, FOUND WIPER F/O INOP &lt;p&gt;AFTER BOARDING, FOUND WIPER F/O INOP&lt;</a:t>
                      </a:r>
                      <a:r>
                        <a:rPr lang="en-US" sz="1100" b="0" i="0" u="none" strike="noStrike" dirty="0" err="1">
                          <a:solidFill>
                            <a:srgbClr val="000000"/>
                          </a:solidFill>
                          <a:effectLst/>
                          <a:latin typeface="Calibri" panose="020F0502020204030204" pitchFamily="34" charset="0"/>
                        </a:rPr>
                        <a:t>br</a:t>
                      </a:r>
                      <a:r>
                        <a:rPr lang="en-US" sz="1100" b="0" i="0" u="none" strike="noStrike" dirty="0">
                          <a:solidFill>
                            <a:srgbClr val="000000"/>
                          </a:solidFill>
                          <a:effectLst/>
                          <a:latin typeface="Calibri" panose="020F0502020204030204" pitchFamily="34" charset="0"/>
                        </a:rPr>
                        <a:t> </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&lt;p&gt;C/o applied MEL for windshield wiper park function at F/O </a:t>
                      </a:r>
                      <a:r>
                        <a:rPr lang="en-US" sz="1100" b="0" i="0" u="none" strike="noStrike" dirty="0" err="1">
                          <a:solidFill>
                            <a:srgbClr val="000000"/>
                          </a:solidFill>
                          <a:effectLst/>
                          <a:latin typeface="Calibri" panose="020F0502020204030204" pitchFamily="34" charset="0"/>
                        </a:rPr>
                        <a:t>inop</a:t>
                      </a:r>
                      <a:r>
                        <a:rPr lang="en-US" sz="1100" b="0" i="0" u="none" strike="noStrike" dirty="0">
                          <a:solidFill>
                            <a:srgbClr val="000000"/>
                          </a:solidFill>
                          <a:effectLst/>
                          <a:latin typeface="Calibri" panose="020F0502020204030204" pitchFamily="34" charset="0"/>
                        </a:rPr>
                        <a:t>.&lt;/p&gt; AFTER BOARDING, FOUND WIPER F/O INOP EVENT CLOSED &lt;p&gt;&lt;/p&gt; &lt;div&gt;&lt;strong&gt;FOUND WIPER F/O INOP&lt;/strong&gt;&lt;/div&gt;</a:t>
                      </a:r>
                      <a:br>
                        <a:rPr lang="en-US" sz="1100" b="0" i="0" u="none" strike="noStrike" dirty="0">
                          <a:solidFill>
                            <a:srgbClr val="000000"/>
                          </a:solidFill>
                          <a:effectLst/>
                          <a:latin typeface="Calibri" panose="020F0502020204030204" pitchFamily="34" charset="0"/>
                        </a:rPr>
                      </a:br>
                      <a:r>
                        <a:rPr lang="en-US" sz="1100" b="0" i="0" u="none" strike="noStrike" dirty="0">
                          <a:solidFill>
                            <a:srgbClr val="000000"/>
                          </a:solidFill>
                          <a:effectLst/>
                          <a:latin typeface="Calibri" panose="020F0502020204030204" pitchFamily="34" charset="0"/>
                        </a:rPr>
                        <a:t>&lt;p&gt;&amp;#160;&lt;/p&gt;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30-45</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Ban KT </a:t>
                      </a:r>
                      <a:r>
                        <a:rPr lang="en-US" sz="1100" b="0" i="0" u="none" strike="noStrike" dirty="0" err="1">
                          <a:solidFill>
                            <a:srgbClr val="000000"/>
                          </a:solidFill>
                          <a:effectLst/>
                          <a:latin typeface="Calibri" panose="020F0502020204030204" pitchFamily="34" charset="0"/>
                        </a:rPr>
                        <a:t>vừa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triển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khai</a:t>
                      </a:r>
                      <a:r>
                        <a:rPr lang="en-US" sz="1100" b="0" i="0" u="none" strike="noStrike" dirty="0">
                          <a:solidFill>
                            <a:srgbClr val="000000"/>
                          </a:solidFill>
                          <a:effectLst/>
                          <a:latin typeface="Calibri" panose="020F0502020204030204" pitchFamily="34" charset="0"/>
                        </a:rPr>
                        <a:t> SO </a:t>
                      </a:r>
                      <a:r>
                        <a:rPr lang="en-US" sz="1100" b="0" i="0" u="none" strike="noStrike" dirty="0" err="1">
                          <a:solidFill>
                            <a:srgbClr val="000000"/>
                          </a:solidFill>
                          <a:effectLst/>
                          <a:latin typeface="Calibri" panose="020F0502020204030204" pitchFamily="34" charset="0"/>
                        </a:rPr>
                        <a:t>yêu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cầu</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kiểm</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tra</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tình</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trạng</a:t>
                      </a:r>
                      <a:r>
                        <a:rPr lang="en-US" sz="1100" b="0" i="0" u="none" strike="noStrike" dirty="0">
                          <a:solidFill>
                            <a:srgbClr val="000000"/>
                          </a:solidFill>
                          <a:effectLst/>
                          <a:latin typeface="Calibri" panose="020F0502020204030204" pitchFamily="34" charset="0"/>
                        </a:rPr>
                        <a:t> wiper </a:t>
                      </a:r>
                      <a:r>
                        <a:rPr lang="en-US" sz="1100" b="0" i="0" u="none" strike="noStrike" dirty="0" err="1">
                          <a:solidFill>
                            <a:srgbClr val="000000"/>
                          </a:solidFill>
                          <a:effectLst/>
                          <a:latin typeface="Calibri" panose="020F0502020204030204" pitchFamily="34" charset="0"/>
                        </a:rPr>
                        <a:t>tần</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suất</a:t>
                      </a:r>
                      <a:r>
                        <a:rPr lang="en-US" sz="1100" b="0" i="0" u="none" strike="noStrike" dirty="0">
                          <a:solidFill>
                            <a:srgbClr val="000000"/>
                          </a:solidFill>
                          <a:effectLst/>
                          <a:latin typeface="Calibri" panose="020F0502020204030204" pitchFamily="34" charset="0"/>
                        </a:rPr>
                        <a:t> C check. </a:t>
                      </a:r>
                      <a:r>
                        <a:rPr lang="en-US" sz="1100" b="0" i="0" u="none" strike="noStrike" dirty="0" err="1">
                          <a:solidFill>
                            <a:srgbClr val="000000"/>
                          </a:solidFill>
                          <a:effectLst/>
                          <a:latin typeface="Calibri" panose="020F0502020204030204" pitchFamily="34" charset="0"/>
                        </a:rPr>
                        <a:t>Tiếp</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tục</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theo</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dõi</a:t>
                      </a:r>
                      <a:r>
                        <a:rPr lang="en-US" sz="1100" b="0" i="0" u="none" strike="noStrike" dirty="0">
                          <a:solidFill>
                            <a:srgbClr val="000000"/>
                          </a:solidFill>
                          <a:effectLst/>
                          <a:latin typeface="Calibri" panose="020F0502020204030204" pitchFamily="34" charset="0"/>
                        </a:rPr>
                        <a:t> </a:t>
                      </a:r>
                      <a:r>
                        <a:rPr lang="en-US" sz="1100" b="0" i="0" u="none" strike="noStrike" dirty="0" err="1">
                          <a:solidFill>
                            <a:srgbClr val="000000"/>
                          </a:solidFill>
                          <a:effectLst/>
                          <a:latin typeface="Calibri" panose="020F0502020204030204" pitchFamily="34" charset="0"/>
                        </a:rPr>
                        <a:t>thêm</a:t>
                      </a:r>
                      <a:endParaRPr lang="en-US" sz="1100" b="0" i="0" u="none" strike="noStrike" dirty="0">
                        <a:solidFill>
                          <a:srgbClr val="000000"/>
                        </a:solidFill>
                        <a:effectLst/>
                        <a:latin typeface="Calibri" panose="020F0502020204030204" pitchFamily="34" charset="0"/>
                      </a:endParaRP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5845222"/>
                  </a:ext>
                </a:extLst>
              </a:tr>
              <a:tr h="666583">
                <a:tc>
                  <a:txBody>
                    <a:bodyPr/>
                    <a:lstStyle/>
                    <a:p>
                      <a:pPr algn="ctr" fontAlgn="t"/>
                      <a:r>
                        <a:rPr lang="en-US" sz="1100" b="0" i="0" u="none" strike="noStrike" dirty="0">
                          <a:solidFill>
                            <a:srgbClr val="000000"/>
                          </a:solidFill>
                          <a:effectLst/>
                          <a:latin typeface="Calibri" panose="020F0502020204030204" pitchFamily="34" charset="0"/>
                        </a:rPr>
                        <a:t>12</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A331</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02/03/2025 10:48</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62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VN1203</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HAN-VCA</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dirty="0">
                          <a:solidFill>
                            <a:srgbClr val="000000"/>
                          </a:solidFill>
                          <a:effectLst/>
                          <a:latin typeface="Calibri" panose="020F0502020204030204" pitchFamily="34" charset="0"/>
                        </a:rPr>
                        <a:t>ALL THE LIGHTS IN THE CABIN DO NOT ILLUMINATE &lt;p&gt;VN587-1203 KHH-HAN-VCA (10:30-11:15) Before boarding, all the lights in the cabin do not illuminate&lt;/p&gt;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a:solidFill>
                            <a:srgbClr val="000000"/>
                          </a:solidFill>
                          <a:effectLst/>
                          <a:latin typeface="Calibri" panose="020F0502020204030204" pitchFamily="34" charset="0"/>
                        </a:rPr>
                        <a:t>&lt;p&gt;C/o reset CIDS 1-2, reset FAP-&amp;gt; check satis&lt;/p&gt; ALL CABIN LIGHT NOT ILUMINATE EVENT CLOSED &lt;p&gt;&lt;/p&gt; &lt;p&gt;10:48 CRS báo hỏng hóc&lt;br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11:14 OCC báo đổi A611 bay thay (A611 ETA 11:55)&lt;br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11:34 CRS báo đã khắc phục được hỏng hóc, không cần phải đổi tàu&lt;br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11:44 OCC báo sử dụng lại lịch cũ A331 tiếp tục bay VN1203&lt;br /&gt;</a:t>
                      </a:r>
                      <a:br>
                        <a:rPr lang="vi-VN" sz="1100" b="0" i="0" u="none" strike="noStrike">
                          <a:solidFill>
                            <a:srgbClr val="000000"/>
                          </a:solidFill>
                          <a:effectLst/>
                          <a:latin typeface="Calibri" panose="020F0502020204030204" pitchFamily="34" charset="0"/>
                        </a:rPr>
                      </a:br>
                      <a:r>
                        <a:rPr lang="vi-VN" sz="1100" b="0" i="0" u="none" strike="noStrike">
                          <a:solidFill>
                            <a:srgbClr val="000000"/>
                          </a:solidFill>
                          <a:effectLst/>
                          <a:latin typeface="Calibri" panose="020F0502020204030204" pitchFamily="34" charset="0"/>
                        </a:rPr>
                        <a:t>12:17 A331 đóng cửa-&amp;gt; VN1203 delay 62 phút so với kế hoạch ban đầu&lt;/p&gt;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23-00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Hỏng hóc liên quan đến máy tính DIR PN Z014H000333B đã được khắc phục bằng cách reset. Đối với máy tính DIR, theo TFU 23.73.00.108, dòng máy tính DIR -333B là thế hệ cũ với nhiều linh kiện không còn được sản xuất, dẫn đến việc sửa chữa gặp khó khăn do thiếu vật tư thay thế. Airbus đã đề xuất giải pháp tạm thời là tận dụng các vật tư hiện có để thay thế. Về giải pháp lâu dài, Airbus khuyến nghị nâng cấp máy tính DIR -333B lên thế hệ mới PN -035C. Theo thống kê ĐTC, trong năm 2024 chỉ ghi nhận 2 trường hợp hỏng hóc liên quan đến máy tính DIR -333B. Hiện tại, đã có SB 1B10/11 để thực hiện nâng cấp DIR lên -035C và OBRM lên -37B. Tuy nhiên, Ban Kỹ thuật đang xem xét khả năng triển khai SB này do không thuộc diện FOC.</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6778765"/>
                  </a:ext>
                </a:extLst>
              </a:tr>
            </a:tbl>
          </a:graphicData>
        </a:graphic>
      </p:graphicFrame>
      <p:sp>
        <p:nvSpPr>
          <p:cNvPr id="7" name="TextBox 6">
            <a:extLst>
              <a:ext uri="{FF2B5EF4-FFF2-40B4-BE49-F238E27FC236}">
                <a16:creationId xmlns:a16="http://schemas.microsoft.com/office/drawing/2014/main" id="{56F14B7E-3168-5765-1022-FBD74E75809D}"/>
              </a:ext>
            </a:extLst>
          </p:cNvPr>
          <p:cNvSpPr txBox="1"/>
          <p:nvPr/>
        </p:nvSpPr>
        <p:spPr>
          <a:xfrm>
            <a:off x="152398" y="105982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DELAY: </a:t>
            </a:r>
            <a:r>
              <a:rPr lang="en-US" sz="1600" b="1" dirty="0">
                <a:solidFill>
                  <a:srgbClr val="FF0000"/>
                </a:solidFill>
                <a:latin typeface="Times New Roman" panose="02020603050405020304" pitchFamily="18" charset="0"/>
                <a:ea typeface="MS PGothic" panose="020B0600070205080204" pitchFamily="34" charset="-128"/>
                <a:cs typeface="Times New Roman" panose="02020603050405020304" pitchFamily="18" charset="0"/>
              </a:rPr>
              <a:t>12</a:t>
            </a:r>
            <a:endPar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8" name="TextBox 7">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12</a:t>
            </a:r>
            <a:r>
              <a:rPr kumimoji="0" lang="en-US" sz="1600" b="1" i="0" u="none" strike="noStrike" kern="1200" cap="none" spc="0" normalizeH="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4</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21845361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a:extLst>
              <a:ext uri="{FF2B5EF4-FFF2-40B4-BE49-F238E27FC236}">
                <a16:creationId xmlns:a16="http://schemas.microsoft.com/office/drawing/2014/main" id="{331A5E89-8330-4CC5-8E86-DC6C55D3DE22}"/>
              </a:ext>
            </a:extLst>
          </p:cNvPr>
          <p:cNvSpPr txBox="1"/>
          <p:nvPr/>
        </p:nvSpPr>
        <p:spPr>
          <a:xfrm>
            <a:off x="737417" y="168860"/>
            <a:ext cx="10293572" cy="523220"/>
          </a:xfrm>
          <a:prstGeom prst="rect">
            <a:avLst/>
          </a:prstGeom>
          <a:noFill/>
        </p:spPr>
        <p:txBody>
          <a:bodyPr wrap="square" rtlCol="0">
            <a:spAutoFit/>
          </a:bodyPr>
          <a:lstStyle/>
          <a:p>
            <a:pPr algn="just"/>
            <a:r>
              <a:rPr lang="en-US" sz="2800" b="1" dirty="0">
                <a:solidFill>
                  <a:srgbClr val="DEA610"/>
                </a:solidFill>
                <a:latin typeface="Times New Roman" panose="02020603050405020304" pitchFamily="18" charset="0"/>
                <a:cs typeface="Times New Roman" panose="02020603050405020304" pitchFamily="18" charset="0"/>
              </a:rPr>
              <a:t>A321 – ATA 21 – AIR WING LEAK</a:t>
            </a:r>
          </a:p>
        </p:txBody>
      </p:sp>
      <p:sp>
        <p:nvSpPr>
          <p:cNvPr id="25" name="Rectangle: Single Corner Rounded 24">
            <a:extLst>
              <a:ext uri="{FF2B5EF4-FFF2-40B4-BE49-F238E27FC236}">
                <a16:creationId xmlns:a16="http://schemas.microsoft.com/office/drawing/2014/main" id="{D5DADBD9-6852-441A-BF72-7DAFAE15B1FD}"/>
              </a:ext>
            </a:extLst>
          </p:cNvPr>
          <p:cNvSpPr/>
          <p:nvPr/>
        </p:nvSpPr>
        <p:spPr>
          <a:xfrm flipH="1" flipV="1">
            <a:off x="302018" y="790661"/>
            <a:ext cx="11496864" cy="1298365"/>
          </a:xfrm>
          <a:prstGeom prst="round1Rect">
            <a:avLst/>
          </a:prstGeom>
          <a:pattFill prst="lgGrid">
            <a:fgClr>
              <a:srgbClr val="5B9BD5">
                <a:lumMod val="40000"/>
                <a:lumOff val="60000"/>
              </a:srgbClr>
            </a:fgClr>
            <a:bgClr>
              <a:srgbClr val="4472C4">
                <a:lumMod val="20000"/>
                <a:lumOff val="80000"/>
              </a:srgbClr>
            </a:bgClr>
          </a:patt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6" name="Rectangle 25">
            <a:extLst>
              <a:ext uri="{FF2B5EF4-FFF2-40B4-BE49-F238E27FC236}">
                <a16:creationId xmlns:a16="http://schemas.microsoft.com/office/drawing/2014/main" id="{CB07695F-044B-46D6-B43C-B700EFBA7248}"/>
              </a:ext>
            </a:extLst>
          </p:cNvPr>
          <p:cNvSpPr/>
          <p:nvPr/>
        </p:nvSpPr>
        <p:spPr>
          <a:xfrm>
            <a:off x="782968" y="785145"/>
            <a:ext cx="10069062" cy="461665"/>
          </a:xfrm>
          <a:prstGeom prst="rect">
            <a:avLst/>
          </a:prstGeom>
        </p:spPr>
        <p:txBody>
          <a:bodyPr wrap="square">
            <a:spAutoFit/>
          </a:bodyPr>
          <a:lstStyle/>
          <a:p>
            <a:pPr lvl="0">
              <a:defRPr/>
            </a:pP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A335 </a:t>
            </a:r>
            <a:r>
              <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G</a:t>
            </a:r>
            <a:r>
              <a:rPr kumimoji="0" lang="en-US" sz="24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TB due to </a:t>
            </a:r>
            <a:r>
              <a:rPr lang="en-US" sz="2400" b="1" noProof="0"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AIR L WING LEAK</a:t>
            </a:r>
            <a:endParaRPr lang="en-US" sz="24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endParaRPr>
          </a:p>
        </p:txBody>
      </p:sp>
      <p:sp>
        <p:nvSpPr>
          <p:cNvPr id="27" name="Rectangle 26">
            <a:extLst>
              <a:ext uri="{FF2B5EF4-FFF2-40B4-BE49-F238E27FC236}">
                <a16:creationId xmlns:a16="http://schemas.microsoft.com/office/drawing/2014/main" id="{367F70C2-5165-479E-AFB9-34EDD474B128}"/>
              </a:ext>
            </a:extLst>
          </p:cNvPr>
          <p:cNvSpPr/>
          <p:nvPr/>
        </p:nvSpPr>
        <p:spPr>
          <a:xfrm>
            <a:off x="778157" y="1195347"/>
            <a:ext cx="10882536" cy="815608"/>
          </a:xfrm>
          <a:prstGeom prst="rect">
            <a:avLst/>
          </a:prstGeom>
        </p:spPr>
        <p:txBody>
          <a:bodyPr wrap="square">
            <a:spAutoFit/>
          </a:bodyPr>
          <a:lstStyle/>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A335/GTB/VN1374/SGN-HUI GTB DUE TO ECAM MSG:AIR L WING LEAK</a:t>
            </a:r>
          </a:p>
          <a:p>
            <a:pPr marL="285750" indent="-285750">
              <a:spcBef>
                <a:spcPts val="600"/>
              </a:spcBef>
              <a:buFont typeface="Arial" panose="020B0604020202020204" pitchFamily="34" charset="0"/>
              <a:buChar char="•"/>
            </a:pPr>
            <a:r>
              <a:rPr lang="en-US" sz="1400" dirty="0">
                <a:ln w="0"/>
                <a:solidFill>
                  <a:srgbClr val="203864"/>
                </a:solidFill>
                <a:latin typeface="Cambria" panose="02040503050406030204" pitchFamily="18" charset="0"/>
                <a:ea typeface="Cambria" panose="02040503050406030204" pitchFamily="18" charset="0"/>
                <a:cs typeface="Times New Roman" panose="02020603050405020304" pitchFamily="18" charset="0"/>
              </a:rPr>
              <a:t>CHECK FOUND CABLE BETWEEN PACK1 OUTLET COMPRESSOR AND HEAT EXCHANGER BROKEN. C/O REPLACED NEW ONE AND LEAK CHECK PACK SATIS</a:t>
            </a:r>
            <a:endParaRPr lang="en-US" sz="1400" dirty="0">
              <a:solidFill>
                <a:srgbClr val="203864"/>
              </a:solidFill>
              <a:latin typeface="Times New Roman" panose="02020603050405020304" pitchFamily="18" charset="0"/>
              <a:cs typeface="Times New Roman" panose="02020603050405020304" pitchFamily="18" charset="0"/>
            </a:endParaRPr>
          </a:p>
        </p:txBody>
      </p:sp>
      <p:sp>
        <p:nvSpPr>
          <p:cNvPr id="39" name="TextBox 38">
            <a:extLst>
              <a:ext uri="{FF2B5EF4-FFF2-40B4-BE49-F238E27FC236}">
                <a16:creationId xmlns:a16="http://schemas.microsoft.com/office/drawing/2014/main" id="{4210CCF0-33AF-4035-BD27-3303A8633E6C}"/>
              </a:ext>
            </a:extLst>
          </p:cNvPr>
          <p:cNvSpPr txBox="1"/>
          <p:nvPr/>
        </p:nvSpPr>
        <p:spPr>
          <a:xfrm>
            <a:off x="795408" y="2477974"/>
            <a:ext cx="2662062" cy="369332"/>
          </a:xfrm>
          <a:prstGeom prst="rect">
            <a:avLst/>
          </a:prstGeom>
          <a:noFill/>
        </p:spPr>
        <p:txBody>
          <a:bodyPr wrap="square" rtlCol="0">
            <a:spAutoFit/>
          </a:bodyPr>
          <a:lstStyle/>
          <a:p>
            <a:pPr lvl="0"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Phân</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tích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Đánh</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giá</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E05FED27-E33B-4C7E-85F6-BC470EC52ECB}"/>
              </a:ext>
            </a:extLst>
          </p:cNvPr>
          <p:cNvSpPr txBox="1"/>
          <p:nvPr/>
        </p:nvSpPr>
        <p:spPr>
          <a:xfrm>
            <a:off x="795407" y="2990319"/>
            <a:ext cx="5759951" cy="1046440"/>
          </a:xfrm>
          <a:prstGeom prst="rect">
            <a:avLst/>
          </a:prstGeom>
          <a:noFill/>
        </p:spPr>
        <p:txBody>
          <a:bodyPr wrap="square" rtlCol="0">
            <a:spAutoFit/>
          </a:bodyPr>
          <a:lstStyle/>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Do </a:t>
            </a:r>
            <a:r>
              <a:rPr lang="en-US" sz="1400" dirty="0" err="1">
                <a:solidFill>
                  <a:srgbClr val="203864"/>
                </a:solidFill>
                <a:latin typeface="Times New Roman" panose="02020603050405020304" pitchFamily="18" charset="0"/>
                <a:cs typeface="Times New Roman" panose="02020603050405020304" pitchFamily="18" charset="0"/>
              </a:rPr>
              <a:t>chất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vật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liệu</a:t>
            </a:r>
            <a:r>
              <a:rPr lang="en-US" sz="1400" dirty="0">
                <a:solidFill>
                  <a:srgbClr val="203864"/>
                </a:solidFill>
                <a:latin typeface="Times New Roman" panose="02020603050405020304" pitchFamily="18" charset="0"/>
                <a:cs typeface="Times New Roman" panose="02020603050405020304" pitchFamily="18" charset="0"/>
              </a:rPr>
              <a:t> cable </a:t>
            </a:r>
            <a:r>
              <a:rPr lang="en-US" sz="1400" dirty="0" err="1">
                <a:solidFill>
                  <a:srgbClr val="203864"/>
                </a:solidFill>
                <a:latin typeface="Times New Roman" panose="02020603050405020304" pitchFamily="18" charset="0"/>
                <a:cs typeface="Times New Roman" panose="02020603050405020304" pitchFamily="18" charset="0"/>
              </a:rPr>
              <a:t>xuống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cấp</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sau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một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thời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dài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khai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thác</a:t>
            </a:r>
            <a:endParaRPr lang="en-US" sz="1400" dirty="0">
              <a:solidFill>
                <a:srgbClr val="203864"/>
              </a:solidFill>
              <a:latin typeface="Times New Roman" panose="02020603050405020304" pitchFamily="18" charset="0"/>
              <a:cs typeface="Times New Roman" panose="02020603050405020304" pitchFamily="18" charset="0"/>
            </a:endParaRP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Hiện </a:t>
            </a:r>
            <a:r>
              <a:rPr lang="en-US" sz="1400" dirty="0" err="1">
                <a:solidFill>
                  <a:srgbClr val="203864"/>
                </a:solidFill>
                <a:latin typeface="Times New Roman" panose="02020603050405020304" pitchFamily="18" charset="0"/>
                <a:cs typeface="Times New Roman" panose="02020603050405020304" pitchFamily="18" charset="0"/>
              </a:rPr>
              <a:t>tượng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đứt</a:t>
            </a:r>
            <a:r>
              <a:rPr lang="en-US" sz="1400" dirty="0">
                <a:solidFill>
                  <a:srgbClr val="203864"/>
                </a:solidFill>
                <a:latin typeface="Times New Roman" panose="02020603050405020304" pitchFamily="18" charset="0"/>
                <a:cs typeface="Times New Roman" panose="02020603050405020304" pitchFamily="18" charset="0"/>
              </a:rPr>
              <a:t> cable </a:t>
            </a:r>
            <a:r>
              <a:rPr lang="en-US" sz="1400" dirty="0" err="1">
                <a:solidFill>
                  <a:srgbClr val="203864"/>
                </a:solidFill>
                <a:latin typeface="Times New Roman" panose="02020603050405020304" pitchFamily="18" charset="0"/>
                <a:cs typeface="Times New Roman" panose="02020603050405020304" pitchFamily="18" charset="0"/>
              </a:rPr>
              <a:t>đã</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từng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xảy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trên</a:t>
            </a:r>
            <a:r>
              <a:rPr lang="en-US" sz="1400" dirty="0">
                <a:solidFill>
                  <a:srgbClr val="203864"/>
                </a:solidFill>
                <a:latin typeface="Times New Roman" panose="02020603050405020304" pitchFamily="18" charset="0"/>
                <a:cs typeface="Times New Roman" panose="02020603050405020304" pitchFamily="18" charset="0"/>
              </a:rPr>
              <a:t> A606 (2023) </a:t>
            </a:r>
            <a:r>
              <a:rPr lang="en-US" sz="1400" dirty="0" err="1">
                <a:solidFill>
                  <a:srgbClr val="203864"/>
                </a:solidFill>
                <a:latin typeface="Times New Roman" panose="02020603050405020304" pitchFamily="18" charset="0"/>
                <a:cs typeface="Times New Roman" panose="02020603050405020304" pitchFamily="18" charset="0"/>
              </a:rPr>
              <a:t>và</a:t>
            </a:r>
            <a:r>
              <a:rPr lang="en-US" sz="1400" dirty="0">
                <a:solidFill>
                  <a:srgbClr val="203864"/>
                </a:solidFill>
                <a:latin typeface="Times New Roman" panose="02020603050405020304" pitchFamily="18" charset="0"/>
                <a:cs typeface="Times New Roman" panose="02020603050405020304" pitchFamily="18" charset="0"/>
              </a:rPr>
              <a:t> A334 (2022)</a:t>
            </a:r>
          </a:p>
          <a:p>
            <a:pPr marL="285750" indent="-285750" algn="just">
              <a:spcBef>
                <a:spcPts val="1200"/>
              </a:spcBef>
              <a:buFont typeface="Arial" panose="020B0604020202020204" pitchFamily="34" charset="0"/>
              <a:buChar char="•"/>
              <a:defRPr/>
            </a:pPr>
            <a:r>
              <a:rPr lang="en-US" sz="1400" dirty="0">
                <a:solidFill>
                  <a:srgbClr val="203864"/>
                </a:solidFill>
                <a:latin typeface="Times New Roman" panose="02020603050405020304" pitchFamily="18" charset="0"/>
                <a:cs typeface="Times New Roman" panose="02020603050405020304" pitchFamily="18" charset="0"/>
              </a:rPr>
              <a:t>Hiện </a:t>
            </a:r>
            <a:r>
              <a:rPr lang="en-US" sz="1400" dirty="0" err="1">
                <a:solidFill>
                  <a:srgbClr val="203864"/>
                </a:solidFill>
                <a:latin typeface="Times New Roman" panose="02020603050405020304" pitchFamily="18" charset="0"/>
                <a:cs typeface="Times New Roman" panose="02020603050405020304" pitchFamily="18" charset="0"/>
              </a:rPr>
              <a:t>chưa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có</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nội</a:t>
            </a:r>
            <a:r>
              <a:rPr lang="en-US" sz="1400" dirty="0">
                <a:solidFill>
                  <a:srgbClr val="203864"/>
                </a:solidFill>
                <a:latin typeface="Times New Roman" panose="02020603050405020304" pitchFamily="18" charset="0"/>
                <a:cs typeface="Times New Roman" panose="02020603050405020304" pitchFamily="18" charset="0"/>
              </a:rPr>
              <a:t> dung </a:t>
            </a:r>
            <a:r>
              <a:rPr lang="en-US" sz="1400" dirty="0" err="1">
                <a:solidFill>
                  <a:srgbClr val="203864"/>
                </a:solidFill>
                <a:latin typeface="Times New Roman" panose="02020603050405020304" pitchFamily="18" charset="0"/>
                <a:cs typeface="Times New Roman" panose="02020603050405020304" pitchFamily="18" charset="0"/>
              </a:rPr>
              <a:t>kiểm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cable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EO check leak</a:t>
            </a:r>
          </a:p>
        </p:txBody>
      </p:sp>
      <p:pic>
        <p:nvPicPr>
          <p:cNvPr id="105" name="Picture 104">
            <a:extLst>
              <a:ext uri="{FF2B5EF4-FFF2-40B4-BE49-F238E27FC236}">
                <a16:creationId xmlns:a16="http://schemas.microsoft.com/office/drawing/2014/main" id="{6C0963AF-2C0C-426C-8070-5E29C3C95D73}"/>
              </a:ext>
            </a:extLst>
          </p:cNvPr>
          <p:cNvPicPr>
            <a:picLocks noChangeAspect="1"/>
          </p:cNvPicPr>
          <p:nvPr/>
        </p:nvPicPr>
        <p:blipFill>
          <a:blip r:embed="rId3"/>
          <a:stretch>
            <a:fillRect/>
          </a:stretch>
        </p:blipFill>
        <p:spPr>
          <a:xfrm>
            <a:off x="365624" y="2419483"/>
            <a:ext cx="510877" cy="512345"/>
          </a:xfrm>
          <a:prstGeom prst="rect">
            <a:avLst/>
          </a:prstGeom>
        </p:spPr>
      </p:pic>
      <p:grpSp>
        <p:nvGrpSpPr>
          <p:cNvPr id="43" name="Group 42">
            <a:extLst>
              <a:ext uri="{FF2B5EF4-FFF2-40B4-BE49-F238E27FC236}">
                <a16:creationId xmlns:a16="http://schemas.microsoft.com/office/drawing/2014/main" id="{96848787-7A9F-4F52-ABC0-1107EA34F5F0}"/>
              </a:ext>
            </a:extLst>
          </p:cNvPr>
          <p:cNvGrpSpPr/>
          <p:nvPr/>
        </p:nvGrpSpPr>
        <p:grpSpPr>
          <a:xfrm>
            <a:off x="795408" y="288234"/>
            <a:ext cx="11396592" cy="678753"/>
            <a:chOff x="976560" y="323070"/>
            <a:chExt cx="10755065" cy="678753"/>
          </a:xfrm>
        </p:grpSpPr>
        <p:cxnSp>
          <p:nvCxnSpPr>
            <p:cNvPr id="44" name="Straight Connector 43">
              <a:extLst>
                <a:ext uri="{FF2B5EF4-FFF2-40B4-BE49-F238E27FC236}">
                  <a16:creationId xmlns:a16="http://schemas.microsoft.com/office/drawing/2014/main" id="{EF38EC88-2153-4950-B37C-5AA23CFFE443}"/>
                </a:ext>
              </a:extLst>
            </p:cNvPr>
            <p:cNvCxnSpPr/>
            <p:nvPr/>
          </p:nvCxnSpPr>
          <p:spPr>
            <a:xfrm>
              <a:off x="976560"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45" name="Picture 44">
              <a:extLst>
                <a:ext uri="{FF2B5EF4-FFF2-40B4-BE49-F238E27FC236}">
                  <a16:creationId xmlns:a16="http://schemas.microsoft.com/office/drawing/2014/main" id="{E261425C-3820-49B8-A55E-025BA5C93B4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279123" y="323070"/>
              <a:ext cx="452502" cy="678753"/>
            </a:xfrm>
            <a:prstGeom prst="rect">
              <a:avLst/>
            </a:prstGeom>
          </p:spPr>
        </p:pic>
      </p:grpSp>
      <p:sp>
        <p:nvSpPr>
          <p:cNvPr id="3" name="Rectangle 2">
            <a:extLst>
              <a:ext uri="{FF2B5EF4-FFF2-40B4-BE49-F238E27FC236}">
                <a16:creationId xmlns:a16="http://schemas.microsoft.com/office/drawing/2014/main" id="{44661636-EB8A-415F-84D1-76873A64495B}"/>
              </a:ext>
            </a:extLst>
          </p:cNvPr>
          <p:cNvSpPr/>
          <p:nvPr/>
        </p:nvSpPr>
        <p:spPr>
          <a:xfrm>
            <a:off x="347568" y="753635"/>
            <a:ext cx="389850" cy="369332"/>
          </a:xfrm>
          <a:prstGeom prst="rect">
            <a:avLst/>
          </a:prstGeom>
        </p:spPr>
        <p:txBody>
          <a:bodyPr wrap="none">
            <a:spAutoFit/>
          </a:bodyPr>
          <a:lstStyle/>
          <a:p>
            <a:r>
              <a:rPr lang="en-US" b="1">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sym typeface="Wingdings" panose="05000000000000000000" pitchFamily="2" charset="2"/>
              </a:rPr>
              <a:t></a:t>
            </a:r>
            <a:endParaRPr lang="en-US"/>
          </a:p>
        </p:txBody>
      </p:sp>
      <p:sp>
        <p:nvSpPr>
          <p:cNvPr id="18" name="TextBox 17">
            <a:extLst>
              <a:ext uri="{FF2B5EF4-FFF2-40B4-BE49-F238E27FC236}">
                <a16:creationId xmlns:a16="http://schemas.microsoft.com/office/drawing/2014/main" id="{B299EA22-CE66-4152-AA3B-0EE67E068BED}"/>
              </a:ext>
            </a:extLst>
          </p:cNvPr>
          <p:cNvSpPr txBox="1"/>
          <p:nvPr/>
        </p:nvSpPr>
        <p:spPr>
          <a:xfrm>
            <a:off x="916514" y="4362675"/>
            <a:ext cx="1969253" cy="369332"/>
          </a:xfrm>
          <a:prstGeom prst="rect">
            <a:avLst/>
          </a:prstGeom>
          <a:noFill/>
        </p:spPr>
        <p:txBody>
          <a:bodyPr wrap="square" rtlCol="0">
            <a:spAutoFit/>
          </a:bodyPr>
          <a:lstStyle/>
          <a:p>
            <a:pPr algn="just">
              <a:spcBef>
                <a:spcPts val="600"/>
              </a:spcBef>
              <a:defRPr/>
            </a:pP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Giải</a:t>
            </a:r>
            <a:r>
              <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rPr>
              <a:t> </a:t>
            </a:r>
            <a:r>
              <a:rPr lang="en-US" b="1" dirty="0" err="1">
                <a:solidFill>
                  <a:srgbClr val="006885"/>
                </a:solidFill>
                <a:latin typeface="Times New Roman" panose="02020603050405020304" pitchFamily="18" charset="0"/>
                <a:ea typeface="Cambria" panose="02040503050406030204" pitchFamily="18" charset="0"/>
                <a:cs typeface="Times New Roman" panose="02020603050405020304" pitchFamily="18" charset="0"/>
              </a:rPr>
              <a:t>pháp</a:t>
            </a:r>
            <a:endParaRPr lang="en-US" b="1" dirty="0">
              <a:solidFill>
                <a:srgbClr val="006885"/>
              </a:solidFill>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19" name="Picture 18">
            <a:extLst>
              <a:ext uri="{FF2B5EF4-FFF2-40B4-BE49-F238E27FC236}">
                <a16:creationId xmlns:a16="http://schemas.microsoft.com/office/drawing/2014/main" id="{24EBB0B7-3B29-442D-AB18-AC8C4C118BD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65624" y="4179772"/>
            <a:ext cx="550890" cy="464480"/>
          </a:xfrm>
          <a:prstGeom prst="rect">
            <a:avLst/>
          </a:prstGeom>
        </p:spPr>
      </p:pic>
      <p:sp>
        <p:nvSpPr>
          <p:cNvPr id="6" name="Rectangle 5">
            <a:extLst>
              <a:ext uri="{FF2B5EF4-FFF2-40B4-BE49-F238E27FC236}">
                <a16:creationId xmlns:a16="http://schemas.microsoft.com/office/drawing/2014/main" id="{8577CEAE-802D-4767-9717-645CEE87B488}"/>
              </a:ext>
            </a:extLst>
          </p:cNvPr>
          <p:cNvSpPr/>
          <p:nvPr/>
        </p:nvSpPr>
        <p:spPr>
          <a:xfrm>
            <a:off x="876502" y="4914910"/>
            <a:ext cx="5759950" cy="1261884"/>
          </a:xfrm>
          <a:prstGeom prst="rect">
            <a:avLst/>
          </a:prstGeom>
        </p:spPr>
        <p:txBody>
          <a:bodyPr wrap="square">
            <a:spAutoFit/>
          </a:bodyPr>
          <a:lstStyle/>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Triển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khai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kiểm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tra</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lượng</a:t>
            </a:r>
            <a:r>
              <a:rPr lang="en-US" sz="1400" dirty="0">
                <a:solidFill>
                  <a:srgbClr val="203864"/>
                </a:solidFill>
                <a:latin typeface="Times New Roman" panose="02020603050405020304" pitchFamily="18" charset="0"/>
                <a:cs typeface="Times New Roman" panose="02020603050405020304" pitchFamily="18" charset="0"/>
              </a:rPr>
              <a:t> cable </a:t>
            </a:r>
            <a:r>
              <a:rPr lang="en-US" sz="1400" dirty="0" err="1">
                <a:solidFill>
                  <a:srgbClr val="203864"/>
                </a:solidFill>
                <a:latin typeface="Times New Roman" panose="02020603050405020304" pitchFamily="18" charset="0"/>
                <a:cs typeface="Times New Roman" panose="02020603050405020304" pitchFamily="18" charset="0"/>
              </a:rPr>
              <a:t>cho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các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tàu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trong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thời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gian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tới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cheak</a:t>
            </a:r>
            <a:r>
              <a:rPr lang="en-US" sz="1400" dirty="0">
                <a:solidFill>
                  <a:srgbClr val="203864"/>
                </a:solidFill>
                <a:latin typeface="Times New Roman" panose="02020603050405020304" pitchFamily="18" charset="0"/>
                <a:cs typeface="Times New Roman" panose="02020603050405020304" pitchFamily="18" charset="0"/>
              </a:rPr>
              <a:t> leak</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Thực</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hiện</a:t>
            </a:r>
            <a:r>
              <a:rPr lang="en-US" sz="1400" dirty="0">
                <a:solidFill>
                  <a:srgbClr val="203864"/>
                </a:solidFill>
                <a:latin typeface="Times New Roman" panose="02020603050405020304" pitchFamily="18" charset="0"/>
                <a:cs typeface="Times New Roman" panose="02020603050405020304" pitchFamily="18" charset="0"/>
              </a:rPr>
              <a:t> torque </a:t>
            </a:r>
            <a:r>
              <a:rPr lang="en-US" sz="1400" dirty="0" err="1">
                <a:solidFill>
                  <a:srgbClr val="203864"/>
                </a:solidFill>
                <a:latin typeface="Times New Roman" panose="02020603050405020304" pitchFamily="18" charset="0"/>
                <a:cs typeface="Times New Roman" panose="02020603050405020304" pitchFamily="18" charset="0"/>
              </a:rPr>
              <a:t>lại</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nếu</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không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đảm</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bảo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chất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lượng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sẽ</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thay</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mới</a:t>
            </a:r>
            <a:r>
              <a:rPr lang="en-US" sz="1400" dirty="0">
                <a:solidFill>
                  <a:srgbClr val="203864"/>
                </a:solidFill>
                <a:latin typeface="Times New Roman" panose="02020603050405020304" pitchFamily="18" charset="0"/>
                <a:cs typeface="Times New Roman" panose="02020603050405020304" pitchFamily="18" charset="0"/>
              </a:rPr>
              <a:t> cable</a:t>
            </a:r>
          </a:p>
          <a:p>
            <a:pPr marL="285750" indent="-285750" algn="just">
              <a:spcBef>
                <a:spcPts val="1200"/>
              </a:spcBef>
              <a:buFont typeface="Arial" panose="020B0604020202020204" pitchFamily="34" charset="0"/>
              <a:buChar char="•"/>
              <a:defRPr/>
            </a:pPr>
            <a:r>
              <a:rPr lang="en-US" sz="1400" dirty="0" err="1">
                <a:solidFill>
                  <a:srgbClr val="203864"/>
                </a:solidFill>
                <a:latin typeface="Times New Roman" panose="02020603050405020304" pitchFamily="18" charset="0"/>
                <a:cs typeface="Times New Roman" panose="02020603050405020304" pitchFamily="18" charset="0"/>
              </a:rPr>
              <a:t>Vaeco</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đặt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dự</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phòng</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vật</a:t>
            </a:r>
            <a:r>
              <a:rPr lang="en-US" sz="1400" dirty="0">
                <a:solidFill>
                  <a:srgbClr val="203864"/>
                </a:solidFill>
                <a:latin typeface="Times New Roman" panose="02020603050405020304" pitchFamily="18" charset="0"/>
                <a:cs typeface="Times New Roman" panose="02020603050405020304" pitchFamily="18" charset="0"/>
              </a:rPr>
              <a:t> </a:t>
            </a:r>
            <a:r>
              <a:rPr lang="en-US" sz="1400" dirty="0" err="1">
                <a:solidFill>
                  <a:srgbClr val="203864"/>
                </a:solidFill>
                <a:latin typeface="Times New Roman" panose="02020603050405020304" pitchFamily="18" charset="0"/>
                <a:cs typeface="Times New Roman" panose="02020603050405020304" pitchFamily="18" charset="0"/>
              </a:rPr>
              <a:t>tư</a:t>
            </a:r>
            <a:r>
              <a:rPr lang="en-US" sz="1400" dirty="0">
                <a:solidFill>
                  <a:srgbClr val="203864"/>
                </a:solidFill>
                <a:latin typeface="Times New Roman" panose="02020603050405020304" pitchFamily="18" charset="0"/>
                <a:cs typeface="Times New Roman" panose="02020603050405020304" pitchFamily="18" charset="0"/>
              </a:rPr>
              <a:t> cable</a:t>
            </a:r>
          </a:p>
        </p:txBody>
      </p:sp>
      <p:pic>
        <p:nvPicPr>
          <p:cNvPr id="2" name="Picture 1"/>
          <p:cNvPicPr>
            <a:picLocks noChangeAspect="1"/>
          </p:cNvPicPr>
          <p:nvPr/>
        </p:nvPicPr>
        <p:blipFill>
          <a:blip r:embed="rId6"/>
          <a:stretch>
            <a:fillRect/>
          </a:stretch>
        </p:blipFill>
        <p:spPr>
          <a:xfrm>
            <a:off x="8412480" y="2516288"/>
            <a:ext cx="2338252" cy="3692774"/>
          </a:xfrm>
          <a:prstGeom prst="rect">
            <a:avLst/>
          </a:prstGeom>
        </p:spPr>
      </p:pic>
    </p:spTree>
    <p:extLst>
      <p:ext uri="{BB962C8B-B14F-4D97-AF65-F5344CB8AC3E}">
        <p14:creationId xmlns:p14="http://schemas.microsoft.com/office/powerpoint/2010/main" val="31330830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2808C5EC-9343-4686-B4B1-4758E42C4551}"/>
              </a:ext>
            </a:extLst>
          </p:cNvPr>
          <p:cNvSpPr/>
          <p:nvPr/>
        </p:nvSpPr>
        <p:spPr>
          <a:xfrm flipH="1" flipV="1">
            <a:off x="465678" y="749285"/>
            <a:ext cx="11555668" cy="1689159"/>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16">
            <a:extLst>
              <a:ext uri="{FF2B5EF4-FFF2-40B4-BE49-F238E27FC236}">
                <a16:creationId xmlns:a16="http://schemas.microsoft.com/office/drawing/2014/main" id="{9AC171E4-B7C3-487F-9250-B7099A792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7"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5" name="Straight Connector 24">
            <a:extLst>
              <a:ext uri="{FF2B5EF4-FFF2-40B4-BE49-F238E27FC236}">
                <a16:creationId xmlns:a16="http://schemas.microsoft.com/office/drawing/2014/main"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0959498-11B2-4444-99B1-B42D92E2B619}"/>
              </a:ext>
            </a:extLst>
          </p:cNvPr>
          <p:cNvSpPr/>
          <p:nvPr/>
        </p:nvSpPr>
        <p:spPr>
          <a:xfrm>
            <a:off x="612775" y="789709"/>
            <a:ext cx="7447008" cy="338554"/>
          </a:xfrm>
          <a:prstGeom prst="rect">
            <a:avLst/>
          </a:prstGeom>
        </p:spPr>
        <p:txBody>
          <a:bodyPr wrap="square">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A356 GTB due to </a:t>
            </a:r>
            <a:r>
              <a:rPr kumimoji="0" lang="sv-SE"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ENG#2 Start Fault and APU Auto Shutdown</a:t>
            </a:r>
            <a:endPar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02C261E8-9107-4B19-8E39-7FAD7508571C}"/>
              </a:ext>
            </a:extLst>
          </p:cNvPr>
          <p:cNvSpPr txBox="1"/>
          <p:nvPr/>
        </p:nvSpPr>
        <p:spPr>
          <a:xfrm>
            <a:off x="722764" y="1172429"/>
            <a:ext cx="8268836" cy="1261884"/>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nổ</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máy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động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cơ</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cảnh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báo</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APU Auto Shutdown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và</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ENG#2 Start Fault,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phải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quay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lại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gate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tiến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hành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ực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reset APU, manual check Engine#2 </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Engine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khởi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động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bình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thường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raise ADD APU INOP.</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Sau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về</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Engine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các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thông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số</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bình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ư</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ờng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thay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khối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Oil Cooler </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Clear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hỏng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hóc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APU.</a:t>
            </a:r>
            <a:endPar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7"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A356 – ENG START FAULT AND APU AUTO SHUTDOWN</a:t>
            </a:r>
          </a:p>
        </p:txBody>
      </p:sp>
      <p:sp>
        <p:nvSpPr>
          <p:cNvPr id="34" name="TextBox 33">
            <a:extLst>
              <a:ext uri="{FF2B5EF4-FFF2-40B4-BE49-F238E27FC236}">
                <a16:creationId xmlns:a16="http://schemas.microsoft.com/office/drawing/2014/main" id="{4FBB82BB-9691-4886-8645-5B1C95F325C4}"/>
              </a:ext>
            </a:extLst>
          </p:cNvPr>
          <p:cNvSpPr txBox="1"/>
          <p:nvPr/>
        </p:nvSpPr>
        <p:spPr>
          <a:xfrm>
            <a:off x="798343" y="2522323"/>
            <a:ext cx="4717415"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p:txBody>
      </p:sp>
      <p:pic>
        <p:nvPicPr>
          <p:cNvPr id="36" name="Picture 35">
            <a:extLst>
              <a:ext uri="{FF2B5EF4-FFF2-40B4-BE49-F238E27FC236}">
                <a16:creationId xmlns:a16="http://schemas.microsoft.com/office/drawing/2014/main" id="{F1E75855-BFF9-4060-8514-50C2582B62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2982" y="4256141"/>
            <a:ext cx="537821" cy="502241"/>
          </a:xfrm>
          <a:prstGeom prst="rect">
            <a:avLst/>
          </a:prstGeom>
        </p:spPr>
      </p:pic>
      <p:sp>
        <p:nvSpPr>
          <p:cNvPr id="37" name="TextBox 36">
            <a:extLst>
              <a:ext uri="{FF2B5EF4-FFF2-40B4-BE49-F238E27FC236}">
                <a16:creationId xmlns:a16="http://schemas.microsoft.com/office/drawing/2014/main" id="{3FDC07A6-2071-4D02-9540-D46ECD1C61E5}"/>
              </a:ext>
            </a:extLst>
          </p:cNvPr>
          <p:cNvSpPr txBox="1"/>
          <p:nvPr/>
        </p:nvSpPr>
        <p:spPr>
          <a:xfrm>
            <a:off x="708392" y="4379924"/>
            <a:ext cx="5272033"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Action</a:t>
            </a:r>
          </a:p>
        </p:txBody>
      </p:sp>
      <p:pic>
        <p:nvPicPr>
          <p:cNvPr id="38" name="Picture 37">
            <a:extLst>
              <a:ext uri="{FF2B5EF4-FFF2-40B4-BE49-F238E27FC236}">
                <a16:creationId xmlns:a16="http://schemas.microsoft.com/office/drawing/2014/main"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3565" y="2438444"/>
            <a:ext cx="524778" cy="502242"/>
          </a:xfrm>
          <a:prstGeom prst="rect">
            <a:avLst/>
          </a:prstGeom>
        </p:spPr>
      </p:pic>
      <p:sp>
        <p:nvSpPr>
          <p:cNvPr id="13" name="TextBox 12"/>
          <p:cNvSpPr txBox="1"/>
          <p:nvPr/>
        </p:nvSpPr>
        <p:spPr>
          <a:xfrm>
            <a:off x="765175" y="2820799"/>
            <a:ext cx="11210998" cy="1384995"/>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Thông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thường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hỏng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hóc</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APU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không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dẫn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tới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GTB,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tuy</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nhiên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do APU shutdown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khi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đang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nổ</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động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cơ</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dẫn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tới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msg ENG#2 Start Fault,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phải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quay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lại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gate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kiểm</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tra</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Engine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và</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APU.</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400" dirty="0" err="1">
                <a:solidFill>
                  <a:srgbClr val="4472C4">
                    <a:lumMod val="50000"/>
                  </a:srgbClr>
                </a:solidFill>
                <a:latin typeface="Times New Roman" panose="02020603050405020304" pitchFamily="18" charset="0"/>
                <a:ea typeface="Cambria" panose="02040503050406030204" pitchFamily="18" charset="0"/>
              </a:rPr>
              <a:t>Nguyên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nhân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gây</a:t>
            </a:r>
            <a:r>
              <a:rPr lang="en-US" sz="1400" dirty="0">
                <a:solidFill>
                  <a:srgbClr val="4472C4">
                    <a:lumMod val="50000"/>
                  </a:srgbClr>
                </a:solidFill>
                <a:latin typeface="Times New Roman" panose="02020603050405020304" pitchFamily="18" charset="0"/>
                <a:ea typeface="Cambria" panose="02040503050406030204" pitchFamily="18" charset="0"/>
              </a:rPr>
              <a:t> APU Auto Shutdown </a:t>
            </a:r>
            <a:r>
              <a:rPr lang="en-US" sz="1400" dirty="0" err="1">
                <a:solidFill>
                  <a:srgbClr val="4472C4">
                    <a:lumMod val="50000"/>
                  </a:srgbClr>
                </a:solidFill>
                <a:latin typeface="Times New Roman" panose="02020603050405020304" pitchFamily="18" charset="0"/>
                <a:ea typeface="Cambria" panose="02040503050406030204" pitchFamily="18" charset="0"/>
              </a:rPr>
              <a:t>là</a:t>
            </a:r>
            <a:r>
              <a:rPr lang="en-US" sz="1400" dirty="0">
                <a:solidFill>
                  <a:srgbClr val="4472C4">
                    <a:lumMod val="50000"/>
                  </a:srgbClr>
                </a:solidFill>
                <a:latin typeface="Times New Roman" panose="02020603050405020304" pitchFamily="18" charset="0"/>
                <a:ea typeface="Cambria" panose="02040503050406030204" pitchFamily="18" charset="0"/>
              </a:rPr>
              <a:t> do “High Oil Temp”, </a:t>
            </a:r>
            <a:r>
              <a:rPr lang="en-US" sz="1400" dirty="0" err="1">
                <a:solidFill>
                  <a:srgbClr val="4472C4">
                    <a:lumMod val="50000"/>
                  </a:srgbClr>
                </a:solidFill>
                <a:latin typeface="Times New Roman" panose="02020603050405020304" pitchFamily="18" charset="0"/>
                <a:ea typeface="Cambria" panose="02040503050406030204" pitchFamily="18" charset="0"/>
              </a:rPr>
              <a:t>và</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được</a:t>
            </a:r>
            <a:r>
              <a:rPr lang="en-US" sz="1400" dirty="0">
                <a:solidFill>
                  <a:srgbClr val="4472C4">
                    <a:lumMod val="50000"/>
                  </a:srgbClr>
                </a:solidFill>
                <a:latin typeface="Times New Roman" panose="02020603050405020304" pitchFamily="18" charset="0"/>
                <a:ea typeface="Cambria" panose="02040503050406030204" pitchFamily="18" charset="0"/>
              </a:rPr>
              <a:t> clear </a:t>
            </a:r>
            <a:r>
              <a:rPr lang="en-US" sz="1400" dirty="0" err="1">
                <a:solidFill>
                  <a:srgbClr val="4472C4">
                    <a:lumMod val="50000"/>
                  </a:srgbClr>
                </a:solidFill>
                <a:latin typeface="Times New Roman" panose="02020603050405020304" pitchFamily="18" charset="0"/>
                <a:ea typeface="Cambria" panose="02040503050406030204" pitchFamily="18" charset="0"/>
              </a:rPr>
              <a:t>sau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khi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thay</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Oil Cooler.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Oil Cooler </a:t>
            </a:r>
            <a:r>
              <a:rPr lang="en-US" sz="1400" dirty="0" err="1">
                <a:solidFill>
                  <a:srgbClr val="4472C4">
                    <a:lumMod val="50000"/>
                  </a:srgbClr>
                </a:solidFill>
                <a:latin typeface="Times New Roman" panose="02020603050405020304" pitchFamily="18" charset="0"/>
                <a:ea typeface="Cambria" panose="02040503050406030204" pitchFamily="18" charset="0"/>
              </a:rPr>
              <a:t>tháo</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xuống</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TSO </a:t>
            </a:r>
            <a:r>
              <a:rPr lang="en-US" sz="1400" dirty="0" err="1">
                <a:solidFill>
                  <a:srgbClr val="4472C4">
                    <a:lumMod val="50000"/>
                  </a:srgbClr>
                </a:solidFill>
                <a:latin typeface="Times New Roman" panose="02020603050405020304" pitchFamily="18" charset="0"/>
                <a:ea typeface="Cambria" panose="02040503050406030204" pitchFamily="18" charset="0"/>
              </a:rPr>
              <a:t>vào</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khoảng</a:t>
            </a:r>
            <a:r>
              <a:rPr lang="en-US" sz="1400" dirty="0">
                <a:solidFill>
                  <a:srgbClr val="4472C4">
                    <a:lumMod val="50000"/>
                  </a:srgbClr>
                </a:solidFill>
                <a:latin typeface="Times New Roman" panose="02020603050405020304" pitchFamily="18" charset="0"/>
                <a:ea typeface="Cambria" panose="02040503050406030204" pitchFamily="18" charset="0"/>
              </a:rPr>
              <a:t> 12000 APU FH, </a:t>
            </a:r>
            <a:r>
              <a:rPr lang="en-US" sz="1400" dirty="0" err="1">
                <a:solidFill>
                  <a:srgbClr val="4472C4">
                    <a:lumMod val="50000"/>
                  </a:srgbClr>
                </a:solidFill>
                <a:latin typeface="Times New Roman" panose="02020603050405020304" pitchFamily="18" charset="0"/>
                <a:ea typeface="Cambria" panose="02040503050406030204" pitchFamily="18" charset="0"/>
              </a:rPr>
              <a:t>không</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được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sửa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chữa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cùng</a:t>
            </a:r>
            <a:r>
              <a:rPr lang="en-US" sz="1400" dirty="0">
                <a:solidFill>
                  <a:srgbClr val="4472C4">
                    <a:lumMod val="50000"/>
                  </a:srgbClr>
                </a:solidFill>
                <a:latin typeface="Times New Roman" panose="02020603050405020304" pitchFamily="18" charset="0"/>
                <a:ea typeface="Cambria" panose="02040503050406030204" pitchFamily="18" charset="0"/>
              </a:rPr>
              <a:t> APU ở </a:t>
            </a:r>
            <a:r>
              <a:rPr lang="en-US" sz="1400" dirty="0" err="1">
                <a:solidFill>
                  <a:srgbClr val="4472C4">
                    <a:lumMod val="50000"/>
                  </a:srgbClr>
                </a:solidFill>
                <a:latin typeface="Times New Roman" panose="02020603050405020304" pitchFamily="18" charset="0"/>
                <a:ea typeface="Cambria" panose="02040503050406030204" pitchFamily="18" charset="0"/>
              </a:rPr>
              <a:t>lần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đi</a:t>
            </a:r>
            <a:r>
              <a:rPr lang="en-US" sz="1400" dirty="0">
                <a:solidFill>
                  <a:srgbClr val="4472C4">
                    <a:lumMod val="50000"/>
                  </a:srgbClr>
                </a:solidFill>
                <a:latin typeface="Times New Roman" panose="02020603050405020304" pitchFamily="18" charset="0"/>
                <a:ea typeface="Cambria" panose="02040503050406030204" pitchFamily="18" charset="0"/>
              </a:rPr>
              <a:t> Shop </a:t>
            </a:r>
            <a:r>
              <a:rPr lang="en-US" sz="1400" dirty="0" err="1">
                <a:solidFill>
                  <a:srgbClr val="4472C4">
                    <a:lumMod val="50000"/>
                  </a:srgbClr>
                </a:solidFill>
                <a:latin typeface="Times New Roman" panose="02020603050405020304" pitchFamily="18" charset="0"/>
                <a:ea typeface="Cambria" panose="02040503050406030204" pitchFamily="18" charset="0"/>
              </a:rPr>
              <a:t>trước</a:t>
            </a:r>
            <a:r>
              <a:rPr lang="en-US" sz="1400" dirty="0">
                <a:solidFill>
                  <a:srgbClr val="4472C4">
                    <a:lumMod val="50000"/>
                  </a:srgbClr>
                </a:solidFill>
                <a:latin typeface="Times New Roman" panose="02020603050405020304" pitchFamily="18" charset="0"/>
                <a:ea typeface="Cambria" panose="02040503050406030204" pitchFamily="18" charset="0"/>
              </a:rPr>
              <a:t>.</a:t>
            </a:r>
            <a:endParaRPr lang="en-US" sz="1400" dirty="0">
              <a:solidFill>
                <a:srgbClr val="4472C4">
                  <a:lumMod val="50000"/>
                </a:srgbClr>
              </a:solidFill>
              <a:latin typeface="Calibri Light" panose="020F0302020204030204"/>
              <a:ea typeface="Cambria" panose="020405030504060302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sz="1400" dirty="0">
                <a:solidFill>
                  <a:srgbClr val="4472C4">
                    <a:lumMod val="50000"/>
                  </a:srgbClr>
                </a:solidFill>
                <a:latin typeface="Times New Roman" panose="02020603050405020304" pitchFamily="18" charset="0"/>
                <a:ea typeface="Cambria" panose="02040503050406030204" pitchFamily="18" charset="0"/>
              </a:rPr>
              <a:t>Theo thống kê, </a:t>
            </a:r>
            <a:r>
              <a:rPr lang="en-US" sz="1400" dirty="0" err="1">
                <a:solidFill>
                  <a:srgbClr val="4472C4">
                    <a:lumMod val="50000"/>
                  </a:srgbClr>
                </a:solidFill>
                <a:latin typeface="Times New Roman" panose="02020603050405020304" pitchFamily="18" charset="0"/>
                <a:ea typeface="Cambria" panose="02040503050406030204" pitchFamily="18" charset="0"/>
              </a:rPr>
              <a:t>các</a:t>
            </a:r>
            <a:r>
              <a:rPr lang="vi-VN" sz="1400" dirty="0">
                <a:solidFill>
                  <a:srgbClr val="4472C4">
                    <a:lumMod val="50000"/>
                  </a:srgbClr>
                </a:solidFill>
                <a:latin typeface="Times New Roman" panose="02020603050405020304" pitchFamily="18" charset="0"/>
                <a:ea typeface="Cambria" panose="02040503050406030204" pitchFamily="18" charset="0"/>
              </a:rPr>
              <a:t> năm 2022-</a:t>
            </a:r>
            <a:r>
              <a:rPr lang="en-US" sz="1400" dirty="0">
                <a:solidFill>
                  <a:srgbClr val="4472C4">
                    <a:lumMod val="50000"/>
                  </a:srgbClr>
                </a:solidFill>
                <a:latin typeface="Times New Roman" panose="02020603050405020304" pitchFamily="18" charset="0"/>
                <a:ea typeface="Cambria" panose="02040503050406030204" pitchFamily="18" charset="0"/>
              </a:rPr>
              <a:t>2023-</a:t>
            </a:r>
            <a:r>
              <a:rPr lang="vi-VN" sz="1400" dirty="0">
                <a:solidFill>
                  <a:srgbClr val="4472C4">
                    <a:lumMod val="50000"/>
                  </a:srgbClr>
                </a:solidFill>
                <a:latin typeface="Times New Roman" panose="02020603050405020304" pitchFamily="18" charset="0"/>
                <a:ea typeface="Cambria" panose="02040503050406030204" pitchFamily="18" charset="0"/>
              </a:rPr>
              <a:t>2024 </a:t>
            </a:r>
            <a:r>
              <a:rPr lang="en-US" sz="1400" dirty="0" err="1">
                <a:solidFill>
                  <a:srgbClr val="4472C4">
                    <a:lumMod val="50000"/>
                  </a:srgbClr>
                </a:solidFill>
                <a:latin typeface="Times New Roman" panose="02020603050405020304" pitchFamily="18" charset="0"/>
                <a:ea typeface="Cambria" panose="02040503050406030204" pitchFamily="18" charset="0"/>
              </a:rPr>
              <a:t>đã</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vi-VN" sz="1400" dirty="0">
                <a:solidFill>
                  <a:srgbClr val="4472C4">
                    <a:lumMod val="50000"/>
                  </a:srgbClr>
                </a:solidFill>
                <a:latin typeface="Times New Roman" panose="02020603050405020304" pitchFamily="18" charset="0"/>
                <a:ea typeface="Cambria" panose="02040503050406030204" pitchFamily="18" charset="0"/>
              </a:rPr>
              <a:t>tháo lần lượt 1-12-4 khối</a:t>
            </a:r>
            <a:r>
              <a:rPr lang="en-US" sz="1400" dirty="0">
                <a:solidFill>
                  <a:srgbClr val="4472C4">
                    <a:lumMod val="50000"/>
                  </a:srgbClr>
                </a:solidFill>
                <a:latin typeface="Times New Roman" panose="02020603050405020304" pitchFamily="18" charset="0"/>
                <a:ea typeface="Cambria" panose="02040503050406030204" pitchFamily="18" charset="0"/>
              </a:rPr>
              <a:t> Oil Cooler</a:t>
            </a:r>
            <a:r>
              <a:rPr lang="vi-VN" sz="1400" dirty="0">
                <a:solidFill>
                  <a:srgbClr val="4472C4">
                    <a:lumMod val="50000"/>
                  </a:srgbClr>
                </a:solidFill>
                <a:latin typeface="Times New Roman" panose="02020603050405020304" pitchFamily="18" charset="0"/>
                <a:ea typeface="Cambria" panose="02040503050406030204" pitchFamily="18" charset="0"/>
              </a:rPr>
              <a:t>, tuy nhiên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nhiều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vi-VN" sz="1400" dirty="0">
                <a:solidFill>
                  <a:srgbClr val="4472C4">
                    <a:lumMod val="50000"/>
                  </a:srgbClr>
                </a:solidFill>
                <a:latin typeface="Times New Roman" panose="02020603050405020304" pitchFamily="18" charset="0"/>
                <a:ea typeface="Cambria" panose="02040503050406030204" pitchFamily="18" charset="0"/>
              </a:rPr>
              <a:t> thay trong quá trình T/S APU bad smell </a:t>
            </a:r>
            <a:r>
              <a:rPr lang="en-US" sz="1400" dirty="0">
                <a:solidFill>
                  <a:srgbClr val="4472C4">
                    <a:lumMod val="50000"/>
                  </a:srgbClr>
                </a:solidFill>
                <a:latin typeface="Times New Roman" panose="02020603050405020304" pitchFamily="18" charset="0"/>
                <a:ea typeface="Cambria" panose="02040503050406030204" pitchFamily="18" charset="0"/>
              </a:rPr>
              <a:t>(</a:t>
            </a:r>
            <a:r>
              <a:rPr lang="en-US" sz="1400" dirty="0" err="1">
                <a:solidFill>
                  <a:srgbClr val="4472C4">
                    <a:lumMod val="50000"/>
                  </a:srgbClr>
                </a:solidFill>
                <a:latin typeface="Times New Roman" panose="02020603050405020304" pitchFamily="18" charset="0"/>
                <a:ea typeface="Cambria" panose="02040503050406030204" pitchFamily="18" charset="0"/>
              </a:rPr>
              <a:t>một</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số</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vi-VN" sz="1400" dirty="0">
                <a:solidFill>
                  <a:srgbClr val="4472C4">
                    <a:lumMod val="50000"/>
                  </a:srgbClr>
                </a:solidFill>
                <a:latin typeface="Times New Roman" panose="02020603050405020304" pitchFamily="18" charset="0"/>
                <a:ea typeface="Cambria" panose="02040503050406030204" pitchFamily="18" charset="0"/>
              </a:rPr>
              <a:t>re-cert lại để làm spare</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07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tháo</a:t>
            </a:r>
            <a:r>
              <a:rPr lang="en-US" sz="1400" dirty="0">
                <a:solidFill>
                  <a:srgbClr val="4472C4">
                    <a:lumMod val="50000"/>
                  </a:srgbClr>
                </a:solidFill>
                <a:latin typeface="Times New Roman" panose="02020603050405020304" pitchFamily="18" charset="0"/>
                <a:ea typeface="Cambria" panose="02040503050406030204" pitchFamily="18" charset="0"/>
              </a:rPr>
              <a:t> do “High Oil Temp”, </a:t>
            </a:r>
            <a:r>
              <a:rPr lang="en-US" sz="1400" dirty="0" err="1">
                <a:solidFill>
                  <a:srgbClr val="4472C4">
                    <a:lumMod val="50000"/>
                  </a:srgbClr>
                </a:solidFill>
                <a:latin typeface="Times New Roman" panose="02020603050405020304" pitchFamily="18" charset="0"/>
                <a:ea typeface="Cambria" panose="02040503050406030204" pitchFamily="18" charset="0"/>
              </a:rPr>
              <a:t>đều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giờ</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khoảng</a:t>
            </a:r>
            <a:r>
              <a:rPr lang="en-US" sz="1400" dirty="0">
                <a:solidFill>
                  <a:srgbClr val="4472C4">
                    <a:lumMod val="50000"/>
                  </a:srgbClr>
                </a:solidFill>
                <a:latin typeface="Times New Roman" panose="02020603050405020304" pitchFamily="18" charset="0"/>
                <a:ea typeface="Cambria" panose="02040503050406030204" pitchFamily="18" charset="0"/>
              </a:rPr>
              <a:t> 8000 APU FH </a:t>
            </a:r>
            <a:r>
              <a:rPr lang="en-US" sz="1400" dirty="0" err="1">
                <a:solidFill>
                  <a:srgbClr val="4472C4">
                    <a:lumMod val="50000"/>
                  </a:srgbClr>
                </a:solidFill>
                <a:latin typeface="Times New Roman" panose="02020603050405020304" pitchFamily="18" charset="0"/>
                <a:ea typeface="Cambria" panose="02040503050406030204" pitchFamily="18" charset="0"/>
              </a:rPr>
              <a:t>trở</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lên</a:t>
            </a:r>
            <a:r>
              <a:rPr lang="en-US" sz="1400" dirty="0">
                <a:solidFill>
                  <a:srgbClr val="4472C4">
                    <a:lumMod val="50000"/>
                  </a:srgbClr>
                </a:solidFill>
                <a:latin typeface="Times New Roman" panose="02020603050405020304" pitchFamily="18" charset="0"/>
                <a:ea typeface="Cambria" panose="02040503050406030204" pitchFamily="18" charset="0"/>
              </a:rPr>
              <a:t>.</a:t>
            </a:r>
          </a:p>
        </p:txBody>
      </p:sp>
      <p:sp>
        <p:nvSpPr>
          <p:cNvPr id="15" name="TextBox 14"/>
          <p:cNvSpPr txBox="1"/>
          <p:nvPr/>
        </p:nvSpPr>
        <p:spPr>
          <a:xfrm>
            <a:off x="535954" y="4789448"/>
            <a:ext cx="7111332" cy="1538883"/>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Wingdings" panose="05000000000000000000" pitchFamily="2" charset="2"/>
              <a:buChar char="v"/>
              <a:tabLst/>
              <a:defRPr/>
            </a:pP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NSX</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Honeywell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quy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định</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ngưỡng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soft-time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cho</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LRU,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tuy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nhiên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Ban KT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đán</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h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giá</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dựa</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trên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hồ</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sơ</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Shop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của</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APU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cao</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giờ</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(&gt; 7000 APU FH)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là</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khối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Oil Cooler thường có hiện tượng bụi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mạt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bẩn</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làm tắc hoặc hỏng các lá tản nhiệt, giảm hiệu quả làm mát dầu</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đó</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thể</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gây</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“High Oil Temp”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dẫn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đến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Aut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o Shutdown.</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endPar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a:p>
            <a:pPr marR="0" lvl="0" algn="just" defTabSz="914400" rtl="0" eaLnBrk="1" fontAlgn="auto" latinLnBrk="0" hangingPunct="1">
              <a:lnSpc>
                <a:spcPct val="100000"/>
              </a:lnSpc>
              <a:spcBef>
                <a:spcPts val="1200"/>
              </a:spcBef>
              <a:spcAft>
                <a:spcPts val="0"/>
              </a:spcAft>
              <a:buClrTx/>
              <a:buSzTx/>
              <a:tabLst/>
              <a:defRPr/>
            </a:pP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Hợp</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đồng</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NTE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hiện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tại</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với</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các</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Shop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sửa</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APU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bao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gồm</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sửa</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LRU, do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đó</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hạn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chế</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rob/swap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từ</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APU U/S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để</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có</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thể</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LRU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sửa</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cùng</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APU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mỗi</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lần</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đi</a:t>
            </a:r>
            <a:r>
              <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rPr>
              <a:t> Shop. </a:t>
            </a:r>
          </a:p>
        </p:txBody>
      </p:sp>
      <p:pic>
        <p:nvPicPr>
          <p:cNvPr id="12" name="Picture 11">
            <a:extLst>
              <a:ext uri="{FF2B5EF4-FFF2-40B4-BE49-F238E27FC236}">
                <a16:creationId xmlns:a16="http://schemas.microsoft.com/office/drawing/2014/main" id="{C2E9EA87-51FB-8354-1F71-A51F39F0887D}"/>
              </a:ext>
            </a:extLst>
          </p:cNvPr>
          <p:cNvPicPr>
            <a:picLocks noChangeAspect="1"/>
          </p:cNvPicPr>
          <p:nvPr/>
        </p:nvPicPr>
        <p:blipFill>
          <a:blip r:embed="rId6"/>
          <a:stretch>
            <a:fillRect/>
          </a:stretch>
        </p:blipFill>
        <p:spPr>
          <a:xfrm>
            <a:off x="9248686" y="607330"/>
            <a:ext cx="2551680" cy="1953500"/>
          </a:xfrm>
          <a:prstGeom prst="rect">
            <a:avLst/>
          </a:prstGeom>
        </p:spPr>
      </p:pic>
      <p:pic>
        <p:nvPicPr>
          <p:cNvPr id="21" name="Picture 20">
            <a:extLst>
              <a:ext uri="{FF2B5EF4-FFF2-40B4-BE49-F238E27FC236}">
                <a16:creationId xmlns:a16="http://schemas.microsoft.com/office/drawing/2014/main" id="{E615BBB9-2B37-CD36-C9B0-C864CA456FB3}"/>
              </a:ext>
            </a:extLst>
          </p:cNvPr>
          <p:cNvPicPr>
            <a:picLocks noChangeAspect="1"/>
          </p:cNvPicPr>
          <p:nvPr/>
        </p:nvPicPr>
        <p:blipFill>
          <a:blip r:embed="rId7"/>
          <a:stretch>
            <a:fillRect/>
          </a:stretch>
        </p:blipFill>
        <p:spPr>
          <a:xfrm>
            <a:off x="8059783" y="5041364"/>
            <a:ext cx="2766967" cy="1721434"/>
          </a:xfrm>
          <a:prstGeom prst="rect">
            <a:avLst/>
          </a:prstGeom>
        </p:spPr>
      </p:pic>
      <p:pic>
        <p:nvPicPr>
          <p:cNvPr id="23" name="Picture 22">
            <a:extLst>
              <a:ext uri="{FF2B5EF4-FFF2-40B4-BE49-F238E27FC236}">
                <a16:creationId xmlns:a16="http://schemas.microsoft.com/office/drawing/2014/main" id="{0F430B9A-6A2C-D9D4-CF50-1C8B68DB6091}"/>
              </a:ext>
            </a:extLst>
          </p:cNvPr>
          <p:cNvPicPr>
            <a:picLocks noChangeAspect="1"/>
          </p:cNvPicPr>
          <p:nvPr/>
        </p:nvPicPr>
        <p:blipFill>
          <a:blip r:embed="rId8"/>
          <a:stretch>
            <a:fillRect/>
          </a:stretch>
        </p:blipFill>
        <p:spPr>
          <a:xfrm>
            <a:off x="8011703" y="4234642"/>
            <a:ext cx="4063701" cy="851707"/>
          </a:xfrm>
          <a:prstGeom prst="rect">
            <a:avLst/>
          </a:prstGeom>
        </p:spPr>
      </p:pic>
      <p:sp>
        <p:nvSpPr>
          <p:cNvPr id="24" name="Rectangle 23">
            <a:extLst>
              <a:ext uri="{FF2B5EF4-FFF2-40B4-BE49-F238E27FC236}">
                <a16:creationId xmlns:a16="http://schemas.microsoft.com/office/drawing/2014/main" id="{97EC802B-CB3F-9A24-97C4-4D6A5B111F7A}"/>
              </a:ext>
            </a:extLst>
          </p:cNvPr>
          <p:cNvSpPr/>
          <p:nvPr/>
        </p:nvSpPr>
        <p:spPr>
          <a:xfrm>
            <a:off x="10377966" y="4544971"/>
            <a:ext cx="1422400" cy="130449"/>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
        <p:nvSpPr>
          <p:cNvPr id="28" name="Rectangle 27">
            <a:extLst>
              <a:ext uri="{FF2B5EF4-FFF2-40B4-BE49-F238E27FC236}">
                <a16:creationId xmlns:a16="http://schemas.microsoft.com/office/drawing/2014/main" id="{40A6E721-62D1-771E-FE7A-AF466715DF57}"/>
              </a:ext>
            </a:extLst>
          </p:cNvPr>
          <p:cNvSpPr/>
          <p:nvPr/>
        </p:nvSpPr>
        <p:spPr>
          <a:xfrm>
            <a:off x="8128000" y="5778499"/>
            <a:ext cx="863600" cy="91916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a:p>
        </p:txBody>
      </p:sp>
    </p:spTree>
    <p:extLst>
      <p:ext uri="{BB962C8B-B14F-4D97-AF65-F5344CB8AC3E}">
        <p14:creationId xmlns:p14="http://schemas.microsoft.com/office/powerpoint/2010/main" val="1230842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2808C5EC-9343-4686-B4B1-4758E42C4551}"/>
              </a:ext>
            </a:extLst>
          </p:cNvPr>
          <p:cNvSpPr/>
          <p:nvPr/>
        </p:nvSpPr>
        <p:spPr>
          <a:xfrm flipH="1" flipV="1">
            <a:off x="465678" y="749284"/>
            <a:ext cx="11003559" cy="1689159"/>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16">
            <a:extLst>
              <a:ext uri="{FF2B5EF4-FFF2-40B4-BE49-F238E27FC236}">
                <a16:creationId xmlns:a16="http://schemas.microsoft.com/office/drawing/2014/main" id="{9AC171E4-B7C3-487F-9250-B7099A792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7"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5" name="Straight Connector 24">
            <a:extLst>
              <a:ext uri="{FF2B5EF4-FFF2-40B4-BE49-F238E27FC236}">
                <a16:creationId xmlns:a16="http://schemas.microsoft.com/office/drawing/2014/main"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0959498-11B2-4444-99B1-B42D92E2B619}"/>
              </a:ext>
            </a:extLst>
          </p:cNvPr>
          <p:cNvSpPr/>
          <p:nvPr/>
        </p:nvSpPr>
        <p:spPr>
          <a:xfrm>
            <a:off x="612775" y="789709"/>
            <a:ext cx="7447008" cy="338554"/>
          </a:xfrm>
          <a:prstGeom prst="rect">
            <a:avLst/>
          </a:prstGeom>
        </p:spPr>
        <p:txBody>
          <a:bodyPr wrap="square">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A608 GTB due to </a:t>
            </a:r>
            <a:r>
              <a:rPr kumimoji="0" lang="sv-SE"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ENG#2 Start Fault – Starter Valve Not </a:t>
            </a:r>
            <a:r>
              <a:rPr lang="sv-SE" sz="1600" b="1" dirty="0">
                <a:solidFill>
                  <a:srgbClr val="4472C4">
                    <a:lumMod val="50000"/>
                  </a:srgbClr>
                </a:solidFill>
                <a:latin typeface="Franklin Gothic Medium Cond" panose="020B0606030402020204" pitchFamily="34" charset="0"/>
                <a:ea typeface="Tahoma" pitchFamily="34" charset="0"/>
                <a:cs typeface="Times New Roman" panose="02020603050405020304" pitchFamily="18" charset="0"/>
              </a:rPr>
              <a:t>O</a:t>
            </a:r>
            <a:r>
              <a:rPr kumimoji="0" lang="sv-SE"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pen</a:t>
            </a:r>
            <a:endPar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02C261E8-9107-4B19-8E39-7FAD7508571C}"/>
              </a:ext>
            </a:extLst>
          </p:cNvPr>
          <p:cNvSpPr txBox="1"/>
          <p:nvPr/>
        </p:nvSpPr>
        <p:spPr>
          <a:xfrm>
            <a:off x="722763" y="1172429"/>
            <a:ext cx="9969299" cy="1046440"/>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nổ</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máy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động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cơ</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cảnh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báo</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ENG#2 Start Fault do Starter Valve Not Open,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phải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quay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lại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gate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tiến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hành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Tại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gate,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tổ</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nổ</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lại</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động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cơ</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thành</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công</a:t>
            </a: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 </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Chuyến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bay delay 25 min.</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Sau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N/S,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kiểm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tra</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động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cơ</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các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thông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số</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bình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th</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ư</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ờng</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Vaeco</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thay</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Starter Valve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để</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theo</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dõi</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thêm</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sym typeface="Wingdings" panose="05000000000000000000" pitchFamily="2" charset="2"/>
              </a:rPr>
              <a:t>.</a:t>
            </a:r>
            <a:endPar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7"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A608 – ENG</a:t>
            </a:r>
            <a:r>
              <a:rPr lang="en-US" sz="2800" b="1" dirty="0">
                <a:solidFill>
                  <a:srgbClr val="D2A43B"/>
                </a:solidFill>
                <a:ea typeface="Tahoma" pitchFamily="34" charset="0"/>
                <a:cs typeface="Times New Roman" panose="02020603050405020304" pitchFamily="18" charset="0"/>
              </a:rPr>
              <a:t>#2</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START FAULT</a:t>
            </a:r>
          </a:p>
        </p:txBody>
      </p:sp>
      <p:sp>
        <p:nvSpPr>
          <p:cNvPr id="34" name="TextBox 33">
            <a:extLst>
              <a:ext uri="{FF2B5EF4-FFF2-40B4-BE49-F238E27FC236}">
                <a16:creationId xmlns:a16="http://schemas.microsoft.com/office/drawing/2014/main" id="{4FBB82BB-9691-4886-8645-5B1C95F325C4}"/>
              </a:ext>
            </a:extLst>
          </p:cNvPr>
          <p:cNvSpPr txBox="1"/>
          <p:nvPr/>
        </p:nvSpPr>
        <p:spPr>
          <a:xfrm>
            <a:off x="798343" y="2522323"/>
            <a:ext cx="4717415"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p:txBody>
      </p:sp>
      <p:pic>
        <p:nvPicPr>
          <p:cNvPr id="36" name="Picture 35">
            <a:extLst>
              <a:ext uri="{FF2B5EF4-FFF2-40B4-BE49-F238E27FC236}">
                <a16:creationId xmlns:a16="http://schemas.microsoft.com/office/drawing/2014/main" id="{F1E75855-BFF9-4060-8514-50C2582B62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12982" y="4456666"/>
            <a:ext cx="537821" cy="502241"/>
          </a:xfrm>
          <a:prstGeom prst="rect">
            <a:avLst/>
          </a:prstGeom>
        </p:spPr>
      </p:pic>
      <p:sp>
        <p:nvSpPr>
          <p:cNvPr id="37" name="TextBox 36">
            <a:extLst>
              <a:ext uri="{FF2B5EF4-FFF2-40B4-BE49-F238E27FC236}">
                <a16:creationId xmlns:a16="http://schemas.microsoft.com/office/drawing/2014/main" id="{3FDC07A6-2071-4D02-9540-D46ECD1C61E5}"/>
              </a:ext>
            </a:extLst>
          </p:cNvPr>
          <p:cNvSpPr txBox="1"/>
          <p:nvPr/>
        </p:nvSpPr>
        <p:spPr>
          <a:xfrm>
            <a:off x="708392" y="4580449"/>
            <a:ext cx="5272033"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Action</a:t>
            </a:r>
          </a:p>
        </p:txBody>
      </p:sp>
      <p:pic>
        <p:nvPicPr>
          <p:cNvPr id="38" name="Picture 37">
            <a:extLst>
              <a:ext uri="{FF2B5EF4-FFF2-40B4-BE49-F238E27FC236}">
                <a16:creationId xmlns:a16="http://schemas.microsoft.com/office/drawing/2014/main"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3565" y="2438444"/>
            <a:ext cx="524778" cy="502242"/>
          </a:xfrm>
          <a:prstGeom prst="rect">
            <a:avLst/>
          </a:prstGeom>
        </p:spPr>
      </p:pic>
      <p:sp>
        <p:nvSpPr>
          <p:cNvPr id="13" name="TextBox 12"/>
          <p:cNvSpPr txBox="1"/>
          <p:nvPr/>
        </p:nvSpPr>
        <p:spPr>
          <a:xfrm>
            <a:off x="765176" y="2820799"/>
            <a:ext cx="9670214" cy="1669496"/>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Thông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thường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hỏng</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hóc</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ENG START FAULT do Starter Valve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có</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thể</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chờ</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CRS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ra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thực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hiện</a:t>
            </a:r>
            <a:r>
              <a:rPr lang="en-US" sz="1400" dirty="0">
                <a:solidFill>
                  <a:srgbClr val="4472C4">
                    <a:lumMod val="50000"/>
                  </a:srgbClr>
                </a:solidFill>
                <a:latin typeface="Times New Roman" panose="02020603050405020304" pitchFamily="18" charset="0"/>
                <a:ea typeface="Cambria" panose="02040503050406030204" pitchFamily="18" charset="0"/>
              </a:rPr>
              <a:t> manual start </a:t>
            </a:r>
            <a:r>
              <a:rPr lang="en-US" sz="1400" dirty="0" err="1">
                <a:solidFill>
                  <a:srgbClr val="4472C4">
                    <a:lumMod val="50000"/>
                  </a:srgbClr>
                </a:solidFill>
                <a:latin typeface="Times New Roman" panose="02020603050405020304" pitchFamily="18" charset="0"/>
                <a:ea typeface="Cambria" panose="02040503050406030204" pitchFamily="18" charset="0"/>
              </a:rPr>
              <a:t>và</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mở</a:t>
            </a:r>
            <a:r>
              <a:rPr lang="en-US" sz="1400" dirty="0">
                <a:solidFill>
                  <a:srgbClr val="4472C4">
                    <a:lumMod val="50000"/>
                  </a:srgbClr>
                </a:solidFill>
                <a:latin typeface="Times New Roman" panose="02020603050405020304" pitchFamily="18" charset="0"/>
                <a:ea typeface="Cambria" panose="02040503050406030204" pitchFamily="18" charset="0"/>
              </a:rPr>
              <a:t> ADD</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Tuy</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nhiên</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tổ</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bay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đã</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quyết</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định</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cho</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tàu</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quay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lại</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gate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để</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kiểm</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 </a:t>
            </a:r>
            <a:r>
              <a:rPr kumimoji="0" lang="en-US" sz="1400" b="0" i="0" u="none" strike="noStrike" kern="1200" cap="none" spc="0" normalizeH="0" baseline="0" noProof="0" dirty="0" err="1">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tra</a:t>
            </a:r>
            <a:r>
              <a:rPr kumimoji="0" lang="en-US"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err="1">
                <a:solidFill>
                  <a:srgbClr val="4472C4">
                    <a:lumMod val="50000"/>
                  </a:srgbClr>
                </a:solidFill>
                <a:latin typeface="Times New Roman" panose="02020603050405020304" pitchFamily="18" charset="0"/>
                <a:ea typeface="Cambria" panose="02040503050406030204" pitchFamily="18" charset="0"/>
              </a:rPr>
              <a:t>Nguyên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nhân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chưa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được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xác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định</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thể</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intermitten</a:t>
            </a:r>
            <a:r>
              <a:rPr lang="en-US" sz="1400" dirty="0">
                <a:solidFill>
                  <a:srgbClr val="4472C4">
                    <a:lumMod val="50000"/>
                  </a:srgbClr>
                </a:solidFill>
                <a:latin typeface="Times New Roman" panose="02020603050405020304" pitchFamily="18" charset="0"/>
                <a:ea typeface="Cambria" panose="02040503050406030204" pitchFamily="18" charset="0"/>
              </a:rPr>
              <a:t> do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Starter Valve </a:t>
            </a:r>
            <a:r>
              <a:rPr lang="en-US" sz="1400" dirty="0" err="1">
                <a:solidFill>
                  <a:srgbClr val="4472C4">
                    <a:lumMod val="50000"/>
                  </a:srgbClr>
                </a:solidFill>
                <a:latin typeface="Times New Roman" panose="02020603050405020304" pitchFamily="18" charset="0"/>
                <a:ea typeface="Cambria" panose="02040503050406030204" pitchFamily="18" charset="0"/>
              </a:rPr>
              <a:t>mới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đại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về</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và</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lắp</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lên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ngày</a:t>
            </a:r>
            <a:r>
              <a:rPr lang="en-US" sz="1400" dirty="0">
                <a:solidFill>
                  <a:srgbClr val="4472C4">
                    <a:lumMod val="50000"/>
                  </a:srgbClr>
                </a:solidFill>
                <a:latin typeface="Times New Roman" panose="02020603050405020304" pitchFamily="18" charset="0"/>
                <a:ea typeface="Cambria" panose="02040503050406030204" pitchFamily="18" charset="0"/>
              </a:rPr>
              <a:t> 15/01 </a:t>
            </a:r>
            <a:r>
              <a:rPr lang="en-US" sz="1400" dirty="0" err="1">
                <a:solidFill>
                  <a:srgbClr val="4472C4">
                    <a:lumMod val="50000"/>
                  </a:srgbClr>
                </a:solidFill>
                <a:latin typeface="Times New Roman" panose="02020603050405020304" pitchFamily="18" charset="0"/>
                <a:ea typeface="Cambria" panose="02040503050406030204" pitchFamily="18" charset="0"/>
              </a:rPr>
              <a:t>trong</a:t>
            </a:r>
            <a:r>
              <a:rPr lang="en-US" sz="1400" dirty="0">
                <a:solidFill>
                  <a:srgbClr val="4472C4">
                    <a:lumMod val="50000"/>
                  </a:srgbClr>
                </a:solidFill>
                <a:latin typeface="Times New Roman" panose="02020603050405020304" pitchFamily="18" charset="0"/>
                <a:ea typeface="Cambria" panose="02040503050406030204" pitchFamily="18" charset="0"/>
              </a:rPr>
              <a:t> check do </a:t>
            </a:r>
            <a:r>
              <a:rPr lang="en-US" sz="1400" dirty="0" err="1">
                <a:solidFill>
                  <a:srgbClr val="4472C4">
                    <a:lumMod val="50000"/>
                  </a:srgbClr>
                </a:solidFill>
                <a:latin typeface="Times New Roman" panose="02020603050405020304" pitchFamily="18" charset="0"/>
                <a:ea typeface="Cambria" panose="02040503050406030204" pitchFamily="18" charset="0"/>
              </a:rPr>
              <a:t>trước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đó</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bị</a:t>
            </a:r>
            <a:r>
              <a:rPr lang="en-US" sz="1400" dirty="0">
                <a:solidFill>
                  <a:srgbClr val="4472C4">
                    <a:lumMod val="50000"/>
                  </a:srgbClr>
                </a:solidFill>
                <a:latin typeface="Times New Roman" panose="02020603050405020304" pitchFamily="18" charset="0"/>
                <a:ea typeface="Cambria" panose="02040503050406030204" pitchFamily="18" charset="0"/>
              </a:rPr>
              <a:t> rob.</a:t>
            </a:r>
            <a:endParaRPr lang="en-US" sz="1400" dirty="0">
              <a:solidFill>
                <a:srgbClr val="4472C4">
                  <a:lumMod val="50000"/>
                </a:srgbClr>
              </a:solidFill>
              <a:latin typeface="Calibri Light" panose="020F0302020204030204"/>
              <a:ea typeface="Cambria" panose="020405030504060302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sz="1400" dirty="0">
                <a:solidFill>
                  <a:srgbClr val="4472C4">
                    <a:lumMod val="50000"/>
                  </a:srgbClr>
                </a:solidFill>
                <a:latin typeface="Times New Roman" panose="02020603050405020304" pitchFamily="18" charset="0"/>
                <a:ea typeface="Cambria" panose="02040503050406030204" pitchFamily="18" charset="0"/>
              </a:rPr>
              <a:t>Theo thống kê, </a:t>
            </a:r>
            <a:r>
              <a:rPr lang="en-US" sz="1400" dirty="0" err="1">
                <a:solidFill>
                  <a:srgbClr val="4472C4">
                    <a:lumMod val="50000"/>
                  </a:srgbClr>
                </a:solidFill>
                <a:latin typeface="Times New Roman" panose="02020603050405020304" pitchFamily="18" charset="0"/>
                <a:ea typeface="Cambria" panose="02040503050406030204" pitchFamily="18" charset="0"/>
              </a:rPr>
              <a:t>từ</a:t>
            </a:r>
            <a:r>
              <a:rPr lang="en-US" sz="1400" dirty="0">
                <a:solidFill>
                  <a:srgbClr val="4472C4">
                    <a:lumMod val="50000"/>
                  </a:srgbClr>
                </a:solidFill>
                <a:latin typeface="Times New Roman" panose="02020603050405020304" pitchFamily="18" charset="0"/>
                <a:ea typeface="Cambria" panose="02040503050406030204" pitchFamily="18" charset="0"/>
              </a:rPr>
              <a:t> 2024 </a:t>
            </a:r>
            <a:r>
              <a:rPr lang="en-US" sz="1400" dirty="0" err="1">
                <a:solidFill>
                  <a:srgbClr val="4472C4">
                    <a:lumMod val="50000"/>
                  </a:srgbClr>
                </a:solidFill>
                <a:latin typeface="Times New Roman" panose="02020603050405020304" pitchFamily="18" charset="0"/>
                <a:ea typeface="Cambria" panose="02040503050406030204" pitchFamily="18" charset="0"/>
              </a:rPr>
              <a:t>đến</a:t>
            </a:r>
            <a:r>
              <a:rPr lang="en-US" sz="1400" dirty="0">
                <a:solidFill>
                  <a:srgbClr val="4472C4">
                    <a:lumMod val="50000"/>
                  </a:srgbClr>
                </a:solidFill>
                <a:latin typeface="Times New Roman" panose="02020603050405020304" pitchFamily="18" charset="0"/>
                <a:ea typeface="Cambria" panose="02040503050406030204" pitchFamily="18" charset="0"/>
              </a:rPr>
              <a:t> nay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4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Starter Valve </a:t>
            </a:r>
            <a:r>
              <a:rPr lang="en-US" sz="1400" dirty="0" err="1">
                <a:solidFill>
                  <a:srgbClr val="4472C4">
                    <a:lumMod val="50000"/>
                  </a:srgbClr>
                </a:solidFill>
                <a:latin typeface="Times New Roman" panose="02020603050405020304" pitchFamily="18" charset="0"/>
                <a:ea typeface="Cambria" panose="02040503050406030204" pitchFamily="18" charset="0"/>
              </a:rPr>
              <a:t>tháo</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ngoài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kế</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hoạch</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nhưng</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chỉ</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có</a:t>
            </a:r>
            <a:r>
              <a:rPr lang="en-US" sz="1400" dirty="0">
                <a:solidFill>
                  <a:srgbClr val="4472C4">
                    <a:lumMod val="50000"/>
                  </a:srgbClr>
                </a:solidFill>
                <a:latin typeface="Times New Roman" panose="02020603050405020304" pitchFamily="18" charset="0"/>
                <a:ea typeface="Cambria" panose="02040503050406030204" pitchFamily="18" charset="0"/>
              </a:rPr>
              <a:t> 1 </a:t>
            </a:r>
            <a:r>
              <a:rPr lang="en-US" sz="1400" dirty="0" err="1">
                <a:solidFill>
                  <a:srgbClr val="4472C4">
                    <a:lumMod val="50000"/>
                  </a:srgbClr>
                </a:solidFill>
                <a:latin typeface="Times New Roman" panose="02020603050405020304" pitchFamily="18" charset="0"/>
                <a:ea typeface="Cambria" panose="02040503050406030204" pitchFamily="18" charset="0"/>
              </a:rPr>
              <a:t>khối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cao</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giờ</a:t>
            </a:r>
            <a:r>
              <a:rPr lang="en-US" sz="1400" dirty="0">
                <a:solidFill>
                  <a:srgbClr val="4472C4">
                    <a:lumMod val="50000"/>
                  </a:srgbClr>
                </a:solidFill>
                <a:latin typeface="Times New Roman" panose="02020603050405020304" pitchFamily="18" charset="0"/>
                <a:ea typeface="Cambria" panose="02040503050406030204" pitchFamily="18" charset="0"/>
              </a:rPr>
              <a:t> (TSO </a:t>
            </a:r>
            <a:r>
              <a:rPr lang="en-US" sz="1400" dirty="0" err="1">
                <a:solidFill>
                  <a:srgbClr val="4472C4">
                    <a:lumMod val="50000"/>
                  </a:srgbClr>
                </a:solidFill>
                <a:latin typeface="Times New Roman" panose="02020603050405020304" pitchFamily="18" charset="0"/>
                <a:ea typeface="Cambria" panose="02040503050406030204" pitchFamily="18" charset="0"/>
              </a:rPr>
              <a:t>trên</a:t>
            </a:r>
            <a:r>
              <a:rPr lang="en-US" sz="1400" dirty="0">
                <a:solidFill>
                  <a:srgbClr val="4472C4">
                    <a:lumMod val="50000"/>
                  </a:srgbClr>
                </a:solidFill>
                <a:latin typeface="Times New Roman" panose="02020603050405020304" pitchFamily="18" charset="0"/>
                <a:ea typeface="Cambria" panose="02040503050406030204" pitchFamily="18" charset="0"/>
              </a:rPr>
              <a:t> 26000).</a:t>
            </a:r>
          </a:p>
        </p:txBody>
      </p:sp>
      <p:sp>
        <p:nvSpPr>
          <p:cNvPr id="15" name="TextBox 14"/>
          <p:cNvSpPr txBox="1"/>
          <p:nvPr/>
        </p:nvSpPr>
        <p:spPr>
          <a:xfrm>
            <a:off x="784605" y="4885700"/>
            <a:ext cx="9281814" cy="1500219"/>
          </a:xfrm>
          <a:prstGeom prst="rect">
            <a:avLst/>
          </a:prstGeom>
          <a:noFill/>
        </p:spPr>
        <p:txBody>
          <a:bodyPr wrap="square" rtlCol="0">
            <a:spAutoFit/>
          </a:bodyPr>
          <a:lstStyle/>
          <a:p>
            <a:pPr marL="285750" marR="0" lvl="0" indent="-285750" algn="just" defTabSz="914400" rtl="0" eaLnBrk="1" fontAlgn="auto" latinLnBrk="0" hangingPunct="1">
              <a:lnSpc>
                <a:spcPct val="150000"/>
              </a:lnSpc>
              <a:spcBef>
                <a:spcPts val="1200"/>
              </a:spcBef>
              <a:spcAft>
                <a:spcPts val="0"/>
              </a:spcAft>
              <a:buClrTx/>
              <a:buSzTx/>
              <a:buFont typeface="Wingdings" panose="05000000000000000000" pitchFamily="2" charset="2"/>
              <a:buChar char="v"/>
              <a:tabLst/>
              <a:defRPr/>
            </a:pP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Khuyến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cáo</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tổ</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bay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cần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liên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hệ</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với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TSV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để</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tư</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vấn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kỹ</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thuật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trước</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đưa</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ra</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quyết</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định</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cho</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tàu</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quay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lại</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tránh</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những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trường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hợp</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OI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không</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cần</a:t>
            </a:r>
            <a:r>
              <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r>
              <a:rPr kumimoji="0" lang="en-US" sz="1400" b="0" i="0" u="none" strike="noStrike" kern="1200" cap="none" spc="0" normalizeH="0" baseline="0" noProof="0" dirty="0" err="1">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thiết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 </a:t>
            </a:r>
            <a:endParaRPr kumimoji="0" lang="en-US"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a:p>
            <a:pPr marL="285750" marR="0" lvl="0" indent="-285750" algn="just" defTabSz="914400" rtl="0" eaLnBrk="1" fontAlgn="auto" latinLnBrk="0" hangingPunct="1">
              <a:lnSpc>
                <a:spcPct val="150000"/>
              </a:lnSpc>
              <a:spcBef>
                <a:spcPts val="1200"/>
              </a:spcBef>
              <a:spcAft>
                <a:spcPts val="0"/>
              </a:spcAft>
              <a:buClrTx/>
              <a:buSzTx/>
              <a:buFont typeface="Wingdings" panose="05000000000000000000" pitchFamily="2" charset="2"/>
              <a:buChar char="v"/>
              <a:tabLst/>
              <a:defRPr/>
            </a:pP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Về</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mặt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kỹ</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a:t>
            </a:r>
            <a:r>
              <a:rPr lang="en-US" sz="1400" dirty="0" err="1">
                <a:solidFill>
                  <a:srgbClr val="002060"/>
                </a:solidFill>
                <a:latin typeface="Times New Roman" panose="02020603050405020304" pitchFamily="18" charset="0"/>
                <a:ea typeface="Cambria" panose="02040503050406030204" pitchFamily="18" charset="0"/>
                <a:cs typeface="Times New Roman" panose="02020603050405020304" pitchFamily="18" charset="0"/>
              </a:rPr>
              <a:t>thuật</a:t>
            </a:r>
            <a:r>
              <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 q</a:t>
            </a:r>
            <a:r>
              <a:rPr lang="vi-VN"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ua theo dõi trên ADEM, động cơ V16402 có dấu hiệu bị HPC bleed leak kể từ ngày 23/02. Vaeco đang lên kế hoạch T/S theo khuyến cáo của P&amp;W. Sẽ tiếp tục theo dõi và cập nhật thêm.</a:t>
            </a:r>
            <a:endParaRPr lang="en-US"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75492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Single Corner Rounded 30">
            <a:extLst>
              <a:ext uri="{FF2B5EF4-FFF2-40B4-BE49-F238E27FC236}">
                <a16:creationId xmlns:a16="http://schemas.microsoft.com/office/drawing/2014/main" id="{2808C5EC-9343-4686-B4B1-4758E42C4551}"/>
              </a:ext>
            </a:extLst>
          </p:cNvPr>
          <p:cNvSpPr/>
          <p:nvPr/>
        </p:nvSpPr>
        <p:spPr>
          <a:xfrm flipH="1" flipV="1">
            <a:off x="465678" y="749284"/>
            <a:ext cx="7748156" cy="1689159"/>
          </a:xfrm>
          <a:prstGeom prst="round1Rect">
            <a:avLst/>
          </a:prstGeom>
          <a:pattFill prst="lgGrid">
            <a:fgClr>
              <a:schemeClr val="accent1">
                <a:lumMod val="40000"/>
                <a:lumOff val="60000"/>
              </a:schemeClr>
            </a:fgClr>
            <a:bgClr>
              <a:schemeClr val="accent5">
                <a:lumMod val="20000"/>
                <a:lumOff val="80000"/>
              </a:schemeClr>
            </a:bgClr>
          </a:patt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4" name="Rectangle 4"/>
          <p:cNvSpPr>
            <a:spLocks noChangeArrowheads="1"/>
          </p:cNvSpPr>
          <p:nvPr/>
        </p:nvSpPr>
        <p:spPr bwMode="auto">
          <a:xfrm>
            <a:off x="0" y="2682359"/>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8"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4"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16" name="Rectangle 3"/>
          <p:cNvSpPr>
            <a:spLocks noChangeArrowheads="1"/>
          </p:cNvSpPr>
          <p:nvPr/>
        </p:nvSpPr>
        <p:spPr bwMode="auto">
          <a:xfrm>
            <a:off x="0" y="439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17" name="Picture 16">
            <a:extLst>
              <a:ext uri="{FF2B5EF4-FFF2-40B4-BE49-F238E27FC236}">
                <a16:creationId xmlns:a16="http://schemas.microsoft.com/office/drawing/2014/main" id="{9AC171E4-B7C3-487F-9250-B7099A792C3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2" y="134657"/>
            <a:ext cx="537821" cy="505652"/>
          </a:xfrm>
          <a:prstGeom prst="rect">
            <a:avLst/>
          </a:prstGeom>
        </p:spPr>
      </p:pic>
      <p:sp>
        <p:nvSpPr>
          <p:cNvPr id="7" name="AutoShape 2" descr="https://w3.airbus.com/1H43/MEFO_AW/ISI/MDAuMDAuMDA0Mzc=/html/bpHEScontentext/Aspose.Words.d1192d83-b481-4a56-93e5-9ad2352fe3cd.002.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5" name="AutoShape 2" descr="https://w3.airbus.com/1H43/MEFO_AW/ISI/MDAuMDAuMDA0Mzc=/html/bpHEScontentext/Aspose.Words.d1192d83-b481-4a56-93e5-9ad2352fe3cd.003.p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0" name="AutoShape 2" descr="https://w3.airbus.com/1H43/MEFO_AW/ISI/MDAuMDAuMDA0Mzc=/html/bpHEScontentext/Aspose.Words.d1192d83-b481-4a56-93e5-9ad2352fe3cd.004.png"/>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11" name="AutoShape 4" descr="https://w3.airbus.com/1H43/MEFO_AW/ISI/MDAuMDAuMDA0Mzc=/html/bpHEScontentext/Aspose.Words.d1192d83-b481-4a56-93e5-9ad2352fe3cd.004.png"/>
          <p:cNvSpPr>
            <a:spLocks noChangeAspect="1" noChangeArrowheads="1"/>
          </p:cNvSpPr>
          <p:nvPr/>
        </p:nvSpPr>
        <p:spPr bwMode="auto">
          <a:xfrm>
            <a:off x="612775" y="3127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6" name="AutoShape 2" descr="https://w3.airbus.com/1H43/MEFO_AW/ISI/MDAuMDAuMDA0Mzc=/html/bpHEScontentext/Aspose.Words.d1192d83-b481-4a56-93e5-9ad2352fe3cd.031.png"/>
          <p:cNvSpPr>
            <a:spLocks noChangeAspect="1" noChangeArrowheads="1"/>
          </p:cNvSpPr>
          <p:nvPr/>
        </p:nvSpPr>
        <p:spPr bwMode="auto">
          <a:xfrm>
            <a:off x="765175" y="4651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
        <p:nvSpPr>
          <p:cNvPr id="20" name="AutoShape 4" descr="https://w3.airbus.com/1H43/MEFO_AW/ISI/MDAuMDAuMDA0Mzc=/html/bpHEScontentext/Aspose.Words.d1192d83-b481-4a56-93e5-9ad2352fe3cd.028.png"/>
          <p:cNvSpPr>
            <a:spLocks noChangeAspect="1" noChangeArrowheads="1"/>
          </p:cNvSpPr>
          <p:nvPr/>
        </p:nvSpPr>
        <p:spPr bwMode="auto">
          <a:xfrm>
            <a:off x="917575" y="6175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vi-VN" sz="18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cxnSp>
        <p:nvCxnSpPr>
          <p:cNvPr id="25" name="Straight Connector 24">
            <a:extLst>
              <a:ext uri="{FF2B5EF4-FFF2-40B4-BE49-F238E27FC236}">
                <a16:creationId xmlns:a16="http://schemas.microsoft.com/office/drawing/2014/main" id="{9F5E9139-8C7A-459E-8697-0AFC14D23879}"/>
              </a:ext>
            </a:extLst>
          </p:cNvPr>
          <p:cNvCxnSpPr>
            <a:cxnSpLocks/>
          </p:cNvCxnSpPr>
          <p:nvPr/>
        </p:nvCxnSpPr>
        <p:spPr>
          <a:xfrm>
            <a:off x="798343" y="1128263"/>
            <a:ext cx="6557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0959498-11B2-4444-99B1-B42D92E2B619}"/>
              </a:ext>
            </a:extLst>
          </p:cNvPr>
          <p:cNvSpPr/>
          <p:nvPr/>
        </p:nvSpPr>
        <p:spPr>
          <a:xfrm>
            <a:off x="612775" y="789709"/>
            <a:ext cx="7447008" cy="338554"/>
          </a:xfrm>
          <a:prstGeom prst="rect">
            <a:avLst/>
          </a:prstGeom>
        </p:spPr>
        <p:txBody>
          <a:bodyPr wrap="square">
            <a:spAutoFit/>
          </a:bodyPr>
          <a:lstStyle/>
          <a:p>
            <a:pPr marL="0" marR="0" lvl="0" indent="114300" algn="l" defTabSz="914400" rtl="0" eaLnBrk="1" fontAlgn="auto" latinLnBrk="0" hangingPunct="1">
              <a:lnSpc>
                <a:spcPct val="100000"/>
              </a:lnSpc>
              <a:spcBef>
                <a:spcPts val="0"/>
              </a:spcBef>
              <a:spcAft>
                <a:spcPts val="0"/>
              </a:spcAft>
              <a:buClrTx/>
              <a:buSzTx/>
              <a:buFontTx/>
              <a:buNone/>
              <a:tabLst/>
              <a:defRPr/>
            </a:pPr>
            <a:r>
              <a:rPr kumimoji="0" lang="vi-VN"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A390</a:t>
            </a:r>
            <a:r>
              <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 GTB due to </a:t>
            </a:r>
            <a:r>
              <a:rPr kumimoji="0" lang="sv-SE"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ENG#2 </a:t>
            </a:r>
            <a:r>
              <a:rPr kumimoji="0" lang="vi-VN"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rPr>
              <a:t>Thrust Reverser Fault</a:t>
            </a:r>
            <a:endParaRPr kumimoji="0" lang="en-US" sz="1600" b="1" i="0" u="none" strike="noStrike" kern="1200" cap="none" spc="0" normalizeH="0" baseline="0" noProof="0" dirty="0">
              <a:ln>
                <a:noFill/>
              </a:ln>
              <a:solidFill>
                <a:srgbClr val="4472C4">
                  <a:lumMod val="50000"/>
                </a:srgbClr>
              </a:solidFill>
              <a:effectLst/>
              <a:uLnTx/>
              <a:uFillTx/>
              <a:latin typeface="Franklin Gothic Medium Cond" panose="020B0606030402020204" pitchFamily="34" charset="0"/>
              <a:ea typeface="Tahoma" pitchFamily="34" charset="0"/>
              <a:cs typeface="Times New Roman" panose="02020603050405020304" pitchFamily="18" charset="0"/>
            </a:endParaRPr>
          </a:p>
        </p:txBody>
      </p:sp>
      <p:sp>
        <p:nvSpPr>
          <p:cNvPr id="33" name="TextBox 32">
            <a:extLst>
              <a:ext uri="{FF2B5EF4-FFF2-40B4-BE49-F238E27FC236}">
                <a16:creationId xmlns:a16="http://schemas.microsoft.com/office/drawing/2014/main" id="{02C261E8-9107-4B19-8E39-7FAD7508571C}"/>
              </a:ext>
            </a:extLst>
          </p:cNvPr>
          <p:cNvSpPr txBox="1"/>
          <p:nvPr/>
        </p:nvSpPr>
        <p:spPr>
          <a:xfrm>
            <a:off x="722764" y="1172429"/>
            <a:ext cx="8268836" cy="1046440"/>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Khi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pushback</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tàu</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có</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cảnh</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báo</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ENG 2 REVERSER FAULT + LOSS ENG 2 OIL QTY ON ENG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PAGE.</a:t>
            </a:r>
            <a:endPar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endParaRP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rPr>
              <a:t>Th</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ực</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en-US" sz="1400" dirty="0" err="1">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hiện</a:t>
            </a: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OPS test thổi ngược và EIU satis, kiểm tra ENG OIL QTY normal</a:t>
            </a:r>
          </a:p>
          <a:p>
            <a:pPr marL="285750" marR="0" lvl="0" indent="-285750" algn="just" defTabSz="914400" rtl="0" eaLnBrk="1" fontAlgn="auto" latinLnBrk="0" hangingPunct="1">
              <a:lnSpc>
                <a:spcPct val="100000"/>
              </a:lnSpc>
              <a:spcBef>
                <a:spcPts val="1200"/>
              </a:spcBef>
              <a:spcAft>
                <a:spcPts val="0"/>
              </a:spcAft>
              <a:buClrTx/>
              <a:buSzTx/>
              <a:buFont typeface="Arial" panose="020B0604020202020204" pitchFamily="34" charset="0"/>
              <a:buChar char="•"/>
              <a:tabLst/>
              <a:defRPr/>
            </a:pPr>
            <a:r>
              <a:rPr lang="en-US"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Sau </a:t>
            </a:r>
            <a:r>
              <a:rPr lang="vi-VN" sz="1400" dirty="0">
                <a:solidFill>
                  <a:srgbClr val="4472C4">
                    <a:lumMod val="50000"/>
                  </a:srgbClr>
                </a:solidFill>
                <a:latin typeface="Cambria" panose="02040503050406030204" pitchFamily="18" charset="0"/>
                <a:ea typeface="Cambria" panose="02040503050406030204" pitchFamily="18" charset="0"/>
                <a:cs typeface="Times New Roman" panose="02020603050405020304" pitchFamily="18" charset="0"/>
              </a:rPr>
              <a:t>đó thực hiện thay Terminal Block TM817.</a:t>
            </a:r>
            <a:endParaRPr kumimoji="0" lang="en-US" sz="1400" b="0" i="0" u="none" strike="noStrike" kern="1200" cap="none" spc="0" normalizeH="0" baseline="0" noProof="0" dirty="0">
              <a:ln>
                <a:noFill/>
              </a:ln>
              <a:solidFill>
                <a:srgbClr val="4472C4">
                  <a:lumMod val="50000"/>
                </a:srgbClr>
              </a:solidFill>
              <a:effectLst/>
              <a:uLnTx/>
              <a:uFillTx/>
              <a:latin typeface="Cambria" panose="02040503050406030204" pitchFamily="18" charset="0"/>
              <a:ea typeface="Cambria" panose="02040503050406030204" pitchFamily="18" charset="0"/>
              <a:cs typeface="Times New Roman" panose="02020603050405020304" pitchFamily="18" charset="0"/>
            </a:endParaRPr>
          </a:p>
        </p:txBody>
      </p:sp>
      <p:sp>
        <p:nvSpPr>
          <p:cNvPr id="27" name="Title 1">
            <a:extLst>
              <a:ext uri="{FF2B5EF4-FFF2-40B4-BE49-F238E27FC236}">
                <a16:creationId xmlns:a16="http://schemas.microsoft.com/office/drawing/2014/main" id="{88D62ACE-92F7-43A9-A921-E66AF898547E}"/>
              </a:ext>
            </a:extLst>
          </p:cNvPr>
          <p:cNvSpPr txBox="1">
            <a:spLocks/>
          </p:cNvSpPr>
          <p:nvPr/>
        </p:nvSpPr>
        <p:spPr>
          <a:xfrm>
            <a:off x="871239" y="203760"/>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A390 </a:t>
            </a:r>
            <a:r>
              <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 </a:t>
            </a:r>
            <a:r>
              <a:rPr kumimoji="0" lang="vi-VN"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rPr>
              <a:t>THRUST REVERSER FAULT</a:t>
            </a:r>
            <a:endParaRPr kumimoji="0" lang="en-US" sz="2800" b="1" i="0" u="none" strike="noStrike" kern="1200" cap="none" spc="0" normalizeH="0" baseline="0" noProof="0" dirty="0">
              <a:ln>
                <a:noFill/>
              </a:ln>
              <a:solidFill>
                <a:srgbClr val="D2A43B"/>
              </a:solidFill>
              <a:effectLst/>
              <a:uLnTx/>
              <a:uFillTx/>
              <a:latin typeface="Times New Roman" panose="02020603050405020304" pitchFamily="18" charset="0"/>
              <a:ea typeface="Tahoma" pitchFamily="34" charset="0"/>
              <a:cs typeface="Times New Roman" panose="02020603050405020304" pitchFamily="18" charset="0"/>
            </a:endParaRPr>
          </a:p>
        </p:txBody>
      </p:sp>
      <p:sp>
        <p:nvSpPr>
          <p:cNvPr id="34" name="TextBox 33">
            <a:extLst>
              <a:ext uri="{FF2B5EF4-FFF2-40B4-BE49-F238E27FC236}">
                <a16:creationId xmlns:a16="http://schemas.microsoft.com/office/drawing/2014/main" id="{4FBB82BB-9691-4886-8645-5B1C95F325C4}"/>
              </a:ext>
            </a:extLst>
          </p:cNvPr>
          <p:cNvSpPr txBox="1"/>
          <p:nvPr/>
        </p:nvSpPr>
        <p:spPr>
          <a:xfrm>
            <a:off x="798343" y="2522323"/>
            <a:ext cx="4717415"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Root Cause / Investigation</a:t>
            </a:r>
          </a:p>
        </p:txBody>
      </p:sp>
      <p:pic>
        <p:nvPicPr>
          <p:cNvPr id="36" name="Picture 35">
            <a:extLst>
              <a:ext uri="{FF2B5EF4-FFF2-40B4-BE49-F238E27FC236}">
                <a16:creationId xmlns:a16="http://schemas.microsoft.com/office/drawing/2014/main" id="{F1E75855-BFF9-4060-8514-50C2582B62B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3418" y="5136626"/>
            <a:ext cx="537821" cy="502241"/>
          </a:xfrm>
          <a:prstGeom prst="rect">
            <a:avLst/>
          </a:prstGeom>
        </p:spPr>
      </p:pic>
      <p:sp>
        <p:nvSpPr>
          <p:cNvPr id="37" name="TextBox 36">
            <a:extLst>
              <a:ext uri="{FF2B5EF4-FFF2-40B4-BE49-F238E27FC236}">
                <a16:creationId xmlns:a16="http://schemas.microsoft.com/office/drawing/2014/main" id="{3FDC07A6-2071-4D02-9540-D46ECD1C61E5}"/>
              </a:ext>
            </a:extLst>
          </p:cNvPr>
          <p:cNvSpPr txBox="1"/>
          <p:nvPr/>
        </p:nvSpPr>
        <p:spPr>
          <a:xfrm>
            <a:off x="871239" y="5218469"/>
            <a:ext cx="5272033" cy="338554"/>
          </a:xfrm>
          <a:prstGeom prst="rect">
            <a:avLst/>
          </a:prstGeom>
          <a:noFill/>
        </p:spPr>
        <p:txBody>
          <a:bodyPr wrap="square" rtlCol="0">
            <a:spAutoFit/>
          </a:bodyPr>
          <a:lstStyle/>
          <a:p>
            <a:pPr marL="0" marR="0" lvl="0" indent="0" algn="just" defTabSz="914400" rtl="0" eaLnBrk="1" fontAlgn="auto" latinLnBrk="0" hangingPunct="1">
              <a:lnSpc>
                <a:spcPct val="100000"/>
              </a:lnSpc>
              <a:spcBef>
                <a:spcPts val="1200"/>
              </a:spcBef>
              <a:spcAft>
                <a:spcPts val="0"/>
              </a:spcAft>
              <a:buClrTx/>
              <a:buSzTx/>
              <a:buFontTx/>
              <a:buNone/>
              <a:tabLst/>
              <a:defRPr/>
            </a:pPr>
            <a:r>
              <a:rPr kumimoji="0" lang="en-US" sz="1600" b="1"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Mitigation / Interim Action</a:t>
            </a:r>
          </a:p>
        </p:txBody>
      </p:sp>
      <p:pic>
        <p:nvPicPr>
          <p:cNvPr id="38" name="Picture 37">
            <a:extLst>
              <a:ext uri="{FF2B5EF4-FFF2-40B4-BE49-F238E27FC236}">
                <a16:creationId xmlns:a16="http://schemas.microsoft.com/office/drawing/2014/main" id="{0969630F-CCFF-4E5C-A701-27D11B7F73C3}"/>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73565" y="2438444"/>
            <a:ext cx="524778" cy="502242"/>
          </a:xfrm>
          <a:prstGeom prst="rect">
            <a:avLst/>
          </a:prstGeom>
        </p:spPr>
      </p:pic>
      <p:sp>
        <p:nvSpPr>
          <p:cNvPr id="13" name="TextBox 12"/>
          <p:cNvSpPr txBox="1"/>
          <p:nvPr/>
        </p:nvSpPr>
        <p:spPr>
          <a:xfrm>
            <a:off x="765175" y="2820799"/>
            <a:ext cx="11210998" cy="1992661"/>
          </a:xfrm>
          <a:prstGeom prst="rect">
            <a:avLst/>
          </a:prstGeom>
          <a:noFill/>
        </p:spPr>
        <p:txBody>
          <a:bodyPr wrap="square" rtlCol="0">
            <a:spAutoFit/>
          </a:bodyPr>
          <a:lstStyle/>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vi-VN" sz="1400" b="0" i="0" u="none" strike="noStrike" kern="1200" cap="none" spc="0" normalizeH="0" baseline="0" noProof="0" dirty="0">
                <a:ln>
                  <a:noFill/>
                </a:ln>
                <a:solidFill>
                  <a:srgbClr val="4472C4">
                    <a:lumMod val="50000"/>
                  </a:srgbClr>
                </a:solidFill>
                <a:effectLst/>
                <a:uLnTx/>
                <a:uFillTx/>
                <a:latin typeface="Times New Roman" panose="02020603050405020304" pitchFamily="18" charset="0"/>
                <a:ea typeface="Cambria" panose="02040503050406030204" pitchFamily="18" charset="0"/>
                <a:cs typeface="+mn-cs"/>
              </a:rPr>
              <a:t>Tàu A390 thực hiện OPS test satis, sau đó đã được thay Terminal Block (TM817) để phòng tránh hỏng hóc lặp lại.</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sz="1400" dirty="0">
                <a:solidFill>
                  <a:srgbClr val="4472C4">
                    <a:lumMod val="50000"/>
                  </a:srgbClr>
                </a:solidFill>
                <a:latin typeface="Times New Roman" panose="02020603050405020304" pitchFamily="18" charset="0"/>
                <a:ea typeface="Cambria" panose="02040503050406030204" pitchFamily="18" charset="0"/>
              </a:rPr>
              <a:t>Theo thống kê sơ bộ, khoảng 30% số vụ OI do thồi ngược được khắc  phục sau khi thực hiện OPS test và khoảng 7% số vụ thực hiện thay TM817.</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vi-VN" sz="1400" dirty="0">
                <a:solidFill>
                  <a:srgbClr val="4472C4">
                    <a:lumMod val="50000"/>
                  </a:srgbClr>
                </a:solidFill>
                <a:latin typeface="Times New Roman" panose="02020603050405020304" pitchFamily="18" charset="0"/>
                <a:ea typeface="Cambria" panose="02040503050406030204" pitchFamily="18" charset="0"/>
              </a:rPr>
              <a:t>H</a:t>
            </a:r>
            <a:r>
              <a:rPr lang="en-US" sz="1400" dirty="0" err="1">
                <a:solidFill>
                  <a:srgbClr val="4472C4">
                    <a:lumMod val="50000"/>
                  </a:srgbClr>
                </a:solidFill>
                <a:latin typeface="Times New Roman" panose="02020603050405020304" pitchFamily="18" charset="0"/>
                <a:ea typeface="Cambria" panose="02040503050406030204" pitchFamily="18" charset="0"/>
              </a:rPr>
              <a:t>ỏng</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hóc</a:t>
            </a:r>
            <a:r>
              <a:rPr lang="en-US" sz="1400" dirty="0">
                <a:solidFill>
                  <a:srgbClr val="4472C4">
                    <a:lumMod val="50000"/>
                  </a:srgbClr>
                </a:solidFill>
                <a:latin typeface="Times New Roman" panose="02020603050405020304" pitchFamily="18" charset="0"/>
                <a:ea typeface="Cambria" panose="02040503050406030204" pitchFamily="18" charset="0"/>
              </a:rPr>
              <a:t> Terminal Block TM817 </a:t>
            </a:r>
            <a:r>
              <a:rPr lang="en-US" sz="1400" dirty="0" err="1">
                <a:solidFill>
                  <a:srgbClr val="4472C4">
                    <a:lumMod val="50000"/>
                  </a:srgbClr>
                </a:solidFill>
                <a:latin typeface="Times New Roman" panose="02020603050405020304" pitchFamily="18" charset="0"/>
                <a:ea typeface="Cambria" panose="02040503050406030204" pitchFamily="18" charset="0"/>
              </a:rPr>
              <a:t>đi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kèm</a:t>
            </a:r>
            <a:r>
              <a:rPr lang="en-US" sz="1400" dirty="0">
                <a:solidFill>
                  <a:srgbClr val="4472C4">
                    <a:lumMod val="50000"/>
                  </a:srgbClr>
                </a:solidFill>
                <a:latin typeface="Times New Roman" panose="02020603050405020304" pitchFamily="18" charset="0"/>
                <a:ea typeface="Cambria" panose="02040503050406030204" pitchFamily="18" charset="0"/>
              </a:rPr>
              <a:t> msg “check oil QTY XMTR"/"check n4 BRG SCAV press XMTR circuit 4005en” </a:t>
            </a:r>
            <a:r>
              <a:rPr lang="vi-VN" sz="1400" dirty="0">
                <a:solidFill>
                  <a:srgbClr val="4472C4">
                    <a:lumMod val="50000"/>
                  </a:srgbClr>
                </a:solidFill>
                <a:latin typeface="Times New Roman" panose="02020603050405020304" pitchFamily="18" charset="0"/>
                <a:ea typeface="Cambria" panose="02040503050406030204" pitchFamily="18" charset="0"/>
              </a:rPr>
              <a:t>cũng đã được Airbus nhận diện, nguyên nhân là do hiện tượng ngắn mạch bên trong terminal block TM 817.</a:t>
            </a:r>
          </a:p>
          <a:p>
            <a:pPr marL="285750" marR="0" lvl="0" indent="-2857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400" dirty="0" err="1">
                <a:solidFill>
                  <a:srgbClr val="4472C4">
                    <a:lumMod val="50000"/>
                  </a:srgbClr>
                </a:solidFill>
                <a:latin typeface="Times New Roman" panose="02020603050405020304" pitchFamily="18" charset="0"/>
                <a:ea typeface="Cambria" panose="02040503050406030204" pitchFamily="18" charset="0"/>
              </a:rPr>
              <a:t>Nguyên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nhân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gây</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ra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ngắn</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mạch</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là</a:t>
            </a:r>
            <a:r>
              <a:rPr lang="en-US" sz="1400" dirty="0">
                <a:solidFill>
                  <a:srgbClr val="4472C4">
                    <a:lumMod val="50000"/>
                  </a:srgbClr>
                </a:solidFill>
                <a:latin typeface="Times New Roman" panose="02020603050405020304" pitchFamily="18" charset="0"/>
                <a:ea typeface="Cambria" panose="02040503050406030204" pitchFamily="18" charset="0"/>
              </a:rPr>
              <a:t> do </a:t>
            </a:r>
            <a:r>
              <a:rPr lang="en-US" sz="1400" dirty="0" err="1">
                <a:solidFill>
                  <a:srgbClr val="4472C4">
                    <a:lumMod val="50000"/>
                  </a:srgbClr>
                </a:solidFill>
                <a:latin typeface="Times New Roman" panose="02020603050405020304" pitchFamily="18" charset="0"/>
                <a:ea typeface="Cambria" panose="02040503050406030204" pitchFamily="18" charset="0"/>
              </a:rPr>
              <a:t>hai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chấu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kim</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loại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vi-VN" sz="1400" dirty="0">
                <a:solidFill>
                  <a:srgbClr val="4472C4">
                    <a:lumMod val="50000"/>
                  </a:srgbClr>
                </a:solidFill>
                <a:latin typeface="Times New Roman" panose="02020603050405020304" pitchFamily="18" charset="0"/>
                <a:ea typeface="Cambria" panose="02040503050406030204" pitchFamily="18" charset="0"/>
              </a:rPr>
              <a:t>bên trong terminal block </a:t>
            </a:r>
            <a:r>
              <a:rPr lang="en-US" sz="1400" dirty="0" err="1">
                <a:solidFill>
                  <a:srgbClr val="4472C4">
                    <a:lumMod val="50000"/>
                  </a:srgbClr>
                </a:solidFill>
                <a:latin typeface="Times New Roman" panose="02020603050405020304" pitchFamily="18" charset="0"/>
                <a:ea typeface="Cambria" panose="02040503050406030204" pitchFamily="18" charset="0"/>
              </a:rPr>
              <a:t>bị</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mài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mòn</a:t>
            </a:r>
            <a:r>
              <a:rPr lang="en-US" sz="1400" dirty="0">
                <a:solidFill>
                  <a:srgbClr val="4472C4">
                    <a:lumMod val="50000"/>
                  </a:srgbClr>
                </a:solidFill>
                <a:latin typeface="Times New Roman" panose="02020603050405020304" pitchFamily="18" charset="0"/>
                <a:ea typeface="Cambria" panose="02040503050406030204" pitchFamily="18" charset="0"/>
              </a:rPr>
              <a:t> do rung </a:t>
            </a:r>
            <a:r>
              <a:rPr lang="en-US" sz="1400" dirty="0" err="1">
                <a:solidFill>
                  <a:srgbClr val="4472C4">
                    <a:lumMod val="50000"/>
                  </a:srgbClr>
                </a:solidFill>
                <a:latin typeface="Times New Roman" panose="02020603050405020304" pitchFamily="18" charset="0"/>
                <a:ea typeface="Cambria" panose="02040503050406030204" pitchFamily="18" charset="0"/>
              </a:rPr>
              <a:t>động</a:t>
            </a:r>
            <a:r>
              <a:rPr lang="en-US" sz="1400" dirty="0">
                <a:solidFill>
                  <a:srgbClr val="4472C4">
                    <a:lumMod val="50000"/>
                  </a:srgbClr>
                </a:solidFill>
                <a:latin typeface="Times New Roman" panose="02020603050405020304" pitchFamily="18" charset="0"/>
                <a:ea typeface="Cambria" panose="02040503050406030204" pitchFamily="18" charset="0"/>
              </a:rPr>
              <a:t> (fretting) </a:t>
            </a:r>
            <a:r>
              <a:rPr lang="en-US" sz="1400" dirty="0" err="1">
                <a:solidFill>
                  <a:srgbClr val="4472C4">
                    <a:lumMod val="50000"/>
                  </a:srgbClr>
                </a:solidFill>
                <a:latin typeface="Times New Roman" panose="02020603050405020304" pitchFamily="18" charset="0"/>
                <a:ea typeface="Cambria" panose="02040503050406030204" pitchFamily="18" charset="0"/>
              </a:rPr>
              <a:t>với</a:t>
            </a:r>
            <a:r>
              <a:rPr lang="en-US" sz="1400" dirty="0">
                <a:solidFill>
                  <a:srgbClr val="4472C4">
                    <a:lumMod val="50000"/>
                  </a:srgbClr>
                </a:solidFill>
                <a:latin typeface="Times New Roman" panose="02020603050405020304" pitchFamily="18" charset="0"/>
                <a:ea typeface="Cambria" panose="02040503050406030204" pitchFamily="18" charset="0"/>
              </a:rPr>
              <a:t> terminal block, </a:t>
            </a:r>
            <a:r>
              <a:rPr lang="en-US" sz="1400" dirty="0" err="1">
                <a:solidFill>
                  <a:srgbClr val="4472C4">
                    <a:lumMod val="50000"/>
                  </a:srgbClr>
                </a:solidFill>
                <a:latin typeface="Times New Roman" panose="02020603050405020304" pitchFamily="18" charset="0"/>
                <a:ea typeface="Cambria" panose="02040503050406030204" pitchFamily="18" charset="0"/>
              </a:rPr>
              <a:t>tạo</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ra</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hai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lỗ</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Kết</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quả</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là</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hai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chấu</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kim</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loại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này</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đã</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tiếp</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xúc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với</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en-US" sz="1400" dirty="0" err="1">
                <a:solidFill>
                  <a:srgbClr val="4472C4">
                    <a:lumMod val="50000"/>
                  </a:srgbClr>
                </a:solidFill>
                <a:latin typeface="Times New Roman" panose="02020603050405020304" pitchFamily="18" charset="0"/>
                <a:ea typeface="Cambria" panose="02040503050406030204" pitchFamily="18" charset="0"/>
              </a:rPr>
              <a:t>các</a:t>
            </a:r>
            <a:r>
              <a:rPr lang="en-US" sz="1400" dirty="0">
                <a:solidFill>
                  <a:srgbClr val="4472C4">
                    <a:lumMod val="50000"/>
                  </a:srgbClr>
                </a:solidFill>
                <a:latin typeface="Times New Roman" panose="02020603050405020304" pitchFamily="18" charset="0"/>
                <a:ea typeface="Cambria" panose="02040503050406030204" pitchFamily="18" charset="0"/>
              </a:rPr>
              <a:t> </a:t>
            </a:r>
            <a:r>
              <a:rPr lang="vi-VN" sz="1400" dirty="0">
                <a:solidFill>
                  <a:srgbClr val="4472C4">
                    <a:lumMod val="50000"/>
                  </a:srgbClr>
                </a:solidFill>
                <a:latin typeface="Times New Roman" panose="02020603050405020304" pitchFamily="18" charset="0"/>
                <a:ea typeface="Cambria" panose="02040503050406030204" pitchFamily="18" charset="0"/>
              </a:rPr>
              <a:t>bộ phận bên trong như nguồn 28V, TR lock sensor,...</a:t>
            </a:r>
          </a:p>
        </p:txBody>
      </p:sp>
      <p:sp>
        <p:nvSpPr>
          <p:cNvPr id="15" name="TextBox 14"/>
          <p:cNvSpPr txBox="1"/>
          <p:nvPr/>
        </p:nvSpPr>
        <p:spPr>
          <a:xfrm>
            <a:off x="460375" y="5685571"/>
            <a:ext cx="10964370" cy="892552"/>
          </a:xfrm>
          <a:prstGeom prst="rect">
            <a:avLst/>
          </a:prstGeom>
          <a:noFill/>
        </p:spPr>
        <p:txBody>
          <a:bodyPr wrap="square" rtlCol="0">
            <a:spAutoFit/>
          </a:bodyPr>
          <a:lstStyle/>
          <a:p>
            <a:pPr marL="285750" marR="0" lvl="0" indent="-285750" algn="just" defTabSz="914400" rtl="0" eaLnBrk="1" fontAlgn="auto" latinLnBrk="0" hangingPunct="1">
              <a:lnSpc>
                <a:spcPct val="100000"/>
              </a:lnSpc>
              <a:spcBef>
                <a:spcPts val="1200"/>
              </a:spcBef>
              <a:spcAft>
                <a:spcPts val="0"/>
              </a:spcAft>
              <a:buClrTx/>
              <a:buSzTx/>
              <a:buFont typeface="Wingdings" panose="05000000000000000000" pitchFamily="2" charset="2"/>
              <a:buChar char="v"/>
              <a:tabLst/>
              <a:defRPr/>
            </a:pP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Airbus đã có nâng </a:t>
            </a:r>
            <a:r>
              <a:rPr lang="vi-VN"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rPr>
              <a:t>cấp thiết kế mới cho cụm terminal block giúp giảm tình trạng cọ xát gây ngắn mạch. Các động cơ VNA đều đã được nâng cấp. </a:t>
            </a:r>
          </a:p>
          <a:p>
            <a:pPr marR="0" lvl="0" algn="just" defTabSz="914400" rtl="0" eaLnBrk="1" fontAlgn="auto" latinLnBrk="0" hangingPunct="1">
              <a:lnSpc>
                <a:spcPct val="100000"/>
              </a:lnSpc>
              <a:spcBef>
                <a:spcPts val="1200"/>
              </a:spcBef>
              <a:spcAft>
                <a:spcPts val="0"/>
              </a:spcAft>
              <a:buClrTx/>
              <a:buSzTx/>
              <a:tabLst/>
              <a:defRPr/>
            </a:pPr>
            <a:r>
              <a:rPr lang="vi-VN" sz="1400" dirty="0">
                <a:solidFill>
                  <a:srgbClr val="002060"/>
                </a:solidFill>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rPr>
              <a:t> T</a:t>
            </a:r>
            <a:r>
              <a:rPr kumimoji="0" lang="vi-VN" sz="1400" b="0" i="0" u="none" strike="noStrike" kern="1200" cap="none" spc="0" normalizeH="0" baseline="0" noProof="0" dirty="0">
                <a:ln>
                  <a:noFill/>
                </a:ln>
                <a:solidFill>
                  <a:srgbClr val="002060"/>
                </a:solidFill>
                <a:effectLst/>
                <a:uLnTx/>
                <a:uFillTx/>
                <a:latin typeface="Times New Roman" panose="02020603050405020304" pitchFamily="18" charset="0"/>
                <a:ea typeface="Cambria" panose="02040503050406030204" pitchFamily="18" charset="0"/>
                <a:cs typeface="Times New Roman" panose="02020603050405020304" pitchFamily="18" charset="0"/>
              </a:rPr>
              <a:t>uy nhiên sau các lần trao đổi với Airbus, Airbus cũng xác nhận tình trạng vibration vẫn có thể xảy ra sau đó. Ban KT sẽ tiếp tục làm việc với Airbus về hỏng hóc này.</a:t>
            </a:r>
            <a:endParaRPr kumimoji="0" lang="en-US" sz="1400" b="0" i="0" u="none" strike="noStrike" kern="1200" cap="none" spc="0" normalizeH="0" baseline="0" noProof="0" dirty="0">
              <a:ln>
                <a:noFill/>
              </a:ln>
              <a:solidFill>
                <a:srgbClr val="FF0000"/>
              </a:solidFill>
              <a:effectLst/>
              <a:uLnTx/>
              <a:uFillTx/>
              <a:latin typeface="Times New Roman" panose="02020603050405020304" pitchFamily="18" charset="0"/>
              <a:ea typeface="Cambria" panose="020405030504060302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74B4F2C0-3773-FFE2-B552-0657DB1A92CC}"/>
              </a:ext>
            </a:extLst>
          </p:cNvPr>
          <p:cNvPicPr>
            <a:picLocks noChangeAspect="1"/>
          </p:cNvPicPr>
          <p:nvPr/>
        </p:nvPicPr>
        <p:blipFill>
          <a:blip r:embed="rId6"/>
          <a:stretch>
            <a:fillRect/>
          </a:stretch>
        </p:blipFill>
        <p:spPr>
          <a:xfrm>
            <a:off x="8409022" y="639481"/>
            <a:ext cx="3658660" cy="1891836"/>
          </a:xfrm>
          <a:prstGeom prst="rect">
            <a:avLst/>
          </a:prstGeom>
        </p:spPr>
      </p:pic>
      <p:sp>
        <p:nvSpPr>
          <p:cNvPr id="18" name="Rectangle 17">
            <a:extLst>
              <a:ext uri="{FF2B5EF4-FFF2-40B4-BE49-F238E27FC236}">
                <a16:creationId xmlns:a16="http://schemas.microsoft.com/office/drawing/2014/main" id="{CE69F948-D4AE-591C-3F18-004A26C02829}"/>
              </a:ext>
            </a:extLst>
          </p:cNvPr>
          <p:cNvSpPr/>
          <p:nvPr/>
        </p:nvSpPr>
        <p:spPr>
          <a:xfrm>
            <a:off x="10694276" y="709412"/>
            <a:ext cx="966952" cy="75678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43386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18</a:t>
            </a:fld>
            <a:endParaRPr lang="en-US" altLang="en-US" sz="1200">
              <a:solidFill>
                <a:srgbClr val="D2A43B"/>
              </a:solidFill>
              <a:latin typeface="Montserrat"/>
            </a:endParaRPr>
          </a:p>
        </p:txBody>
      </p:sp>
      <p:sp>
        <p:nvSpPr>
          <p:cNvPr id="1048638" name="Title 4"/>
          <p:cNvSpPr>
            <a:spLocks noGrp="1"/>
          </p:cNvSpPr>
          <p:nvPr>
            <p:ph type="title"/>
          </p:nvPr>
        </p:nvSpPr>
        <p:spPr>
          <a:xfrm>
            <a:off x="1047482" y="228600"/>
            <a:ext cx="8686799" cy="609600"/>
          </a:xfrm>
        </p:spPr>
        <p:txBody>
          <a:bodyPr rtlCol="0">
            <a:normAutofit/>
          </a:bodyPr>
          <a:lstStyle/>
          <a:p>
            <a:pPr eaLnBrk="1" fontAlgn="auto" hangingPunct="1">
              <a:spcAft>
                <a:spcPts val="0"/>
              </a:spcAft>
              <a:defRPr/>
            </a:pPr>
            <a:r>
              <a:rPr lang="en-US" sz="2400" dirty="0">
                <a:ln w="0"/>
                <a:solidFill>
                  <a:schemeClr val="accent4"/>
                </a:solidFill>
                <a:latin typeface="Times New Roman" panose="02020603050405020304" pitchFamily="18" charset="0"/>
                <a:cs typeface="Times New Roman" panose="02020603050405020304" pitchFamily="18" charset="0"/>
              </a:rPr>
              <a:t>TÌNH TRẠNG KỸ THUẬT ĐỘI BAY A320/ A321 </a:t>
            </a:r>
            <a:endParaRPr lang="vi-VN" sz="2400" dirty="0">
              <a:ln w="0"/>
              <a:solidFill>
                <a:schemeClr val="accent4"/>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4311CC99-42A4-BD10-390B-EE6B3A4DC329}"/>
              </a:ext>
            </a:extLst>
          </p:cNvPr>
          <p:cNvSpPr txBox="1"/>
          <p:nvPr/>
        </p:nvSpPr>
        <p:spPr>
          <a:xfrm>
            <a:off x="762000" y="838200"/>
            <a:ext cx="10229811" cy="4247317"/>
          </a:xfrm>
          <a:prstGeom prst="rect">
            <a:avLst/>
          </a:prstGeom>
          <a:noFill/>
        </p:spPr>
        <p:txBody>
          <a:bodyPr wrap="square">
            <a:spAutoFit/>
          </a:bodyPr>
          <a:lstStyle/>
          <a:p>
            <a:pPr lvl="0" algn="just">
              <a:defRPr/>
            </a:pPr>
            <a:r>
              <a:rPr lang="en-US" sz="1500" b="1" dirty="0" err="1">
                <a:latin typeface="Times New Roman" panose="02020603050405020304" pitchFamily="18" charset="0"/>
                <a:cs typeface="Times New Roman" panose="02020603050405020304" pitchFamily="18" charset="0"/>
              </a:rPr>
              <a:t>Nhận</a:t>
            </a:r>
            <a:r>
              <a:rPr lang="en-US" sz="1500" b="1" dirty="0">
                <a:latin typeface="Times New Roman" panose="02020603050405020304" pitchFamily="18" charset="0"/>
                <a:cs typeface="Times New Roman" panose="02020603050405020304" pitchFamily="18" charset="0"/>
              </a:rPr>
              <a:t> </a:t>
            </a:r>
            <a:r>
              <a:rPr lang="en-US" sz="1500" b="1" dirty="0" err="1">
                <a:latin typeface="Times New Roman" panose="02020603050405020304" pitchFamily="18" charset="0"/>
                <a:cs typeface="Times New Roman" panose="02020603050405020304" pitchFamily="18" charset="0"/>
              </a:rPr>
              <a:t>xét</a:t>
            </a:r>
            <a:r>
              <a:rPr lang="en-US" sz="1500" b="1" dirty="0">
                <a:latin typeface="Times New Roman" panose="02020603050405020304" pitchFamily="18" charset="0"/>
                <a:cs typeface="Times New Roman" panose="02020603050405020304" pitchFamily="18" charset="0"/>
              </a:rPr>
              <a:t>: </a:t>
            </a:r>
          </a:p>
          <a:p>
            <a:pPr lvl="0" algn="just">
              <a:defRPr/>
            </a:pPr>
            <a:r>
              <a:rPr lang="vi-VN" sz="1500">
                <a:latin typeface="Times New Roman" panose="02020603050405020304" pitchFamily="18" charset="0"/>
                <a:cs typeface="Times New Roman" panose="02020603050405020304" pitchFamily="18" charset="0"/>
              </a:rPr>
              <a:t>Trong tuần phát sinh nhiều trường hợp quay lại</a:t>
            </a:r>
          </a:p>
          <a:p>
            <a:pPr marL="285750" indent="-285750" algn="just">
              <a:buFont typeface="Arial" panose="020B0604020202020204" pitchFamily="34" charset="0"/>
              <a:buChar char="•"/>
              <a:defRPr/>
            </a:pPr>
            <a:r>
              <a:rPr lang="vi-VN" sz="1500">
                <a:cs typeface="Times New Roman" panose="02020603050405020304" pitchFamily="18" charset="0"/>
              </a:rPr>
              <a:t>A356 GTB tại BKK DUE TO APU AUTO SHUTDOWN AND ENG#2 START FAULT. RESET CB APU AND DRY MOTORING ENG.2 FOUND NORMAL, RAISED ADD FOR APU INOP. Tàu sau đó phát hiện do oil cooler và thực hiện thay</a:t>
            </a:r>
          </a:p>
          <a:p>
            <a:pPr marL="285750" indent="-285750" algn="just">
              <a:buFont typeface="Arial" panose="020B0604020202020204" pitchFamily="34" charset="0"/>
              <a:buChar char="•"/>
              <a:defRPr/>
            </a:pPr>
            <a:r>
              <a:rPr lang="vi-VN" sz="1500">
                <a:cs typeface="Times New Roman" panose="02020603050405020304" pitchFamily="18" charset="0"/>
              </a:rPr>
              <a:t>A390 GTB do phát sinh ENG 2 REVERSER FAULT + LOSS ENG 2 OIL QTY ON ENG PAGE. Thực hiện OPS TEST THRUST REVERSER ENG 2 và EIU ENG 2 không phát hiện bất thường. Tàu sau đó đã được thay Terminal Block (TM817) để phòng tránh hỏng hóc lặp lại (Nguyên nhân phổ biến là do lỏng hoặc damage dây Linear Variable Differential Transducer)	</a:t>
            </a:r>
          </a:p>
          <a:p>
            <a:pPr marL="285750" indent="-285750" algn="just">
              <a:buFont typeface="Arial" panose="020B0604020202020204" pitchFamily="34" charset="0"/>
              <a:buChar char="•"/>
              <a:defRPr/>
            </a:pPr>
            <a:r>
              <a:rPr lang="vi-VN" sz="1500">
                <a:cs typeface="Times New Roman" panose="02020603050405020304" pitchFamily="18" charset="0"/>
              </a:rPr>
              <a:t>A335 GTB do phát sinh Mess AIR L WING LEAK thì phát hiện CABLE giữa PACK1 OUTLET COMPRESSOR và HEAT EXCHANGER bị vỡ và phải thay </a:t>
            </a:r>
          </a:p>
          <a:p>
            <a:pPr marL="285750" indent="-285750" algn="just">
              <a:buFont typeface="Arial" panose="020B0604020202020204" pitchFamily="34" charset="0"/>
              <a:buChar char="•"/>
              <a:defRPr/>
            </a:pPr>
            <a:r>
              <a:rPr lang="vi-VN" sz="1500">
                <a:cs typeface="Times New Roman" panose="02020603050405020304" pitchFamily="18" charset="0"/>
              </a:rPr>
              <a:t>A608 GTB do CAPT’ REPORT: ENG#2 START FAULT, tàu sau đó đã nổ lại động cơ kết quả tốt. Hiện tại tàu đã thay STARTER AIR VAVLE (khối có TSO/CSO = 350/253 lắp lên A608 ngày 15/01)</a:t>
            </a:r>
          </a:p>
          <a:p>
            <a:pPr marL="285750" indent="-285750" algn="just">
              <a:buFont typeface="Arial" panose="020B0604020202020204" pitchFamily="34" charset="0"/>
              <a:buChar char="•"/>
              <a:defRPr/>
            </a:pPr>
            <a:r>
              <a:rPr lang="vi-VN" sz="1500">
                <a:cs typeface="Times New Roman" panose="02020603050405020304" pitchFamily="18" charset="0"/>
              </a:rPr>
              <a:t>A393 AOG do phát sinh INLET COWL OF ENG#2 WIREMESH TEAR OUT OF LIMIT phải thay IC (bị rách tại vị trí sửa cũ)</a:t>
            </a:r>
          </a:p>
          <a:p>
            <a:pPr lvl="0" algn="just">
              <a:defRPr/>
            </a:pPr>
            <a:r>
              <a:rPr lang="vi-VN" sz="1500">
                <a:latin typeface="Times New Roman" panose="02020603050405020304" pitchFamily="18" charset="0"/>
                <a:cs typeface="Times New Roman" panose="02020603050405020304" pitchFamily="18" charset="0"/>
              </a:rPr>
              <a:t>Ngoài ra, trong tuần phát sinh tàu A357 hỏng hóc HYD B RSVR LO AIR PR lặp lại 2 lần. Tại ngày 27/2 sau khi phát sinh tàu chỉ nạp khí vào bình và khai thác tiếp, đến ngày 28/2 bị lại nhưng test satis. Tàu sau đó kiểm tra lại ngày 1/3 nhưng không phát hiện bất thường</a:t>
            </a:r>
          </a:p>
        </p:txBody>
      </p:sp>
    </p:spTree>
    <p:extLst>
      <p:ext uri="{BB962C8B-B14F-4D97-AF65-F5344CB8AC3E}">
        <p14:creationId xmlns:p14="http://schemas.microsoft.com/office/powerpoint/2010/main" val="540225025"/>
      </p:ext>
    </p:extLst>
  </p:cSld>
  <p:clrMapOvr>
    <a:masterClrMapping/>
  </p:clrMapOvr>
  <p:transition spd="slow"/>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91F1225-FC0E-5433-C8DA-3A180CA7EE00}"/>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C4F1B922-C038-04CB-CF61-EB34175F72F3}"/>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C85FF762-C7BE-C174-D0AA-48FABC7CA19E}"/>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A350</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E0B7B82D-1374-56D5-C3DF-62BC7E089176}"/>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 00 	</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GTB</a:t>
            </a:r>
            <a:r>
              <a:rPr kumimoji="0" lang="en-US" sz="1600" b="0"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/DIV</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24/02/2025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02/03/2025, Fleet A350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4255213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20</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57576" y="66595"/>
            <a:ext cx="7860513"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1F4A6B73-69EB-44A9-3C89-D9C83EB661D2}"/>
              </a:ext>
            </a:extLst>
          </p:cNvPr>
          <p:cNvGraphicFramePr>
            <a:graphicFrameLocks noGrp="1"/>
          </p:cNvGraphicFramePr>
          <p:nvPr/>
        </p:nvGraphicFramePr>
        <p:xfrm>
          <a:off x="257575" y="565154"/>
          <a:ext cx="11770637" cy="6265873"/>
        </p:xfrm>
        <a:graphic>
          <a:graphicData uri="http://schemas.openxmlformats.org/drawingml/2006/table">
            <a:tbl>
              <a:tblPr/>
              <a:tblGrid>
                <a:gridCol w="269923">
                  <a:extLst>
                    <a:ext uri="{9D8B030D-6E8A-4147-A177-3AD203B41FA5}">
                      <a16:colId xmlns:a16="http://schemas.microsoft.com/office/drawing/2014/main" val="367217670"/>
                    </a:ext>
                  </a:extLst>
                </a:gridCol>
                <a:gridCol w="519573">
                  <a:extLst>
                    <a:ext uri="{9D8B030D-6E8A-4147-A177-3AD203B41FA5}">
                      <a16:colId xmlns:a16="http://schemas.microsoft.com/office/drawing/2014/main" val="1681270567"/>
                    </a:ext>
                  </a:extLst>
                </a:gridCol>
                <a:gridCol w="629485">
                  <a:extLst>
                    <a:ext uri="{9D8B030D-6E8A-4147-A177-3AD203B41FA5}">
                      <a16:colId xmlns:a16="http://schemas.microsoft.com/office/drawing/2014/main" val="399715113"/>
                    </a:ext>
                  </a:extLst>
                </a:gridCol>
                <a:gridCol w="1248976">
                  <a:extLst>
                    <a:ext uri="{9D8B030D-6E8A-4147-A177-3AD203B41FA5}">
                      <a16:colId xmlns:a16="http://schemas.microsoft.com/office/drawing/2014/main" val="2275329601"/>
                    </a:ext>
                  </a:extLst>
                </a:gridCol>
                <a:gridCol w="1338901">
                  <a:extLst>
                    <a:ext uri="{9D8B030D-6E8A-4147-A177-3AD203B41FA5}">
                      <a16:colId xmlns:a16="http://schemas.microsoft.com/office/drawing/2014/main" val="3903470299"/>
                    </a:ext>
                  </a:extLst>
                </a:gridCol>
                <a:gridCol w="1388863">
                  <a:extLst>
                    <a:ext uri="{9D8B030D-6E8A-4147-A177-3AD203B41FA5}">
                      <a16:colId xmlns:a16="http://schemas.microsoft.com/office/drawing/2014/main" val="3547004347"/>
                    </a:ext>
                  </a:extLst>
                </a:gridCol>
                <a:gridCol w="6374916">
                  <a:extLst>
                    <a:ext uri="{9D8B030D-6E8A-4147-A177-3AD203B41FA5}">
                      <a16:colId xmlns:a16="http://schemas.microsoft.com/office/drawing/2014/main" val="1074810323"/>
                    </a:ext>
                  </a:extLst>
                </a:gridCol>
              </a:tblGrid>
              <a:tr h="185419">
                <a:tc>
                  <a:txBody>
                    <a:bodyPr/>
                    <a:lstStyle/>
                    <a:p>
                      <a:pPr algn="ctr" fontAlgn="ctr"/>
                      <a:r>
                        <a:rPr lang="en-US" sz="1200" b="0" i="0" u="none" strike="noStrike">
                          <a:solidFill>
                            <a:srgbClr val="000000"/>
                          </a:solidFill>
                          <a:effectLst/>
                          <a:latin typeface="Calibri" panose="020F0502020204030204" pitchFamily="34" charset="0"/>
                        </a:rPr>
                        <a:t>No</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Fleet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tàu bay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Tình trạng KT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200" b="0" i="0" u="none" strike="noStrike">
                          <a:solidFill>
                            <a:srgbClr val="000000"/>
                          </a:solidFill>
                          <a:effectLst/>
                          <a:latin typeface="Calibri" panose="020F0502020204030204" pitchFamily="34" charset="0"/>
                        </a:rPr>
                        <a:t>Điều kiện chuyên cơ</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Ghi chú</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69617242"/>
                  </a:ext>
                </a:extLst>
              </a:tr>
              <a:tr h="551179">
                <a:tc>
                  <a:txBody>
                    <a:bodyPr/>
                    <a:lstStyle/>
                    <a:p>
                      <a:pPr algn="ctr" fontAlgn="ctr"/>
                      <a:r>
                        <a:rPr lang="en-US" sz="1200" b="0" i="0" u="none" strike="noStrike">
                          <a:solidFill>
                            <a:srgbClr val="000000"/>
                          </a:solidFill>
                          <a:effectLst/>
                          <a:latin typeface="Calibri" panose="020F0502020204030204" pitchFamily="34" charset="0"/>
                        </a:rPr>
                        <a:t>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B1372 RAISED DM AIR REDUNDANCY LOSS ON FUEL INERTING</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B1379 RAISED PACK 1 REGULATION REDUNDANCY</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B1381 RAISED F/CTL R OUT R AILERON G ACTUATOR</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2657590"/>
                  </a:ext>
                </a:extLst>
              </a:tr>
              <a:tr h="185419">
                <a:tc>
                  <a:txBody>
                    <a:bodyPr/>
                    <a:lstStyle/>
                    <a:p>
                      <a:pPr algn="ctr" fontAlgn="ctr"/>
                      <a:r>
                        <a:rPr lang="en-US" sz="1200" b="0" i="0" u="none" strike="noStrike">
                          <a:solidFill>
                            <a:srgbClr val="000000"/>
                          </a:solidFill>
                          <a:effectLst/>
                          <a:latin typeface="Calibri" panose="020F0502020204030204" pitchFamily="34" charset="0"/>
                        </a:rPr>
                        <a:t>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B1246 RAISED AIR PACK 2 REGUL REDUNDANCY</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47766467"/>
                  </a:ext>
                </a:extLst>
              </a:tr>
              <a:tr h="185419">
                <a:tc>
                  <a:txBody>
                    <a:bodyPr/>
                    <a:lstStyle/>
                    <a:p>
                      <a:pPr algn="ctr" fontAlgn="ctr"/>
                      <a:r>
                        <a:rPr lang="en-US" sz="1200" b="0" i="0" u="none" strike="noStrike">
                          <a:solidFill>
                            <a:srgbClr val="000000"/>
                          </a:solidFill>
                          <a:effectLst/>
                          <a:latin typeface="Calibri" panose="020F0502020204030204" pitchFamily="34" charset="0"/>
                        </a:rPr>
                        <a:t>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47312957"/>
                  </a:ext>
                </a:extLst>
              </a:tr>
              <a:tr h="368299">
                <a:tc>
                  <a:txBody>
                    <a:bodyPr/>
                    <a:lstStyle/>
                    <a:p>
                      <a:pPr algn="ctr" fontAlgn="ctr"/>
                      <a:r>
                        <a:rPr lang="en-US" sz="1200" b="0" i="0" u="none" strike="noStrike">
                          <a:solidFill>
                            <a:srgbClr val="000000"/>
                          </a:solidFill>
                          <a:effectLst/>
                          <a:latin typeface="Calibri" panose="020F0502020204030204" pitchFamily="34" charset="0"/>
                        </a:rPr>
                        <a:t>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A889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21088 giảm tần suất soi HPT blade 1200FH/150FC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B1188 "THE OUTBOARD SEAL OF LH MOVEABLE FAIRING # 4 DAMAGED ( 38CM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24036586"/>
                  </a:ext>
                </a:extLst>
              </a:tr>
              <a:tr h="185419">
                <a:tc>
                  <a:txBody>
                    <a:bodyPr/>
                    <a:lstStyle/>
                    <a:p>
                      <a:pPr algn="ctr" fontAlgn="ctr"/>
                      <a:r>
                        <a:rPr lang="en-US" sz="1200" b="0" i="0" u="none" strike="noStrike">
                          <a:solidFill>
                            <a:srgbClr val="000000"/>
                          </a:solidFill>
                          <a:effectLst/>
                          <a:latin typeface="Calibri" panose="020F0502020204030204" pitchFamily="34" charset="0"/>
                        </a:rPr>
                        <a:t>5</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TR 81489576: PREVENTIVE RECOMMENDATION PACK 2 INTERNAL LEAKAGE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2117347"/>
                  </a:ext>
                </a:extLst>
              </a:tr>
              <a:tr h="185419">
                <a:tc>
                  <a:txBody>
                    <a:bodyPr/>
                    <a:lstStyle/>
                    <a:p>
                      <a:pPr algn="ctr" fontAlgn="ctr"/>
                      <a:r>
                        <a:rPr lang="en-US" sz="1200" b="0" i="0" u="none" strike="noStrike">
                          <a:solidFill>
                            <a:srgbClr val="000000"/>
                          </a:solidFill>
                          <a:effectLst/>
                          <a:latin typeface="Calibri" panose="020F0502020204030204" pitchFamily="34" charset="0"/>
                        </a:rPr>
                        <a:t>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 </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81601376"/>
                  </a:ext>
                </a:extLst>
              </a:tr>
              <a:tr h="185419">
                <a:tc>
                  <a:txBody>
                    <a:bodyPr/>
                    <a:lstStyle/>
                    <a:p>
                      <a:pPr algn="ctr" fontAlgn="ctr"/>
                      <a:r>
                        <a:rPr lang="en-US" sz="1200" b="0" i="0" u="none" strike="noStrike">
                          <a:solidFill>
                            <a:srgbClr val="000000"/>
                          </a:solidFill>
                          <a:effectLst/>
                          <a:latin typeface="Calibri" panose="020F0502020204030204" pitchFamily="34" charset="0"/>
                        </a:rPr>
                        <a:t>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B1455 RAISED THE DROOP-NOSE END-FILLING PANEL AT R/H MISSING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61779789"/>
                  </a:ext>
                </a:extLst>
              </a:tr>
              <a:tr h="368299">
                <a:tc>
                  <a:txBody>
                    <a:bodyPr/>
                    <a:lstStyle/>
                    <a:p>
                      <a:pPr algn="ctr" fontAlgn="ctr"/>
                      <a:r>
                        <a:rPr lang="en-US" sz="1200" b="0" i="0" u="none" strike="noStrike">
                          <a:solidFill>
                            <a:srgbClr val="000000"/>
                          </a:solidFill>
                          <a:effectLst/>
                          <a:latin typeface="Calibri" panose="020F0502020204030204" pitchFamily="34" charset="0"/>
                        </a:rPr>
                        <a:t>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000000"/>
                          </a:solidFill>
                          <a:effectLst/>
                          <a:latin typeface="Calibri" panose="020F0502020204030204" pitchFamily="34" charset="0"/>
                        </a:rPr>
                        <a:t>1. Không chọn chuyên cơ do động cơ số 2 S/N 21369 tiêu hao dầu nhờn cao, Rolls-Royce chưa đưa ra được giải pháp khắc phục.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3363891"/>
                  </a:ext>
                </a:extLst>
              </a:tr>
              <a:tr h="551179">
                <a:tc>
                  <a:txBody>
                    <a:bodyPr/>
                    <a:lstStyle/>
                    <a:p>
                      <a:pPr algn="ctr" fontAlgn="ctr"/>
                      <a:r>
                        <a:rPr lang="en-US" sz="1200" b="0" i="0" u="none" strike="noStrike">
                          <a:solidFill>
                            <a:srgbClr val="000000"/>
                          </a:solidFill>
                          <a:effectLst/>
                          <a:latin typeface="Calibri" panose="020F0502020204030204" pitchFamily="34" charset="0"/>
                        </a:rPr>
                        <a:t>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21425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81544821/005: PREVENTIVE RECOMMENDATION: HIGH TEMPERATURE GREEN RESERVOIR =&gt; đã thay 2 valve, chờ AIB confirm lại</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05230291"/>
                  </a:ext>
                </a:extLst>
              </a:tr>
              <a:tr h="368299">
                <a:tc>
                  <a:txBody>
                    <a:bodyPr/>
                    <a:lstStyle/>
                    <a:p>
                      <a:pPr algn="ctr" fontAlgn="ctr"/>
                      <a:r>
                        <a:rPr lang="en-US" sz="1200" b="0" i="0" u="none" strike="noStrike">
                          <a:solidFill>
                            <a:srgbClr val="000000"/>
                          </a:solidFill>
                          <a:effectLst/>
                          <a:latin typeface="Calibri" panose="020F0502020204030204" pitchFamily="34" charset="0"/>
                        </a:rPr>
                        <a:t>10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A895</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200" b="0" i="0" u="none" strike="noStrike">
                          <a:solidFill>
                            <a:srgbClr val="000000"/>
                          </a:solidFill>
                          <a:effectLst/>
                          <a:latin typeface="Calibri" panose="020F0502020204030204" pitchFamily="34" charset="0"/>
                        </a:rPr>
                        <a:t>1. ADD B995 RAISED ENGINE #1 SN 21604 HAVE LOW LIFE TIME </a:t>
                      </a:r>
                      <a:br>
                        <a:rPr lang="en-SG" sz="1200" b="0" i="0" u="none" strike="noStrike">
                          <a:solidFill>
                            <a:srgbClr val="000000"/>
                          </a:solidFill>
                          <a:effectLst/>
                          <a:latin typeface="Calibri" panose="020F0502020204030204" pitchFamily="34" charset="0"/>
                        </a:rPr>
                      </a:br>
                      <a:r>
                        <a:rPr lang="en-SG" sz="1200" b="0" i="0" u="none" strike="noStrike">
                          <a:solidFill>
                            <a:srgbClr val="000000"/>
                          </a:solidFill>
                          <a:effectLst/>
                          <a:latin typeface="Calibri" panose="020F0502020204030204" pitchFamily="34" charset="0"/>
                        </a:rPr>
                        <a:t>2. ADD B996 RAISED ENGINE #2 SN 21414 HAVE LOW LIFE TIME</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98767898"/>
                  </a:ext>
                </a:extLst>
              </a:tr>
              <a:tr h="1099819">
                <a:tc>
                  <a:txBody>
                    <a:bodyPr/>
                    <a:lstStyle/>
                    <a:p>
                      <a:pPr algn="ctr" fontAlgn="ctr"/>
                      <a:r>
                        <a:rPr lang="en-US" sz="1200" b="0" i="0" u="none" strike="noStrike">
                          <a:solidFill>
                            <a:srgbClr val="000000"/>
                          </a:solidFill>
                          <a:effectLst/>
                          <a:latin typeface="Calibri" panose="020F0502020204030204" pitchFamily="34" charset="0"/>
                        </a:rPr>
                        <a:t>11</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A896</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ADD B954 RAISED UPPER LATCH ASSY OF COCKPIT DOOR BOLTING SYSTEM IS NOT FULLY LOCKED </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TR 81416394: PREVENTIVE RECOMMENDATION PACK 1 INTERNAL LEAKAGE</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TR 81524640/007: PACK 1 EXTERNAL LEAKAGE -&gt; đã ktra tốt không có extenal leak, AIB y/c thay thêm component (ACM, SENSOR) thêm do phát hiện hoạt động không ổn định</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B1005 RAISED ENG 2 SINGLE IGNITION</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5. ADD B1008:"DM: F/CTL R OUTR AILERON G ACTUATOR"</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83198842"/>
                  </a:ext>
                </a:extLst>
              </a:tr>
              <a:tr h="368299">
                <a:tc>
                  <a:txBody>
                    <a:bodyPr/>
                    <a:lstStyle/>
                    <a:p>
                      <a:pPr algn="ctr" fontAlgn="ctr"/>
                      <a:r>
                        <a:rPr lang="en-US" sz="1200" b="0" i="0" u="none" strike="noStrike">
                          <a:solidFill>
                            <a:srgbClr val="000000"/>
                          </a:solidFill>
                          <a:effectLst/>
                          <a:latin typeface="Calibri" panose="020F0502020204030204" pitchFamily="34" charset="0"/>
                        </a:rPr>
                        <a:t>12</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A897</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2 21214 giảm tần suất soi heatshield 2400FH/400FC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A897 có logo Skyteam</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5322521"/>
                  </a:ext>
                </a:extLst>
              </a:tr>
              <a:tr h="1109687">
                <a:tc>
                  <a:txBody>
                    <a:bodyPr/>
                    <a:lstStyle/>
                    <a:p>
                      <a:pPr algn="ctr" fontAlgn="ctr"/>
                      <a:r>
                        <a:rPr lang="en-US" sz="1200" b="0" i="0" u="none" strike="noStrike">
                          <a:solidFill>
                            <a:srgbClr val="000000"/>
                          </a:solidFill>
                          <a:effectLst/>
                          <a:latin typeface="Calibri" panose="020F0502020204030204" pitchFamily="34" charset="0"/>
                        </a:rPr>
                        <a:t>13</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A898</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BQDB</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Không</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21214 giảm tần suất soi heatshield 2400FH/400FC. Eng 2 21268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CABIN tồn đọng hỏng hóc MID SCS CHILLER, cân nhắc chọn tầu VIP chỉ bay nội địa</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3. ADD B1134 RAISED FOR REPAIR OF DENT L/H DROOP NOSE WITHIN 350FC OR 150 DAYS WHICHEVER COME FIRST</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4. ADD B1137 RAISED BRAKE FAN #8 INOP</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1504658"/>
                  </a:ext>
                </a:extLst>
              </a:tr>
              <a:tr h="368299">
                <a:tc>
                  <a:txBody>
                    <a:bodyPr/>
                    <a:lstStyle/>
                    <a:p>
                      <a:pPr algn="ctr" fontAlgn="ctr"/>
                      <a:r>
                        <a:rPr lang="en-US" sz="1200" b="0" i="0" u="none" strike="noStrike">
                          <a:solidFill>
                            <a:srgbClr val="000000"/>
                          </a:solidFill>
                          <a:effectLst/>
                          <a:latin typeface="Calibri" panose="020F0502020204030204" pitchFamily="34" charset="0"/>
                        </a:rPr>
                        <a:t>14</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A350</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A899</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Khai thác</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Tốt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Calibri" panose="020F0502020204030204" pitchFamily="34" charset="0"/>
                        </a:rPr>
                        <a:t>Đạt</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Calibri" panose="020F0502020204030204" pitchFamily="34" charset="0"/>
                        </a:rPr>
                        <a:t>1. Eng 1 21048 giảm tần suất soi HPT blade 800FH/100FC</a:t>
                      </a:r>
                      <a:br>
                        <a:rPr lang="en-US" sz="1200" b="0" i="0" u="none" strike="noStrike">
                          <a:solidFill>
                            <a:srgbClr val="000000"/>
                          </a:solidFill>
                          <a:effectLst/>
                          <a:latin typeface="Calibri" panose="020F0502020204030204" pitchFamily="34" charset="0"/>
                        </a:rPr>
                      </a:br>
                      <a:r>
                        <a:rPr lang="en-US" sz="1200" b="0" i="0" u="none" strike="noStrike">
                          <a:solidFill>
                            <a:srgbClr val="000000"/>
                          </a:solidFill>
                          <a:effectLst/>
                          <a:latin typeface="Calibri" panose="020F0502020204030204" pitchFamily="34" charset="0"/>
                        </a:rPr>
                        <a:t>2. ADD B1002 RAISED FOR AIR PACK#1 REGUL DEGRADED</a:t>
                      </a:r>
                    </a:p>
                  </a:txBody>
                  <a:tcPr marL="2539" marR="2539" marT="2539"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59415258"/>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4" name="Google Shape;82;p7">
            <a:extLst>
              <a:ext uri="{FF2B5EF4-FFF2-40B4-BE49-F238E27FC236}">
                <a16:creationId xmlns:a16="http://schemas.microsoft.com/office/drawing/2014/main" id="{E8C503CE-18C5-4A3D-AD46-240DA1F966DC}"/>
              </a:ext>
            </a:extLst>
          </p:cNvPr>
          <p:cNvSpPr txBox="1"/>
          <p:nvPr/>
        </p:nvSpPr>
        <p:spPr>
          <a:xfrm>
            <a:off x="212083" y="107143"/>
            <a:ext cx="8438437"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A350</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5914447B-A879-4C97-AD62-7AFABAF9410A}"/>
              </a:ext>
            </a:extLst>
          </p:cNvPr>
          <p:cNvSpPr/>
          <p:nvPr/>
        </p:nvSpPr>
        <p:spPr>
          <a:xfrm>
            <a:off x="210231" y="535899"/>
            <a:ext cx="11769687"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A3</a:t>
            </a:r>
            <a:r>
              <a:rPr lang="en-US" sz="1600">
                <a:solidFill>
                  <a:prstClr val="black"/>
                </a:solidFill>
                <a:latin typeface="Times New Roman" panose="02020603050405020304" pitchFamily="18" charset="0"/>
                <a:cs typeface="Times New Roman" panose="02020603050405020304" pitchFamily="18" charset="0"/>
              </a:rPr>
              <a:t>50 trong tuần tốt.</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US" sz="1600">
                <a:latin typeface="Times New Roman" panose="02020603050405020304" pitchFamily="18" charset="0"/>
                <a:cs typeface="Times New Roman" panose="02020603050405020304" pitchFamily="18" charset="0"/>
              </a:rPr>
              <a:t>+ NIL.</a:t>
            </a:r>
            <a:endParaRPr lang="en-US"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060506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2D70F59A-F75E-2F2B-E505-E3D07F7E24A1}"/>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AEA3FCE7-A57A-5EAD-1892-C0E7A4FE0C3C}"/>
              </a:ext>
            </a:extLst>
          </p:cNvPr>
          <p:cNvSpPr txBox="1">
            <a:spLocks noGrp="1"/>
          </p:cNvSpPr>
          <p:nvPr>
            <p:ph type="sldNum" idx="12"/>
          </p:nvPr>
        </p:nvSpPr>
        <p:spPr>
          <a:xfrm>
            <a:off x="11484784" y="6310756"/>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34276AA2-D940-E01C-D7BC-0F3A4DE83381}"/>
              </a:ext>
            </a:extLst>
          </p:cNvPr>
          <p:cNvSpPr>
            <a:spLocks noGrp="1"/>
          </p:cNvSpPr>
          <p:nvPr>
            <p:ph type="title"/>
          </p:nvPr>
        </p:nvSpPr>
        <p:spPr>
          <a:xfrm>
            <a:off x="228600" y="93133"/>
            <a:ext cx="9155467" cy="551496"/>
          </a:xfrm>
        </p:spPr>
        <p:txBody>
          <a:bodyPr rtlCol="0">
            <a:noAutofit/>
          </a:bodyPr>
          <a:lstStyle/>
          <a:p>
            <a:pPr>
              <a:defRPr/>
            </a:pPr>
            <a:r>
              <a:rPr lang="en-US" dirty="0">
                <a:ln w="0"/>
                <a:solidFill>
                  <a:schemeClr val="accent4"/>
                </a:solidFill>
                <a:latin typeface="Times New Roman" panose="02020603050405020304" pitchFamily="18" charset="0"/>
                <a:cs typeface="Times New Roman" panose="02020603050405020304" pitchFamily="18" charset="0"/>
              </a:rPr>
              <a:t>TÌNH TRẠNG KỸ THUẬT ĐỘI BAY – </a:t>
            </a:r>
            <a:r>
              <a:rPr lang="vi-VN" dirty="0">
                <a:ln w="0"/>
                <a:solidFill>
                  <a:schemeClr val="accent4"/>
                </a:solidFill>
                <a:latin typeface="Times New Roman" panose="02020603050405020304" pitchFamily="18" charset="0"/>
                <a:cs typeface="Times New Roman" panose="02020603050405020304" pitchFamily="18" charset="0"/>
              </a:rPr>
              <a:t>B787</a:t>
            </a:r>
          </a:p>
        </p:txBody>
      </p:sp>
      <p:sp>
        <p:nvSpPr>
          <p:cNvPr id="8" name="TextBox 7">
            <a:extLst>
              <a:ext uri="{FF2B5EF4-FFF2-40B4-BE49-F238E27FC236}">
                <a16:creationId xmlns:a16="http://schemas.microsoft.com/office/drawing/2014/main" id="{707FA246-4B8B-393F-FE30-333DDD45FBD4}"/>
              </a:ext>
            </a:extLst>
          </p:cNvPr>
          <p:cNvSpPr txBox="1"/>
          <p:nvPr/>
        </p:nvSpPr>
        <p:spPr>
          <a:xfrm>
            <a:off x="152397"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 		Delay: 00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7" name="TextBox 6">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24/02/2025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02/03/2025, Fleet B787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Tree>
    <p:extLst>
      <p:ext uri="{BB962C8B-B14F-4D97-AF65-F5344CB8AC3E}">
        <p14:creationId xmlns:p14="http://schemas.microsoft.com/office/powerpoint/2010/main" val="3186044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23</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175690" y="2906"/>
            <a:ext cx="8474831"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lang="en-US" sz="2933" b="1">
              <a:ln w="0"/>
              <a:solidFill>
                <a:schemeClr val="accent4"/>
              </a:solidFill>
              <a:latin typeface="Times New Roman" panose="02020603050405020304" pitchFamily="18" charset="0"/>
              <a:cs typeface="Times New Roman" panose="02020603050405020304" pitchFamily="18" charset="0"/>
              <a:sym typeface="Montserrat"/>
            </a:endParaRPr>
          </a:p>
        </p:txBody>
      </p:sp>
      <p:graphicFrame>
        <p:nvGraphicFramePr>
          <p:cNvPr id="2" name="Table 1">
            <a:extLst>
              <a:ext uri="{FF2B5EF4-FFF2-40B4-BE49-F238E27FC236}">
                <a16:creationId xmlns:a16="http://schemas.microsoft.com/office/drawing/2014/main" id="{B173667B-694E-611D-D1FF-4E6A815F3293}"/>
              </a:ext>
            </a:extLst>
          </p:cNvPr>
          <p:cNvGraphicFramePr>
            <a:graphicFrameLocks noGrp="1"/>
          </p:cNvGraphicFramePr>
          <p:nvPr/>
        </p:nvGraphicFramePr>
        <p:xfrm>
          <a:off x="250214" y="501464"/>
          <a:ext cx="11644420" cy="6238710"/>
        </p:xfrm>
        <a:graphic>
          <a:graphicData uri="http://schemas.openxmlformats.org/drawingml/2006/table">
            <a:tbl>
              <a:tblPr/>
              <a:tblGrid>
                <a:gridCol w="503113">
                  <a:extLst>
                    <a:ext uri="{9D8B030D-6E8A-4147-A177-3AD203B41FA5}">
                      <a16:colId xmlns:a16="http://schemas.microsoft.com/office/drawing/2014/main" val="77352493"/>
                    </a:ext>
                  </a:extLst>
                </a:gridCol>
                <a:gridCol w="654205">
                  <a:extLst>
                    <a:ext uri="{9D8B030D-6E8A-4147-A177-3AD203B41FA5}">
                      <a16:colId xmlns:a16="http://schemas.microsoft.com/office/drawing/2014/main" val="1179056374"/>
                    </a:ext>
                  </a:extLst>
                </a:gridCol>
                <a:gridCol w="703765">
                  <a:extLst>
                    <a:ext uri="{9D8B030D-6E8A-4147-A177-3AD203B41FA5}">
                      <a16:colId xmlns:a16="http://schemas.microsoft.com/office/drawing/2014/main" val="771751972"/>
                    </a:ext>
                  </a:extLst>
                </a:gridCol>
                <a:gridCol w="1427356">
                  <a:extLst>
                    <a:ext uri="{9D8B030D-6E8A-4147-A177-3AD203B41FA5}">
                      <a16:colId xmlns:a16="http://schemas.microsoft.com/office/drawing/2014/main" val="168278387"/>
                    </a:ext>
                  </a:extLst>
                </a:gridCol>
                <a:gridCol w="1139903">
                  <a:extLst>
                    <a:ext uri="{9D8B030D-6E8A-4147-A177-3AD203B41FA5}">
                      <a16:colId xmlns:a16="http://schemas.microsoft.com/office/drawing/2014/main" val="382524127"/>
                    </a:ext>
                  </a:extLst>
                </a:gridCol>
                <a:gridCol w="1526479">
                  <a:extLst>
                    <a:ext uri="{9D8B030D-6E8A-4147-A177-3AD203B41FA5}">
                      <a16:colId xmlns:a16="http://schemas.microsoft.com/office/drawing/2014/main" val="4170794289"/>
                    </a:ext>
                  </a:extLst>
                </a:gridCol>
                <a:gridCol w="5689599">
                  <a:extLst>
                    <a:ext uri="{9D8B030D-6E8A-4147-A177-3AD203B41FA5}">
                      <a16:colId xmlns:a16="http://schemas.microsoft.com/office/drawing/2014/main" val="2458557603"/>
                    </a:ext>
                  </a:extLst>
                </a:gridCol>
              </a:tblGrid>
              <a:tr h="208347">
                <a:tc>
                  <a:txBody>
                    <a:bodyPr/>
                    <a:lstStyle/>
                    <a:p>
                      <a:pPr algn="ctr" fontAlgn="ctr"/>
                      <a:r>
                        <a:rPr lang="en-US" sz="1300" b="0" i="0" u="none" strike="noStrike">
                          <a:solidFill>
                            <a:srgbClr val="000000"/>
                          </a:solidFill>
                          <a:effectLst/>
                          <a:latin typeface="Calibri" panose="020F0502020204030204" pitchFamily="34" charset="0"/>
                        </a:rPr>
                        <a:t>No</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Fleet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tàu bay</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Tình trạng KT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vi-VN" sz="1300" b="0" i="0" u="none" strike="noStrike">
                          <a:solidFill>
                            <a:srgbClr val="000000"/>
                          </a:solidFill>
                          <a:effectLst/>
                          <a:latin typeface="Calibri" panose="020F0502020204030204" pitchFamily="34" charset="0"/>
                        </a:rPr>
                        <a:t>Điều kiện chuyên cơ</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Ghi chú</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41071947"/>
                  </a:ext>
                </a:extLst>
              </a:tr>
              <a:tr h="208347">
                <a:tc>
                  <a:txBody>
                    <a:bodyPr/>
                    <a:lstStyle/>
                    <a:p>
                      <a:pPr algn="ctr" fontAlgn="ctr"/>
                      <a:r>
                        <a:rPr lang="en-US" sz="1300" b="0" i="0" u="none" strike="noStrike">
                          <a:solidFill>
                            <a:srgbClr val="000000"/>
                          </a:solidFill>
                          <a:effectLst/>
                          <a:latin typeface="Calibri" panose="020F0502020204030204" pitchFamily="34" charset="0"/>
                        </a:rPr>
                        <a:t>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79383050"/>
                  </a:ext>
                </a:extLst>
              </a:tr>
              <a:tr h="208347">
                <a:tc>
                  <a:txBody>
                    <a:bodyPr/>
                    <a:lstStyle/>
                    <a:p>
                      <a:pPr algn="ctr" fontAlgn="ctr"/>
                      <a:r>
                        <a:rPr lang="en-US" sz="1300" b="0" i="0" u="none" strike="noStrike">
                          <a:solidFill>
                            <a:srgbClr val="000000"/>
                          </a:solidFill>
                          <a:effectLst/>
                          <a:latin typeface="Calibri" panose="020F0502020204030204" pitchFamily="34" charset="0"/>
                        </a:rPr>
                        <a:t>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2308636"/>
                  </a:ext>
                </a:extLst>
              </a:tr>
              <a:tr h="494919">
                <a:tc>
                  <a:txBody>
                    <a:bodyPr/>
                    <a:lstStyle/>
                    <a:p>
                      <a:pPr algn="ctr" fontAlgn="ctr"/>
                      <a:r>
                        <a:rPr lang="en-US" sz="1300" b="0" i="0" u="none" strike="noStrike">
                          <a:solidFill>
                            <a:srgbClr val="000000"/>
                          </a:solidFill>
                          <a:effectLst/>
                          <a:latin typeface="Calibri" panose="020F0502020204030204" pitchFamily="34" charset="0"/>
                        </a:rPr>
                        <a:t>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(958170) HPT 1B có hỏng hóc (giảm tần suất 50FC)</a:t>
                      </a:r>
                      <a:br>
                        <a:rPr lang="en-US" sz="1300" b="0" i="0" u="none" strike="noStrike">
                          <a:solidFill>
                            <a:srgbClr val="000000"/>
                          </a:solidFill>
                          <a:effectLst/>
                          <a:latin typeface="Calibri" panose="020F0502020204030204" pitchFamily="34" charset="0"/>
                        </a:rPr>
                      </a:br>
                      <a:r>
                        <a:rPr lang="en-US" sz="1300" b="0" i="0" u="none" strike="noStrike">
                          <a:solidFill>
                            <a:srgbClr val="000000"/>
                          </a:solidFill>
                          <a:effectLst/>
                          <a:latin typeface="Calibri" panose="020F0502020204030204" pitchFamily="34" charset="0"/>
                        </a:rPr>
                        <a:t>B1601 STS TAIL AIRFLOW SYS</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94857055"/>
                  </a:ext>
                </a:extLst>
              </a:tr>
              <a:tr h="329749">
                <a:tc>
                  <a:txBody>
                    <a:bodyPr/>
                    <a:lstStyle/>
                    <a:p>
                      <a:pPr algn="ctr" fontAlgn="ctr"/>
                      <a:r>
                        <a:rPr lang="en-US" sz="1300" b="0" i="0" u="none" strike="noStrike">
                          <a:solidFill>
                            <a:srgbClr val="000000"/>
                          </a:solidFill>
                          <a:effectLst/>
                          <a:latin typeface="Calibri" panose="020F0502020204030204" pitchFamily="34" charset="0"/>
                        </a:rPr>
                        <a:t>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2 (956577) HPT 1B có hỏng hóc (giảm tần suất 50FC)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46826477"/>
                  </a:ext>
                </a:extLst>
              </a:tr>
              <a:tr h="208347">
                <a:tc>
                  <a:txBody>
                    <a:bodyPr/>
                    <a:lstStyle/>
                    <a:p>
                      <a:pPr algn="ctr" fontAlgn="ctr"/>
                      <a:r>
                        <a:rPr lang="en-US" sz="1300" b="0" i="0" u="none" strike="noStrike">
                          <a:solidFill>
                            <a:srgbClr val="000000"/>
                          </a:solidFill>
                          <a:effectLst/>
                          <a:latin typeface="Calibri" panose="020F0502020204030204" pitchFamily="34" charset="0"/>
                        </a:rPr>
                        <a:t>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25035978"/>
                  </a:ext>
                </a:extLst>
              </a:tr>
              <a:tr h="494919">
                <a:tc>
                  <a:txBody>
                    <a:bodyPr/>
                    <a:lstStyle/>
                    <a:p>
                      <a:pPr algn="ctr" fontAlgn="ctr"/>
                      <a:r>
                        <a:rPr lang="en-US" sz="1300" b="0" i="0" u="none" strike="noStrike">
                          <a:solidFill>
                            <a:srgbClr val="000000"/>
                          </a:solidFill>
                          <a:effectLst/>
                          <a:latin typeface="Calibri" panose="020F0502020204030204" pitchFamily="34" charset="0"/>
                        </a:rPr>
                        <a:t>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100 FC HPTS1B missing material theo Departure Recommendation 01643368 Revision 0.0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4832090"/>
                  </a:ext>
                </a:extLst>
              </a:tr>
              <a:tr h="494919">
                <a:tc>
                  <a:txBody>
                    <a:bodyPr/>
                    <a:lstStyle/>
                    <a:p>
                      <a:pPr algn="ctr" fontAlgn="ctr"/>
                      <a:r>
                        <a:rPr lang="en-US" sz="1300" b="0" i="0" u="none" strike="noStrike">
                          <a:solidFill>
                            <a:srgbClr val="000000"/>
                          </a:solidFill>
                          <a:effectLst/>
                          <a:latin typeface="Calibri" panose="020F0502020204030204" pitchFamily="34" charset="0"/>
                        </a:rPr>
                        <a:t>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STG 2 CRACK, giảm tần suất soi 250 FC theo DR Recommendation 01379322 Revision 0.0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81403455"/>
                  </a:ext>
                </a:extLst>
              </a:tr>
              <a:tr h="411547">
                <a:tc>
                  <a:txBody>
                    <a:bodyPr/>
                    <a:lstStyle/>
                    <a:p>
                      <a:pPr algn="ctr" fontAlgn="ctr"/>
                      <a:r>
                        <a:rPr lang="en-US" sz="1300" b="0" i="0" u="none" strike="noStrike">
                          <a:solidFill>
                            <a:srgbClr val="000000"/>
                          </a:solidFill>
                          <a:effectLst/>
                          <a:latin typeface="Calibri" panose="020F0502020204030204" pitchFamily="34" charset="0"/>
                        </a:rPr>
                        <a:t>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300" b="0" i="0" u="none" strike="noStrike">
                          <a:solidFill>
                            <a:srgbClr val="000000"/>
                          </a:solidFill>
                          <a:effectLst/>
                          <a:latin typeface="Calibri" panose="020F0502020204030204" pitchFamily="34" charset="0"/>
                        </a:rPr>
                        <a:t>B1061 RAISED: ENG#1 REPLACE OR RE-INSPECT NOT TO EXCEED 50 CYCLES, REF DR#02104796, EXP: 6074 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28649599"/>
                  </a:ext>
                </a:extLst>
              </a:tr>
              <a:tr h="494919">
                <a:tc>
                  <a:txBody>
                    <a:bodyPr/>
                    <a:lstStyle/>
                    <a:p>
                      <a:pPr algn="ctr" fontAlgn="ctr"/>
                      <a:r>
                        <a:rPr lang="en-US" sz="1300" b="0" i="0" u="none" strike="noStrike">
                          <a:solidFill>
                            <a:srgbClr val="000000"/>
                          </a:solidFill>
                          <a:effectLst/>
                          <a:latin typeface="Calibri" panose="020F0502020204030204" pitchFamily="34" charset="0"/>
                        </a:rPr>
                        <a:t>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A869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giảm tần suất soi 250 FC (HPT S2 blade cracks) và soi giảm tần suất 250 FC (fuel nozzle cup missing materials)</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17557423"/>
                  </a:ext>
                </a:extLst>
              </a:tr>
              <a:tr h="208347">
                <a:tc>
                  <a:txBody>
                    <a:bodyPr/>
                    <a:lstStyle/>
                    <a:p>
                      <a:pPr algn="ctr" fontAlgn="ctr"/>
                      <a:r>
                        <a:rPr lang="en-US" sz="1300" b="0" i="0" u="none" strike="noStrike">
                          <a:solidFill>
                            <a:srgbClr val="000000"/>
                          </a:solidFill>
                          <a:effectLst/>
                          <a:latin typeface="Calibri" panose="020F0502020204030204" pitchFamily="34" charset="0"/>
                        </a:rPr>
                        <a:t>10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Định kỳ</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60867951"/>
                  </a:ext>
                </a:extLst>
              </a:tr>
              <a:tr h="329749">
                <a:tc>
                  <a:txBody>
                    <a:bodyPr/>
                    <a:lstStyle/>
                    <a:p>
                      <a:pPr algn="ctr" fontAlgn="ctr"/>
                      <a:r>
                        <a:rPr lang="en-US" sz="1300" b="0" i="0" u="none" strike="noStrike">
                          <a:solidFill>
                            <a:srgbClr val="000000"/>
                          </a:solidFill>
                          <a:effectLst/>
                          <a:latin typeface="Calibri" panose="020F0502020204030204" pitchFamily="34" charset="0"/>
                        </a:rPr>
                        <a:t>11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A871</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Engine 1 (956913) HPT 1B có hỏng hóc (giảm tần suất 50FC)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1533221"/>
                  </a:ext>
                </a:extLst>
              </a:tr>
              <a:tr h="208347">
                <a:tc>
                  <a:txBody>
                    <a:bodyPr/>
                    <a:lstStyle/>
                    <a:p>
                      <a:pPr algn="ctr" fontAlgn="ctr"/>
                      <a:r>
                        <a:rPr lang="en-US" sz="1300" b="0" i="0" u="none" strike="noStrike">
                          <a:solidFill>
                            <a:srgbClr val="000000"/>
                          </a:solidFill>
                          <a:effectLst/>
                          <a:latin typeface="Calibri" panose="020F0502020204030204" pitchFamily="34" charset="0"/>
                        </a:rPr>
                        <a:t>12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A872</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76517374"/>
                  </a:ext>
                </a:extLst>
              </a:tr>
              <a:tr h="614747">
                <a:tc>
                  <a:txBody>
                    <a:bodyPr/>
                    <a:lstStyle/>
                    <a:p>
                      <a:pPr algn="ctr" fontAlgn="ctr"/>
                      <a:r>
                        <a:rPr lang="en-US" sz="1300" b="0" i="0" u="none" strike="noStrike">
                          <a:solidFill>
                            <a:srgbClr val="000000"/>
                          </a:solidFill>
                          <a:effectLst/>
                          <a:latin typeface="Calibri" panose="020F0502020204030204" pitchFamily="34" charset="0"/>
                        </a:rPr>
                        <a:t>13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A873</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B489 AFT CARGO HANDLING SYS INOP</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Right Air Conditioning Pack is degraded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01939285"/>
                  </a:ext>
                </a:extLst>
              </a:tr>
              <a:tr h="411547">
                <a:tc>
                  <a:txBody>
                    <a:bodyPr/>
                    <a:lstStyle/>
                    <a:p>
                      <a:pPr algn="ctr" fontAlgn="ctr"/>
                      <a:r>
                        <a:rPr lang="en-US" sz="1300" b="0" i="0" u="none" strike="noStrike">
                          <a:solidFill>
                            <a:srgbClr val="000000"/>
                          </a:solidFill>
                          <a:effectLst/>
                          <a:latin typeface="Calibri" panose="020F0502020204030204" pitchFamily="34" charset="0"/>
                        </a:rPr>
                        <a:t>14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A874</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Không</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2 giảm tần suất soi HPT 1nd stage 100 FC</a:t>
                      </a:r>
                      <a:br>
                        <a:rPr lang="vi-VN" sz="1300" b="0" i="0" u="none" strike="noStrike">
                          <a:solidFill>
                            <a:srgbClr val="000000"/>
                          </a:solidFill>
                          <a:effectLst/>
                          <a:latin typeface="Calibri" panose="020F0502020204030204" pitchFamily="34" charset="0"/>
                        </a:rPr>
                      </a:br>
                      <a:r>
                        <a:rPr lang="vi-VN" sz="1300" b="0" i="0" u="none" strike="noStrike">
                          <a:solidFill>
                            <a:srgbClr val="000000"/>
                          </a:solidFill>
                          <a:effectLst/>
                          <a:latin typeface="Calibri" panose="020F0502020204030204" pitchFamily="34" charset="0"/>
                        </a:rPr>
                        <a:t>Right Air Conditioning Pack is degraded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2287013"/>
                  </a:ext>
                </a:extLst>
              </a:tr>
              <a:tr h="208347">
                <a:tc>
                  <a:txBody>
                    <a:bodyPr/>
                    <a:lstStyle/>
                    <a:p>
                      <a:pPr algn="ctr" fontAlgn="ctr"/>
                      <a:r>
                        <a:rPr lang="en-US" sz="1300" b="0" i="0" u="none" strike="noStrike">
                          <a:solidFill>
                            <a:srgbClr val="000000"/>
                          </a:solidFill>
                          <a:effectLst/>
                          <a:latin typeface="Calibri" panose="020F0502020204030204" pitchFamily="34" charset="0"/>
                        </a:rPr>
                        <a:t>15</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263968284"/>
                  </a:ext>
                </a:extLst>
              </a:tr>
              <a:tr h="208347">
                <a:tc>
                  <a:txBody>
                    <a:bodyPr/>
                    <a:lstStyle/>
                    <a:p>
                      <a:pPr algn="ctr" fontAlgn="ctr"/>
                      <a:r>
                        <a:rPr lang="en-US" sz="1300" b="0" i="0" u="none" strike="noStrike">
                          <a:solidFill>
                            <a:srgbClr val="000000"/>
                          </a:solidFill>
                          <a:effectLst/>
                          <a:latin typeface="Calibri" panose="020F0502020204030204" pitchFamily="34" charset="0"/>
                        </a:rPr>
                        <a:t>16</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A878</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300" b="0" i="0" u="none" strike="noStrike">
                          <a:solidFill>
                            <a:srgbClr val="000000"/>
                          </a:solidFill>
                          <a:effectLst/>
                          <a:latin typeface="Calibri" panose="020F0502020204030204" pitchFamily="34" charset="0"/>
                        </a:rPr>
                        <a:t> </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74722807"/>
                  </a:ext>
                </a:extLst>
              </a:tr>
              <a:tr h="494919">
                <a:tc>
                  <a:txBody>
                    <a:bodyPr/>
                    <a:lstStyle/>
                    <a:p>
                      <a:pPr algn="ctr" fontAlgn="ctr"/>
                      <a:r>
                        <a:rPr lang="en-US" sz="1300" b="0" i="0" u="none" strike="noStrike">
                          <a:solidFill>
                            <a:srgbClr val="000000"/>
                          </a:solidFill>
                          <a:effectLst/>
                          <a:latin typeface="Calibri" panose="020F0502020204030204" pitchFamily="34" charset="0"/>
                        </a:rPr>
                        <a:t>17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B787</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A879</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Khai thác</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Tốt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300" b="0" i="0" u="none" strike="noStrike">
                          <a:solidFill>
                            <a:srgbClr val="000000"/>
                          </a:solidFill>
                          <a:effectLst/>
                          <a:latin typeface="Calibri" panose="020F0502020204030204" pitchFamily="34" charset="0"/>
                        </a:rPr>
                        <a:t>Đạt</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300" b="0" i="0" u="none" strike="noStrike">
                          <a:solidFill>
                            <a:srgbClr val="000000"/>
                          </a:solidFill>
                          <a:effectLst/>
                          <a:latin typeface="Calibri" panose="020F0502020204030204" pitchFamily="34" charset="0"/>
                        </a:rPr>
                        <a:t>+ Động cơ số 1 HPT blage stg 1 cracked giảm tần suất soi 250 FC; Động cơ số 2 HPT blage stg 1 cracked giảm tần suất soi 100 FCGE DR 01664320 Revision 0.0</a:t>
                      </a:r>
                    </a:p>
                  </a:txBody>
                  <a:tcPr marL="5147" marR="5147" marT="5147"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29401213"/>
                  </a:ext>
                </a:extLst>
              </a:tr>
            </a:tbl>
          </a:graphicData>
        </a:graphic>
      </p:graphicFrame>
    </p:spTree>
    <p:extLst>
      <p:ext uri="{BB962C8B-B14F-4D97-AF65-F5344CB8AC3E}">
        <p14:creationId xmlns:p14="http://schemas.microsoft.com/office/powerpoint/2010/main" val="41393852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fld id="{00000000-1234-1234-1234-123412341234}" type="slidenum">
              <a:rPr lang="vi"/>
              <a:pPr/>
              <a:t>24</a:t>
            </a:fld>
            <a:endParaRPr/>
          </a:p>
        </p:txBody>
      </p:sp>
      <p:sp>
        <p:nvSpPr>
          <p:cNvPr id="4" name="Google Shape;82;p7">
            <a:extLst>
              <a:ext uri="{FF2B5EF4-FFF2-40B4-BE49-F238E27FC236}">
                <a16:creationId xmlns:a16="http://schemas.microsoft.com/office/drawing/2014/main" id="{E8C503CE-18C5-4A3D-AD46-240DA1F966DC}"/>
              </a:ext>
            </a:extLst>
          </p:cNvPr>
          <p:cNvSpPr txBox="1"/>
          <p:nvPr/>
        </p:nvSpPr>
        <p:spPr>
          <a:xfrm>
            <a:off x="239379" y="207227"/>
            <a:ext cx="8037304" cy="498494"/>
          </a:xfrm>
          <a:prstGeom prst="rect">
            <a:avLst/>
          </a:prstGeom>
          <a:noFill/>
          <a:ln>
            <a:noFill/>
          </a:ln>
        </p:spPr>
        <p:txBody>
          <a:bodyPr spcFirstLastPara="1" wrap="square" lIns="91433" tIns="45700" rIns="91433" bIns="45700" anchor="t" anchorCtr="0">
            <a:spAutoFit/>
          </a:bodyPr>
          <a:lstStyle/>
          <a:p>
            <a:pPr>
              <a:lnSpc>
                <a:spcPct val="90000"/>
              </a:lnSpc>
              <a:buClr>
                <a:srgbClr val="DEA610"/>
              </a:buClr>
              <a:buSzPts val="2100"/>
              <a:defRPr/>
            </a:pPr>
            <a:r>
              <a:rPr lang="en-US" sz="2933" b="1">
                <a:ln w="0"/>
                <a:solidFill>
                  <a:schemeClr val="accent4"/>
                </a:solidFill>
                <a:latin typeface="Times New Roman" panose="02020603050405020304" pitchFamily="18" charset="0"/>
                <a:cs typeface="Times New Roman" panose="02020603050405020304" pitchFamily="18" charset="0"/>
                <a:sym typeface="Montserrat SemiBold"/>
              </a:rPr>
              <a:t>TÌNH TRẠNG KỸ THUẬT ĐỘI BAY – B787</a:t>
            </a:r>
            <a:endParaRPr sz="2933" b="1">
              <a:ln w="0"/>
              <a:solidFill>
                <a:schemeClr val="accent4"/>
              </a:solidFill>
              <a:latin typeface="Times New Roman" panose="02020603050405020304" pitchFamily="18" charset="0"/>
              <a:cs typeface="Times New Roman" panose="02020603050405020304" pitchFamily="18" charset="0"/>
              <a:sym typeface="Montserrat"/>
            </a:endParaRPr>
          </a:p>
        </p:txBody>
      </p:sp>
      <p:sp>
        <p:nvSpPr>
          <p:cNvPr id="7" name="Rectangle 6">
            <a:extLst>
              <a:ext uri="{FF2B5EF4-FFF2-40B4-BE49-F238E27FC236}">
                <a16:creationId xmlns:a16="http://schemas.microsoft.com/office/drawing/2014/main" id="{795CC2F9-72E9-47BD-A040-3231760CEEDB}"/>
              </a:ext>
            </a:extLst>
          </p:cNvPr>
          <p:cNvSpPr/>
          <p:nvPr/>
        </p:nvSpPr>
        <p:spPr>
          <a:xfrm>
            <a:off x="250650" y="594263"/>
            <a:ext cx="11690701" cy="1077218"/>
          </a:xfrm>
          <a:prstGeom prst="rect">
            <a:avLst/>
          </a:prstGeom>
        </p:spPr>
        <p:txBody>
          <a:bodyPr wrap="square">
            <a:spAutoFit/>
          </a:bodyPr>
          <a:lstStyle/>
          <a:p>
            <a:pPr algn="just">
              <a:buClrTx/>
              <a:buFontTx/>
              <a:buNone/>
            </a:pPr>
            <a:r>
              <a:rPr lang="en-US" sz="1600" b="1" err="1">
                <a:solidFill>
                  <a:prstClr val="black"/>
                </a:solidFill>
                <a:latin typeface="Times New Roman" panose="02020603050405020304" pitchFamily="18" charset="0"/>
                <a:cs typeface="Times New Roman" panose="02020603050405020304" pitchFamily="18" charset="0"/>
              </a:rPr>
              <a:t>Nhận</a:t>
            </a:r>
            <a:r>
              <a:rPr lang="en-US" sz="1600" b="1">
                <a:solidFill>
                  <a:prstClr val="black"/>
                </a:solidFill>
                <a:latin typeface="Times New Roman" panose="02020603050405020304" pitchFamily="18" charset="0"/>
                <a:cs typeface="Times New Roman" panose="02020603050405020304" pitchFamily="18" charset="0"/>
              </a:rPr>
              <a:t> </a:t>
            </a:r>
            <a:r>
              <a:rPr lang="en-US" sz="1600" b="1" err="1">
                <a:solidFill>
                  <a:prstClr val="black"/>
                </a:solidFill>
                <a:latin typeface="Times New Roman" panose="02020603050405020304" pitchFamily="18" charset="0"/>
                <a:cs typeface="Times New Roman" panose="02020603050405020304" pitchFamily="18" charset="0"/>
              </a:rPr>
              <a:t>xét</a:t>
            </a:r>
            <a:r>
              <a:rPr lang="en-US" sz="1600" b="1">
                <a:solidFill>
                  <a:prstClr val="black"/>
                </a:solidFill>
                <a:latin typeface="Times New Roman" panose="02020603050405020304" pitchFamily="18" charset="0"/>
                <a:cs typeface="Times New Roman" panose="02020603050405020304" pitchFamily="18" charset="0"/>
              </a:rPr>
              <a:t>: </a:t>
            </a:r>
          </a:p>
          <a:p>
            <a:pPr marL="380990" indent="-380990" algn="just">
              <a:buFontTx/>
              <a:buChar char="-"/>
            </a:pPr>
            <a:r>
              <a:rPr lang="vi-VN" sz="1600">
                <a:solidFill>
                  <a:prstClr val="black"/>
                </a:solidFill>
                <a:latin typeface="Times New Roman" panose="02020603050405020304" pitchFamily="18" charset="0"/>
                <a:cs typeface="Times New Roman" panose="02020603050405020304" pitchFamily="18" charset="0"/>
              </a:rPr>
              <a:t>Tình hình kỹ thuật đội bay </a:t>
            </a:r>
            <a:r>
              <a:rPr lang="en-US" sz="1600">
                <a:solidFill>
                  <a:prstClr val="black"/>
                </a:solidFill>
                <a:latin typeface="Times New Roman" panose="02020603050405020304" pitchFamily="18" charset="0"/>
                <a:cs typeface="Times New Roman" panose="02020603050405020304" pitchFamily="18" charset="0"/>
              </a:rPr>
              <a:t>B787 trong tuần tốt. </a:t>
            </a:r>
          </a:p>
          <a:p>
            <a:pPr marL="380990" indent="-380990" algn="just">
              <a:buFontTx/>
              <a:buChar char="-"/>
            </a:pPr>
            <a:r>
              <a:rPr lang="en-US" sz="1600" err="1">
                <a:solidFill>
                  <a:prstClr val="black"/>
                </a:solidFill>
                <a:latin typeface="Times New Roman" panose="02020603050405020304" pitchFamily="18" charset="0"/>
                <a:cs typeface="Times New Roman" panose="02020603050405020304" pitchFamily="18" charset="0"/>
              </a:rPr>
              <a:t>Hỏng</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hóc</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nổi</a:t>
            </a:r>
            <a:r>
              <a:rPr lang="en-US" sz="1600">
                <a:solidFill>
                  <a:prstClr val="black"/>
                </a:solidFill>
                <a:latin typeface="Times New Roman" panose="02020603050405020304" pitchFamily="18" charset="0"/>
                <a:cs typeface="Times New Roman" panose="02020603050405020304" pitchFamily="18" charset="0"/>
              </a:rPr>
              <a:t> </a:t>
            </a:r>
            <a:r>
              <a:rPr lang="en-US" sz="1600" err="1">
                <a:solidFill>
                  <a:prstClr val="black"/>
                </a:solidFill>
                <a:latin typeface="Times New Roman" panose="02020603050405020304" pitchFamily="18" charset="0"/>
                <a:cs typeface="Times New Roman" panose="02020603050405020304" pitchFamily="18" charset="0"/>
              </a:rPr>
              <a:t>cộm</a:t>
            </a:r>
            <a:r>
              <a:rPr lang="en-US" sz="1600">
                <a:solidFill>
                  <a:prstClr val="black"/>
                </a:solidFill>
                <a:latin typeface="Times New Roman" panose="02020603050405020304" pitchFamily="18" charset="0"/>
                <a:cs typeface="Times New Roman" panose="02020603050405020304" pitchFamily="18" charset="0"/>
              </a:rPr>
              <a:t>: </a:t>
            </a:r>
          </a:p>
          <a:p>
            <a:pPr marL="609585" lvl="1" algn="just"/>
            <a:r>
              <a:rPr lang="en-SG" sz="1600">
                <a:solidFill>
                  <a:prstClr val="black"/>
                </a:solidFill>
                <a:latin typeface="Times New Roman" panose="02020603050405020304" pitchFamily="18" charset="0"/>
                <a:cs typeface="Times New Roman" panose="02020603050405020304" pitchFamily="18" charset="0"/>
              </a:rPr>
              <a:t>+ NIL</a:t>
            </a:r>
            <a:endParaRPr lang="en-SG" sz="16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96986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A476C5B5-892D-948C-6A62-5F0A81B70EE9}"/>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1270B0ED-F204-41B3-2E66-DD5670BD2625}"/>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DA890C71-1523-DF69-F2F4-F1A43D90FFFF}"/>
              </a:ext>
            </a:extLst>
          </p:cNvPr>
          <p:cNvSpPr>
            <a:spLocks noGrp="1"/>
          </p:cNvSpPr>
          <p:nvPr>
            <p:ph type="title"/>
          </p:nvPr>
        </p:nvSpPr>
        <p:spPr>
          <a:xfrm>
            <a:off x="0" y="-1"/>
            <a:ext cx="9677400" cy="666169"/>
          </a:xfrm>
        </p:spPr>
        <p:txBody>
          <a:bodyPr rtlCol="0">
            <a:normAutofit/>
          </a:bodyPr>
          <a:lstStyle/>
          <a:p>
            <a:pPr>
              <a:defRPr/>
            </a:pPr>
            <a:r>
              <a:rPr lang="en-US"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rPr>
              <a:t>TÌNH TRẠNG KỸ THUẬT ĐỘI BAY – ATR72</a:t>
            </a:r>
            <a:endParaRPr lang="vi-VN" dirty="0">
              <a:solidFill>
                <a:srgbClr val="FFC000"/>
              </a:solidFill>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4" name="TextBox 3">
            <a:extLst>
              <a:ext uri="{FF2B5EF4-FFF2-40B4-BE49-F238E27FC236}">
                <a16:creationId xmlns:a16="http://schemas.microsoft.com/office/drawing/2014/main" id="{DA2E25CF-F09B-0F7D-8BE1-4832D15B9FCD}"/>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Tuần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từ</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17/02/2025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23/02/2025, Fleet ATR72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tình</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trạng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tốt</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không</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có</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vụ</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OI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nào</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liên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quan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đến</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kỹ</a:t>
            </a:r>
            <a:r>
              <a:rPr lang="en-US" sz="1600" b="1" dirty="0">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 </a:t>
            </a:r>
            <a:r>
              <a:rPr lang="en-US" sz="1600" b="1" dirty="0" err="1">
                <a:solidFill>
                  <a:schemeClr val="tx1"/>
                </a:solidFill>
                <a:latin typeface="Times New Roman" panose="02020603050405020304" pitchFamily="18" charset="0"/>
                <a:ea typeface="MS PGothic" panose="020B0600070205080204" pitchFamily="34" charset="-128"/>
                <a:cs typeface="Times New Roman" panose="02020603050405020304" pitchFamily="18" charset="0"/>
              </a:rPr>
              <a:t>thuật</a:t>
            </a:r>
            <a:endParaRPr kumimoji="0" lang="en-US" sz="1600" b="1" i="0" u="none" strike="noStrike" kern="1200" cap="none" spc="0" normalizeH="0" baseline="0" noProof="0" dirty="0">
              <a:ln>
                <a:noFill/>
              </a:ln>
              <a:solidFill>
                <a:schemeClr val="tx1"/>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9" name="TextBox 8">
            <a:extLst>
              <a:ext uri="{FF2B5EF4-FFF2-40B4-BE49-F238E27FC236}">
                <a16:creationId xmlns:a16="http://schemas.microsoft.com/office/drawing/2014/main" id="{861D9ECE-5420-4C7C-5994-BC6CB7BCF3FC}"/>
              </a:ext>
            </a:extLst>
          </p:cNvPr>
          <p:cNvSpPr txBox="1"/>
          <p:nvPr/>
        </p:nvSpPr>
        <p:spPr>
          <a:xfrm>
            <a:off x="152399" y="699251"/>
            <a:ext cx="11688715"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noProof="0"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1</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Delay</a:t>
            </a:r>
            <a:r>
              <a:rPr kumimoji="0" lang="en-US" sz="1600" b="1" i="0" u="none" strike="noStrike" kern="1200" cap="none" spc="0" normalizeH="0" baseline="0" noProof="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00 </a:t>
            </a:r>
            <a:r>
              <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	RTO/ATB/GTB/DIV: </a:t>
            </a:r>
            <a:r>
              <a:rPr kumimoji="0" lang="vi-VN"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0</a:t>
            </a:r>
            <a:r>
              <a:rPr lang="en-US" sz="1600" b="1" dirty="0">
                <a:solidFill>
                  <a:prstClr val="black"/>
                </a:solidFill>
                <a:latin typeface="Times New Roman" panose="02020603050405020304" pitchFamily="18" charset="0"/>
                <a:ea typeface="MS PGothic" panose="020B0600070205080204" pitchFamily="34" charset="-128"/>
                <a:cs typeface="Times New Roman" panose="02020603050405020304" pitchFamily="18" charset="0"/>
              </a:rPr>
              <a:t>0</a:t>
            </a:r>
            <a:endParaRPr kumimoji="0" lang="en-US" sz="1600" b="1" i="0" u="none" strike="noStrike" kern="1200" cap="none" spc="0" normalizeH="0" baseline="0" noProof="0" dirty="0">
              <a:ln>
                <a:noFill/>
              </a:ln>
              <a:solidFill>
                <a:prstClr val="black"/>
              </a:solidFill>
              <a:effectLst/>
              <a:uLnTx/>
              <a:uFillTx/>
              <a:latin typeface="Times New Roman" panose="02020603050405020304" pitchFamily="18" charset="0"/>
              <a:ea typeface="MS PGothic" panose="020B0600070205080204" pitchFamily="34" charset="-128"/>
              <a:cs typeface="Times New Roman" panose="02020603050405020304" pitchFamily="18" charset="0"/>
            </a:endParaRPr>
          </a:p>
        </p:txBody>
      </p:sp>
      <p:sp>
        <p:nvSpPr>
          <p:cNvPr id="6" name="TextBox 5">
            <a:extLst>
              <a:ext uri="{FF2B5EF4-FFF2-40B4-BE49-F238E27FC236}">
                <a16:creationId xmlns:a16="http://schemas.microsoft.com/office/drawing/2014/main" id="{95B60134-59D7-B9ED-2806-C1F57EA05F77}"/>
              </a:ext>
            </a:extLst>
          </p:cNvPr>
          <p:cNvSpPr txBox="1"/>
          <p:nvPr/>
        </p:nvSpPr>
        <p:spPr>
          <a:xfrm>
            <a:off x="134290" y="1070887"/>
            <a:ext cx="11688716" cy="338554"/>
          </a:xfrm>
          <a:prstGeom prst="rect">
            <a:avLst/>
          </a:prstGeom>
          <a:ln>
            <a:solidFill>
              <a:schemeClr val="accent1"/>
            </a:solidFill>
          </a:ln>
        </p:spPr>
        <p:style>
          <a:lnRef idx="2">
            <a:schemeClr val="accent1"/>
          </a:lnRef>
          <a:fillRef idx="1">
            <a:schemeClr val="lt1"/>
          </a:fillRef>
          <a:effectRef idx="0">
            <a:schemeClr val="accent1"/>
          </a:effectRef>
          <a:fontRef idx="minor">
            <a:schemeClr val="dk1"/>
          </a:fontRef>
        </p:style>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0000"/>
                </a:solidFill>
                <a:effectLst/>
                <a:uLnTx/>
                <a:uFillTx/>
                <a:latin typeface="Times New Roman" panose="02020603050405020304" pitchFamily="18" charset="0"/>
                <a:ea typeface="MS PGothic" panose="020B0600070205080204" pitchFamily="34" charset="-128"/>
                <a:cs typeface="Times New Roman" panose="02020603050405020304" pitchFamily="18" charset="0"/>
              </a:rPr>
              <a:t>AOG: 01</a:t>
            </a:r>
          </a:p>
        </p:txBody>
      </p:sp>
      <p:graphicFrame>
        <p:nvGraphicFramePr>
          <p:cNvPr id="7" name="Table 6">
            <a:extLst>
              <a:ext uri="{FF2B5EF4-FFF2-40B4-BE49-F238E27FC236}">
                <a16:creationId xmlns:a16="http://schemas.microsoft.com/office/drawing/2014/main" id="{A8AA4BD9-FDEC-2CC2-1A85-C72F397A4621}"/>
              </a:ext>
            </a:extLst>
          </p:cNvPr>
          <p:cNvGraphicFramePr>
            <a:graphicFrameLocks noGrp="1"/>
          </p:cNvGraphicFramePr>
          <p:nvPr/>
        </p:nvGraphicFramePr>
        <p:xfrm>
          <a:off x="170509" y="1553215"/>
          <a:ext cx="11670606" cy="2983320"/>
        </p:xfrm>
        <a:graphic>
          <a:graphicData uri="http://schemas.openxmlformats.org/drawingml/2006/table">
            <a:tbl>
              <a:tblPr/>
              <a:tblGrid>
                <a:gridCol w="364108">
                  <a:extLst>
                    <a:ext uri="{9D8B030D-6E8A-4147-A177-3AD203B41FA5}">
                      <a16:colId xmlns:a16="http://schemas.microsoft.com/office/drawing/2014/main" val="1705838175"/>
                    </a:ext>
                  </a:extLst>
                </a:gridCol>
                <a:gridCol w="364108">
                  <a:extLst>
                    <a:ext uri="{9D8B030D-6E8A-4147-A177-3AD203B41FA5}">
                      <a16:colId xmlns:a16="http://schemas.microsoft.com/office/drawing/2014/main" val="435942644"/>
                    </a:ext>
                  </a:extLst>
                </a:gridCol>
                <a:gridCol w="873334">
                  <a:extLst>
                    <a:ext uri="{9D8B030D-6E8A-4147-A177-3AD203B41FA5}">
                      <a16:colId xmlns:a16="http://schemas.microsoft.com/office/drawing/2014/main" val="276862112"/>
                    </a:ext>
                  </a:extLst>
                </a:gridCol>
                <a:gridCol w="812049">
                  <a:extLst>
                    <a:ext uri="{9D8B030D-6E8A-4147-A177-3AD203B41FA5}">
                      <a16:colId xmlns:a16="http://schemas.microsoft.com/office/drawing/2014/main" val="2191467762"/>
                    </a:ext>
                  </a:extLst>
                </a:gridCol>
                <a:gridCol w="442936">
                  <a:extLst>
                    <a:ext uri="{9D8B030D-6E8A-4147-A177-3AD203B41FA5}">
                      <a16:colId xmlns:a16="http://schemas.microsoft.com/office/drawing/2014/main" val="2342651692"/>
                    </a:ext>
                  </a:extLst>
                </a:gridCol>
                <a:gridCol w="2140857">
                  <a:extLst>
                    <a:ext uri="{9D8B030D-6E8A-4147-A177-3AD203B41FA5}">
                      <a16:colId xmlns:a16="http://schemas.microsoft.com/office/drawing/2014/main" val="3654957790"/>
                    </a:ext>
                  </a:extLst>
                </a:gridCol>
                <a:gridCol w="2680699">
                  <a:extLst>
                    <a:ext uri="{9D8B030D-6E8A-4147-A177-3AD203B41FA5}">
                      <a16:colId xmlns:a16="http://schemas.microsoft.com/office/drawing/2014/main" val="3278939196"/>
                    </a:ext>
                  </a:extLst>
                </a:gridCol>
                <a:gridCol w="381000">
                  <a:extLst>
                    <a:ext uri="{9D8B030D-6E8A-4147-A177-3AD203B41FA5}">
                      <a16:colId xmlns:a16="http://schemas.microsoft.com/office/drawing/2014/main" val="3446310582"/>
                    </a:ext>
                  </a:extLst>
                </a:gridCol>
                <a:gridCol w="3611515">
                  <a:extLst>
                    <a:ext uri="{9D8B030D-6E8A-4147-A177-3AD203B41FA5}">
                      <a16:colId xmlns:a16="http://schemas.microsoft.com/office/drawing/2014/main" val="1400684824"/>
                    </a:ext>
                  </a:extLst>
                </a:gridCol>
              </a:tblGrid>
              <a:tr h="129110">
                <a:tc>
                  <a:txBody>
                    <a:bodyPr/>
                    <a:lstStyle/>
                    <a:p>
                      <a:pPr algn="ctr" fontAlgn="ctr"/>
                      <a:r>
                        <a:rPr lang="en-US" sz="1100" b="0" i="0" u="none" strike="noStrike" dirty="0">
                          <a:solidFill>
                            <a:srgbClr val="000000"/>
                          </a:solidFill>
                          <a:effectLst/>
                          <a:latin typeface="Times New Roman" panose="02020603050405020304" pitchFamily="18" charset="0"/>
                        </a:rPr>
                        <a:t>NO</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dirty="0">
                          <a:solidFill>
                            <a:srgbClr val="000000"/>
                          </a:solidFill>
                          <a:effectLst/>
                          <a:latin typeface="Times New Roman" panose="02020603050405020304" pitchFamily="18" charset="0"/>
                        </a:rPr>
                        <a:t>A/C</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OPEN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CLOSED DATE</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STA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DEFECT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ACTION</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ATA</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ctr" fontAlgn="ctr"/>
                      <a:r>
                        <a:rPr lang="en-US" sz="1100" b="0" i="0" u="none" strike="noStrike">
                          <a:solidFill>
                            <a:srgbClr val="000000"/>
                          </a:solidFill>
                          <a:effectLst/>
                          <a:latin typeface="Times New Roman" panose="02020603050405020304" pitchFamily="18" charset="0"/>
                        </a:rPr>
                        <a:t>Engineering Assessment</a:t>
                      </a:r>
                    </a:p>
                  </a:txBody>
                  <a:tcPr marL="4456" marR="4456" marT="445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extLst>
                  <a:ext uri="{0D108BD9-81ED-4DB2-BD59-A6C34878D82A}">
                    <a16:rowId xmlns:a16="http://schemas.microsoft.com/office/drawing/2014/main" val="394249764"/>
                  </a:ext>
                </a:extLst>
              </a:tr>
              <a:tr h="2643584">
                <a:tc>
                  <a:txBody>
                    <a:bodyPr/>
                    <a:lstStyle/>
                    <a:p>
                      <a:pPr algn="ctr" fontAlgn="b"/>
                      <a:r>
                        <a:rPr lang="en-US" sz="1100" b="0" i="0" u="none" strike="noStrike" dirty="0">
                          <a:solidFill>
                            <a:srgbClr val="000000"/>
                          </a:solidFill>
                          <a:effectLst/>
                          <a:latin typeface="Calibri" panose="020F0502020204030204" pitchFamily="34" charset="0"/>
                        </a:rPr>
                        <a:t>1</a:t>
                      </a:r>
                    </a:p>
                  </a:txBody>
                  <a:tcPr marL="9525" marR="9525" marT="9525"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B219</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26/02/2025 18:00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27/02/2025 12:30</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SGN</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ENG #1 UPPER COWL CRACKED ON LH EDGE DAMAGE OUT OF LIMIT &lt;p&gt;AFTER VN8056 VCS-SGN: TERMINAL CHECK FOUND ENG #1 UPPER COWL CRACKED ON LH EDGE&lt;br /&gt;</a:t>
                      </a:r>
                      <a:br>
                        <a:rPr lang="en-US" sz="1100" b="0" i="0" u="none" strike="noStrike">
                          <a:solidFill>
                            <a:srgbClr val="000000"/>
                          </a:solidFill>
                          <a:effectLst/>
                          <a:latin typeface="Calibri" panose="020F0502020204030204" pitchFamily="34" charset="0"/>
                        </a:rPr>
                      </a:br>
                      <a:r>
                        <a:rPr lang="en-US" sz="1100" b="0" i="0" u="none" strike="noStrike">
                          <a:solidFill>
                            <a:srgbClr val="000000"/>
                          </a:solidFill>
                          <a:effectLst/>
                          <a:latin typeface="Calibri" panose="020F0502020204030204" pitchFamily="34" charset="0"/>
                        </a:rPr>
                        <a:t>DAMAGE OUT OF LIMIT&lt;/p&gt;</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&lt;p&gt;FINAL ACTION: C/O REPAIRED UPPER COWL FAIRING OF ENG#1 SATIS &amp;#160;(I.A.W SRM 54-12-61-300-812-A01; 54-12-61-300-813-A01 REV 118). A/C SERVICEABLE&lt;/p&gt; ENG #1 UPPER COWL CRACKED ON LH EDGE EVENT CLOSED &lt;p&gt;&lt;/p&gt; </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en-US" sz="1100" b="0" i="0" u="none" strike="noStrike">
                          <a:solidFill>
                            <a:srgbClr val="000000"/>
                          </a:solidFill>
                          <a:effectLst/>
                          <a:latin typeface="Calibri" panose="020F0502020204030204" pitchFamily="34" charset="0"/>
                        </a:rPr>
                        <a:t>54-12</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l" fontAlgn="b"/>
                      <a:r>
                        <a:rPr lang="vi-VN" sz="1100" b="0" i="0" u="none" strike="noStrike" dirty="0">
                          <a:solidFill>
                            <a:srgbClr val="000000"/>
                          </a:solidFill>
                          <a:effectLst/>
                          <a:latin typeface="Calibri" panose="020F0502020204030204" pitchFamily="34" charset="0"/>
                        </a:rPr>
                        <a:t>Vị trí crack ở mép ngoài Enginge Cowl, là vị trí có nhiều khả năng bị vibration trong quá trình động cơ hoạt động. Trong lịch sử chưa có tàu nào bị crack ở Engine Cowl, tuy nhiên có B218 và B223 đã từng bị mất ốc ở khu vực Engine Cowl vào năm 2017 và 2020. Ngoài ra, các vấn đề liên quan tới độ tin cậy các tấm engine cowl panel hầu hết chỉ liên quan tới tách lớp. Đánh giá hỏng hóc cấu trúc đơn lẻ nguyên nhân do aging.</a:t>
                      </a:r>
                    </a:p>
                  </a:txBody>
                  <a:tcPr marL="6350" marR="6350" marT="635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67600614"/>
                  </a:ext>
                </a:extLst>
              </a:tr>
            </a:tbl>
          </a:graphicData>
        </a:graphic>
      </p:graphicFrame>
    </p:spTree>
    <p:extLst>
      <p:ext uri="{BB962C8B-B14F-4D97-AF65-F5344CB8AC3E}">
        <p14:creationId xmlns:p14="http://schemas.microsoft.com/office/powerpoint/2010/main" val="37059715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Slide Number Placeholder 3"/>
          <p:cNvSpPr>
            <a:spLocks noGrp="1"/>
          </p:cNvSpPr>
          <p:nvPr>
            <p:ph type="sldNum"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fontAlgn="base">
              <a:lnSpc>
                <a:spcPct val="100000"/>
              </a:lnSpc>
              <a:spcBef>
                <a:spcPct val="0"/>
              </a:spcBef>
              <a:spcAft>
                <a:spcPct val="0"/>
              </a:spcAft>
              <a:buFontTx/>
              <a:buNone/>
            </a:pPr>
            <a:fld id="{C4F79AF3-24C5-47EC-8B09-710ADAA97244}" type="slidenum">
              <a:rPr lang="en-US" altLang="en-US" sz="1200" smtClean="0">
                <a:solidFill>
                  <a:srgbClr val="D2A43B"/>
                </a:solidFill>
                <a:latin typeface="Montserrat"/>
              </a:rPr>
              <a:pPr fontAlgn="base">
                <a:lnSpc>
                  <a:spcPct val="100000"/>
                </a:lnSpc>
                <a:spcBef>
                  <a:spcPct val="0"/>
                </a:spcBef>
                <a:spcAft>
                  <a:spcPct val="0"/>
                </a:spcAft>
                <a:buFontTx/>
                <a:buNone/>
              </a:pPr>
              <a:t>26</a:t>
            </a:fld>
            <a:endParaRPr lang="en-US" altLang="en-US" sz="1200">
              <a:solidFill>
                <a:srgbClr val="D2A43B"/>
              </a:solidFill>
              <a:latin typeface="Montserrat"/>
            </a:endParaRPr>
          </a:p>
        </p:txBody>
      </p:sp>
      <p:sp>
        <p:nvSpPr>
          <p:cNvPr id="1048638" name="Title 4"/>
          <p:cNvSpPr>
            <a:spLocks noGrp="1"/>
          </p:cNvSpPr>
          <p:nvPr>
            <p:ph type="title"/>
          </p:nvPr>
        </p:nvSpPr>
        <p:spPr>
          <a:xfrm>
            <a:off x="152400" y="76200"/>
            <a:ext cx="8915400" cy="815200"/>
          </a:xfrm>
        </p:spPr>
        <p:txBody>
          <a:bodyPr rtlCol="0">
            <a:normAutofit/>
          </a:bodyPr>
          <a:lstStyle/>
          <a:p>
            <a:pPr eaLnBrk="1" fontAlgn="auto" hangingPunct="1">
              <a:spcAft>
                <a:spcPts val="0"/>
              </a:spcAft>
              <a:defRPr/>
            </a:pPr>
            <a:r>
              <a:rPr lang="en-US" sz="2800" dirty="0">
                <a:ln w="0"/>
                <a:solidFill>
                  <a:schemeClr val="accent4"/>
                </a:solidFill>
                <a:latin typeface="Times New Roman" panose="02020603050405020304" pitchFamily="18" charset="0"/>
                <a:cs typeface="Times New Roman" panose="02020603050405020304" pitchFamily="18" charset="0"/>
              </a:rPr>
              <a:t>TÌNH TRẠNG KỸ THUẬT ĐỘI </a:t>
            </a:r>
            <a:r>
              <a:rPr lang="en-US" sz="2800">
                <a:ln w="0"/>
                <a:solidFill>
                  <a:schemeClr val="accent4"/>
                </a:solidFill>
                <a:latin typeface="Times New Roman" panose="02020603050405020304" pitchFamily="18" charset="0"/>
                <a:cs typeface="Times New Roman" panose="02020603050405020304" pitchFamily="18" charset="0"/>
              </a:rPr>
              <a:t>BAY ATR72</a:t>
            </a:r>
            <a:endParaRPr lang="vi-VN" sz="2800" dirty="0">
              <a:ln w="0"/>
              <a:solidFill>
                <a:schemeClr val="accent4"/>
              </a:solidFill>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252C54B9-AD3B-54B9-0F8F-0728352A297E}"/>
              </a:ext>
            </a:extLst>
          </p:cNvPr>
          <p:cNvSpPr txBox="1"/>
          <p:nvPr/>
        </p:nvSpPr>
        <p:spPr>
          <a:xfrm>
            <a:off x="380999" y="762000"/>
            <a:ext cx="10915611" cy="830997"/>
          </a:xfrm>
          <a:prstGeom prst="rect">
            <a:avLst/>
          </a:prstGeom>
          <a:noFill/>
        </p:spPr>
        <p:txBody>
          <a:bodyPr wrap="square">
            <a:spAutoFit/>
          </a:bodyPr>
          <a:lstStyle/>
          <a:p>
            <a:pPr lvl="0" algn="just">
              <a:defRPr/>
            </a:pPr>
            <a:r>
              <a:rPr lang="en-US" sz="1600" b="1" dirty="0" err="1">
                <a:latin typeface="Times New Roman" panose="02020603050405020304" pitchFamily="18" charset="0"/>
                <a:cs typeface="Times New Roman" panose="02020603050405020304" pitchFamily="18" charset="0"/>
              </a:rPr>
              <a:t>Nhận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xét</a:t>
            </a:r>
            <a:r>
              <a:rPr lang="en-US" sz="1600" b="1">
                <a:latin typeface="Times New Roman" panose="02020603050405020304" pitchFamily="18" charset="0"/>
                <a:cs typeface="Times New Roman" panose="02020603050405020304" pitchFamily="18" charset="0"/>
              </a:rPr>
              <a:t>: </a:t>
            </a:r>
            <a:r>
              <a:rPr lang="en-US" sz="1600">
                <a:latin typeface="Times New Roman" panose="02020603050405020304" pitchFamily="18" charset="0"/>
                <a:cs typeface="Times New Roman" panose="02020603050405020304" pitchFamily="18" charset="0"/>
              </a:rPr>
              <a:t>ATR72 trong tuần phát </a:t>
            </a:r>
            <a:r>
              <a:rPr lang="en-US" sz="1600" err="1">
                <a:latin typeface="Times New Roman" panose="02020603050405020304" pitchFamily="18" charset="0"/>
                <a:cs typeface="Times New Roman" panose="02020603050405020304" pitchFamily="18" charset="0"/>
              </a:rPr>
              <a:t>sinh</a:t>
            </a:r>
            <a:r>
              <a:rPr lang="en-US" sz="1600">
                <a:latin typeface="Times New Roman" panose="02020603050405020304" pitchFamily="18" charset="0"/>
                <a:cs typeface="Times New Roman" panose="02020603050405020304" pitchFamily="18" charset="0"/>
              </a:rPr>
              <a:t> 01 </a:t>
            </a:r>
            <a:r>
              <a:rPr lang="en-US" sz="1600" err="1">
                <a:latin typeface="Times New Roman" panose="02020603050405020304" pitchFamily="18" charset="0"/>
                <a:cs typeface="Times New Roman" panose="02020603050405020304" pitchFamily="18" charset="0"/>
              </a:rPr>
              <a:t>trường</a:t>
            </a:r>
            <a:r>
              <a:rPr lang="en-US" sz="1600">
                <a:latin typeface="Times New Roman" panose="02020603050405020304" pitchFamily="18" charset="0"/>
                <a:cs typeface="Times New Roman" panose="02020603050405020304" pitchFamily="18" charset="0"/>
              </a:rPr>
              <a:t> hợp AOG của tàu B219 do phát hiện crack ở mép ngoài Enginge Cowl động cơ số 1, phải thực hiện sửa chữa cấu trúc để khắc phục. M</a:t>
            </a:r>
            <a:r>
              <a:rPr lang="vi-VN" sz="1600">
                <a:cs typeface="Times New Roman" panose="02020603050405020304" pitchFamily="18" charset="0"/>
              </a:rPr>
              <a:t>ép ngoài Enginge Cowl là vị trí có nhiều khả năng bị vibration trong quá trình động cơ hoạt động</a:t>
            </a:r>
            <a:r>
              <a:rPr lang="en-US" sz="1600">
                <a:latin typeface="Times New Roman" panose="02020603050405020304" pitchFamily="18" charset="0"/>
                <a:cs typeface="Times New Roman" panose="02020603050405020304" pitchFamily="18" charset="0"/>
              </a:rPr>
              <a:t>. Đây là </a:t>
            </a:r>
            <a:r>
              <a:rPr lang="vi-VN" sz="1600">
                <a:cs typeface="Times New Roman" panose="02020603050405020304" pitchFamily="18" charset="0"/>
              </a:rPr>
              <a:t>hỏng hóc cấu trúc đơn lẻ</a:t>
            </a:r>
            <a:r>
              <a:rPr lang="en-US" sz="1600">
                <a:cs typeface="Times New Roman" panose="02020603050405020304" pitchFamily="18" charset="0"/>
              </a:rPr>
              <a:t> có thể do</a:t>
            </a:r>
            <a:r>
              <a:rPr lang="vi-VN" sz="1600">
                <a:cs typeface="Times New Roman" panose="02020603050405020304" pitchFamily="18" charset="0"/>
              </a:rPr>
              <a:t> nguyên nhân aging.</a:t>
            </a:r>
            <a:endParaRPr lang="vi-V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587204"/>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0554909D-4576-933D-CD81-4BA601F47856}"/>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B0B05232-48BF-3B43-E8AE-43FA6A3D88AA}"/>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sz="1200" b="0" i="0" u="none" strike="noStrike" kern="1200" cap="none" spc="0" normalizeH="0" baseline="0" noProof="0">
              <a:ln>
                <a:noFill/>
              </a:ln>
              <a:solidFill>
                <a:prstClr val="black">
                  <a:tint val="75000"/>
                </a:prstClr>
              </a:solidFill>
              <a:effectLst/>
              <a:uLnTx/>
              <a:uFillTx/>
              <a:latin typeface="Times New Roman" panose="02020603050405020304" pitchFamily="18" charset="0"/>
              <a:ea typeface="+mn-ea"/>
              <a:cs typeface="Times New Roman" panose="02020603050405020304" pitchFamily="18" charset="0"/>
            </a:endParaRPr>
          </a:p>
        </p:txBody>
      </p:sp>
      <p:sp>
        <p:nvSpPr>
          <p:cNvPr id="2" name="Title 4">
            <a:extLst>
              <a:ext uri="{FF2B5EF4-FFF2-40B4-BE49-F238E27FC236}">
                <a16:creationId xmlns:a16="http://schemas.microsoft.com/office/drawing/2014/main" id="{84D028AA-A55C-EAF0-9D7C-9D32C1075691}"/>
              </a:ext>
            </a:extLst>
          </p:cNvPr>
          <p:cNvSpPr>
            <a:spLocks noGrp="1"/>
          </p:cNvSpPr>
          <p:nvPr>
            <p:ph type="title"/>
          </p:nvPr>
        </p:nvSpPr>
        <p:spPr>
          <a:xfrm>
            <a:off x="304800" y="96660"/>
            <a:ext cx="9155467" cy="551496"/>
          </a:xfrm>
        </p:spPr>
        <p:txBody>
          <a:bodyPr rtlCol="0">
            <a:noAutofit/>
          </a:bodyPr>
          <a:lstStyle/>
          <a:p>
            <a:pPr>
              <a:defRPr/>
            </a:pPr>
            <a:r>
              <a:rPr lang="en-US">
                <a:ln w="0"/>
                <a:solidFill>
                  <a:schemeClr val="accent4"/>
                </a:solidFill>
                <a:latin typeface="Times New Roman" panose="02020603050405020304" pitchFamily="18" charset="0"/>
                <a:cs typeface="Times New Roman" panose="02020603050405020304" pitchFamily="18" charset="0"/>
              </a:rPr>
              <a:t>DISPATCH RELIABILITY W09 </a:t>
            </a:r>
            <a:r>
              <a:rPr lang="vi-VN">
                <a:ln w="0"/>
                <a:solidFill>
                  <a:schemeClr val="accent4"/>
                </a:solidFill>
                <a:latin typeface="Times New Roman" panose="02020603050405020304" pitchFamily="18" charset="0"/>
                <a:cs typeface="Times New Roman" panose="02020603050405020304" pitchFamily="18" charset="0"/>
              </a:rPr>
              <a:t>(</a:t>
            </a:r>
            <a:r>
              <a:rPr lang="en-US">
                <a:ln w="0"/>
                <a:solidFill>
                  <a:schemeClr val="accent4"/>
                </a:solidFill>
                <a:latin typeface="Times New Roman" panose="02020603050405020304" pitchFamily="18" charset="0"/>
                <a:cs typeface="Times New Roman" panose="02020603050405020304" pitchFamily="18" charset="0"/>
              </a:rPr>
              <a:t>24/02/2025-02/03/20</a:t>
            </a:r>
            <a:r>
              <a:rPr lang="vi-VN">
                <a:ln w="0"/>
                <a:solidFill>
                  <a:schemeClr val="accent4"/>
                </a:solidFill>
                <a:latin typeface="Times New Roman" panose="02020603050405020304" pitchFamily="18" charset="0"/>
                <a:cs typeface="Times New Roman" panose="02020603050405020304" pitchFamily="18" charset="0"/>
              </a:rPr>
              <a:t>2</a:t>
            </a:r>
            <a:r>
              <a:rPr lang="en-US">
                <a:ln w="0"/>
                <a:solidFill>
                  <a:schemeClr val="accent4"/>
                </a:solidFill>
                <a:latin typeface="Times New Roman" panose="02020603050405020304" pitchFamily="18" charset="0"/>
                <a:cs typeface="Times New Roman" panose="02020603050405020304" pitchFamily="18" charset="0"/>
              </a:rPr>
              <a:t>5)</a:t>
            </a:r>
            <a:endParaRPr lang="vi-VN" dirty="0">
              <a:ln w="0"/>
              <a:solidFill>
                <a:schemeClr val="accent4"/>
              </a:solidFill>
              <a:latin typeface="Times New Roman" panose="02020603050405020304" pitchFamily="18" charset="0"/>
              <a:cs typeface="Times New Roman" panose="02020603050405020304" pitchFamily="18" charset="0"/>
            </a:endParaRPr>
          </a:p>
        </p:txBody>
      </p:sp>
      <p:sp>
        <p:nvSpPr>
          <p:cNvPr id="8" name="TextBox 7"/>
          <p:cNvSpPr txBox="1"/>
          <p:nvPr/>
        </p:nvSpPr>
        <p:spPr>
          <a:xfrm>
            <a:off x="552666" y="4395787"/>
            <a:ext cx="7073084" cy="169277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Trong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tuần 09/2025 </a:t>
            </a:r>
            <a:r>
              <a:rPr kumimoji="0" lang="en-US" sz="1300" b="0" i="0" u="none" strike="noStrike" kern="1200" cap="none" spc="0" normalizeH="0" baseline="0" noProof="0" dirty="0">
                <a:ln>
                  <a:noFill/>
                </a:ln>
                <a:solidFill>
                  <a:prstClr val="black"/>
                </a:solidFill>
                <a:effectLst/>
                <a:uLnTx/>
                <a:uFillTx/>
                <a:latin typeface="Times New Roman" panose="02020603050405020304" pitchFamily="18" charset="0"/>
                <a:cs typeface="Times New Roman" panose="02020603050405020304" pitchFamily="18" charset="0"/>
              </a:rPr>
              <a:t>chỉ số độ tin cậy cất </a:t>
            </a:r>
            <a:r>
              <a:rPr kumimoji="0" lang="en-US" sz="1300" b="0" i="0" u="none" strike="noStrike" kern="1200" cap="none" spc="0" normalizeH="0" baseline="0" noProof="0">
                <a:ln>
                  <a:noFill/>
                </a:ln>
                <a:solidFill>
                  <a:prstClr val="black"/>
                </a:solidFill>
                <a:effectLst/>
                <a:uLnTx/>
                <a:uFillTx/>
                <a:latin typeface="Times New Roman" panose="02020603050405020304" pitchFamily="18" charset="0"/>
                <a:cs typeface="Times New Roman" panose="02020603050405020304" pitchFamily="18" charset="0"/>
              </a:rPr>
              <a:t>cánh</a:t>
            </a:r>
            <a:r>
              <a:rPr lang="en-US" sz="1300">
                <a:solidFill>
                  <a:prstClr val="black"/>
                </a:solidFill>
                <a:latin typeface="Times New Roman" panose="02020603050405020304" pitchFamily="18" charset="0"/>
                <a:cs typeface="Times New Roman" panose="02020603050405020304" pitchFamily="18" charset="0"/>
              </a:rPr>
              <a:t> đội A350, B787, ATR72  đạt mục tiêu, riêng đội A321 thấp hơn mục tiêu:</a:t>
            </a:r>
            <a:endParaRPr kumimoji="0" lang="en-US" sz="1300" b="0" i="0" u="none" strike="noStrike" kern="1200" cap="none" spc="0" normalizeH="0" baseline="0" noProof="0" dirty="0">
              <a:ln>
                <a:noFill/>
              </a:ln>
              <a:effectLst/>
              <a:uLnTx/>
              <a:uFillTx/>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dirty="0">
                <a:solidFill>
                  <a:prstClr val="black"/>
                </a:solidFill>
                <a:latin typeface="Times New Roman" panose="02020603050405020304" pitchFamily="18" charset="0"/>
                <a:cs typeface="Times New Roman" panose="02020603050405020304" pitchFamily="18" charset="0"/>
              </a:rPr>
              <a:t>A3</a:t>
            </a:r>
            <a:r>
              <a:rPr lang="vi-VN" sz="1300" dirty="0">
                <a:solidFill>
                  <a:prstClr val="black"/>
                </a:solidFill>
                <a:latin typeface="Times New Roman" panose="02020603050405020304" pitchFamily="18" charset="0"/>
                <a:cs typeface="Times New Roman" panose="02020603050405020304" pitchFamily="18" charset="0"/>
              </a:rPr>
              <a:t>21</a:t>
            </a:r>
            <a:r>
              <a:rPr lang="en-US" sz="1300">
                <a:solidFill>
                  <a:prstClr val="black"/>
                </a:solidFill>
                <a:latin typeface="Times New Roman" panose="02020603050405020304" pitchFamily="18" charset="0"/>
                <a:cs typeface="Times New Roman" panose="02020603050405020304" pitchFamily="18" charset="0"/>
              </a:rPr>
              <a:t>: 99,44% thấp hơn 0,19%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do trong tuần có nhiều sự kiện delay (trong đó một số trường hợp chỉ cần thực hiện reset/ test là cảnh báo không còn, một số trường hợp phải GTB liên quan tới hỏng hóc APU Auto Shutdown, Reverser Fault, Wing Leak, Starter Valve).</a:t>
            </a:r>
            <a:endParaRPr lang="vi-VN" sz="1300" dirty="0">
              <a:solidFill>
                <a:prstClr val="black"/>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A350: 100% cao hơn 0,56%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 </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B787: 100% </a:t>
            </a:r>
            <a:r>
              <a:rPr lang="en-US" sz="1300">
                <a:latin typeface="Times New Roman" panose="02020603050405020304" pitchFamily="18" charset="0"/>
                <a:cs typeface="Times New Roman" panose="02020603050405020304" pitchFamily="18" charset="0"/>
              </a:rPr>
              <a:t>cao hơn 0,64% so với mục tiêu.</a:t>
            </a:r>
          </a:p>
          <a:p>
            <a:pPr marL="285750" indent="-285750">
              <a:buFont typeface="Wingdings" panose="05000000000000000000" pitchFamily="2" charset="2"/>
              <a:buChar char="v"/>
              <a:defRPr/>
            </a:pPr>
            <a:r>
              <a:rPr lang="en-US" sz="1300">
                <a:solidFill>
                  <a:prstClr val="black"/>
                </a:solidFill>
                <a:latin typeface="Times New Roman" panose="02020603050405020304" pitchFamily="18" charset="0"/>
                <a:cs typeface="Times New Roman" panose="02020603050405020304" pitchFamily="18" charset="0"/>
              </a:rPr>
              <a:t>ATR72: 100% cao hơn 0,35% </a:t>
            </a:r>
            <a:r>
              <a:rPr lang="en-US" sz="1300" dirty="0">
                <a:solidFill>
                  <a:prstClr val="black"/>
                </a:solidFill>
                <a:latin typeface="Times New Roman" panose="02020603050405020304" pitchFamily="18" charset="0"/>
                <a:cs typeface="Times New Roman" panose="02020603050405020304" pitchFamily="18" charset="0"/>
              </a:rPr>
              <a:t>so với </a:t>
            </a:r>
            <a:r>
              <a:rPr lang="en-US" sz="1300">
                <a:solidFill>
                  <a:prstClr val="black"/>
                </a:solidFill>
                <a:latin typeface="Times New Roman" panose="02020603050405020304" pitchFamily="18" charset="0"/>
                <a:cs typeface="Times New Roman" panose="02020603050405020304" pitchFamily="18" charset="0"/>
              </a:rPr>
              <a:t>mục tiêu.</a:t>
            </a:r>
            <a:endParaRPr lang="en-US" sz="1300" dirty="0">
              <a:solidFill>
                <a:prstClr val="black"/>
              </a:solidFill>
              <a:latin typeface="Times New Roman" panose="02020603050405020304" pitchFamily="18" charset="0"/>
              <a:cs typeface="Times New Roman" panose="02020603050405020304" pitchFamily="18" charset="0"/>
            </a:endParaRPr>
          </a:p>
        </p:txBody>
      </p:sp>
      <p:graphicFrame>
        <p:nvGraphicFramePr>
          <p:cNvPr id="9" name="Table 8">
            <a:extLst>
              <a:ext uri="{FF2B5EF4-FFF2-40B4-BE49-F238E27FC236}">
                <a16:creationId xmlns:a16="http://schemas.microsoft.com/office/drawing/2014/main" id="{29C63447-9F0E-F5EB-F621-78A1848A848E}"/>
              </a:ext>
            </a:extLst>
          </p:cNvPr>
          <p:cNvGraphicFramePr>
            <a:graphicFrameLocks noGrp="1"/>
          </p:cNvGraphicFramePr>
          <p:nvPr/>
        </p:nvGraphicFramePr>
        <p:xfrm>
          <a:off x="7625750" y="4533234"/>
          <a:ext cx="4082595" cy="1272344"/>
        </p:xfrm>
        <a:graphic>
          <a:graphicData uri="http://schemas.openxmlformats.org/drawingml/2006/table">
            <a:tbl>
              <a:tblPr/>
              <a:tblGrid>
                <a:gridCol w="1255255">
                  <a:extLst>
                    <a:ext uri="{9D8B030D-6E8A-4147-A177-3AD203B41FA5}">
                      <a16:colId xmlns:a16="http://schemas.microsoft.com/office/drawing/2014/main" val="2169649306"/>
                    </a:ext>
                  </a:extLst>
                </a:gridCol>
                <a:gridCol w="1496650">
                  <a:extLst>
                    <a:ext uri="{9D8B030D-6E8A-4147-A177-3AD203B41FA5}">
                      <a16:colId xmlns:a16="http://schemas.microsoft.com/office/drawing/2014/main" val="3397981216"/>
                    </a:ext>
                  </a:extLst>
                </a:gridCol>
                <a:gridCol w="1330690">
                  <a:extLst>
                    <a:ext uri="{9D8B030D-6E8A-4147-A177-3AD203B41FA5}">
                      <a16:colId xmlns:a16="http://schemas.microsoft.com/office/drawing/2014/main" val="4123869646"/>
                    </a:ext>
                  </a:extLst>
                </a:gridCol>
              </a:tblGrid>
              <a:tr h="502724">
                <a:tc>
                  <a:txBody>
                    <a:bodyPr/>
                    <a:lstStyle/>
                    <a:p>
                      <a:pPr algn="ctr" fontAlgn="ctr"/>
                      <a:r>
                        <a:rPr lang="en-US" sz="1400" b="1" i="0" u="none" strike="noStrike" dirty="0" err="1">
                          <a:solidFill>
                            <a:srgbClr val="00B050"/>
                          </a:solidFill>
                          <a:effectLst/>
                          <a:latin typeface="Times New Roman" panose="02020603050405020304" pitchFamily="18" charset="0"/>
                        </a:rPr>
                        <a:t>Loại</a:t>
                      </a:r>
                      <a:r>
                        <a:rPr lang="en-US" sz="1400" b="1" i="0" u="none" strike="noStrike" dirty="0">
                          <a:solidFill>
                            <a:srgbClr val="00B050"/>
                          </a:solidFill>
                          <a:effectLst/>
                          <a:latin typeface="Times New Roman" panose="02020603050405020304" pitchFamily="18" charset="0"/>
                        </a:rPr>
                        <a:t> </a:t>
                      </a:r>
                      <a:r>
                        <a:rPr lang="en-US" sz="1400" b="1" i="0" u="none" strike="noStrike" dirty="0" err="1">
                          <a:solidFill>
                            <a:srgbClr val="00B050"/>
                          </a:solidFill>
                          <a:effectLst/>
                          <a:latin typeface="Times New Roman" panose="02020603050405020304" pitchFamily="18" charset="0"/>
                        </a:rPr>
                        <a:t>máy</a:t>
                      </a:r>
                      <a:r>
                        <a:rPr lang="en-US" sz="1400" b="1" i="0" u="none" strike="noStrike" dirty="0">
                          <a:solidFill>
                            <a:srgbClr val="00B050"/>
                          </a:solidFill>
                          <a:effectLst/>
                          <a:latin typeface="Times New Roman" panose="02020603050405020304" pitchFamily="18" charset="0"/>
                        </a:rPr>
                        <a:t> bay</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Số chuyến chậm, </a:t>
                      </a:r>
                      <a:br>
                        <a:rPr lang="en-US" sz="1400" b="1" i="0" u="none" strike="noStrike">
                          <a:solidFill>
                            <a:srgbClr val="00B050"/>
                          </a:solidFill>
                          <a:effectLst/>
                          <a:latin typeface="Times New Roman" panose="02020603050405020304" pitchFamily="18" charset="0"/>
                        </a:rPr>
                      </a:br>
                      <a:r>
                        <a:rPr lang="en-US" sz="1400" b="1" i="0" u="none" strike="noStrike">
                          <a:solidFill>
                            <a:srgbClr val="00B050"/>
                          </a:solidFill>
                          <a:effectLst/>
                          <a:latin typeface="Times New Roman" panose="02020603050405020304" pitchFamily="18" charset="0"/>
                        </a:rPr>
                        <a:t>hủy chuyến KT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400" b="1" i="0" u="none" strike="noStrike">
                          <a:solidFill>
                            <a:srgbClr val="00B050"/>
                          </a:solidFill>
                          <a:effectLst/>
                          <a:latin typeface="Times New Roman" panose="02020603050405020304" pitchFamily="18" charset="0"/>
                        </a:rPr>
                        <a:t>FC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38093152"/>
                  </a:ext>
                </a:extLst>
              </a:tr>
              <a:tr h="164465">
                <a:tc>
                  <a:txBody>
                    <a:bodyPr/>
                    <a:lstStyle/>
                    <a:p>
                      <a:pPr algn="l" fontAlgn="ctr"/>
                      <a:r>
                        <a:rPr lang="en-US" sz="1200" b="1" i="0" u="none" strike="noStrike">
                          <a:solidFill>
                            <a:srgbClr val="00B050"/>
                          </a:solidFill>
                          <a:effectLst/>
                          <a:latin typeface="Times New Roman" panose="02020603050405020304" pitchFamily="18" charset="0"/>
                        </a:rPr>
                        <a:t>A321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11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1981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3406977045"/>
                  </a:ext>
                </a:extLst>
              </a:tr>
              <a:tr h="164465">
                <a:tc>
                  <a:txBody>
                    <a:bodyPr/>
                    <a:lstStyle/>
                    <a:p>
                      <a:pPr algn="l" fontAlgn="ctr"/>
                      <a:r>
                        <a:rPr lang="en-US" sz="1200" b="1" i="0" u="none" strike="noStrike" dirty="0">
                          <a:solidFill>
                            <a:srgbClr val="00B05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155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050568924"/>
                  </a:ext>
                </a:extLst>
              </a:tr>
              <a:tr h="164465">
                <a:tc>
                  <a:txBody>
                    <a:bodyPr/>
                    <a:lstStyle/>
                    <a:p>
                      <a:pPr algn="l" fontAlgn="ctr"/>
                      <a:r>
                        <a:rPr lang="en-US" sz="1200" b="1" i="0" u="none" strike="noStrike">
                          <a:solidFill>
                            <a:srgbClr val="00B05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343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1529025990"/>
                  </a:ext>
                </a:extLst>
              </a:tr>
              <a:tr h="162092">
                <a:tc>
                  <a:txBody>
                    <a:bodyPr/>
                    <a:lstStyle/>
                    <a:p>
                      <a:pPr algn="l" fontAlgn="ctr"/>
                      <a:r>
                        <a:rPr lang="en-US" sz="1200" b="1" i="0" u="none" strike="noStrike">
                          <a:solidFill>
                            <a:srgbClr val="00B05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ctr"/>
                      <a:r>
                        <a:rPr lang="en-US" sz="1200" b="1" i="0" u="none" strike="noStrike">
                          <a:solidFill>
                            <a:srgbClr val="00B050"/>
                          </a:solidFill>
                          <a:effectLst/>
                          <a:latin typeface="Times New Roman" panose="02020603050405020304" pitchFamily="18" charset="0"/>
                        </a:rPr>
                        <a:t>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tc>
                  <a:txBody>
                    <a:bodyPr/>
                    <a:lstStyle/>
                    <a:p>
                      <a:pPr algn="ctr" fontAlgn="ctr"/>
                      <a:r>
                        <a:rPr lang="en-US" sz="1200" b="1" i="0" u="none" strike="noStrike">
                          <a:solidFill>
                            <a:srgbClr val="00B050"/>
                          </a:solidFill>
                          <a:effectLst/>
                          <a:latin typeface="Times New Roman" panose="02020603050405020304" pitchFamily="18" charset="0"/>
                        </a:rPr>
                        <a:t>268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00"/>
                    </a:solidFill>
                  </a:tcPr>
                </a:tc>
                <a:extLst>
                  <a:ext uri="{0D108BD9-81ED-4DB2-BD59-A6C34878D82A}">
                    <a16:rowId xmlns:a16="http://schemas.microsoft.com/office/drawing/2014/main" val="804591176"/>
                  </a:ext>
                </a:extLst>
              </a:tr>
            </a:tbl>
          </a:graphicData>
        </a:graphic>
      </p:graphicFrame>
      <p:graphicFrame>
        <p:nvGraphicFramePr>
          <p:cNvPr id="7" name="Chart 6"/>
          <p:cNvGraphicFramePr>
            <a:graphicFrameLocks/>
          </p:cNvGraphicFramePr>
          <p:nvPr/>
        </p:nvGraphicFramePr>
        <p:xfrm>
          <a:off x="552666" y="1008114"/>
          <a:ext cx="11155680" cy="321945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9875557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8A703919-6F68-E03E-C351-6C2E9AA38FC8}"/>
            </a:ext>
          </a:extLst>
        </p:cNvPr>
        <p:cNvGrpSpPr/>
        <p:nvPr/>
      </p:nvGrpSpPr>
      <p:grpSpPr>
        <a:xfrm>
          <a:off x="0" y="0"/>
          <a:ext cx="0" cy="0"/>
          <a:chOff x="0" y="0"/>
          <a:chExt cx="0" cy="0"/>
        </a:xfrm>
      </p:grpSpPr>
      <p:sp>
        <p:nvSpPr>
          <p:cNvPr id="51" name="Google Shape;51;p4">
            <a:extLst>
              <a:ext uri="{FF2B5EF4-FFF2-40B4-BE49-F238E27FC236}">
                <a16:creationId xmlns:a16="http://schemas.microsoft.com/office/drawing/2014/main" id="{D3BDD906-E274-BF70-EEC3-D02C721B4F9E}"/>
              </a:ext>
            </a:extLst>
          </p:cNvPr>
          <p:cNvSpPr txBox="1">
            <a:spLocks noGrp="1"/>
          </p:cNvSpPr>
          <p:nvPr>
            <p:ph type="sldNum" idx="12"/>
          </p:nvPr>
        </p:nvSpPr>
        <p:spPr>
          <a:xfrm>
            <a:off x="11256184" y="6217623"/>
            <a:ext cx="584931" cy="402165"/>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fontScale="92500" lnSpcReduction="10000"/>
          </a:bodyPr>
          <a:lstStyle/>
          <a:p>
            <a:fld id="{00000000-1234-1234-1234-123412341234}" type="slidenum">
              <a:rPr lang="vi">
                <a:latin typeface="Times New Roman" panose="02020603050405020304" pitchFamily="18" charset="0"/>
                <a:cs typeface="Times New Roman" panose="02020603050405020304" pitchFamily="18" charset="0"/>
              </a:rPr>
              <a:pPr/>
              <a:t>28</a:t>
            </a:fld>
            <a:endParaRPr>
              <a:latin typeface="Times New Roman" panose="02020603050405020304" pitchFamily="18" charset="0"/>
              <a:cs typeface="Times New Roman" panose="02020603050405020304" pitchFamily="18" charset="0"/>
            </a:endParaRPr>
          </a:p>
        </p:txBody>
      </p:sp>
      <p:sp>
        <p:nvSpPr>
          <p:cNvPr id="8" name="Title 2">
            <a:extLst>
              <a:ext uri="{FF2B5EF4-FFF2-40B4-BE49-F238E27FC236}">
                <a16:creationId xmlns:a16="http://schemas.microsoft.com/office/drawing/2014/main" id="{A54B3B80-6D5D-62F3-88B2-C803136634FB}"/>
              </a:ext>
            </a:extLst>
          </p:cNvPr>
          <p:cNvSpPr>
            <a:spLocks noGrp="1"/>
          </p:cNvSpPr>
          <p:nvPr>
            <p:ph type="title"/>
          </p:nvPr>
        </p:nvSpPr>
        <p:spPr>
          <a:xfrm>
            <a:off x="0" y="0"/>
            <a:ext cx="9312664" cy="508000"/>
          </a:xfrm>
        </p:spPr>
        <p:txBody>
          <a:bodyPr>
            <a:normAutofit fontScale="90000"/>
          </a:bodyPr>
          <a:lstStyle/>
          <a:p>
            <a:pPr eaLnBrk="1" hangingPunct="1"/>
            <a:r>
              <a:rPr lang="en-US" altLang="en-US" sz="3200" dirty="0">
                <a:solidFill>
                  <a:srgbClr val="FFC000"/>
                </a:solidFill>
                <a:latin typeface="Times New Roman" panose="02020603050405020304" pitchFamily="18" charset="0"/>
                <a:cs typeface="Times New Roman" panose="02020603050405020304" pitchFamily="18" charset="0"/>
              </a:rPr>
              <a:t>CÁC CÔNG VIỆC </a:t>
            </a:r>
            <a:r>
              <a:rPr lang="en-US" altLang="en-US" sz="3600" dirty="0">
                <a:solidFill>
                  <a:srgbClr val="FFC000"/>
                </a:solidFill>
                <a:latin typeface="Times New Roman" panose="02020603050405020304" pitchFamily="18" charset="0"/>
                <a:cs typeface="Times New Roman" panose="02020603050405020304" pitchFamily="18" charset="0"/>
              </a:rPr>
              <a:t>TRỌNG</a:t>
            </a:r>
            <a:r>
              <a:rPr lang="en-US" altLang="en-US" sz="3200" dirty="0">
                <a:solidFill>
                  <a:srgbClr val="FFC000"/>
                </a:solidFill>
                <a:latin typeface="Times New Roman" panose="02020603050405020304" pitchFamily="18" charset="0"/>
                <a:cs typeface="Times New Roman" panose="02020603050405020304" pitchFamily="18" charset="0"/>
              </a:rPr>
              <a:t> ĐIỂM TRONG TUẦN</a:t>
            </a:r>
          </a:p>
        </p:txBody>
      </p:sp>
      <p:graphicFrame>
        <p:nvGraphicFramePr>
          <p:cNvPr id="9" name="Content Placeholder 4">
            <a:extLst>
              <a:ext uri="{FF2B5EF4-FFF2-40B4-BE49-F238E27FC236}">
                <a16:creationId xmlns:a16="http://schemas.microsoft.com/office/drawing/2014/main" id="{B51B125A-92E0-55D4-355A-A287D3D9C84E}"/>
              </a:ext>
            </a:extLst>
          </p:cNvPr>
          <p:cNvGraphicFramePr>
            <a:graphicFrameLocks/>
          </p:cNvGraphicFramePr>
          <p:nvPr/>
        </p:nvGraphicFramePr>
        <p:xfrm>
          <a:off x="156783" y="508000"/>
          <a:ext cx="11878434" cy="6246849"/>
        </p:xfrm>
        <a:graphic>
          <a:graphicData uri="http://schemas.openxmlformats.org/drawingml/2006/table">
            <a:tbl>
              <a:tblPr>
                <a:tableStyleId>{5C22544A-7EE6-4342-B048-85BDC9FD1C3A}</a:tableStyleId>
              </a:tblPr>
              <a:tblGrid>
                <a:gridCol w="422727">
                  <a:extLst>
                    <a:ext uri="{9D8B030D-6E8A-4147-A177-3AD203B41FA5}">
                      <a16:colId xmlns:a16="http://schemas.microsoft.com/office/drawing/2014/main" val="2758273930"/>
                    </a:ext>
                  </a:extLst>
                </a:gridCol>
                <a:gridCol w="1182943">
                  <a:extLst>
                    <a:ext uri="{9D8B030D-6E8A-4147-A177-3AD203B41FA5}">
                      <a16:colId xmlns:a16="http://schemas.microsoft.com/office/drawing/2014/main" val="221963637"/>
                    </a:ext>
                  </a:extLst>
                </a:gridCol>
                <a:gridCol w="8899599">
                  <a:extLst>
                    <a:ext uri="{9D8B030D-6E8A-4147-A177-3AD203B41FA5}">
                      <a16:colId xmlns:a16="http://schemas.microsoft.com/office/drawing/2014/main" val="426833219"/>
                    </a:ext>
                  </a:extLst>
                </a:gridCol>
                <a:gridCol w="1373165">
                  <a:extLst>
                    <a:ext uri="{9D8B030D-6E8A-4147-A177-3AD203B41FA5}">
                      <a16:colId xmlns:a16="http://schemas.microsoft.com/office/drawing/2014/main" val="3649942957"/>
                    </a:ext>
                  </a:extLst>
                </a:gridCol>
              </a:tblGrid>
              <a:tr h="542151">
                <a:tc>
                  <a:txBody>
                    <a:bodyPr/>
                    <a:lstStyle/>
                    <a:p>
                      <a:pPr algn="ctr" fontAlgn="b"/>
                      <a:r>
                        <a:rPr lang="en-US" sz="1500" b="1" u="none" strike="noStrike" dirty="0">
                          <a:solidFill>
                            <a:schemeClr val="tx1"/>
                          </a:solidFill>
                          <a:effectLst/>
                          <a:latin typeface="Times New Roman" panose="02020603050405020304" pitchFamily="18" charset="0"/>
                          <a:cs typeface="Times New Roman" panose="02020603050405020304" pitchFamily="18" charset="0"/>
                        </a:rPr>
                        <a:t>STT</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Nội</a:t>
                      </a:r>
                      <a:r>
                        <a:rPr lang="en-US" sz="1500" b="1" u="none" strike="noStrike" dirty="0">
                          <a:solidFill>
                            <a:schemeClr val="tx1"/>
                          </a:solidFill>
                          <a:effectLst/>
                          <a:latin typeface="Times New Roman" panose="02020603050405020304" pitchFamily="18" charset="0"/>
                          <a:cs typeface="Times New Roman" panose="02020603050405020304" pitchFamily="18" charset="0"/>
                        </a:rPr>
                        <a:t> dung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việc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u="none" strike="noStrike" dirty="0" err="1">
                          <a:solidFill>
                            <a:schemeClr val="tx1"/>
                          </a:solidFill>
                          <a:effectLst/>
                          <a:latin typeface="Times New Roman" panose="02020603050405020304" pitchFamily="18" charset="0"/>
                          <a:cs typeface="Times New Roman" panose="02020603050405020304" pitchFamily="18" charset="0"/>
                        </a:rPr>
                        <a:t>Cập</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nhật</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tiến</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độ</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và</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vướng</a:t>
                      </a:r>
                      <a:r>
                        <a:rPr lang="en-US" sz="1500" b="1"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u="none" strike="noStrike" dirty="0" err="1">
                          <a:solidFill>
                            <a:schemeClr val="tx1"/>
                          </a:solidFill>
                          <a:effectLst/>
                          <a:latin typeface="Times New Roman" panose="02020603050405020304" pitchFamily="18" charset="0"/>
                          <a:cs typeface="Times New Roman" panose="02020603050405020304" pitchFamily="18" charset="0"/>
                        </a:rPr>
                        <a:t>mắc</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tc>
                  <a:txBody>
                    <a:bodyPr/>
                    <a:lstStyle/>
                    <a:p>
                      <a:pPr algn="ctr" fontAlgn="b"/>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Công</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việc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thực</a:t>
                      </a:r>
                      <a:r>
                        <a:rPr lang="en-US" sz="1500" b="1" i="0" u="none" strike="noStrike" dirty="0">
                          <a:solidFill>
                            <a:schemeClr val="tx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tx1"/>
                          </a:solidFill>
                          <a:effectLst/>
                          <a:latin typeface="Times New Roman" panose="02020603050405020304" pitchFamily="18" charset="0"/>
                          <a:cs typeface="Times New Roman" panose="02020603050405020304" pitchFamily="18" charset="0"/>
                        </a:rPr>
                        <a:t>hiện</a:t>
                      </a:r>
                      <a:endParaRPr lang="en-US" sz="1500" b="1" i="0" u="none" strike="noStrike" dirty="0">
                        <a:solidFill>
                          <a:schemeClr val="tx1"/>
                        </a:solidFill>
                        <a:effectLst/>
                        <a:latin typeface="Times New Roman" panose="02020603050405020304" pitchFamily="18" charset="0"/>
                        <a:cs typeface="Times New Roman" panose="02020603050405020304" pitchFamily="18" charset="0"/>
                      </a:endParaRPr>
                    </a:p>
                  </a:txBody>
                  <a:tcPr marL="6351" marR="6351" marT="6347"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000"/>
                    </a:solidFill>
                  </a:tcPr>
                </a:tc>
                <a:extLst>
                  <a:ext uri="{0D108BD9-81ED-4DB2-BD59-A6C34878D82A}">
                    <a16:rowId xmlns:a16="http://schemas.microsoft.com/office/drawing/2014/main" val="2423454521"/>
                  </a:ext>
                </a:extLst>
              </a:tr>
              <a:tr h="176231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1</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chương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trình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A321 CEO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NEO</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06/04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11k$/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9k$/</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75tr,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kèm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một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điều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SSA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13.5k/10k,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90M.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SSA 2022.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quả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23/10: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chỉ</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gửi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đủ</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16 engine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Shop)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a cam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số</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l</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SV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2025. SSA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vẫn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giữ</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nguyên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mức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07/11: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xác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T12 </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tổng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17 slot.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29/12: 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SSA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 PW &amp;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hành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đến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vị</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quan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err="1">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26/2, đại diện PW đã sang làm việc với PW và có thông báo dự kiến 2025 VNA chỉ có 14 – 16 slot sửa chữa động c</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GTF. Ban KT sẽ draft th</a:t>
                      </a:r>
                      <a:r>
                        <a:rPr lang="vi-VN"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u="none" strike="noStrike" kern="1200" baseline="0">
                          <a:solidFill>
                            <a:srgbClr val="FF0000"/>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cấp cao để lãnh đạo VNA gửi PW tiếp tục yêu cầu hỗ trợ về các vấn đề slot sửa chữa và hỗ trợ. </a:t>
                      </a:r>
                      <a:endPar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PW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yêu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cầu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tăng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mức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a:t>
                      </a: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vi-VN" sz="1300" b="0" i="0" u="none" strike="noStrike" dirty="0">
                        <a:solidFill>
                          <a:schemeClr val="tx1"/>
                        </a:solidFill>
                        <a:effectLst/>
                        <a:latin typeface="Times New Roman" panose="02020603050405020304" pitchFamily="18" charset="0"/>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25972957"/>
                  </a:ext>
                </a:extLst>
              </a:tr>
              <a:tr h="1870197">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2</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Genx-1B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tàu</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B787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Nội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dung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GE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KLM</a:t>
                      </a: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tuần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28 (02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đco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956556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T11/2023 induct 12/07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956533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T01/2024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induct T9/2024)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báo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xếp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được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total 05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năm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2024.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còn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ESN 956695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đang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KLM.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a:t>
                      </a:r>
                      <a:endPar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HĐ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Group 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ký</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Hiện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vấn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rất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chế</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thay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02 ĐC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đáp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ứng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gói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cơ</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sắp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cung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Letter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tàu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787-10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T7/2024.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Airshow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23/07/2025.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26/11: EVP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họp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cập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nhật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tình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trạng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bay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GE Leadership</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Ngày 11/02</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 </a:t>
                      </a:r>
                      <a:r>
                        <a:rPr lang="en-US"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Đ</a:t>
                      </a:r>
                      <a:r>
                        <a:rPr lang="vi-VN" sz="1300" u="none" strike="noStrike" kern="1200" baseline="0" dirty="0">
                          <a:solidFill>
                            <a:schemeClr val="tx1"/>
                          </a:solidFill>
                          <a:effectLst/>
                          <a:latin typeface="+mn-lt"/>
                          <a:ea typeface="+mn-ea"/>
                          <a:cs typeface="Times New Roman" panose="02020603050405020304" pitchFamily="18" charset="0"/>
                          <a:sym typeface="Wingdings" panose="05000000000000000000" pitchFamily="2" charset="2"/>
                        </a:rPr>
                        <a:t>ã họp telecon giữa VNA và GE dưới sự chị đạo của EVP về tình trạng động cơ GEnx hiện tại</a:t>
                      </a:r>
                      <a:endPar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25107005"/>
                  </a:ext>
                </a:extLst>
              </a:tr>
              <a:tr h="1846952">
                <a:tc>
                  <a:txBody>
                    <a:bodyPr/>
                    <a:lstStyle/>
                    <a:p>
                      <a:pPr algn="ctr" fontAlgn="b"/>
                      <a:r>
                        <a:rPr lang="en-US" sz="1300" b="0" i="0" u="none" strike="noStrike" dirty="0">
                          <a:solidFill>
                            <a:schemeClr val="tx1"/>
                          </a:solidFill>
                          <a:effectLst/>
                          <a:latin typeface="Times New Roman" panose="02020603050405020304" pitchFamily="18" charset="0"/>
                          <a:cs typeface="Times New Roman" panose="02020603050405020304" pitchFamily="18" charset="0"/>
                        </a:rPr>
                        <a:t>3</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ctr" latinLnBrk="0" hangingPunct="1">
                        <a:lnSpc>
                          <a:spcPct val="100000"/>
                        </a:lnSpc>
                        <a:spcBef>
                          <a:spcPts val="0"/>
                        </a:spcBef>
                        <a:spcAft>
                          <a:spcPts val="0"/>
                        </a:spcAft>
                        <a:buClr>
                          <a:srgbClr val="000000"/>
                        </a:buClr>
                        <a:buSzTx/>
                        <a:buFont typeface="Arial"/>
                        <a:buNone/>
                        <a:tabLst/>
                        <a:defRPr/>
                      </a:pPr>
                      <a:r>
                        <a:rPr lang="fr-FR" sz="1300" kern="1200" dirty="0">
                          <a:solidFill>
                            <a:schemeClr val="tx1"/>
                          </a:solidFill>
                          <a:effectLst/>
                          <a:latin typeface="Times New Roman" panose="02020603050405020304" pitchFamily="18" charset="0"/>
                          <a:ea typeface="+mn-ea"/>
                          <a:cs typeface="Times New Roman" panose="02020603050405020304" pitchFamily="18" charset="0"/>
                        </a:rPr>
                        <a:t>KT/QLVT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làm</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việc</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về</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Removal Plan / ĐCDP / TAT /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Tình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trạng</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KT…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để</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báo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cáo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Lãnh</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a:t>
                      </a:r>
                      <a:r>
                        <a:rPr lang="fr-FR" sz="1300" kern="1200" dirty="0" err="1">
                          <a:solidFill>
                            <a:schemeClr val="tx1"/>
                          </a:solidFill>
                          <a:effectLst/>
                          <a:latin typeface="Times New Roman" panose="02020603050405020304" pitchFamily="18" charset="0"/>
                          <a:ea typeface="+mn-ea"/>
                          <a:cs typeface="Times New Roman" panose="02020603050405020304" pitchFamily="18" charset="0"/>
                        </a:rPr>
                        <a:t>đạo</a:t>
                      </a:r>
                      <a:r>
                        <a:rPr lang="fr-FR" sz="1300" kern="1200" dirty="0">
                          <a:solidFill>
                            <a:schemeClr val="tx1"/>
                          </a:solidFill>
                          <a:effectLst/>
                          <a:latin typeface="Times New Roman" panose="02020603050405020304" pitchFamily="18" charset="0"/>
                          <a:ea typeface="+mn-ea"/>
                          <a:cs typeface="Times New Roman" panose="02020603050405020304" pitchFamily="18" charset="0"/>
                        </a:rPr>
                        <a:t> TCT.</a:t>
                      </a: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p>
                      <a:pPr algn="l" fontAlgn="ctr"/>
                      <a:endPar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Từ</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3 –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tháng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7, VP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sang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VNA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kế</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hoạch</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nguồn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lực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động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c</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ơ</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A350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a:t>
                      </a:r>
                      <a:r>
                        <a:rPr lang="vi-VN"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đề</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xuất</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trong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TAT,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thời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gian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chờ</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SV...). Ban KT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phối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hợp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QLVT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làm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việc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với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RR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để</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đòi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hỗ</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trợ</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cũng</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như</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triển</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khai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các</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giải</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pháp</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t>
                      </a:r>
                      <a:r>
                        <a:rPr lang="en-US" sz="1300" b="0" i="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giảm</a:t>
                      </a:r>
                      <a:r>
                        <a:rPr lang="en-US" sz="1300" b="0" i="0" u="none" strike="noStrike" kern="1200" baseline="0" dirty="0">
                          <a:solidFill>
                            <a:schemeClr val="tx1"/>
                          </a:solidFill>
                          <a:effectLst/>
                          <a:latin typeface="Times New Roman" panose="02020603050405020304" pitchFamily="18" charset="0"/>
                          <a:ea typeface="+mn-ea"/>
                          <a:cs typeface="Times New Roman" panose="02020603050405020304" pitchFamily="18" charset="0"/>
                          <a:sym typeface="Wingdings" panose="05000000000000000000" pitchFamily="2" charset="2"/>
                        </a:rPr>
                        <a:t> AOG.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phối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hợp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QLVT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tính</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toán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draft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cấp</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cao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nhằm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PW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theo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HĐ TCA.</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Trong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buổi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tại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MRO Asia, Ban KT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bổ</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sung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có</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slot QT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vào</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cuối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T10 –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đầu</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T11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thêm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 AOG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trong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giai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đoạn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Tết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17/12 SVP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CEO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VNA,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tuy</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nhiên</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đạt</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đ</a:t>
                      </a:r>
                      <a:r>
                        <a:rPr lang="vi-VN"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ư</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ợc</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cụ</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chemeClr val="tx1"/>
                          </a:solidFill>
                          <a:effectLst/>
                          <a:latin typeface="Times New Roman" panose="02020603050405020304" pitchFamily="18" charset="0"/>
                          <a:ea typeface="+mn-ea"/>
                          <a:cs typeface="Times New Roman" panose="02020603050405020304" pitchFamily="18" charset="0"/>
                        </a:rPr>
                        <a:t>thể</a:t>
                      </a:r>
                      <a:r>
                        <a:rPr lang="en-US" sz="1300" u="none" strike="noStrike" kern="1200" baseline="0" dirty="0">
                          <a:solidFill>
                            <a:schemeClr val="tx1"/>
                          </a:solidFill>
                          <a:effectLst/>
                          <a:latin typeface="Times New Roman" panose="02020603050405020304" pitchFamily="18" charset="0"/>
                          <a:ea typeface="+mn-ea"/>
                          <a:cs typeface="Times New Roman" panose="02020603050405020304" pitchFamily="18" charset="0"/>
                        </a:rPr>
                        <a:t>. </a:t>
                      </a:r>
                    </a:p>
                    <a:p>
                      <a:pPr marL="285750" marR="0" lvl="0" indent="-285750" algn="l" defTabSz="914400" rtl="0" eaLnBrk="1" fontAlgn="b" latinLnBrk="0" hangingPunct="1">
                        <a:lnSpc>
                          <a:spcPct val="100000"/>
                        </a:lnSpc>
                        <a:spcBef>
                          <a:spcPts val="0"/>
                        </a:spcBef>
                        <a:spcAft>
                          <a:spcPts val="0"/>
                        </a:spcAft>
                        <a:buClrTx/>
                        <a:buSzTx/>
                        <a:buFontTx/>
                        <a:buChar char="-"/>
                        <a:tabLst/>
                        <a:defRPr/>
                      </a:pP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Ngày</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04/03 VP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của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RR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sang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làm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việc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với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VNA. Ban KT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sẽ</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chuẩn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bị</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các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nội</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dung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đàm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phán</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bao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gồm</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tiếp</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tục</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yêu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cầu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hỗ</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trợ</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dừng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tàu</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và</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tăng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slot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sửa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chữa</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r>
                        <a:rPr lang="en-US" sz="1300" u="none" strike="noStrike" kern="1200" baseline="0" dirty="0" err="1">
                          <a:solidFill>
                            <a:srgbClr val="FF0000"/>
                          </a:solidFill>
                          <a:effectLst/>
                          <a:latin typeface="Times New Roman" panose="02020603050405020304" pitchFamily="18" charset="0"/>
                          <a:ea typeface="+mn-ea"/>
                          <a:cs typeface="Times New Roman" panose="02020603050405020304" pitchFamily="18" charset="0"/>
                        </a:rPr>
                        <a:t>động</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c</a:t>
                      </a:r>
                      <a:r>
                        <a:rPr lang="vi-VN"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ơ</a:t>
                      </a:r>
                      <a:r>
                        <a:rPr lang="en-US" sz="1300" u="none" strike="noStrike" kern="1200" baseline="0" dirty="0">
                          <a:solidFill>
                            <a:srgbClr val="FF0000"/>
                          </a:solidFill>
                          <a:effectLst/>
                          <a:latin typeface="Times New Roman" panose="02020603050405020304" pitchFamily="18" charset="0"/>
                          <a:ea typeface="+mn-ea"/>
                          <a:cs typeface="Times New Roman" panose="02020603050405020304" pitchFamily="18" charset="0"/>
                        </a:rPr>
                        <a:t>. </a:t>
                      </a: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Tiếp</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tục</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yêu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cầu</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RR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hỗ</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trợ</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slot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chữa</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động</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c</a:t>
                      </a:r>
                      <a:r>
                        <a:rPr lang="vi-VN" sz="1300" kern="1200" dirty="0">
                          <a:solidFill>
                            <a:schemeClr val="tx1"/>
                          </a:solidFill>
                          <a:effectLst/>
                          <a:latin typeface="Times New Roman" panose="02020603050405020304" pitchFamily="18" charset="0"/>
                          <a:ea typeface="+mn-ea"/>
                          <a:cs typeface="Times New Roman" panose="02020603050405020304" pitchFamily="18" charset="0"/>
                        </a:rPr>
                        <a:t>ơ</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a:t>
                      </a:r>
                      <a:r>
                        <a:rPr lang="en-US" sz="1300" kern="1200" dirty="0" err="1">
                          <a:solidFill>
                            <a:schemeClr val="tx1"/>
                          </a:solidFill>
                          <a:effectLst/>
                          <a:latin typeface="Times New Roman" panose="02020603050405020304" pitchFamily="18" charset="0"/>
                          <a:ea typeface="+mn-ea"/>
                          <a:cs typeface="Times New Roman" panose="02020603050405020304" pitchFamily="18" charset="0"/>
                        </a:rPr>
                        <a:t>giảm</a:t>
                      </a:r>
                      <a:r>
                        <a:rPr lang="en-US" sz="1300" kern="1200" dirty="0">
                          <a:solidFill>
                            <a:schemeClr val="tx1"/>
                          </a:solidFill>
                          <a:effectLst/>
                          <a:latin typeface="Times New Roman" panose="02020603050405020304" pitchFamily="18" charset="0"/>
                          <a:ea typeface="+mn-ea"/>
                          <a:cs typeface="Times New Roman" panose="02020603050405020304" pitchFamily="18" charset="0"/>
                        </a:rPr>
                        <a:t> TAT.</a:t>
                      </a:r>
                    </a:p>
                    <a:p>
                      <a:pPr marL="0" marR="0" lvl="0" indent="0" algn="l" defTabSz="914400" rtl="0" eaLnBrk="1" fontAlgn="b" latinLnBrk="0" hangingPunct="1">
                        <a:lnSpc>
                          <a:spcPct val="100000"/>
                        </a:lnSpc>
                        <a:spcBef>
                          <a:spcPts val="0"/>
                        </a:spcBef>
                        <a:spcAft>
                          <a:spcPts val="0"/>
                        </a:spcAft>
                        <a:buClrTx/>
                        <a:buSzTx/>
                        <a:buFontTx/>
                        <a:buNone/>
                        <a:tabLst/>
                        <a:defRPr/>
                      </a:pPr>
                      <a:endParaRPr lang="en-US" sz="1300" kern="1200" dirty="0">
                        <a:solidFill>
                          <a:schemeClr val="tx1"/>
                        </a:solidFill>
                        <a:effectLst/>
                        <a:latin typeface="Times New Roman" panose="02020603050405020304" pitchFamily="18" charset="0"/>
                        <a:ea typeface="+mn-ea"/>
                        <a:cs typeface="Times New Roman" panose="02020603050405020304" pitchFamily="18" charset="0"/>
                      </a:endParaRPr>
                    </a:p>
                  </a:txBody>
                  <a:tcPr marL="6352" marR="6352" marT="6349"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99920082"/>
                  </a:ext>
                </a:extLst>
              </a:tr>
            </a:tbl>
          </a:graphicData>
        </a:graphic>
      </p:graphicFrame>
    </p:spTree>
    <p:extLst>
      <p:ext uri="{BB962C8B-B14F-4D97-AF65-F5344CB8AC3E}">
        <p14:creationId xmlns:p14="http://schemas.microsoft.com/office/powerpoint/2010/main" val="20054283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FCDADE51-C6B9-5C4B-8E7E-2C9068925992}"/>
            </a:ext>
          </a:extLst>
        </p:cNvPr>
        <p:cNvGrpSpPr/>
        <p:nvPr/>
      </p:nvGrpSpPr>
      <p:grpSpPr>
        <a:xfrm>
          <a:off x="0" y="0"/>
          <a:ext cx="0" cy="0"/>
          <a:chOff x="0" y="0"/>
          <a:chExt cx="0" cy="0"/>
        </a:xfrm>
      </p:grpSpPr>
      <p:sp>
        <p:nvSpPr>
          <p:cNvPr id="2" name="Title 2">
            <a:extLst>
              <a:ext uri="{FF2B5EF4-FFF2-40B4-BE49-F238E27FC236}">
                <a16:creationId xmlns:a16="http://schemas.microsoft.com/office/drawing/2014/main" id="{247D3536-C804-0133-4A2E-A846C5CD8D46}"/>
              </a:ext>
            </a:extLst>
          </p:cNvPr>
          <p:cNvSpPr>
            <a:spLocks noGrp="1"/>
          </p:cNvSpPr>
          <p:nvPr>
            <p:ph type="title"/>
          </p:nvPr>
        </p:nvSpPr>
        <p:spPr>
          <a:xfrm>
            <a:off x="771524" y="2977615"/>
            <a:ext cx="10648952" cy="627834"/>
          </a:xfrm>
          <a:noFill/>
        </p:spPr>
        <p:txBody>
          <a:bodyPr wrap="square" rtlCol="0">
            <a:spAutoFit/>
          </a:bodyPr>
          <a:lstStyle/>
          <a:p>
            <a:pPr algn="ctr"/>
            <a:r>
              <a:rPr lang="vi-VN" sz="3200" dirty="0">
                <a:ln w="0"/>
                <a:solidFill>
                  <a:srgbClr val="0070C0"/>
                </a:solidFill>
                <a:latin typeface="Times New Roman" panose="02020603050405020304" pitchFamily="18" charset="0"/>
                <a:ea typeface="+mn-ea"/>
                <a:cs typeface="Times New Roman" panose="02020603050405020304" pitchFamily="18" charset="0"/>
              </a:rPr>
              <a:t>KHẢ NĂNG CUNG ỨNG ĐỘNG CƠ</a:t>
            </a:r>
            <a:r>
              <a:rPr lang="en-US" sz="3200" dirty="0">
                <a:ln w="0"/>
                <a:solidFill>
                  <a:srgbClr val="0070C0"/>
                </a:solidFill>
                <a:latin typeface="Times New Roman" panose="02020603050405020304" pitchFamily="18" charset="0"/>
                <a:ea typeface="+mn-ea"/>
                <a:cs typeface="Times New Roman" panose="02020603050405020304" pitchFamily="18" charset="0"/>
              </a:rPr>
              <a:t>/APU</a:t>
            </a:r>
          </a:p>
        </p:txBody>
      </p:sp>
    </p:spTree>
    <p:extLst>
      <p:ext uri="{BB962C8B-B14F-4D97-AF65-F5344CB8AC3E}">
        <p14:creationId xmlns:p14="http://schemas.microsoft.com/office/powerpoint/2010/main" val="1214372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22A72-54FF-8086-CABE-943B9F79B5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4848883-0D37-D0EE-F00E-CA550378B73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523" y="134658"/>
            <a:ext cx="537821" cy="505652"/>
          </a:xfrm>
          <a:prstGeom prst="rect">
            <a:avLst/>
          </a:prstGeom>
        </p:spPr>
      </p:pic>
      <p:sp>
        <p:nvSpPr>
          <p:cNvPr id="7" name="Title 1">
            <a:extLst>
              <a:ext uri="{FF2B5EF4-FFF2-40B4-BE49-F238E27FC236}">
                <a16:creationId xmlns:a16="http://schemas.microsoft.com/office/drawing/2014/main" id="{209F39F1-CDB6-3B62-4B32-ACAA9A730526}"/>
              </a:ext>
            </a:extLst>
          </p:cNvPr>
          <p:cNvSpPr txBox="1">
            <a:spLocks/>
          </p:cNvSpPr>
          <p:nvPr/>
        </p:nvSpPr>
        <p:spPr>
          <a:xfrm>
            <a:off x="844871" y="203761"/>
            <a:ext cx="9132732" cy="458687"/>
          </a:xfrm>
          <a:prstGeom prst="rect">
            <a:avLst/>
          </a:prstGeom>
        </p:spPr>
        <p:txBody>
          <a:bodyPr vert="horz" lIns="91440" tIns="45720" rIns="91440" bIns="45720" rtlCol="0" anchor="ctr">
            <a:noAutofit/>
          </a:bodyPr>
          <a:lstStyle>
            <a:defPPr>
              <a:defRPr lang="en-US"/>
            </a:defPPr>
            <a:lvl1pPr>
              <a:lnSpc>
                <a:spcPct val="90000"/>
              </a:lnSpc>
              <a:spcBef>
                <a:spcPct val="0"/>
              </a:spcBef>
              <a:buNone/>
              <a:defRPr sz="2800" b="1">
                <a:solidFill>
                  <a:srgbClr val="D2A43B"/>
                </a:solidFill>
                <a:latin typeface="Times New Roman" panose="02020603050405020304" pitchFamily="18" charset="0"/>
                <a:ea typeface="Tahoma" pitchFamily="34" charset="0"/>
                <a:cs typeface="Times New Roman" panose="02020603050405020304" pitchFamily="18" charset="0"/>
              </a:defRPr>
            </a:lvl1pPr>
          </a:lstStyle>
          <a:p>
            <a:pPr defTabSz="914377">
              <a:defRPr/>
            </a:pPr>
            <a:r>
              <a:rPr lang="en-US" dirty="0"/>
              <a:t>NHU CẦU ĐỘNG CƠ DỰ </a:t>
            </a:r>
            <a:r>
              <a:rPr lang="en-US"/>
              <a:t>PHÒNG Q1-Q2/2025</a:t>
            </a:r>
            <a:endParaRPr lang="vi-VN" dirty="0"/>
          </a:p>
        </p:txBody>
      </p:sp>
      <p:grpSp>
        <p:nvGrpSpPr>
          <p:cNvPr id="8" name="Group 7">
            <a:extLst>
              <a:ext uri="{FF2B5EF4-FFF2-40B4-BE49-F238E27FC236}">
                <a16:creationId xmlns:a16="http://schemas.microsoft.com/office/drawing/2014/main" id="{9743D403-841B-4C88-9A8E-7F9B02422512}"/>
              </a:ext>
            </a:extLst>
          </p:cNvPr>
          <p:cNvGrpSpPr/>
          <p:nvPr/>
        </p:nvGrpSpPr>
        <p:grpSpPr>
          <a:xfrm>
            <a:off x="932601" y="288236"/>
            <a:ext cx="10799027" cy="678753"/>
            <a:chOff x="1363421" y="323070"/>
            <a:chExt cx="10799027" cy="678753"/>
          </a:xfrm>
        </p:grpSpPr>
        <p:cxnSp>
          <p:nvCxnSpPr>
            <p:cNvPr id="9" name="Straight Connector 8">
              <a:extLst>
                <a:ext uri="{FF2B5EF4-FFF2-40B4-BE49-F238E27FC236}">
                  <a16:creationId xmlns:a16="http://schemas.microsoft.com/office/drawing/2014/main" id="{02D9B4C5-DC85-8A40-532D-EB022CFB7B1B}"/>
                </a:ext>
              </a:extLst>
            </p:cNvPr>
            <p:cNvCxnSpPr/>
            <p:nvPr/>
          </p:nvCxnSpPr>
          <p:spPr>
            <a:xfrm>
              <a:off x="1363421" y="662446"/>
              <a:ext cx="10519568"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C0941FC1-E581-6BDB-582E-7D9D8FDE8A7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1709946" y="323070"/>
              <a:ext cx="452502" cy="678753"/>
            </a:xfrm>
            <a:prstGeom prst="rect">
              <a:avLst/>
            </a:prstGeom>
          </p:spPr>
        </p:pic>
      </p:grpSp>
      <p:graphicFrame>
        <p:nvGraphicFramePr>
          <p:cNvPr id="19" name="Chart 18">
            <a:extLst>
              <a:ext uri="{FF2B5EF4-FFF2-40B4-BE49-F238E27FC236}">
                <a16:creationId xmlns:a16="http://schemas.microsoft.com/office/drawing/2014/main" id="{211010DD-A36B-7A4B-2FF6-01A604A6123F}"/>
              </a:ext>
            </a:extLst>
          </p:cNvPr>
          <p:cNvGraphicFramePr>
            <a:graphicFrameLocks/>
          </p:cNvGraphicFramePr>
          <p:nvPr/>
        </p:nvGraphicFramePr>
        <p:xfrm>
          <a:off x="495300" y="801732"/>
          <a:ext cx="11236328" cy="4607249"/>
        </p:xfrm>
        <a:graphic>
          <a:graphicData uri="http://schemas.openxmlformats.org/drawingml/2006/chart">
            <c:chart xmlns:c="http://schemas.openxmlformats.org/drawingml/2006/chart" xmlns:r="http://schemas.openxmlformats.org/officeDocument/2006/relationships" r:id="rId5"/>
          </a:graphicData>
        </a:graphic>
      </p:graphicFrame>
      <p:sp>
        <p:nvSpPr>
          <p:cNvPr id="20" name="TextBox 19">
            <a:extLst>
              <a:ext uri="{FF2B5EF4-FFF2-40B4-BE49-F238E27FC236}">
                <a16:creationId xmlns:a16="http://schemas.microsoft.com/office/drawing/2014/main" id="{4DD2277F-2B8A-7B9C-24AD-6310EB414239}"/>
              </a:ext>
            </a:extLst>
          </p:cNvPr>
          <p:cNvSpPr txBox="1"/>
          <p:nvPr/>
        </p:nvSpPr>
        <p:spPr>
          <a:xfrm>
            <a:off x="477836" y="5458746"/>
            <a:ext cx="11236328" cy="1323054"/>
          </a:xfrm>
          <a:prstGeom prst="rect">
            <a:avLst/>
          </a:prstGeom>
          <a:noFill/>
          <a:ln>
            <a:solidFill>
              <a:schemeClr val="accent1"/>
            </a:solidFill>
          </a:ln>
        </p:spPr>
        <p:txBody>
          <a:bodyPr wrap="square" rtlCol="0">
            <a:spAutoFit/>
          </a:bodyPr>
          <a:lstStyle/>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*A321CEO: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kiến</a:t>
            </a:r>
            <a:r>
              <a:rPr lang="en-US" sz="1333" dirty="0">
                <a:solidFill>
                  <a:prstClr val="black"/>
                </a:solidFill>
                <a:latin typeface="Times New Roman" panose="02020603050405020304" pitchFamily="18" charset="0"/>
                <a:cs typeface="Times New Roman" panose="02020603050405020304" pitchFamily="18" charset="0"/>
              </a:rPr>
              <a:t> Q3-Q4/2025 </a:t>
            </a:r>
            <a:r>
              <a:rPr lang="en-US" sz="1333" dirty="0" err="1">
                <a:solidFill>
                  <a:prstClr val="black"/>
                </a:solidFill>
                <a:latin typeface="Times New Roman" panose="02020603050405020304" pitchFamily="18" charset="0"/>
                <a:cs typeface="Times New Roman" panose="02020603050405020304" pitchFamily="18" charset="0"/>
              </a:rPr>
              <a:t>trả</a:t>
            </a:r>
            <a:r>
              <a:rPr lang="en-US" sz="1333" dirty="0">
                <a:solidFill>
                  <a:prstClr val="black"/>
                </a:solidFill>
                <a:latin typeface="Times New Roman" panose="02020603050405020304" pitchFamily="18" charset="0"/>
                <a:cs typeface="Times New Roman" panose="02020603050405020304" pitchFamily="18" charset="0"/>
              </a:rPr>
              <a:t> 3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duy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trì</a:t>
            </a:r>
            <a:r>
              <a:rPr lang="en-US" sz="1333" dirty="0">
                <a:solidFill>
                  <a:prstClr val="black"/>
                </a:solidFill>
                <a:latin typeface="Times New Roman" panose="02020603050405020304" pitchFamily="18" charset="0"/>
                <a:cs typeface="Times New Roman" panose="02020603050405020304" pitchFamily="18" charset="0"/>
              </a:rPr>
              <a:t> 9-10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phòng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trong</a:t>
            </a:r>
            <a:r>
              <a:rPr lang="en-US" sz="1333" dirty="0">
                <a:solidFill>
                  <a:prstClr val="black"/>
                </a:solidFill>
                <a:latin typeface="Times New Roman" panose="02020603050405020304" pitchFamily="18" charset="0"/>
                <a:cs typeface="Times New Roman" panose="02020603050405020304" pitchFamily="18" charset="0"/>
              </a:rPr>
              <a:t> 2026.</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*A321NEO</a:t>
            </a:r>
            <a:r>
              <a:rPr lang="en-US" sz="1333" dirty="0">
                <a:solidFill>
                  <a:prstClr val="black"/>
                </a:solidFill>
                <a:latin typeface="Times New Roman" panose="02020603050405020304" pitchFamily="18" charset="0"/>
                <a:cs typeface="Times New Roman" panose="02020603050405020304" pitchFamily="18" charset="0"/>
              </a:rPr>
              <a:t>: </a:t>
            </a:r>
            <a:r>
              <a:rPr lang="vi-VN" sz="1333" dirty="0">
                <a:solidFill>
                  <a:prstClr val="black"/>
                </a:solidFill>
                <a:latin typeface="Times New Roman" panose="02020603050405020304" pitchFamily="18" charset="0"/>
                <a:cs typeface="Times New Roman" panose="02020603050405020304" pitchFamily="18" charset="0"/>
              </a:rPr>
              <a:t>Rủi ro động cơ đi shop về muộn (thực tế đã bị shop delay nhiều lần) và rủi ro tháo động cơ </a:t>
            </a:r>
            <a:r>
              <a:rPr lang="vi-VN" sz="1333" dirty="0">
                <a:latin typeface="Times New Roman" panose="02020603050405020304" pitchFamily="18" charset="0"/>
                <a:cs typeface="Times New Roman" panose="02020603050405020304" pitchFamily="18" charset="0"/>
              </a:rPr>
              <a:t>ngoài KH do Vibration, Oil Leak…08 động cơ đang sửa chữa bị delay nhiều lần từ đầu tháng 12, với tổng ~ 366 days, tương ứng ~ 183 AOG days.</a:t>
            </a:r>
            <a:endParaRPr lang="en-US" sz="1333" dirty="0">
              <a:highlight>
                <a:srgbClr val="FFFF00"/>
              </a:highlight>
              <a:latin typeface="Times New Roman" panose="02020603050405020304" pitchFamily="18" charset="0"/>
              <a:cs typeface="Times New Roman" panose="02020603050405020304" pitchFamily="18" charset="0"/>
            </a:endParaRP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*B787: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dựa</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trên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kế</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hoạch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nhận</a:t>
            </a:r>
            <a:r>
              <a:rPr lang="en-US" sz="1333" dirty="0">
                <a:solidFill>
                  <a:prstClr val="black"/>
                </a:solidFill>
                <a:latin typeface="Times New Roman" panose="02020603050405020304" pitchFamily="18" charset="0"/>
                <a:cs typeface="Times New Roman" panose="02020603050405020304" pitchFamily="18" charset="0"/>
              </a:rPr>
              <a:t> 02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thuê</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vào</a:t>
            </a:r>
            <a:r>
              <a:rPr lang="en-US" sz="1333" dirty="0">
                <a:solidFill>
                  <a:prstClr val="black"/>
                </a:solidFill>
                <a:latin typeface="Times New Roman" panose="02020603050405020304" pitchFamily="18" charset="0"/>
                <a:cs typeface="Times New Roman" panose="02020603050405020304" pitchFamily="18" charset="0"/>
              </a:rPr>
              <a:t> T9 </a:t>
            </a:r>
            <a:r>
              <a:rPr lang="en-US" sz="1333" dirty="0" err="1">
                <a:solidFill>
                  <a:prstClr val="black"/>
                </a:solidFill>
                <a:latin typeface="Times New Roman" panose="02020603050405020304" pitchFamily="18" charset="0"/>
                <a:cs typeface="Times New Roman" panose="02020603050405020304" pitchFamily="18" charset="0"/>
              </a:rPr>
              <a:t>và</a:t>
            </a:r>
            <a:r>
              <a:rPr lang="en-US" sz="1333" dirty="0">
                <a:solidFill>
                  <a:prstClr val="black"/>
                </a:solidFill>
                <a:latin typeface="Times New Roman" panose="02020603050405020304" pitchFamily="18" charset="0"/>
                <a:cs typeface="Times New Roman" panose="02020603050405020304" pitchFamily="18" charset="0"/>
              </a:rPr>
              <a:t> T11.</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*ATR: </a:t>
            </a:r>
            <a:r>
              <a:rPr lang="en-US" sz="1333" dirty="0">
                <a:solidFill>
                  <a:prstClr val="black"/>
                </a:solidFill>
                <a:latin typeface="Times New Roman" panose="02020603050405020304" pitchFamily="18" charset="0"/>
                <a:cs typeface="Times New Roman" panose="02020603050405020304" pitchFamily="18" charset="0"/>
              </a:rPr>
              <a:t>Nhu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này</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đã</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tính</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nhu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cầu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nguồn</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lực</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cho</a:t>
            </a:r>
            <a:r>
              <a:rPr lang="en-US" sz="1333" dirty="0">
                <a:solidFill>
                  <a:prstClr val="black"/>
                </a:solidFill>
                <a:latin typeface="Times New Roman" panose="02020603050405020304" pitchFamily="18" charset="0"/>
                <a:cs typeface="Times New Roman" panose="02020603050405020304" pitchFamily="18" charset="0"/>
              </a:rPr>
              <a:t> 05 </a:t>
            </a:r>
            <a:r>
              <a:rPr lang="en-US" sz="1333" dirty="0" err="1">
                <a:solidFill>
                  <a:prstClr val="black"/>
                </a:solidFill>
                <a:latin typeface="Times New Roman" panose="02020603050405020304" pitchFamily="18" charset="0"/>
                <a:cs typeface="Times New Roman" panose="02020603050405020304" pitchFamily="18" charset="0"/>
              </a:rPr>
              <a:t>tàu</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gồm</a:t>
            </a:r>
            <a:r>
              <a:rPr lang="en-US" sz="1333" dirty="0">
                <a:solidFill>
                  <a:prstClr val="black"/>
                </a:solidFill>
                <a:latin typeface="Times New Roman" panose="02020603050405020304" pitchFamily="18" charset="0"/>
                <a:cs typeface="Times New Roman" panose="02020603050405020304" pitchFamily="18" charset="0"/>
              </a:rPr>
              <a:t> B225 RTS </a:t>
            </a:r>
            <a:r>
              <a:rPr lang="en-US" sz="1333" dirty="0" err="1">
                <a:solidFill>
                  <a:prstClr val="black"/>
                </a:solidFill>
                <a:latin typeface="Times New Roman" panose="02020603050405020304" pitchFamily="18" charset="0"/>
                <a:cs typeface="Times New Roman" panose="02020603050405020304" pitchFamily="18" charset="0"/>
              </a:rPr>
              <a:t>từ</a:t>
            </a:r>
            <a:r>
              <a:rPr lang="en-US" sz="1333" dirty="0">
                <a:solidFill>
                  <a:prstClr val="black"/>
                </a:solidFill>
                <a:latin typeface="Times New Roman" panose="02020603050405020304" pitchFamily="18" charset="0"/>
                <a:cs typeface="Times New Roman" panose="02020603050405020304" pitchFamily="18" charset="0"/>
              </a:rPr>
              <a:t> T1/2025).</a:t>
            </a:r>
          </a:p>
          <a:p>
            <a:pPr defTabSz="914377">
              <a:defRPr/>
            </a:pPr>
            <a:r>
              <a:rPr lang="en-US" sz="1333" b="1" dirty="0">
                <a:solidFill>
                  <a:prstClr val="black"/>
                </a:solidFill>
                <a:latin typeface="Times New Roman" panose="02020603050405020304" pitchFamily="18" charset="0"/>
                <a:cs typeface="Times New Roman" panose="02020603050405020304" pitchFamily="18" charset="0"/>
              </a:rPr>
              <a:t>*A350</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Rủi</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ro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tháo</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động</a:t>
            </a:r>
            <a:r>
              <a:rPr lang="en-US" sz="1333" dirty="0">
                <a:solidFill>
                  <a:prstClr val="black"/>
                </a:solidFill>
                <a:latin typeface="Times New Roman" panose="02020603050405020304" pitchFamily="18" charset="0"/>
                <a:cs typeface="Times New Roman" panose="02020603050405020304" pitchFamily="18" charset="0"/>
              </a:rPr>
              <a:t> c</a:t>
            </a:r>
            <a:r>
              <a:rPr lang="vi-VN" sz="1333" dirty="0">
                <a:solidFill>
                  <a:prstClr val="black"/>
                </a:solidFill>
                <a:latin typeface="Times New Roman" panose="02020603050405020304" pitchFamily="18" charset="0"/>
                <a:cs typeface="Times New Roman" panose="02020603050405020304" pitchFamily="18" charset="0"/>
              </a:rPr>
              <a:t>ơ</a:t>
            </a:r>
            <a:r>
              <a:rPr lang="en-US" sz="1333" dirty="0">
                <a:solidFill>
                  <a:prstClr val="black"/>
                </a:solidFill>
                <a:latin typeface="Times New Roman" panose="02020603050405020304" pitchFamily="18" charset="0"/>
                <a:cs typeface="Times New Roman" panose="02020603050405020304" pitchFamily="18" charset="0"/>
              </a:rPr>
              <a:t> </a:t>
            </a:r>
            <a:r>
              <a:rPr lang="en-US" sz="1333" dirty="0" err="1">
                <a:solidFill>
                  <a:prstClr val="black"/>
                </a:solidFill>
                <a:latin typeface="Times New Roman" panose="02020603050405020304" pitchFamily="18" charset="0"/>
                <a:cs typeface="Times New Roman" panose="02020603050405020304" pitchFamily="18" charset="0"/>
              </a:rPr>
              <a:t>ngoài</a:t>
            </a:r>
            <a:r>
              <a:rPr lang="en-US" sz="1333" dirty="0">
                <a:solidFill>
                  <a:prstClr val="black"/>
                </a:solidFill>
                <a:latin typeface="Times New Roman" panose="02020603050405020304" pitchFamily="18" charset="0"/>
                <a:cs typeface="Times New Roman" panose="02020603050405020304" pitchFamily="18" charset="0"/>
              </a:rPr>
              <a:t> KH do High oil consumption, HPT Blade</a:t>
            </a:r>
          </a:p>
        </p:txBody>
      </p:sp>
    </p:spTree>
    <p:extLst>
      <p:ext uri="{BB962C8B-B14F-4D97-AF65-F5344CB8AC3E}">
        <p14:creationId xmlns:p14="http://schemas.microsoft.com/office/powerpoint/2010/main" val="38764785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55B988DA-38D1-571B-6871-9FBC014FB168}"/>
            </a:ext>
          </a:extLst>
        </p:cNvPr>
        <p:cNvGrpSpPr/>
        <p:nvPr/>
      </p:nvGrpSpPr>
      <p:grpSpPr>
        <a:xfrm>
          <a:off x="0" y="0"/>
          <a:ext cx="0" cy="0"/>
          <a:chOff x="0" y="0"/>
          <a:chExt cx="0" cy="0"/>
        </a:xfrm>
      </p:grpSpPr>
      <p:sp>
        <p:nvSpPr>
          <p:cNvPr id="6" name="Slide Number Placeholder 3">
            <a:extLst>
              <a:ext uri="{FF2B5EF4-FFF2-40B4-BE49-F238E27FC236}">
                <a16:creationId xmlns:a16="http://schemas.microsoft.com/office/drawing/2014/main" id="{54CB31C7-4E2E-A024-3D90-6B5B7D962E96}"/>
              </a:ext>
            </a:extLst>
          </p:cNvPr>
          <p:cNvSpPr txBox="1">
            <a:spLocks/>
          </p:cNvSpPr>
          <p:nvPr/>
        </p:nvSpPr>
        <p:spPr>
          <a:xfrm>
            <a:off x="8534400" y="637116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mn-cs"/>
              </a:rPr>
              <a:pPr>
                <a:buClrTx/>
                <a:buFontTx/>
                <a:buNone/>
                <a:defRPr/>
              </a:pPr>
              <a:t>31</a:t>
            </a:fld>
            <a:endParaRPr lang="en-US" sz="1600" dirty="0">
              <a:solidFill>
                <a:srgbClr val="D2A43B"/>
              </a:solidFill>
              <a:latin typeface="Times New Roman" panose="02020603050405020304" pitchFamily="18" charset="0"/>
              <a:ea typeface="+mn-ea"/>
              <a:cs typeface="+mn-cs"/>
            </a:endParaRPr>
          </a:p>
        </p:txBody>
      </p:sp>
      <p:sp>
        <p:nvSpPr>
          <p:cNvPr id="7" name="TextBox 6">
            <a:extLst>
              <a:ext uri="{FF2B5EF4-FFF2-40B4-BE49-F238E27FC236}">
                <a16:creationId xmlns:a16="http://schemas.microsoft.com/office/drawing/2014/main" id="{ECD7242A-6EC4-6B1A-A438-79B9107F1CD6}"/>
              </a:ext>
            </a:extLst>
          </p:cNvPr>
          <p:cNvSpPr txBox="1"/>
          <p:nvPr/>
        </p:nvSpPr>
        <p:spPr>
          <a:xfrm>
            <a:off x="203197" y="0"/>
            <a:ext cx="1534160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NHU CẦU ĐỘNG CƠ DỰ PHÒNG CÁC </a:t>
            </a:r>
            <a:r>
              <a:rPr lang="en-US" sz="2667" b="1">
                <a:ln w="0"/>
                <a:solidFill>
                  <a:srgbClr val="FBAC00"/>
                </a:solidFill>
                <a:latin typeface="Times New Roman" panose="02020603050405020304" pitchFamily="18" charset="0"/>
                <a:cs typeface="Times New Roman" panose="02020603050405020304" pitchFamily="18" charset="0"/>
              </a:rPr>
              <a:t>FLEET T2-T4/2025</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8" name="Chart 7">
            <a:extLst>
              <a:ext uri="{FF2B5EF4-FFF2-40B4-BE49-F238E27FC236}">
                <a16:creationId xmlns:a16="http://schemas.microsoft.com/office/drawing/2014/main" id="{3AE6B01F-84E3-881B-E0A6-2DB2CB883A49}"/>
              </a:ext>
            </a:extLst>
          </p:cNvPr>
          <p:cNvGraphicFramePr>
            <a:graphicFrameLocks/>
          </p:cNvGraphicFramePr>
          <p:nvPr/>
        </p:nvGraphicFramePr>
        <p:xfrm>
          <a:off x="190500" y="592815"/>
          <a:ext cx="11811000" cy="4673672"/>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6E40E499-B08B-C67F-623B-F023D733338B}"/>
              </a:ext>
            </a:extLst>
          </p:cNvPr>
          <p:cNvSpPr txBox="1"/>
          <p:nvPr/>
        </p:nvSpPr>
        <p:spPr>
          <a:xfrm>
            <a:off x="190500" y="5266487"/>
            <a:ext cx="11811000" cy="1384995"/>
          </a:xfrm>
          <a:prstGeom prst="rect">
            <a:avLst/>
          </a:prstGeom>
          <a:noFill/>
          <a:ln>
            <a:solidFill>
              <a:schemeClr val="accent1"/>
            </a:solidFill>
          </a:ln>
        </p:spPr>
        <p:txBody>
          <a:bodyPr wrap="square" rtlCol="0">
            <a:spAutoFit/>
          </a:bodyPr>
          <a:lstStyle/>
          <a:p>
            <a:r>
              <a:rPr lang="en-US" sz="1200" b="1" dirty="0">
                <a:latin typeface="Times New Roman" panose="02020603050405020304" pitchFamily="18" charset="0"/>
                <a:cs typeface="Times New Roman" panose="02020603050405020304" pitchFamily="18" charset="0"/>
              </a:rPr>
              <a:t>Action </a:t>
            </a:r>
            <a:r>
              <a:rPr lang="en-US" sz="1200" b="1" dirty="0" err="1">
                <a:latin typeface="Times New Roman" panose="02020603050405020304" pitchFamily="18" charset="0"/>
                <a:cs typeface="Times New Roman" panose="02020603050405020304" pitchFamily="18" charset="0"/>
              </a:rPr>
              <a:t>ngắn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hạn</a:t>
            </a:r>
            <a:r>
              <a:rPr lang="en-US" sz="1200" b="1" dirty="0">
                <a:latin typeface="Times New Roman" panose="02020603050405020304" pitchFamily="18" charset="0"/>
                <a:cs typeface="Times New Roman" panose="02020603050405020304" pitchFamily="18" charset="0"/>
              </a:rPr>
              <a:t> &amp; </a:t>
            </a:r>
            <a:r>
              <a:rPr lang="en-US" sz="1200" b="1" dirty="0" err="1">
                <a:latin typeface="Times New Roman" panose="02020603050405020304" pitchFamily="18" charset="0"/>
                <a:cs typeface="Times New Roman" panose="02020603050405020304" pitchFamily="18" charset="0"/>
              </a:rPr>
              <a:t>rủi</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ro</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nhận</a:t>
            </a:r>
            <a:r>
              <a:rPr lang="en-US" sz="1200" b="1" dirty="0">
                <a:latin typeface="Times New Roman" panose="02020603050405020304" pitchFamily="18" charset="0"/>
                <a:cs typeface="Times New Roman" panose="02020603050405020304" pitchFamily="18" charset="0"/>
              </a:rPr>
              <a:t> </a:t>
            </a:r>
            <a:r>
              <a:rPr lang="en-US" sz="1200" b="1" dirty="0" err="1">
                <a:latin typeface="Times New Roman" panose="02020603050405020304" pitchFamily="18" charset="0"/>
                <a:cs typeface="Times New Roman" panose="02020603050405020304" pitchFamily="18" charset="0"/>
              </a:rPr>
              <a:t>diện</a:t>
            </a:r>
            <a:r>
              <a:rPr lang="en-US" sz="1200" dirty="0">
                <a:latin typeface="Times New Roman" panose="02020603050405020304" pitchFamily="18" charset="0"/>
                <a:cs typeface="Times New Roman" panose="02020603050405020304" pitchFamily="18" charset="0"/>
              </a:rPr>
              <a:t>:</a:t>
            </a:r>
          </a:p>
          <a:p>
            <a:pPr defTabSz="914377">
              <a:defRPr/>
            </a:pPr>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A321CEO </a:t>
            </a:r>
            <a:r>
              <a:rPr lang="en-US" sz="1200" dirty="0">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kiến</a:t>
            </a:r>
            <a:r>
              <a:rPr lang="en-US" sz="1200" dirty="0">
                <a:solidFill>
                  <a:prstClr val="black"/>
                </a:solidFill>
                <a:latin typeface="Times New Roman" panose="02020603050405020304" pitchFamily="18" charset="0"/>
                <a:cs typeface="Times New Roman" panose="02020603050405020304" pitchFamily="18" charset="0"/>
              </a:rPr>
              <a:t> Q3-Q4/2025 </a:t>
            </a:r>
            <a:r>
              <a:rPr lang="en-US" sz="1200" dirty="0" err="1">
                <a:solidFill>
                  <a:prstClr val="black"/>
                </a:solidFill>
                <a:latin typeface="Times New Roman" panose="02020603050405020304" pitchFamily="18" charset="0"/>
                <a:cs typeface="Times New Roman" panose="02020603050405020304" pitchFamily="18" charset="0"/>
              </a:rPr>
              <a:t>trả</a:t>
            </a:r>
            <a:r>
              <a:rPr lang="en-US" sz="1200" dirty="0">
                <a:solidFill>
                  <a:prstClr val="black"/>
                </a:solidFill>
                <a:latin typeface="Times New Roman" panose="02020603050405020304" pitchFamily="18" charset="0"/>
                <a:cs typeface="Times New Roman" panose="02020603050405020304" pitchFamily="18" charset="0"/>
              </a:rPr>
              <a:t> 3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thuê</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Cần</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duy</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trì</a:t>
            </a:r>
            <a:r>
              <a:rPr lang="en-US" sz="1200" dirty="0">
                <a:solidFill>
                  <a:prstClr val="black"/>
                </a:solidFill>
                <a:latin typeface="Times New Roman" panose="02020603050405020304" pitchFamily="18" charset="0"/>
                <a:cs typeface="Times New Roman" panose="02020603050405020304" pitchFamily="18" charset="0"/>
              </a:rPr>
              <a:t> 9-10 </a:t>
            </a:r>
            <a:r>
              <a:rPr lang="en-US" sz="1200" dirty="0" err="1">
                <a:solidFill>
                  <a:prstClr val="black"/>
                </a:solidFill>
                <a:latin typeface="Times New Roman" panose="02020603050405020304" pitchFamily="18" charset="0"/>
                <a:cs typeface="Times New Roman" panose="02020603050405020304" pitchFamily="18" charset="0"/>
              </a:rPr>
              <a:t>động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cơ</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dự</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phòng</a:t>
            </a:r>
            <a:r>
              <a:rPr lang="en-US" sz="1200" dirty="0">
                <a:solidFill>
                  <a:prstClr val="black"/>
                </a:solidFill>
                <a:latin typeface="Times New Roman" panose="02020603050405020304" pitchFamily="18" charset="0"/>
                <a:cs typeface="Times New Roman" panose="02020603050405020304" pitchFamily="18" charset="0"/>
              </a:rPr>
              <a:t> </a:t>
            </a:r>
            <a:r>
              <a:rPr lang="en-US" sz="1200" dirty="0" err="1">
                <a:solidFill>
                  <a:prstClr val="black"/>
                </a:solidFill>
                <a:latin typeface="Times New Roman" panose="02020603050405020304" pitchFamily="18" charset="0"/>
                <a:cs typeface="Times New Roman" panose="02020603050405020304" pitchFamily="18" charset="0"/>
              </a:rPr>
              <a:t>trong</a:t>
            </a:r>
            <a:r>
              <a:rPr lang="en-US" sz="1200" dirty="0">
                <a:solidFill>
                  <a:prstClr val="black"/>
                </a:solidFill>
                <a:latin typeface="Times New Roman" panose="02020603050405020304" pitchFamily="18" charset="0"/>
                <a:cs typeface="Times New Roman" panose="02020603050405020304" pitchFamily="18" charset="0"/>
              </a:rPr>
              <a:t> 2026.</a:t>
            </a:r>
          </a:p>
          <a:p>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A321NEO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đi</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muộn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thực</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đã</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bị</a:t>
            </a:r>
            <a:r>
              <a:rPr lang="en-US" sz="1200" dirty="0">
                <a:latin typeface="Times New Roman" panose="02020603050405020304" pitchFamily="18" charset="0"/>
                <a:cs typeface="Times New Roman" panose="02020603050405020304" pitchFamily="18" charset="0"/>
              </a:rPr>
              <a:t> shop delay </a:t>
            </a:r>
            <a:r>
              <a:rPr lang="en-US" sz="1200" dirty="0" err="1">
                <a:latin typeface="Times New Roman" panose="02020603050405020304" pitchFamily="18" charset="0"/>
                <a:cs typeface="Times New Roman" panose="02020603050405020304" pitchFamily="18" charset="0"/>
              </a:rPr>
              <a:t>nhiều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lần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Vibration, Oil Leak, HPT </a:t>
            </a:r>
            <a:r>
              <a:rPr lang="en-US" sz="1200" dirty="0" err="1">
                <a:latin typeface="Times New Roman" panose="02020603050405020304" pitchFamily="18" charset="0"/>
                <a:cs typeface="Times New Roman" panose="02020603050405020304" pitchFamily="18" charset="0"/>
              </a:rPr>
              <a:t>Balde</a:t>
            </a:r>
            <a:r>
              <a:rPr lang="en-US" sz="1200" dirty="0">
                <a:latin typeface="Times New Roman" panose="02020603050405020304" pitchFamily="18" charset="0"/>
                <a:cs typeface="Times New Roman" panose="02020603050405020304" pitchFamily="18" charset="0"/>
              </a:rPr>
              <a:t>…</a:t>
            </a:r>
            <a:r>
              <a:rPr lang="vi-VN" sz="1200" dirty="0">
                <a:cs typeface="Times New Roman" panose="02020603050405020304" pitchFamily="18" charset="0"/>
              </a:rPr>
              <a:t>08 động cơ đang sửa chữa bị delay nhiều lần từ đầu tháng 12, với tổng ~ 366 days, tương ứng ~ 183 AOG days</a:t>
            </a:r>
            <a:r>
              <a:rPr lang="vi-VN" sz="1200" dirty="0">
                <a:solidFill>
                  <a:srgbClr val="FF0000"/>
                </a:solidFill>
                <a:cs typeface="Times New Roman" panose="02020603050405020304" pitchFamily="18" charset="0"/>
              </a:rPr>
              <a:t>.</a:t>
            </a:r>
            <a:endParaRPr lang="en-US" sz="1200" dirty="0">
              <a:highlight>
                <a:srgbClr val="FFFF00"/>
              </a:highlight>
              <a:latin typeface="Times New Roman" panose="02020603050405020304" pitchFamily="18" charset="0"/>
              <a:cs typeface="Times New Roman" panose="02020603050405020304" pitchFamily="18" charset="0"/>
            </a:endParaRP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B787 </a:t>
            </a:r>
            <a:r>
              <a:rPr lang="en-US" sz="1200" dirty="0">
                <a:latin typeface="Times New Roman" panose="02020603050405020304" pitchFamily="18" charset="0"/>
                <a:cs typeface="Times New Roman" panose="02020603050405020304" pitchFamily="18" charset="0"/>
              </a:rPr>
              <a:t>: Nhu </a:t>
            </a:r>
            <a:r>
              <a:rPr lang="en-US" sz="1200" dirty="0" err="1">
                <a:latin typeface="Times New Roman" panose="02020603050405020304" pitchFamily="18" charset="0"/>
                <a:cs typeface="Times New Roman" panose="02020603050405020304" pitchFamily="18" charset="0"/>
              </a:rPr>
              <a:t>cầu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cập</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nhật</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sau</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có</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kế</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hoạch</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nhận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thêm</a:t>
            </a:r>
            <a:r>
              <a:rPr lang="en-US" sz="1200" dirty="0">
                <a:latin typeface="Times New Roman" panose="02020603050405020304" pitchFamily="18" charset="0"/>
                <a:cs typeface="Times New Roman" panose="02020603050405020304" pitchFamily="18" charset="0"/>
              </a:rPr>
              <a:t> 02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thuê</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T9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T12/2024.</a:t>
            </a:r>
          </a:p>
          <a:p>
            <a:pPr marL="0" lvl="1"/>
            <a:r>
              <a:rPr lang="en-US" sz="1200" dirty="0">
                <a:latin typeface="Times New Roman" panose="02020603050405020304" pitchFamily="18" charset="0"/>
                <a:cs typeface="Times New Roman" panose="02020603050405020304" pitchFamily="18" charset="0"/>
              </a:rPr>
              <a:t>*</a:t>
            </a:r>
            <a:r>
              <a:rPr lang="en-US" sz="1200" b="1" dirty="0">
                <a:latin typeface="Times New Roman" panose="02020603050405020304" pitchFamily="18" charset="0"/>
                <a:cs typeface="Times New Roman" panose="02020603050405020304" pitchFamily="18" charset="0"/>
              </a:rPr>
              <a:t>A350: </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Rủi</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c</a:t>
            </a:r>
            <a:r>
              <a:rPr lang="vi-VN" sz="1200" dirty="0">
                <a:latin typeface="Times New Roman" panose="02020603050405020304" pitchFamily="18" charset="0"/>
                <a:cs typeface="Times New Roman" panose="02020603050405020304" pitchFamily="18" charset="0"/>
              </a:rPr>
              <a:t>ơ</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ngoài</a:t>
            </a:r>
            <a:r>
              <a:rPr lang="en-US" sz="1200" dirty="0">
                <a:latin typeface="Times New Roman" panose="02020603050405020304" pitchFamily="18" charset="0"/>
                <a:cs typeface="Times New Roman" panose="02020603050405020304" pitchFamily="18" charset="0"/>
              </a:rPr>
              <a:t> KH do High oil consumption, HPT Blade</a:t>
            </a:r>
          </a:p>
          <a:p>
            <a:pPr marL="0" lvl="1"/>
            <a:r>
              <a:rPr lang="en-US" sz="1200" b="1" dirty="0">
                <a:latin typeface="Times New Roman" panose="02020603050405020304" pitchFamily="18" charset="0"/>
                <a:cs typeface="Times New Roman" panose="02020603050405020304" pitchFamily="18" charset="0"/>
              </a:rPr>
              <a:t>*ATR72: </a:t>
            </a:r>
            <a:r>
              <a:rPr lang="vi-VN" sz="1200" dirty="0">
                <a:latin typeface="Times New Roman" panose="02020603050405020304" pitchFamily="18" charset="0"/>
                <a:cs typeface="Times New Roman" panose="02020603050405020304" pitchFamily="18" charset="0"/>
              </a:rPr>
              <a:t>B225</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dùng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ED0214 </a:t>
            </a:r>
            <a:r>
              <a:rPr lang="en-US" sz="1200" dirty="0" err="1">
                <a:latin typeface="Times New Roman" panose="02020603050405020304" pitchFamily="18" charset="0"/>
                <a:cs typeface="Times New Roman" panose="02020603050405020304" pitchFamily="18" charset="0"/>
              </a:rPr>
              <a:t>trong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kho</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còn</a:t>
            </a:r>
            <a:r>
              <a:rPr lang="en-US" sz="1200" dirty="0">
                <a:latin typeface="Times New Roman" panose="02020603050405020304" pitchFamily="18" charset="0"/>
                <a:cs typeface="Times New Roman" panose="02020603050405020304" pitchFamily="18" charset="0"/>
              </a:rPr>
              <a:t> 151 FC </a:t>
            </a:r>
            <a:r>
              <a:rPr lang="en-US" sz="1200" dirty="0" err="1">
                <a:latin typeface="Times New Roman" panose="02020603050405020304" pitchFamily="18" charset="0"/>
                <a:cs typeface="Times New Roman" panose="02020603050405020304" pitchFamily="18" charset="0"/>
              </a:rPr>
              <a:t>và</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ED0241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giữa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tháng</a:t>
            </a:r>
            <a:r>
              <a:rPr lang="en-US" sz="1200" dirty="0">
                <a:latin typeface="Times New Roman" panose="02020603050405020304" pitchFamily="18" charset="0"/>
                <a:cs typeface="Times New Roman" panose="02020603050405020304" pitchFamily="18" charset="0"/>
              </a:rPr>
              <a:t> 1/25 </a:t>
            </a:r>
            <a:r>
              <a:rPr lang="en-US" sz="1200" dirty="0" err="1">
                <a:latin typeface="Times New Roman" panose="02020603050405020304" pitchFamily="18" charset="0"/>
                <a:cs typeface="Times New Roman" panose="02020603050405020304" pitchFamily="18" charset="0"/>
              </a:rPr>
              <a:t>sẽ</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lấy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động</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cơ</a:t>
            </a:r>
            <a:r>
              <a:rPr lang="en-US" sz="1200" dirty="0">
                <a:latin typeface="Times New Roman" panose="02020603050405020304" pitchFamily="18" charset="0"/>
                <a:cs typeface="Times New Roman" panose="02020603050405020304" pitchFamily="18" charset="0"/>
              </a:rPr>
              <a:t> ED0181 </a:t>
            </a:r>
            <a:r>
              <a:rPr lang="en-US" sz="1200" dirty="0" err="1">
                <a:latin typeface="Times New Roman" panose="02020603050405020304" pitchFamily="18" charset="0"/>
                <a:cs typeface="Times New Roman" panose="02020603050405020304" pitchFamily="18" charset="0"/>
              </a:rPr>
              <a:t>từ</a:t>
            </a:r>
            <a:r>
              <a:rPr lang="en-US" sz="1200" dirty="0">
                <a:latin typeface="Times New Roman" panose="02020603050405020304" pitchFamily="18" charset="0"/>
                <a:cs typeface="Times New Roman" panose="02020603050405020304" pitchFamily="18" charset="0"/>
              </a:rPr>
              <a:t> Shop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thay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cho</a:t>
            </a:r>
            <a:r>
              <a:rPr lang="en-US" sz="1200" dirty="0">
                <a:latin typeface="Times New Roman" panose="02020603050405020304" pitchFamily="18" charset="0"/>
                <a:cs typeface="Times New Roman" panose="02020603050405020304" pitchFamily="18" charset="0"/>
              </a:rPr>
              <a:t> ED0214.</a:t>
            </a:r>
          </a:p>
        </p:txBody>
      </p:sp>
    </p:spTree>
    <p:extLst>
      <p:ext uri="{BB962C8B-B14F-4D97-AF65-F5344CB8AC3E}">
        <p14:creationId xmlns:p14="http://schemas.microsoft.com/office/powerpoint/2010/main" val="6656456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366920A6-6915-5AA0-8C7B-86FFAA7C86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6F650-D34B-32F5-0EFD-8481BE8666F3}"/>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AOG </a:t>
            </a:r>
            <a:r>
              <a:rPr lang="en-US" sz="2667" b="1">
                <a:ln w="0"/>
                <a:solidFill>
                  <a:srgbClr val="FBAC00"/>
                </a:solidFill>
                <a:latin typeface="Times New Roman" panose="02020603050405020304" pitchFamily="18" charset="0"/>
                <a:cs typeface="Times New Roman" panose="02020603050405020304" pitchFamily="18" charset="0"/>
              </a:rPr>
              <a:t>A321NEO 2025 </a:t>
            </a:r>
            <a:r>
              <a:rPr lang="en-US" sz="2667" b="1" dirty="0">
                <a:ln w="0"/>
                <a:solidFill>
                  <a:srgbClr val="FBAC00"/>
                </a:solidFill>
                <a:latin typeface="Times New Roman" panose="02020603050405020304" pitchFamily="18" charset="0"/>
                <a:cs typeface="Times New Roman" panose="02020603050405020304" pitchFamily="18" charset="0"/>
              </a:rPr>
              <a:t>DO HPT HUB</a:t>
            </a:r>
          </a:p>
        </p:txBody>
      </p:sp>
      <p:sp>
        <p:nvSpPr>
          <p:cNvPr id="6" name="Rectangle 5">
            <a:extLst>
              <a:ext uri="{FF2B5EF4-FFF2-40B4-BE49-F238E27FC236}">
                <a16:creationId xmlns:a16="http://schemas.microsoft.com/office/drawing/2014/main" id="{F732C424-6503-4AF0-A801-38325F00ECC8}"/>
              </a:ext>
            </a:extLst>
          </p:cNvPr>
          <p:cNvSpPr/>
          <p:nvPr/>
        </p:nvSpPr>
        <p:spPr>
          <a:xfrm>
            <a:off x="228600" y="6077034"/>
            <a:ext cx="11201400" cy="523220"/>
          </a:xfrm>
          <a:prstGeom prst="rect">
            <a:avLst/>
          </a:prstGeom>
          <a:solidFill>
            <a:srgbClr val="FFFF00"/>
          </a:solidFill>
          <a:ln>
            <a:solidFill>
              <a:schemeClr val="accent1"/>
            </a:solidFill>
          </a:ln>
        </p:spPr>
        <p:txBody>
          <a:bodyPr wrap="square">
            <a:spAutoFit/>
          </a:bodyPr>
          <a:lstStyle/>
          <a:p>
            <a:pPr algn="ctr"/>
            <a:r>
              <a:rPr lang="en-US" sz="1400" b="1"/>
              <a:t>PH</a:t>
            </a:r>
            <a:r>
              <a:rPr lang="vi-VN" sz="1400" b="1"/>
              <a:t>Ư</a:t>
            </a:r>
            <a:r>
              <a:rPr lang="en-US" sz="1400" b="1"/>
              <a:t>ƠNG ÁN GIỮ GIỜ</a:t>
            </a:r>
          </a:p>
          <a:p>
            <a:r>
              <a:rPr lang="en-US" sz="1400"/>
              <a:t>-</a:t>
            </a:r>
            <a:r>
              <a:rPr lang="vi-VN" sz="1400"/>
              <a:t>Giữ giờ động cơ P771710</a:t>
            </a:r>
            <a:r>
              <a:rPr lang="en-US" sz="1400"/>
              <a:t> trên A621</a:t>
            </a:r>
            <a:r>
              <a:rPr lang="vi-VN" sz="1400"/>
              <a:t> (hết hạn 05/07) và P772905 </a:t>
            </a:r>
            <a:r>
              <a:rPr lang="en-US" sz="1400"/>
              <a:t>trên A619</a:t>
            </a:r>
            <a:r>
              <a:rPr lang="vi-VN" sz="1400"/>
              <a:t>(</a:t>
            </a:r>
            <a:r>
              <a:rPr lang="en-US" sz="1400"/>
              <a:t>hết hạn </a:t>
            </a:r>
            <a:r>
              <a:rPr lang="vi-VN" sz="1400"/>
              <a:t>19/07) sang sau cao điểm hè (15/8) để có thêm 1 tàu từ giữa T7.</a:t>
            </a:r>
            <a:endParaRPr lang="en-US" sz="1400"/>
          </a:p>
        </p:txBody>
      </p:sp>
      <p:graphicFrame>
        <p:nvGraphicFramePr>
          <p:cNvPr id="7" name="Chart 6">
            <a:extLst>
              <a:ext uri="{FF2B5EF4-FFF2-40B4-BE49-F238E27FC236}">
                <a16:creationId xmlns:a16="http://schemas.microsoft.com/office/drawing/2014/main" id="{8B5E7455-4DEA-41D4-AF34-1859C57C068A}"/>
              </a:ext>
            </a:extLst>
          </p:cNvPr>
          <p:cNvGraphicFramePr>
            <a:graphicFrameLocks/>
          </p:cNvGraphicFramePr>
          <p:nvPr/>
        </p:nvGraphicFramePr>
        <p:xfrm>
          <a:off x="381000" y="685800"/>
          <a:ext cx="11430000" cy="51816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59005047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
          <a:extLst>
            <a:ext uri="{FF2B5EF4-FFF2-40B4-BE49-F238E27FC236}">
              <a16:creationId xmlns:a16="http://schemas.microsoft.com/office/drawing/2014/main" id="{CF201DCB-0F48-45FA-23D1-D69FC207E90E}"/>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7759506-148F-6ED1-3F13-4D127FBBC4FC}"/>
              </a:ext>
            </a:extLst>
          </p:cNvPr>
          <p:cNvSpPr txBox="1"/>
          <p:nvPr/>
        </p:nvSpPr>
        <p:spPr>
          <a:xfrm>
            <a:off x="153472" y="517989"/>
            <a:ext cx="42672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id="{1AC2A46E-4E4A-6339-72C3-1800A18927D9}"/>
              </a:ext>
            </a:extLst>
          </p:cNvPr>
          <p:cNvGraphicFramePr>
            <a:graphicFrameLocks noGrp="1"/>
          </p:cNvGraphicFramePr>
          <p:nvPr/>
        </p:nvGraphicFramePr>
        <p:xfrm>
          <a:off x="162461" y="1051467"/>
          <a:ext cx="11867079" cy="5352146"/>
        </p:xfrm>
        <a:graphic>
          <a:graphicData uri="http://schemas.openxmlformats.org/drawingml/2006/table">
            <a:tbl>
              <a:tblPr firstRow="1" bandRow="1">
                <a:tableStyleId>{5C22544A-7EE6-4342-B048-85BDC9FD1C3A}</a:tableStyleId>
              </a:tblPr>
              <a:tblGrid>
                <a:gridCol w="474684">
                  <a:extLst>
                    <a:ext uri="{9D8B030D-6E8A-4147-A177-3AD203B41FA5}">
                      <a16:colId xmlns:a16="http://schemas.microsoft.com/office/drawing/2014/main" val="1598605427"/>
                    </a:ext>
                  </a:extLst>
                </a:gridCol>
                <a:gridCol w="870252">
                  <a:extLst>
                    <a:ext uri="{9D8B030D-6E8A-4147-A177-3AD203B41FA5}">
                      <a16:colId xmlns:a16="http://schemas.microsoft.com/office/drawing/2014/main" val="3845954792"/>
                    </a:ext>
                  </a:extLst>
                </a:gridCol>
                <a:gridCol w="1186707">
                  <a:extLst>
                    <a:ext uri="{9D8B030D-6E8A-4147-A177-3AD203B41FA5}">
                      <a16:colId xmlns:a16="http://schemas.microsoft.com/office/drawing/2014/main" val="2148822928"/>
                    </a:ext>
                  </a:extLst>
                </a:gridCol>
                <a:gridCol w="1265823">
                  <a:extLst>
                    <a:ext uri="{9D8B030D-6E8A-4147-A177-3AD203B41FA5}">
                      <a16:colId xmlns:a16="http://schemas.microsoft.com/office/drawing/2014/main" val="2136763095"/>
                    </a:ext>
                  </a:extLst>
                </a:gridCol>
                <a:gridCol w="1740505">
                  <a:extLst>
                    <a:ext uri="{9D8B030D-6E8A-4147-A177-3AD203B41FA5}">
                      <a16:colId xmlns:a16="http://schemas.microsoft.com/office/drawing/2014/main" val="1185879436"/>
                    </a:ext>
                  </a:extLst>
                </a:gridCol>
                <a:gridCol w="2768984">
                  <a:extLst>
                    <a:ext uri="{9D8B030D-6E8A-4147-A177-3AD203B41FA5}">
                      <a16:colId xmlns:a16="http://schemas.microsoft.com/office/drawing/2014/main" val="3807119371"/>
                    </a:ext>
                  </a:extLst>
                </a:gridCol>
                <a:gridCol w="3560124">
                  <a:extLst>
                    <a:ext uri="{9D8B030D-6E8A-4147-A177-3AD203B41FA5}">
                      <a16:colId xmlns:a16="http://schemas.microsoft.com/office/drawing/2014/main" val="3735753066"/>
                    </a:ext>
                  </a:extLst>
                </a:gridCol>
              </a:tblGrid>
              <a:tr h="450741">
                <a:tc>
                  <a:txBody>
                    <a:bodyPr/>
                    <a:lstStyle/>
                    <a:p>
                      <a:pPr algn="ctr"/>
                      <a:r>
                        <a:rPr lang="en-GB" sz="11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Induction</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Dự</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kiến</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về</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KH Sử dụng</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10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60013">
                <a:tc>
                  <a:txBody>
                    <a:bodyPr/>
                    <a:lstStyle/>
                    <a:p>
                      <a:pPr algn="ctr"/>
                      <a:r>
                        <a:rPr lang="en-US" sz="1100">
                          <a:latin typeface="Times New Roman" panose="02020603050405020304" pitchFamily="18" charset="0"/>
                          <a:cs typeface="Times New Roman" panose="02020603050405020304" pitchFamily="18" charset="0"/>
                        </a:rPr>
                        <a:t>1</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P770903</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b="0" kern="1200" dirty="0">
                          <a:solidFill>
                            <a:schemeClr val="tx1"/>
                          </a:solidFill>
                          <a:latin typeface="Times New Roman" panose="02020603050405020304" pitchFamily="18" charset="0"/>
                          <a:ea typeface="+mn-ea"/>
                          <a:cs typeface="Times New Roman" panose="02020603050405020304" pitchFamily="18" charset="0"/>
                        </a:rPr>
                        <a:t>18/07/2024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26/04/2025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0" kern="1200" noProof="0">
                          <a:solidFill>
                            <a:schemeClr val="tx1"/>
                          </a:solidFill>
                          <a:latin typeface="Times New Roman" panose="02020603050405020304" pitchFamily="18" charset="0"/>
                          <a:ea typeface="+mn-ea"/>
                          <a:cs typeface="Times New Roman" panose="02020603050405020304" pitchFamily="18" charset="0"/>
                        </a:rPr>
                        <a:t>RTS A625</a:t>
                      </a:r>
                      <a:endParaRPr lang="en-GB" sz="1100" b="0" kern="1200" noProof="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67959161"/>
                  </a:ext>
                </a:extLst>
              </a:tr>
              <a:tr h="697685">
                <a:tc>
                  <a:txBody>
                    <a:bodyPr/>
                    <a:lstStyle/>
                    <a:p>
                      <a:pPr algn="ctr"/>
                      <a:r>
                        <a:rPr lang="en-GB" sz="1100" dirty="0">
                          <a:latin typeface="Times New Roman" panose="02020603050405020304" pitchFamily="18" charset="0"/>
                          <a:cs typeface="Times New Roman" panose="02020603050405020304" pitchFamily="18" charset="0"/>
                        </a:rPr>
                        <a:t>2</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100" dirty="0">
                          <a:solidFill>
                            <a:schemeClr val="tx1"/>
                          </a:solidFill>
                          <a:effectLst/>
                          <a:latin typeface="Times New Roman" panose="02020603050405020304" pitchFamily="18" charset="0"/>
                          <a:cs typeface="Times New Roman" panose="02020603050405020304" pitchFamily="18" charset="0"/>
                        </a:rPr>
                        <a:t>P770904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22/04/2024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Delay do post test </a:t>
                      </a:r>
                      <a:r>
                        <a:rPr lang="en-US" sz="1100">
                          <a:solidFill>
                            <a:schemeClr val="tx1"/>
                          </a:solidFill>
                          <a:latin typeface="Times New Roman" panose="02020603050405020304" pitchFamily="18" charset="0"/>
                          <a:cs typeface="Times New Roman" panose="02020603050405020304" pitchFamily="18" charset="0"/>
                        </a:rPr>
                        <a:t>BSI finding on IBR6 &amp; TB1. Re-induct, dự kiến delay sang T2/2025.</a:t>
                      </a:r>
                      <a:endParaRPr lang="en-GB" sz="11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410844604"/>
                  </a:ext>
                </a:extLst>
              </a:tr>
              <a:tr h="460013">
                <a:tc>
                  <a:txBody>
                    <a:bodyPr/>
                    <a:lstStyle/>
                    <a:p>
                      <a:pPr algn="ctr"/>
                      <a:r>
                        <a:rPr lang="en-US" sz="1100" dirty="0">
                          <a:latin typeface="Times New Roman" panose="02020603050405020304" pitchFamily="18" charset="0"/>
                          <a:cs typeface="Times New Roman" panose="02020603050405020304" pitchFamily="18" charset="0"/>
                        </a:rPr>
                        <a:t>3</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P771075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25/07/2024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b="0" kern="1200">
                          <a:solidFill>
                            <a:schemeClr val="tx1"/>
                          </a:solidFill>
                          <a:latin typeface="Times New Roman" panose="02020603050405020304" pitchFamily="18" charset="0"/>
                          <a:ea typeface="+mn-ea"/>
                          <a:cs typeface="Times New Roman" panose="02020603050405020304" pitchFamily="18" charset="0"/>
                        </a:rPr>
                        <a:t>07/03/2025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A621#2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036697217"/>
                  </a:ext>
                </a:extLst>
              </a:tr>
              <a:tr h="460013">
                <a:tc>
                  <a:txBody>
                    <a:bodyPr/>
                    <a:lstStyle/>
                    <a:p>
                      <a:pPr algn="ctr"/>
                      <a:r>
                        <a:rPr lang="en-GB" sz="1100" dirty="0">
                          <a:latin typeface="Times New Roman" panose="02020603050405020304" pitchFamily="18" charset="0"/>
                          <a:cs typeface="Times New Roman" panose="02020603050405020304" pitchFamily="18" charset="0"/>
                        </a:rPr>
                        <a:t>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P771414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09/08/2024</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a:solidFill>
                            <a:schemeClr val="tx1"/>
                          </a:solidFill>
                          <a:latin typeface="Times New Roman" panose="02020603050405020304" pitchFamily="18" charset="0"/>
                          <a:cs typeface="Times New Roman" panose="02020603050405020304" pitchFamily="18" charset="0"/>
                        </a:rPr>
                        <a:t>13/02/2025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a:solidFill>
                            <a:schemeClr val="tx1"/>
                          </a:solidFill>
                          <a:latin typeface="Times New Roman" panose="02020603050405020304" pitchFamily="18" charset="0"/>
                          <a:cs typeface="Times New Roman" panose="02020603050405020304" pitchFamily="18" charset="0"/>
                        </a:rPr>
                        <a:t>A507#2 ENG CHANGE</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518084637"/>
                  </a:ext>
                </a:extLst>
              </a:tr>
              <a:tr h="460013">
                <a:tc>
                  <a:txBody>
                    <a:bodyPr/>
                    <a:lstStyle/>
                    <a:p>
                      <a:pPr algn="ctr"/>
                      <a:r>
                        <a:rPr lang="en-GB" sz="1100" dirty="0">
                          <a:latin typeface="Times New Roman" panose="02020603050405020304" pitchFamily="18" charset="0"/>
                          <a:cs typeface="Times New Roman" panose="02020603050405020304" pitchFamily="18" charset="0"/>
                        </a:rPr>
                        <a:t>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P771130</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25/09/2024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13/04/2025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A501</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753673127"/>
                  </a:ext>
                </a:extLst>
              </a:tr>
              <a:tr h="460013">
                <a:tc>
                  <a:txBody>
                    <a:bodyPr/>
                    <a:lstStyle/>
                    <a:p>
                      <a:pPr algn="ctr"/>
                      <a:r>
                        <a:rPr lang="en-GB" sz="1100" dirty="0">
                          <a:latin typeface="Times New Roman" panose="02020603050405020304" pitchFamily="18" charset="0"/>
                          <a:cs typeface="Times New Roman" panose="02020603050405020304" pitchFamily="18" charset="0"/>
                        </a:rPr>
                        <a:t>6</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P771391</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Inducted</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11/10/2024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25/05/2025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RTS A616</a:t>
                      </a:r>
                      <a:endParaRPr kumimoji="0" lang="en-GB" sz="11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502614763"/>
                  </a:ext>
                </a:extLst>
              </a:tr>
              <a:tr h="460013">
                <a:tc>
                  <a:txBody>
                    <a:bodyPr/>
                    <a:lstStyle/>
                    <a:p>
                      <a:pPr algn="ctr"/>
                      <a:r>
                        <a:rPr lang="en-GB" sz="1100">
                          <a:latin typeface="Times New Roman" panose="02020603050405020304" pitchFamily="18" charset="0"/>
                          <a:cs typeface="Times New Roman" panose="02020603050405020304" pitchFamily="18" charset="0"/>
                        </a:rPr>
                        <a:t>7</a:t>
                      </a:r>
                      <a:endParaRPr lang="en-GB" sz="11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100" kern="1200">
                          <a:solidFill>
                            <a:schemeClr val="tx1"/>
                          </a:solidFill>
                          <a:effectLst/>
                          <a:latin typeface="Times New Roman" panose="02020603050405020304" pitchFamily="18" charset="0"/>
                          <a:ea typeface="+mn-ea"/>
                          <a:cs typeface="Times New Roman" panose="02020603050405020304" pitchFamily="18" charset="0"/>
                        </a:rPr>
                        <a:t>P771077</a:t>
                      </a:r>
                      <a:endParaRPr lang="en-GB" sz="1100" kern="120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24/10/2024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17/05/2025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A619#2 ENG CHANGE</a:t>
                      </a:r>
                      <a:endParaRPr kumimoji="0" lang="en-GB" sz="1100" b="0" i="0" u="none" strike="noStrike" kern="120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Giữ giờ bay cao điểm hè</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1991877321"/>
                  </a:ext>
                </a:extLst>
              </a:tr>
              <a:tr h="460013">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P771387</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05/11/2024</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29/05/2025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A616</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dirty="0">
                          <a:solidFill>
                            <a:schemeClr val="tx1"/>
                          </a:solidFill>
                          <a:effectLst/>
                          <a:latin typeface="Times New Roman" panose="02020603050405020304" pitchFamily="18" charset="0"/>
                          <a:ea typeface="+mn-ea"/>
                          <a:cs typeface="Times New Roman" panose="02020603050405020304" pitchFamily="18" charset="0"/>
                        </a:rPr>
                        <a:t>Target build ~4280 FC do HPT Hub not affected by AD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806751762"/>
                  </a:ext>
                </a:extLst>
              </a:tr>
              <a:tr h="523616">
                <a:tc>
                  <a:txBody>
                    <a:bodyPr/>
                    <a:lstStyle/>
                    <a:p>
                      <a:pPr algn="ctr"/>
                      <a:r>
                        <a:rPr lang="en-GB" sz="110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P771373</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endParaRPr kumimoji="0" lang="en-GB" sz="11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20/02/2025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29/08/2025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179968567"/>
                  </a:ext>
                </a:extLst>
              </a:tr>
              <a:tr h="460013">
                <a:tc>
                  <a:txBody>
                    <a:bodyPr/>
                    <a:lstStyle/>
                    <a:p>
                      <a:pPr algn="ctr"/>
                      <a:r>
                        <a:rPr lang="en-GB" sz="1100">
                          <a:solidFill>
                            <a:schemeClr val="tx1"/>
                          </a:solidFill>
                          <a:latin typeface="Times New Roman" panose="02020603050405020304" pitchFamily="18" charset="0"/>
                          <a:cs typeface="Times New Roman" panose="02020603050405020304" pitchFamily="18" charset="0"/>
                        </a:rPr>
                        <a:t>10</a:t>
                      </a:r>
                      <a:endParaRPr lang="en-GB" sz="11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100" kern="1200">
                          <a:solidFill>
                            <a:schemeClr val="tx1"/>
                          </a:solidFill>
                          <a:effectLst/>
                          <a:latin typeface="Times New Roman" panose="02020603050405020304" pitchFamily="18" charset="0"/>
                          <a:ea typeface="+mn-ea"/>
                          <a:cs typeface="Times New Roman" panose="02020603050405020304" pitchFamily="18" charset="0"/>
                        </a:rPr>
                        <a:t>P771041</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Not Inducted</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19/03/2025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12/06/2025</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100" kern="1200" noProof="0">
                          <a:solidFill>
                            <a:schemeClr val="tx1"/>
                          </a:solidFill>
                          <a:effectLst/>
                          <a:latin typeface="Times New Roman" panose="02020603050405020304" pitchFamily="18" charset="0"/>
                          <a:ea typeface="+mn-ea"/>
                          <a:cs typeface="Times New Roman" panose="02020603050405020304" pitchFamily="18" charset="0"/>
                        </a:rPr>
                        <a:t>RTS A508</a:t>
                      </a: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100" kern="1200" noProof="0" dirty="0">
                        <a:solidFill>
                          <a:schemeClr val="tx1"/>
                        </a:solidFill>
                        <a:effectLst/>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92465008"/>
                  </a:ext>
                </a:extLst>
              </a:tr>
            </a:tbl>
          </a:graphicData>
        </a:graphic>
      </p:graphicFrame>
      <p:sp>
        <p:nvSpPr>
          <p:cNvPr id="4" name="TextBox 3">
            <a:extLst>
              <a:ext uri="{FF2B5EF4-FFF2-40B4-BE49-F238E27FC236}">
                <a16:creationId xmlns:a16="http://schemas.microsoft.com/office/drawing/2014/main" id="{8E657E58-C6AA-4957-1D5D-8F4F96FE5488}"/>
              </a:ext>
            </a:extLst>
          </p:cNvPr>
          <p:cNvSpPr txBox="1"/>
          <p:nvPr/>
        </p:nvSpPr>
        <p:spPr>
          <a:xfrm>
            <a:off x="153473" y="103041"/>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076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566C40-78C1-9EC0-1727-A8DD49C3FD9B}"/>
              </a:ext>
            </a:extLst>
          </p:cNvPr>
          <p:cNvSpPr>
            <a:spLocks noGrp="1"/>
          </p:cNvSpPr>
          <p:nvPr>
            <p:ph type="sldNum" idx="12"/>
          </p:nvPr>
        </p:nvSpPr>
        <p:spPr/>
        <p:txBody>
          <a:bodyPr/>
          <a:lstStyle/>
          <a:p>
            <a:fld id="{00000000-1234-1234-1234-123412341234}" type="slidenum">
              <a:rPr lang="vi" smtClean="0"/>
              <a:pPr/>
              <a:t>34</a:t>
            </a:fld>
            <a:endParaRPr lang="vi"/>
          </a:p>
        </p:txBody>
      </p:sp>
      <p:sp>
        <p:nvSpPr>
          <p:cNvPr id="16" name="TextBox 15">
            <a:extLst>
              <a:ext uri="{FF2B5EF4-FFF2-40B4-BE49-F238E27FC236}">
                <a16:creationId xmlns:a16="http://schemas.microsoft.com/office/drawing/2014/main" id="{A2528A14-5474-03B4-BF8A-AFDB59E54730}"/>
              </a:ext>
            </a:extLst>
          </p:cNvPr>
          <p:cNvSpPr txBox="1"/>
          <p:nvPr/>
        </p:nvSpPr>
        <p:spPr>
          <a:xfrm>
            <a:off x="0" y="431801"/>
            <a:ext cx="7890933"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Kế</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hoạch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thay</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a:t>
            </a:r>
            <a:r>
              <a:rPr lang="vi-VN" sz="2400" b="1" dirty="0">
                <a:solidFill>
                  <a:srgbClr val="002060"/>
                </a:solidFill>
                <a:latin typeface="Times New Roman" panose="02020603050405020304" pitchFamily="18" charset="0"/>
                <a:cs typeface="Times New Roman" panose="02020603050405020304" pitchFamily="18" charset="0"/>
              </a:rPr>
              <a:t>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a:solidFill>
                  <a:srgbClr val="002060"/>
                </a:solidFill>
                <a:latin typeface="Times New Roman" panose="02020603050405020304" pitchFamily="18" charset="0"/>
                <a:cs typeface="Times New Roman" panose="02020603050405020304" pitchFamily="18" charset="0"/>
              </a:rPr>
              <a:t>A321NEO T2-T3/25</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FF648BE0-3FB3-B153-2A56-6AAF25C6C6E2}"/>
              </a:ext>
            </a:extLst>
          </p:cNvPr>
          <p:cNvSpPr txBox="1"/>
          <p:nvPr/>
        </p:nvSpPr>
        <p:spPr>
          <a:xfrm>
            <a:off x="1" y="-5952"/>
            <a:ext cx="9584267"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A321NEO</a:t>
            </a:r>
            <a:endParaRPr lang="en-GB"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8" name="Table 2">
            <a:extLst>
              <a:ext uri="{FF2B5EF4-FFF2-40B4-BE49-F238E27FC236}">
                <a16:creationId xmlns:a16="http://schemas.microsoft.com/office/drawing/2014/main" id="{6F2FE8BC-4850-BD1B-EABA-12CA92CD86BA}"/>
              </a:ext>
            </a:extLst>
          </p:cNvPr>
          <p:cNvGraphicFramePr>
            <a:graphicFrameLocks noGrp="1"/>
          </p:cNvGraphicFramePr>
          <p:nvPr/>
        </p:nvGraphicFramePr>
        <p:xfrm>
          <a:off x="163789" y="1032931"/>
          <a:ext cx="11864421" cy="5709490"/>
        </p:xfrm>
        <a:graphic>
          <a:graphicData uri="http://schemas.openxmlformats.org/drawingml/2006/table">
            <a:tbl>
              <a:tblPr firstRow="1" bandRow="1">
                <a:tableStyleId>{5C22544A-7EE6-4342-B048-85BDC9FD1C3A}</a:tableStyleId>
              </a:tblPr>
              <a:tblGrid>
                <a:gridCol w="518103">
                  <a:extLst>
                    <a:ext uri="{9D8B030D-6E8A-4147-A177-3AD203B41FA5}">
                      <a16:colId xmlns:a16="http://schemas.microsoft.com/office/drawing/2014/main" val="1598605427"/>
                    </a:ext>
                  </a:extLst>
                </a:gridCol>
                <a:gridCol w="1162593">
                  <a:extLst>
                    <a:ext uri="{9D8B030D-6E8A-4147-A177-3AD203B41FA5}">
                      <a16:colId xmlns:a16="http://schemas.microsoft.com/office/drawing/2014/main" val="3845954792"/>
                    </a:ext>
                  </a:extLst>
                </a:gridCol>
                <a:gridCol w="1190421">
                  <a:extLst>
                    <a:ext uri="{9D8B030D-6E8A-4147-A177-3AD203B41FA5}">
                      <a16:colId xmlns:a16="http://schemas.microsoft.com/office/drawing/2014/main" val="2148822928"/>
                    </a:ext>
                  </a:extLst>
                </a:gridCol>
                <a:gridCol w="1190421">
                  <a:extLst>
                    <a:ext uri="{9D8B030D-6E8A-4147-A177-3AD203B41FA5}">
                      <a16:colId xmlns:a16="http://schemas.microsoft.com/office/drawing/2014/main" val="2136763095"/>
                    </a:ext>
                  </a:extLst>
                </a:gridCol>
                <a:gridCol w="1190421">
                  <a:extLst>
                    <a:ext uri="{9D8B030D-6E8A-4147-A177-3AD203B41FA5}">
                      <a16:colId xmlns:a16="http://schemas.microsoft.com/office/drawing/2014/main" val="4058157000"/>
                    </a:ext>
                  </a:extLst>
                </a:gridCol>
                <a:gridCol w="1190421">
                  <a:extLst>
                    <a:ext uri="{9D8B030D-6E8A-4147-A177-3AD203B41FA5}">
                      <a16:colId xmlns:a16="http://schemas.microsoft.com/office/drawing/2014/main" val="1185879436"/>
                    </a:ext>
                  </a:extLst>
                </a:gridCol>
                <a:gridCol w="1190421">
                  <a:extLst>
                    <a:ext uri="{9D8B030D-6E8A-4147-A177-3AD203B41FA5}">
                      <a16:colId xmlns:a16="http://schemas.microsoft.com/office/drawing/2014/main" val="3807119371"/>
                    </a:ext>
                  </a:extLst>
                </a:gridCol>
                <a:gridCol w="890210">
                  <a:extLst>
                    <a:ext uri="{9D8B030D-6E8A-4147-A177-3AD203B41FA5}">
                      <a16:colId xmlns:a16="http://schemas.microsoft.com/office/drawing/2014/main" val="2251645117"/>
                    </a:ext>
                  </a:extLst>
                </a:gridCol>
                <a:gridCol w="3341410">
                  <a:extLst>
                    <a:ext uri="{9D8B030D-6E8A-4147-A177-3AD203B41FA5}">
                      <a16:colId xmlns:a16="http://schemas.microsoft.com/office/drawing/2014/main" val="3735753066"/>
                    </a:ext>
                  </a:extLst>
                </a:gridCol>
              </a:tblGrid>
              <a:tr h="496397">
                <a:tc>
                  <a:txBody>
                    <a:bodyPr/>
                    <a:lstStyle/>
                    <a:p>
                      <a:pPr algn="ctr"/>
                      <a:r>
                        <a:rPr lang="en-GB" sz="1200" dirty="0">
                          <a:latin typeface="Times New Roman" panose="02020603050405020304" pitchFamily="18" charset="0"/>
                          <a:cs typeface="Times New Roman" panose="02020603050405020304" pitchFamily="18" charset="0"/>
                        </a:rPr>
                        <a:t>No.</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200" dirty="0">
                          <a:latin typeface="Times New Roman" panose="02020603050405020304" pitchFamily="18" charset="0"/>
                          <a:cs typeface="Times New Roman" panose="02020603050405020304" pitchFamily="18" charset="0"/>
                        </a:rPr>
                        <a:t>ESN OFF</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ESN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Remove from</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on</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dirty="0">
                          <a:solidFill>
                            <a:schemeClr val="lt1"/>
                          </a:solidFill>
                          <a:latin typeface="Times New Roman" panose="02020603050405020304" pitchFamily="18" charset="0"/>
                          <a:ea typeface="+mn-ea"/>
                          <a:cs typeface="Times New Roman" panose="02020603050405020304" pitchFamily="18" charset="0"/>
                        </a:rPr>
                        <a:t>Removal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Install Date</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200" b="1" kern="1200">
                          <a:solidFill>
                            <a:schemeClr val="lt1"/>
                          </a:solidFill>
                          <a:latin typeface="Times New Roman" panose="02020603050405020304" pitchFamily="18" charset="0"/>
                          <a:ea typeface="+mn-ea"/>
                          <a:cs typeface="Times New Roman" panose="02020603050405020304" pitchFamily="18" charset="0"/>
                        </a:rPr>
                        <a:t>Shopvisit</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200">
                          <a:latin typeface="Times New Roman" panose="02020603050405020304" pitchFamily="18" charset="0"/>
                          <a:cs typeface="Times New Roman" panose="02020603050405020304" pitchFamily="18" charset="0"/>
                        </a:rPr>
                        <a:t>Remark</a:t>
                      </a:r>
                      <a:endParaRPr lang="en-GB" sz="12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420993">
                <a:tc>
                  <a:txBody>
                    <a:bodyPr/>
                    <a:lstStyle/>
                    <a:p>
                      <a:pPr algn="ctr"/>
                      <a:r>
                        <a:rPr lang="en-US" sz="1200" b="0" i="0" u="none" strike="noStrike" kern="1200">
                          <a:solidFill>
                            <a:schemeClr val="tx1"/>
                          </a:solidFill>
                          <a:effectLst/>
                          <a:latin typeface="Calibri" panose="020F0502020204030204" pitchFamily="34" charset="0"/>
                          <a:ea typeface="+mn-ea"/>
                          <a:cs typeface="+mn-cs"/>
                        </a:rPr>
                        <a:t>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Swap engine with A619, A620 dừng làm check</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83596114"/>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P771668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P772905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A619#2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A620#2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15-Feb-25</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17-Feb-25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Swap engine with A620, A619 tiếp tục khai thác</a:t>
                      </a:r>
                      <a:endParaRPr lang="en-US" sz="1200" b="0" i="0" u="none" strike="noStrike" dirty="0">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1989440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3</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a:t>
                      </a:r>
                      <a:r>
                        <a:rPr lang="vi-VN" sz="1200" b="0" i="0" u="none" strike="noStrike">
                          <a:solidFill>
                            <a:schemeClr val="tx1"/>
                          </a:solidFill>
                          <a:effectLst/>
                          <a:latin typeface="Calibri" panose="020F0502020204030204" pitchFamily="34" charset="0"/>
                        </a:rPr>
                        <a:t>414</a:t>
                      </a:r>
                      <a:endParaRPr lang="en-US" sz="1200" b="0" i="0" u="none" strike="noStrike">
                        <a:solidFill>
                          <a:schemeClr val="tx1"/>
                        </a:solidFill>
                        <a:effectLst/>
                        <a:latin typeface="Calibri" panose="020F0502020204030204" pitchFamily="34" charset="0"/>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A507#2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26-Feb-25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28-Feb-25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09650508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4</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P771488</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chemeClr val="tx1"/>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chemeClr val="tx1"/>
                          </a:solidFill>
                          <a:effectLst/>
                          <a:latin typeface="Calibri" panose="020F0502020204030204" pitchFamily="34" charset="0"/>
                        </a:rPr>
                        <a:t>A623#1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56206629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5</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P771041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20-Feb-25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 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84227953"/>
                  </a:ext>
                </a:extLst>
              </a:tr>
              <a:tr h="501390">
                <a:tc>
                  <a:txBody>
                    <a:bodyPr/>
                    <a:lstStyle/>
                    <a:p>
                      <a:pPr algn="ctr"/>
                      <a:r>
                        <a:rPr lang="en-GB" sz="1200" b="0" i="0" u="none" strike="noStrike" kern="1200">
                          <a:solidFill>
                            <a:schemeClr val="tx1"/>
                          </a:solidFill>
                          <a:effectLst/>
                          <a:latin typeface="Calibri" panose="020F0502020204030204" pitchFamily="34" charset="0"/>
                          <a:ea typeface="+mn-ea"/>
                          <a:cs typeface="+mn-cs"/>
                        </a:rPr>
                        <a:t>6</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P771090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cap="none">
                          <a:solidFill>
                            <a:schemeClr val="tx1"/>
                          </a:solidFill>
                          <a:effectLst/>
                          <a:latin typeface="Calibri" panose="020F0502020204030204" pitchFamily="34" charset="0"/>
                          <a:ea typeface="+mn-ea"/>
                          <a:cs typeface="+mn-cs"/>
                          <a:sym typeface="Arial"/>
                        </a:rPr>
                        <a:t>A616#1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cap="none">
                        <a:solidFill>
                          <a:schemeClr val="tx1"/>
                        </a:solidFill>
                        <a:effectLst/>
                        <a:latin typeface="Calibri" panose="020F0502020204030204" pitchFamily="34" charset="0"/>
                        <a:ea typeface="+mn-ea"/>
                        <a:cs typeface="+mn-cs"/>
                        <a:sym typeface="Arial"/>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ENG REMOVAL</a:t>
                      </a:r>
                      <a:endPar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Rob for A506#2 for 7 day engine run-up interval</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98156564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7</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P771423</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P771090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A506#2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kern="1200">
                          <a:solidFill>
                            <a:srgbClr val="000000"/>
                          </a:solidFill>
                          <a:effectLst/>
                          <a:latin typeface="Calibri" panose="020F0502020204030204" pitchFamily="34" charset="0"/>
                          <a:ea typeface="+mn-ea"/>
                          <a:cs typeface="+mn-cs"/>
                        </a:rPr>
                        <a:t>8-Mar-25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10-Mar-25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Yes</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QT Shop Visit</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84390368"/>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8</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P771710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cap="none">
                          <a:solidFill>
                            <a:schemeClr val="tx1"/>
                          </a:solidFill>
                          <a:effectLst/>
                          <a:latin typeface="Calibri" panose="020F0502020204030204" pitchFamily="34" charset="0"/>
                          <a:ea typeface="+mn-ea"/>
                          <a:cs typeface="+mn-cs"/>
                          <a:sym typeface="Arial"/>
                        </a:rPr>
                        <a:t>P771075</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A621#2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200" b="0" i="0" u="none" strike="noStrike">
                          <a:solidFill>
                            <a:srgbClr val="000000"/>
                          </a:solidFill>
                          <a:effectLst/>
                          <a:latin typeface="Calibri" panose="020F0502020204030204" pitchFamily="34" charset="0"/>
                        </a:rPr>
                        <a:t>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Giữ giờ P771710 để bay CĐ hè</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63539945"/>
                  </a:ext>
                </a:extLst>
              </a:tr>
              <a:tr h="429071">
                <a:tc>
                  <a:txBody>
                    <a:bodyPr/>
                    <a:lstStyle/>
                    <a:p>
                      <a:pPr algn="ctr"/>
                      <a:r>
                        <a:rPr lang="vi-VN" sz="1200" b="0" i="0" u="none" strike="noStrike" kern="1200">
                          <a:solidFill>
                            <a:schemeClr val="tx1"/>
                          </a:solidFill>
                          <a:effectLst/>
                          <a:latin typeface="Calibri" panose="020F0502020204030204" pitchFamily="34" charset="0"/>
                          <a:ea typeface="+mn-ea"/>
                          <a:cs typeface="+mn-cs"/>
                        </a:rPr>
                        <a:t>9</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P770904</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A501#2</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25-Mar-25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7-Apr-25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0264493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10</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cap="none">
                          <a:solidFill>
                            <a:schemeClr val="tx1"/>
                          </a:solidFill>
                          <a:effectLst/>
                          <a:latin typeface="Calibri" panose="020F0502020204030204" pitchFamily="34" charset="0"/>
                          <a:ea typeface="+mn-ea"/>
                          <a:cs typeface="+mn-cs"/>
                          <a:sym typeface="Arial"/>
                        </a:rPr>
                        <a:t>P77</a:t>
                      </a:r>
                      <a:r>
                        <a:rPr lang="en-US" sz="1200" b="0" i="0" u="none" strike="noStrike" cap="none">
                          <a:solidFill>
                            <a:schemeClr val="tx1"/>
                          </a:solidFill>
                          <a:effectLst/>
                          <a:latin typeface="Calibri" panose="020F0502020204030204" pitchFamily="34" charset="0"/>
                          <a:ea typeface="+mn-ea"/>
                          <a:cs typeface="+mn-cs"/>
                          <a:sym typeface="Arial"/>
                        </a:rPr>
                        <a:t>1130</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A501#1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13-Apr-25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vi-VN"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rPr>
                        <a:t>RTS</a:t>
                      </a:r>
                      <a:endParaRPr kumimoji="0" lang="en-GB" sz="1200" b="0" i="0" u="none" strike="noStrike" kern="1200" cap="none" spc="0" normalizeH="0" baseline="0" noProof="0">
                        <a:ln>
                          <a:noFill/>
                        </a:ln>
                        <a:solidFill>
                          <a:schemeClr val="tx1"/>
                        </a:solidFill>
                        <a:effectLst/>
                        <a:uLnTx/>
                        <a:uFillTx/>
                        <a:latin typeface="Calibri" panose="020F0502020204030204" pitchFamily="34" charset="0"/>
                        <a:ea typeface="+mn-ea"/>
                        <a:cs typeface="+mn-cs"/>
                        <a:sym typeface="Arial"/>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61236811"/>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11</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P771177</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P771110</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A622#1</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27-Mar-25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29-Mar-25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CHANGE</a:t>
                      </a:r>
                      <a:endParaRPr lang="en-GB" sz="1200" b="0" i="0" u="none" strike="noStrike" kern="1200" noProof="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15520155"/>
                  </a:ext>
                </a:extLst>
              </a:tr>
              <a:tr h="429071">
                <a:tc>
                  <a:txBody>
                    <a:bodyPr/>
                    <a:lstStyle/>
                    <a:p>
                      <a:pPr algn="ctr"/>
                      <a:r>
                        <a:rPr lang="en-GB" sz="1200" b="0" i="0" u="none" strike="noStrike" kern="1200">
                          <a:solidFill>
                            <a:schemeClr val="tx1"/>
                          </a:solidFill>
                          <a:effectLst/>
                          <a:latin typeface="Calibri" panose="020F0502020204030204" pitchFamily="34" charset="0"/>
                          <a:ea typeface="+mn-ea"/>
                          <a:cs typeface="+mn-cs"/>
                        </a:rPr>
                        <a:t>12</a:t>
                      </a:r>
                      <a:endParaRPr lang="en-GB" sz="1200" b="0" i="0" u="none" strike="noStrike" kern="1200" dirty="0">
                        <a:solidFill>
                          <a:schemeClr val="tx1"/>
                        </a:solidFill>
                        <a:effectLst/>
                        <a:latin typeface="Calibri" panose="020F0502020204030204" pitchFamily="34" charset="0"/>
                        <a:ea typeface="+mn-ea"/>
                        <a:cs typeface="+mn-cs"/>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a:solidFill>
                            <a:srgbClr val="000000"/>
                          </a:solidFill>
                          <a:effectLst/>
                          <a:latin typeface="Calibri" panose="020F0502020204030204" pitchFamily="34" charset="0"/>
                        </a:rPr>
                        <a:t>P771131</a:t>
                      </a:r>
                      <a:endParaRPr lang="en-US" sz="1200" b="0" i="0" u="none" strike="noStrike" cap="none">
                        <a:solidFill>
                          <a:schemeClr val="tx1"/>
                        </a:solidFill>
                        <a:effectLst/>
                        <a:latin typeface="Calibri" panose="020F0502020204030204" pitchFamily="34" charset="0"/>
                        <a:ea typeface="+mn-ea"/>
                        <a:cs typeface="+mn-cs"/>
                        <a:sym typeface="Arial"/>
                      </a:endParaRP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vi-VN" sz="1200" b="0" i="0" u="none" strike="noStrike">
                          <a:solidFill>
                            <a:srgbClr val="000000"/>
                          </a:solidFill>
                          <a:effectLst/>
                          <a:latin typeface="Calibri" panose="020F0502020204030204" pitchFamily="34" charset="0"/>
                        </a:rPr>
                        <a:t>A623#2</a:t>
                      </a:r>
                      <a:endParaRPr lang="en-US" sz="1200" b="0" i="0" u="none" strike="noStrike">
                        <a:solidFill>
                          <a:srgbClr val="000000"/>
                        </a:solidFill>
                        <a:effectLst/>
                        <a:latin typeface="Calibri" panose="020F0502020204030204" pitchFamily="34"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endParaRPr lang="en-US" sz="1200" b="0" i="0" u="none" strike="noStrike" kern="1200">
                        <a:solidFill>
                          <a:srgbClr val="000000"/>
                        </a:solidFill>
                        <a:effectLst/>
                        <a:latin typeface="Calibri" panose="020F0502020204030204" pitchFamily="34" charset="0"/>
                        <a:ea typeface="+mn-ea"/>
                        <a:cs typeface="+mn-cs"/>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fontAlgn="ctr"/>
                      <a:r>
                        <a:rPr lang="en-US" sz="1200" b="0" i="0" u="none" strike="noStrike" kern="1200">
                          <a:solidFill>
                            <a:srgbClr val="000000"/>
                          </a:solidFill>
                          <a:effectLst/>
                          <a:latin typeface="Calibri" panose="020F0502020204030204" pitchFamily="34" charset="0"/>
                          <a:ea typeface="+mn-ea"/>
                          <a:cs typeface="+mn-cs"/>
                        </a:rPr>
                        <a:t>15-Apr-25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No</a:t>
                      </a:r>
                    </a:p>
                  </a:txBody>
                  <a:tcPr marL="10160" marR="10160" marT="1016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200" b="0" i="0" u="none" strike="noStrike" kern="1200" noProof="0">
                          <a:solidFill>
                            <a:schemeClr val="tx1"/>
                          </a:solidFill>
                          <a:effectLst/>
                          <a:latin typeface="Calibri" panose="020F0502020204030204" pitchFamily="34" charset="0"/>
                          <a:ea typeface="+mn-ea"/>
                          <a:cs typeface="+mn-cs"/>
                        </a:rPr>
                        <a:t>ENG INSTALLATION</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81110417"/>
                  </a:ext>
                </a:extLst>
              </a:tr>
            </a:tbl>
          </a:graphicData>
        </a:graphic>
      </p:graphicFrame>
    </p:spTree>
    <p:extLst>
      <p:ext uri="{BB962C8B-B14F-4D97-AF65-F5344CB8AC3E}">
        <p14:creationId xmlns:p14="http://schemas.microsoft.com/office/powerpoint/2010/main" val="204808382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DC04D1-B131-A396-A21D-BABB2FBC0F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0AF8DC-DB52-2B80-A0CB-44CC8F1F6223}"/>
              </a:ext>
            </a:extLst>
          </p:cNvPr>
          <p:cNvSpPr>
            <a:spLocks noGrp="1"/>
          </p:cNvSpPr>
          <p:nvPr>
            <p:ph type="sldNum" idx="12"/>
          </p:nvPr>
        </p:nvSpPr>
        <p:spPr/>
        <p:txBody>
          <a:bodyPr/>
          <a:lstStyle/>
          <a:p>
            <a:fld id="{00000000-1234-1234-1234-123412341234}" type="slidenum">
              <a:rPr lang="vi" smtClean="0"/>
              <a:pPr/>
              <a:t>35</a:t>
            </a:fld>
            <a:endParaRPr lang="vi"/>
          </a:p>
        </p:txBody>
      </p:sp>
      <p:sp>
        <p:nvSpPr>
          <p:cNvPr id="4" name="TextBox 3">
            <a:extLst>
              <a:ext uri="{FF2B5EF4-FFF2-40B4-BE49-F238E27FC236}">
                <a16:creationId xmlns:a16="http://schemas.microsoft.com/office/drawing/2014/main" id="{6A298D6A-885F-D023-4F90-0DB964121D89}"/>
              </a:ext>
            </a:extLst>
          </p:cNvPr>
          <p:cNvSpPr txBox="1"/>
          <p:nvPr/>
        </p:nvSpPr>
        <p:spPr>
          <a:xfrm>
            <a:off x="2867825" y="145192"/>
            <a:ext cx="5764090" cy="461665"/>
          </a:xfrm>
          <a:prstGeom prst="rect">
            <a:avLst/>
          </a:prstGeom>
          <a:noFill/>
        </p:spPr>
        <p:txBody>
          <a:bodyPr wrap="square" rtlCol="0">
            <a:spAutoFit/>
          </a:bodyPr>
          <a:lstStyle/>
          <a:p>
            <a:pPr algn="ctr"/>
            <a:r>
              <a:rPr lang="en-US" sz="2400" b="1" dirty="0">
                <a:solidFill>
                  <a:srgbClr val="DAA600"/>
                </a:solidFill>
                <a:latin typeface="Times New Roman" panose="02020603050405020304" pitchFamily="18" charset="0"/>
                <a:cs typeface="Times New Roman" panose="02020603050405020304" pitchFamily="18" charset="0"/>
              </a:rPr>
              <a:t>ĐỘI BAY A321CEO</a:t>
            </a:r>
            <a:endParaRPr lang="en-GB" sz="2400" b="1" dirty="0">
              <a:solidFill>
                <a:srgbClr val="DAA600"/>
              </a:solidFill>
              <a:latin typeface="Times New Roman" panose="02020603050405020304" pitchFamily="18" charset="0"/>
              <a:cs typeface="Times New Roman" panose="02020603050405020304" pitchFamily="18" charset="0"/>
            </a:endParaRPr>
          </a:p>
        </p:txBody>
      </p:sp>
      <p:graphicFrame>
        <p:nvGraphicFramePr>
          <p:cNvPr id="7" name="Table 2">
            <a:extLst>
              <a:ext uri="{FF2B5EF4-FFF2-40B4-BE49-F238E27FC236}">
                <a16:creationId xmlns:a16="http://schemas.microsoft.com/office/drawing/2014/main" id="{7BBB0B2C-0AB6-AE2A-F08B-65F49223079D}"/>
              </a:ext>
            </a:extLst>
          </p:cNvPr>
          <p:cNvGraphicFramePr>
            <a:graphicFrameLocks noGrp="1"/>
          </p:cNvGraphicFramePr>
          <p:nvPr/>
        </p:nvGraphicFramePr>
        <p:xfrm>
          <a:off x="185138" y="1041725"/>
          <a:ext cx="5339361" cy="3638990"/>
        </p:xfrm>
        <a:graphic>
          <a:graphicData uri="http://schemas.openxmlformats.org/drawingml/2006/table">
            <a:tbl>
              <a:tblPr firstRow="1" bandRow="1">
                <a:tableStyleId>{5C22544A-7EE6-4342-B048-85BDC9FD1C3A}</a:tableStyleId>
              </a:tblPr>
              <a:tblGrid>
                <a:gridCol w="430883">
                  <a:extLst>
                    <a:ext uri="{9D8B030D-6E8A-4147-A177-3AD203B41FA5}">
                      <a16:colId xmlns:a16="http://schemas.microsoft.com/office/drawing/2014/main" val="1598605427"/>
                    </a:ext>
                  </a:extLst>
                </a:gridCol>
                <a:gridCol w="701211">
                  <a:extLst>
                    <a:ext uri="{9D8B030D-6E8A-4147-A177-3AD203B41FA5}">
                      <a16:colId xmlns:a16="http://schemas.microsoft.com/office/drawing/2014/main" val="3845954792"/>
                    </a:ext>
                  </a:extLst>
                </a:gridCol>
                <a:gridCol w="1023768">
                  <a:extLst>
                    <a:ext uri="{9D8B030D-6E8A-4147-A177-3AD203B41FA5}">
                      <a16:colId xmlns:a16="http://schemas.microsoft.com/office/drawing/2014/main" val="2148822928"/>
                    </a:ext>
                  </a:extLst>
                </a:gridCol>
                <a:gridCol w="872619">
                  <a:extLst>
                    <a:ext uri="{9D8B030D-6E8A-4147-A177-3AD203B41FA5}">
                      <a16:colId xmlns:a16="http://schemas.microsoft.com/office/drawing/2014/main" val="1185879436"/>
                    </a:ext>
                  </a:extLst>
                </a:gridCol>
                <a:gridCol w="2310880">
                  <a:extLst>
                    <a:ext uri="{9D8B030D-6E8A-4147-A177-3AD203B41FA5}">
                      <a16:colId xmlns:a16="http://schemas.microsoft.com/office/drawing/2014/main" val="3328294324"/>
                    </a:ext>
                  </a:extLst>
                </a:gridCol>
              </a:tblGrid>
              <a:tr h="259882">
                <a:tc>
                  <a:txBody>
                    <a:bodyPr/>
                    <a:lstStyle/>
                    <a:p>
                      <a:pPr algn="ct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ESN</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Status</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err="1">
                          <a:latin typeface="Times New Roman" panose="02020603050405020304" pitchFamily="18" charset="0"/>
                          <a:cs typeface="Times New Roman" panose="02020603050405020304" pitchFamily="18" charset="0"/>
                        </a:rPr>
                        <a:t>Ngày</a:t>
                      </a:r>
                      <a:r>
                        <a:rPr lang="en-US" sz="1100" dirty="0">
                          <a:latin typeface="Times New Roman" panose="02020603050405020304" pitchFamily="18" charset="0"/>
                          <a:cs typeface="Times New Roman" panose="02020603050405020304" pitchFamily="18" charset="0"/>
                        </a:rPr>
                        <a:t> </a:t>
                      </a:r>
                      <a:r>
                        <a:rPr lang="en-US" sz="1100" dirty="0" err="1">
                          <a:latin typeface="Times New Roman" panose="02020603050405020304" pitchFamily="18" charset="0"/>
                          <a:cs typeface="Times New Roman" panose="02020603050405020304" pitchFamily="18" charset="0"/>
                        </a:rPr>
                        <a:t>xong</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100" dirty="0">
                          <a:latin typeface="Times New Roman" panose="02020603050405020304" pitchFamily="18" charset="0"/>
                          <a:cs typeface="Times New Roman" panose="02020603050405020304" pitchFamily="18" charset="0"/>
                        </a:rPr>
                        <a:t>Remark</a:t>
                      </a:r>
                      <a:endParaRPr lang="en-GB" sz="1100"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195070">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28/01/2024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24237589"/>
                  </a:ext>
                </a:extLst>
              </a:tr>
              <a:tr h="173734">
                <a:tc>
                  <a:txBody>
                    <a:bodyPr/>
                    <a:lstStyle/>
                    <a:p>
                      <a:pPr algn="ctr"/>
                      <a:r>
                        <a:rPr lang="en-US" sz="1100" dirty="0">
                          <a:solidFill>
                            <a:schemeClr val="tx1"/>
                          </a:solidFill>
                          <a:latin typeface="Times New Roman" panose="02020603050405020304" pitchFamily="18" charset="0"/>
                          <a:cs typeface="Times New Roman" panose="02020603050405020304" pitchFamily="18" charset="0"/>
                        </a:rPr>
                        <a:t>2</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V17951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26/12/2024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Đã</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giao</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Vaeco</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4525903"/>
                  </a:ext>
                </a:extLst>
              </a:tr>
              <a:tr h="259882">
                <a:tc>
                  <a:txBody>
                    <a:bodyPr/>
                    <a:lstStyle/>
                    <a:p>
                      <a:pPr algn="ctr"/>
                      <a:r>
                        <a:rPr lang="en-US" sz="1100" dirty="0">
                          <a:solidFill>
                            <a:srgbClr val="FF0000"/>
                          </a:solidFill>
                          <a:latin typeface="Times New Roman" panose="02020603050405020304" pitchFamily="18" charset="0"/>
                          <a:cs typeface="Times New Roman" panose="02020603050405020304" pitchFamily="18" charset="0"/>
                        </a:rPr>
                        <a:t>3</a:t>
                      </a:r>
                      <a:endParaRPr lang="en-GB" sz="1100" dirty="0">
                        <a:solidFill>
                          <a:srgbClr val="FF0000"/>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V16037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23/02/2025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03/03/2025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04/03)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5220057"/>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V16338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18/04/2025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25/04/2025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12/04)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0"/>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30/04/2025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13/05/2025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2"/>
                  </a:ext>
                </a:extLst>
              </a:tr>
              <a:tr h="25988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V16456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03/05/2025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3"/>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V12505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19/03/2025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26/03/2025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19/03)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4"/>
                  </a:ext>
                </a:extLst>
              </a:tr>
              <a:tr h="265336">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V16558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SV (CHCEC)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26/05/2025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chemeClr val="tx1"/>
                          </a:solidFill>
                          <a:latin typeface="Times New Roman" panose="02020603050405020304" pitchFamily="18" charset="0"/>
                          <a:cs typeface="Times New Roman" panose="02020603050405020304" pitchFamily="18" charset="0"/>
                        </a:rPr>
                        <a:t>08/06/2025 </a:t>
                      </a:r>
                      <a:r>
                        <a:rPr lang="en-GB" sz="1100" dirty="0" err="1">
                          <a:solidFill>
                            <a:schemeClr val="tx1"/>
                          </a:solidFill>
                          <a:latin typeface="Times New Roman" panose="02020603050405020304" pitchFamily="18" charset="0"/>
                          <a:cs typeface="Times New Roman" panose="02020603050405020304" pitchFamily="18" charset="0"/>
                        </a:rPr>
                        <a:t>về</a:t>
                      </a:r>
                      <a:r>
                        <a:rPr lang="en-GB" sz="1100" dirty="0">
                          <a:solidFill>
                            <a:schemeClr val="tx1"/>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5"/>
                  </a:ext>
                </a:extLst>
              </a:tr>
              <a:tr h="259882">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V16799</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18/06/2025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28/06/2025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 (pre 10/07)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7"/>
                  </a:ext>
                </a:extLst>
              </a:tr>
              <a:tr h="196996">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V16517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(AMECO)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28/07/2025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09/08/2025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8"/>
                  </a:ext>
                </a:extLst>
              </a:tr>
              <a:tr h="198922">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V16694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0"/>
                  </a:ext>
                </a:extLst>
              </a:tr>
              <a:tr h="245444">
                <a:tc>
                  <a:txBody>
                    <a:bodyPr/>
                    <a:lstStyle/>
                    <a:p>
                      <a:pPr algn="ctr"/>
                      <a:r>
                        <a:rPr lang="en-GB" sz="1100" dirty="0">
                          <a:solidFill>
                            <a:schemeClr val="tx1"/>
                          </a:solidFill>
                          <a:latin typeface="Times New Roman" panose="02020603050405020304" pitchFamily="18" charset="0"/>
                          <a:cs typeface="Times New Roman" panose="02020603050405020304" pitchFamily="18" charset="0"/>
                        </a:rPr>
                        <a:t>12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V15858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chemeClr val="tx1"/>
                          </a:solidFill>
                          <a:latin typeface="Times New Roman" panose="02020603050405020304" pitchFamily="18" charset="0"/>
                          <a:cs typeface="Times New Roman" panose="02020603050405020304" pitchFamily="18" charset="0"/>
                        </a:rPr>
                        <a:t>TBD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err="1">
                          <a:solidFill>
                            <a:schemeClr val="tx1"/>
                          </a:solidFill>
                          <a:latin typeface="Times New Roman" panose="02020603050405020304" pitchFamily="18" charset="0"/>
                          <a:cs typeface="Times New Roman" panose="02020603050405020304" pitchFamily="18" charset="0"/>
                        </a:rPr>
                        <a:t>Đang</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chờ</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vận</a:t>
                      </a:r>
                      <a:r>
                        <a:rPr lang="en-GB" sz="1100" dirty="0">
                          <a:solidFill>
                            <a:schemeClr val="tx1"/>
                          </a:solidFill>
                          <a:latin typeface="Times New Roman" panose="02020603050405020304" pitchFamily="18" charset="0"/>
                          <a:cs typeface="Times New Roman" panose="02020603050405020304" pitchFamily="18" charset="0"/>
                        </a:rPr>
                        <a:t> </a:t>
                      </a:r>
                      <a:r>
                        <a:rPr lang="en-GB" sz="1100" dirty="0" err="1">
                          <a:solidFill>
                            <a:schemeClr val="tx1"/>
                          </a:solidFill>
                          <a:latin typeface="Times New Roman" panose="02020603050405020304" pitchFamily="18" charset="0"/>
                          <a:cs typeface="Times New Roman" panose="02020603050405020304" pitchFamily="18" charset="0"/>
                        </a:rPr>
                        <a:t>chuyển</a:t>
                      </a:r>
                      <a:endParaRPr lang="en-GB" sz="11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1"/>
                  </a:ext>
                </a:extLst>
              </a:tr>
              <a:tr h="156570">
                <a:tc>
                  <a:txBody>
                    <a:bodyPr/>
                    <a:lstStyle/>
                    <a:p>
                      <a:pPr algn="ctr"/>
                      <a:r>
                        <a:rPr lang="en-GB" sz="1100" dirty="0">
                          <a:solidFill>
                            <a:srgbClr val="FF0000"/>
                          </a:solidFill>
                          <a:latin typeface="Times New Roman" panose="02020603050405020304" pitchFamily="18" charset="0"/>
                          <a:cs typeface="Times New Roman" panose="02020603050405020304" pitchFamily="18" charset="0"/>
                        </a:rPr>
                        <a:t>13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V17403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SV (MTU)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100" dirty="0">
                          <a:solidFill>
                            <a:srgbClr val="FF0000"/>
                          </a:solidFill>
                          <a:latin typeface="Times New Roman" panose="02020603050405020304" pitchFamily="18" charset="0"/>
                          <a:cs typeface="Times New Roman" panose="02020603050405020304" pitchFamily="18" charset="0"/>
                        </a:rPr>
                        <a:t>29/04/2025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100" dirty="0">
                          <a:solidFill>
                            <a:srgbClr val="FF0000"/>
                          </a:solidFill>
                          <a:latin typeface="Times New Roman" panose="02020603050405020304" pitchFamily="18" charset="0"/>
                          <a:cs typeface="Times New Roman" panose="02020603050405020304" pitchFamily="18" charset="0"/>
                        </a:rPr>
                        <a:t>06/05/2025 </a:t>
                      </a:r>
                      <a:r>
                        <a:rPr lang="en-GB" sz="1100" dirty="0" err="1">
                          <a:solidFill>
                            <a:srgbClr val="FF0000"/>
                          </a:solidFill>
                          <a:latin typeface="Times New Roman" panose="02020603050405020304" pitchFamily="18" charset="0"/>
                          <a:cs typeface="Times New Roman" panose="02020603050405020304" pitchFamily="18" charset="0"/>
                        </a:rPr>
                        <a:t>về</a:t>
                      </a:r>
                      <a:r>
                        <a:rPr lang="en-GB" sz="1100" dirty="0">
                          <a:solidFill>
                            <a:srgbClr val="FF0000"/>
                          </a:solidFill>
                          <a:latin typeface="Times New Roman" panose="02020603050405020304" pitchFamily="18" charset="0"/>
                          <a:cs typeface="Times New Roman" panose="02020603050405020304" pitchFamily="18" charset="0"/>
                        </a:rPr>
                        <a:t> HAN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22"/>
                  </a:ext>
                </a:extLst>
              </a:tr>
            </a:tbl>
          </a:graphicData>
        </a:graphic>
      </p:graphicFrame>
      <p:sp>
        <p:nvSpPr>
          <p:cNvPr id="10" name="TextBox 9">
            <a:extLst>
              <a:ext uri="{FF2B5EF4-FFF2-40B4-BE49-F238E27FC236}">
                <a16:creationId xmlns:a16="http://schemas.microsoft.com/office/drawing/2014/main" id="{065B7C68-FAE0-542E-3B49-CC53ADF9B04A}"/>
              </a:ext>
            </a:extLst>
          </p:cNvPr>
          <p:cNvSpPr txBox="1"/>
          <p:nvPr/>
        </p:nvSpPr>
        <p:spPr>
          <a:xfrm>
            <a:off x="6731101" y="606857"/>
            <a:ext cx="3788281"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Kế</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hoạch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đội</a:t>
            </a:r>
            <a:r>
              <a:rPr lang="en-US" b="1" dirty="0">
                <a:solidFill>
                  <a:srgbClr val="002060"/>
                </a:solidFill>
                <a:latin typeface="Times New Roman" panose="02020603050405020304" pitchFamily="18" charset="0"/>
                <a:cs typeface="Times New Roman" panose="02020603050405020304" pitchFamily="18" charset="0"/>
              </a:rPr>
              <a:t> A321CEO Q1-Q2/2025</a:t>
            </a:r>
            <a:endParaRPr lang="en-GB" b="1" dirty="0">
              <a:solidFill>
                <a:srgbClr val="002060"/>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694FDAB8-BE54-1FE3-A128-4924718F86B6}"/>
              </a:ext>
            </a:extLst>
          </p:cNvPr>
          <p:cNvSpPr txBox="1"/>
          <p:nvPr/>
        </p:nvSpPr>
        <p:spPr>
          <a:xfrm>
            <a:off x="953116" y="626875"/>
            <a:ext cx="3692036"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Các</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động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đã</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tháo</a:t>
            </a:r>
            <a:r>
              <a:rPr lang="en-US" b="1" dirty="0">
                <a:solidFill>
                  <a:srgbClr val="002060"/>
                </a:solidFill>
                <a:latin typeface="Times New Roman" panose="02020603050405020304" pitchFamily="18" charset="0"/>
                <a:cs typeface="Times New Roman" panose="02020603050405020304" pitchFamily="18" charset="0"/>
              </a:rPr>
              <a:t>/</a:t>
            </a:r>
            <a:r>
              <a:rPr lang="en-US" b="1" dirty="0" err="1">
                <a:solidFill>
                  <a:srgbClr val="002060"/>
                </a:solidFill>
                <a:latin typeface="Times New Roman" panose="02020603050405020304" pitchFamily="18" charset="0"/>
                <a:cs typeface="Times New Roman" panose="02020603050405020304" pitchFamily="18" charset="0"/>
              </a:rPr>
              <a:t>đang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sửa</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chữa</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2" name="Table 11">
            <a:extLst>
              <a:ext uri="{FF2B5EF4-FFF2-40B4-BE49-F238E27FC236}">
                <a16:creationId xmlns:a16="http://schemas.microsoft.com/office/drawing/2014/main" id="{798A4453-6D37-A3D5-A532-1D65A56E72A5}"/>
              </a:ext>
            </a:extLst>
          </p:cNvPr>
          <p:cNvGraphicFramePr>
            <a:graphicFrameLocks noGrp="1"/>
          </p:cNvGraphicFramePr>
          <p:nvPr/>
        </p:nvGraphicFramePr>
        <p:xfrm>
          <a:off x="5737199" y="1035392"/>
          <a:ext cx="6207275" cy="2295530"/>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AC</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Ngày</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tháo</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lắp</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V11752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A354#2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16-18/03/2025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V16037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3960055"/>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V16512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A357#2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28-30/03/2025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V17951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921377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V15876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A610#1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11-13/04/2025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V15851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V16462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XU350#2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15-17/04/2025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AD Hub,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V12505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783875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V11694</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A359#1</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a:solidFill>
                            <a:schemeClr val="tx1"/>
                          </a:solidFill>
                          <a:effectLst/>
                          <a:latin typeface="Times New Roman" panose="02020603050405020304" pitchFamily="18" charset="0"/>
                          <a:ea typeface="+mn-ea"/>
                          <a:cs typeface="Times New Roman" panose="02020603050405020304" pitchFamily="18" charset="0"/>
                        </a:rPr>
                        <a:t>26-28/04/2025</a:t>
                      </a:r>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HSR,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V16338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V16049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A359#2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05-07/05/2025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V16456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8507966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V15935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A392#2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15-17/05/2025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V16692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54226108"/>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V16570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A329#2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18-20/06/2025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Sửa</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LLP,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V16558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20027"/>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A398#1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28-30/06/2025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Willis,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lắp</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V17403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86076786"/>
                  </a:ext>
                </a:extLst>
              </a:tr>
            </a:tbl>
          </a:graphicData>
        </a:graphic>
      </p:graphicFrame>
      <p:sp>
        <p:nvSpPr>
          <p:cNvPr id="3" name="TextBox 2">
            <a:extLst>
              <a:ext uri="{FF2B5EF4-FFF2-40B4-BE49-F238E27FC236}">
                <a16:creationId xmlns:a16="http://schemas.microsoft.com/office/drawing/2014/main" id="{4DE6CC1A-C4DC-6FC8-06CD-779939B6893C}"/>
              </a:ext>
            </a:extLst>
          </p:cNvPr>
          <p:cNvSpPr txBox="1"/>
          <p:nvPr/>
        </p:nvSpPr>
        <p:spPr>
          <a:xfrm>
            <a:off x="7340536" y="3447396"/>
            <a:ext cx="2582758" cy="369332"/>
          </a:xfrm>
          <a:prstGeom prst="rect">
            <a:avLst/>
          </a:prstGeom>
          <a:noFill/>
        </p:spPr>
        <p:txBody>
          <a:bodyPr wrap="none" rtlCol="0">
            <a:spAutoFit/>
          </a:bodyPr>
          <a:lstStyle/>
          <a:p>
            <a:r>
              <a:rPr lang="en-US" b="1" dirty="0" err="1">
                <a:solidFill>
                  <a:srgbClr val="002060"/>
                </a:solidFill>
                <a:latin typeface="Times New Roman" panose="02020603050405020304" pitchFamily="18" charset="0"/>
                <a:cs typeface="Times New Roman" panose="02020603050405020304" pitchFamily="18" charset="0"/>
              </a:rPr>
              <a:t>Tình</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trạng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động</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cơ</a:t>
            </a:r>
            <a:r>
              <a:rPr lang="en-US" b="1" dirty="0">
                <a:solidFill>
                  <a:srgbClr val="002060"/>
                </a:solidFill>
                <a:latin typeface="Times New Roman" panose="02020603050405020304" pitchFamily="18" charset="0"/>
                <a:cs typeface="Times New Roman" panose="02020603050405020304" pitchFamily="18" charset="0"/>
              </a:rPr>
              <a:t> </a:t>
            </a:r>
            <a:r>
              <a:rPr lang="en-US" b="1" dirty="0" err="1">
                <a:solidFill>
                  <a:srgbClr val="002060"/>
                </a:solidFill>
                <a:latin typeface="Times New Roman" panose="02020603050405020304" pitchFamily="18" charset="0"/>
                <a:cs typeface="Times New Roman" panose="02020603050405020304" pitchFamily="18" charset="0"/>
              </a:rPr>
              <a:t>thuê</a:t>
            </a:r>
            <a:endParaRPr lang="en-GB" b="1" dirty="0">
              <a:solidFill>
                <a:srgbClr val="00206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8E7616FB-C309-B068-5BA6-2EC84567F23C}"/>
              </a:ext>
            </a:extLst>
          </p:cNvPr>
          <p:cNvGraphicFramePr>
            <a:graphicFrameLocks noGrp="1"/>
          </p:cNvGraphicFramePr>
          <p:nvPr/>
        </p:nvGraphicFramePr>
        <p:xfrm>
          <a:off x="5760208" y="3836082"/>
          <a:ext cx="6207275" cy="2519367"/>
        </p:xfrm>
        <a:graphic>
          <a:graphicData uri="http://schemas.openxmlformats.org/drawingml/2006/table">
            <a:tbl>
              <a:tblPr firstRow="1" bandRow="1">
                <a:tableStyleId>{93296810-A885-4BE3-A3E7-6D5BEEA58F35}</a:tableStyleId>
              </a:tblPr>
              <a:tblGrid>
                <a:gridCol w="536402">
                  <a:extLst>
                    <a:ext uri="{9D8B030D-6E8A-4147-A177-3AD203B41FA5}">
                      <a16:colId xmlns:a16="http://schemas.microsoft.com/office/drawing/2014/main" val="4292553957"/>
                    </a:ext>
                  </a:extLst>
                </a:gridCol>
                <a:gridCol w="835915">
                  <a:extLst>
                    <a:ext uri="{9D8B030D-6E8A-4147-A177-3AD203B41FA5}">
                      <a16:colId xmlns:a16="http://schemas.microsoft.com/office/drawing/2014/main" val="4057841190"/>
                    </a:ext>
                  </a:extLst>
                </a:gridCol>
                <a:gridCol w="826627">
                  <a:extLst>
                    <a:ext uri="{9D8B030D-6E8A-4147-A177-3AD203B41FA5}">
                      <a16:colId xmlns:a16="http://schemas.microsoft.com/office/drawing/2014/main" val="4208667331"/>
                    </a:ext>
                  </a:extLst>
                </a:gridCol>
                <a:gridCol w="1263161">
                  <a:extLst>
                    <a:ext uri="{9D8B030D-6E8A-4147-A177-3AD203B41FA5}">
                      <a16:colId xmlns:a16="http://schemas.microsoft.com/office/drawing/2014/main" val="4243809776"/>
                    </a:ext>
                  </a:extLst>
                </a:gridCol>
                <a:gridCol w="2745170">
                  <a:extLst>
                    <a:ext uri="{9D8B030D-6E8A-4147-A177-3AD203B41FA5}">
                      <a16:colId xmlns:a16="http://schemas.microsoft.com/office/drawing/2014/main" val="1351526185"/>
                    </a:ext>
                  </a:extLst>
                </a:gridCol>
              </a:tblGrid>
              <a:tr h="280997">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STT</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vi-VN" sz="1200" u="none" strike="noStrike" dirty="0">
                          <a:effectLst/>
                          <a:latin typeface="Times New Roman" panose="02020603050405020304" pitchFamily="18" charset="0"/>
                          <a:cs typeface="Times New Roman" panose="02020603050405020304" pitchFamily="18" charset="0"/>
                        </a:rPr>
                        <a:t>Động cơ</a:t>
                      </a:r>
                      <a:endParaRPr lang="vi-VN"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Lessor</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err="1">
                          <a:effectLst/>
                          <a:latin typeface="Times New Roman" panose="02020603050405020304" pitchFamily="18" charset="0"/>
                          <a:cs typeface="Times New Roman" panose="02020603050405020304" pitchFamily="18" charset="0"/>
                        </a:rPr>
                        <a:t>Hạn</a:t>
                      </a:r>
                      <a:r>
                        <a:rPr lang="en-US" sz="1200" u="none" strike="noStrike" dirty="0">
                          <a:effectLst/>
                          <a:latin typeface="Times New Roman" panose="02020603050405020304" pitchFamily="18" charset="0"/>
                          <a:cs typeface="Times New Roman" panose="02020603050405020304" pitchFamily="18" charset="0"/>
                        </a:rPr>
                        <a:t> </a:t>
                      </a:r>
                      <a:r>
                        <a:rPr lang="en-US" sz="1200" u="none" strike="noStrike" dirty="0" err="1">
                          <a:effectLst/>
                          <a:latin typeface="Times New Roman" panose="02020603050405020304" pitchFamily="18" charset="0"/>
                          <a:cs typeface="Times New Roman" panose="02020603050405020304" pitchFamily="18" charset="0"/>
                        </a:rPr>
                        <a:t>trả</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rtl="0" fontAlgn="ctr"/>
                      <a:r>
                        <a:rPr lang="en-US" sz="1200" u="none" strike="noStrike" dirty="0">
                          <a:effectLst/>
                          <a:latin typeface="Times New Roman" panose="02020603050405020304" pitchFamily="18" charset="0"/>
                          <a:cs typeface="Times New Roman" panose="02020603050405020304" pitchFamily="18" charset="0"/>
                        </a:rPr>
                        <a:t>Remark</a:t>
                      </a:r>
                      <a:endParaRPr lang="en-US" sz="12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67819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V17365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SMBC</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017303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2</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V10531</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31/12/2025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162735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V10533</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T7/2025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5071077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V13137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15/11/2025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a:t>
                      </a:r>
                      <a:r>
                        <a:rPr lang="en-US" sz="1200" b="0" i="0" u="none" strike="noStrike" kern="1200" dirty="0" err="1">
                          <a:solidFill>
                            <a:schemeClr val="tx1"/>
                          </a:solidFill>
                          <a:effectLst/>
                          <a:latin typeface="Times New Roman" panose="02020603050405020304" pitchFamily="18" charset="0"/>
                          <a:ea typeface="+mn-ea"/>
                          <a:cs typeface="Times New Roman" panose="02020603050405020304" pitchFamily="18" charset="0"/>
                        </a:rPr>
                        <a:t>trả</a:t>
                      </a: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 T11/2025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V18818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27/12/2025</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64292953"/>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V15346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03/01/2026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96476706"/>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V15369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08/01/2026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60533511"/>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8</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V18874</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17/03/2026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66800019"/>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9</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V18977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14/03/2026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9711130"/>
                  </a:ext>
                </a:extLst>
              </a:tr>
              <a:tr h="223837">
                <a:tc>
                  <a:txBody>
                    <a:bodyPr/>
                    <a:lstStyle/>
                    <a:p>
                      <a:pPr algn="ctr" rtl="0" fontAlgn="ctr"/>
                      <a:r>
                        <a:rPr lang="en-US" sz="1200" b="0" i="0" u="none" strike="noStrike" dirty="0">
                          <a:solidFill>
                            <a:srgbClr val="000000"/>
                          </a:solidFill>
                          <a:effectLst/>
                          <a:latin typeface="Times New Roman" panose="02020603050405020304" pitchFamily="18" charset="0"/>
                          <a:cs typeface="Times New Roman" panose="02020603050405020304" pitchFamily="18" charset="0"/>
                        </a:rPr>
                        <a:t>10</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V13187</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Willis</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r>
                        <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rPr>
                        <a:t>07/04/2026</a:t>
                      </a: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algn="ctr" defTabSz="914400" rtl="0" eaLnBrk="1" fontAlgn="b" latinLnBrk="0" hangingPunct="1"/>
                      <a:endParaRPr lang="en-US" sz="1200" b="0" i="0" u="none"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L="5582" marR="5582" marT="558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5628123"/>
                  </a:ext>
                </a:extLst>
              </a:tr>
            </a:tbl>
          </a:graphicData>
        </a:graphic>
      </p:graphicFrame>
    </p:spTree>
    <p:extLst>
      <p:ext uri="{BB962C8B-B14F-4D97-AF65-F5344CB8AC3E}">
        <p14:creationId xmlns:p14="http://schemas.microsoft.com/office/powerpoint/2010/main" val="2785740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BD3F78-EE7A-6244-EF60-C9D5576F3B5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78AFE3E-3844-01D3-D72D-0F4786BACA0F}"/>
              </a:ext>
            </a:extLst>
          </p:cNvPr>
          <p:cNvSpPr>
            <a:spLocks noGrp="1"/>
          </p:cNvSpPr>
          <p:nvPr>
            <p:ph type="sldNum" idx="12"/>
          </p:nvPr>
        </p:nvSpPr>
        <p:spPr/>
        <p:txBody>
          <a:bodyPr/>
          <a:lstStyle/>
          <a:p>
            <a:fld id="{00000000-1234-1234-1234-123412341234}" type="slidenum">
              <a:rPr lang="vi"/>
              <a:pPr/>
              <a:t>36</a:t>
            </a:fld>
            <a:endParaRPr lang="vi"/>
          </a:p>
        </p:txBody>
      </p:sp>
      <p:sp>
        <p:nvSpPr>
          <p:cNvPr id="3" name="Slide Number Placeholder 3">
            <a:extLst>
              <a:ext uri="{FF2B5EF4-FFF2-40B4-BE49-F238E27FC236}">
                <a16:creationId xmlns:a16="http://schemas.microsoft.com/office/drawing/2014/main" id="{BB68B28C-7DC1-3513-7C03-97417DFFBE37}"/>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2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36</a:t>
            </a:fld>
            <a:endParaRPr lang="en-US" sz="1200" dirty="0">
              <a:solidFill>
                <a:srgbClr val="D2A43B"/>
              </a:solidFill>
              <a:latin typeface="Times New Roman" panose="02020603050405020304" pitchFamily="18" charset="0"/>
              <a:ea typeface="+mn-ea"/>
              <a:cs typeface="Times New Roman" panose="02020603050405020304" pitchFamily="18" charset="0"/>
              <a:sym typeface="Montserrat"/>
            </a:endParaRPr>
          </a:p>
        </p:txBody>
      </p:sp>
      <p:graphicFrame>
        <p:nvGraphicFramePr>
          <p:cNvPr id="4" name="Chart 3">
            <a:extLst>
              <a:ext uri="{FF2B5EF4-FFF2-40B4-BE49-F238E27FC236}">
                <a16:creationId xmlns:a16="http://schemas.microsoft.com/office/drawing/2014/main" id="{C6B0DA9E-4175-8F90-5644-7AB7D854EA46}"/>
              </a:ext>
            </a:extLst>
          </p:cNvPr>
          <p:cNvGraphicFramePr/>
          <p:nvPr/>
        </p:nvGraphicFramePr>
        <p:xfrm>
          <a:off x="6867116" y="445510"/>
          <a:ext cx="5236309" cy="3484007"/>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B830FD37-0C62-DD9A-7EAB-6CFC0D17CDB3}"/>
              </a:ext>
            </a:extLst>
          </p:cNvPr>
          <p:cNvSpPr txBox="1"/>
          <p:nvPr/>
        </p:nvSpPr>
        <p:spPr>
          <a:xfrm>
            <a:off x="88573" y="3935202"/>
            <a:ext cx="12014853" cy="2801536"/>
          </a:xfrm>
          <a:prstGeom prst="rect">
            <a:avLst/>
          </a:prstGeom>
          <a:solidFill>
            <a:schemeClr val="bg1"/>
          </a:solidFill>
          <a:ln>
            <a:solidFill>
              <a:schemeClr val="accent1"/>
            </a:solid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dự</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phòng</a:t>
            </a:r>
            <a:r>
              <a:rPr lang="en-US" sz="1467" b="1" dirty="0">
                <a:solidFill>
                  <a:schemeClr val="tx1"/>
                </a:solidFill>
                <a:latin typeface="Times New Roman" panose="02020603050405020304" pitchFamily="18" charset="0"/>
                <a:cs typeface="Times New Roman" panose="02020603050405020304" pitchFamily="18" charset="0"/>
              </a:rPr>
              <a:t>:</a:t>
            </a:r>
            <a:r>
              <a:rPr lang="en-US" sz="1467" dirty="0">
                <a:solidFill>
                  <a:schemeClr val="tx1"/>
                </a:solidFill>
                <a:latin typeface="Times New Roman" panose="02020603050405020304" pitchFamily="18" charset="0"/>
                <a:cs typeface="Times New Roman" panose="02020603050405020304" pitchFamily="18" charset="0"/>
              </a:rPr>
              <a:t> 958537 </a:t>
            </a:r>
            <a:r>
              <a:rPr lang="en-US" sz="1467" dirty="0" err="1">
                <a:solidFill>
                  <a:schemeClr val="tx1"/>
                </a:solidFill>
                <a:latin typeface="Times New Roman" panose="02020603050405020304" pitchFamily="18" charset="0"/>
                <a:cs typeface="Times New Roman" panose="02020603050405020304" pitchFamily="18" charset="0"/>
              </a:rPr>
              <a:t>về</a:t>
            </a:r>
            <a:r>
              <a:rPr lang="en-US" sz="1467" dirty="0">
                <a:solidFill>
                  <a:schemeClr val="tx1"/>
                </a:solidFill>
                <a:latin typeface="Times New Roman" panose="02020603050405020304" pitchFamily="18" charset="0"/>
                <a:cs typeface="Times New Roman" panose="02020603050405020304" pitchFamily="18" charset="0"/>
              </a:rPr>
              <a:t> SGN </a:t>
            </a:r>
            <a:r>
              <a:rPr lang="en-US" sz="1467" dirty="0" err="1">
                <a:solidFill>
                  <a:schemeClr val="tx1"/>
                </a:solidFill>
                <a:latin typeface="Times New Roman" panose="02020603050405020304" pitchFamily="18" charset="0"/>
                <a:cs typeface="Times New Roman" panose="02020603050405020304" pitchFamily="18" charset="0"/>
              </a:rPr>
              <a:t>ngày</a:t>
            </a:r>
            <a:r>
              <a:rPr lang="en-US" sz="1467" dirty="0">
                <a:solidFill>
                  <a:schemeClr val="tx1"/>
                </a:solidFill>
                <a:latin typeface="Times New Roman" panose="02020603050405020304" pitchFamily="18" charset="0"/>
                <a:cs typeface="Times New Roman" panose="02020603050405020304" pitchFamily="18" charset="0"/>
              </a:rPr>
              <a:t> 28/02 </a:t>
            </a:r>
            <a:r>
              <a:rPr lang="en-US" sz="1467" dirty="0" err="1">
                <a:solidFill>
                  <a:schemeClr val="tx1"/>
                </a:solidFill>
                <a:latin typeface="Times New Roman" panose="02020603050405020304" pitchFamily="18" charset="0"/>
                <a:cs typeface="Times New Roman" panose="02020603050405020304" pitchFamily="18" charset="0"/>
              </a:rPr>
              <a:t>phục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vụ</a:t>
            </a:r>
            <a:r>
              <a:rPr lang="en-US" sz="1467" dirty="0">
                <a:solidFill>
                  <a:schemeClr val="tx1"/>
                </a:solidFill>
                <a:latin typeface="Times New Roman" panose="02020603050405020304" pitchFamily="18" charset="0"/>
                <a:cs typeface="Times New Roman" panose="02020603050405020304" pitchFamily="18" charset="0"/>
              </a:rPr>
              <a:t> ENG CHANG A870 (</a:t>
            </a:r>
            <a:r>
              <a:rPr lang="en-US" sz="1467" dirty="0" err="1">
                <a:solidFill>
                  <a:schemeClr val="tx1"/>
                </a:solidFill>
                <a:latin typeface="Times New Roman" panose="02020603050405020304" pitchFamily="18" charset="0"/>
                <a:cs typeface="Times New Roman" panose="02020603050405020304" pitchFamily="18" charset="0"/>
              </a:rPr>
              <a:t>thay</a:t>
            </a:r>
            <a:r>
              <a:rPr lang="en-US" sz="1467" dirty="0">
                <a:solidFill>
                  <a:schemeClr val="tx1"/>
                </a:solidFill>
                <a:latin typeface="Times New Roman" panose="02020603050405020304" pitchFamily="18" charset="0"/>
                <a:cs typeface="Times New Roman" panose="02020603050405020304" pitchFamily="18" charset="0"/>
              </a:rPr>
              <a:t> qua A863); 958395 – 25 cycle </a:t>
            </a:r>
            <a:r>
              <a:rPr lang="en-US" sz="1467" dirty="0" err="1">
                <a:solidFill>
                  <a:schemeClr val="tx1"/>
                </a:solidFill>
                <a:latin typeface="Times New Roman" panose="02020603050405020304" pitchFamily="18" charset="0"/>
                <a:cs typeface="Times New Roman" panose="02020603050405020304" pitchFamily="18" charset="0"/>
              </a:rPr>
              <a:t>làm</a:t>
            </a:r>
            <a:r>
              <a:rPr lang="en-US" sz="1467" dirty="0">
                <a:solidFill>
                  <a:schemeClr val="tx1"/>
                </a:solidFill>
                <a:latin typeface="Times New Roman" panose="02020603050405020304" pitchFamily="18" charset="0"/>
                <a:cs typeface="Times New Roman" panose="02020603050405020304" pitchFamily="18" charset="0"/>
              </a:rPr>
              <a:t> ĐCDP </a:t>
            </a:r>
            <a:r>
              <a:rPr lang="en-US" sz="1467" dirty="0" err="1">
                <a:solidFill>
                  <a:schemeClr val="tx1"/>
                </a:solidFill>
                <a:latin typeface="Times New Roman" panose="02020603050405020304" pitchFamily="18" charset="0"/>
                <a:cs typeface="Times New Roman" panose="02020603050405020304" pitchFamily="18" charset="0"/>
              </a:rPr>
              <a:t>nếu</a:t>
            </a:r>
            <a:r>
              <a:rPr lang="en-US" sz="1467" dirty="0">
                <a:solidFill>
                  <a:schemeClr val="tx1"/>
                </a:solidFill>
                <a:latin typeface="Times New Roman" panose="02020603050405020304" pitchFamily="18" charset="0"/>
                <a:cs typeface="Times New Roman" panose="02020603050405020304" pitchFamily="18" charset="0"/>
              </a:rPr>
              <a:t> urgent.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Động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cơ</a:t>
            </a:r>
            <a:r>
              <a:rPr lang="en-US" sz="1467" b="1" dirty="0">
                <a:solidFill>
                  <a:schemeClr val="tx1"/>
                </a:solidFill>
                <a:latin typeface="Times New Roman" panose="02020603050405020304" pitchFamily="18" charset="0"/>
                <a:cs typeface="Times New Roman" panose="02020603050405020304" pitchFamily="18" charset="0"/>
              </a:rPr>
              <a:t> on-watch:</a:t>
            </a:r>
          </a:p>
          <a:p>
            <a:pPr marL="548640" indent="-182880">
              <a:buFont typeface="Wingdings" panose="05000000000000000000" pitchFamily="2" charset="2"/>
              <a:buChar char="§"/>
              <a:defRPr/>
            </a:pPr>
            <a:r>
              <a:rPr lang="vi-VN" sz="1467" dirty="0">
                <a:solidFill>
                  <a:srgbClr val="FF0000"/>
                </a:solidFill>
                <a:latin typeface="Times New Roman" panose="02020603050405020304" pitchFamily="18" charset="0"/>
                <a:cs typeface="Times New Roman" panose="02020603050405020304" pitchFamily="18" charset="0"/>
              </a:rPr>
              <a:t>956638 (A870) – Remove in 25 cyc và không được GE cấp DR (tần suất trước đó 100 cyc); </a:t>
            </a:r>
            <a:r>
              <a:rPr lang="en-US" sz="1467" dirty="0" err="1">
                <a:solidFill>
                  <a:srgbClr val="FF0000"/>
                </a:solidFill>
                <a:latin typeface="Times New Roman" panose="02020603050405020304" pitchFamily="18" charset="0"/>
                <a:cs typeface="Times New Roman" panose="02020603050405020304" pitchFamily="18" charset="0"/>
              </a:rPr>
              <a:t>Đã</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triển</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khai</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thay</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động</a:t>
            </a:r>
            <a:r>
              <a:rPr lang="en-US" sz="1467" dirty="0">
                <a:solidFill>
                  <a:srgbClr val="FF0000"/>
                </a:solidFill>
                <a:latin typeface="Times New Roman" panose="02020603050405020304" pitchFamily="18" charset="0"/>
                <a:cs typeface="Times New Roman" panose="02020603050405020304" pitchFamily="18" charset="0"/>
              </a:rPr>
              <a:t> </a:t>
            </a:r>
            <a:r>
              <a:rPr lang="en-US" sz="1467" dirty="0" err="1">
                <a:solidFill>
                  <a:srgbClr val="FF0000"/>
                </a:solidFill>
                <a:latin typeface="Times New Roman" panose="02020603050405020304" pitchFamily="18" charset="0"/>
                <a:cs typeface="Times New Roman" panose="02020603050405020304" pitchFamily="18" charset="0"/>
              </a:rPr>
              <a:t>cơ</a:t>
            </a:r>
            <a:r>
              <a:rPr lang="en-US" sz="1467" dirty="0">
                <a:solidFill>
                  <a:srgbClr val="FF0000"/>
                </a:solidFill>
                <a:latin typeface="Times New Roman" panose="02020603050405020304" pitchFamily="18" charset="0"/>
                <a:cs typeface="Times New Roman" panose="02020603050405020304" pitchFamily="18" charset="0"/>
              </a:rPr>
              <a:t>.</a:t>
            </a:r>
            <a:endParaRPr lang="vi-VN" sz="1467" dirty="0">
              <a:solidFill>
                <a:srgbClr val="FF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vi-VN" sz="1467" b="1" dirty="0">
                <a:solidFill>
                  <a:srgbClr val="ED0000"/>
                </a:solidFill>
                <a:latin typeface="Times New Roman" panose="02020603050405020304" pitchFamily="18" charset="0"/>
                <a:cs typeface="Times New Roman" panose="02020603050405020304" pitchFamily="18" charset="0"/>
              </a:rPr>
              <a:t>956577 (A864) – </a:t>
            </a:r>
            <a:r>
              <a:rPr lang="en-US" sz="1467" b="1" dirty="0">
                <a:solidFill>
                  <a:srgbClr val="ED0000"/>
                </a:solidFill>
                <a:latin typeface="Times New Roman" panose="02020603050405020304" pitchFamily="18" charset="0"/>
                <a:cs typeface="Times New Roman" panose="02020603050405020304" pitchFamily="18" charset="0"/>
              </a:rPr>
              <a:t>Remove in 25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và</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không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được</a:t>
            </a:r>
            <a:r>
              <a:rPr lang="en-US" sz="1467" b="1" dirty="0">
                <a:solidFill>
                  <a:srgbClr val="ED0000"/>
                </a:solidFill>
                <a:latin typeface="Times New Roman" panose="02020603050405020304" pitchFamily="18" charset="0"/>
                <a:cs typeface="Times New Roman" panose="02020603050405020304" pitchFamily="18" charset="0"/>
              </a:rPr>
              <a:t> GE </a:t>
            </a:r>
            <a:r>
              <a:rPr lang="en-US" sz="1467" b="1" dirty="0" err="1">
                <a:solidFill>
                  <a:srgbClr val="ED0000"/>
                </a:solidFill>
                <a:latin typeface="Times New Roman" panose="02020603050405020304" pitchFamily="18" charset="0"/>
                <a:cs typeface="Times New Roman" panose="02020603050405020304" pitchFamily="18" charset="0"/>
              </a:rPr>
              <a:t>cấp</a:t>
            </a:r>
            <a:r>
              <a:rPr lang="en-US" sz="1467" b="1" dirty="0">
                <a:solidFill>
                  <a:srgbClr val="ED0000"/>
                </a:solidFill>
                <a:latin typeface="Times New Roman" panose="02020603050405020304" pitchFamily="18" charset="0"/>
                <a:cs typeface="Times New Roman" panose="02020603050405020304" pitchFamily="18" charset="0"/>
              </a:rPr>
              <a:t> DR (</a:t>
            </a:r>
            <a:r>
              <a:rPr lang="en-US" sz="1467" b="1" dirty="0" err="1">
                <a:solidFill>
                  <a:srgbClr val="ED0000"/>
                </a:solidFill>
                <a:latin typeface="Times New Roman" panose="02020603050405020304" pitchFamily="18" charset="0"/>
                <a:cs typeface="Times New Roman" panose="02020603050405020304" pitchFamily="18" charset="0"/>
              </a:rPr>
              <a:t>tần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suất</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trước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đó</a:t>
            </a:r>
            <a:r>
              <a:rPr lang="en-US" sz="1467" b="1" dirty="0">
                <a:solidFill>
                  <a:srgbClr val="ED0000"/>
                </a:solidFill>
                <a:latin typeface="Times New Roman" panose="02020603050405020304" pitchFamily="18" charset="0"/>
                <a:cs typeface="Times New Roman" panose="02020603050405020304" pitchFamily="18" charset="0"/>
              </a:rPr>
              <a:t> 50 </a:t>
            </a:r>
            <a:r>
              <a:rPr lang="en-US" sz="1467" b="1" dirty="0" err="1">
                <a:solidFill>
                  <a:srgbClr val="ED0000"/>
                </a:solidFill>
                <a:latin typeface="Times New Roman" panose="02020603050405020304" pitchFamily="18" charset="0"/>
                <a:cs typeface="Times New Roman" panose="02020603050405020304" pitchFamily="18" charset="0"/>
              </a:rPr>
              <a:t>cyc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đã</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triển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khai</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phương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án</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sử</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dụng</a:t>
            </a:r>
            <a:r>
              <a:rPr lang="en-US" sz="1467" b="1" dirty="0">
                <a:solidFill>
                  <a:srgbClr val="ED0000"/>
                </a:solidFill>
                <a:latin typeface="Times New Roman" panose="02020603050405020304" pitchFamily="18" charset="0"/>
                <a:cs typeface="Times New Roman" panose="02020603050405020304" pitchFamily="18" charset="0"/>
              </a:rPr>
              <a:t> 956556.</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Remove in 50 cyc or reinspect</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956913 (A871)</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958170 (A863)</a:t>
            </a:r>
            <a:r>
              <a:rPr lang="en-US" sz="1467" dirty="0">
                <a:solidFill>
                  <a:schemeClr val="tx1"/>
                </a:solidFill>
                <a:latin typeface="Times New Roman" panose="02020603050405020304" pitchFamily="18" charset="0"/>
                <a:cs typeface="Times New Roman" panose="02020603050405020304" pitchFamily="18" charset="0"/>
              </a:rPr>
              <a:t>, </a:t>
            </a:r>
            <a:r>
              <a:rPr lang="vi-VN" sz="1467" dirty="0">
                <a:solidFill>
                  <a:schemeClr val="tx1"/>
                </a:solidFill>
                <a:latin typeface="Times New Roman" panose="02020603050405020304" pitchFamily="18" charset="0"/>
                <a:cs typeface="Times New Roman" panose="02020603050405020304" pitchFamily="18" charset="0"/>
              </a:rPr>
              <a:t>956769 (A868) </a:t>
            </a:r>
          </a:p>
          <a:p>
            <a:pPr marL="548640" indent="-182880">
              <a:buFont typeface="Wingdings" panose="05000000000000000000" pitchFamily="2" charset="2"/>
              <a:buChar char="§"/>
              <a:defRPr/>
            </a:pPr>
            <a:r>
              <a:rPr lang="vi-VN" sz="1467" dirty="0">
                <a:solidFill>
                  <a:schemeClr val="tx1"/>
                </a:solidFill>
                <a:latin typeface="Times New Roman" panose="02020603050405020304" pitchFamily="18" charset="0"/>
                <a:cs typeface="Times New Roman" panose="02020603050405020304" pitchFamily="18" charset="0"/>
              </a:rPr>
              <a:t>100 cycle – 01 ĐC;  150 cycle – 01 ĐC; 250 cycle – 02 ĐC</a:t>
            </a:r>
            <a:r>
              <a:rPr lang="en-US" sz="1467" dirty="0">
                <a:solidFill>
                  <a:schemeClr val="tx1"/>
                </a:solidFill>
                <a:latin typeface="Times New Roman" panose="02020603050405020304" pitchFamily="18" charset="0"/>
                <a:cs typeface="Times New Roman" panose="02020603050405020304" pitchFamily="18" charset="0"/>
              </a:rPr>
              <a:t>.</a:t>
            </a:r>
          </a:p>
          <a:p>
            <a:pPr marL="380990" indent="-380990" defTabSz="1219170">
              <a:buFontTx/>
              <a:buChar char="-"/>
              <a:defRPr/>
            </a:pPr>
            <a:r>
              <a:rPr lang="en-US" sz="1467" b="1" dirty="0" err="1">
                <a:solidFill>
                  <a:schemeClr val="tx1"/>
                </a:solidFill>
                <a:latin typeface="Times New Roman" panose="02020603050405020304" pitchFamily="18" charset="0"/>
                <a:cs typeface="Times New Roman" panose="02020603050405020304" pitchFamily="18" charset="0"/>
              </a:rPr>
              <a:t>Công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tác</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kế</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hoạch</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trọng</a:t>
            </a:r>
            <a:r>
              <a:rPr lang="en-US" sz="1467" b="1" dirty="0">
                <a:solidFill>
                  <a:schemeClr val="tx1"/>
                </a:solidFill>
                <a:latin typeface="Times New Roman" panose="02020603050405020304" pitchFamily="18" charset="0"/>
                <a:cs typeface="Times New Roman" panose="02020603050405020304" pitchFamily="18" charset="0"/>
              </a:rPr>
              <a:t> </a:t>
            </a:r>
            <a:r>
              <a:rPr lang="en-US" sz="1467" b="1" dirty="0" err="1">
                <a:solidFill>
                  <a:schemeClr val="tx1"/>
                </a:solidFill>
                <a:latin typeface="Times New Roman" panose="02020603050405020304" pitchFamily="18" charset="0"/>
                <a:cs typeface="Times New Roman" panose="02020603050405020304" pitchFamily="18" charset="0"/>
              </a:rPr>
              <a:t>điểm</a:t>
            </a:r>
            <a:r>
              <a:rPr lang="en-US" sz="1467" b="1" dirty="0">
                <a:solidFill>
                  <a:schemeClr val="tx1"/>
                </a:solidFill>
                <a:latin typeface="Times New Roman" panose="02020603050405020304" pitchFamily="18" charset="0"/>
                <a:cs typeface="Times New Roman" panose="02020603050405020304" pitchFamily="18" charset="0"/>
              </a:rPr>
              <a:t>:</a:t>
            </a: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A870/</a:t>
            </a:r>
            <a:r>
              <a:rPr lang="vi-VN" sz="1467" dirty="0">
                <a:solidFill>
                  <a:schemeClr val="tx1"/>
                </a:solidFill>
                <a:latin typeface="Times New Roman" panose="02020603050405020304" pitchFamily="18" charset="0"/>
                <a:cs typeface="Times New Roman" panose="02020603050405020304" pitchFamily="18" charset="0"/>
              </a:rPr>
              <a:t>956638</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khắc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phục</a:t>
            </a:r>
            <a:r>
              <a:rPr lang="vi-VN" sz="1467" dirty="0">
                <a:solidFill>
                  <a:schemeClr val="tx1"/>
                </a:solidFill>
                <a:latin typeface="Times New Roman" panose="02020603050405020304" pitchFamily="18" charset="0"/>
                <a:cs typeface="Times New Roman" panose="02020603050405020304" pitchFamily="18" charset="0"/>
              </a:rPr>
              <a:t> </a:t>
            </a:r>
            <a:r>
              <a:rPr lang="en-US" sz="1467" dirty="0">
                <a:solidFill>
                  <a:schemeClr val="tx1"/>
                </a:solidFill>
                <a:latin typeface="Times New Roman" panose="02020603050405020304" pitchFamily="18" charset="0"/>
                <a:cs typeface="Times New Roman" panose="02020603050405020304" pitchFamily="18" charset="0"/>
              </a:rPr>
              <a:t>AOG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hoàn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 </a:t>
            </a:r>
            <a:r>
              <a:rPr lang="en-US" sz="1467" b="1" dirty="0">
                <a:solidFill>
                  <a:schemeClr val="tx1"/>
                </a:solidFill>
                <a:latin typeface="Times New Roman" panose="02020603050405020304" pitchFamily="18" charset="0"/>
                <a:cs typeface="Times New Roman" panose="02020603050405020304" pitchFamily="18" charset="0"/>
              </a:rPr>
              <a:t>10/03/2025</a:t>
            </a:r>
            <a:r>
              <a:rPr lang="en-US" sz="1467" dirty="0">
                <a:solidFill>
                  <a:schemeClr val="tx1"/>
                </a:solidFill>
                <a:latin typeface="Times New Roman" panose="02020603050405020304" pitchFamily="18" charset="0"/>
                <a:cs typeface="Times New Roman" panose="02020603050405020304" pitchFamily="18" charset="0"/>
              </a:rPr>
              <a:t> (A870 </a:t>
            </a:r>
            <a:r>
              <a:rPr lang="en-US" sz="1467" dirty="0" err="1">
                <a:solidFill>
                  <a:schemeClr val="tx1"/>
                </a:solidFill>
                <a:latin typeface="Times New Roman" panose="02020603050405020304" pitchFamily="18" charset="0"/>
                <a:cs typeface="Times New Roman" panose="02020603050405020304" pitchFamily="18" charset="0"/>
              </a:rPr>
              <a:t>sơn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cánh</a:t>
            </a:r>
            <a:r>
              <a:rPr lang="en-US" sz="1467" dirty="0">
                <a:solidFill>
                  <a:schemeClr val="tx1"/>
                </a:solidFill>
                <a:latin typeface="Times New Roman" panose="02020603050405020304" pitchFamily="18" charset="0"/>
                <a:cs typeface="Times New Roman" panose="02020603050405020304" pitchFamily="18" charset="0"/>
              </a:rPr>
              <a:t> + ENG CHG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27/02 – 10/03; ENG </a:t>
            </a:r>
            <a:r>
              <a:rPr lang="en-US" sz="1467" dirty="0" err="1">
                <a:solidFill>
                  <a:schemeClr val="tx1"/>
                </a:solidFill>
                <a:latin typeface="Times New Roman" panose="02020603050405020304" pitchFamily="18" charset="0"/>
                <a:cs typeface="Times New Roman" panose="02020603050405020304" pitchFamily="18" charset="0"/>
              </a:rPr>
              <a:t>gốc</a:t>
            </a:r>
            <a:r>
              <a:rPr lang="en-US" sz="1467" dirty="0">
                <a:solidFill>
                  <a:schemeClr val="tx1"/>
                </a:solidFill>
                <a:latin typeface="Times New Roman" panose="02020603050405020304" pitchFamily="18" charset="0"/>
                <a:cs typeface="Times New Roman" panose="02020603050405020304" pitchFamily="18" charset="0"/>
              </a:rPr>
              <a:t> A870 - 956818 </a:t>
            </a:r>
            <a:r>
              <a:rPr lang="en-US" sz="1467" dirty="0" err="1">
                <a:solidFill>
                  <a:schemeClr val="tx1"/>
                </a:solidFill>
                <a:latin typeface="Times New Roman" panose="02020603050405020304" pitchFamily="18" charset="0"/>
                <a:cs typeface="Times New Roman" panose="02020603050405020304" pitchFamily="18" charset="0"/>
              </a:rPr>
              <a:t>lấy</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A863 </a:t>
            </a:r>
            <a:r>
              <a:rPr lang="en-US" sz="1467" dirty="0" err="1">
                <a:solidFill>
                  <a:schemeClr val="tx1"/>
                </a:solidFill>
                <a:latin typeface="Times New Roman" panose="02020603050405020304" pitchFamily="18" charset="0"/>
                <a:cs typeface="Times New Roman" panose="02020603050405020304" pitchFamily="18" charset="0"/>
              </a:rPr>
              <a:t>sau</a:t>
            </a:r>
            <a:r>
              <a:rPr lang="en-US" sz="1467" dirty="0">
                <a:solidFill>
                  <a:schemeClr val="tx1"/>
                </a:solidFill>
                <a:latin typeface="Times New Roman" panose="02020603050405020304" pitchFamily="18" charset="0"/>
                <a:cs typeface="Times New Roman" panose="02020603050405020304" pitchFamily="18" charset="0"/>
              </a:rPr>
              <a:t> A863 ENG CHANGE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02 – 05/03 </a:t>
            </a:r>
            <a:r>
              <a:rPr lang="en-US" sz="1467" dirty="0" err="1">
                <a:solidFill>
                  <a:schemeClr val="tx1"/>
                </a:solidFill>
                <a:latin typeface="Times New Roman" panose="02020603050405020304" pitchFamily="18" charset="0"/>
                <a:cs typeface="Times New Roman" panose="02020603050405020304" pitchFamily="18" charset="0"/>
              </a:rPr>
              <a:t>sử</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dụng</a:t>
            </a:r>
            <a:r>
              <a:rPr lang="en-US" sz="1467" dirty="0">
                <a:solidFill>
                  <a:schemeClr val="tx1"/>
                </a:solidFill>
                <a:latin typeface="Times New Roman" panose="02020603050405020304" pitchFamily="18" charset="0"/>
                <a:cs typeface="Times New Roman" panose="02020603050405020304" pitchFamily="18" charset="0"/>
              </a:rPr>
              <a:t> ĐCDP 958537 </a:t>
            </a:r>
            <a:r>
              <a:rPr lang="en-US" sz="1467" dirty="0" err="1">
                <a:solidFill>
                  <a:schemeClr val="tx1"/>
                </a:solidFill>
                <a:latin typeface="Times New Roman" panose="02020603050405020304" pitchFamily="18" charset="0"/>
                <a:cs typeface="Times New Roman" panose="02020603050405020304" pitchFamily="18" charset="0"/>
              </a:rPr>
              <a:t>sửa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chữa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xong</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từ</a:t>
            </a:r>
            <a:r>
              <a:rPr lang="en-US" sz="1467" dirty="0">
                <a:solidFill>
                  <a:schemeClr val="tx1"/>
                </a:solidFill>
                <a:latin typeface="Times New Roman" panose="02020603050405020304" pitchFamily="18" charset="0"/>
                <a:cs typeface="Times New Roman" panose="02020603050405020304" pitchFamily="18" charset="0"/>
              </a:rPr>
              <a:t> GE CAL). A870 </a:t>
            </a:r>
            <a:r>
              <a:rPr lang="en-US" sz="1467" dirty="0" err="1">
                <a:solidFill>
                  <a:schemeClr val="tx1"/>
                </a:solidFill>
                <a:latin typeface="Times New Roman" panose="02020603050405020304" pitchFamily="18" charset="0"/>
                <a:cs typeface="Times New Roman" panose="02020603050405020304" pitchFamily="18" charset="0"/>
              </a:rPr>
              <a:t>đã</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có</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sẵn</a:t>
            </a:r>
            <a:r>
              <a:rPr lang="en-US" sz="1467" dirty="0">
                <a:solidFill>
                  <a:schemeClr val="tx1"/>
                </a:solidFill>
                <a:latin typeface="Times New Roman" panose="02020603050405020304" pitchFamily="18" charset="0"/>
                <a:cs typeface="Times New Roman" panose="02020603050405020304" pitchFamily="18" charset="0"/>
              </a:rPr>
              <a:t> 01 ENG </a:t>
            </a:r>
            <a:r>
              <a:rPr lang="en-US" sz="1467" dirty="0" err="1">
                <a:solidFill>
                  <a:schemeClr val="tx1"/>
                </a:solidFill>
                <a:latin typeface="Times New Roman" panose="02020603050405020304" pitchFamily="18" charset="0"/>
                <a:cs typeface="Times New Roman" panose="02020603050405020304" pitchFamily="18" charset="0"/>
              </a:rPr>
              <a:t>thỏa</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mãn</a:t>
            </a:r>
            <a:r>
              <a:rPr lang="en-US" sz="1467" dirty="0">
                <a:solidFill>
                  <a:schemeClr val="tx1"/>
                </a:solidFill>
                <a:latin typeface="Times New Roman" panose="02020603050405020304" pitchFamily="18" charset="0"/>
                <a:cs typeface="Times New Roman" panose="02020603050405020304" pitchFamily="18" charset="0"/>
              </a:rPr>
              <a:t> bay Nga.</a:t>
            </a:r>
          </a:p>
          <a:p>
            <a:pPr marL="548640" indent="-182880">
              <a:buFont typeface="Wingdings" panose="05000000000000000000" pitchFamily="2" charset="2"/>
              <a:buChar char="§"/>
              <a:defRPr/>
            </a:pPr>
            <a:r>
              <a:rPr lang="en-US" sz="1467" b="1" dirty="0">
                <a:solidFill>
                  <a:srgbClr val="ED0000"/>
                </a:solidFill>
                <a:latin typeface="Times New Roman" panose="02020603050405020304" pitchFamily="18" charset="0"/>
                <a:cs typeface="Times New Roman" panose="02020603050405020304" pitchFamily="18" charset="0"/>
              </a:rPr>
              <a:t>A864/956577 </a:t>
            </a:r>
            <a:r>
              <a:rPr lang="en-US" sz="1467" b="1" dirty="0" err="1">
                <a:solidFill>
                  <a:srgbClr val="ED0000"/>
                </a:solidFill>
                <a:latin typeface="Times New Roman" panose="02020603050405020304" pitchFamily="18" charset="0"/>
                <a:cs typeface="Times New Roman" panose="02020603050405020304" pitchFamily="18" charset="0"/>
              </a:rPr>
              <a:t>từ</a:t>
            </a:r>
            <a:r>
              <a:rPr lang="en-US" sz="1467" b="1" dirty="0">
                <a:solidFill>
                  <a:srgbClr val="ED0000"/>
                </a:solidFill>
                <a:latin typeface="Times New Roman" panose="02020603050405020304" pitchFamily="18" charset="0"/>
                <a:cs typeface="Times New Roman" panose="02020603050405020304" pitchFamily="18" charset="0"/>
              </a:rPr>
              <a:t> 14/03/2025: </a:t>
            </a:r>
            <a:r>
              <a:rPr lang="en-US" sz="1467" b="1" dirty="0" err="1">
                <a:solidFill>
                  <a:srgbClr val="ED0000"/>
                </a:solidFill>
                <a:latin typeface="Times New Roman" panose="02020603050405020304" pitchFamily="18" charset="0"/>
                <a:cs typeface="Times New Roman" panose="02020603050405020304" pitchFamily="18" charset="0"/>
              </a:rPr>
              <a:t>khắc</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phục</a:t>
            </a:r>
            <a:r>
              <a:rPr lang="en-US" sz="1467" b="1" dirty="0">
                <a:solidFill>
                  <a:srgbClr val="ED0000"/>
                </a:solidFill>
                <a:latin typeface="Times New Roman" panose="02020603050405020304" pitchFamily="18" charset="0"/>
                <a:cs typeface="Times New Roman" panose="02020603050405020304" pitchFamily="18" charset="0"/>
              </a:rPr>
              <a:t> AOG </a:t>
            </a:r>
            <a:r>
              <a:rPr lang="en-US" sz="1467" b="1" dirty="0" err="1">
                <a:solidFill>
                  <a:srgbClr val="ED0000"/>
                </a:solidFill>
                <a:latin typeface="Times New Roman" panose="02020603050405020304" pitchFamily="18" charset="0"/>
                <a:cs typeface="Times New Roman" panose="02020603050405020304" pitchFamily="18" charset="0"/>
              </a:rPr>
              <a:t>sử</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dụng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động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cơ</a:t>
            </a:r>
            <a:r>
              <a:rPr lang="en-US" sz="1467" b="1" dirty="0">
                <a:solidFill>
                  <a:srgbClr val="ED0000"/>
                </a:solidFill>
                <a:latin typeface="Times New Roman" panose="02020603050405020304" pitchFamily="18" charset="0"/>
                <a:cs typeface="Times New Roman" panose="02020603050405020304" pitchFamily="18" charset="0"/>
              </a:rPr>
              <a:t> 956556 </a:t>
            </a:r>
            <a:r>
              <a:rPr lang="en-US" sz="1467" b="1" dirty="0" err="1">
                <a:solidFill>
                  <a:srgbClr val="ED0000"/>
                </a:solidFill>
                <a:latin typeface="Times New Roman" panose="02020603050405020304" pitchFamily="18" charset="0"/>
                <a:cs typeface="Times New Roman" panose="02020603050405020304" pitchFamily="18" charset="0"/>
              </a:rPr>
              <a:t>sửa</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chữa</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xong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cuối</a:t>
            </a:r>
            <a:r>
              <a:rPr lang="en-US" sz="1467" b="1" dirty="0">
                <a:solidFill>
                  <a:srgbClr val="ED0000"/>
                </a:solidFill>
                <a:latin typeface="Times New Roman" panose="02020603050405020304" pitchFamily="18" charset="0"/>
                <a:cs typeface="Times New Roman" panose="02020603050405020304" pitchFamily="18" charset="0"/>
              </a:rPr>
              <a:t> T3/2025 </a:t>
            </a:r>
            <a:r>
              <a:rPr lang="en-US" sz="1467" b="1" dirty="0" err="1">
                <a:solidFill>
                  <a:srgbClr val="ED0000"/>
                </a:solidFill>
                <a:latin typeface="Times New Roman" panose="02020603050405020304" pitchFamily="18" charset="0"/>
                <a:cs typeface="Times New Roman" panose="02020603050405020304" pitchFamily="18" charset="0"/>
              </a:rPr>
              <a:t>và</a:t>
            </a:r>
            <a:r>
              <a:rPr lang="en-US" sz="1467" b="1" dirty="0">
                <a:solidFill>
                  <a:srgbClr val="ED0000"/>
                </a:solidFill>
                <a:latin typeface="Times New Roman" panose="02020603050405020304" pitchFamily="18" charset="0"/>
                <a:cs typeface="Times New Roman" panose="02020603050405020304" pitchFamily="18" charset="0"/>
              </a:rPr>
              <a:t> ENG SWAP 956697 </a:t>
            </a:r>
            <a:r>
              <a:rPr lang="en-US" sz="1467" b="1" dirty="0" err="1">
                <a:solidFill>
                  <a:srgbClr val="ED0000"/>
                </a:solidFill>
                <a:latin typeface="Times New Roman" panose="02020603050405020304" pitchFamily="18" charset="0"/>
                <a:cs typeface="Times New Roman" panose="02020603050405020304" pitchFamily="18" charset="0"/>
              </a:rPr>
              <a:t>với</a:t>
            </a:r>
            <a:r>
              <a:rPr lang="en-US" sz="1467" b="1" dirty="0">
                <a:solidFill>
                  <a:srgbClr val="ED0000"/>
                </a:solidFill>
                <a:latin typeface="Times New Roman" panose="02020603050405020304" pitchFamily="18" charset="0"/>
                <a:cs typeface="Times New Roman" panose="02020603050405020304" pitchFamily="18" charset="0"/>
              </a:rPr>
              <a:t> A867. A864 </a:t>
            </a:r>
            <a:r>
              <a:rPr lang="en-US" sz="1467" b="1" dirty="0" err="1">
                <a:solidFill>
                  <a:srgbClr val="ED0000"/>
                </a:solidFill>
                <a:latin typeface="Times New Roman" panose="02020603050405020304" pitchFamily="18" charset="0"/>
                <a:cs typeface="Times New Roman" panose="02020603050405020304" pitchFamily="18" charset="0"/>
              </a:rPr>
              <a:t>sẽ</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thay</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cả</a:t>
            </a:r>
            <a:r>
              <a:rPr lang="en-US" sz="1467" b="1" dirty="0">
                <a:solidFill>
                  <a:srgbClr val="ED0000"/>
                </a:solidFill>
                <a:latin typeface="Times New Roman" panose="02020603050405020304" pitchFamily="18" charset="0"/>
                <a:cs typeface="Times New Roman" panose="02020603050405020304" pitchFamily="18" charset="0"/>
              </a:rPr>
              <a:t> 2 </a:t>
            </a:r>
            <a:r>
              <a:rPr lang="en-US" sz="1467" b="1" dirty="0" err="1">
                <a:solidFill>
                  <a:srgbClr val="ED0000"/>
                </a:solidFill>
                <a:latin typeface="Times New Roman" panose="02020603050405020304" pitchFamily="18" charset="0"/>
                <a:cs typeface="Times New Roman" panose="02020603050405020304" pitchFamily="18" charset="0"/>
              </a:rPr>
              <a:t>động</a:t>
            </a:r>
            <a:r>
              <a:rPr lang="en-US" sz="1467" b="1" dirty="0">
                <a:solidFill>
                  <a:srgbClr val="ED0000"/>
                </a:solidFill>
                <a:latin typeface="Times New Roman" panose="02020603050405020304" pitchFamily="18" charset="0"/>
                <a:cs typeface="Times New Roman" panose="02020603050405020304" pitchFamily="18" charset="0"/>
              </a:rPr>
              <a:t> </a:t>
            </a:r>
            <a:r>
              <a:rPr lang="en-US" sz="1467" b="1" dirty="0" err="1">
                <a:solidFill>
                  <a:srgbClr val="ED0000"/>
                </a:solidFill>
                <a:latin typeface="Times New Roman" panose="02020603050405020304" pitchFamily="18" charset="0"/>
                <a:cs typeface="Times New Roman" panose="02020603050405020304" pitchFamily="18" charset="0"/>
              </a:rPr>
              <a:t>cơ</a:t>
            </a:r>
            <a:endParaRPr lang="en-US" sz="1467" b="1" dirty="0">
              <a:solidFill>
                <a:srgbClr val="ED0000"/>
              </a:solidFill>
              <a:latin typeface="Times New Roman" panose="02020603050405020304" pitchFamily="18" charset="0"/>
              <a:cs typeface="Times New Roman" panose="02020603050405020304" pitchFamily="18" charset="0"/>
            </a:endParaRPr>
          </a:p>
          <a:p>
            <a:pPr marL="548640" indent="-182880">
              <a:buFont typeface="Wingdings" panose="05000000000000000000" pitchFamily="2" charset="2"/>
              <a:buChar char="§"/>
              <a:defRPr/>
            </a:pPr>
            <a:r>
              <a:rPr lang="en-US" sz="1467" dirty="0">
                <a:solidFill>
                  <a:schemeClr val="tx1"/>
                </a:solidFill>
                <a:latin typeface="Times New Roman" panose="02020603050405020304" pitchFamily="18" charset="0"/>
                <a:cs typeface="Times New Roman" panose="02020603050405020304" pitchFamily="18" charset="0"/>
              </a:rPr>
              <a:t>Hoàn </a:t>
            </a:r>
            <a:r>
              <a:rPr lang="en-US" sz="1467" dirty="0" err="1">
                <a:solidFill>
                  <a:schemeClr val="tx1"/>
                </a:solidFill>
                <a:latin typeface="Times New Roman" panose="02020603050405020304" pitchFamily="18" charset="0"/>
                <a:cs typeface="Times New Roman" panose="02020603050405020304" pitchFamily="18" charset="0"/>
              </a:rPr>
              <a:t>thiện</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cấu</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hình</a:t>
            </a:r>
            <a:r>
              <a:rPr lang="en-US" sz="1467" dirty="0">
                <a:solidFill>
                  <a:schemeClr val="tx1"/>
                </a:solidFill>
                <a:latin typeface="Times New Roman" panose="02020603050405020304" pitchFamily="18" charset="0"/>
                <a:cs typeface="Times New Roman" panose="02020603050405020304" pitchFamily="18" charset="0"/>
              </a:rPr>
              <a:t> bay Nga </a:t>
            </a:r>
            <a:r>
              <a:rPr lang="en-US" sz="1467" dirty="0" err="1">
                <a:solidFill>
                  <a:schemeClr val="tx1"/>
                </a:solidFill>
                <a:latin typeface="Times New Roman" panose="02020603050405020304" pitchFamily="18" charset="0"/>
                <a:cs typeface="Times New Roman" panose="02020603050405020304" pitchFamily="18" charset="0"/>
              </a:rPr>
              <a:t>tàu</a:t>
            </a:r>
            <a:r>
              <a:rPr lang="en-US" sz="1467" dirty="0">
                <a:solidFill>
                  <a:schemeClr val="tx1"/>
                </a:solidFill>
                <a:latin typeface="Times New Roman" panose="02020603050405020304" pitchFamily="18" charset="0"/>
                <a:cs typeface="Times New Roman" panose="02020603050405020304" pitchFamily="18" charset="0"/>
              </a:rPr>
              <a:t> A867 – </a:t>
            </a:r>
            <a:r>
              <a:rPr lang="en-US" sz="1467" b="1" dirty="0">
                <a:solidFill>
                  <a:schemeClr val="tx1"/>
                </a:solidFill>
                <a:latin typeface="Times New Roman" panose="02020603050405020304" pitchFamily="18" charset="0"/>
                <a:cs typeface="Times New Roman" panose="02020603050405020304" pitchFamily="18" charset="0"/>
              </a:rPr>
              <a:t>29/04/2025</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thực</a:t>
            </a:r>
            <a:r>
              <a:rPr lang="en-US" sz="1467" dirty="0">
                <a:solidFill>
                  <a:schemeClr val="tx1"/>
                </a:solidFill>
                <a:latin typeface="Times New Roman" panose="02020603050405020304" pitchFamily="18" charset="0"/>
                <a:cs typeface="Times New Roman" panose="02020603050405020304" pitchFamily="18" charset="0"/>
              </a:rPr>
              <a:t> </a:t>
            </a:r>
            <a:r>
              <a:rPr lang="en-US" sz="1467" dirty="0" err="1">
                <a:solidFill>
                  <a:schemeClr val="tx1"/>
                </a:solidFill>
                <a:latin typeface="Times New Roman" panose="02020603050405020304" pitchFamily="18" charset="0"/>
                <a:cs typeface="Times New Roman" panose="02020603050405020304" pitchFamily="18" charset="0"/>
              </a:rPr>
              <a:t>hiện</a:t>
            </a:r>
            <a:r>
              <a:rPr lang="en-US" sz="1467" dirty="0">
                <a:solidFill>
                  <a:schemeClr val="tx1"/>
                </a:solidFill>
                <a:latin typeface="Times New Roman" panose="02020603050405020304" pitchFamily="18" charset="0"/>
                <a:cs typeface="Times New Roman" panose="02020603050405020304" pitchFamily="18" charset="0"/>
              </a:rPr>
              <a:t> 02 </a:t>
            </a:r>
            <a:r>
              <a:rPr lang="en-US" sz="1467" dirty="0" err="1">
                <a:solidFill>
                  <a:schemeClr val="tx1"/>
                </a:solidFill>
                <a:latin typeface="Times New Roman" panose="02020603050405020304" pitchFamily="18" charset="0"/>
                <a:cs typeface="Times New Roman" panose="02020603050405020304" pitchFamily="18" charset="0"/>
              </a:rPr>
              <a:t>lần</a:t>
            </a:r>
            <a:r>
              <a:rPr lang="en-US" sz="1467" dirty="0">
                <a:solidFill>
                  <a:schemeClr val="tx1"/>
                </a:solidFill>
                <a:latin typeface="Times New Roman" panose="02020603050405020304" pitchFamily="18" charset="0"/>
                <a:cs typeface="Times New Roman" panose="02020603050405020304" pitchFamily="18" charset="0"/>
              </a:rPr>
              <a:t> ENG SWAP </a:t>
            </a:r>
            <a:r>
              <a:rPr lang="en-US" sz="1467" dirty="0" err="1">
                <a:solidFill>
                  <a:schemeClr val="tx1"/>
                </a:solidFill>
                <a:latin typeface="Times New Roman" panose="02020603050405020304" pitchFamily="18" charset="0"/>
                <a:cs typeface="Times New Roman" panose="02020603050405020304" pitchFamily="18" charset="0"/>
              </a:rPr>
              <a:t>với</a:t>
            </a:r>
            <a:r>
              <a:rPr lang="en-US" sz="1467" dirty="0">
                <a:solidFill>
                  <a:schemeClr val="tx1"/>
                </a:solidFill>
                <a:latin typeface="Times New Roman" panose="02020603050405020304" pitchFamily="18" charset="0"/>
                <a:cs typeface="Times New Roman" panose="02020603050405020304" pitchFamily="18" charset="0"/>
              </a:rPr>
              <a:t> A864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T3/2025 </a:t>
            </a:r>
            <a:r>
              <a:rPr lang="en-US" sz="1467" dirty="0" err="1">
                <a:solidFill>
                  <a:schemeClr val="tx1"/>
                </a:solidFill>
                <a:latin typeface="Times New Roman" panose="02020603050405020304" pitchFamily="18" charset="0"/>
                <a:cs typeface="Times New Roman" panose="02020603050405020304" pitchFamily="18" charset="0"/>
              </a:rPr>
              <a:t>và</a:t>
            </a:r>
            <a:r>
              <a:rPr lang="en-US" sz="1467" dirty="0">
                <a:solidFill>
                  <a:schemeClr val="tx1"/>
                </a:solidFill>
                <a:latin typeface="Times New Roman" panose="02020603050405020304" pitchFamily="18" charset="0"/>
                <a:cs typeface="Times New Roman" panose="02020603050405020304" pitchFamily="18" charset="0"/>
              </a:rPr>
              <a:t> A861 </a:t>
            </a:r>
            <a:r>
              <a:rPr lang="en-US" sz="1467" dirty="0" err="1">
                <a:solidFill>
                  <a:schemeClr val="tx1"/>
                </a:solidFill>
                <a:latin typeface="Times New Roman" panose="02020603050405020304" pitchFamily="18" charset="0"/>
                <a:cs typeface="Times New Roman" panose="02020603050405020304" pitchFamily="18" charset="0"/>
              </a:rPr>
              <a:t>trong</a:t>
            </a:r>
            <a:r>
              <a:rPr lang="en-US" sz="1467" dirty="0">
                <a:solidFill>
                  <a:schemeClr val="tx1"/>
                </a:solidFill>
                <a:latin typeface="Times New Roman" panose="02020603050405020304" pitchFamily="18" charset="0"/>
                <a:cs typeface="Times New Roman" panose="02020603050405020304" pitchFamily="18" charset="0"/>
              </a:rPr>
              <a:t> T4/2025).</a:t>
            </a:r>
          </a:p>
        </p:txBody>
      </p:sp>
      <p:graphicFrame>
        <p:nvGraphicFramePr>
          <p:cNvPr id="6" name="Table 5">
            <a:extLst>
              <a:ext uri="{FF2B5EF4-FFF2-40B4-BE49-F238E27FC236}">
                <a16:creationId xmlns:a16="http://schemas.microsoft.com/office/drawing/2014/main" id="{66BC6617-EF33-BB90-B1C0-6DFD65C9FC16}"/>
              </a:ext>
            </a:extLst>
          </p:cNvPr>
          <p:cNvGraphicFramePr>
            <a:graphicFrameLocks noGrp="1"/>
          </p:cNvGraphicFramePr>
          <p:nvPr/>
        </p:nvGraphicFramePr>
        <p:xfrm>
          <a:off x="88572" y="445511"/>
          <a:ext cx="6778543" cy="3484008"/>
        </p:xfrm>
        <a:graphic>
          <a:graphicData uri="http://schemas.openxmlformats.org/drawingml/2006/table">
            <a:tbl>
              <a:tblPr firstRow="1" bandRow="1">
                <a:tableStyleId>{7DF18680-E054-41AD-8BC1-D1AEF772440D}</a:tableStyleId>
              </a:tblPr>
              <a:tblGrid>
                <a:gridCol w="680205">
                  <a:extLst>
                    <a:ext uri="{9D8B030D-6E8A-4147-A177-3AD203B41FA5}">
                      <a16:colId xmlns:a16="http://schemas.microsoft.com/office/drawing/2014/main" val="1598605427"/>
                    </a:ext>
                  </a:extLst>
                </a:gridCol>
                <a:gridCol w="669252">
                  <a:extLst>
                    <a:ext uri="{9D8B030D-6E8A-4147-A177-3AD203B41FA5}">
                      <a16:colId xmlns:a16="http://schemas.microsoft.com/office/drawing/2014/main" val="3845954792"/>
                    </a:ext>
                  </a:extLst>
                </a:gridCol>
                <a:gridCol w="849128">
                  <a:extLst>
                    <a:ext uri="{9D8B030D-6E8A-4147-A177-3AD203B41FA5}">
                      <a16:colId xmlns:a16="http://schemas.microsoft.com/office/drawing/2014/main" val="3803391337"/>
                    </a:ext>
                  </a:extLst>
                </a:gridCol>
                <a:gridCol w="1797456">
                  <a:extLst>
                    <a:ext uri="{9D8B030D-6E8A-4147-A177-3AD203B41FA5}">
                      <a16:colId xmlns:a16="http://schemas.microsoft.com/office/drawing/2014/main" val="2148822928"/>
                    </a:ext>
                  </a:extLst>
                </a:gridCol>
                <a:gridCol w="954581">
                  <a:extLst>
                    <a:ext uri="{9D8B030D-6E8A-4147-A177-3AD203B41FA5}">
                      <a16:colId xmlns:a16="http://schemas.microsoft.com/office/drawing/2014/main" val="1106888684"/>
                    </a:ext>
                  </a:extLst>
                </a:gridCol>
                <a:gridCol w="721013">
                  <a:extLst>
                    <a:ext uri="{9D8B030D-6E8A-4147-A177-3AD203B41FA5}">
                      <a16:colId xmlns:a16="http://schemas.microsoft.com/office/drawing/2014/main" val="1185879436"/>
                    </a:ext>
                  </a:extLst>
                </a:gridCol>
                <a:gridCol w="1106908">
                  <a:extLst>
                    <a:ext uri="{9D8B030D-6E8A-4147-A177-3AD203B41FA5}">
                      <a16:colId xmlns:a16="http://schemas.microsoft.com/office/drawing/2014/main" val="558551088"/>
                    </a:ext>
                  </a:extLst>
                </a:gridCol>
              </a:tblGrid>
              <a:tr h="385674">
                <a:tc>
                  <a:txBody>
                    <a:bodyPr/>
                    <a:lstStyle/>
                    <a:p>
                      <a:pPr algn="ctr" fontAlgn="ctr"/>
                      <a:r>
                        <a:rPr lang="en-US" sz="1200" u="none" strike="noStrike" dirty="0">
                          <a:solidFill>
                            <a:schemeClr val="bg1"/>
                          </a:solidFill>
                          <a:effectLst/>
                          <a:latin typeface="+mn-lt"/>
                        </a:rPr>
                        <a:t>Engine SV</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a:solidFill>
                            <a:schemeClr val="bg1"/>
                          </a:solidFill>
                          <a:effectLst/>
                          <a:latin typeface="+mn-lt"/>
                        </a:rPr>
                        <a:t>Shop</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i="0" u="none" strike="noStrike" dirty="0" err="1">
                          <a:solidFill>
                            <a:schemeClr val="bg1"/>
                          </a:solidFill>
                          <a:effectLst/>
                          <a:latin typeface="Calibri" panose="020F0502020204030204" pitchFamily="34" charset="0"/>
                          <a:cs typeface="Calibri" panose="020F0502020204030204" pitchFamily="34" charset="0"/>
                        </a:rPr>
                        <a:t>Ngày</a:t>
                      </a:r>
                      <a:r>
                        <a:rPr lang="en-US" sz="1200" b="1" i="0" u="none" strike="noStrike" dirty="0">
                          <a:solidFill>
                            <a:schemeClr val="bg1"/>
                          </a:solidFill>
                          <a:effectLst/>
                          <a:latin typeface="Calibri" panose="020F0502020204030204" pitchFamily="34" charset="0"/>
                          <a:cs typeface="Calibri" panose="020F0502020204030204" pitchFamily="34" charset="0"/>
                        </a:rPr>
                        <a:t> </a:t>
                      </a:r>
                      <a:r>
                        <a:rPr lang="en-US" sz="1200" b="1" i="0" u="none" strike="noStrike" dirty="0" err="1">
                          <a:solidFill>
                            <a:schemeClr val="bg1"/>
                          </a:solidFill>
                          <a:effectLst/>
                          <a:latin typeface="Calibri" panose="020F0502020204030204" pitchFamily="34" charset="0"/>
                          <a:cs typeface="Calibri" panose="020F0502020204030204" pitchFamily="34" charset="0"/>
                        </a:rPr>
                        <a:t>tháo</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vi-VN" sz="1200" u="none" strike="noStrike" dirty="0">
                          <a:solidFill>
                            <a:schemeClr val="bg1"/>
                          </a:solidFill>
                          <a:effectLst/>
                          <a:latin typeface="Calibri" panose="020F0502020204030204" pitchFamily="34" charset="0"/>
                          <a:cs typeface="Calibri" panose="020F0502020204030204" pitchFamily="34" charset="0"/>
                        </a:rPr>
                        <a:t>Ngày sửa xong</a:t>
                      </a:r>
                      <a:r>
                        <a:rPr lang="en-US" sz="1200" u="none" strike="noStrike" dirty="0">
                          <a:solidFill>
                            <a:schemeClr val="bg1"/>
                          </a:solidFill>
                          <a:effectLst/>
                          <a:latin typeface="Calibri" panose="020F0502020204030204" pitchFamily="34" charset="0"/>
                          <a:cs typeface="Calibri" panose="020F0502020204030204" pitchFamily="34" charset="0"/>
                        </a:rPr>
                        <a:t> &amp;</a:t>
                      </a:r>
                    </a:p>
                    <a:p>
                      <a:pPr algn="ctr" fontAlgn="ctr"/>
                      <a:r>
                        <a:rPr lang="en-US" sz="1200" u="none" strike="noStrike" dirty="0" err="1">
                          <a:solidFill>
                            <a:schemeClr val="bg1"/>
                          </a:solidFill>
                          <a:effectLst/>
                          <a:latin typeface="Calibri" panose="020F0502020204030204" pitchFamily="34" charset="0"/>
                          <a:cs typeface="Calibri" panose="020F0502020204030204" pitchFamily="34" charset="0"/>
                        </a:rPr>
                        <a:t>Ngày</a:t>
                      </a:r>
                      <a:r>
                        <a:rPr lang="en-US" sz="1200" u="none" strike="noStrike" dirty="0">
                          <a:solidFill>
                            <a:schemeClr val="bg1"/>
                          </a:solidFill>
                          <a:effectLst/>
                          <a:latin typeface="Calibri" panose="020F0502020204030204" pitchFamily="34" charset="0"/>
                          <a:cs typeface="Calibri" panose="020F0502020204030204" pitchFamily="34" charset="0"/>
                        </a:rPr>
                        <a:t> Induction</a:t>
                      </a:r>
                      <a:r>
                        <a:rPr lang="vi-VN" sz="1200" u="none" strike="noStrike" dirty="0">
                          <a:solidFill>
                            <a:schemeClr val="bg1"/>
                          </a:solidFill>
                          <a:effectLst/>
                          <a:latin typeface="Calibri" panose="020F0502020204030204" pitchFamily="34" charset="0"/>
                          <a:cs typeface="Calibri" panose="020F0502020204030204" pitchFamily="34" charset="0"/>
                        </a:rPr>
                        <a:t> </a:t>
                      </a:r>
                      <a:endParaRPr lang="vi-VN" sz="1200" b="1" i="0" u="none" strike="noStrike" dirty="0">
                        <a:solidFill>
                          <a:schemeClr val="bg1"/>
                        </a:solidFill>
                        <a:effectLst/>
                        <a:latin typeface="Calibri" panose="020F0502020204030204" pitchFamily="34" charset="0"/>
                        <a:cs typeface="Calibri" panose="020F0502020204030204" pitchFamily="34"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về</a:t>
                      </a:r>
                      <a:r>
                        <a:rPr lang="en-US" sz="1200" b="1" u="none" strike="noStrike" dirty="0">
                          <a:solidFill>
                            <a:schemeClr val="bg1"/>
                          </a:solidFill>
                          <a:effectLst/>
                          <a:latin typeface="+mn-lt"/>
                        </a:rPr>
                        <a:t> </a:t>
                      </a:r>
                    </a:p>
                    <a:p>
                      <a:pPr algn="ctr" fontAlgn="ctr"/>
                      <a:r>
                        <a:rPr lang="en-US" sz="1200" b="1" u="none" strike="noStrike" dirty="0">
                          <a:solidFill>
                            <a:schemeClr val="bg1"/>
                          </a:solidFill>
                          <a:effectLst/>
                          <a:latin typeface="+mn-lt"/>
                        </a:rPr>
                        <a:t>(+7 </a:t>
                      </a: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vc</a:t>
                      </a:r>
                      <a:r>
                        <a:rPr lang="en-US" sz="1200" b="1" u="none" strike="noStrike" dirty="0">
                          <a:solidFill>
                            <a:schemeClr val="bg1"/>
                          </a:solidFill>
                          <a:effectLst/>
                          <a:latin typeface="+mn-lt"/>
                        </a:rPr>
                        <a:t>)</a:t>
                      </a:r>
                      <a:endParaRPr lang="vi-VN"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u="none" strike="noStrike" dirty="0" err="1">
                          <a:solidFill>
                            <a:schemeClr val="bg1"/>
                          </a:solidFill>
                          <a:effectLst/>
                          <a:latin typeface="+mn-lt"/>
                        </a:rPr>
                        <a:t>Dùng</a:t>
                      </a:r>
                      <a:r>
                        <a:rPr lang="en-US" sz="1200" u="none" strike="noStrike" dirty="0">
                          <a:solidFill>
                            <a:schemeClr val="bg1"/>
                          </a:solidFill>
                          <a:effectLst/>
                          <a:latin typeface="+mn-lt"/>
                        </a:rPr>
                        <a:t> </a:t>
                      </a:r>
                      <a:r>
                        <a:rPr lang="en-US" sz="1200" u="none" strike="noStrike" dirty="0" err="1">
                          <a:solidFill>
                            <a:schemeClr val="bg1"/>
                          </a:solidFill>
                          <a:effectLst/>
                          <a:latin typeface="+mn-lt"/>
                        </a:rPr>
                        <a:t>cho</a:t>
                      </a:r>
                      <a:r>
                        <a:rPr lang="en-US" sz="1200" u="none" strike="noStrike" dirty="0">
                          <a:solidFill>
                            <a:schemeClr val="bg1"/>
                          </a:solidFill>
                          <a:effectLst/>
                          <a:latin typeface="+mn-lt"/>
                        </a:rPr>
                        <a:t> </a:t>
                      </a:r>
                      <a:r>
                        <a:rPr lang="en-US" sz="1200" u="none" strike="noStrike" dirty="0" err="1">
                          <a:solidFill>
                            <a:schemeClr val="bg1"/>
                          </a:solidFill>
                          <a:effectLst/>
                          <a:latin typeface="+mn-lt"/>
                        </a:rPr>
                        <a:t>tàu</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T w="12700" cap="flat" cmpd="sng" algn="ctr">
                      <a:solidFill>
                        <a:schemeClr val="tx1"/>
                      </a:solidFill>
                      <a:prstDash val="solid"/>
                      <a:round/>
                      <a:headEnd type="none" w="med" len="med"/>
                      <a:tailEnd type="none" w="med" len="med"/>
                    </a:lnT>
                  </a:tcPr>
                </a:tc>
                <a:tc>
                  <a:txBody>
                    <a:bodyPr/>
                    <a:lstStyle/>
                    <a:p>
                      <a:pPr algn="ctr" fontAlgn="ctr"/>
                      <a:r>
                        <a:rPr lang="en-US" sz="1200" b="1" u="none" strike="noStrike" dirty="0" err="1">
                          <a:solidFill>
                            <a:schemeClr val="bg1"/>
                          </a:solidFill>
                          <a:effectLst/>
                          <a:latin typeface="+mn-lt"/>
                        </a:rPr>
                        <a:t>Ngày</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tháo</a:t>
                      </a:r>
                      <a:r>
                        <a:rPr lang="en-US" sz="1200" b="1" u="none" strike="noStrike" dirty="0">
                          <a:solidFill>
                            <a:schemeClr val="bg1"/>
                          </a:solidFill>
                          <a:effectLst/>
                          <a:latin typeface="+mn-lt"/>
                        </a:rPr>
                        <a:t> ĐC </a:t>
                      </a:r>
                      <a:r>
                        <a:rPr lang="en-US" sz="1200" b="1" u="none" strike="noStrike" dirty="0" err="1">
                          <a:solidFill>
                            <a:schemeClr val="bg1"/>
                          </a:solidFill>
                          <a:effectLst/>
                          <a:latin typeface="+mn-lt"/>
                        </a:rPr>
                        <a:t>tiếp</a:t>
                      </a:r>
                      <a:r>
                        <a:rPr lang="en-US" sz="1200" b="1" u="none" strike="noStrike" dirty="0">
                          <a:solidFill>
                            <a:schemeClr val="bg1"/>
                          </a:solidFill>
                          <a:effectLst/>
                          <a:latin typeface="+mn-lt"/>
                        </a:rPr>
                        <a:t> </a:t>
                      </a:r>
                      <a:r>
                        <a:rPr lang="en-US" sz="1200" b="1" u="none" strike="noStrike" dirty="0" err="1">
                          <a:solidFill>
                            <a:schemeClr val="bg1"/>
                          </a:solidFill>
                          <a:effectLst/>
                          <a:latin typeface="+mn-lt"/>
                        </a:rPr>
                        <a:t>theo</a:t>
                      </a:r>
                      <a:endParaRPr lang="en-US" sz="1200" b="1" i="0" u="none" strike="noStrike" dirty="0">
                        <a:solidFill>
                          <a:schemeClr val="bg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234812354"/>
                  </a:ext>
                </a:extLst>
              </a:tr>
              <a:tr h="385674">
                <a:tc>
                  <a:txBody>
                    <a:bodyPr/>
                    <a:lstStyle/>
                    <a:p>
                      <a:pPr algn="ctr" fontAlgn="ctr"/>
                      <a:r>
                        <a:rPr lang="en-US" sz="1200" b="0" u="none" strike="noStrike" dirty="0">
                          <a:solidFill>
                            <a:schemeClr val="tx1"/>
                          </a:solidFill>
                          <a:effectLst/>
                          <a:latin typeface="+mn-lt"/>
                        </a:rPr>
                        <a:t>956556</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u="none" strike="noStrike" dirty="0">
                          <a:solidFill>
                            <a:schemeClr val="tx1"/>
                          </a:solidFill>
                          <a:effectLst/>
                          <a:latin typeface="+mn-lt"/>
                          <a:cs typeface="Times New Roman" panose="02020603050405020304" pitchFamily="18" charset="0"/>
                        </a:rPr>
                        <a:t>20/11/2023</a:t>
                      </a:r>
                    </a:p>
                  </a:txBody>
                  <a:tcPr marL="12700" marR="12700" marT="12700" marB="0" anchor="ctr"/>
                </a:tc>
                <a:tc>
                  <a:txBody>
                    <a:bodyPr/>
                    <a:lstStyle/>
                    <a:p>
                      <a:pPr algn="ctr" fontAlgn="ctr"/>
                      <a:r>
                        <a:rPr lang="en-US" sz="1200" b="1" u="none" strike="noStrike" dirty="0">
                          <a:solidFill>
                            <a:srgbClr val="FF0000"/>
                          </a:solidFill>
                          <a:effectLst/>
                          <a:latin typeface="+mn-lt"/>
                        </a:rPr>
                        <a:t>12/03/2025</a:t>
                      </a:r>
                    </a:p>
                    <a:p>
                      <a:pPr algn="ctr" fontAlgn="ctr"/>
                      <a:r>
                        <a:rPr lang="en-US" sz="1200" u="none" strike="noStrike" dirty="0">
                          <a:solidFill>
                            <a:schemeClr val="tx1"/>
                          </a:solidFill>
                          <a:effectLst/>
                          <a:latin typeface="+mn-lt"/>
                        </a:rPr>
                        <a:t>Induct 12/08/2024</a:t>
                      </a:r>
                      <a:endParaRPr lang="en-US" sz="120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19/03/2025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610276437"/>
                  </a:ext>
                </a:extLst>
              </a:tr>
              <a:tr h="385674">
                <a:tc>
                  <a:txBody>
                    <a:bodyPr/>
                    <a:lstStyle/>
                    <a:p>
                      <a:pPr algn="ctr" fontAlgn="ctr"/>
                      <a:r>
                        <a:rPr lang="en-US" sz="1200" b="0" u="none" strike="noStrike" dirty="0">
                          <a:solidFill>
                            <a:schemeClr val="tx1"/>
                          </a:solidFill>
                          <a:effectLst/>
                          <a:latin typeface="+mn-lt"/>
                        </a:rPr>
                        <a:t>956533</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26/01/2024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30/03/2025</a:t>
                      </a:r>
                    </a:p>
                    <a:p>
                      <a:pPr algn="ctr" fontAlgn="ctr"/>
                      <a:r>
                        <a:rPr lang="en-US" sz="1200" b="0" u="none" strike="noStrike" dirty="0">
                          <a:solidFill>
                            <a:schemeClr val="tx1"/>
                          </a:solidFill>
                          <a:effectLst/>
                          <a:latin typeface="+mn-lt"/>
                          <a:cs typeface="Times New Roman" panose="02020603050405020304" pitchFamily="18" charset="0"/>
                        </a:rPr>
                        <a:t>Induct 05/10/2024</a:t>
                      </a:r>
                    </a:p>
                  </a:txBody>
                  <a:tcPr marL="12700" marR="12700" marT="12700" marB="0" anchor="ctr"/>
                </a:tc>
                <a:tc>
                  <a:txBody>
                    <a:bodyPr/>
                    <a:lstStyle/>
                    <a:p>
                      <a:pPr marL="0" algn="ctr" defTabSz="914400" rtl="0" eaLnBrk="1" fontAlgn="ctr" latinLnBrk="0" hangingPunct="1"/>
                      <a:r>
                        <a:rPr lang="en-US" sz="1200" b="1" i="0" u="none" strike="noStrike" kern="1200" dirty="0">
                          <a:solidFill>
                            <a:srgbClr val="FF0000"/>
                          </a:solidFill>
                          <a:effectLst/>
                          <a:latin typeface="+mn-lt"/>
                          <a:ea typeface="+mn-ea"/>
                          <a:cs typeface="Times New Roman" panose="02020603050405020304" pitchFamily="18" charset="0"/>
                        </a:rPr>
                        <a:t>T4/2025</a:t>
                      </a: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880068930"/>
                  </a:ext>
                </a:extLst>
              </a:tr>
              <a:tr h="385674">
                <a:tc>
                  <a:txBody>
                    <a:bodyPr/>
                    <a:lstStyle/>
                    <a:p>
                      <a:pPr algn="ctr" fontAlgn="ctr"/>
                      <a:r>
                        <a:rPr lang="en-US" sz="1200" b="0" u="none" strike="noStrike" dirty="0">
                          <a:solidFill>
                            <a:schemeClr val="tx1"/>
                          </a:solidFill>
                          <a:effectLst/>
                          <a:latin typeface="+mn-lt"/>
                        </a:rPr>
                        <a:t>956569</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28/07/2024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(T10/2025)</a:t>
                      </a:r>
                    </a:p>
                    <a:p>
                      <a:pPr algn="ctr" fontAlgn="ctr"/>
                      <a:r>
                        <a:rPr lang="en-US" sz="1200" b="0" u="none" strike="noStrike" dirty="0">
                          <a:solidFill>
                            <a:schemeClr val="tx1"/>
                          </a:solidFill>
                          <a:effectLst/>
                          <a:latin typeface="+mn-lt"/>
                          <a:cs typeface="Times New Roman" panose="02020603050405020304" pitchFamily="18" charset="0"/>
                        </a:rPr>
                        <a:t>Induct 12/11/2024</a:t>
                      </a:r>
                    </a:p>
                  </a:txBody>
                  <a:tcPr marL="12700" marR="12700" marT="12700" marB="0" anchor="ctr"/>
                </a:tc>
                <a:tc>
                  <a:txBody>
                    <a:bodyPr/>
                    <a:lstStyle/>
                    <a:p>
                      <a:pPr marL="0" algn="ctr" defTabSz="914400" rtl="0" eaLnBrk="1" fontAlgn="ctr" latinLnBrk="0" hangingPunct="1"/>
                      <a:r>
                        <a:rPr lang="en-US" sz="1200" b="1" i="0" u="none" strike="noStrike" dirty="0">
                          <a:solidFill>
                            <a:schemeClr val="tx1"/>
                          </a:solidFill>
                          <a:effectLst/>
                          <a:latin typeface="+mn-lt"/>
                          <a:cs typeface="Times New Roman" panose="02020603050405020304" pitchFamily="18" charset="0"/>
                        </a:rPr>
                        <a:t>TBD</a:t>
                      </a:r>
                      <a:endParaRPr lang="en-US" sz="1200" b="1" i="0" u="none" strike="noStrike" kern="1200" dirty="0">
                        <a:solidFill>
                          <a:schemeClr val="tx1"/>
                        </a:solidFill>
                        <a:effectLst/>
                        <a:latin typeface="+mn-lt"/>
                        <a:ea typeface="+mn-ea"/>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408617102"/>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958398</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GEEVES</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21/06/2024</a:t>
                      </a:r>
                    </a:p>
                  </a:txBody>
                  <a:tcPr marL="12700" marR="12700" marT="12700" marB="0" anchor="ctr"/>
                </a:tc>
                <a:tc>
                  <a:txBody>
                    <a:bodyPr/>
                    <a:lstStyle/>
                    <a:p>
                      <a:pPr algn="ctr" fontAlgn="ctr"/>
                      <a:r>
                        <a:rPr lang="en-US" sz="1200" b="1" u="none" strike="noStrike" dirty="0">
                          <a:solidFill>
                            <a:srgbClr val="FF0000"/>
                          </a:solidFill>
                          <a:effectLst/>
                          <a:latin typeface="+mn-lt"/>
                          <a:cs typeface="Times New Roman" panose="02020603050405020304" pitchFamily="18" charset="0"/>
                        </a:rPr>
                        <a:t>15/05/2025</a:t>
                      </a:r>
                    </a:p>
                    <a:p>
                      <a:pPr algn="ctr" fontAlgn="ctr"/>
                      <a:r>
                        <a:rPr lang="en-US" sz="1200" b="0" u="none" strike="noStrike" dirty="0">
                          <a:solidFill>
                            <a:schemeClr val="tx1"/>
                          </a:solidFill>
                          <a:effectLst/>
                          <a:latin typeface="+mn-lt"/>
                          <a:cs typeface="Times New Roman" panose="02020603050405020304" pitchFamily="18" charset="0"/>
                        </a:rPr>
                        <a:t>Induct 17/07/2024</a:t>
                      </a:r>
                    </a:p>
                  </a:txBody>
                  <a:tcPr marL="12700" marR="12700" marT="12700" marB="0" anchor="ctr"/>
                </a:tc>
                <a:tc>
                  <a:txBody>
                    <a:bodyPr/>
                    <a:lstStyle/>
                    <a:p>
                      <a:pPr algn="ctr" fontAlgn="ctr"/>
                      <a:r>
                        <a:rPr lang="en-US" sz="1200" b="1" i="0" u="none" strike="noStrike" dirty="0">
                          <a:solidFill>
                            <a:srgbClr val="FF0000"/>
                          </a:solidFill>
                          <a:effectLst/>
                          <a:latin typeface="+mn-lt"/>
                          <a:cs typeface="Times New Roman" panose="02020603050405020304" pitchFamily="18" charset="0"/>
                        </a:rPr>
                        <a:t>22/05/2025</a:t>
                      </a: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rgbClr val="00B05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16863157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956599</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u="none" strike="noStrike" dirty="0">
                          <a:solidFill>
                            <a:schemeClr val="tx1"/>
                          </a:solidFill>
                          <a:effectLst/>
                          <a:latin typeface="+mn-lt"/>
                        </a:rPr>
                        <a:t>KLM</a:t>
                      </a:r>
                      <a:endParaRPr lang="en-US" sz="1200" b="0"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05/09/2024</a:t>
                      </a:r>
                    </a:p>
                  </a:txBody>
                  <a:tcPr marL="12700" marR="12700" marT="12700" marB="0" anchor="ctr"/>
                </a:tc>
                <a:tc>
                  <a:txBody>
                    <a:bodyPr/>
                    <a:lstStyle/>
                    <a:p>
                      <a:pPr algn="ctr" fontAlgn="ctr"/>
                      <a:r>
                        <a:rPr lang="en-US" sz="1200" b="1" u="none" strike="noStrike" dirty="0">
                          <a:solidFill>
                            <a:schemeClr val="tx1"/>
                          </a:solidFill>
                          <a:effectLst/>
                          <a:latin typeface="+mn-lt"/>
                          <a:cs typeface="Times New Roman" panose="02020603050405020304" pitchFamily="18" charset="0"/>
                        </a:rPr>
                        <a:t>TBD (13/07/2025)</a:t>
                      </a:r>
                    </a:p>
                    <a:p>
                      <a:pPr algn="ctr" fontAlgn="ctr"/>
                      <a:r>
                        <a:rPr lang="en-US" sz="1200" b="0" u="none" strike="noStrike" dirty="0">
                          <a:solidFill>
                            <a:schemeClr val="tx1"/>
                          </a:solidFill>
                          <a:effectLst/>
                          <a:latin typeface="+mn-lt"/>
                          <a:cs typeface="Times New Roman" panose="02020603050405020304" pitchFamily="18" charset="0"/>
                        </a:rPr>
                        <a:t>Induct 26/11/2024</a:t>
                      </a:r>
                    </a:p>
                  </a:txBody>
                  <a:tcPr marL="12700" marR="12700" marT="12700" marB="0" anchor="ctr"/>
                </a:tc>
                <a:tc>
                  <a:txBody>
                    <a:bodyPr/>
                    <a:lstStyle/>
                    <a:p>
                      <a:pPr algn="ctr" fontAlgn="ctr"/>
                      <a:r>
                        <a:rPr lang="en-US" sz="1200" b="1" i="0" u="none" strike="noStrike" dirty="0">
                          <a:solidFill>
                            <a:schemeClr val="tx1"/>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316705113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958537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17/09/2024</a:t>
                      </a:r>
                    </a:p>
                  </a:txBody>
                  <a:tcPr marL="12700" marR="12700" marT="12700" marB="0" anchor="ctr"/>
                </a:tc>
                <a:tc>
                  <a:txBody>
                    <a:bodyPr/>
                    <a:lstStyle/>
                    <a:p>
                      <a:pPr algn="ctr" fontAlgn="ctr"/>
                      <a:r>
                        <a:rPr lang="en-US" sz="1200" b="1" u="none" strike="noStrike" kern="1200" dirty="0">
                          <a:solidFill>
                            <a:srgbClr val="247A00"/>
                          </a:solidFill>
                          <a:effectLst/>
                          <a:latin typeface="+mn-lt"/>
                          <a:ea typeface="+mn-ea"/>
                          <a:cs typeface="Times New Roman" panose="02020603050405020304" pitchFamily="18" charset="0"/>
                        </a:rPr>
                        <a:t>21/Feb/2025</a:t>
                      </a:r>
                    </a:p>
                    <a:p>
                      <a:pPr algn="ctr" fontAlgn="ctr"/>
                      <a:r>
                        <a:rPr lang="en-US" sz="1200" b="1" u="none" strike="noStrike" kern="1200" dirty="0">
                          <a:solidFill>
                            <a:srgbClr val="247A00"/>
                          </a:solidFill>
                          <a:effectLst/>
                          <a:latin typeface="+mn-lt"/>
                          <a:ea typeface="+mn-ea"/>
                          <a:cs typeface="Times New Roman" panose="02020603050405020304" pitchFamily="18" charset="0"/>
                        </a:rPr>
                        <a:t>Induct 04/11</a:t>
                      </a:r>
                    </a:p>
                  </a:txBody>
                  <a:tcPr marL="12700" marR="12700" marT="12700" marB="0" anchor="ctr"/>
                </a:tc>
                <a:tc>
                  <a:txBody>
                    <a:bodyPr/>
                    <a:lstStyle/>
                    <a:p>
                      <a:pPr algn="ctr" fontAlgn="ctr"/>
                      <a:r>
                        <a:rPr lang="en-US" sz="1200" b="1" u="none" strike="noStrike" kern="1200" dirty="0">
                          <a:solidFill>
                            <a:srgbClr val="247A00"/>
                          </a:solidFill>
                          <a:effectLst/>
                          <a:latin typeface="+mn-lt"/>
                          <a:ea typeface="+mn-ea"/>
                          <a:cs typeface="Times New Roman" panose="02020603050405020304" pitchFamily="18" charset="0"/>
                        </a:rPr>
                        <a:t>28/Feb/25</a:t>
                      </a:r>
                    </a:p>
                  </a:txBody>
                  <a:tcPr marL="12700" marR="12700" marT="12700" marB="0" anchor="ctr"/>
                </a:tc>
                <a:tc>
                  <a:txBody>
                    <a:bodyPr/>
                    <a:lstStyle/>
                    <a:p>
                      <a:pPr algn="ctr" fontAlgn="ctr"/>
                      <a:endParaRPr lang="en-US" sz="1200" b="1" i="0" u="none" strike="noStrike" dirty="0">
                        <a:solidFill>
                          <a:srgbClr val="247A00"/>
                        </a:solidFill>
                        <a:effectLst/>
                        <a:latin typeface="+mn-lt"/>
                        <a:cs typeface="Times New Roman" panose="02020603050405020304" pitchFamily="18" charset="0"/>
                      </a:endParaRPr>
                    </a:p>
                  </a:txBody>
                  <a:tcPr marL="12700" marR="12700" marT="12700" marB="0" anchor="ctr"/>
                </a:tc>
                <a:tc>
                  <a:txBody>
                    <a:bodyPr/>
                    <a:lstStyle/>
                    <a:p>
                      <a:pPr algn="ctr" fontAlgn="ctr"/>
                      <a:r>
                        <a:rPr lang="en-US" sz="1200" b="1" i="0" u="none" strike="noStrike" dirty="0">
                          <a:solidFill>
                            <a:srgbClr val="247A00"/>
                          </a:solidFill>
                          <a:effectLst/>
                          <a:latin typeface="+mn-lt"/>
                          <a:cs typeface="Times New Roman" panose="02020603050405020304" pitchFamily="18" charset="0"/>
                        </a:rPr>
                        <a:t>02/03 </a:t>
                      </a:r>
                    </a:p>
                    <a:p>
                      <a:pPr algn="ctr" fontAlgn="ctr"/>
                      <a:r>
                        <a:rPr lang="en-US" sz="1200" b="1" i="0" u="none" strike="noStrike" dirty="0">
                          <a:solidFill>
                            <a:srgbClr val="247A00"/>
                          </a:solidFill>
                          <a:effectLst/>
                          <a:latin typeface="+mn-lt"/>
                          <a:cs typeface="Times New Roman" panose="02020603050405020304" pitchFamily="18" charset="0"/>
                        </a:rPr>
                        <a:t>(A863 to A870)</a:t>
                      </a: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2980115374"/>
                  </a:ext>
                </a:extLst>
              </a:tr>
              <a:tr h="385674">
                <a:tc>
                  <a:txBody>
                    <a:bodyPr/>
                    <a:lstStyle/>
                    <a:p>
                      <a:pPr algn="ctr" fontAlgn="ctr"/>
                      <a:r>
                        <a:rPr lang="en-US" sz="1200" b="0" i="0" u="none" strike="noStrike" dirty="0">
                          <a:solidFill>
                            <a:schemeClr val="tx1"/>
                          </a:solidFill>
                          <a:effectLst/>
                          <a:latin typeface="+mn-lt"/>
                          <a:cs typeface="Times New Roman" panose="02020603050405020304" pitchFamily="18" charset="0"/>
                        </a:rPr>
                        <a:t>956947</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13/11/2024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 04/03/2025        </a:t>
                      </a:r>
                    </a:p>
                    <a:p>
                      <a:pPr algn="ctr" fontAlgn="ctr"/>
                      <a:r>
                        <a:rPr lang="en-US" sz="1200" b="0" u="none" strike="noStrike" dirty="0">
                          <a:solidFill>
                            <a:srgbClr val="FF0000"/>
                          </a:solidFill>
                          <a:effectLst/>
                          <a:latin typeface="+mn-lt"/>
                          <a:cs typeface="Times New Roman" panose="02020603050405020304" pitchFamily="18" charset="0"/>
                        </a:rPr>
                        <a:t>(KH </a:t>
                      </a:r>
                      <a:r>
                        <a:rPr lang="en-US" sz="1200" b="0" u="none" strike="noStrike" dirty="0" err="1">
                          <a:solidFill>
                            <a:srgbClr val="FF0000"/>
                          </a:solidFill>
                          <a:effectLst/>
                          <a:latin typeface="+mn-lt"/>
                          <a:cs typeface="Times New Roman" panose="02020603050405020304" pitchFamily="18" charset="0"/>
                        </a:rPr>
                        <a:t>cũ</a:t>
                      </a:r>
                      <a:r>
                        <a:rPr lang="en-US" sz="1200" b="0" u="none" strike="noStrike" dirty="0">
                          <a:solidFill>
                            <a:srgbClr val="FF0000"/>
                          </a:solidFill>
                          <a:effectLst/>
                          <a:latin typeface="+mn-lt"/>
                          <a:cs typeface="Times New Roman" panose="02020603050405020304" pitchFamily="18" charset="0"/>
                        </a:rPr>
                        <a:t> 16/12)</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90409908"/>
                  </a:ext>
                </a:extLst>
              </a:tr>
              <a:tr h="199308">
                <a:tc>
                  <a:txBody>
                    <a:bodyPr/>
                    <a:lstStyle/>
                    <a:p>
                      <a:pPr algn="ctr" fontAlgn="ctr"/>
                      <a:r>
                        <a:rPr lang="en-US" sz="1200" b="0" i="0" u="none" strike="noStrike" dirty="0">
                          <a:solidFill>
                            <a:schemeClr val="tx1"/>
                          </a:solidFill>
                          <a:effectLst/>
                          <a:latin typeface="+mn-lt"/>
                          <a:cs typeface="Times New Roman" panose="02020603050405020304" pitchFamily="18" charset="0"/>
                        </a:rPr>
                        <a:t>956534</a:t>
                      </a:r>
                    </a:p>
                  </a:txBody>
                  <a:tcPr marL="12700" marR="12700" marT="12700" marB="0" anchor="ctr">
                    <a:lnL w="12700" cap="flat" cmpd="sng" algn="ctr">
                      <a:solidFill>
                        <a:schemeClr val="tx1"/>
                      </a:solidFill>
                      <a:prstDash val="solid"/>
                      <a:round/>
                      <a:headEnd type="none" w="med" len="med"/>
                      <a:tailEnd type="none" w="med" len="med"/>
                    </a:lnL>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KLM</a:t>
                      </a:r>
                    </a:p>
                  </a:txBody>
                  <a:tcPr marL="12700" marR="12700" marT="12700" marB="0" anchor="ctr"/>
                </a:tc>
                <a:tc>
                  <a:txBody>
                    <a:bodyPr/>
                    <a:lstStyle/>
                    <a:p>
                      <a:pPr algn="ctr" fontAlgn="ctr"/>
                      <a:r>
                        <a:rPr lang="en-US" sz="1200" b="0" u="none" strike="noStrike" dirty="0">
                          <a:solidFill>
                            <a:schemeClr val="tx1"/>
                          </a:solidFill>
                          <a:effectLst/>
                          <a:latin typeface="+mn-lt"/>
                          <a:cs typeface="Times New Roman" panose="02020603050405020304" pitchFamily="18" charset="0"/>
                        </a:rPr>
                        <a:t>15/12/2024</a:t>
                      </a:r>
                    </a:p>
                  </a:txBody>
                  <a:tcPr marL="12700" marR="12700" marT="12700" marB="0" anchor="ct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15/04/2025</a:t>
                      </a:r>
                    </a:p>
                  </a:txBody>
                  <a:tcPr marL="12700" marR="12700" marT="12700" marB="0" anchor="ct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tc>
                <a:tc>
                  <a:txBody>
                    <a:bodyPr/>
                    <a:lstStyle/>
                    <a:p>
                      <a:pPr algn="ctr" fontAlgn="ctr"/>
                      <a:endParaRPr lang="en-US" sz="1200" b="1" i="0" u="none" strike="noStrike" dirty="0">
                        <a:solidFill>
                          <a:schemeClr val="tx1"/>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764472465"/>
                  </a:ext>
                </a:extLst>
              </a:tr>
              <a:tr h="199308">
                <a:tc>
                  <a:txBody>
                    <a:bodyPr/>
                    <a:lstStyle/>
                    <a:p>
                      <a:pPr algn="ctr" fontAlgn="ctr"/>
                      <a:r>
                        <a:rPr lang="en-US" sz="1200" b="0" i="0" u="none" strike="noStrike" dirty="0">
                          <a:solidFill>
                            <a:schemeClr val="tx1"/>
                          </a:solidFill>
                          <a:effectLst/>
                          <a:latin typeface="+mn-lt"/>
                          <a:cs typeface="Times New Roman" panose="02020603050405020304" pitchFamily="18" charset="0"/>
                        </a:rPr>
                        <a:t>958395</a:t>
                      </a:r>
                    </a:p>
                  </a:txBody>
                  <a:tcPr marL="12700" marR="12700" marT="12700" marB="0"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chemeClr val="tx1"/>
                          </a:solidFill>
                          <a:effectLst/>
                          <a:latin typeface="+mn-lt"/>
                          <a:cs typeface="Times New Roman" panose="02020603050405020304" pitchFamily="18" charset="0"/>
                        </a:rPr>
                        <a:t>GE CAL</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chemeClr val="tx1"/>
                          </a:solidFill>
                          <a:effectLst/>
                          <a:latin typeface="+mn-lt"/>
                          <a:cs typeface="Times New Roman" panose="02020603050405020304" pitchFamily="18" charset="0"/>
                        </a:rPr>
                        <a:t>11/02/2025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u="none" strike="noStrike" dirty="0">
                          <a:solidFill>
                            <a:srgbClr val="FF0000"/>
                          </a:solidFill>
                          <a:effectLst/>
                          <a:latin typeface="+mn-lt"/>
                          <a:cs typeface="Times New Roman" panose="02020603050405020304" pitchFamily="18" charset="0"/>
                        </a:rPr>
                        <a:t>Induction 24/05/2025</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r>
                        <a:rPr lang="en-US" sz="1200" b="0" i="0" u="none" strike="noStrike" dirty="0">
                          <a:solidFill>
                            <a:srgbClr val="FF0000"/>
                          </a:solidFill>
                          <a:effectLst/>
                          <a:latin typeface="+mn-lt"/>
                          <a:cs typeface="Times New Roman" panose="02020603050405020304" pitchFamily="18" charset="0"/>
                        </a:rPr>
                        <a:t>TBD</a:t>
                      </a: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B w="12700" cap="flat" cmpd="sng" algn="ctr">
                      <a:solidFill>
                        <a:schemeClr val="tx1"/>
                      </a:solidFill>
                      <a:prstDash val="solid"/>
                      <a:round/>
                      <a:headEnd type="none" w="med" len="med"/>
                      <a:tailEnd type="none" w="med" len="med"/>
                    </a:lnB>
                  </a:tcPr>
                </a:tc>
                <a:tc>
                  <a:txBody>
                    <a:bodyPr/>
                    <a:lstStyle/>
                    <a:p>
                      <a:pPr algn="ctr" fontAlgn="ctr"/>
                      <a:endParaRPr lang="en-US" sz="1200" b="1" i="0" u="none" strike="noStrike" dirty="0">
                        <a:solidFill>
                          <a:srgbClr val="FF0000"/>
                        </a:solidFill>
                        <a:effectLst/>
                        <a:latin typeface="+mn-lt"/>
                        <a:cs typeface="Times New Roman" panose="02020603050405020304" pitchFamily="18" charset="0"/>
                      </a:endParaRPr>
                    </a:p>
                  </a:txBody>
                  <a:tcPr marL="12700" marR="12700" marT="12700" marB="0"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697906"/>
                  </a:ext>
                </a:extLst>
              </a:tr>
            </a:tbl>
          </a:graphicData>
        </a:graphic>
      </p:graphicFrame>
      <p:sp>
        <p:nvSpPr>
          <p:cNvPr id="7" name="TextBox 6">
            <a:extLst>
              <a:ext uri="{FF2B5EF4-FFF2-40B4-BE49-F238E27FC236}">
                <a16:creationId xmlns:a16="http://schemas.microsoft.com/office/drawing/2014/main" id="{1D51DD3A-A3BC-37D8-A7BC-C2D1AAF32241}"/>
              </a:ext>
            </a:extLst>
          </p:cNvPr>
          <p:cNvSpPr txBox="1"/>
          <p:nvPr/>
        </p:nvSpPr>
        <p:spPr>
          <a:xfrm>
            <a:off x="-2309" y="0"/>
            <a:ext cx="14875495"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B787</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312331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92F53-6C68-14D6-9DEA-AEB34D75A18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441B87A-D677-E2CD-D388-4756C0FD6622}"/>
              </a:ext>
            </a:extLst>
          </p:cNvPr>
          <p:cNvSpPr>
            <a:spLocks noGrp="1"/>
          </p:cNvSpPr>
          <p:nvPr>
            <p:ph type="sldNum" idx="12"/>
          </p:nvPr>
        </p:nvSpPr>
        <p:spPr/>
        <p:txBody>
          <a:bodyPr/>
          <a:lstStyle/>
          <a:p>
            <a:fld id="{00000000-1234-1234-1234-123412341234}" type="slidenum">
              <a:rPr lang="vi" smtClean="0">
                <a:cs typeface="Times New Roman" panose="02020603050405020304" pitchFamily="18" charset="0"/>
              </a:rPr>
              <a:pPr/>
              <a:t>37</a:t>
            </a:fld>
            <a:endParaRPr lang="vi">
              <a:cs typeface="Times New Roman" panose="02020603050405020304" pitchFamily="18" charset="0"/>
            </a:endParaRPr>
          </a:p>
        </p:txBody>
      </p:sp>
      <p:sp>
        <p:nvSpPr>
          <p:cNvPr id="3" name="Slide Number Placeholder 3">
            <a:extLst>
              <a:ext uri="{FF2B5EF4-FFF2-40B4-BE49-F238E27FC236}">
                <a16:creationId xmlns:a16="http://schemas.microsoft.com/office/drawing/2014/main" id="{AE0CA383-C720-0F92-7585-419599FF38E2}"/>
              </a:ext>
            </a:extLst>
          </p:cNvPr>
          <p:cNvSpPr txBox="1">
            <a:spLocks/>
          </p:cNvSpPr>
          <p:nvPr/>
        </p:nvSpPr>
        <p:spPr>
          <a:xfrm>
            <a:off x="10890552" y="7736647"/>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37</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4" name="TextBox 3">
            <a:extLst>
              <a:ext uri="{FF2B5EF4-FFF2-40B4-BE49-F238E27FC236}">
                <a16:creationId xmlns:a16="http://schemas.microsoft.com/office/drawing/2014/main" id="{EF695E52-C896-9BB0-D877-6900CC294C68}"/>
              </a:ext>
            </a:extLst>
          </p:cNvPr>
          <p:cNvSpPr txBox="1"/>
          <p:nvPr/>
        </p:nvSpPr>
        <p:spPr>
          <a:xfrm>
            <a:off x="59590" y="0"/>
            <a:ext cx="14875495" cy="502766"/>
          </a:xfrm>
          <a:prstGeom prst="rect">
            <a:avLst/>
          </a:prstGeom>
          <a:noFill/>
        </p:spPr>
        <p:txBody>
          <a:bodyPr wrap="square" rtlCol="0">
            <a:spAutoFit/>
          </a:bodyPr>
          <a:lstStyle/>
          <a:p>
            <a:pPr defTabSz="1219170">
              <a:defRPr/>
            </a:pPr>
            <a:r>
              <a:rPr lang="en-GB" sz="2667" b="1" dirty="0">
                <a:ln w="0"/>
                <a:solidFill>
                  <a:srgbClr val="FBAC00"/>
                </a:solidFill>
                <a:latin typeface="Times New Roman" panose="02020603050405020304" pitchFamily="18" charset="0"/>
                <a:cs typeface="Times New Roman" panose="02020603050405020304" pitchFamily="18" charset="0"/>
              </a:rPr>
              <a:t>TÌNH TRẠNG ĐỘNG CƠ A350</a:t>
            </a:r>
            <a:endParaRPr lang="vi-VN"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BAFF210-6A48-BE4D-D3F6-9B8EEEA5040F}"/>
              </a:ext>
            </a:extLst>
          </p:cNvPr>
          <p:cNvGraphicFramePr>
            <a:graphicFrameLocks noGrp="1"/>
          </p:cNvGraphicFramePr>
          <p:nvPr/>
        </p:nvGraphicFramePr>
        <p:xfrm>
          <a:off x="59590" y="875397"/>
          <a:ext cx="5905159" cy="2926080"/>
        </p:xfrm>
        <a:graphic>
          <a:graphicData uri="http://schemas.openxmlformats.org/drawingml/2006/table">
            <a:tbl>
              <a:tblPr firstRow="1" bandRow="1">
                <a:tableStyleId>{5C22544A-7EE6-4342-B048-85BDC9FD1C3A}</a:tableStyleId>
              </a:tblPr>
              <a:tblGrid>
                <a:gridCol w="1042345">
                  <a:extLst>
                    <a:ext uri="{9D8B030D-6E8A-4147-A177-3AD203B41FA5}">
                      <a16:colId xmlns:a16="http://schemas.microsoft.com/office/drawing/2014/main" val="1930757539"/>
                    </a:ext>
                  </a:extLst>
                </a:gridCol>
                <a:gridCol w="1565065">
                  <a:extLst>
                    <a:ext uri="{9D8B030D-6E8A-4147-A177-3AD203B41FA5}">
                      <a16:colId xmlns:a16="http://schemas.microsoft.com/office/drawing/2014/main" val="1674463010"/>
                    </a:ext>
                  </a:extLst>
                </a:gridCol>
                <a:gridCol w="914400">
                  <a:extLst>
                    <a:ext uri="{9D8B030D-6E8A-4147-A177-3AD203B41FA5}">
                      <a16:colId xmlns:a16="http://schemas.microsoft.com/office/drawing/2014/main" val="1549944897"/>
                    </a:ext>
                  </a:extLst>
                </a:gridCol>
                <a:gridCol w="838200">
                  <a:extLst>
                    <a:ext uri="{9D8B030D-6E8A-4147-A177-3AD203B41FA5}">
                      <a16:colId xmlns:a16="http://schemas.microsoft.com/office/drawing/2014/main" val="3687717734"/>
                    </a:ext>
                  </a:extLst>
                </a:gridCol>
                <a:gridCol w="1545149">
                  <a:extLst>
                    <a:ext uri="{9D8B030D-6E8A-4147-A177-3AD203B41FA5}">
                      <a16:colId xmlns:a16="http://schemas.microsoft.com/office/drawing/2014/main" val="4100307886"/>
                    </a:ext>
                  </a:extLst>
                </a:gridCol>
              </a:tblGrid>
              <a:tr h="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err="1">
                          <a:latin typeface="Times New Roman" panose="02020603050405020304" pitchFamily="18" charset="0"/>
                          <a:cs typeface="Times New Roman" panose="02020603050405020304" pitchFamily="18" charset="0"/>
                        </a:rPr>
                        <a:t>Ngày</a:t>
                      </a:r>
                      <a:r>
                        <a:rPr lang="en-US" sz="1200">
                          <a:latin typeface="Times New Roman" panose="02020603050405020304" pitchFamily="18" charset="0"/>
                          <a:cs typeface="Times New Roman" panose="02020603050405020304" pitchFamily="18" charset="0"/>
                        </a:rPr>
                        <a:t> xong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về</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0">
                <a:tc>
                  <a:txBody>
                    <a:bodyPr/>
                    <a:lstStyle/>
                    <a:p>
                      <a:r>
                        <a:rPr lang="en-US" sz="1200" b="1" dirty="0">
                          <a:latin typeface="Times New Roman" panose="02020603050405020304" pitchFamily="18" charset="0"/>
                          <a:cs typeface="Times New Roman" panose="02020603050405020304" pitchFamily="18" charset="0"/>
                        </a:rPr>
                        <a:t>21047</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N3 </a:t>
                      </a:r>
                      <a:r>
                        <a:rPr lang="en-GB" sz="1200" dirty="0">
                          <a:latin typeface="Times New Roman" panose="02020603050405020304" pitchFamily="18" charset="0"/>
                          <a:cs typeface="Times New Roman" panose="02020603050405020304" pitchFamily="18" charset="0"/>
                        </a:rPr>
                        <a:t>– 2RF</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14/08/24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12/03/</a:t>
                      </a:r>
                      <a:r>
                        <a:rPr lang="vi-VN" sz="1200" b="0" dirty="0">
                          <a:solidFill>
                            <a:schemeClr val="tx1"/>
                          </a:solidFill>
                          <a:latin typeface="Times New Roman" panose="02020603050405020304" pitchFamily="18" charset="0"/>
                          <a:cs typeface="Times New Roman" panose="02020603050405020304" pitchFamily="18" charset="0"/>
                        </a:rPr>
                        <a:t>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0">
                <a:tc>
                  <a:txBody>
                    <a:bodyPr/>
                    <a:lstStyle/>
                    <a:p>
                      <a:r>
                        <a:rPr lang="en-US" sz="1200" b="1">
                          <a:latin typeface="Times New Roman" panose="02020603050405020304" pitchFamily="18" charset="0"/>
                          <a:cs typeface="Times New Roman" panose="02020603050405020304" pitchFamily="18" charset="0"/>
                        </a:rPr>
                        <a:t>21043</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a:t>
                      </a:r>
                      <a:r>
                        <a:rPr lang="en-US" sz="1200" dirty="0">
                          <a:latin typeface="Times New Roman" panose="02020603050405020304" pitchFamily="18" charset="0"/>
                          <a:cs typeface="Times New Roman" panose="02020603050405020304" pitchFamily="18" charset="0"/>
                        </a:rPr>
                        <a:t>– 2RF</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14/11/24</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02/06/25</a:t>
                      </a:r>
                    </a:p>
                  </a:txBody>
                  <a:tcPr marL="121920" marR="121920" marT="60960" marB="60960" anchor="ctr"/>
                </a:tc>
                <a:tc>
                  <a:txBody>
                    <a:bodyPr/>
                    <a:lstStyle/>
                    <a:p>
                      <a:r>
                        <a:rPr lang="en-US" sz="1200" b="0" dirty="0">
                          <a:solidFill>
                            <a:schemeClr val="tx1"/>
                          </a:solidFill>
                          <a:latin typeface="Times New Roman" panose="02020603050405020304" pitchFamily="18" charset="0"/>
                          <a:cs typeface="Times New Roman" panose="02020603050405020304" pitchFamily="18" charset="0"/>
                        </a:rPr>
                        <a:t>10/06/25</a:t>
                      </a:r>
                    </a:p>
                  </a:txBody>
                  <a:tcPr marL="121920" marR="121920" marT="60960" marB="60960" anchor="ctr"/>
                </a:tc>
                <a:extLst>
                  <a:ext uri="{0D108BD9-81ED-4DB2-BD59-A6C34878D82A}">
                    <a16:rowId xmlns:a16="http://schemas.microsoft.com/office/drawing/2014/main" val="83465224"/>
                  </a:ext>
                </a:extLst>
              </a:tr>
              <a:tr h="0">
                <a:tc>
                  <a:txBody>
                    <a:bodyPr/>
                    <a:lstStyle/>
                    <a:p>
                      <a:r>
                        <a:rPr lang="en-US" sz="1200" b="1">
                          <a:latin typeface="Times New Roman" panose="02020603050405020304" pitchFamily="18" charset="0"/>
                          <a:cs typeface="Times New Roman" panose="02020603050405020304" pitchFamily="18" charset="0"/>
                        </a:rPr>
                        <a:t>21137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N3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12/12/24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30/06/25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553736"/>
                  </a:ext>
                </a:extLst>
              </a:tr>
              <a:tr h="0">
                <a:tc>
                  <a:txBody>
                    <a:bodyPr/>
                    <a:lstStyle/>
                    <a:p>
                      <a:r>
                        <a:rPr lang="en-US" sz="1200" b="1">
                          <a:latin typeface="Times New Roman" panose="02020603050405020304" pitchFamily="18" charset="0"/>
                          <a:cs typeface="Times New Roman" panose="02020603050405020304" pitchFamily="18" charset="0"/>
                        </a:rPr>
                        <a:t>21422</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1RF – HAESL</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21/12/24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30/03/25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tc>
                  <a:txBody>
                    <a:bodyPr/>
                    <a:lstStyle/>
                    <a:p>
                      <a:pPr marL="0" algn="l" defTabSz="914400" rtl="0" eaLnBrk="1" latinLnBrk="0" hangingPunct="1"/>
                      <a:r>
                        <a:rPr lang="en-US" sz="1200" b="0" kern="1200">
                          <a:solidFill>
                            <a:schemeClr val="tx1"/>
                          </a:solidFill>
                          <a:latin typeface="Times New Roman" panose="02020603050405020304" pitchFamily="18" charset="0"/>
                          <a:ea typeface="+mn-ea"/>
                          <a:cs typeface="Times New Roman" panose="02020603050405020304" pitchFamily="18" charset="0"/>
                        </a:rPr>
                        <a:t>10/04/25</a:t>
                      </a:r>
                      <a:endParaRPr lang="en-US" sz="1200" b="0" kern="1200" dirty="0">
                        <a:solidFill>
                          <a:schemeClr val="tx1"/>
                        </a:solidFill>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875011403"/>
                  </a:ext>
                </a:extLst>
              </a:tr>
              <a:tr h="0">
                <a:tc>
                  <a:txBody>
                    <a:bodyPr/>
                    <a:lstStyle/>
                    <a:p>
                      <a:r>
                        <a:rPr lang="en-US" sz="1200" b="1">
                          <a:latin typeface="Times New Roman" panose="02020603050405020304" pitchFamily="18" charset="0"/>
                          <a:cs typeface="Times New Roman" panose="02020603050405020304" pitchFamily="18" charset="0"/>
                        </a:rPr>
                        <a:t>21201</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28/12/24</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29/04/25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727372545"/>
                  </a:ext>
                </a:extLst>
              </a:tr>
              <a:tr h="0">
                <a:tc>
                  <a:txBody>
                    <a:bodyPr/>
                    <a:lstStyle/>
                    <a:p>
                      <a:r>
                        <a:rPr lang="en-US" sz="1200" b="1">
                          <a:latin typeface="Times New Roman" panose="02020603050405020304" pitchFamily="18" charset="0"/>
                          <a:cs typeface="Times New Roman" panose="02020603050405020304" pitchFamily="18" charset="0"/>
                        </a:rPr>
                        <a:t>21584</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SAESL – 1RF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23/01/25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23/05/25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02/06/25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29074625"/>
                  </a:ext>
                </a:extLst>
              </a:tr>
              <a:tr h="0">
                <a:tc>
                  <a:txBody>
                    <a:bodyPr/>
                    <a:lstStyle/>
                    <a:p>
                      <a:r>
                        <a:rPr lang="en-US" sz="1200" b="1">
                          <a:latin typeface="Times New Roman" panose="02020603050405020304" pitchFamily="18" charset="0"/>
                          <a:cs typeface="Times New Roman" panose="02020603050405020304" pitchFamily="18" charset="0"/>
                        </a:rPr>
                        <a:t>21269</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 – QT</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27/01/25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23/04/25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733130508"/>
                  </a:ext>
                </a:extLst>
              </a:tr>
              <a:tr h="0">
                <a:tc>
                  <a:txBody>
                    <a:bodyPr/>
                    <a:lstStyle/>
                    <a:p>
                      <a:r>
                        <a:rPr lang="en-US" sz="1200" b="1">
                          <a:latin typeface="Times New Roman" panose="02020603050405020304" pitchFamily="18" charset="0"/>
                          <a:cs typeface="Times New Roman" panose="02020603050405020304" pitchFamily="18" charset="0"/>
                        </a:rPr>
                        <a:t>21040</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HAESL-2RF</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07/02/25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07/06/25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b="0">
                          <a:solidFill>
                            <a:schemeClr val="tx1"/>
                          </a:solidFill>
                          <a:latin typeface="Times New Roman" panose="02020603050405020304" pitchFamily="18" charset="0"/>
                          <a:cs typeface="Times New Roman" panose="02020603050405020304" pitchFamily="18" charset="0"/>
                        </a:rPr>
                        <a:t>17/06/25</a:t>
                      </a: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135666374"/>
                  </a:ext>
                </a:extLst>
              </a:tr>
            </a:tbl>
          </a:graphicData>
        </a:graphic>
      </p:graphicFrame>
      <p:graphicFrame>
        <p:nvGraphicFramePr>
          <p:cNvPr id="6" name="Table 5">
            <a:extLst>
              <a:ext uri="{FF2B5EF4-FFF2-40B4-BE49-F238E27FC236}">
                <a16:creationId xmlns:a16="http://schemas.microsoft.com/office/drawing/2014/main" id="{7BFB9EC9-2DB3-4DC1-4221-D1E337486ABA}"/>
              </a:ext>
            </a:extLst>
          </p:cNvPr>
          <p:cNvGraphicFramePr>
            <a:graphicFrameLocks noGrp="1"/>
          </p:cNvGraphicFramePr>
          <p:nvPr/>
        </p:nvGraphicFramePr>
        <p:xfrm>
          <a:off x="76200" y="4321843"/>
          <a:ext cx="5879459" cy="2438400"/>
        </p:xfrm>
        <a:graphic>
          <a:graphicData uri="http://schemas.openxmlformats.org/drawingml/2006/table">
            <a:tbl>
              <a:tblPr firstRow="1" bandRow="1">
                <a:tableStyleId>{21E4AEA4-8DFA-4A89-87EB-49C32662AFE0}</a:tableStyleId>
              </a:tblPr>
              <a:tblGrid>
                <a:gridCol w="991528">
                  <a:extLst>
                    <a:ext uri="{9D8B030D-6E8A-4147-A177-3AD203B41FA5}">
                      <a16:colId xmlns:a16="http://schemas.microsoft.com/office/drawing/2014/main" val="1930757539"/>
                    </a:ext>
                  </a:extLst>
                </a:gridCol>
                <a:gridCol w="1042096">
                  <a:extLst>
                    <a:ext uri="{9D8B030D-6E8A-4147-A177-3AD203B41FA5}">
                      <a16:colId xmlns:a16="http://schemas.microsoft.com/office/drawing/2014/main" val="1674463010"/>
                    </a:ext>
                  </a:extLst>
                </a:gridCol>
                <a:gridCol w="1823000">
                  <a:extLst>
                    <a:ext uri="{9D8B030D-6E8A-4147-A177-3AD203B41FA5}">
                      <a16:colId xmlns:a16="http://schemas.microsoft.com/office/drawing/2014/main" val="1549944897"/>
                    </a:ext>
                  </a:extLst>
                </a:gridCol>
                <a:gridCol w="2022835">
                  <a:extLst>
                    <a:ext uri="{9D8B030D-6E8A-4147-A177-3AD203B41FA5}">
                      <a16:colId xmlns:a16="http://schemas.microsoft.com/office/drawing/2014/main" val="3366431274"/>
                    </a:ext>
                  </a:extLst>
                </a:gridCol>
              </a:tblGrid>
              <a:tr h="0">
                <a:tc>
                  <a:txBody>
                    <a:bodyPr/>
                    <a:lstStyle/>
                    <a:p>
                      <a:r>
                        <a:rPr lang="en-US" sz="1200">
                          <a:latin typeface="Times New Roman" panose="02020603050405020304" pitchFamily="18" charset="0"/>
                          <a:cs typeface="Times New Roman" panose="02020603050405020304" pitchFamily="18" charset="0"/>
                        </a:rPr>
                        <a:t>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Status</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err="1">
                          <a:latin typeface="Times New Roman" panose="02020603050405020304" pitchFamily="18" charset="0"/>
                          <a:cs typeface="Times New Roman" panose="02020603050405020304" pitchFamily="18" charset="0"/>
                        </a:rPr>
                        <a:t>Ngày</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sửa</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dự</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kiến</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Remark</a:t>
                      </a:r>
                    </a:p>
                  </a:txBody>
                  <a:tcPr marL="121920" marR="121920" marT="60960" marB="60960" anchor="ctr"/>
                </a:tc>
                <a:extLst>
                  <a:ext uri="{0D108BD9-81ED-4DB2-BD59-A6C34878D82A}">
                    <a16:rowId xmlns:a16="http://schemas.microsoft.com/office/drawing/2014/main" val="1532058823"/>
                  </a:ext>
                </a:extLst>
              </a:tr>
              <a:tr h="0">
                <a:tc>
                  <a:txBody>
                    <a:bodyPr/>
                    <a:lstStyle/>
                    <a:p>
                      <a:r>
                        <a:rPr lang="en-GB" sz="1200" b="1" dirty="0">
                          <a:latin typeface="Times New Roman" panose="02020603050405020304" pitchFamily="18" charset="0"/>
                          <a:cs typeface="Times New Roman" panose="02020603050405020304" pitchFamily="18" charset="0"/>
                        </a:rPr>
                        <a:t>21035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dirty="0">
                          <a:latin typeface="Times New Roman" panose="02020603050405020304" pitchFamily="18" charset="0"/>
                          <a:cs typeface="Times New Roman" panose="02020603050405020304" pitchFamily="18" charset="0"/>
                        </a:rPr>
                        <a:t>A887</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dirty="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endPar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tc>
                <a:extLst>
                  <a:ext uri="{0D108BD9-81ED-4DB2-BD59-A6C34878D82A}">
                    <a16:rowId xmlns:a16="http://schemas.microsoft.com/office/drawing/2014/main" val="4282079846"/>
                  </a:ext>
                </a:extLst>
              </a:tr>
              <a:tr h="0">
                <a:tc>
                  <a:txBody>
                    <a:bodyPr/>
                    <a:lstStyle/>
                    <a:p>
                      <a:r>
                        <a:rPr lang="en-GB" sz="1200" b="1" dirty="0">
                          <a:latin typeface="Times New Roman" panose="02020603050405020304" pitchFamily="18" charset="0"/>
                          <a:cs typeface="Times New Roman" panose="02020603050405020304" pitchFamily="18" charset="0"/>
                        </a:rPr>
                        <a:t>21268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A898</a:t>
                      </a:r>
                    </a:p>
                  </a:txBody>
                  <a:tcPr marL="121920" marR="121920" marT="60960" marB="60960" anchor="ctr"/>
                </a:tc>
                <a:tc>
                  <a:txBody>
                    <a:bodyPr/>
                    <a:lstStyle/>
                    <a:p>
                      <a:r>
                        <a:rPr lang="en-US" sz="1200" dirty="0">
                          <a:latin typeface="Times New Roman" panose="02020603050405020304" pitchFamily="18" charset="0"/>
                          <a:cs typeface="Times New Roman" panose="02020603050405020304" pitchFamily="18" charset="0"/>
                        </a:rPr>
                        <a:t>2025</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err="1">
                          <a:ln>
                            <a:noFill/>
                          </a:ln>
                          <a:solidFill>
                            <a:prstClr val="black"/>
                          </a:solidFill>
                          <a:effectLst/>
                          <a:uLnTx/>
                          <a:uFillTx/>
                          <a:latin typeface="Times New Roman" panose="02020603050405020304" pitchFamily="18" charset="0"/>
                          <a:ea typeface="+mn-ea"/>
                          <a:cs typeface="Times New Roman" panose="02020603050405020304" pitchFamily="18" charset="0"/>
                        </a:rPr>
                        <a:t>Tàu</a:t>
                      </a:r>
                      <a:r>
                        <a:rPr kumimoji="0" lang="en-US" sz="12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BQDB</a:t>
                      </a:r>
                    </a:p>
                  </a:txBody>
                  <a:tcPr marL="121920" marR="121920" marT="60960" marB="60960" anchor="ctr"/>
                </a:tc>
                <a:extLst>
                  <a:ext uri="{0D108BD9-81ED-4DB2-BD59-A6C34878D82A}">
                    <a16:rowId xmlns:a16="http://schemas.microsoft.com/office/drawing/2014/main" val="4177050543"/>
                  </a:ext>
                </a:extLst>
              </a:tr>
              <a:tr h="0">
                <a:tc>
                  <a:txBody>
                    <a:bodyPr/>
                    <a:lstStyle/>
                    <a:p>
                      <a:r>
                        <a:rPr lang="en-GB" sz="1200" b="1">
                          <a:latin typeface="Times New Roman" panose="02020603050405020304" pitchFamily="18" charset="0"/>
                          <a:cs typeface="Times New Roman" panose="02020603050405020304" pitchFamily="18" charset="0"/>
                        </a:rPr>
                        <a:t>21024</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A898</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2025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Tàu BQDB</a:t>
                      </a:r>
                    </a:p>
                  </a:txBody>
                  <a:tcPr marL="121920" marR="121920" marT="60960" marB="60960" anchor="ctr"/>
                </a:tc>
                <a:extLst>
                  <a:ext uri="{0D108BD9-81ED-4DB2-BD59-A6C34878D82A}">
                    <a16:rowId xmlns:a16="http://schemas.microsoft.com/office/drawing/2014/main" val="4001673644"/>
                  </a:ext>
                </a:extLst>
              </a:tr>
              <a:tr h="0">
                <a:tc>
                  <a:txBody>
                    <a:bodyPr/>
                    <a:lstStyle/>
                    <a:p>
                      <a:r>
                        <a:rPr lang="en-GB" sz="1200" b="1" dirty="0">
                          <a:latin typeface="Times New Roman" panose="02020603050405020304" pitchFamily="18" charset="0"/>
                          <a:cs typeface="Times New Roman" panose="02020603050405020304" pitchFamily="18" charset="0"/>
                        </a:rPr>
                        <a:t>21136</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927641313"/>
                  </a:ext>
                </a:extLst>
              </a:tr>
              <a:tr h="0">
                <a:tc>
                  <a:txBody>
                    <a:bodyPr/>
                    <a:lstStyle/>
                    <a:p>
                      <a:r>
                        <a:rPr lang="en-GB" sz="1200" b="1" dirty="0">
                          <a:latin typeface="Times New Roman" panose="02020603050405020304" pitchFamily="18" charset="0"/>
                          <a:cs typeface="Times New Roman" panose="02020603050405020304" pitchFamily="18" charset="0"/>
                        </a:rPr>
                        <a:t>21414</a:t>
                      </a: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Transporting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63729012"/>
                  </a:ext>
                </a:extLst>
              </a:tr>
              <a:tr h="0">
                <a:tc>
                  <a:txBody>
                    <a:bodyPr/>
                    <a:lstStyle/>
                    <a:p>
                      <a:r>
                        <a:rPr lang="en-GB" sz="1200" b="1" dirty="0">
                          <a:latin typeface="Times New Roman" panose="02020603050405020304" pitchFamily="18" charset="0"/>
                          <a:cs typeface="Times New Roman" panose="02020603050405020304" pitchFamily="18" charset="0"/>
                        </a:rPr>
                        <a:t>21604</a:t>
                      </a: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Transporting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T3/25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958768938"/>
                  </a:ext>
                </a:extLst>
              </a:tr>
              <a:tr h="0">
                <a:tc>
                  <a:txBody>
                    <a:bodyPr/>
                    <a:lstStyle/>
                    <a:p>
                      <a:r>
                        <a:rPr lang="en-GB" sz="1200" b="1">
                          <a:latin typeface="Times New Roman" panose="02020603050405020304" pitchFamily="18" charset="0"/>
                          <a:cs typeface="Times New Roman" panose="02020603050405020304" pitchFamily="18" charset="0"/>
                        </a:rPr>
                        <a:t>21048</a:t>
                      </a:r>
                      <a:endParaRPr lang="en-GB"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kumimoji="0" lang="en-US" sz="12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Off-Wing</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US" sz="1200">
                          <a:latin typeface="Times New Roman" panose="02020603050405020304" pitchFamily="18" charset="0"/>
                          <a:cs typeface="Times New Roman" panose="02020603050405020304" pitchFamily="18" charset="0"/>
                        </a:rPr>
                        <a:t>T4/25</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545338606"/>
                  </a:ext>
                </a:extLst>
              </a:tr>
            </a:tbl>
          </a:graphicData>
        </a:graphic>
      </p:graphicFrame>
      <p:sp>
        <p:nvSpPr>
          <p:cNvPr id="7" name="TextBox 6">
            <a:extLst>
              <a:ext uri="{FF2B5EF4-FFF2-40B4-BE49-F238E27FC236}">
                <a16:creationId xmlns:a16="http://schemas.microsoft.com/office/drawing/2014/main" id="{3665DF89-9C1E-039A-24B3-2AC39417A7A0}"/>
              </a:ext>
            </a:extLst>
          </p:cNvPr>
          <p:cNvSpPr txBox="1"/>
          <p:nvPr/>
        </p:nvSpPr>
        <p:spPr>
          <a:xfrm>
            <a:off x="-486043" y="380920"/>
            <a:ext cx="6705299"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đang trong shop (08 động c</a:t>
            </a:r>
            <a:r>
              <a:rPr lang="en-US" sz="2133" b="1">
                <a:solidFill>
                  <a:srgbClr val="002060"/>
                </a:solidFill>
                <a:latin typeface="Times New Roman" panose="02020603050405020304" pitchFamily="18" charset="0"/>
                <a:cs typeface="Times New Roman" panose="02020603050405020304" pitchFamily="18" charset="0"/>
              </a:rPr>
              <a:t>ơ)</a:t>
            </a:r>
            <a:endParaRPr lang="en-GB" sz="2133" b="1" dirty="0">
              <a:solidFill>
                <a:srgbClr val="002060"/>
              </a:solidFill>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19C2447A-358B-03A9-2203-B477C2215D4C}"/>
              </a:ext>
            </a:extLst>
          </p:cNvPr>
          <p:cNvSpPr txBox="1"/>
          <p:nvPr/>
        </p:nvSpPr>
        <p:spPr>
          <a:xfrm>
            <a:off x="414473" y="3851378"/>
            <a:ext cx="5195392" cy="420564"/>
          </a:xfrm>
          <a:prstGeom prst="rect">
            <a:avLst/>
          </a:prstGeom>
          <a:noFill/>
        </p:spPr>
        <p:txBody>
          <a:bodyPr wrap="square" rtlCol="0">
            <a:spAutoFit/>
          </a:bodyPr>
          <a:lstStyle/>
          <a:p>
            <a:pPr algn="ctr" defTabSz="1219170">
              <a:defRPr/>
            </a:pPr>
            <a:r>
              <a:rPr lang="en-GB" sz="2133" b="1" dirty="0" err="1">
                <a:solidFill>
                  <a:srgbClr val="002060"/>
                </a:solidFill>
                <a:latin typeface="Times New Roman" panose="02020603050405020304" pitchFamily="18" charset="0"/>
                <a:cs typeface="Times New Roman" panose="02020603050405020304" pitchFamily="18" charset="0"/>
              </a:rPr>
              <a:t>Các</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err="1">
                <a:solidFill>
                  <a:srgbClr val="002060"/>
                </a:solidFill>
                <a:latin typeface="Times New Roman" panose="02020603050405020304" pitchFamily="18" charset="0"/>
                <a:cs typeface="Times New Roman" panose="02020603050405020304" pitchFamily="18" charset="0"/>
              </a:rPr>
              <a:t>cơ</a:t>
            </a:r>
            <a:r>
              <a:rPr lang="en-GB" sz="2133" b="1">
                <a:solidFill>
                  <a:srgbClr val="002060"/>
                </a:solidFill>
                <a:latin typeface="Times New Roman" panose="02020603050405020304" pitchFamily="18" charset="0"/>
                <a:cs typeface="Times New Roman" panose="02020603050405020304" pitchFamily="18" charset="0"/>
              </a:rPr>
              <a:t> ch</a:t>
            </a:r>
            <a:r>
              <a:rPr lang="en-US" sz="2133" b="1">
                <a:solidFill>
                  <a:srgbClr val="002060"/>
                </a:solidFill>
                <a:latin typeface="Times New Roman" panose="02020603050405020304" pitchFamily="18" charset="0"/>
                <a:cs typeface="Times New Roman" panose="02020603050405020304" pitchFamily="18" charset="0"/>
              </a:rPr>
              <a:t>ờ sửa </a:t>
            </a:r>
            <a:r>
              <a:rPr lang="en-GB" sz="2133" b="1">
                <a:solidFill>
                  <a:srgbClr val="002060"/>
                </a:solidFill>
                <a:latin typeface="Times New Roman" panose="02020603050405020304" pitchFamily="18" charset="0"/>
                <a:cs typeface="Times New Roman" panose="02020603050405020304" pitchFamily="18" charset="0"/>
              </a:rPr>
              <a:t>(07 </a:t>
            </a:r>
            <a:r>
              <a:rPr lang="en-GB" sz="2133" b="1" dirty="0" err="1">
                <a:solidFill>
                  <a:srgbClr val="002060"/>
                </a:solidFill>
                <a:latin typeface="Times New Roman" panose="02020603050405020304" pitchFamily="18" charset="0"/>
                <a:cs typeface="Times New Roman" panose="02020603050405020304" pitchFamily="18" charset="0"/>
              </a:rPr>
              <a:t>động</a:t>
            </a:r>
            <a:r>
              <a:rPr lang="en-GB" sz="2133" b="1" dirty="0">
                <a:solidFill>
                  <a:srgbClr val="002060"/>
                </a:solidFill>
                <a:latin typeface="Times New Roman" panose="02020603050405020304" pitchFamily="18" charset="0"/>
                <a:cs typeface="Times New Roman" panose="02020603050405020304" pitchFamily="18" charset="0"/>
              </a:rPr>
              <a:t> </a:t>
            </a:r>
            <a:r>
              <a:rPr lang="en-GB" sz="2133" b="1" dirty="0" err="1">
                <a:solidFill>
                  <a:srgbClr val="002060"/>
                </a:solidFill>
                <a:latin typeface="Times New Roman" panose="02020603050405020304" pitchFamily="18" charset="0"/>
                <a:cs typeface="Times New Roman" panose="02020603050405020304" pitchFamily="18" charset="0"/>
              </a:rPr>
              <a:t>cơ</a:t>
            </a:r>
            <a:r>
              <a:rPr lang="en-GB" sz="2133" b="1" dirty="0">
                <a:solidFill>
                  <a:srgbClr val="002060"/>
                </a:solidFill>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1A7F173-F863-E486-EAEF-8B51EDF0DABA}"/>
              </a:ext>
            </a:extLst>
          </p:cNvPr>
          <p:cNvSpPr txBox="1"/>
          <p:nvPr/>
        </p:nvSpPr>
        <p:spPr>
          <a:xfrm>
            <a:off x="6495328" y="2859609"/>
            <a:ext cx="5167083" cy="461665"/>
          </a:xfrm>
          <a:prstGeom prst="rect">
            <a:avLst/>
          </a:prstGeom>
          <a:noFill/>
        </p:spPr>
        <p:txBody>
          <a:bodyPr wrap="square" rtlCol="0">
            <a:spAutoFit/>
          </a:bodyPr>
          <a:lstStyle/>
          <a:p>
            <a:pPr algn="ctr" defTabSz="1219170">
              <a:defRPr/>
            </a:pPr>
            <a:r>
              <a:rPr lang="en-US" sz="2400" b="1">
                <a:solidFill>
                  <a:srgbClr val="002060"/>
                </a:solidFill>
                <a:latin typeface="Times New Roman" panose="02020603050405020304" pitchFamily="18" charset="0"/>
                <a:cs typeface="Times New Roman" panose="02020603050405020304" pitchFamily="18" charset="0"/>
              </a:rPr>
              <a:t>Số tàu AOG (kb tốt)</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1" name="Chart 10">
            <a:extLst>
              <a:ext uri="{FF2B5EF4-FFF2-40B4-BE49-F238E27FC236}">
                <a16:creationId xmlns:a16="http://schemas.microsoft.com/office/drawing/2014/main" id="{39ED28EB-EF54-433B-60B3-87892499A24D}"/>
              </a:ext>
            </a:extLst>
          </p:cNvPr>
          <p:cNvGraphicFramePr/>
          <p:nvPr/>
        </p:nvGraphicFramePr>
        <p:xfrm>
          <a:off x="6274810" y="3352800"/>
          <a:ext cx="5808956" cy="32004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2" name="Table 11">
            <a:extLst>
              <a:ext uri="{FF2B5EF4-FFF2-40B4-BE49-F238E27FC236}">
                <a16:creationId xmlns:a16="http://schemas.microsoft.com/office/drawing/2014/main" id="{4BCF0C24-45DA-44DA-8EDA-2C6618ED53DE}"/>
              </a:ext>
            </a:extLst>
          </p:cNvPr>
          <p:cNvGraphicFramePr>
            <a:graphicFrameLocks noGrp="1"/>
          </p:cNvGraphicFramePr>
          <p:nvPr/>
        </p:nvGraphicFramePr>
        <p:xfrm>
          <a:off x="6229534" y="907137"/>
          <a:ext cx="5625452" cy="1706880"/>
        </p:xfrm>
        <a:graphic>
          <a:graphicData uri="http://schemas.openxmlformats.org/drawingml/2006/table">
            <a:tbl>
              <a:tblPr firstRow="1" bandRow="1">
                <a:tableStyleId>{93296810-A885-4BE3-A3E7-6D5BEEA58F35}</a:tableStyleId>
              </a:tblPr>
              <a:tblGrid>
                <a:gridCol w="1004609">
                  <a:extLst>
                    <a:ext uri="{9D8B030D-6E8A-4147-A177-3AD203B41FA5}">
                      <a16:colId xmlns:a16="http://schemas.microsoft.com/office/drawing/2014/main" val="1930757539"/>
                    </a:ext>
                  </a:extLst>
                </a:gridCol>
                <a:gridCol w="4620843">
                  <a:extLst>
                    <a:ext uri="{9D8B030D-6E8A-4147-A177-3AD203B41FA5}">
                      <a16:colId xmlns:a16="http://schemas.microsoft.com/office/drawing/2014/main" val="1674463010"/>
                    </a:ext>
                  </a:extLst>
                </a:gridCol>
              </a:tblGrid>
              <a:tr h="191279">
                <a:tc>
                  <a:txBody>
                    <a:bodyPr/>
                    <a:lstStyle/>
                    <a:p>
                      <a:r>
                        <a:rPr lang="en-US" sz="1200">
                          <a:latin typeface="Times New Roman" panose="02020603050405020304" pitchFamily="18" charset="0"/>
                          <a:cs typeface="Times New Roman" panose="02020603050405020304" pitchFamily="18" charset="0"/>
                        </a:rPr>
                        <a:t>Tàu</a:t>
                      </a: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Tình trạng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1532058823"/>
                  </a:ext>
                </a:extLst>
              </a:tr>
              <a:tr h="191279">
                <a:tc>
                  <a:txBody>
                    <a:bodyPr/>
                    <a:lstStyle/>
                    <a:p>
                      <a:r>
                        <a:rPr lang="en-US" sz="1200">
                          <a:latin typeface="Times New Roman" panose="02020603050405020304" pitchFamily="18" charset="0"/>
                          <a:cs typeface="Times New Roman" panose="02020603050405020304" pitchFamily="18" charset="0"/>
                        </a:rPr>
                        <a:t>A886</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r>
                        <a:rPr lang="en-GB"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2082573017"/>
                  </a:ext>
                </a:extLst>
              </a:tr>
              <a:tr h="306046">
                <a:tc>
                  <a:txBody>
                    <a:bodyPr/>
                    <a:lstStyle/>
                    <a:p>
                      <a:r>
                        <a:rPr lang="en-US" sz="1200">
                          <a:latin typeface="Times New Roman" panose="02020603050405020304" pitchFamily="18" charset="0"/>
                          <a:cs typeface="Times New Roman" panose="02020603050405020304" pitchFamily="18" charset="0"/>
                        </a:rPr>
                        <a:t>A887</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1 động c</a:t>
                      </a:r>
                      <a:r>
                        <a:rPr lang="vi-VN" sz="1200">
                          <a:latin typeface="Times New Roman" panose="02020603050405020304" pitchFamily="18" charset="0"/>
                          <a:cs typeface="Times New Roman" panose="02020603050405020304" pitchFamily="18" charset="0"/>
                        </a:rPr>
                        <a:t>ơ</a:t>
                      </a:r>
                      <a:endParaRPr lang="en-US" sz="120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1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83465224"/>
                  </a:ext>
                </a:extLst>
              </a:tr>
              <a:tr h="270381">
                <a:tc>
                  <a:txBody>
                    <a:bodyPr/>
                    <a:lstStyle/>
                    <a:p>
                      <a:r>
                        <a:rPr lang="en-US" sz="1200">
                          <a:latin typeface="Times New Roman" panose="02020603050405020304" pitchFamily="18" charset="0"/>
                          <a:cs typeface="Times New Roman" panose="02020603050405020304" pitchFamily="18" charset="0"/>
                        </a:rPr>
                        <a:t>A895</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Trống 2 động c</a:t>
                      </a:r>
                      <a:r>
                        <a:rPr lang="vi-VN" sz="1200">
                          <a:latin typeface="Times New Roman" panose="02020603050405020304" pitchFamily="18" charset="0"/>
                          <a:cs typeface="Times New Roman" panose="02020603050405020304" pitchFamily="18" charset="0"/>
                        </a:rPr>
                        <a:t>ơ</a:t>
                      </a:r>
                      <a:endParaRPr lang="en-US" sz="1200" dirty="0">
                        <a:latin typeface="Times New Roman" panose="02020603050405020304" pitchFamily="18" charset="0"/>
                        <a:cs typeface="Times New Roman" panose="02020603050405020304" pitchFamily="18" charset="0"/>
                      </a:endParaRPr>
                    </a:p>
                  </a:txBody>
                  <a:tcPr marL="121920" marR="121920" marT="60960" marB="60960" anchor="ctr"/>
                </a:tc>
                <a:extLst>
                  <a:ext uri="{0D108BD9-81ED-4DB2-BD59-A6C34878D82A}">
                    <a16:rowId xmlns:a16="http://schemas.microsoft.com/office/drawing/2014/main" val="3218884716"/>
                  </a:ext>
                </a:extLst>
              </a:tr>
              <a:tr h="191279">
                <a:tc>
                  <a:txBody>
                    <a:bodyPr/>
                    <a:lstStyle/>
                    <a:p>
                      <a:r>
                        <a:rPr lang="en-US" sz="1200">
                          <a:latin typeface="Times New Roman" panose="02020603050405020304" pitchFamily="18" charset="0"/>
                          <a:cs typeface="Times New Roman" panose="02020603050405020304" pitchFamily="18" charset="0"/>
                        </a:rPr>
                        <a:t>A898</a:t>
                      </a:r>
                      <a:endParaRPr lang="en-US" sz="1200" b="1" dirty="0">
                        <a:latin typeface="Times New Roman" panose="02020603050405020304" pitchFamily="18" charset="0"/>
                        <a:cs typeface="Times New Roman" panose="02020603050405020304" pitchFamily="18" charset="0"/>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latin typeface="Times New Roman" panose="02020603050405020304" pitchFamily="18" charset="0"/>
                          <a:cs typeface="Times New Roman" panose="02020603050405020304" pitchFamily="18" charset="0"/>
                        </a:rPr>
                        <a:t>2 động c</a:t>
                      </a:r>
                      <a:r>
                        <a:rPr lang="vi-VN" sz="1200">
                          <a:latin typeface="Times New Roman" panose="02020603050405020304" pitchFamily="18" charset="0"/>
                          <a:cs typeface="Times New Roman" panose="02020603050405020304" pitchFamily="18" charset="0"/>
                        </a:rPr>
                        <a:t>ơ</a:t>
                      </a:r>
                      <a:r>
                        <a:rPr lang="en-US" sz="1200">
                          <a:latin typeface="Times New Roman" panose="02020603050405020304" pitchFamily="18" charset="0"/>
                          <a:cs typeface="Times New Roman" panose="02020603050405020304" pitchFamily="18" charset="0"/>
                        </a:rPr>
                        <a:t> đến hạn kiểm tra LPT</a:t>
                      </a:r>
                    </a:p>
                  </a:txBody>
                  <a:tcPr marL="121920" marR="121920" marT="60960" marB="60960" anchor="ctr"/>
                </a:tc>
                <a:extLst>
                  <a:ext uri="{0D108BD9-81ED-4DB2-BD59-A6C34878D82A}">
                    <a16:rowId xmlns:a16="http://schemas.microsoft.com/office/drawing/2014/main" val="1733553736"/>
                  </a:ext>
                </a:extLst>
              </a:tr>
            </a:tbl>
          </a:graphicData>
        </a:graphic>
      </p:graphicFrame>
      <p:sp>
        <p:nvSpPr>
          <p:cNvPr id="13" name="TextBox 12">
            <a:extLst>
              <a:ext uri="{FF2B5EF4-FFF2-40B4-BE49-F238E27FC236}">
                <a16:creationId xmlns:a16="http://schemas.microsoft.com/office/drawing/2014/main" id="{90C76007-F5F9-4B91-90BD-15B1D817EC54}"/>
              </a:ext>
            </a:extLst>
          </p:cNvPr>
          <p:cNvSpPr txBox="1"/>
          <p:nvPr/>
        </p:nvSpPr>
        <p:spPr>
          <a:xfrm>
            <a:off x="6014053" y="423991"/>
            <a:ext cx="6705299" cy="420564"/>
          </a:xfrm>
          <a:prstGeom prst="rect">
            <a:avLst/>
          </a:prstGeom>
          <a:noFill/>
        </p:spPr>
        <p:txBody>
          <a:bodyPr wrap="square" rtlCol="0">
            <a:spAutoFit/>
          </a:bodyPr>
          <a:lstStyle/>
          <a:p>
            <a:pPr algn="ctr" defTabSz="1219170">
              <a:defRPr/>
            </a:pPr>
            <a:r>
              <a:rPr lang="en-US" sz="2133" b="1">
                <a:solidFill>
                  <a:srgbClr val="002060"/>
                </a:solidFill>
                <a:latin typeface="Times New Roman" panose="02020603050405020304" pitchFamily="18" charset="0"/>
                <a:cs typeface="Times New Roman" panose="02020603050405020304" pitchFamily="18" charset="0"/>
              </a:rPr>
              <a:t>Các tàu đang AOG (04 tàu)</a:t>
            </a:r>
            <a:endParaRPr lang="en-GB" sz="2133" b="1" dirty="0">
              <a:solidFill>
                <a:srgbClr val="00206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48795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83F1044C-49FE-4761-AB6C-08C2C66EE4F0}"/>
              </a:ext>
            </a:extLst>
          </p:cNvPr>
          <p:cNvSpPr txBox="1"/>
          <p:nvPr/>
        </p:nvSpPr>
        <p:spPr>
          <a:xfrm>
            <a:off x="690253" y="115968"/>
            <a:ext cx="14875495"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DỰ BÁO </a:t>
            </a:r>
            <a:r>
              <a:rPr lang="en-US" sz="2667" b="1">
                <a:ln w="0"/>
                <a:solidFill>
                  <a:srgbClr val="FBAC00"/>
                </a:solidFill>
                <a:latin typeface="Times New Roman" panose="02020603050405020304" pitchFamily="18" charset="0"/>
                <a:cs typeface="Times New Roman" panose="02020603050405020304" pitchFamily="18" charset="0"/>
              </a:rPr>
              <a:t>AOG A350 2025 DO THIẾU ĐỘNG C</a:t>
            </a:r>
            <a:r>
              <a:rPr lang="vi-VN" sz="2667" b="1">
                <a:ln w="0"/>
                <a:solidFill>
                  <a:srgbClr val="FBAC00"/>
                </a:solidFill>
                <a:latin typeface="Times New Roman" panose="02020603050405020304" pitchFamily="18" charset="0"/>
                <a:cs typeface="Times New Roman" panose="02020603050405020304" pitchFamily="18" charset="0"/>
              </a:rPr>
              <a:t>Ơ</a:t>
            </a:r>
            <a:endParaRPr lang="en-US" sz="2667" b="1" dirty="0">
              <a:ln w="0"/>
              <a:solidFill>
                <a:srgbClr val="FBAC00"/>
              </a:solidFill>
              <a:latin typeface="Times New Roman" panose="02020603050405020304" pitchFamily="18" charset="0"/>
              <a:cs typeface="Times New Roman" panose="02020603050405020304" pitchFamily="18" charset="0"/>
            </a:endParaRPr>
          </a:p>
        </p:txBody>
      </p:sp>
      <p:graphicFrame>
        <p:nvGraphicFramePr>
          <p:cNvPr id="16" name="Chart 15">
            <a:extLst>
              <a:ext uri="{FF2B5EF4-FFF2-40B4-BE49-F238E27FC236}">
                <a16:creationId xmlns:a16="http://schemas.microsoft.com/office/drawing/2014/main" id="{A3E8964E-6605-453B-87FD-34C390A534B1}"/>
              </a:ext>
            </a:extLst>
          </p:cNvPr>
          <p:cNvGraphicFramePr>
            <a:graphicFrameLocks/>
          </p:cNvGraphicFramePr>
          <p:nvPr/>
        </p:nvGraphicFramePr>
        <p:xfrm>
          <a:off x="304800" y="533400"/>
          <a:ext cx="11430000" cy="5562600"/>
        </p:xfrm>
        <a:graphic>
          <a:graphicData uri="http://schemas.openxmlformats.org/drawingml/2006/chart">
            <c:chart xmlns:c="http://schemas.openxmlformats.org/drawingml/2006/chart" xmlns:r="http://schemas.openxmlformats.org/officeDocument/2006/relationships" r:id="rId2"/>
          </a:graphicData>
        </a:graphic>
      </p:graphicFrame>
      <p:sp>
        <p:nvSpPr>
          <p:cNvPr id="17" name="Rectangle 16">
            <a:extLst>
              <a:ext uri="{FF2B5EF4-FFF2-40B4-BE49-F238E27FC236}">
                <a16:creationId xmlns:a16="http://schemas.microsoft.com/office/drawing/2014/main" id="{E9C07DA6-E964-4FA0-BC5D-1A4F09D3658F}"/>
              </a:ext>
            </a:extLst>
          </p:cNvPr>
          <p:cNvSpPr/>
          <p:nvPr/>
        </p:nvSpPr>
        <p:spPr>
          <a:xfrm>
            <a:off x="228600" y="6111240"/>
            <a:ext cx="12039600" cy="630942"/>
          </a:xfrm>
          <a:prstGeom prst="rect">
            <a:avLst/>
          </a:prstGeom>
          <a:solidFill>
            <a:srgbClr val="FFFF00"/>
          </a:solidFill>
          <a:ln>
            <a:solidFill>
              <a:schemeClr val="accent1"/>
            </a:solidFill>
          </a:ln>
        </p:spPr>
        <p:txBody>
          <a:bodyPr wrap="square">
            <a:spAutoFit/>
          </a:bodyPr>
          <a:lstStyle/>
          <a:p>
            <a:pPr algn="ctr"/>
            <a:r>
              <a:rPr lang="en-US" sz="1400" b="1"/>
              <a:t>PH</a:t>
            </a:r>
            <a:r>
              <a:rPr lang="vi-VN" sz="1400" b="1"/>
              <a:t>Ư</a:t>
            </a:r>
            <a:r>
              <a:rPr lang="en-US" sz="1400" b="1"/>
              <a:t>ƠNG ÁN GIỮ GIỜ</a:t>
            </a:r>
          </a:p>
          <a:p>
            <a:pPr lvl="0"/>
            <a:r>
              <a:rPr lang="en-US" sz="900"/>
              <a:t>- </a:t>
            </a:r>
            <a:r>
              <a:rPr lang="en-GB" sz="1050"/>
              <a:t>Với 21346 (hết hạn 14/06): chờ động cơ 21047 đi shop về ngày 17/03 sẽ tháo động cơ này xuống giữ giờ từ 20/03 đến 10/5 lắp lại A899 (tàu đang dừng làm 6Y</a:t>
            </a:r>
            <a:r>
              <a:rPr lang="en-US" sz="1050"/>
              <a:t>), sau đó lắp A899 giữ thêm 10 ngày. </a:t>
            </a:r>
            <a:endParaRPr lang="en-US" sz="1000"/>
          </a:p>
          <a:p>
            <a:pPr lvl="0"/>
            <a:r>
              <a:rPr lang="en-GB" sz="1050"/>
              <a:t>- Với 21418 (hết hạn 07/07): Lắp trên tàu A891 làm check từ 10/3 – 19/3; từ 16/04 – 10/05: lắp sang tàu A899 (làm 6Y) giữ thêm được 25 ngày, sau đó A899 chủ động d</a:t>
            </a:r>
            <a:r>
              <a:rPr lang="en-US" sz="1050"/>
              <a:t>ừng thêm 10 ngày. </a:t>
            </a:r>
            <a:endParaRPr lang="en-US" sz="1000"/>
          </a:p>
        </p:txBody>
      </p:sp>
    </p:spTree>
    <p:extLst>
      <p:ext uri="{BB962C8B-B14F-4D97-AF65-F5344CB8AC3E}">
        <p14:creationId xmlns:p14="http://schemas.microsoft.com/office/powerpoint/2010/main" val="71427819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26EF2E-39D3-88C6-5607-59E0B3AACB2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CA0A6B4-0D57-91D1-E90B-8552E0AD5555}"/>
              </a:ext>
            </a:extLst>
          </p:cNvPr>
          <p:cNvSpPr>
            <a:spLocks noGrp="1"/>
          </p:cNvSpPr>
          <p:nvPr>
            <p:ph type="sldNum" idx="12"/>
          </p:nvPr>
        </p:nvSpPr>
        <p:spPr/>
        <p:txBody>
          <a:bodyPr/>
          <a:lstStyle/>
          <a:p>
            <a:fld id="{00000000-1234-1234-1234-123412341234}" type="slidenum">
              <a:rPr lang="vi" smtClean="0"/>
              <a:pPr/>
              <a:t>39</a:t>
            </a:fld>
            <a:endParaRPr lang="vi"/>
          </a:p>
        </p:txBody>
      </p:sp>
      <p:sp>
        <p:nvSpPr>
          <p:cNvPr id="8" name="Slide Number Placeholder 3">
            <a:extLst>
              <a:ext uri="{FF2B5EF4-FFF2-40B4-BE49-F238E27FC236}">
                <a16:creationId xmlns:a16="http://schemas.microsoft.com/office/drawing/2014/main" id="{A871A205-15F4-FDCC-D904-DBF790C95818}"/>
              </a:ext>
            </a:extLst>
          </p:cNvPr>
          <p:cNvSpPr txBox="1">
            <a:spLocks/>
          </p:cNvSpPr>
          <p:nvPr/>
        </p:nvSpPr>
        <p:spPr>
          <a:xfrm>
            <a:off x="11480800" y="7745888"/>
            <a:ext cx="3657600" cy="486833"/>
          </a:xfrm>
          <a:prstGeom prst="rect">
            <a:avLst/>
          </a:prstGeom>
          <a:noFill/>
          <a:ln>
            <a:noFill/>
          </a:ln>
        </p:spPr>
        <p:txBody>
          <a:bodyPr spcFirstLastPara="1" wrap="square" lIns="121900" tIns="121900" rIns="121900" bIns="121900" anchor="ctr" anchorCtr="0">
            <a:normAutofit lnSpcReduction="10000"/>
          </a:bodyPr>
          <a:lstStyle>
            <a:defPPr marR="0" lvl="0" algn="l" rtl="0">
              <a:lnSpc>
                <a:spcPct val="100000"/>
              </a:lnSpc>
              <a:spcBef>
                <a:spcPts val="0"/>
              </a:spcBef>
              <a:spcAft>
                <a:spcPts val="0"/>
              </a:spcAft>
            </a:defPPr>
            <a:lvl1pPr marR="0" lvl="0"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1pPr>
            <a:lvl2pPr marR="0" lvl="1"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2pPr>
            <a:lvl3pPr marR="0" lvl="2"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3pPr>
            <a:lvl4pPr marR="0" lvl="3"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4pPr>
            <a:lvl5pPr marR="0" lvl="4"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5pPr>
            <a:lvl6pPr marR="0" lvl="5"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6pPr>
            <a:lvl7pPr marR="0" lvl="6"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7pPr>
            <a:lvl8pPr marR="0" lvl="7"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8pPr>
            <a:lvl9pPr marR="0" lvl="8" algn="r" rtl="0">
              <a:lnSpc>
                <a:spcPct val="100000"/>
              </a:lnSpc>
              <a:spcBef>
                <a:spcPts val="0"/>
              </a:spcBef>
              <a:spcAft>
                <a:spcPts val="0"/>
              </a:spcAft>
              <a:buClr>
                <a:srgbClr val="000000"/>
              </a:buClr>
              <a:buFont typeface="Arial"/>
              <a:buNone/>
              <a:defRPr sz="1000" b="0" i="0" u="none" strike="noStrike" cap="none">
                <a:solidFill>
                  <a:schemeClr val="dk2"/>
                </a:solidFill>
                <a:latin typeface="Arial"/>
                <a:ea typeface="Arial"/>
                <a:cs typeface="Arial"/>
                <a:sym typeface="Arial"/>
              </a:defRPr>
            </a:lvl9pPr>
          </a:lstStyle>
          <a:p>
            <a:pPr>
              <a:buClrTx/>
              <a:buFontTx/>
              <a:buNone/>
              <a:defRPr/>
            </a:pPr>
            <a:fld id="{6C6B6B8D-D74E-47CD-B5EE-156060B7CD17}" type="slidenum">
              <a:rPr lang="en-US" sz="1600">
                <a:solidFill>
                  <a:srgbClr val="D2A43B"/>
                </a:solidFill>
                <a:latin typeface="Times New Roman" panose="02020603050405020304" pitchFamily="18" charset="0"/>
                <a:ea typeface="+mn-ea"/>
                <a:cs typeface="Times New Roman" panose="02020603050405020304" pitchFamily="18" charset="0"/>
                <a:sym typeface="Montserrat"/>
              </a:rPr>
              <a:pPr>
                <a:buClrTx/>
                <a:buFontTx/>
                <a:buNone/>
                <a:defRPr/>
              </a:pPr>
              <a:t>39</a:t>
            </a:fld>
            <a:endParaRPr lang="en-US" sz="1600" dirty="0">
              <a:solidFill>
                <a:srgbClr val="D2A43B"/>
              </a:solidFill>
              <a:latin typeface="Times New Roman" panose="02020603050405020304" pitchFamily="18" charset="0"/>
              <a:ea typeface="+mn-ea"/>
              <a:cs typeface="Times New Roman" panose="02020603050405020304" pitchFamily="18" charset="0"/>
              <a:sym typeface="Montserrat"/>
            </a:endParaRPr>
          </a:p>
        </p:txBody>
      </p:sp>
      <p:sp>
        <p:nvSpPr>
          <p:cNvPr id="9" name="TextBox 8">
            <a:extLst>
              <a:ext uri="{FF2B5EF4-FFF2-40B4-BE49-F238E27FC236}">
                <a16:creationId xmlns:a16="http://schemas.microsoft.com/office/drawing/2014/main" id="{45661717-286B-9E25-9E8B-05A140AC533E}"/>
              </a:ext>
            </a:extLst>
          </p:cNvPr>
          <p:cNvSpPr txBox="1"/>
          <p:nvPr/>
        </p:nvSpPr>
        <p:spPr>
          <a:xfrm>
            <a:off x="317020" y="5056389"/>
            <a:ext cx="11557960" cy="371255"/>
          </a:xfrm>
          <a:prstGeom prst="rect">
            <a:avLst/>
          </a:prstGeom>
          <a:noFill/>
          <a:ln>
            <a:noFill/>
          </a:ln>
        </p:spPr>
        <p:style>
          <a:lnRef idx="2">
            <a:schemeClr val="dk1"/>
          </a:lnRef>
          <a:fillRef idx="1">
            <a:schemeClr val="lt1"/>
          </a:fillRef>
          <a:effectRef idx="0">
            <a:schemeClr val="dk1"/>
          </a:effectRef>
          <a:fontRef idx="minor">
            <a:schemeClr val="dk1"/>
          </a:fontRef>
        </p:style>
        <p:txBody>
          <a:bodyPr wrap="square" rtlCol="0">
            <a:spAutoFit/>
          </a:bodyPr>
          <a:lstStyle/>
          <a:p>
            <a:pPr marL="380990" indent="-380990" defTabSz="1219170">
              <a:lnSpc>
                <a:spcPct val="125000"/>
              </a:lnSpc>
              <a:buFont typeface="Arial" panose="020B0604020202020204" pitchFamily="34" charset="0"/>
              <a:buChar char="•"/>
              <a:defRPr/>
            </a:pPr>
            <a:r>
              <a:rPr lang="en-US" sz="1600">
                <a:solidFill>
                  <a:schemeClr val="tx1"/>
                </a:solidFill>
                <a:latin typeface="Times New Roman" panose="02020603050405020304" pitchFamily="18" charset="0"/>
                <a:cs typeface="Times New Roman" panose="02020603050405020304" pitchFamily="18" charset="0"/>
              </a:rPr>
              <a:t>Từ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11/2024,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với</a:t>
            </a:r>
            <a:r>
              <a:rPr lang="en-US" sz="1600" dirty="0">
                <a:solidFill>
                  <a:schemeClr val="tx1"/>
                </a:solidFill>
                <a:latin typeface="Times New Roman" panose="02020603050405020304" pitchFamily="18" charset="0"/>
                <a:cs typeface="Times New Roman" panose="02020603050405020304" pitchFamily="18" charset="0"/>
              </a:rPr>
              <a:t> 05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do </a:t>
            </a:r>
            <a:r>
              <a:rPr lang="en-US" sz="1600" dirty="0" err="1">
                <a:solidFill>
                  <a:schemeClr val="tx1"/>
                </a:solidFill>
                <a:latin typeface="Times New Roman" panose="02020603050405020304" pitchFamily="18" charset="0"/>
                <a:cs typeface="Times New Roman" panose="02020603050405020304" pitchFamily="18" charset="0"/>
              </a:rPr>
              <a:t>đã</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thuê</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khô</a:t>
            </a:r>
            <a:r>
              <a:rPr lang="en-US" sz="1600" dirty="0">
                <a:solidFill>
                  <a:schemeClr val="tx1"/>
                </a:solidFill>
                <a:latin typeface="Times New Roman" panose="02020603050405020304" pitchFamily="18" charset="0"/>
                <a:cs typeface="Times New Roman" panose="02020603050405020304" pitchFamily="18" charset="0"/>
              </a:rPr>
              <a:t> B220. </a:t>
            </a:r>
            <a:r>
              <a:rPr lang="en-US" sz="1600" dirty="0" err="1">
                <a:solidFill>
                  <a:schemeClr val="tx1"/>
                </a:solidFill>
                <a:latin typeface="Times New Roman" panose="02020603050405020304" pitchFamily="18" charset="0"/>
                <a:cs typeface="Times New Roman" panose="02020603050405020304" pitchFamily="18" charset="0"/>
              </a:rPr>
              <a:t>Tháng</a:t>
            </a:r>
            <a:r>
              <a:rPr lang="en-US" sz="1600" dirty="0">
                <a:solidFill>
                  <a:schemeClr val="tx1"/>
                </a:solidFill>
                <a:latin typeface="Times New Roman" panose="02020603050405020304" pitchFamily="18" charset="0"/>
                <a:cs typeface="Times New Roman" panose="02020603050405020304" pitchFamily="18" charset="0"/>
              </a:rPr>
              <a:t> 7/2025 </a:t>
            </a:r>
            <a:r>
              <a:rPr lang="en-US" sz="1600" dirty="0" err="1">
                <a:solidFill>
                  <a:schemeClr val="tx1"/>
                </a:solidFill>
                <a:latin typeface="Times New Roman" panose="02020603050405020304" pitchFamily="18" charset="0"/>
                <a:cs typeface="Times New Roman" panose="02020603050405020304" pitchFamily="18" charset="0"/>
              </a:rPr>
              <a:t>sẽ</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khai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thác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lại</a:t>
            </a:r>
            <a:r>
              <a:rPr lang="en-US" sz="1600" dirty="0">
                <a:solidFill>
                  <a:schemeClr val="tx1"/>
                </a:solidFill>
                <a:latin typeface="Times New Roman" panose="02020603050405020304" pitchFamily="18" charset="0"/>
                <a:cs typeface="Times New Roman" panose="02020603050405020304" pitchFamily="18" charset="0"/>
              </a:rPr>
              <a:t> 06 </a:t>
            </a:r>
            <a:r>
              <a:rPr lang="en-US" sz="1600" dirty="0" err="1">
                <a:solidFill>
                  <a:schemeClr val="tx1"/>
                </a:solidFill>
                <a:latin typeface="Times New Roman" panose="02020603050405020304" pitchFamily="18" charset="0"/>
                <a:cs typeface="Times New Roman" panose="02020603050405020304" pitchFamily="18" charset="0"/>
              </a:rPr>
              <a:t>tàu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sau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khi</a:t>
            </a:r>
            <a:r>
              <a:rPr lang="en-US" sz="1600" dirty="0">
                <a:solidFill>
                  <a:schemeClr val="tx1"/>
                </a:solidFill>
                <a:latin typeface="Times New Roman" panose="02020603050405020304" pitchFamily="18" charset="0"/>
                <a:cs typeface="Times New Roman" panose="02020603050405020304" pitchFamily="18" charset="0"/>
              </a:rPr>
              <a:t> K6 </a:t>
            </a:r>
            <a:r>
              <a:rPr lang="en-US" sz="1600" dirty="0" err="1">
                <a:solidFill>
                  <a:schemeClr val="tx1"/>
                </a:solidFill>
                <a:latin typeface="Times New Roman" panose="02020603050405020304" pitchFamily="18" charset="0"/>
                <a:cs typeface="Times New Roman" panose="02020603050405020304" pitchFamily="18" charset="0"/>
              </a:rPr>
              <a:t>trả</a:t>
            </a:r>
            <a:r>
              <a:rPr lang="en-US" sz="1600" dirty="0">
                <a:solidFill>
                  <a:schemeClr val="tx1"/>
                </a:solidFill>
                <a:latin typeface="Times New Roman" panose="02020603050405020304" pitchFamily="18" charset="0"/>
                <a:cs typeface="Times New Roman" panose="02020603050405020304" pitchFamily="18" charset="0"/>
              </a:rPr>
              <a:t> B220.</a:t>
            </a:r>
          </a:p>
        </p:txBody>
      </p:sp>
      <p:graphicFrame>
        <p:nvGraphicFramePr>
          <p:cNvPr id="10" name="Chart 9">
            <a:extLst>
              <a:ext uri="{FF2B5EF4-FFF2-40B4-BE49-F238E27FC236}">
                <a16:creationId xmlns:a16="http://schemas.microsoft.com/office/drawing/2014/main" id="{76DFC592-D88A-43FC-09E5-06AD8D727013}"/>
              </a:ext>
            </a:extLst>
          </p:cNvPr>
          <p:cNvGraphicFramePr/>
          <p:nvPr/>
        </p:nvGraphicFramePr>
        <p:xfrm>
          <a:off x="295373" y="770468"/>
          <a:ext cx="11557960" cy="4216400"/>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a:extLst>
              <a:ext uri="{FF2B5EF4-FFF2-40B4-BE49-F238E27FC236}">
                <a16:creationId xmlns:a16="http://schemas.microsoft.com/office/drawing/2014/main" id="{0AA8E0DF-2FF0-D5DB-6896-3F1AD07908A4}"/>
              </a:ext>
            </a:extLst>
          </p:cNvPr>
          <p:cNvSpPr txBox="1"/>
          <p:nvPr/>
        </p:nvSpPr>
        <p:spPr>
          <a:xfrm>
            <a:off x="0" y="88859"/>
            <a:ext cx="11142133" cy="502766"/>
          </a:xfrm>
          <a:prstGeom prst="rect">
            <a:avLst/>
          </a:prstGeom>
          <a:noFill/>
        </p:spPr>
        <p:txBody>
          <a:bodyPr wrap="square" rtlCol="0">
            <a:spAutoFit/>
          </a:bodyPr>
          <a:lstStyle/>
          <a:p>
            <a:pPr defTabSz="1219170">
              <a:defRPr/>
            </a:pPr>
            <a:r>
              <a:rPr lang="vi-VN" sz="2667" b="1" dirty="0">
                <a:ln w="0"/>
                <a:solidFill>
                  <a:srgbClr val="FBAC00"/>
                </a:solidFill>
                <a:latin typeface="Times New Roman" panose="02020603050405020304" pitchFamily="18" charset="0"/>
                <a:cs typeface="Times New Roman" panose="02020603050405020304" pitchFamily="18" charset="0"/>
              </a:rPr>
              <a:t>KHẢ NĂNG CUNG ỨNG ĐỘNG CƠ </a:t>
            </a:r>
            <a:r>
              <a:rPr lang="en-US" sz="2667" b="1" dirty="0">
                <a:ln w="0"/>
                <a:solidFill>
                  <a:srgbClr val="FBAC00"/>
                </a:solidFill>
                <a:latin typeface="Times New Roman" panose="02020603050405020304" pitchFamily="18" charset="0"/>
                <a:cs typeface="Times New Roman" panose="02020603050405020304" pitchFamily="18" charset="0"/>
              </a:rPr>
              <a:t>ĐỘI BAY ATR72</a:t>
            </a:r>
            <a:endParaRPr lang="vi-VN"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895237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0E34002-24DE-E466-318F-A982D9E240D3}"/>
              </a:ext>
            </a:extLst>
          </p:cNvPr>
          <p:cNvSpPr txBox="1"/>
          <p:nvPr/>
        </p:nvSpPr>
        <p:spPr>
          <a:xfrm>
            <a:off x="0" y="475864"/>
            <a:ext cx="4165600"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sửa</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chữa</a:t>
            </a:r>
            <a:endParaRPr lang="en-GB" sz="2400" b="1" dirty="0">
              <a:solidFill>
                <a:srgbClr val="002060"/>
              </a:solidFill>
              <a:latin typeface="Times New Roman" panose="02020603050405020304" pitchFamily="18" charset="0"/>
              <a:cs typeface="Times New Roman" panose="02020603050405020304" pitchFamily="18" charset="0"/>
            </a:endParaRPr>
          </a:p>
        </p:txBody>
      </p:sp>
      <p:graphicFrame>
        <p:nvGraphicFramePr>
          <p:cNvPr id="14" name="Table 2">
            <a:extLst>
              <a:ext uri="{FF2B5EF4-FFF2-40B4-BE49-F238E27FC236}">
                <a16:creationId xmlns:a16="http://schemas.microsoft.com/office/drawing/2014/main" id="{C9E599B2-7A6B-AE61-6B47-ABFA60F331B8}"/>
              </a:ext>
            </a:extLst>
          </p:cNvPr>
          <p:cNvGraphicFramePr>
            <a:graphicFrameLocks noGrp="1"/>
          </p:cNvGraphicFramePr>
          <p:nvPr/>
        </p:nvGraphicFramePr>
        <p:xfrm>
          <a:off x="291533" y="1134199"/>
          <a:ext cx="11460202" cy="1863582"/>
        </p:xfrm>
        <a:graphic>
          <a:graphicData uri="http://schemas.openxmlformats.org/drawingml/2006/table">
            <a:tbl>
              <a:tblPr firstRow="1" bandRow="1">
                <a:tableStyleId>{5C22544A-7EE6-4342-B048-85BDC9FD1C3A}</a:tableStyleId>
              </a:tblPr>
              <a:tblGrid>
                <a:gridCol w="533157">
                  <a:extLst>
                    <a:ext uri="{9D8B030D-6E8A-4147-A177-3AD203B41FA5}">
                      <a16:colId xmlns:a16="http://schemas.microsoft.com/office/drawing/2014/main" val="1598605427"/>
                    </a:ext>
                  </a:extLst>
                </a:gridCol>
                <a:gridCol w="1147672">
                  <a:extLst>
                    <a:ext uri="{9D8B030D-6E8A-4147-A177-3AD203B41FA5}">
                      <a16:colId xmlns:a16="http://schemas.microsoft.com/office/drawing/2014/main" val="3845954792"/>
                    </a:ext>
                  </a:extLst>
                </a:gridCol>
                <a:gridCol w="1298823">
                  <a:extLst>
                    <a:ext uri="{9D8B030D-6E8A-4147-A177-3AD203B41FA5}">
                      <a16:colId xmlns:a16="http://schemas.microsoft.com/office/drawing/2014/main" val="2148822928"/>
                    </a:ext>
                  </a:extLst>
                </a:gridCol>
                <a:gridCol w="2062836">
                  <a:extLst>
                    <a:ext uri="{9D8B030D-6E8A-4147-A177-3AD203B41FA5}">
                      <a16:colId xmlns:a16="http://schemas.microsoft.com/office/drawing/2014/main" val="2136763095"/>
                    </a:ext>
                  </a:extLst>
                </a:gridCol>
                <a:gridCol w="2139239">
                  <a:extLst>
                    <a:ext uri="{9D8B030D-6E8A-4147-A177-3AD203B41FA5}">
                      <a16:colId xmlns:a16="http://schemas.microsoft.com/office/drawing/2014/main" val="1185879436"/>
                    </a:ext>
                  </a:extLst>
                </a:gridCol>
                <a:gridCol w="1986435">
                  <a:extLst>
                    <a:ext uri="{9D8B030D-6E8A-4147-A177-3AD203B41FA5}">
                      <a16:colId xmlns:a16="http://schemas.microsoft.com/office/drawing/2014/main" val="3807119371"/>
                    </a:ext>
                  </a:extLst>
                </a:gridCol>
                <a:gridCol w="2292040">
                  <a:extLst>
                    <a:ext uri="{9D8B030D-6E8A-4147-A177-3AD203B41FA5}">
                      <a16:colId xmlns:a16="http://schemas.microsoft.com/office/drawing/2014/main" val="3735753066"/>
                    </a:ext>
                  </a:extLst>
                </a:gridCol>
              </a:tblGrid>
              <a:tr h="709240">
                <a:tc>
                  <a:txBody>
                    <a:bodyPr/>
                    <a:lstStyle/>
                    <a:p>
                      <a:pPr algn="ctr"/>
                      <a:r>
                        <a:rPr lang="en-GB" sz="1500">
                          <a:latin typeface="Times New Roman" panose="02020603050405020304" pitchFamily="18" charset="0"/>
                          <a:cs typeface="Times New Roman" panose="02020603050405020304" pitchFamily="18" charset="0"/>
                        </a:rPr>
                        <a:t>No.</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ESN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a:latin typeface="Times New Roman" panose="02020603050405020304" pitchFamily="18" charset="0"/>
                          <a:cs typeface="Times New Roman" panose="02020603050405020304" pitchFamily="18" charset="0"/>
                        </a:rPr>
                        <a:t>Status</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Induction</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500" dirty="0" err="1">
                          <a:latin typeface="Times New Roman" panose="02020603050405020304" pitchFamily="18" charset="0"/>
                          <a:cs typeface="Times New Roman" panose="02020603050405020304" pitchFamily="18" charset="0"/>
                        </a:rPr>
                        <a:t>Dự</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kiến</a:t>
                      </a:r>
                      <a:r>
                        <a:rPr lang="en-US" sz="1500" dirty="0">
                          <a:latin typeface="Times New Roman" panose="02020603050405020304" pitchFamily="18" charset="0"/>
                          <a:cs typeface="Times New Roman" panose="02020603050405020304" pitchFamily="18" charset="0"/>
                        </a:rPr>
                        <a:t> </a:t>
                      </a:r>
                      <a:r>
                        <a:rPr lang="en-US" sz="1500" dirty="0" err="1">
                          <a:latin typeface="Times New Roman" panose="02020603050405020304" pitchFamily="18" charset="0"/>
                          <a:cs typeface="Times New Roman" panose="02020603050405020304" pitchFamily="18" charset="0"/>
                        </a:rPr>
                        <a:t>về</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KH Sử dụng</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GB" sz="1500">
                          <a:latin typeface="Times New Roman" panose="02020603050405020304" pitchFamily="18" charset="0"/>
                          <a:cs typeface="Times New Roman" panose="02020603050405020304" pitchFamily="18" charset="0"/>
                        </a:rPr>
                        <a:t>Remark</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34812354"/>
                  </a:ext>
                </a:extLst>
              </a:tr>
              <a:tr h="577171">
                <a:tc>
                  <a:txBody>
                    <a:bodyPr/>
                    <a:lstStyle/>
                    <a:p>
                      <a:pPr algn="ctr"/>
                      <a:r>
                        <a:rPr lang="vi-VN" sz="1500">
                          <a:latin typeface="Times New Roman" panose="02020603050405020304" pitchFamily="18" charset="0"/>
                          <a:cs typeface="Times New Roman" panose="02020603050405020304" pitchFamily="18" charset="0"/>
                        </a:rPr>
                        <a:t>1</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5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ED0239</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16/10/2024</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15/04/2025</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N/A</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3227979002"/>
                  </a:ext>
                </a:extLst>
              </a:tr>
              <a:tr h="577171">
                <a:tc>
                  <a:txBody>
                    <a:bodyPr/>
                    <a:lstStyle/>
                    <a:p>
                      <a:pPr algn="ctr"/>
                      <a:r>
                        <a:rPr lang="vi-VN" sz="1500">
                          <a:latin typeface="Times New Roman" panose="02020603050405020304" pitchFamily="18" charset="0"/>
                          <a:cs typeface="Times New Roman" panose="02020603050405020304" pitchFamily="18" charset="0"/>
                        </a:rPr>
                        <a:t>2</a:t>
                      </a:r>
                      <a:endParaRPr lang="en-GB" sz="1500" dirty="0">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ED238</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Inducted</a:t>
                      </a:r>
                      <a:endPar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GB" sz="1500">
                          <a:solidFill>
                            <a:schemeClr val="tx1"/>
                          </a:solidFill>
                          <a:latin typeface="Times New Roman" panose="02020603050405020304" pitchFamily="18" charset="0"/>
                          <a:cs typeface="Times New Roman" panose="02020603050405020304" pitchFamily="18" charset="0"/>
                        </a:rPr>
                        <a:t>24/01/2025</a:t>
                      </a:r>
                      <a:endParaRPr lang="en-GB" sz="1500" dirty="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fontAlgn="ctr"/>
                      <a:r>
                        <a:rPr lang="en-US" sz="1500" b="0" kern="1200">
                          <a:solidFill>
                            <a:schemeClr val="tx1"/>
                          </a:solidFill>
                          <a:latin typeface="Times New Roman" panose="02020603050405020304" pitchFamily="18" charset="0"/>
                          <a:ea typeface="+mn-ea"/>
                          <a:cs typeface="Times New Roman" panose="02020603050405020304" pitchFamily="18" charset="0"/>
                        </a:rPr>
                        <a:t>TBD</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rPr>
                        <a:t>Stagger</a:t>
                      </a:r>
                      <a:endParaRPr lang="en-GB" sz="1500">
                        <a:solidFill>
                          <a:schemeClr val="tx1"/>
                        </a:solidFill>
                        <a:latin typeface="Times New Roman" panose="02020603050405020304" pitchFamily="18" charset="0"/>
                        <a:cs typeface="Times New Roman" panose="02020603050405020304" pitchFamily="18" charset="0"/>
                      </a:endParaRP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N/A</a:t>
                      </a:r>
                    </a:p>
                  </a:txBody>
                  <a:tcPr marL="121920" marR="121920"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817893171"/>
                  </a:ext>
                </a:extLst>
              </a:tr>
            </a:tbl>
          </a:graphicData>
        </a:graphic>
      </p:graphicFrame>
      <p:sp>
        <p:nvSpPr>
          <p:cNvPr id="15" name="TextBox 14">
            <a:extLst>
              <a:ext uri="{FF2B5EF4-FFF2-40B4-BE49-F238E27FC236}">
                <a16:creationId xmlns:a16="http://schemas.microsoft.com/office/drawing/2014/main" id="{A3B0CE8D-D087-9B22-2C61-0CD1AD45567F}"/>
              </a:ext>
            </a:extLst>
          </p:cNvPr>
          <p:cNvSpPr txBox="1"/>
          <p:nvPr/>
        </p:nvSpPr>
        <p:spPr>
          <a:xfrm>
            <a:off x="1" y="805"/>
            <a:ext cx="11418041"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ĐỘNG CƠ ĐỘI BAY ATR</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
        <p:nvSpPr>
          <p:cNvPr id="16" name="TextBox 15">
            <a:extLst>
              <a:ext uri="{FF2B5EF4-FFF2-40B4-BE49-F238E27FC236}">
                <a16:creationId xmlns:a16="http://schemas.microsoft.com/office/drawing/2014/main" id="{86965A40-485F-F6CF-1E94-FB69A37B616A}"/>
              </a:ext>
            </a:extLst>
          </p:cNvPr>
          <p:cNvSpPr txBox="1"/>
          <p:nvPr/>
        </p:nvSpPr>
        <p:spPr>
          <a:xfrm>
            <a:off x="0" y="3198167"/>
            <a:ext cx="7239699" cy="461665"/>
          </a:xfrm>
          <a:prstGeom prst="rect">
            <a:avLst/>
          </a:prstGeom>
          <a:noFill/>
        </p:spPr>
        <p:txBody>
          <a:bodyPr wrap="square" rtlCol="0">
            <a:spAutoFit/>
          </a:bodyPr>
          <a:lstStyle/>
          <a:p>
            <a:pPr defTabSz="1219170">
              <a:defRPr/>
            </a:pPr>
            <a:r>
              <a:rPr lang="en-US" sz="2400" b="1" dirty="0" err="1">
                <a:solidFill>
                  <a:srgbClr val="002060"/>
                </a:solidFill>
                <a:latin typeface="Times New Roman" panose="02020603050405020304" pitchFamily="18" charset="0"/>
                <a:cs typeface="Times New Roman" panose="02020603050405020304" pitchFamily="18" charset="0"/>
              </a:rPr>
              <a:t>Tình</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trạng</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động</a:t>
            </a:r>
            <a:r>
              <a:rPr lang="en-US" sz="2400" b="1" dirty="0">
                <a:solidFill>
                  <a:srgbClr val="002060"/>
                </a:solidFill>
                <a:latin typeface="Times New Roman" panose="02020603050405020304" pitchFamily="18" charset="0"/>
                <a:cs typeface="Times New Roman" panose="02020603050405020304" pitchFamily="18" charset="0"/>
              </a:rPr>
              <a:t> cơ </a:t>
            </a:r>
            <a:r>
              <a:rPr lang="en-US" sz="2400" b="1" dirty="0" err="1">
                <a:solidFill>
                  <a:srgbClr val="002060"/>
                </a:solidFill>
                <a:latin typeface="Times New Roman" panose="02020603050405020304" pitchFamily="18" charset="0"/>
                <a:cs typeface="Times New Roman" panose="02020603050405020304" pitchFamily="18" charset="0"/>
              </a:rPr>
              <a:t>cơ</a:t>
            </a:r>
            <a:r>
              <a:rPr lang="en-US" sz="2400" b="1" dirty="0">
                <a:solidFill>
                  <a:srgbClr val="002060"/>
                </a:solidFill>
                <a:latin typeface="Times New Roman" panose="02020603050405020304" pitchFamily="18" charset="0"/>
                <a:cs typeface="Times New Roman" panose="02020603050405020304" pitchFamily="18" charset="0"/>
              </a:rPr>
              <a:t> </a:t>
            </a:r>
            <a:r>
              <a:rPr lang="en-US" sz="2400" b="1" dirty="0" err="1">
                <a:solidFill>
                  <a:srgbClr val="002060"/>
                </a:solidFill>
                <a:latin typeface="Times New Roman" panose="02020603050405020304" pitchFamily="18" charset="0"/>
                <a:cs typeface="Times New Roman" panose="02020603050405020304" pitchFamily="18" charset="0"/>
              </a:rPr>
              <a:t>đội</a:t>
            </a:r>
            <a:r>
              <a:rPr lang="en-US" sz="2400" b="1" dirty="0">
                <a:solidFill>
                  <a:srgbClr val="002060"/>
                </a:solidFill>
                <a:latin typeface="Times New Roman" panose="02020603050405020304" pitchFamily="18" charset="0"/>
                <a:cs typeface="Times New Roman" panose="02020603050405020304" pitchFamily="18" charset="0"/>
              </a:rPr>
              <a:t> bay</a:t>
            </a:r>
            <a:endParaRPr lang="en-GB" sz="2400" b="1" dirty="0">
              <a:solidFill>
                <a:srgbClr val="002060"/>
              </a:solidFill>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E8A28E79-E20A-AF25-AF54-BB552A4A1E80}"/>
              </a:ext>
            </a:extLst>
          </p:cNvPr>
          <p:cNvSpPr txBox="1"/>
          <p:nvPr/>
        </p:nvSpPr>
        <p:spPr>
          <a:xfrm>
            <a:off x="76200" y="3733800"/>
            <a:ext cx="11460201" cy="1692771"/>
          </a:xfrm>
          <a:prstGeom prst="rect">
            <a:avLst/>
          </a:prstGeom>
          <a:noFill/>
        </p:spPr>
        <p:txBody>
          <a:bodyPr wrap="square" rtlCol="0">
            <a:spAutoFit/>
          </a:bodyPr>
          <a:lstStyle/>
          <a:p>
            <a:pPr marL="380990" indent="-380990">
              <a:spcBef>
                <a:spcPts val="800"/>
              </a:spcBef>
              <a:spcAft>
                <a:spcPts val="800"/>
              </a:spcAft>
              <a:buFont typeface="Arial" panose="020B0604020202020204" pitchFamily="34" charset="0"/>
              <a:buChar char="•"/>
            </a:pP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ED0217 (</a:t>
            </a:r>
            <a:r>
              <a:rPr lang="en-US" sz="1600" dirty="0" err="1">
                <a:latin typeface="Times New Roman" panose="02020603050405020304" pitchFamily="18" charset="0"/>
                <a:cs typeface="Times New Roman" panose="02020603050405020304" pitchFamily="18" charset="0"/>
              </a:rPr>
              <a:t>hỏng</a:t>
            </a:r>
            <a:r>
              <a:rPr lang="en-US" sz="1600" dirty="0">
                <a:latin typeface="Times New Roman" panose="02020603050405020304" pitchFamily="18" charset="0"/>
                <a:cs typeface="Times New Roman" panose="02020603050405020304" pitchFamily="18" charset="0"/>
              </a:rPr>
              <a:t> HPT Vane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38 FH), ED0233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dirty="0" err="1">
                <a:latin typeface="Times New Roman" panose="02020603050405020304" pitchFamily="18" charset="0"/>
                <a:cs typeface="Times New Roman" panose="02020603050405020304" pitchFamily="18" charset="0"/>
              </a:rPr>
              <a:t>còn</a:t>
            </a:r>
            <a:r>
              <a:rPr lang="en-US" sz="1600" dirty="0">
                <a:latin typeface="Times New Roman" panose="02020603050405020304" pitchFamily="18" charset="0"/>
                <a:cs typeface="Times New Roman" panose="02020603050405020304" pitchFamily="18" charset="0"/>
              </a:rPr>
              <a:t> 78 FC), ED0214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LLP, </a:t>
            </a:r>
            <a:r>
              <a:rPr lang="en-US" sz="1600" err="1">
                <a:latin typeface="Times New Roman" panose="02020603050405020304" pitchFamily="18" charset="0"/>
                <a:cs typeface="Times New Roman" panose="02020603050405020304" pitchFamily="18" charset="0"/>
              </a:rPr>
              <a:t>còn</a:t>
            </a:r>
            <a:r>
              <a:rPr lang="en-US" sz="1600">
                <a:latin typeface="Times New Roman" panose="02020603050405020304" pitchFamily="18" charset="0"/>
                <a:cs typeface="Times New Roman" panose="02020603050405020304" pitchFamily="18" charset="0"/>
              </a:rPr>
              <a:t> 39 FC)</a:t>
            </a:r>
          </a:p>
          <a:p>
            <a:pPr marL="380990" indent="-380990">
              <a:spcBef>
                <a:spcPts val="800"/>
              </a:spcBef>
              <a:spcAft>
                <a:spcPts val="800"/>
              </a:spcAft>
              <a:buFont typeface="Arial" panose="020B0604020202020204" pitchFamily="34" charset="0"/>
              <a:buChar char="•"/>
            </a:pPr>
            <a:r>
              <a:rPr lang="en-US" sz="1600">
                <a:latin typeface="Times New Roman" panose="02020603050405020304" pitchFamily="18" charset="0"/>
                <a:cs typeface="Times New Roman" panose="02020603050405020304" pitchFamily="18" charset="0"/>
              </a:rPr>
              <a:t>Động cơ dự phòng: ED0192. KH Stagger sau cao điểm tết.</a:t>
            </a:r>
          </a:p>
          <a:p>
            <a:pPr marL="380990" indent="-380990">
              <a:spcBef>
                <a:spcPts val="800"/>
              </a:spcBef>
              <a:spcAft>
                <a:spcPts val="800"/>
              </a:spcAft>
              <a:buFont typeface="Arial" panose="020B0604020202020204" pitchFamily="34" charset="0"/>
              <a:buChar char="•"/>
            </a:pPr>
            <a:r>
              <a:rPr lang="it-IT" sz="1600">
                <a:latin typeface="Times New Roman" panose="02020603050405020304" pitchFamily="18" charset="0"/>
                <a:cs typeface="Times New Roman" panose="02020603050405020304" pitchFamily="18" charset="0"/>
              </a:rPr>
              <a:t>Động </a:t>
            </a:r>
            <a:r>
              <a:rPr lang="it-IT" sz="1600" dirty="0">
                <a:latin typeface="Times New Roman" panose="02020603050405020304" pitchFamily="18" charset="0"/>
                <a:cs typeface="Times New Roman" panose="02020603050405020304" pitchFamily="18" charset="0"/>
              </a:rPr>
              <a:t>cơ thuê: ED0321, ED0036 và ED0715</a:t>
            </a:r>
          </a:p>
          <a:p>
            <a:pPr marL="380990" indent="-380990">
              <a:spcBef>
                <a:spcPts val="800"/>
              </a:spcBef>
              <a:spcAft>
                <a:spcPts val="800"/>
              </a:spcAft>
              <a:buFont typeface="Arial" panose="020B0604020202020204" pitchFamily="34" charset="0"/>
              <a:buChar char="•"/>
            </a:pPr>
            <a:r>
              <a:rPr lang="it-IT" sz="1600" dirty="0">
                <a:latin typeface="Times New Roman" panose="02020603050405020304" pitchFamily="18" charset="0"/>
                <a:cs typeface="Times New Roman" panose="02020603050405020304" pitchFamily="18" charset="0"/>
              </a:rPr>
              <a:t>Động cơ cao giờ: NIL</a:t>
            </a:r>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7810876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EBBF0-4138-B510-1979-FBCC81398ABF}"/>
            </a:ext>
          </a:extLst>
        </p:cNvPr>
        <p:cNvGrpSpPr/>
        <p:nvPr/>
      </p:nvGrpSpPr>
      <p:grpSpPr>
        <a:xfrm>
          <a:off x="0" y="0"/>
          <a:ext cx="0" cy="0"/>
          <a:chOff x="0" y="0"/>
          <a:chExt cx="0" cy="0"/>
        </a:xfrm>
      </p:grpSpPr>
      <p:sp>
        <p:nvSpPr>
          <p:cNvPr id="2" name="Slide Number Placeholder 4">
            <a:extLst>
              <a:ext uri="{FF2B5EF4-FFF2-40B4-BE49-F238E27FC236}">
                <a16:creationId xmlns:a16="http://schemas.microsoft.com/office/drawing/2014/main" id="{3AEDC4A0-D9E4-308A-B81A-C497E56EC867}"/>
              </a:ext>
            </a:extLst>
          </p:cNvPr>
          <p:cNvSpPr>
            <a:spLocks noGrp="1"/>
          </p:cNvSpPr>
          <p:nvPr>
            <p:ph type="sldNum" sz="quarter" idx="12"/>
          </p:nvPr>
        </p:nvSpPr>
        <p:spPr>
          <a:xfrm>
            <a:off x="11469279" y="8154511"/>
            <a:ext cx="3657600" cy="486833"/>
          </a:xfrm>
        </p:spPr>
        <p:txBody>
          <a:bodyPr>
            <a:normAutofit/>
          </a:bodyPr>
          <a:lstStyle/>
          <a:p>
            <a:pPr defTabSz="1219170">
              <a:defRPr/>
            </a:pPr>
            <a:r>
              <a:rPr lang="en-US" sz="1600" dirty="0">
                <a:solidFill>
                  <a:srgbClr val="D2A43B"/>
                </a:solidFill>
                <a:latin typeface="Montserrat" pitchFamily="2" charset="77"/>
              </a:rPr>
              <a:t>1</a:t>
            </a:r>
          </a:p>
        </p:txBody>
      </p:sp>
      <p:sp>
        <p:nvSpPr>
          <p:cNvPr id="4" name="TextBox 3">
            <a:extLst>
              <a:ext uri="{FF2B5EF4-FFF2-40B4-BE49-F238E27FC236}">
                <a16:creationId xmlns:a16="http://schemas.microsoft.com/office/drawing/2014/main" id="{5039FD0F-D84D-F582-FC95-7FD457F3C903}"/>
              </a:ext>
            </a:extLst>
          </p:cNvPr>
          <p:cNvSpPr txBox="1"/>
          <p:nvPr/>
        </p:nvSpPr>
        <p:spPr>
          <a:xfrm>
            <a:off x="61186" y="565752"/>
            <a:ext cx="12054615" cy="1077218"/>
          </a:xfrm>
          <a:prstGeom prst="rect">
            <a:avLst/>
          </a:prstGeom>
          <a:noFill/>
          <a:ln>
            <a:solidFill>
              <a:schemeClr val="tx1"/>
            </a:solidFill>
          </a:ln>
        </p:spPr>
        <p:txBody>
          <a:bodyPr wrap="square" rtlCol="0">
            <a:spAutoFit/>
          </a:bodyPr>
          <a:lstStyle/>
          <a:p>
            <a:pPr defTabSz="1219170">
              <a:defRPr/>
            </a:pPr>
            <a:r>
              <a:rPr lang="en-US" sz="1600" dirty="0" err="1">
                <a:solidFill>
                  <a:prstClr val="black"/>
                </a:solidFill>
                <a:latin typeface="Times New Roman" panose="02020603050405020304" pitchFamily="18" charset="0"/>
                <a:cs typeface="Times New Roman" panose="02020603050405020304" pitchFamily="18" charset="0"/>
              </a:rPr>
              <a:t>Từ</a:t>
            </a:r>
            <a:r>
              <a:rPr lang="en-US" sz="1600" dirty="0">
                <a:solidFill>
                  <a:prstClr val="black"/>
                </a:solidFill>
                <a:latin typeface="Times New Roman" panose="02020603050405020304" pitchFamily="18" charset="0"/>
                <a:cs typeface="Times New Roman" panose="02020603050405020304" pitchFamily="18" charset="0"/>
              </a:rPr>
              <a:t> 24/02/2025 – 02/03/2025:</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Phát</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sinh</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trong</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tuần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A357</a:t>
            </a:r>
            <a:r>
              <a:rPr lang="en-US" sz="1600" dirty="0">
                <a:solidFill>
                  <a:prstClr val="black"/>
                </a:solidFill>
                <a:latin typeface="Times New Roman" panose="02020603050405020304" pitchFamily="18" charset="0"/>
                <a:cs typeface="Times New Roman" panose="02020603050405020304" pitchFamily="18" charset="0"/>
              </a:rPr>
              <a:t>.</a:t>
            </a:r>
          </a:p>
          <a:p>
            <a:pPr marL="380990" indent="-38099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Đã</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A893</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APU), </a:t>
            </a:r>
            <a:r>
              <a:rPr lang="en-US" sz="1600" dirty="0" err="1">
                <a:solidFill>
                  <a:prstClr val="black"/>
                </a:solidFill>
                <a:latin typeface="Times New Roman" panose="02020603050405020304" pitchFamily="18" charset="0"/>
                <a:cs typeface="Times New Roman" panose="02020603050405020304" pitchFamily="18" charset="0"/>
              </a:rPr>
              <a:t>A356</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thay</a:t>
            </a:r>
            <a:r>
              <a:rPr lang="en-US" sz="1600" dirty="0">
                <a:solidFill>
                  <a:prstClr val="black"/>
                </a:solidFill>
                <a:latin typeface="Times New Roman" panose="02020603050405020304" pitchFamily="18" charset="0"/>
                <a:cs typeface="Times New Roman" panose="02020603050405020304" pitchFamily="18" charset="0"/>
              </a:rPr>
              <a:t> Oil Cooler) .</a:t>
            </a:r>
          </a:p>
          <a:p>
            <a:pPr marL="380990" indent="-380990" defTabSz="1219170">
              <a:buFont typeface="Times New Roman" panose="02020603050405020304" pitchFamily="18" charset="0"/>
              <a:buChar char="⁃"/>
              <a:defRPr/>
            </a:pPr>
            <a:r>
              <a:rPr lang="en-US" sz="1600" dirty="0" err="1">
                <a:solidFill>
                  <a:prstClr val="black"/>
                </a:solidFill>
                <a:latin typeface="Times New Roman" panose="02020603050405020304" pitchFamily="18" charset="0"/>
                <a:cs typeface="Times New Roman" panose="02020603050405020304" pitchFamily="18" charset="0"/>
              </a:rPr>
              <a:t>Hiện</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có</a:t>
            </a:r>
            <a:r>
              <a:rPr lang="en-US" sz="1600" dirty="0">
                <a:solidFill>
                  <a:prstClr val="black"/>
                </a:solidFill>
                <a:latin typeface="Times New Roman" panose="02020603050405020304" pitchFamily="18" charset="0"/>
                <a:cs typeface="Times New Roman" panose="02020603050405020304" pitchFamily="18" charset="0"/>
              </a:rPr>
              <a:t> 02 APU </a:t>
            </a:r>
            <a:r>
              <a:rPr lang="en-US" sz="1600" dirty="0" err="1">
                <a:solidFill>
                  <a:prstClr val="black"/>
                </a:solidFill>
                <a:latin typeface="Times New Roman" panose="02020603050405020304" pitchFamily="18" charset="0"/>
                <a:cs typeface="Times New Roman" panose="02020603050405020304" pitchFamily="18" charset="0"/>
              </a:rPr>
              <a:t>chờ</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khắc</a:t>
            </a:r>
            <a:r>
              <a:rPr lang="en-US" sz="1600" dirty="0">
                <a:solidFill>
                  <a:prstClr val="black"/>
                </a:solidFill>
                <a:latin typeface="Times New Roman" panose="02020603050405020304" pitchFamily="18" charset="0"/>
                <a:cs typeface="Times New Roman" panose="02020603050405020304" pitchFamily="18" charset="0"/>
              </a:rPr>
              <a:t> </a:t>
            </a:r>
            <a:r>
              <a:rPr lang="en-US" sz="1600" dirty="0" err="1">
                <a:solidFill>
                  <a:prstClr val="black"/>
                </a:solidFill>
                <a:latin typeface="Times New Roman" panose="02020603050405020304" pitchFamily="18" charset="0"/>
                <a:cs typeface="Times New Roman" panose="02020603050405020304" pitchFamily="18" charset="0"/>
              </a:rPr>
              <a:t>phục</a:t>
            </a:r>
            <a:r>
              <a:rPr lang="en-US" sz="1600" dirty="0">
                <a:solidFill>
                  <a:prstClr val="black"/>
                </a:solidFill>
                <a:latin typeface="Times New Roman" panose="02020603050405020304" pitchFamily="18" charset="0"/>
                <a:cs typeface="Times New Roman" panose="02020603050405020304" pitchFamily="18" charset="0"/>
              </a:rPr>
              <a:t>: A606, </a:t>
            </a:r>
            <a:r>
              <a:rPr lang="en-US" sz="1600" dirty="0" err="1">
                <a:solidFill>
                  <a:prstClr val="black"/>
                </a:solidFill>
                <a:latin typeface="Times New Roman" panose="02020603050405020304" pitchFamily="18" charset="0"/>
                <a:cs typeface="Times New Roman" panose="02020603050405020304" pitchFamily="18" charset="0"/>
              </a:rPr>
              <a:t>A357</a:t>
            </a:r>
            <a:r>
              <a:rPr lang="en-US" sz="1600" dirty="0">
                <a:solidFill>
                  <a:prstClr val="black"/>
                </a:solidFill>
                <a:latin typeface="Times New Roman" panose="02020603050405020304" pitchFamily="18" charset="0"/>
                <a:cs typeface="Times New Roman" panose="02020603050405020304" pitchFamily="18" charset="0"/>
              </a:rPr>
              <a:t>.</a:t>
            </a:r>
          </a:p>
        </p:txBody>
      </p:sp>
      <p:graphicFrame>
        <p:nvGraphicFramePr>
          <p:cNvPr id="3" name="Table 2">
            <a:extLst>
              <a:ext uri="{FF2B5EF4-FFF2-40B4-BE49-F238E27FC236}">
                <a16:creationId xmlns:a16="http://schemas.microsoft.com/office/drawing/2014/main" id="{6684DBD8-A2D2-50A1-B1FB-698DABA16090}"/>
              </a:ext>
            </a:extLst>
          </p:cNvPr>
          <p:cNvGraphicFramePr>
            <a:graphicFrameLocks noGrp="1"/>
          </p:cNvGraphicFramePr>
          <p:nvPr/>
        </p:nvGraphicFramePr>
        <p:xfrm>
          <a:off x="61186" y="1787548"/>
          <a:ext cx="12054615" cy="4841852"/>
        </p:xfrm>
        <a:graphic>
          <a:graphicData uri="http://schemas.openxmlformats.org/drawingml/2006/table">
            <a:tbl>
              <a:tblPr firstRow="1" firstCol="1" bandRow="1">
                <a:tableStyleId>{5C22544A-7EE6-4342-B048-85BDC9FD1C3A}</a:tableStyleId>
              </a:tblPr>
              <a:tblGrid>
                <a:gridCol w="635792">
                  <a:extLst>
                    <a:ext uri="{9D8B030D-6E8A-4147-A177-3AD203B41FA5}">
                      <a16:colId xmlns:a16="http://schemas.microsoft.com/office/drawing/2014/main" val="1827702162"/>
                    </a:ext>
                  </a:extLst>
                </a:gridCol>
                <a:gridCol w="1715656">
                  <a:extLst>
                    <a:ext uri="{9D8B030D-6E8A-4147-A177-3AD203B41FA5}">
                      <a16:colId xmlns:a16="http://schemas.microsoft.com/office/drawing/2014/main" val="2395768341"/>
                    </a:ext>
                  </a:extLst>
                </a:gridCol>
                <a:gridCol w="4013376">
                  <a:extLst>
                    <a:ext uri="{9D8B030D-6E8A-4147-A177-3AD203B41FA5}">
                      <a16:colId xmlns:a16="http://schemas.microsoft.com/office/drawing/2014/main" val="4155011410"/>
                    </a:ext>
                  </a:extLst>
                </a:gridCol>
                <a:gridCol w="5689791">
                  <a:extLst>
                    <a:ext uri="{9D8B030D-6E8A-4147-A177-3AD203B41FA5}">
                      <a16:colId xmlns:a16="http://schemas.microsoft.com/office/drawing/2014/main" val="1412321077"/>
                    </a:ext>
                  </a:extLst>
                </a:gridCol>
              </a:tblGrid>
              <a:tr h="418667">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A/C</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pPr>
                      <a:r>
                        <a:rPr lang="en-US" sz="1500" b="1" kern="1200" dirty="0">
                          <a:solidFill>
                            <a:schemeClr val="tx1"/>
                          </a:solidFill>
                          <a:effectLst/>
                          <a:latin typeface="Times New Roman" panose="02020603050405020304" pitchFamily="18" charset="0"/>
                          <a:ea typeface="+mn-ea"/>
                          <a:cs typeface="Times New Roman" panose="02020603050405020304" pitchFamily="18" charset="0"/>
                        </a:rPr>
                        <a:t>Issue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Troubleshoot action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defTabSz="914400" rtl="0" eaLnBrk="1" latinLnBrk="0" hangingPunct="1">
                        <a:spcBef>
                          <a:spcPts val="0"/>
                        </a:spcBef>
                        <a:spcAft>
                          <a:spcPts val="0"/>
                        </a:spcAft>
                        <a:tabLst>
                          <a:tab pos="388620" algn="l"/>
                        </a:tabLst>
                      </a:pPr>
                      <a:r>
                        <a:rPr lang="en-US" sz="1500" b="1" kern="1200" dirty="0">
                          <a:solidFill>
                            <a:schemeClr val="dk1"/>
                          </a:solidFill>
                          <a:effectLst/>
                          <a:latin typeface="Times New Roman" panose="02020603050405020304" pitchFamily="18" charset="0"/>
                          <a:ea typeface="+mn-ea"/>
                          <a:cs typeface="Times New Roman" panose="02020603050405020304" pitchFamily="18" charset="0"/>
                        </a:rPr>
                        <a:t>Note</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35328572"/>
                  </a:ext>
                </a:extLst>
              </a:tr>
              <a:tr h="1474395">
                <a:tc>
                  <a:txBody>
                    <a:bodyPr/>
                    <a:lstStyle/>
                    <a:p>
                      <a:pPr marL="0" marR="0" algn="ctr">
                        <a:spcBef>
                          <a:spcPts val="0"/>
                        </a:spcBef>
                        <a:spcAft>
                          <a:spcPts val="0"/>
                        </a:spcAft>
                      </a:pPr>
                      <a:r>
                        <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A606</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BAD SMELL</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20/01. KH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làm</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TI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ngày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03/03.</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rowSpan="3">
                  <a:txBody>
                    <a:bodyPr/>
                    <a:lstStyle/>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A321:</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Hiện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A350: 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3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01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về</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APU B787:</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Hiện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02 APU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đi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Shop,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không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Đề nghị Vaeco cho kiểm tra ngay khi tàu N/S đối với các tàu 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hoặc</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báo bad smell và cung cấp WO T/S kịp thời. </a:t>
                      </a:r>
                    </a:p>
                    <a:p>
                      <a:pPr marL="285750" marR="0" indent="-285750" algn="l" defTabSz="914400" rtl="0" eaLnBrk="1" latinLnBrk="0" hangingPunct="1">
                        <a:lnSpc>
                          <a:spcPct val="114000"/>
                        </a:lnSpc>
                        <a:spcBef>
                          <a:spcPts val="0"/>
                        </a:spcBef>
                        <a:spcAft>
                          <a:spcPts val="0"/>
                        </a:spcAft>
                        <a:buFont typeface="Arial" panose="020B0604020202020204" pitchFamily="34" charset="0"/>
                        <a:buChar char="•"/>
                        <a:tabLst>
                          <a:tab pos="388620" algn="l"/>
                        </a:tabLst>
                      </a:pPr>
                      <a:r>
                        <a:rPr lang="vi-VN" sz="1500" b="0" kern="1200" dirty="0">
                          <a:solidFill>
                            <a:schemeClr val="tx1"/>
                          </a:solidFill>
                          <a:effectLst/>
                          <a:latin typeface="Times New Roman" panose="02020603050405020304" pitchFamily="18" charset="0"/>
                          <a:ea typeface="+mn-ea"/>
                          <a:cs typeface="Times New Roman" panose="02020603050405020304" pitchFamily="18" charset="0"/>
                        </a:rPr>
                        <a:t>Đã thống nhất quy trình khắc phục APU bad smell. Vaeco ra TI mở ADD “APU Bleed bad smell for Air conditioning”, tổ bay được phép sử dụng APU để khởi động động cơ. Hạn ADD 6 tháng, Vaeco tiếp tục lên lịch T/S. Đã cập nhật nội dung vào FON2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2</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/061 R0</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4</a:t>
                      </a:r>
                      <a:r>
                        <a:rPr lang="vi-VN" sz="1500" b="0" kern="1200" dirty="0">
                          <a:solidFill>
                            <a:schemeClr val="tx1"/>
                          </a:solidFill>
                          <a:effectLst/>
                          <a:latin typeface="Times New Roman" panose="02020603050405020304" pitchFamily="18" charset="0"/>
                          <a:ea typeface="+mn-ea"/>
                          <a:cs typeface="Times New Roman" panose="02020603050405020304" pitchFamily="18" charset="0"/>
                        </a:rPr>
                        <a:t>. </a:t>
                      </a:r>
                    </a:p>
                  </a:txBody>
                  <a:tcPr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36034225"/>
                  </a:ext>
                </a:extLst>
              </a:tr>
              <a:tr h="1474395">
                <a:tc>
                  <a:txBody>
                    <a:bodyPr/>
                    <a:lstStyle/>
                    <a:p>
                      <a:pPr marL="0" marR="0" algn="ctr">
                        <a:spcBef>
                          <a:spcPts val="0"/>
                        </a:spcBef>
                        <a:spcAft>
                          <a:spcPts val="0"/>
                        </a:spcAft>
                      </a:pPr>
                      <a:r>
                        <a:rPr lang="en-US" sz="15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A357</a:t>
                      </a: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rPr>
                        <a:t>APU AUTO SHUTDOWN</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Phát</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sinh</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27/01.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Phải</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tháo</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do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có</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hỏng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hóc</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ở Load Compressor Impeller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và</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IGV.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Dự</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kiến</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thay</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t>
                      </a:r>
                      <a:r>
                        <a:rPr lang="en-US" sz="1500" b="0" kern="1200" dirty="0" err="1">
                          <a:solidFill>
                            <a:schemeClr val="tx1"/>
                          </a:solidFill>
                          <a:effectLst/>
                          <a:latin typeface="Times New Roman" panose="02020603050405020304" pitchFamily="18" charset="0"/>
                          <a:ea typeface="+mn-ea"/>
                          <a:cs typeface="Times New Roman" panose="02020603050405020304" pitchFamily="18" charset="0"/>
                        </a:rPr>
                        <a:t>bằng</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 APU spare S/N </a:t>
                      </a:r>
                      <a:r>
                        <a:rPr lang="en-US" sz="1500" b="0" kern="1200" dirty="0">
                          <a:solidFill>
                            <a:srgbClr val="FF0000"/>
                          </a:solidFill>
                          <a:effectLst/>
                          <a:latin typeface="Times New Roman" panose="02020603050405020304" pitchFamily="18" charset="0"/>
                          <a:ea typeface="+mn-ea"/>
                          <a:cs typeface="Times New Roman" panose="02020603050405020304" pitchFamily="18" charset="0"/>
                        </a:rPr>
                        <a:t>P-4922</a:t>
                      </a:r>
                      <a:r>
                        <a:rPr lang="en-US" sz="1500" b="0" kern="1200" dirty="0">
                          <a:solidFill>
                            <a:schemeClr val="tx1"/>
                          </a:solidFill>
                          <a:effectLst/>
                          <a:latin typeface="Times New Roman" panose="02020603050405020304" pitchFamily="18" charset="0"/>
                          <a:ea typeface="+mn-ea"/>
                          <a:cs typeface="Times New Roman" panose="02020603050405020304" pitchFamily="18" charset="0"/>
                        </a:rPr>
                        <a:t>.</a:t>
                      </a: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485791511"/>
                  </a:ext>
                </a:extLst>
              </a:tr>
              <a:tr h="1474395">
                <a:tc>
                  <a:txBody>
                    <a:bodyPr/>
                    <a:lstStyle/>
                    <a:p>
                      <a:pPr marL="0" marR="0" algn="ctr">
                        <a:spcBef>
                          <a:spcPts val="0"/>
                        </a:spcBef>
                        <a:spcAft>
                          <a:spcPts val="0"/>
                        </a:spcAft>
                      </a:pPr>
                      <a:endParaRPr lang="en-US" sz="15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i="0" strike="noStrike"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500" b="0" kern="1200" dirty="0">
                        <a:solidFill>
                          <a:schemeClr val="tx1"/>
                        </a:solidFill>
                        <a:effectLst/>
                        <a:latin typeface="Times New Roman" panose="02020603050405020304" pitchFamily="18" charset="0"/>
                        <a:ea typeface="+mn-ea"/>
                        <a:cs typeface="Times New Roman" panose="02020603050405020304" pitchFamily="18" charset="0"/>
                      </a:endParaRPr>
                    </a:p>
                  </a:txBody>
                  <a:tcPr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endParaRPr lang="vi-VN"/>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36160297"/>
                  </a:ext>
                </a:extLst>
              </a:tr>
            </a:tbl>
          </a:graphicData>
        </a:graphic>
      </p:graphicFrame>
      <p:sp>
        <p:nvSpPr>
          <p:cNvPr id="5" name="TextBox 4">
            <a:extLst>
              <a:ext uri="{FF2B5EF4-FFF2-40B4-BE49-F238E27FC236}">
                <a16:creationId xmlns:a16="http://schemas.microsoft.com/office/drawing/2014/main" id="{C90E461A-8FB3-5729-0D39-FAC90BDE96E0}"/>
              </a:ext>
            </a:extLst>
          </p:cNvPr>
          <p:cNvSpPr txBox="1"/>
          <p:nvPr/>
        </p:nvSpPr>
        <p:spPr>
          <a:xfrm>
            <a:off x="0" y="4175"/>
            <a:ext cx="10155179"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HỎNG HÓC APU TRONG TUẦN</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0645871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384535-CFCE-183F-8794-12D95900EC70}"/>
            </a:ext>
          </a:extLst>
        </p:cNvPr>
        <p:cNvGrpSpPr/>
        <p:nvPr/>
      </p:nvGrpSpPr>
      <p:grpSpPr>
        <a:xfrm>
          <a:off x="0" y="0"/>
          <a:ext cx="0" cy="0"/>
          <a:chOff x="0" y="0"/>
          <a:chExt cx="0" cy="0"/>
        </a:xfrm>
      </p:grpSpPr>
      <p:graphicFrame>
        <p:nvGraphicFramePr>
          <p:cNvPr id="2" name="Table 2">
            <a:extLst>
              <a:ext uri="{FF2B5EF4-FFF2-40B4-BE49-F238E27FC236}">
                <a16:creationId xmlns:a16="http://schemas.microsoft.com/office/drawing/2014/main" id="{44E34AA5-0AD7-89EB-D556-85A4E3C161E2}"/>
              </a:ext>
            </a:extLst>
          </p:cNvPr>
          <p:cNvGraphicFramePr>
            <a:graphicFrameLocks noGrp="1"/>
          </p:cNvGraphicFramePr>
          <p:nvPr/>
        </p:nvGraphicFramePr>
        <p:xfrm>
          <a:off x="548320" y="609600"/>
          <a:ext cx="11169547" cy="4343398"/>
        </p:xfrm>
        <a:graphic>
          <a:graphicData uri="http://schemas.openxmlformats.org/drawingml/2006/table">
            <a:tbl>
              <a:tblPr firstRow="1" bandRow="1">
                <a:tableStyleId>{7DF18680-E054-41AD-8BC1-D1AEF772440D}</a:tableStyleId>
              </a:tblPr>
              <a:tblGrid>
                <a:gridCol w="1801539">
                  <a:extLst>
                    <a:ext uri="{9D8B030D-6E8A-4147-A177-3AD203B41FA5}">
                      <a16:colId xmlns:a16="http://schemas.microsoft.com/office/drawing/2014/main" val="1598605427"/>
                    </a:ext>
                  </a:extLst>
                </a:gridCol>
                <a:gridCol w="1692295">
                  <a:extLst>
                    <a:ext uri="{9D8B030D-6E8A-4147-A177-3AD203B41FA5}">
                      <a16:colId xmlns:a16="http://schemas.microsoft.com/office/drawing/2014/main" val="3845954792"/>
                    </a:ext>
                  </a:extLst>
                </a:gridCol>
                <a:gridCol w="3352017">
                  <a:extLst>
                    <a:ext uri="{9D8B030D-6E8A-4147-A177-3AD203B41FA5}">
                      <a16:colId xmlns:a16="http://schemas.microsoft.com/office/drawing/2014/main" val="2148822928"/>
                    </a:ext>
                  </a:extLst>
                </a:gridCol>
                <a:gridCol w="2161848">
                  <a:extLst>
                    <a:ext uri="{9D8B030D-6E8A-4147-A177-3AD203B41FA5}">
                      <a16:colId xmlns:a16="http://schemas.microsoft.com/office/drawing/2014/main" val="1106888684"/>
                    </a:ext>
                  </a:extLst>
                </a:gridCol>
                <a:gridCol w="2161848">
                  <a:extLst>
                    <a:ext uri="{9D8B030D-6E8A-4147-A177-3AD203B41FA5}">
                      <a16:colId xmlns:a16="http://schemas.microsoft.com/office/drawing/2014/main" val="571731565"/>
                    </a:ext>
                  </a:extLst>
                </a:gridCol>
              </a:tblGrid>
              <a:tr h="570118">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APU S/N</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u="none" strike="noStrike">
                          <a:solidFill>
                            <a:schemeClr val="bg1"/>
                          </a:solidFill>
                          <a:effectLst/>
                          <a:latin typeface="Times New Roman" panose="02020603050405020304" pitchFamily="18" charset="0"/>
                          <a:cs typeface="Times New Roman" panose="02020603050405020304" pitchFamily="18" charset="0"/>
                        </a:rPr>
                        <a:t>Shop</a:t>
                      </a:r>
                      <a:endParaRPr lang="en-US"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a:solidFill>
                            <a:schemeClr val="bg1"/>
                          </a:solidFill>
                          <a:effectLst/>
                          <a:latin typeface="Times New Roman" panose="02020603050405020304" pitchFamily="18" charset="0"/>
                          <a:cs typeface="Times New Roman" panose="02020603050405020304" pitchFamily="18" charset="0"/>
                        </a:rPr>
                        <a:t>Induction date</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Dự</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kiến</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ngày</a:t>
                      </a:r>
                      <a:r>
                        <a:rPr lang="en-US" sz="1500" b="1" i="0" u="none" strike="noStrike" dirty="0">
                          <a:solidFill>
                            <a:schemeClr val="bg1"/>
                          </a:solidFill>
                          <a:effectLst/>
                          <a:latin typeface="Times New Roman" panose="02020603050405020304" pitchFamily="18" charset="0"/>
                          <a:cs typeface="Times New Roman" panose="02020603050405020304" pitchFamily="18" charset="0"/>
                        </a:rPr>
                        <a:t> </a:t>
                      </a:r>
                      <a:r>
                        <a:rPr lang="en-US" sz="1500" b="1" i="0" u="none" strike="noStrike" dirty="0" err="1">
                          <a:solidFill>
                            <a:schemeClr val="bg1"/>
                          </a:solidFill>
                          <a:effectLst/>
                          <a:latin typeface="Times New Roman" panose="02020603050405020304" pitchFamily="18" charset="0"/>
                          <a:cs typeface="Times New Roman" panose="02020603050405020304" pitchFamily="18" charset="0"/>
                        </a:rPr>
                        <a:t>về</a:t>
                      </a:r>
                      <a:endParaRPr lang="vi-VN" sz="1500" b="1" i="0" u="none" strike="noStrike" dirty="0">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tc>
                  <a:txBody>
                    <a:bodyPr/>
                    <a:lstStyle/>
                    <a:p>
                      <a:pPr algn="ctr" fontAlgn="ctr"/>
                      <a:r>
                        <a:rPr lang="en-US" sz="1500" b="1" i="0" u="none" strike="noStrike">
                          <a:solidFill>
                            <a:schemeClr val="bg1"/>
                          </a:solidFill>
                          <a:effectLst/>
                          <a:latin typeface="Times New Roman" panose="02020603050405020304" pitchFamily="18" charset="0"/>
                          <a:cs typeface="Times New Roman" panose="02020603050405020304" pitchFamily="18" charset="0"/>
                        </a:rPr>
                        <a:t>Dự kiến dùng cho tàu</a:t>
                      </a:r>
                      <a:endParaRPr lang="vi-VN" sz="1500" b="1" i="0" u="none" strike="noStrike">
                        <a:solidFill>
                          <a:schemeClr val="bg1"/>
                        </a:solidFill>
                        <a:effectLst/>
                        <a:latin typeface="Times New Roman" panose="02020603050405020304" pitchFamily="18" charset="0"/>
                        <a:cs typeface="Times New Roman" panose="02020603050405020304" pitchFamily="18" charset="0"/>
                      </a:endParaRPr>
                    </a:p>
                  </a:txBody>
                  <a:tcPr marL="12700" marR="12700" marT="12700" marB="0" anchor="ctr"/>
                </a:tc>
                <a:extLst>
                  <a:ext uri="{0D108BD9-81ED-4DB2-BD59-A6C34878D82A}">
                    <a16:rowId xmlns:a16="http://schemas.microsoft.com/office/drawing/2014/main" val="1234812354"/>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P-4541</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EPCOR</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22-May-24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25-Mar-24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A329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716492321"/>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P-5207</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HONEYWELL</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19-Feb-25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10-Apr-25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A606</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3841585950"/>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P-4708</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10-Mar-25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A390</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702873862"/>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P-5222</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AMECO</a:t>
                      </a:r>
                      <a:endParaRPr kumimoji="0" lang="en-US" sz="15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17-Dec-24</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1">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A359</a:t>
                      </a:r>
                    </a:p>
                  </a:txBody>
                  <a:tcPr marL="12700" marR="12700" marT="12700" marB="0" anchor="ctr">
                    <a:solidFill>
                      <a:schemeClr val="accent1">
                        <a:lumMod val="20000"/>
                        <a:lumOff val="80000"/>
                      </a:schemeClr>
                    </a:solidFill>
                  </a:tcPr>
                </a:tc>
                <a:extLst>
                  <a:ext uri="{0D108BD9-81ED-4DB2-BD59-A6C34878D82A}">
                    <a16:rowId xmlns:a16="http://schemas.microsoft.com/office/drawing/2014/main" val="28517020"/>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PWC-Z925500</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22-Dec-24</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15-Apr-25</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A871</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3190860515"/>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PWC-Z926122</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PWC</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Not inducted</a:t>
                      </a:r>
                    </a:p>
                  </a:txBody>
                  <a:tcPr marL="12700" marR="12700" marT="12700" marB="0" anchor="ctr">
                    <a:solidFill>
                      <a:schemeClr val="accent6">
                        <a:lumMod val="20000"/>
                        <a:lumOff val="8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N/A</a:t>
                      </a:r>
                    </a:p>
                  </a:txBody>
                  <a:tcPr marL="12700" marR="12700" marT="12700" marB="0" anchor="ctr">
                    <a:solidFill>
                      <a:schemeClr val="accent6">
                        <a:lumMod val="20000"/>
                        <a:lumOff val="8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A869</a:t>
                      </a:r>
                    </a:p>
                  </a:txBody>
                  <a:tcPr marL="12700" marR="12700" marT="12700" marB="0" anchor="ctr">
                    <a:solidFill>
                      <a:schemeClr val="accent6">
                        <a:lumMod val="20000"/>
                        <a:lumOff val="80000"/>
                      </a:schemeClr>
                    </a:solidFill>
                  </a:tcPr>
                </a:tc>
                <a:extLst>
                  <a:ext uri="{0D108BD9-81ED-4DB2-BD59-A6C34878D82A}">
                    <a16:rowId xmlns:a16="http://schemas.microsoft.com/office/drawing/2014/main" val="2901684868"/>
                  </a:ext>
                </a:extLst>
              </a:tr>
              <a:tr h="539040">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P-00255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LUFTHANSA</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i="0" u="none" strike="noStrike" dirty="0">
                          <a:solidFill>
                            <a:schemeClr val="tx1"/>
                          </a:solidFill>
                          <a:effectLst/>
                          <a:latin typeface="Times New Roman" panose="02020603050405020304" pitchFamily="18" charset="0"/>
                          <a:cs typeface="Times New Roman" panose="02020603050405020304" pitchFamily="18" charset="0"/>
                        </a:rPr>
                        <a:t>10-Oct-24</a:t>
                      </a:r>
                    </a:p>
                  </a:txBody>
                  <a:tcPr marL="12700" marR="12700" marT="12700" marB="0" anchor="ctr">
                    <a:solidFill>
                      <a:schemeClr val="accent2">
                        <a:lumMod val="40000"/>
                        <a:lumOff val="60000"/>
                      </a:schemeClr>
                    </a:solid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500" b="0" i="0" u="none" strike="noStrike" dirty="0">
                          <a:solidFill>
                            <a:schemeClr val="tx1"/>
                          </a:solidFill>
                          <a:effectLst/>
                          <a:latin typeface="Times New Roman" panose="02020603050405020304" pitchFamily="18" charset="0"/>
                          <a:cs typeface="Times New Roman" panose="02020603050405020304" pitchFamily="18" charset="0"/>
                        </a:rPr>
                        <a:t>20-Mar-25</a:t>
                      </a:r>
                    </a:p>
                  </a:txBody>
                  <a:tcPr marL="12700" marR="12700" marT="12700" marB="0" anchor="ctr">
                    <a:solidFill>
                      <a:schemeClr val="accent2">
                        <a:lumMod val="40000"/>
                        <a:lumOff val="60000"/>
                      </a:schemeClr>
                    </a:solidFill>
                  </a:tcPr>
                </a:tc>
                <a:tc>
                  <a:txBody>
                    <a:bodyPr/>
                    <a:lstStyle/>
                    <a:p>
                      <a:pPr algn="ctr" fontAlgn="ctr"/>
                      <a:r>
                        <a:rPr lang="en-US" sz="1500" b="0" i="0" u="none" strike="noStrike" dirty="0">
                          <a:solidFill>
                            <a:schemeClr val="tx1"/>
                          </a:solidFill>
                          <a:effectLst/>
                          <a:latin typeface="Times New Roman" panose="02020603050405020304" pitchFamily="18" charset="0"/>
                          <a:cs typeface="Times New Roman" panose="02020603050405020304" pitchFamily="18" charset="0"/>
                        </a:rPr>
                        <a:t>A887</a:t>
                      </a:r>
                    </a:p>
                  </a:txBody>
                  <a:tcPr marL="12700" marR="12700" marT="12700" marB="0" anchor="ctr">
                    <a:solidFill>
                      <a:schemeClr val="accent2">
                        <a:lumMod val="40000"/>
                        <a:lumOff val="60000"/>
                      </a:schemeClr>
                    </a:solidFill>
                  </a:tcPr>
                </a:tc>
                <a:extLst>
                  <a:ext uri="{0D108BD9-81ED-4DB2-BD59-A6C34878D82A}">
                    <a16:rowId xmlns:a16="http://schemas.microsoft.com/office/drawing/2014/main" val="148885825"/>
                  </a:ext>
                </a:extLst>
              </a:tr>
            </a:tbl>
          </a:graphicData>
        </a:graphic>
      </p:graphicFrame>
      <p:sp>
        <p:nvSpPr>
          <p:cNvPr id="3" name="TextBox 2">
            <a:extLst>
              <a:ext uri="{FF2B5EF4-FFF2-40B4-BE49-F238E27FC236}">
                <a16:creationId xmlns:a16="http://schemas.microsoft.com/office/drawing/2014/main" id="{683815DC-3726-60C6-9F9A-C1A095C6A727}"/>
              </a:ext>
            </a:extLst>
          </p:cNvPr>
          <p:cNvSpPr txBox="1"/>
          <p:nvPr/>
        </p:nvSpPr>
        <p:spPr>
          <a:xfrm>
            <a:off x="508019" y="5151765"/>
            <a:ext cx="11169547" cy="1241622"/>
          </a:xfrm>
          <a:prstGeom prst="rect">
            <a:avLst/>
          </a:prstGeom>
          <a:noFill/>
        </p:spPr>
        <p:txBody>
          <a:bodyPr wrap="square" rtlCol="0">
            <a:spAutoFit/>
          </a:bodyPr>
          <a:lstStyle/>
          <a:p>
            <a:pPr defTabSz="1219170">
              <a:defRPr/>
            </a:pPr>
            <a:r>
              <a:rPr lang="en-US" sz="1867" b="1" dirty="0" err="1">
                <a:solidFill>
                  <a:prstClr val="black"/>
                </a:solidFill>
                <a:latin typeface="Times New Roman" panose="02020603050405020304" pitchFamily="18" charset="0"/>
                <a:cs typeface="Times New Roman" panose="02020603050405020304" pitchFamily="18" charset="0"/>
              </a:rPr>
              <a:t>Đánh</a:t>
            </a:r>
            <a:r>
              <a:rPr lang="en-US" sz="1867" b="1" dirty="0">
                <a:solidFill>
                  <a:prstClr val="black"/>
                </a:solidFill>
                <a:latin typeface="Times New Roman" panose="02020603050405020304" pitchFamily="18" charset="0"/>
                <a:cs typeface="Times New Roman" panose="02020603050405020304" pitchFamily="18" charset="0"/>
              </a:rPr>
              <a:t> </a:t>
            </a:r>
            <a:r>
              <a:rPr lang="en-US" sz="1867" b="1" dirty="0" err="1">
                <a:solidFill>
                  <a:prstClr val="black"/>
                </a:solidFill>
                <a:latin typeface="Times New Roman" panose="02020603050405020304" pitchFamily="18" charset="0"/>
                <a:cs typeface="Times New Roman" panose="02020603050405020304" pitchFamily="18" charset="0"/>
              </a:rPr>
              <a:t>giá</a:t>
            </a:r>
            <a:r>
              <a:rPr lang="en-US" sz="1867" b="1" dirty="0">
                <a:solidFill>
                  <a:prstClr val="black"/>
                </a:solidFill>
                <a:latin typeface="Times New Roman" panose="02020603050405020304" pitchFamily="18" charset="0"/>
                <a:cs typeface="Times New Roman" panose="02020603050405020304" pitchFamily="18" charset="0"/>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rPr>
              <a:t>Đội</a:t>
            </a:r>
            <a:r>
              <a:rPr lang="en-US" sz="1867" dirty="0">
                <a:solidFill>
                  <a:prstClr val="black"/>
                </a:solidFill>
                <a:latin typeface="Times New Roman" panose="02020603050405020304" pitchFamily="18" charset="0"/>
                <a:cs typeface="Times New Roman" panose="02020603050405020304" pitchFamily="18" charset="0"/>
              </a:rPr>
              <a:t> bay A321: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A350: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a:p>
            <a:pPr marL="990575" lvl="1" indent="-380990" defTabSz="1219170">
              <a:buFont typeface="Arial" panose="020B0604020202020204" pitchFamily="34" charset="0"/>
              <a:buChar char="•"/>
              <a:defRPr/>
            </a:pP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Đội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bay B787: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Không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có</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rủi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ro</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ảnh</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hưởng</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khai</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 </a:t>
            </a:r>
            <a:r>
              <a:rPr lang="en-US" sz="1867" dirty="0" err="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thác</a:t>
            </a:r>
            <a:r>
              <a:rPr lang="en-US" sz="1867" dirty="0">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p>
        </p:txBody>
      </p:sp>
      <p:sp>
        <p:nvSpPr>
          <p:cNvPr id="4" name="TextBox 3">
            <a:extLst>
              <a:ext uri="{FF2B5EF4-FFF2-40B4-BE49-F238E27FC236}">
                <a16:creationId xmlns:a16="http://schemas.microsoft.com/office/drawing/2014/main" id="{2A0F6081-1E4E-10D7-02C6-BC54E456A673}"/>
              </a:ext>
            </a:extLst>
          </p:cNvPr>
          <p:cNvSpPr txBox="1"/>
          <p:nvPr/>
        </p:nvSpPr>
        <p:spPr>
          <a:xfrm>
            <a:off x="1" y="1"/>
            <a:ext cx="7521623" cy="502766"/>
          </a:xfrm>
          <a:prstGeom prst="rect">
            <a:avLst/>
          </a:prstGeom>
          <a:noFill/>
        </p:spPr>
        <p:txBody>
          <a:bodyPr wrap="square" rtlCol="0">
            <a:spAutoFit/>
          </a:bodyPr>
          <a:lstStyle/>
          <a:p>
            <a:pPr defTabSz="1219170">
              <a:defRPr/>
            </a:pPr>
            <a:r>
              <a:rPr lang="en-US" sz="2667" b="1" dirty="0">
                <a:ln w="0"/>
                <a:solidFill>
                  <a:srgbClr val="FBAC00"/>
                </a:solidFill>
                <a:latin typeface="Times New Roman" panose="02020603050405020304" pitchFamily="18" charset="0"/>
                <a:cs typeface="Times New Roman" panose="02020603050405020304" pitchFamily="18" charset="0"/>
              </a:rPr>
              <a:t>TÌNH TRẠNG SỬA CHỮA APU TẠI SHOP</a:t>
            </a:r>
            <a:endParaRPr lang="en-GB" sz="2667" b="1" dirty="0">
              <a:ln w="0"/>
              <a:solidFill>
                <a:srgbClr val="FBAC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0239515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43</a:t>
            </a:fld>
            <a:endParaRPr dirty="0"/>
          </a:p>
        </p:txBody>
      </p:sp>
      <p:sp>
        <p:nvSpPr>
          <p:cNvPr id="76" name="Google Shape;76;p2"/>
          <p:cNvSpPr txBox="1">
            <a:spLocks noGrp="1"/>
          </p:cNvSpPr>
          <p:nvPr>
            <p:ph type="title"/>
          </p:nvPr>
        </p:nvSpPr>
        <p:spPr>
          <a:xfrm>
            <a:off x="762001" y="28333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52400" y="717498"/>
            <a:ext cx="10512582" cy="15685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n-US" sz="1600" b="1" dirty="0">
                <a:cs typeface="Times New Roman" panose="02020603050405020304" pitchFamily="18" charset="0"/>
              </a:rPr>
              <a:t>BQDB: </a:t>
            </a:r>
            <a:r>
              <a:rPr lang="pt-BR" sz="1600" b="1" dirty="0">
                <a:cs typeface="Times New Roman" panose="02020603050405020304" pitchFamily="18" charset="0"/>
              </a:rPr>
              <a:t>HAN (A503/05/06/08/10/11/16, A620/22/23/24/25, A886/887/895/898) /</a:t>
            </a:r>
            <a:r>
              <a:rPr lang="pt-BR" sz="1600" b="1" dirty="0">
                <a:solidFill>
                  <a:schemeClr val="accent1">
                    <a:lumMod val="75000"/>
                  </a:schemeClr>
                </a:solidFill>
                <a:cs typeface="Times New Roman" panose="02020603050405020304" pitchFamily="18" charset="0"/>
              </a:rPr>
              <a:t> SGN (A617, A509).</a:t>
            </a:r>
            <a:endParaRPr lang="en-US" sz="1600" b="1" dirty="0">
              <a:cs typeface="Times New Roman" panose="02020603050405020304" pitchFamily="18" charset="0"/>
            </a:endParaRPr>
          </a:p>
          <a:p>
            <a:pPr marL="12700" indent="0" algn="just">
              <a:buSzPts val="1100"/>
              <a:buFont typeface="Arial" panose="020B0604020202020204" pitchFamily="34" charset="0"/>
              <a:buNone/>
            </a:pPr>
            <a:r>
              <a:rPr lang="en-US" sz="1600" b="1" dirty="0">
                <a:cs typeface="Times New Roman" panose="02020603050405020304" pitchFamily="18" charset="0"/>
              </a:rPr>
              <a:t>BDĐK: A321: A397, A501;</a:t>
            </a:r>
          </a:p>
          <a:p>
            <a:pPr marL="12700" indent="0" algn="just">
              <a:buSzPts val="1100"/>
              <a:buFont typeface="Arial" panose="020B0604020202020204" pitchFamily="34" charset="0"/>
              <a:buNone/>
            </a:pPr>
            <a:r>
              <a:rPr lang="en-US" sz="1600" b="1" dirty="0">
                <a:solidFill>
                  <a:schemeClr val="accent1"/>
                </a:solidFill>
                <a:cs typeface="Times New Roman" panose="02020603050405020304" pitchFamily="18" charset="0"/>
              </a:rPr>
              <a:t>              </a:t>
            </a:r>
            <a:r>
              <a:rPr lang="en-US" sz="1600" b="1" dirty="0">
                <a:cs typeface="Times New Roman" panose="02020603050405020304" pitchFamily="18" charset="0"/>
              </a:rPr>
              <a:t>A350: A899;</a:t>
            </a:r>
          </a:p>
          <a:p>
            <a:pPr marL="12700" indent="0" algn="just">
              <a:buClr>
                <a:schemeClr val="dk1"/>
              </a:buClr>
              <a:buSzPts val="1100"/>
              <a:buFont typeface="Arial" panose="020B0604020202020204" pitchFamily="34" charset="0"/>
              <a:buNone/>
            </a:pPr>
            <a:r>
              <a:rPr lang="en-US" sz="1600" b="1" dirty="0">
                <a:cs typeface="Times New Roman" panose="02020603050405020304" pitchFamily="18" charset="0"/>
              </a:rPr>
              <a:t>              B787: A863, A870;</a:t>
            </a:r>
            <a:endParaRPr lang="en-US" sz="1600" dirty="0">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pic>
        <p:nvPicPr>
          <p:cNvPr id="3" name="Picture 2"/>
          <p:cNvPicPr>
            <a:picLocks noChangeAspect="1"/>
          </p:cNvPicPr>
          <p:nvPr/>
        </p:nvPicPr>
        <p:blipFill>
          <a:blip r:embed="rId3"/>
          <a:stretch>
            <a:fillRect/>
          </a:stretch>
        </p:blipFill>
        <p:spPr>
          <a:xfrm>
            <a:off x="6781797" y="1295401"/>
            <a:ext cx="4899601" cy="3276600"/>
          </a:xfrm>
          <a:prstGeom prst="rect">
            <a:avLst/>
          </a:prstGeom>
        </p:spPr>
      </p:pic>
      <p:sp>
        <p:nvSpPr>
          <p:cNvPr id="6" name="Google Shape;75;p2">
            <a:extLst>
              <a:ext uri="{FF2B5EF4-FFF2-40B4-BE49-F238E27FC236}">
                <a16:creationId xmlns:a16="http://schemas.microsoft.com/office/drawing/2014/main" id="{637BC1EA-95C9-6D4F-9E46-CF744FAC7800}"/>
              </a:ext>
            </a:extLst>
          </p:cNvPr>
          <p:cNvSpPr txBox="1">
            <a:spLocks/>
          </p:cNvSpPr>
          <p:nvPr/>
        </p:nvSpPr>
        <p:spPr>
          <a:xfrm>
            <a:off x="228599" y="2286000"/>
            <a:ext cx="6476999" cy="4276426"/>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cs typeface="Times New Roman" panose="02020603050405020304" pitchFamily="18" charset="0"/>
              </a:rPr>
              <a:t>I. A321: </a:t>
            </a:r>
          </a:p>
          <a:p>
            <a:pPr marL="12700" indent="0" algn="just">
              <a:lnSpc>
                <a:spcPct val="100000"/>
              </a:lnSpc>
              <a:buSzPts val="1100"/>
              <a:buNone/>
            </a:pPr>
            <a:r>
              <a:rPr lang="es-ES" sz="1600" b="1" dirty="0">
                <a:solidFill>
                  <a:srgbClr val="FF0000"/>
                </a:solidFill>
                <a:cs typeface="Times New Roman" panose="02020603050405020304" pitchFamily="18" charset="0"/>
                <a:sym typeface="Wingdings" panose="05000000000000000000" pitchFamily="2" charset="2"/>
              </a:rPr>
              <a:t>    1. A397_SGN_EC01+ EC02+ EA20: 22/02-08/03.</a:t>
            </a:r>
          </a:p>
          <a:p>
            <a:pPr marL="12700" indent="0" algn="just">
              <a:lnSpc>
                <a:spcPct val="100000"/>
              </a:lnSpc>
              <a:buSzPts val="1100"/>
              <a:buNone/>
            </a:pPr>
            <a:r>
              <a:rPr lang="en-US" sz="1450" dirty="0">
                <a:cs typeface="Times New Roman" panose="02020603050405020304" pitchFamily="18" charset="0"/>
                <a:sym typeface="Wingdings" panose="05000000000000000000" pitchFamily="2" charset="2"/>
              </a:rPr>
              <a:t>   -   </a:t>
            </a:r>
            <a:r>
              <a:rPr lang="en-US" sz="1450" dirty="0" err="1">
                <a:cs typeface="Times New Roman" panose="02020603050405020304" pitchFamily="18" charset="0"/>
                <a:sym typeface="Wingdings" panose="05000000000000000000" pitchFamily="2" charset="2"/>
              </a:rPr>
              <a:t>Tàu</a:t>
            </a:r>
            <a:r>
              <a:rPr lang="en-US" sz="1450" dirty="0">
                <a:cs typeface="Times New Roman" panose="02020603050405020304" pitchFamily="18" charset="0"/>
                <a:sym typeface="Wingdings" panose="05000000000000000000" pitchFamily="2" charset="2"/>
              </a:rPr>
              <a:t> </a:t>
            </a:r>
            <a:r>
              <a:rPr lang="en-US" sz="1450" dirty="0" err="1">
                <a:cs typeface="Times New Roman" panose="02020603050405020304" pitchFamily="18" charset="0"/>
                <a:sym typeface="Wingdings" panose="05000000000000000000" pitchFamily="2" charset="2"/>
              </a:rPr>
              <a:t>vào</a:t>
            </a:r>
            <a:r>
              <a:rPr lang="en-US" sz="1450" dirty="0">
                <a:cs typeface="Times New Roman" panose="02020603050405020304" pitchFamily="18" charset="0"/>
                <a:sym typeface="Wingdings" panose="05000000000000000000" pitchFamily="2" charset="2"/>
              </a:rPr>
              <a:t> Check </a:t>
            </a:r>
            <a:r>
              <a:rPr lang="en-US" sz="1450" dirty="0" err="1">
                <a:cs typeface="Times New Roman" panose="02020603050405020304" pitchFamily="18" charset="0"/>
                <a:sym typeface="Wingdings" panose="05000000000000000000" pitchFamily="2" charset="2"/>
              </a:rPr>
              <a:t>sớm</a:t>
            </a:r>
            <a:r>
              <a:rPr lang="en-US" sz="1450" dirty="0">
                <a:cs typeface="Times New Roman" panose="02020603050405020304" pitchFamily="18" charset="0"/>
                <a:sym typeface="Wingdings" panose="05000000000000000000" pitchFamily="2" charset="2"/>
              </a:rPr>
              <a:t> </a:t>
            </a:r>
            <a:r>
              <a:rPr lang="en-US" sz="1450" dirty="0" err="1">
                <a:cs typeface="Times New Roman" panose="02020603050405020304" pitchFamily="18" charset="0"/>
                <a:sym typeface="Wingdings" panose="05000000000000000000" pitchFamily="2" charset="2"/>
              </a:rPr>
              <a:t>tư</a:t>
            </a:r>
            <a:r>
              <a:rPr lang="en-US" sz="1450" dirty="0">
                <a:cs typeface="Times New Roman" panose="02020603050405020304" pitchFamily="18" charset="0"/>
                <a:sym typeface="Wingdings" panose="05000000000000000000" pitchFamily="2" charset="2"/>
              </a:rPr>
              <a:t>̀ </a:t>
            </a:r>
            <a:r>
              <a:rPr lang="en-US" sz="1450" dirty="0" err="1">
                <a:cs typeface="Times New Roman" panose="02020603050405020304" pitchFamily="18" charset="0"/>
                <a:sym typeface="Wingdings" panose="05000000000000000000" pitchFamily="2" charset="2"/>
              </a:rPr>
              <a:t>sáng</a:t>
            </a:r>
            <a:r>
              <a:rPr lang="en-US" sz="1450" dirty="0">
                <a:cs typeface="Times New Roman" panose="02020603050405020304" pitchFamily="18" charset="0"/>
                <a:sym typeface="Wingdings" panose="05000000000000000000" pitchFamily="2" charset="2"/>
              </a:rPr>
              <a:t> 22/02 </a:t>
            </a:r>
            <a:r>
              <a:rPr lang="en-US" sz="1450" dirty="0" err="1">
                <a:cs typeface="Times New Roman" panose="02020603050405020304" pitchFamily="18" charset="0"/>
                <a:sym typeface="Wingdings" panose="05000000000000000000" pitchFamily="2" charset="2"/>
              </a:rPr>
              <a:t>tại</a:t>
            </a:r>
            <a:r>
              <a:rPr lang="en-US" sz="1450" dirty="0">
                <a:cs typeface="Times New Roman" panose="02020603050405020304" pitchFamily="18" charset="0"/>
                <a:sym typeface="Wingdings" panose="05000000000000000000" pitchFamily="2" charset="2"/>
              </a:rPr>
              <a:t> SGN </a:t>
            </a:r>
            <a:r>
              <a:rPr lang="en-US" sz="1450" dirty="0" err="1">
                <a:cs typeface="Times New Roman" panose="02020603050405020304" pitchFamily="18" charset="0"/>
                <a:sym typeface="Wingdings" panose="05000000000000000000" pitchFamily="2" charset="2"/>
              </a:rPr>
              <a:t>đê</a:t>
            </a:r>
            <a:r>
              <a:rPr lang="en-US" sz="1450" dirty="0">
                <a:cs typeface="Times New Roman" panose="02020603050405020304" pitchFamily="18" charset="0"/>
                <a:sym typeface="Wingdings" panose="05000000000000000000" pitchFamily="2" charset="2"/>
              </a:rPr>
              <a:t>̉ Rob </a:t>
            </a:r>
            <a:r>
              <a:rPr lang="en-US" sz="1450" dirty="0" err="1">
                <a:cs typeface="Times New Roman" panose="02020603050405020304" pitchFamily="18" charset="0"/>
                <a:sym typeface="Wingdings" panose="05000000000000000000" pitchFamily="2" charset="2"/>
              </a:rPr>
              <a:t>vật</a:t>
            </a:r>
            <a:r>
              <a:rPr lang="en-US" sz="1450" dirty="0">
                <a:cs typeface="Times New Roman" panose="02020603050405020304" pitchFamily="18" charset="0"/>
                <a:sym typeface="Wingdings" panose="05000000000000000000" pitchFamily="2" charset="2"/>
              </a:rPr>
              <a:t> </a:t>
            </a:r>
            <a:r>
              <a:rPr lang="en-US" sz="1450" dirty="0" err="1">
                <a:cs typeface="Times New Roman" panose="02020603050405020304" pitchFamily="18" charset="0"/>
                <a:sym typeface="Wingdings" panose="05000000000000000000" pitchFamily="2" charset="2"/>
              </a:rPr>
              <a:t>tư</a:t>
            </a:r>
            <a:r>
              <a:rPr lang="en-US" sz="1450" dirty="0">
                <a:cs typeface="Times New Roman" panose="02020603050405020304" pitchFamily="18" charset="0"/>
                <a:sym typeface="Wingdings" panose="05000000000000000000" pitchFamily="2" charset="2"/>
              </a:rPr>
              <a:t> Aft Fix Fairing </a:t>
            </a:r>
            <a:r>
              <a:rPr lang="en-US" sz="1450" dirty="0" err="1">
                <a:cs typeface="Times New Roman" panose="02020603050405020304" pitchFamily="18" charset="0"/>
                <a:sym typeface="Wingdings" panose="05000000000000000000" pitchFamily="2" charset="2"/>
              </a:rPr>
              <a:t>cho</a:t>
            </a:r>
            <a:r>
              <a:rPr lang="en-US" sz="1450" dirty="0">
                <a:cs typeface="Times New Roman" panose="02020603050405020304" pitchFamily="18" charset="0"/>
                <a:sym typeface="Wingdings" panose="05000000000000000000" pitchFamily="2" charset="2"/>
              </a:rPr>
              <a:t> A358 = &gt; Fairing Est Avail 03/3.</a:t>
            </a:r>
            <a:endParaRPr lang="es-ES" sz="1450" b="1" dirty="0">
              <a:solidFill>
                <a:srgbClr val="FF0000"/>
              </a:solidFill>
              <a:cs typeface="Times New Roman" panose="02020603050405020304" pitchFamily="18" charset="0"/>
              <a:sym typeface="Wingdings" panose="05000000000000000000" pitchFamily="2" charset="2"/>
            </a:endParaRPr>
          </a:p>
          <a:p>
            <a:pPr marL="12700" indent="0" algn="just">
              <a:lnSpc>
                <a:spcPct val="100000"/>
              </a:lnSpc>
              <a:buSzPts val="1100"/>
              <a:buNone/>
            </a:pPr>
            <a:r>
              <a:rPr lang="es-ES" sz="1450" b="1" dirty="0">
                <a:solidFill>
                  <a:srgbClr val="FF0000"/>
                </a:solidFill>
                <a:cs typeface="Times New Roman" panose="02020603050405020304" pitchFamily="18" charset="0"/>
                <a:sym typeface="Wingdings" panose="05000000000000000000" pitchFamily="2" charset="2"/>
              </a:rPr>
              <a:t>   </a:t>
            </a:r>
            <a:r>
              <a:rPr lang="es-ES" sz="1450" dirty="0">
                <a:cs typeface="Times New Roman" panose="02020603050405020304" pitchFamily="18" charset="0"/>
                <a:sym typeface="Wingdings" panose="05000000000000000000" pitchFamily="2" charset="2"/>
              </a:rPr>
              <a:t>-   01/3: </a:t>
            </a:r>
            <a:r>
              <a:rPr lang="es-ES" sz="1450" dirty="0" err="1">
                <a:cs typeface="Times New Roman" panose="02020603050405020304" pitchFamily="18" charset="0"/>
                <a:sym typeface="Wingdings" panose="05000000000000000000" pitchFamily="2" charset="2"/>
              </a:rPr>
              <a:t>Phát</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hiện</a:t>
            </a:r>
            <a:r>
              <a:rPr lang="es-ES" sz="1450" dirty="0">
                <a:cs typeface="Times New Roman" panose="02020603050405020304" pitchFamily="18" charset="0"/>
                <a:sym typeface="Wingdings" panose="05000000000000000000" pitchFamily="2" charset="2"/>
              </a:rPr>
              <a:t> </a:t>
            </a:r>
            <a:r>
              <a:rPr lang="en-US" sz="1450" dirty="0"/>
              <a:t>Crack At Existing Repair Section RH Side On FR78 </a:t>
            </a:r>
            <a:r>
              <a:rPr lang="es-ES" sz="1450" dirty="0">
                <a:cs typeface="Times New Roman" panose="02020603050405020304" pitchFamily="18" charset="0"/>
                <a:sym typeface="Wingdings" panose="05000000000000000000" pitchFamily="2" charset="2"/>
              </a:rPr>
              <a:t>= &gt; Có </a:t>
            </a:r>
            <a:r>
              <a:rPr lang="es-ES" sz="1450" dirty="0" err="1">
                <a:cs typeface="Times New Roman" panose="02020603050405020304" pitchFamily="18" charset="0"/>
                <a:sym typeface="Wingdings" panose="05000000000000000000" pitchFamily="2" charset="2"/>
              </a:rPr>
              <a:t>nguy</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cơ</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ảnh</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hưởng</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tiến</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đô</a:t>
            </a:r>
            <a:r>
              <a:rPr lang="es-ES" sz="1450" dirty="0">
                <a:cs typeface="Times New Roman" panose="02020603050405020304" pitchFamily="18" charset="0"/>
                <a:sym typeface="Wingdings" panose="05000000000000000000" pitchFamily="2" charset="2"/>
              </a:rPr>
              <a:t>̣:</a:t>
            </a:r>
            <a:r>
              <a:rPr lang="es-ES" sz="1450" b="1" dirty="0">
                <a:cs typeface="Times New Roman" panose="02020603050405020304" pitchFamily="18" charset="0"/>
                <a:sym typeface="Wingdings" panose="05000000000000000000" pitchFamily="2" charset="2"/>
              </a:rPr>
              <a:t>  </a:t>
            </a:r>
          </a:p>
          <a:p>
            <a:pPr marL="12700" indent="0" algn="just">
              <a:lnSpc>
                <a:spcPct val="100000"/>
              </a:lnSpc>
              <a:buSzPts val="1100"/>
              <a:buNone/>
            </a:pPr>
            <a:r>
              <a:rPr lang="es-ES" sz="1450" dirty="0">
                <a:cs typeface="Times New Roman" panose="02020603050405020304" pitchFamily="18" charset="0"/>
                <a:sym typeface="Wingdings" panose="05000000000000000000" pitchFamily="2" charset="2"/>
              </a:rPr>
              <a:t>       + </a:t>
            </a:r>
            <a:r>
              <a:rPr lang="es-ES" sz="1450" dirty="0" err="1">
                <a:cs typeface="Times New Roman" panose="02020603050405020304" pitchFamily="18" charset="0"/>
                <a:sym typeface="Wingdings" panose="05000000000000000000" pitchFamily="2" charset="2"/>
              </a:rPr>
              <a:t>Việc</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kiểm</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tra</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sửa</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chữa</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Tailcone</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muộn</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hơn</a:t>
            </a:r>
            <a:r>
              <a:rPr lang="es-ES" sz="1450" dirty="0">
                <a:cs typeface="Times New Roman" panose="02020603050405020304" pitchFamily="18" charset="0"/>
                <a:sym typeface="Wingdings" panose="05000000000000000000" pitchFamily="2" charset="2"/>
              </a:rPr>
              <a:t> KH </a:t>
            </a:r>
            <a:r>
              <a:rPr lang="es-ES" sz="1450" dirty="0" err="1">
                <a:cs typeface="Times New Roman" panose="02020603050405020304" pitchFamily="18" charset="0"/>
                <a:sym typeface="Wingdings" panose="05000000000000000000" pitchFamily="2" charset="2"/>
              </a:rPr>
              <a:t>ban</a:t>
            </a:r>
            <a:r>
              <a:rPr lang="es-ES" sz="1450" dirty="0">
                <a:cs typeface="Times New Roman" panose="02020603050405020304" pitchFamily="18" charset="0"/>
                <a:sym typeface="Wingdings" panose="05000000000000000000" pitchFamily="2" charset="2"/>
              </a:rPr>
              <a:t> </a:t>
            </a:r>
            <a:r>
              <a:rPr lang="es-ES" sz="1450" dirty="0" err="1">
                <a:cs typeface="Times New Roman" panose="02020603050405020304" pitchFamily="18" charset="0"/>
                <a:sym typeface="Wingdings" panose="05000000000000000000" pitchFamily="2" charset="2"/>
              </a:rPr>
              <a:t>đầu</a:t>
            </a:r>
            <a:r>
              <a:rPr lang="es-ES" sz="1450" dirty="0">
                <a:cs typeface="Times New Roman" panose="02020603050405020304" pitchFamily="18" charset="0"/>
                <a:sym typeface="Wingdings" panose="05000000000000000000" pitchFamily="2" charset="2"/>
              </a:rPr>
              <a:t>,</a:t>
            </a:r>
            <a:endParaRPr lang="en-US" sz="1450" dirty="0"/>
          </a:p>
          <a:p>
            <a:pPr marL="12700" indent="0" algn="just">
              <a:lnSpc>
                <a:spcPct val="100000"/>
              </a:lnSpc>
              <a:buSzPts val="1100"/>
              <a:buNone/>
            </a:pPr>
            <a:r>
              <a:rPr lang="en-US" sz="1450" dirty="0"/>
              <a:t>        + VAECO </a:t>
            </a:r>
            <a:r>
              <a:rPr lang="en-US" sz="1450" dirty="0" err="1"/>
              <a:t>đê</a:t>
            </a:r>
            <a:r>
              <a:rPr lang="en-US" sz="1450" dirty="0"/>
              <a:t>̀ </a:t>
            </a:r>
            <a:r>
              <a:rPr lang="en-US" sz="1450" dirty="0" err="1"/>
              <a:t>xuất</a:t>
            </a:r>
            <a:r>
              <a:rPr lang="en-US" sz="1450" dirty="0"/>
              <a:t> Airbus </a:t>
            </a:r>
            <a:r>
              <a:rPr lang="en-US" sz="1450" dirty="0" err="1"/>
              <a:t>cho</a:t>
            </a:r>
            <a:r>
              <a:rPr lang="en-US" sz="1450" dirty="0"/>
              <a:t> </a:t>
            </a:r>
            <a:r>
              <a:rPr lang="en-US" sz="1450" dirty="0" err="1"/>
              <a:t>phép</a:t>
            </a:r>
            <a:r>
              <a:rPr lang="en-US" sz="1450" dirty="0"/>
              <a:t> Local fabricate </a:t>
            </a:r>
            <a:r>
              <a:rPr lang="en-US" sz="1450" dirty="0" err="1"/>
              <a:t>bằng</a:t>
            </a:r>
            <a:r>
              <a:rPr lang="en-US" sz="1450" dirty="0"/>
              <a:t> Aluminum sheet (2024-T3, 0.6mm) </a:t>
            </a:r>
            <a:r>
              <a:rPr lang="en-US" sz="1450" dirty="0" err="1"/>
              <a:t>hoặc</a:t>
            </a:r>
            <a:r>
              <a:rPr lang="en-US" sz="1450" dirty="0"/>
              <a:t> trimming </a:t>
            </a:r>
            <a:r>
              <a:rPr lang="en-US" sz="1450" dirty="0" err="1"/>
              <a:t>tư</a:t>
            </a:r>
            <a:r>
              <a:rPr lang="en-US" sz="1450" dirty="0"/>
              <a:t>̀ Section D53585139219 = &gt; </a:t>
            </a:r>
            <a:r>
              <a:rPr lang="en-US" sz="1450" dirty="0" err="1"/>
              <a:t>Chơ</a:t>
            </a:r>
            <a:r>
              <a:rPr lang="en-US" sz="1450" dirty="0"/>
              <a:t>̀ Airbus Approve </a:t>
            </a:r>
            <a:r>
              <a:rPr lang="en-US" sz="1450" dirty="0" err="1"/>
              <a:t>phương</a:t>
            </a:r>
            <a:r>
              <a:rPr lang="en-US" sz="1450" dirty="0"/>
              <a:t> </a:t>
            </a:r>
            <a:r>
              <a:rPr lang="en-US" sz="1450" dirty="0" err="1"/>
              <a:t>án</a:t>
            </a:r>
            <a:r>
              <a:rPr lang="en-US" sz="1450" dirty="0"/>
              <a:t>, Đ/n KTMB </a:t>
            </a:r>
            <a:r>
              <a:rPr lang="en-US" sz="1450" dirty="0" err="1"/>
              <a:t>hô</a:t>
            </a:r>
            <a:r>
              <a:rPr lang="en-US" sz="1450" dirty="0"/>
              <a:t>̃ </a:t>
            </a:r>
            <a:r>
              <a:rPr lang="en-US" sz="1450" dirty="0" err="1"/>
              <a:t>trơ</a:t>
            </a:r>
            <a:r>
              <a:rPr lang="en-US" sz="1450" dirty="0"/>
              <a:t>̣ Push </a:t>
            </a:r>
            <a:r>
              <a:rPr lang="en-US" sz="1450" dirty="0" err="1"/>
              <a:t>thêm</a:t>
            </a:r>
            <a:r>
              <a:rPr lang="en-US" sz="1450" dirty="0"/>
              <a:t> Airbus.</a:t>
            </a:r>
          </a:p>
          <a:p>
            <a:pPr marL="12700" indent="0" algn="just">
              <a:lnSpc>
                <a:spcPct val="100000"/>
              </a:lnSpc>
              <a:buSzPts val="1100"/>
              <a:buNone/>
            </a:pPr>
            <a:r>
              <a:rPr lang="en-US" sz="1450" dirty="0"/>
              <a:t>  -   </a:t>
            </a:r>
            <a:r>
              <a:rPr lang="en-US" sz="1450" dirty="0" err="1"/>
              <a:t>Vật</a:t>
            </a:r>
            <a:r>
              <a:rPr lang="en-US" sz="1450" dirty="0"/>
              <a:t> </a:t>
            </a:r>
            <a:r>
              <a:rPr lang="en-US" sz="1450" dirty="0" err="1"/>
              <a:t>tư</a:t>
            </a:r>
            <a:r>
              <a:rPr lang="en-US" sz="1450" dirty="0"/>
              <a:t> HPV, P/N 6773F010000 </a:t>
            </a:r>
            <a:r>
              <a:rPr lang="en-US" sz="1450" dirty="0" err="1"/>
              <a:t>chưa</a:t>
            </a:r>
            <a:r>
              <a:rPr lang="en-US" sz="1450" dirty="0"/>
              <a:t> có </a:t>
            </a:r>
            <a:r>
              <a:rPr lang="en-US" sz="1450" dirty="0" err="1"/>
              <a:t>dư</a:t>
            </a:r>
            <a:r>
              <a:rPr lang="en-US" sz="1450" dirty="0"/>
              <a:t>̣ </a:t>
            </a:r>
            <a:r>
              <a:rPr lang="en-US" sz="1450" dirty="0" err="1"/>
              <a:t>kiến</a:t>
            </a:r>
            <a:r>
              <a:rPr lang="en-US" sz="1450" dirty="0"/>
              <a:t>, có </a:t>
            </a:r>
            <a:r>
              <a:rPr lang="en-US" sz="1450" dirty="0" err="1"/>
              <a:t>thê</a:t>
            </a:r>
            <a:r>
              <a:rPr lang="en-US" sz="1450" dirty="0"/>
              <a:t>̉ Rob.</a:t>
            </a:r>
          </a:p>
          <a:p>
            <a:pPr marL="12700" indent="0" algn="just">
              <a:lnSpc>
                <a:spcPct val="100000"/>
              </a:lnSpc>
              <a:buSzPts val="1100"/>
              <a:buNone/>
            </a:pPr>
            <a:r>
              <a:rPr lang="en-US" sz="1450" dirty="0"/>
              <a:t> -   </a:t>
            </a:r>
            <a:r>
              <a:rPr lang="en-US" sz="1450" dirty="0" err="1"/>
              <a:t>Các</a:t>
            </a:r>
            <a:r>
              <a:rPr lang="en-US" sz="1450" dirty="0"/>
              <a:t> </a:t>
            </a:r>
            <a:r>
              <a:rPr lang="en-US" sz="1450" dirty="0" err="1"/>
              <a:t>vật</a:t>
            </a:r>
            <a:r>
              <a:rPr lang="en-US" sz="1450" dirty="0"/>
              <a:t> </a:t>
            </a:r>
            <a:r>
              <a:rPr lang="en-US" sz="1450" dirty="0" err="1"/>
              <a:t>tư</a:t>
            </a:r>
            <a:r>
              <a:rPr lang="en-US" sz="1450" dirty="0"/>
              <a:t> Translating Sleeve, </a:t>
            </a:r>
            <a:r>
              <a:rPr lang="en-US" sz="1450" dirty="0" err="1"/>
              <a:t>Precooler</a:t>
            </a:r>
            <a:r>
              <a:rPr lang="en-US" sz="1450" dirty="0"/>
              <a:t>, Mixer Unit, </a:t>
            </a:r>
            <a:r>
              <a:rPr lang="en-US" sz="1450" dirty="0" err="1"/>
              <a:t>Difuser</a:t>
            </a:r>
            <a:r>
              <a:rPr lang="en-US" sz="1450" dirty="0"/>
              <a:t>, NLG Door Seal, Seal, Plug, Cable…. </a:t>
            </a:r>
            <a:r>
              <a:rPr lang="en-US" sz="1450" dirty="0" err="1"/>
              <a:t>cần</a:t>
            </a:r>
            <a:r>
              <a:rPr lang="en-US" sz="1450" dirty="0"/>
              <a:t> </a:t>
            </a:r>
            <a:r>
              <a:rPr lang="en-US" sz="1450" dirty="0" err="1"/>
              <a:t>vê</a:t>
            </a:r>
            <a:r>
              <a:rPr lang="en-US" sz="1450" dirty="0"/>
              <a:t>̀ </a:t>
            </a:r>
            <a:r>
              <a:rPr lang="en-US" sz="1450" dirty="0" err="1"/>
              <a:t>theo</a:t>
            </a:r>
            <a:r>
              <a:rPr lang="en-US" sz="1450" dirty="0"/>
              <a:t> </a:t>
            </a:r>
            <a:r>
              <a:rPr lang="en-US" sz="1450" dirty="0" err="1"/>
              <a:t>đúng</a:t>
            </a:r>
            <a:r>
              <a:rPr lang="en-US" sz="1450" dirty="0"/>
              <a:t> </a:t>
            </a:r>
            <a:r>
              <a:rPr lang="en-US" sz="1450" dirty="0" err="1"/>
              <a:t>kê</a:t>
            </a:r>
            <a:r>
              <a:rPr lang="en-US" sz="1450" dirty="0"/>
              <a:t>́ </a:t>
            </a:r>
            <a:r>
              <a:rPr lang="en-US" sz="1450" dirty="0" err="1"/>
              <a:t>hoạch</a:t>
            </a:r>
            <a:r>
              <a:rPr lang="en-US" sz="1450" dirty="0"/>
              <a:t> </a:t>
            </a:r>
            <a:r>
              <a:rPr lang="en-US" sz="1450" dirty="0" err="1"/>
              <a:t>tránh</a:t>
            </a:r>
            <a:r>
              <a:rPr lang="en-US" sz="1450" dirty="0"/>
              <a:t> </a:t>
            </a:r>
            <a:r>
              <a:rPr lang="en-US" sz="1450" dirty="0" err="1"/>
              <a:t>ảnh</a:t>
            </a:r>
            <a:r>
              <a:rPr lang="en-US" sz="1450" dirty="0"/>
              <a:t> </a:t>
            </a:r>
            <a:r>
              <a:rPr lang="en-US" sz="1450" dirty="0" err="1"/>
              <a:t>hưởng</a:t>
            </a:r>
            <a:r>
              <a:rPr lang="en-US" sz="1450" dirty="0"/>
              <a:t> </a:t>
            </a:r>
            <a:r>
              <a:rPr lang="en-US" sz="1450" dirty="0" err="1"/>
              <a:t>tiến</a:t>
            </a:r>
            <a:r>
              <a:rPr lang="en-US" sz="1450" dirty="0"/>
              <a:t> </a:t>
            </a:r>
            <a:r>
              <a:rPr lang="en-US" sz="1450" dirty="0" err="1"/>
              <a:t>đô</a:t>
            </a:r>
            <a:r>
              <a:rPr lang="en-US" sz="1450" dirty="0"/>
              <a:t>̣.</a:t>
            </a: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71317296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44</a:t>
            </a:fld>
            <a:endParaRPr dirty="0"/>
          </a:p>
        </p:txBody>
      </p:sp>
      <p:sp>
        <p:nvSpPr>
          <p:cNvPr id="76" name="Google Shape;76;p2"/>
          <p:cNvSpPr txBox="1">
            <a:spLocks noGrp="1"/>
          </p:cNvSpPr>
          <p:nvPr>
            <p:ph type="title"/>
          </p:nvPr>
        </p:nvSpPr>
        <p:spPr>
          <a:xfrm>
            <a:off x="685071" y="168249"/>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5" name="Google Shape;75;p2">
            <a:extLst>
              <a:ext uri="{FF2B5EF4-FFF2-40B4-BE49-F238E27FC236}">
                <a16:creationId xmlns:a16="http://schemas.microsoft.com/office/drawing/2014/main" id="{637BC1EA-95C9-6D4F-9E46-CF744FAC7800}"/>
              </a:ext>
            </a:extLst>
          </p:cNvPr>
          <p:cNvSpPr txBox="1">
            <a:spLocks/>
          </p:cNvSpPr>
          <p:nvPr/>
        </p:nvSpPr>
        <p:spPr>
          <a:xfrm>
            <a:off x="163789" y="625449"/>
            <a:ext cx="12028211" cy="6064302"/>
          </a:xfrm>
          <a:prstGeom prst="rect">
            <a:avLst/>
          </a:prstGeom>
          <a:noFill/>
          <a:ln>
            <a:noFill/>
          </a:ln>
        </p:spPr>
        <p:txBody>
          <a:bodyPr spcFirstLastPara="1" wrap="square" lIns="91425" tIns="45700" rIns="91425" bIns="457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Clr>
                <a:schemeClr val="dk1"/>
              </a:buClr>
              <a:buSzPts val="1100"/>
              <a:buNone/>
            </a:pPr>
            <a:r>
              <a:rPr lang="en-US" sz="1600" b="1" dirty="0">
                <a:solidFill>
                  <a:srgbClr val="FF0000"/>
                </a:solidFill>
                <a:cs typeface="Times New Roman" panose="02020603050405020304" pitchFamily="18" charset="0"/>
                <a:sym typeface="Wingdings" panose="05000000000000000000" pitchFamily="2" charset="2"/>
              </a:rPr>
              <a:t>2. A501_HAN_EC06+EC01+C03+Y06+EA04-EA10_27/11-28/02: Est Release 10/04.</a:t>
            </a:r>
          </a:p>
          <a:p>
            <a:pPr marL="12700" indent="0" algn="just">
              <a:spcBef>
                <a:spcPts val="0"/>
              </a:spcBef>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Thiếu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vật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tư</a:t>
            </a:r>
            <a:r>
              <a:rPr lang="en-US" sz="1600" dirty="0">
                <a:cs typeface="Times New Roman" panose="02020603050405020304" pitchFamily="18" charset="0"/>
                <a:sym typeface="Wingdings" panose="05000000000000000000" pitchFamily="2" charset="2"/>
              </a:rPr>
              <a:t> </a:t>
            </a:r>
            <a:r>
              <a:rPr lang="en-US" sz="1500" dirty="0">
                <a:cs typeface="Times New Roman" panose="02020603050405020304" pitchFamily="18" charset="0"/>
                <a:sym typeface="Wingdings" panose="05000000000000000000" pitchFamily="2" charset="2"/>
              </a:rPr>
              <a:t>Pipe </a:t>
            </a:r>
            <a:r>
              <a:rPr lang="en-US" sz="1500" dirty="0" err="1">
                <a:cs typeface="Times New Roman" panose="02020603050405020304" pitchFamily="18" charset="0"/>
                <a:sym typeface="Wingdings" panose="05000000000000000000" pitchFamily="2" charset="2"/>
              </a:rPr>
              <a:t>Assy</a:t>
            </a:r>
            <a:r>
              <a:rPr lang="en-US" sz="1500" dirty="0">
                <a:cs typeface="Times New Roman" panose="02020603050405020304" pitchFamily="18" charset="0"/>
                <a:sym typeface="Wingdings" panose="05000000000000000000" pitchFamily="2" charset="2"/>
              </a:rPr>
              <a:t>: D3231026500000; Flap: D2511168700000; Can-Rain Repellent </a:t>
            </a:r>
            <a:r>
              <a:rPr lang="en-US" sz="1500" dirty="0" err="1">
                <a:cs typeface="Times New Roman" panose="02020603050405020304" pitchFamily="18" charset="0"/>
                <a:sym typeface="Wingdings" panose="05000000000000000000" pitchFamily="2" charset="2"/>
              </a:rPr>
              <a:t>Fld</a:t>
            </a:r>
            <a:r>
              <a:rPr lang="en-US" sz="1500" dirty="0">
                <a:cs typeface="Times New Roman" panose="02020603050405020304" pitchFamily="18" charset="0"/>
                <a:sym typeface="Wingdings" panose="05000000000000000000" pitchFamily="2" charset="2"/>
              </a:rPr>
              <a:t>: 402Q80-1; Isolation Valve: 4063-18221; 02 Starter Duct: 5321614-01; Air </a:t>
            </a:r>
            <a:r>
              <a:rPr lang="en-US" sz="1500" dirty="0" err="1">
                <a:cs typeface="Times New Roman" panose="02020603050405020304" pitchFamily="18" charset="0"/>
                <a:sym typeface="Wingdings" panose="05000000000000000000" pitchFamily="2" charset="2"/>
              </a:rPr>
              <a:t>ComprESSOR</a:t>
            </a:r>
            <a:r>
              <a:rPr lang="en-US" sz="1500" dirty="0">
                <a:cs typeface="Times New Roman" panose="02020603050405020304" pitchFamily="18" charset="0"/>
                <a:sym typeface="Wingdings" panose="05000000000000000000" pitchFamily="2" charset="2"/>
              </a:rPr>
              <a:t>: 8378M12; Pressure Regulator: RCF6717.</a:t>
            </a:r>
          </a:p>
          <a:p>
            <a:pPr marL="12700" indent="0" algn="just">
              <a:spcBef>
                <a:spcPts val="0"/>
              </a:spcBef>
              <a:buSzPts val="1100"/>
              <a:buNone/>
            </a:pPr>
            <a:r>
              <a:rPr lang="en-US" sz="1600" b="1" dirty="0">
                <a:solidFill>
                  <a:srgbClr val="FF0000"/>
                </a:solidFill>
                <a:cs typeface="Times New Roman" panose="02020603050405020304" pitchFamily="18" charset="0"/>
                <a:sym typeface="Wingdings" panose="05000000000000000000" pitchFamily="2" charset="2"/>
              </a:rPr>
              <a:t>    </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thay</a:t>
            </a:r>
            <a:r>
              <a:rPr lang="en-US" sz="1600" dirty="0">
                <a:cs typeface="Times New Roman" panose="02020603050405020304" pitchFamily="18" charset="0"/>
                <a:sym typeface="Wingdings" panose="05000000000000000000" pitchFamily="2" charset="2"/>
              </a:rPr>
              <a:t> 02 ENG, ENG#2 </a:t>
            </a:r>
            <a:r>
              <a:rPr lang="en-US" sz="1600" dirty="0" err="1">
                <a:cs typeface="Times New Roman" panose="02020603050405020304" pitchFamily="18" charset="0"/>
                <a:sym typeface="Wingdings" panose="05000000000000000000" pitchFamily="2" charset="2"/>
              </a:rPr>
              <a:t>dư</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kiến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muộn</a:t>
            </a:r>
            <a:r>
              <a:rPr lang="en-US" sz="1600" dirty="0">
                <a:cs typeface="Times New Roman" panose="02020603050405020304" pitchFamily="18" charset="0"/>
                <a:sym typeface="Wingdings" panose="05000000000000000000" pitchFamily="2" charset="2"/>
              </a:rPr>
              <a:t> ( Est </a:t>
            </a:r>
            <a:r>
              <a:rPr lang="en-US" sz="1600">
                <a:cs typeface="Times New Roman" panose="02020603050405020304" pitchFamily="18" charset="0"/>
                <a:sym typeface="Wingdings" panose="05000000000000000000" pitchFamily="2" charset="2"/>
              </a:rPr>
              <a:t>07/04)+  </a:t>
            </a:r>
            <a:r>
              <a:rPr lang="en-US" sz="1600" dirty="0" err="1">
                <a:cs typeface="Times New Roman" panose="02020603050405020304" pitchFamily="18" charset="0"/>
                <a:sym typeface="Wingdings" panose="05000000000000000000" pitchFamily="2" charset="2"/>
              </a:rPr>
              <a:t>Cần</a:t>
            </a:r>
            <a:r>
              <a:rPr lang="en-US" sz="1600" dirty="0">
                <a:cs typeface="Times New Roman" panose="02020603050405020304" pitchFamily="18" charset="0"/>
                <a:sym typeface="Wingdings" panose="05000000000000000000" pitchFamily="2" charset="2"/>
              </a:rPr>
              <a:t> flight Test </a:t>
            </a:r>
            <a:r>
              <a:rPr lang="en-US" sz="1600" dirty="0" err="1">
                <a:cs typeface="Times New Roman" panose="02020603050405020304" pitchFamily="18" charset="0"/>
                <a:sym typeface="Wingdings" panose="05000000000000000000" pitchFamily="2" charset="2"/>
              </a:rPr>
              <a:t>sau</a:t>
            </a:r>
            <a:r>
              <a:rPr lang="en-US" sz="1600" dirty="0">
                <a:cs typeface="Times New Roman" panose="02020603050405020304" pitchFamily="18" charset="0"/>
                <a:sym typeface="Wingdings" panose="05000000000000000000" pitchFamily="2" charset="2"/>
              </a:rPr>
              <a:t> Check</a:t>
            </a:r>
          </a:p>
          <a:p>
            <a:pPr marL="12700" indent="0" algn="just">
              <a:lnSpc>
                <a:spcPct val="100000"/>
              </a:lnSpc>
              <a:spcBef>
                <a:spcPts val="0"/>
              </a:spcBef>
              <a:buSzPts val="1100"/>
              <a:buNone/>
            </a:pPr>
            <a:r>
              <a:rPr lang="en-US" sz="1600" dirty="0">
                <a:cs typeface="Times New Roman" panose="02020603050405020304" pitchFamily="18" charset="0"/>
                <a:sym typeface="Wingdings" panose="05000000000000000000" pitchFamily="2" charset="2"/>
              </a:rPr>
              <a:t>    -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kéo</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ra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ngoài</a:t>
            </a:r>
            <a:r>
              <a:rPr lang="en-US" sz="1600" dirty="0">
                <a:cs typeface="Times New Roman" panose="02020603050405020304" pitchFamily="18" charset="0"/>
                <a:sym typeface="Wingdings" panose="05000000000000000000" pitchFamily="2" charset="2"/>
              </a:rPr>
              <a:t> Hangar </a:t>
            </a:r>
            <a:r>
              <a:rPr lang="en-US" sz="1600" dirty="0" err="1">
                <a:cs typeface="Times New Roman" panose="02020603050405020304" pitchFamily="18" charset="0"/>
                <a:sym typeface="Wingdings" panose="05000000000000000000" pitchFamily="2" charset="2"/>
              </a:rPr>
              <a:t>tiếp</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tục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làm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Maint</a:t>
            </a:r>
            <a:r>
              <a:rPr lang="en-US" sz="1600" dirty="0">
                <a:cs typeface="Times New Roman" panose="02020603050405020304" pitchFamily="18" charset="0"/>
                <a:sym typeface="Wingdings" panose="05000000000000000000" pitchFamily="2" charset="2"/>
              </a:rPr>
              <a:t> = &gt; Đ/n VAECO có </a:t>
            </a:r>
            <a:r>
              <a:rPr lang="en-US" sz="1600" dirty="0" err="1">
                <a:cs typeface="Times New Roman" panose="02020603050405020304" pitchFamily="18" charset="0"/>
                <a:sym typeface="Wingdings" panose="05000000000000000000" pitchFamily="2" charset="2"/>
              </a:rPr>
              <a:t>phương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bịt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bọc</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hạn</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chê</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tối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đa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ảnh</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hưởng</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của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thời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tiết</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mưa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ẩm</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tới</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va</a:t>
            </a:r>
            <a:r>
              <a:rPr lang="en-US" sz="1600" dirty="0">
                <a:cs typeface="Times New Roman" panose="02020603050405020304" pitchFamily="18" charset="0"/>
                <a:sym typeface="Wingdings" panose="05000000000000000000" pitchFamily="2" charset="2"/>
              </a:rPr>
              <a:t>̀ </a:t>
            </a:r>
            <a:r>
              <a:rPr lang="en-US" sz="1600" dirty="0" err="1">
                <a:cs typeface="Times New Roman" panose="02020603050405020304" pitchFamily="18" charset="0"/>
                <a:sym typeface="Wingdings" panose="05000000000000000000" pitchFamily="2" charset="2"/>
              </a:rPr>
              <a:t>thiết</a:t>
            </a:r>
            <a:r>
              <a:rPr lang="en-US" sz="1600" dirty="0">
                <a:cs typeface="Times New Roman" panose="02020603050405020304" pitchFamily="18" charset="0"/>
                <a:sym typeface="Wingdings" panose="05000000000000000000" pitchFamily="2" charset="2"/>
              </a:rPr>
              <a:t> bị </a:t>
            </a:r>
            <a:r>
              <a:rPr lang="en-US" sz="1600" dirty="0" err="1">
                <a:cs typeface="Times New Roman" panose="02020603050405020304" pitchFamily="18" charset="0"/>
                <a:sym typeface="Wingdings" panose="05000000000000000000" pitchFamily="2" charset="2"/>
              </a:rPr>
              <a:t>tàu</a:t>
            </a:r>
            <a:r>
              <a:rPr lang="en-US" sz="1600" dirty="0">
                <a:cs typeface="Times New Roman" panose="02020603050405020304" pitchFamily="18" charset="0"/>
                <a:sym typeface="Wingdings" panose="05000000000000000000" pitchFamily="2" charset="2"/>
              </a:rPr>
              <a:t> </a:t>
            </a:r>
            <a:r>
              <a:rPr lang="en-US" sz="1600">
                <a:cs typeface="Times New Roman" panose="02020603050405020304" pitchFamily="18" charset="0"/>
                <a:sym typeface="Wingdings" panose="05000000000000000000" pitchFamily="2" charset="2"/>
              </a:rPr>
              <a:t>bay.</a:t>
            </a:r>
            <a:endParaRPr lang="en-US" sz="1600" dirty="0">
              <a:cs typeface="Times New Roman" panose="02020603050405020304" pitchFamily="18" charset="0"/>
              <a:sym typeface="Wingdings" panose="05000000000000000000" pitchFamily="2" charset="2"/>
            </a:endParaRPr>
          </a:p>
          <a:p>
            <a:pPr marL="12700" indent="0">
              <a:lnSpc>
                <a:spcPct val="120000"/>
              </a:lnSpc>
              <a:buSzPts val="1100"/>
              <a:buNone/>
            </a:pPr>
            <a:r>
              <a:rPr lang="en-US" sz="1600" b="1" dirty="0">
                <a:cs typeface="Times New Roman" panose="02020603050405020304" pitchFamily="18" charset="0"/>
              </a:rPr>
              <a:t>II. A350</a:t>
            </a:r>
            <a:r>
              <a:rPr lang="en-US" sz="1600" b="1">
                <a:cs typeface="Times New Roman" panose="02020603050405020304" pitchFamily="18" charset="0"/>
              </a:rPr>
              <a:t>:</a:t>
            </a:r>
            <a:r>
              <a:rPr lang="es-ES" sz="1600" i="1">
                <a:cs typeface="Times New Roman" panose="02020603050405020304" pitchFamily="18" charset="0"/>
                <a:sym typeface="Wingdings" panose="05000000000000000000" pitchFamily="2" charset="2"/>
              </a:rPr>
              <a:t> </a:t>
            </a:r>
            <a:r>
              <a:rPr lang="en-US" sz="1600" b="1">
                <a:solidFill>
                  <a:srgbClr val="FF0000"/>
                </a:solidFill>
                <a:cs typeface="Times New Roman" panose="02020603050405020304" pitchFamily="18" charset="0"/>
                <a:sym typeface="Wingdings" panose="05000000000000000000" pitchFamily="2" charset="2"/>
              </a:rPr>
              <a:t>Nil</a:t>
            </a:r>
          </a:p>
          <a:p>
            <a:pPr marL="12700" indent="0">
              <a:lnSpc>
                <a:spcPct val="120000"/>
              </a:lnSpc>
              <a:spcBef>
                <a:spcPts val="600"/>
              </a:spcBef>
              <a:buSzPts val="1100"/>
              <a:buFont typeface="Arial" panose="020B0604020202020204" pitchFamily="34" charset="0"/>
              <a:buNone/>
            </a:pPr>
            <a:r>
              <a:rPr lang="es-ES" sz="1600" b="1">
                <a:cs typeface="Times New Roman" panose="02020603050405020304" pitchFamily="18" charset="0"/>
                <a:sym typeface="Wingdings" panose="05000000000000000000" pitchFamily="2" charset="2"/>
              </a:rPr>
              <a:t>II</a:t>
            </a:r>
            <a:r>
              <a:rPr lang="en-US" sz="1600" b="1">
                <a:cs typeface="Times New Roman" panose="02020603050405020304" pitchFamily="18" charset="0"/>
              </a:rPr>
              <a:t>I. B787: </a:t>
            </a:r>
          </a:p>
          <a:p>
            <a:pPr marL="12700" indent="0">
              <a:lnSpc>
                <a:spcPct val="120000"/>
              </a:lnSpc>
              <a:spcBef>
                <a:spcPts val="600"/>
              </a:spcBef>
              <a:buSzPts val="1100"/>
              <a:buNone/>
            </a:pPr>
            <a:r>
              <a:rPr lang="es-ES" sz="1600" b="1">
                <a:solidFill>
                  <a:srgbClr val="FF0000"/>
                </a:solidFill>
                <a:cs typeface="Times New Roman" panose="02020603050405020304" pitchFamily="18" charset="0"/>
                <a:sym typeface="Wingdings" panose="05000000000000000000" pitchFamily="2" charset="2"/>
              </a:rPr>
              <a:t>1.  A870_SGN_WING PAINTING+ENGCHG_27/02-11/03: On sked</a:t>
            </a:r>
          </a:p>
          <a:p>
            <a:pPr marL="12700" indent="0">
              <a:lnSpc>
                <a:spcPct val="120000"/>
              </a:lnSpc>
              <a:spcBef>
                <a:spcPts val="600"/>
              </a:spcBef>
              <a:buSzPts val="1100"/>
              <a:buNone/>
            </a:pPr>
            <a:r>
              <a:rPr lang="es-ES" sz="1600" b="1">
                <a:solidFill>
                  <a:srgbClr val="FF0000"/>
                </a:solidFill>
                <a:cs typeface="Times New Roman" panose="02020603050405020304" pitchFamily="18" charset="0"/>
                <a:sym typeface="Wingdings" panose="05000000000000000000" pitchFamily="2" charset="2"/>
              </a:rPr>
              <a:t>2. A863_SGN_</a:t>
            </a:r>
            <a:r>
              <a:rPr lang="en-US" sz="1600" b="1">
                <a:solidFill>
                  <a:srgbClr val="FF0000"/>
                </a:solidFill>
                <a:cs typeface="Times New Roman" panose="02020603050405020304" pitchFamily="18" charset="0"/>
                <a:sym typeface="Wingdings" panose="05000000000000000000" pitchFamily="2" charset="2"/>
              </a:rPr>
              <a:t>ENGCHG (02/03-05/03): Est ext to 07/3</a:t>
            </a:r>
          </a:p>
          <a:p>
            <a:pPr marL="12700" indent="0">
              <a:lnSpc>
                <a:spcPct val="100000"/>
              </a:lnSpc>
              <a:spcBef>
                <a:spcPts val="0"/>
              </a:spcBef>
              <a:buSzPts val="1100"/>
              <a:buNone/>
            </a:pPr>
            <a:r>
              <a:rPr lang="es-ES" sz="1600" b="1">
                <a:cs typeface="Times New Roman" panose="02020603050405020304" pitchFamily="18" charset="0"/>
                <a:sym typeface="Wingdings" panose="05000000000000000000" pitchFamily="2" charset="2"/>
              </a:rPr>
              <a:t>      - </a:t>
            </a:r>
            <a:r>
              <a:rPr lang="es-ES" sz="1600">
                <a:cs typeface="Times New Roman" panose="02020603050405020304" pitchFamily="18" charset="0"/>
                <a:sym typeface="Wingdings" panose="05000000000000000000" pitchFamily="2" charset="2"/>
              </a:rPr>
              <a:t>Tháo ENG S/N 956818 từ A863, chờ lắp cho A870,</a:t>
            </a:r>
          </a:p>
          <a:p>
            <a:pPr marL="12700" indent="0">
              <a:lnSpc>
                <a:spcPct val="100000"/>
              </a:lnSpc>
              <a:spcBef>
                <a:spcPts val="0"/>
              </a:spcBef>
              <a:buSzPts val="1100"/>
              <a:buNone/>
            </a:pPr>
            <a:r>
              <a:rPr lang="es-ES" sz="1600">
                <a:cs typeface="Times New Roman" panose="02020603050405020304" pitchFamily="18" charset="0"/>
                <a:sym typeface="Wingdings" panose="05000000000000000000" pitchFamily="2" charset="2"/>
              </a:rPr>
              <a:t>      - Lắp ENG S/N 958537 từ shop về cho A863,</a:t>
            </a:r>
          </a:p>
          <a:p>
            <a:pPr marL="12700" indent="0">
              <a:lnSpc>
                <a:spcPct val="100000"/>
              </a:lnSpc>
              <a:spcBef>
                <a:spcPts val="0"/>
              </a:spcBef>
              <a:buSzPts val="1100"/>
              <a:buNone/>
            </a:pPr>
            <a:r>
              <a:rPr lang="es-ES" sz="1600" b="1">
                <a:cs typeface="Times New Roman" panose="02020603050405020304" pitchFamily="18" charset="0"/>
                <a:sym typeface="Wingdings" panose="05000000000000000000" pitchFamily="2" charset="2"/>
              </a:rPr>
              <a:t>      </a:t>
            </a:r>
            <a:r>
              <a:rPr lang="es-ES" sz="1600">
                <a:cs typeface="Times New Roman" panose="02020603050405020304" pitchFamily="18" charset="0"/>
                <a:sym typeface="Wingdings" panose="05000000000000000000" pitchFamily="2" charset="2"/>
              </a:rPr>
              <a:t>- ADD B1664: DEFUEL ISOLATION VAVLE, hạn 05/03/2025: Cần thay Defuel Valve.</a:t>
            </a:r>
          </a:p>
          <a:p>
            <a:pPr marL="12700" indent="0">
              <a:lnSpc>
                <a:spcPct val="100000"/>
              </a:lnSpc>
              <a:spcBef>
                <a:spcPts val="0"/>
              </a:spcBef>
              <a:buSzPts val="1100"/>
              <a:buNone/>
            </a:pPr>
            <a:r>
              <a:rPr lang="es-ES" sz="1600">
                <a:cs typeface="Times New Roman" panose="02020603050405020304" pitchFamily="18" charset="0"/>
                <a:sym typeface="Wingdings" panose="05000000000000000000" pitchFamily="2" charset="2"/>
              </a:rPr>
              <a:t>          + ADD y/c verify Cross Feed Vavle trước mỗi chuyến bay.</a:t>
            </a:r>
          </a:p>
          <a:p>
            <a:pPr marL="12700" indent="0">
              <a:lnSpc>
                <a:spcPct val="100000"/>
              </a:lnSpc>
              <a:spcBef>
                <a:spcPts val="0"/>
              </a:spcBef>
              <a:buSzPts val="1100"/>
              <a:buNone/>
            </a:pPr>
            <a:r>
              <a:rPr lang="es-ES" sz="1600">
                <a:cs typeface="Times New Roman" panose="02020603050405020304" pitchFamily="18" charset="0"/>
                <a:sym typeface="Wingdings" panose="05000000000000000000" pitchFamily="2" charset="2"/>
              </a:rPr>
              <a:t>          + Để tránh kéo dài TAT nhiều nếu làm lẻ, cần CLR ADD kết hợp Check ENGCHG để tận dụng thông thoáng thùng dầu, VAECO dự kiến cần 96 tiếng để thông thoáng.  </a:t>
            </a:r>
          </a:p>
          <a:p>
            <a:pPr marL="12700" indent="0">
              <a:lnSpc>
                <a:spcPct val="100000"/>
              </a:lnSpc>
              <a:spcBef>
                <a:spcPts val="0"/>
              </a:spcBef>
              <a:buSzPts val="1100"/>
              <a:buNone/>
            </a:pPr>
            <a:r>
              <a:rPr lang="es-ES" sz="1600">
                <a:cs typeface="Times New Roman" panose="02020603050405020304" pitchFamily="18" charset="0"/>
                <a:sym typeface="Wingdings" panose="05000000000000000000" pitchFamily="2" charset="2"/>
              </a:rPr>
              <a:t>          + Thiếu VTư AR: </a:t>
            </a:r>
            <a:r>
              <a:rPr lang="en-US" sz="1600">
                <a:cs typeface="Times New Roman" panose="02020603050405020304" pitchFamily="18" charset="0"/>
                <a:sym typeface="Wingdings" panose="05000000000000000000" pitchFamily="2" charset="2"/>
              </a:rPr>
              <a:t>C00767 BMS10-21 Type III, C50476 BMS10-20 Type II. Bolt : HL448UC8-11.</a:t>
            </a:r>
            <a:endParaRPr lang="es-ES" sz="1600">
              <a:cs typeface="Times New Roman" panose="02020603050405020304" pitchFamily="18" charset="0"/>
              <a:sym typeface="Wingdings" panose="05000000000000000000" pitchFamily="2" charset="2"/>
            </a:endParaRPr>
          </a:p>
          <a:p>
            <a:pPr marL="12700" indent="0">
              <a:lnSpc>
                <a:spcPct val="100000"/>
              </a:lnSpc>
              <a:spcBef>
                <a:spcPts val="0"/>
              </a:spcBef>
              <a:buSzPts val="1100"/>
              <a:buNone/>
            </a:pPr>
            <a:r>
              <a:rPr lang="es-ES" sz="1600">
                <a:cs typeface="Times New Roman" panose="02020603050405020304" pitchFamily="18" charset="0"/>
                <a:sym typeface="Wingdings" panose="05000000000000000000" pitchFamily="2" charset="2"/>
              </a:rPr>
              <a:t> = &gt; Đ/n VAECO tìm phương án đẩy nhanh việc thông thoáng thùng dầu, hạn chế tối đa kéo dài Check. Đồng thời cung ứng đủ vật tư để có thể thực hiện CLR ADD Trong check này.</a:t>
            </a:r>
          </a:p>
          <a:p>
            <a:pPr marL="12700" indent="0" algn="just">
              <a:buSzPts val="1100"/>
              <a:buFont typeface="Arial" panose="020B0604020202020204" pitchFamily="34" charset="0"/>
              <a:buNone/>
            </a:pPr>
            <a:r>
              <a:rPr lang="es-ES" sz="1600" b="1">
                <a:cs typeface="Times New Roman" panose="02020603050405020304" pitchFamily="18" charset="0"/>
                <a:sym typeface="Wingdings" panose="05000000000000000000" pitchFamily="2" charset="2"/>
              </a:rPr>
              <a:t>IV. ATR72</a:t>
            </a:r>
          </a:p>
          <a:p>
            <a:pPr marL="12700" indent="0" algn="just">
              <a:buSzPts val="1100"/>
              <a:buFont typeface="Arial" panose="020B0604020202020204" pitchFamily="34" charset="0"/>
              <a:buNone/>
            </a:pPr>
            <a:r>
              <a:rPr lang="es-ES" sz="1600" b="1">
                <a:solidFill>
                  <a:srgbClr val="FF0000"/>
                </a:solidFill>
                <a:cs typeface="Times New Roman" panose="02020603050405020304" pitchFamily="18" charset="0"/>
                <a:sym typeface="Wingdings" panose="05000000000000000000" pitchFamily="2" charset="2"/>
              </a:rPr>
              <a:t>Nil</a:t>
            </a:r>
          </a:p>
          <a:p>
            <a:pPr marL="12700" indent="0" algn="just">
              <a:buSzPts val="1100"/>
              <a:buNone/>
            </a:pPr>
            <a:endParaRPr lang="en-US" sz="1600" b="1" dirty="0">
              <a:solidFill>
                <a:srgbClr val="FF0000"/>
              </a:solidFill>
              <a:cs typeface="Times New Roman" panose="02020603050405020304" pitchFamily="18" charset="0"/>
              <a:sym typeface="Wingdings" panose="05000000000000000000" pitchFamily="2" charset="2"/>
            </a:endParaRPr>
          </a:p>
          <a:p>
            <a:pPr marL="12700" indent="0" algn="just">
              <a:buSzPts val="1100"/>
              <a:buNone/>
            </a:pPr>
            <a:endParaRPr lang="es-ES" sz="1600" dirty="0">
              <a:cs typeface="Times New Roman" panose="02020603050405020304" pitchFamily="18" charset="0"/>
              <a:sym typeface="Wingdings" panose="05000000000000000000" pitchFamily="2" charset="2"/>
            </a:endParaRPr>
          </a:p>
        </p:txBody>
      </p:sp>
    </p:spTree>
    <p:extLst>
      <p:ext uri="{BB962C8B-B14F-4D97-AF65-F5344CB8AC3E}">
        <p14:creationId xmlns:p14="http://schemas.microsoft.com/office/powerpoint/2010/main" val="26704976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7" name="Google Shape;77;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D2A43B"/>
              </a:buClr>
              <a:buSzPts val="1200"/>
              <a:buFont typeface="Montserrat"/>
              <a:buNone/>
            </a:pPr>
            <a:fld id="{00000000-1234-1234-1234-123412341234}" type="slidenum">
              <a:rPr lang="en-US"/>
              <a:t>45</a:t>
            </a:fld>
            <a:endParaRPr dirty="0"/>
          </a:p>
        </p:txBody>
      </p:sp>
      <p:sp>
        <p:nvSpPr>
          <p:cNvPr id="76" name="Google Shape;76;p2"/>
          <p:cNvSpPr txBox="1">
            <a:spLocks noGrp="1"/>
          </p:cNvSpPr>
          <p:nvPr>
            <p:ph type="title"/>
          </p:nvPr>
        </p:nvSpPr>
        <p:spPr>
          <a:xfrm>
            <a:off x="918210" y="404625"/>
            <a:ext cx="9777833" cy="4572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sz="2400" b="1" dirty="0">
                <a:solidFill>
                  <a:srgbClr val="FFC000"/>
                </a:solidFill>
                <a:latin typeface="Times New Roman" panose="02020603050405020304" pitchFamily="18" charset="0"/>
                <a:cs typeface="Times New Roman" panose="02020603050405020304" pitchFamily="18" charset="0"/>
              </a:rPr>
              <a:t>CÁC TÀU BQDB VÀ ĐANG TRONG BẢO DƯỠNG ĐỊNH KỲ (BD</a:t>
            </a:r>
            <a:r>
              <a:rPr lang="en-US" sz="2400" dirty="0">
                <a:solidFill>
                  <a:srgbClr val="FFC000"/>
                </a:solidFill>
                <a:latin typeface="Times New Roman" panose="02020603050405020304" pitchFamily="18" charset="0"/>
                <a:cs typeface="Times New Roman" panose="02020603050405020304" pitchFamily="18" charset="0"/>
              </a:rPr>
              <a:t>Đ</a:t>
            </a:r>
            <a:r>
              <a:rPr lang="en-US" sz="2400" b="1" dirty="0">
                <a:solidFill>
                  <a:srgbClr val="FFC000"/>
                </a:solidFill>
                <a:latin typeface="Times New Roman" panose="02020603050405020304" pitchFamily="18" charset="0"/>
                <a:cs typeface="Times New Roman" panose="02020603050405020304" pitchFamily="18" charset="0"/>
              </a:rPr>
              <a:t>K)</a:t>
            </a:r>
            <a:endParaRPr sz="2400" b="0" dirty="0">
              <a:solidFill>
                <a:srgbClr val="FFC000"/>
              </a:solidFill>
              <a:latin typeface="Times New Roman" panose="02020603050405020304" pitchFamily="18" charset="0"/>
              <a:cs typeface="Times New Roman" panose="02020603050405020304" pitchFamily="18" charset="0"/>
            </a:endParaRPr>
          </a:p>
        </p:txBody>
      </p:sp>
      <p:sp>
        <p:nvSpPr>
          <p:cNvPr id="4" name="Text Placeholder 1">
            <a:extLst>
              <a:ext uri="{FF2B5EF4-FFF2-40B4-BE49-F238E27FC236}">
                <a16:creationId xmlns:a16="http://schemas.microsoft.com/office/drawing/2014/main" id="{B9199712-3F74-CE43-A89F-22D9CF338BBE}"/>
              </a:ext>
            </a:extLst>
          </p:cNvPr>
          <p:cNvSpPr txBox="1">
            <a:spLocks/>
          </p:cNvSpPr>
          <p:nvPr/>
        </p:nvSpPr>
        <p:spPr>
          <a:xfrm>
            <a:off x="762000" y="990600"/>
            <a:ext cx="10534609" cy="5623048"/>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Times New Roman" panose="02020603050405020304"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2700" indent="0" algn="just">
              <a:buSzPts val="1100"/>
              <a:buFont typeface="Arial" panose="020B0604020202020204" pitchFamily="34" charset="0"/>
              <a:buNone/>
            </a:pPr>
            <a:r>
              <a:rPr lang="es-ES" sz="1600" b="1" dirty="0">
                <a:cs typeface="Times New Roman" panose="02020603050405020304" pitchFamily="18" charset="0"/>
                <a:sym typeface="Wingdings" panose="05000000000000000000" pitchFamily="2" charset="2"/>
              </a:rPr>
              <a:t>V. BQDB:</a:t>
            </a:r>
          </a:p>
          <a:p>
            <a:pPr marL="12700" indent="0" algn="just">
              <a:buSzPts val="1100"/>
              <a:buNone/>
            </a:pPr>
            <a:r>
              <a:rPr lang="es-ES" sz="1600" b="1" dirty="0">
                <a:cs typeface="Times New Roman" panose="02020603050405020304" pitchFamily="18" charset="0"/>
                <a:sym typeface="Wingdings" panose="05000000000000000000" pitchFamily="2" charset="2"/>
              </a:rPr>
              <a:t>1. </a:t>
            </a:r>
            <a:r>
              <a:rPr lang="es-ES" sz="1600" b="1" dirty="0" err="1">
                <a:cs typeface="Times New Roman" panose="02020603050405020304" pitchFamily="18" charset="0"/>
                <a:sym typeface="Wingdings" panose="05000000000000000000" pitchFamily="2" charset="2"/>
              </a:rPr>
              <a:t>Tăng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cường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ra</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soát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cập</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nhật</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công</a:t>
            </a:r>
            <a:r>
              <a:rPr lang="es-ES" sz="1600" b="1" dirty="0">
                <a:cs typeface="Times New Roman" panose="02020603050405020304" pitchFamily="18" charset="0"/>
                <a:sym typeface="Wingdings" panose="05000000000000000000" pitchFamily="2" charset="2"/>
              </a:rPr>
              <a:t> </a:t>
            </a:r>
            <a:r>
              <a:rPr lang="es-ES" sz="1600" b="1" dirty="0" err="1">
                <a:cs typeface="Times New Roman" panose="02020603050405020304" pitchFamily="18" charset="0"/>
                <a:sym typeface="Wingdings" panose="05000000000000000000" pitchFamily="2" charset="2"/>
              </a:rPr>
              <a:t>tác</a:t>
            </a:r>
            <a:r>
              <a:rPr lang="es-ES" sz="1600" b="1" dirty="0">
                <a:cs typeface="Times New Roman" panose="02020603050405020304" pitchFamily="18" charset="0"/>
                <a:sym typeface="Wingdings" panose="05000000000000000000" pitchFamily="2" charset="2"/>
              </a:rPr>
              <a:t> BQDB: </a:t>
            </a:r>
          </a:p>
          <a:p>
            <a:pPr marL="12700" indent="0" algn="just">
              <a:buSzPts val="1100"/>
              <a:buNone/>
            </a:pP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nay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Bắc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đang</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nồm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mạnh</a:t>
            </a:r>
            <a:r>
              <a:rPr lang="es-ES" sz="1600" dirty="0">
                <a:cs typeface="Times New Roman" panose="02020603050405020304" pitchFamily="18" charset="0"/>
                <a:sym typeface="Wingdings" panose="05000000000000000000" pitchFamily="2" charset="2"/>
              </a:rPr>
              <a:t> = &gt; Đ/n VAECO: </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Thường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xuyên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soát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kiểm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tình</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trạng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hạn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nước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bẩn</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co</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gây</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ra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ăn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mòn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hóc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thiết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bi</a:t>
            </a:r>
            <a:r>
              <a:rPr lang="es-ES" sz="1600" dirty="0">
                <a:cs typeface="Times New Roman" panose="02020603050405020304" pitchFamily="18" charset="0"/>
                <a:sym typeface="Wingdings" panose="05000000000000000000" pitchFamily="2" charset="2"/>
              </a:rPr>
              <a:t>̣.</a:t>
            </a:r>
          </a:p>
          <a:p>
            <a:pPr marL="12700" indent="0" algn="just">
              <a:buSzPts val="1100"/>
              <a:buNone/>
            </a:pPr>
            <a:r>
              <a:rPr lang="es-ES" sz="1600" dirty="0">
                <a:cs typeface="Times New Roman" panose="02020603050405020304" pitchFamily="18" charset="0"/>
                <a:sym typeface="Wingdings" panose="05000000000000000000" pitchFamily="2" charset="2"/>
              </a:rPr>
              <a:t>  - </a:t>
            </a:r>
            <a:r>
              <a:rPr lang="es-ES" sz="1600" dirty="0" err="1">
                <a:cs typeface="Times New Roman" panose="02020603050405020304" pitchFamily="18" charset="0"/>
                <a:sym typeface="Wingdings" panose="05000000000000000000" pitchFamily="2" charset="2"/>
              </a:rPr>
              <a:t>Xem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xét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giải</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pháp</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đặt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thêm</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chất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hút</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ẩm</a:t>
            </a:r>
            <a:r>
              <a:rPr lang="es-ES" sz="1600" dirty="0">
                <a:cs typeface="Times New Roman" panose="02020603050405020304" pitchFamily="18" charset="0"/>
                <a:sym typeface="Wingdings" panose="05000000000000000000" pitchFamily="2" charset="2"/>
              </a:rPr>
              <a:t> ở </a:t>
            </a:r>
            <a:r>
              <a:rPr lang="es-ES" sz="1600" dirty="0" err="1">
                <a:cs typeface="Times New Roman" panose="02020603050405020304" pitchFamily="18" charset="0"/>
                <a:sym typeface="Wingdings" panose="05000000000000000000" pitchFamily="2" charset="2"/>
              </a:rPr>
              <a:t>khu</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vực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buồng</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điện</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tư</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của</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các</a:t>
            </a:r>
            <a:r>
              <a:rPr lang="es-ES" sz="1600" dirty="0">
                <a:cs typeface="Times New Roman" panose="02020603050405020304" pitchFamily="18" charset="0"/>
                <a:sym typeface="Wingdings" panose="05000000000000000000" pitchFamily="2" charset="2"/>
              </a:rPr>
              <a:t> </a:t>
            </a:r>
            <a:r>
              <a:rPr lang="es-ES" sz="1600" dirty="0" err="1">
                <a:cs typeface="Times New Roman" panose="02020603050405020304" pitchFamily="18" charset="0"/>
                <a:sym typeface="Wingdings" panose="05000000000000000000" pitchFamily="2" charset="2"/>
              </a:rPr>
              <a:t>tàu</a:t>
            </a:r>
            <a:r>
              <a:rPr lang="es-ES" sz="1600" dirty="0">
                <a:cs typeface="Times New Roman" panose="02020603050405020304" pitchFamily="18" charset="0"/>
                <a:sym typeface="Wingdings" panose="05000000000000000000" pitchFamily="2" charset="2"/>
              </a:rPr>
              <a:t> BQDB </a:t>
            </a:r>
            <a:r>
              <a:rPr lang="es-ES" sz="1600" dirty="0" err="1">
                <a:cs typeface="Times New Roman" panose="02020603050405020304" pitchFamily="18" charset="0"/>
                <a:sym typeface="Wingdings" panose="05000000000000000000" pitchFamily="2" charset="2"/>
              </a:rPr>
              <a:t>dài</a:t>
            </a:r>
            <a:r>
              <a:rPr lang="es-ES" sz="1600" dirty="0">
                <a:cs typeface="Times New Roman" panose="02020603050405020304" pitchFamily="18" charset="0"/>
                <a:sym typeface="Wingdings" panose="05000000000000000000" pitchFamily="2" charset="2"/>
              </a:rPr>
              <a:t>.</a:t>
            </a:r>
          </a:p>
          <a:p>
            <a:pPr marL="50800" indent="0">
              <a:buFont typeface="Arial" panose="020B0604020202020204" pitchFamily="34" charset="0"/>
              <a:buNone/>
            </a:pPr>
            <a:endParaRPr lang="x-none" dirty="0"/>
          </a:p>
        </p:txBody>
      </p:sp>
      <p:pic>
        <p:nvPicPr>
          <p:cNvPr id="2" name="Picture 1"/>
          <p:cNvPicPr>
            <a:picLocks noChangeAspect="1"/>
          </p:cNvPicPr>
          <p:nvPr/>
        </p:nvPicPr>
        <p:blipFill>
          <a:blip r:embed="rId3"/>
          <a:stretch>
            <a:fillRect/>
          </a:stretch>
        </p:blipFill>
        <p:spPr>
          <a:xfrm>
            <a:off x="990600" y="2971800"/>
            <a:ext cx="8172411" cy="3436550"/>
          </a:xfrm>
          <a:prstGeom prst="rect">
            <a:avLst/>
          </a:prstGeom>
        </p:spPr>
      </p:pic>
    </p:spTree>
    <p:extLst>
      <p:ext uri="{BB962C8B-B14F-4D97-AF65-F5344CB8AC3E}">
        <p14:creationId xmlns:p14="http://schemas.microsoft.com/office/powerpoint/2010/main" val="208704648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5" name="Title 1">
            <a:extLst>
              <a:ext uri="{FF2B5EF4-FFF2-40B4-BE49-F238E27FC236}">
                <a16:creationId xmlns:a16="http://schemas.microsoft.com/office/drawing/2014/main" id="{5781951A-75AB-4FD9-911A-99894057CF57}"/>
              </a:ext>
            </a:extLst>
          </p:cNvPr>
          <p:cNvSpPr txBox="1">
            <a:spLocks/>
          </p:cNvSpPr>
          <p:nvPr/>
        </p:nvSpPr>
        <p:spPr>
          <a:xfrm>
            <a:off x="369435" y="214911"/>
            <a:ext cx="10730211"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A321</a:t>
            </a:r>
          </a:p>
        </p:txBody>
      </p:sp>
      <p:graphicFrame>
        <p:nvGraphicFramePr>
          <p:cNvPr id="2" name="Table 1"/>
          <p:cNvGraphicFramePr>
            <a:graphicFrameLocks noGrp="1"/>
          </p:cNvGraphicFramePr>
          <p:nvPr/>
        </p:nvGraphicFramePr>
        <p:xfrm>
          <a:off x="304800" y="1066799"/>
          <a:ext cx="11506201" cy="5410200"/>
        </p:xfrm>
        <a:graphic>
          <a:graphicData uri="http://schemas.openxmlformats.org/drawingml/2006/table">
            <a:tbl>
              <a:tblPr/>
              <a:tblGrid>
                <a:gridCol w="375039">
                  <a:extLst>
                    <a:ext uri="{9D8B030D-6E8A-4147-A177-3AD203B41FA5}">
                      <a16:colId xmlns:a16="http://schemas.microsoft.com/office/drawing/2014/main" val="2800644245"/>
                    </a:ext>
                  </a:extLst>
                </a:gridCol>
                <a:gridCol w="2580269">
                  <a:extLst>
                    <a:ext uri="{9D8B030D-6E8A-4147-A177-3AD203B41FA5}">
                      <a16:colId xmlns:a16="http://schemas.microsoft.com/office/drawing/2014/main" val="2083177803"/>
                    </a:ext>
                  </a:extLst>
                </a:gridCol>
                <a:gridCol w="540056">
                  <a:extLst>
                    <a:ext uri="{9D8B030D-6E8A-4147-A177-3AD203B41FA5}">
                      <a16:colId xmlns:a16="http://schemas.microsoft.com/office/drawing/2014/main" val="1521595646"/>
                    </a:ext>
                  </a:extLst>
                </a:gridCol>
                <a:gridCol w="555058">
                  <a:extLst>
                    <a:ext uri="{9D8B030D-6E8A-4147-A177-3AD203B41FA5}">
                      <a16:colId xmlns:a16="http://schemas.microsoft.com/office/drawing/2014/main" val="445569048"/>
                    </a:ext>
                  </a:extLst>
                </a:gridCol>
                <a:gridCol w="555058">
                  <a:extLst>
                    <a:ext uri="{9D8B030D-6E8A-4147-A177-3AD203B41FA5}">
                      <a16:colId xmlns:a16="http://schemas.microsoft.com/office/drawing/2014/main" val="2928191288"/>
                    </a:ext>
                  </a:extLst>
                </a:gridCol>
                <a:gridCol w="555058">
                  <a:extLst>
                    <a:ext uri="{9D8B030D-6E8A-4147-A177-3AD203B41FA5}">
                      <a16:colId xmlns:a16="http://schemas.microsoft.com/office/drawing/2014/main" val="3904377424"/>
                    </a:ext>
                  </a:extLst>
                </a:gridCol>
                <a:gridCol w="555058">
                  <a:extLst>
                    <a:ext uri="{9D8B030D-6E8A-4147-A177-3AD203B41FA5}">
                      <a16:colId xmlns:a16="http://schemas.microsoft.com/office/drawing/2014/main" val="2831341223"/>
                    </a:ext>
                  </a:extLst>
                </a:gridCol>
                <a:gridCol w="555058">
                  <a:extLst>
                    <a:ext uri="{9D8B030D-6E8A-4147-A177-3AD203B41FA5}">
                      <a16:colId xmlns:a16="http://schemas.microsoft.com/office/drawing/2014/main" val="1156464260"/>
                    </a:ext>
                  </a:extLst>
                </a:gridCol>
                <a:gridCol w="555058">
                  <a:extLst>
                    <a:ext uri="{9D8B030D-6E8A-4147-A177-3AD203B41FA5}">
                      <a16:colId xmlns:a16="http://schemas.microsoft.com/office/drawing/2014/main" val="3924818319"/>
                    </a:ext>
                  </a:extLst>
                </a:gridCol>
                <a:gridCol w="555058">
                  <a:extLst>
                    <a:ext uri="{9D8B030D-6E8A-4147-A177-3AD203B41FA5}">
                      <a16:colId xmlns:a16="http://schemas.microsoft.com/office/drawing/2014/main" val="3077060167"/>
                    </a:ext>
                  </a:extLst>
                </a:gridCol>
                <a:gridCol w="555058">
                  <a:extLst>
                    <a:ext uri="{9D8B030D-6E8A-4147-A177-3AD203B41FA5}">
                      <a16:colId xmlns:a16="http://schemas.microsoft.com/office/drawing/2014/main" val="1261507042"/>
                    </a:ext>
                  </a:extLst>
                </a:gridCol>
                <a:gridCol w="555058">
                  <a:extLst>
                    <a:ext uri="{9D8B030D-6E8A-4147-A177-3AD203B41FA5}">
                      <a16:colId xmlns:a16="http://schemas.microsoft.com/office/drawing/2014/main" val="2295112399"/>
                    </a:ext>
                  </a:extLst>
                </a:gridCol>
                <a:gridCol w="3015315">
                  <a:extLst>
                    <a:ext uri="{9D8B030D-6E8A-4147-A177-3AD203B41FA5}">
                      <a16:colId xmlns:a16="http://schemas.microsoft.com/office/drawing/2014/main" val="3710250675"/>
                    </a:ext>
                  </a:extLst>
                </a:gridCol>
              </a:tblGrid>
              <a:tr h="487716">
                <a:tc gridSpan="13">
                  <a:txBody>
                    <a:bodyPr/>
                    <a:lstStyle/>
                    <a:p>
                      <a:pPr algn="ctr" fontAlgn="ctr"/>
                      <a:r>
                        <a:rPr lang="en-US" sz="1400" b="1" i="0" u="none" strike="noStrike">
                          <a:solidFill>
                            <a:srgbClr val="000000"/>
                          </a:solidFill>
                          <a:effectLst/>
                          <a:latin typeface="Times New Roman" panose="02020603050405020304" pitchFamily="18" charset="0"/>
                        </a:rPr>
                        <a:t>NGUỒN LỰC KỸ THUÂT FLEET A321 (CẬP NHẬT 28/02)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3505627204"/>
                  </a:ext>
                </a:extLst>
              </a:tr>
              <a:tr h="591171">
                <a:tc>
                  <a:txBody>
                    <a:bodyPr/>
                    <a:lstStyle/>
                    <a:p>
                      <a:pPr algn="ctr" fontAlgn="ctr"/>
                      <a:r>
                        <a:rPr lang="en-US" sz="1000" b="1" i="0" u="none" strike="noStrike">
                          <a:solidFill>
                            <a:srgbClr val="000000"/>
                          </a:solidFill>
                          <a:effectLst/>
                          <a:latin typeface="Times New Roman" panose="02020603050405020304" pitchFamily="18" charset="0"/>
                        </a:rPr>
                        <a:t>STT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679253801"/>
                  </a:ext>
                </a:extLst>
              </a:tr>
              <a:tr h="909418">
                <a:tc>
                  <a:txBody>
                    <a:bodyPr/>
                    <a:lstStyle/>
                    <a:p>
                      <a:pPr algn="ctr" fontAlgn="ctr"/>
                      <a:r>
                        <a:rPr lang="en-US" sz="1000" b="1" i="0" u="none" strike="noStrike">
                          <a:solidFill>
                            <a:srgbClr val="000000"/>
                          </a:solidFill>
                          <a:effectLst/>
                          <a:latin typeface="Times New Roman" panose="02020603050405020304" pitchFamily="18" charset="0"/>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A321 NEO AOG</a:t>
                      </a:r>
                      <a:br>
                        <a:rPr lang="pt-BR" sz="1200" b="1" i="0" u="none" strike="noStrike">
                          <a:solidFill>
                            <a:srgbClr val="000000"/>
                          </a:solidFill>
                          <a:effectLst/>
                          <a:latin typeface="Times New Roman" panose="02020603050405020304" pitchFamily="18" charset="0"/>
                        </a:rPr>
                      </a:br>
                      <a:r>
                        <a:rPr lang="pt-BR" sz="1200" b="1" i="0" u="none" strike="noStrike">
                          <a:solidFill>
                            <a:srgbClr val="000000"/>
                          </a:solidFill>
                          <a:effectLst/>
                          <a:latin typeface="Times New Roman" panose="02020603050405020304" pitchFamily="18" charset="0"/>
                        </a:rPr>
                        <a:t> do thiếu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14.50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Times New Roman" panose="02020603050405020304" pitchFamily="18" charset="0"/>
                        </a:rPr>
                        <a:t>Giữ giờ động cơ P771710 (hết hạn 05/07) và P772905 (19/07) sang sau cao điểm hè (15/8) để có thêm 1 tàu từ giữa T7.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75965849"/>
                  </a:ext>
                </a:extLst>
              </a:tr>
              <a:tr h="827640">
                <a:tc>
                  <a:txBody>
                    <a:bodyPr/>
                    <a:lstStyle/>
                    <a:p>
                      <a:pPr algn="ctr" fontAlgn="ctr"/>
                      <a:r>
                        <a:rPr lang="en-US" sz="1000" b="1" i="0" u="none" strike="noStrike">
                          <a:solidFill>
                            <a:srgbClr val="000000"/>
                          </a:solidFill>
                          <a:effectLst/>
                          <a:latin typeface="Times New Roman" panose="02020603050405020304" pitchFamily="18" charset="0"/>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pt-BR" sz="1200" b="1" i="0" u="none" strike="noStrike">
                          <a:solidFill>
                            <a:srgbClr val="000000"/>
                          </a:solidFill>
                          <a:effectLst/>
                          <a:latin typeface="Times New Roman" panose="02020603050405020304" pitchFamily="18" charset="0"/>
                        </a:rPr>
                        <a:t>A321 CEO AOG do thiếu ENG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959149525"/>
                  </a:ext>
                </a:extLst>
              </a:tr>
              <a:tr h="1086769">
                <a:tc>
                  <a:txBody>
                    <a:bodyPr/>
                    <a:lstStyle/>
                    <a:p>
                      <a:pPr algn="ctr" fontAlgn="ctr"/>
                      <a:r>
                        <a:rPr lang="en-US" sz="1000" b="1" i="0" u="none" strike="noStrike">
                          <a:solidFill>
                            <a:srgbClr val="000000"/>
                          </a:solidFill>
                          <a:effectLst/>
                          <a:latin typeface="Times New Roman" panose="02020603050405020304" pitchFamily="18" charset="0"/>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A321 dừng thực hiện BD</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1.30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vi-VN"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9392882"/>
                  </a:ext>
                </a:extLst>
              </a:tr>
              <a:tr h="753743">
                <a:tc>
                  <a:txBody>
                    <a:bodyPr/>
                    <a:lstStyle/>
                    <a:p>
                      <a:pPr algn="ctr" fontAlgn="ctr"/>
                      <a:r>
                        <a:rPr lang="en-US" sz="1000" b="1" i="0" u="none" strike="noStrike">
                          <a:solidFill>
                            <a:srgbClr val="000000"/>
                          </a:solidFill>
                          <a:effectLst/>
                          <a:latin typeface="Times New Roman" panose="02020603050405020304" pitchFamily="18" charset="0"/>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Dừng</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(Do thiếu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 + (2) + (3)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14.70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14.00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760566396"/>
                  </a:ext>
                </a:extLst>
              </a:tr>
              <a:tr h="753743">
                <a:tc>
                  <a:txBody>
                    <a:bodyPr/>
                    <a:lstStyle/>
                    <a:p>
                      <a:pPr algn="ctr" fontAlgn="ctr"/>
                      <a:r>
                        <a:rPr lang="en-US" sz="1000" b="1" i="0" u="none" strike="noStrike">
                          <a:solidFill>
                            <a:srgbClr val="000000"/>
                          </a:solidFill>
                          <a:effectLst/>
                          <a:latin typeface="Times New Roman" panose="02020603050405020304" pitchFamily="18" charset="0"/>
                        </a:rPr>
                        <a:t>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Tổng số tàu A321 thực tế có thể khai thác</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49.8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endParaRPr lang="vi-VN" sz="1200" b="0"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76410442"/>
                  </a:ext>
                </a:extLst>
              </a:tr>
            </a:tbl>
          </a:graphicData>
        </a:graphic>
      </p:graphicFrame>
    </p:spTree>
    <p:extLst>
      <p:ext uri="{BB962C8B-B14F-4D97-AF65-F5344CB8AC3E}">
        <p14:creationId xmlns:p14="http://schemas.microsoft.com/office/powerpoint/2010/main" val="8188764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4" name="Title 1">
            <a:extLst>
              <a:ext uri="{FF2B5EF4-FFF2-40B4-BE49-F238E27FC236}">
                <a16:creationId xmlns:a16="http://schemas.microsoft.com/office/drawing/2014/main" id="{5781951A-75AB-4FD9-911A-99894057CF57}"/>
              </a:ext>
            </a:extLst>
          </p:cNvPr>
          <p:cNvSpPr txBox="1">
            <a:spLocks/>
          </p:cNvSpPr>
          <p:nvPr/>
        </p:nvSpPr>
        <p:spPr>
          <a:xfrm>
            <a:off x="457200" y="152400"/>
            <a:ext cx="9792802" cy="458686"/>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Times New Roman" panose="02020603050405020304" pitchFamily="18" charset="0"/>
                <a:ea typeface="+mj-ea"/>
                <a:cs typeface="+mj-cs"/>
              </a:defRPr>
            </a:lvl1pPr>
          </a:lstStyle>
          <a:p>
            <a:r>
              <a:rPr lang="en-US" sz="2400" b="1" dirty="0">
                <a:solidFill>
                  <a:srgbClr val="D2A43B"/>
                </a:solidFill>
                <a:ea typeface="Tahoma" pitchFamily="34" charset="0"/>
                <a:cs typeface="Times New Roman" panose="02020603050405020304" pitchFamily="18" charset="0"/>
              </a:rPr>
              <a:t>NGUỒN LỰC TÀU BAY – A350/B787</a:t>
            </a:r>
          </a:p>
        </p:txBody>
      </p:sp>
      <p:graphicFrame>
        <p:nvGraphicFramePr>
          <p:cNvPr id="3" name="Table 2"/>
          <p:cNvGraphicFramePr>
            <a:graphicFrameLocks noGrp="1"/>
          </p:cNvGraphicFramePr>
          <p:nvPr/>
        </p:nvGraphicFramePr>
        <p:xfrm>
          <a:off x="446926" y="762000"/>
          <a:ext cx="11353803" cy="6016134"/>
        </p:xfrm>
        <a:graphic>
          <a:graphicData uri="http://schemas.openxmlformats.org/drawingml/2006/table">
            <a:tbl>
              <a:tblPr/>
              <a:tblGrid>
                <a:gridCol w="397799">
                  <a:extLst>
                    <a:ext uri="{9D8B030D-6E8A-4147-A177-3AD203B41FA5}">
                      <a16:colId xmlns:a16="http://schemas.microsoft.com/office/drawing/2014/main" val="2101382252"/>
                    </a:ext>
                  </a:extLst>
                </a:gridCol>
                <a:gridCol w="2734858">
                  <a:extLst>
                    <a:ext uri="{9D8B030D-6E8A-4147-A177-3AD203B41FA5}">
                      <a16:colId xmlns:a16="http://schemas.microsoft.com/office/drawing/2014/main" val="4264225763"/>
                    </a:ext>
                  </a:extLst>
                </a:gridCol>
                <a:gridCol w="517136">
                  <a:extLst>
                    <a:ext uri="{9D8B030D-6E8A-4147-A177-3AD203B41FA5}">
                      <a16:colId xmlns:a16="http://schemas.microsoft.com/office/drawing/2014/main" val="768437867"/>
                    </a:ext>
                  </a:extLst>
                </a:gridCol>
                <a:gridCol w="490617">
                  <a:extLst>
                    <a:ext uri="{9D8B030D-6E8A-4147-A177-3AD203B41FA5}">
                      <a16:colId xmlns:a16="http://schemas.microsoft.com/office/drawing/2014/main" val="2907331146"/>
                    </a:ext>
                  </a:extLst>
                </a:gridCol>
                <a:gridCol w="530397">
                  <a:extLst>
                    <a:ext uri="{9D8B030D-6E8A-4147-A177-3AD203B41FA5}">
                      <a16:colId xmlns:a16="http://schemas.microsoft.com/office/drawing/2014/main" val="1737140993"/>
                    </a:ext>
                  </a:extLst>
                </a:gridCol>
                <a:gridCol w="490617">
                  <a:extLst>
                    <a:ext uri="{9D8B030D-6E8A-4147-A177-3AD203B41FA5}">
                      <a16:colId xmlns:a16="http://schemas.microsoft.com/office/drawing/2014/main" val="4081936536"/>
                    </a:ext>
                  </a:extLst>
                </a:gridCol>
                <a:gridCol w="490617">
                  <a:extLst>
                    <a:ext uri="{9D8B030D-6E8A-4147-A177-3AD203B41FA5}">
                      <a16:colId xmlns:a16="http://schemas.microsoft.com/office/drawing/2014/main" val="4130378134"/>
                    </a:ext>
                  </a:extLst>
                </a:gridCol>
                <a:gridCol w="517136">
                  <a:extLst>
                    <a:ext uri="{9D8B030D-6E8A-4147-A177-3AD203B41FA5}">
                      <a16:colId xmlns:a16="http://schemas.microsoft.com/office/drawing/2014/main" val="4267231577"/>
                    </a:ext>
                  </a:extLst>
                </a:gridCol>
                <a:gridCol w="517136">
                  <a:extLst>
                    <a:ext uri="{9D8B030D-6E8A-4147-A177-3AD203B41FA5}">
                      <a16:colId xmlns:a16="http://schemas.microsoft.com/office/drawing/2014/main" val="304503154"/>
                    </a:ext>
                  </a:extLst>
                </a:gridCol>
                <a:gridCol w="490617">
                  <a:extLst>
                    <a:ext uri="{9D8B030D-6E8A-4147-A177-3AD203B41FA5}">
                      <a16:colId xmlns:a16="http://schemas.microsoft.com/office/drawing/2014/main" val="2820885427"/>
                    </a:ext>
                  </a:extLst>
                </a:gridCol>
                <a:gridCol w="490617">
                  <a:extLst>
                    <a:ext uri="{9D8B030D-6E8A-4147-A177-3AD203B41FA5}">
                      <a16:colId xmlns:a16="http://schemas.microsoft.com/office/drawing/2014/main" val="2072001648"/>
                    </a:ext>
                  </a:extLst>
                </a:gridCol>
                <a:gridCol w="517136">
                  <a:extLst>
                    <a:ext uri="{9D8B030D-6E8A-4147-A177-3AD203B41FA5}">
                      <a16:colId xmlns:a16="http://schemas.microsoft.com/office/drawing/2014/main" val="4293720806"/>
                    </a:ext>
                  </a:extLst>
                </a:gridCol>
                <a:gridCol w="3169120">
                  <a:extLst>
                    <a:ext uri="{9D8B030D-6E8A-4147-A177-3AD203B41FA5}">
                      <a16:colId xmlns:a16="http://schemas.microsoft.com/office/drawing/2014/main" val="2861915772"/>
                    </a:ext>
                  </a:extLst>
                </a:gridCol>
              </a:tblGrid>
              <a:tr h="457202">
                <a:tc gridSpan="13">
                  <a:txBody>
                    <a:bodyPr/>
                    <a:lstStyle/>
                    <a:p>
                      <a:pPr algn="ctr" fontAlgn="ctr"/>
                      <a:r>
                        <a:rPr lang="en-US" sz="1400" b="1" i="0" u="none" strike="noStrike">
                          <a:solidFill>
                            <a:srgbClr val="000000"/>
                          </a:solidFill>
                          <a:effectLst/>
                          <a:latin typeface="Times New Roman" panose="02020603050405020304" pitchFamily="18" charset="0"/>
                        </a:rPr>
                        <a:t>NGUỒN LỰC KỸ THUÂT A350/B787 (CẬP NHẬT 28/02)</a:t>
                      </a:r>
                    </a:p>
                  </a:txBody>
                  <a:tcPr marL="7512" marR="7512" marT="7512" marB="0" anchor="ctr">
                    <a:lnL w="6350" cap="flat" cmpd="sng" algn="ctr">
                      <a:solidFill>
                        <a:srgbClr val="000000"/>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786886697"/>
                  </a:ext>
                </a:extLst>
              </a:tr>
              <a:tr h="312339">
                <a:tc>
                  <a:txBody>
                    <a:bodyPr/>
                    <a:lstStyle/>
                    <a:p>
                      <a:pPr algn="ctr" fontAlgn="ctr"/>
                      <a:r>
                        <a:rPr lang="en-US" sz="1200" b="1" i="0" u="none" strike="noStrike">
                          <a:solidFill>
                            <a:srgbClr val="000000"/>
                          </a:solidFill>
                          <a:effectLst/>
                          <a:latin typeface="Times New Roman" panose="02020603050405020304" pitchFamily="18" charset="0"/>
                        </a:rPr>
                        <a:t>STT</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A/C</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Mar-25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Apr-25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May-25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Jun-25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Jul-25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Aug-25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Sep-25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Oct-25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Nov-25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Dec-25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ctr" fontAlgn="ctr"/>
                      <a:r>
                        <a:rPr lang="en-US" sz="1200" b="1" i="0" u="none" strike="noStrike">
                          <a:solidFill>
                            <a:srgbClr val="000000"/>
                          </a:solidFill>
                          <a:effectLst/>
                          <a:latin typeface="Times New Roman" panose="02020603050405020304" pitchFamily="18" charset="0"/>
                        </a:rPr>
                        <a:t>Note</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extLst>
                  <a:ext uri="{0D108BD9-81ED-4DB2-BD59-A6C34878D82A}">
                    <a16:rowId xmlns:a16="http://schemas.microsoft.com/office/drawing/2014/main" val="132866763"/>
                  </a:ext>
                </a:extLst>
              </a:tr>
              <a:tr h="1038910">
                <a:tc>
                  <a:txBody>
                    <a:bodyPr/>
                    <a:lstStyle/>
                    <a:p>
                      <a:pPr algn="ctr" fontAlgn="ctr"/>
                      <a:r>
                        <a:rPr lang="en-US" sz="1200" b="0" i="0" u="none" strike="noStrike">
                          <a:solidFill>
                            <a:srgbClr val="000000"/>
                          </a:solidFill>
                          <a:effectLst/>
                          <a:latin typeface="Times New Roman" panose="02020603050405020304" pitchFamily="18" charset="0"/>
                        </a:rPr>
                        <a:t>1</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A350 AOG do thiếu ENG</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4.0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vi-VN" sz="1200" b="0" i="0" u="none" strike="noStrike">
                          <a:solidFill>
                            <a:srgbClr val="FF0000"/>
                          </a:solidFill>
                          <a:effectLst/>
                          <a:latin typeface="+mn-lt"/>
                        </a:rPr>
                        <a:t>'KB tốt giữ giờ 03 động cơ tháo trong cao điểm hè:  - 21346 (A891): Cần giữ giờ 63 ngày (đã lên phương án giữ giờ 50 ngày bao gồm offwing 23 ngày và 27 ngày swap ENG với A899 Y6);</a:t>
                      </a:r>
                    </a:p>
                    <a:p>
                      <a:pPr algn="l" fontAlgn="ctr"/>
                      <a:r>
                        <a:rPr lang="vi-VN" sz="1200" b="0" i="0" u="none" strike="noStrike">
                          <a:solidFill>
                            <a:srgbClr val="FF0000"/>
                          </a:solidFill>
                          <a:effectLst/>
                          <a:latin typeface="+mn-lt"/>
                        </a:rPr>
                        <a:t>- 21418 (A890): Cần giữ giờ 38 ngày (đã lên phương án giữ giờ 30 ngày bao bồm dừng Đkỳ 10 ngày và 20 ngày swap ENG với A899 Y6) </a:t>
                      </a:r>
                    </a:p>
                    <a:p>
                      <a:pPr algn="l" fontAlgn="ctr"/>
                      <a:r>
                        <a:rPr lang="vi-VN" sz="1200" b="0" i="0" u="none" strike="noStrike">
                          <a:solidFill>
                            <a:srgbClr val="FF0000"/>
                          </a:solidFill>
                          <a:effectLst/>
                          <a:latin typeface="+mn-lt"/>
                        </a:rPr>
                        <a:t>- 21317 (A897): Cần giữ giờ 12 ngày. </a:t>
                      </a:r>
                      <a:endParaRPr lang="vi-VN" sz="1200" b="0" i="0" u="none" strike="noStrike">
                        <a:solidFill>
                          <a:srgbClr val="FF0000"/>
                        </a:solidFill>
                        <a:effectLst/>
                        <a:latin typeface="Times New Roman" panose="02020603050405020304" pitchFamily="18" charset="0"/>
                      </a:endParaRP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6473767"/>
                  </a:ext>
                </a:extLst>
              </a:tr>
              <a:tr h="399581">
                <a:tc>
                  <a:txBody>
                    <a:bodyPr/>
                    <a:lstStyle/>
                    <a:p>
                      <a:pPr algn="ctr" fontAlgn="ctr"/>
                      <a:r>
                        <a:rPr lang="en-US" sz="1200" b="0" i="0" u="none" strike="noStrike">
                          <a:solidFill>
                            <a:srgbClr val="000000"/>
                          </a:solidFill>
                          <a:effectLst/>
                          <a:latin typeface="Times New Roman" panose="02020603050405020304" pitchFamily="18" charset="0"/>
                        </a:rPr>
                        <a:t>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dừng BD</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0.5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767007193"/>
                  </a:ext>
                </a:extLst>
              </a:tr>
              <a:tr h="399581">
                <a:tc>
                  <a:txBody>
                    <a:bodyPr/>
                    <a:lstStyle/>
                    <a:p>
                      <a:pPr algn="ctr" fontAlgn="ctr"/>
                      <a:r>
                        <a:rPr lang="en-US" sz="1200" b="0" i="0" u="none" strike="noStrike">
                          <a:solidFill>
                            <a:srgbClr val="000000"/>
                          </a:solidFill>
                          <a:effectLst/>
                          <a:latin typeface="Times New Roman" panose="02020603050405020304" pitchFamily="18" charset="0"/>
                        </a:rPr>
                        <a:t>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 Dừng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(3) = (1) + (2)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2.5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FF0000"/>
                          </a:solidFill>
                          <a:effectLst/>
                          <a:latin typeface="Times New Roman" panose="02020603050405020304" pitchFamily="18" charset="0"/>
                        </a:rPr>
                        <a:t>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2642047"/>
                  </a:ext>
                </a:extLst>
              </a:tr>
              <a:tr h="399581">
                <a:tc>
                  <a:txBody>
                    <a:bodyPr/>
                    <a:lstStyle/>
                    <a:p>
                      <a:pPr algn="ctr" fontAlgn="ctr"/>
                      <a:r>
                        <a:rPr lang="en-US" sz="1200" b="0" i="0" u="none" strike="noStrike">
                          <a:solidFill>
                            <a:srgbClr val="000000"/>
                          </a:solidFill>
                          <a:effectLst/>
                          <a:latin typeface="Times New Roman" panose="02020603050405020304" pitchFamily="18" charset="0"/>
                        </a:rPr>
                        <a:t>4</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(4) = 14 - (3)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8.8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9.5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13.0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157475488"/>
                  </a:ext>
                </a:extLst>
              </a:tr>
              <a:tr h="579393">
                <a:tc>
                  <a:txBody>
                    <a:bodyPr/>
                    <a:lstStyle/>
                    <a:p>
                      <a:pPr algn="ctr" fontAlgn="ctr"/>
                      <a:r>
                        <a:rPr lang="en-US" sz="1200" b="0" i="0" u="none" strike="noStrike">
                          <a:solidFill>
                            <a:srgbClr val="000000"/>
                          </a:solidFill>
                          <a:effectLst/>
                          <a:latin typeface="Times New Roman" panose="02020603050405020304" pitchFamily="18" charset="0"/>
                        </a:rPr>
                        <a:t>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pt-BR" sz="1200" b="1" i="0" u="none" strike="noStrike">
                          <a:solidFill>
                            <a:srgbClr val="000000"/>
                          </a:solidFill>
                          <a:effectLst/>
                          <a:latin typeface="Times New Roman" panose="02020603050405020304" pitchFamily="18" charset="0"/>
                        </a:rPr>
                        <a:t>B787 rủi ro AOG do ENG</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98604271"/>
                  </a:ext>
                </a:extLst>
              </a:tr>
              <a:tr h="399581">
                <a:tc>
                  <a:txBody>
                    <a:bodyPr/>
                    <a:lstStyle/>
                    <a:p>
                      <a:pPr algn="ctr" fontAlgn="ctr"/>
                      <a:r>
                        <a:rPr lang="en-US" sz="1200" b="0" i="0" u="none" strike="noStrike">
                          <a:solidFill>
                            <a:srgbClr val="000000"/>
                          </a:solidFill>
                          <a:effectLst/>
                          <a:latin typeface="Times New Roman" panose="02020603050405020304" pitchFamily="18" charset="0"/>
                        </a:rPr>
                        <a:t>6</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dừng BD</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1.6</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1.1</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FF0000"/>
                          </a:solidFill>
                          <a:effectLst/>
                          <a:latin typeface="Times New Roman" panose="02020603050405020304" pitchFamily="18" charset="0"/>
                        </a:rPr>
                        <a:t>0.8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endParaRPr lang="vi-VN" sz="1200" b="0" i="0" u="none" strike="noStrike">
                        <a:solidFill>
                          <a:srgbClr val="000000"/>
                        </a:solidFill>
                        <a:effectLst/>
                        <a:latin typeface="Times New Roman" panose="02020603050405020304" pitchFamily="18" charset="0"/>
                      </a:endParaRP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28872120"/>
                  </a:ext>
                </a:extLst>
              </a:tr>
              <a:tr h="399581">
                <a:tc>
                  <a:txBody>
                    <a:bodyPr/>
                    <a:lstStyle/>
                    <a:p>
                      <a:pPr algn="ctr" fontAlgn="ctr"/>
                      <a:r>
                        <a:rPr lang="en-US" sz="1200" b="0" i="0" u="none" strike="noStrike">
                          <a:solidFill>
                            <a:srgbClr val="000000"/>
                          </a:solidFill>
                          <a:effectLst/>
                          <a:latin typeface="Times New Roman" panose="02020603050405020304" pitchFamily="18" charset="0"/>
                        </a:rPr>
                        <a:t>7</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nb-NO" sz="1200" b="1" i="0" u="none" strike="noStrike">
                          <a:solidFill>
                            <a:srgbClr val="000000"/>
                          </a:solidFill>
                          <a:effectLst/>
                          <a:latin typeface="Times New Roman" panose="02020603050405020304" pitchFamily="18" charset="0"/>
                        </a:rPr>
                        <a:t>B787 Dừng (ENG + BD)</a:t>
                      </a:r>
                      <a:br>
                        <a:rPr lang="nb-NO" sz="1200" b="1" i="0" u="none" strike="noStrike">
                          <a:solidFill>
                            <a:srgbClr val="000000"/>
                          </a:solidFill>
                          <a:effectLst/>
                          <a:latin typeface="Times New Roman" panose="02020603050405020304" pitchFamily="18" charset="0"/>
                        </a:rPr>
                      </a:br>
                      <a:r>
                        <a:rPr lang="nb-NO" sz="1200" b="1" i="0" u="none" strike="noStrike">
                          <a:solidFill>
                            <a:srgbClr val="000000"/>
                          </a:solidFill>
                          <a:effectLst/>
                          <a:latin typeface="Times New Roman" panose="02020603050405020304" pitchFamily="18" charset="0"/>
                        </a:rPr>
                        <a:t>(7) = (5) + (6)</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1.6</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1.1</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8218589"/>
                  </a:ext>
                </a:extLst>
              </a:tr>
              <a:tr h="399581">
                <a:tc>
                  <a:txBody>
                    <a:bodyPr/>
                    <a:lstStyle/>
                    <a:p>
                      <a:pPr algn="ctr" fontAlgn="ctr"/>
                      <a:r>
                        <a:rPr lang="en-US" sz="1200" b="0" i="0" u="none" strike="noStrike">
                          <a:solidFill>
                            <a:srgbClr val="000000"/>
                          </a:solidFill>
                          <a:effectLst/>
                          <a:latin typeface="Times New Roman" panose="02020603050405020304" pitchFamily="18" charset="0"/>
                        </a:rPr>
                        <a:t>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B787 thực tế có thể khai thác</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15.4</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15.9</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15.0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16.7</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16.0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500473120"/>
                  </a:ext>
                </a:extLst>
              </a:tr>
              <a:tr h="399581">
                <a:tc>
                  <a:txBody>
                    <a:bodyPr/>
                    <a:lstStyle/>
                    <a:p>
                      <a:pPr algn="ctr" fontAlgn="ctr"/>
                      <a:r>
                        <a:rPr lang="en-US" sz="1200" b="0" i="0" u="none" strike="noStrike">
                          <a:solidFill>
                            <a:srgbClr val="000000"/>
                          </a:solidFill>
                          <a:effectLst/>
                          <a:latin typeface="Times New Roman" panose="02020603050405020304" pitchFamily="18" charset="0"/>
                        </a:rPr>
                        <a:t>9</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1" i="0" u="none" strike="noStrike">
                          <a:solidFill>
                            <a:srgbClr val="000000"/>
                          </a:solidFill>
                          <a:effectLst/>
                          <a:latin typeface="Times New Roman" panose="02020603050405020304" pitchFamily="18" charset="0"/>
                        </a:rPr>
                        <a:t>A350/B787 dừng ( ENG + BD)</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(9) = (3) + (7)</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1.3</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1.8</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6382940"/>
                  </a:ext>
                </a:extLst>
              </a:tr>
              <a:tr h="399581">
                <a:tc>
                  <a:txBody>
                    <a:bodyPr/>
                    <a:lstStyle/>
                    <a:p>
                      <a:pPr algn="ctr" fontAlgn="ctr"/>
                      <a:r>
                        <a:rPr lang="en-US" sz="1200" b="0" i="0" u="none" strike="noStrike">
                          <a:solidFill>
                            <a:srgbClr val="000000"/>
                          </a:solidFill>
                          <a:effectLst/>
                          <a:latin typeface="Times New Roman" panose="02020603050405020304" pitchFamily="18" charset="0"/>
                        </a:rPr>
                        <a:t>10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1" i="0" u="none" strike="noStrike">
                          <a:solidFill>
                            <a:srgbClr val="000000"/>
                          </a:solidFill>
                          <a:effectLst/>
                          <a:latin typeface="Times New Roman" panose="02020603050405020304" pitchFamily="18" charset="0"/>
                        </a:rPr>
                        <a:t>A350/B787 thực tế có thể khai thác</a:t>
                      </a:r>
                      <a:br>
                        <a:rPr lang="en-US" sz="1200" b="1" i="0" u="none" strike="noStrike">
                          <a:solidFill>
                            <a:srgbClr val="000000"/>
                          </a:solidFill>
                          <a:effectLst/>
                          <a:latin typeface="Times New Roman" panose="02020603050405020304" pitchFamily="18" charset="0"/>
                        </a:rPr>
                      </a:br>
                      <a:r>
                        <a:rPr lang="en-US" sz="1200" b="1" i="0" u="none" strike="noStrike">
                          <a:solidFill>
                            <a:srgbClr val="000000"/>
                          </a:solidFill>
                          <a:effectLst/>
                          <a:latin typeface="Times New Roman" panose="02020603050405020304" pitchFamily="18" charset="0"/>
                        </a:rPr>
                        <a:t>(10) = (8) + (4)</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24.7</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24.5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29.7</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29.2</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26.5</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en-US" sz="1200" b="0" i="0" u="none" strike="noStrike">
                          <a:solidFill>
                            <a:srgbClr val="000000"/>
                          </a:solidFill>
                          <a:effectLst/>
                          <a:latin typeface="Times New Roman" panose="02020603050405020304" pitchFamily="18" charset="0"/>
                        </a:rPr>
                        <a:t>27.0</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en-US" sz="1200" b="0" i="0" u="none" strike="noStrike">
                          <a:solidFill>
                            <a:srgbClr val="000000"/>
                          </a:solidFill>
                          <a:effectLst/>
                          <a:latin typeface="Times New Roman" panose="02020603050405020304" pitchFamily="18" charset="0"/>
                        </a:rPr>
                        <a:t> </a:t>
                      </a:r>
                    </a:p>
                  </a:txBody>
                  <a:tcPr marL="7512" marR="7512" marT="751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333461009"/>
                  </a:ext>
                </a:extLst>
              </a:tr>
            </a:tbl>
          </a:graphicData>
        </a:graphic>
      </p:graphicFrame>
    </p:spTree>
    <p:extLst>
      <p:ext uri="{BB962C8B-B14F-4D97-AF65-F5344CB8AC3E}">
        <p14:creationId xmlns:p14="http://schemas.microsoft.com/office/powerpoint/2010/main" val="147912552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Slide Number Placeholder 3"/>
          <p:cNvSpPr>
            <a:spLocks noGrp="1"/>
          </p:cNvSpPr>
          <p:nvPr>
            <p:ph type="sldNum" sz="quarter" idx="12"/>
          </p:nvPr>
        </p:nvSpPr>
        <p:spPr>
          <a:xfrm>
            <a:off x="8581061" y="5857745"/>
            <a:ext cx="2743200" cy="365125"/>
          </a:xfrm>
        </p:spPr>
        <p:txBody>
          <a:bodyPr>
            <a:normAutofit/>
          </a:bodyPr>
          <a:lstStyle/>
          <a:p>
            <a:fld id="{6C6B6B8D-D74E-47CD-B5EE-156060B7CD17}" type="slidenum">
              <a:rPr lang="en-US" sz="1100" smtClean="0"/>
              <a:pPr/>
              <a:t>48</a:t>
            </a:fld>
            <a:endParaRPr lang="en-US" sz="1100" dirty="0"/>
          </a:p>
        </p:txBody>
      </p:sp>
      <p:sp>
        <p:nvSpPr>
          <p:cNvPr id="21" name="TextBox 20"/>
          <p:cNvSpPr txBox="1"/>
          <p:nvPr/>
        </p:nvSpPr>
        <p:spPr>
          <a:xfrm>
            <a:off x="7070" y="39402"/>
            <a:ext cx="12184930" cy="507831"/>
          </a:xfrm>
          <a:prstGeom prst="rect">
            <a:avLst/>
          </a:prstGeom>
          <a:noFill/>
          <a:ln w="9525">
            <a:noFill/>
            <a:miter lim="800000"/>
            <a:headEnd/>
            <a:tailEnd/>
          </a:ln>
        </p:spPr>
        <p:txBody>
          <a:bodyPr vert="horz" wrap="square" lIns="91440" tIns="45720" rIns="91440" bIns="45720" numCol="1" rtlCol="0" anchor="ctr" anchorCtr="0" compatLnSpc="1">
            <a:prstTxWarp prst="textNoShape">
              <a:avLst/>
            </a:prstTxWarp>
            <a:spAutoFit/>
          </a:bodyPr>
          <a:lstStyle>
            <a:lvl1pPr algn="ctr" eaLnBrk="0" fontAlgn="auto" hangingPunct="0">
              <a:spcBef>
                <a:spcPts val="0"/>
              </a:spcBef>
              <a:spcAft>
                <a:spcPts val="0"/>
              </a:spcAft>
              <a:defRPr sz="3600" b="1" i="0">
                <a:ln w="0"/>
                <a:solidFill>
                  <a:srgbClr val="FFC000"/>
                </a:solidFill>
                <a:latin typeface="Times New Roman" panose="02020603050405020304" pitchFamily="18" charset="0"/>
                <a:ea typeface="+mn-ea"/>
                <a:cs typeface="Times New Roman" panose="02020603050405020304" pitchFamily="18" charset="0"/>
              </a:defRPr>
            </a:lvl1pPr>
            <a:lvl2pPr algn="ctr" eaLnBrk="0" hangingPunct="0">
              <a:defRPr sz="4400">
                <a:solidFill>
                  <a:srgbClr val="404040"/>
                </a:solidFill>
                <a:latin typeface="Calibri" pitchFamily="34" charset="0"/>
                <a:cs typeface="ＭＳ Ｐゴシック" charset="0"/>
              </a:defRPr>
            </a:lvl2pPr>
            <a:lvl3pPr algn="ctr" eaLnBrk="0" hangingPunct="0">
              <a:defRPr sz="4400">
                <a:solidFill>
                  <a:srgbClr val="404040"/>
                </a:solidFill>
                <a:latin typeface="Calibri" pitchFamily="34" charset="0"/>
                <a:cs typeface="ＭＳ Ｐゴシック" charset="0"/>
              </a:defRPr>
            </a:lvl3pPr>
            <a:lvl4pPr algn="ctr" eaLnBrk="0" hangingPunct="0">
              <a:defRPr sz="4400">
                <a:solidFill>
                  <a:srgbClr val="404040"/>
                </a:solidFill>
                <a:latin typeface="Calibri" pitchFamily="34" charset="0"/>
                <a:cs typeface="ＭＳ Ｐゴシック" charset="0"/>
              </a:defRPr>
            </a:lvl4pPr>
            <a:lvl5pPr algn="ctr" eaLnBrk="0" hangingPunct="0">
              <a:defRPr sz="4400">
                <a:solidFill>
                  <a:srgbClr val="404040"/>
                </a:solidFill>
                <a:latin typeface="Calibri" pitchFamily="34" charset="0"/>
                <a:cs typeface="ＭＳ Ｐゴシック" charset="0"/>
              </a:defRPr>
            </a:lvl5pPr>
            <a:lvl6pPr marL="457200" algn="ctr" fontAlgn="base">
              <a:spcBef>
                <a:spcPct val="0"/>
              </a:spcBef>
              <a:spcAft>
                <a:spcPct val="0"/>
              </a:spcAft>
              <a:defRPr sz="4400">
                <a:solidFill>
                  <a:schemeClr val="bg1"/>
                </a:solidFill>
                <a:latin typeface="Calibri" pitchFamily="34" charset="0"/>
              </a:defRPr>
            </a:lvl6pPr>
            <a:lvl7pPr marL="914400" algn="ctr" fontAlgn="base">
              <a:spcBef>
                <a:spcPct val="0"/>
              </a:spcBef>
              <a:spcAft>
                <a:spcPct val="0"/>
              </a:spcAft>
              <a:defRPr sz="4400">
                <a:solidFill>
                  <a:schemeClr val="bg1"/>
                </a:solidFill>
                <a:latin typeface="Calibri" pitchFamily="34" charset="0"/>
              </a:defRPr>
            </a:lvl7pPr>
            <a:lvl8pPr marL="1371600" algn="ctr" fontAlgn="base">
              <a:spcBef>
                <a:spcPct val="0"/>
              </a:spcBef>
              <a:spcAft>
                <a:spcPct val="0"/>
              </a:spcAft>
              <a:defRPr sz="4400">
                <a:solidFill>
                  <a:schemeClr val="bg1"/>
                </a:solidFill>
                <a:latin typeface="Calibri" pitchFamily="34" charset="0"/>
              </a:defRPr>
            </a:lvl8pPr>
            <a:lvl9pPr marL="1828800" algn="ctr" fontAlgn="base">
              <a:spcBef>
                <a:spcPct val="0"/>
              </a:spcBef>
              <a:spcAft>
                <a:spcPct val="0"/>
              </a:spcAft>
              <a:defRPr sz="4400">
                <a:solidFill>
                  <a:schemeClr val="bg1"/>
                </a:solidFill>
                <a:latin typeface="Calibri" pitchFamily="34" charset="0"/>
              </a:defRPr>
            </a:lvl9pPr>
          </a:lstStyle>
          <a:p>
            <a:pPr algn="l"/>
            <a:r>
              <a:rPr lang="en-US" sz="2700" dirty="0"/>
              <a:t>HỎNG HÓC CABIN ẢNH HƯỞNG KHAI THÁC VÀ PTVT – TUẦN 09</a:t>
            </a:r>
            <a:endParaRPr lang="vi-VN" sz="2700" dirty="0"/>
          </a:p>
        </p:txBody>
      </p:sp>
      <p:sp>
        <p:nvSpPr>
          <p:cNvPr id="24" name="TextBox 23"/>
          <p:cNvSpPr txBox="1"/>
          <p:nvPr/>
        </p:nvSpPr>
        <p:spPr>
          <a:xfrm>
            <a:off x="350880" y="3932715"/>
            <a:ext cx="10876298" cy="2953116"/>
          </a:xfrm>
          <a:prstGeom prst="rect">
            <a:avLst/>
          </a:prstGeom>
          <a:noFill/>
        </p:spPr>
        <p:style>
          <a:lnRef idx="2">
            <a:schemeClr val="accent6"/>
          </a:lnRef>
          <a:fillRef idx="1">
            <a:schemeClr val="lt1"/>
          </a:fillRef>
          <a:effectRef idx="0">
            <a:schemeClr val="accent6"/>
          </a:effectRef>
          <a:fontRef idx="minor">
            <a:schemeClr val="dk1"/>
          </a:fontRef>
        </p:style>
        <p:txBody>
          <a:bodyPr wrap="square" rtlCol="0">
            <a:spAutoFit/>
          </a:bodyPr>
          <a:lstStyle/>
          <a:p>
            <a:pPr>
              <a:lnSpc>
                <a:spcPct val="130000"/>
              </a:lnSpc>
            </a:pPr>
            <a:r>
              <a:rPr lang="en-US" sz="1100" b="1" dirty="0" err="1">
                <a:latin typeface="Times New Roman" panose="02020603050405020304" pitchFamily="18" charset="0"/>
                <a:cs typeface="Times New Roman" panose="02020603050405020304" pitchFamily="18" charset="0"/>
              </a:rPr>
              <a:t>Nội</a:t>
            </a:r>
            <a:r>
              <a:rPr lang="en-US" sz="1100" b="1" dirty="0">
                <a:latin typeface="Times New Roman" panose="02020603050405020304" pitchFamily="18" charset="0"/>
                <a:cs typeface="Times New Roman" panose="02020603050405020304" pitchFamily="18" charset="0"/>
              </a:rPr>
              <a:t> dung </a:t>
            </a:r>
            <a:r>
              <a:rPr lang="en-US" sz="1100" b="1" dirty="0" err="1">
                <a:latin typeface="Times New Roman" panose="02020603050405020304" pitchFamily="18" charset="0"/>
                <a:cs typeface="Times New Roman" panose="02020603050405020304" pitchFamily="18" charset="0"/>
              </a:rPr>
              <a:t>khác</a:t>
            </a:r>
            <a:r>
              <a:rPr lang="en-US" sz="1100" b="1" dirty="0">
                <a:latin typeface="Times New Roman" panose="02020603050405020304" pitchFamily="18" charset="0"/>
                <a:cs typeface="Times New Roman" panose="02020603050405020304" pitchFamily="18" charset="0"/>
              </a:rPr>
              <a:t>:</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Tháo PCU 787: </a:t>
            </a:r>
            <a:r>
              <a:rPr lang="en-US" sz="1100" dirty="0">
                <a:solidFill>
                  <a:schemeClr val="tx1"/>
                </a:solidFill>
                <a:latin typeface="Times New Roman" panose="02020603050405020304" pitchFamily="18" charset="0"/>
                <a:cs typeface="Times New Roman" panose="02020603050405020304" pitchFamily="18" charset="0"/>
              </a:rPr>
              <a:t>Đã thực hiện 07 tàu A861, A862 ,A863, A865, A866, A867, A868 (trong tuần thực hiện 01 tàu ) =&gt; tiếp tục thực hiện 04 tàu còn </a:t>
            </a:r>
            <a:r>
              <a:rPr lang="en-US" sz="1100" dirty="0" err="1">
                <a:solidFill>
                  <a:schemeClr val="tx1"/>
                </a:solidFill>
                <a:latin typeface="Times New Roman" panose="02020603050405020304" pitchFamily="18" charset="0"/>
                <a:cs typeface="Times New Roman" panose="02020603050405020304" pitchFamily="18" charset="0"/>
              </a:rPr>
              <a:t>lại</a:t>
            </a:r>
            <a:r>
              <a:rPr lang="en-US" sz="1100" dirty="0">
                <a:solidFill>
                  <a:schemeClr val="tx1"/>
                </a:solidFill>
                <a:latin typeface="Times New Roman" panose="02020603050405020304" pitchFamily="18" charset="0"/>
                <a:cs typeface="Times New Roman" panose="02020603050405020304" pitchFamily="18" charset="0"/>
              </a:rPr>
              <a:t> </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IFC 10 tàu A350: </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PO </a:t>
            </a:r>
            <a:r>
              <a:rPr lang="en-US" sz="1100" dirty="0" err="1">
                <a:solidFill>
                  <a:schemeClr val="tx1"/>
                </a:solidFill>
                <a:latin typeface="Times New Roman" panose="02020603050405020304" pitchFamily="18" charset="0"/>
                <a:cs typeface="Times New Roman" panose="02020603050405020304" pitchFamily="18" charset="0"/>
              </a:rPr>
              <a:t>mua</a:t>
            </a:r>
            <a:r>
              <a:rPr lang="en-US" sz="1100" dirty="0">
                <a:solidFill>
                  <a:schemeClr val="tx1"/>
                </a:solidFill>
                <a:latin typeface="Times New Roman" panose="02020603050405020304" pitchFamily="18" charset="0"/>
                <a:cs typeface="Times New Roman" panose="02020603050405020304" pitchFamily="18" charset="0"/>
              </a:rPr>
              <a:t> tài liệu TSM.: </a:t>
            </a:r>
            <a:r>
              <a:rPr lang="en-US" sz="1100" b="1" dirty="0" err="1">
                <a:solidFill>
                  <a:schemeClr val="tx1"/>
                </a:solidFill>
                <a:latin typeface="Times New Roman" panose="02020603050405020304" pitchFamily="18" charset="0"/>
                <a:cs typeface="Times New Roman" panose="02020603050405020304" pitchFamily="18" charset="0"/>
              </a:rPr>
              <a:t>giao</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Vật tư dự phòng bắt đầu giao 2/2025: KFRU 2ea đã giao, MODMAN 2ea, KANDU 2ea </a:t>
            </a:r>
            <a:r>
              <a:rPr lang="en-US" sz="1100" dirty="0" err="1">
                <a:solidFill>
                  <a:schemeClr val="tx1"/>
                </a:solidFill>
                <a:latin typeface="Times New Roman" panose="02020603050405020304" pitchFamily="18" charset="0"/>
                <a:cs typeface="Times New Roman" panose="02020603050405020304" pitchFamily="18" charset="0"/>
              </a:rPr>
              <a:t>giao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3/2025, FMA 01ea giao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4/2025 (tiếp tục giục Thales)</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 MPS và FSAT ban </a:t>
            </a:r>
            <a:r>
              <a:rPr lang="en-US" sz="1100" dirty="0" err="1">
                <a:solidFill>
                  <a:schemeClr val="tx1"/>
                </a:solidFill>
                <a:latin typeface="Times New Roman" panose="02020603050405020304" pitchFamily="18" charset="0"/>
                <a:cs typeface="Times New Roman" panose="02020603050405020304" pitchFamily="18" charset="0"/>
              </a:rPr>
              <a:t>giao</a:t>
            </a:r>
            <a:r>
              <a:rPr lang="en-US" sz="1100" dirty="0">
                <a:solidFill>
                  <a:schemeClr val="tx1"/>
                </a:solidFill>
                <a:latin typeface="Times New Roman" panose="02020603050405020304" pitchFamily="18" charset="0"/>
                <a:cs typeface="Times New Roman" panose="02020603050405020304" pitchFamily="18" charset="0"/>
              </a:rPr>
              <a:t> 3/2025: </a:t>
            </a:r>
            <a:r>
              <a:rPr lang="en-US" sz="1100" dirty="0" err="1">
                <a:solidFill>
                  <a:schemeClr val="tx1"/>
                </a:solidFill>
                <a:latin typeface="Times New Roman" panose="02020603050405020304" pitchFamily="18" charset="0"/>
                <a:cs typeface="Times New Roman" panose="02020603050405020304" pitchFamily="18" charset="0"/>
              </a:rPr>
              <a:t>sau</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đàm</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phán</a:t>
            </a:r>
            <a:r>
              <a:rPr lang="en-US" sz="1100" dirty="0">
                <a:solidFill>
                  <a:schemeClr val="tx1"/>
                </a:solidFill>
                <a:latin typeface="Times New Roman" panose="02020603050405020304" pitchFamily="18" charset="0"/>
                <a:cs typeface="Times New Roman" panose="02020603050405020304" pitchFamily="18" charset="0"/>
              </a:rPr>
              <a:t>, Thales </a:t>
            </a:r>
            <a:r>
              <a:rPr lang="en-US" sz="1100" dirty="0" err="1">
                <a:solidFill>
                  <a:schemeClr val="tx1"/>
                </a:solidFill>
                <a:latin typeface="Times New Roman" panose="02020603050405020304" pitchFamily="18" charset="0"/>
                <a:cs typeface="Times New Roman" panose="02020603050405020304" pitchFamily="18" charset="0"/>
              </a:rPr>
              <a:t>đồng</a:t>
            </a:r>
            <a:r>
              <a:rPr lang="en-US" sz="1100" dirty="0">
                <a:solidFill>
                  <a:schemeClr val="tx1"/>
                </a:solidFill>
                <a:latin typeface="Times New Roman" panose="02020603050405020304" pitchFamily="18" charset="0"/>
                <a:cs typeface="Times New Roman" panose="02020603050405020304" pitchFamily="18" charset="0"/>
              </a:rPr>
              <a:t> ý </a:t>
            </a:r>
            <a:r>
              <a:rPr lang="en-US" sz="1100" dirty="0" err="1">
                <a:solidFill>
                  <a:schemeClr val="tx1"/>
                </a:solidFill>
                <a:latin typeface="Times New Roman" panose="02020603050405020304" pitchFamily="18" charset="0"/>
                <a:cs typeface="Times New Roman" panose="02020603050405020304" pitchFamily="18" charset="0"/>
              </a:rPr>
              <a:t>giữ</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lịch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giao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3/2025 </a:t>
            </a:r>
            <a:r>
              <a:rPr lang="en-US" sz="1100" dirty="0" err="1">
                <a:solidFill>
                  <a:schemeClr val="tx1"/>
                </a:solidFill>
                <a:latin typeface="Times New Roman" panose="02020603050405020304" pitchFamily="18" charset="0"/>
                <a:cs typeface="Times New Roman" panose="02020603050405020304" pitchFamily="18" charset="0"/>
              </a:rPr>
              <a:t>cho</a:t>
            </a:r>
            <a:r>
              <a:rPr lang="en-US" sz="1100" dirty="0">
                <a:solidFill>
                  <a:schemeClr val="tx1"/>
                </a:solidFill>
                <a:latin typeface="Times New Roman" panose="02020603050405020304" pitchFamily="18" charset="0"/>
                <a:cs typeface="Times New Roman" panose="02020603050405020304" pitchFamily="18" charset="0"/>
              </a:rPr>
              <a:t> MPS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mod kit</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gửi 02 shipset tàu bảo quản đi nâng cấp firmwarre, TAT 60-70 ngày =&gt; tiếp tục giục Thales &amp; Honeywell, </a:t>
            </a:r>
            <a:r>
              <a:rPr lang="en-US" sz="1100" dirty="0" err="1">
                <a:solidFill>
                  <a:schemeClr val="tx1"/>
                </a:solidFill>
                <a:latin typeface="Times New Roman" panose="02020603050405020304" pitchFamily="18" charset="0"/>
                <a:cs typeface="Times New Roman" panose="02020603050405020304" pitchFamily="18" charset="0"/>
              </a:rPr>
              <a:t>vật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tư</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đến</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02 antena gửi sửa chữa shop: </a:t>
            </a:r>
            <a:r>
              <a:rPr lang="en-US" sz="1100" b="1" dirty="0">
                <a:solidFill>
                  <a:schemeClr val="tx1"/>
                </a:solidFill>
                <a:latin typeface="Times New Roman" panose="02020603050405020304" pitchFamily="18" charset="0"/>
                <a:cs typeface="Times New Roman" panose="02020603050405020304" pitchFamily="18" charset="0"/>
              </a:rPr>
              <a:t>đã về 01 </a:t>
            </a:r>
            <a:r>
              <a:rPr lang="en-US" sz="1100" b="1" dirty="0" err="1">
                <a:solidFill>
                  <a:schemeClr val="tx1"/>
                </a:solidFill>
                <a:latin typeface="Times New Roman" panose="02020603050405020304" pitchFamily="18" charset="0"/>
                <a:cs typeface="Times New Roman" panose="02020603050405020304" pitchFamily="18" charset="0"/>
              </a:rPr>
              <a:t>khối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thay</a:t>
            </a:r>
            <a:r>
              <a:rPr lang="en-US" sz="1100" b="1" dirty="0">
                <a:solidFill>
                  <a:schemeClr val="tx1"/>
                </a:solidFill>
                <a:latin typeface="Times New Roman" panose="02020603050405020304" pitchFamily="18" charset="0"/>
                <a:cs typeface="Times New Roman" panose="02020603050405020304" pitchFamily="18" charset="0"/>
              </a:rPr>
              <a:t> A893 + 01 </a:t>
            </a:r>
            <a:r>
              <a:rPr lang="en-US" sz="1100" b="1" dirty="0" err="1">
                <a:solidFill>
                  <a:schemeClr val="tx1"/>
                </a:solidFill>
                <a:latin typeface="Times New Roman" panose="02020603050405020304" pitchFamily="18" charset="0"/>
                <a:cs typeface="Times New Roman" panose="02020603050405020304" pitchFamily="18" charset="0"/>
              </a:rPr>
              <a:t>khối</a:t>
            </a:r>
            <a:r>
              <a:rPr lang="en-US" sz="1100" b="1" dirty="0">
                <a:solidFill>
                  <a:schemeClr val="tx1"/>
                </a:solidFill>
                <a:latin typeface="Times New Roman" panose="02020603050405020304" pitchFamily="18" charset="0"/>
                <a:cs typeface="Times New Roman" panose="02020603050405020304" pitchFamily="18" charset="0"/>
              </a:rPr>
              <a:t> </a:t>
            </a:r>
            <a:r>
              <a:rPr lang="en-US" sz="1100" b="1" dirty="0" err="1">
                <a:solidFill>
                  <a:schemeClr val="tx1"/>
                </a:solidFill>
                <a:latin typeface="Times New Roman" panose="02020603050405020304" pitchFamily="18" charset="0"/>
                <a:cs typeface="Times New Roman" panose="02020603050405020304" pitchFamily="18" charset="0"/>
              </a:rPr>
              <a:t>thay</a:t>
            </a:r>
            <a:r>
              <a:rPr lang="en-US" sz="1100" b="1" dirty="0">
                <a:solidFill>
                  <a:schemeClr val="tx1"/>
                </a:solidFill>
                <a:latin typeface="Times New Roman" panose="02020603050405020304" pitchFamily="18" charset="0"/>
                <a:cs typeface="Times New Roman" panose="02020603050405020304" pitchFamily="18" charset="0"/>
              </a:rPr>
              <a:t> A896 </a:t>
            </a:r>
            <a:r>
              <a:rPr lang="en-US" sz="1100" b="1" dirty="0" err="1">
                <a:solidFill>
                  <a:schemeClr val="tx1"/>
                </a:solidFill>
                <a:latin typeface="Times New Roman" panose="02020603050405020304" pitchFamily="18" charset="0"/>
                <a:cs typeface="Times New Roman" panose="02020603050405020304" pitchFamily="18" charset="0"/>
              </a:rPr>
              <a:t>tháng</a:t>
            </a:r>
            <a:r>
              <a:rPr lang="en-US" sz="1100" b="1" dirty="0">
                <a:solidFill>
                  <a:schemeClr val="tx1"/>
                </a:solidFill>
                <a:latin typeface="Times New Roman" panose="02020603050405020304" pitchFamily="18" charset="0"/>
                <a:cs typeface="Times New Roman" panose="02020603050405020304" pitchFamily="18" charset="0"/>
              </a:rPr>
              <a:t> 3/2025</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Đào tạo IFC VAECO dự kiến </a:t>
            </a:r>
            <a:r>
              <a:rPr lang="en-US" sz="1100" dirty="0" err="1">
                <a:solidFill>
                  <a:schemeClr val="tx1"/>
                </a:solidFill>
                <a:latin typeface="Times New Roman" panose="02020603050405020304" pitchFamily="18" charset="0"/>
                <a:cs typeface="Times New Roman" panose="02020603050405020304" pitchFamily="18" charset="0"/>
              </a:rPr>
              <a:t>tháng</a:t>
            </a:r>
            <a:r>
              <a:rPr lang="en-US" sz="1100" dirty="0">
                <a:solidFill>
                  <a:schemeClr val="tx1"/>
                </a:solidFill>
                <a:latin typeface="Times New Roman" panose="02020603050405020304" pitchFamily="18" charset="0"/>
                <a:cs typeface="Times New Roman" panose="02020603050405020304" pitchFamily="18" charset="0"/>
              </a:rPr>
              <a:t> 19-20/2/2025: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thực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hiện</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FSAT </a:t>
            </a:r>
            <a:r>
              <a:rPr lang="en-US" sz="1100" dirty="0" err="1">
                <a:solidFill>
                  <a:schemeClr val="tx1"/>
                </a:solidFill>
                <a:latin typeface="Times New Roman" panose="02020603050405020304" pitchFamily="18" charset="0"/>
                <a:cs typeface="Times New Roman" panose="02020603050405020304" pitchFamily="18" charset="0"/>
              </a:rPr>
              <a:t>từ</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ngày</a:t>
            </a:r>
            <a:r>
              <a:rPr lang="en-US" sz="1100" dirty="0">
                <a:solidFill>
                  <a:schemeClr val="tx1"/>
                </a:solidFill>
                <a:latin typeface="Times New Roman" panose="02020603050405020304" pitchFamily="18" charset="0"/>
                <a:cs typeface="Times New Roman" panose="02020603050405020304" pitchFamily="18" charset="0"/>
              </a:rPr>
              <a:t> 4-7/3/2025</a:t>
            </a:r>
          </a:p>
          <a:p>
            <a:pPr marL="285750" indent="-285750">
              <a:lnSpc>
                <a:spcPct val="130000"/>
              </a:lnSpc>
              <a:buFontTx/>
              <a:buChar char="-"/>
            </a:pPr>
            <a:r>
              <a:rPr lang="en-US" sz="1100" b="1" dirty="0">
                <a:solidFill>
                  <a:schemeClr val="tx1"/>
                </a:solidFill>
                <a:latin typeface="Times New Roman" panose="02020603050405020304" pitchFamily="18" charset="0"/>
                <a:cs typeface="Times New Roman" panose="02020603050405020304" pitchFamily="18" charset="0"/>
              </a:rPr>
              <a:t>CĐCH ghế 23 tàu A321CEO:</a:t>
            </a:r>
          </a:p>
          <a:p>
            <a:pPr marL="742950" lvl="1" indent="-285750">
              <a:lnSpc>
                <a:spcPct val="130000"/>
              </a:lnSpc>
              <a:buFontTx/>
              <a:buChar char="-"/>
            </a:pPr>
            <a:r>
              <a:rPr lang="en-US" sz="1100" dirty="0">
                <a:solidFill>
                  <a:schemeClr val="tx1"/>
                </a:solidFill>
                <a:latin typeface="Times New Roman" panose="02020603050405020304" pitchFamily="18" charset="0"/>
                <a:cs typeface="Times New Roman" panose="02020603050405020304" pitchFamily="18" charset="0"/>
              </a:rPr>
              <a:t>Đã phát HSYC lần 1,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nhận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a:t>
            </a:r>
          </a:p>
          <a:p>
            <a:pPr marL="742950" lvl="1" indent="-285750">
              <a:lnSpc>
                <a:spcPct val="130000"/>
              </a:lnSpc>
              <a:buFontTx/>
              <a:buChar char="-"/>
            </a:pP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hoàn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thành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đánh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giá</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bản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chào</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lần</a:t>
            </a:r>
            <a:r>
              <a:rPr lang="en-US" sz="1100" dirty="0">
                <a:solidFill>
                  <a:schemeClr val="tx1"/>
                </a:solidFill>
                <a:latin typeface="Times New Roman" panose="02020603050405020304" pitchFamily="18" charset="0"/>
                <a:cs typeface="Times New Roman" panose="02020603050405020304" pitchFamily="18" charset="0"/>
              </a:rPr>
              <a:t> 2 =&gt; </a:t>
            </a:r>
            <a:r>
              <a:rPr lang="en-US" sz="1100" dirty="0" err="1">
                <a:solidFill>
                  <a:schemeClr val="tx1"/>
                </a:solidFill>
                <a:latin typeface="Times New Roman" panose="02020603050405020304" pitchFamily="18" charset="0"/>
                <a:cs typeface="Times New Roman" panose="02020603050405020304" pitchFamily="18" charset="0"/>
              </a:rPr>
              <a:t>họp</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tổ</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và</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trình</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kết</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quả</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trong</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10</a:t>
            </a:r>
          </a:p>
        </p:txBody>
      </p:sp>
      <p:sp>
        <p:nvSpPr>
          <p:cNvPr id="22" name="TextBox 21"/>
          <p:cNvSpPr txBox="1"/>
          <p:nvPr/>
        </p:nvSpPr>
        <p:spPr>
          <a:xfrm>
            <a:off x="365449" y="2996246"/>
            <a:ext cx="10862852"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Galley:</a:t>
            </a:r>
          </a:p>
          <a:p>
            <a:pPr marL="285750" indent="-285750">
              <a:buFontTx/>
              <a:buChar char="-"/>
            </a:pPr>
            <a:r>
              <a:rPr lang="en-US" sz="1100" b="1" dirty="0">
                <a:latin typeface="Times New Roman" panose="02020603050405020304" pitchFamily="18" charset="0"/>
                <a:cs typeface="Times New Roman" panose="02020603050405020304" pitchFamily="18" charset="0"/>
              </a:rPr>
              <a:t>Hỏng hóc wine chiller</a:t>
            </a:r>
            <a:r>
              <a:rPr lang="en-US" sz="1100" dirty="0">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10ea,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9 ea. </a:t>
            </a:r>
            <a:r>
              <a:rPr lang="en-US" sz="1100" dirty="0" err="1">
                <a:solidFill>
                  <a:schemeClr val="tx1"/>
                </a:solidFill>
                <a:latin typeface="Times New Roman" panose="02020603050405020304" pitchFamily="18" charset="0"/>
                <a:cs typeface="Times New Roman" panose="02020603050405020304" pitchFamily="18" charset="0"/>
              </a:rPr>
              <a:t>Tiến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độ</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sửa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chữa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tại</a:t>
            </a:r>
            <a:r>
              <a:rPr lang="en-US" sz="1100" dirty="0">
                <a:solidFill>
                  <a:schemeClr val="tx1"/>
                </a:solidFill>
                <a:latin typeface="Times New Roman" panose="02020603050405020304" pitchFamily="18" charset="0"/>
                <a:cs typeface="Times New Roman" panose="02020603050405020304" pitchFamily="18" charset="0"/>
              </a:rPr>
              <a:t> shop</a:t>
            </a: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B787: </a:t>
            </a:r>
            <a:r>
              <a:rPr lang="en-US" sz="1100" dirty="0">
                <a:latin typeface="Times New Roman" panose="02020603050405020304" pitchFamily="18" charset="0"/>
                <a:cs typeface="Times New Roman" panose="02020603050405020304" pitchFamily="18" charset="0"/>
              </a:rPr>
              <a:t>05</a:t>
            </a:r>
            <a:r>
              <a:rPr lang="vi-VN" sz="1100" dirty="0">
                <a:latin typeface="Times New Roman" panose="02020603050405020304" pitchFamily="18" charset="0"/>
                <a:cs typeface="Times New Roman" panose="02020603050405020304" pitchFamily="18" charset="0"/>
              </a:rPr>
              <a:t> ADD; </a:t>
            </a:r>
            <a:r>
              <a:rPr lang="en-US" sz="1100" dirty="0">
                <a:latin typeface="Times New Roman"/>
                <a:ea typeface="Times New Roman"/>
                <a:cs typeface="Times New Roman"/>
                <a:sym typeface="Times New Roman"/>
              </a:rPr>
              <a:t>04RO </a:t>
            </a:r>
            <a:r>
              <a:rPr lang="vi-VN" sz="1100" dirty="0">
                <a:latin typeface="Times New Roman" panose="02020603050405020304" pitchFamily="18" charset="0"/>
                <a:cs typeface="Times New Roman" panose="02020603050405020304" pitchFamily="18" charset="0"/>
              </a:rPr>
              <a:t>chưa có EDD</a:t>
            </a:r>
            <a:r>
              <a:rPr lang="en-US" sz="1100" dirty="0">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a:p>
            <a:pPr marL="742950" lvl="1" indent="-285750">
              <a:buClr>
                <a:srgbClr val="000000"/>
              </a:buClr>
              <a:buSzPts val="1300"/>
              <a:buFont typeface="Arial" panose="020B0604020202020204" pitchFamily="34" charset="0"/>
              <a:buChar char="•"/>
            </a:pPr>
            <a:r>
              <a:rPr lang="vi-VN" sz="1100" dirty="0">
                <a:latin typeface="Times New Roman" panose="02020603050405020304" pitchFamily="18" charset="0"/>
                <a:cs typeface="Times New Roman" panose="02020603050405020304" pitchFamily="18" charset="0"/>
              </a:rPr>
              <a:t>Chiller A350: </a:t>
            </a:r>
            <a:r>
              <a:rPr lang="en-US" sz="1100" dirty="0">
                <a:latin typeface="Times New Roman" panose="02020603050405020304" pitchFamily="18" charset="0"/>
                <a:cs typeface="Times New Roman" panose="02020603050405020304" pitchFamily="18" charset="0"/>
              </a:rPr>
              <a:t>05  ADD; </a:t>
            </a:r>
            <a:r>
              <a:rPr lang="en-US" sz="1100" dirty="0">
                <a:latin typeface="Times New Roman"/>
                <a:cs typeface="Times New Roman"/>
                <a:sym typeface="Times New Roman"/>
              </a:rPr>
              <a:t>05</a:t>
            </a:r>
            <a:r>
              <a:rPr lang="en-US" sz="1100" dirty="0">
                <a:latin typeface="Times New Roman"/>
                <a:ea typeface="Times New Roman"/>
                <a:cs typeface="Times New Roman"/>
                <a:sym typeface="Times New Roman"/>
              </a:rPr>
              <a:t> RO, </a:t>
            </a:r>
            <a:r>
              <a:rPr lang="vi-VN" sz="1100" dirty="0">
                <a:latin typeface="Times New Roman" panose="02020603050405020304" pitchFamily="18" charset="0"/>
                <a:cs typeface="Times New Roman" panose="02020603050405020304" pitchFamily="18" charset="0"/>
              </a:rPr>
              <a:t>chưa có EDD</a:t>
            </a:r>
            <a:endParaRPr lang="en-US" sz="1100" dirty="0">
              <a:latin typeface="Times New Roman"/>
              <a:cs typeface="Times New Roman"/>
              <a:sym typeface="Times New Roman"/>
            </a:endParaRPr>
          </a:p>
          <a:p>
            <a:pPr marL="285750" indent="-285750">
              <a:buClr>
                <a:srgbClr val="000000"/>
              </a:buClr>
              <a:buSzPts val="1300"/>
              <a:buFont typeface="Times New Roman" panose="02020603050405020304" pitchFamily="18" charset="0"/>
              <a:buChar char="⁃"/>
            </a:pPr>
            <a:r>
              <a:rPr lang="en-US" sz="1100" dirty="0">
                <a:latin typeface="Times New Roman" panose="02020603050405020304" pitchFamily="18" charset="0"/>
                <a:cs typeface="Times New Roman" panose="02020603050405020304" pitchFamily="18" charset="0"/>
              </a:rPr>
              <a:t>Hỏng hóc oven: </a:t>
            </a:r>
            <a:r>
              <a:rPr lang="en-US" sz="1100" dirty="0">
                <a:solidFill>
                  <a:schemeClr val="tx1"/>
                </a:solidFill>
                <a:latin typeface="Times New Roman" panose="02020603050405020304" pitchFamily="18" charset="0"/>
                <a:cs typeface="Times New Roman" panose="02020603050405020304" pitchFamily="18" charset="0"/>
              </a:rPr>
              <a:t>hỏng </a:t>
            </a:r>
            <a:r>
              <a:rPr lang="en-US" sz="1100" dirty="0" err="1">
                <a:solidFill>
                  <a:schemeClr val="tx1"/>
                </a:solidFill>
                <a:latin typeface="Times New Roman" panose="02020603050405020304" pitchFamily="18" charset="0"/>
                <a:cs typeface="Times New Roman" panose="02020603050405020304" pitchFamily="18" charset="0"/>
              </a:rPr>
              <a:t>hóc</a:t>
            </a:r>
            <a:r>
              <a:rPr lang="en-US" sz="1100" dirty="0">
                <a:solidFill>
                  <a:schemeClr val="tx1"/>
                </a:solidFill>
                <a:latin typeface="Times New Roman" panose="02020603050405020304" pitchFamily="18" charset="0"/>
                <a:cs typeface="Times New Roman" panose="02020603050405020304" pitchFamily="18" charset="0"/>
              </a:rPr>
              <a:t> 08ea, khắc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05ea</a:t>
            </a:r>
          </a:p>
        </p:txBody>
      </p:sp>
      <p:sp>
        <p:nvSpPr>
          <p:cNvPr id="23" name="TextBox 22"/>
          <p:cNvSpPr txBox="1"/>
          <p:nvPr/>
        </p:nvSpPr>
        <p:spPr>
          <a:xfrm>
            <a:off x="365449" y="1491047"/>
            <a:ext cx="10867915" cy="615553"/>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IFE: Thales SVDU (A350/B787): </a:t>
            </a:r>
            <a:r>
              <a:rPr lang="en-US" sz="1100" dirty="0">
                <a:latin typeface="Times New Roman" panose="02020603050405020304" pitchFamily="18" charset="0"/>
                <a:cs typeface="Times New Roman" panose="02020603050405020304" pitchFamily="18" charset="0"/>
              </a:rPr>
              <a:t>replaced </a:t>
            </a:r>
            <a:r>
              <a:rPr lang="en-GB" sz="1100" b="1" dirty="0">
                <a:solidFill>
                  <a:schemeClr val="tx1"/>
                </a:solidFill>
                <a:latin typeface="Times New Roman" panose="02020603050405020304" pitchFamily="18" charset="0"/>
                <a:cs typeface="Times New Roman" panose="02020603050405020304" pitchFamily="18" charset="0"/>
              </a:rPr>
              <a:t>2</a:t>
            </a:r>
            <a:r>
              <a:rPr lang="en-US" sz="1100" b="1" dirty="0">
                <a:solidFill>
                  <a:schemeClr val="tx1"/>
                </a:solidFill>
                <a:latin typeface="Times New Roman" panose="02020603050405020304" pitchFamily="18" charset="0"/>
                <a:cs typeface="Times New Roman" panose="02020603050405020304" pitchFamily="18" charset="0"/>
              </a:rPr>
              <a:t>777</a:t>
            </a:r>
            <a:r>
              <a:rPr lang="en-GB" sz="1100" b="1" dirty="0">
                <a:solidFill>
                  <a:schemeClr val="tx1"/>
                </a:solidFill>
                <a:latin typeface="Times New Roman" panose="02020603050405020304" pitchFamily="18" charset="0"/>
                <a:cs typeface="Times New Roman" panose="02020603050405020304" pitchFamily="18" charset="0"/>
              </a:rPr>
              <a:t>/3</a:t>
            </a:r>
            <a:r>
              <a:rPr lang="en-US" sz="1100" b="1" dirty="0">
                <a:solidFill>
                  <a:schemeClr val="tx1"/>
                </a:solidFill>
                <a:latin typeface="Times New Roman" panose="02020603050405020304" pitchFamily="18" charset="0"/>
                <a:cs typeface="Times New Roman" panose="02020603050405020304" pitchFamily="18" charset="0"/>
              </a:rPr>
              <a:t>097 </a:t>
            </a:r>
            <a:r>
              <a:rPr lang="en-US" sz="1100" b="1" dirty="0">
                <a:latin typeface="Times New Roman" panose="02020603050405020304" pitchFamily="18" charset="0"/>
                <a:cs typeface="Times New Roman" panose="02020603050405020304" pitchFamily="18" charset="0"/>
              </a:rPr>
              <a:t>SVDU (</a:t>
            </a:r>
            <a:r>
              <a:rPr lang="en-US" sz="1100" b="1" dirty="0" err="1">
                <a:latin typeface="Times New Roman" panose="02020603050405020304" pitchFamily="18" charset="0"/>
                <a:cs typeface="Times New Roman" panose="02020603050405020304" pitchFamily="18" charset="0"/>
              </a:rPr>
              <a:t>còn</a:t>
            </a:r>
            <a:r>
              <a:rPr lang="en-US" sz="1100" b="1" dirty="0">
                <a:latin typeface="Times New Roman" panose="02020603050405020304" pitchFamily="18" charset="0"/>
                <a:cs typeface="Times New Roman" panose="02020603050405020304" pitchFamily="18" charset="0"/>
              </a:rPr>
              <a:t> 320 INOP SVDU). </a:t>
            </a:r>
            <a:r>
              <a:rPr lang="en-US" sz="1100" dirty="0">
                <a:solidFill>
                  <a:srgbClr val="FF0000"/>
                </a:solidFill>
                <a:latin typeface="Times New Roman" panose="02020603050405020304" pitchFamily="18" charset="0"/>
                <a:cs typeface="Times New Roman" panose="02020603050405020304" pitchFamily="18" charset="0"/>
              </a:rPr>
              <a:t>Trong </a:t>
            </a:r>
            <a:r>
              <a:rPr lang="en-US" sz="1100" dirty="0" err="1">
                <a:solidFill>
                  <a:srgbClr val="FF0000"/>
                </a:solidFill>
                <a:latin typeface="Times New Roman" panose="02020603050405020304" pitchFamily="18" charset="0"/>
                <a:cs typeface="Times New Roman" panose="02020603050405020304" pitchFamily="18" charset="0"/>
              </a:rPr>
              <a:t>tuần</a:t>
            </a:r>
            <a:r>
              <a:rPr lang="en-US" sz="1100" dirty="0">
                <a:solidFill>
                  <a:srgbClr val="FF0000"/>
                </a:solidFill>
                <a:latin typeface="Times New Roman" panose="02020603050405020304" pitchFamily="18" charset="0"/>
                <a:cs typeface="Times New Roman" panose="02020603050405020304" pitchFamily="18" charset="0"/>
              </a:rPr>
              <a:t> 9:  hỏng mới 10 ea,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a:solidFill>
                  <a:srgbClr val="FF0000"/>
                </a:solidFill>
                <a:latin typeface="Times New Roman" panose="02020603050405020304" pitchFamily="18" charset="0"/>
                <a:cs typeface="Times New Roman" panose="02020603050405020304" pitchFamily="18" charset="0"/>
              </a:rPr>
              <a:t> 35ea</a:t>
            </a:r>
            <a:r>
              <a:rPr lang="en-US" sz="1100" dirty="0">
                <a:solidFill>
                  <a:schemeClr val="tx1"/>
                </a:solidFill>
                <a:latin typeface="Times New Roman" panose="02020603050405020304" pitchFamily="18" charset="0"/>
                <a:cs typeface="Times New Roman" panose="02020603050405020304" pitchFamily="18" charset="0"/>
              </a:rPr>
              <a:t>. </a:t>
            </a:r>
            <a:endParaRPr lang="en-GB" sz="1100" dirty="0">
              <a:solidFill>
                <a:schemeClr val="tx1"/>
              </a:solidFill>
              <a:latin typeface="Times New Roman" panose="02020603050405020304" pitchFamily="18" charset="0"/>
              <a:cs typeface="Times New Roman" panose="02020603050405020304" pitchFamily="18" charset="0"/>
            </a:endParaRPr>
          </a:p>
          <a:p>
            <a:r>
              <a:rPr lang="en-US" sz="1100" dirty="0">
                <a:latin typeface="Times New Roman" panose="02020603050405020304" pitchFamily="18" charset="0"/>
                <a:cs typeface="Times New Roman" panose="02020603050405020304" pitchFamily="18" charset="0"/>
              </a:rPr>
              <a:t> -       Hỏng hóc đội bay A350: đã được khắc phục và kiểm soát</a:t>
            </a:r>
          </a:p>
          <a:p>
            <a:r>
              <a:rPr lang="en-US" sz="1100" dirty="0">
                <a:solidFill>
                  <a:schemeClr val="tx1"/>
                </a:solidFill>
                <a:latin typeface="Times New Roman" panose="02020603050405020304" pitchFamily="18" charset="0"/>
                <a:cs typeface="Times New Roman" panose="02020603050405020304" pitchFamily="18" charset="0"/>
              </a:rPr>
              <a:t>-        Hỏng hóc tồn đọng: tập trung đội bay B787, số lượng quay vòng ít (80ea). =&gt; Thales dự kiến bổ sung 30 SVDU trong tháng 3/2025</a:t>
            </a:r>
          </a:p>
        </p:txBody>
      </p:sp>
      <p:sp>
        <p:nvSpPr>
          <p:cNvPr id="25" name="TextBox 24"/>
          <p:cNvSpPr txBox="1"/>
          <p:nvPr/>
        </p:nvSpPr>
        <p:spPr>
          <a:xfrm>
            <a:off x="366569" y="2083345"/>
            <a:ext cx="10860609" cy="938719"/>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LAV:</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Toilet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02 </a:t>
            </a:r>
            <a:r>
              <a:rPr lang="en-US" sz="1100" dirty="0" err="1">
                <a:solidFill>
                  <a:schemeClr val="tx1"/>
                </a:solidFill>
                <a:latin typeface="Times New Roman" panose="02020603050405020304" pitchFamily="18" charset="0"/>
                <a:cs typeface="Times New Roman" panose="02020603050405020304" pitchFamily="18" charset="0"/>
              </a:rPr>
              <a:t>ea</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01ea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Faucet </a:t>
            </a:r>
            <a:r>
              <a:rPr lang="en-US" sz="1100" b="1" dirty="0" err="1">
                <a:solidFill>
                  <a:schemeClr val="tx1"/>
                </a:solidFill>
                <a:latin typeface="Times New Roman" panose="02020603050405020304" pitchFamily="18" charset="0"/>
                <a:cs typeface="Times New Roman" panose="02020603050405020304" pitchFamily="18" charset="0"/>
              </a:rPr>
              <a:t>Assy</a:t>
            </a:r>
            <a:r>
              <a:rPr lang="en-US" sz="1100" b="1"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03ea,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02ea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Basin: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0ea</a:t>
            </a:r>
          </a:p>
          <a:p>
            <a:pPr marL="285750" indent="-285750">
              <a:buFontTx/>
              <a:buChar char="-"/>
            </a:pPr>
            <a:r>
              <a:rPr lang="en-US" sz="1100" b="1" dirty="0">
                <a:solidFill>
                  <a:schemeClr val="tx1"/>
                </a:solidFill>
                <a:latin typeface="Times New Roman" panose="02020603050405020304" pitchFamily="18" charset="0"/>
                <a:cs typeface="Times New Roman" panose="02020603050405020304" pitchFamily="18" charset="0"/>
              </a:rPr>
              <a:t>Boiler: </a:t>
            </a:r>
            <a:r>
              <a:rPr lang="en-US" sz="1100" dirty="0" err="1">
                <a:solidFill>
                  <a:schemeClr val="tx1"/>
                </a:solidFill>
                <a:latin typeface="Times New Roman" panose="02020603050405020304" pitchFamily="18" charset="0"/>
                <a:cs typeface="Times New Roman" panose="02020603050405020304" pitchFamily="18" charset="0"/>
              </a:rPr>
              <a:t>hỏng</a:t>
            </a:r>
            <a:r>
              <a:rPr lang="en-US" sz="1100" dirty="0">
                <a:solidFill>
                  <a:schemeClr val="tx1"/>
                </a:solidFill>
                <a:latin typeface="Times New Roman" panose="02020603050405020304" pitchFamily="18" charset="0"/>
                <a:cs typeface="Times New Roman" panose="02020603050405020304" pitchFamily="18" charset="0"/>
              </a:rPr>
              <a:t> 08ea,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01ea, </a:t>
            </a:r>
            <a:r>
              <a:rPr lang="en-US" sz="1100" dirty="0" err="1">
                <a:solidFill>
                  <a:schemeClr val="tx1"/>
                </a:solidFill>
                <a:latin typeface="Times New Roman" panose="02020603050405020304" pitchFamily="18" charset="0"/>
                <a:cs typeface="Times New Roman" panose="02020603050405020304" pitchFamily="18" charset="0"/>
              </a:rPr>
              <a:t>tồn</a:t>
            </a:r>
            <a:r>
              <a:rPr lang="en-US" sz="1100" dirty="0">
                <a:solidFill>
                  <a:schemeClr val="tx1"/>
                </a:solidFill>
                <a:latin typeface="Times New Roman" panose="02020603050405020304" pitchFamily="18" charset="0"/>
                <a:cs typeface="Times New Roman" panose="02020603050405020304" pitchFamily="18" charset="0"/>
              </a:rPr>
              <a:t> 8ea =&gt; </a:t>
            </a:r>
            <a:r>
              <a:rPr lang="en-US" sz="1100" dirty="0" err="1">
                <a:solidFill>
                  <a:schemeClr val="tx1"/>
                </a:solidFill>
                <a:latin typeface="Times New Roman" panose="02020603050405020304" pitchFamily="18" charset="0"/>
                <a:cs typeface="Times New Roman" panose="02020603050405020304" pitchFamily="18" charset="0"/>
              </a:rPr>
              <a:t>đôn</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đốc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khắc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phục</a:t>
            </a:r>
            <a:r>
              <a:rPr lang="en-US" sz="1100" dirty="0">
                <a:solidFill>
                  <a:schemeClr val="tx1"/>
                </a:solidFill>
                <a:latin typeface="Times New Roman" panose="02020603050405020304" pitchFamily="18" charset="0"/>
                <a:cs typeface="Times New Roman" panose="02020603050405020304" pitchFamily="18" charset="0"/>
              </a:rPr>
              <a:t> </a:t>
            </a:r>
            <a:r>
              <a:rPr lang="en-US" sz="1100" dirty="0" err="1">
                <a:solidFill>
                  <a:schemeClr val="tx1"/>
                </a:solidFill>
                <a:latin typeface="Times New Roman" panose="02020603050405020304" pitchFamily="18" charset="0"/>
                <a:cs typeface="Times New Roman" panose="02020603050405020304" pitchFamily="18" charset="0"/>
              </a:rPr>
              <a:t>tuần</a:t>
            </a:r>
            <a:r>
              <a:rPr lang="en-US" sz="1100" dirty="0">
                <a:solidFill>
                  <a:schemeClr val="tx1"/>
                </a:solidFill>
                <a:latin typeface="Times New Roman" panose="02020603050405020304" pitchFamily="18" charset="0"/>
                <a:cs typeface="Times New Roman" panose="02020603050405020304" pitchFamily="18" charset="0"/>
              </a:rPr>
              <a:t> 10</a:t>
            </a:r>
          </a:p>
        </p:txBody>
      </p:sp>
      <p:sp>
        <p:nvSpPr>
          <p:cNvPr id="26" name="TextBox 25"/>
          <p:cNvSpPr txBox="1"/>
          <p:nvPr/>
        </p:nvSpPr>
        <p:spPr>
          <a:xfrm>
            <a:off x="365449" y="451497"/>
            <a:ext cx="10884102" cy="430887"/>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ADD ảnh hưởng dịch vụ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09: </a:t>
            </a:r>
            <a:r>
              <a:rPr lang="en-US" sz="1100" dirty="0" err="1">
                <a:latin typeface="Times New Roman" panose="02020603050405020304" pitchFamily="18" charset="0"/>
                <a:cs typeface="Times New Roman" panose="02020603050405020304" pitchFamily="18" charset="0"/>
              </a:rPr>
              <a:t>Tổng</a:t>
            </a:r>
            <a:r>
              <a:rPr lang="en-US" sz="1100" dirty="0">
                <a:latin typeface="Times New Roman" panose="02020603050405020304" pitchFamily="18" charset="0"/>
                <a:cs typeface="Times New Roman" panose="02020603050405020304" pitchFamily="18" charset="0"/>
              </a:rPr>
              <a:t> 216 (</a:t>
            </a:r>
            <a:r>
              <a:rPr lang="en-US" sz="1100" dirty="0" err="1">
                <a:latin typeface="Times New Roman" panose="02020603050405020304" pitchFamily="18" charset="0"/>
                <a:cs typeface="Times New Roman" panose="02020603050405020304" pitchFamily="18" charset="0"/>
              </a:rPr>
              <a:t>giamr</a:t>
            </a:r>
            <a:r>
              <a:rPr lang="en-US" sz="1100" dirty="0">
                <a:latin typeface="Times New Roman" panose="02020603050405020304" pitchFamily="18" charset="0"/>
                <a:cs typeface="Times New Roman" panose="02020603050405020304" pitchFamily="18" charset="0"/>
              </a:rPr>
              <a:t> 6%), khắc </a:t>
            </a:r>
            <a:r>
              <a:rPr lang="en-US" sz="1100" dirty="0" err="1">
                <a:latin typeface="Times New Roman" panose="02020603050405020304" pitchFamily="18" charset="0"/>
                <a:cs typeface="Times New Roman" panose="02020603050405020304" pitchFamily="18" charset="0"/>
              </a:rPr>
              <a:t>phục</a:t>
            </a:r>
            <a:r>
              <a:rPr lang="en-US" sz="1100" dirty="0">
                <a:latin typeface="Times New Roman" panose="02020603050405020304" pitchFamily="18" charset="0"/>
                <a:cs typeface="Times New Roman" panose="02020603050405020304" pitchFamily="18" charset="0"/>
              </a:rPr>
              <a:t> 66ADD =&gt; tồn </a:t>
            </a:r>
            <a:r>
              <a:rPr lang="en-US" sz="1100" dirty="0" err="1">
                <a:latin typeface="Times New Roman" panose="02020603050405020304" pitchFamily="18" charset="0"/>
                <a:cs typeface="Times New Roman" panose="02020603050405020304" pitchFamily="18" charset="0"/>
              </a:rPr>
              <a:t>đọng</a:t>
            </a:r>
            <a:r>
              <a:rPr lang="en-US" sz="1100" dirty="0">
                <a:latin typeface="Times New Roman" panose="02020603050405020304" pitchFamily="18" charset="0"/>
                <a:cs typeface="Times New Roman" panose="02020603050405020304" pitchFamily="18" charset="0"/>
              </a:rPr>
              <a:t> </a:t>
            </a:r>
            <a:r>
              <a:rPr lang="en-US" sz="1100" b="1" dirty="0">
                <a:latin typeface="Times New Roman" panose="02020603050405020304" pitchFamily="18" charset="0"/>
                <a:cs typeface="Times New Roman" panose="02020603050405020304" pitchFamily="18" charset="0"/>
              </a:rPr>
              <a:t>150ADD</a:t>
            </a:r>
            <a:r>
              <a:rPr lang="en-US" sz="1100" dirty="0">
                <a:latin typeface="Times New Roman" panose="02020603050405020304" pitchFamily="18" charset="0"/>
                <a:cs typeface="Times New Roman" panose="02020603050405020304" pitchFamily="18" charset="0"/>
              </a:rPr>
              <a:t> </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giảm</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3% so với </a:t>
            </a:r>
            <a:r>
              <a:rPr lang="en-US" sz="1100" dirty="0" err="1">
                <a:solidFill>
                  <a:schemeClr val="tx1">
                    <a:lumMod val="65000"/>
                    <a:lumOff val="35000"/>
                  </a:schemeClr>
                </a:solidFill>
                <a:latin typeface="Times New Roman" panose="02020603050405020304" pitchFamily="18" charset="0"/>
                <a:cs typeface="Times New Roman" panose="02020603050405020304" pitchFamily="18" charset="0"/>
              </a:rPr>
              <a:t>tuần</a:t>
            </a:r>
            <a:r>
              <a:rPr lang="en-US" sz="1100" dirty="0">
                <a:solidFill>
                  <a:schemeClr val="tx1">
                    <a:lumMod val="65000"/>
                    <a:lumOff val="35000"/>
                  </a:schemeClr>
                </a:solidFill>
                <a:latin typeface="Times New Roman" panose="02020603050405020304" pitchFamily="18" charset="0"/>
                <a:cs typeface="Times New Roman" panose="02020603050405020304" pitchFamily="18" charset="0"/>
              </a:rPr>
              <a:t> 8).</a:t>
            </a:r>
          </a:p>
          <a:p>
            <a:endParaRPr lang="en-US" sz="1100" dirty="0">
              <a:solidFill>
                <a:schemeClr val="tx1"/>
              </a:solidFill>
              <a:latin typeface="Times New Roman" panose="02020603050405020304" pitchFamily="18" charset="0"/>
              <a:cs typeface="Times New Roman" panose="02020603050405020304" pitchFamily="18" charset="0"/>
            </a:endParaRPr>
          </a:p>
        </p:txBody>
      </p:sp>
      <p:sp>
        <p:nvSpPr>
          <p:cNvPr id="27" name="TextBox 26"/>
          <p:cNvSpPr txBox="1"/>
          <p:nvPr/>
        </p:nvSpPr>
        <p:spPr>
          <a:xfrm>
            <a:off x="365449" y="896320"/>
            <a:ext cx="10867915" cy="600164"/>
          </a:xfrm>
          <a:prstGeom prst="rect">
            <a:avLst/>
          </a:prstGeom>
        </p:spPr>
        <p:style>
          <a:lnRef idx="2">
            <a:schemeClr val="accent6"/>
          </a:lnRef>
          <a:fillRef idx="1">
            <a:schemeClr val="lt1"/>
          </a:fillRef>
          <a:effectRef idx="0">
            <a:schemeClr val="accent6"/>
          </a:effectRef>
          <a:fontRef idx="minor">
            <a:schemeClr val="dk1"/>
          </a:fontRef>
        </p:style>
        <p:txBody>
          <a:bodyPr wrap="square" rtlCol="0">
            <a:spAutoFit/>
          </a:bodyPr>
          <a:lstStyle/>
          <a:p>
            <a:r>
              <a:rPr lang="en-US" sz="1100" b="1" dirty="0">
                <a:latin typeface="Times New Roman" panose="02020603050405020304" pitchFamily="18" charset="0"/>
                <a:cs typeface="Times New Roman" panose="02020603050405020304" pitchFamily="18" charset="0"/>
              </a:rPr>
              <a:t>Hỏng hóc Ghế thuộc diện cắt khách </a:t>
            </a:r>
            <a:r>
              <a:rPr lang="en-US" sz="1100" b="1" dirty="0" err="1">
                <a:latin typeface="Times New Roman" panose="02020603050405020304" pitchFamily="18" charset="0"/>
                <a:cs typeface="Times New Roman" panose="02020603050405020304" pitchFamily="18" charset="0"/>
              </a:rPr>
              <a:t>tuần</a:t>
            </a:r>
            <a:r>
              <a:rPr lang="en-US" sz="1100" b="1" dirty="0">
                <a:latin typeface="Times New Roman" panose="02020603050405020304" pitchFamily="18" charset="0"/>
                <a:cs typeface="Times New Roman" panose="02020603050405020304" pitchFamily="18" charset="0"/>
              </a:rPr>
              <a:t> 08</a:t>
            </a:r>
          </a:p>
          <a:p>
            <a:pPr marL="285750" indent="-285750">
              <a:buFontTx/>
              <a:buChar char="-"/>
            </a:pPr>
            <a:r>
              <a:rPr lang="en-US" sz="1100" b="1" dirty="0">
                <a:latin typeface="Times New Roman" panose="02020603050405020304" pitchFamily="18" charset="0"/>
                <a:cs typeface="Times New Roman" panose="02020603050405020304" pitchFamily="18" charset="0"/>
              </a:rPr>
              <a:t>Ghế 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01, </a:t>
            </a:r>
            <a:r>
              <a:rPr lang="en-US" sz="1100" dirty="0" err="1">
                <a:solidFill>
                  <a:srgbClr val="FF0000"/>
                </a:solidFill>
                <a:latin typeface="Times New Roman" panose="02020603050405020304" pitchFamily="18" charset="0"/>
                <a:cs typeface="Times New Roman" panose="02020603050405020304" pitchFamily="18" charset="0"/>
              </a:rPr>
              <a:t>khắc</a:t>
            </a:r>
            <a:r>
              <a:rPr lang="en-US" sz="1100"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01,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00.</a:t>
            </a:r>
          </a:p>
          <a:p>
            <a:pPr marL="285750" indent="-285750">
              <a:buFontTx/>
              <a:buChar char="-"/>
            </a:pPr>
            <a:r>
              <a:rPr lang="en-US" sz="1100" b="1" dirty="0" err="1">
                <a:latin typeface="Times New Roman" panose="02020603050405020304" pitchFamily="18" charset="0"/>
                <a:cs typeface="Times New Roman" panose="02020603050405020304" pitchFamily="18" charset="0"/>
              </a:rPr>
              <a:t>Ghế</a:t>
            </a:r>
            <a:r>
              <a:rPr lang="en-US" sz="1100" b="1" dirty="0">
                <a:latin typeface="Times New Roman" panose="02020603050405020304" pitchFamily="18" charset="0"/>
                <a:cs typeface="Times New Roman" panose="02020603050405020304" pitchFamily="18" charset="0"/>
              </a:rPr>
              <a:t> Y</a:t>
            </a:r>
            <a:r>
              <a:rPr lang="en-US" sz="1100" b="1" dirty="0">
                <a:solidFill>
                  <a:srgbClr val="FF0000"/>
                </a:solidFill>
                <a:latin typeface="Times New Roman" panose="02020603050405020304" pitchFamily="18" charset="0"/>
                <a:cs typeface="Times New Roman" panose="02020603050405020304" pitchFamily="18" charset="0"/>
              </a:rPr>
              <a:t>: </a:t>
            </a:r>
            <a:r>
              <a:rPr lang="en-US" sz="1100" dirty="0" err="1">
                <a:solidFill>
                  <a:srgbClr val="FF0000"/>
                </a:solidFill>
                <a:latin typeface="Times New Roman" panose="02020603050405020304" pitchFamily="18" charset="0"/>
                <a:cs typeface="Times New Roman" panose="02020603050405020304" pitchFamily="18" charset="0"/>
              </a:rPr>
              <a:t>hỏng</a:t>
            </a:r>
            <a:r>
              <a:rPr lang="en-US" sz="1100" dirty="0">
                <a:solidFill>
                  <a:srgbClr val="FF0000"/>
                </a:solidFill>
                <a:latin typeface="Times New Roman" panose="02020603050405020304" pitchFamily="18" charset="0"/>
                <a:cs typeface="Times New Roman" panose="02020603050405020304" pitchFamily="18" charset="0"/>
              </a:rPr>
              <a:t> 08, đã khắc </a:t>
            </a:r>
            <a:r>
              <a:rPr lang="en-US" sz="1100" dirty="0" err="1">
                <a:solidFill>
                  <a:srgbClr val="FF0000"/>
                </a:solidFill>
                <a:latin typeface="Times New Roman" panose="02020603050405020304" pitchFamily="18" charset="0"/>
                <a:cs typeface="Times New Roman" panose="02020603050405020304" pitchFamily="18" charset="0"/>
              </a:rPr>
              <a:t>phục</a:t>
            </a:r>
            <a:r>
              <a:rPr lang="en-US" sz="1100" dirty="0">
                <a:solidFill>
                  <a:srgbClr val="FF0000"/>
                </a:solidFill>
                <a:latin typeface="Times New Roman" panose="02020603050405020304" pitchFamily="18" charset="0"/>
                <a:cs typeface="Times New Roman" panose="02020603050405020304" pitchFamily="18" charset="0"/>
              </a:rPr>
              <a:t> 05, </a:t>
            </a:r>
            <a:r>
              <a:rPr lang="en-US" sz="1100" dirty="0" err="1">
                <a:solidFill>
                  <a:srgbClr val="FF0000"/>
                </a:solidFill>
                <a:latin typeface="Times New Roman" panose="02020603050405020304" pitchFamily="18" charset="0"/>
                <a:cs typeface="Times New Roman" panose="02020603050405020304" pitchFamily="18" charset="0"/>
              </a:rPr>
              <a:t>tồn</a:t>
            </a:r>
            <a:r>
              <a:rPr lang="en-US" sz="1100" dirty="0">
                <a:solidFill>
                  <a:srgbClr val="FF0000"/>
                </a:solidFill>
                <a:latin typeface="Times New Roman" panose="02020603050405020304" pitchFamily="18" charset="0"/>
                <a:cs typeface="Times New Roman" panose="02020603050405020304" pitchFamily="18" charset="0"/>
              </a:rPr>
              <a:t> 03</a:t>
            </a:r>
            <a:r>
              <a:rPr lang="en-US" sz="1100" dirty="0">
                <a:solidFill>
                  <a:schemeClr val="tx1"/>
                </a:solidFill>
                <a:latin typeface="Times New Roman" panose="02020603050405020304" pitchFamily="18" charset="0"/>
                <a:cs typeface="Times New Roman" panose="02020603050405020304" pitchFamily="18" charset="0"/>
              </a:rPr>
              <a:t>.</a:t>
            </a:r>
            <a:r>
              <a:rPr lang="en-US" sz="1100" dirty="0">
                <a:solidFill>
                  <a:srgbClr val="FF0000"/>
                </a:solidFill>
                <a:latin typeface="Times New Roman" panose="02020603050405020304" pitchFamily="18" charset="0"/>
                <a:cs typeface="Times New Roman" panose="02020603050405020304" pitchFamily="18" charset="0"/>
              </a:rPr>
              <a:t> </a:t>
            </a:r>
            <a:endParaRPr lang="en-US" sz="11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741573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6"/>
          <p:cNvSpPr txBox="1"/>
          <p:nvPr/>
        </p:nvSpPr>
        <p:spPr>
          <a:xfrm>
            <a:off x="761998" y="527600"/>
            <a:ext cx="10820401" cy="543635"/>
          </a:xfrm>
          <a:prstGeom prst="rect">
            <a:avLst/>
          </a:prstGeom>
          <a:noFill/>
          <a:ln>
            <a:noFill/>
          </a:ln>
        </p:spPr>
        <p:txBody>
          <a:bodyPr spcFirstLastPara="1" wrap="square" lIns="91433" tIns="45700" rIns="91433" bIns="45700" anchor="t" anchorCtr="0">
            <a:spAutoFit/>
          </a:bodyPr>
          <a:lstStyle/>
          <a:p>
            <a:pPr lvl="0"/>
            <a:r>
              <a:rPr lang="en-US" sz="2800" b="1" dirty="0">
                <a:ln w="0"/>
                <a:solidFill>
                  <a:srgbClr val="FBAC00"/>
                </a:solidFill>
                <a:latin typeface="Times New Roman" panose="02020603050405020304" pitchFamily="18" charset="0"/>
                <a:cs typeface="Times New Roman" panose="02020603050405020304" pitchFamily="18" charset="0"/>
              </a:rPr>
              <a:t>CÔNG TÁC BÁN TRẢ/TIẾP NHẬN/BÀN GIAO TÀU BAY</a:t>
            </a:r>
            <a:endParaRPr sz="2800" dirty="0"/>
          </a:p>
        </p:txBody>
      </p:sp>
      <p:sp>
        <p:nvSpPr>
          <p:cNvPr id="66" name="Google Shape;66;p6"/>
          <p:cNvSpPr txBox="1"/>
          <p:nvPr/>
        </p:nvSpPr>
        <p:spPr>
          <a:xfrm>
            <a:off x="761999" y="1317577"/>
            <a:ext cx="10820401" cy="4801274"/>
          </a:xfrm>
          <a:prstGeom prst="rect">
            <a:avLst/>
          </a:prstGeom>
          <a:noFill/>
          <a:ln>
            <a:noFill/>
          </a:ln>
        </p:spPr>
        <p:txBody>
          <a:bodyPr spcFirstLastPara="1" wrap="square" lIns="91433" tIns="45700" rIns="91433" bIns="45700" anchor="t" anchorCtr="0">
            <a:spAutoFit/>
          </a:bodyPr>
          <a:lstStyle/>
          <a:p>
            <a:pPr lvl="2" algn="just"/>
            <a:endParaRPr lang="en-US" sz="1600" b="1" dirty="0">
              <a:latin typeface="Times New Roman" panose="02020603050405020304" pitchFamily="18" charset="0"/>
              <a:cs typeface="Times New Roman" panose="02020603050405020304" pitchFamily="18" charset="0"/>
            </a:endParaRPr>
          </a:p>
          <a:p>
            <a:pPr lvl="0" algn="just"/>
            <a:r>
              <a:rPr lang="en-US" sz="1600" b="1" dirty="0">
                <a:latin typeface="Times New Roman" panose="02020603050405020304" pitchFamily="18" charset="0"/>
                <a:cs typeface="Times New Roman" panose="02020603050405020304" pitchFamily="18" charset="0"/>
              </a:rPr>
              <a:t>GIA HẠN THUÊ 10 TÀU VALC </a:t>
            </a:r>
          </a:p>
          <a:p>
            <a:pPr algn="just"/>
            <a:r>
              <a:rPr lang="en-US" sz="1600" dirty="0">
                <a:latin typeface="Times New Roman" panose="02020603050405020304" pitchFamily="18" charset="0"/>
                <a:cs typeface="Times New Roman" panose="02020603050405020304" pitchFamily="18" charset="0"/>
              </a:rPr>
              <a:t>VNA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ý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tạm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31/03/2025.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02 </a:t>
            </a:r>
            <a:r>
              <a:rPr lang="en-US" sz="1600" dirty="0" err="1">
                <a:latin typeface="Times New Roman" panose="02020603050405020304" pitchFamily="18" charset="0"/>
                <a:cs typeface="Times New Roman" panose="02020603050405020304" pitchFamily="18" charset="0"/>
              </a:rPr>
              <a:t>đối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tâm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mua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FTAI. </a:t>
            </a:r>
            <a:r>
              <a:rPr lang="en-US" sz="1600" dirty="0" err="1">
                <a:latin typeface="Times New Roman" panose="02020603050405020304" pitchFamily="18" charset="0"/>
                <a:cs typeface="Times New Roman" panose="02020603050405020304" pitchFamily="18" charset="0"/>
              </a:rPr>
              <a:t>Thủ</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tục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của</a:t>
            </a:r>
            <a:r>
              <a:rPr lang="en-US" sz="1600" dirty="0">
                <a:latin typeface="Times New Roman" panose="02020603050405020304" pitchFamily="18" charset="0"/>
                <a:cs typeface="Times New Roman" panose="02020603050405020304" pitchFamily="18" charset="0"/>
              </a:rPr>
              <a:t> VALC </a:t>
            </a:r>
            <a:r>
              <a:rPr lang="en-US" sz="1600" dirty="0" err="1">
                <a:latin typeface="Times New Roman" panose="02020603050405020304" pitchFamily="18" charset="0"/>
                <a:cs typeface="Times New Roman" panose="02020603050405020304" pitchFamily="18" charset="0"/>
              </a:rPr>
              <a:t>chậm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năng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cần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hợp</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đồng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tiếp</a:t>
            </a:r>
            <a:r>
              <a:rPr lang="en-US" sz="1600" dirty="0">
                <a:latin typeface="Times New Roman" panose="02020603050405020304" pitchFamily="18" charset="0"/>
                <a:cs typeface="Times New Roman" panose="02020603050405020304" pitchFamily="18" charset="0"/>
              </a:rPr>
              <a:t> 3 </a:t>
            </a:r>
            <a:r>
              <a:rPr lang="en-US" sz="1600" dirty="0" err="1">
                <a:latin typeface="Times New Roman" panose="02020603050405020304" pitchFamily="18" charset="0"/>
                <a:cs typeface="Times New Roman" panose="02020603050405020304" pitchFamily="18" charset="0"/>
              </a:rPr>
              <a:t>tháng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30/06/2025.</a:t>
            </a:r>
          </a:p>
          <a:p>
            <a:pPr lvl="0" algn="just"/>
            <a:r>
              <a:rPr lang="en-US" sz="1600" dirty="0">
                <a:latin typeface="Times New Roman" panose="02020603050405020304" pitchFamily="18" charset="0"/>
                <a:cs typeface="Times New Roman" panose="02020603050405020304" pitchFamily="18" charset="0"/>
              </a:rPr>
              <a:t>1,  Arena: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thời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trung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bình</a:t>
            </a:r>
            <a:r>
              <a:rPr lang="en-US" sz="1600" dirty="0">
                <a:latin typeface="Times New Roman" panose="02020603050405020304" pitchFamily="18" charset="0"/>
                <a:cs typeface="Times New Roman" panose="02020603050405020304" pitchFamily="18" charset="0"/>
              </a:rPr>
              <a:t> 5 </a:t>
            </a:r>
            <a:r>
              <a:rPr lang="en-US" sz="1600" dirty="0" err="1">
                <a:latin typeface="Times New Roman" panose="02020603050405020304" pitchFamily="18" charset="0"/>
                <a:cs typeface="Times New Roman" panose="02020603050405020304" pitchFamily="18" charset="0"/>
              </a:rPr>
              <a:t>năm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gia</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đàm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phán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thống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nhất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nội</a:t>
            </a:r>
            <a:r>
              <a:rPr lang="en-US" sz="1600" dirty="0">
                <a:latin typeface="Times New Roman" panose="02020603050405020304" pitchFamily="18" charset="0"/>
                <a:cs typeface="Times New Roman" panose="02020603050405020304" pitchFamily="18" charset="0"/>
              </a:rPr>
              <a:t> dung </a:t>
            </a:r>
            <a:r>
              <a:rPr lang="en-US" sz="1600" dirty="0" err="1">
                <a:latin typeface="Times New Roman" panose="02020603050405020304" pitchFamily="18" charset="0"/>
                <a:cs typeface="Times New Roman" panose="02020603050405020304" pitchFamily="18" charset="0"/>
              </a:rPr>
              <a:t>liên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tới</a:t>
            </a:r>
            <a:r>
              <a:rPr lang="en-US" sz="1600" dirty="0">
                <a:latin typeface="Times New Roman" panose="02020603050405020304" pitchFamily="18" charset="0"/>
                <a:cs typeface="Times New Roman" panose="02020603050405020304" pitchFamily="18" charset="0"/>
              </a:rPr>
              <a:t> KT</a:t>
            </a:r>
          </a:p>
          <a:p>
            <a:pPr lvl="0" algn="just"/>
            <a:r>
              <a:rPr lang="en-US" sz="1600" dirty="0" err="1">
                <a:latin typeface="Times New Roman" panose="02020603050405020304" pitchFamily="18" charset="0"/>
                <a:cs typeface="Times New Roman" panose="02020603050405020304" pitchFamily="18" charset="0"/>
              </a:rPr>
              <a:t>Các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vấn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lớn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Arena </a:t>
            </a:r>
            <a:r>
              <a:rPr lang="en-US" sz="1600" dirty="0" err="1">
                <a:latin typeface="Times New Roman" panose="02020603050405020304" pitchFamily="18" charset="0"/>
                <a:cs typeface="Times New Roman" panose="02020603050405020304" pitchFamily="18" charset="0"/>
              </a:rPr>
              <a:t>đang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đề</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xuất</a:t>
            </a:r>
            <a:r>
              <a:rPr lang="en-US" sz="1600" dirty="0">
                <a:latin typeface="Times New Roman" panose="02020603050405020304" pitchFamily="18" charset="0"/>
                <a:cs typeface="Times New Roman" panose="02020603050405020304" pitchFamily="18" charset="0"/>
              </a:rPr>
              <a:t>:</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a.  </a:t>
            </a:r>
            <a:r>
              <a:rPr lang="vi-VN" sz="1600" dirty="0">
                <a:latin typeface="Times New Roman" panose="02020603050405020304" pitchFamily="18" charset="0"/>
                <a:cs typeface="Times New Roman" panose="02020603050405020304" pitchFamily="18" charset="0"/>
              </a:rPr>
              <a:t>10 tàu bay cần được duy trì khả năng khai thác sau khi hết hợp đồng gia hạn với Arena.</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b.  </a:t>
            </a:r>
            <a:r>
              <a:rPr lang="vi-VN" sz="1600" dirty="0">
                <a:latin typeface="Times New Roman" panose="02020603050405020304" pitchFamily="18" charset="0"/>
                <a:cs typeface="Times New Roman" panose="02020603050405020304" pitchFamily="18" charset="0"/>
              </a:rPr>
              <a:t>Thực hiện balancing quỹ bảo dưỡng sau khi kết thúc gia hạn thuê.</a:t>
            </a:r>
          </a:p>
          <a:p>
            <a:pPr lvl="1" algn="just">
              <a:spcBef>
                <a:spcPts val="600"/>
              </a:spcBef>
              <a:spcAft>
                <a:spcPts val="600"/>
              </a:spcAft>
            </a:pPr>
            <a:r>
              <a:rPr lang="en-US" sz="1600" dirty="0">
                <a:latin typeface="Times New Roman" panose="02020603050405020304" pitchFamily="18" charset="0"/>
                <a:cs typeface="Times New Roman" panose="02020603050405020304" pitchFamily="18" charset="0"/>
              </a:rPr>
              <a:t>c.  </a:t>
            </a:r>
            <a:r>
              <a:rPr lang="vi-VN" sz="1600" dirty="0">
                <a:latin typeface="Times New Roman" panose="02020603050405020304" pitchFamily="18" charset="0"/>
                <a:cs typeface="Times New Roman" panose="02020603050405020304" pitchFamily="18" charset="0"/>
              </a:rPr>
              <a:t>Đồng ý giảm MR và đề xuất phương án buy-out</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cho </a:t>
            </a:r>
            <a:r>
              <a:rPr lang="en-US" sz="1600" dirty="0" err="1">
                <a:latin typeface="Times New Roman" panose="02020603050405020304" pitchFamily="18" charset="0"/>
                <a:cs typeface="Times New Roman" panose="02020603050405020304" pitchFamily="18" charset="0"/>
              </a:rPr>
              <a:t>một</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số</a:t>
            </a:r>
            <a:r>
              <a:rPr lang="en-US" sz="1600" dirty="0">
                <a:latin typeface="Times New Roman" panose="02020603050405020304" pitchFamily="18" charset="0"/>
                <a:cs typeface="Times New Roman" panose="02020603050405020304" pitchFamily="18" charset="0"/>
              </a:rPr>
              <a:t> </a:t>
            </a:r>
            <a:r>
              <a:rPr lang="vi-VN" sz="1600" dirty="0">
                <a:latin typeface="Times New Roman" panose="02020603050405020304" pitchFamily="18" charset="0"/>
                <a:cs typeface="Times New Roman" panose="02020603050405020304" pitchFamily="18" charset="0"/>
              </a:rPr>
              <a:t>điều kiện trả</a:t>
            </a:r>
            <a:r>
              <a:rPr lang="en-US" sz="1600" dirty="0">
                <a:latin typeface="Times New Roman" panose="02020603050405020304" pitchFamily="18" charset="0"/>
                <a:cs typeface="Times New Roman" panose="02020603050405020304" pitchFamily="18" charset="0"/>
              </a:rPr>
              <a:t>.</a:t>
            </a:r>
          </a:p>
          <a:p>
            <a:pPr algn="just">
              <a:spcBef>
                <a:spcPts val="600"/>
              </a:spcBef>
              <a:spcAft>
                <a:spcPts val="600"/>
              </a:spcAft>
            </a:pPr>
            <a:r>
              <a:rPr lang="en-US" sz="1600" dirty="0">
                <a:latin typeface="Times New Roman" panose="02020603050405020304" pitchFamily="18" charset="0"/>
                <a:cs typeface="Times New Roman" panose="02020603050405020304" pitchFamily="18" charset="0"/>
              </a:rPr>
              <a:t>2,  FTAI: </a:t>
            </a:r>
            <a:r>
              <a:rPr lang="en-US" sz="1600" dirty="0" err="1">
                <a:latin typeface="Times New Roman" panose="02020603050405020304" pitchFamily="18" charset="0"/>
                <a:cs typeface="Times New Roman" panose="02020603050405020304" pitchFamily="18" charset="0"/>
              </a:rPr>
              <a:t>Bản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thuê</a:t>
            </a:r>
            <a:r>
              <a:rPr lang="en-US" sz="1600" dirty="0">
                <a:latin typeface="Times New Roman" panose="02020603050405020304" pitchFamily="18" charset="0"/>
                <a:cs typeface="Times New Roman" panose="02020603050405020304" pitchFamily="18" charset="0"/>
              </a:rPr>
              <a:t> 10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A321 </a:t>
            </a:r>
            <a:r>
              <a:rPr lang="en-US" sz="1600" dirty="0" err="1">
                <a:latin typeface="Times New Roman" panose="02020603050405020304" pitchFamily="18" charset="0"/>
                <a:cs typeface="Times New Roman" panose="02020603050405020304" pitchFamily="18" charset="0"/>
              </a:rPr>
              <a:t>với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là</a:t>
            </a:r>
            <a:r>
              <a:rPr lang="en-US" sz="1600" dirty="0">
                <a:latin typeface="Times New Roman" panose="02020603050405020304" pitchFamily="18" charset="0"/>
                <a:cs typeface="Times New Roman" panose="02020603050405020304" pitchFamily="18" charset="0"/>
              </a:rPr>
              <a:t> As-is,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đảm</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bảo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hỗ</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đến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hết</a:t>
            </a:r>
            <a:r>
              <a:rPr lang="en-US" sz="1600" dirty="0">
                <a:latin typeface="Times New Roman" panose="02020603050405020304" pitchFamily="18" charset="0"/>
                <a:cs typeface="Times New Roman" panose="02020603050405020304" pitchFamily="18" charset="0"/>
              </a:rPr>
              <a:t> run-out. </a:t>
            </a:r>
            <a:r>
              <a:rPr lang="en-US" sz="1600" dirty="0" err="1">
                <a:latin typeface="Times New Roman" panose="02020603050405020304" pitchFamily="18" charset="0"/>
                <a:cs typeface="Times New Roman" panose="02020603050405020304" pitchFamily="18" charset="0"/>
              </a:rPr>
              <a:t>Không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phải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thực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hiện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đóng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quỹ</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ngoại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trừ</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động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Bản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chào</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có</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nhiều</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thuận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lợi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cho</a:t>
            </a:r>
            <a:r>
              <a:rPr lang="en-US" sz="1600" dirty="0">
                <a:latin typeface="Times New Roman" panose="02020603050405020304" pitchFamily="18" charset="0"/>
                <a:cs typeface="Times New Roman" panose="02020603050405020304" pitchFamily="18" charset="0"/>
              </a:rPr>
              <a:t> VNA </a:t>
            </a:r>
            <a:r>
              <a:rPr lang="en-US" sz="1600" dirty="0" err="1">
                <a:latin typeface="Times New Roman" panose="02020603050405020304" pitchFamily="18" charset="0"/>
                <a:cs typeface="Times New Roman" panose="02020603050405020304" pitchFamily="18" charset="0"/>
              </a:rPr>
              <a:t>trong</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quá</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trình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khai</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thác</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và</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trả</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tàu</a:t>
            </a:r>
            <a:r>
              <a:rPr lang="en-US" sz="1600" dirty="0">
                <a:latin typeface="Times New Roman" panose="02020603050405020304" pitchFamily="18" charset="0"/>
                <a:cs typeface="Times New Roman" panose="02020603050405020304" pitchFamily="18" charset="0"/>
              </a:rPr>
              <a:t> bay. </a:t>
            </a:r>
          </a:p>
          <a:p>
            <a:pPr algn="just">
              <a:spcBef>
                <a:spcPts val="600"/>
              </a:spcBef>
              <a:spcAft>
                <a:spcPts val="600"/>
              </a:spcAft>
            </a:pP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có</a:t>
            </a:r>
            <a:r>
              <a:rPr lang="en-US" sz="1600" b="1" dirty="0">
                <a:latin typeface="Times New Roman" panose="02020603050405020304" pitchFamily="18" charset="0"/>
                <a:cs typeface="Times New Roman" panose="02020603050405020304" pitchFamily="18" charset="0"/>
              </a:rPr>
              <a:t> 2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thực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hiện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phục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vụ</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công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của</a:t>
            </a:r>
            <a:r>
              <a:rPr lang="en-US" sz="1600" b="1" dirty="0">
                <a:latin typeface="Times New Roman" panose="02020603050405020304" pitchFamily="18" charset="0"/>
                <a:cs typeface="Times New Roman" panose="02020603050405020304" pitchFamily="18" charset="0"/>
              </a:rPr>
              <a:t> VALC </a:t>
            </a:r>
            <a:r>
              <a:rPr lang="en-US" sz="1600" b="1" dirty="0" err="1">
                <a:latin typeface="Times New Roman" panose="02020603050405020304" pitchFamily="18" charset="0"/>
                <a:cs typeface="Times New Roman" panose="02020603050405020304" pitchFamily="18" charset="0"/>
              </a:rPr>
              <a:t>là</a:t>
            </a:r>
            <a:r>
              <a:rPr lang="en-US" sz="1600" b="1" dirty="0">
                <a:latin typeface="Times New Roman" panose="02020603050405020304" pitchFamily="18" charset="0"/>
                <a:cs typeface="Times New Roman" panose="02020603050405020304" pitchFamily="18" charset="0"/>
              </a:rPr>
              <a:t> Arena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Xaero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Các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đối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tác</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này</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đã</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xong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tài</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liệu</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05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VN-A397(VAECO-HCM) </a:t>
            </a:r>
            <a:r>
              <a:rPr lang="en-US" sz="1600" b="1" dirty="0" err="1">
                <a:latin typeface="Times New Roman" panose="02020603050405020304" pitchFamily="18" charset="0"/>
                <a:cs typeface="Times New Roman" panose="02020603050405020304" pitchFamily="18" charset="0"/>
              </a:rPr>
              <a:t>và</a:t>
            </a:r>
            <a:r>
              <a:rPr lang="en-US" sz="1600" b="1" dirty="0">
                <a:latin typeface="Times New Roman" panose="02020603050405020304" pitchFamily="18" charset="0"/>
                <a:cs typeface="Times New Roman" panose="02020603050405020304" pitchFamily="18" charset="0"/>
              </a:rPr>
              <a:t> VN-A338/A392/A395/A604(VAECO-HAN)). VALC </a:t>
            </a:r>
            <a:r>
              <a:rPr lang="en-US" sz="1600" b="1" dirty="0" err="1">
                <a:latin typeface="Times New Roman" panose="02020603050405020304" pitchFamily="18" charset="0"/>
                <a:cs typeface="Times New Roman" panose="02020603050405020304" pitchFamily="18" charset="0"/>
              </a:rPr>
              <a:t>thông</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báo</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hạn</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kiểm</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tra</a:t>
            </a:r>
            <a:r>
              <a:rPr lang="en-US" sz="1600" b="1" dirty="0">
                <a:latin typeface="Times New Roman" panose="02020603050405020304" pitchFamily="18" charset="0"/>
                <a:cs typeface="Times New Roman" panose="02020603050405020304" pitchFamily="18" charset="0"/>
              </a:rPr>
              <a:t> </a:t>
            </a:r>
            <a:r>
              <a:rPr lang="en-US" sz="1600" b="1" dirty="0" err="1">
                <a:latin typeface="Times New Roman" panose="02020603050405020304" pitchFamily="18" charset="0"/>
                <a:cs typeface="Times New Roman" panose="02020603050405020304" pitchFamily="18" charset="0"/>
              </a:rPr>
              <a:t>tàu</a:t>
            </a:r>
            <a:r>
              <a:rPr lang="en-US" sz="1600" b="1" dirty="0">
                <a:latin typeface="Times New Roman" panose="02020603050405020304" pitchFamily="18" charset="0"/>
                <a:cs typeface="Times New Roman" panose="02020603050405020304" pitchFamily="18" charset="0"/>
              </a:rPr>
              <a:t> bay </a:t>
            </a:r>
            <a:r>
              <a:rPr lang="en-US" sz="1600" b="1" dirty="0" err="1">
                <a:latin typeface="Times New Roman" panose="02020603050405020304" pitchFamily="18" charset="0"/>
                <a:cs typeface="Times New Roman" panose="02020603050405020304" pitchFamily="18" charset="0"/>
              </a:rPr>
              <a:t>là</a:t>
            </a:r>
            <a:r>
              <a:rPr lang="en-US" sz="1600" b="1" dirty="0">
                <a:latin typeface="Times New Roman" panose="02020603050405020304" pitchFamily="18" charset="0"/>
                <a:cs typeface="Times New Roman" panose="02020603050405020304" pitchFamily="18" charset="0"/>
              </a:rPr>
              <a:t> 03/03/2025</a:t>
            </a:r>
            <a:endParaRPr lang="en-US" sz="1600" b="1" dirty="0">
              <a:solidFill>
                <a:srgbClr val="006880"/>
              </a:solidFill>
              <a:latin typeface="Times New Roman" panose="02020603050405020304" pitchFamily="18" charset="0"/>
              <a:cs typeface="Times New Roman" panose="02020603050405020304" pitchFamily="18" charset="0"/>
            </a:endParaRPr>
          </a:p>
          <a:p>
            <a:endParaRPr sz="1600" b="1" dirty="0">
              <a:solidFill>
                <a:srgbClr val="006880"/>
              </a:solidFill>
              <a:latin typeface="Times New Roman" panose="02020603050405020304" pitchFamily="18" charset="0"/>
              <a:cs typeface="Times New Roman" panose="02020603050405020304" pitchFamily="18" charset="0"/>
            </a:endParaRPr>
          </a:p>
        </p:txBody>
      </p:sp>
      <p:sp>
        <p:nvSpPr>
          <p:cNvPr id="76" name="Google Shape;76;p6"/>
          <p:cNvSpPr txBox="1">
            <a:spLocks noGrp="1"/>
          </p:cNvSpPr>
          <p:nvPr>
            <p:ph type="sldNum" idx="12"/>
          </p:nvPr>
        </p:nvSpPr>
        <p:spPr>
          <a:xfrm>
            <a:off x="11296611" y="6217623"/>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vi"/>
              <a:pPr/>
              <a:t>49</a:t>
            </a:fld>
            <a:endParaRPr/>
          </a:p>
        </p:txBody>
      </p:sp>
    </p:spTree>
    <p:extLst>
      <p:ext uri="{BB962C8B-B14F-4D97-AF65-F5344CB8AC3E}">
        <p14:creationId xmlns:p14="http://schemas.microsoft.com/office/powerpoint/2010/main" val="21904751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idx="12"/>
          </p:nvPr>
        </p:nvSpPr>
        <p:spPr/>
        <p:txBody>
          <a:bodyPr/>
          <a:lstStyle/>
          <a:p>
            <a:fld id="{6C6B6B8D-D74E-47CD-B5EE-156060B7CD17}" type="slidenum">
              <a:rPr lang="en-US" smtClean="0"/>
              <a:pPr/>
              <a:t>50</a:t>
            </a:fld>
            <a:endParaRPr lang="en-US"/>
          </a:p>
        </p:txBody>
      </p:sp>
      <p:sp>
        <p:nvSpPr>
          <p:cNvPr id="5" name="Title 4"/>
          <p:cNvSpPr>
            <a:spLocks noGrp="1"/>
          </p:cNvSpPr>
          <p:nvPr>
            <p:ph type="title"/>
          </p:nvPr>
        </p:nvSpPr>
        <p:spPr>
          <a:xfrm>
            <a:off x="228600" y="228600"/>
            <a:ext cx="5663033" cy="482045"/>
          </a:xfrm>
        </p:spPr>
        <p:txBody>
          <a:bodyPr>
            <a:noAutofit/>
          </a:bodyPr>
          <a:lstStyle/>
          <a:p>
            <a:r>
              <a:rPr lang="en-US" sz="2400" dirty="0">
                <a:ln w="0"/>
                <a:solidFill>
                  <a:srgbClr val="FFC000"/>
                </a:solidFill>
                <a:latin typeface="Times New Roman" panose="02020603050405020304" pitchFamily="18" charset="0"/>
                <a:ea typeface="+mn-ea"/>
                <a:cs typeface="Times New Roman" panose="02020603050405020304" pitchFamily="18" charset="0"/>
              </a:rPr>
              <a:t>NHÂN NHƯỢNG TRONG TUẦN</a:t>
            </a:r>
            <a:endParaRPr lang="vi-VN" sz="2400" dirty="0">
              <a:ln w="0"/>
              <a:solidFill>
                <a:srgbClr val="FFC000"/>
              </a:solidFill>
              <a:latin typeface="Times New Roman" panose="02020603050405020304" pitchFamily="18" charset="0"/>
              <a:ea typeface="+mn-ea"/>
              <a:cs typeface="Times New Roman" panose="02020603050405020304" pitchFamily="18" charset="0"/>
            </a:endParaRPr>
          </a:p>
        </p:txBody>
      </p:sp>
      <p:graphicFrame>
        <p:nvGraphicFramePr>
          <p:cNvPr id="2" name="Chart 1">
            <a:extLst>
              <a:ext uri="{FF2B5EF4-FFF2-40B4-BE49-F238E27FC236}">
                <a16:creationId xmlns:a16="http://schemas.microsoft.com/office/drawing/2014/main" id="{00000000-0008-0000-0900-000007000000}"/>
              </a:ext>
            </a:extLst>
          </p:cNvPr>
          <p:cNvGraphicFramePr>
            <a:graphicFrameLocks/>
          </p:cNvGraphicFramePr>
          <p:nvPr>
            <p:extLst>
              <p:ext uri="{D42A27DB-BD31-4B8C-83A1-F6EECF244321}">
                <p14:modId xmlns:p14="http://schemas.microsoft.com/office/powerpoint/2010/main" val="3161912125"/>
              </p:ext>
            </p:extLst>
          </p:nvPr>
        </p:nvGraphicFramePr>
        <p:xfrm>
          <a:off x="3657600" y="710645"/>
          <a:ext cx="4117786" cy="228180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Table 5">
            <a:extLst>
              <a:ext uri="{FF2B5EF4-FFF2-40B4-BE49-F238E27FC236}">
                <a16:creationId xmlns:a16="http://schemas.microsoft.com/office/drawing/2014/main" id="{D0F57D65-7805-B24D-1A96-BF3E84637B21}"/>
              </a:ext>
            </a:extLst>
          </p:cNvPr>
          <p:cNvGraphicFramePr>
            <a:graphicFrameLocks noGrp="1"/>
          </p:cNvGraphicFramePr>
          <p:nvPr>
            <p:extLst>
              <p:ext uri="{D42A27DB-BD31-4B8C-83A1-F6EECF244321}">
                <p14:modId xmlns:p14="http://schemas.microsoft.com/office/powerpoint/2010/main" val="3108467813"/>
              </p:ext>
            </p:extLst>
          </p:nvPr>
        </p:nvGraphicFramePr>
        <p:xfrm>
          <a:off x="255308" y="3053168"/>
          <a:ext cx="11708093" cy="3793485"/>
        </p:xfrm>
        <a:graphic>
          <a:graphicData uri="http://schemas.openxmlformats.org/drawingml/2006/table">
            <a:tbl>
              <a:tblPr/>
              <a:tblGrid>
                <a:gridCol w="212543">
                  <a:extLst>
                    <a:ext uri="{9D8B030D-6E8A-4147-A177-3AD203B41FA5}">
                      <a16:colId xmlns:a16="http://schemas.microsoft.com/office/drawing/2014/main" val="3395604806"/>
                    </a:ext>
                  </a:extLst>
                </a:gridCol>
                <a:gridCol w="1352544">
                  <a:extLst>
                    <a:ext uri="{9D8B030D-6E8A-4147-A177-3AD203B41FA5}">
                      <a16:colId xmlns:a16="http://schemas.microsoft.com/office/drawing/2014/main" val="2504808571"/>
                    </a:ext>
                  </a:extLst>
                </a:gridCol>
                <a:gridCol w="431526">
                  <a:extLst>
                    <a:ext uri="{9D8B030D-6E8A-4147-A177-3AD203B41FA5}">
                      <a16:colId xmlns:a16="http://schemas.microsoft.com/office/drawing/2014/main" val="3858393853"/>
                    </a:ext>
                  </a:extLst>
                </a:gridCol>
                <a:gridCol w="527421">
                  <a:extLst>
                    <a:ext uri="{9D8B030D-6E8A-4147-A177-3AD203B41FA5}">
                      <a16:colId xmlns:a16="http://schemas.microsoft.com/office/drawing/2014/main" val="1971462064"/>
                    </a:ext>
                  </a:extLst>
                </a:gridCol>
                <a:gridCol w="6077323">
                  <a:extLst>
                    <a:ext uri="{9D8B030D-6E8A-4147-A177-3AD203B41FA5}">
                      <a16:colId xmlns:a16="http://schemas.microsoft.com/office/drawing/2014/main" val="596523797"/>
                    </a:ext>
                  </a:extLst>
                </a:gridCol>
                <a:gridCol w="528136">
                  <a:extLst>
                    <a:ext uri="{9D8B030D-6E8A-4147-A177-3AD203B41FA5}">
                      <a16:colId xmlns:a16="http://schemas.microsoft.com/office/drawing/2014/main" val="1710758584"/>
                    </a:ext>
                  </a:extLst>
                </a:gridCol>
                <a:gridCol w="689154">
                  <a:extLst>
                    <a:ext uri="{9D8B030D-6E8A-4147-A177-3AD203B41FA5}">
                      <a16:colId xmlns:a16="http://schemas.microsoft.com/office/drawing/2014/main" val="227531442"/>
                    </a:ext>
                  </a:extLst>
                </a:gridCol>
                <a:gridCol w="1522327">
                  <a:extLst>
                    <a:ext uri="{9D8B030D-6E8A-4147-A177-3AD203B41FA5}">
                      <a16:colId xmlns:a16="http://schemas.microsoft.com/office/drawing/2014/main" val="1180511121"/>
                    </a:ext>
                  </a:extLst>
                </a:gridCol>
                <a:gridCol w="367119">
                  <a:extLst>
                    <a:ext uri="{9D8B030D-6E8A-4147-A177-3AD203B41FA5}">
                      <a16:colId xmlns:a16="http://schemas.microsoft.com/office/drawing/2014/main" val="3220739837"/>
                    </a:ext>
                  </a:extLst>
                </a:gridCol>
              </a:tblGrid>
              <a:tr h="217227">
                <a:tc gridSpan="9">
                  <a:txBody>
                    <a:bodyPr/>
                    <a:lstStyle/>
                    <a:p>
                      <a:pPr algn="ctr" fontAlgn="ctr"/>
                      <a:r>
                        <a:rPr lang="vi-VN" sz="1100" b="1" i="0" u="none" strike="noStrike">
                          <a:solidFill>
                            <a:srgbClr val="000000"/>
                          </a:solidFill>
                          <a:effectLst/>
                          <a:latin typeface="Times New Roman" panose="02020603050405020304" pitchFamily="18" charset="0"/>
                        </a:rPr>
                        <a:t>BẢNG TỔNG HỢP VÀ THEO DÕI NHÂN NHƯỢNG - VIETNAM AIRLINES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020348431"/>
                  </a:ext>
                </a:extLst>
              </a:tr>
              <a:tr h="217227">
                <a:tc>
                  <a:txBody>
                    <a:bodyPr/>
                    <a:lstStyle/>
                    <a:p>
                      <a:pPr algn="ctr" fontAlgn="ctr"/>
                      <a:r>
                        <a:rPr lang="en-US" sz="1100" b="1" i="0" u="none" strike="noStrike">
                          <a:solidFill>
                            <a:srgbClr val="000000"/>
                          </a:solidFill>
                          <a:effectLst/>
                          <a:latin typeface="Times New Roman" panose="02020603050405020304" pitchFamily="18" charset="0"/>
                        </a:rPr>
                        <a:t>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Concession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Type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Reg</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Description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By</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Issued Date</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ADD/CHK/Task No</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1" i="0" u="none" strike="noStrike">
                          <a:solidFill>
                            <a:srgbClr val="000000"/>
                          </a:solidFill>
                          <a:effectLst/>
                          <a:latin typeface="Times New Roman" panose="02020603050405020304" pitchFamily="18" charset="0"/>
                        </a:rPr>
                        <a:t>Status</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1458353"/>
                  </a:ext>
                </a:extLst>
              </a:tr>
              <a:tr h="217227">
                <a:tc>
                  <a:txBody>
                    <a:bodyPr/>
                    <a:lstStyle/>
                    <a:p>
                      <a:pPr algn="ctr" fontAlgn="ctr"/>
                      <a:r>
                        <a:rPr lang="en-US" sz="1100" b="0" i="0" u="none" strike="noStrike">
                          <a:solidFill>
                            <a:srgbClr val="000000"/>
                          </a:solidFill>
                          <a:effectLst/>
                          <a:latin typeface="Times New Roman" panose="02020603050405020304" pitchFamily="18" charset="0"/>
                        </a:rPr>
                        <a:t>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899-01/25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ADD B1002 RAISED FOR AIR PACK#1 REGUL DEGRADED REF MEL 21-29-02A. EXP 24.02.2025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24-Feb-2025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33435531"/>
                  </a:ext>
                </a:extLst>
              </a:tr>
              <a:tr h="417964">
                <a:tc>
                  <a:txBody>
                    <a:bodyPr/>
                    <a:lstStyle/>
                    <a:p>
                      <a:pPr algn="ctr" fontAlgn="ctr"/>
                      <a:r>
                        <a:rPr lang="en-US" sz="1100" b="0" i="0" u="none" strike="noStrike">
                          <a:solidFill>
                            <a:srgbClr val="000000"/>
                          </a:solidFill>
                          <a:effectLst/>
                          <a:latin typeface="Times New Roman" panose="02020603050405020304" pitchFamily="18" charset="0"/>
                        </a:rPr>
                        <a:t>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HVN/VN-A613/2025-02-25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ADD B1702 RAISED RAIN REPELLENT SYSTEM INOP REF MEL 30-45-03A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CAAV</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25-Feb-2025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32018178"/>
                  </a:ext>
                </a:extLst>
              </a:tr>
              <a:tr h="417964">
                <a:tc>
                  <a:txBody>
                    <a:bodyPr/>
                    <a:lstStyle/>
                    <a:p>
                      <a:pPr algn="ctr" fontAlgn="ctr"/>
                      <a:r>
                        <a:rPr lang="en-US" sz="1100" b="0" i="0" u="none" strike="noStrike">
                          <a:solidFill>
                            <a:srgbClr val="000000"/>
                          </a:solidFill>
                          <a:effectLst/>
                          <a:latin typeface="Times New Roman" panose="02020603050405020304" pitchFamily="18" charset="0"/>
                        </a:rPr>
                        <a:t>3</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HVN/VN-A621/2025-02-28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A621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ADD B528, B529, B530, B531, B532 SEAL OF FLAP TRACK FIXED FAIRING DAMAGED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CAAV</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81273514"/>
                  </a:ext>
                </a:extLst>
              </a:tr>
              <a:tr h="417964">
                <a:tc>
                  <a:txBody>
                    <a:bodyPr/>
                    <a:lstStyle/>
                    <a:p>
                      <a:pPr algn="ctr" fontAlgn="ctr"/>
                      <a:r>
                        <a:rPr lang="en-US" sz="1100" b="0" i="0" u="none" strike="noStrike">
                          <a:solidFill>
                            <a:srgbClr val="000000"/>
                          </a:solidFill>
                          <a:effectLst/>
                          <a:latin typeface="Times New Roman" panose="02020603050405020304" pitchFamily="18" charset="0"/>
                        </a:rPr>
                        <a:t>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HVN/VN-A899/2025-02-28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A899</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ADD B1002 RAISED FOR AIR PACK#1 REGUL DEGRADED REF MEL 21-29-02A.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CAAV</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ADD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 </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84017354"/>
                  </a:ext>
                </a:extLst>
              </a:tr>
              <a:tr h="217227">
                <a:tc>
                  <a:txBody>
                    <a:bodyPr/>
                    <a:lstStyle/>
                    <a:p>
                      <a:pPr algn="ctr" fontAlgn="ctr"/>
                      <a:r>
                        <a:rPr lang="en-US" sz="1100" b="0" i="0" u="none" strike="noStrike">
                          <a:solidFill>
                            <a:srgbClr val="000000"/>
                          </a:solidFill>
                          <a:effectLst/>
                          <a:latin typeface="Times New Roman" panose="02020603050405020304" pitchFamily="18" charset="0"/>
                        </a:rPr>
                        <a:t>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A891-02/25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A891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VAR FOR GROUP TASK A 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71817361"/>
                  </a:ext>
                </a:extLst>
              </a:tr>
              <a:tr h="433677">
                <a:tc>
                  <a:txBody>
                    <a:bodyPr/>
                    <a:lstStyle/>
                    <a:p>
                      <a:pPr algn="ctr" fontAlgn="ctr"/>
                      <a:r>
                        <a:rPr lang="en-US" sz="1100" b="0" i="0" u="none" strike="noStrike">
                          <a:solidFill>
                            <a:srgbClr val="000000"/>
                          </a:solidFill>
                          <a:effectLst/>
                          <a:latin typeface="Times New Roman" panose="02020603050405020304" pitchFamily="18" charset="0"/>
                        </a:rPr>
                        <a:t>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866-03/25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A866</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Due to LACK OF RESOURCES, schedule of AMP group tasks for check A08 for VN-A866 needs to be extended. List of tasks attached (except mandatory tasks: AD, CMR, AWL, LLP, SCI (ALI, CDCCL).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A08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53950850"/>
                  </a:ext>
                </a:extLst>
              </a:tr>
              <a:tr h="433677">
                <a:tc>
                  <a:txBody>
                    <a:bodyPr/>
                    <a:lstStyle/>
                    <a:p>
                      <a:pPr algn="ctr" fontAlgn="ctr"/>
                      <a:r>
                        <a:rPr lang="en-US" sz="1100" b="0" i="0" u="none" strike="noStrike">
                          <a:solidFill>
                            <a:srgbClr val="000000"/>
                          </a:solidFill>
                          <a:effectLst/>
                          <a:latin typeface="Times New Roman" panose="02020603050405020304" pitchFamily="18" charset="0"/>
                        </a:rPr>
                        <a:t>7</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864-03/24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CHECK</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A864</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Due to LACK OF RESOURCES, schedule of AMP group tasks for check C01 for VN-A864 needs to be extended. List of tasks attached (except mandatory tasks: AD, CMR, AWL, LLP, SCI (ALI, CDCCL)).</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C01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42345814"/>
                  </a:ext>
                </a:extLst>
              </a:tr>
              <a:tr h="433677">
                <a:tc>
                  <a:txBody>
                    <a:bodyPr/>
                    <a:lstStyle/>
                    <a:p>
                      <a:pPr algn="ctr" fontAlgn="ctr"/>
                      <a:r>
                        <a:rPr lang="en-US" sz="1100" b="0" i="0" u="none" strike="noStrike">
                          <a:solidFill>
                            <a:srgbClr val="000000"/>
                          </a:solidFill>
                          <a:effectLst/>
                          <a:latin typeface="Times New Roman" panose="02020603050405020304" pitchFamily="18" charset="0"/>
                        </a:rPr>
                        <a:t>8</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612-01/25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Other</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A612</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ctr"/>
                      <a:r>
                        <a:rPr lang="en-SG" sz="1100" b="0" i="0" u="none" strike="noStrike">
                          <a:solidFill>
                            <a:srgbClr val="000000"/>
                          </a:solidFill>
                          <a:effectLst/>
                          <a:latin typeface="Times New Roman" panose="02020603050405020304" pitchFamily="18" charset="0"/>
                        </a:rPr>
                        <a:t>DUE TO LACK OF SPARE PART, SCHEDULE OF AMP TASKS 272100-04-1 “ REMOVE YAW DAMPER SPRING ROD FOR IN SHOP OPERATIONAL CHECK" NEEDS TO BE EXTENED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SQD</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28-Feb-2025</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272100-04-1</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100" b="0" i="0" u="none" strike="noStrike">
                          <a:solidFill>
                            <a:srgbClr val="000000"/>
                          </a:solidFill>
                          <a:effectLst/>
                          <a:latin typeface="Times New Roman" panose="02020603050405020304" pitchFamily="18" charset="0"/>
                        </a:rPr>
                        <a:t>Open</a:t>
                      </a:r>
                    </a:p>
                  </a:txBody>
                  <a:tcPr marL="5165" marR="5165" marT="516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65184625"/>
                  </a:ext>
                </a:extLst>
              </a:tr>
            </a:tbl>
          </a:graphicData>
        </a:graphic>
      </p:graphicFrame>
    </p:spTree>
    <p:extLst>
      <p:ext uri="{BB962C8B-B14F-4D97-AF65-F5344CB8AC3E}">
        <p14:creationId xmlns:p14="http://schemas.microsoft.com/office/powerpoint/2010/main" val="317795677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7" name="Title 4"/>
          <p:cNvSpPr>
            <a:spLocks noGrp="1"/>
          </p:cNvSpPr>
          <p:nvPr>
            <p:ph type="title"/>
          </p:nvPr>
        </p:nvSpPr>
        <p:spPr>
          <a:xfrm>
            <a:off x="1127264" y="262610"/>
            <a:ext cx="10370492" cy="560972"/>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Giờ bay trung bình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8" name="Table 7"/>
          <p:cNvGraphicFramePr>
            <a:graphicFrameLocks noGrp="1"/>
          </p:cNvGraphicFramePr>
          <p:nvPr/>
        </p:nvGraphicFramePr>
        <p:xfrm>
          <a:off x="1059507" y="3904055"/>
          <a:ext cx="4954432" cy="2793501"/>
        </p:xfrm>
        <a:graphic>
          <a:graphicData uri="http://schemas.openxmlformats.org/drawingml/2006/table">
            <a:tbl>
              <a:tblPr/>
              <a:tblGrid>
                <a:gridCol w="792709">
                  <a:extLst>
                    <a:ext uri="{9D8B030D-6E8A-4147-A177-3AD203B41FA5}">
                      <a16:colId xmlns:a16="http://schemas.microsoft.com/office/drawing/2014/main" val="4293334556"/>
                    </a:ext>
                  </a:extLst>
                </a:gridCol>
                <a:gridCol w="1118287">
                  <a:extLst>
                    <a:ext uri="{9D8B030D-6E8A-4147-A177-3AD203B41FA5}">
                      <a16:colId xmlns:a16="http://schemas.microsoft.com/office/drawing/2014/main" val="3593396119"/>
                    </a:ext>
                  </a:extLst>
                </a:gridCol>
                <a:gridCol w="948420">
                  <a:extLst>
                    <a:ext uri="{9D8B030D-6E8A-4147-A177-3AD203B41FA5}">
                      <a16:colId xmlns:a16="http://schemas.microsoft.com/office/drawing/2014/main" val="1444269426"/>
                    </a:ext>
                  </a:extLst>
                </a:gridCol>
                <a:gridCol w="990886">
                  <a:extLst>
                    <a:ext uri="{9D8B030D-6E8A-4147-A177-3AD203B41FA5}">
                      <a16:colId xmlns:a16="http://schemas.microsoft.com/office/drawing/2014/main" val="2696731085"/>
                    </a:ext>
                  </a:extLst>
                </a:gridCol>
                <a:gridCol w="1104130">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This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70C0"/>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5929344"/>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3296423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221:05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375:05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161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4455108"/>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192:00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823:15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250:00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3:28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521:40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267:45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9" name="Table 8"/>
          <p:cNvGraphicFramePr>
            <a:graphicFrameLocks noGrp="1"/>
          </p:cNvGraphicFramePr>
          <p:nvPr/>
        </p:nvGraphicFramePr>
        <p:xfrm>
          <a:off x="6312510" y="3904053"/>
          <a:ext cx="5117489" cy="2793501"/>
        </p:xfrm>
        <a:graphic>
          <a:graphicData uri="http://schemas.openxmlformats.org/drawingml/2006/table">
            <a:tbl>
              <a:tblPr/>
              <a:tblGrid>
                <a:gridCol w="818798">
                  <a:extLst>
                    <a:ext uri="{9D8B030D-6E8A-4147-A177-3AD203B41FA5}">
                      <a16:colId xmlns:a16="http://schemas.microsoft.com/office/drawing/2014/main" val="4293334556"/>
                    </a:ext>
                  </a:extLst>
                </a:gridCol>
                <a:gridCol w="1155092">
                  <a:extLst>
                    <a:ext uri="{9D8B030D-6E8A-4147-A177-3AD203B41FA5}">
                      <a16:colId xmlns:a16="http://schemas.microsoft.com/office/drawing/2014/main" val="3593396119"/>
                    </a:ext>
                  </a:extLst>
                </a:gridCol>
                <a:gridCol w="979634">
                  <a:extLst>
                    <a:ext uri="{9D8B030D-6E8A-4147-A177-3AD203B41FA5}">
                      <a16:colId xmlns:a16="http://schemas.microsoft.com/office/drawing/2014/main" val="1444269426"/>
                    </a:ext>
                  </a:extLst>
                </a:gridCol>
                <a:gridCol w="1023497">
                  <a:extLst>
                    <a:ext uri="{9D8B030D-6E8A-4147-A177-3AD203B41FA5}">
                      <a16:colId xmlns:a16="http://schemas.microsoft.com/office/drawing/2014/main" val="2696731085"/>
                    </a:ext>
                  </a:extLst>
                </a:gridCol>
                <a:gridCol w="1140468">
                  <a:extLst>
                    <a:ext uri="{9D8B030D-6E8A-4147-A177-3AD203B41FA5}">
                      <a16:colId xmlns:a16="http://schemas.microsoft.com/office/drawing/2014/main" val="2360079028"/>
                    </a:ext>
                  </a:extLst>
                </a:gridCol>
              </a:tblGrid>
              <a:tr h="249598">
                <a:tc gridSpan="5">
                  <a:txBody>
                    <a:bodyPr/>
                    <a:lstStyle/>
                    <a:p>
                      <a:pPr marL="0" marR="0" indent="0" algn="ctr" defTabSz="914400" rtl="0" eaLnBrk="1" fontAlgn="ctr" latinLnBrk="0" hangingPunct="1">
                        <a:lnSpc>
                          <a:spcPct val="100000"/>
                        </a:lnSpc>
                        <a:spcBef>
                          <a:spcPts val="0"/>
                        </a:spcBef>
                        <a:spcAft>
                          <a:spcPts val="0"/>
                        </a:spcAft>
                        <a:buClrTx/>
                        <a:buSzTx/>
                        <a:buFontTx/>
                        <a:buNone/>
                        <a:tabLst/>
                        <a:defRPr/>
                      </a:pPr>
                      <a:r>
                        <a:rPr lang="en-US" sz="1400" b="1" i="0" u="none" strike="noStrike">
                          <a:solidFill>
                            <a:srgbClr val="000000"/>
                          </a:solidFill>
                          <a:effectLst/>
                          <a:latin typeface="Times New Roman" panose="02020603050405020304" pitchFamily="18" charset="0"/>
                        </a:rPr>
                        <a:t>Next Week</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hMerge="1">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8078206"/>
                  </a:ext>
                </a:extLst>
              </a:tr>
              <a:tr h="297521">
                <a:tc>
                  <a:txBody>
                    <a:bodyPr/>
                    <a:lstStyle/>
                    <a:p>
                      <a:pPr algn="ctr" fontAlgn="ctr"/>
                      <a:r>
                        <a:rPr lang="en-US" sz="1400" b="1" i="0" u="none" strike="noStrike">
                          <a:solidFill>
                            <a:srgbClr val="000000"/>
                          </a:solidFill>
                          <a:effectLst/>
                          <a:latin typeface="Times New Roman" panose="02020603050405020304" pitchFamily="18" charset="0"/>
                        </a:rPr>
                        <a:t>Fleet</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FH</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Total 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1" i="0" u="none" strike="noStrike">
                          <a:solidFill>
                            <a:srgbClr val="000000"/>
                          </a:solidFill>
                          <a:effectLst/>
                          <a:latin typeface="Times New Roman" panose="02020603050405020304" pitchFamily="18" charset="0"/>
                        </a:rPr>
                        <a:t>FH/FC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82051267"/>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A320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i="0" u="none" strike="noStrike" kern="1200">
                          <a:solidFill>
                            <a:srgbClr val="000000"/>
                          </a:solidFill>
                          <a:effectLst/>
                          <a:latin typeface="Times New Roman" panose="02020603050405020304" pitchFamily="18" charset="0"/>
                          <a:ea typeface="+mn-ea"/>
                          <a:cs typeface="+mn-cs"/>
                        </a:rPr>
                        <a:t>A320NEO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224:45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147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6789633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A321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CEO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121.36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1533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61775603"/>
                  </a:ext>
                </a:extLst>
              </a:tr>
              <a:tr h="249598">
                <a:tc vMerge="1">
                  <a:txBody>
                    <a:bodyPr/>
                    <a:lstStyle/>
                    <a:p>
                      <a:pPr algn="ctr" fontAlgn="ctr"/>
                      <a:endParaRPr lang="en-US" sz="1400" b="1" i="0" u="none" strike="noStrike">
                        <a:solidFill>
                          <a:srgbClr val="000000"/>
                        </a:solidFill>
                        <a:effectLst/>
                        <a:latin typeface="Times New Roman" panose="02020603050405020304" pitchFamily="18" charset="0"/>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A321 NEO</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417:50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846905"/>
                  </a:ext>
                </a:extLst>
              </a:tr>
              <a:tr h="249598">
                <a:tc rowSpan="2">
                  <a:txBody>
                    <a:bodyPr/>
                    <a:lstStyle/>
                    <a:p>
                      <a:pPr algn="ctr" fontAlgn="ctr"/>
                      <a:r>
                        <a:rPr lang="en-US" sz="1400" b="1" i="0" u="none" strike="noStrike">
                          <a:solidFill>
                            <a:srgbClr val="000000"/>
                          </a:solidFill>
                          <a:effectLst/>
                          <a:latin typeface="Times New Roman" panose="02020603050405020304" pitchFamily="18" charset="0"/>
                        </a:rPr>
                        <a:t>A350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35A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203:10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4:13</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64274135"/>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35B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896:55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138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6:29</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5172352"/>
                  </a:ext>
                </a:extLst>
              </a:tr>
              <a:tr h="249598">
                <a:tc rowSpan="3">
                  <a:txBody>
                    <a:bodyPr/>
                    <a:lstStyle/>
                    <a:p>
                      <a:pPr algn="ctr" fontAlgn="ctr"/>
                      <a:r>
                        <a:rPr lang="en-US" sz="1400" b="1" i="0" u="none" strike="noStrike">
                          <a:solidFill>
                            <a:srgbClr val="000000"/>
                          </a:solidFill>
                          <a:effectLst/>
                          <a:latin typeface="Times New Roman" panose="02020603050405020304" pitchFamily="18" charset="0"/>
                        </a:rPr>
                        <a:t>B787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78A</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732:15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106</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6:54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74341854"/>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78B</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310:15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84</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3:41</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8993120"/>
                  </a:ext>
                </a:extLst>
              </a:tr>
              <a:tr h="249598">
                <a:tc vMerge="1">
                  <a:txBody>
                    <a:bodyPr/>
                    <a:lstStyle/>
                    <a:p>
                      <a:endParaRPr lang="en-US"/>
                    </a:p>
                  </a:txBody>
                  <a:tcPr/>
                </a:tc>
                <a:tc>
                  <a:txBody>
                    <a:bodyPr/>
                    <a:lstStyle/>
                    <a:p>
                      <a:pPr algn="ctr" fontAlgn="ctr"/>
                      <a:r>
                        <a:rPr lang="en-US" sz="1400" b="0" i="0" u="none" strike="noStrike">
                          <a:solidFill>
                            <a:srgbClr val="000000"/>
                          </a:solidFill>
                          <a:effectLst/>
                          <a:latin typeface="Times New Roman" panose="02020603050405020304" pitchFamily="18" charset="0"/>
                        </a:rPr>
                        <a:t>78C</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519:20</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157</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3:18</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780528"/>
                  </a:ext>
                </a:extLst>
              </a:tr>
              <a:tr h="249598">
                <a:tc>
                  <a:txBody>
                    <a:bodyPr/>
                    <a:lstStyle/>
                    <a:p>
                      <a:pPr algn="ctr" fontAlgn="ctr"/>
                      <a:r>
                        <a:rPr lang="en-US" sz="1400" b="1"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ATR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264:25</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252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1:02</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83284901"/>
                  </a:ext>
                </a:extLst>
              </a:tr>
            </a:tbl>
          </a:graphicData>
        </a:graphic>
      </p:graphicFrame>
      <p:graphicFrame>
        <p:nvGraphicFramePr>
          <p:cNvPr id="11" name="Chart 10"/>
          <p:cNvGraphicFramePr>
            <a:graphicFrameLocks/>
          </p:cNvGraphicFramePr>
          <p:nvPr/>
        </p:nvGraphicFramePr>
        <p:xfrm>
          <a:off x="1059507" y="963846"/>
          <a:ext cx="10370491" cy="277653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66942883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1068301" y="441128"/>
            <a:ext cx="10515600" cy="558906"/>
          </a:xfrm>
        </p:spPr>
        <p:txBody>
          <a:bodyPr>
            <a:noAutofit/>
          </a:bodyPr>
          <a:lstStyle/>
          <a:p>
            <a:pPr algn="ctr"/>
            <a:r>
              <a:rPr lang="en-US" sz="2400">
                <a:ln w="0"/>
                <a:solidFill>
                  <a:schemeClr val="accent4"/>
                </a:solidFill>
                <a:latin typeface="Times New Roman" panose="02020603050405020304" pitchFamily="18" charset="0"/>
                <a:cs typeface="Times New Roman" panose="02020603050405020304" pitchFamily="18" charset="0"/>
              </a:rPr>
              <a:t>Số chuyến bay theo ngày trong tuần các đội tàu</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925417" y="3601492"/>
          <a:ext cx="5166913" cy="3074728"/>
        </p:xfrm>
        <a:graphic>
          <a:graphicData uri="http://schemas.openxmlformats.org/drawingml/2006/table">
            <a:tbl>
              <a:tblPr/>
              <a:tblGrid>
                <a:gridCol w="508916">
                  <a:extLst>
                    <a:ext uri="{9D8B030D-6E8A-4147-A177-3AD203B41FA5}">
                      <a16:colId xmlns:a16="http://schemas.microsoft.com/office/drawing/2014/main" val="4007203340"/>
                    </a:ext>
                  </a:extLst>
                </a:gridCol>
                <a:gridCol w="664419">
                  <a:extLst>
                    <a:ext uri="{9D8B030D-6E8A-4147-A177-3AD203B41FA5}">
                      <a16:colId xmlns:a16="http://schemas.microsoft.com/office/drawing/2014/main" val="426832351"/>
                    </a:ext>
                  </a:extLst>
                </a:gridCol>
                <a:gridCol w="558394">
                  <a:extLst>
                    <a:ext uri="{9D8B030D-6E8A-4147-A177-3AD203B41FA5}">
                      <a16:colId xmlns:a16="http://schemas.microsoft.com/office/drawing/2014/main" val="1721542108"/>
                    </a:ext>
                  </a:extLst>
                </a:gridCol>
                <a:gridCol w="558394">
                  <a:extLst>
                    <a:ext uri="{9D8B030D-6E8A-4147-A177-3AD203B41FA5}">
                      <a16:colId xmlns:a16="http://schemas.microsoft.com/office/drawing/2014/main" val="1471932876"/>
                    </a:ext>
                  </a:extLst>
                </a:gridCol>
                <a:gridCol w="558394">
                  <a:extLst>
                    <a:ext uri="{9D8B030D-6E8A-4147-A177-3AD203B41FA5}">
                      <a16:colId xmlns:a16="http://schemas.microsoft.com/office/drawing/2014/main" val="4014421323"/>
                    </a:ext>
                  </a:extLst>
                </a:gridCol>
                <a:gridCol w="558394">
                  <a:extLst>
                    <a:ext uri="{9D8B030D-6E8A-4147-A177-3AD203B41FA5}">
                      <a16:colId xmlns:a16="http://schemas.microsoft.com/office/drawing/2014/main" val="3056975398"/>
                    </a:ext>
                  </a:extLst>
                </a:gridCol>
                <a:gridCol w="558394">
                  <a:extLst>
                    <a:ext uri="{9D8B030D-6E8A-4147-A177-3AD203B41FA5}">
                      <a16:colId xmlns:a16="http://schemas.microsoft.com/office/drawing/2014/main" val="3963358169"/>
                    </a:ext>
                  </a:extLst>
                </a:gridCol>
                <a:gridCol w="643214">
                  <a:extLst>
                    <a:ext uri="{9D8B030D-6E8A-4147-A177-3AD203B41FA5}">
                      <a16:colId xmlns:a16="http://schemas.microsoft.com/office/drawing/2014/main" val="2287965264"/>
                    </a:ext>
                  </a:extLst>
                </a:gridCol>
                <a:gridCol w="558394">
                  <a:extLst>
                    <a:ext uri="{9D8B030D-6E8A-4147-A177-3AD203B41FA5}">
                      <a16:colId xmlns:a16="http://schemas.microsoft.com/office/drawing/2014/main" val="280549794"/>
                    </a:ext>
                  </a:extLst>
                </a:gridCol>
              </a:tblGrid>
              <a:tr h="316070">
                <a:tc gridSpan="9">
                  <a:txBody>
                    <a:bodyPr/>
                    <a:lstStyle/>
                    <a:p>
                      <a:pPr algn="ctr" fontAlgn="ctr"/>
                      <a:r>
                        <a:rPr lang="en-US" sz="1400" b="0" i="0" u="none" strike="noStrike">
                          <a:solidFill>
                            <a:srgbClr val="000000"/>
                          </a:solidFill>
                          <a:effectLst/>
                          <a:latin typeface="Times New Roman" panose="02020603050405020304" pitchFamily="18" charset="0"/>
                        </a:rPr>
                        <a:t>This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B0F0"/>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2151903382"/>
                  </a:ext>
                </a:extLst>
              </a:tr>
              <a:tr h="316070">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24-Feb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28-Feb</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01-Mar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02-Mar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5160127"/>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6.48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01804899"/>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5.47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5.68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5.58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6.03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5.74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85196478"/>
                  </a:ext>
                </a:extLst>
              </a:tr>
              <a:tr h="498126">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5.20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4.57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55283256"/>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1.90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2.23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92940620"/>
                  </a:ext>
                </a:extLst>
              </a:tr>
              <a:tr h="316070">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2.65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2.71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2.86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3001083"/>
                  </a:ext>
                </a:extLst>
              </a:tr>
              <a:tr h="316070">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8.00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400" b="0" i="0" u="none" strike="noStrike">
                          <a:solidFill>
                            <a:srgbClr val="000000"/>
                          </a:solidFill>
                          <a:effectLst/>
                          <a:latin typeface="Times New Roman" panose="02020603050405020304" pitchFamily="18" charset="0"/>
                        </a:rPr>
                        <a:t>7.54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78332843"/>
                  </a:ext>
                </a:extLst>
              </a:tr>
            </a:tbl>
          </a:graphicData>
        </a:graphic>
      </p:graphicFrame>
      <p:graphicFrame>
        <p:nvGraphicFramePr>
          <p:cNvPr id="6" name="Table 5"/>
          <p:cNvGraphicFramePr>
            <a:graphicFrameLocks noGrp="1"/>
          </p:cNvGraphicFramePr>
          <p:nvPr/>
        </p:nvGraphicFramePr>
        <p:xfrm>
          <a:off x="6323684" y="3601491"/>
          <a:ext cx="5122840" cy="3074728"/>
        </p:xfrm>
        <a:graphic>
          <a:graphicData uri="http://schemas.openxmlformats.org/drawingml/2006/table">
            <a:tbl>
              <a:tblPr/>
              <a:tblGrid>
                <a:gridCol w="594680">
                  <a:extLst>
                    <a:ext uri="{9D8B030D-6E8A-4147-A177-3AD203B41FA5}">
                      <a16:colId xmlns:a16="http://schemas.microsoft.com/office/drawing/2014/main" val="3551115474"/>
                    </a:ext>
                  </a:extLst>
                </a:gridCol>
                <a:gridCol w="566020">
                  <a:extLst>
                    <a:ext uri="{9D8B030D-6E8A-4147-A177-3AD203B41FA5}">
                      <a16:colId xmlns:a16="http://schemas.microsoft.com/office/drawing/2014/main" val="1314180557"/>
                    </a:ext>
                  </a:extLst>
                </a:gridCol>
                <a:gridCol w="566020">
                  <a:extLst>
                    <a:ext uri="{9D8B030D-6E8A-4147-A177-3AD203B41FA5}">
                      <a16:colId xmlns:a16="http://schemas.microsoft.com/office/drawing/2014/main" val="2680264810"/>
                    </a:ext>
                  </a:extLst>
                </a:gridCol>
                <a:gridCol w="566020">
                  <a:extLst>
                    <a:ext uri="{9D8B030D-6E8A-4147-A177-3AD203B41FA5}">
                      <a16:colId xmlns:a16="http://schemas.microsoft.com/office/drawing/2014/main" val="184617242"/>
                    </a:ext>
                  </a:extLst>
                </a:gridCol>
                <a:gridCol w="566020">
                  <a:extLst>
                    <a:ext uri="{9D8B030D-6E8A-4147-A177-3AD203B41FA5}">
                      <a16:colId xmlns:a16="http://schemas.microsoft.com/office/drawing/2014/main" val="3552461699"/>
                    </a:ext>
                  </a:extLst>
                </a:gridCol>
                <a:gridCol w="566020">
                  <a:extLst>
                    <a:ext uri="{9D8B030D-6E8A-4147-A177-3AD203B41FA5}">
                      <a16:colId xmlns:a16="http://schemas.microsoft.com/office/drawing/2014/main" val="3621213656"/>
                    </a:ext>
                  </a:extLst>
                </a:gridCol>
                <a:gridCol w="566020">
                  <a:extLst>
                    <a:ext uri="{9D8B030D-6E8A-4147-A177-3AD203B41FA5}">
                      <a16:colId xmlns:a16="http://schemas.microsoft.com/office/drawing/2014/main" val="4002416887"/>
                    </a:ext>
                  </a:extLst>
                </a:gridCol>
                <a:gridCol w="566020">
                  <a:extLst>
                    <a:ext uri="{9D8B030D-6E8A-4147-A177-3AD203B41FA5}">
                      <a16:colId xmlns:a16="http://schemas.microsoft.com/office/drawing/2014/main" val="2192548362"/>
                    </a:ext>
                  </a:extLst>
                </a:gridCol>
                <a:gridCol w="566020">
                  <a:extLst>
                    <a:ext uri="{9D8B030D-6E8A-4147-A177-3AD203B41FA5}">
                      <a16:colId xmlns:a16="http://schemas.microsoft.com/office/drawing/2014/main" val="604295541"/>
                    </a:ext>
                  </a:extLst>
                </a:gridCol>
              </a:tblGrid>
              <a:tr h="273744">
                <a:tc gridSpan="9">
                  <a:txBody>
                    <a:bodyPr/>
                    <a:lstStyle/>
                    <a:p>
                      <a:pPr algn="ctr" fontAlgn="ctr"/>
                      <a:r>
                        <a:rPr lang="en-US" sz="1400" b="0" i="0" u="none" strike="noStrike">
                          <a:solidFill>
                            <a:srgbClr val="000000"/>
                          </a:solidFill>
                          <a:effectLst/>
                          <a:latin typeface="Times New Roman" panose="02020603050405020304" pitchFamily="18" charset="0"/>
                        </a:rPr>
                        <a:t>Next Week</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7D31"/>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573633610"/>
                  </a:ext>
                </a:extLst>
              </a:tr>
              <a:tr h="338389">
                <a:tc>
                  <a:txBody>
                    <a:bodyPr/>
                    <a:lstStyle/>
                    <a:p>
                      <a:pPr algn="ctr" fontAlgn="ctr"/>
                      <a:r>
                        <a:rPr lang="en-US" sz="1200" b="0" i="0" u="none" strike="noStrike">
                          <a:solidFill>
                            <a:srgbClr val="000000"/>
                          </a:solidFill>
                          <a:effectLst/>
                          <a:latin typeface="Times New Roman" panose="02020603050405020304" pitchFamily="18" charset="0"/>
                        </a:rPr>
                        <a:t>Fleet</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03-Mar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04-Mar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05-Mar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06-Mar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07-Mar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08-Mar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09-Mar</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Avg.</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14169036"/>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A320</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6.67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7.33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13065108"/>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CEO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5.28</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5.97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5.62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57632801"/>
                  </a:ext>
                </a:extLst>
              </a:tr>
              <a:tr h="501500">
                <a:tc>
                  <a:txBody>
                    <a:bodyPr/>
                    <a:lstStyle/>
                    <a:p>
                      <a:pPr algn="ctr" fontAlgn="ctr"/>
                      <a:r>
                        <a:rPr lang="en-US" sz="1200" b="0" i="0" u="none" strike="noStrike">
                          <a:solidFill>
                            <a:srgbClr val="000000"/>
                          </a:solidFill>
                          <a:effectLst/>
                          <a:latin typeface="Times New Roman" panose="02020603050405020304" pitchFamily="18" charset="0"/>
                        </a:rPr>
                        <a:t>A321</a:t>
                      </a:r>
                    </a:p>
                    <a:p>
                      <a:pPr algn="ctr" fontAlgn="ctr"/>
                      <a:r>
                        <a:rPr lang="en-US" sz="1200" b="0" i="0" u="none" strike="noStrike">
                          <a:solidFill>
                            <a:srgbClr val="000000"/>
                          </a:solidFill>
                          <a:effectLst/>
                          <a:latin typeface="Times New Roman" panose="02020603050405020304" pitchFamily="18" charset="0"/>
                        </a:rPr>
                        <a:t>NEO</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4.80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5.40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5.57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38142930"/>
                  </a:ext>
                </a:extLst>
              </a:tr>
              <a:tr h="339912">
                <a:tc>
                  <a:txBody>
                    <a:bodyPr/>
                    <a:lstStyle/>
                    <a:p>
                      <a:pPr algn="ctr" fontAlgn="ctr"/>
                      <a:r>
                        <a:rPr lang="en-US" sz="1200" b="0" i="0" u="none" strike="noStrike">
                          <a:solidFill>
                            <a:srgbClr val="000000"/>
                          </a:solidFill>
                          <a:effectLst/>
                          <a:latin typeface="Times New Roman" panose="02020603050405020304" pitchFamily="18" charset="0"/>
                        </a:rPr>
                        <a:t>A350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2.50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2.66</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29221019"/>
                  </a:ext>
                </a:extLst>
              </a:tr>
              <a:tr h="344439">
                <a:tc>
                  <a:txBody>
                    <a:bodyPr/>
                    <a:lstStyle/>
                    <a:p>
                      <a:pPr algn="ctr" fontAlgn="ctr"/>
                      <a:r>
                        <a:rPr lang="en-US" sz="1200" b="0" i="0" u="none" strike="noStrike">
                          <a:solidFill>
                            <a:srgbClr val="000000"/>
                          </a:solidFill>
                          <a:effectLst/>
                          <a:latin typeface="Times New Roman" panose="02020603050405020304" pitchFamily="18" charset="0"/>
                        </a:rPr>
                        <a:t>B787</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2.81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3.19</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2.75</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2.94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3.44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3.10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52154933"/>
                  </a:ext>
                </a:extLst>
              </a:tr>
              <a:tr h="273744">
                <a:tc>
                  <a:txBody>
                    <a:bodyPr/>
                    <a:lstStyle/>
                    <a:p>
                      <a:pPr algn="ctr" fontAlgn="ctr"/>
                      <a:r>
                        <a:rPr lang="en-US" sz="1200" b="0" i="0" u="none" strike="noStrike">
                          <a:solidFill>
                            <a:srgbClr val="000000"/>
                          </a:solidFill>
                          <a:effectLst/>
                          <a:latin typeface="Times New Roman" panose="02020603050405020304" pitchFamily="18" charset="0"/>
                        </a:rPr>
                        <a:t>ATR72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7.00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6.80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7.60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200" b="0" i="0" u="none" strike="noStrike">
                          <a:solidFill>
                            <a:srgbClr val="000000"/>
                          </a:solidFill>
                          <a:effectLst/>
                          <a:latin typeface="Times New Roman" panose="02020603050405020304" pitchFamily="18" charset="0"/>
                        </a:rPr>
                        <a:t>7.20</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55859539"/>
                  </a:ext>
                </a:extLst>
              </a:tr>
            </a:tbl>
          </a:graphicData>
        </a:graphic>
      </p:graphicFrame>
      <p:graphicFrame>
        <p:nvGraphicFramePr>
          <p:cNvPr id="9" name="Chart 8"/>
          <p:cNvGraphicFramePr>
            <a:graphicFrameLocks/>
          </p:cNvGraphicFramePr>
          <p:nvPr/>
        </p:nvGraphicFramePr>
        <p:xfrm>
          <a:off x="925418" y="1219200"/>
          <a:ext cx="10521106" cy="220050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22983707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pic>
        <p:nvPicPr>
          <p:cNvPr id="36" name="Google Shape;36;p4" descr="A black and yellow lines on a blue surface&#10;&#10;Description automatically generated"/>
          <p:cNvPicPr preferRelativeResize="0"/>
          <p:nvPr/>
        </p:nvPicPr>
        <p:blipFill rotWithShape="1">
          <a:blip r:embed="rId3">
            <a:alphaModFix/>
          </a:blip>
          <a:srcRect/>
          <a:stretch/>
        </p:blipFill>
        <p:spPr>
          <a:xfrm>
            <a:off x="8650521" y="4650486"/>
            <a:ext cx="3545983" cy="2207517"/>
          </a:xfrm>
          <a:prstGeom prst="rect">
            <a:avLst/>
          </a:prstGeom>
          <a:noFill/>
          <a:ln>
            <a:noFill/>
          </a:ln>
        </p:spPr>
      </p:pic>
      <p:sp>
        <p:nvSpPr>
          <p:cNvPr id="51" name="Google Shape;51;p4"/>
          <p:cNvSpPr txBox="1">
            <a:spLocks noGrp="1"/>
          </p:cNvSpPr>
          <p:nvPr>
            <p:ph type="sldNum" idx="12"/>
          </p:nvPr>
        </p:nvSpPr>
        <p:spPr>
          <a:xfrm>
            <a:off x="11296611" y="6217623"/>
            <a:ext cx="731600" cy="524800"/>
          </a:xfrm>
          <a:prstGeom prst="rect">
            <a:avLst/>
          </a:prstGeom>
          <a:effectLst>
            <a:outerShdw blurRad="57150" dist="19050" dir="5400000" algn="bl" rotWithShape="0">
              <a:srgbClr val="000000">
                <a:alpha val="50000"/>
              </a:srgbClr>
            </a:outerShdw>
            <a:reflection dist="38100" dir="5400000" fadeDir="5400012" sy="-100000" algn="bl" rotWithShape="0"/>
          </a:effectLst>
        </p:spPr>
        <p:txBody>
          <a:bodyPr spcFirstLastPara="1" vert="horz" wrap="square" lIns="121900" tIns="121900" rIns="121900" bIns="121900" rtlCol="0" anchor="ctr" anchorCtr="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0000000-1234-1234-1234-123412341234}" type="slidenum">
              <a:rPr kumimoji="0" lang="vi" sz="1200" b="0" i="0" u="none" strike="noStrike" kern="1200" cap="none" spc="0" normalizeH="0" baseline="0" noProof="0">
                <a:ln>
                  <a:noFill/>
                </a:ln>
                <a:solidFill>
                  <a:prstClr val="black">
                    <a:tint val="75000"/>
                  </a:prstClr>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sz="1200" b="0" i="0" u="none" strike="noStrike" kern="1200" cap="none" spc="0" normalizeH="0" baseline="0" noProof="0">
              <a:ln>
                <a:noFill/>
              </a:ln>
              <a:solidFill>
                <a:prstClr val="black">
                  <a:tint val="75000"/>
                </a:prstClr>
              </a:solidFill>
              <a:effectLst/>
              <a:uLnTx/>
              <a:uFillTx/>
              <a:latin typeface="Arial"/>
              <a:ea typeface="+mn-ea"/>
              <a:cs typeface="+mn-cs"/>
            </a:endParaRPr>
          </a:p>
        </p:txBody>
      </p:sp>
      <p:sp>
        <p:nvSpPr>
          <p:cNvPr id="4" name="Title 4"/>
          <p:cNvSpPr>
            <a:spLocks noGrp="1"/>
          </p:cNvSpPr>
          <p:nvPr>
            <p:ph type="title"/>
          </p:nvPr>
        </p:nvSpPr>
        <p:spPr>
          <a:xfrm>
            <a:off x="983673" y="508342"/>
            <a:ext cx="10549845" cy="552707"/>
          </a:xfrm>
        </p:spPr>
        <p:txBody>
          <a:bodyPr>
            <a:noAutofit/>
          </a:bodyPr>
          <a:lstStyle/>
          <a:p>
            <a:pPr algn="ctr"/>
            <a:r>
              <a:rPr lang="en-GB" sz="2400">
                <a:ln w="0"/>
                <a:solidFill>
                  <a:schemeClr val="accent4"/>
                </a:solidFill>
                <a:latin typeface="Times New Roman" panose="02020603050405020304" pitchFamily="18" charset="0"/>
                <a:cs typeface="Times New Roman" panose="02020603050405020304" pitchFamily="18" charset="0"/>
              </a:rPr>
              <a:t>Số chuyến bay khai thác theo ngày</a:t>
            </a:r>
            <a:endParaRPr lang="vi-VN" sz="2400" dirty="0">
              <a:ln w="0"/>
              <a:solidFill>
                <a:schemeClr val="accent4"/>
              </a:solidFill>
              <a:latin typeface="Times New Roman" panose="02020603050405020304" pitchFamily="18" charset="0"/>
              <a:cs typeface="Times New Roman" panose="02020603050405020304" pitchFamily="18" charset="0"/>
            </a:endParaRPr>
          </a:p>
        </p:txBody>
      </p:sp>
      <p:graphicFrame>
        <p:nvGraphicFramePr>
          <p:cNvPr id="6" name="Chart 5"/>
          <p:cNvGraphicFramePr>
            <a:graphicFrameLocks/>
          </p:cNvGraphicFramePr>
          <p:nvPr/>
        </p:nvGraphicFramePr>
        <p:xfrm>
          <a:off x="983673" y="1371600"/>
          <a:ext cx="10549845" cy="5181600"/>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140885815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g31ccdae391d_0_248"/>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57" name="Google Shape;157;g31ccdae391d_0_24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54</a:t>
            </a:fld>
            <a:endParaRPr/>
          </a:p>
        </p:txBody>
      </p:sp>
      <p:sp>
        <p:nvSpPr>
          <p:cNvPr id="158" name="Google Shape;158;g31ccdae391d_0_248"/>
          <p:cNvSpPr/>
          <p:nvPr/>
        </p:nvSpPr>
        <p:spPr>
          <a:xfrm>
            <a:off x="475582"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vật tư cho hỏng hóc trên đội bay</a:t>
            </a:r>
            <a:endParaRPr sz="2000" b="1" i="0" u="none" strike="noStrike" cap="none">
              <a:solidFill>
                <a:srgbClr val="FF0000"/>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Tàu AOG: </a:t>
            </a:r>
            <a:r>
              <a:rPr lang="en-US" sz="1500" b="1">
                <a:solidFill>
                  <a:schemeClr val="dk1"/>
                </a:solidFill>
                <a:latin typeface="Times New Roman"/>
                <a:ea typeface="Times New Roman"/>
                <a:cs typeface="Times New Roman"/>
                <a:sym typeface="Times New Roman"/>
              </a:rPr>
              <a:t>NIL</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hình tàu check: </a:t>
            </a:r>
            <a:endParaRPr sz="1500">
              <a:solidFill>
                <a:schemeClr val="dk1"/>
              </a:solidFill>
              <a:latin typeface="Times New Roman"/>
              <a:ea typeface="Times New Roman"/>
              <a:cs typeface="Times New Roman"/>
              <a:sym typeface="Times New Roman"/>
            </a:endParaRPr>
          </a:p>
          <a:p>
            <a:pPr marL="914400" marR="0" lvl="1"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A397 - HAN - EC01+ EC02+ EA20 (22/02-08/03): hiện thiếu:</a:t>
            </a:r>
            <a:endParaRPr sz="1500">
              <a:solidFill>
                <a:schemeClr val="dk1"/>
              </a:solidFill>
              <a:latin typeface="Times New Roman"/>
              <a:ea typeface="Times New Roman"/>
              <a:cs typeface="Times New Roman"/>
              <a:sym typeface="Times New Roman"/>
            </a:endParaRPr>
          </a:p>
          <a:p>
            <a:pPr marL="1371600" marR="0" lvl="2"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02 Precooler Exchanger PN 3732A010000: ST đã cấp hàng, dự kiến 01/03/2025 nhập kho</a:t>
            </a:r>
            <a:endParaRPr sz="1500">
              <a:solidFill>
                <a:schemeClr val="dk1"/>
              </a:solidFill>
              <a:latin typeface="Times New Roman"/>
              <a:ea typeface="Times New Roman"/>
              <a:cs typeface="Times New Roman"/>
              <a:sym typeface="Times New Roman"/>
            </a:endParaRPr>
          </a:p>
          <a:p>
            <a:pPr marL="1371600" marR="0" lvl="2" indent="-323850" algn="just" rtl="0">
              <a:lnSpc>
                <a:spcPct val="100000"/>
              </a:lnSpc>
              <a:spcBef>
                <a:spcPts val="0"/>
              </a:spcBef>
              <a:spcAft>
                <a:spcPts val="0"/>
              </a:spcAft>
              <a:buClr>
                <a:schemeClr val="dk1"/>
              </a:buClr>
              <a:buSzPts val="1500"/>
              <a:buFont typeface="Times New Roman"/>
              <a:buChar char="■"/>
            </a:pPr>
            <a:r>
              <a:rPr lang="en-US" sz="1500">
                <a:solidFill>
                  <a:schemeClr val="dk1"/>
                </a:solidFill>
                <a:latin typeface="Times New Roman"/>
                <a:ea typeface="Times New Roman"/>
                <a:cs typeface="Times New Roman"/>
                <a:sym typeface="Times New Roman"/>
              </a:rPr>
              <a:t>01 HPV PN 6773F010000: Hiện cả Liebherr (VNA gửi sửa) và STEA không có stock. Đang tìm nguồn thuê/đổi bên ngoài.</a:t>
            </a:r>
            <a:endParaRPr sz="1500">
              <a:solidFill>
                <a:schemeClr val="dk1"/>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Hỏng hóc ảnh hưởng khai thác: Kh</a:t>
            </a:r>
            <a:r>
              <a:rPr lang="en-US" sz="1500" b="1">
                <a:solidFill>
                  <a:schemeClr val="dk1"/>
                </a:solidFill>
                <a:latin typeface="Times New Roman"/>
                <a:ea typeface="Times New Roman"/>
                <a:cs typeface="Times New Roman"/>
                <a:sym typeface="Times New Roman"/>
              </a:rPr>
              <a:t>ông có vướng mắc vật tư</a:t>
            </a:r>
            <a:endParaRPr sz="1500" b="1">
              <a:solidFill>
                <a:schemeClr val="dk1"/>
              </a:solidFill>
              <a:latin typeface="Times New Roman"/>
              <a:ea typeface="Times New Roman"/>
              <a:cs typeface="Times New Roman"/>
              <a:sym typeface="Times New Roman"/>
            </a:endParaRPr>
          </a:p>
          <a:p>
            <a:pPr marL="457200" lvl="0" indent="-323850" algn="just" rtl="0">
              <a:lnSpc>
                <a:spcPct val="110000"/>
              </a:lnSpc>
              <a:spcBef>
                <a:spcPts val="600"/>
              </a:spcBef>
              <a:spcAft>
                <a:spcPts val="0"/>
              </a:spcAft>
              <a:buClr>
                <a:schemeClr val="dk1"/>
              </a:buClr>
              <a:buSzPts val="1500"/>
              <a:buFont typeface="Times New Roman"/>
              <a:buChar char="●"/>
            </a:pPr>
            <a:r>
              <a:rPr lang="en-US" sz="1500" b="1">
                <a:solidFill>
                  <a:schemeClr val="dk1"/>
                </a:solidFill>
                <a:latin typeface="Times New Roman"/>
                <a:ea typeface="Times New Roman"/>
                <a:cs typeface="Times New Roman"/>
                <a:sym typeface="Times New Roman"/>
              </a:rPr>
              <a:t>Hỏng hóc B defect hết hạn trong 10 ngày cần giục vật tư (đã loại các defect có stock):</a:t>
            </a: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None/>
            </a:pPr>
            <a:endParaRPr sz="1500" b="1">
              <a:solidFill>
                <a:schemeClr val="dk1"/>
              </a:solidFill>
              <a:latin typeface="Times New Roman"/>
              <a:ea typeface="Times New Roman"/>
              <a:cs typeface="Times New Roman"/>
              <a:sym typeface="Times New Roman"/>
            </a:endParaRPr>
          </a:p>
          <a:p>
            <a:pPr marL="457200" marR="0" lvl="0" indent="0" algn="just" rtl="0">
              <a:lnSpc>
                <a:spcPct val="110000"/>
              </a:lnSpc>
              <a:spcBef>
                <a:spcPts val="600"/>
              </a:spcBef>
              <a:spcAft>
                <a:spcPts val="0"/>
              </a:spcAft>
              <a:buNone/>
            </a:pPr>
            <a:endParaRPr sz="15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500"/>
              <a:buFont typeface="Arial"/>
              <a:buNone/>
            </a:pPr>
            <a:endParaRPr sz="1500" b="1" i="0" u="none" strike="noStrike" cap="none">
              <a:solidFill>
                <a:schemeClr val="dk1"/>
              </a:solidFill>
              <a:latin typeface="Times New Roman"/>
              <a:ea typeface="Times New Roman"/>
              <a:cs typeface="Times New Roman"/>
              <a:sym typeface="Times New Roman"/>
            </a:endParaRPr>
          </a:p>
          <a:p>
            <a:pPr marL="91440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20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pic>
        <p:nvPicPr>
          <p:cNvPr id="159" name="Google Shape;159;g31ccdae391d_0_248"/>
          <p:cNvPicPr preferRelativeResize="0"/>
          <p:nvPr/>
        </p:nvPicPr>
        <p:blipFill>
          <a:blip r:embed="rId3">
            <a:alphaModFix/>
          </a:blip>
          <a:stretch>
            <a:fillRect/>
          </a:stretch>
        </p:blipFill>
        <p:spPr>
          <a:xfrm>
            <a:off x="475563" y="3080850"/>
            <a:ext cx="10658475" cy="18288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g31ccdae391d_0_271"/>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a:t>
            </a:r>
            <a:endParaRPr sz="2800">
              <a:solidFill>
                <a:srgbClr val="FFC000"/>
              </a:solidFill>
              <a:latin typeface="Times New Roman"/>
              <a:ea typeface="Times New Roman"/>
              <a:cs typeface="Times New Roman"/>
              <a:sym typeface="Times New Roman"/>
            </a:endParaRPr>
          </a:p>
        </p:txBody>
      </p:sp>
      <p:sp>
        <p:nvSpPr>
          <p:cNvPr id="166" name="Google Shape;166;g31ccdae391d_0_27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55</a:t>
            </a:fld>
            <a:endParaRPr/>
          </a:p>
        </p:txBody>
      </p:sp>
      <p:graphicFrame>
        <p:nvGraphicFramePr>
          <p:cNvPr id="167" name="Google Shape;167;g31ccdae391d_0_271"/>
          <p:cNvGraphicFramePr/>
          <p:nvPr/>
        </p:nvGraphicFramePr>
        <p:xfrm>
          <a:off x="489114" y="611396"/>
          <a:ext cx="11570675" cy="4203202"/>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946125">
                  <a:extLst>
                    <a:ext uri="{9D8B030D-6E8A-4147-A177-3AD203B41FA5}">
                      <a16:colId xmlns:a16="http://schemas.microsoft.com/office/drawing/2014/main" val="20001"/>
                    </a:ext>
                  </a:extLst>
                </a:gridCol>
                <a:gridCol w="1285550">
                  <a:extLst>
                    <a:ext uri="{9D8B030D-6E8A-4147-A177-3AD203B41FA5}">
                      <a16:colId xmlns:a16="http://schemas.microsoft.com/office/drawing/2014/main" val="20002"/>
                    </a:ext>
                  </a:extLst>
                </a:gridCol>
                <a:gridCol w="5174925">
                  <a:extLst>
                    <a:ext uri="{9D8B030D-6E8A-4147-A177-3AD203B41FA5}">
                      <a16:colId xmlns:a16="http://schemas.microsoft.com/office/drawing/2014/main" val="20003"/>
                    </a:ext>
                  </a:extLst>
                </a:gridCol>
                <a:gridCol w="24228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2000" b="1" u="none" strike="noStrike" cap="none">
                          <a:solidFill>
                            <a:srgbClr val="FF0000"/>
                          </a:solidFill>
                          <a:latin typeface="Times New Roman"/>
                          <a:ea typeface="Times New Roman"/>
                          <a:cs typeface="Times New Roman"/>
                          <a:sym typeface="Times New Roman"/>
                        </a:rPr>
                        <a:t>DANH MỤC VẬT TƯ CRITICAL</a:t>
                      </a:r>
                      <a:endParaRPr sz="20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STT</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Tên thiết bị</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i="0" u="none" strike="noStrike" cap="none">
                          <a:solidFill>
                            <a:srgbClr val="000000"/>
                          </a:solidFill>
                          <a:latin typeface="Times New Roman"/>
                          <a:ea typeface="Times New Roman"/>
                          <a:cs typeface="Times New Roman"/>
                          <a:sym typeface="Times New Roman"/>
                        </a:rPr>
                        <a:t>P/N</a:t>
                      </a:r>
                      <a:endParaRPr sz="18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Tình trạng vật tư</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800" b="1" u="none" strike="noStrike" cap="none">
                          <a:latin typeface="Times New Roman"/>
                          <a:ea typeface="Times New Roman"/>
                          <a:cs typeface="Times New Roman"/>
                          <a:sym typeface="Times New Roman"/>
                        </a:rPr>
                        <a:t>Note</a:t>
                      </a:r>
                      <a:endParaRPr sz="180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44202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FDRV</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17300G11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alt PN </a:t>
                      </a:r>
                      <a:r>
                        <a:rPr lang="en-US" sz="1600" u="none" strike="noStrike" cap="none">
                          <a:solidFill>
                            <a:schemeClr val="dk1"/>
                          </a:solidFill>
                          <a:latin typeface="Times New Roman"/>
                          <a:ea typeface="Times New Roman"/>
                          <a:cs typeface="Times New Roman"/>
                          <a:sym typeface="Times New Roman"/>
                        </a:rPr>
                        <a:t>17300G12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441775">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2</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SSTU</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321000M03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NIL, 2 RO dự kiến 15/3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504400">
                <a:tc>
                  <a:txBody>
                    <a:bodyPr/>
                    <a:lstStyle/>
                    <a:p>
                      <a:pPr marL="0" marR="0" lvl="0" indent="0" algn="ctr" rtl="0">
                        <a:lnSpc>
                          <a:spcPct val="100000"/>
                        </a:lnSpc>
                        <a:spcBef>
                          <a:spcPts val="0"/>
                        </a:spcBef>
                        <a:spcAft>
                          <a:spcPts val="0"/>
                        </a:spcAft>
                        <a:buClr>
                          <a:srgbClr val="000000"/>
                        </a:buClr>
                        <a:buSzPts val="1150"/>
                        <a:buFont typeface="Arial"/>
                        <a:buNone/>
                      </a:pPr>
                      <a:r>
                        <a:rPr lang="en-US" sz="1600" i="0" u="none" strike="noStrike" cap="none">
                          <a:solidFill>
                            <a:srgbClr val="000000"/>
                          </a:solidFill>
                          <a:latin typeface="Times New Roman"/>
                          <a:ea typeface="Times New Roman"/>
                          <a:cs typeface="Times New Roman"/>
                          <a:sym typeface="Times New Roman"/>
                        </a:rPr>
                        <a:t>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CNA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745-1101-507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a:t>
                      </a:r>
                      <a:r>
                        <a:rPr lang="en-US" sz="1600">
                          <a:latin typeface="Times New Roman"/>
                          <a:ea typeface="Times New Roman"/>
                          <a:cs typeface="Times New Roman"/>
                          <a:sym typeface="Times New Roman"/>
                        </a:rPr>
                        <a:t>1ea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416325">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4</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LH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745-0006-501</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1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NIL, đang giục RO (gửi VAECO)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65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5</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SLEEVE RH</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745-0006-503</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stock NIL, đang giục RO (gửi VAECO)</a:t>
                      </a:r>
                      <a:endParaRPr sz="1600">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437300">
                <a:tc>
                  <a:txBody>
                    <a:bodyPr/>
                    <a:lstStyle/>
                    <a:p>
                      <a:pPr marL="0" marR="0" lvl="0" indent="0" algn="ctr" rtl="0">
                        <a:lnSpc>
                          <a:spcPct val="100000"/>
                        </a:lnSpc>
                        <a:spcBef>
                          <a:spcPts val="0"/>
                        </a:spcBef>
                        <a:spcAft>
                          <a:spcPts val="0"/>
                        </a:spcAft>
                        <a:buClr>
                          <a:srgbClr val="000000"/>
                        </a:buClr>
                        <a:buSzPts val="1150"/>
                        <a:buFont typeface="Arial"/>
                        <a:buNone/>
                      </a:pPr>
                      <a:r>
                        <a:rPr lang="en-US" sz="1600" u="none" strike="noStrike" cap="none">
                          <a:latin typeface="Times New Roman"/>
                          <a:ea typeface="Times New Roman"/>
                          <a:cs typeface="Times New Roman"/>
                          <a:sym typeface="Times New Roman"/>
                        </a:rPr>
                        <a:t>6</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AIR INLET COWL</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745-3400-507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stock </a:t>
                      </a:r>
                      <a:r>
                        <a:rPr lang="en-US" sz="1600">
                          <a:solidFill>
                            <a:schemeClr val="dk1"/>
                          </a:solidFill>
                          <a:latin typeface="Times New Roman"/>
                          <a:ea typeface="Times New Roman"/>
                          <a:cs typeface="Times New Roman"/>
                          <a:sym typeface="Times New Roman"/>
                        </a:rPr>
                        <a:t>3ea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Nacelle</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7</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IPCV NEO</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5325192 (1020925-3)</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stock 2ea </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43730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Times New Roman"/>
                          <a:ea typeface="Times New Roman"/>
                          <a:cs typeface="Times New Roman"/>
                          <a:sym typeface="Times New Roman"/>
                        </a:rPr>
                        <a:t>8</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EIU NEO</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15000"/>
                        </a:lnSpc>
                        <a:spcBef>
                          <a:spcPts val="0"/>
                        </a:spcBef>
                        <a:spcAft>
                          <a:spcPts val="0"/>
                        </a:spcAft>
                        <a:buClr>
                          <a:srgbClr val="000000"/>
                        </a:buClr>
                        <a:buSzPts val="1800"/>
                        <a:buFont typeface="Arial"/>
                        <a:buNone/>
                      </a:pPr>
                      <a:r>
                        <a:rPr lang="en-US" sz="1600" u="none" strike="noStrike" cap="none">
                          <a:solidFill>
                            <a:schemeClr val="dk1"/>
                          </a:solidFill>
                          <a:latin typeface="Times New Roman"/>
                          <a:ea typeface="Times New Roman"/>
                          <a:cs typeface="Times New Roman"/>
                          <a:sym typeface="Times New Roman"/>
                        </a:rPr>
                        <a:t>777461-1-1</a:t>
                      </a:r>
                      <a:endParaRPr sz="160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800"/>
                        <a:buFont typeface="Arial"/>
                        <a:buNone/>
                      </a:pPr>
                      <a:r>
                        <a:rPr lang="en-US" sz="1600">
                          <a:latin typeface="Times New Roman"/>
                          <a:ea typeface="Times New Roman"/>
                          <a:cs typeface="Times New Roman"/>
                          <a:sym typeface="Times New Roman"/>
                        </a:rPr>
                        <a:t>stock 4ea</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800"/>
                        <a:buFont typeface="Arial"/>
                        <a:buNone/>
                      </a:pPr>
                      <a:r>
                        <a:rPr lang="en-US" sz="1600" u="none" strike="noStrike" cap="none">
                          <a:solidFill>
                            <a:schemeClr val="dk1"/>
                          </a:solidFill>
                          <a:latin typeface="Times New Roman"/>
                          <a:ea typeface="Times New Roman"/>
                          <a:cs typeface="Times New Roman"/>
                          <a:sym typeface="Times New Roman"/>
                        </a:rPr>
                        <a:t>Rob từ NEO bảo quản</a:t>
                      </a:r>
                      <a:endParaRPr sz="16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g31ccdae391d_0_278"/>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TÌNH TRẠNG APU LRU </a:t>
            </a:r>
            <a:r>
              <a:rPr lang="en-US" sz="2800">
                <a:solidFill>
                  <a:schemeClr val="accent4"/>
                </a:solidFill>
                <a:latin typeface="Times New Roman"/>
                <a:ea typeface="Times New Roman"/>
                <a:cs typeface="Times New Roman"/>
                <a:sym typeface="Times New Roman"/>
              </a:rPr>
              <a:t>A321 </a:t>
            </a:r>
            <a:endParaRPr sz="2800">
              <a:solidFill>
                <a:srgbClr val="FFC000"/>
              </a:solidFill>
              <a:latin typeface="Times New Roman"/>
              <a:ea typeface="Times New Roman"/>
              <a:cs typeface="Times New Roman"/>
              <a:sym typeface="Times New Roman"/>
            </a:endParaRPr>
          </a:p>
        </p:txBody>
      </p:sp>
      <p:sp>
        <p:nvSpPr>
          <p:cNvPr id="174" name="Google Shape;174;g31ccdae391d_0_27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56</a:t>
            </a:fld>
            <a:endParaRPr/>
          </a:p>
        </p:txBody>
      </p:sp>
      <p:graphicFrame>
        <p:nvGraphicFramePr>
          <p:cNvPr id="175" name="Google Shape;175;g31ccdae391d_0_278"/>
          <p:cNvGraphicFramePr/>
          <p:nvPr/>
        </p:nvGraphicFramePr>
        <p:xfrm>
          <a:off x="558675" y="462325"/>
          <a:ext cx="10287000" cy="6299034"/>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2130900">
                  <a:extLst>
                    <a:ext uri="{9D8B030D-6E8A-4147-A177-3AD203B41FA5}">
                      <a16:colId xmlns:a16="http://schemas.microsoft.com/office/drawing/2014/main" val="20001"/>
                    </a:ext>
                  </a:extLst>
                </a:gridCol>
                <a:gridCol w="2382725">
                  <a:extLst>
                    <a:ext uri="{9D8B030D-6E8A-4147-A177-3AD203B41FA5}">
                      <a16:colId xmlns:a16="http://schemas.microsoft.com/office/drawing/2014/main" val="20002"/>
                    </a:ext>
                  </a:extLst>
                </a:gridCol>
                <a:gridCol w="1051825">
                  <a:extLst>
                    <a:ext uri="{9D8B030D-6E8A-4147-A177-3AD203B41FA5}">
                      <a16:colId xmlns:a16="http://schemas.microsoft.com/office/drawing/2014/main" val="20003"/>
                    </a:ext>
                  </a:extLst>
                </a:gridCol>
                <a:gridCol w="4338700">
                  <a:extLst>
                    <a:ext uri="{9D8B030D-6E8A-4147-A177-3AD203B41FA5}">
                      <a16:colId xmlns:a16="http://schemas.microsoft.com/office/drawing/2014/main" val="20004"/>
                    </a:ext>
                  </a:extLst>
                </a:gridCol>
              </a:tblGrid>
              <a:tr h="381000">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it</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Part number</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Description</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MBK level</a:t>
                      </a:r>
                      <a:endParaRPr sz="1800" u="none" strike="noStrike" cap="none"/>
                    </a:p>
                  </a:txBody>
                  <a:tcPr marL="91425" marR="91425" marT="91425" marB="91425"/>
                </a:tc>
                <a:tc>
                  <a:txBody>
                    <a:bodyPr/>
                    <a:lstStyle/>
                    <a:p>
                      <a:pPr marL="0" marR="0" lvl="0" indent="0" algn="l" rtl="0">
                        <a:spcBef>
                          <a:spcPts val="0"/>
                        </a:spcBef>
                        <a:spcAft>
                          <a:spcPts val="0"/>
                        </a:spcAft>
                        <a:buClr>
                          <a:schemeClr val="dk1"/>
                        </a:buClr>
                        <a:buSzPts val="1100"/>
                        <a:buFont typeface="Arial"/>
                        <a:buNone/>
                      </a:pPr>
                      <a:r>
                        <a:rPr lang="en-US" sz="1300" u="none" strike="noStrike" cap="none">
                          <a:solidFill>
                            <a:schemeClr val="dk1"/>
                          </a:solidFill>
                          <a:latin typeface="Times New Roman"/>
                          <a:ea typeface="Times New Roman"/>
                          <a:cs typeface="Times New Roman"/>
                          <a:sym typeface="Times New Roman"/>
                        </a:rPr>
                        <a:t>status</a:t>
                      </a:r>
                      <a:endParaRPr sz="1800" u="none" strike="noStrike" cap="none"/>
                    </a:p>
                  </a:txBody>
                  <a:tcPr marL="91425" marR="91425" marT="91425" marB="91425"/>
                </a:tc>
                <a:extLst>
                  <a:ext uri="{0D108BD9-81ED-4DB2-BD59-A6C34878D82A}">
                    <a16:rowId xmlns:a16="http://schemas.microsoft.com/office/drawing/2014/main" val="1000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106-1-1100-02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ACTUATOR-APU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r>
                        <a:rPr lang="en-US" sz="1300">
                          <a:solidFill>
                            <a:schemeClr val="dk1"/>
                          </a:solidFill>
                          <a:latin typeface="Times New Roman"/>
                          <a:ea typeface="Times New Roman"/>
                          <a:cs typeface="Times New Roman"/>
                          <a:sym typeface="Times New Roman"/>
                        </a:rPr>
                        <a:t> đang đặt mua nhưng Airbus không có stock, leadtime 90 ngày</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160494-1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OIL COOLER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2704506-2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MOTOR STARTER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3291238-2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VALVE-SURGE CONTROL</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3291432-1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LOAD CONTROL VALVE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5"/>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6</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3616140-10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FAN ASSY-OIL COOLING</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6"/>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7</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3876287-1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DATA MEMORY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7"/>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8</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3886188-3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IGV ACTUATOR APU131-9A</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8"/>
                  </a:ext>
                </a:extLst>
              </a:tr>
              <a:tr h="3416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9</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3888058-5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EXCITER</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NIL, đang mua từ Honeywell, 25/2 nhập kho</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09"/>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10</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3888394-221205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ECB</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stock </a:t>
                      </a:r>
                      <a:r>
                        <a:rPr lang="en-US" sz="1300">
                          <a:solidFill>
                            <a:schemeClr val="dk1"/>
                          </a:solidFill>
                          <a:latin typeface="Times New Roman"/>
                          <a:ea typeface="Times New Roman"/>
                          <a:cs typeface="Times New Roman"/>
                          <a:sym typeface="Times New Roman"/>
                        </a:rPr>
                        <a:t>1</a:t>
                      </a:r>
                      <a:r>
                        <a:rPr lang="en-US" sz="1300" u="none" strike="noStrike" cap="none">
                          <a:solidFill>
                            <a:schemeClr val="dk1"/>
                          </a:solidFill>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0"/>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4131020-4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LUBE MODULE</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 3RO có TAT tại Honeywell dài</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1"/>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12</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441921-5</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CONTROL FUEL UNIT</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1</a:t>
                      </a:r>
                      <a:r>
                        <a:rPr lang="en-US" sz="1300" u="none" strike="noStrike" cap="none">
                          <a:latin typeface="Times New Roman"/>
                          <a:ea typeface="Times New Roman"/>
                          <a:cs typeface="Times New Roman"/>
                          <a:sym typeface="Times New Roman"/>
                        </a:rPr>
                        <a:t>ea</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2"/>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13</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BA03604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GENERATOR-APU</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a:t>
                      </a:r>
                      <a:r>
                        <a:rPr lang="en-US" sz="1300">
                          <a:latin typeface="Times New Roman"/>
                          <a:ea typeface="Times New Roman"/>
                          <a:cs typeface="Times New Roman"/>
                          <a:sym typeface="Times New Roman"/>
                        </a:rPr>
                        <a:t>NIL</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3"/>
                  </a:ext>
                </a:extLst>
              </a:tr>
              <a:tr h="381000">
                <a:tc>
                  <a:txBody>
                    <a:bodyPr/>
                    <a:lstStyle/>
                    <a:p>
                      <a:pPr marL="0" marR="0" lvl="0" indent="0" algn="ct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14</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3860864-1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CLUTCH ASSY</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r" rtl="0">
                        <a:lnSpc>
                          <a:spcPct val="115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1</a:t>
                      </a:r>
                      <a:endParaRPr sz="1300" u="none" strike="noStrike" cap="none">
                        <a:latin typeface="Times New Roman"/>
                        <a:ea typeface="Times New Roman"/>
                        <a:cs typeface="Times New Roman"/>
                        <a:sym typeface="Times New Roman"/>
                      </a:endParaRPr>
                    </a:p>
                  </a:txBody>
                  <a:tcPr marL="91425" marR="91425" marT="91425" marB="91425"/>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stock NIL, </a:t>
                      </a:r>
                      <a:r>
                        <a:rPr lang="en-US" sz="1300">
                          <a:solidFill>
                            <a:schemeClr val="dk1"/>
                          </a:solidFill>
                          <a:latin typeface="Times New Roman"/>
                          <a:ea typeface="Times New Roman"/>
                          <a:cs typeface="Times New Roman"/>
                          <a:sym typeface="Times New Roman"/>
                        </a:rPr>
                        <a:t>đang đặt mua nhưng honeywell không có stock</a:t>
                      </a:r>
                      <a:endParaRPr sz="1300" u="none" strike="noStrike" cap="none">
                        <a:latin typeface="Times New Roman"/>
                        <a:ea typeface="Times New Roman"/>
                        <a:cs typeface="Times New Roman"/>
                        <a:sym typeface="Times New Roman"/>
                      </a:endParaRPr>
                    </a:p>
                  </a:txBody>
                  <a:tcPr marL="91425" marR="91425" marT="91425" marB="91425"/>
                </a:tc>
                <a:extLst>
                  <a:ext uri="{0D108BD9-81ED-4DB2-BD59-A6C34878D82A}">
                    <a16:rowId xmlns:a16="http://schemas.microsoft.com/office/drawing/2014/main" val="10014"/>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g31ccdae391d_0_285"/>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CÁC VẬT TƯ VƯỚNG MẮC KHÁC</a:t>
            </a:r>
            <a:endParaRPr sz="2800">
              <a:solidFill>
                <a:srgbClr val="FFC000"/>
              </a:solidFill>
              <a:latin typeface="Times New Roman"/>
              <a:ea typeface="Times New Roman"/>
              <a:cs typeface="Times New Roman"/>
              <a:sym typeface="Times New Roman"/>
            </a:endParaRPr>
          </a:p>
        </p:txBody>
      </p:sp>
      <p:sp>
        <p:nvSpPr>
          <p:cNvPr id="182" name="Google Shape;182;g31ccdae391d_0_28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57</a:t>
            </a:fld>
            <a:endParaRPr/>
          </a:p>
        </p:txBody>
      </p:sp>
      <p:graphicFrame>
        <p:nvGraphicFramePr>
          <p:cNvPr id="183" name="Google Shape;183;g31ccdae391d_0_285"/>
          <p:cNvGraphicFramePr/>
          <p:nvPr/>
        </p:nvGraphicFramePr>
        <p:xfrm>
          <a:off x="438751" y="690871"/>
          <a:ext cx="11570675" cy="3855160"/>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42775">
                  <a:extLst>
                    <a:ext uri="{9D8B030D-6E8A-4147-A177-3AD203B41FA5}">
                      <a16:colId xmlns:a16="http://schemas.microsoft.com/office/drawing/2014/main" val="20001"/>
                    </a:ext>
                  </a:extLst>
                </a:gridCol>
                <a:gridCol w="1263625">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u="none" strike="noStrike" cap="none">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20850">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Rotating mech MLG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4133801011</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nhiều tuy nhiên ST cấp hàng chậm với lý do các thiết bị gửi đi sửa chữa có TAT dài, PO mua mới tới OEM Safran có leadtime dài. Hiện đã phải dừng chương trình kiểm tra theo khuyến cáo của OEM để có đủ vật tư cho các tàu tháo bảo quản.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Stock </a:t>
                      </a:r>
                      <a:r>
                        <a:rPr lang="en-US" sz="1150">
                          <a:latin typeface="Times New Roman"/>
                          <a:ea typeface="Times New Roman"/>
                          <a:cs typeface="Times New Roman"/>
                          <a:sym typeface="Times New Roman"/>
                        </a:rPr>
                        <a:t>2ea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a:latin typeface="Times New Roman"/>
                          <a:ea typeface="Times New Roman"/>
                          <a:cs typeface="Times New Roman"/>
                          <a:sym typeface="Times New Roman"/>
                        </a:rPr>
                        <a:t>Hiện đang giục sửa chữa từ OEM Safran</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12700" cap="flat" cmpd="sng">
                      <a:solidFill>
                        <a:schemeClr val="dk1"/>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2</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Các thiết bị IFE của Panasonic:</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LCD</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VSEB</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RD-AV9844-01</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RD-KA3303-05</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phát sinh nhiều trong khai thác trong khi Panasonic sửa chữa có TAT dài, chủ yếu với lý do thiếu PTVT sửa chữa, thay thế. Các PTVT này hiện đều là đời cũ, VSEB đã dừng sản xuất. </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Phối hợp với Panasonic để đổi PTVT, rút ngắn TAT</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Đề nghị Ban KT xem xét phương án tìm PN thay thế</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8057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Jetpipe</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745-1107-503</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Thiết bị nằm trên CNA, hỏng hóc nặng crack, không sửa được tại Vaeco. Gửi đi sửa chữa có TAT dài. Có 3 cấp độ hỏng: </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Disbond: TAT nhanh (&lt;30 ngày), chi phí sửa thấp (8k - 10k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1 vị trí: TAT khoảng 40-50 ngày, chi phí sửa khoảng 20k USD</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Crack 2 vị trí trở lên: TAT dài 60-80 ngày, chi phí sửa &gt;40kUSD </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150"/>
                        <a:buFont typeface="Times New Roman"/>
                        <a:buNone/>
                      </a:pPr>
                      <a:r>
                        <a:rPr lang="en-US" sz="1150" u="none" strike="noStrike" cap="none">
                          <a:latin typeface="Times New Roman"/>
                          <a:ea typeface="Times New Roman"/>
                          <a:cs typeface="Times New Roman"/>
                          <a:sym typeface="Times New Roman"/>
                        </a:rPr>
                        <a:t>Tình trạng kho: stock </a:t>
                      </a:r>
                      <a:r>
                        <a:rPr lang="en-US" sz="1150">
                          <a:latin typeface="Times New Roman"/>
                          <a:ea typeface="Times New Roman"/>
                          <a:cs typeface="Times New Roman"/>
                          <a:sym typeface="Times New Roman"/>
                        </a:rPr>
                        <a:t>1ea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b="0" i="0" u="none" strike="noStrike" cap="none">
                          <a:solidFill>
                            <a:srgbClr val="000000"/>
                          </a:solidFill>
                          <a:latin typeface="Times New Roman"/>
                          <a:ea typeface="Times New Roman"/>
                          <a:cs typeface="Times New Roman"/>
                          <a:sym typeface="Times New Roman"/>
                        </a:rPr>
                        <a:t>- </a:t>
                      </a:r>
                      <a:r>
                        <a:rPr lang="en-US" sz="1150" u="none" strike="noStrike" cap="none">
                          <a:latin typeface="Times New Roman"/>
                          <a:ea typeface="Times New Roman"/>
                          <a:cs typeface="Times New Roman"/>
                          <a:sym typeface="Times New Roman"/>
                        </a:rPr>
                        <a:t>Đề nghị VAECO có đánh giá hỏng hóc (SDR) sớm và gửi Ban QLVT để hỏi repair cap và chọn cơ sở sửa chữa phù hợp.</a:t>
                      </a:r>
                      <a:endParaRPr sz="115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a:t>
                      </a:r>
                      <a:r>
                        <a:rPr lang="en-US" sz="1150" b="0" i="0" u="none" strike="noStrike" cap="none">
                          <a:solidFill>
                            <a:srgbClr val="000000"/>
                          </a:solidFill>
                          <a:latin typeface="Times New Roman"/>
                          <a:ea typeface="Times New Roman"/>
                          <a:cs typeface="Times New Roman"/>
                          <a:sym typeface="Times New Roman"/>
                        </a:rPr>
                        <a:t>Ban QLVT tiếp tục làm việc với</a:t>
                      </a:r>
                      <a:r>
                        <a:rPr lang="en-US" sz="1150" u="none" strike="noStrike" cap="none">
                          <a:latin typeface="Times New Roman"/>
                          <a:ea typeface="Times New Roman"/>
                          <a:cs typeface="Times New Roman"/>
                          <a:sym typeface="Times New Roman"/>
                        </a:rPr>
                        <a:t> cơ sở sửa chữa để rút ngắn TAT</a:t>
                      </a:r>
                      <a:r>
                        <a:rPr lang="en-US" sz="1150" b="0" i="0" u="none" strike="noStrike" cap="none">
                          <a:solidFill>
                            <a:srgbClr val="000000"/>
                          </a:solidFill>
                          <a:latin typeface="Times New Roman"/>
                          <a:ea typeface="Times New Roman"/>
                          <a:cs typeface="Times New Roman"/>
                          <a:sym typeface="Times New Roman"/>
                        </a:rPr>
                        <a:t/>
                      </a:r>
                      <a:br>
                        <a:rPr lang="en-US" sz="1150" b="0" i="0" u="none" strike="noStrike" cap="none">
                          <a:solidFill>
                            <a:srgbClr val="000000"/>
                          </a:solidFill>
                          <a:latin typeface="Times New Roman"/>
                          <a:ea typeface="Times New Roman"/>
                          <a:cs typeface="Times New Roman"/>
                          <a:sym typeface="Times New Roman"/>
                        </a:rPr>
                      </a:br>
                      <a:r>
                        <a:rPr lang="en-US" sz="1150" b="0" i="0" u="none" strike="noStrike" cap="none">
                          <a:solidFill>
                            <a:srgbClr val="000000"/>
                          </a:solidFill>
                          <a:latin typeface="Times New Roman"/>
                          <a:ea typeface="Times New Roman"/>
                          <a:cs typeface="Times New Roman"/>
                          <a:sym typeface="Times New Roman"/>
                        </a:rPr>
                        <a:t>- Đề nghị Ban KT/Vaeco có giải pháp hạn chế hỏng hóc</a:t>
                      </a:r>
                      <a:r>
                        <a:rPr lang="en-US" sz="1150" u="none" strike="noStrike" cap="none">
                          <a:latin typeface="Times New Roman"/>
                          <a:ea typeface="Times New Roman"/>
                          <a:cs typeface="Times New Roman"/>
                          <a:sym typeface="Times New Roman"/>
                        </a:rPr>
                        <a:t> bằng các phương án kiểm tra chủ động, thay thế khi bị disbond sẽ tiết kiệm chi phí sửa và TAT ngắn.</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 Với các hỏng hóc phát sinh, đề nghị xem xét phương án mở defect để Ban QLVT chủ động phương án cung ứng</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g31ccdae391d_0_292"/>
          <p:cNvSpPr txBox="1">
            <a:spLocks noGrp="1"/>
          </p:cNvSpPr>
          <p:nvPr>
            <p:ph type="title"/>
          </p:nvPr>
        </p:nvSpPr>
        <p:spPr>
          <a:xfrm>
            <a:off x="941350" y="-104690"/>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A321 VƯỚNG MẮC VẬT TƯ VAECO</a:t>
            </a:r>
            <a:endParaRPr sz="2800">
              <a:solidFill>
                <a:srgbClr val="FFC000"/>
              </a:solidFill>
              <a:latin typeface="Times New Roman"/>
              <a:ea typeface="Times New Roman"/>
              <a:cs typeface="Times New Roman"/>
              <a:sym typeface="Times New Roman"/>
            </a:endParaRPr>
          </a:p>
        </p:txBody>
      </p:sp>
      <p:sp>
        <p:nvSpPr>
          <p:cNvPr id="190" name="Google Shape;190;g31ccdae391d_0_29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58</a:t>
            </a:fld>
            <a:endParaRPr/>
          </a:p>
        </p:txBody>
      </p:sp>
      <p:graphicFrame>
        <p:nvGraphicFramePr>
          <p:cNvPr id="191" name="Google Shape;191;g31ccdae391d_0_292"/>
          <p:cNvGraphicFramePr/>
          <p:nvPr/>
        </p:nvGraphicFramePr>
        <p:xfrm>
          <a:off x="414739" y="1604714"/>
          <a:ext cx="11570675" cy="182356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429625">
                  <a:extLst>
                    <a:ext uri="{9D8B030D-6E8A-4147-A177-3AD203B41FA5}">
                      <a16:colId xmlns:a16="http://schemas.microsoft.com/office/drawing/2014/main" val="20001"/>
                    </a:ext>
                  </a:extLst>
                </a:gridCol>
                <a:gridCol w="1269800">
                  <a:extLst>
                    <a:ext uri="{9D8B030D-6E8A-4147-A177-3AD203B41FA5}">
                      <a16:colId xmlns:a16="http://schemas.microsoft.com/office/drawing/2014/main" val="20002"/>
                    </a:ext>
                  </a:extLst>
                </a:gridCol>
                <a:gridCol w="4068475">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170150">
                <a:tc gridSpan="5">
                  <a:txBody>
                    <a:bodyPr/>
                    <a:lstStyle/>
                    <a:p>
                      <a:pPr marL="0" marR="0" lvl="0" indent="0" algn="ctr" rtl="0">
                        <a:lnSpc>
                          <a:spcPct val="100000"/>
                        </a:lnSpc>
                        <a:spcBef>
                          <a:spcPts val="0"/>
                        </a:spcBef>
                        <a:spcAft>
                          <a:spcPts val="0"/>
                        </a:spcAft>
                        <a:buClr>
                          <a:srgbClr val="000000"/>
                        </a:buClr>
                        <a:buSzPts val="1500"/>
                        <a:buFont typeface="Arial"/>
                        <a:buNone/>
                      </a:pPr>
                      <a:r>
                        <a:rPr lang="en-US" sz="1500" b="1" u="none" strike="noStrike" cap="none">
                          <a:solidFill>
                            <a:srgbClr val="FF0000"/>
                          </a:solidFill>
                          <a:latin typeface="Times New Roman"/>
                          <a:ea typeface="Times New Roman"/>
                          <a:cs typeface="Times New Roman"/>
                          <a:sym typeface="Times New Roman"/>
                        </a:rPr>
                        <a:t>A321 – VAECO</a:t>
                      </a:r>
                      <a:endParaRPr sz="1400" u="none" strike="noStrike" cap="none"/>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70150">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Tên thiết bị</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150"/>
                        <a:buFont typeface="Arial"/>
                        <a:buNone/>
                      </a:pPr>
                      <a:r>
                        <a:rPr lang="en-US" sz="1150" b="1" i="0" u="none" strike="noStrike" cap="none">
                          <a:solidFill>
                            <a:srgbClr val="000000"/>
                          </a:solidFill>
                          <a:latin typeface="Times New Roman"/>
                          <a:ea typeface="Times New Roman"/>
                          <a:cs typeface="Times New Roman"/>
                          <a:sym typeface="Times New Roman"/>
                        </a:rPr>
                        <a:t>Hỏng hóc</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150" b="1"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850725">
                <a:tc>
                  <a:txBody>
                    <a:bodyPr/>
                    <a:lstStyle/>
                    <a:p>
                      <a:pPr marL="0" marR="0" lvl="0" indent="0" algn="ctr"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1</a:t>
                      </a:r>
                      <a:endParaRPr sz="1150" i="0" u="none" strike="noStrike" cap="none">
                        <a:solidFill>
                          <a:srgbClr val="000000"/>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BELOW</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solidFill>
                            <a:schemeClr val="dk1"/>
                          </a:solidFill>
                          <a:highlight>
                            <a:srgbClr val="FFFFFF"/>
                          </a:highlight>
                          <a:latin typeface="Times New Roman"/>
                          <a:ea typeface="Times New Roman"/>
                          <a:cs typeface="Times New Roman"/>
                          <a:sym typeface="Times New Roman"/>
                        </a:rPr>
                        <a:t>D2157160120000</a:t>
                      </a:r>
                      <a:endParaRPr sz="1150" u="none" strike="noStrike" cap="none">
                        <a:solidFill>
                          <a:schemeClr val="dk1"/>
                        </a:solidFill>
                        <a:highlight>
                          <a:srgbClr val="FFFFFF"/>
                        </a:highlight>
                        <a:latin typeface="Times New Roman"/>
                        <a:ea typeface="Times New Roman"/>
                        <a:cs typeface="Times New Roman"/>
                        <a:sym typeface="Times New Roman"/>
                      </a:endParaRPr>
                    </a:p>
                    <a:p>
                      <a:pPr marL="0" marR="0" lvl="0" indent="0" algn="l" rtl="0">
                        <a:spcBef>
                          <a:spcPts val="0"/>
                        </a:spcBef>
                        <a:spcAft>
                          <a:spcPts val="0"/>
                        </a:spcAft>
                        <a:buClr>
                          <a:schemeClr val="dk1"/>
                        </a:buClr>
                        <a:buSzPts val="1150"/>
                        <a:buFont typeface="Arial"/>
                        <a:buNone/>
                      </a:pPr>
                      <a:r>
                        <a:rPr lang="en-US" sz="1150" u="none" strike="noStrike" cap="none">
                          <a:solidFill>
                            <a:schemeClr val="dk1"/>
                          </a:solidFill>
                          <a:highlight>
                            <a:schemeClr val="lt1"/>
                          </a:highlight>
                          <a:latin typeface="Times New Roman"/>
                          <a:ea typeface="Times New Roman"/>
                          <a:cs typeface="Times New Roman"/>
                          <a:sym typeface="Times New Roman"/>
                        </a:rPr>
                        <a:t>D2157160000000</a:t>
                      </a:r>
                      <a:endParaRPr sz="1150" u="none" strike="noStrike" cap="none">
                        <a:solidFill>
                          <a:schemeClr val="dk1"/>
                        </a:solidFill>
                        <a:highlight>
                          <a:srgbClr val="FFFFFF"/>
                        </a:highlight>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Hỏng hóc gây A359 AOG hỏng Bellow của hệ thống Pack. Các tàu trong check có task kiểm tra hệ thống Pack đều phát hiện ra hỏng Bellow. Ngoài ra, Ban KT triển khai việc kiểm tra chủ động nhưng Airbus không cấp được hàng.</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VAECO vẫn mua dự phòng nhưng gần đây Airbus cấp hàng chậm.</a:t>
                      </a:r>
                      <a:endParaRPr sz="115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150"/>
                        <a:buFont typeface="Arial"/>
                        <a:buNone/>
                      </a:pPr>
                      <a:r>
                        <a:rPr lang="en-US" sz="1150" u="none" strike="noStrike" cap="none">
                          <a:latin typeface="Times New Roman"/>
                          <a:ea typeface="Times New Roman"/>
                          <a:cs typeface="Times New Roman"/>
                          <a:sym typeface="Times New Roman"/>
                        </a:rPr>
                        <a:t>Tình trạng:</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D2157160120000 stock 5ea</a:t>
                      </a:r>
                      <a:endParaRPr sz="1150" u="none" strike="noStrike" cap="none">
                        <a:latin typeface="Times New Roman"/>
                        <a:ea typeface="Times New Roman"/>
                        <a:cs typeface="Times New Roman"/>
                        <a:sym typeface="Times New Roman"/>
                      </a:endParaRPr>
                    </a:p>
                    <a:p>
                      <a:pPr marL="457200" marR="0" lvl="0" indent="-301625" algn="l" rtl="0">
                        <a:lnSpc>
                          <a:spcPct val="100000"/>
                        </a:lnSpc>
                        <a:spcBef>
                          <a:spcPts val="0"/>
                        </a:spcBef>
                        <a:spcAft>
                          <a:spcPts val="0"/>
                        </a:spcAft>
                        <a:buClr>
                          <a:srgbClr val="000000"/>
                        </a:buClr>
                        <a:buSzPts val="1150"/>
                        <a:buFont typeface="Times New Roman"/>
                        <a:buChar char="-"/>
                      </a:pPr>
                      <a:r>
                        <a:rPr lang="en-US" sz="1150" u="none" strike="noStrike" cap="none">
                          <a:latin typeface="Times New Roman"/>
                          <a:ea typeface="Times New Roman"/>
                          <a:cs typeface="Times New Roman"/>
                          <a:sym typeface="Times New Roman"/>
                        </a:rPr>
                        <a:t>PN D2157160000000 stock 3EA</a:t>
                      </a:r>
                      <a:endParaRPr sz="1150" u="none" strike="noStrike" cap="none">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Arial"/>
                        <a:buChar char="-"/>
                      </a:pPr>
                      <a:r>
                        <a:rPr lang="en-US" sz="1150" u="none" strike="noStrike" cap="none">
                          <a:solidFill>
                            <a:schemeClr val="dk1"/>
                          </a:solidFill>
                          <a:latin typeface="Times New Roman"/>
                          <a:ea typeface="Times New Roman"/>
                          <a:cs typeface="Times New Roman"/>
                          <a:sym typeface="Times New Roman"/>
                        </a:rPr>
                        <a:t>Ban QLVT đã hỗ trợ claim Airbus đồng thời tìm kiếm nguồn cung ứng giúp VAECO tuy nhiên việc cung ứng vẫn rất khó khăn do thiếu raw materials, Airbus chỉ cấp hàng AOG và chưa đồng ý cấp cho chương trình đánh chặn. Hiện Airbus chưa có dự kiến ngày ship</a:t>
                      </a:r>
                      <a:endParaRPr sz="1150" u="none" strike="noStrike" cap="none">
                        <a:solidFill>
                          <a:schemeClr val="dk1"/>
                        </a:solidFill>
                        <a:latin typeface="Times New Roman"/>
                        <a:ea typeface="Times New Roman"/>
                        <a:cs typeface="Times New Roman"/>
                        <a:sym typeface="Times New Roman"/>
                      </a:endParaRPr>
                    </a:p>
                  </a:txBody>
                  <a:tcPr marL="5875" marR="5875" marT="5875" marB="0"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g31ccdae391d_0_29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198" name="Google Shape;198;g31ccdae391d_0_29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59</a:t>
            </a:fld>
            <a:endParaRPr/>
          </a:p>
        </p:txBody>
      </p:sp>
      <p:sp>
        <p:nvSpPr>
          <p:cNvPr id="199" name="Google Shape;199;g31ccdae391d_0_299"/>
          <p:cNvSpPr/>
          <p:nvPr/>
        </p:nvSpPr>
        <p:spPr>
          <a:xfrm>
            <a:off x="533407" y="742682"/>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dirty="0" err="1">
                <a:solidFill>
                  <a:srgbClr val="FF0000"/>
                </a:solidFill>
                <a:latin typeface="Times New Roman"/>
                <a:ea typeface="Times New Roman"/>
                <a:cs typeface="Times New Roman"/>
                <a:sym typeface="Times New Roman"/>
              </a:rPr>
              <a:t>Tình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trạng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Pooling: </a:t>
            </a:r>
            <a:r>
              <a:rPr lang="en-US" sz="2000" b="1" dirty="0">
                <a:solidFill>
                  <a:srgbClr val="FF0000"/>
                </a:solidFill>
                <a:latin typeface="Times New Roman"/>
                <a:ea typeface="Times New Roman"/>
                <a:cs typeface="Times New Roman"/>
                <a:sym typeface="Times New Roman"/>
              </a:rPr>
              <a:t>23</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quá</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hạn</a:t>
            </a:r>
            <a:r>
              <a:rPr lang="en-US" sz="2000" b="1" i="0" u="none" strike="noStrike" cap="none" dirty="0">
                <a:solidFill>
                  <a:srgbClr val="FF0000"/>
                </a:solidFill>
                <a:latin typeface="Times New Roman"/>
                <a:ea typeface="Times New Roman"/>
                <a:cs typeface="Times New Roman"/>
                <a:sym typeface="Times New Roman"/>
              </a:rPr>
              <a:t> trong </a:t>
            </a:r>
            <a:r>
              <a:rPr lang="en-US" sz="2000" b="1" i="0" u="none" strike="noStrike" cap="none" dirty="0" err="1">
                <a:solidFill>
                  <a:srgbClr val="FF0000"/>
                </a:solidFill>
                <a:latin typeface="Times New Roman"/>
                <a:ea typeface="Times New Roman"/>
                <a:cs typeface="Times New Roman"/>
                <a:sym typeface="Times New Roman"/>
              </a:rPr>
              <a:t>tổng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a:t>
            </a:r>
            <a:r>
              <a:rPr lang="en-US" sz="2000" b="1" dirty="0">
                <a:solidFill>
                  <a:srgbClr val="FF0000"/>
                </a:solidFill>
                <a:latin typeface="Times New Roman"/>
                <a:ea typeface="Times New Roman"/>
                <a:cs typeface="Times New Roman"/>
                <a:sym typeface="Times New Roman"/>
              </a:rPr>
              <a:t>42</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đơn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hàng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đang</a:t>
            </a:r>
            <a:r>
              <a:rPr lang="en-US" sz="2000" b="1" i="0" u="none" strike="noStrike" cap="none" dirty="0">
                <a:solidFill>
                  <a:srgbClr val="FF0000"/>
                </a:solidFill>
                <a:latin typeface="Times New Roman"/>
                <a:ea typeface="Times New Roman"/>
                <a:cs typeface="Times New Roman"/>
                <a:sym typeface="Times New Roman"/>
              </a:rPr>
              <a:t> open</a:t>
            </a:r>
            <a:endParaRPr sz="2000" b="1" i="0" u="none" strike="noStrike" cap="none" dirty="0">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lấp</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đầy</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kho</a:t>
            </a:r>
            <a:r>
              <a:rPr lang="en-US" sz="1500" b="1" i="0" u="none" strike="noStrike" cap="none" dirty="0">
                <a:solidFill>
                  <a:schemeClr val="dk1"/>
                </a:solidFill>
                <a:latin typeface="Times New Roman"/>
                <a:ea typeface="Times New Roman"/>
                <a:cs typeface="Times New Roman"/>
                <a:sym typeface="Times New Roman"/>
              </a:rPr>
              <a:t> MBK: </a:t>
            </a:r>
            <a:r>
              <a:rPr lang="en-US" sz="1500" b="0" i="0" u="none" strike="noStrike" cap="none" dirty="0">
                <a:solidFill>
                  <a:schemeClr val="dk1"/>
                </a:solidFill>
                <a:latin typeface="Times New Roman"/>
                <a:ea typeface="Times New Roman"/>
                <a:cs typeface="Times New Roman"/>
                <a:sym typeface="Times New Roman"/>
              </a:rPr>
              <a:t> overdue </a:t>
            </a:r>
            <a:r>
              <a:rPr lang="en-US" sz="1500" dirty="0">
                <a:solidFill>
                  <a:schemeClr val="dk1"/>
                </a:solidFill>
                <a:latin typeface="Times New Roman"/>
                <a:ea typeface="Times New Roman"/>
                <a:cs typeface="Times New Roman"/>
                <a:sym typeface="Times New Roman"/>
              </a:rPr>
              <a:t>15 </a:t>
            </a:r>
            <a:r>
              <a:rPr lang="en-US" sz="1500" b="0" i="0" u="none" strike="noStrike" cap="none" dirty="0">
                <a:solidFill>
                  <a:schemeClr val="dk1"/>
                </a:solidFill>
                <a:latin typeface="Times New Roman"/>
                <a:ea typeface="Times New Roman"/>
                <a:cs typeface="Times New Roman"/>
                <a:sym typeface="Times New Roman"/>
              </a:rPr>
              <a:t>LO / total  </a:t>
            </a:r>
            <a:r>
              <a:rPr lang="en-US" sz="1500" dirty="0">
                <a:solidFill>
                  <a:schemeClr val="dk1"/>
                </a:solidFill>
                <a:latin typeface="Times New Roman"/>
                <a:ea typeface="Times New Roman"/>
                <a:cs typeface="Times New Roman"/>
                <a:sym typeface="Times New Roman"/>
              </a:rPr>
              <a:t>23</a:t>
            </a:r>
            <a:r>
              <a:rPr lang="en-US" sz="1500" b="0" i="0" u="none" strike="noStrike" cap="none" dirty="0">
                <a:solidFill>
                  <a:schemeClr val="dk1"/>
                </a:solidFill>
                <a:latin typeface="Times New Roman"/>
                <a:ea typeface="Times New Roman"/>
                <a:cs typeface="Times New Roman"/>
                <a:sym typeface="Times New Roman"/>
              </a:rPr>
              <a:t> LO</a:t>
            </a:r>
            <a:endParaRPr sz="1500" b="0" i="0" u="none" strike="noStrike" cap="none" dirty="0">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dirty="0" err="1">
                <a:solidFill>
                  <a:schemeClr val="dk1"/>
                </a:solidFill>
                <a:latin typeface="Times New Roman"/>
                <a:ea typeface="Times New Roman"/>
                <a:cs typeface="Times New Roman"/>
                <a:sym typeface="Times New Roman"/>
              </a:rPr>
              <a:t>Đơn</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hàng</a:t>
            </a:r>
            <a:r>
              <a:rPr lang="en-US" sz="1500" b="1" i="0" u="none" strike="noStrike" cap="none" dirty="0">
                <a:solidFill>
                  <a:schemeClr val="dk1"/>
                </a:solidFill>
                <a:latin typeface="Times New Roman"/>
                <a:ea typeface="Times New Roman"/>
                <a:cs typeface="Times New Roman"/>
                <a:sym typeface="Times New Roman"/>
              </a:rPr>
              <a:t> </a:t>
            </a:r>
            <a:r>
              <a:rPr lang="en-US" sz="1500" b="1" i="0" u="none" strike="noStrike" cap="none" dirty="0" err="1">
                <a:solidFill>
                  <a:schemeClr val="dk1"/>
                </a:solidFill>
                <a:latin typeface="Times New Roman"/>
                <a:ea typeface="Times New Roman"/>
                <a:cs typeface="Times New Roman"/>
                <a:sym typeface="Times New Roman"/>
              </a:rPr>
              <a:t>khác</a:t>
            </a:r>
            <a:r>
              <a:rPr lang="en-US" sz="1500" b="1" i="0" u="none" strike="noStrike" cap="none" dirty="0">
                <a:solidFill>
                  <a:schemeClr val="dk1"/>
                </a:solidFill>
                <a:latin typeface="Times New Roman"/>
                <a:ea typeface="Times New Roman"/>
                <a:cs typeface="Times New Roman"/>
                <a:sym typeface="Times New Roman"/>
              </a:rPr>
              <a:t> (Defect, </a:t>
            </a:r>
            <a:r>
              <a:rPr lang="en-US" sz="1500" b="1" i="0" u="none" strike="noStrike" cap="none" dirty="0" err="1">
                <a:solidFill>
                  <a:schemeClr val="dk1"/>
                </a:solidFill>
                <a:latin typeface="Times New Roman"/>
                <a:ea typeface="Times New Roman"/>
                <a:cs typeface="Times New Roman"/>
                <a:sym typeface="Times New Roman"/>
              </a:rPr>
              <a:t>Hardtime</a:t>
            </a:r>
            <a:r>
              <a:rPr lang="en-US" sz="1500" b="1" i="0" u="none" strike="noStrike" cap="none" dirty="0">
                <a:solidFill>
                  <a:schemeClr val="dk1"/>
                </a:solidFill>
                <a:latin typeface="Times New Roman"/>
                <a:ea typeface="Times New Roman"/>
                <a:cs typeface="Times New Roman"/>
                <a:sym typeface="Times New Roman"/>
              </a:rPr>
              <a:t>): </a:t>
            </a:r>
            <a:r>
              <a:rPr lang="en-US" sz="1500" b="0" i="0" u="none" strike="noStrike" cap="none" dirty="0">
                <a:solidFill>
                  <a:schemeClr val="dk1"/>
                </a:solidFill>
                <a:latin typeface="Times New Roman"/>
                <a:ea typeface="Times New Roman"/>
                <a:cs typeface="Times New Roman"/>
                <a:sym typeface="Times New Roman"/>
              </a:rPr>
              <a:t>overdue </a:t>
            </a:r>
            <a:r>
              <a:rPr lang="en-US" sz="1500" dirty="0">
                <a:solidFill>
                  <a:schemeClr val="dk1"/>
                </a:solidFill>
                <a:latin typeface="Times New Roman"/>
                <a:ea typeface="Times New Roman"/>
                <a:cs typeface="Times New Roman"/>
                <a:sym typeface="Times New Roman"/>
              </a:rPr>
              <a:t>08</a:t>
            </a:r>
            <a:r>
              <a:rPr lang="en-US" sz="1500" b="0" i="0" u="none" strike="noStrike" cap="none" dirty="0">
                <a:solidFill>
                  <a:schemeClr val="dk1"/>
                </a:solidFill>
                <a:latin typeface="Times New Roman"/>
                <a:ea typeface="Times New Roman"/>
                <a:cs typeface="Times New Roman"/>
                <a:sym typeface="Times New Roman"/>
              </a:rPr>
              <a:t> EO / total </a:t>
            </a:r>
            <a:r>
              <a:rPr lang="en-US" sz="1500" dirty="0">
                <a:solidFill>
                  <a:schemeClr val="dk1"/>
                </a:solidFill>
                <a:latin typeface="Times New Roman"/>
                <a:ea typeface="Times New Roman"/>
                <a:cs typeface="Times New Roman"/>
                <a:sym typeface="Times New Roman"/>
              </a:rPr>
              <a:t>19</a:t>
            </a:r>
            <a:r>
              <a:rPr lang="en-US" sz="1500" b="0" i="0" u="none" strike="noStrike" cap="none" dirty="0">
                <a:solidFill>
                  <a:schemeClr val="dk1"/>
                </a:solidFill>
                <a:latin typeface="Times New Roman"/>
                <a:ea typeface="Times New Roman"/>
                <a:cs typeface="Times New Roman"/>
                <a:sym typeface="Times New Roman"/>
              </a:rPr>
              <a:t> EO </a:t>
            </a:r>
            <a:endParaRPr sz="1500" b="0" i="0" u="none" strike="noStrike" cap="none" dirty="0">
              <a:solidFill>
                <a:srgbClr val="1F497D"/>
              </a:solidFill>
              <a:latin typeface="Times New Roman"/>
              <a:ea typeface="Times New Roman"/>
              <a:cs typeface="Times New Roman"/>
              <a:sym typeface="Times New Roman"/>
            </a:endParaRPr>
          </a:p>
          <a:p>
            <a:pPr marL="0" marR="0" lvl="0" indent="0" algn="just" rtl="0">
              <a:lnSpc>
                <a:spcPct val="110000"/>
              </a:lnSpc>
              <a:spcBef>
                <a:spcPts val="600"/>
              </a:spcBef>
              <a:spcAft>
                <a:spcPts val="0"/>
              </a:spcAft>
              <a:buClr>
                <a:srgbClr val="000000"/>
              </a:buClr>
              <a:buSzPts val="1500"/>
              <a:buFont typeface="Arial"/>
              <a:buNone/>
            </a:pPr>
            <a:endParaRPr sz="15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sp>
        <p:nvSpPr>
          <p:cNvPr id="200" name="Google Shape;200;g31ccdae391d_0_299"/>
          <p:cNvSpPr txBox="1"/>
          <p:nvPr/>
        </p:nvSpPr>
        <p:spPr>
          <a:xfrm>
            <a:off x="3529775" y="5809425"/>
            <a:ext cx="14100" cy="8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01" name="Google Shape;201;g31ccdae391d_0_299"/>
          <p:cNvPicPr preferRelativeResize="0"/>
          <p:nvPr/>
        </p:nvPicPr>
        <p:blipFill>
          <a:blip r:embed="rId3">
            <a:alphaModFix/>
          </a:blip>
          <a:stretch>
            <a:fillRect/>
          </a:stretch>
        </p:blipFill>
        <p:spPr>
          <a:xfrm>
            <a:off x="2028825" y="1763774"/>
            <a:ext cx="7559550" cy="4594175"/>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g31ccdae391d_0_308"/>
          <p:cNvSpPr txBox="1">
            <a:spLocks noGrp="1"/>
          </p:cNvSpPr>
          <p:nvPr>
            <p:ph type="title"/>
          </p:nvPr>
        </p:nvSpPr>
        <p:spPr>
          <a:xfrm>
            <a:off x="941350" y="16547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08" name="Google Shape;208;g31ccdae391d_0_30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60</a:t>
            </a:fld>
            <a:endParaRPr/>
          </a:p>
        </p:txBody>
      </p:sp>
      <p:graphicFrame>
        <p:nvGraphicFramePr>
          <p:cNvPr id="209" name="Google Shape;209;g31ccdae391d_0_308"/>
          <p:cNvGraphicFramePr/>
          <p:nvPr/>
        </p:nvGraphicFramePr>
        <p:xfrm>
          <a:off x="607288" y="787650"/>
          <a:ext cx="11227800" cy="4380025"/>
        </p:xfrm>
        <a:graphic>
          <a:graphicData uri="http://schemas.openxmlformats.org/drawingml/2006/table">
            <a:tbl>
              <a:tblPr>
                <a:noFill/>
              </a:tblPr>
              <a:tblGrid>
                <a:gridCol w="756400">
                  <a:extLst>
                    <a:ext uri="{9D8B030D-6E8A-4147-A177-3AD203B41FA5}">
                      <a16:colId xmlns:a16="http://schemas.microsoft.com/office/drawing/2014/main" val="20000"/>
                    </a:ext>
                  </a:extLst>
                </a:gridCol>
                <a:gridCol w="1531850">
                  <a:extLst>
                    <a:ext uri="{9D8B030D-6E8A-4147-A177-3AD203B41FA5}">
                      <a16:colId xmlns:a16="http://schemas.microsoft.com/office/drawing/2014/main" val="20001"/>
                    </a:ext>
                  </a:extLst>
                </a:gridCol>
                <a:gridCol w="1753750">
                  <a:extLst>
                    <a:ext uri="{9D8B030D-6E8A-4147-A177-3AD203B41FA5}">
                      <a16:colId xmlns:a16="http://schemas.microsoft.com/office/drawing/2014/main" val="20002"/>
                    </a:ext>
                  </a:extLst>
                </a:gridCol>
                <a:gridCol w="3592900">
                  <a:extLst>
                    <a:ext uri="{9D8B030D-6E8A-4147-A177-3AD203B41FA5}">
                      <a16:colId xmlns:a16="http://schemas.microsoft.com/office/drawing/2014/main" val="20003"/>
                    </a:ext>
                  </a:extLst>
                </a:gridCol>
                <a:gridCol w="3592900">
                  <a:extLst>
                    <a:ext uri="{9D8B030D-6E8A-4147-A177-3AD203B41FA5}">
                      <a16:colId xmlns:a16="http://schemas.microsoft.com/office/drawing/2014/main" val="20004"/>
                    </a:ext>
                  </a:extLst>
                </a:gridCol>
              </a:tblGrid>
              <a:tr h="273700">
                <a:tc gridSpan="5">
                  <a:txBody>
                    <a:bodyPr/>
                    <a:lstStyle/>
                    <a:p>
                      <a:pPr marL="0" marR="0" lvl="0" indent="0" algn="ctr" rtl="0">
                        <a:lnSpc>
                          <a:spcPct val="100000"/>
                        </a:lnSpc>
                        <a:spcBef>
                          <a:spcPts val="0"/>
                        </a:spcBef>
                        <a:spcAft>
                          <a:spcPts val="0"/>
                        </a:spcAft>
                        <a:buClr>
                          <a:srgbClr val="000000"/>
                        </a:buClr>
                        <a:buSzPts val="1600"/>
                        <a:buFont typeface="Arial"/>
                        <a:buNone/>
                      </a:pPr>
                      <a:r>
                        <a:rPr lang="en-US" sz="1600" b="1" u="none" strike="noStrike" cap="none">
                          <a:solidFill>
                            <a:srgbClr val="FF0000"/>
                          </a:solidFill>
                          <a:latin typeface="Times New Roman"/>
                          <a:ea typeface="Times New Roman"/>
                          <a:cs typeface="Times New Roman"/>
                          <a:sym typeface="Times New Roman"/>
                        </a:rPr>
                        <a:t> </a:t>
                      </a:r>
                      <a:endParaRPr sz="1600" b="1" i="0" u="none" strike="noStrike" cap="none">
                        <a:solidFill>
                          <a:srgbClr val="FF0000"/>
                        </a:solidFill>
                        <a:latin typeface="Times New Roman"/>
                        <a:ea typeface="Times New Roman"/>
                        <a:cs typeface="Times New Roman"/>
                        <a:sym typeface="Times New Roman"/>
                      </a:endParaRPr>
                    </a:p>
                  </a:txBody>
                  <a:tcPr marL="7800" marR="7800" marT="7800"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052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Lưu ý</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7800" marR="7800" marT="7800"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FMU</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 7000546H14</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gây APU INOP.</a:t>
                      </a:r>
                      <a:endParaRPr sz="1300" i="0" u="none" strike="noStrike" cap="none">
                        <a:solidFill>
                          <a:srgbClr val="000000"/>
                        </a:solidFill>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Không có hỏng hóc.</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02ea in stock.</a:t>
                      </a:r>
                      <a:endParaRPr sz="1300" u="none" strike="noStrike" cap="none">
                        <a:latin typeface="Times New Roman"/>
                        <a:ea typeface="Times New Roman"/>
                        <a:cs typeface="Times New Roman"/>
                        <a:sym typeface="Times New Roman"/>
                      </a:endParaRPr>
                    </a:p>
                  </a:txBody>
                  <a:tcPr marL="7800" marR="7800" marT="7800" marB="0" anchor="ctr">
                    <a:lnT w="12700"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9789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600-2</a:t>
                      </a:r>
                      <a:endParaRPr sz="1300" b="0" i="0" u="none" strike="noStrike" cap="none">
                        <a:solidFill>
                          <a:srgbClr val="000000"/>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cả fleet B787 có 0</a:t>
                      </a:r>
                      <a:r>
                        <a:rPr lang="en-US" sz="1300">
                          <a:latin typeface="Times New Roman"/>
                          <a:ea typeface="Times New Roman"/>
                          <a:cs typeface="Times New Roman"/>
                          <a:sym typeface="Times New Roman"/>
                        </a:rPr>
                        <a:t>4</a:t>
                      </a:r>
                      <a:r>
                        <a:rPr lang="en-US" sz="1300" u="none" strike="noStrike" cap="none">
                          <a:latin typeface="Times New Roman"/>
                          <a:ea typeface="Times New Roman"/>
                          <a:cs typeface="Times New Roman"/>
                          <a:sym typeface="Times New Roman"/>
                        </a:rPr>
                        <a:t> hỏng hóc. </a:t>
                      </a:r>
                      <a:endParaRPr sz="1300" u="none" strike="noStrike" cap="none">
                        <a:latin typeface="Times New Roman"/>
                        <a:ea typeface="Times New Roman"/>
                        <a:cs typeface="Times New Roman"/>
                        <a:sym typeface="Times New Roman"/>
                      </a:endParaRPr>
                    </a:p>
                  </a:txBody>
                  <a:tcPr marL="7800" marR="7800" marT="7800" marB="0" anchor="ctr">
                    <a:lnR w="9525" cap="flat" cmpd="sng">
                      <a:solidFill>
                        <a:schemeClr val="dk1"/>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NIL stock</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a:t>
                      </a:r>
                      <a:r>
                        <a:rPr lang="en-US" sz="1300" u="none" strike="noStrike" cap="none">
                          <a:latin typeface="Times New Roman"/>
                          <a:ea typeface="Times New Roman"/>
                          <a:cs typeface="Times New Roman"/>
                          <a:sym typeface="Times New Roman"/>
                        </a:rPr>
                        <a:t>0</a:t>
                      </a:r>
                      <a:r>
                        <a:rPr lang="en-US" sz="1300">
                          <a:latin typeface="Times New Roman"/>
                          <a:ea typeface="Times New Roman"/>
                          <a:cs typeface="Times New Roman"/>
                          <a:sym typeface="Times New Roman"/>
                        </a:rPr>
                        <a:t>5</a:t>
                      </a:r>
                      <a:r>
                        <a:rPr lang="en-US" sz="1300" u="none" strike="noStrike" cap="none">
                          <a:latin typeface="Times New Roman"/>
                          <a:ea typeface="Times New Roman"/>
                          <a:cs typeface="Times New Roman"/>
                          <a:sym typeface="Times New Roman"/>
                        </a:rPr>
                        <a:t>RO:</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+ 04ea chưa có EDD.</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+ 01ea vào shop tuần 10.</a:t>
                      </a:r>
                      <a:endParaRPr sz="1300">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a:latin typeface="Times New Roman"/>
                        <a:ea typeface="Times New Roman"/>
                        <a:cs typeface="Times New Roman"/>
                        <a:sym typeface="Times New Roman"/>
                      </a:endParaRPr>
                    </a:p>
                  </a:txBody>
                  <a:tcPr marL="7800" marR="7800" marT="7800" marB="0"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6316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VFSG</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200">
                          <a:solidFill>
                            <a:schemeClr val="dk1"/>
                          </a:solidFill>
                          <a:latin typeface="Times New Roman"/>
                          <a:ea typeface="Times New Roman"/>
                          <a:cs typeface="Times New Roman"/>
                          <a:sym typeface="Times New Roman"/>
                        </a:rPr>
                        <a:t>7001330H04</a:t>
                      </a:r>
                      <a:endParaRPr sz="1200" u="none" strike="noStrike" cap="none">
                        <a:solidFill>
                          <a:schemeClr val="dk1"/>
                        </a:solidFill>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a:latin typeface="Times New Roman"/>
                          <a:ea typeface="Times New Roman"/>
                          <a:cs typeface="Times New Roman"/>
                          <a:sym typeface="Times New Roman"/>
                        </a:rPr>
                        <a:t>Nếu phát sinh hỏng hóc sẽ chỉ mở được 03 ngày.</a:t>
                      </a:r>
                      <a:endParaRPr sz="1300">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Arial"/>
                        <a:buNone/>
                      </a:pPr>
                      <a:r>
                        <a:rPr lang="en-US" sz="1200">
                          <a:solidFill>
                            <a:schemeClr val="dk1"/>
                          </a:solidFill>
                          <a:latin typeface="Times New Roman"/>
                          <a:ea typeface="Times New Roman"/>
                          <a:cs typeface="Times New Roman"/>
                          <a:sym typeface="Times New Roman"/>
                        </a:rPr>
                        <a:t>- 01ea dự phòng in stock.</a:t>
                      </a:r>
                      <a:endParaRPr sz="1200">
                        <a:solidFill>
                          <a:schemeClr val="dk1"/>
                        </a:solidFill>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286825">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 </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Tailcone light</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Card Led</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30-2968-3</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32-4188-3</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Nguồn cung hàng chậm, delay shop Honeywell.</a:t>
                      </a:r>
                      <a:endParaRPr sz="1300" u="none" strike="noStrike" cap="none">
                        <a:latin typeface="Times New Roman"/>
                        <a:ea typeface="Times New Roman"/>
                        <a:cs typeface="Times New Roman"/>
                        <a:sym typeface="Times New Roman"/>
                      </a:endParaRPr>
                    </a:p>
                  </a:txBody>
                  <a:tcPr marL="7800" marR="7800" marT="7800" marB="0" anchor="ctr"/>
                </a:tc>
                <a:tc>
                  <a:txBody>
                    <a:bodyPr/>
                    <a:lstStyle/>
                    <a:p>
                      <a:pPr marL="0" marR="0" lvl="0" indent="0" algn="l" rtl="0">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Hiện không có hỏng hóc.</a:t>
                      </a:r>
                      <a:endParaRPr sz="1300">
                        <a:latin typeface="Times New Roman"/>
                        <a:ea typeface="Times New Roman"/>
                        <a:cs typeface="Times New Roman"/>
                        <a:sym typeface="Times New Roman"/>
                      </a:endParaRPr>
                    </a:p>
                    <a:p>
                      <a:pPr marL="0" marR="0" lvl="0" indent="0" algn="l" rtl="0">
                        <a:spcBef>
                          <a:spcPts val="0"/>
                        </a:spcBef>
                        <a:spcAft>
                          <a:spcPts val="0"/>
                        </a:spcAft>
                        <a:buNone/>
                      </a:pPr>
                      <a:r>
                        <a:rPr lang="en-US" sz="1300">
                          <a:latin typeface="Times New Roman"/>
                          <a:ea typeface="Times New Roman"/>
                          <a:cs typeface="Times New Roman"/>
                          <a:sym typeface="Times New Roman"/>
                        </a:rPr>
                        <a:t>-Card led: </a:t>
                      </a:r>
                      <a:endParaRPr sz="1300" u="none" strike="noStrike" cap="none">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01ea in stock.</a:t>
                      </a:r>
                      <a:endParaRPr sz="1300">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300"/>
                        <a:buFont typeface="Times New Roman"/>
                        <a:buNone/>
                      </a:pPr>
                      <a:r>
                        <a:rPr lang="en-US" sz="1300">
                          <a:solidFill>
                            <a:schemeClr val="dk1"/>
                          </a:solidFill>
                          <a:latin typeface="Times New Roman"/>
                          <a:ea typeface="Times New Roman"/>
                          <a:cs typeface="Times New Roman"/>
                          <a:sym typeface="Times New Roman"/>
                        </a:rPr>
                        <a:t>+ 02ea PO  EDD 10/2025.</a:t>
                      </a:r>
                      <a:endParaRPr sz="1300">
                        <a:latin typeface="Times New Roman"/>
                        <a:ea typeface="Times New Roman"/>
                        <a:cs typeface="Times New Roman"/>
                        <a:sym typeface="Times New Roman"/>
                      </a:endParaRPr>
                    </a:p>
                  </a:txBody>
                  <a:tcPr marL="7800" marR="7800" marT="7800" marB="0" anchor="ct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g31ccdae391d_0_315"/>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B787</a:t>
            </a:r>
            <a:endParaRPr sz="2800">
              <a:solidFill>
                <a:srgbClr val="FFC000"/>
              </a:solidFill>
              <a:latin typeface="Times New Roman"/>
              <a:ea typeface="Times New Roman"/>
              <a:cs typeface="Times New Roman"/>
              <a:sym typeface="Times New Roman"/>
            </a:endParaRPr>
          </a:p>
        </p:txBody>
      </p:sp>
      <p:sp>
        <p:nvSpPr>
          <p:cNvPr id="216" name="Google Shape;216;g31ccdae391d_0_31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61</a:t>
            </a:fld>
            <a:endParaRPr/>
          </a:p>
        </p:txBody>
      </p:sp>
      <p:sp>
        <p:nvSpPr>
          <p:cNvPr id="217" name="Google Shape;217;g31ccdae391d_0_315"/>
          <p:cNvSpPr/>
          <p:nvPr/>
        </p:nvSpPr>
        <p:spPr>
          <a:xfrm>
            <a:off x="500990" y="569557"/>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endParaRPr sz="2000" b="1" i="0" u="none" strike="noStrike" cap="none">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Một số PTVT cần lưu ý</a:t>
            </a:r>
            <a:r>
              <a:rPr lang="en-US" sz="1600" b="0" i="0" u="none" strike="noStrike" cap="none">
                <a:solidFill>
                  <a:schemeClr val="dk1"/>
                </a:solidFill>
                <a:latin typeface="Times New Roman"/>
                <a:ea typeface="Times New Roman"/>
                <a:cs typeface="Times New Roman"/>
                <a:sym typeface="Times New Roman"/>
              </a:rPr>
              <a:t>:</a:t>
            </a:r>
            <a:endParaRPr sz="1600" b="0" i="0" u="none" strike="noStrike" cap="none">
              <a:solidFill>
                <a:schemeClr val="dk1"/>
              </a:solidFill>
              <a:latin typeface="Times New Roman"/>
              <a:ea typeface="Times New Roman"/>
              <a:cs typeface="Times New Roman"/>
              <a:sym typeface="Times New Roman"/>
            </a:endParaRPr>
          </a:p>
          <a:p>
            <a:pPr marL="457200" marR="0" lvl="0" indent="-330200" algn="just" rtl="0">
              <a:lnSpc>
                <a:spcPct val="100000"/>
              </a:lnSpc>
              <a:spcBef>
                <a:spcPts val="0"/>
              </a:spcBef>
              <a:spcAft>
                <a:spcPts val="0"/>
              </a:spcAft>
              <a:buClr>
                <a:schemeClr val="dk1"/>
              </a:buClr>
              <a:buSzPts val="1600"/>
              <a:buFont typeface="Times New Roman"/>
              <a:buChar char="+"/>
            </a:pPr>
            <a:r>
              <a:rPr lang="en-US" sz="1600" b="0" i="0" u="none" strike="noStrike" cap="none">
                <a:solidFill>
                  <a:schemeClr val="dk1"/>
                </a:solidFill>
                <a:latin typeface="Times New Roman"/>
                <a:ea typeface="Times New Roman"/>
                <a:cs typeface="Times New Roman"/>
                <a:sym typeface="Times New Roman"/>
              </a:rPr>
              <a:t>PTVT thay nhiều: VFSG, GPM, NSG, CAC, Pump Pack, FMU, GWIV, Tailcone light (hỏng hóc rất nhiều sub card led). </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20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a:solidFill>
                  <a:srgbClr val="FF0000"/>
                </a:solidFill>
                <a:latin typeface="Times New Roman"/>
                <a:ea typeface="Times New Roman"/>
                <a:cs typeface="Times New Roman"/>
                <a:sym typeface="Times New Roman"/>
              </a:rPr>
              <a:t>Hỏng hóc ảnh hưởng cần lưu ý:</a:t>
            </a:r>
            <a:r>
              <a:rPr lang="en-US" sz="1600" b="0" i="0" u="none" strike="noStrike" cap="none">
                <a:solidFill>
                  <a:schemeClr val="dk1"/>
                </a:solidFill>
                <a:latin typeface="Times New Roman"/>
                <a:ea typeface="Times New Roman"/>
                <a:cs typeface="Times New Roman"/>
                <a:sym typeface="Times New Roman"/>
              </a:rPr>
              <a:t>.</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None/>
            </a:pPr>
            <a:r>
              <a:rPr lang="en-US" sz="1600">
                <a:solidFill>
                  <a:schemeClr val="dk1"/>
                </a:solidFill>
                <a:latin typeface="Times New Roman"/>
                <a:ea typeface="Times New Roman"/>
                <a:cs typeface="Times New Roman"/>
                <a:sym typeface="Times New Roman"/>
              </a:rPr>
              <a:t>• A863 - DEFUEL ISOLATION VALVE: Valve Actuator gia SGN 03/03.</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A869 - AFT CARGO HANDLING SYS INOP: Joystick giao SGN 03/03.</a:t>
            </a: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a:solidFill>
                  <a:schemeClr val="dk1"/>
                </a:solidFill>
                <a:latin typeface="Times New Roman"/>
                <a:ea typeface="Times New Roman"/>
                <a:cs typeface="Times New Roman"/>
                <a:sym typeface="Times New Roman"/>
              </a:rPr>
              <a:t>• A874 - BRAKE#3 WORN AND DEAC-TIVED: Phanh đã giao SGN 01/03.</a:t>
            </a:r>
            <a:endParaRPr sz="160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A877, A878 - Needs dry ice supply due to degraded galley chiller: Đã có SCU.</a:t>
            </a:r>
            <a:endParaRPr sz="1600">
              <a:solidFill>
                <a:schemeClr val="dk1"/>
              </a:solidFill>
              <a:latin typeface="Times New Roman"/>
              <a:ea typeface="Times New Roman"/>
              <a:cs typeface="Times New Roman"/>
              <a:sym typeface="Times New Roman"/>
            </a:endParaRPr>
          </a:p>
          <a:p>
            <a:pPr marL="0" lvl="0" indent="0" algn="just" rtl="0">
              <a:spcBef>
                <a:spcPts val="0"/>
              </a:spcBef>
              <a:spcAft>
                <a:spcPts val="0"/>
              </a:spcAft>
              <a:buClr>
                <a:schemeClr val="dk1"/>
              </a:buClr>
              <a:buSzPts val="1600"/>
              <a:buFont typeface="Arial"/>
              <a:buNone/>
            </a:pPr>
            <a:endParaRPr sz="160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p:txBody>
      </p:sp>
      <p:pic>
        <p:nvPicPr>
          <p:cNvPr id="218" name="Google Shape;218;g31ccdae391d_0_315"/>
          <p:cNvPicPr preferRelativeResize="0"/>
          <p:nvPr/>
        </p:nvPicPr>
        <p:blipFill>
          <a:blip r:embed="rId3">
            <a:alphaModFix/>
          </a:blip>
          <a:stretch>
            <a:fillRect/>
          </a:stretch>
        </p:blipFill>
        <p:spPr>
          <a:xfrm>
            <a:off x="1557338" y="3138488"/>
            <a:ext cx="9077325" cy="271462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g31ccdae391d_0_323"/>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25" name="Google Shape;225;g31ccdae391d_0_32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62</a:t>
            </a:fld>
            <a:endParaRPr/>
          </a:p>
        </p:txBody>
      </p:sp>
      <p:sp>
        <p:nvSpPr>
          <p:cNvPr id="226" name="Google Shape;226;g31ccdae391d_0_323"/>
          <p:cNvSpPr/>
          <p:nvPr/>
        </p:nvSpPr>
        <p:spPr>
          <a:xfrm>
            <a:off x="770707" y="858119"/>
            <a:ext cx="11164800" cy="57189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2000"/>
              <a:buFont typeface="Arial"/>
              <a:buNone/>
            </a:pPr>
            <a:r>
              <a:rPr lang="en-US" sz="2000" b="1" i="0" u="none" strike="noStrike" cap="none">
                <a:solidFill>
                  <a:srgbClr val="FF0000"/>
                </a:solidFill>
                <a:latin typeface="Times New Roman"/>
                <a:ea typeface="Times New Roman"/>
                <a:cs typeface="Times New Roman"/>
                <a:sym typeface="Times New Roman"/>
              </a:rPr>
              <a:t>Tình trạng đơn hàng Pooling: </a:t>
            </a:r>
            <a:r>
              <a:rPr lang="en-US" sz="2000" b="1">
                <a:solidFill>
                  <a:srgbClr val="FF0000"/>
                </a:solidFill>
                <a:latin typeface="Times New Roman"/>
                <a:ea typeface="Times New Roman"/>
                <a:cs typeface="Times New Roman"/>
                <a:sym typeface="Times New Roman"/>
              </a:rPr>
              <a:t>33</a:t>
            </a:r>
            <a:r>
              <a:rPr lang="en-US" sz="2000" b="1" i="0" u="none" strike="noStrike" cap="none">
                <a:solidFill>
                  <a:srgbClr val="FF0000"/>
                </a:solidFill>
                <a:latin typeface="Times New Roman"/>
                <a:ea typeface="Times New Roman"/>
                <a:cs typeface="Times New Roman"/>
                <a:sym typeface="Times New Roman"/>
              </a:rPr>
              <a:t> đơn hàng quá hạn trong tổng số </a:t>
            </a:r>
            <a:r>
              <a:rPr lang="en-US" sz="2000" b="1">
                <a:solidFill>
                  <a:srgbClr val="FF0000"/>
                </a:solidFill>
                <a:latin typeface="Times New Roman"/>
                <a:ea typeface="Times New Roman"/>
                <a:cs typeface="Times New Roman"/>
                <a:sym typeface="Times New Roman"/>
              </a:rPr>
              <a:t>44</a:t>
            </a:r>
            <a:r>
              <a:rPr lang="en-US" sz="2000" b="1" i="0" u="none" strike="noStrike" cap="none">
                <a:solidFill>
                  <a:srgbClr val="FF0000"/>
                </a:solidFill>
                <a:latin typeface="Times New Roman"/>
                <a:ea typeface="Times New Roman"/>
                <a:cs typeface="Times New Roman"/>
                <a:sym typeface="Times New Roman"/>
              </a:rPr>
              <a:t> đơn hàng đang open</a:t>
            </a:r>
            <a:endParaRPr sz="2000" b="1" i="0" u="none" strike="noStrike" cap="none">
              <a:solidFill>
                <a:srgbClr val="FF0000"/>
              </a:solidFill>
              <a:latin typeface="Arial"/>
              <a:ea typeface="Arial"/>
              <a:cs typeface="Arial"/>
              <a:sym typeface="Arial"/>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lấp đầy kho OSS: </a:t>
            </a:r>
            <a:r>
              <a:rPr lang="en-US" sz="1500">
                <a:solidFill>
                  <a:schemeClr val="dk1"/>
                </a:solidFill>
                <a:latin typeface="Times New Roman"/>
                <a:ea typeface="Times New Roman"/>
                <a:cs typeface="Times New Roman"/>
                <a:sym typeface="Times New Roman"/>
              </a:rPr>
              <a:t>08</a:t>
            </a:r>
            <a:r>
              <a:rPr lang="en-US" sz="1500" b="0" i="0" u="none" strike="noStrike" cap="none">
                <a:solidFill>
                  <a:schemeClr val="dk1"/>
                </a:solidFill>
                <a:latin typeface="Times New Roman"/>
                <a:ea typeface="Times New Roman"/>
                <a:cs typeface="Times New Roman"/>
                <a:sym typeface="Times New Roman"/>
              </a:rPr>
              <a:t> overdue LO / total </a:t>
            </a:r>
            <a:r>
              <a:rPr lang="en-US" sz="1500">
                <a:solidFill>
                  <a:schemeClr val="dk1"/>
                </a:solidFill>
                <a:latin typeface="Times New Roman"/>
                <a:ea typeface="Times New Roman"/>
                <a:cs typeface="Times New Roman"/>
                <a:sym typeface="Times New Roman"/>
              </a:rPr>
              <a:t>09</a:t>
            </a:r>
            <a:r>
              <a:rPr lang="en-US" sz="1500" b="0" i="0" u="none" strike="noStrike" cap="none">
                <a:solidFill>
                  <a:schemeClr val="dk1"/>
                </a:solidFill>
                <a:latin typeface="Times New Roman"/>
                <a:ea typeface="Times New Roman"/>
                <a:cs typeface="Times New Roman"/>
                <a:sym typeface="Times New Roman"/>
              </a:rPr>
              <a:t> LO</a:t>
            </a:r>
            <a:endParaRPr sz="1500" b="0" i="0" u="none" strike="noStrike" cap="none">
              <a:solidFill>
                <a:schemeClr val="dk1"/>
              </a:solidFill>
              <a:latin typeface="Times New Roman"/>
              <a:ea typeface="Times New Roman"/>
              <a:cs typeface="Times New Roman"/>
              <a:sym typeface="Times New Roman"/>
            </a:endParaRPr>
          </a:p>
          <a:p>
            <a:pPr marL="457200" marR="0" lvl="0" indent="-323850" algn="just" rtl="0">
              <a:lnSpc>
                <a:spcPct val="100000"/>
              </a:lnSpc>
              <a:spcBef>
                <a:spcPts val="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Đơn hàng khác (Defect, Hardtime): </a:t>
            </a:r>
            <a:r>
              <a:rPr lang="en-US" sz="1500">
                <a:solidFill>
                  <a:schemeClr val="dk1"/>
                </a:solidFill>
                <a:latin typeface="Times New Roman"/>
                <a:ea typeface="Times New Roman"/>
                <a:cs typeface="Times New Roman"/>
                <a:sym typeface="Times New Roman"/>
              </a:rPr>
              <a:t>25</a:t>
            </a:r>
            <a:r>
              <a:rPr lang="en-US" sz="1500" b="0" i="0" u="none" strike="noStrike" cap="none">
                <a:solidFill>
                  <a:schemeClr val="dk1"/>
                </a:solidFill>
                <a:latin typeface="Times New Roman"/>
                <a:ea typeface="Times New Roman"/>
                <a:cs typeface="Times New Roman"/>
                <a:sym typeface="Times New Roman"/>
              </a:rPr>
              <a:t> overdue EO / total  </a:t>
            </a:r>
            <a:r>
              <a:rPr lang="en-US" sz="1500">
                <a:solidFill>
                  <a:schemeClr val="dk1"/>
                </a:solidFill>
                <a:latin typeface="Times New Roman"/>
                <a:ea typeface="Times New Roman"/>
                <a:cs typeface="Times New Roman"/>
                <a:sym typeface="Times New Roman"/>
              </a:rPr>
              <a:t>34</a:t>
            </a:r>
            <a:r>
              <a:rPr lang="en-US" sz="1500" b="0" i="0" u="none" strike="noStrike" cap="none">
                <a:solidFill>
                  <a:schemeClr val="dk1"/>
                </a:solidFill>
                <a:latin typeface="Times New Roman"/>
                <a:ea typeface="Times New Roman"/>
                <a:cs typeface="Times New Roman"/>
                <a:sym typeface="Times New Roman"/>
              </a:rPr>
              <a:t> EO </a:t>
            </a:r>
            <a:endParaRPr sz="1500" b="0" i="0" u="none" strike="noStrike" cap="none">
              <a:solidFill>
                <a:srgbClr val="1F497D"/>
              </a:solidFill>
              <a:latin typeface="Times New Roman"/>
              <a:ea typeface="Times New Roman"/>
              <a:cs typeface="Times New Roman"/>
              <a:sym typeface="Times New Roman"/>
            </a:endParaRPr>
          </a:p>
          <a:p>
            <a:pPr marL="457200" marR="0" lvl="0" indent="-323850" algn="just" rtl="0">
              <a:lnSpc>
                <a:spcPct val="110000"/>
              </a:lnSpc>
              <a:spcBef>
                <a:spcPts val="600"/>
              </a:spcBef>
              <a:spcAft>
                <a:spcPts val="0"/>
              </a:spcAft>
              <a:buClr>
                <a:schemeClr val="dk1"/>
              </a:buClr>
              <a:buSzPts val="1500"/>
              <a:buFont typeface="Times New Roman"/>
              <a:buChar char="●"/>
            </a:pPr>
            <a:r>
              <a:rPr lang="en-US" sz="1500" b="1" i="0" u="none" strike="noStrike" cap="none">
                <a:solidFill>
                  <a:schemeClr val="dk1"/>
                </a:solidFill>
                <a:latin typeface="Times New Roman"/>
                <a:ea typeface="Times New Roman"/>
                <a:cs typeface="Times New Roman"/>
                <a:sym typeface="Times New Roman"/>
              </a:rPr>
              <a:t>Tình trạng đơn hàng pool trong 4 tuần gần nhất:</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p:txBody>
      </p:sp>
      <p:sp>
        <p:nvSpPr>
          <p:cNvPr id="227" name="Google Shape;227;g31ccdae391d_0_323"/>
          <p:cNvSpPr txBox="1"/>
          <p:nvPr/>
        </p:nvSpPr>
        <p:spPr>
          <a:xfrm>
            <a:off x="1840625" y="5495675"/>
            <a:ext cx="1183500" cy="52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800"/>
              <a:buFont typeface="Arial"/>
              <a:buNone/>
            </a:pPr>
            <a:endParaRPr sz="2800" b="0" i="0" u="none" strike="noStrike" cap="none">
              <a:solidFill>
                <a:schemeClr val="dk1"/>
              </a:solidFill>
              <a:latin typeface="Calibri"/>
              <a:ea typeface="Calibri"/>
              <a:cs typeface="Calibri"/>
              <a:sym typeface="Calibri"/>
            </a:endParaRPr>
          </a:p>
        </p:txBody>
      </p:sp>
      <p:pic>
        <p:nvPicPr>
          <p:cNvPr id="228" name="Google Shape;228;g31ccdae391d_0_323"/>
          <p:cNvPicPr preferRelativeResize="0"/>
          <p:nvPr/>
        </p:nvPicPr>
        <p:blipFill>
          <a:blip r:embed="rId3">
            <a:alphaModFix/>
          </a:blip>
          <a:stretch>
            <a:fillRect/>
          </a:stretch>
        </p:blipFill>
        <p:spPr>
          <a:xfrm>
            <a:off x="2433648" y="2095723"/>
            <a:ext cx="6204724" cy="4252699"/>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g31ccdae391d_0_332"/>
          <p:cNvSpPr txBox="1">
            <a:spLocks noGrp="1"/>
          </p:cNvSpPr>
          <p:nvPr>
            <p:ph type="title"/>
          </p:nvPr>
        </p:nvSpPr>
        <p:spPr>
          <a:xfrm>
            <a:off x="941350" y="-63125"/>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35" name="Google Shape;235;g31ccdae391d_0_332"/>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63</a:t>
            </a:fld>
            <a:endParaRPr/>
          </a:p>
        </p:txBody>
      </p:sp>
      <p:graphicFrame>
        <p:nvGraphicFramePr>
          <p:cNvPr id="236" name="Google Shape;236;g31ccdae391d_0_332"/>
          <p:cNvGraphicFramePr/>
          <p:nvPr/>
        </p:nvGraphicFramePr>
        <p:xfrm>
          <a:off x="474783" y="301869"/>
          <a:ext cx="11561850" cy="5404125"/>
        </p:xfrm>
        <a:graphic>
          <a:graphicData uri="http://schemas.openxmlformats.org/drawingml/2006/table">
            <a:tbl>
              <a:tblPr>
                <a:noFill/>
              </a:tblPr>
              <a:tblGrid>
                <a:gridCol w="778900">
                  <a:extLst>
                    <a:ext uri="{9D8B030D-6E8A-4147-A177-3AD203B41FA5}">
                      <a16:colId xmlns:a16="http://schemas.microsoft.com/office/drawing/2014/main" val="20000"/>
                    </a:ext>
                  </a:extLst>
                </a:gridCol>
                <a:gridCol w="1783525">
                  <a:extLst>
                    <a:ext uri="{9D8B030D-6E8A-4147-A177-3AD203B41FA5}">
                      <a16:colId xmlns:a16="http://schemas.microsoft.com/office/drawing/2014/main" val="20001"/>
                    </a:ext>
                  </a:extLst>
                </a:gridCol>
                <a:gridCol w="1599825">
                  <a:extLst>
                    <a:ext uri="{9D8B030D-6E8A-4147-A177-3AD203B41FA5}">
                      <a16:colId xmlns:a16="http://schemas.microsoft.com/office/drawing/2014/main" val="20002"/>
                    </a:ext>
                  </a:extLst>
                </a:gridCol>
                <a:gridCol w="3699800">
                  <a:extLst>
                    <a:ext uri="{9D8B030D-6E8A-4147-A177-3AD203B41FA5}">
                      <a16:colId xmlns:a16="http://schemas.microsoft.com/office/drawing/2014/main" val="20003"/>
                    </a:ext>
                  </a:extLst>
                </a:gridCol>
                <a:gridCol w="3699800">
                  <a:extLst>
                    <a:ext uri="{9D8B030D-6E8A-4147-A177-3AD203B41FA5}">
                      <a16:colId xmlns:a16="http://schemas.microsoft.com/office/drawing/2014/main" val="20004"/>
                    </a:ext>
                  </a:extLst>
                </a:gridCol>
              </a:tblGrid>
              <a:tr h="338375">
                <a:tc gridSpan="5">
                  <a:txBody>
                    <a:bodyPr/>
                    <a:lstStyle/>
                    <a:p>
                      <a:pPr marL="0" marR="0" lvl="0" indent="0" algn="ctr" rtl="0">
                        <a:lnSpc>
                          <a:spcPct val="100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txBody>
                  <a:tcPr marL="9525" marR="9525" marT="952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38375">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STT</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Tên thiết bị</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P/N</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300"/>
                        <a:buFont typeface="Arial"/>
                        <a:buNone/>
                      </a:pPr>
                      <a:r>
                        <a:rPr lang="en-US" sz="1300" b="1" u="none" strike="noStrike" cap="none">
                          <a:latin typeface="Times New Roman"/>
                          <a:ea typeface="Times New Roman"/>
                          <a:cs typeface="Times New Roman"/>
                          <a:sym typeface="Times New Roman"/>
                        </a:rPr>
                        <a:t>Hỏng hóc</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chemeClr val="dk1"/>
                        </a:buClr>
                        <a:buSzPts val="1150"/>
                        <a:buFont typeface="Arial"/>
                        <a:buNone/>
                      </a:pPr>
                      <a:r>
                        <a:rPr lang="en-US" sz="1150" b="1" u="none" strike="noStrike" cap="none">
                          <a:solidFill>
                            <a:schemeClr val="dk1"/>
                          </a:solidFill>
                          <a:latin typeface="Times New Roman"/>
                          <a:ea typeface="Times New Roman"/>
                          <a:cs typeface="Times New Roman"/>
                          <a:sym typeface="Times New Roman"/>
                        </a:rPr>
                        <a:t>Tình trạng</a:t>
                      </a:r>
                      <a:endParaRPr sz="1300" b="1" i="0" u="none" strike="noStrike" cap="none">
                        <a:solidFill>
                          <a:srgbClr val="000000"/>
                        </a:solidFill>
                        <a:latin typeface="Times New Roman"/>
                        <a:ea typeface="Times New Roman"/>
                        <a:cs typeface="Times New Roman"/>
                        <a:sym typeface="Times New Roman"/>
                      </a:endParaRPr>
                    </a:p>
                  </a:txBody>
                  <a:tcPr marL="9525" marR="9525" marT="952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38500">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1</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Spoiler Servo control</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FCRM</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CA67003-018/020/025</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CA71323-016 / -015</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Hỏng hóc nhiều trên fleet A350. </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Spoiler Servo:</a:t>
                      </a:r>
                      <a:r>
                        <a:rPr lang="en-US" sz="1300">
                          <a:latin typeface="Times New Roman"/>
                          <a:ea typeface="Times New Roman"/>
                          <a:cs typeface="Times New Roman"/>
                          <a:sym typeface="Times New Roman"/>
                        </a:rPr>
                        <a:t> N01ea in stock</a:t>
                      </a:r>
                      <a:r>
                        <a:rPr lang="en-US" sz="1300" u="none" strike="noStrike" cap="none">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 FCRM: </a:t>
                      </a:r>
                      <a:r>
                        <a:rPr lang="en-US" sz="1300" u="none" strike="noStrike" cap="none">
                          <a:solidFill>
                            <a:schemeClr val="dk1"/>
                          </a:solidFill>
                          <a:latin typeface="Times New Roman"/>
                          <a:ea typeface="Times New Roman"/>
                          <a:cs typeface="Times New Roman"/>
                          <a:sym typeface="Times New Roman"/>
                        </a:rPr>
                        <a:t>0</a:t>
                      </a:r>
                      <a:r>
                        <a:rPr lang="en-US" sz="1300">
                          <a:solidFill>
                            <a:schemeClr val="dk1"/>
                          </a:solidFill>
                          <a:latin typeface="Times New Roman"/>
                          <a:ea typeface="Times New Roman"/>
                          <a:cs typeface="Times New Roman"/>
                          <a:sym typeface="Times New Roman"/>
                        </a:rPr>
                        <a:t>6e</a:t>
                      </a:r>
                      <a:r>
                        <a:rPr lang="en-US" sz="1300" u="none" strike="noStrike" cap="none">
                          <a:solidFill>
                            <a:schemeClr val="dk1"/>
                          </a:solidFill>
                          <a:latin typeface="Times New Roman"/>
                          <a:ea typeface="Times New Roman"/>
                          <a:cs typeface="Times New Roman"/>
                          <a:sym typeface="Times New Roman"/>
                        </a:rPr>
                        <a:t>a in stock</a:t>
                      </a:r>
                      <a:r>
                        <a:rPr lang="en-US" sz="1300">
                          <a:solidFill>
                            <a:schemeClr val="dk1"/>
                          </a:solidFill>
                          <a:latin typeface="Times New Roman"/>
                          <a:ea typeface="Times New Roman"/>
                          <a:cs typeface="Times New Roman"/>
                          <a:sym typeface="Times New Roman"/>
                        </a:rPr>
                        <a:t> (04ea của tàu BQ)</a:t>
                      </a:r>
                      <a:r>
                        <a:rPr lang="en-US" sz="1300">
                          <a:latin typeface="Times New Roman"/>
                          <a:ea typeface="Times New Roman"/>
                          <a:cs typeface="Times New Roman"/>
                          <a:sym typeface="Times New Roman"/>
                        </a:rPr>
                        <a:t> </a:t>
                      </a:r>
                      <a:endParaRPr sz="1300" u="none" strike="noStrike" cap="none">
                        <a:latin typeface="Times New Roman"/>
                        <a:ea typeface="Times New Roman"/>
                        <a:cs typeface="Times New Roman"/>
                        <a:sym typeface="Times New Roman"/>
                      </a:endParaRPr>
                    </a:p>
                  </a:txBody>
                  <a:tcPr marL="9525" marR="9525" marT="9525" marB="0" anchor="ctr">
                    <a:lnT w="12700" cap="flat" cmpd="sng">
                      <a:solidFill>
                        <a:schemeClr val="dk1"/>
                      </a:solidFill>
                      <a:prstDash val="solid"/>
                      <a:round/>
                      <a:headEnd type="none" w="sm" len="sm"/>
                      <a:tailEnd type="none" w="sm" len="sm"/>
                    </a:lnT>
                  </a:tcPr>
                </a:tc>
                <a:extLst>
                  <a:ext uri="{0D108BD9-81ED-4DB2-BD59-A6C34878D82A}">
                    <a16:rowId xmlns:a16="http://schemas.microsoft.com/office/drawing/2014/main" val="10002"/>
                  </a:ext>
                </a:extLst>
              </a:tr>
              <a:tr h="1311875">
                <a:tc>
                  <a:txBody>
                    <a:bodyPr/>
                    <a:lstStyle/>
                    <a:p>
                      <a:pPr marL="0" marR="0" lvl="0" indent="0" algn="ctr"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2</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Chiller</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688-6/688-6-00-100</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rgbClr val="000000"/>
                        </a:buClr>
                        <a:buSzPts val="1300"/>
                        <a:buFont typeface="Arial"/>
                        <a:buNone/>
                      </a:pPr>
                      <a:r>
                        <a:rPr lang="en-US" sz="1300" u="none" strike="noStrike" cap="none">
                          <a:latin typeface="Times New Roman"/>
                          <a:ea typeface="Times New Roman"/>
                          <a:cs typeface="Times New Roman"/>
                          <a:sym typeface="Times New Roman"/>
                        </a:rPr>
                        <a:t>Hiện cần 1</a:t>
                      </a:r>
                      <a:r>
                        <a:rPr lang="en-US" sz="1300">
                          <a:latin typeface="Times New Roman"/>
                          <a:ea typeface="Times New Roman"/>
                          <a:cs typeface="Times New Roman"/>
                          <a:sym typeface="Times New Roman"/>
                        </a:rPr>
                        <a:t>6</a:t>
                      </a:r>
                      <a:r>
                        <a:rPr lang="en-US" sz="1300" u="none" strike="noStrike" cap="none">
                          <a:latin typeface="Times New Roman"/>
                          <a:ea typeface="Times New Roman"/>
                          <a:cs typeface="Times New Roman"/>
                          <a:sym typeface="Times New Roman"/>
                        </a:rPr>
                        <a:t>ea (</a:t>
                      </a:r>
                      <a:r>
                        <a:rPr lang="en-US" sz="1300">
                          <a:latin typeface="Times New Roman"/>
                          <a:ea typeface="Times New Roman"/>
                          <a:cs typeface="Times New Roman"/>
                          <a:sym typeface="Times New Roman"/>
                        </a:rPr>
                        <a:t>08</a:t>
                      </a:r>
                      <a:r>
                        <a:rPr lang="en-US" sz="1300" u="none" strike="noStrike" cap="none">
                          <a:latin typeface="Times New Roman"/>
                          <a:ea typeface="Times New Roman"/>
                          <a:cs typeface="Times New Roman"/>
                          <a:sym typeface="Times New Roman"/>
                        </a:rPr>
                        <a:t> hỏng hóc + 08 cho tàu bảo quản).</a:t>
                      </a:r>
                      <a:endParaRPr sz="1300" b="0" i="0" u="none" strike="noStrike" cap="none">
                        <a:solidFill>
                          <a:srgbClr val="000000"/>
                        </a:solidFill>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02ea in</a:t>
                      </a:r>
                      <a:r>
                        <a:rPr lang="en-US" sz="1300" u="none" strike="noStrike" cap="none" dirty="0">
                          <a:solidFill>
                            <a:schemeClr val="dk1"/>
                          </a:solidFill>
                          <a:latin typeface="Times New Roman"/>
                          <a:ea typeface="Times New Roman"/>
                          <a:cs typeface="Times New Roman"/>
                          <a:sym typeface="Times New Roman"/>
                        </a:rPr>
                        <a:t> stock</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 </a:t>
                      </a:r>
                      <a:r>
                        <a:rPr lang="en-US" sz="1300" u="none" strike="noStrike" cap="none" dirty="0">
                          <a:solidFill>
                            <a:schemeClr val="dk1"/>
                          </a:solidFill>
                          <a:latin typeface="Times New Roman"/>
                          <a:ea typeface="Times New Roman"/>
                          <a:cs typeface="Times New Roman"/>
                          <a:sym typeface="Times New Roman"/>
                        </a:rPr>
                        <a:t>1</a:t>
                      </a:r>
                      <a:r>
                        <a:rPr lang="en-US" sz="1300" dirty="0">
                          <a:solidFill>
                            <a:schemeClr val="dk1"/>
                          </a:solidFill>
                          <a:latin typeface="Times New Roman"/>
                          <a:ea typeface="Times New Roman"/>
                          <a:cs typeface="Times New Roman"/>
                          <a:sym typeface="Times New Roman"/>
                        </a:rPr>
                        <a:t>1</a:t>
                      </a:r>
                      <a:r>
                        <a:rPr lang="en-US" sz="1300" u="none" strike="noStrike" cap="none" dirty="0">
                          <a:solidFill>
                            <a:schemeClr val="dk1"/>
                          </a:solidFill>
                          <a:latin typeface="Times New Roman"/>
                          <a:ea typeface="Times New Roman"/>
                          <a:cs typeface="Times New Roman"/>
                          <a:sym typeface="Times New Roman"/>
                        </a:rPr>
                        <a:t>RO, trong </a:t>
                      </a:r>
                      <a:r>
                        <a:rPr lang="en-US" sz="1300" u="none" strike="noStrike" cap="none" dirty="0" err="1">
                          <a:solidFill>
                            <a:schemeClr val="dk1"/>
                          </a:solidFill>
                          <a:latin typeface="Times New Roman"/>
                          <a:ea typeface="Times New Roman"/>
                          <a:cs typeface="Times New Roman"/>
                          <a:sym typeface="Times New Roman"/>
                        </a:rPr>
                        <a:t>đó</a:t>
                      </a:r>
                      <a:r>
                        <a:rPr lang="en-US" sz="1300" u="none" strike="noStrike" cap="none" dirty="0">
                          <a:solidFill>
                            <a:schemeClr val="dk1"/>
                          </a:solidFill>
                          <a:latin typeface="Times New Roman"/>
                          <a:ea typeface="Times New Roman"/>
                          <a:cs typeface="Times New Roman"/>
                          <a:sym typeface="Times New Roman"/>
                        </a:rPr>
                        <a:t>: </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r>
                        <a:rPr lang="en-US" sz="1300" u="none" strike="noStrike" cap="none" dirty="0">
                          <a:solidFill>
                            <a:schemeClr val="dk1"/>
                          </a:solidFill>
                          <a:latin typeface="Times New Roman"/>
                          <a:ea typeface="Times New Roman"/>
                          <a:cs typeface="Times New Roman"/>
                          <a:sym typeface="Times New Roman"/>
                        </a:rPr>
                        <a:t>+ </a:t>
                      </a:r>
                      <a:r>
                        <a:rPr lang="en-US" sz="1300" dirty="0">
                          <a:solidFill>
                            <a:schemeClr val="dk1"/>
                          </a:solidFill>
                          <a:latin typeface="Times New Roman"/>
                          <a:ea typeface="Times New Roman"/>
                          <a:cs typeface="Times New Roman"/>
                          <a:sym typeface="Times New Roman"/>
                        </a:rPr>
                        <a:t>11ea </a:t>
                      </a:r>
                      <a:r>
                        <a:rPr lang="en-US" sz="1300" dirty="0" err="1">
                          <a:solidFill>
                            <a:schemeClr val="dk1"/>
                          </a:solidFill>
                          <a:latin typeface="Times New Roman"/>
                          <a:ea typeface="Times New Roman"/>
                          <a:cs typeface="Times New Roman"/>
                          <a:sym typeface="Times New Roman"/>
                        </a:rPr>
                        <a:t>chưa</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có</a:t>
                      </a:r>
                      <a:r>
                        <a:rPr lang="en-US" sz="1300" dirty="0">
                          <a:solidFill>
                            <a:schemeClr val="dk1"/>
                          </a:solidFill>
                          <a:latin typeface="Times New Roman"/>
                          <a:ea typeface="Times New Roman"/>
                          <a:cs typeface="Times New Roman"/>
                          <a:sym typeface="Times New Roman"/>
                        </a:rPr>
                        <a:t> EDD.</a:t>
                      </a:r>
                      <a:endParaRPr sz="1300"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300"/>
                        <a:buFont typeface="Arial"/>
                        <a:buNone/>
                      </a:pPr>
                      <a:endParaRPr sz="1300" u="none" strike="noStrike" cap="none"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3"/>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3</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EDP</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53098-06</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phát sinh sẽ phải cắt tải, tiềm ẩn AOG.</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Vẫn hỏng hóc nhiều trên fleet A350. </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solidFill>
                            <a:schemeClr val="dk1"/>
                          </a:solidFill>
                          <a:latin typeface="Times New Roman"/>
                          <a:ea typeface="Times New Roman"/>
                          <a:cs typeface="Times New Roman"/>
                          <a:sym typeface="Times New Roman"/>
                        </a:rPr>
                        <a:t>+ </a:t>
                      </a:r>
                      <a:r>
                        <a:rPr lang="en-US" sz="1300">
                          <a:solidFill>
                            <a:schemeClr val="dk1"/>
                          </a:solidFill>
                          <a:latin typeface="Times New Roman"/>
                          <a:ea typeface="Times New Roman"/>
                          <a:cs typeface="Times New Roman"/>
                          <a:sym typeface="Times New Roman"/>
                        </a:rPr>
                        <a:t>11</a:t>
                      </a:r>
                      <a:r>
                        <a:rPr lang="en-US" sz="1300" u="none" strike="noStrike" cap="none">
                          <a:solidFill>
                            <a:schemeClr val="dk1"/>
                          </a:solidFill>
                          <a:latin typeface="Times New Roman"/>
                          <a:ea typeface="Times New Roman"/>
                          <a:cs typeface="Times New Roman"/>
                          <a:sym typeface="Times New Roman"/>
                        </a:rPr>
                        <a:t>ea in stock (10ea của tàu BQ).</a:t>
                      </a:r>
                      <a:endParaRPr sz="1300" u="none" strike="noStrike" cap="none">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4"/>
                  </a:ext>
                </a:extLst>
              </a:tr>
              <a:tr h="1138500">
                <a:tc>
                  <a:txBody>
                    <a:bodyPr/>
                    <a:lstStyle/>
                    <a:p>
                      <a:pPr marL="0" marR="0" lvl="0" indent="0" algn="ctr"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4</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VCRU, Motor Controller</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Calibri"/>
                        <a:buNone/>
                      </a:pP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Hỏng hóc ảnh hưởng đến hệ thống chiller của tàu bay.</a:t>
                      </a:r>
                      <a:endParaRPr sz="13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a:latin typeface="Times New Roman"/>
                          <a:ea typeface="Times New Roman"/>
                          <a:cs typeface="Times New Roman"/>
                          <a:sym typeface="Times New Roman"/>
                        </a:rPr>
                        <a:t>TAT sửa chữa tại shop Honeywell rất dài (vẫn chưa được cải thiện) dẫn đến việc cung ứng hàng của Airbus rất chậm.</a:t>
                      </a:r>
                      <a:endParaRPr sz="1300" u="none" strike="noStrike" cap="none">
                        <a:latin typeface="Times New Roman"/>
                        <a:ea typeface="Times New Roman"/>
                        <a:cs typeface="Times New Roman"/>
                        <a:sym typeface="Times New Roman"/>
                      </a:endParaRPr>
                    </a:p>
                  </a:txBody>
                  <a:tcPr marL="9525" marR="9525" marT="9525" marB="0" anchor="ctr"/>
                </a:tc>
                <a:tc>
                  <a:txBody>
                    <a:bodyPr/>
                    <a:lstStyle/>
                    <a:p>
                      <a:pPr marL="0" marR="0" lvl="0" indent="0" algn="l" rtl="0">
                        <a:lnSpc>
                          <a:spcPct val="100000"/>
                        </a:lnSpc>
                        <a:spcBef>
                          <a:spcPts val="0"/>
                        </a:spcBef>
                        <a:spcAft>
                          <a:spcPts val="0"/>
                        </a:spcAft>
                        <a:buClr>
                          <a:schemeClr val="dk1"/>
                        </a:buClr>
                        <a:buSzPts val="1300"/>
                        <a:buFont typeface="Times New Roman"/>
                        <a:buNone/>
                      </a:pPr>
                      <a:r>
                        <a:rPr lang="en-US" sz="1300" u="none" strike="noStrike" cap="none" dirty="0" err="1">
                          <a:solidFill>
                            <a:schemeClr val="dk1"/>
                          </a:solidFill>
                          <a:latin typeface="Times New Roman"/>
                          <a:ea typeface="Times New Roman"/>
                          <a:cs typeface="Times New Roman"/>
                          <a:sym typeface="Times New Roman"/>
                        </a:rPr>
                        <a:t>Nhiều</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tàu</a:t>
                      </a:r>
                      <a:r>
                        <a:rPr lang="en-US" sz="1300" u="none" strike="noStrike" cap="none" dirty="0">
                          <a:solidFill>
                            <a:schemeClr val="dk1"/>
                          </a:solidFill>
                          <a:latin typeface="Times New Roman"/>
                          <a:ea typeface="Times New Roman"/>
                          <a:cs typeface="Times New Roman"/>
                          <a:sym typeface="Times New Roman"/>
                        </a:rPr>
                        <a:t> A350 </a:t>
                      </a:r>
                      <a:r>
                        <a:rPr lang="en-US" sz="1300" u="none" strike="noStrike" cap="none" dirty="0" err="1">
                          <a:solidFill>
                            <a:schemeClr val="dk1"/>
                          </a:solidFill>
                          <a:latin typeface="Times New Roman"/>
                          <a:ea typeface="Times New Roman"/>
                          <a:cs typeface="Times New Roman"/>
                          <a:sym typeface="Times New Roman"/>
                        </a:rPr>
                        <a:t>có</a:t>
                      </a:r>
                      <a:r>
                        <a:rPr lang="en-US" sz="1300" u="none" strike="noStrike" cap="none" dirty="0">
                          <a:solidFill>
                            <a:schemeClr val="dk1"/>
                          </a:solidFill>
                          <a:latin typeface="Times New Roman"/>
                          <a:ea typeface="Times New Roman"/>
                          <a:cs typeface="Times New Roman"/>
                          <a:sym typeface="Times New Roman"/>
                        </a:rPr>
                        <a:t> </a:t>
                      </a:r>
                      <a:r>
                        <a:rPr lang="en-US" sz="1300" u="none" strike="noStrike" cap="none" dirty="0" err="1">
                          <a:solidFill>
                            <a:schemeClr val="dk1"/>
                          </a:solidFill>
                          <a:latin typeface="Times New Roman"/>
                          <a:ea typeface="Times New Roman"/>
                          <a:cs typeface="Times New Roman"/>
                          <a:sym typeface="Times New Roman"/>
                        </a:rPr>
                        <a:t>mssg</a:t>
                      </a:r>
                      <a:r>
                        <a:rPr lang="en-US" sz="1300" u="none" strike="noStrike" cap="none" dirty="0">
                          <a:solidFill>
                            <a:schemeClr val="dk1"/>
                          </a:solidFill>
                          <a:latin typeface="Times New Roman"/>
                          <a:ea typeface="Times New Roman"/>
                          <a:cs typeface="Times New Roman"/>
                          <a:sym typeface="Times New Roman"/>
                        </a:rPr>
                        <a:t> VCRU </a:t>
                      </a:r>
                      <a:r>
                        <a:rPr lang="en-US" sz="1300" u="none" strike="noStrike" cap="none" dirty="0" err="1">
                          <a:solidFill>
                            <a:schemeClr val="dk1"/>
                          </a:solidFill>
                          <a:latin typeface="Times New Roman"/>
                          <a:ea typeface="Times New Roman"/>
                          <a:cs typeface="Times New Roman"/>
                          <a:sym typeface="Times New Roman"/>
                        </a:rPr>
                        <a:t>và</a:t>
                      </a:r>
                      <a:r>
                        <a:rPr lang="en-US" sz="1300" u="none" strike="noStrike" cap="none" dirty="0">
                          <a:solidFill>
                            <a:schemeClr val="dk1"/>
                          </a:solidFill>
                          <a:latin typeface="Times New Roman"/>
                          <a:ea typeface="Times New Roman"/>
                          <a:cs typeface="Times New Roman"/>
                          <a:sym typeface="Times New Roman"/>
                        </a:rPr>
                        <a:t> controller.</a:t>
                      </a:r>
                      <a:endParaRPr sz="1300" u="none" strike="noStrike" cap="none" dirty="0">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300"/>
                        <a:buFont typeface="Times New Roman"/>
                        <a:buNone/>
                      </a:pPr>
                      <a:r>
                        <a:rPr lang="en-US" sz="1300" dirty="0">
                          <a:solidFill>
                            <a:schemeClr val="dk1"/>
                          </a:solidFill>
                          <a:latin typeface="Times New Roman"/>
                          <a:ea typeface="Times New Roman"/>
                          <a:cs typeface="Times New Roman"/>
                          <a:sym typeface="Times New Roman"/>
                        </a:rPr>
                        <a:t>01ea VCRU in stock </a:t>
                      </a:r>
                      <a:r>
                        <a:rPr lang="en-US" sz="1300" dirty="0" err="1">
                          <a:solidFill>
                            <a:schemeClr val="dk1"/>
                          </a:solidFill>
                          <a:latin typeface="Times New Roman"/>
                          <a:ea typeface="Times New Roman"/>
                          <a:cs typeface="Times New Roman"/>
                          <a:sym typeface="Times New Roman"/>
                        </a:rPr>
                        <a:t>chờ</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thay</a:t>
                      </a:r>
                      <a:r>
                        <a:rPr lang="en-US" sz="1300" dirty="0">
                          <a:solidFill>
                            <a:schemeClr val="dk1"/>
                          </a:solidFill>
                          <a:latin typeface="Times New Roman"/>
                          <a:ea typeface="Times New Roman"/>
                          <a:cs typeface="Times New Roman"/>
                          <a:sym typeface="Times New Roman"/>
                        </a:rPr>
                        <a:t> </a:t>
                      </a:r>
                      <a:r>
                        <a:rPr lang="en-US" sz="1300" dirty="0" err="1">
                          <a:solidFill>
                            <a:schemeClr val="dk1"/>
                          </a:solidFill>
                          <a:latin typeface="Times New Roman"/>
                          <a:ea typeface="Times New Roman"/>
                          <a:cs typeface="Times New Roman"/>
                          <a:sym typeface="Times New Roman"/>
                        </a:rPr>
                        <a:t>thế</a:t>
                      </a:r>
                      <a:r>
                        <a:rPr lang="en-US" sz="1300" dirty="0">
                          <a:solidFill>
                            <a:schemeClr val="dk1"/>
                          </a:solidFill>
                          <a:latin typeface="Times New Roman"/>
                          <a:ea typeface="Times New Roman"/>
                          <a:cs typeface="Times New Roman"/>
                          <a:sym typeface="Times New Roman"/>
                        </a:rPr>
                        <a:t>.</a:t>
                      </a:r>
                      <a:endParaRPr sz="1300" dirty="0">
                        <a:solidFill>
                          <a:schemeClr val="dk1"/>
                        </a:solidFill>
                        <a:latin typeface="Times New Roman"/>
                        <a:ea typeface="Times New Roman"/>
                        <a:cs typeface="Times New Roman"/>
                        <a:sym typeface="Times New Roman"/>
                      </a:endParaRPr>
                    </a:p>
                  </a:txBody>
                  <a:tcPr marL="9525" marR="9525" marT="9525" marB="0" anchor="ctr"/>
                </a:tc>
                <a:extLst>
                  <a:ext uri="{0D108BD9-81ED-4DB2-BD59-A6C34878D82A}">
                    <a16:rowId xmlns:a16="http://schemas.microsoft.com/office/drawing/2014/main" val="10005"/>
                  </a:ext>
                </a:extLst>
              </a:tr>
            </a:tbl>
          </a:graphicData>
        </a:graphic>
      </p:graphicFrame>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g31ccdae391d_0_339"/>
          <p:cNvSpPr txBox="1">
            <a:spLocks noGrp="1"/>
          </p:cNvSpPr>
          <p:nvPr>
            <p:ph type="title"/>
          </p:nvPr>
        </p:nvSpPr>
        <p:spPr>
          <a:xfrm>
            <a:off x="913579" y="26572"/>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A350</a:t>
            </a:r>
            <a:endParaRPr sz="2800">
              <a:solidFill>
                <a:srgbClr val="FFC000"/>
              </a:solidFill>
              <a:latin typeface="Times New Roman"/>
              <a:ea typeface="Times New Roman"/>
              <a:cs typeface="Times New Roman"/>
              <a:sym typeface="Times New Roman"/>
            </a:endParaRPr>
          </a:p>
        </p:txBody>
      </p:sp>
      <p:sp>
        <p:nvSpPr>
          <p:cNvPr id="243" name="Google Shape;243;g31ccdae391d_0_33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64</a:t>
            </a:fld>
            <a:endParaRPr/>
          </a:p>
        </p:txBody>
      </p:sp>
      <p:sp>
        <p:nvSpPr>
          <p:cNvPr id="244" name="Google Shape;244;g31ccdae391d_0_339"/>
          <p:cNvSpPr/>
          <p:nvPr/>
        </p:nvSpPr>
        <p:spPr>
          <a:xfrm>
            <a:off x="500990" y="742682"/>
            <a:ext cx="11164800" cy="5718900"/>
          </a:xfrm>
          <a:prstGeom prst="rect">
            <a:avLst/>
          </a:prstGeom>
          <a:noFill/>
          <a:ln>
            <a:noFill/>
          </a:ln>
        </p:spPr>
        <p:txBody>
          <a:bodyPr spcFirstLastPara="1" wrap="square" lIns="91425" tIns="45700" rIns="91425" bIns="45700" anchor="t" anchorCtr="0">
            <a:noAutofit/>
          </a:bodyPr>
          <a:lstStyle/>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Một</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số</a:t>
            </a:r>
            <a:r>
              <a:rPr lang="en-US" sz="2000" b="1" i="0" u="none" strike="noStrike" cap="none" dirty="0">
                <a:solidFill>
                  <a:srgbClr val="FF0000"/>
                </a:solidFill>
                <a:latin typeface="Times New Roman"/>
                <a:ea typeface="Times New Roman"/>
                <a:cs typeface="Times New Roman"/>
                <a:sym typeface="Times New Roman"/>
              </a:rPr>
              <a:t> PTVT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b="0" i="0" u="none" strike="noStrike" cap="none" dirty="0">
              <a:solidFill>
                <a:srgbClr val="000000"/>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rgbClr val="000000"/>
              </a:buClr>
              <a:buSzPts val="1600"/>
              <a:buFont typeface="Arial"/>
              <a:buNone/>
            </a:pPr>
            <a:r>
              <a:rPr lang="en-US" sz="1600" b="0" i="0" u="none" strike="noStrike" cap="none" dirty="0">
                <a:solidFill>
                  <a:srgbClr val="000000"/>
                </a:solidFill>
                <a:latin typeface="Times New Roman"/>
                <a:ea typeface="Times New Roman"/>
                <a:cs typeface="Times New Roman"/>
                <a:sym typeface="Times New Roman"/>
              </a:rPr>
              <a:t>  +    </a:t>
            </a:r>
            <a:r>
              <a:rPr lang="en-US" sz="1600" b="0" i="0" u="none" strike="noStrike" cap="none" dirty="0" err="1">
                <a:solidFill>
                  <a:srgbClr val="000000"/>
                </a:solidFill>
                <a:latin typeface="Times New Roman"/>
                <a:ea typeface="Times New Roman"/>
                <a:cs typeface="Times New Roman"/>
                <a:sym typeface="Times New Roman"/>
              </a:rPr>
              <a:t>Một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số</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thiết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bị</a:t>
            </a:r>
            <a:r>
              <a:rPr lang="en-US" sz="1600" b="0" i="0" u="none" strike="noStrike" cap="none" dirty="0">
                <a:solidFill>
                  <a:srgbClr val="000000"/>
                </a:solidFill>
                <a:latin typeface="Times New Roman"/>
                <a:ea typeface="Times New Roman"/>
                <a:cs typeface="Times New Roman"/>
                <a:sym typeface="Times New Roman"/>
              </a:rPr>
              <a:t> pooling </a:t>
            </a:r>
            <a:r>
              <a:rPr lang="en-US" sz="1600" b="0" i="0" u="none" strike="noStrike" cap="none" dirty="0" err="1">
                <a:solidFill>
                  <a:srgbClr val="000000"/>
                </a:solidFill>
                <a:latin typeface="Times New Roman"/>
                <a:ea typeface="Times New Roman"/>
                <a:cs typeface="Times New Roman"/>
                <a:sym typeface="Times New Roman"/>
              </a:rPr>
              <a:t>của</a:t>
            </a:r>
            <a:r>
              <a:rPr lang="en-US" sz="1600" b="0" i="0" u="none" strike="noStrike" cap="none" dirty="0">
                <a:solidFill>
                  <a:srgbClr val="000000"/>
                </a:solidFill>
                <a:latin typeface="Times New Roman"/>
                <a:ea typeface="Times New Roman"/>
                <a:cs typeface="Times New Roman"/>
                <a:sym typeface="Times New Roman"/>
              </a:rPr>
              <a:t> OEM Honeywell </a:t>
            </a:r>
            <a:r>
              <a:rPr lang="en-US" sz="1600" b="0" i="0" u="none" strike="noStrike" cap="none" dirty="0" err="1">
                <a:solidFill>
                  <a:srgbClr val="000000"/>
                </a:solidFill>
                <a:latin typeface="Times New Roman"/>
                <a:ea typeface="Times New Roman"/>
                <a:cs typeface="Times New Roman"/>
                <a:sym typeface="Times New Roman"/>
              </a:rPr>
              <a:t>liên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quan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hệ</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Chiller (VCRU, Motor </a:t>
            </a:r>
            <a:r>
              <a:rPr lang="en-US" sz="1600" b="0" i="0" u="none" strike="noStrike" cap="none" dirty="0" err="1">
                <a:solidFill>
                  <a:srgbClr val="000000"/>
                </a:solidFill>
                <a:latin typeface="Times New Roman"/>
                <a:ea typeface="Times New Roman"/>
                <a:cs typeface="Times New Roman"/>
                <a:sym typeface="Times New Roman"/>
              </a:rPr>
              <a:t>Controler</a:t>
            </a:r>
            <a:r>
              <a:rPr lang="en-US" sz="1600" b="0" i="0" u="none" strike="noStrike" cap="none" dirty="0">
                <a:solidFill>
                  <a:srgbClr val="000000"/>
                </a:solidFill>
                <a:latin typeface="Times New Roman"/>
                <a:ea typeface="Times New Roman"/>
                <a:cs typeface="Times New Roman"/>
                <a:sym typeface="Times New Roman"/>
              </a:rPr>
              <a:t>) TAT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rất</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dài</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914400" marR="0" lvl="0" indent="-330200" algn="just" rtl="0">
              <a:lnSpc>
                <a:spcPct val="100000"/>
              </a:lnSpc>
              <a:spcBef>
                <a:spcPts val="0"/>
              </a:spcBef>
              <a:spcAft>
                <a:spcPts val="0"/>
              </a:spcAft>
              <a:buClr>
                <a:srgbClr val="000000"/>
              </a:buClr>
              <a:buSzPts val="1600"/>
              <a:buFont typeface="Times New Roman"/>
              <a:buChar char="+"/>
            </a:pPr>
            <a:r>
              <a:rPr lang="en-US" sz="1600" b="0" i="0" u="none" strike="noStrike" cap="none" dirty="0" err="1">
                <a:solidFill>
                  <a:srgbClr val="000000"/>
                </a:solidFill>
                <a:latin typeface="Times New Roman"/>
                <a:ea typeface="Times New Roman"/>
                <a:cs typeface="Times New Roman"/>
                <a:sym typeface="Times New Roman"/>
              </a:rPr>
              <a:t>Hỏng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hóc</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thống</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nhiều</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vẫn</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chưa</a:t>
            </a:r>
            <a:r>
              <a:rPr lang="en-US" sz="1600" b="0" i="0" u="none" strike="noStrike" cap="none" dirty="0">
                <a:solidFill>
                  <a:srgbClr val="000000"/>
                </a:solidFill>
                <a:latin typeface="Times New Roman"/>
                <a:ea typeface="Times New Roman"/>
                <a:cs typeface="Times New Roman"/>
                <a:sym typeface="Times New Roman"/>
              </a:rPr>
              <a:t> </a:t>
            </a:r>
            <a:r>
              <a:rPr lang="en-US" sz="1600" b="0" i="0" u="none" strike="noStrike" cap="none" dirty="0" err="1">
                <a:solidFill>
                  <a:srgbClr val="000000"/>
                </a:solidFill>
                <a:latin typeface="Times New Roman"/>
                <a:ea typeface="Times New Roman"/>
                <a:cs typeface="Times New Roman"/>
                <a:sym typeface="Times New Roman"/>
              </a:rPr>
              <a:t>giảm</a:t>
            </a:r>
            <a:r>
              <a:rPr lang="en-US" sz="1600" b="0" i="0" u="none" strike="noStrike" cap="none" dirty="0">
                <a:solidFill>
                  <a:srgbClr val="000000"/>
                </a:solidFill>
                <a:latin typeface="Times New Roman"/>
                <a:ea typeface="Times New Roman"/>
                <a:cs typeface="Times New Roman"/>
                <a:sym typeface="Times New Roman"/>
              </a:rPr>
              <a:t>.</a:t>
            </a:r>
            <a:endParaRPr sz="16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600"/>
              <a:buFont typeface="Arial"/>
              <a:buNone/>
            </a:pPr>
            <a:endParaRPr sz="1600" b="0" i="0" u="none" strike="noStrike" cap="none" dirty="0">
              <a:solidFill>
                <a:srgbClr val="FF0000"/>
              </a:solidFill>
              <a:latin typeface="Times New Roman"/>
              <a:ea typeface="Times New Roman"/>
              <a:cs typeface="Times New Roman"/>
              <a:sym typeface="Times New Roman"/>
            </a:endParaRPr>
          </a:p>
          <a:p>
            <a:pPr marL="457200" marR="0" lvl="0" indent="-355600" algn="just" rtl="0">
              <a:lnSpc>
                <a:spcPct val="100000"/>
              </a:lnSpc>
              <a:spcBef>
                <a:spcPts val="0"/>
              </a:spcBef>
              <a:spcAft>
                <a:spcPts val="0"/>
              </a:spcAft>
              <a:buClr>
                <a:srgbClr val="FF0000"/>
              </a:buClr>
              <a:buSzPts val="2000"/>
              <a:buFont typeface="Times New Roman"/>
              <a:buChar char="-"/>
            </a:pPr>
            <a:r>
              <a:rPr lang="en-US" sz="2000" b="1" i="0" u="none" strike="noStrike" cap="none" dirty="0" err="1">
                <a:solidFill>
                  <a:srgbClr val="FF0000"/>
                </a:solidFill>
                <a:latin typeface="Times New Roman"/>
                <a:ea typeface="Times New Roman"/>
                <a:cs typeface="Times New Roman"/>
                <a:sym typeface="Times New Roman"/>
              </a:rPr>
              <a:t>Hỏng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hóc</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ảnh</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hưởng</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cần</a:t>
            </a:r>
            <a:r>
              <a:rPr lang="en-US" sz="2000" b="1" i="0" u="none" strike="noStrike" cap="none" dirty="0">
                <a:solidFill>
                  <a:srgbClr val="FF0000"/>
                </a:solidFill>
                <a:latin typeface="Times New Roman"/>
                <a:ea typeface="Times New Roman"/>
                <a:cs typeface="Times New Roman"/>
                <a:sym typeface="Times New Roman"/>
              </a:rPr>
              <a:t> </a:t>
            </a:r>
            <a:r>
              <a:rPr lang="en-US" sz="2000" b="1" i="0" u="none" strike="noStrike" cap="none" dirty="0" err="1">
                <a:solidFill>
                  <a:srgbClr val="FF0000"/>
                </a:solidFill>
                <a:latin typeface="Times New Roman"/>
                <a:ea typeface="Times New Roman"/>
                <a:cs typeface="Times New Roman"/>
                <a:sym typeface="Times New Roman"/>
              </a:rPr>
              <a:t>lưu</a:t>
            </a:r>
            <a:r>
              <a:rPr lang="en-US" sz="2000" b="1" i="0" u="none" strike="noStrike" cap="none" dirty="0">
                <a:solidFill>
                  <a:srgbClr val="FF0000"/>
                </a:solidFill>
                <a:latin typeface="Times New Roman"/>
                <a:ea typeface="Times New Roman"/>
                <a:cs typeface="Times New Roman"/>
                <a:sym typeface="Times New Roman"/>
              </a:rPr>
              <a:t> ý:</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A894 - INBOARD SEAL OF LH INBOARD AILERON DAMAGED.(15CM):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Seal, Vaeco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EST 03/06.</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A896 - DM: F/CTL R OUTR AILERON G ACTUATOR: Servo CTL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HAN 03/03.</a:t>
            </a:r>
            <a:endParaRPr sz="1600" dirty="0">
              <a:solidFill>
                <a:schemeClr val="dk1"/>
              </a:solidFill>
              <a:latin typeface="Times New Roman"/>
              <a:ea typeface="Times New Roman"/>
              <a:cs typeface="Times New Roman"/>
              <a:sym typeface="Times New Roman"/>
            </a:endParaRPr>
          </a:p>
          <a:p>
            <a:pPr marL="457200" lvl="0" algn="just">
              <a:buClr>
                <a:schemeClr val="dk1"/>
              </a:buClr>
              <a:buSzPts val="1600"/>
            </a:pPr>
            <a:r>
              <a:rPr lang="en-US" sz="1600" dirty="0">
                <a:solidFill>
                  <a:schemeClr val="dk1"/>
                </a:solidFill>
                <a:latin typeface="Times New Roman"/>
                <a:ea typeface="Times New Roman"/>
                <a:cs typeface="Times New Roman"/>
                <a:sym typeface="Times New Roman"/>
              </a:rPr>
              <a:t>• A896 - UPPER LATCH ASSY OF COCKPIT DOOR BOLTING SYSTEM IS NOT FULLY LOCKED: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Latch, Vaeco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EST 07/03</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A897 - CHILLER SYSTEM INOP: </a:t>
            </a:r>
            <a:r>
              <a:rPr lang="en-US" sz="1600" dirty="0" err="1">
                <a:solidFill>
                  <a:schemeClr val="dk1"/>
                </a:solidFill>
                <a:latin typeface="Times New Roman"/>
                <a:ea typeface="Times New Roman"/>
                <a:cs typeface="Times New Roman"/>
                <a:sym typeface="Times New Roman"/>
              </a:rPr>
              <a:t>đã</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VCRU. </a:t>
            </a:r>
            <a:endParaRPr sz="1600" dirty="0">
              <a:solidFill>
                <a:schemeClr val="dk1"/>
              </a:solidFill>
              <a:latin typeface="Times New Roman"/>
              <a:ea typeface="Times New Roman"/>
              <a:cs typeface="Times New Roman"/>
              <a:sym typeface="Times New Roman"/>
            </a:endParaRPr>
          </a:p>
          <a:p>
            <a:pPr marL="457200" lvl="0" indent="0" algn="just" rtl="0">
              <a:spcBef>
                <a:spcPts val="0"/>
              </a:spcBef>
              <a:spcAft>
                <a:spcPts val="0"/>
              </a:spcAft>
              <a:buClr>
                <a:schemeClr val="dk1"/>
              </a:buClr>
              <a:buSzPts val="1600"/>
              <a:buFont typeface="Arial"/>
              <a:buNone/>
            </a:pPr>
            <a:r>
              <a:rPr lang="en-US" sz="1600" dirty="0">
                <a:solidFill>
                  <a:schemeClr val="dk1"/>
                </a:solidFill>
                <a:latin typeface="Times New Roman"/>
                <a:ea typeface="Times New Roman"/>
                <a:cs typeface="Times New Roman"/>
                <a:sym typeface="Times New Roman"/>
              </a:rPr>
              <a:t>• A897 - A SEAL OF RH INBOARD AILERON DAMAGED ( 60cm): </a:t>
            </a:r>
            <a:r>
              <a:rPr lang="en-US" sz="1600" dirty="0" err="1">
                <a:solidFill>
                  <a:schemeClr val="dk1"/>
                </a:solidFill>
                <a:latin typeface="Times New Roman"/>
                <a:ea typeface="Times New Roman"/>
                <a:cs typeface="Times New Roman"/>
                <a:sym typeface="Times New Roman"/>
              </a:rPr>
              <a:t>đặt</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hàng</a:t>
            </a:r>
            <a:r>
              <a:rPr lang="en-US" sz="1600" dirty="0">
                <a:solidFill>
                  <a:schemeClr val="dk1"/>
                </a:solidFill>
                <a:latin typeface="Times New Roman"/>
                <a:ea typeface="Times New Roman"/>
                <a:cs typeface="Times New Roman"/>
                <a:sym typeface="Times New Roman"/>
              </a:rPr>
              <a:t> Seal, Vaeco </a:t>
            </a:r>
            <a:r>
              <a:rPr lang="en-US" sz="1600" dirty="0" err="1">
                <a:solidFill>
                  <a:schemeClr val="dk1"/>
                </a:solidFill>
                <a:latin typeface="Times New Roman"/>
                <a:ea typeface="Times New Roman"/>
                <a:cs typeface="Times New Roman"/>
                <a:sym typeface="Times New Roman"/>
              </a:rPr>
              <a:t>cung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ứng</a:t>
            </a:r>
            <a:r>
              <a:rPr lang="en-US" sz="1600" dirty="0">
                <a:solidFill>
                  <a:schemeClr val="dk1"/>
                </a:solidFill>
                <a:latin typeface="Times New Roman"/>
                <a:ea typeface="Times New Roman"/>
                <a:cs typeface="Times New Roman"/>
                <a:sym typeface="Times New Roman"/>
              </a:rPr>
              <a:t> EST 14/05.</a:t>
            </a:r>
            <a:endParaRPr sz="1600"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20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00000"/>
              </a:lnSpc>
              <a:spcBef>
                <a:spcPts val="0"/>
              </a:spcBef>
              <a:spcAft>
                <a:spcPts val="0"/>
              </a:spcAft>
              <a:buClr>
                <a:schemeClr val="dk1"/>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0000"/>
              </a:lnSpc>
              <a:spcBef>
                <a:spcPts val="0"/>
              </a:spcBef>
              <a:spcAft>
                <a:spcPts val="0"/>
              </a:spcAft>
              <a:buClr>
                <a:srgbClr val="000000"/>
              </a:buClr>
              <a:buSzPts val="1500"/>
              <a:buFont typeface="Arial"/>
              <a:buNone/>
            </a:pPr>
            <a:endParaRPr sz="1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g31ccdae391d_0_347"/>
          <p:cNvSpPr txBox="1">
            <a:spLocks noGrp="1"/>
          </p:cNvSpPr>
          <p:nvPr>
            <p:ph type="title"/>
          </p:nvPr>
        </p:nvSpPr>
        <p:spPr>
          <a:xfrm>
            <a:off x="276335" y="-18089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ATR</a:t>
            </a:r>
            <a:endParaRPr sz="2800">
              <a:solidFill>
                <a:srgbClr val="FFC000"/>
              </a:solidFill>
              <a:latin typeface="Times New Roman"/>
              <a:ea typeface="Times New Roman"/>
              <a:cs typeface="Times New Roman"/>
              <a:sym typeface="Times New Roman"/>
            </a:endParaRPr>
          </a:p>
        </p:txBody>
      </p:sp>
      <p:sp>
        <p:nvSpPr>
          <p:cNvPr id="252" name="Google Shape;252;g31ccdae391d_0_347"/>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65</a:t>
            </a:fld>
            <a:endParaRPr/>
          </a:p>
        </p:txBody>
      </p:sp>
      <p:graphicFrame>
        <p:nvGraphicFramePr>
          <p:cNvPr id="253" name="Google Shape;253;g31ccdae391d_0_347"/>
          <p:cNvGraphicFramePr/>
          <p:nvPr/>
        </p:nvGraphicFramePr>
        <p:xfrm>
          <a:off x="439614" y="221847"/>
          <a:ext cx="11611325" cy="6311045"/>
        </p:xfrm>
        <a:graphic>
          <a:graphicData uri="http://schemas.openxmlformats.org/drawingml/2006/table">
            <a:tbl>
              <a:tblPr>
                <a:noFill/>
              </a:tblPr>
              <a:tblGrid>
                <a:gridCol w="548675">
                  <a:extLst>
                    <a:ext uri="{9D8B030D-6E8A-4147-A177-3AD203B41FA5}">
                      <a16:colId xmlns:a16="http://schemas.microsoft.com/office/drawing/2014/main" val="20000"/>
                    </a:ext>
                  </a:extLst>
                </a:gridCol>
                <a:gridCol w="1774900">
                  <a:extLst>
                    <a:ext uri="{9D8B030D-6E8A-4147-A177-3AD203B41FA5}">
                      <a16:colId xmlns:a16="http://schemas.microsoft.com/office/drawing/2014/main" val="20001"/>
                    </a:ext>
                  </a:extLst>
                </a:gridCol>
                <a:gridCol w="1550950">
                  <a:extLst>
                    <a:ext uri="{9D8B030D-6E8A-4147-A177-3AD203B41FA5}">
                      <a16:colId xmlns:a16="http://schemas.microsoft.com/office/drawing/2014/main" val="20002"/>
                    </a:ext>
                  </a:extLst>
                </a:gridCol>
                <a:gridCol w="2501400">
                  <a:extLst>
                    <a:ext uri="{9D8B030D-6E8A-4147-A177-3AD203B41FA5}">
                      <a16:colId xmlns:a16="http://schemas.microsoft.com/office/drawing/2014/main" val="20003"/>
                    </a:ext>
                  </a:extLst>
                </a:gridCol>
                <a:gridCol w="5235400">
                  <a:extLst>
                    <a:ext uri="{9D8B030D-6E8A-4147-A177-3AD203B41FA5}">
                      <a16:colId xmlns:a16="http://schemas.microsoft.com/office/drawing/2014/main" val="20004"/>
                    </a:ext>
                  </a:extLst>
                </a:gridCol>
              </a:tblGrid>
              <a:tr h="2184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84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u="none" strike="noStrike" cap="none">
                          <a:latin typeface="Times New Roman"/>
                          <a:ea typeface="Times New Roman"/>
                          <a:cs typeface="Times New Roman"/>
                          <a:sym typeface="Times New Roman"/>
                        </a:rPr>
                        <a:t>Tình trạng</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Blade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R815505-6/-9</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a:solidFill>
                            <a:schemeClr val="dk1"/>
                          </a:solidFill>
                          <a:latin typeface="Times New Roman"/>
                          <a:ea typeface="Times New Roman"/>
                          <a:cs typeface="Times New Roman"/>
                          <a:sym typeface="Times New Roman"/>
                        </a:rPr>
                        <a:t>07</a:t>
                      </a:r>
                      <a:r>
                        <a:rPr lang="en-US" sz="1400" u="none" strike="noStrike" cap="none">
                          <a:solidFill>
                            <a:schemeClr val="dk1"/>
                          </a:solidFill>
                          <a:latin typeface="Times New Roman"/>
                          <a:ea typeface="Times New Roman"/>
                          <a:cs typeface="Times New Roman"/>
                          <a:sym typeface="Times New Roman"/>
                        </a:rPr>
                        <a:t>EA: STK SGN (</a:t>
                      </a:r>
                      <a:r>
                        <a:rPr lang="en-US">
                          <a:solidFill>
                            <a:schemeClr val="dk1"/>
                          </a:solidFill>
                          <a:latin typeface="Times New Roman"/>
                          <a:ea typeface="Times New Roman"/>
                          <a:cs typeface="Times New Roman"/>
                          <a:sym typeface="Times New Roman"/>
                        </a:rPr>
                        <a:t>p/n</a:t>
                      </a:r>
                      <a:r>
                        <a:rPr lang="en-US" sz="1400" u="none" strike="noStrike" cap="none">
                          <a:solidFill>
                            <a:schemeClr val="dk1"/>
                          </a:solidFill>
                          <a:latin typeface="Times New Roman"/>
                          <a:ea typeface="Times New Roman"/>
                          <a:cs typeface="Times New Roman"/>
                          <a:sym typeface="Times New Roman"/>
                        </a:rPr>
                        <a:t> R815505-9)</a:t>
                      </a:r>
                      <a:endParaRPr sz="1400" u="none" strike="noStrike" cap="none">
                        <a:solidFill>
                          <a:schemeClr val="dk1"/>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Clr>
                          <a:schemeClr val="dk1"/>
                        </a:buClr>
                        <a:buSzPts val="1400"/>
                        <a:buFont typeface="Times New Roman"/>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8923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Hub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815470-2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br>
                        <a:rPr lang="en-US">
                          <a:latin typeface="Times New Roman"/>
                          <a:ea typeface="Times New Roman"/>
                          <a:cs typeface="Times New Roman"/>
                          <a:sym typeface="Times New Roman"/>
                        </a:rPr>
                      </a:br>
                      <a:r>
                        <a:rPr lang="en-US">
                          <a:latin typeface="Times New Roman"/>
                          <a:ea typeface="Times New Roman"/>
                          <a:cs typeface="Times New Roman"/>
                          <a:sym typeface="Times New Roman"/>
                        </a:rPr>
                        <a:t>01PO: Chưa có EDD </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Actuator Propeller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815585-7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For Major Inspection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a:latin typeface="Times New Roman"/>
                          <a:ea typeface="Times New Roman"/>
                          <a:cs typeface="Times New Roman"/>
                          <a:sym typeface="Times New Roman"/>
                        </a:rPr>
                        <a:t>02EA: STK SGN</a:t>
                      </a:r>
                      <a:endParaRPr>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8256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End Wing-Left </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S5741212100810</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01EA: STK SGN P/N S5741212100810</a:t>
                      </a:r>
                      <a:endParaRPr sz="1400" u="none" strike="noStrike" cap="none">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sz="1400" u="none" strike="noStrike" cap="none">
                          <a:solidFill>
                            <a:schemeClr val="dk1"/>
                          </a:solidFill>
                          <a:latin typeface="Times New Roman"/>
                          <a:ea typeface="Times New Roman"/>
                          <a:cs typeface="Times New Roman"/>
                          <a:sym typeface="Times New Roman"/>
                        </a:rPr>
                        <a:t>0</a:t>
                      </a:r>
                      <a:r>
                        <a:rPr lang="en-US">
                          <a:solidFill>
                            <a:schemeClr val="dk1"/>
                          </a:solidFill>
                          <a:latin typeface="Times New Roman"/>
                          <a:ea typeface="Times New Roman"/>
                          <a:cs typeface="Times New Roman"/>
                          <a:sym typeface="Times New Roman"/>
                        </a:rPr>
                        <a:t>1</a:t>
                      </a:r>
                      <a:r>
                        <a:rPr lang="en-US" sz="1400" u="none" strike="noStrike" cap="none">
                          <a:solidFill>
                            <a:schemeClr val="dk1"/>
                          </a:solidFill>
                          <a:latin typeface="Times New Roman"/>
                          <a:ea typeface="Times New Roman"/>
                          <a:cs typeface="Times New Roman"/>
                          <a:sym typeface="Times New Roman"/>
                        </a:rPr>
                        <a:t>EA: STK SGN P/N S5741212100910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r h="1098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P.E.C</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816332-5-401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lvl="0" indent="0" algn="l" rtl="0">
                        <a:spcBef>
                          <a:spcPts val="0"/>
                        </a:spcBef>
                        <a:spcAft>
                          <a:spcPts val="0"/>
                        </a:spcAft>
                        <a:buNone/>
                      </a:pPr>
                      <a:r>
                        <a:rPr lang="en-US">
                          <a:solidFill>
                            <a:schemeClr val="dk1"/>
                          </a:solidFill>
                          <a:latin typeface="Times New Roman"/>
                          <a:ea typeface="Times New Roman"/>
                          <a:cs typeface="Times New Roman"/>
                          <a:sym typeface="Times New Roman"/>
                        </a:rPr>
                        <a:t>02EA: STK SGN</a:t>
                      </a:r>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6"/>
                  </a:ext>
                </a:extLst>
              </a:tr>
              <a:tr h="59490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MLG Shock Absorber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D23188000-5</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Hyd Leak</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STK = 0</a:t>
                      </a:r>
                      <a:br>
                        <a:rPr lang="en-US">
                          <a:solidFill>
                            <a:schemeClr val="dk1"/>
                          </a:solidFill>
                          <a:latin typeface="Times New Roman"/>
                          <a:ea typeface="Times New Roman"/>
                          <a:cs typeface="Times New Roman"/>
                          <a:sym typeface="Times New Roman"/>
                        </a:rPr>
                      </a:br>
                      <a:r>
                        <a:rPr lang="en-US">
                          <a:solidFill>
                            <a:schemeClr val="dk1"/>
                          </a:solidFill>
                          <a:latin typeface="Times New Roman"/>
                          <a:ea typeface="Times New Roman"/>
                          <a:cs typeface="Times New Roman"/>
                          <a:sym typeface="Times New Roman"/>
                        </a:rPr>
                        <a:t>NO ORDER OUTSIDE</a:t>
                      </a: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7"/>
                  </a:ext>
                </a:extLst>
              </a:tr>
              <a:tr h="74282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AFCS Computer</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7003974-606</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DASH ON ADU; CONNECTOR FOUND LOOSEN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đang vận chuyển từ Pháp về (hàng đổi)</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r>
                        <a:rPr lang="en-US">
                          <a:solidFill>
                            <a:schemeClr val="dk1"/>
                          </a:solidFill>
                          <a:latin typeface="Times New Roman"/>
                          <a:ea typeface="Times New Roman"/>
                          <a:cs typeface="Times New Roman"/>
                          <a:sym typeface="Times New Roman"/>
                        </a:rPr>
                        <a:t>01RO: chưa có thông tin</a:t>
                      </a:r>
                      <a:endParaRPr>
                        <a:solidFill>
                          <a:schemeClr val="dk1"/>
                        </a:solidFill>
                        <a:latin typeface="Times New Roman"/>
                        <a:ea typeface="Times New Roman"/>
                        <a:cs typeface="Times New Roman"/>
                        <a:sym typeface="Times New Roman"/>
                      </a:endParaRPr>
                    </a:p>
                    <a:p>
                      <a:pPr marL="0" marR="0" lvl="0" indent="0" algn="l" rtl="0">
                        <a:spcBef>
                          <a:spcPts val="0"/>
                        </a:spcBef>
                        <a:spcAft>
                          <a:spcPts val="0"/>
                        </a:spcAft>
                        <a:buClr>
                          <a:schemeClr val="dk1"/>
                        </a:buClr>
                        <a:buSzPts val="1400"/>
                        <a:buFont typeface="Arial"/>
                        <a:buNone/>
                      </a:pPr>
                      <a:endParaRPr>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8"/>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g31ccdae391d_0_354"/>
          <p:cNvSpPr txBox="1">
            <a:spLocks noGrp="1"/>
          </p:cNvSpPr>
          <p:nvPr>
            <p:ph type="title"/>
          </p:nvPr>
        </p:nvSpPr>
        <p:spPr>
          <a:xfrm>
            <a:off x="276335" y="123910"/>
            <a:ext cx="10666200" cy="716100"/>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0"/>
              </a:spcBef>
              <a:spcAft>
                <a:spcPts val="0"/>
              </a:spcAft>
              <a:buClr>
                <a:srgbClr val="FFC000"/>
              </a:buClr>
              <a:buSzPts val="2800"/>
              <a:buNone/>
            </a:pPr>
            <a:r>
              <a:rPr lang="en-US" sz="2800">
                <a:solidFill>
                  <a:srgbClr val="FFC000"/>
                </a:solidFill>
                <a:latin typeface="Times New Roman"/>
                <a:ea typeface="Times New Roman"/>
                <a:cs typeface="Times New Roman"/>
                <a:sym typeface="Times New Roman"/>
              </a:rPr>
              <a:t>Phanh, bánh lốp cho các đội bay</a:t>
            </a:r>
            <a:endParaRPr sz="2800">
              <a:solidFill>
                <a:srgbClr val="FFC000"/>
              </a:solidFill>
              <a:latin typeface="Times New Roman"/>
              <a:ea typeface="Times New Roman"/>
              <a:cs typeface="Times New Roman"/>
              <a:sym typeface="Times New Roman"/>
            </a:endParaRPr>
          </a:p>
        </p:txBody>
      </p:sp>
      <p:sp>
        <p:nvSpPr>
          <p:cNvPr id="260" name="Google Shape;260;g31ccdae391d_0_354"/>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66</a:t>
            </a:fld>
            <a:endParaRPr/>
          </a:p>
        </p:txBody>
      </p:sp>
      <p:graphicFrame>
        <p:nvGraphicFramePr>
          <p:cNvPr id="261" name="Google Shape;261;g31ccdae391d_0_354"/>
          <p:cNvGraphicFramePr/>
          <p:nvPr/>
        </p:nvGraphicFramePr>
        <p:xfrm>
          <a:off x="392714" y="718223"/>
          <a:ext cx="11570675" cy="5310995"/>
        </p:xfrm>
        <a:graphic>
          <a:graphicData uri="http://schemas.openxmlformats.org/drawingml/2006/table">
            <a:tbl>
              <a:tblPr>
                <a:noFill/>
              </a:tblPr>
              <a:tblGrid>
                <a:gridCol w="741275">
                  <a:extLst>
                    <a:ext uri="{9D8B030D-6E8A-4147-A177-3AD203B41FA5}">
                      <a16:colId xmlns:a16="http://schemas.microsoft.com/office/drawing/2014/main" val="20000"/>
                    </a:ext>
                  </a:extLst>
                </a:gridCol>
                <a:gridCol w="1235450">
                  <a:extLst>
                    <a:ext uri="{9D8B030D-6E8A-4147-A177-3AD203B41FA5}">
                      <a16:colId xmlns:a16="http://schemas.microsoft.com/office/drawing/2014/main" val="20001"/>
                    </a:ext>
                  </a:extLst>
                </a:gridCol>
                <a:gridCol w="1470950">
                  <a:extLst>
                    <a:ext uri="{9D8B030D-6E8A-4147-A177-3AD203B41FA5}">
                      <a16:colId xmlns:a16="http://schemas.microsoft.com/office/drawing/2014/main" val="20002"/>
                    </a:ext>
                  </a:extLst>
                </a:gridCol>
                <a:gridCol w="4061500">
                  <a:extLst>
                    <a:ext uri="{9D8B030D-6E8A-4147-A177-3AD203B41FA5}">
                      <a16:colId xmlns:a16="http://schemas.microsoft.com/office/drawing/2014/main" val="20003"/>
                    </a:ext>
                  </a:extLst>
                </a:gridCol>
                <a:gridCol w="4061500">
                  <a:extLst>
                    <a:ext uri="{9D8B030D-6E8A-4147-A177-3AD203B41FA5}">
                      <a16:colId xmlns:a16="http://schemas.microsoft.com/office/drawing/2014/main" val="20004"/>
                    </a:ext>
                  </a:extLst>
                </a:gridCol>
              </a:tblGrid>
              <a:tr h="215500">
                <a:tc gridSpan="5">
                  <a:txBody>
                    <a:bodyPr/>
                    <a:lstStyle/>
                    <a:p>
                      <a:pPr marL="0" marR="0" lvl="0" indent="0" algn="ctr" rtl="0">
                        <a:lnSpc>
                          <a:spcPct val="100000"/>
                        </a:lnSpc>
                        <a:spcBef>
                          <a:spcPts val="0"/>
                        </a:spcBef>
                        <a:spcAft>
                          <a:spcPts val="0"/>
                        </a:spcAft>
                        <a:buClr>
                          <a:srgbClr val="000000"/>
                        </a:buClr>
                        <a:buSzPts val="1400"/>
                        <a:buFont typeface="Arial"/>
                        <a:buNone/>
                      </a:pPr>
                      <a:endParaRPr sz="1400" u="none" strike="noStrike" cap="none" dirty="0"/>
                    </a:p>
                  </a:txBody>
                  <a:tcPr marL="5875" marR="5875" marT="5875" marB="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chemeClr val="dk1"/>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215500">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STT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Tên thiết bị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P/N</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Hỏng hóc</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400"/>
                        <a:buFont typeface="Arial"/>
                        <a:buNone/>
                      </a:pPr>
                      <a:r>
                        <a:rPr lang="en-US" sz="1400" b="1" i="0" u="none" strike="noStrike" cap="none">
                          <a:solidFill>
                            <a:srgbClr val="000000"/>
                          </a:solidFill>
                          <a:latin typeface="Times New Roman"/>
                          <a:ea typeface="Times New Roman"/>
                          <a:cs typeface="Times New Roman"/>
                          <a:sym typeface="Times New Roman"/>
                        </a:rPr>
                        <a:t>Giải pháp và kiến nghị</a:t>
                      </a:r>
                      <a:endParaRPr sz="1400" b="1"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7286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1.</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Lốp cho các đội bay</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Lốp các loại đủ dự phòng</a:t>
                      </a:r>
                      <a:r>
                        <a:rPr lang="en-US">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dk1"/>
                        </a:buClr>
                        <a:buSzPts val="1400"/>
                        <a:buFont typeface="Times New Roman"/>
                        <a:buNone/>
                      </a:pPr>
                      <a:r>
                        <a:rPr lang="en-US" sz="1400" u="none" strike="noStrike" cap="none">
                          <a:latin typeface="Times New Roman"/>
                          <a:ea typeface="Times New Roman"/>
                          <a:cs typeface="Times New Roman"/>
                          <a:sym typeface="Times New Roman"/>
                        </a:rPr>
                        <a:t>-Ban QLVT </a:t>
                      </a:r>
                      <a:r>
                        <a:rPr lang="en-US">
                          <a:latin typeface="Times New Roman"/>
                          <a:ea typeface="Times New Roman"/>
                          <a:cs typeface="Times New Roman"/>
                          <a:sym typeface="Times New Roman"/>
                        </a:rPr>
                        <a:t>tiếp tục </a:t>
                      </a:r>
                      <a:r>
                        <a:rPr lang="en-US" sz="1400" u="none" strike="noStrike" cap="none">
                          <a:latin typeface="Times New Roman"/>
                          <a:ea typeface="Times New Roman"/>
                          <a:cs typeface="Times New Roman"/>
                          <a:sym typeface="Times New Roman"/>
                        </a:rPr>
                        <a:t>thúc đẩy lốp về </a:t>
                      </a:r>
                      <a:r>
                        <a:rPr lang="en-US">
                          <a:latin typeface="Times New Roman"/>
                          <a:ea typeface="Times New Roman"/>
                          <a:cs typeface="Times New Roman"/>
                          <a:sym typeface="Times New Roman"/>
                        </a:rPr>
                        <a:t>dự phòng</a:t>
                      </a:r>
                      <a:r>
                        <a:rPr lang="en-US" sz="1400" u="none" strike="noStrike" cap="none">
                          <a:latin typeface="Times New Roman"/>
                          <a:ea typeface="Times New Roman"/>
                          <a:cs typeface="Times New Roman"/>
                          <a:sym typeface="Times New Roman"/>
                        </a:rPr>
                        <a:t> </a:t>
                      </a:r>
                      <a:endParaRPr sz="1400" b="0" i="0" u="none" strike="noStrike" cap="none">
                        <a:solidFill>
                          <a:srgbClr val="000000"/>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482975">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cho Đội bay B787</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C20648000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dirty="0">
                          <a:latin typeface="Times New Roman"/>
                          <a:ea typeface="Times New Roman"/>
                          <a:cs typeface="Times New Roman"/>
                          <a:sym typeface="Times New Roman"/>
                        </a:rPr>
                        <a:t>01ea </a:t>
                      </a:r>
                      <a:r>
                        <a:rPr lang="en-US" dirty="0" err="1">
                          <a:latin typeface="Times New Roman"/>
                          <a:ea typeface="Times New Roman"/>
                          <a:cs typeface="Times New Roman"/>
                          <a:sym typeface="Times New Roman"/>
                        </a:rPr>
                        <a:t>giao</a:t>
                      </a:r>
                      <a:r>
                        <a:rPr lang="en-US" dirty="0">
                          <a:latin typeface="Times New Roman"/>
                          <a:ea typeface="Times New Roman"/>
                          <a:cs typeface="Times New Roman"/>
                          <a:sym typeface="Times New Roman"/>
                        </a:rPr>
                        <a:t> SGN </a:t>
                      </a:r>
                      <a:r>
                        <a:rPr lang="en-US" dirty="0" err="1">
                          <a:latin typeface="Times New Roman"/>
                          <a:ea typeface="Times New Roman"/>
                          <a:cs typeface="Times New Roman"/>
                          <a:sym typeface="Times New Roman"/>
                        </a:rPr>
                        <a:t>ngày</a:t>
                      </a:r>
                      <a:r>
                        <a:rPr lang="en-US" dirty="0">
                          <a:latin typeface="Times New Roman"/>
                          <a:ea typeface="Times New Roman"/>
                          <a:cs typeface="Times New Roman"/>
                          <a:sym typeface="Times New Roman"/>
                        </a:rPr>
                        <a:t> 01/03 </a:t>
                      </a:r>
                      <a:r>
                        <a:rPr lang="en-US" dirty="0" err="1">
                          <a:latin typeface="Times New Roman"/>
                          <a:ea typeface="Times New Roman"/>
                          <a:cs typeface="Times New Roman"/>
                          <a:sym typeface="Times New Roman"/>
                        </a:rPr>
                        <a:t>và</a:t>
                      </a:r>
                      <a:r>
                        <a:rPr lang="en-US" dirty="0">
                          <a:latin typeface="Times New Roman"/>
                          <a:ea typeface="Times New Roman"/>
                          <a:cs typeface="Times New Roman"/>
                          <a:sym typeface="Times New Roman"/>
                        </a:rPr>
                        <a:t> 01 </a:t>
                      </a:r>
                      <a:r>
                        <a:rPr lang="en-US" dirty="0" err="1">
                          <a:latin typeface="Times New Roman"/>
                          <a:ea typeface="Times New Roman"/>
                          <a:cs typeface="Times New Roman"/>
                          <a:sym typeface="Times New Roman"/>
                        </a:rPr>
                        <a:t>ea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giao</a:t>
                      </a:r>
                      <a:r>
                        <a:rPr lang="en-US" dirty="0">
                          <a:latin typeface="Times New Roman"/>
                          <a:ea typeface="Times New Roman"/>
                          <a:cs typeface="Times New Roman"/>
                          <a:sym typeface="Times New Roman"/>
                        </a:rPr>
                        <a:t> SGN </a:t>
                      </a:r>
                      <a:r>
                        <a:rPr lang="en-US" dirty="0" err="1">
                          <a:latin typeface="Times New Roman"/>
                          <a:ea typeface="Times New Roman"/>
                          <a:cs typeface="Times New Roman"/>
                          <a:sym typeface="Times New Roman"/>
                        </a:rPr>
                        <a:t>ngày</a:t>
                      </a:r>
                      <a:r>
                        <a:rPr lang="en-US" dirty="0">
                          <a:latin typeface="Times New Roman"/>
                          <a:ea typeface="Times New Roman"/>
                          <a:cs typeface="Times New Roman"/>
                          <a:sym typeface="Times New Roman"/>
                        </a:rPr>
                        <a:t> 04/03. </a:t>
                      </a:r>
                      <a:r>
                        <a:rPr lang="en-US" dirty="0" err="1">
                          <a:latin typeface="Times New Roman"/>
                          <a:ea typeface="Times New Roman"/>
                          <a:cs typeface="Times New Roman"/>
                          <a:sym typeface="Times New Roman"/>
                        </a:rPr>
                        <a:t>Thêm</a:t>
                      </a:r>
                      <a:r>
                        <a:rPr lang="en-US" dirty="0">
                          <a:latin typeface="Times New Roman"/>
                          <a:ea typeface="Times New Roman"/>
                          <a:cs typeface="Times New Roman"/>
                          <a:sym typeface="Times New Roman"/>
                        </a:rPr>
                        <a:t> 02 </a:t>
                      </a:r>
                      <a:r>
                        <a:rPr lang="en-US" dirty="0" err="1">
                          <a:latin typeface="Times New Roman"/>
                          <a:ea typeface="Times New Roman"/>
                          <a:cs typeface="Times New Roman"/>
                          <a:sym typeface="Times New Roman"/>
                        </a:rPr>
                        <a:t>ea</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dự</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kiến</a:t>
                      </a:r>
                      <a:r>
                        <a:rPr lang="en-US" dirty="0">
                          <a:latin typeface="Times New Roman"/>
                          <a:ea typeface="Times New Roman"/>
                          <a:cs typeface="Times New Roman"/>
                          <a:sym typeface="Times New Roman"/>
                        </a:rPr>
                        <a:t> </a:t>
                      </a:r>
                      <a:r>
                        <a:rPr lang="en-US" dirty="0" err="1">
                          <a:latin typeface="Times New Roman"/>
                          <a:ea typeface="Times New Roman"/>
                          <a:cs typeface="Times New Roman"/>
                          <a:sym typeface="Times New Roman"/>
                        </a:rPr>
                        <a:t>về</a:t>
                      </a:r>
                      <a:r>
                        <a:rPr lang="en-US" dirty="0">
                          <a:latin typeface="Times New Roman"/>
                          <a:ea typeface="Times New Roman"/>
                          <a:cs typeface="Times New Roman"/>
                          <a:sym typeface="Times New Roman"/>
                        </a:rPr>
                        <a:t> 8/3 SGN.</a:t>
                      </a:r>
                      <a:endParaRPr sz="1400" u="none" strike="noStrike" cap="none" dirty="0">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Ban QLVT đang làm việc với Safran thúc đẩy</a:t>
                      </a:r>
                      <a:r>
                        <a:rPr lang="en-US" sz="1400" u="none" strike="noStrike" cap="none">
                          <a:latin typeface="Times New Roman"/>
                          <a:ea typeface="Times New Roman"/>
                          <a:cs typeface="Times New Roman"/>
                          <a:sym typeface="Times New Roman"/>
                        </a:rPr>
                        <a:t> các </a:t>
                      </a:r>
                      <a:r>
                        <a:rPr lang="en-US" sz="1400" b="0" i="0" u="none" strike="noStrike" cap="none">
                          <a:solidFill>
                            <a:srgbClr val="000000"/>
                          </a:solidFill>
                          <a:latin typeface="Times New Roman"/>
                          <a:ea typeface="Times New Roman"/>
                          <a:cs typeface="Times New Roman"/>
                          <a:sym typeface="Times New Roman"/>
                        </a:rPr>
                        <a:t>cụm phanh đang sửa chữa về</a:t>
                      </a:r>
                      <a:r>
                        <a:rPr lang="en-US" sz="1400" u="none" strike="noStrike" cap="none">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Tần suất thay phanh B787 đang gia tăng, Ban QLVT đã đề nghị Ban KT và VAECO cập nhật kế hoạch thay phanh cho 3 tháng tới  và rà soát làm stagger </a:t>
                      </a:r>
                      <a:r>
                        <a:rPr lang="en-US" sz="1400" u="none" strike="noStrike" cap="none">
                          <a:solidFill>
                            <a:schemeClr val="dk1"/>
                          </a:solidFill>
                          <a:latin typeface="Times New Roman"/>
                          <a:ea typeface="Times New Roman"/>
                          <a:cs typeface="Times New Roman"/>
                          <a:sym typeface="Times New Roman"/>
                        </a:rPr>
                        <a:t>để tránh tình trạng thay phanh hàng loạt</a:t>
                      </a:r>
                      <a:r>
                        <a:rPr lang="en-US">
                          <a:solidFill>
                            <a:schemeClr val="dk1"/>
                          </a:solidFill>
                          <a:latin typeface="Times New Roman"/>
                          <a:ea typeface="Times New Roman"/>
                          <a:cs typeface="Times New Roman"/>
                          <a:sym typeface="Times New Roman"/>
                        </a:rPr>
                        <a:t> những</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12248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3.</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A350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2-1756-1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Clr>
                          <a:schemeClr val="dk1"/>
                        </a:buClr>
                        <a:buSzPts val="1400"/>
                        <a:buFont typeface="Times New Roman"/>
                        <a:buChar char="-"/>
                      </a:pPr>
                      <a:r>
                        <a:rPr lang="en-US">
                          <a:solidFill>
                            <a:schemeClr val="dk1"/>
                          </a:solidFill>
                          <a:latin typeface="Times New Roman"/>
                          <a:ea typeface="Times New Roman"/>
                          <a:cs typeface="Times New Roman"/>
                          <a:sym typeface="Times New Roman"/>
                        </a:rPr>
                        <a:t>05ea in stock, 03ea sẽ ra shop VSTEA trong tuần 10.</a:t>
                      </a:r>
                      <a:endParaRPr sz="1400" u="none" strike="noStrike" cap="none">
                        <a:solidFill>
                          <a:schemeClr val="dk1"/>
                        </a:solidFill>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Times New Roman"/>
                          <a:ea typeface="Times New Roman"/>
                          <a:cs typeface="Times New Roman"/>
                          <a:sym typeface="Times New Roman"/>
                        </a:rPr>
                        <a:t> - Tần suất thay phanh A350 đang gia tăng rất nhanh, Ban QLVT đã đề nghị Ban KT và VAECO cập nhật kế hoạch thay phanh cho 3 tháng tới và rà soát làm stagger để tránh tình trạng thay phanh hàng loạt.</a:t>
                      </a:r>
                      <a:r>
                        <a:rPr lang="en-US" sz="1400" u="none" strike="noStrike" cap="none">
                          <a:latin typeface="Times New Roman"/>
                          <a:ea typeface="Times New Roman"/>
                          <a:cs typeface="Times New Roman"/>
                          <a:sym typeface="Times New Roman"/>
                        </a:rPr>
                        <a:t/>
                      </a:r>
                      <a:br>
                        <a:rPr lang="en-US" sz="1400" u="none" strike="noStrike" cap="none">
                          <a:latin typeface="Times New Roman"/>
                          <a:ea typeface="Times New Roman"/>
                          <a:cs typeface="Times New Roman"/>
                          <a:sym typeface="Times New Roman"/>
                        </a:rPr>
                      </a:b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r h="1436050">
                <a:tc>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4.</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155575" marR="0" lvl="0" indent="0" algn="l" rtl="0">
                        <a:lnSpc>
                          <a:spcPct val="100000"/>
                        </a:lnSpc>
                        <a:spcBef>
                          <a:spcPts val="0"/>
                        </a:spcBef>
                        <a:spcAft>
                          <a:spcPts val="0"/>
                        </a:spcAft>
                        <a:buClr>
                          <a:srgbClr val="000000"/>
                        </a:buClr>
                        <a:buSzPts val="1150"/>
                        <a:buFont typeface="Times New Roman"/>
                        <a:buNone/>
                      </a:pPr>
                      <a:r>
                        <a:rPr lang="en-US" sz="1400" u="none" strike="noStrike" cap="none">
                          <a:latin typeface="Times New Roman"/>
                          <a:ea typeface="Times New Roman"/>
                          <a:cs typeface="Times New Roman"/>
                          <a:sym typeface="Times New Roman"/>
                        </a:rPr>
                        <a:t>Phanh đội Bay A321</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C20534100</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457200" marR="0" lvl="0" indent="-317500" algn="l" rtl="0">
                        <a:lnSpc>
                          <a:spcPct val="100000"/>
                        </a:lnSpc>
                        <a:spcBef>
                          <a:spcPts val="0"/>
                        </a:spcBef>
                        <a:spcAft>
                          <a:spcPts val="0"/>
                        </a:spcAft>
                        <a:buSzPts val="1400"/>
                        <a:buFont typeface="Times New Roman"/>
                        <a:buChar char="-"/>
                      </a:pPr>
                      <a:r>
                        <a:rPr lang="en-US" sz="1400" u="none" strike="noStrike" cap="none">
                          <a:latin typeface="Times New Roman"/>
                          <a:ea typeface="Times New Roman"/>
                          <a:cs typeface="Times New Roman"/>
                          <a:sym typeface="Times New Roman"/>
                        </a:rPr>
                        <a:t>Kho có </a:t>
                      </a:r>
                      <a:r>
                        <a:rPr lang="en-US">
                          <a:latin typeface="Times New Roman"/>
                          <a:ea typeface="Times New Roman"/>
                          <a:cs typeface="Times New Roman"/>
                          <a:sym typeface="Times New Roman"/>
                        </a:rPr>
                        <a:t>10e</a:t>
                      </a:r>
                      <a:r>
                        <a:rPr lang="en-US" sz="1400" u="none" strike="noStrike" cap="none">
                          <a:latin typeface="Times New Roman"/>
                          <a:ea typeface="Times New Roman"/>
                          <a:cs typeface="Times New Roman"/>
                          <a:sym typeface="Times New Roman"/>
                        </a:rPr>
                        <a:t>a</a:t>
                      </a:r>
                      <a:r>
                        <a:rPr lang="en-US" sz="1400" u="none" strike="noStrike" cap="none">
                          <a:solidFill>
                            <a:schemeClr val="dk1"/>
                          </a:solidFill>
                          <a:latin typeface="Times New Roman"/>
                          <a:ea typeface="Times New Roman"/>
                          <a:cs typeface="Times New Roman"/>
                          <a:sym typeface="Times New Roman"/>
                        </a:rPr>
                        <a:t> dự phòng</a:t>
                      </a:r>
                      <a:r>
                        <a:rPr lang="en-US">
                          <a:solidFill>
                            <a:schemeClr val="dk1"/>
                          </a:solidFill>
                          <a:latin typeface="Times New Roman"/>
                          <a:ea typeface="Times New Roman"/>
                          <a:cs typeface="Times New Roman"/>
                          <a:sym typeface="Times New Roman"/>
                        </a:rPr>
                        <a:t>.</a:t>
                      </a: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Times New Roman"/>
                          <a:ea typeface="Times New Roman"/>
                          <a:cs typeface="Times New Roman"/>
                          <a:sym typeface="Times New Roman"/>
                        </a:rPr>
                        <a:t>- </a:t>
                      </a:r>
                      <a:r>
                        <a:rPr lang="en-US" sz="1400" u="none" strike="noStrike" cap="none">
                          <a:latin typeface="Times New Roman"/>
                          <a:ea typeface="Times New Roman"/>
                          <a:cs typeface="Times New Roman"/>
                          <a:sym typeface="Times New Roman"/>
                        </a:rPr>
                        <a:t>Ban QLVT đang tiếp tục  thúc đẩy các heat sink A321 về để phục vụ bảo dưỡng phanh A321.</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r>
                        <a:rPr lang="en-US" sz="1400" u="none" strike="noStrike" cap="none">
                          <a:latin typeface="Times New Roman"/>
                          <a:ea typeface="Times New Roman"/>
                          <a:cs typeface="Times New Roman"/>
                          <a:sym typeface="Times New Roman"/>
                        </a:rPr>
                        <a:t>- </a:t>
                      </a:r>
                      <a:r>
                        <a:rPr lang="en-US" sz="1400" u="none" strike="noStrike" cap="none">
                          <a:solidFill>
                            <a:schemeClr val="dk1"/>
                          </a:solidFill>
                          <a:latin typeface="Times New Roman"/>
                          <a:ea typeface="Times New Roman"/>
                          <a:cs typeface="Times New Roman"/>
                          <a:sym typeface="Times New Roman"/>
                        </a:rPr>
                        <a:t>Ban QLVT đã đề nghị Ban KT và VAECO cập nhật kế hoạch làm stagger phanh A321 tránh việc thay phanh hàng loạt.</a:t>
                      </a:r>
                      <a:endParaRPr sz="1400" u="none" strike="noStrike" cap="none">
                        <a:latin typeface="Times New Roman"/>
                        <a:ea typeface="Times New Roman"/>
                        <a:cs typeface="Times New Roman"/>
                        <a:sym typeface="Times New Roman"/>
                      </a:endParaRPr>
                    </a:p>
                    <a:p>
                      <a:pPr marL="0" marR="0" lvl="0" indent="0" algn="l" rtl="0">
                        <a:lnSpc>
                          <a:spcPct val="100000"/>
                        </a:lnSpc>
                        <a:spcBef>
                          <a:spcPts val="0"/>
                        </a:spcBef>
                        <a:spcAft>
                          <a:spcPts val="0"/>
                        </a:spcAft>
                        <a:buClr>
                          <a:srgbClr val="000000"/>
                        </a:buClr>
                        <a:buSzPts val="1400"/>
                        <a:buFont typeface="Arial"/>
                        <a:buNone/>
                      </a:pPr>
                      <a:endParaRPr sz="1400" u="none" strike="noStrike" cap="none">
                        <a:latin typeface="Times New Roman"/>
                        <a:ea typeface="Times New Roman"/>
                        <a:cs typeface="Times New Roman"/>
                        <a:sym typeface="Times New Roman"/>
                      </a:endParaRPr>
                    </a:p>
                  </a:txBody>
                  <a:tcPr marL="5875" marR="5875" marT="5875" marB="0"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g31ccdae391d_0_361"/>
          <p:cNvSpPr txBox="1">
            <a:spLocks noGrp="1"/>
          </p:cNvSpPr>
          <p:nvPr>
            <p:ph type="title"/>
          </p:nvPr>
        </p:nvSpPr>
        <p:spPr>
          <a:xfrm>
            <a:off x="913579" y="37903"/>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68" name="Google Shape;268;g31ccdae391d_0_361"/>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67</a:t>
            </a:fld>
            <a:endParaRPr/>
          </a:p>
        </p:txBody>
      </p:sp>
      <p:sp>
        <p:nvSpPr>
          <p:cNvPr id="269" name="Google Shape;269;g31ccdae391d_0_361"/>
          <p:cNvSpPr/>
          <p:nvPr/>
        </p:nvSpPr>
        <p:spPr>
          <a:xfrm>
            <a:off x="609900" y="8014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1" i="0" u="none" strike="noStrike" cap="none" dirty="0">
                <a:solidFill>
                  <a:srgbClr val="FF0000"/>
                </a:solidFill>
                <a:highlight>
                  <a:schemeClr val="lt1"/>
                </a:highlight>
                <a:latin typeface="Times New Roman"/>
                <a:ea typeface="Times New Roman"/>
                <a:cs typeface="Times New Roman"/>
                <a:sym typeface="Times New Roman"/>
              </a:rPr>
              <a:t>Đội bay A350:</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03ea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 </a:t>
            </a:r>
            <a:r>
              <a:rPr lang="en-US" sz="1500" dirty="0">
                <a:solidFill>
                  <a:schemeClr val="dk1"/>
                </a:solidFill>
                <a:highlight>
                  <a:schemeClr val="lt1"/>
                </a:highlight>
                <a:latin typeface="Times New Roman"/>
                <a:ea typeface="Times New Roman"/>
                <a:cs typeface="Times New Roman"/>
                <a:sym typeface="Times New Roman"/>
              </a:rPr>
              <a:t>01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new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HAN 22/01).</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0</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9</a:t>
            </a:r>
            <a:r>
              <a:rPr lang="en-US" sz="1500" b="0" i="0" u="none" strike="noStrike" cap="none" dirty="0">
                <a:solidFill>
                  <a:schemeClr val="dk1"/>
                </a:solidFill>
                <a:highlight>
                  <a:schemeClr val="lt1"/>
                </a:highlight>
                <a:latin typeface="Times New Roman"/>
                <a:ea typeface="Times New Roman"/>
                <a:cs typeface="Times New Roman"/>
                <a:sym typeface="Times New Roman"/>
              </a:rPr>
              <a:t>ea (03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21043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21317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21</a:t>
            </a:r>
            <a:r>
              <a:rPr lang="en-US" sz="1500" dirty="0">
                <a:solidFill>
                  <a:schemeClr val="dk1"/>
                </a:solidFill>
                <a:highlight>
                  <a:schemeClr val="lt1"/>
                </a:highlight>
                <a:latin typeface="Times New Roman"/>
                <a:ea typeface="Times New Roman"/>
                <a:cs typeface="Times New Roman"/>
                <a:sym typeface="Times New Roman"/>
              </a:rPr>
              <a:t>422</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21</a:t>
            </a:r>
            <a:r>
              <a:rPr lang="en-US" sz="1500" dirty="0">
                <a:solidFill>
                  <a:schemeClr val="dk1"/>
                </a:solidFill>
                <a:highlight>
                  <a:schemeClr val="lt1"/>
                </a:highlight>
                <a:latin typeface="Times New Roman"/>
                <a:ea typeface="Times New Roman"/>
                <a:cs typeface="Times New Roman"/>
                <a:sym typeface="Times New Roman"/>
              </a:rPr>
              <a:t>269</a:t>
            </a:r>
            <a:r>
              <a:rPr lang="en-US" sz="1500" b="0" i="0" u="none" strike="noStrike" cap="none" dirty="0">
                <a:solidFill>
                  <a:schemeClr val="dk1"/>
                </a:solidFill>
                <a:highlight>
                  <a:schemeClr val="lt1"/>
                </a:highlight>
                <a:latin typeface="Times New Roman"/>
                <a:ea typeface="Times New Roman"/>
                <a:cs typeface="Times New Roman"/>
                <a:sym typeface="Times New Roman"/>
              </a:rPr>
              <a:t> &amp; 21201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HAESL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a:t>
            </a:r>
            <a:r>
              <a:rPr lang="en-US" sz="1500" dirty="0" err="1">
                <a:solidFill>
                  <a:schemeClr val="dk1"/>
                </a:solidFill>
                <a:highlight>
                  <a:schemeClr val="lt1"/>
                </a:highlight>
                <a:latin typeface="Times New Roman"/>
                <a:ea typeface="Times New Roman"/>
                <a:cs typeface="Times New Roman"/>
                <a:sym typeface="Times New Roman"/>
              </a:rPr>
              <a:t>à</a:t>
            </a:r>
            <a:r>
              <a:rPr lang="en-US" sz="1500" dirty="0">
                <a:solidFill>
                  <a:schemeClr val="dk1"/>
                </a:solidFill>
                <a:highlight>
                  <a:schemeClr val="lt1"/>
                </a:highlight>
                <a:latin typeface="Times New Roman"/>
                <a:ea typeface="Times New Roman"/>
                <a:cs typeface="Times New Roman"/>
                <a:sym typeface="Times New Roman"/>
              </a:rPr>
              <a:t> 03 </a:t>
            </a:r>
            <a:r>
              <a:rPr lang="en-US" sz="1500" dirty="0" err="1">
                <a:solidFill>
                  <a:schemeClr val="dk1"/>
                </a:solidFill>
                <a:highlight>
                  <a:schemeClr val="lt1"/>
                </a:highlight>
                <a:latin typeface="Times New Roman"/>
                <a:ea typeface="Times New Roman"/>
                <a:cs typeface="Times New Roman"/>
                <a:sym typeface="Times New Roman"/>
              </a:rPr>
              <a:t>tại</a:t>
            </a:r>
            <a:r>
              <a:rPr lang="en-US" sz="1500" dirty="0">
                <a:solidFill>
                  <a:schemeClr val="dk1"/>
                </a:solidFill>
                <a:highlight>
                  <a:schemeClr val="lt1"/>
                </a:highlight>
                <a:latin typeface="Times New Roman"/>
                <a:ea typeface="Times New Roman"/>
                <a:cs typeface="Times New Roman"/>
                <a:sym typeface="Times New Roman"/>
              </a:rPr>
              <a:t> SEASL 21584, 21414 </a:t>
            </a:r>
            <a:r>
              <a:rPr lang="en-US" sz="1500" dirty="0" err="1">
                <a:solidFill>
                  <a:schemeClr val="dk1"/>
                </a:solidFill>
                <a:highlight>
                  <a:schemeClr val="lt1"/>
                </a:highlight>
                <a:latin typeface="Times New Roman"/>
                <a:ea typeface="Times New Roman"/>
                <a:cs typeface="Times New Roman"/>
                <a:sym typeface="Times New Roman"/>
              </a:rPr>
              <a:t>và</a:t>
            </a:r>
            <a:r>
              <a:rPr lang="en-US" sz="1500" dirty="0">
                <a:solidFill>
                  <a:schemeClr val="dk1"/>
                </a:solidFill>
                <a:highlight>
                  <a:schemeClr val="lt1"/>
                </a:highlight>
                <a:latin typeface="Times New Roman"/>
                <a:ea typeface="Times New Roman"/>
                <a:cs typeface="Times New Roman"/>
                <a:sym typeface="Times New Roman"/>
              </a:rPr>
              <a:t> 21604</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xếp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chuyển</a:t>
            </a:r>
            <a:r>
              <a:rPr lang="en-US" sz="1500" b="0" i="0" u="none" strike="noStrike" cap="none" dirty="0">
                <a:solidFill>
                  <a:schemeClr val="dk1"/>
                </a:solidFill>
                <a:highlight>
                  <a:schemeClr val="lt1"/>
                </a:highlight>
                <a:latin typeface="Times New Roman"/>
                <a:ea typeface="Times New Roman"/>
                <a:cs typeface="Times New Roman"/>
                <a:sym typeface="Times New Roman"/>
              </a:rPr>
              <a:t> 01 core engine stand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từ</a:t>
            </a:r>
            <a:r>
              <a:rPr lang="en-US" sz="1500" b="0" i="0" u="none" strike="noStrike" cap="none" dirty="0">
                <a:solidFill>
                  <a:schemeClr val="dk1"/>
                </a:solidFill>
                <a:highlight>
                  <a:schemeClr val="lt1"/>
                </a:highlight>
                <a:latin typeface="Times New Roman"/>
                <a:ea typeface="Times New Roman"/>
                <a:cs typeface="Times New Roman"/>
                <a:sym typeface="Times New Roman"/>
              </a:rPr>
              <a:t> N3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về</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để</a:t>
            </a:r>
            <a:r>
              <a:rPr lang="en-US" sz="1500" b="0" i="0" u="none" strike="noStrike" cap="none" dirty="0">
                <a:solidFill>
                  <a:schemeClr val="dk1"/>
                </a:solidFill>
                <a:highlight>
                  <a:schemeClr val="lt1"/>
                </a:highlight>
                <a:latin typeface="Times New Roman"/>
                <a:ea typeface="Times New Roman"/>
                <a:cs typeface="Times New Roman"/>
                <a:sym typeface="Times New Roman"/>
              </a:rPr>
              <a:t> swap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tháo</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tiếp</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gửi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1" i="0" u="none" strike="noStrike" cap="none" dirty="0">
                <a:solidFill>
                  <a:srgbClr val="FF0000"/>
                </a:solidFill>
                <a:highlight>
                  <a:schemeClr val="lt1"/>
                </a:highlight>
                <a:latin typeface="Times New Roman"/>
                <a:ea typeface="Times New Roman"/>
                <a:cs typeface="Times New Roman"/>
                <a:sym typeface="Times New Roman"/>
              </a:rPr>
              <a:t>- Đội bay B787:</a:t>
            </a:r>
            <a:endParaRPr sz="1500" b="1" i="0" u="none" strike="noStrike" cap="none" dirty="0">
              <a:solidFill>
                <a:srgbClr val="FF0000"/>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dự</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phòng</a:t>
            </a:r>
            <a:r>
              <a:rPr lang="en-US" sz="1500" b="0" i="0" u="none" strike="noStrike" cap="none" dirty="0">
                <a:solidFill>
                  <a:schemeClr val="dk1"/>
                </a:solidFill>
                <a:highlight>
                  <a:schemeClr val="lt1"/>
                </a:highlight>
                <a:latin typeface="Times New Roman"/>
                <a:ea typeface="Times New Roman"/>
                <a:cs typeface="Times New Roman"/>
                <a:sym typeface="Times New Roman"/>
              </a:rPr>
              <a:t>: 0</a:t>
            </a:r>
            <a:r>
              <a:rPr lang="en-US" sz="1500" dirty="0">
                <a:solidFill>
                  <a:schemeClr val="dk1"/>
                </a:solidFill>
                <a:highlight>
                  <a:schemeClr val="lt1"/>
                </a:highlight>
                <a:latin typeface="Times New Roman"/>
                <a:ea typeface="Times New Roman"/>
                <a:cs typeface="Times New Roman"/>
                <a:sym typeface="Times New Roman"/>
              </a:rPr>
              <a:t>9</a:t>
            </a:r>
            <a:r>
              <a:rPr lang="en-US" sz="1500" b="0" i="0" u="none" strike="noStrike" cap="none" dirty="0">
                <a:solidFill>
                  <a:schemeClr val="dk1"/>
                </a:solidFill>
                <a:highlight>
                  <a:schemeClr val="lt1"/>
                </a:highlight>
                <a:latin typeface="Times New Roman"/>
                <a:ea typeface="Times New Roman"/>
                <a:cs typeface="Times New Roman"/>
                <a:sym typeface="Times New Roman"/>
              </a:rPr>
              <a:t>ea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sở</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hữu</a:t>
            </a:r>
            <a:r>
              <a:rPr lang="en-US" sz="1500" b="0" i="0" u="none" strike="noStrike" cap="none" dirty="0">
                <a:solidFill>
                  <a:schemeClr val="dk1"/>
                </a:solidFill>
                <a:highlight>
                  <a:schemeClr val="lt1"/>
                </a:highlight>
                <a:latin typeface="Times New Roman"/>
                <a:ea typeface="Times New Roman"/>
                <a:cs typeface="Times New Roman"/>
                <a:sym typeface="Times New Roman"/>
              </a:rPr>
              <a:t>, 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dài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a:solidFill>
                  <a:schemeClr val="dk1"/>
                </a:solidFill>
                <a:highlight>
                  <a:schemeClr val="lt1"/>
                </a:highlight>
                <a:latin typeface="Times New Roman"/>
                <a:ea typeface="Times New Roman"/>
                <a:cs typeface="Times New Roman"/>
                <a:sym typeface="Times New Roman"/>
              </a:rPr>
              <a:t>5</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ngắn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hạn</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đã</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ký</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thêm</a:t>
            </a:r>
            <a:r>
              <a:rPr lang="en-US" sz="1500" b="0" i="0" u="none" strike="noStrike" cap="none" dirty="0">
                <a:solidFill>
                  <a:schemeClr val="dk1"/>
                </a:solidFill>
                <a:highlight>
                  <a:schemeClr val="lt1"/>
                </a:highlight>
                <a:latin typeface="Times New Roman"/>
                <a:ea typeface="Times New Roman"/>
                <a:cs typeface="Times New Roman"/>
                <a:sym typeface="Times New Roman"/>
              </a:rPr>
              <a:t> 02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hđ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thuê</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đc</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với</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Aercap</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trong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kho</a:t>
            </a:r>
            <a:r>
              <a:rPr lang="en-US" sz="1500" b="0" i="0" u="none" strike="noStrike" cap="none" dirty="0">
                <a:solidFill>
                  <a:schemeClr val="dk1"/>
                </a:solidFill>
                <a:highlight>
                  <a:schemeClr val="lt1"/>
                </a:highlight>
                <a:latin typeface="Times New Roman"/>
                <a:ea typeface="Times New Roman"/>
                <a:cs typeface="Times New Roman"/>
                <a:sym typeface="Times New Roman"/>
              </a:rPr>
              <a:t>: 01ea (958537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giao</a:t>
            </a:r>
            <a:r>
              <a:rPr lang="en-US" sz="1500" b="0" i="0" u="none" strike="noStrike" cap="none" dirty="0">
                <a:solidFill>
                  <a:schemeClr val="dk1"/>
                </a:solidFill>
                <a:highlight>
                  <a:schemeClr val="lt1"/>
                </a:highlight>
                <a:latin typeface="Times New Roman"/>
                <a:ea typeface="Times New Roman"/>
                <a:cs typeface="Times New Roman"/>
                <a:sym typeface="Times New Roman"/>
              </a:rPr>
              <a:t> SGN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ngày</a:t>
            </a:r>
            <a:r>
              <a:rPr lang="en-US" sz="1500" b="0" i="0" u="none" strike="noStrike" cap="none" dirty="0">
                <a:solidFill>
                  <a:schemeClr val="dk1"/>
                </a:solidFill>
                <a:highlight>
                  <a:schemeClr val="lt1"/>
                </a:highlight>
                <a:latin typeface="Times New Roman"/>
                <a:ea typeface="Times New Roman"/>
                <a:cs typeface="Times New Roman"/>
                <a:sym typeface="Times New Roman"/>
              </a:rPr>
              <a:t> 01/03).</a:t>
            </a:r>
            <a:endParaRPr sz="1500" b="1"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Số</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lượng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đang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tại</a:t>
            </a:r>
            <a:r>
              <a:rPr lang="en-US" sz="1500" b="0" i="0" u="none" strike="noStrike" cap="none" dirty="0">
                <a:solidFill>
                  <a:schemeClr val="dk1"/>
                </a:solidFill>
                <a:highlight>
                  <a:schemeClr val="lt1"/>
                </a:highlight>
                <a:latin typeface="Times New Roman"/>
                <a:ea typeface="Times New Roman"/>
                <a:cs typeface="Times New Roman"/>
                <a:sym typeface="Times New Roman"/>
              </a:rPr>
              <a:t> shop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sửa</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chữa</a:t>
            </a:r>
            <a:r>
              <a:rPr lang="en-US" sz="1500" b="0" i="0" u="none" strike="noStrike" cap="none" dirty="0">
                <a:solidFill>
                  <a:schemeClr val="dk1"/>
                </a:solidFill>
                <a:highlight>
                  <a:schemeClr val="lt1"/>
                </a:highlight>
                <a:latin typeface="Times New Roman"/>
                <a:ea typeface="Times New Roman"/>
                <a:cs typeface="Times New Roman"/>
                <a:sym typeface="Times New Roman"/>
              </a:rPr>
              <a:t>:</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+05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KLM shop : 956556, 956569, 956533, 956599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và</a:t>
            </a:r>
            <a:r>
              <a:rPr lang="en-US" sz="1500" b="0" i="0" u="none" strike="noStrike" cap="none" dirty="0">
                <a:solidFill>
                  <a:schemeClr val="dk1"/>
                </a:solidFill>
                <a:highlight>
                  <a:schemeClr val="lt1"/>
                </a:highlight>
                <a:latin typeface="Times New Roman"/>
                <a:ea typeface="Times New Roman"/>
                <a:cs typeface="Times New Roman"/>
                <a:sym typeface="Times New Roman"/>
              </a:rPr>
              <a:t> 956947.</a:t>
            </a: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+0</a:t>
            </a:r>
            <a:r>
              <a:rPr lang="en-US" sz="1500" dirty="0">
                <a:solidFill>
                  <a:schemeClr val="dk1"/>
                </a:solidFill>
                <a:highlight>
                  <a:schemeClr val="lt1"/>
                </a:highlight>
                <a:latin typeface="Times New Roman"/>
                <a:ea typeface="Times New Roman"/>
                <a:cs typeface="Times New Roman"/>
                <a:sym typeface="Times New Roman"/>
              </a:rPr>
              <a:t>2</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động</a:t>
            </a: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b="0" i="0" u="none" strike="noStrike" cap="none" dirty="0" err="1">
                <a:solidFill>
                  <a:schemeClr val="dk1"/>
                </a:solidFill>
                <a:highlight>
                  <a:schemeClr val="lt1"/>
                </a:highlight>
                <a:latin typeface="Times New Roman"/>
                <a:ea typeface="Times New Roman"/>
                <a:cs typeface="Times New Roman"/>
                <a:sym typeface="Times New Roman"/>
              </a:rPr>
              <a:t>cơ</a:t>
            </a:r>
            <a:r>
              <a:rPr lang="en-US" sz="1500" b="0" i="0" u="none" strike="noStrike" cap="none" dirty="0">
                <a:solidFill>
                  <a:schemeClr val="dk1"/>
                </a:solidFill>
                <a:highlight>
                  <a:schemeClr val="lt1"/>
                </a:highlight>
                <a:latin typeface="Times New Roman"/>
                <a:ea typeface="Times New Roman"/>
                <a:cs typeface="Times New Roman"/>
                <a:sym typeface="Times New Roman"/>
              </a:rPr>
              <a:t> ở GE shop: 958398 (delay in GEEVES), 958537. trong </a:t>
            </a:r>
            <a:r>
              <a:rPr lang="en-US" sz="1500" dirty="0" err="1">
                <a:solidFill>
                  <a:schemeClr val="dk1"/>
                </a:solidFill>
                <a:highlight>
                  <a:schemeClr val="lt1"/>
                </a:highlight>
                <a:latin typeface="Times New Roman"/>
                <a:ea typeface="Times New Roman"/>
                <a:cs typeface="Times New Roman"/>
                <a:sym typeface="Times New Roman"/>
              </a:rPr>
              <a:t>đó</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động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cơ</a:t>
            </a:r>
            <a:r>
              <a:rPr lang="en-US" sz="1500" dirty="0">
                <a:solidFill>
                  <a:schemeClr val="dk1"/>
                </a:solidFill>
                <a:highlight>
                  <a:schemeClr val="lt1"/>
                </a:highlight>
                <a:latin typeface="Times New Roman"/>
                <a:ea typeface="Times New Roman"/>
                <a:cs typeface="Times New Roman"/>
                <a:sym typeface="Times New Roman"/>
              </a:rPr>
              <a:t> 958537 </a:t>
            </a:r>
            <a:r>
              <a:rPr lang="en-US" sz="1500" dirty="0" err="1">
                <a:solidFill>
                  <a:schemeClr val="dk1"/>
                </a:solidFill>
                <a:highlight>
                  <a:schemeClr val="lt1"/>
                </a:highlight>
                <a:latin typeface="Times New Roman"/>
                <a:ea typeface="Times New Roman"/>
                <a:cs typeface="Times New Roman"/>
                <a:sym typeface="Times New Roman"/>
              </a:rPr>
              <a:t>đã</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xong</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về</a:t>
            </a:r>
            <a:r>
              <a:rPr lang="en-US" sz="1500" dirty="0">
                <a:solidFill>
                  <a:schemeClr val="dk1"/>
                </a:solidFill>
                <a:highlight>
                  <a:schemeClr val="lt1"/>
                </a:highlight>
                <a:latin typeface="Times New Roman"/>
                <a:ea typeface="Times New Roman"/>
                <a:cs typeface="Times New Roman"/>
                <a:sym typeface="Times New Roman"/>
              </a:rPr>
              <a:t> SGN </a:t>
            </a:r>
            <a:r>
              <a:rPr lang="en-US" sz="1500" dirty="0" err="1">
                <a:solidFill>
                  <a:schemeClr val="dk1"/>
                </a:solidFill>
                <a:highlight>
                  <a:schemeClr val="lt1"/>
                </a:highlight>
                <a:latin typeface="Times New Roman"/>
                <a:ea typeface="Times New Roman"/>
                <a:cs typeface="Times New Roman"/>
                <a:sym typeface="Times New Roman"/>
              </a:rPr>
              <a:t>ngày</a:t>
            </a:r>
            <a:r>
              <a:rPr lang="en-US" sz="1500" dirty="0">
                <a:solidFill>
                  <a:schemeClr val="dk1"/>
                </a:solidFill>
                <a:highlight>
                  <a:schemeClr val="lt1"/>
                </a:highlight>
                <a:latin typeface="Times New Roman"/>
                <a:ea typeface="Times New Roman"/>
                <a:cs typeface="Times New Roman"/>
                <a:sym typeface="Times New Roman"/>
              </a:rPr>
              <a:t> 28/Feb, </a:t>
            </a:r>
            <a:r>
              <a:rPr lang="en-US" sz="1500" dirty="0" err="1">
                <a:solidFill>
                  <a:schemeClr val="dk1"/>
                </a:solidFill>
                <a:highlight>
                  <a:schemeClr val="lt1"/>
                </a:highlight>
                <a:latin typeface="Times New Roman"/>
                <a:ea typeface="Times New Roman"/>
                <a:cs typeface="Times New Roman"/>
                <a:sym typeface="Times New Roman"/>
              </a:rPr>
              <a:t>giao</a:t>
            </a:r>
            <a:r>
              <a:rPr lang="en-US" sz="1500" dirty="0">
                <a:solidFill>
                  <a:schemeClr val="dk1"/>
                </a:solidFill>
                <a:highlight>
                  <a:schemeClr val="lt1"/>
                </a:highlight>
                <a:latin typeface="Times New Roman"/>
                <a:ea typeface="Times New Roman"/>
                <a:cs typeface="Times New Roman"/>
                <a:sym typeface="Times New Roman"/>
              </a:rPr>
              <a:t> </a:t>
            </a:r>
            <a:r>
              <a:rPr lang="en-US" sz="1500" dirty="0" err="1">
                <a:solidFill>
                  <a:schemeClr val="dk1"/>
                </a:solidFill>
                <a:highlight>
                  <a:schemeClr val="lt1"/>
                </a:highlight>
                <a:latin typeface="Times New Roman"/>
                <a:ea typeface="Times New Roman"/>
                <a:cs typeface="Times New Roman"/>
                <a:sym typeface="Times New Roman"/>
              </a:rPr>
              <a:t>sáng</a:t>
            </a:r>
            <a:r>
              <a:rPr lang="en-US" sz="1500" dirty="0">
                <a:solidFill>
                  <a:schemeClr val="dk1"/>
                </a:solidFill>
                <a:highlight>
                  <a:schemeClr val="lt1"/>
                </a:highlight>
                <a:latin typeface="Times New Roman"/>
                <a:ea typeface="Times New Roman"/>
                <a:cs typeface="Times New Roman"/>
                <a:sym typeface="Times New Roman"/>
              </a:rPr>
              <a:t> 01/Mar.</a:t>
            </a:r>
            <a:endParaRPr sz="1500" b="0" i="0" u="none" strike="noStrike" cap="none" dirty="0">
              <a:solidFill>
                <a:schemeClr val="dk1"/>
              </a:solidFill>
              <a:highlight>
                <a:srgbClr val="FFFF00"/>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500"/>
              <a:buFont typeface="Arial"/>
              <a:buNone/>
            </a:pPr>
            <a:endParaRPr sz="1500" b="0" i="0" u="none" strike="noStrike" cap="none" dirty="0">
              <a:solidFill>
                <a:schemeClr val="dk1"/>
              </a:solidFill>
              <a:highlight>
                <a:schemeClr val="lt1"/>
              </a:highlight>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r>
              <a:rPr lang="en-US" sz="1500" b="0" i="0" u="none" strike="noStrike" cap="none" dirty="0">
                <a:solidFill>
                  <a:schemeClr val="dk1"/>
                </a:solidFill>
                <a:highlight>
                  <a:schemeClr val="lt1"/>
                </a:highlight>
                <a:latin typeface="Times New Roman"/>
                <a:ea typeface="Times New Roman"/>
                <a:cs typeface="Times New Roman"/>
                <a:sym typeface="Times New Roman"/>
              </a:rPr>
              <a:t>• </a:t>
            </a:r>
            <a:r>
              <a:rPr lang="en-US" sz="1500" dirty="0" err="1">
                <a:highlight>
                  <a:schemeClr val="lt1"/>
                </a:highlight>
                <a:latin typeface="Times New Roman"/>
                <a:ea typeface="Times New Roman"/>
                <a:cs typeface="Times New Roman"/>
                <a:sym typeface="Times New Roman"/>
              </a:rPr>
              <a:t>Thuê</a:t>
            </a:r>
            <a:r>
              <a:rPr lang="en-US" sz="1500" dirty="0">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đáp</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ứng</a:t>
            </a:r>
            <a:r>
              <a:rPr lang="en-US" sz="1500" b="0" i="0" u="none" strike="noStrike" cap="none" dirty="0">
                <a:solidFill>
                  <a:srgbClr val="000000"/>
                </a:solidFill>
                <a:highlight>
                  <a:schemeClr val="lt1"/>
                </a:highlight>
                <a:latin typeface="Times New Roman"/>
                <a:ea typeface="Times New Roman"/>
                <a:cs typeface="Times New Roman"/>
                <a:sym typeface="Times New Roman"/>
              </a:rPr>
              <a:t> KH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sửa</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2024-2025: B787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có</a:t>
            </a:r>
            <a:r>
              <a:rPr lang="en-US" sz="1500" b="0" i="0" u="none" strike="noStrike" cap="none" dirty="0">
                <a:solidFill>
                  <a:srgbClr val="000000"/>
                </a:solidFill>
                <a:highlight>
                  <a:schemeClr val="lt1"/>
                </a:highlight>
                <a:latin typeface="Times New Roman"/>
                <a:ea typeface="Times New Roman"/>
                <a:cs typeface="Times New Roman"/>
                <a:sym typeface="Times New Roman"/>
              </a:rPr>
              <a:t> 04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phòng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đang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05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của</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Aercap</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(956933; 958266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958934 958966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và</a:t>
            </a:r>
            <a:r>
              <a:rPr lang="en-US" sz="1500" b="0" i="0" u="none" strike="noStrike" cap="none" dirty="0">
                <a:solidFill>
                  <a:srgbClr val="000000"/>
                </a:solidFill>
                <a:highlight>
                  <a:schemeClr val="lt1"/>
                </a:highlight>
                <a:latin typeface="Times New Roman"/>
                <a:ea typeface="Times New Roman"/>
                <a:cs typeface="Times New Roman"/>
                <a:sym typeface="Times New Roman"/>
              </a:rPr>
              <a:t> 956626)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dự</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kiến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cần</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thuê</a:t>
            </a:r>
            <a:r>
              <a:rPr lang="en-US" sz="1500" b="0" i="0" u="none" strike="noStrike" cap="none" dirty="0">
                <a:solidFill>
                  <a:srgbClr val="000000"/>
                </a:solidFill>
                <a:highlight>
                  <a:schemeClr val="lt1"/>
                </a:highlight>
                <a:latin typeface="Times New Roman"/>
                <a:ea typeface="Times New Roman"/>
                <a:cs typeface="Times New Roman"/>
                <a:sym typeface="Times New Roman"/>
              </a:rPr>
              <a:t> 01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động</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cơ</a:t>
            </a:r>
            <a:r>
              <a:rPr lang="en-US" sz="1500" b="0" i="0" u="none" strike="noStrike" cap="none" dirty="0">
                <a:solidFill>
                  <a:srgbClr val="000000"/>
                </a:solidFill>
                <a:highlight>
                  <a:schemeClr val="lt1"/>
                </a:highlight>
                <a:latin typeface="Times New Roman"/>
                <a:ea typeface="Times New Roman"/>
                <a:cs typeface="Times New Roman"/>
                <a:sym typeface="Times New Roman"/>
              </a:rPr>
              <a:t>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nữa</a:t>
            </a:r>
            <a:r>
              <a:rPr lang="en-US" sz="1500" b="0" i="0" u="none" strike="noStrike" cap="none" dirty="0">
                <a:solidFill>
                  <a:srgbClr val="000000"/>
                </a:solidFill>
                <a:highlight>
                  <a:schemeClr val="lt1"/>
                </a:highlight>
                <a:latin typeface="Times New Roman"/>
                <a:ea typeface="Times New Roman"/>
                <a:cs typeface="Times New Roman"/>
                <a:sym typeface="Times New Roman"/>
              </a:rPr>
              <a:t> Q1 trong </a:t>
            </a:r>
            <a:r>
              <a:rPr lang="en-US" sz="1500" b="0" i="0" u="none" strike="noStrike" cap="none" dirty="0" err="1">
                <a:solidFill>
                  <a:srgbClr val="000000"/>
                </a:solidFill>
                <a:highlight>
                  <a:schemeClr val="lt1"/>
                </a:highlight>
                <a:latin typeface="Times New Roman"/>
                <a:ea typeface="Times New Roman"/>
                <a:cs typeface="Times New Roman"/>
                <a:sym typeface="Times New Roman"/>
              </a:rPr>
              <a:t>năm</a:t>
            </a:r>
            <a:r>
              <a:rPr lang="en-US" sz="1500" b="0" i="0" u="none" strike="noStrike" cap="none" dirty="0">
                <a:solidFill>
                  <a:srgbClr val="000000"/>
                </a:solidFill>
                <a:highlight>
                  <a:schemeClr val="lt1"/>
                </a:highlight>
                <a:latin typeface="Times New Roman"/>
                <a:ea typeface="Times New Roman"/>
                <a:cs typeface="Times New Roman"/>
                <a:sym typeface="Times New Roman"/>
              </a:rPr>
              <a:t> 2025.  </a:t>
            </a:r>
            <a:endParaRPr sz="1500" b="0" i="0" u="none" strike="noStrike" cap="none" dirty="0">
              <a:solidFill>
                <a:schemeClr val="dk1"/>
              </a:solidFill>
              <a:latin typeface="Times New Roman"/>
              <a:ea typeface="Times New Roman"/>
              <a:cs typeface="Times New Roman"/>
              <a:sym typeface="Times New Roman"/>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g31ccdae391d_0_368"/>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76" name="Google Shape;276;g31ccdae391d_0_368"/>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68</a:t>
            </a:fld>
            <a:endParaRPr/>
          </a:p>
        </p:txBody>
      </p:sp>
      <p:sp>
        <p:nvSpPr>
          <p:cNvPr id="277" name="Google Shape;277;g31ccdae391d_0_368"/>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Đội bay A321 Ceo:</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dự phòng: 1</a:t>
            </a:r>
            <a:r>
              <a:rPr lang="en-US" sz="1600">
                <a:solidFill>
                  <a:schemeClr val="dk1"/>
                </a:solidFill>
                <a:latin typeface="Times New Roman"/>
                <a:ea typeface="Times New Roman"/>
                <a:cs typeface="Times New Roman"/>
                <a:sym typeface="Times New Roman"/>
              </a:rPr>
              <a:t>3</a:t>
            </a:r>
            <a:r>
              <a:rPr lang="en-US" sz="1600" b="0" i="0" u="none" strike="noStrike" cap="none">
                <a:solidFill>
                  <a:schemeClr val="dk1"/>
                </a:solidFill>
                <a:latin typeface="Times New Roman"/>
                <a:ea typeface="Times New Roman"/>
                <a:cs typeface="Times New Roman"/>
                <a:sym typeface="Times New Roman"/>
              </a:rPr>
              <a:t> (3 sở hữu, </a:t>
            </a:r>
            <a:r>
              <a:rPr lang="en-US" sz="1600">
                <a:solidFill>
                  <a:schemeClr val="dk1"/>
                </a:solidFill>
                <a:latin typeface="Times New Roman"/>
                <a:ea typeface="Times New Roman"/>
                <a:cs typeface="Times New Roman"/>
                <a:sym typeface="Times New Roman"/>
              </a:rPr>
              <a:t>10</a:t>
            </a:r>
            <a:r>
              <a:rPr lang="en-US" sz="1600" b="0" i="0" u="none" strike="noStrike" cap="none">
                <a:solidFill>
                  <a:schemeClr val="dk1"/>
                </a:solidFill>
                <a:latin typeface="Times New Roman"/>
                <a:ea typeface="Times New Roman"/>
                <a:cs typeface="Times New Roman"/>
                <a:sym typeface="Times New Roman"/>
              </a:rPr>
              <a:t> thuê ngắn hạn)</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trong kho: </a:t>
            </a:r>
            <a:r>
              <a:rPr lang="en-US" sz="1600">
                <a:solidFill>
                  <a:schemeClr val="dk1"/>
                </a:solidFill>
                <a:latin typeface="Times New Roman"/>
                <a:ea typeface="Times New Roman"/>
                <a:cs typeface="Times New Roman"/>
                <a:sym typeface="Times New Roman"/>
              </a:rPr>
              <a:t>02ea V17951, V15851</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US chờ chuyển đi: </a:t>
            </a:r>
            <a:r>
              <a:rPr lang="en-US" sz="1600">
                <a:solidFill>
                  <a:schemeClr val="dk1"/>
                </a:solidFill>
                <a:latin typeface="Times New Roman"/>
                <a:ea typeface="Times New Roman"/>
                <a:cs typeface="Times New Roman"/>
                <a:sym typeface="Times New Roman"/>
              </a:rPr>
              <a:t>NIL</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Số lượng động cơ đang sửa tại shop: </a:t>
            </a:r>
            <a:r>
              <a:rPr lang="en-US" sz="1600">
                <a:solidFill>
                  <a:schemeClr val="dk1"/>
                </a:solidFill>
                <a:latin typeface="Times New Roman"/>
                <a:ea typeface="Times New Roman"/>
                <a:cs typeface="Times New Roman"/>
                <a:sym typeface="Times New Roman"/>
              </a:rPr>
              <a:t>11</a:t>
            </a:r>
            <a:r>
              <a:rPr lang="en-US" sz="1600" b="0" i="0" u="none" strike="noStrike" cap="none">
                <a:solidFill>
                  <a:schemeClr val="dk1"/>
                </a:solidFill>
                <a:latin typeface="Times New Roman"/>
                <a:ea typeface="Times New Roman"/>
                <a:cs typeface="Times New Roman"/>
                <a:sym typeface="Times New Roman"/>
              </a:rPr>
              <a:t>ea </a:t>
            </a:r>
            <a:endParaRPr sz="1600">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600">
                <a:solidFill>
                  <a:schemeClr val="dk1"/>
                </a:solidFill>
                <a:latin typeface="Times New Roman"/>
                <a:ea typeface="Times New Roman"/>
                <a:cs typeface="Times New Roman"/>
                <a:sym typeface="Times New Roman"/>
              </a:rPr>
              <a:t>• Số lượng động cơ đang ship về: 01ea </a:t>
            </a:r>
            <a:endParaRPr sz="16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Vướng mắc:</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Danh mục missing part list của động cơ sửa chữa về</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a:t>
            </a:r>
            <a:r>
              <a:rPr lang="en-US" sz="1600" b="1" i="0" u="none" strike="noStrike" cap="none">
                <a:solidFill>
                  <a:schemeClr val="dk1"/>
                </a:solidFill>
                <a:latin typeface="Times New Roman"/>
                <a:ea typeface="Times New Roman"/>
                <a:cs typeface="Times New Roman"/>
                <a:sym typeface="Times New Roman"/>
              </a:rPr>
              <a:t> </a:t>
            </a:r>
            <a:r>
              <a:rPr lang="en-US" sz="1600" b="1" i="0" u="none" strike="noStrike" cap="none">
                <a:solidFill>
                  <a:srgbClr val="FF0000"/>
                </a:solidFill>
                <a:latin typeface="Times New Roman"/>
                <a:ea typeface="Times New Roman"/>
                <a:cs typeface="Times New Roman"/>
                <a:sym typeface="Times New Roman"/>
              </a:rPr>
              <a:t>Giải pháp:</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Thúc đẩy việc sửa chữa động cơ tại shop</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0" i="0" u="none" strike="noStrike" cap="none">
                <a:solidFill>
                  <a:schemeClr val="dk1"/>
                </a:solidFill>
                <a:latin typeface="Times New Roman"/>
                <a:ea typeface="Times New Roman"/>
                <a:cs typeface="Times New Roman"/>
                <a:sym typeface="Times New Roman"/>
              </a:rPr>
              <a:t>+ Làm việc với Ban KT về KH động cơ về, tháo trả.</a:t>
            </a: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g31ccdae391d_0_375"/>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Động cơ</a:t>
            </a:r>
            <a:endParaRPr sz="2800">
              <a:solidFill>
                <a:srgbClr val="FFC000"/>
              </a:solidFill>
              <a:latin typeface="Times New Roman"/>
              <a:ea typeface="Times New Roman"/>
              <a:cs typeface="Times New Roman"/>
              <a:sym typeface="Times New Roman"/>
            </a:endParaRPr>
          </a:p>
        </p:txBody>
      </p:sp>
      <p:sp>
        <p:nvSpPr>
          <p:cNvPr id="284" name="Google Shape;284;g31ccdae391d_0_375"/>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69</a:t>
            </a:fld>
            <a:endParaRPr/>
          </a:p>
        </p:txBody>
      </p:sp>
      <p:sp>
        <p:nvSpPr>
          <p:cNvPr id="285" name="Google Shape;285;g31ccdae391d_0_375"/>
          <p:cNvSpPr/>
          <p:nvPr/>
        </p:nvSpPr>
        <p:spPr>
          <a:xfrm>
            <a:off x="760584" y="268052"/>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rgbClr val="FF0000"/>
                </a:solidFill>
                <a:latin typeface="Times New Roman"/>
                <a:ea typeface="Times New Roman"/>
                <a:cs typeface="Times New Roman"/>
                <a:sym typeface="Times New Roman"/>
              </a:rPr>
              <a:t>- Tình trạng trả động cơ thuê 2024</a:t>
            </a: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chemeClr val="dk1"/>
              </a:buClr>
              <a:buSzPts val="1600"/>
              <a:buFont typeface="Arial"/>
              <a:buNone/>
            </a:pPr>
            <a:endParaRPr sz="16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Times New Roman"/>
                <a:ea typeface="Times New Roman"/>
                <a:cs typeface="Times New Roman"/>
                <a:sym typeface="Times New Roman"/>
              </a:rPr>
              <a:t>  </a:t>
            </a:r>
            <a:endParaRPr sz="18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pic>
        <p:nvPicPr>
          <p:cNvPr id="286" name="Google Shape;286;g31ccdae391d_0_375"/>
          <p:cNvPicPr preferRelativeResize="0"/>
          <p:nvPr/>
        </p:nvPicPr>
        <p:blipFill>
          <a:blip r:embed="rId3">
            <a:alphaModFix/>
          </a:blip>
          <a:stretch>
            <a:fillRect/>
          </a:stretch>
        </p:blipFill>
        <p:spPr>
          <a:xfrm>
            <a:off x="760575" y="1169200"/>
            <a:ext cx="10819201" cy="2993400"/>
          </a:xfrm>
          <a:prstGeom prst="rect">
            <a:avLst/>
          </a:prstGeom>
          <a:noFill/>
          <a:ln>
            <a:noFill/>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g31ccdae391d_0_383"/>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70</a:t>
            </a:fld>
            <a:endParaRPr/>
          </a:p>
        </p:txBody>
      </p:sp>
      <p:sp>
        <p:nvSpPr>
          <p:cNvPr id="293" name="Google Shape;293;g31ccdae391d_0_383"/>
          <p:cNvSpPr/>
          <p:nvPr/>
        </p:nvSpPr>
        <p:spPr>
          <a:xfrm>
            <a:off x="576275" y="228600"/>
            <a:ext cx="11051100" cy="6059400"/>
          </a:xfrm>
          <a:prstGeom prst="rect">
            <a:avLst/>
          </a:prstGeom>
          <a:noFill/>
          <a:ln>
            <a:noFill/>
          </a:ln>
        </p:spPr>
        <p:txBody>
          <a:bodyPr spcFirstLastPara="1" wrap="square" lIns="91425" tIns="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rgbClr val="FF0000"/>
                </a:solidFill>
                <a:latin typeface="Times New Roman"/>
                <a:ea typeface="Times New Roman"/>
                <a:cs typeface="Times New Roman"/>
                <a:sym typeface="Times New Roman"/>
              </a:rPr>
              <a:t>- Đội bay A321 Neo:</a:t>
            </a: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05ea (2 sở hữu (đang SLB), 2 dài hạn và 01 thuê ngắn hạn thuê của PW).</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trong kho: NIL.</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động cơ sửa chữa: có </a:t>
            </a:r>
            <a:r>
              <a:rPr lang="en-US" sz="1500">
                <a:solidFill>
                  <a:schemeClr val="dk1"/>
                </a:solidFill>
                <a:latin typeface="Times New Roman"/>
                <a:ea typeface="Times New Roman"/>
                <a:cs typeface="Times New Roman"/>
                <a:sym typeface="Times New Roman"/>
              </a:rPr>
              <a:t>8</a:t>
            </a:r>
            <a:r>
              <a:rPr lang="en-US" sz="1500" b="0" i="0" u="none" strike="noStrike" cap="none">
                <a:solidFill>
                  <a:schemeClr val="dk1"/>
                </a:solidFill>
                <a:latin typeface="Times New Roman"/>
                <a:ea typeface="Times New Roman"/>
                <a:cs typeface="Times New Roman"/>
                <a:sym typeface="Times New Roman"/>
              </a:rPr>
              <a:t> động cơ đang sửa (0</a:t>
            </a:r>
            <a:r>
              <a:rPr lang="en-US" sz="1500">
                <a:solidFill>
                  <a:schemeClr val="dk1"/>
                </a:solidFill>
                <a:latin typeface="Times New Roman"/>
                <a:ea typeface="Times New Roman"/>
                <a:cs typeface="Times New Roman"/>
                <a:sym typeface="Times New Roman"/>
              </a:rPr>
              <a:t>6</a:t>
            </a:r>
            <a:r>
              <a:rPr lang="en-US" sz="1500" b="0" i="0" u="none" strike="noStrike" cap="none">
                <a:solidFill>
                  <a:schemeClr val="dk1"/>
                </a:solidFill>
                <a:latin typeface="Times New Roman"/>
                <a:ea typeface="Times New Roman"/>
                <a:cs typeface="Times New Roman"/>
                <a:sym typeface="Times New Roman"/>
              </a:rPr>
              <a:t> tại ESA và 0</a:t>
            </a:r>
            <a:r>
              <a:rPr lang="en-US" sz="1500">
                <a:solidFill>
                  <a:schemeClr val="dk1"/>
                </a:solidFill>
                <a:latin typeface="Times New Roman"/>
                <a:ea typeface="Times New Roman"/>
                <a:cs typeface="Times New Roman"/>
                <a:sym typeface="Times New Roman"/>
              </a:rPr>
              <a:t>2</a:t>
            </a:r>
            <a:r>
              <a:rPr lang="en-US" sz="1500" b="0" i="0" u="none" strike="noStrike" cap="none">
                <a:solidFill>
                  <a:schemeClr val="dk1"/>
                </a:solidFill>
                <a:latin typeface="Times New Roman"/>
                <a:ea typeface="Times New Roman"/>
                <a:cs typeface="Times New Roman"/>
                <a:sym typeface="Times New Roman"/>
              </a:rPr>
              <a:t> tại IHI)</a:t>
            </a:r>
            <a:endParaRPr sz="1500" b="0" i="0" u="none" strike="noStrike" cap="none">
              <a:solidFill>
                <a:schemeClr val="dk1"/>
              </a:solidFill>
              <a:latin typeface="Times New Roman"/>
              <a:ea typeface="Times New Roman"/>
              <a:cs typeface="Times New Roman"/>
              <a:sym typeface="Times New Roman"/>
            </a:endParaRPr>
          </a:p>
          <a:p>
            <a:pPr marL="0" lvl="0" indent="0" algn="just" rtl="0">
              <a:lnSpc>
                <a:spcPct val="115000"/>
              </a:lnSpc>
              <a:spcBef>
                <a:spcPts val="0"/>
              </a:spcBef>
              <a:spcAft>
                <a:spcPts val="0"/>
              </a:spcAft>
              <a:buClr>
                <a:schemeClr val="dk1"/>
              </a:buClr>
              <a:buSzPts val="1100"/>
              <a:buFont typeface="Arial"/>
              <a:buNone/>
            </a:pPr>
            <a:r>
              <a:rPr lang="en-US" sz="1500">
                <a:solidFill>
                  <a:schemeClr val="dk1"/>
                </a:solidFill>
                <a:latin typeface="Times New Roman"/>
                <a:ea typeface="Times New Roman"/>
                <a:cs typeface="Times New Roman"/>
                <a:sym typeface="Times New Roman"/>
              </a:rPr>
              <a:t>• Dự kiến thuê 2 Eng mới trong Q2/2025  (Willis và ELFC)</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b="0" i="0" u="none" strike="noStrike" cap="none">
                <a:solidFill>
                  <a:schemeClr val="dk1"/>
                </a:solidFill>
                <a:latin typeface="Times New Roman"/>
                <a:ea typeface="Times New Roman"/>
                <a:cs typeface="Times New Roman"/>
                <a:sym typeface="Times New Roman"/>
              </a:rPr>
              <a:t>Trong đó: </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P771075: Dự kiến có ở VAECO HAN 08/3</a:t>
            </a:r>
            <a:endParaRPr sz="1500">
              <a:solidFill>
                <a:schemeClr val="dk1"/>
              </a:solidFill>
              <a:latin typeface="Times New Roman"/>
              <a:ea typeface="Times New Roman"/>
              <a:cs typeface="Times New Roman"/>
              <a:sym typeface="Times New Roman"/>
            </a:endParaRPr>
          </a:p>
          <a:p>
            <a:pPr marL="0" marR="0" lvl="0" indent="0" algn="l" rtl="0">
              <a:lnSpc>
                <a:spcPct val="115000"/>
              </a:lnSpc>
              <a:spcBef>
                <a:spcPts val="0"/>
              </a:spcBef>
              <a:spcAft>
                <a:spcPts val="0"/>
              </a:spcAft>
              <a:buClr>
                <a:srgbClr val="000000"/>
              </a:buClr>
              <a:buSzPts val="1500"/>
              <a:buFont typeface="Arial"/>
              <a:buNone/>
            </a:pPr>
            <a:r>
              <a:rPr lang="en-US" sz="1500">
                <a:solidFill>
                  <a:schemeClr val="dk1"/>
                </a:solidFill>
                <a:latin typeface="Times New Roman"/>
                <a:ea typeface="Times New Roman"/>
                <a:cs typeface="Times New Roman"/>
                <a:sym typeface="Times New Roman"/>
              </a:rPr>
              <a:t>+ P771041: Vận chuyển 02/3. Induct dự kiến 19/3 tại MTU.</a:t>
            </a:r>
            <a:endParaRPr sz="1500" b="0" i="0" u="none" strike="noStrike" cap="none">
              <a:solidFill>
                <a:schemeClr val="dk1"/>
              </a:solidFill>
              <a:highlight>
                <a:schemeClr val="lt1"/>
              </a:highlight>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500"/>
              <a:buFont typeface="Arial"/>
              <a:buNone/>
            </a:pPr>
            <a:r>
              <a:rPr lang="en-US" sz="1500" b="0" i="0" u="none" strike="noStrike" cap="none">
                <a:solidFill>
                  <a:srgbClr val="FF0000"/>
                </a:solidFill>
                <a:latin typeface="Times New Roman"/>
                <a:ea typeface="Times New Roman"/>
                <a:cs typeface="Times New Roman"/>
                <a:sym typeface="Times New Roman"/>
              </a:rPr>
              <a:t>Vướng mắc:</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TAT tại shop kéo dài, hiện do shop quá tải các động cơ tháo cung phải đợi slot lên đến 200 ngày.</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Các động cơ A321 NEO tháo đi sửa trước đây không có đc lắp lên, khi tháo trả đc thuê thiếu nhiều LRUs đang đi cùng đc sửa.</a:t>
            </a:r>
            <a:br>
              <a:rPr lang="en-US" sz="1500" b="0" i="0" u="none" strike="noStrike" cap="none">
                <a:solidFill>
                  <a:schemeClr val="dk1"/>
                </a:solidFill>
                <a:latin typeface="Times New Roman"/>
                <a:ea typeface="Times New Roman"/>
                <a:cs typeface="Times New Roman"/>
                <a:sym typeface="Times New Roman"/>
              </a:rPr>
            </a:br>
            <a:r>
              <a:rPr lang="en-US" sz="1500" b="0" i="0" u="none" strike="noStrike" cap="none">
                <a:solidFill>
                  <a:schemeClr val="dk1"/>
                </a:solidFill>
                <a:latin typeface="Times New Roman"/>
                <a:ea typeface="Times New Roman"/>
                <a:cs typeface="Times New Roman"/>
                <a:sym typeface="Times New Roman"/>
              </a:rPr>
              <a:t>+ Khoảng thời gian cao điểm nghỉ lễ, thiếu hụt phụ tùng vật liệu, sự gia tăng các lỗi Rejection trong kiểm tra sau thử nghiệm.</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Thúc đẩy động cơ sửa chữa tại shop.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Tổ chức họp và tìm giải pháp với Ban KT, VAECO với danh mục MPL đc tháo khi gửi đi sửa.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none" strike="noStrike" cap="none">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a:solidFill>
                <a:srgbClr val="000000"/>
              </a:solidFill>
              <a:latin typeface="Times New Roman"/>
              <a:ea typeface="Times New Roman"/>
              <a:cs typeface="Times New Roman"/>
              <a:sym typeface="Times New Roman"/>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g31ccdae391d_0_389"/>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71</a:t>
            </a:fld>
            <a:endParaRPr/>
          </a:p>
        </p:txBody>
      </p:sp>
      <p:sp>
        <p:nvSpPr>
          <p:cNvPr id="300" name="Google Shape;300;g31ccdae391d_0_389"/>
          <p:cNvSpPr/>
          <p:nvPr/>
        </p:nvSpPr>
        <p:spPr>
          <a:xfrm>
            <a:off x="652475" y="-304800"/>
            <a:ext cx="11051100" cy="7363800"/>
          </a:xfrm>
          <a:prstGeom prst="rect">
            <a:avLst/>
          </a:prstGeom>
          <a:noFill/>
          <a:ln>
            <a:noFill/>
          </a:ln>
        </p:spPr>
        <p:txBody>
          <a:bodyPr spcFirstLastPara="1" wrap="square" lIns="91425" tIns="45700" rIns="91425" bIns="45700" anchor="t" anchorCtr="0">
            <a:noAutofit/>
          </a:bodyPr>
          <a:lstStyle/>
          <a:p>
            <a:pPr marL="0" marR="0" lvl="0" indent="0" algn="just" rtl="0">
              <a:lnSpc>
                <a:spcPct val="100000"/>
              </a:lnSpc>
              <a:spcBef>
                <a:spcPts val="0"/>
              </a:spcBef>
              <a:spcAft>
                <a:spcPts val="0"/>
              </a:spcAft>
              <a:buClr>
                <a:schemeClr val="dk1"/>
              </a:buClr>
              <a:buSzPts val="18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rgbClr val="FF0000"/>
                </a:solidFill>
                <a:latin typeface="Times New Roman"/>
                <a:ea typeface="Times New Roman"/>
                <a:cs typeface="Times New Roman"/>
                <a:sym typeface="Times New Roman"/>
              </a:rPr>
              <a:t>-</a:t>
            </a: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Đội bay ATR:</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Số lượng dự phòng: 06:  03 ENG sở hữu, 03 ENG thuê ngắn hạn: (ED0321) (ED0036) (ED0715). </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ED0238 đang sửa tại shop PWC tại SING.</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ED0239 đang sửa tại SA.</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Vướng mắc/ Khó khăn:</a:t>
            </a:r>
            <a:endParaRPr sz="1500" b="0" i="0" u="none" strike="noStrike" cap="none">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a:solidFill>
                  <a:schemeClr val="dk1"/>
                </a:solidFill>
                <a:latin typeface="Times New Roman"/>
                <a:ea typeface="Times New Roman"/>
                <a:cs typeface="Times New Roman"/>
                <a:sym typeface="Times New Roman"/>
              </a:rPr>
              <a:t> Các shop vẫn đang gặp trình trạng thiếu part, dẫn đến TAT bị kéo dài tại cả 02 shop</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a:t>
            </a:r>
            <a:r>
              <a:rPr lang="en-US" sz="1500" b="0" i="0" u="none" strike="noStrike" cap="none">
                <a:solidFill>
                  <a:srgbClr val="FF0000"/>
                </a:solidFill>
                <a:latin typeface="Times New Roman"/>
                <a:ea typeface="Times New Roman"/>
                <a:cs typeface="Times New Roman"/>
                <a:sym typeface="Times New Roman"/>
              </a:rPr>
              <a:t>Giải pháp:</a:t>
            </a:r>
            <a:endParaRPr sz="15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0" i="0" u="none" strike="noStrike" cap="none">
                <a:solidFill>
                  <a:schemeClr val="dk1"/>
                </a:solidFill>
                <a:latin typeface="Times New Roman"/>
                <a:ea typeface="Times New Roman"/>
                <a:cs typeface="Times New Roman"/>
                <a:sym typeface="Times New Roman"/>
              </a:rPr>
              <a:t>+ Tiếp tục theo sát </a:t>
            </a:r>
            <a:r>
              <a:rPr lang="en-US" sz="1500">
                <a:solidFill>
                  <a:schemeClr val="dk1"/>
                </a:solidFill>
                <a:latin typeface="Times New Roman"/>
                <a:ea typeface="Times New Roman"/>
                <a:cs typeface="Times New Roman"/>
                <a:sym typeface="Times New Roman"/>
              </a:rPr>
              <a:t>các động cơ đang sửa chữa tại PWC và StandardAero.</a:t>
            </a:r>
            <a:endParaRPr sz="150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i="0" u="sng" strike="noStrike" cap="none">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1" i="0" u="sng" strike="noStrike" cap="none">
              <a:solidFill>
                <a:srgbClr val="000000"/>
              </a:solidFill>
              <a:latin typeface="Times New Roman"/>
              <a:ea typeface="Times New Roman"/>
              <a:cs typeface="Times New Roman"/>
              <a:sym typeface="Times New Roman"/>
            </a:endParaRPr>
          </a:p>
        </p:txBody>
      </p:sp>
      <p:pic>
        <p:nvPicPr>
          <p:cNvPr id="301" name="Google Shape;301;g31ccdae391d_0_389"/>
          <p:cNvPicPr preferRelativeResize="0"/>
          <p:nvPr/>
        </p:nvPicPr>
        <p:blipFill>
          <a:blip r:embed="rId3">
            <a:alphaModFix/>
          </a:blip>
          <a:stretch>
            <a:fillRect/>
          </a:stretch>
        </p:blipFill>
        <p:spPr>
          <a:xfrm>
            <a:off x="0" y="2338750"/>
            <a:ext cx="11803075" cy="3112150"/>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g31ccdae391d_0_396"/>
          <p:cNvSpPr txBox="1">
            <a:spLocks noGrp="1"/>
          </p:cNvSpPr>
          <p:nvPr>
            <p:ph type="title"/>
          </p:nvPr>
        </p:nvSpPr>
        <p:spPr>
          <a:xfrm>
            <a:off x="913579" y="-56418"/>
            <a:ext cx="10666200" cy="7161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Kế hoạch động cơ </a:t>
            </a:r>
            <a:endParaRPr sz="2800">
              <a:solidFill>
                <a:srgbClr val="FFC000"/>
              </a:solidFill>
              <a:latin typeface="Times New Roman"/>
              <a:ea typeface="Times New Roman"/>
              <a:cs typeface="Times New Roman"/>
              <a:sym typeface="Times New Roman"/>
            </a:endParaRPr>
          </a:p>
        </p:txBody>
      </p:sp>
      <p:sp>
        <p:nvSpPr>
          <p:cNvPr id="308" name="Google Shape;308;g31ccdae391d_0_396"/>
          <p:cNvSpPr txBox="1">
            <a:spLocks noGrp="1"/>
          </p:cNvSpPr>
          <p:nvPr>
            <p:ph type="sldNum" idx="12"/>
          </p:nvPr>
        </p:nvSpPr>
        <p:spPr>
          <a:xfrm>
            <a:off x="8610600" y="5809416"/>
            <a:ext cx="27432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72</a:t>
            </a:fld>
            <a:endParaRPr/>
          </a:p>
        </p:txBody>
      </p:sp>
      <p:sp>
        <p:nvSpPr>
          <p:cNvPr id="309" name="Google Shape;309;g31ccdae391d_0_396"/>
          <p:cNvSpPr/>
          <p:nvPr/>
        </p:nvSpPr>
        <p:spPr>
          <a:xfrm>
            <a:off x="609900" y="268038"/>
            <a:ext cx="10972200" cy="6626700"/>
          </a:xfrm>
          <a:prstGeom prst="rect">
            <a:avLst/>
          </a:prstGeom>
          <a:noFill/>
          <a:ln>
            <a:noFill/>
          </a:ln>
        </p:spPr>
        <p:txBody>
          <a:bodyPr spcFirstLastPara="1" wrap="square" lIns="91425" tIns="45700" rIns="91425" bIns="45700" anchor="t" anchorCtr="0">
            <a:noAutofit/>
          </a:bodyPr>
          <a:lstStyle/>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A350: </a:t>
            </a:r>
            <a:r>
              <a:rPr lang="en-US" sz="1600" dirty="0">
                <a:solidFill>
                  <a:schemeClr val="dk1"/>
                </a:solidFill>
                <a:latin typeface="Times New Roman"/>
                <a:ea typeface="Times New Roman"/>
                <a:cs typeface="Times New Roman"/>
                <a:sym typeface="Times New Roman"/>
              </a:rPr>
              <a:t>NIL stock.</a:t>
            </a:r>
            <a:endParaRPr sz="1600" dirty="0">
              <a:solidFill>
                <a:schemeClr val="dk1"/>
              </a:solidFill>
              <a:latin typeface="Times New Roman"/>
              <a:ea typeface="Times New Roman"/>
              <a:cs typeface="Times New Roman"/>
              <a:sym typeface="Times New Roman"/>
            </a:endParaRPr>
          </a:p>
          <a:p>
            <a:pPr marL="914400" marR="0" lvl="0" indent="0" algn="just"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lvl="0" indent="-330200" algn="just">
              <a:lnSpc>
                <a:spcPct val="115000"/>
              </a:lnSpc>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B787</a:t>
            </a:r>
            <a:r>
              <a:rPr lang="en-US" sz="1600" b="1"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01ea in stock (958537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cho</a:t>
            </a:r>
            <a:r>
              <a:rPr lang="en-US" sz="1600" dirty="0">
                <a:solidFill>
                  <a:schemeClr val="dk1"/>
                </a:solidFill>
                <a:latin typeface="Times New Roman"/>
                <a:ea typeface="Times New Roman"/>
                <a:cs typeface="Times New Roman"/>
                <a:sym typeface="Times New Roman"/>
              </a:rPr>
              <a:t> Vaeco SGN 01/03).</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Động</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956556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KLM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xong</a:t>
            </a:r>
            <a:r>
              <a:rPr lang="en-US" sz="1600" dirty="0">
                <a:solidFill>
                  <a:schemeClr val="dk1"/>
                </a:solidFill>
                <a:latin typeface="Times New Roman"/>
                <a:ea typeface="Times New Roman"/>
                <a:cs typeface="Times New Roman"/>
                <a:sym typeface="Times New Roman"/>
              </a:rPr>
              <a:t> 14Mar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SGN </a:t>
            </a:r>
            <a:r>
              <a:rPr lang="en-US" sz="1600" dirty="0" err="1">
                <a:solidFill>
                  <a:schemeClr val="dk1"/>
                </a:solidFill>
                <a:latin typeface="Times New Roman"/>
                <a:ea typeface="Times New Roman"/>
                <a:cs typeface="Times New Roman"/>
                <a:sym typeface="Times New Roman"/>
              </a:rPr>
              <a:t>cuối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tháng</a:t>
            </a:r>
            <a:r>
              <a:rPr lang="en-US" sz="1600" dirty="0">
                <a:solidFill>
                  <a:schemeClr val="dk1"/>
                </a:solidFill>
                <a:latin typeface="Times New Roman"/>
                <a:ea typeface="Times New Roman"/>
                <a:cs typeface="Times New Roman"/>
                <a:sym typeface="Times New Roman"/>
              </a:rPr>
              <a:t> 3/2025.</a:t>
            </a:r>
            <a:endParaRPr sz="1600"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CEO </a:t>
            </a:r>
            <a:r>
              <a:rPr lang="en-US" sz="1600" b="0" i="0" u="none" strike="noStrike" cap="none" dirty="0">
                <a:solidFill>
                  <a:schemeClr val="dk1"/>
                </a:solidFill>
                <a:latin typeface="Times New Roman"/>
                <a:ea typeface="Times New Roman"/>
                <a:cs typeface="Times New Roman"/>
                <a:sym typeface="Times New Roman"/>
              </a:rPr>
              <a:t>: </a:t>
            </a:r>
            <a:endParaRPr sz="1600" b="0" i="0" u="none" strike="noStrike" cap="none"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Động</a:t>
            </a:r>
            <a:r>
              <a:rPr lang="en-US" sz="1600" b="0" i="0" u="none" strike="noStrike" cap="none"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cơ</a:t>
            </a:r>
            <a:r>
              <a:rPr lang="en-US" sz="1600" dirty="0">
                <a:solidFill>
                  <a:schemeClr val="dk1"/>
                </a:solidFill>
                <a:latin typeface="Times New Roman"/>
                <a:ea typeface="Times New Roman"/>
                <a:cs typeface="Times New Roman"/>
                <a:sym typeface="Times New Roman"/>
              </a:rPr>
              <a:t> </a:t>
            </a:r>
            <a:r>
              <a:rPr lang="en-US" sz="1600" b="0" i="0" u="none" strike="noStrike" cap="none" dirty="0" err="1">
                <a:solidFill>
                  <a:schemeClr val="dk1"/>
                </a:solidFill>
                <a:latin typeface="Times New Roman"/>
                <a:ea typeface="Times New Roman"/>
                <a:cs typeface="Times New Roman"/>
                <a:sym typeface="Times New Roman"/>
              </a:rPr>
              <a:t>về</a:t>
            </a:r>
            <a:r>
              <a:rPr lang="en-US" sz="1600" b="0" i="0" u="none" strike="noStrike" cap="none" dirty="0">
                <a:solidFill>
                  <a:schemeClr val="dk1"/>
                </a:solidFill>
                <a:latin typeface="Times New Roman"/>
                <a:ea typeface="Times New Roman"/>
                <a:cs typeface="Times New Roman"/>
                <a:sym typeface="Times New Roman"/>
              </a:rPr>
              <a:t> trong </a:t>
            </a:r>
            <a:r>
              <a:rPr lang="en-US" sz="1600" b="0" i="0" u="none" strike="noStrike" cap="none" dirty="0" err="1">
                <a:solidFill>
                  <a:schemeClr val="dk1"/>
                </a:solidFill>
                <a:latin typeface="Times New Roman"/>
                <a:ea typeface="Times New Roman"/>
                <a:cs typeface="Times New Roman"/>
                <a:sym typeface="Times New Roman"/>
              </a:rPr>
              <a:t>tháng</a:t>
            </a:r>
            <a:r>
              <a:rPr lang="en-US" sz="1600" b="0" i="0" u="none" strike="noStrike" cap="none" dirty="0">
                <a:solidFill>
                  <a:schemeClr val="dk1"/>
                </a:solidFill>
                <a:latin typeface="Times New Roman"/>
                <a:ea typeface="Times New Roman"/>
                <a:cs typeface="Times New Roman"/>
                <a:sym typeface="Times New Roman"/>
              </a:rPr>
              <a:t> </a:t>
            </a:r>
            <a:r>
              <a:rPr lang="en-US" sz="1600" dirty="0">
                <a:solidFill>
                  <a:schemeClr val="dk1"/>
                </a:solidFill>
                <a:latin typeface="Times New Roman"/>
                <a:ea typeface="Times New Roman"/>
                <a:cs typeface="Times New Roman"/>
                <a:sym typeface="Times New Roman"/>
              </a:rPr>
              <a:t>3: V16037 (03/03), V12505 (26/03).</a:t>
            </a: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330200" algn="l"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A321 NEO</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r>
              <a:rPr lang="en-US" sz="1500" dirty="0">
                <a:solidFill>
                  <a:schemeClr val="dk1"/>
                </a:solidFill>
                <a:latin typeface="Times New Roman"/>
                <a:ea typeface="Times New Roman"/>
                <a:cs typeface="Times New Roman"/>
                <a:sym typeface="Times New Roman"/>
              </a:rPr>
              <a:t> + P771075: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08/3 </a:t>
            </a:r>
            <a:r>
              <a:rPr lang="en-US" sz="1600" dirty="0" err="1">
                <a:solidFill>
                  <a:schemeClr val="dk1"/>
                </a:solidFill>
                <a:latin typeface="Times New Roman"/>
                <a:ea typeface="Times New Roman"/>
                <a:cs typeface="Times New Roman"/>
                <a:sym typeface="Times New Roman"/>
              </a:rPr>
              <a:t>giao</a:t>
            </a:r>
            <a:r>
              <a:rPr lang="en-US" sz="1600" dirty="0">
                <a:solidFill>
                  <a:schemeClr val="dk1"/>
                </a:solidFill>
                <a:latin typeface="Times New Roman"/>
                <a:ea typeface="Times New Roman"/>
                <a:cs typeface="Times New Roman"/>
                <a:sym typeface="Times New Roman"/>
              </a:rPr>
              <a:t> VAECO HAN.</a:t>
            </a:r>
            <a:endParaRPr sz="1600" dirty="0">
              <a:solidFill>
                <a:schemeClr val="dk1"/>
              </a:solidFill>
              <a:latin typeface="Times New Roman"/>
              <a:ea typeface="Times New Roman"/>
              <a:cs typeface="Times New Roman"/>
              <a:sym typeface="Times New Roman"/>
            </a:endParaRPr>
          </a:p>
          <a:p>
            <a:pPr marL="457200" lvl="0" indent="0" algn="l" rtl="0">
              <a:lnSpc>
                <a:spcPct val="115000"/>
              </a:lnSpc>
              <a:spcBef>
                <a:spcPts val="0"/>
              </a:spcBef>
              <a:spcAft>
                <a:spcPts val="0"/>
              </a:spcAft>
              <a:buNone/>
            </a:pPr>
            <a:endParaRPr sz="1600" dirty="0">
              <a:solidFill>
                <a:schemeClr val="dk1"/>
              </a:solidFill>
              <a:latin typeface="Times New Roman"/>
              <a:ea typeface="Times New Roman"/>
              <a:cs typeface="Times New Roman"/>
              <a:sym typeface="Times New Roman"/>
            </a:endParaRPr>
          </a:p>
          <a:p>
            <a:pPr marL="457200" marR="0" lvl="0" indent="-330200" algn="just" rtl="0">
              <a:lnSpc>
                <a:spcPct val="115000"/>
              </a:lnSpc>
              <a:spcBef>
                <a:spcPts val="0"/>
              </a:spcBef>
              <a:spcAft>
                <a:spcPts val="0"/>
              </a:spcAft>
              <a:buClr>
                <a:schemeClr val="dk1"/>
              </a:buClr>
              <a:buSzPts val="1600"/>
              <a:buFont typeface="Times New Roman"/>
              <a:buChar char="-"/>
            </a:pPr>
            <a:r>
              <a:rPr lang="en-US" sz="1600" b="1" i="0" u="none" strike="noStrike" cap="none" dirty="0">
                <a:solidFill>
                  <a:schemeClr val="dk1"/>
                </a:solidFill>
                <a:latin typeface="Times New Roman"/>
                <a:ea typeface="Times New Roman"/>
                <a:cs typeface="Times New Roman"/>
                <a:sym typeface="Times New Roman"/>
              </a:rPr>
              <a:t>ATR:</a:t>
            </a:r>
            <a:r>
              <a:rPr lang="en-US" sz="1600" b="0" i="0" u="none" strike="noStrike" cap="none" dirty="0">
                <a:solidFill>
                  <a:schemeClr val="dk1"/>
                </a:solidFill>
                <a:latin typeface="Times New Roman"/>
                <a:ea typeface="Times New Roman"/>
                <a:cs typeface="Times New Roman"/>
                <a:sym typeface="Times New Roman"/>
              </a:rPr>
              <a:t> 01 stock (ED0192).</a:t>
            </a:r>
            <a:endParaRPr sz="1600" b="0" i="0" u="none" strike="noStrike" cap="none"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b="0" i="0" u="none" strike="noStrike" cap="none" dirty="0">
                <a:solidFill>
                  <a:schemeClr val="dk1"/>
                </a:solidFill>
                <a:latin typeface="Times New Roman"/>
                <a:ea typeface="Times New Roman"/>
                <a:cs typeface="Times New Roman"/>
                <a:sym typeface="Times New Roman"/>
              </a:rPr>
              <a:t>+</a:t>
            </a:r>
            <a:r>
              <a:rPr lang="en-US" sz="1600" dirty="0">
                <a:solidFill>
                  <a:schemeClr val="dk1"/>
                </a:solidFill>
                <a:latin typeface="Times New Roman"/>
                <a:ea typeface="Times New Roman"/>
                <a:cs typeface="Times New Roman"/>
                <a:sym typeface="Times New Roman"/>
              </a:rPr>
              <a:t>ED0239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StandardAero</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 release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09/04/2025</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r>
              <a:rPr lang="en-US" sz="1600" dirty="0">
                <a:solidFill>
                  <a:schemeClr val="dk1"/>
                </a:solidFill>
                <a:latin typeface="Times New Roman"/>
                <a:ea typeface="Times New Roman"/>
                <a:cs typeface="Times New Roman"/>
                <a:sym typeface="Times New Roman"/>
              </a:rPr>
              <a:t>+ED0238 </a:t>
            </a:r>
            <a:r>
              <a:rPr lang="en-US" sz="1600" dirty="0" err="1">
                <a:solidFill>
                  <a:schemeClr val="dk1"/>
                </a:solidFill>
                <a:latin typeface="Times New Roman"/>
                <a:ea typeface="Times New Roman"/>
                <a:cs typeface="Times New Roman"/>
                <a:sym typeface="Times New Roman"/>
              </a:rPr>
              <a:t>sửa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chữa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tại</a:t>
            </a:r>
            <a:r>
              <a:rPr lang="en-US" sz="1600" dirty="0">
                <a:solidFill>
                  <a:schemeClr val="dk1"/>
                </a:solidFill>
                <a:latin typeface="Times New Roman"/>
                <a:ea typeface="Times New Roman"/>
                <a:cs typeface="Times New Roman"/>
                <a:sym typeface="Times New Roman"/>
              </a:rPr>
              <a:t> PWC: induct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24/01/2025 </a:t>
            </a:r>
            <a:r>
              <a:rPr lang="en-US" sz="1600" dirty="0" err="1">
                <a:solidFill>
                  <a:schemeClr val="dk1"/>
                </a:solidFill>
                <a:latin typeface="Times New Roman"/>
                <a:ea typeface="Times New Roman"/>
                <a:cs typeface="Times New Roman"/>
                <a:sym typeface="Times New Roman"/>
              </a:rPr>
              <a:t>và</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chưa</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có</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ngày</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về</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dự</a:t>
            </a:r>
            <a:r>
              <a:rPr lang="en-US" sz="1600" dirty="0">
                <a:solidFill>
                  <a:schemeClr val="dk1"/>
                </a:solidFill>
                <a:latin typeface="Times New Roman"/>
                <a:ea typeface="Times New Roman"/>
                <a:cs typeface="Times New Roman"/>
                <a:sym typeface="Times New Roman"/>
              </a:rPr>
              <a:t> </a:t>
            </a:r>
            <a:r>
              <a:rPr lang="en-US" sz="1600" dirty="0" err="1">
                <a:solidFill>
                  <a:schemeClr val="dk1"/>
                </a:solidFill>
                <a:latin typeface="Times New Roman"/>
                <a:ea typeface="Times New Roman"/>
                <a:cs typeface="Times New Roman"/>
                <a:sym typeface="Times New Roman"/>
              </a:rPr>
              <a:t>kiến</a:t>
            </a:r>
            <a:r>
              <a:rPr lang="en-US" sz="1600" dirty="0">
                <a:solidFill>
                  <a:schemeClr val="dk1"/>
                </a:solidFill>
                <a:latin typeface="Times New Roman"/>
                <a:ea typeface="Times New Roman"/>
                <a:cs typeface="Times New Roman"/>
                <a:sym typeface="Times New Roman"/>
              </a:rPr>
              <a:t>.</a:t>
            </a:r>
            <a:endParaRPr sz="1600" dirty="0">
              <a:solidFill>
                <a:schemeClr val="dk1"/>
              </a:solidFill>
              <a:latin typeface="Times New Roman"/>
              <a:ea typeface="Times New Roman"/>
              <a:cs typeface="Times New Roman"/>
              <a:sym typeface="Times New Roman"/>
            </a:endParaRPr>
          </a:p>
          <a:p>
            <a:pPr marL="0" marR="0" lvl="0" indent="457200" algn="just" rtl="0">
              <a:lnSpc>
                <a:spcPct val="115000"/>
              </a:lnSpc>
              <a:spcBef>
                <a:spcPts val="0"/>
              </a:spcBef>
              <a:spcAft>
                <a:spcPts val="0"/>
              </a:spcAft>
              <a:buClr>
                <a:srgbClr val="000000"/>
              </a:buClr>
              <a:buSzPts val="1600"/>
              <a:buFont typeface="Arial"/>
              <a:buNone/>
            </a:pPr>
            <a:endParaRPr sz="1600" dirty="0">
              <a:solidFill>
                <a:schemeClr val="dk1"/>
              </a:solidFill>
              <a:latin typeface="Times New Roman"/>
              <a:ea typeface="Times New Roman"/>
              <a:cs typeface="Times New Roman"/>
              <a:sym typeface="Times New Roman"/>
            </a:endParaRPr>
          </a:p>
          <a:p>
            <a:pPr marL="457200" marR="0" lvl="0" indent="0" algn="just" rtl="0">
              <a:lnSpc>
                <a:spcPct val="115000"/>
              </a:lnSpc>
              <a:spcBef>
                <a:spcPts val="0"/>
              </a:spcBef>
              <a:spcAft>
                <a:spcPts val="0"/>
              </a:spcAft>
              <a:buClr>
                <a:srgbClr val="000000"/>
              </a:buClr>
              <a:buSzPts val="1600"/>
              <a:buFont typeface="Arial"/>
              <a:buNone/>
            </a:pPr>
            <a:endParaRPr sz="16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6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600" b="1" i="0" u="none" strike="noStrike" cap="none" dirty="0">
              <a:solidFill>
                <a:srgbClr val="FF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r>
              <a:rPr lang="en-US" sz="1800" b="0" i="0" u="none" strike="noStrike" cap="none" dirty="0">
                <a:solidFill>
                  <a:schemeClr val="dk1"/>
                </a:solidFill>
                <a:latin typeface="Times New Roman"/>
                <a:ea typeface="Times New Roman"/>
                <a:cs typeface="Times New Roman"/>
                <a:sym typeface="Times New Roman"/>
              </a:rPr>
              <a:t>  </a:t>
            </a:r>
            <a:endParaRPr sz="1800" b="0" i="0" u="none" strike="noStrike" cap="none" dirty="0">
              <a:solidFill>
                <a:schemeClr val="dk1"/>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800"/>
              <a:buFont typeface="Arial"/>
              <a:buNone/>
            </a:pPr>
            <a:endParaRPr sz="1800" b="0" i="0" u="none" strike="noStrike" cap="none" dirty="0">
              <a:solidFill>
                <a:srgbClr val="000000"/>
              </a:solidFill>
              <a:latin typeface="Times New Roman"/>
              <a:ea typeface="Times New Roman"/>
              <a:cs typeface="Times New Roman"/>
              <a:sym typeface="Times New Roman"/>
            </a:endParaRPr>
          </a:p>
          <a:p>
            <a:pPr marL="0" marR="0" lvl="0" indent="0" algn="just" rtl="0">
              <a:lnSpc>
                <a:spcPct val="100000"/>
              </a:lnSpc>
              <a:spcBef>
                <a:spcPts val="0"/>
              </a:spcBef>
              <a:spcAft>
                <a:spcPts val="0"/>
              </a:spcAft>
              <a:buClr>
                <a:srgbClr val="000000"/>
              </a:buClr>
              <a:buSzPts val="1500"/>
              <a:buFont typeface="Arial"/>
              <a:buNone/>
            </a:pPr>
            <a:endParaRPr sz="1500" b="0" i="0" u="none" strike="noStrike" cap="none"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g31ccdae391d_0_403"/>
          <p:cNvSpPr txBox="1">
            <a:spLocks noGrp="1"/>
          </p:cNvSpPr>
          <p:nvPr>
            <p:ph type="title"/>
          </p:nvPr>
        </p:nvSpPr>
        <p:spPr>
          <a:xfrm>
            <a:off x="372775" y="0"/>
            <a:ext cx="975900" cy="495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FFC000"/>
              </a:buClr>
              <a:buSzPts val="2800"/>
              <a:buFont typeface="Times New Roman"/>
              <a:buNone/>
            </a:pPr>
            <a:r>
              <a:rPr lang="en-US" sz="2800">
                <a:solidFill>
                  <a:srgbClr val="FFC000"/>
                </a:solidFill>
                <a:latin typeface="Times New Roman"/>
                <a:ea typeface="Times New Roman"/>
                <a:cs typeface="Times New Roman"/>
                <a:sym typeface="Times New Roman"/>
              </a:rPr>
              <a:t>APU</a:t>
            </a:r>
            <a:endParaRPr sz="2800">
              <a:solidFill>
                <a:srgbClr val="FFC000"/>
              </a:solidFill>
              <a:latin typeface="Times New Roman"/>
              <a:ea typeface="Times New Roman"/>
              <a:cs typeface="Times New Roman"/>
              <a:sym typeface="Times New Roman"/>
            </a:endParaRPr>
          </a:p>
        </p:txBody>
      </p:sp>
      <p:sp>
        <p:nvSpPr>
          <p:cNvPr id="316" name="Google Shape;316;g31ccdae391d_0_403"/>
          <p:cNvSpPr txBox="1">
            <a:spLocks noGrp="1"/>
          </p:cNvSpPr>
          <p:nvPr>
            <p:ph type="sldNum" idx="12"/>
          </p:nvPr>
        </p:nvSpPr>
        <p:spPr>
          <a:xfrm>
            <a:off x="10994575" y="5809425"/>
            <a:ext cx="359100" cy="365100"/>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US"/>
              <a:t>73</a:t>
            </a:fld>
            <a:endParaRPr/>
          </a:p>
        </p:txBody>
      </p:sp>
      <p:sp>
        <p:nvSpPr>
          <p:cNvPr id="317" name="Google Shape;317;g31ccdae391d_0_403"/>
          <p:cNvSpPr txBox="1"/>
          <p:nvPr/>
        </p:nvSpPr>
        <p:spPr>
          <a:xfrm>
            <a:off x="7059775" y="425750"/>
            <a:ext cx="4085700" cy="44538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0"/>
              </a:spcBef>
              <a:spcAft>
                <a:spcPts val="0"/>
              </a:spcAft>
              <a:buClr>
                <a:schemeClr val="dk1"/>
              </a:buClr>
              <a:buSzPts val="1100"/>
              <a:buFont typeface="Arial"/>
              <a:buNone/>
            </a:pPr>
            <a:r>
              <a:rPr lang="en-US" sz="1600" b="1" i="0" u="none" strike="noStrike" cap="none">
                <a:solidFill>
                  <a:schemeClr val="dk1"/>
                </a:solidFill>
                <a:latin typeface="Times New Roman"/>
                <a:ea typeface="Times New Roman"/>
                <a:cs typeface="Times New Roman"/>
                <a:sym typeface="Times New Roman"/>
              </a:rPr>
              <a:t>APU A321 </a:t>
            </a:r>
            <a:endParaRPr sz="16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700"/>
              <a:buFont typeface="Arial"/>
              <a:buNone/>
            </a:pPr>
            <a:r>
              <a:rPr lang="en-US" sz="1700" b="0" i="0" u="none" strike="noStrike" cap="none">
                <a:solidFill>
                  <a:schemeClr val="dk1"/>
                </a:solidFill>
                <a:latin typeface="Times New Roman"/>
                <a:ea typeface="Times New Roman"/>
                <a:cs typeface="Times New Roman"/>
                <a:sym typeface="Times New Roman"/>
              </a:rPr>
              <a:t>+ </a:t>
            </a:r>
            <a:r>
              <a:rPr lang="en-US" sz="1400" b="0" i="0" u="none" strike="noStrike" cap="none">
                <a:solidFill>
                  <a:schemeClr val="dk1"/>
                </a:solidFill>
                <a:latin typeface="Times New Roman"/>
                <a:ea typeface="Times New Roman"/>
                <a:cs typeface="Times New Roman"/>
                <a:sym typeface="Times New Roman"/>
              </a:rPr>
              <a:t>STK:  0</a:t>
            </a:r>
            <a:r>
              <a:rPr lang="en-US">
                <a:solidFill>
                  <a:schemeClr val="dk1"/>
                </a:solidFill>
                <a:latin typeface="Times New Roman"/>
                <a:ea typeface="Times New Roman"/>
                <a:cs typeface="Times New Roman"/>
                <a:sym typeface="Times New Roman"/>
              </a:rPr>
              <a:t>2</a:t>
            </a:r>
            <a:r>
              <a:rPr lang="en-US" sz="1400" b="0" i="0" u="none" strike="noStrike" cap="none">
                <a:solidFill>
                  <a:schemeClr val="dk1"/>
                </a:solidFill>
                <a:latin typeface="Times New Roman"/>
                <a:ea typeface="Times New Roman"/>
                <a:cs typeface="Times New Roman"/>
                <a:sym typeface="Times New Roman"/>
              </a:rPr>
              <a:t> APU tại HAN (SN: P-4922), (P-8524). </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rgbClr val="000000"/>
              </a:buClr>
              <a:buSzPts val="1400"/>
              <a:buFont typeface="Arial"/>
              <a:buNone/>
            </a:pPr>
            <a:r>
              <a:rPr lang="en-US" sz="1400" b="0" i="0" u="none" strike="noStrike" cap="none">
                <a:solidFill>
                  <a:schemeClr val="dk1"/>
                </a:solidFill>
                <a:latin typeface="Times New Roman"/>
                <a:ea typeface="Times New Roman"/>
                <a:cs typeface="Times New Roman"/>
                <a:sym typeface="Times New Roman"/>
              </a:rPr>
              <a:t>+ Th</a:t>
            </a:r>
            <a:r>
              <a:rPr lang="en-US">
                <a:solidFill>
                  <a:schemeClr val="dk1"/>
                </a:solidFill>
                <a:latin typeface="Times New Roman"/>
                <a:ea typeface="Times New Roman"/>
                <a:cs typeface="Times New Roman"/>
                <a:sym typeface="Times New Roman"/>
              </a:rPr>
              <a:t>áng 3: dk 01ea về HAN.</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500" b="1">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A350</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 </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+ 02 APU đã tháo xuống để gửi đi shop sửa chữa.</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+ 0</a:t>
            </a:r>
            <a:r>
              <a:rPr lang="en-US">
                <a:solidFill>
                  <a:schemeClr val="dk1"/>
                </a:solidFill>
                <a:latin typeface="Times New Roman"/>
                <a:ea typeface="Times New Roman"/>
                <a:cs typeface="Times New Roman"/>
                <a:sym typeface="Times New Roman"/>
              </a:rPr>
              <a:t>1</a:t>
            </a:r>
            <a:r>
              <a:rPr lang="en-US" sz="1400" b="0" i="0" u="none" strike="noStrike" cap="none">
                <a:solidFill>
                  <a:schemeClr val="dk1"/>
                </a:solidFill>
                <a:latin typeface="Times New Roman"/>
                <a:ea typeface="Times New Roman"/>
                <a:cs typeface="Times New Roman"/>
                <a:sym typeface="Times New Roman"/>
              </a:rPr>
              <a:t> APU (</a:t>
            </a:r>
            <a:r>
              <a:rPr lang="en-US">
                <a:solidFill>
                  <a:schemeClr val="dk1"/>
                </a:solidFill>
                <a:latin typeface="Times New Roman"/>
                <a:ea typeface="Times New Roman"/>
                <a:cs typeface="Times New Roman"/>
                <a:sym typeface="Times New Roman"/>
              </a:rPr>
              <a:t>P-00255) </a:t>
            </a:r>
            <a:r>
              <a:rPr lang="en-US" sz="1400" b="0" i="0" u="none" strike="noStrike" cap="none">
                <a:solidFill>
                  <a:schemeClr val="dk1"/>
                </a:solidFill>
                <a:latin typeface="Times New Roman"/>
                <a:ea typeface="Times New Roman"/>
                <a:cs typeface="Times New Roman"/>
                <a:sym typeface="Times New Roman"/>
              </a:rPr>
              <a:t>đang sửa chữa </a:t>
            </a:r>
            <a:r>
              <a:rPr lang="en-US">
                <a:solidFill>
                  <a:schemeClr val="dk1"/>
                </a:solidFill>
                <a:latin typeface="Times New Roman"/>
                <a:ea typeface="Times New Roman"/>
                <a:cs typeface="Times New Roman"/>
                <a:sym typeface="Times New Roman"/>
              </a:rPr>
              <a:t>tại</a:t>
            </a:r>
            <a:r>
              <a:rPr lang="en-US" sz="1400" b="0" i="0" u="none" strike="noStrike" cap="none">
                <a:solidFill>
                  <a:schemeClr val="dk1"/>
                </a:solidFill>
                <a:latin typeface="Times New Roman"/>
                <a:ea typeface="Times New Roman"/>
                <a:cs typeface="Times New Roman"/>
                <a:sym typeface="Times New Roman"/>
              </a:rPr>
              <a:t> shop Lufth</a:t>
            </a:r>
            <a:r>
              <a:rPr lang="en-US">
                <a:solidFill>
                  <a:schemeClr val="dk1"/>
                </a:solidFill>
                <a:latin typeface="Times New Roman"/>
                <a:ea typeface="Times New Roman"/>
                <a:cs typeface="Times New Roman"/>
                <a:sym typeface="Times New Roman"/>
              </a:rPr>
              <a:t>ansa, dự kiến release ngày 11/03/2025</a:t>
            </a:r>
            <a:endParaRPr sz="14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100" b="0" i="0" u="none" strike="noStrike" cap="none">
                <a:solidFill>
                  <a:schemeClr val="dk1"/>
                </a:solidFill>
                <a:latin typeface="Times New Roman"/>
                <a:ea typeface="Times New Roman"/>
                <a:cs typeface="Times New Roman"/>
                <a:sym typeface="Times New Roman"/>
              </a:rPr>
              <a:t> </a:t>
            </a:r>
            <a:endParaRPr sz="1100" b="0"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500" b="1" i="0" u="none" strike="noStrike" cap="none">
                <a:solidFill>
                  <a:schemeClr val="dk1"/>
                </a:solidFill>
                <a:latin typeface="Times New Roman"/>
                <a:ea typeface="Times New Roman"/>
                <a:cs typeface="Times New Roman"/>
                <a:sym typeface="Times New Roman"/>
              </a:rPr>
              <a:t>APU B787 </a:t>
            </a:r>
            <a:endParaRPr sz="1500" b="1" i="0" u="none" strike="noStrike" cap="none">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sz="1400" b="0" i="0" u="none" strike="noStrike" cap="none">
                <a:solidFill>
                  <a:schemeClr val="dk1"/>
                </a:solidFill>
                <a:latin typeface="Times New Roman"/>
                <a:ea typeface="Times New Roman"/>
                <a:cs typeface="Times New Roman"/>
                <a:sym typeface="Times New Roman"/>
              </a:rPr>
              <a:t>+ STK: </a:t>
            </a:r>
            <a:r>
              <a:rPr lang="en-US">
                <a:solidFill>
                  <a:schemeClr val="dk1"/>
                </a:solidFill>
                <a:latin typeface="Times New Roman"/>
                <a:ea typeface="Times New Roman"/>
                <a:cs typeface="Times New Roman"/>
                <a:sym typeface="Times New Roman"/>
              </a:rPr>
              <a:t>0</a:t>
            </a:r>
            <a:r>
              <a:rPr lang="en-US" sz="1400" b="0" i="0" u="none" strike="noStrike" cap="none">
                <a:solidFill>
                  <a:schemeClr val="dk1"/>
                </a:solidFill>
                <a:latin typeface="Times New Roman"/>
                <a:ea typeface="Times New Roman"/>
                <a:cs typeface="Times New Roman"/>
                <a:sym typeface="Times New Roman"/>
              </a:rPr>
              <a:t> APU</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(PWC-Z926122) đang gửi đi shop</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r>
              <a:rPr lang="en-US">
                <a:solidFill>
                  <a:schemeClr val="dk1"/>
                </a:solidFill>
                <a:latin typeface="Times New Roman"/>
                <a:ea typeface="Times New Roman"/>
                <a:cs typeface="Times New Roman"/>
                <a:sym typeface="Times New Roman"/>
              </a:rPr>
              <a:t>+ 01 APU ( PWC-Z925500) đang sửa tại shop PW Poland gặp tình trạng kho khăn trong chuỗi cung ứng nên chưa confirm được ngày dk về.</a:t>
            </a:r>
            <a:endParaRPr>
              <a:solidFill>
                <a:schemeClr val="dk1"/>
              </a:solidFill>
              <a:latin typeface="Times New Roman"/>
              <a:ea typeface="Times New Roman"/>
              <a:cs typeface="Times New Roman"/>
              <a:sym typeface="Times New Roman"/>
            </a:endParaRPr>
          </a:p>
          <a:p>
            <a:pPr marL="0" marR="0" lvl="0" indent="0" algn="just" rtl="0">
              <a:lnSpc>
                <a:spcPct val="115000"/>
              </a:lnSpc>
              <a:spcBef>
                <a:spcPts val="0"/>
              </a:spcBef>
              <a:spcAft>
                <a:spcPts val="0"/>
              </a:spcAft>
              <a:buClr>
                <a:schemeClr val="dk1"/>
              </a:buClr>
              <a:buSzPts val="1100"/>
              <a:buFont typeface="Arial"/>
              <a:buNone/>
            </a:pPr>
            <a:endParaRPr sz="1400" b="0" i="0" u="none" strike="noStrike" cap="none">
              <a:solidFill>
                <a:schemeClr val="dk1"/>
              </a:solidFill>
              <a:latin typeface="Times New Roman"/>
              <a:ea typeface="Times New Roman"/>
              <a:cs typeface="Times New Roman"/>
              <a:sym typeface="Times New Roman"/>
            </a:endParaRPr>
          </a:p>
        </p:txBody>
      </p:sp>
      <p:pic>
        <p:nvPicPr>
          <p:cNvPr id="318" name="Google Shape;318;g31ccdae391d_0_403"/>
          <p:cNvPicPr preferRelativeResize="0"/>
          <p:nvPr/>
        </p:nvPicPr>
        <p:blipFill>
          <a:blip r:embed="rId3">
            <a:alphaModFix/>
          </a:blip>
          <a:stretch>
            <a:fillRect/>
          </a:stretch>
        </p:blipFill>
        <p:spPr>
          <a:xfrm>
            <a:off x="430025" y="495300"/>
            <a:ext cx="6586650" cy="5440125"/>
          </a:xfrm>
          <a:prstGeom prst="rect">
            <a:avLst/>
          </a:prstGeom>
          <a:noFill/>
          <a:ln>
            <a:noFill/>
          </a:ln>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6-9 MASTER TEMPLAT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2">
      <a:majorFont>
        <a:latin typeface="Calibri"/>
        <a:ea typeface=""/>
        <a:cs typeface=""/>
        <a:font script="Jpan" typeface="HGｺﾞｼｯｸM"/>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Cambria"/>
        <a:ea typeface=""/>
        <a:cs typeface=""/>
        <a:font script="Jpan" typeface="HG明朝B"/>
        <a:font script="Hang" typeface="맑은 고딕"/>
        <a:font script="Hans" typeface="黑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sz="4000" b="1" dirty="0">
            <a:solidFill>
              <a:srgbClr val="D2A43B"/>
            </a:solidFill>
            <a:latin typeface="Montserrat" pitchFamily="2" charset="77"/>
          </a:defRPr>
        </a:defPPr>
      </a:lstStyle>
    </a:txDef>
  </a:objectDefaults>
  <a:extraClrSchemeLst/>
  <a:extLst>
    <a:ext uri="{05A4C25C-085E-4340-85A3-A5531E510DB2}">
      <thm15:themeFamily xmlns:thm15="http://schemas.microsoft.com/office/thememl/2012/main" name="16-9 MASTER TEMPLATE" id="{27E62AC7-19DD-4957-A955-899410374D03}" vid="{6FCB9AC2-3513-4E9D-8834-5C5B1FFFA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2.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3.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4.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5.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6.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7.xml><?xml version="1.0" encoding="utf-8"?>
<a:themeOverride xmlns:a="http://schemas.openxmlformats.org/drawingml/2006/main">
  <a:clrScheme name="Office 2007 - 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2007 - 2010">
    <a:majorFont>
      <a:latin typeface="Cambri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 - 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OLD_ID xmlns="e189f61e-1295-4779-a752-040c7fad5177" xsi:nil="true"/>
    <ItemId xmlns="e189f61e-1295-4779-a752-040c7fad5177">0</ItemId>
    <FileName xmlns="e189f61e-1295-4779-a752-040c7fad5177">VNA _ Master template _ 16_9 _ ENG.pptx</FileName>
    <SubLibName xmlns="b6015720-aa74-4be3-ba0d-eab08776cb9b" xsi:nil="true"/>
    <ListName xmlns="e189f61e-1295-4779-a752-040c7fad5177">Com_Notice</ListNam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2EF5E1C733973145B1493C5B4700F6CB" ma:contentTypeVersion="5" ma:contentTypeDescription="Create a new document." ma:contentTypeScope="" ma:versionID="312a50383655f8b07477a4ad72a81636">
  <xsd:schema xmlns:xsd="http://www.w3.org/2001/XMLSchema" xmlns:xs="http://www.w3.org/2001/XMLSchema" xmlns:p="http://schemas.microsoft.com/office/2006/metadata/properties" xmlns:ns2="e189f61e-1295-4779-a752-040c7fad5177" xmlns:ns3="b6015720-aa74-4be3-ba0d-eab08776cb9b" targetNamespace="http://schemas.microsoft.com/office/2006/metadata/properties" ma:root="true" ma:fieldsID="5bce5304ba9987326d96874970ac3c5b" ns2:_="" ns3:_="">
    <xsd:import namespace="e189f61e-1295-4779-a752-040c7fad5177"/>
    <xsd:import namespace="b6015720-aa74-4be3-ba0d-eab08776cb9b"/>
    <xsd:element name="properties">
      <xsd:complexType>
        <xsd:sequence>
          <xsd:element name="documentManagement">
            <xsd:complexType>
              <xsd:all>
                <xsd:element ref="ns2:ListName" minOccurs="0"/>
                <xsd:element ref="ns2:ItemId" minOccurs="0"/>
                <xsd:element ref="ns2:FileName" minOccurs="0"/>
                <xsd:element ref="ns2:OLD_ID" minOccurs="0"/>
                <xsd:element ref="ns3:SubLibNam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189f61e-1295-4779-a752-040c7fad5177" elementFormDefault="qualified">
    <xsd:import namespace="http://schemas.microsoft.com/office/2006/documentManagement/types"/>
    <xsd:import namespace="http://schemas.microsoft.com/office/infopath/2007/PartnerControls"/>
    <xsd:element name="ListName" ma:index="8" nillable="true" ma:displayName="ListName" ma:internalName="ListName">
      <xsd:simpleType>
        <xsd:restriction base="dms:Text">
          <xsd:maxLength value="255"/>
        </xsd:restriction>
      </xsd:simpleType>
    </xsd:element>
    <xsd:element name="ItemId" ma:index="9" nillable="true" ma:displayName="ItemId" ma:internalName="ItemId">
      <xsd:simpleType>
        <xsd:restriction base="dms:Text">
          <xsd:maxLength value="255"/>
        </xsd:restriction>
      </xsd:simpleType>
    </xsd:element>
    <xsd:element name="FileName" ma:index="10" nillable="true" ma:displayName="FileName" ma:internalName="FileName">
      <xsd:simpleType>
        <xsd:restriction base="dms:Text">
          <xsd:maxLength value="255"/>
        </xsd:restriction>
      </xsd:simpleType>
    </xsd:element>
    <xsd:element name="OLD_ID" ma:index="11" nillable="true" ma:displayName="OLD_ID" ma:internalName="OLD_ID">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b6015720-aa74-4be3-ba0d-eab08776cb9b" elementFormDefault="qualified">
    <xsd:import namespace="http://schemas.microsoft.com/office/2006/documentManagement/types"/>
    <xsd:import namespace="http://schemas.microsoft.com/office/infopath/2007/PartnerControls"/>
    <xsd:element name="SubLibName" ma:index="12" nillable="true" ma:displayName="SubLibName" ma:internalName="SubLibNam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911D9C-B9DB-42A8-B756-3CC928D5245C}">
  <ds:schemaRefs>
    <ds:schemaRef ds:uri="http://schemas.microsoft.com/sharepoint/v3/contenttype/forms"/>
  </ds:schemaRefs>
</ds:datastoreItem>
</file>

<file path=customXml/itemProps2.xml><?xml version="1.0" encoding="utf-8"?>
<ds:datastoreItem xmlns:ds="http://schemas.openxmlformats.org/officeDocument/2006/customXml" ds:itemID="{7CE18D4A-261A-4850-B6EF-E8D1177C057C}">
  <ds:schemaRefs>
    <ds:schemaRef ds:uri="e189f61e-1295-4779-a752-040c7fad5177"/>
    <ds:schemaRef ds:uri="http://purl.org/dc/terms/"/>
    <ds:schemaRef ds:uri="http://schemas.microsoft.com/office/2006/metadata/properties"/>
    <ds:schemaRef ds:uri="http://www.w3.org/XML/1998/namespace"/>
    <ds:schemaRef ds:uri="http://schemas.microsoft.com/office/infopath/2007/PartnerControls"/>
    <ds:schemaRef ds:uri="b6015720-aa74-4be3-ba0d-eab08776cb9b"/>
    <ds:schemaRef ds:uri="http://schemas.microsoft.com/office/2006/documentManagement/types"/>
    <ds:schemaRef ds:uri="http://schemas.openxmlformats.org/package/2006/metadata/core-properties"/>
    <ds:schemaRef ds:uri="http://purl.org/dc/dcmitype/"/>
    <ds:schemaRef ds:uri="http://purl.org/dc/elements/1.1/"/>
  </ds:schemaRefs>
</ds:datastoreItem>
</file>

<file path=customXml/itemProps3.xml><?xml version="1.0" encoding="utf-8"?>
<ds:datastoreItem xmlns:ds="http://schemas.openxmlformats.org/officeDocument/2006/customXml" ds:itemID="{EA328AF4-E0C3-4533-80B7-C0A1C2FFEA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189f61e-1295-4779-a752-040c7fad5177"/>
    <ds:schemaRef ds:uri="b6015720-aa74-4be3-ba0d-eab08776cb9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73070</TotalTime>
  <Words>14383</Words>
  <Application>Microsoft Office PowerPoint</Application>
  <PresentationFormat>Widescreen</PresentationFormat>
  <Paragraphs>2773</Paragraphs>
  <Slides>74</Slides>
  <Notes>64</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74</vt:i4>
      </vt:variant>
    </vt:vector>
  </HeadingPairs>
  <TitlesOfParts>
    <vt:vector size="87" baseType="lpstr">
      <vt:lpstr>MS PGothic</vt:lpstr>
      <vt:lpstr>Arial</vt:lpstr>
      <vt:lpstr>Calibri</vt:lpstr>
      <vt:lpstr>Calibri Light</vt:lpstr>
      <vt:lpstr>Cambria</vt:lpstr>
      <vt:lpstr>Exo</vt:lpstr>
      <vt:lpstr>Franklin Gothic Medium Cond</vt:lpstr>
      <vt:lpstr>Montserrat</vt:lpstr>
      <vt:lpstr>Montserrat SemiBold</vt:lpstr>
      <vt:lpstr>Tahoma</vt:lpstr>
      <vt:lpstr>Times New Roman</vt:lpstr>
      <vt:lpstr>Wingdings</vt:lpstr>
      <vt:lpstr>16-9 MASTER TEMPLATE</vt:lpstr>
      <vt:lpstr>BÁO CÁO KỸ THUẬT (Tuần 09: 24/02/2025 – 02/03/2025)</vt:lpstr>
      <vt:lpstr>TỔNG HỢP AOG, DELAY VÀ GTB/ATB/DIV</vt:lpstr>
      <vt:lpstr>ATB/GTB COMPARISON</vt:lpstr>
      <vt:lpstr>CÁC SỰ KIỆN ATB/GTB/DIV</vt:lpstr>
      <vt:lpstr>CÁC SỰ KIỆN ATB/GTB/DIV</vt:lpstr>
      <vt:lpstr>CÁC SỰ KIỆN MOR</vt:lpstr>
      <vt:lpstr>PowerPoint Presentation</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TÌNH TRẠNG KỸ THUẬT ĐỘI BAY – A320/A321</vt:lpstr>
      <vt:lpstr>PowerPoint Presentation</vt:lpstr>
      <vt:lpstr>PowerPoint Presentation</vt:lpstr>
      <vt:lpstr>PowerPoint Presentation</vt:lpstr>
      <vt:lpstr>PowerPoint Presentation</vt:lpstr>
      <vt:lpstr>TÌNH TRẠNG KỸ THUẬT ĐỘI BAY A320/ A321 </vt:lpstr>
      <vt:lpstr>TÌNH TRẠNG KỸ THUẬT ĐỘI BAY – A350</vt:lpstr>
      <vt:lpstr>PowerPoint Presentation</vt:lpstr>
      <vt:lpstr>PowerPoint Presentation</vt:lpstr>
      <vt:lpstr>TÌNH TRẠNG KỸ THUẬT ĐỘI BAY – B787</vt:lpstr>
      <vt:lpstr>PowerPoint Presentation</vt:lpstr>
      <vt:lpstr>PowerPoint Presentation</vt:lpstr>
      <vt:lpstr>TÌNH TRẠNG KỸ THUẬT ĐỘI BAY – ATR72</vt:lpstr>
      <vt:lpstr>TÌNH TRẠNG KỸ THUẬT ĐỘI BAY ATR72</vt:lpstr>
      <vt:lpstr>DISPATCH RELIABILITY W09 (24/02/2025-02/03/2025)</vt:lpstr>
      <vt:lpstr>CÁC CÔNG VIỆC TRỌNG ĐIỂM TRONG TUẦN</vt:lpstr>
      <vt:lpstr>KHẢ NĂNG CUNG ỨNG ĐỘNG CƠ/APU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CÁC TÀU BQDB VÀ ĐANG TRONG BẢO DƯỠNG ĐỊNH KỲ (BDĐK)</vt:lpstr>
      <vt:lpstr>CÁC TÀU BQDB VÀ ĐANG TRONG BẢO DƯỠNG ĐỊNH KỲ (BDĐK)</vt:lpstr>
      <vt:lpstr>CÁC TÀU BQDB VÀ ĐANG TRONG BẢO DƯỠNG ĐỊNH KỲ (BDĐK)</vt:lpstr>
      <vt:lpstr>PowerPoint Presentation</vt:lpstr>
      <vt:lpstr>PowerPoint Presentation</vt:lpstr>
      <vt:lpstr>PowerPoint Presentation</vt:lpstr>
      <vt:lpstr>PowerPoint Presentation</vt:lpstr>
      <vt:lpstr>NHÂN NHƯỢNG TRONG TUẦN</vt:lpstr>
      <vt:lpstr>Giờ bay trung bình trong tuần các đội tàu</vt:lpstr>
      <vt:lpstr>Số chuyến bay theo ngày trong tuần các đội tàu</vt:lpstr>
      <vt:lpstr>Số chuyến bay khai thác theo ngày</vt:lpstr>
      <vt:lpstr>A321</vt:lpstr>
      <vt:lpstr>A321</vt:lpstr>
      <vt:lpstr>TÌNH TRẠNG APU LRU A321 </vt:lpstr>
      <vt:lpstr>A321 CÁC VẬT TƯ VƯỚNG MẮC KHÁC</vt:lpstr>
      <vt:lpstr>A321 VƯỚNG MẮC VẬT TƯ VAECO</vt:lpstr>
      <vt:lpstr>B787</vt:lpstr>
      <vt:lpstr>B787</vt:lpstr>
      <vt:lpstr>B787</vt:lpstr>
      <vt:lpstr>A350</vt:lpstr>
      <vt:lpstr>A350</vt:lpstr>
      <vt:lpstr>A350</vt:lpstr>
      <vt:lpstr>ATR</vt:lpstr>
      <vt:lpstr>Phanh, bánh lốp cho các đội bay</vt:lpstr>
      <vt:lpstr>Động cơ</vt:lpstr>
      <vt:lpstr>Động cơ</vt:lpstr>
      <vt:lpstr>Động cơ</vt:lpstr>
      <vt:lpstr>PowerPoint Presentation</vt:lpstr>
      <vt:lpstr>PowerPoint Presentation</vt:lpstr>
      <vt:lpstr>Kế hoạch động cơ </vt:lpstr>
      <vt:lpstr>APU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VNA _ Master template _ 16_9 _ ENG.pptx</dc:title>
  <dc:creator>Vu Chi Thanh-Tech</dc:creator>
  <cp:lastModifiedBy>Tran Khac Long-Tech</cp:lastModifiedBy>
  <cp:revision>11595</cp:revision>
  <cp:lastPrinted>2019-03-27T09:25:07Z</cp:lastPrinted>
  <dcterms:created xsi:type="dcterms:W3CDTF">2018-12-27T04:50:36Z</dcterms:created>
  <dcterms:modified xsi:type="dcterms:W3CDTF">2025-03-03T09:36:24Z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0x0101002EF5E1C733973145B1493C5B4700F6CB</vt:lpwstr>
  </property>
</Properties>
</file>