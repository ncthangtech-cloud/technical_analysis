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charts/chart2.xml" ContentType="application/vnd.openxmlformats-officedocument.drawingml.chart+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2.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3.xml" ContentType="application/vnd.openxmlformats-officedocument.presentationml.tags+xml"/>
  <Override PartName="/ppt/notesSlides/notesSlide26.xml" ContentType="application/vnd.openxmlformats-officedocument.presentationml.notesSlide+xml"/>
  <Override PartName="/ppt/charts/chart7.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rts/chart8.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4.xml" ContentType="application/vnd.openxmlformats-officedocument.presentationml.notesSlide+xml"/>
  <Override PartName="/ppt/charts/chart9.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35.xml" ContentType="application/vnd.openxmlformats-officedocument.presentationml.notesSlide+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36.xml" ContentType="application/vnd.openxmlformats-officedocument.presentationml.notesSlide+xml"/>
  <Override PartName="/ppt/charts/chart11.xml" ContentType="application/vnd.openxmlformats-officedocument.drawingml.chart+xml"/>
  <Override PartName="/ppt/charts/style6.xml" ContentType="application/vnd.ms-office.chartstyle+xml"/>
  <Override PartName="/ppt/charts/colors6.xml" ContentType="application/vnd.ms-office.chartcolorstyle+xml"/>
  <Override PartName="/ppt/charts/chart12.xml" ContentType="application/vnd.openxmlformats-officedocument.drawingml.chart+xml"/>
  <Override PartName="/ppt/charts/style7.xml" ContentType="application/vnd.ms-office.chartstyle+xml"/>
  <Override PartName="/ppt/charts/colors7.xml" ContentType="application/vnd.ms-office.chartcolorstyle+xml"/>
  <Override PartName="/ppt/charts/chart13.xml" ContentType="application/vnd.openxmlformats-officedocument.drawingml.chart+xml"/>
  <Override PartName="/ppt/charts/style8.xml" ContentType="application/vnd.ms-office.chartstyle+xml"/>
  <Override PartName="/ppt/charts/colors8.xml" ContentType="application/vnd.ms-office.chartcolorstyle+xml"/>
  <Override PartName="/ppt/drawings/drawing1.xml" ContentType="application/vnd.openxmlformats-officedocument.drawingml.chartshapes+xml"/>
  <Override PartName="/ppt/charts/chart14.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rts/chart15.xml" ContentType="application/vnd.openxmlformats-officedocument.drawingml.chart+xml"/>
  <Override PartName="/ppt/notesSlides/notesSlide42.xml" ContentType="application/vnd.openxmlformats-officedocument.presentationml.notesSlide+xml"/>
  <Override PartName="/ppt/charts/chart16.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2.xml" ContentType="application/vnd.openxmlformats-officedocument.themeOverride+xml"/>
  <Override PartName="/ppt/notesSlides/notesSlide43.xml" ContentType="application/vnd.openxmlformats-officedocument.presentationml.notesSlide+xml"/>
  <Override PartName="/ppt/charts/chart17.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3.xml" ContentType="application/vnd.openxmlformats-officedocument.themeOverride+xml"/>
  <Override PartName="/ppt/notesSlides/notesSlide44.xml" ContentType="application/vnd.openxmlformats-officedocument.presentationml.notesSlide+xml"/>
  <Override PartName="/ppt/charts/chart18.xml" ContentType="application/vnd.openxmlformats-officedocument.drawingml.chart+xml"/>
  <Override PartName="/ppt/charts/style12.xml" ContentType="application/vnd.ms-office.chartstyle+xml"/>
  <Override PartName="/ppt/charts/colors12.xml" ContentType="application/vnd.ms-office.chartcolorstyle+xml"/>
  <Override PartName="/ppt/theme/themeOverride4.xml" ContentType="application/vnd.openxmlformats-officedocument.themeOverr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8" r:id="rId4"/>
  </p:sldMasterIdLst>
  <p:notesMasterIdLst>
    <p:notesMasterId r:id="rId80"/>
  </p:notesMasterIdLst>
  <p:sldIdLst>
    <p:sldId id="11486" r:id="rId5"/>
    <p:sldId id="11487" r:id="rId6"/>
    <p:sldId id="11488" r:id="rId7"/>
    <p:sldId id="12116" r:id="rId8"/>
    <p:sldId id="11493" r:id="rId9"/>
    <p:sldId id="12117" r:id="rId10"/>
    <p:sldId id="12118" r:id="rId11"/>
    <p:sldId id="12119" r:id="rId12"/>
    <p:sldId id="12182" r:id="rId13"/>
    <p:sldId id="12120" r:id="rId14"/>
    <p:sldId id="12176" r:id="rId15"/>
    <p:sldId id="12181" r:id="rId16"/>
    <p:sldId id="12122" r:id="rId17"/>
    <p:sldId id="12123" r:id="rId18"/>
    <p:sldId id="12124" r:id="rId19"/>
    <p:sldId id="12125" r:id="rId20"/>
    <p:sldId id="12126" r:id="rId21"/>
    <p:sldId id="12127" r:id="rId22"/>
    <p:sldId id="12128" r:id="rId23"/>
    <p:sldId id="12129" r:id="rId24"/>
    <p:sldId id="12130" r:id="rId25"/>
    <p:sldId id="12178" r:id="rId26"/>
    <p:sldId id="12179" r:id="rId27"/>
    <p:sldId id="12180" r:id="rId28"/>
    <p:sldId id="12131" r:id="rId29"/>
    <p:sldId id="12132" r:id="rId30"/>
    <p:sldId id="12133" r:id="rId31"/>
    <p:sldId id="12091" r:id="rId32"/>
    <p:sldId id="12058" r:id="rId33"/>
    <p:sldId id="12092" r:id="rId34"/>
    <p:sldId id="12093" r:id="rId35"/>
    <p:sldId id="12134" r:id="rId36"/>
    <p:sldId id="12135" r:id="rId37"/>
    <p:sldId id="12136" r:id="rId38"/>
    <p:sldId id="12137" r:id="rId39"/>
    <p:sldId id="12138" r:id="rId40"/>
    <p:sldId id="12139" r:id="rId41"/>
    <p:sldId id="12140" r:id="rId42"/>
    <p:sldId id="12141" r:id="rId43"/>
    <p:sldId id="12142" r:id="rId44"/>
    <p:sldId id="12143" r:id="rId45"/>
    <p:sldId id="12144" r:id="rId46"/>
    <p:sldId id="12145" r:id="rId47"/>
    <p:sldId id="12146" r:id="rId48"/>
    <p:sldId id="12147" r:id="rId49"/>
    <p:sldId id="12148" r:id="rId50"/>
    <p:sldId id="12149" r:id="rId51"/>
    <p:sldId id="12150" r:id="rId52"/>
    <p:sldId id="12151" r:id="rId53"/>
    <p:sldId id="12152" r:id="rId54"/>
    <p:sldId id="12153" r:id="rId55"/>
    <p:sldId id="11545" r:id="rId56"/>
    <p:sldId id="12154" r:id="rId57"/>
    <p:sldId id="12155" r:id="rId58"/>
    <p:sldId id="12156" r:id="rId59"/>
    <p:sldId id="12157" r:id="rId60"/>
    <p:sldId id="12158" r:id="rId61"/>
    <p:sldId id="12159" r:id="rId62"/>
    <p:sldId id="12160" r:id="rId63"/>
    <p:sldId id="12161" r:id="rId64"/>
    <p:sldId id="12162" r:id="rId65"/>
    <p:sldId id="12163" r:id="rId66"/>
    <p:sldId id="12164" r:id="rId67"/>
    <p:sldId id="12165" r:id="rId68"/>
    <p:sldId id="12166" r:id="rId69"/>
    <p:sldId id="12167" r:id="rId70"/>
    <p:sldId id="12168" r:id="rId71"/>
    <p:sldId id="12169" r:id="rId72"/>
    <p:sldId id="12170" r:id="rId73"/>
    <p:sldId id="12171" r:id="rId74"/>
    <p:sldId id="12172" r:id="rId75"/>
    <p:sldId id="12173" r:id="rId76"/>
    <p:sldId id="12174" r:id="rId77"/>
    <p:sldId id="12175" r:id="rId78"/>
    <p:sldId id="11888" r:id="rId79"/>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en Dinh Thanh" initials="NDT" lastIdx="1" clrIdx="0">
    <p:extLst>
      <p:ext uri="{19B8F6BF-5375-455C-9EA6-DF929625EA0E}">
        <p15:presenceInfo xmlns:p15="http://schemas.microsoft.com/office/powerpoint/2012/main" userId="d098a10a9a17dfc3" providerId="Windows Live"/>
      </p:ext>
    </p:extLst>
  </p:cmAuthor>
  <p:cmAuthor id="2" name="MayTinhBachVuong" initials="M" lastIdx="1" clrIdx="1">
    <p:extLst>
      <p:ext uri="{19B8F6BF-5375-455C-9EA6-DF929625EA0E}">
        <p15:presenceInfo xmlns:p15="http://schemas.microsoft.com/office/powerpoint/2012/main" userId="MayTinhBachVuo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F6E"/>
    <a:srgbClr val="FFFF00"/>
    <a:srgbClr val="0099FF"/>
    <a:srgbClr val="D2A4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115" autoAdjust="0"/>
    <p:restoredTop sz="95337" autoAdjust="0"/>
  </p:normalViewPr>
  <p:slideViewPr>
    <p:cSldViewPr>
      <p:cViewPr varScale="1">
        <p:scale>
          <a:sx n="113" d="100"/>
          <a:sy n="113" d="100"/>
        </p:scale>
        <p:origin x="144" y="67"/>
      </p:cViewPr>
      <p:guideLst>
        <p:guide orient="horz" pos="2160"/>
        <p:guide pos="3840"/>
      </p:guideLst>
    </p:cSldViewPr>
  </p:slideViewPr>
  <p:outlineViewPr>
    <p:cViewPr>
      <p:scale>
        <a:sx n="33" d="100"/>
        <a:sy n="33" d="100"/>
      </p:scale>
      <p:origin x="0" y="-268"/>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theme" Target="theme/theme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notesMaster" Target="notesMasters/notesMaster1.xml"/><Relationship Id="rId85"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61" Type="http://schemas.openxmlformats.org/officeDocument/2006/relationships/slide" Target="slides/slide57.xml"/><Relationship Id="rId82" Type="http://schemas.openxmlformats.org/officeDocument/2006/relationships/presProps" Target="presProps.xml"/></Relationships>
</file>

<file path=ppt/charts/_rels/chart1.xml.rels><?xml version="1.0" encoding="UTF-8" standalone="yes"?>
<Relationships xmlns="http://schemas.openxmlformats.org/package/2006/relationships"><Relationship Id="rId2" Type="http://schemas.openxmlformats.org/officeDocument/2006/relationships/oleObject" Target="file:///D:\Documents\01.%20VNA\01.%20MOC\02.%20C&#244;ng%20vi&#7879;c%20chung\03.%20B&#225;o%20c&#225;o%20tu&#7847;n\2025%20W16\W16%20(14.04-20.04.2025).xlsx"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1" Type="http://schemas.openxmlformats.org/officeDocument/2006/relationships/oleObject" Target="file:///D:\Documents\01.%20VNA\01.%20MOC\02.%20C&#244;ng%20vi&#7879;c%20chung\03.%20B&#225;o%20c&#225;o%20tu&#7847;n\2025%20W16\W16%20(14.04-20.04.2025).xlsx" TargetMode="External"/></Relationships>
</file>

<file path=ppt/charts/_rels/chart3.xml.rels><?xml version="1.0" encoding="UTF-8" standalone="yes"?>
<Relationships xmlns="http://schemas.openxmlformats.org/package/2006/relationships"><Relationship Id="rId3" Type="http://schemas.openxmlformats.org/officeDocument/2006/relationships/oleObject" Target="file:///D:\Documents\01.%20VNA\01.%20MOC\02.%20C&#244;ng%20vi&#7879;c%20chung\03.%20B&#225;o%20c&#225;o%20tu&#7847;n\2025%20W16\W16%20(14.04-20.04.2025).xlsx" TargetMode="External"/><Relationship Id="rId2" Type="http://schemas.microsoft.com/office/2011/relationships/chartColorStyle" Target="colors1.xml"/><Relationship Id="rId1" Type="http://schemas.microsoft.com/office/2011/relationships/chartStyle" Target="style1.xml"/></Relationships>
</file>

<file path=ppt/charts/_rels/chart4.xml.rels><?xml version="1.0" encoding="UTF-8" standalone="yes"?>
<Relationships xmlns="http://schemas.openxmlformats.org/package/2006/relationships"><Relationship Id="rId3" Type="http://schemas.openxmlformats.org/officeDocument/2006/relationships/oleObject" Target="file:///D:\Documents\01.%20VNA\01.%20MOC\02.%20C&#244;ng%20vi&#7879;c%20chung\03.%20B&#225;o%20c&#225;o%20tu&#7847;n\2025%20W16\W16%20(14.04-20.04.2025).xlsx" TargetMode="External"/><Relationship Id="rId2" Type="http://schemas.microsoft.com/office/2011/relationships/chartColorStyle" Target="colors2.xml"/><Relationship Id="rId1" Type="http://schemas.microsoft.com/office/2011/relationships/chartStyle" Target="style2.xml"/></Relationships>
</file>

<file path=ppt/charts/_rels/chart5.xml.rels><?xml version="1.0" encoding="UTF-8" standalone="yes"?>
<Relationships xmlns="http://schemas.openxmlformats.org/package/2006/relationships"><Relationship Id="rId1" Type="http://schemas.openxmlformats.org/officeDocument/2006/relationships/oleObject" Target="file:///D:\Documents\01.%20VNA\01.%20MOC\02.%20C&#244;ng%20vi&#7879;c%20chung\03.%20B&#225;o%20c&#225;o%20tu&#7847;n\2025%20W16\W16%20(14.04-20.04.2025).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D:\Documents\01.%20VNA\01.%20MOC\02.%20C&#244;ng%20vi&#7879;c%20chung\03.%20B&#225;o%20c&#225;o%20tu&#7847;n\2025%20W16\W16%20(14.04-20.04.2025).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D:\GOOGLE%20DRIVE-cty\BAO%20CAO%20DO%20TIN%20CAY\BAO%20CAO%20TUAN\BC%20chu%20nhat\2025\16\DR\DR-W16.xlsx" TargetMode="Externa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4.xml"/><Relationship Id="rId1" Type="http://schemas.microsoft.com/office/2011/relationships/chartStyle" Target="style4.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5.xml"/><Relationship Id="rId1" Type="http://schemas.microsoft.com/office/2011/relationships/chartStyle" Target="style5.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6.xml"/><Relationship Id="rId1" Type="http://schemas.microsoft.com/office/2011/relationships/chartStyle" Target="style6.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7.xml"/><Relationship Id="rId1" Type="http://schemas.microsoft.com/office/2011/relationships/chartStyle" Target="style7.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chartUserShapes" Target="../drawings/drawing1.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9.xml"/><Relationship Id="rId1" Type="http://schemas.microsoft.com/office/2011/relationships/chartStyle" Target="style9.xml"/></Relationships>
</file>

<file path=ppt/charts/_rels/chart15.xml.rels><?xml version="1.0" encoding="UTF-8" standalone="yes"?>
<Relationships xmlns="http://schemas.openxmlformats.org/package/2006/relationships"><Relationship Id="rId1" Type="http://schemas.openxmlformats.org/officeDocument/2006/relationships/oleObject" Target="file:///D:\Documents\01.%20VNA\01.%20MOC\02.%20C&#244;ng%20vi&#7879;c%20chung\03.%20B&#225;o%20c&#225;o%20tu&#7847;n\2025%20W16\W16%20(14.04-20.04.2025).xlsx" TargetMode="External"/></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file:///D:\P.MOC\B&#225;o%20c&#225;o%20tu&#7847;n\L&#7883;ch%20bay%20h&#224;ng%20tu&#7847;n%202025.xlsx" TargetMode="External"/></Relationships>
</file>

<file path=ppt/charts/_rels/chart17.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oleObject" Target="file:///D:\P.MOC\B&#225;o%20c&#225;o%20tu&#7847;n\L&#7883;ch%20bay%20h&#224;ng%20tu&#7847;n%202025.xlsx" TargetMode="External"/></Relationships>
</file>

<file path=ppt/charts/_rels/chart18.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oleObject" Target="file:///D:\P.MOC\B&#225;o%20c&#225;o%20tu&#7847;n\L&#7883;ch%20bay%20h&#224;ng%20tu&#7847;n%20202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defRPr sz="1600">
                <a:latin typeface="Times New Roman" panose="02020603050405020304" pitchFamily="18" charset="0"/>
                <a:cs typeface="Times New Roman" panose="02020603050405020304" pitchFamily="18" charset="0"/>
              </a:defRPr>
            </a:pPr>
            <a:r>
              <a:rPr lang="en-US" sz="1600">
                <a:latin typeface="Times New Roman" panose="02020603050405020304" pitchFamily="18" charset="0"/>
                <a:cs typeface="Times New Roman" panose="02020603050405020304" pitchFamily="18" charset="0"/>
              </a:rPr>
              <a:t>Delay</a:t>
            </a:r>
          </a:p>
        </c:rich>
      </c:tx>
      <c:layout>
        <c:manualLayout>
          <c:xMode val="edge"/>
          <c:yMode val="edge"/>
          <c:x val="0.42060411198600178"/>
          <c:y val="2.7777777777777776E-2"/>
        </c:manualLayout>
      </c:layout>
      <c:overlay val="0"/>
      <c:spPr>
        <a:noFill/>
        <a:ln>
          <a:noFill/>
        </a:ln>
        <a:effectLst/>
      </c:spPr>
    </c:title>
    <c:autoTitleDeleted val="0"/>
    <c:plotArea>
      <c:layout/>
      <c:barChart>
        <c:barDir val="col"/>
        <c:grouping val="clustered"/>
        <c:varyColors val="0"/>
        <c:ser>
          <c:idx val="0"/>
          <c:order val="0"/>
          <c:tx>
            <c:strRef>
              <c:f>'[W16 (14.04-20.04.2025).xlsx]Data Chart'!$C$10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'[W16 (14.04-20.04.2025).xlsx]Data Chart'!$B$11:$B$16</c:f>
              <c:strCache>
                <c:ptCount val="6"/>
                <c:pt idx="0">
                  <c:v>A320</c:v>
                </c:pt>
                <c:pt idx="1">
                  <c:v>A321</c:v>
                </c:pt>
                <c:pt idx="2">
                  <c:v>A350</c:v>
                </c:pt>
                <c:pt idx="3">
                  <c:v>B787</c:v>
                </c:pt>
                <c:pt idx="4">
                  <c:v>ATR72</c:v>
                </c:pt>
                <c:pt idx="5">
                  <c:v>Tất cả</c:v>
                </c:pt>
              </c:strCache>
            </c:strRef>
          </c:cat>
          <c:val>
            <c:numRef>
              <c:f>'[W16 (14.04-20.04.2025).xlsx]Data Chart'!$C$11:$C$16</c:f>
              <c:numCache>
                <c:formatCode>General</c:formatCode>
                <c:ptCount val="6"/>
                <c:pt idx="0">
                  <c:v>0</c:v>
                </c:pt>
                <c:pt idx="1">
                  <c:v>1</c:v>
                </c:pt>
                <c:pt idx="2">
                  <c:v>1</c:v>
                </c:pt>
                <c:pt idx="3">
                  <c:v>1</c:v>
                </c:pt>
                <c:pt idx="4">
                  <c:v>0</c:v>
                </c:pt>
                <c:pt idx="5">
                  <c:v>3</c:v>
                </c:pt>
              </c:numCache>
            </c:numRef>
          </c:val>
          <c:extLst xmlns:c15="http://schemas.microsoft.com/office/drawing/2012/chart">
            <c:ext xmlns:c16="http://schemas.microsoft.com/office/drawing/2014/chart" uri="{C3380CC4-5D6E-409C-BE32-E72D297353CC}">
              <c16:uniqueId val="{00000000-556C-4D26-9C42-6CC2E2988E3B}"/>
            </c:ext>
          </c:extLst>
        </c:ser>
        <c:ser>
          <c:idx val="1"/>
          <c:order val="1"/>
          <c:tx>
            <c:strRef>
              <c:f>'[W16 (14.04-20.04.2025).xlsx]Data Chart'!$D$10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000">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'[W16 (14.04-20.04.2025).xlsx]Data Chart'!$B$11:$B$16</c:f>
              <c:strCache>
                <c:ptCount val="6"/>
                <c:pt idx="0">
                  <c:v>A320</c:v>
                </c:pt>
                <c:pt idx="1">
                  <c:v>A321</c:v>
                </c:pt>
                <c:pt idx="2">
                  <c:v>A350</c:v>
                </c:pt>
                <c:pt idx="3">
                  <c:v>B787</c:v>
                </c:pt>
                <c:pt idx="4">
                  <c:v>ATR72</c:v>
                </c:pt>
                <c:pt idx="5">
                  <c:v>Tất cả</c:v>
                </c:pt>
              </c:strCache>
            </c:strRef>
          </c:cat>
          <c:val>
            <c:numRef>
              <c:f>'[W16 (14.04-20.04.2025).xlsx]Data Chart'!$D$11:$D$16</c:f>
              <c:numCache>
                <c:formatCode>General</c:formatCode>
                <c:ptCount val="6"/>
                <c:pt idx="0">
                  <c:v>0</c:v>
                </c:pt>
                <c:pt idx="1">
                  <c:v>4</c:v>
                </c:pt>
                <c:pt idx="2">
                  <c:v>0</c:v>
                </c:pt>
                <c:pt idx="3">
                  <c:v>7</c:v>
                </c:pt>
                <c:pt idx="4">
                  <c:v>0</c:v>
                </c:pt>
                <c:pt idx="5">
                  <c:v>11</c:v>
                </c:pt>
              </c:numCache>
            </c:numRef>
          </c:val>
          <c:extLst>
            <c:ext xmlns:c16="http://schemas.microsoft.com/office/drawing/2014/chart" uri="{C3380CC4-5D6E-409C-BE32-E72D297353CC}">
              <c16:uniqueId val="{00000001-556C-4D26-9C42-6CC2E2988E3B}"/>
            </c:ext>
          </c:extLst>
        </c:ser>
        <c:dLbls>
          <c:dLblPos val="outEnd"/>
          <c:showLegendKey val="0"/>
          <c:showVal val="1"/>
          <c:showCatName val="0"/>
          <c:showSerName val="0"/>
          <c:showPercent val="0"/>
          <c:showBubbleSize val="0"/>
        </c:dLbls>
        <c:gapWidth val="219"/>
        <c:overlap val="-27"/>
        <c:axId val="390114688"/>
        <c:axId val="390116256"/>
        <c:extLst/>
      </c:barChart>
      <c:catAx>
        <c:axId val="3901146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90116256"/>
        <c:crosses val="autoZero"/>
        <c:auto val="1"/>
        <c:lblAlgn val="ctr"/>
        <c:lblOffset val="100"/>
        <c:noMultiLvlLbl val="0"/>
      </c:catAx>
      <c:valAx>
        <c:axId val="3901162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90114688"/>
        <c:crosses val="autoZero"/>
        <c:crossBetween val="between"/>
        <c:majorUnit val="5"/>
      </c:valAx>
      <c:spPr>
        <a:noFill/>
        <a:ln>
          <a:noFill/>
        </a:ln>
        <a:effectLst/>
      </c:spPr>
    </c:plotArea>
    <c:legend>
      <c:legendPos val="b"/>
      <c:layout>
        <c:manualLayout>
          <c:xMode val="edge"/>
          <c:yMode val="edge"/>
          <c:x val="0.28759995625546803"/>
          <c:y val="0.89409667541557303"/>
          <c:w val="0.53172947799883274"/>
          <c:h val="7.8125546806649168E-2"/>
        </c:manualLayout>
      </c:layout>
      <c:overlay val="0"/>
      <c:spPr>
        <a:noFill/>
        <a:ln>
          <a:noFill/>
        </a:ln>
        <a:effectLst/>
      </c:spPr>
      <c:txPr>
        <a:bodyPr rot="0" vert="horz"/>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a:latin typeface="+mn-lt"/>
          <a:cs typeface="Times New Roman" panose="02020603050405020304" pitchFamily="18" charset="0"/>
        </a:defRPr>
      </a:pPr>
      <a:endParaRPr lang="en-US"/>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Thống</a:t>
            </a:r>
            <a:r>
              <a:rPr lang="en-US" sz="1600" b="1" baseline="0">
                <a:solidFill>
                  <a:schemeClr val="tx1"/>
                </a:solidFill>
                <a:latin typeface="Times New Roman" panose="02020603050405020304" pitchFamily="18" charset="0"/>
                <a:cs typeface="Times New Roman" panose="02020603050405020304" pitchFamily="18" charset="0"/>
              </a:rPr>
              <a:t> kê </a:t>
            </a:r>
            <a:r>
              <a:rPr lang="en-US" sz="1600" b="1">
                <a:solidFill>
                  <a:schemeClr val="tx1"/>
                </a:solidFill>
                <a:latin typeface="Times New Roman" panose="02020603050405020304" pitchFamily="18" charset="0"/>
                <a:cs typeface="Times New Roman" panose="02020603050405020304" pitchFamily="18" charset="0"/>
              </a:rPr>
              <a:t>GTB</a:t>
            </a:r>
          </a:p>
        </c:rich>
      </c:tx>
      <c:layout/>
      <c:overlay val="0"/>
      <c:spPr>
        <a:noFill/>
        <a:ln>
          <a:noFill/>
        </a:ln>
        <a:effectLst/>
      </c:spPr>
    </c:title>
    <c:autoTitleDeleted val="0"/>
    <c:plotArea>
      <c:layout>
        <c:manualLayout>
          <c:layoutTarget val="inner"/>
          <c:xMode val="edge"/>
          <c:yMode val="edge"/>
          <c:x val="4.8553271516007079E-2"/>
          <c:y val="0.23258718451685151"/>
          <c:w val="0.92392962136768553"/>
          <c:h val="0.51878764300478664"/>
        </c:manualLayout>
      </c:layout>
      <c:barChart>
        <c:barDir val="col"/>
        <c:grouping val="clustered"/>
        <c:varyColors val="0"/>
        <c:ser>
          <c:idx val="0"/>
          <c:order val="0"/>
          <c:tx>
            <c:strRef>
              <c:f>'[W16 (14.04-20.04.2025).xlsx]Data Chart'!$C$20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'[W16 (14.04-20.04.2025).xlsx]Data Chart'!$B$21:$B$26</c:f>
              <c:strCache>
                <c:ptCount val="6"/>
                <c:pt idx="0">
                  <c:v>A320</c:v>
                </c:pt>
                <c:pt idx="1">
                  <c:v>A321</c:v>
                </c:pt>
                <c:pt idx="2">
                  <c:v>A350</c:v>
                </c:pt>
                <c:pt idx="3">
                  <c:v>B787</c:v>
                </c:pt>
                <c:pt idx="4">
                  <c:v>ATR72</c:v>
                </c:pt>
                <c:pt idx="5">
                  <c:v>Tất cả</c:v>
                </c:pt>
              </c:strCache>
            </c:strRef>
          </c:cat>
          <c:val>
            <c:numRef>
              <c:f>'[W16 (14.04-20.04.2025).xlsx]Data Chart'!$C$21:$C$26</c:f>
              <c:numCache>
                <c:formatCode>General</c:formatCode>
                <c:ptCount val="6"/>
                <c:pt idx="0">
                  <c:v>0</c:v>
                </c:pt>
                <c:pt idx="1">
                  <c:v>0</c:v>
                </c:pt>
                <c:pt idx="2">
                  <c:v>0</c:v>
                </c:pt>
                <c:pt idx="3">
                  <c:v>0</c:v>
                </c:pt>
                <c:pt idx="4">
                  <c:v>0</c:v>
                </c:pt>
                <c:pt idx="5">
                  <c:v>0</c:v>
                </c:pt>
              </c:numCache>
            </c:numRef>
          </c:val>
          <c:extLst xmlns:c15="http://schemas.microsoft.com/office/drawing/2012/chart">
            <c:ext xmlns:c16="http://schemas.microsoft.com/office/drawing/2014/chart" uri="{C3380CC4-5D6E-409C-BE32-E72D297353CC}">
              <c16:uniqueId val="{00000000-E774-48F1-A93A-0CA52E930DB9}"/>
            </c:ext>
          </c:extLst>
        </c:ser>
        <c:ser>
          <c:idx val="1"/>
          <c:order val="1"/>
          <c:tx>
            <c:strRef>
              <c:f>'[W16 (14.04-20.04.2025).xlsx]Data Chart'!$D$20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'[W16 (14.04-20.04.2025).xlsx]Data Chart'!$B$21:$B$26</c:f>
              <c:strCache>
                <c:ptCount val="6"/>
                <c:pt idx="0">
                  <c:v>A320</c:v>
                </c:pt>
                <c:pt idx="1">
                  <c:v>A321</c:v>
                </c:pt>
                <c:pt idx="2">
                  <c:v>A350</c:v>
                </c:pt>
                <c:pt idx="3">
                  <c:v>B787</c:v>
                </c:pt>
                <c:pt idx="4">
                  <c:v>ATR72</c:v>
                </c:pt>
                <c:pt idx="5">
                  <c:v>Tất cả</c:v>
                </c:pt>
              </c:strCache>
            </c:strRef>
          </c:cat>
          <c:val>
            <c:numRef>
              <c:f>'[W16 (14.04-20.04.2025).xlsx]Data Chart'!$D$21:$D$26</c:f>
              <c:numCache>
                <c:formatCode>General</c:formatCode>
                <c:ptCount val="6"/>
                <c:pt idx="0">
                  <c:v>0</c:v>
                </c:pt>
                <c:pt idx="1">
                  <c:v>1</c:v>
                </c:pt>
                <c:pt idx="2">
                  <c:v>0</c:v>
                </c:pt>
                <c:pt idx="3">
                  <c:v>2</c:v>
                </c:pt>
                <c:pt idx="4">
                  <c:v>0</c:v>
                </c:pt>
                <c:pt idx="5">
                  <c:v>3</c:v>
                </c:pt>
              </c:numCache>
            </c:numRef>
          </c:val>
          <c:extLst>
            <c:ext xmlns:c16="http://schemas.microsoft.com/office/drawing/2014/chart" uri="{C3380CC4-5D6E-409C-BE32-E72D297353CC}">
              <c16:uniqueId val="{00000001-E774-48F1-A93A-0CA52E930DB9}"/>
            </c:ext>
          </c:extLst>
        </c:ser>
        <c:dLbls>
          <c:showLegendKey val="0"/>
          <c:showVal val="0"/>
          <c:showCatName val="0"/>
          <c:showSerName val="0"/>
          <c:showPercent val="0"/>
          <c:showBubbleSize val="0"/>
        </c:dLbls>
        <c:gapWidth val="219"/>
        <c:overlap val="-27"/>
        <c:axId val="390115080"/>
        <c:axId val="390117432"/>
        <c:extLst/>
      </c:barChart>
      <c:catAx>
        <c:axId val="390115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90117432"/>
        <c:crosses val="autoZero"/>
        <c:auto val="1"/>
        <c:lblAlgn val="ctr"/>
        <c:lblOffset val="100"/>
        <c:noMultiLvlLbl val="0"/>
      </c:catAx>
      <c:valAx>
        <c:axId val="3901174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90115080"/>
        <c:crosses val="autoZero"/>
        <c:crossBetween val="between"/>
        <c:majorUnit val="1"/>
      </c:valAx>
      <c:spPr>
        <a:noFill/>
        <a:ln>
          <a:noFill/>
        </a:ln>
        <a:effectLst/>
      </c:spPr>
    </c:plotArea>
    <c:legend>
      <c:legendPos val="b"/>
      <c:layout>
        <c:manualLayout>
          <c:xMode val="edge"/>
          <c:yMode val="edge"/>
          <c:x val="0.23472701799472892"/>
          <c:y val="0.88146435647144594"/>
          <c:w val="0.56147071762910628"/>
          <c:h val="9.517110362403696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AOG</a:t>
            </a:r>
          </a:p>
        </c:rich>
      </c:tx>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'[W16 (14.04-20.04.2025).xlsx]Data Chart'!$C$2</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'[W16 (14.04-20.04.2025).xlsx]Data Chart'!$B$3:$B$8</c:f>
              <c:strCache>
                <c:ptCount val="6"/>
                <c:pt idx="0">
                  <c:v>A320</c:v>
                </c:pt>
                <c:pt idx="1">
                  <c:v>A321</c:v>
                </c:pt>
                <c:pt idx="2">
                  <c:v>A350</c:v>
                </c:pt>
                <c:pt idx="3">
                  <c:v>B787</c:v>
                </c:pt>
                <c:pt idx="4">
                  <c:v>ATR72</c:v>
                </c:pt>
                <c:pt idx="5">
                  <c:v>Tất cả</c:v>
                </c:pt>
              </c:strCache>
            </c:strRef>
          </c:cat>
          <c:val>
            <c:numRef>
              <c:f>'[W16 (14.04-20.04.2025).xlsx]Data Chart'!$C$3:$C$8</c:f>
              <c:numCache>
                <c:formatCode>General</c:formatCode>
                <c:ptCount val="6"/>
                <c:pt idx="0">
                  <c:v>0</c:v>
                </c:pt>
                <c:pt idx="1">
                  <c:v>0</c:v>
                </c:pt>
                <c:pt idx="2">
                  <c:v>0</c:v>
                </c:pt>
                <c:pt idx="3">
                  <c:v>1</c:v>
                </c:pt>
                <c:pt idx="4">
                  <c:v>0</c:v>
                </c:pt>
                <c:pt idx="5">
                  <c:v>1</c:v>
                </c:pt>
              </c:numCache>
            </c:numRef>
          </c:val>
          <c:extLst xmlns:c15="http://schemas.microsoft.com/office/drawing/2012/chart">
            <c:ext xmlns:c16="http://schemas.microsoft.com/office/drawing/2014/chart" uri="{C3380CC4-5D6E-409C-BE32-E72D297353CC}">
              <c16:uniqueId val="{00000000-0F0A-4F6A-92B8-6166BE3ABB87}"/>
            </c:ext>
          </c:extLst>
        </c:ser>
        <c:ser>
          <c:idx val="1"/>
          <c:order val="1"/>
          <c:tx>
            <c:strRef>
              <c:f>'[W16 (14.04-20.04.2025).xlsx]Data Chart'!$D$2</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'[W16 (14.04-20.04.2025).xlsx]Data Chart'!$B$3:$B$8</c:f>
              <c:strCache>
                <c:ptCount val="6"/>
                <c:pt idx="0">
                  <c:v>A320</c:v>
                </c:pt>
                <c:pt idx="1">
                  <c:v>A321</c:v>
                </c:pt>
                <c:pt idx="2">
                  <c:v>A350</c:v>
                </c:pt>
                <c:pt idx="3">
                  <c:v>B787</c:v>
                </c:pt>
                <c:pt idx="4">
                  <c:v>ATR72</c:v>
                </c:pt>
                <c:pt idx="5">
                  <c:v>Tất cả</c:v>
                </c:pt>
              </c:strCache>
            </c:strRef>
          </c:cat>
          <c:val>
            <c:numRef>
              <c:f>'[W16 (14.04-20.04.2025).xlsx]Data Chart'!$D$3:$D$8</c:f>
              <c:numCache>
                <c:formatCode>General</c:formatCode>
                <c:ptCount val="6"/>
                <c:pt idx="0">
                  <c:v>0</c:v>
                </c:pt>
                <c:pt idx="1">
                  <c:v>3</c:v>
                </c:pt>
                <c:pt idx="2">
                  <c:v>0</c:v>
                </c:pt>
                <c:pt idx="3">
                  <c:v>4</c:v>
                </c:pt>
                <c:pt idx="4">
                  <c:v>0</c:v>
                </c:pt>
                <c:pt idx="5">
                  <c:v>7</c:v>
                </c:pt>
              </c:numCache>
            </c:numRef>
          </c:val>
          <c:extLst>
            <c:ext xmlns:c16="http://schemas.microsoft.com/office/drawing/2014/chart" uri="{C3380CC4-5D6E-409C-BE32-E72D297353CC}">
              <c16:uniqueId val="{00000001-0F0A-4F6A-92B8-6166BE3ABB87}"/>
            </c:ext>
          </c:extLst>
        </c:ser>
        <c:dLbls>
          <c:dLblPos val="outEnd"/>
          <c:showLegendKey val="0"/>
          <c:showVal val="1"/>
          <c:showCatName val="0"/>
          <c:showSerName val="0"/>
          <c:showPercent val="0"/>
          <c:showBubbleSize val="0"/>
        </c:dLbls>
        <c:gapWidth val="219"/>
        <c:overlap val="-27"/>
        <c:axId val="390129192"/>
        <c:axId val="390127232"/>
        <c:extLst/>
      </c:barChart>
      <c:catAx>
        <c:axId val="3901291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90127232"/>
        <c:crosses val="autoZero"/>
        <c:auto val="1"/>
        <c:lblAlgn val="ctr"/>
        <c:lblOffset val="100"/>
        <c:noMultiLvlLbl val="0"/>
      </c:catAx>
      <c:valAx>
        <c:axId val="3901272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90129192"/>
        <c:crosses val="autoZero"/>
        <c:crossBetween val="between"/>
        <c:majorUnit val="3"/>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a:glow>
        <a:schemeClr val="accent1">
          <a:alpha val="40000"/>
        </a:schemeClr>
      </a:glow>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i="0" baseline="0">
                <a:solidFill>
                  <a:schemeClr val="tx1"/>
                </a:solidFill>
                <a:effectLst/>
                <a:latin typeface="Times New Roman" panose="02020603050405020304" pitchFamily="18" charset="0"/>
                <a:cs typeface="Times New Roman" panose="02020603050405020304" pitchFamily="18" charset="0"/>
              </a:rPr>
              <a:t>Thống kê ATB</a:t>
            </a:r>
            <a:endParaRPr lang="en-US" sz="1600">
              <a:solidFill>
                <a:schemeClr val="tx1"/>
              </a:solidFill>
              <a:effectLst/>
              <a:latin typeface="Times New Roman" panose="02020603050405020304" pitchFamily="18" charset="0"/>
              <a:cs typeface="Times New Roman" panose="02020603050405020304" pitchFamily="18" charset="0"/>
            </a:endParaRPr>
          </a:p>
        </c:rich>
      </c:tx>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'[W16 (14.04-20.04.2025).xlsx]Data Chart'!$C$27</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'[W16 (14.04-20.04.2025).xlsx]Data Chart'!$B$28:$B$33</c:f>
              <c:strCache>
                <c:ptCount val="6"/>
                <c:pt idx="0">
                  <c:v>A320</c:v>
                </c:pt>
                <c:pt idx="1">
                  <c:v>A321</c:v>
                </c:pt>
                <c:pt idx="2">
                  <c:v>A350</c:v>
                </c:pt>
                <c:pt idx="3">
                  <c:v>B787</c:v>
                </c:pt>
                <c:pt idx="4">
                  <c:v>ATR72</c:v>
                </c:pt>
                <c:pt idx="5">
                  <c:v>Tất cả</c:v>
                </c:pt>
              </c:strCache>
            </c:strRef>
          </c:cat>
          <c:val>
            <c:numRef>
              <c:f>'[W16 (14.04-20.04.2025).xlsx]Data Chart'!$C$28:$C$33</c:f>
              <c:numCache>
                <c:formatCode>General</c:formatCode>
                <c:ptCount val="6"/>
                <c:pt idx="0">
                  <c:v>0</c:v>
                </c:pt>
                <c:pt idx="1">
                  <c:v>0</c:v>
                </c:pt>
                <c:pt idx="2">
                  <c:v>1</c:v>
                </c:pt>
                <c:pt idx="3">
                  <c:v>0</c:v>
                </c:pt>
                <c:pt idx="4">
                  <c:v>0</c:v>
                </c:pt>
                <c:pt idx="5">
                  <c:v>1</c:v>
                </c:pt>
              </c:numCache>
            </c:numRef>
          </c:val>
          <c:extLst xmlns:c15="http://schemas.microsoft.com/office/drawing/2012/chart">
            <c:ext xmlns:c16="http://schemas.microsoft.com/office/drawing/2014/chart" uri="{C3380CC4-5D6E-409C-BE32-E72D297353CC}">
              <c16:uniqueId val="{00000000-A39D-4A90-ABB2-3AD40A8F5A3E}"/>
            </c:ext>
          </c:extLst>
        </c:ser>
        <c:ser>
          <c:idx val="1"/>
          <c:order val="1"/>
          <c:tx>
            <c:strRef>
              <c:f>'[W16 (14.04-20.04.2025).xlsx]Data Chart'!$D$27</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'[W16 (14.04-20.04.2025).xlsx]Data Chart'!$B$28:$B$33</c:f>
              <c:strCache>
                <c:ptCount val="6"/>
                <c:pt idx="0">
                  <c:v>A320</c:v>
                </c:pt>
                <c:pt idx="1">
                  <c:v>A321</c:v>
                </c:pt>
                <c:pt idx="2">
                  <c:v>A350</c:v>
                </c:pt>
                <c:pt idx="3">
                  <c:v>B787</c:v>
                </c:pt>
                <c:pt idx="4">
                  <c:v>ATR72</c:v>
                </c:pt>
                <c:pt idx="5">
                  <c:v>Tất cả</c:v>
                </c:pt>
              </c:strCache>
            </c:strRef>
          </c:cat>
          <c:val>
            <c:numRef>
              <c:f>'[W16 (14.04-20.04.2025).xlsx]Data Chart'!$D$28:$D$33</c:f>
              <c:numCache>
                <c:formatCode>General</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1-A39D-4A90-ABB2-3AD40A8F5A3E}"/>
            </c:ext>
          </c:extLst>
        </c:ser>
        <c:dLbls>
          <c:showLegendKey val="0"/>
          <c:showVal val="0"/>
          <c:showCatName val="0"/>
          <c:showSerName val="0"/>
          <c:showPercent val="0"/>
          <c:showBubbleSize val="0"/>
        </c:dLbls>
        <c:gapWidth val="219"/>
        <c:overlap val="-27"/>
        <c:axId val="390129976"/>
        <c:axId val="334184144"/>
        <c:extLst/>
      </c:barChart>
      <c:catAx>
        <c:axId val="3901299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4184144"/>
        <c:crosses val="autoZero"/>
        <c:auto val="1"/>
        <c:lblAlgn val="ctr"/>
        <c:lblOffset val="100"/>
        <c:noMultiLvlLbl val="0"/>
      </c:catAx>
      <c:valAx>
        <c:axId val="3341841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90129976"/>
        <c:crosses val="autoZero"/>
        <c:crossBetween val="between"/>
        <c:majorUnit val="1"/>
      </c:valAx>
      <c:spPr>
        <a:noFill/>
        <a:ln>
          <a:noFill/>
        </a:ln>
        <a:effectLst/>
      </c:spPr>
    </c:plotArea>
    <c:legend>
      <c:legendPos val="b"/>
      <c:layout>
        <c:manualLayout>
          <c:xMode val="edge"/>
          <c:yMode val="edge"/>
          <c:x val="0.30501405613658977"/>
          <c:y val="0.87827375237682981"/>
          <c:w val="0.50965540838670731"/>
          <c:h val="9.8401482124286316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12700" cap="flat" cmpd="sng" algn="ctr">
      <a:solidFill>
        <a:schemeClr val="tx1"/>
      </a:solidFill>
      <a:round/>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ATB Comparison</a:t>
            </a:r>
          </a:p>
        </c:rich>
      </c:tx>
      <c:layout/>
      <c:overlay val="0"/>
      <c:spPr>
        <a:noFill/>
        <a:ln>
          <a:noFill/>
        </a:ln>
        <a:effectLst/>
      </c:spPr>
    </c:title>
    <c:autoTitleDeleted val="0"/>
    <c:plotArea>
      <c:layout/>
      <c:lineChart>
        <c:grouping val="standard"/>
        <c:varyColors val="0"/>
        <c:ser>
          <c:idx val="0"/>
          <c:order val="0"/>
          <c:tx>
            <c:v>ATB in 2024</c:v>
          </c:tx>
          <c:spPr>
            <a:ln w="19050" cap="rnd">
              <a:solidFill>
                <a:srgbClr val="FFC000"/>
              </a:solidFill>
              <a:round/>
            </a:ln>
            <a:effectLst/>
          </c:spPr>
          <c:marker>
            <c:symbol val="circle"/>
            <c:size val="5"/>
            <c:spPr>
              <a:solidFill>
                <a:srgbClr val="FFC000"/>
              </a:solidFill>
              <a:ln w="9525">
                <a:solidFill>
                  <a:srgbClr val="FFC000"/>
                </a:solidFill>
              </a:ln>
              <a:effectLst/>
            </c:spPr>
          </c:marker>
          <c:cat>
            <c:numRef>
              <c:f>'[W16 (14.04-20.04.2025).xlsx]Thống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'[W16 (14.04-20.04.2025).xlsx]Thống kê ATB, GTB'!$B$3:$B$54</c:f>
              <c:numCache>
                <c:formatCode>General</c:formatCode>
                <c:ptCount val="52"/>
                <c:pt idx="0">
                  <c:v>1</c:v>
                </c:pt>
                <c:pt idx="1">
                  <c:v>1</c:v>
                </c:pt>
                <c:pt idx="2">
                  <c:v>1</c:v>
                </c:pt>
                <c:pt idx="3">
                  <c:v>0</c:v>
                </c:pt>
                <c:pt idx="4">
                  <c:v>1</c:v>
                </c:pt>
                <c:pt idx="5">
                  <c:v>0</c:v>
                </c:pt>
                <c:pt idx="6">
                  <c:v>1</c:v>
                </c:pt>
                <c:pt idx="7">
                  <c:v>0</c:v>
                </c:pt>
                <c:pt idx="8">
                  <c:v>0</c:v>
                </c:pt>
                <c:pt idx="9">
                  <c:v>0</c:v>
                </c:pt>
                <c:pt idx="10">
                  <c:v>0</c:v>
                </c:pt>
                <c:pt idx="11">
                  <c:v>0</c:v>
                </c:pt>
                <c:pt idx="12">
                  <c:v>0</c:v>
                </c:pt>
                <c:pt idx="13">
                  <c:v>0</c:v>
                </c:pt>
                <c:pt idx="14">
                  <c:v>0</c:v>
                </c:pt>
                <c:pt idx="15">
                  <c:v>0</c:v>
                </c:pt>
                <c:pt idx="16">
                  <c:v>0</c:v>
                </c:pt>
                <c:pt idx="17">
                  <c:v>0</c:v>
                </c:pt>
                <c:pt idx="18">
                  <c:v>0</c:v>
                </c:pt>
                <c:pt idx="19">
                  <c:v>1</c:v>
                </c:pt>
                <c:pt idx="20">
                  <c:v>0</c:v>
                </c:pt>
                <c:pt idx="21">
                  <c:v>0</c:v>
                </c:pt>
                <c:pt idx="22">
                  <c:v>1</c:v>
                </c:pt>
                <c:pt idx="23">
                  <c:v>0</c:v>
                </c:pt>
                <c:pt idx="24">
                  <c:v>0</c:v>
                </c:pt>
                <c:pt idx="25">
                  <c:v>0</c:v>
                </c:pt>
                <c:pt idx="26">
                  <c:v>1</c:v>
                </c:pt>
                <c:pt idx="27">
                  <c:v>2</c:v>
                </c:pt>
                <c:pt idx="28">
                  <c:v>0</c:v>
                </c:pt>
                <c:pt idx="29">
                  <c:v>2</c:v>
                </c:pt>
                <c:pt idx="30">
                  <c:v>0</c:v>
                </c:pt>
                <c:pt idx="31">
                  <c:v>0</c:v>
                </c:pt>
                <c:pt idx="32">
                  <c:v>0</c:v>
                </c:pt>
                <c:pt idx="33">
                  <c:v>0</c:v>
                </c:pt>
                <c:pt idx="34">
                  <c:v>0</c:v>
                </c:pt>
                <c:pt idx="35">
                  <c:v>0</c:v>
                </c:pt>
                <c:pt idx="36">
                  <c:v>1</c:v>
                </c:pt>
                <c:pt idx="37">
                  <c:v>0</c:v>
                </c:pt>
                <c:pt idx="38">
                  <c:v>1</c:v>
                </c:pt>
                <c:pt idx="39">
                  <c:v>0</c:v>
                </c:pt>
                <c:pt idx="40">
                  <c:v>1</c:v>
                </c:pt>
                <c:pt idx="41">
                  <c:v>0</c:v>
                </c:pt>
                <c:pt idx="42">
                  <c:v>0</c:v>
                </c:pt>
                <c:pt idx="43">
                  <c:v>1</c:v>
                </c:pt>
                <c:pt idx="44">
                  <c:v>0</c:v>
                </c:pt>
                <c:pt idx="45">
                  <c:v>0</c:v>
                </c:pt>
                <c:pt idx="46">
                  <c:v>0</c:v>
                </c:pt>
                <c:pt idx="47">
                  <c:v>1</c:v>
                </c:pt>
                <c:pt idx="48">
                  <c:v>0</c:v>
                </c:pt>
                <c:pt idx="49">
                  <c:v>2</c:v>
                </c:pt>
                <c:pt idx="50">
                  <c:v>1</c:v>
                </c:pt>
                <c:pt idx="51">
                  <c:v>0</c:v>
                </c:pt>
              </c:numCache>
            </c:numRef>
          </c:val>
          <c:smooth val="0"/>
          <c:extLst>
            <c:ext xmlns:c16="http://schemas.microsoft.com/office/drawing/2014/chart" uri="{C3380CC4-5D6E-409C-BE32-E72D297353CC}">
              <c16:uniqueId val="{00000000-3072-4CBB-9E73-17B53A2C207B}"/>
            </c:ext>
          </c:extLst>
        </c:ser>
        <c:ser>
          <c:idx val="1"/>
          <c:order val="1"/>
          <c:tx>
            <c:v>ATB in 2025</c:v>
          </c:tx>
          <c:spPr>
            <a:ln w="19050" cap="rnd">
              <a:solidFill>
                <a:srgbClr val="00B0F0"/>
              </a:solidFill>
              <a:round/>
            </a:ln>
            <a:effectLst/>
          </c:spPr>
          <c:marker>
            <c:symbol val="circle"/>
            <c:size val="5"/>
            <c:spPr>
              <a:solidFill>
                <a:srgbClr val="00B0F0"/>
              </a:solidFill>
              <a:ln w="9525">
                <a:solidFill>
                  <a:srgbClr val="00B0F0"/>
                </a:solidFill>
              </a:ln>
              <a:effectLst/>
            </c:spPr>
          </c:marker>
          <c:cat>
            <c:numRef>
              <c:f>'[W16 (14.04-20.04.2025).xlsx]Thống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'[W16 (14.04-20.04.2025).xlsx]Thống kê ATB, GTB'!$F$3:$F$54</c:f>
              <c:numCache>
                <c:formatCode>General</c:formatCode>
                <c:ptCount val="52"/>
                <c:pt idx="0">
                  <c:v>0</c:v>
                </c:pt>
                <c:pt idx="1">
                  <c:v>0</c:v>
                </c:pt>
                <c:pt idx="2">
                  <c:v>0</c:v>
                </c:pt>
                <c:pt idx="3">
                  <c:v>0</c:v>
                </c:pt>
                <c:pt idx="4">
                  <c:v>0</c:v>
                </c:pt>
                <c:pt idx="5">
                  <c:v>0</c:v>
                </c:pt>
                <c:pt idx="6">
                  <c:v>0</c:v>
                </c:pt>
                <c:pt idx="7">
                  <c:v>0</c:v>
                </c:pt>
                <c:pt idx="8">
                  <c:v>0</c:v>
                </c:pt>
                <c:pt idx="9">
                  <c:v>1</c:v>
                </c:pt>
                <c:pt idx="10">
                  <c:v>0</c:v>
                </c:pt>
                <c:pt idx="11">
                  <c:v>0</c:v>
                </c:pt>
                <c:pt idx="12">
                  <c:v>0</c:v>
                </c:pt>
                <c:pt idx="13">
                  <c:v>0</c:v>
                </c:pt>
                <c:pt idx="14">
                  <c:v>1</c:v>
                </c:pt>
                <c:pt idx="15">
                  <c:v>0</c:v>
                </c:pt>
              </c:numCache>
            </c:numRef>
          </c:val>
          <c:smooth val="0"/>
          <c:extLst>
            <c:ext xmlns:c16="http://schemas.microsoft.com/office/drawing/2014/chart" uri="{C3380CC4-5D6E-409C-BE32-E72D297353CC}">
              <c16:uniqueId val="{00000001-3072-4CBB-9E73-17B53A2C207B}"/>
            </c:ext>
          </c:extLst>
        </c:ser>
        <c:dLbls>
          <c:showLegendKey val="0"/>
          <c:showVal val="0"/>
          <c:showCatName val="0"/>
          <c:showSerName val="0"/>
          <c:showPercent val="0"/>
          <c:showBubbleSize val="0"/>
        </c:dLbls>
        <c:marker val="1"/>
        <c:smooth val="0"/>
        <c:axId val="329146496"/>
        <c:axId val="329144928"/>
      </c:lineChart>
      <c:catAx>
        <c:axId val="329146496"/>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4479109594402"/>
              <c:y val="0.9044444444444445"/>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9144928"/>
        <c:crosses val="autoZero"/>
        <c:auto val="1"/>
        <c:lblAlgn val="ctr"/>
        <c:lblOffset val="100"/>
        <c:noMultiLvlLbl val="0"/>
      </c:catAx>
      <c:valAx>
        <c:axId val="329144928"/>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ATB</a:t>
                </a:r>
              </a:p>
            </c:rich>
          </c:tx>
          <c:layout>
            <c:manualLayout>
              <c:xMode val="edge"/>
              <c:yMode val="edge"/>
              <c:x val="9.2776673293571907E-3"/>
              <c:y val="0.43418862642169731"/>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9146496"/>
        <c:crosses val="autoZero"/>
        <c:crossBetween val="between"/>
        <c:majorUnit val="1"/>
        <c:minorUnit val="1"/>
      </c:valAx>
      <c:spPr>
        <a:noFill/>
        <a:ln>
          <a:solidFill>
            <a:schemeClr val="tx1">
              <a:lumMod val="25000"/>
              <a:lumOff val="75000"/>
            </a:schemeClr>
          </a:solidFill>
        </a:ln>
        <a:effectLst/>
      </c:spPr>
    </c:plotArea>
    <c:legend>
      <c:legendPos val="r"/>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GTB Comparison</a:t>
            </a:r>
          </a:p>
        </c:rich>
      </c:tx>
      <c:layout/>
      <c:overlay val="0"/>
      <c:spPr>
        <a:noFill/>
        <a:ln>
          <a:noFill/>
        </a:ln>
        <a:effectLst/>
      </c:spPr>
    </c:title>
    <c:autoTitleDeleted val="0"/>
    <c:plotArea>
      <c:layout/>
      <c:lineChart>
        <c:grouping val="standard"/>
        <c:varyColors val="0"/>
        <c:ser>
          <c:idx val="0"/>
          <c:order val="0"/>
          <c:tx>
            <c:v>GTB in 2024</c:v>
          </c:tx>
          <c:spPr>
            <a:ln w="19050" cap="rnd">
              <a:solidFill>
                <a:srgbClr val="FFC000"/>
              </a:solidFill>
              <a:round/>
            </a:ln>
            <a:effectLst/>
          </c:spPr>
          <c:marker>
            <c:symbol val="circle"/>
            <c:size val="5"/>
            <c:spPr>
              <a:solidFill>
                <a:srgbClr val="FFC000"/>
              </a:solidFill>
              <a:ln w="9525">
                <a:solidFill>
                  <a:srgbClr val="FFC000"/>
                </a:solidFill>
              </a:ln>
              <a:effectLst/>
            </c:spPr>
          </c:marker>
          <c:val>
            <c:numRef>
              <c:f>'[W16 (14.04-20.04.2025).xlsx]Thống kê ATB, GTB'!$C$3:$C$54</c:f>
              <c:numCache>
                <c:formatCode>General</c:formatCode>
                <c:ptCount val="52"/>
                <c:pt idx="0">
                  <c:v>2</c:v>
                </c:pt>
                <c:pt idx="1">
                  <c:v>1</c:v>
                </c:pt>
                <c:pt idx="2">
                  <c:v>1</c:v>
                </c:pt>
                <c:pt idx="3">
                  <c:v>3</c:v>
                </c:pt>
                <c:pt idx="4">
                  <c:v>0</c:v>
                </c:pt>
                <c:pt idx="5">
                  <c:v>4</c:v>
                </c:pt>
                <c:pt idx="6">
                  <c:v>2</c:v>
                </c:pt>
                <c:pt idx="7">
                  <c:v>2</c:v>
                </c:pt>
                <c:pt idx="8">
                  <c:v>4</c:v>
                </c:pt>
                <c:pt idx="9">
                  <c:v>2</c:v>
                </c:pt>
                <c:pt idx="10">
                  <c:v>0</c:v>
                </c:pt>
                <c:pt idx="11">
                  <c:v>0</c:v>
                </c:pt>
                <c:pt idx="12">
                  <c:v>2</c:v>
                </c:pt>
                <c:pt idx="13">
                  <c:v>3</c:v>
                </c:pt>
                <c:pt idx="14">
                  <c:v>1</c:v>
                </c:pt>
                <c:pt idx="15">
                  <c:v>0</c:v>
                </c:pt>
                <c:pt idx="16">
                  <c:v>6</c:v>
                </c:pt>
                <c:pt idx="17">
                  <c:v>2</c:v>
                </c:pt>
                <c:pt idx="18">
                  <c:v>1</c:v>
                </c:pt>
                <c:pt idx="19">
                  <c:v>0</c:v>
                </c:pt>
                <c:pt idx="20">
                  <c:v>2</c:v>
                </c:pt>
                <c:pt idx="21">
                  <c:v>4</c:v>
                </c:pt>
                <c:pt idx="22">
                  <c:v>1</c:v>
                </c:pt>
                <c:pt idx="23">
                  <c:v>1</c:v>
                </c:pt>
                <c:pt idx="24">
                  <c:v>2</c:v>
                </c:pt>
                <c:pt idx="25">
                  <c:v>3</c:v>
                </c:pt>
                <c:pt idx="26">
                  <c:v>1</c:v>
                </c:pt>
                <c:pt idx="27">
                  <c:v>3</c:v>
                </c:pt>
                <c:pt idx="28">
                  <c:v>0</c:v>
                </c:pt>
                <c:pt idx="29">
                  <c:v>1</c:v>
                </c:pt>
                <c:pt idx="30">
                  <c:v>1</c:v>
                </c:pt>
                <c:pt idx="31">
                  <c:v>3</c:v>
                </c:pt>
                <c:pt idx="32">
                  <c:v>2</c:v>
                </c:pt>
                <c:pt idx="33">
                  <c:v>1</c:v>
                </c:pt>
                <c:pt idx="34">
                  <c:v>1</c:v>
                </c:pt>
                <c:pt idx="35">
                  <c:v>1</c:v>
                </c:pt>
                <c:pt idx="36">
                  <c:v>1</c:v>
                </c:pt>
                <c:pt idx="37">
                  <c:v>0</c:v>
                </c:pt>
                <c:pt idx="38">
                  <c:v>2</c:v>
                </c:pt>
                <c:pt idx="39">
                  <c:v>2</c:v>
                </c:pt>
                <c:pt idx="40">
                  <c:v>0</c:v>
                </c:pt>
                <c:pt idx="41">
                  <c:v>4</c:v>
                </c:pt>
                <c:pt idx="42">
                  <c:v>0</c:v>
                </c:pt>
                <c:pt idx="43">
                  <c:v>1</c:v>
                </c:pt>
                <c:pt idx="44">
                  <c:v>1</c:v>
                </c:pt>
                <c:pt idx="45">
                  <c:v>3</c:v>
                </c:pt>
                <c:pt idx="46">
                  <c:v>0</c:v>
                </c:pt>
                <c:pt idx="47">
                  <c:v>3</c:v>
                </c:pt>
                <c:pt idx="48">
                  <c:v>0</c:v>
                </c:pt>
                <c:pt idx="49">
                  <c:v>7</c:v>
                </c:pt>
                <c:pt idx="50">
                  <c:v>5</c:v>
                </c:pt>
                <c:pt idx="51">
                  <c:v>1</c:v>
                </c:pt>
              </c:numCache>
            </c:numRef>
          </c:val>
          <c:smooth val="0"/>
          <c:extLst>
            <c:ext xmlns:c16="http://schemas.microsoft.com/office/drawing/2014/chart" uri="{C3380CC4-5D6E-409C-BE32-E72D297353CC}">
              <c16:uniqueId val="{00000000-8038-40F3-ADE4-7A1CD9A16586}"/>
            </c:ext>
          </c:extLst>
        </c:ser>
        <c:ser>
          <c:idx val="1"/>
          <c:order val="1"/>
          <c:tx>
            <c:v>GTB in 2025</c:v>
          </c:tx>
          <c:spPr>
            <a:ln w="19050" cap="rnd">
              <a:solidFill>
                <a:srgbClr val="00B0F0"/>
              </a:solidFill>
              <a:round/>
            </a:ln>
            <a:effectLst/>
          </c:spPr>
          <c:marker>
            <c:symbol val="circle"/>
            <c:size val="5"/>
            <c:spPr>
              <a:solidFill>
                <a:srgbClr val="00B0F0"/>
              </a:solidFill>
              <a:ln w="9525">
                <a:solidFill>
                  <a:srgbClr val="00B0F0"/>
                </a:solidFill>
              </a:ln>
              <a:effectLst/>
            </c:spPr>
          </c:marker>
          <c:val>
            <c:numRef>
              <c:f>'[W16 (14.04-20.04.2025).xlsx]Thống kê ATB, GTB'!$G$3:$G$54</c:f>
              <c:numCache>
                <c:formatCode>General</c:formatCode>
                <c:ptCount val="52"/>
                <c:pt idx="0">
                  <c:v>1</c:v>
                </c:pt>
                <c:pt idx="1">
                  <c:v>2</c:v>
                </c:pt>
                <c:pt idx="2">
                  <c:v>1</c:v>
                </c:pt>
                <c:pt idx="3">
                  <c:v>3</c:v>
                </c:pt>
                <c:pt idx="4">
                  <c:v>3</c:v>
                </c:pt>
                <c:pt idx="5">
                  <c:v>1</c:v>
                </c:pt>
                <c:pt idx="6">
                  <c:v>3</c:v>
                </c:pt>
                <c:pt idx="7">
                  <c:v>2</c:v>
                </c:pt>
                <c:pt idx="8">
                  <c:v>4</c:v>
                </c:pt>
                <c:pt idx="9">
                  <c:v>3</c:v>
                </c:pt>
                <c:pt idx="10">
                  <c:v>1</c:v>
                </c:pt>
                <c:pt idx="11">
                  <c:v>1</c:v>
                </c:pt>
                <c:pt idx="12">
                  <c:v>0</c:v>
                </c:pt>
                <c:pt idx="13">
                  <c:v>3</c:v>
                </c:pt>
                <c:pt idx="14">
                  <c:v>0</c:v>
                </c:pt>
                <c:pt idx="15">
                  <c:v>3</c:v>
                </c:pt>
              </c:numCache>
            </c:numRef>
          </c:val>
          <c:smooth val="0"/>
          <c:extLst>
            <c:ext xmlns:c16="http://schemas.microsoft.com/office/drawing/2014/chart" uri="{C3380CC4-5D6E-409C-BE32-E72D297353CC}">
              <c16:uniqueId val="{00000001-8038-40F3-ADE4-7A1CD9A16586}"/>
            </c:ext>
          </c:extLst>
        </c:ser>
        <c:dLbls>
          <c:showLegendKey val="0"/>
          <c:showVal val="0"/>
          <c:showCatName val="0"/>
          <c:showSerName val="0"/>
          <c:showPercent val="0"/>
          <c:showBubbleSize val="0"/>
        </c:dLbls>
        <c:marker val="1"/>
        <c:smooth val="0"/>
        <c:axId val="329146888"/>
        <c:axId val="329145712"/>
      </c:lineChart>
      <c:catAx>
        <c:axId val="329146888"/>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07953377849297"/>
              <c:y val="0.91333330300378057"/>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9145712"/>
        <c:crosses val="autoZero"/>
        <c:auto val="1"/>
        <c:lblAlgn val="ctr"/>
        <c:lblOffset val="100"/>
        <c:noMultiLvlLbl val="0"/>
      </c:catAx>
      <c:valAx>
        <c:axId val="329145712"/>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GTB</a:t>
                </a:r>
              </a:p>
            </c:rich>
          </c:tx>
          <c:layout>
            <c:manualLayout>
              <c:xMode val="edge"/>
              <c:yMode val="edge"/>
              <c:x val="9.2876556191622411E-3"/>
              <c:y val="0.42974433236897019"/>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9146888"/>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484713059516321E-2"/>
          <c:y val="6.2711374378903909E-2"/>
          <c:w val="0.92226413421295206"/>
          <c:h val="0.76374283652369968"/>
        </c:manualLayout>
      </c:layout>
      <c:barChart>
        <c:barDir val="col"/>
        <c:grouping val="clustered"/>
        <c:varyColors val="0"/>
        <c:ser>
          <c:idx val="0"/>
          <c:order val="0"/>
          <c:tx>
            <c:strRef>
              <c:f>DR!$C$3</c:f>
              <c:strCache>
                <c:ptCount val="1"/>
                <c:pt idx="0">
                  <c:v>W15</c:v>
                </c:pt>
              </c:strCache>
            </c:strRef>
          </c:tx>
          <c:spPr>
            <a:solidFill>
              <a:schemeClr val="accent5">
                <a:lumMod val="50000"/>
              </a:schemeClr>
            </a:solidFill>
            <a:ln>
              <a:noFill/>
            </a:ln>
            <a:effectLst/>
          </c:spPr>
          <c:invertIfNegative val="0"/>
          <c:dLbls>
            <c:dLbl>
              <c:idx val="0"/>
              <c:layout>
                <c:manualLayout>
                  <c:x val="-4.4182621502209382E-3"/>
                  <c:y val="-1.1121491174714888E-7"/>
                </c:manualLayout>
              </c:layout>
              <c:showLegendKey val="0"/>
              <c:showVal val="1"/>
              <c:showCatName val="0"/>
              <c:showSerName val="0"/>
              <c:showPercent val="0"/>
              <c:showBubbleSize val="0"/>
              <c:extLst>
                <c:ext xmlns:c15="http://schemas.microsoft.com/office/drawing/2012/chart" uri="{CE6537A1-D6FC-4f65-9D91-7224C49458BB}">
                  <c15:layout>
                    <c:manualLayout>
                      <c:w val="4.8703937780973254E-2"/>
                      <c:h val="6.3644067796610151E-2"/>
                    </c:manualLayout>
                  </c15:layout>
                </c:ext>
                <c:ext xmlns:c16="http://schemas.microsoft.com/office/drawing/2014/chart" uri="{C3380CC4-5D6E-409C-BE32-E72D297353CC}">
                  <c16:uniqueId val="{00000000-54C9-4EFC-B23E-342A3AD061A4}"/>
                </c:ext>
              </c:extLst>
            </c:dLbl>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DR!$C$5:$C$8</c:f>
              <c:numCache>
                <c:formatCode>0.00</c:formatCode>
                <c:ptCount val="4"/>
                <c:pt idx="0">
                  <c:v>99.943117178612056</c:v>
                </c:pt>
                <c:pt idx="1">
                  <c:v>99.328859060402678</c:v>
                </c:pt>
                <c:pt idx="2">
                  <c:v>99.668874172185426</c:v>
                </c:pt>
                <c:pt idx="3">
                  <c:v>100</c:v>
                </c:pt>
              </c:numCache>
            </c:numRef>
          </c:val>
          <c:extLst>
            <c:ext xmlns:c16="http://schemas.microsoft.com/office/drawing/2014/chart" uri="{C3380CC4-5D6E-409C-BE32-E72D297353CC}">
              <c16:uniqueId val="{00000001-54C9-4EFC-B23E-342A3AD061A4}"/>
            </c:ext>
          </c:extLst>
        </c:ser>
        <c:ser>
          <c:idx val="1"/>
          <c:order val="1"/>
          <c:tx>
            <c:strRef>
              <c:f>DR!$D$3</c:f>
              <c:strCache>
                <c:ptCount val="1"/>
                <c:pt idx="0">
                  <c:v>W16</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DR!$D$5:$D$8</c:f>
              <c:numCache>
                <c:formatCode>0.00</c:formatCode>
                <c:ptCount val="4"/>
                <c:pt idx="0">
                  <c:v>99.854014598540147</c:v>
                </c:pt>
                <c:pt idx="1">
                  <c:v>100</c:v>
                </c:pt>
                <c:pt idx="2">
                  <c:v>98.670212765957444</c:v>
                </c:pt>
                <c:pt idx="3">
                  <c:v>100</c:v>
                </c:pt>
              </c:numCache>
            </c:numRef>
          </c:val>
          <c:extLst>
            <c:ext xmlns:c16="http://schemas.microsoft.com/office/drawing/2014/chart" uri="{C3380CC4-5D6E-409C-BE32-E72D297353CC}">
              <c16:uniqueId val="{00000002-54C9-4EFC-B23E-342A3AD061A4}"/>
            </c:ext>
          </c:extLst>
        </c:ser>
        <c:ser>
          <c:idx val="2"/>
          <c:order val="3"/>
          <c:tx>
            <c:strRef>
              <c:f>DR!$F$3</c:f>
              <c:strCache>
                <c:ptCount val="1"/>
                <c:pt idx="0">
                  <c:v>Target</c:v>
                </c:pt>
              </c:strCache>
            </c:strRef>
          </c:tx>
          <c:spPr>
            <a:solidFill>
              <a:srgbClr val="FFC000"/>
            </a:solidFill>
          </c:spPr>
          <c:invertIfNegative val="0"/>
          <c:dLbls>
            <c:dLbl>
              <c:idx val="0"/>
              <c:spPr>
                <a:noFill/>
                <a:ln>
                  <a:noFill/>
                </a:ln>
                <a:effectLst/>
              </c:spPr>
              <c:txPr>
                <a:bodyPr wrap="square" lIns="38100" tIns="19050" rIns="38100" bIns="19050" anchor="ctr">
                  <a:no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54C9-4EFC-B23E-342A3AD061A4}"/>
                </c:ext>
              </c:extLst>
            </c:dLbl>
            <c:spPr>
              <a:noFill/>
              <a:ln>
                <a:noFill/>
              </a:ln>
              <a:effectLst/>
            </c:spPr>
            <c:txPr>
              <a:bodyPr wrap="square" lIns="38100" tIns="19050" rIns="38100" bIns="19050" anchor="ctr">
                <a:sp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DR!$F$5:$F$8</c:f>
              <c:numCache>
                <c:formatCode>0.00</c:formatCode>
                <c:ptCount val="4"/>
                <c:pt idx="0">
                  <c:v>99.63</c:v>
                </c:pt>
                <c:pt idx="1">
                  <c:v>99.44</c:v>
                </c:pt>
                <c:pt idx="2">
                  <c:v>99.36</c:v>
                </c:pt>
                <c:pt idx="3">
                  <c:v>99.65</c:v>
                </c:pt>
              </c:numCache>
            </c:numRef>
          </c:val>
          <c:extLst>
            <c:ext xmlns:c16="http://schemas.microsoft.com/office/drawing/2014/chart" uri="{C3380CC4-5D6E-409C-BE32-E72D297353CC}">
              <c16:uniqueId val="{00000004-54C9-4EFC-B23E-342A3AD061A4}"/>
            </c:ext>
          </c:extLst>
        </c:ser>
        <c:dLbls>
          <c:showLegendKey val="0"/>
          <c:showVal val="0"/>
          <c:showCatName val="0"/>
          <c:showSerName val="0"/>
          <c:showPercent val="0"/>
          <c:showBubbleSize val="0"/>
        </c:dLbls>
        <c:gapWidth val="219"/>
        <c:overlap val="-27"/>
        <c:axId val="-1877735920"/>
        <c:axId val="-1877742448"/>
        <c:extLst>
          <c:ext xmlns:c15="http://schemas.microsoft.com/office/drawing/2012/chart" uri="{02D57815-91ED-43cb-92C2-25804820EDAC}">
            <c15:filteredBarSeries>
              <c15:ser>
                <c:idx val="3"/>
                <c:order val="2"/>
                <c:tx>
                  <c:strRef>
                    <c:extLst>
                      <c:ext uri="{02D57815-91ED-43cb-92C2-25804820EDAC}">
                        <c15:formulaRef>
                          <c15:sqref>DR!$E$3</c15:sqref>
                        </c15:formulaRef>
                      </c:ext>
                    </c:extLst>
                    <c:strCache>
                      <c:ptCount val="1"/>
                    </c:strCache>
                  </c:strRef>
                </c:tx>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uri="{CE6537A1-D6FC-4f65-9D91-7224C49458BB}">
                      <c15:showLeaderLines val="1"/>
                    </c:ext>
                  </c:extLst>
                </c:dLbls>
                <c:cat>
                  <c:strRef>
                    <c:extLst>
                      <c:ext uri="{02D57815-91ED-43cb-92C2-25804820EDAC}">
                        <c15:formulaRef>
                          <c15:sqref>DR!$B$5:$B$8</c15:sqref>
                        </c15:formulaRef>
                      </c:ext>
                    </c:extLst>
                    <c:strCache>
                      <c:ptCount val="4"/>
                      <c:pt idx="0">
                        <c:v>A321</c:v>
                      </c:pt>
                      <c:pt idx="1">
                        <c:v>A350</c:v>
                      </c:pt>
                      <c:pt idx="2">
                        <c:v>B787</c:v>
                      </c:pt>
                      <c:pt idx="3">
                        <c:v>ATR72</c:v>
                      </c:pt>
                    </c:strCache>
                  </c:strRef>
                </c:cat>
                <c:val>
                  <c:numRef>
                    <c:extLst>
                      <c:ext uri="{02D57815-91ED-43cb-92C2-25804820EDAC}">
                        <c15:formulaRef>
                          <c15:sqref>DR!$E$5:$E$8</c15:sqref>
                        </c15:formulaRef>
                      </c:ext>
                    </c:extLst>
                    <c:numCache>
                      <c:formatCode>General</c:formatCode>
                      <c:ptCount val="4"/>
                    </c:numCache>
                  </c:numRef>
                </c:val>
                <c:extLst>
                  <c:ext xmlns:c16="http://schemas.microsoft.com/office/drawing/2014/chart" uri="{C3380CC4-5D6E-409C-BE32-E72D297353CC}">
                    <c16:uniqueId val="{00000005-54C9-4EFC-B23E-342A3AD061A4}"/>
                  </c:ext>
                </c:extLst>
              </c15:ser>
            </c15:filteredBarSeries>
          </c:ext>
        </c:extLst>
      </c:barChart>
      <c:catAx>
        <c:axId val="-1877735920"/>
        <c:scaling>
          <c:orientation val="minMax"/>
        </c:scaling>
        <c:delete val="0"/>
        <c:axPos val="b"/>
        <c:numFmt formatCode="General" sourceLinked="1"/>
        <c:majorTickMark val="none"/>
        <c:minorTickMark val="none"/>
        <c:tickLblPos val="nextTo"/>
        <c:spPr>
          <a:noFill/>
          <a:ln w="19050" cap="flat" cmpd="sng" algn="ctr">
            <a:solidFill>
              <a:srgbClr val="000000"/>
            </a:solidFill>
            <a:round/>
            <a:tailEnd type="triangle"/>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crossAx val="-1877742448"/>
        <c:crosses val="autoZero"/>
        <c:auto val="1"/>
        <c:lblAlgn val="ctr"/>
        <c:lblOffset val="100"/>
        <c:noMultiLvlLbl val="0"/>
      </c:catAx>
      <c:valAx>
        <c:axId val="-1877742448"/>
        <c:scaling>
          <c:orientation val="minMax"/>
          <c:max val="100"/>
          <c:min val="95"/>
        </c:scaling>
        <c:delete val="0"/>
        <c:axPos val="l"/>
        <c:numFmt formatCode="0.0" sourceLinked="0"/>
        <c:majorTickMark val="none"/>
        <c:minorTickMark val="none"/>
        <c:tickLblPos val="nextTo"/>
        <c:spPr>
          <a:noFill/>
          <a:ln w="15875">
            <a:solidFill>
              <a:srgbClr val="000000"/>
            </a:solidFill>
            <a:tailEnd type="triangle"/>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1877735920"/>
        <c:crosses val="autoZero"/>
        <c:crossBetween val="between"/>
        <c:majorUnit val="1"/>
        <c:minorUnit val="0.5"/>
      </c:valAx>
      <c:spPr>
        <a:noFill/>
        <a:ln>
          <a:noFill/>
        </a:ln>
        <a:effectLst/>
      </c:spPr>
    </c:plotArea>
    <c:legend>
      <c:legendPos val="b"/>
      <c:layout>
        <c:manualLayout>
          <c:xMode val="edge"/>
          <c:yMode val="edge"/>
          <c:x val="0.33530118013598875"/>
          <c:y val="0.93235963844755665"/>
          <c:w val="0.28837344986830094"/>
          <c:h val="6.7640217261685578E-2"/>
        </c:manualLayout>
      </c:layout>
      <c:overlay val="0"/>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4789942122619287E-2"/>
          <c:y val="4.4293689684825485E-2"/>
          <c:w val="0.93681234355610998"/>
          <c:h val="0.8358298845569484"/>
        </c:manualLayout>
      </c:layout>
      <c:lineChart>
        <c:grouping val="standard"/>
        <c:varyColors val="0"/>
        <c:ser>
          <c:idx val="0"/>
          <c:order val="0"/>
          <c:tx>
            <c:strRef>
              <c:f>Sheet1!$C$8</c:f>
              <c:strCache>
                <c:ptCount val="1"/>
                <c:pt idx="0">
                  <c:v>A321CEO</c:v>
                </c:pt>
              </c:strCache>
            </c:strRef>
          </c:tx>
          <c:spPr>
            <a:ln w="19050" cap="rnd">
              <a:solidFill>
                <a:srgbClr val="FFC000"/>
              </a:solidFill>
              <a:round/>
            </a:ln>
            <a:effectLst/>
          </c:spPr>
          <c:marker>
            <c:symbol val="circle"/>
            <c:size val="20"/>
            <c:spPr>
              <a:solidFill>
                <a:srgbClr val="FFC000"/>
              </a:solidFill>
              <a:ln w="9525">
                <a:solidFill>
                  <a:srgbClr val="FFC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Sheet1!$D$8:$AC$8</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0-D6AD-4063-8EE1-45911A2334ED}"/>
            </c:ext>
          </c:extLst>
        </c:ser>
        <c:ser>
          <c:idx val="2"/>
          <c:order val="2"/>
          <c:tx>
            <c:strRef>
              <c:f>Sheet1!$C$10</c:f>
              <c:strCache>
                <c:ptCount val="1"/>
                <c:pt idx="0">
                  <c:v>A350</c:v>
                </c:pt>
              </c:strCache>
            </c:strRef>
          </c:tx>
          <c:spPr>
            <a:ln w="19050" cap="rnd">
              <a:solidFill>
                <a:srgbClr val="00B0F0"/>
              </a:solidFill>
              <a:round/>
            </a:ln>
            <a:effectLst/>
          </c:spPr>
          <c:marker>
            <c:symbol val="circle"/>
            <c:size val="23"/>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Sheet1!$D$10:$AC$10</c:f>
              <c:numCache>
                <c:formatCode>General</c:formatCode>
                <c:ptCount val="6"/>
                <c:pt idx="0">
                  <c:v>8</c:v>
                </c:pt>
                <c:pt idx="1">
                  <c:v>8.5</c:v>
                </c:pt>
                <c:pt idx="2">
                  <c:v>8</c:v>
                </c:pt>
                <c:pt idx="3">
                  <c:v>7</c:v>
                </c:pt>
                <c:pt idx="4">
                  <c:v>6</c:v>
                </c:pt>
                <c:pt idx="5">
                  <c:v>3</c:v>
                </c:pt>
              </c:numCache>
            </c:numRef>
          </c:val>
          <c:smooth val="0"/>
          <c:extLst>
            <c:ext xmlns:c16="http://schemas.microsoft.com/office/drawing/2014/chart" uri="{C3380CC4-5D6E-409C-BE32-E72D297353CC}">
              <c16:uniqueId val="{00000001-D6AD-4063-8EE1-45911A2334ED}"/>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Sheet1!$D$11:$AC$11</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2-D6AD-4063-8EE1-45911A2334ED}"/>
            </c:ext>
          </c:extLst>
        </c:ser>
        <c:dLbls>
          <c:dLblPos val="ctr"/>
          <c:showLegendKey val="0"/>
          <c:showVal val="1"/>
          <c:showCatName val="0"/>
          <c:showSerName val="0"/>
          <c:showPercent val="0"/>
          <c:showBubbleSize val="0"/>
        </c:dLbls>
        <c:marker val="1"/>
        <c:smooth val="0"/>
        <c:axId val="369124040"/>
        <c:axId val="369143248"/>
      </c:lineChart>
      <c:lineChart>
        <c:grouping val="standard"/>
        <c:varyColors val="0"/>
        <c:ser>
          <c:idx val="1"/>
          <c:order val="1"/>
          <c:tx>
            <c:strRef>
              <c:f>Sheet1!$C$9</c:f>
              <c:strCache>
                <c:ptCount val="1"/>
                <c:pt idx="0">
                  <c:v>A321NEO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Sheet1!$D$9:$AC$9</c:f>
              <c:numCache>
                <c:formatCode>General</c:formatCode>
                <c:ptCount val="6"/>
                <c:pt idx="0">
                  <c:v>28.5</c:v>
                </c:pt>
                <c:pt idx="1">
                  <c:v>27.5</c:v>
                </c:pt>
                <c:pt idx="2">
                  <c:v>29.75</c:v>
                </c:pt>
                <c:pt idx="3">
                  <c:v>29.25</c:v>
                </c:pt>
                <c:pt idx="4">
                  <c:v>29</c:v>
                </c:pt>
                <c:pt idx="5">
                  <c:v>24</c:v>
                </c:pt>
              </c:numCache>
            </c:numRef>
          </c:val>
          <c:smooth val="0"/>
          <c:extLst>
            <c:ext xmlns:c16="http://schemas.microsoft.com/office/drawing/2014/chart" uri="{C3380CC4-5D6E-409C-BE32-E72D297353CC}">
              <c16:uniqueId val="{00000003-D6AD-4063-8EE1-45911A2334ED}"/>
            </c:ext>
          </c:extLst>
        </c:ser>
        <c:ser>
          <c:idx val="4"/>
          <c:order val="4"/>
          <c:tx>
            <c:strRef>
              <c:f>Sheet1!$C$12</c:f>
              <c:strCache>
                <c:ptCount val="1"/>
                <c:pt idx="0">
                  <c:v>ATR72</c:v>
                </c:pt>
              </c:strCache>
            </c:strRef>
          </c:tx>
          <c:spPr>
            <a:ln w="19050" cap="rnd">
              <a:solidFill>
                <a:schemeClr val="accent4">
                  <a:lumMod val="60000"/>
                </a:schemeClr>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Sheet1!$D$12:$AC$12</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4-D6AD-4063-8EE1-45911A2334ED}"/>
            </c:ext>
          </c:extLst>
        </c:ser>
        <c:dLbls>
          <c:showLegendKey val="0"/>
          <c:showVal val="0"/>
          <c:showCatName val="0"/>
          <c:showSerName val="0"/>
          <c:showPercent val="0"/>
          <c:showBubbleSize val="0"/>
        </c:dLbls>
        <c:marker val="1"/>
        <c:smooth val="0"/>
        <c:axId val="369141680"/>
        <c:axId val="369140112"/>
      </c:lineChart>
      <c:catAx>
        <c:axId val="36912404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43248"/>
        <c:crosses val="autoZero"/>
        <c:auto val="1"/>
        <c:lblAlgn val="ctr"/>
        <c:lblOffset val="100"/>
        <c:noMultiLvlLbl val="0"/>
      </c:catAx>
      <c:valAx>
        <c:axId val="369143248"/>
        <c:scaling>
          <c:orientation val="minMax"/>
          <c:max val="20"/>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24040"/>
        <c:crosses val="autoZero"/>
        <c:crossBetween val="between"/>
      </c:valAx>
      <c:valAx>
        <c:axId val="369140112"/>
        <c:scaling>
          <c:orientation val="minMax"/>
          <c:max val="35"/>
          <c:min val="0"/>
        </c:scaling>
        <c:delete val="0"/>
        <c:axPos val="r"/>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41680"/>
        <c:crosses val="max"/>
        <c:crossBetween val="between"/>
      </c:valAx>
      <c:catAx>
        <c:axId val="369141680"/>
        <c:scaling>
          <c:orientation val="minMax"/>
        </c:scaling>
        <c:delete val="1"/>
        <c:axPos val="b"/>
        <c:numFmt formatCode="General" sourceLinked="1"/>
        <c:majorTickMark val="out"/>
        <c:minorTickMark val="none"/>
        <c:tickLblPos val="nextTo"/>
        <c:crossAx val="369140112"/>
        <c:crosses val="autoZero"/>
        <c:auto val="1"/>
        <c:lblAlgn val="ctr"/>
        <c:lblOffset val="100"/>
        <c:noMultiLvlLbl val="0"/>
      </c:catAx>
      <c:spPr>
        <a:noFill/>
        <a:ln>
          <a:noFill/>
        </a:ln>
        <a:effectLst/>
      </c:spPr>
    </c:plotArea>
    <c:legend>
      <c:legendPos val="b"/>
      <c:layout>
        <c:manualLayout>
          <c:xMode val="edge"/>
          <c:yMode val="edge"/>
          <c:x val="3.2108065818695741E-2"/>
          <c:y val="1.3638679970698371E-2"/>
          <c:w val="0.89903166467431961"/>
          <c:h val="7.3197199055431955E-2"/>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A321CEO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Sheet1!$D$7:$AU$7</c:f>
              <c:strCache>
                <c:ptCount val="12"/>
                <c:pt idx="0">
                  <c:v>Apr-W1</c:v>
                </c:pt>
                <c:pt idx="1">
                  <c:v>Apr-W2</c:v>
                </c:pt>
                <c:pt idx="2">
                  <c:v>Apr-W3</c:v>
                </c:pt>
                <c:pt idx="3">
                  <c:v>Apr-W4</c:v>
                </c:pt>
                <c:pt idx="4">
                  <c:v>May-W1</c:v>
                </c:pt>
                <c:pt idx="5">
                  <c:v>May-W2</c:v>
                </c:pt>
                <c:pt idx="6">
                  <c:v>May-W3</c:v>
                </c:pt>
                <c:pt idx="7">
                  <c:v>May-W4</c:v>
                </c:pt>
                <c:pt idx="8">
                  <c:v>June-W1</c:v>
                </c:pt>
                <c:pt idx="9">
                  <c:v>June-W2</c:v>
                </c:pt>
                <c:pt idx="10">
                  <c:v>June-W3</c:v>
                </c:pt>
                <c:pt idx="11">
                  <c:v>June-W4</c:v>
                </c:pt>
              </c:strCache>
            </c:strRef>
          </c:cat>
          <c:val>
            <c:numRef>
              <c:f>Sheet1!$D$8:$AU$8</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0-BD83-4FDB-9BCE-4410951EBD59}"/>
            </c:ext>
          </c:extLst>
        </c:ser>
        <c:ser>
          <c:idx val="1"/>
          <c:order val="1"/>
          <c:tx>
            <c:strRef>
              <c:f>Sheet1!$C$9</c:f>
              <c:strCache>
                <c:ptCount val="1"/>
                <c:pt idx="0">
                  <c:v>A321NEO</c:v>
                </c:pt>
              </c:strCache>
            </c:strRef>
          </c:tx>
          <c:spPr>
            <a:ln w="19050" cap="rnd">
              <a:solidFill>
                <a:srgbClr val="00B0F0"/>
              </a:solidFill>
              <a:round/>
            </a:ln>
            <a:effectLst/>
          </c:spPr>
          <c:marker>
            <c:symbol val="circle"/>
            <c:size val="20"/>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Sheet1!$D$7:$AU$7</c:f>
              <c:strCache>
                <c:ptCount val="12"/>
                <c:pt idx="0">
                  <c:v>Apr-W1</c:v>
                </c:pt>
                <c:pt idx="1">
                  <c:v>Apr-W2</c:v>
                </c:pt>
                <c:pt idx="2">
                  <c:v>Apr-W3</c:v>
                </c:pt>
                <c:pt idx="3">
                  <c:v>Apr-W4</c:v>
                </c:pt>
                <c:pt idx="4">
                  <c:v>May-W1</c:v>
                </c:pt>
                <c:pt idx="5">
                  <c:v>May-W2</c:v>
                </c:pt>
                <c:pt idx="6">
                  <c:v>May-W3</c:v>
                </c:pt>
                <c:pt idx="7">
                  <c:v>May-W4</c:v>
                </c:pt>
                <c:pt idx="8">
                  <c:v>June-W1</c:v>
                </c:pt>
                <c:pt idx="9">
                  <c:v>June-W2</c:v>
                </c:pt>
                <c:pt idx="10">
                  <c:v>June-W3</c:v>
                </c:pt>
                <c:pt idx="11">
                  <c:v>June-W4</c:v>
                </c:pt>
              </c:strCache>
            </c:strRef>
          </c:cat>
          <c:val>
            <c:numRef>
              <c:f>Sheet1!$D$9:$AU$9</c:f>
              <c:numCache>
                <c:formatCode>General</c:formatCode>
                <c:ptCount val="12"/>
                <c:pt idx="0">
                  <c:v>30</c:v>
                </c:pt>
                <c:pt idx="1">
                  <c:v>29</c:v>
                </c:pt>
                <c:pt idx="2">
                  <c:v>29</c:v>
                </c:pt>
                <c:pt idx="3">
                  <c:v>29</c:v>
                </c:pt>
                <c:pt idx="4">
                  <c:v>27</c:v>
                </c:pt>
                <c:pt idx="5">
                  <c:v>26</c:v>
                </c:pt>
                <c:pt idx="6">
                  <c:v>27</c:v>
                </c:pt>
                <c:pt idx="7">
                  <c:v>25</c:v>
                </c:pt>
                <c:pt idx="8">
                  <c:v>24</c:v>
                </c:pt>
                <c:pt idx="9">
                  <c:v>23</c:v>
                </c:pt>
                <c:pt idx="10">
                  <c:v>22</c:v>
                </c:pt>
                <c:pt idx="11">
                  <c:v>22</c:v>
                </c:pt>
              </c:numCache>
            </c:numRef>
          </c:val>
          <c:smooth val="0"/>
          <c:extLst>
            <c:ext xmlns:c16="http://schemas.microsoft.com/office/drawing/2014/chart" uri="{C3380CC4-5D6E-409C-BE32-E72D297353CC}">
              <c16:uniqueId val="{00000001-BD83-4FDB-9BCE-4410951EBD59}"/>
            </c:ext>
          </c:extLst>
        </c:ser>
        <c:ser>
          <c:idx val="2"/>
          <c:order val="2"/>
          <c:tx>
            <c:strRef>
              <c:f>Sheet1!$C$10</c:f>
              <c:strCache>
                <c:ptCount val="1"/>
                <c:pt idx="0">
                  <c:v>A350</c:v>
                </c:pt>
              </c:strCache>
            </c:strRef>
          </c:tx>
          <c:spPr>
            <a:ln w="19050" cap="rnd">
              <a:solidFill>
                <a:schemeClr val="accent6"/>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Sheet1!$D$7:$AU$7</c:f>
              <c:strCache>
                <c:ptCount val="12"/>
                <c:pt idx="0">
                  <c:v>Apr-W1</c:v>
                </c:pt>
                <c:pt idx="1">
                  <c:v>Apr-W2</c:v>
                </c:pt>
                <c:pt idx="2">
                  <c:v>Apr-W3</c:v>
                </c:pt>
                <c:pt idx="3">
                  <c:v>Apr-W4</c:v>
                </c:pt>
                <c:pt idx="4">
                  <c:v>May-W1</c:v>
                </c:pt>
                <c:pt idx="5">
                  <c:v>May-W2</c:v>
                </c:pt>
                <c:pt idx="6">
                  <c:v>May-W3</c:v>
                </c:pt>
                <c:pt idx="7">
                  <c:v>May-W4</c:v>
                </c:pt>
                <c:pt idx="8">
                  <c:v>June-W1</c:v>
                </c:pt>
                <c:pt idx="9">
                  <c:v>June-W2</c:v>
                </c:pt>
                <c:pt idx="10">
                  <c:v>June-W3</c:v>
                </c:pt>
                <c:pt idx="11">
                  <c:v>June-W4</c:v>
                </c:pt>
              </c:strCache>
            </c:strRef>
          </c:cat>
          <c:val>
            <c:numRef>
              <c:f>Sheet1!$D$10:$AU$10</c:f>
              <c:numCache>
                <c:formatCode>General</c:formatCode>
                <c:ptCount val="12"/>
                <c:pt idx="0">
                  <c:v>7</c:v>
                </c:pt>
                <c:pt idx="1">
                  <c:v>7</c:v>
                </c:pt>
                <c:pt idx="2">
                  <c:v>7</c:v>
                </c:pt>
                <c:pt idx="3">
                  <c:v>6</c:v>
                </c:pt>
                <c:pt idx="4">
                  <c:v>6</c:v>
                </c:pt>
                <c:pt idx="5">
                  <c:v>6</c:v>
                </c:pt>
                <c:pt idx="6">
                  <c:v>6</c:v>
                </c:pt>
                <c:pt idx="7">
                  <c:v>6</c:v>
                </c:pt>
                <c:pt idx="8">
                  <c:v>5</c:v>
                </c:pt>
                <c:pt idx="9">
                  <c:v>4</c:v>
                </c:pt>
                <c:pt idx="10">
                  <c:v>4</c:v>
                </c:pt>
                <c:pt idx="11">
                  <c:v>3</c:v>
                </c:pt>
              </c:numCache>
            </c:numRef>
          </c:val>
          <c:smooth val="0"/>
          <c:extLst>
            <c:ext xmlns:c16="http://schemas.microsoft.com/office/drawing/2014/chart" uri="{C3380CC4-5D6E-409C-BE32-E72D297353CC}">
              <c16:uniqueId val="{00000002-BD83-4FDB-9BCE-4410951EBD59}"/>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chemeClr val="accent2">
                  <a:lumMod val="50000"/>
                </a:schemeClr>
              </a:solidFill>
              <a:ln w="9525">
                <a:solidFill>
                  <a:schemeClr val="accent2">
                    <a:lumMod val="5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Sheet1!$D$7:$AU$7</c:f>
              <c:strCache>
                <c:ptCount val="12"/>
                <c:pt idx="0">
                  <c:v>Apr-W1</c:v>
                </c:pt>
                <c:pt idx="1">
                  <c:v>Apr-W2</c:v>
                </c:pt>
                <c:pt idx="2">
                  <c:v>Apr-W3</c:v>
                </c:pt>
                <c:pt idx="3">
                  <c:v>Apr-W4</c:v>
                </c:pt>
                <c:pt idx="4">
                  <c:v>May-W1</c:v>
                </c:pt>
                <c:pt idx="5">
                  <c:v>May-W2</c:v>
                </c:pt>
                <c:pt idx="6">
                  <c:v>May-W3</c:v>
                </c:pt>
                <c:pt idx="7">
                  <c:v>May-W4</c:v>
                </c:pt>
                <c:pt idx="8">
                  <c:v>June-W1</c:v>
                </c:pt>
                <c:pt idx="9">
                  <c:v>June-W2</c:v>
                </c:pt>
                <c:pt idx="10">
                  <c:v>June-W3</c:v>
                </c:pt>
                <c:pt idx="11">
                  <c:v>June-W4</c:v>
                </c:pt>
              </c:strCache>
            </c:strRef>
          </c:cat>
          <c:val>
            <c:numRef>
              <c:f>Sheet1!$D$11:$AU$11</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3-BD83-4FDB-9BCE-4410951EBD59}"/>
            </c:ext>
          </c:extLst>
        </c:ser>
        <c:ser>
          <c:idx val="4"/>
          <c:order val="4"/>
          <c:tx>
            <c:strRef>
              <c:f>Sheet1!$C$12</c:f>
              <c:strCache>
                <c:ptCount val="1"/>
                <c:pt idx="0">
                  <c:v>ATR72</c:v>
                </c:pt>
              </c:strCache>
            </c:strRef>
          </c:tx>
          <c:spPr>
            <a:ln w="19050" cap="rnd">
              <a:solidFill>
                <a:srgbClr val="FFC000"/>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Sheet1!$D$7:$AU$7</c:f>
              <c:strCache>
                <c:ptCount val="12"/>
                <c:pt idx="0">
                  <c:v>Apr-W1</c:v>
                </c:pt>
                <c:pt idx="1">
                  <c:v>Apr-W2</c:v>
                </c:pt>
                <c:pt idx="2">
                  <c:v>Apr-W3</c:v>
                </c:pt>
                <c:pt idx="3">
                  <c:v>Apr-W4</c:v>
                </c:pt>
                <c:pt idx="4">
                  <c:v>May-W1</c:v>
                </c:pt>
                <c:pt idx="5">
                  <c:v>May-W2</c:v>
                </c:pt>
                <c:pt idx="6">
                  <c:v>May-W3</c:v>
                </c:pt>
                <c:pt idx="7">
                  <c:v>May-W4</c:v>
                </c:pt>
                <c:pt idx="8">
                  <c:v>June-W1</c:v>
                </c:pt>
                <c:pt idx="9">
                  <c:v>June-W2</c:v>
                </c:pt>
                <c:pt idx="10">
                  <c:v>June-W3</c:v>
                </c:pt>
                <c:pt idx="11">
                  <c:v>June-W4</c:v>
                </c:pt>
              </c:strCache>
            </c:strRef>
          </c:cat>
          <c:val>
            <c:numRef>
              <c:f>Sheet1!$D$12:$AU$12</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4-BD83-4FDB-9BCE-4410951EBD59}"/>
            </c:ext>
          </c:extLst>
        </c:ser>
        <c:dLbls>
          <c:dLblPos val="ctr"/>
          <c:showLegendKey val="0"/>
          <c:showVal val="1"/>
          <c:showCatName val="0"/>
          <c:showSerName val="0"/>
          <c:showPercent val="0"/>
          <c:showBubbleSize val="0"/>
        </c:dLbls>
        <c:marker val="1"/>
        <c:smooth val="0"/>
        <c:axId val="369136192"/>
        <c:axId val="369138152"/>
      </c:lineChart>
      <c:catAx>
        <c:axId val="3691361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8152"/>
        <c:crosses val="autoZero"/>
        <c:auto val="1"/>
        <c:lblAlgn val="ctr"/>
        <c:lblOffset val="100"/>
        <c:tickMarkSkip val="1"/>
        <c:noMultiLvlLbl val="0"/>
      </c:catAx>
      <c:valAx>
        <c:axId val="369138152"/>
        <c:scaling>
          <c:orientation val="minMax"/>
          <c:max val="34"/>
          <c:min val="-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6192"/>
        <c:crosses val="autoZero"/>
        <c:crossBetween val="between"/>
      </c:valAx>
      <c:spPr>
        <a:noFill/>
        <a:ln>
          <a:noFill/>
        </a:ln>
        <a:effectLst/>
      </c:spPr>
    </c:plotArea>
    <c:legend>
      <c:legendPos val="b"/>
      <c:layout>
        <c:manualLayout>
          <c:xMode val="edge"/>
          <c:yMode val="edge"/>
          <c:x val="0.45427866677955575"/>
          <c:y val="0.36957218535300551"/>
          <c:w val="0.26506228656901759"/>
          <c:h val="0.21602423181857586"/>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Ảnh hưởng của A621 nếu thay động cơ</c:v>
                </c:pt>
              </c:strCache>
            </c:strRef>
          </c:tx>
          <c:spPr>
            <a:ln w="31750" cap="rnd">
              <a:solidFill>
                <a:srgbClr val="FF0000"/>
              </a:solidFill>
              <a:round/>
            </a:ln>
            <a:effectLst/>
          </c:spPr>
          <c:marker>
            <c:symbol val="circle"/>
            <c:size val="25"/>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Sheet1!$D$7:$O$7</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Sheet1!$D$8:$O$8</c:f>
              <c:numCache>
                <c:formatCode>General</c:formatCode>
                <c:ptCount val="12"/>
                <c:pt idx="0">
                  <c:v>14.25</c:v>
                </c:pt>
                <c:pt idx="1">
                  <c:v>13.75</c:v>
                </c:pt>
                <c:pt idx="2">
                  <c:v>15.25</c:v>
                </c:pt>
                <c:pt idx="3">
                  <c:v>15</c:v>
                </c:pt>
                <c:pt idx="4">
                  <c:v>14.5</c:v>
                </c:pt>
                <c:pt idx="5">
                  <c:v>12</c:v>
                </c:pt>
                <c:pt idx="6">
                  <c:v>11.5</c:v>
                </c:pt>
                <c:pt idx="7">
                  <c:v>12</c:v>
                </c:pt>
                <c:pt idx="8">
                  <c:v>12</c:v>
                </c:pt>
                <c:pt idx="9">
                  <c:v>12</c:v>
                </c:pt>
                <c:pt idx="10">
                  <c:v>12</c:v>
                </c:pt>
                <c:pt idx="11">
                  <c:v>11</c:v>
                </c:pt>
              </c:numCache>
            </c:numRef>
          </c:val>
          <c:smooth val="0"/>
          <c:extLst>
            <c:ext xmlns:c16="http://schemas.microsoft.com/office/drawing/2014/chart" uri="{C3380CC4-5D6E-409C-BE32-E72D297353CC}">
              <c16:uniqueId val="{00000000-004B-458A-8713-88F7F4F6F328}"/>
            </c:ext>
          </c:extLst>
        </c:ser>
        <c:ser>
          <c:idx val="1"/>
          <c:order val="1"/>
          <c:tx>
            <c:strRef>
              <c:f>Sheet1!$C$9</c:f>
              <c:strCache>
                <c:ptCount val="1"/>
                <c:pt idx="0">
                  <c:v>KB Cũ</c:v>
                </c:pt>
              </c:strCache>
            </c:strRef>
          </c:tx>
          <c:spPr>
            <a:ln w="19050" cap="rnd">
              <a:solidFill>
                <a:srgbClr val="00B0F0"/>
              </a:solidFill>
              <a:round/>
            </a:ln>
            <a:effectLst/>
          </c:spPr>
          <c:marker>
            <c:symbol val="circle"/>
            <c:size val="25"/>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Sheet1!$D$7:$O$7</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Sheet1!$D$9:$O$9</c:f>
              <c:numCache>
                <c:formatCode>General</c:formatCode>
                <c:ptCount val="12"/>
                <c:pt idx="0">
                  <c:v>14.25</c:v>
                </c:pt>
                <c:pt idx="1">
                  <c:v>13.75</c:v>
                </c:pt>
                <c:pt idx="2">
                  <c:v>15.25</c:v>
                </c:pt>
                <c:pt idx="3">
                  <c:v>15</c:v>
                </c:pt>
                <c:pt idx="4">
                  <c:v>14</c:v>
                </c:pt>
                <c:pt idx="5">
                  <c:v>12</c:v>
                </c:pt>
                <c:pt idx="6">
                  <c:v>11</c:v>
                </c:pt>
                <c:pt idx="7">
                  <c:v>11.5</c:v>
                </c:pt>
                <c:pt idx="8">
                  <c:v>12</c:v>
                </c:pt>
                <c:pt idx="9">
                  <c:v>12</c:v>
                </c:pt>
                <c:pt idx="10">
                  <c:v>12</c:v>
                </c:pt>
                <c:pt idx="11">
                  <c:v>11</c:v>
                </c:pt>
              </c:numCache>
            </c:numRef>
          </c:val>
          <c:smooth val="0"/>
          <c:extLst>
            <c:ext xmlns:c16="http://schemas.microsoft.com/office/drawing/2014/chart" uri="{C3380CC4-5D6E-409C-BE32-E72D297353CC}">
              <c16:uniqueId val="{00000001-71F6-424F-B3AF-3760BAAA0FDD}"/>
            </c:ext>
          </c:extLst>
        </c:ser>
        <c:dLbls>
          <c:dLblPos val="ctr"/>
          <c:showLegendKey val="0"/>
          <c:showVal val="1"/>
          <c:showCatName val="0"/>
          <c:showSerName val="0"/>
          <c:showPercent val="0"/>
          <c:showBubbleSize val="0"/>
        </c:dLbls>
        <c:marker val="1"/>
        <c:smooth val="0"/>
        <c:axId val="369136192"/>
        <c:axId val="369138152"/>
      </c:lineChart>
      <c:catAx>
        <c:axId val="3691361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8152"/>
        <c:crosses val="autoZero"/>
        <c:auto val="1"/>
        <c:lblAlgn val="ctr"/>
        <c:lblOffset val="100"/>
        <c:tickMarkSkip val="1"/>
        <c:noMultiLvlLbl val="0"/>
      </c:catAx>
      <c:valAx>
        <c:axId val="369138152"/>
        <c:scaling>
          <c:orientation val="minMax"/>
          <c:max val="16"/>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6192"/>
        <c:crosses val="autoZero"/>
        <c:crossBetween val="between"/>
        <c:majorUnit val="1"/>
      </c:valAx>
      <c:spPr>
        <a:noFill/>
        <a:ln>
          <a:noFill/>
        </a:ln>
        <a:effectLst/>
      </c:spPr>
    </c:plotArea>
    <c:legend>
      <c:legendPos val="b"/>
      <c:layout>
        <c:manualLayout>
          <c:xMode val="edge"/>
          <c:yMode val="edge"/>
          <c:x val="0.48331089662179322"/>
          <c:y val="9.4066010615305229E-2"/>
          <c:w val="0.41050342900685799"/>
          <c:h val="5.6761391848743951E-2"/>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latin typeface="Times New Roman" panose="02020603050405020304" pitchFamily="18" charset="0"/>
              </a:rPr>
              <a:t>ĐỘI</a:t>
            </a:r>
            <a:r>
              <a:rPr lang="en-US" sz="1000" baseline="0" dirty="0">
                <a:solidFill>
                  <a:schemeClr val="tx1"/>
                </a:solidFill>
                <a:latin typeface="Times New Roman" panose="02020603050405020304" pitchFamily="18" charset="0"/>
              </a:rPr>
              <a:t> BAY B787</a:t>
            </a:r>
            <a:endParaRPr lang="en-US" sz="1000" dirty="0">
              <a:solidFill>
                <a:schemeClr val="tx1"/>
              </a:solidFill>
              <a:latin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78943944380291E-2"/>
          <c:y val="8.7481841457847848E-2"/>
          <c:w val="0.88719896978880353"/>
          <c:h val="0.79400996275743063"/>
        </c:manualLayout>
      </c:layout>
      <c:lineChart>
        <c:grouping val="standard"/>
        <c:varyColors val="0"/>
        <c:ser>
          <c:idx val="5"/>
          <c:order val="0"/>
          <c:tx>
            <c:strRef>
              <c:f>Sheet1!$B$1</c:f>
              <c:strCache>
                <c:ptCount val="1"/>
                <c:pt idx="0">
                  <c:v>B787 Available</c:v>
                </c:pt>
              </c:strCache>
            </c:strRef>
          </c:tx>
          <c:spPr>
            <a:ln w="28575" cap="rnd">
              <a:solidFill>
                <a:srgbClr val="FF0000"/>
              </a:solidFill>
              <a:round/>
            </a:ln>
            <a:effectLst/>
          </c:spPr>
          <c:marker>
            <c:symbol val="circle"/>
            <c:size val="20"/>
            <c:spPr>
              <a:solidFill>
                <a:srgbClr val="002060"/>
              </a:solidFill>
              <a:ln w="9525">
                <a:solidFill>
                  <a:srgbClr val="00206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Sheet1!$B$2:$B$13</c:f>
              <c:numCache>
                <c:formatCode>General</c:formatCode>
                <c:ptCount val="12"/>
                <c:pt idx="0">
                  <c:v>17</c:v>
                </c:pt>
                <c:pt idx="1">
                  <c:v>17</c:v>
                </c:pt>
                <c:pt idx="2">
                  <c:v>17</c:v>
                </c:pt>
                <c:pt idx="3">
                  <c:v>17</c:v>
                </c:pt>
                <c:pt idx="4">
                  <c:v>17</c:v>
                </c:pt>
                <c:pt idx="5">
                  <c:v>17</c:v>
                </c:pt>
                <c:pt idx="6">
                  <c:v>17</c:v>
                </c:pt>
                <c:pt idx="7">
                  <c:v>17</c:v>
                </c:pt>
                <c:pt idx="8">
                  <c:v>17</c:v>
                </c:pt>
                <c:pt idx="9">
                  <c:v>17</c:v>
                </c:pt>
                <c:pt idx="10">
                  <c:v>17</c:v>
                </c:pt>
                <c:pt idx="11">
                  <c:v>17</c:v>
                </c:pt>
              </c:numCache>
            </c:numRef>
          </c:val>
          <c:smooth val="0"/>
          <c:extLst>
            <c:ext xmlns:c16="http://schemas.microsoft.com/office/drawing/2014/chart" uri="{C3380CC4-5D6E-409C-BE32-E72D297353CC}">
              <c16:uniqueId val="{00000000-39BA-43F7-838F-DB44C72A4044}"/>
            </c:ext>
          </c:extLst>
        </c:ser>
        <c:dLbls>
          <c:dLblPos val="ctr"/>
          <c:showLegendKey val="0"/>
          <c:showVal val="1"/>
          <c:showCatName val="0"/>
          <c:showSerName val="0"/>
          <c:showPercent val="0"/>
          <c:showBubbleSize val="0"/>
        </c:dLbls>
        <c:marker val="1"/>
        <c:smooth val="0"/>
        <c:axId val="322939128"/>
        <c:axId val="322941088"/>
      </c:lineChart>
      <c:catAx>
        <c:axId val="322939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322941088"/>
        <c:crosses val="autoZero"/>
        <c:auto val="1"/>
        <c:lblAlgn val="ctr"/>
        <c:lblOffset val="100"/>
        <c:noMultiLvlLbl val="0"/>
      </c:catAx>
      <c:valAx>
        <c:axId val="322941088"/>
        <c:scaling>
          <c:orientation val="minMax"/>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39128"/>
        <c:crosses val="autoZero"/>
        <c:crossBetween val="between"/>
      </c:valAx>
      <c:spPr>
        <a:noFill/>
        <a:ln>
          <a:noFill/>
        </a:ln>
        <a:effectLst/>
      </c:spPr>
    </c:plotArea>
    <c:legend>
      <c:legendPos val="b"/>
      <c:layout>
        <c:manualLayout>
          <c:xMode val="edge"/>
          <c:yMode val="edge"/>
          <c:x val="0.61250891982889899"/>
          <c:y val="0.55532237636395698"/>
          <c:w val="0.35697479887302619"/>
          <c:h val="9.3332332586484101E-2"/>
        </c:manualLayout>
      </c:layout>
      <c:overlay val="0"/>
      <c:spPr>
        <a:solidFill>
          <a:schemeClr val="bg1"/>
        </a:solidFill>
        <a:ln>
          <a:solidFill>
            <a:srgbClr val="00B0F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chemeClr val="tx1"/>
      </a:solid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US" sz="1400" b="1">
                <a:solidFill>
                  <a:schemeClr val="tx1"/>
                </a:solidFill>
              </a:rPr>
              <a:t>Số</a:t>
            </a:r>
            <a:r>
              <a:rPr lang="en-US" sz="1400" b="1" baseline="0">
                <a:solidFill>
                  <a:schemeClr val="tx1"/>
                </a:solidFill>
              </a:rPr>
              <a:t> lượng A350 thiếu động cơ</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4.9428675307576782E-2"/>
          <c:y val="0.11299278803028311"/>
          <c:w val="0.943893299494588"/>
          <c:h val="0.77445073016708332"/>
        </c:manualLayout>
      </c:layout>
      <c:lineChart>
        <c:grouping val="standard"/>
        <c:varyColors val="0"/>
        <c:ser>
          <c:idx val="0"/>
          <c:order val="0"/>
          <c:tx>
            <c:strRef>
              <c:f>Sheet1!$B$1</c:f>
              <c:strCache>
                <c:ptCount val="1"/>
                <c:pt idx="0">
                  <c:v>NL báo KHPT</c:v>
                </c:pt>
              </c:strCache>
            </c:strRef>
          </c:tx>
          <c:spPr>
            <a:ln w="28575" cap="rnd">
              <a:solidFill>
                <a:schemeClr val="accent1"/>
              </a:solidFill>
              <a:round/>
            </a:ln>
            <a:effectLst/>
          </c:spPr>
          <c:marker>
            <c:symbol val="circle"/>
            <c:size val="25"/>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Sheet1!$A$9:$A$32</c:f>
              <c:strCache>
                <c:ptCount val="8"/>
                <c:pt idx="0">
                  <c:v>Apr-W1</c:v>
                </c:pt>
                <c:pt idx="1">
                  <c:v>Apr-W2</c:v>
                </c:pt>
                <c:pt idx="2">
                  <c:v>Apr-W3</c:v>
                </c:pt>
                <c:pt idx="3">
                  <c:v>Apr-W4</c:v>
                </c:pt>
                <c:pt idx="4">
                  <c:v>May-W1</c:v>
                </c:pt>
                <c:pt idx="5">
                  <c:v>May-W2</c:v>
                </c:pt>
                <c:pt idx="6">
                  <c:v>May-W3</c:v>
                </c:pt>
                <c:pt idx="7">
                  <c:v>May-W4</c:v>
                </c:pt>
              </c:strCache>
            </c:strRef>
          </c:cat>
          <c:val>
            <c:numRef>
              <c:f>Sheet1!$B$9:$B$32</c:f>
            </c:numRef>
          </c:val>
          <c:smooth val="1"/>
          <c:extLst>
            <c:ext xmlns:c16="http://schemas.microsoft.com/office/drawing/2014/chart" uri="{C3380CC4-5D6E-409C-BE32-E72D297353CC}">
              <c16:uniqueId val="{00000000-7DB7-40A0-96F5-1D2E7AF0F464}"/>
            </c:ext>
          </c:extLst>
        </c:ser>
        <c:ser>
          <c:idx val="1"/>
          <c:order val="1"/>
          <c:tx>
            <c:strRef>
              <c:f>Sheet1!$C$1</c:f>
              <c:strCache>
                <c:ptCount val="1"/>
                <c:pt idx="0">
                  <c:v>KH hiện tại</c:v>
                </c:pt>
              </c:strCache>
            </c:strRef>
          </c:tx>
          <c:spPr>
            <a:ln w="28575"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Sheet1!$A$9:$A$32</c:f>
              <c:strCache>
                <c:ptCount val="8"/>
                <c:pt idx="0">
                  <c:v>Apr-W1</c:v>
                </c:pt>
                <c:pt idx="1">
                  <c:v>Apr-W2</c:v>
                </c:pt>
                <c:pt idx="2">
                  <c:v>Apr-W3</c:v>
                </c:pt>
                <c:pt idx="3">
                  <c:v>Apr-W4</c:v>
                </c:pt>
                <c:pt idx="4">
                  <c:v>May-W1</c:v>
                </c:pt>
                <c:pt idx="5">
                  <c:v>May-W2</c:v>
                </c:pt>
                <c:pt idx="6">
                  <c:v>May-W3</c:v>
                </c:pt>
                <c:pt idx="7">
                  <c:v>May-W4</c:v>
                </c:pt>
              </c:strCache>
            </c:strRef>
          </c:cat>
          <c:val>
            <c:numRef>
              <c:f>Sheet1!$C$9:$C$32</c:f>
              <c:numCache>
                <c:formatCode>General</c:formatCode>
                <c:ptCount val="8"/>
                <c:pt idx="0">
                  <c:v>4</c:v>
                </c:pt>
                <c:pt idx="1">
                  <c:v>4</c:v>
                </c:pt>
                <c:pt idx="2">
                  <c:v>5</c:v>
                </c:pt>
                <c:pt idx="3">
                  <c:v>5</c:v>
                </c:pt>
                <c:pt idx="4">
                  <c:v>3</c:v>
                </c:pt>
                <c:pt idx="5">
                  <c:v>3</c:v>
                </c:pt>
                <c:pt idx="6">
                  <c:v>3</c:v>
                </c:pt>
                <c:pt idx="7">
                  <c:v>3</c:v>
                </c:pt>
              </c:numCache>
            </c:numRef>
          </c:val>
          <c:smooth val="1"/>
          <c:extLst>
            <c:ext xmlns:c16="http://schemas.microsoft.com/office/drawing/2014/chart" uri="{C3380CC4-5D6E-409C-BE32-E72D297353CC}">
              <c16:uniqueId val="{00000001-7DB7-40A0-96F5-1D2E7AF0F464}"/>
            </c:ext>
          </c:extLst>
        </c:ser>
        <c:dLbls>
          <c:showLegendKey val="0"/>
          <c:showVal val="0"/>
          <c:showCatName val="0"/>
          <c:showSerName val="0"/>
          <c:showPercent val="0"/>
          <c:showBubbleSize val="0"/>
        </c:dLbls>
        <c:marker val="1"/>
        <c:smooth val="0"/>
        <c:axId val="322945400"/>
        <c:axId val="322952456"/>
      </c:lineChart>
      <c:catAx>
        <c:axId val="322945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322952456"/>
        <c:crosses val="autoZero"/>
        <c:auto val="1"/>
        <c:lblAlgn val="ctr"/>
        <c:lblOffset val="100"/>
        <c:noMultiLvlLbl val="0"/>
      </c:catAx>
      <c:valAx>
        <c:axId val="322952456"/>
        <c:scaling>
          <c:orientation val="minMax"/>
          <c:max val="6"/>
          <c:min val="1"/>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22945400"/>
        <c:crosses val="autoZero"/>
        <c:crossBetween val="between"/>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accent1"/>
      </a:solid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lineChart>
        <c:grouping val="standard"/>
        <c:varyColors val="0"/>
        <c:ser>
          <c:idx val="3"/>
          <c:order val="0"/>
          <c:tx>
            <c:strRef>
              <c:f>Sheet1!$B$1</c:f>
              <c:strCache>
                <c:ptCount val="1"/>
                <c:pt idx="0">
                  <c:v>KB Gốc</c:v>
                </c:pt>
              </c:strCache>
            </c:strRef>
          </c:tx>
          <c:spPr>
            <a:ln w="28575" cap="rnd">
              <a:solidFill>
                <a:srgbClr val="0070C0"/>
              </a:solidFill>
              <a:round/>
            </a:ln>
            <a:effectLst/>
          </c:spPr>
          <c:marker>
            <c:symbol val="circle"/>
            <c:size val="25"/>
            <c:spPr>
              <a:solidFill>
                <a:srgbClr val="0070C0"/>
              </a:solidFill>
              <a:ln w="9525">
                <a:solidFill>
                  <a:srgbClr val="0070C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Sheet1!$B$10:$B$33</c:f>
              <c:numCache>
                <c:formatCode>General</c:formatCode>
                <c:ptCount val="12"/>
                <c:pt idx="0">
                  <c:v>4</c:v>
                </c:pt>
                <c:pt idx="1">
                  <c:v>4</c:v>
                </c:pt>
                <c:pt idx="2">
                  <c:v>4</c:v>
                </c:pt>
                <c:pt idx="3">
                  <c:v>4</c:v>
                </c:pt>
                <c:pt idx="4">
                  <c:v>3</c:v>
                </c:pt>
                <c:pt idx="5">
                  <c:v>1.5</c:v>
                </c:pt>
                <c:pt idx="6">
                  <c:v>0.5</c:v>
                </c:pt>
                <c:pt idx="7">
                  <c:v>0.5</c:v>
                </c:pt>
                <c:pt idx="8">
                  <c:v>2</c:v>
                </c:pt>
                <c:pt idx="9">
                  <c:v>1.5</c:v>
                </c:pt>
                <c:pt idx="10">
                  <c:v>1.5</c:v>
                </c:pt>
                <c:pt idx="11">
                  <c:v>2</c:v>
                </c:pt>
              </c:numCache>
            </c:numRef>
          </c:val>
          <c:smooth val="0"/>
          <c:extLst>
            <c:ext xmlns:c16="http://schemas.microsoft.com/office/drawing/2014/chart" uri="{C3380CC4-5D6E-409C-BE32-E72D297353CC}">
              <c16:uniqueId val="{00000000-2B09-4F42-BD33-DCEFBD805B05}"/>
            </c:ext>
          </c:extLst>
        </c:ser>
        <c:ser>
          <c:idx val="4"/>
          <c:order val="1"/>
          <c:tx>
            <c:strRef>
              <c:f>Sheet1!$C$1</c:f>
              <c:strCache>
                <c:ptCount val="1"/>
                <c:pt idx="0">
                  <c:v>KB Thực tế</c:v>
                </c:pt>
              </c:strCache>
            </c:strRef>
          </c:tx>
          <c:spPr>
            <a:ln w="28575" cap="rnd">
              <a:solidFill>
                <a:srgbClr val="ED0000"/>
              </a:solidFill>
              <a:round/>
            </a:ln>
            <a:effectLst/>
          </c:spPr>
          <c:marker>
            <c:symbol val="circle"/>
            <c:size val="25"/>
            <c:spPr>
              <a:solidFill>
                <a:srgbClr val="ED0000"/>
              </a:solidFill>
              <a:ln w="9525">
                <a:solidFill>
                  <a:srgbClr val="ED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Sheet1!$C$10:$C$33</c:f>
              <c:numCache>
                <c:formatCode>General</c:formatCode>
                <c:ptCount val="12"/>
                <c:pt idx="0">
                  <c:v>4</c:v>
                </c:pt>
                <c:pt idx="1">
                  <c:v>4</c:v>
                </c:pt>
                <c:pt idx="2">
                  <c:v>4</c:v>
                </c:pt>
                <c:pt idx="3">
                  <c:v>4.5</c:v>
                </c:pt>
                <c:pt idx="4">
                  <c:v>3</c:v>
                </c:pt>
                <c:pt idx="5">
                  <c:v>2</c:v>
                </c:pt>
                <c:pt idx="6">
                  <c:v>0.5</c:v>
                </c:pt>
                <c:pt idx="7">
                  <c:v>0.5</c:v>
                </c:pt>
                <c:pt idx="8">
                  <c:v>2</c:v>
                </c:pt>
                <c:pt idx="9">
                  <c:v>1.5</c:v>
                </c:pt>
                <c:pt idx="10">
                  <c:v>1.5</c:v>
                </c:pt>
                <c:pt idx="11">
                  <c:v>2</c:v>
                </c:pt>
              </c:numCache>
            </c:numRef>
          </c:val>
          <c:smooth val="0"/>
          <c:extLst>
            <c:ext xmlns:c16="http://schemas.microsoft.com/office/drawing/2014/chart" uri="{C3380CC4-5D6E-409C-BE32-E72D297353CC}">
              <c16:uniqueId val="{00000001-2B09-4F42-BD33-DCEFBD805B05}"/>
            </c:ext>
          </c:extLst>
        </c:ser>
        <c:dLbls>
          <c:dLblPos val="ctr"/>
          <c:showLegendKey val="0"/>
          <c:showVal val="1"/>
          <c:showCatName val="0"/>
          <c:showSerName val="0"/>
          <c:showPercent val="0"/>
          <c:showBubbleSize val="0"/>
        </c:dLbls>
        <c:marker val="1"/>
        <c:smooth val="0"/>
        <c:axId val="322954024"/>
        <c:axId val="322950888"/>
      </c:lineChart>
      <c:catAx>
        <c:axId val="322954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50888"/>
        <c:crosses val="autoZero"/>
        <c:auto val="1"/>
        <c:lblAlgn val="ctr"/>
        <c:lblOffset val="100"/>
        <c:noMultiLvlLbl val="0"/>
      </c:catAx>
      <c:valAx>
        <c:axId val="322950888"/>
        <c:scaling>
          <c:orientation val="minMax"/>
          <c:max val="5"/>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322954024"/>
        <c:crosses val="autoZero"/>
        <c:crossBetween val="between"/>
        <c:majorUnit val="1"/>
      </c:valAx>
      <c:spPr>
        <a:noFill/>
        <a:ln>
          <a:noFill/>
        </a:ln>
        <a:effectLst/>
      </c:spPr>
    </c:plotArea>
    <c:legend>
      <c:legendPos val="b"/>
      <c:layout>
        <c:manualLayout>
          <c:xMode val="edge"/>
          <c:yMode val="edge"/>
          <c:x val="0.40262546331705595"/>
          <c:y val="5.7621807879554947E-2"/>
          <c:w val="0.22456151431567511"/>
          <c:h val="0.11274844113498629"/>
        </c:manualLayout>
      </c:layout>
      <c:overlay val="0"/>
      <c:spPr>
        <a:solidFill>
          <a:schemeClr val="bg1"/>
        </a:solidFill>
        <a:ln>
          <a:solidFill>
            <a:srgbClr val="00FF00"/>
          </a:solidFill>
        </a:ln>
        <a:effectLst/>
      </c:spPr>
      <c:txPr>
        <a:bodyPr rot="0" spcFirstLastPara="1" vertOverflow="ellipsis" vert="horz" wrap="square" anchor="ctr" anchorCtr="1"/>
        <a:lstStyle/>
        <a:p>
          <a:pPr>
            <a:defRPr sz="15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rgbClr val="00B050"/>
      </a:solidFill>
    </a:ln>
    <a:effectLst/>
  </c:spPr>
  <c:txPr>
    <a:bodyPr/>
    <a:lstStyle/>
    <a:p>
      <a:pPr>
        <a:defRPr/>
      </a:pPr>
      <a:endParaRPr lang="en-US"/>
    </a:p>
  </c:txPr>
  <c:externalData r:id="rId3">
    <c:autoUpdate val="0"/>
  </c:externalData>
  <c:userShapes r:id="rId4"/>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rPr>
              <a:t>ĐỘI</a:t>
            </a:r>
            <a:r>
              <a:rPr lang="en-US" sz="1000" baseline="0" dirty="0">
                <a:solidFill>
                  <a:schemeClr val="tx1"/>
                </a:solidFill>
              </a:rPr>
              <a:t> </a:t>
            </a:r>
            <a:r>
              <a:rPr lang="en-US" sz="1000" baseline="0">
                <a:solidFill>
                  <a:schemeClr val="tx1"/>
                </a:solidFill>
              </a:rPr>
              <a:t>BAY ATR72</a:t>
            </a:r>
            <a:endParaRPr lang="en-US" sz="1000" dirty="0">
              <a:solidFill>
                <a:schemeClr val="tx1"/>
              </a:solidFill>
            </a:endParaRP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7.6741006124173256E-2"/>
          <c:y val="7.6421014126223277E-2"/>
          <c:w val="0.86908620881679688"/>
          <c:h val="0.76207697550003184"/>
        </c:manualLayout>
      </c:layout>
      <c:barChart>
        <c:barDir val="col"/>
        <c:grouping val="clustered"/>
        <c:varyColors val="0"/>
        <c:ser>
          <c:idx val="3"/>
          <c:order val="0"/>
          <c:tx>
            <c:strRef>
              <c:f>Sheet1!$E$1</c:f>
              <c:strCache>
                <c:ptCount val="1"/>
                <c:pt idx="0">
                  <c:v>ATR AOG</c:v>
                </c:pt>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Sheet1!$E$10:$E$33</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0-5DD9-45B0-A857-E17C1999913E}"/>
            </c:ext>
          </c:extLst>
        </c:ser>
        <c:dLbls>
          <c:dLblPos val="ctr"/>
          <c:showLegendKey val="0"/>
          <c:showVal val="1"/>
          <c:showCatName val="0"/>
          <c:showSerName val="0"/>
          <c:showPercent val="0"/>
          <c:showBubbleSize val="0"/>
        </c:dLbls>
        <c:gapWidth val="150"/>
        <c:axId val="322954024"/>
        <c:axId val="322950888"/>
      </c:barChart>
      <c:lineChart>
        <c:grouping val="standard"/>
        <c:varyColors val="0"/>
        <c:ser>
          <c:idx val="4"/>
          <c:order val="1"/>
          <c:tx>
            <c:strRef>
              <c:f>Sheet1!$F$1</c:f>
              <c:strCache>
                <c:ptCount val="1"/>
                <c:pt idx="0">
                  <c:v>ATR có thể khai thác</c:v>
                </c:pt>
              </c:strCache>
            </c:strRef>
          </c:tx>
          <c:spPr>
            <a:ln w="28575" cap="rnd">
              <a:solidFill>
                <a:schemeClr val="accent5">
                  <a:lumMod val="60000"/>
                </a:schemeClr>
              </a:solidFill>
              <a:round/>
            </a:ln>
            <a:effectLst/>
          </c:spPr>
          <c:marker>
            <c:symbol val="circle"/>
            <c:size val="20"/>
            <c:spPr>
              <a:solidFill>
                <a:schemeClr val="accent5">
                  <a:lumMod val="60000"/>
                </a:schemeClr>
              </a:solidFill>
              <a:ln w="9525">
                <a:solidFill>
                  <a:schemeClr val="accent5">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Sheet1!$F$10:$F$33</c:f>
              <c:numCache>
                <c:formatCode>General</c:formatCode>
                <c:ptCount val="12"/>
                <c:pt idx="0">
                  <c:v>5</c:v>
                </c:pt>
                <c:pt idx="1">
                  <c:v>5</c:v>
                </c:pt>
                <c:pt idx="2">
                  <c:v>5</c:v>
                </c:pt>
                <c:pt idx="3">
                  <c:v>5</c:v>
                </c:pt>
                <c:pt idx="4">
                  <c:v>5</c:v>
                </c:pt>
                <c:pt idx="5">
                  <c:v>5</c:v>
                </c:pt>
                <c:pt idx="6">
                  <c:v>6</c:v>
                </c:pt>
                <c:pt idx="7">
                  <c:v>6</c:v>
                </c:pt>
                <c:pt idx="8">
                  <c:v>6</c:v>
                </c:pt>
                <c:pt idx="9">
                  <c:v>6</c:v>
                </c:pt>
                <c:pt idx="10">
                  <c:v>6</c:v>
                </c:pt>
                <c:pt idx="11">
                  <c:v>6</c:v>
                </c:pt>
              </c:numCache>
            </c:numRef>
          </c:val>
          <c:smooth val="0"/>
          <c:extLst>
            <c:ext xmlns:c16="http://schemas.microsoft.com/office/drawing/2014/chart" uri="{C3380CC4-5D6E-409C-BE32-E72D297353CC}">
              <c16:uniqueId val="{00000001-5DD9-45B0-A857-E17C1999913E}"/>
            </c:ext>
          </c:extLst>
        </c:ser>
        <c:dLbls>
          <c:showLegendKey val="0"/>
          <c:showVal val="0"/>
          <c:showCatName val="0"/>
          <c:showSerName val="0"/>
          <c:showPercent val="0"/>
          <c:showBubbleSize val="0"/>
        </c:dLbls>
        <c:marker val="1"/>
        <c:smooth val="0"/>
        <c:axId val="322954024"/>
        <c:axId val="322950888"/>
      </c:lineChart>
      <c:catAx>
        <c:axId val="322954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50888"/>
        <c:crosses val="autoZero"/>
        <c:auto val="1"/>
        <c:lblAlgn val="ctr"/>
        <c:lblOffset val="100"/>
        <c:noMultiLvlLbl val="0"/>
      </c:catAx>
      <c:valAx>
        <c:axId val="322950888"/>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322954024"/>
        <c:crosses val="autoZero"/>
        <c:crossBetween val="between"/>
      </c:valAx>
      <c:spPr>
        <a:noFill/>
        <a:ln>
          <a:noFill/>
        </a:ln>
        <a:effectLst/>
      </c:spPr>
    </c:plotArea>
    <c:legend>
      <c:legendPos val="b"/>
      <c:layout>
        <c:manualLayout>
          <c:xMode val="edge"/>
          <c:yMode val="edge"/>
          <c:x val="0.67513027291531713"/>
          <c:y val="6.004108159602075E-2"/>
          <c:w val="0.30713392618610735"/>
          <c:h val="5.4412364558412099E-2"/>
        </c:manualLayout>
      </c:layout>
      <c:overlay val="0"/>
      <c:spPr>
        <a:solidFill>
          <a:schemeClr val="bg1"/>
        </a:solidFill>
        <a:ln>
          <a:solidFill>
            <a:srgbClr val="00FF0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rgbClr val="00B050"/>
      </a:solid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600"/>
            </a:pPr>
            <a:r>
              <a:rPr lang="en-US" sz="1600"/>
              <a:t>Số nhân nhượng theo tuần</a:t>
            </a:r>
            <a:endParaRPr lang="vi-VN" sz="1600"/>
          </a:p>
        </c:rich>
      </c:tx>
      <c:overlay val="0"/>
    </c:title>
    <c:autoTitleDeleted val="0"/>
    <c:plotArea>
      <c:layout/>
      <c:barChart>
        <c:barDir val="col"/>
        <c:grouping val="clustered"/>
        <c:varyColors val="0"/>
        <c:ser>
          <c:idx val="0"/>
          <c:order val="0"/>
          <c:tx>
            <c:strRef>
              <c:f>'[W16 (14.04-20.04.2025).xlsx]Data Chart'!$C$35</c:f>
              <c:strCache>
                <c:ptCount val="1"/>
                <c:pt idx="0">
                  <c:v>Last week</c:v>
                </c:pt>
              </c:strCache>
            </c:strRef>
          </c:tx>
          <c:spPr>
            <a:solidFill>
              <a:srgbClr val="FFC00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'[W16 (14.04-20.04.2025).xlsx]Data Chart'!$A$36:$B$41</c:f>
              <c:strCache>
                <c:ptCount val="6"/>
                <c:pt idx="0">
                  <c:v>A320</c:v>
                </c:pt>
                <c:pt idx="1">
                  <c:v>A321</c:v>
                </c:pt>
                <c:pt idx="2">
                  <c:v>A350</c:v>
                </c:pt>
                <c:pt idx="3">
                  <c:v>B787</c:v>
                </c:pt>
                <c:pt idx="4">
                  <c:v>ATR72</c:v>
                </c:pt>
                <c:pt idx="5">
                  <c:v>Tất cả</c:v>
                </c:pt>
              </c:strCache>
            </c:strRef>
          </c:cat>
          <c:val>
            <c:numRef>
              <c:f>'[W16 (14.04-20.04.2025).xlsx]Data Chart'!$C$36:$C$41</c:f>
              <c:numCache>
                <c:formatCode>General</c:formatCode>
                <c:ptCount val="6"/>
                <c:pt idx="0">
                  <c:v>0</c:v>
                </c:pt>
                <c:pt idx="1">
                  <c:v>0</c:v>
                </c:pt>
                <c:pt idx="2">
                  <c:v>0</c:v>
                </c:pt>
                <c:pt idx="3">
                  <c:v>0</c:v>
                </c:pt>
                <c:pt idx="4">
                  <c:v>0</c:v>
                </c:pt>
                <c:pt idx="5" formatCode="0">
                  <c:v>0</c:v>
                </c:pt>
              </c:numCache>
            </c:numRef>
          </c:val>
          <c:extLst>
            <c:ext xmlns:c16="http://schemas.microsoft.com/office/drawing/2014/chart" uri="{C3380CC4-5D6E-409C-BE32-E72D297353CC}">
              <c16:uniqueId val="{00000000-49D1-45FF-A25A-16CE3AA2F38F}"/>
            </c:ext>
          </c:extLst>
        </c:ser>
        <c:ser>
          <c:idx val="1"/>
          <c:order val="1"/>
          <c:tx>
            <c:strRef>
              <c:f>'[W16 (14.04-20.04.2025).xlsx]Data Chart'!$D$35</c:f>
              <c:strCache>
                <c:ptCount val="1"/>
                <c:pt idx="0">
                  <c:v>This week</c:v>
                </c:pt>
              </c:strCache>
            </c:strRef>
          </c:tx>
          <c:spPr>
            <a:solidFill>
              <a:srgbClr val="00B0F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'[W16 (14.04-20.04.2025).xlsx]Data Chart'!$A$36:$B$41</c:f>
              <c:strCache>
                <c:ptCount val="6"/>
                <c:pt idx="0">
                  <c:v>A320</c:v>
                </c:pt>
                <c:pt idx="1">
                  <c:v>A321</c:v>
                </c:pt>
                <c:pt idx="2">
                  <c:v>A350</c:v>
                </c:pt>
                <c:pt idx="3">
                  <c:v>B787</c:v>
                </c:pt>
                <c:pt idx="4">
                  <c:v>ATR72</c:v>
                </c:pt>
                <c:pt idx="5">
                  <c:v>Tất cả</c:v>
                </c:pt>
              </c:strCache>
            </c:strRef>
          </c:cat>
          <c:val>
            <c:numRef>
              <c:f>'[W16 (14.04-20.04.2025).xlsx]Data Chart'!$D$36:$D$41</c:f>
              <c:numCache>
                <c:formatCode>General</c:formatCode>
                <c:ptCount val="6"/>
                <c:pt idx="0">
                  <c:v>0</c:v>
                </c:pt>
                <c:pt idx="1">
                  <c:v>0</c:v>
                </c:pt>
                <c:pt idx="2">
                  <c:v>0</c:v>
                </c:pt>
                <c:pt idx="3">
                  <c:v>5</c:v>
                </c:pt>
                <c:pt idx="4">
                  <c:v>0</c:v>
                </c:pt>
                <c:pt idx="5" formatCode="0">
                  <c:v>5</c:v>
                </c:pt>
              </c:numCache>
            </c:numRef>
          </c:val>
          <c:extLst>
            <c:ext xmlns:c16="http://schemas.microsoft.com/office/drawing/2014/chart" uri="{C3380CC4-5D6E-409C-BE32-E72D297353CC}">
              <c16:uniqueId val="{00000001-49D1-45FF-A25A-16CE3AA2F38F}"/>
            </c:ext>
          </c:extLst>
        </c:ser>
        <c:dLbls>
          <c:showLegendKey val="0"/>
          <c:showVal val="0"/>
          <c:showCatName val="0"/>
          <c:showSerName val="0"/>
          <c:showPercent val="0"/>
          <c:showBubbleSize val="0"/>
        </c:dLbls>
        <c:gapWidth val="150"/>
        <c:axId val="390115864"/>
        <c:axId val="390116648"/>
      </c:barChart>
      <c:catAx>
        <c:axId val="390115864"/>
        <c:scaling>
          <c:orientation val="minMax"/>
        </c:scaling>
        <c:delete val="0"/>
        <c:axPos val="b"/>
        <c:numFmt formatCode="General" sourceLinked="0"/>
        <c:majorTickMark val="out"/>
        <c:minorTickMark val="none"/>
        <c:tickLblPos val="nextTo"/>
        <c:txPr>
          <a:bodyPr/>
          <a:lstStyle/>
          <a:p>
            <a:pPr>
              <a:defRPr sz="1000">
                <a:solidFill>
                  <a:schemeClr val="tx1"/>
                </a:solidFill>
              </a:defRPr>
            </a:pPr>
            <a:endParaRPr lang="en-US"/>
          </a:p>
        </c:txPr>
        <c:crossAx val="390116648"/>
        <c:crosses val="autoZero"/>
        <c:auto val="1"/>
        <c:lblAlgn val="ctr"/>
        <c:lblOffset val="100"/>
        <c:noMultiLvlLbl val="0"/>
      </c:catAx>
      <c:valAx>
        <c:axId val="390116648"/>
        <c:scaling>
          <c:orientation val="minMax"/>
        </c:scaling>
        <c:delete val="0"/>
        <c:axPos val="l"/>
        <c:numFmt formatCode="General" sourceLinked="1"/>
        <c:majorTickMark val="out"/>
        <c:minorTickMark val="none"/>
        <c:tickLblPos val="nextTo"/>
        <c:txPr>
          <a:bodyPr/>
          <a:lstStyle/>
          <a:p>
            <a:pPr>
              <a:defRPr sz="1000">
                <a:solidFill>
                  <a:schemeClr val="tx1"/>
                </a:solidFill>
              </a:defRPr>
            </a:pPr>
            <a:endParaRPr lang="en-US"/>
          </a:p>
        </c:txPr>
        <c:crossAx val="390115864"/>
        <c:crosses val="autoZero"/>
        <c:crossBetween val="between"/>
        <c:majorUnit val="4"/>
        <c:minorUnit val="2"/>
      </c:valAx>
    </c:plotArea>
    <c:legend>
      <c:legendPos val="b"/>
      <c:overlay val="0"/>
      <c:txPr>
        <a:bodyPr/>
        <a:lstStyle/>
        <a:p>
          <a:pPr>
            <a:defRPr sz="1000"/>
          </a:pPr>
          <a:endParaRPr lang="en-US"/>
        </a:p>
      </c:txPr>
    </c:legend>
    <c:plotVisOnly val="1"/>
    <c:dispBlanksAs val="gap"/>
    <c:showDLblsOverMax val="0"/>
  </c:chart>
  <c:spPr>
    <a:ln w="12700">
      <a:solidFill>
        <a:schemeClr val="tx1"/>
      </a:solidFill>
    </a:ln>
  </c:spPr>
  <c:txPr>
    <a:bodyPr/>
    <a:lstStyle/>
    <a:p>
      <a:pPr>
        <a:defRPr sz="1200">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400" b="1">
                <a:solidFill>
                  <a:schemeClr val="tx1"/>
                </a:solidFill>
              </a:rPr>
              <a:t>Trung bình giờ bay các</a:t>
            </a:r>
            <a:r>
              <a:rPr lang="en-US" sz="1400" b="1" baseline="0">
                <a:solidFill>
                  <a:schemeClr val="tx1"/>
                </a:solidFill>
              </a:rPr>
              <a:t> đội tàu</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Week!$A$2</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Week!$E$4:$E$12</c:f>
              <c:numCache>
                <c:formatCode>[h]:mm</c:formatCode>
                <c:ptCount val="9"/>
                <c:pt idx="0">
                  <c:v>6.4704585537918857E-2</c:v>
                </c:pt>
                <c:pt idx="1">
                  <c:v>8.1705862304021895E-2</c:v>
                </c:pt>
                <c:pt idx="2">
                  <c:v>8.0607638888888986E-2</c:v>
                </c:pt>
                <c:pt idx="3">
                  <c:v>0.18827947845804985</c:v>
                </c:pt>
                <c:pt idx="4">
                  <c:v>0.28704737103174621</c:v>
                </c:pt>
                <c:pt idx="5">
                  <c:v>0.22619731800766321</c:v>
                </c:pt>
                <c:pt idx="6">
                  <c:v>0.13786764705882351</c:v>
                </c:pt>
                <c:pt idx="7">
                  <c:v>0.13612528344671221</c:v>
                </c:pt>
                <c:pt idx="8">
                  <c:v>4.2058142701525067E-2</c:v>
                </c:pt>
              </c:numCache>
            </c:numRef>
          </c:val>
          <c:extLst>
            <c:ext xmlns:c16="http://schemas.microsoft.com/office/drawing/2014/chart" uri="{C3380CC4-5D6E-409C-BE32-E72D297353CC}">
              <c16:uniqueId val="{00000000-B015-487D-9033-BD8394D4DBC1}"/>
            </c:ext>
          </c:extLst>
        </c:ser>
        <c:ser>
          <c:idx val="6"/>
          <c:order val="1"/>
          <c:tx>
            <c:strRef>
              <c:f>Week!$G$2</c:f>
              <c:strCache>
                <c:ptCount val="1"/>
                <c:pt idx="0">
                  <c:v>Next Week</c:v>
                </c:pt>
              </c:strCache>
            </c:strRef>
          </c:tx>
          <c:spPr>
            <a:solidFill>
              <a:schemeClr val="accent2"/>
            </a:solidFill>
            <a:ln>
              <a:solidFill>
                <a:schemeClr val="accent2"/>
              </a:solid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Week!$K$4:$K$12</c:f>
              <c:numCache>
                <c:formatCode>[h]:mm</c:formatCode>
                <c:ptCount val="9"/>
                <c:pt idx="0">
                  <c:v>6.2500000000000014E-2</c:v>
                </c:pt>
                <c:pt idx="1">
                  <c:v>7.9614587511699517E-2</c:v>
                </c:pt>
                <c:pt idx="2">
                  <c:v>9.176348824786329E-2</c:v>
                </c:pt>
                <c:pt idx="3">
                  <c:v>0.19247159090909086</c:v>
                </c:pt>
                <c:pt idx="4">
                  <c:v>0.26446280991735571</c:v>
                </c:pt>
                <c:pt idx="5">
                  <c:v>0.25444326741996248</c:v>
                </c:pt>
                <c:pt idx="6">
                  <c:v>0.15286458333333336</c:v>
                </c:pt>
                <c:pt idx="7">
                  <c:v>0.1359953703703706</c:v>
                </c:pt>
                <c:pt idx="8">
                  <c:v>4.2565724206349236E-2</c:v>
                </c:pt>
              </c:numCache>
            </c:numRef>
          </c:val>
          <c:extLst>
            <c:ext xmlns:c16="http://schemas.microsoft.com/office/drawing/2014/chart" uri="{C3380CC4-5D6E-409C-BE32-E72D297353CC}">
              <c16:uniqueId val="{00000001-B015-487D-9033-BD8394D4DBC1}"/>
            </c:ext>
          </c:extLst>
        </c:ser>
        <c:dLbls>
          <c:showLegendKey val="0"/>
          <c:showVal val="0"/>
          <c:showCatName val="0"/>
          <c:showSerName val="0"/>
          <c:showPercent val="0"/>
          <c:showBubbleSize val="0"/>
        </c:dLbls>
        <c:gapWidth val="75"/>
        <c:axId val="1014707104"/>
        <c:axId val="1014707520"/>
      </c:barChart>
      <c:catAx>
        <c:axId val="101470710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520"/>
        <c:crosses val="autoZero"/>
        <c:auto val="1"/>
        <c:lblAlgn val="ctr"/>
        <c:lblOffset val="100"/>
        <c:noMultiLvlLbl val="0"/>
      </c:catAx>
      <c:valAx>
        <c:axId val="1014707520"/>
        <c:scaling>
          <c:orientation val="minMax"/>
        </c:scaling>
        <c:delete val="0"/>
        <c:axPos val="l"/>
        <c:majorGridlines>
          <c:spPr>
            <a:ln w="9525" cap="flat" cmpd="sng" algn="ctr">
              <a:solidFill>
                <a:schemeClr val="tx1">
                  <a:lumMod val="15000"/>
                  <a:lumOff val="85000"/>
                </a:schemeClr>
              </a:solidFill>
              <a:round/>
            </a:ln>
            <a:effectLst/>
          </c:spPr>
        </c:majorGridlines>
        <c:numFmt formatCode="[h]:mm"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1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2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GB" sz="1400" b="1">
                <a:solidFill>
                  <a:schemeClr val="tx1"/>
                </a:solidFill>
              </a:rPr>
              <a:t>Số chuyến bay trung bình theo ngày của các Fleet tàu bay trong tuần</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Week!$A$15</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Week!$I$17:$I$22</c:f>
              <c:numCache>
                <c:formatCode>0.00</c:formatCode>
                <c:ptCount val="6"/>
                <c:pt idx="0">
                  <c:v>6</c:v>
                </c:pt>
                <c:pt idx="1">
                  <c:v>6.1278195488721803</c:v>
                </c:pt>
                <c:pt idx="2">
                  <c:v>5.7142857142857144</c:v>
                </c:pt>
                <c:pt idx="3">
                  <c:v>2.5555555555555558</c:v>
                </c:pt>
                <c:pt idx="4">
                  <c:v>3.1680672268907566</c:v>
                </c:pt>
                <c:pt idx="5">
                  <c:v>7.2857142857142856</c:v>
                </c:pt>
              </c:numCache>
            </c:numRef>
          </c:val>
          <c:extLst>
            <c:ext xmlns:c16="http://schemas.microsoft.com/office/drawing/2014/chart" uri="{C3380CC4-5D6E-409C-BE32-E72D297353CC}">
              <c16:uniqueId val="{00000000-A1CD-4D1A-A133-8B87A4A630E8}"/>
            </c:ext>
          </c:extLst>
        </c:ser>
        <c:ser>
          <c:idx val="1"/>
          <c:order val="1"/>
          <c:tx>
            <c:strRef>
              <c:f>Week!$K$15</c:f>
              <c:strCache>
                <c:ptCount val="1"/>
                <c:pt idx="0">
                  <c:v>Next Week</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Week!$S$17:$S$22</c:f>
              <c:numCache>
                <c:formatCode>0.00</c:formatCode>
                <c:ptCount val="6"/>
                <c:pt idx="0">
                  <c:v>7.333333333333333</c:v>
                </c:pt>
                <c:pt idx="1">
                  <c:v>6.2481203007518795</c:v>
                </c:pt>
                <c:pt idx="2">
                  <c:v>5.9428571428571431</c:v>
                </c:pt>
                <c:pt idx="3">
                  <c:v>2.3571428571428572</c:v>
                </c:pt>
                <c:pt idx="4">
                  <c:v>3.2142857142857144</c:v>
                </c:pt>
                <c:pt idx="5">
                  <c:v>8</c:v>
                </c:pt>
              </c:numCache>
            </c:numRef>
          </c:val>
          <c:extLst>
            <c:ext xmlns:c16="http://schemas.microsoft.com/office/drawing/2014/chart" uri="{C3380CC4-5D6E-409C-BE32-E72D297353CC}">
              <c16:uniqueId val="{00000001-A1CD-4D1A-A133-8B87A4A630E8}"/>
            </c:ext>
          </c:extLst>
        </c:ser>
        <c:dLbls>
          <c:showLegendKey val="0"/>
          <c:showVal val="1"/>
          <c:showCatName val="0"/>
          <c:showSerName val="0"/>
          <c:showPercent val="0"/>
          <c:showBubbleSize val="0"/>
        </c:dLbls>
        <c:gapWidth val="150"/>
        <c:axId val="931954720"/>
        <c:axId val="931955968"/>
      </c:barChart>
      <c:catAx>
        <c:axId val="93195472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5968"/>
        <c:crosses val="autoZero"/>
        <c:auto val="1"/>
        <c:lblAlgn val="ctr"/>
        <c:lblOffset val="100"/>
        <c:noMultiLvlLbl val="0"/>
      </c:catAx>
      <c:valAx>
        <c:axId val="93195596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47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rgbClr val="0070C0"/>
            </a:solidFill>
            <a:ln w="9525" cap="flat" cmpd="sng" algn="ctr">
              <a:solidFill>
                <a:srgbClr val="0070C0"/>
              </a:solidFill>
              <a:round/>
            </a:ln>
            <a:effectLst/>
          </c:spPr>
          <c:invertIfNegative val="0"/>
          <c:dPt>
            <c:idx val="0"/>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1-FAA6-4A79-AADA-BFD7DA077A59}"/>
              </c:ext>
            </c:extLst>
          </c:dPt>
          <c:dPt>
            <c:idx val="1"/>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3-FAA6-4A79-AADA-BFD7DA077A59}"/>
              </c:ext>
            </c:extLst>
          </c:dPt>
          <c:dPt>
            <c:idx val="2"/>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5-FAA6-4A79-AADA-BFD7DA077A59}"/>
              </c:ext>
            </c:extLst>
          </c:dPt>
          <c:dPt>
            <c:idx val="3"/>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7-FAA6-4A79-AADA-BFD7DA077A59}"/>
              </c:ext>
            </c:extLst>
          </c:dPt>
          <c:dPt>
            <c:idx val="4"/>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9-FAA6-4A79-AADA-BFD7DA077A59}"/>
              </c:ext>
            </c:extLst>
          </c:dPt>
          <c:dPt>
            <c:idx val="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B-FAA6-4A79-AADA-BFD7DA077A59}"/>
              </c:ext>
            </c:extLst>
          </c:dPt>
          <c:dPt>
            <c:idx val="6"/>
            <c:invertIfNegative val="0"/>
            <c:bubble3D val="0"/>
            <c:spPr>
              <a:solidFill>
                <a:srgbClr val="ED7D31"/>
              </a:solidFill>
              <a:ln w="9525" cap="flat" cmpd="sng" algn="ctr">
                <a:solidFill>
                  <a:srgbClr val="0070C0"/>
                </a:solidFill>
                <a:round/>
              </a:ln>
              <a:effectLst/>
            </c:spPr>
            <c:extLst>
              <c:ext xmlns:c16="http://schemas.microsoft.com/office/drawing/2014/chart" uri="{C3380CC4-5D6E-409C-BE32-E72D297353CC}">
                <c16:uniqueId val="{0000000D-FAA6-4A79-AADA-BFD7DA077A59}"/>
              </c:ext>
            </c:extLst>
          </c:dPt>
          <c:dPt>
            <c:idx val="1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F-FAA6-4A79-AADA-BFD7DA077A59}"/>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Week!$B$35:$BD$35</c:f>
              <c:numCache>
                <c:formatCode>d\-mmm</c:formatCode>
                <c:ptCount val="55"/>
                <c:pt idx="0">
                  <c:v>45761</c:v>
                </c:pt>
                <c:pt idx="1">
                  <c:v>45762</c:v>
                </c:pt>
                <c:pt idx="2">
                  <c:v>45763</c:v>
                </c:pt>
                <c:pt idx="3">
                  <c:v>45764</c:v>
                </c:pt>
                <c:pt idx="4">
                  <c:v>45765</c:v>
                </c:pt>
                <c:pt idx="5">
                  <c:v>45766</c:v>
                </c:pt>
                <c:pt idx="6">
                  <c:v>45767</c:v>
                </c:pt>
                <c:pt idx="7">
                  <c:v>45768</c:v>
                </c:pt>
                <c:pt idx="8">
                  <c:v>45769</c:v>
                </c:pt>
                <c:pt idx="9">
                  <c:v>45770</c:v>
                </c:pt>
                <c:pt idx="10">
                  <c:v>45771</c:v>
                </c:pt>
                <c:pt idx="11">
                  <c:v>45772</c:v>
                </c:pt>
                <c:pt idx="12">
                  <c:v>45773</c:v>
                </c:pt>
                <c:pt idx="13">
                  <c:v>45774</c:v>
                </c:pt>
                <c:pt idx="14">
                  <c:v>45775</c:v>
                </c:pt>
                <c:pt idx="15">
                  <c:v>45776</c:v>
                </c:pt>
                <c:pt idx="16">
                  <c:v>45777</c:v>
                </c:pt>
                <c:pt idx="17">
                  <c:v>45778</c:v>
                </c:pt>
                <c:pt idx="18">
                  <c:v>45779</c:v>
                </c:pt>
                <c:pt idx="19">
                  <c:v>45780</c:v>
                </c:pt>
                <c:pt idx="20">
                  <c:v>45781</c:v>
                </c:pt>
                <c:pt idx="21">
                  <c:v>45782</c:v>
                </c:pt>
                <c:pt idx="22">
                  <c:v>45783</c:v>
                </c:pt>
                <c:pt idx="23">
                  <c:v>45784</c:v>
                </c:pt>
                <c:pt idx="24">
                  <c:v>45785</c:v>
                </c:pt>
                <c:pt idx="25">
                  <c:v>45786</c:v>
                </c:pt>
                <c:pt idx="26">
                  <c:v>45787</c:v>
                </c:pt>
                <c:pt idx="27">
                  <c:v>45788</c:v>
                </c:pt>
                <c:pt idx="28">
                  <c:v>45789</c:v>
                </c:pt>
                <c:pt idx="29">
                  <c:v>45790</c:v>
                </c:pt>
                <c:pt idx="30">
                  <c:v>45791</c:v>
                </c:pt>
                <c:pt idx="31">
                  <c:v>45792</c:v>
                </c:pt>
                <c:pt idx="32">
                  <c:v>45793</c:v>
                </c:pt>
                <c:pt idx="33">
                  <c:v>45794</c:v>
                </c:pt>
                <c:pt idx="34">
                  <c:v>45795</c:v>
                </c:pt>
                <c:pt idx="35">
                  <c:v>45796</c:v>
                </c:pt>
                <c:pt idx="36">
                  <c:v>45797</c:v>
                </c:pt>
                <c:pt idx="37">
                  <c:v>45798</c:v>
                </c:pt>
                <c:pt idx="38">
                  <c:v>45799</c:v>
                </c:pt>
                <c:pt idx="39">
                  <c:v>45800</c:v>
                </c:pt>
                <c:pt idx="40">
                  <c:v>45801</c:v>
                </c:pt>
                <c:pt idx="41">
                  <c:v>45802</c:v>
                </c:pt>
                <c:pt idx="42">
                  <c:v>45803</c:v>
                </c:pt>
                <c:pt idx="43">
                  <c:v>45804</c:v>
                </c:pt>
                <c:pt idx="44">
                  <c:v>45805</c:v>
                </c:pt>
                <c:pt idx="45">
                  <c:v>45806</c:v>
                </c:pt>
                <c:pt idx="46">
                  <c:v>45807</c:v>
                </c:pt>
                <c:pt idx="47">
                  <c:v>45808</c:v>
                </c:pt>
              </c:numCache>
            </c:numRef>
          </c:cat>
          <c:val>
            <c:numRef>
              <c:f>Week!$B$36:$BD$36</c:f>
              <c:numCache>
                <c:formatCode>General</c:formatCode>
                <c:ptCount val="55"/>
                <c:pt idx="0">
                  <c:v>388</c:v>
                </c:pt>
                <c:pt idx="1">
                  <c:v>383</c:v>
                </c:pt>
                <c:pt idx="2">
                  <c:v>394</c:v>
                </c:pt>
                <c:pt idx="3">
                  <c:v>402</c:v>
                </c:pt>
                <c:pt idx="4">
                  <c:v>393</c:v>
                </c:pt>
                <c:pt idx="5">
                  <c:v>405</c:v>
                </c:pt>
                <c:pt idx="6">
                  <c:v>433</c:v>
                </c:pt>
                <c:pt idx="7">
                  <c:v>401</c:v>
                </c:pt>
                <c:pt idx="8">
                  <c:v>391</c:v>
                </c:pt>
                <c:pt idx="9">
                  <c:v>394</c:v>
                </c:pt>
                <c:pt idx="10">
                  <c:v>395</c:v>
                </c:pt>
                <c:pt idx="11">
                  <c:v>429</c:v>
                </c:pt>
                <c:pt idx="12">
                  <c:v>434</c:v>
                </c:pt>
                <c:pt idx="13">
                  <c:v>442</c:v>
                </c:pt>
                <c:pt idx="14">
                  <c:v>432</c:v>
                </c:pt>
                <c:pt idx="15">
                  <c:v>461</c:v>
                </c:pt>
                <c:pt idx="16">
                  <c:v>464</c:v>
                </c:pt>
                <c:pt idx="17">
                  <c:v>434</c:v>
                </c:pt>
                <c:pt idx="18">
                  <c:v>436</c:v>
                </c:pt>
                <c:pt idx="19">
                  <c:v>462</c:v>
                </c:pt>
                <c:pt idx="20">
                  <c:v>460</c:v>
                </c:pt>
                <c:pt idx="21">
                  <c:v>437</c:v>
                </c:pt>
                <c:pt idx="22">
                  <c:v>376</c:v>
                </c:pt>
                <c:pt idx="23">
                  <c:v>382</c:v>
                </c:pt>
                <c:pt idx="24">
                  <c:v>380</c:v>
                </c:pt>
                <c:pt idx="25">
                  <c:v>399</c:v>
                </c:pt>
                <c:pt idx="26">
                  <c:v>391</c:v>
                </c:pt>
                <c:pt idx="27">
                  <c:v>402</c:v>
                </c:pt>
                <c:pt idx="28">
                  <c:v>394</c:v>
                </c:pt>
                <c:pt idx="29">
                  <c:v>374</c:v>
                </c:pt>
                <c:pt idx="30">
                  <c:v>382</c:v>
                </c:pt>
                <c:pt idx="31">
                  <c:v>390</c:v>
                </c:pt>
                <c:pt idx="32">
                  <c:v>401</c:v>
                </c:pt>
                <c:pt idx="33">
                  <c:v>391</c:v>
                </c:pt>
                <c:pt idx="34">
                  <c:v>405</c:v>
                </c:pt>
                <c:pt idx="35">
                  <c:v>398</c:v>
                </c:pt>
                <c:pt idx="36">
                  <c:v>383</c:v>
                </c:pt>
                <c:pt idx="37">
                  <c:v>385</c:v>
                </c:pt>
                <c:pt idx="38">
                  <c:v>427</c:v>
                </c:pt>
                <c:pt idx="39">
                  <c:v>438</c:v>
                </c:pt>
                <c:pt idx="40">
                  <c:v>439</c:v>
                </c:pt>
                <c:pt idx="41">
                  <c:v>454</c:v>
                </c:pt>
                <c:pt idx="42">
                  <c:v>446</c:v>
                </c:pt>
                <c:pt idx="43">
                  <c:v>434</c:v>
                </c:pt>
                <c:pt idx="44">
                  <c:v>433</c:v>
                </c:pt>
                <c:pt idx="45">
                  <c:v>442</c:v>
                </c:pt>
                <c:pt idx="46">
                  <c:v>454</c:v>
                </c:pt>
                <c:pt idx="47">
                  <c:v>455</c:v>
                </c:pt>
              </c:numCache>
            </c:numRef>
          </c:val>
          <c:extLst>
            <c:ext xmlns:c16="http://schemas.microsoft.com/office/drawing/2014/chart" uri="{C3380CC4-5D6E-409C-BE32-E72D297353CC}">
              <c16:uniqueId val="{00000010-FAA6-4A79-AADA-BFD7DA077A59}"/>
            </c:ext>
          </c:extLst>
        </c:ser>
        <c:dLbls>
          <c:showLegendKey val="0"/>
          <c:showVal val="1"/>
          <c:showCatName val="0"/>
          <c:showSerName val="0"/>
          <c:showPercent val="0"/>
          <c:showBubbleSize val="0"/>
        </c:dLbls>
        <c:gapWidth val="75"/>
        <c:axId val="2029441984"/>
        <c:axId val="2029444064"/>
      </c:barChart>
      <c:dateAx>
        <c:axId val="2029441984"/>
        <c:scaling>
          <c:orientation val="minMax"/>
        </c:scaling>
        <c:delete val="0"/>
        <c:axPos val="b"/>
        <c:numFmt formatCode="d\-m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4064"/>
        <c:crosses val="autoZero"/>
        <c:auto val="1"/>
        <c:lblOffset val="100"/>
        <c:baseTimeUnit val="days"/>
      </c:dateAx>
      <c:valAx>
        <c:axId val="2029444064"/>
        <c:scaling>
          <c:orientation val="minMax"/>
          <c:max val="480"/>
          <c:min val="350"/>
        </c:scaling>
        <c:delete val="0"/>
        <c:axPos val="l"/>
        <c:numFmt formatCode="General" sourceLinked="1"/>
        <c:majorTickMark val="none"/>
        <c:minorTickMark val="none"/>
        <c:tickLblPos val="nextTo"/>
        <c:spPr>
          <a:noFill/>
          <a:ln w="9525">
            <a:solidFill>
              <a:schemeClr val="tx1"/>
            </a:solid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1984"/>
        <c:crosses val="autoZero"/>
        <c:crossBetween val="between"/>
        <c:majorUnit val="30"/>
        <c:minorUnit val="5"/>
      </c:valAx>
      <c:spPr>
        <a:noFill/>
        <a:ln>
          <a:noFill/>
        </a:ln>
        <a:effectLst/>
      </c:spPr>
    </c:plotArea>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drawings/drawing1.xml><?xml version="1.0" encoding="utf-8"?>
<c:userShapes xmlns:c="http://schemas.openxmlformats.org/drawingml/2006/chart">
  <cdr:relSizeAnchor xmlns:cdr="http://schemas.openxmlformats.org/drawingml/2006/chartDrawing">
    <cdr:from>
      <cdr:x>0.07993</cdr:x>
      <cdr:y>0.57903</cdr:y>
    </cdr:from>
    <cdr:to>
      <cdr:x>0.3832</cdr:x>
      <cdr:y>0.80183</cdr:y>
    </cdr:to>
    <cdr:sp macro="" textlink="">
      <cdr:nvSpPr>
        <cdr:cNvPr id="2" name="TextBox 1">
          <a:extLst xmlns:a="http://schemas.openxmlformats.org/drawingml/2006/main">
            <a:ext uri="{FF2B5EF4-FFF2-40B4-BE49-F238E27FC236}">
              <a16:creationId xmlns:a16="http://schemas.microsoft.com/office/drawing/2014/main" id="{CD939C01-4FDE-4466-9481-5A3B05BD383C}"/>
            </a:ext>
          </a:extLst>
        </cdr:cNvPr>
        <cdr:cNvSpPr txBox="1"/>
      </cdr:nvSpPr>
      <cdr:spPr>
        <a:xfrm xmlns:a="http://schemas.openxmlformats.org/drawingml/2006/main">
          <a:off x="923827" y="3039532"/>
          <a:ext cx="3505182" cy="1169551"/>
        </a:xfrm>
        <a:prstGeom xmlns:a="http://schemas.openxmlformats.org/drawingml/2006/main" prst="rect">
          <a:avLst/>
        </a:prstGeom>
        <a:solidFill xmlns:a="http://schemas.openxmlformats.org/drawingml/2006/main">
          <a:srgbClr val="FFFFCC"/>
        </a:solidFill>
        <a:ln xmlns:a="http://schemas.openxmlformats.org/drawingml/2006/main">
          <a:solidFill>
            <a:srgbClr val="FFC000"/>
          </a:solidFill>
        </a:ln>
      </cdr:spPr>
      <cdr:txBody>
        <a:bodyPr xmlns:a="http://schemas.openxmlformats.org/drawingml/2006/main" vertOverflow="clip" wrap="square" rtlCol="0">
          <a:spAutoFit/>
        </a:bodyPr>
        <a:lstStyle xmlns:a="http://schemas.openxmlformats.org/drawingml/2006/main"/>
        <a:p xmlns:a="http://schemas.openxmlformats.org/drawingml/2006/main">
          <a:r>
            <a:rPr lang="en-US" sz="1000" b="1">
              <a:solidFill>
                <a:srgbClr val="FF0000"/>
              </a:solidFill>
              <a:latin typeface="+mj-lt"/>
            </a:rPr>
            <a:t>Update thay đổi:</a:t>
          </a:r>
        </a:p>
        <a:p xmlns:a="http://schemas.openxmlformats.org/drawingml/2006/main">
          <a:pPr marL="171450" indent="-171450">
            <a:buFontTx/>
            <a:buChar char="-"/>
          </a:pPr>
          <a:r>
            <a:rPr lang="en-US" sz="1000" b="1">
              <a:solidFill>
                <a:schemeClr val="tx1"/>
              </a:solidFill>
              <a:latin typeface="+mj-lt"/>
            </a:rPr>
            <a:t>Update 07/04: </a:t>
          </a:r>
          <a:r>
            <a:rPr lang="en-US" sz="1000">
              <a:solidFill>
                <a:schemeClr val="tx1"/>
              </a:solidFill>
              <a:latin typeface="+mj-lt"/>
            </a:rPr>
            <a:t>21137 và 21043 (shop N3) delay 1 tuần làm tăng 1 tuần AOG vào T6). .</a:t>
          </a:r>
        </a:p>
        <a:p xmlns:a="http://schemas.openxmlformats.org/drawingml/2006/main">
          <a:pPr marL="171450" indent="-171450">
            <a:buFontTx/>
            <a:buChar char="-"/>
          </a:pPr>
          <a:r>
            <a:rPr lang="en-US" sz="1000" b="1">
              <a:solidFill>
                <a:schemeClr val="tx1"/>
              </a:solidFill>
              <a:latin typeface="+mj-lt"/>
            </a:rPr>
            <a:t>Update 13/04: </a:t>
          </a:r>
          <a:r>
            <a:rPr lang="en-US" sz="1000">
              <a:solidFill>
                <a:schemeClr val="tx1"/>
              </a:solidFill>
              <a:latin typeface="+mj-lt"/>
            </a:rPr>
            <a:t>21043 delay thêm 1 tuần làm tăng 0.25 AOG vào T6. </a:t>
          </a:r>
        </a:p>
        <a:p xmlns:a="http://schemas.openxmlformats.org/drawingml/2006/main">
          <a:pPr marL="171450" indent="-171450">
            <a:buFontTx/>
            <a:buChar char="-"/>
          </a:pPr>
          <a:r>
            <a:rPr lang="en-US" sz="1000" b="1">
              <a:solidFill>
                <a:schemeClr val="tx1"/>
              </a:solidFill>
              <a:latin typeface="+mj-lt"/>
            </a:rPr>
            <a:t>Update 20/04: </a:t>
          </a:r>
          <a:r>
            <a:rPr lang="en-US" sz="1000">
              <a:solidFill>
                <a:schemeClr val="tx1"/>
              </a:solidFill>
              <a:latin typeface="+mj-lt"/>
            </a:rPr>
            <a:t>ảnh hưởng của 21316 hỏng hóc làm tăng 0.5 AOG T4.</a:t>
          </a:r>
          <a:endParaRPr lang="en-US" sz="1000" b="1" dirty="0">
            <a:solidFill>
              <a:schemeClr val="tx1"/>
            </a:solidFill>
            <a:latin typeface="+mj-lt"/>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1440" tIns="45720" rIns="91440" bIns="45720" rtlCol="0"/>
          <a:lstStyle>
            <a:lvl1pPr algn="r">
              <a:defRPr sz="1200"/>
            </a:lvl1pPr>
          </a:lstStyle>
          <a:p>
            <a:fld id="{64E30043-8C10-7B47-A809-3F1C83F4798E}" type="datetimeFigureOut">
              <a:rPr lang="en-US" smtClean="0"/>
              <a:t>4/20/2025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1440" tIns="45720" rIns="91440" bIns="45720" rtlCol="0" anchor="b"/>
          <a:lstStyle>
            <a:lvl1pPr algn="r">
              <a:defRPr sz="1200"/>
            </a:lvl1pPr>
          </a:lstStyle>
          <a:p>
            <a:fld id="{19A373DA-F9AA-A644-86AE-7CBAAC246365}" type="slidenum">
              <a:rPr lang="en-US" smtClean="0"/>
              <a:t>‹#›</a:t>
            </a:fld>
            <a:endParaRPr lang="en-US"/>
          </a:p>
        </p:txBody>
      </p:sp>
    </p:spTree>
    <p:extLst>
      <p:ext uri="{BB962C8B-B14F-4D97-AF65-F5344CB8AC3E}">
        <p14:creationId xmlns:p14="http://schemas.microsoft.com/office/powerpoint/2010/main" val="3310150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301f5ae314a_0_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 name="Google Shape;24;g301f5ae314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0698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1</a:t>
            </a:fld>
            <a:endParaRPr lang="en-US"/>
          </a:p>
        </p:txBody>
      </p:sp>
    </p:spTree>
    <p:extLst>
      <p:ext uri="{BB962C8B-B14F-4D97-AF65-F5344CB8AC3E}">
        <p14:creationId xmlns:p14="http://schemas.microsoft.com/office/powerpoint/2010/main" val="2795260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9A373DA-F9AA-A644-86AE-7CBAAC246365}" type="slidenum">
              <a:rPr lang="en-US" smtClean="0"/>
              <a:t>2</a:t>
            </a:fld>
            <a:endParaRPr lang="en-US"/>
          </a:p>
        </p:txBody>
      </p:sp>
    </p:spTree>
    <p:extLst>
      <p:ext uri="{BB962C8B-B14F-4D97-AF65-F5344CB8AC3E}">
        <p14:creationId xmlns:p14="http://schemas.microsoft.com/office/powerpoint/2010/main" val="3780144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77508-6FCD-C332-2C63-EC96CA868FBA}"/>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CC86E7A9-D037-13F3-9FD5-5D4213D1B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DC9D1E90-5E87-E9CE-D197-CE4F629E5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id="{0AB9E5D2-9481-7A05-B3F0-D52FF0231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541988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4</a:t>
            </a:fld>
            <a:endParaRPr/>
          </a:p>
        </p:txBody>
      </p:sp>
    </p:spTree>
    <p:extLst>
      <p:ext uri="{BB962C8B-B14F-4D97-AF65-F5344CB8AC3E}">
        <p14:creationId xmlns:p14="http://schemas.microsoft.com/office/powerpoint/2010/main" val="2378055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327911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7097C343-4D22-743A-A56B-0DF7DF3CEE2D}"/>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27B7D9BA-239E-489D-0C15-2EE1153D5D9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D009AD29-9B94-075C-7FAF-FF0766F6DEF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D4CBA8A6-95C0-F703-0A5A-A10AA1C59A5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124161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DA507EF5-F271-6429-C730-4E206DCAAA8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611F808-D70E-D554-3B95-E6606827A73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00D0994B-5C54-7996-66E2-8DE99680853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CC7A453E-94CF-76E9-24C3-2CBE4891D08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974101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77508-6FCD-C332-2C63-EC96CA868FBA}"/>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CC86E7A9-D037-13F3-9FD5-5D4213D1B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DC9D1E90-5E87-E9CE-D197-CE4F629E5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id="{0AB9E5D2-9481-7A05-B3F0-D52FF0231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1484146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555725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10</a:t>
            </a:fld>
            <a:endParaRPr/>
          </a:p>
        </p:txBody>
      </p:sp>
    </p:spTree>
    <p:extLst>
      <p:ext uri="{BB962C8B-B14F-4D97-AF65-F5344CB8AC3E}">
        <p14:creationId xmlns:p14="http://schemas.microsoft.com/office/powerpoint/2010/main" val="27226347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11</a:t>
            </a:fld>
            <a:endParaRPr/>
          </a:p>
        </p:txBody>
      </p:sp>
    </p:spTree>
    <p:extLst>
      <p:ext uri="{BB962C8B-B14F-4D97-AF65-F5344CB8AC3E}">
        <p14:creationId xmlns:p14="http://schemas.microsoft.com/office/powerpoint/2010/main" val="34039298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E561243C-8838-2E44-36FA-6349D45CC3F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101A832F-70B6-DFCB-B1D0-900934A4433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BF2CE732-C85A-6302-3377-97B871BEE10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6E0B033D-71A0-3FA8-8692-53B0C366D22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351244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7EE6451B-8AC0-B3A9-5B47-C95C8A7B9F39}"/>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5C7A6279-6549-DBCA-BE92-BF1B4A73451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7CFBD35C-11D0-1B74-2682-0A0FBD5065C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A92C45E3-047E-2A45-1B06-8F3BF0BBB66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586906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CA1795D2-A180-D9E4-7E75-2882B1D8B273}"/>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87185DA-670B-7221-90EB-07758460F54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39D55655-F89E-D093-DB15-8362248C9A6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E8F5E75-39E3-F54F-9422-3AE138ECE79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508493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81566E7-BF89-342D-C80D-41F453AC36CA}"/>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E2194AD7-FA0D-A67B-3825-31BF6767CF5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71B9DA7C-3D6E-ADC7-D135-9CB9F50BBE0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A50DE78D-1F97-6E46-25F5-A0F19DC420C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975330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solidFill>
                  <a:srgbClr val="4472C4">
                    <a:lumMod val="50000"/>
                  </a:srgbClr>
                </a:solidFill>
                <a:latin typeface="Cambria" panose="02040503050406030204" pitchFamily="18" charset="0"/>
                <a:ea typeface="Cambria" panose="02040503050406030204" pitchFamily="18" charset="0"/>
              </a:rPr>
              <a:t>A872 Test "Không dịch chuyển được Ballscrew có thể bị kẹt hoặc có vật cản. Hoặc có thể liên quan đến việc phanh phụ đang kích hoạt, ngăn cản sự di chuyển của trục vít me. Bộ phận này cần được kiểm tra trong quá trình đại tu để xác định nguyên nhân hỏng hóc"</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A373DA-F9AA-A644-86AE-7CBAAC24636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511412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DBC10-D293-DFDD-2B49-2EF84D293C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F3D849-EBD6-C874-B929-54CE298088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03C757-A97C-CC69-207E-C00CB8FD61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B098FB-AD61-4FE6-4C63-E6AD795FE8B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A373DA-F9AA-A644-86AE-7CBAAC24636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520722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064AD-018D-4BAA-D464-285FA848B8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484BAB-D208-817A-AE2C-CDC923A84C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33049F-0790-6086-8832-1AC0C81885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E27D2A-5833-58B3-CB10-71D60C3F3B1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A373DA-F9AA-A644-86AE-7CBAAC24636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237298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27FAC9D-6C4D-45A1-835A-6091318B370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24326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27FAC9D-6C4D-45A1-835A-6091318B370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27686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21</a:t>
            </a:fld>
            <a:endParaRPr/>
          </a:p>
        </p:txBody>
      </p:sp>
    </p:spTree>
    <p:extLst>
      <p:ext uri="{BB962C8B-B14F-4D97-AF65-F5344CB8AC3E}">
        <p14:creationId xmlns:p14="http://schemas.microsoft.com/office/powerpoint/2010/main" val="6237122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22</a:t>
            </a:fld>
            <a:endParaRPr/>
          </a:p>
        </p:txBody>
      </p:sp>
    </p:spTree>
    <p:extLst>
      <p:ext uri="{BB962C8B-B14F-4D97-AF65-F5344CB8AC3E}">
        <p14:creationId xmlns:p14="http://schemas.microsoft.com/office/powerpoint/2010/main" val="35292383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23</a:t>
            </a:fld>
            <a:endParaRPr/>
          </a:p>
        </p:txBody>
      </p:sp>
    </p:spTree>
    <p:extLst>
      <p:ext uri="{BB962C8B-B14F-4D97-AF65-F5344CB8AC3E}">
        <p14:creationId xmlns:p14="http://schemas.microsoft.com/office/powerpoint/2010/main" val="28439320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44E0767-5B1A-F998-1262-A19303E0387B}"/>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3FCCA5D-F40D-0166-85CE-8EF586347D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66C5365F-D5DA-C3A3-2AF6-43BFF787E36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D288B71-E817-876E-4F9E-12C672E9B35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16276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FC104A0-13B4-310F-A29D-C2D066A04A1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248459CD-70C2-5C9B-A2E9-60B9628C0A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46DBF351-C24B-1104-8F07-A554E6D4FF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753D8A8-F896-0803-20E6-3DC18FF98DD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626248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26</a:t>
            </a:fld>
            <a:endParaRPr/>
          </a:p>
        </p:txBody>
      </p:sp>
    </p:spTree>
    <p:extLst>
      <p:ext uri="{BB962C8B-B14F-4D97-AF65-F5344CB8AC3E}">
        <p14:creationId xmlns:p14="http://schemas.microsoft.com/office/powerpoint/2010/main" val="13124453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27</a:t>
            </a:fld>
            <a:endParaRPr/>
          </a:p>
        </p:txBody>
      </p:sp>
    </p:spTree>
    <p:extLst>
      <p:ext uri="{BB962C8B-B14F-4D97-AF65-F5344CB8AC3E}">
        <p14:creationId xmlns:p14="http://schemas.microsoft.com/office/powerpoint/2010/main" val="6540040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28</a:t>
            </a:fld>
            <a:endParaRPr/>
          </a:p>
        </p:txBody>
      </p:sp>
    </p:spTree>
    <p:extLst>
      <p:ext uri="{BB962C8B-B14F-4D97-AF65-F5344CB8AC3E}">
        <p14:creationId xmlns:p14="http://schemas.microsoft.com/office/powerpoint/2010/main" val="37763374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548281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30</a:t>
            </a:fld>
            <a:endParaRPr/>
          </a:p>
        </p:txBody>
      </p:sp>
    </p:spTree>
    <p:extLst>
      <p:ext uri="{BB962C8B-B14F-4D97-AF65-F5344CB8AC3E}">
        <p14:creationId xmlns:p14="http://schemas.microsoft.com/office/powerpoint/2010/main" val="37388694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0F878AF-BBDD-C6ED-7AD5-5B685E158E0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72F52688-1CC4-541B-43BC-86DB6E07C0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ED4F4CC-70E6-F17D-4EB8-ECA86EB25F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78DA26F-93B7-623C-25F5-0AA25B41617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31</a:t>
            </a:fld>
            <a:endParaRPr/>
          </a:p>
        </p:txBody>
      </p:sp>
    </p:spTree>
    <p:extLst>
      <p:ext uri="{BB962C8B-B14F-4D97-AF65-F5344CB8AC3E}">
        <p14:creationId xmlns:p14="http://schemas.microsoft.com/office/powerpoint/2010/main" val="32637314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C2FA8-72AD-740C-B2A4-D59CA329E2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13B04E-D2CA-6404-597A-92820680960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EE61739-826D-7AAF-B33B-18FF92150DF4}"/>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76FAD88-11AB-C429-5B65-435A43FFA94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666ED7-631A-46AF-B451-227D0A8685A0}"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768970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A7C44048-5E54-913D-6718-81ADD22A47C0}"/>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3F2927F-22E1-2406-3F6D-272971FBB3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F3BCC66C-F401-1539-F528-5C627ACEAA0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29AD5FCB-0938-657E-F99F-296B870A9CD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33</a:t>
            </a:fld>
            <a:endParaRPr/>
          </a:p>
        </p:txBody>
      </p:sp>
    </p:spTree>
    <p:extLst>
      <p:ext uri="{BB962C8B-B14F-4D97-AF65-F5344CB8AC3E}">
        <p14:creationId xmlns:p14="http://schemas.microsoft.com/office/powerpoint/2010/main" val="42703579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E26068CF-38DB-1D6C-6DC7-F7D2D084AA39}"/>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65B994C1-1E18-D0D0-66A3-BAFA78B7E1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F0393F5-5A1F-BE21-BFE8-F6468BBE159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4DCB08EB-58F1-3868-A15A-E5412B0FB1B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34</a:t>
            </a:fld>
            <a:endParaRPr/>
          </a:p>
        </p:txBody>
      </p:sp>
    </p:spTree>
    <p:extLst>
      <p:ext uri="{BB962C8B-B14F-4D97-AF65-F5344CB8AC3E}">
        <p14:creationId xmlns:p14="http://schemas.microsoft.com/office/powerpoint/2010/main" val="25182277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45BC7C4-A2AF-0A92-C797-AFA7332B9B7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1DE54FAD-9C5B-FBB2-4944-B4F81AD9AC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8D2EAB10-7BA4-F850-28F0-A084C51F228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983371B-1407-FBAF-7F23-5A67DD72E0C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35</a:t>
            </a:fld>
            <a:endParaRPr/>
          </a:p>
        </p:txBody>
      </p:sp>
    </p:spTree>
    <p:extLst>
      <p:ext uri="{BB962C8B-B14F-4D97-AF65-F5344CB8AC3E}">
        <p14:creationId xmlns:p14="http://schemas.microsoft.com/office/powerpoint/2010/main" val="40221517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46</a:t>
            </a:fld>
            <a:endParaRPr/>
          </a:p>
        </p:txBody>
      </p:sp>
    </p:spTree>
    <p:extLst>
      <p:ext uri="{BB962C8B-B14F-4D97-AF65-F5344CB8AC3E}">
        <p14:creationId xmlns:p14="http://schemas.microsoft.com/office/powerpoint/2010/main" val="12894942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47</a:t>
            </a:fld>
            <a:endParaRPr/>
          </a:p>
        </p:txBody>
      </p:sp>
    </p:spTree>
    <p:extLst>
      <p:ext uri="{BB962C8B-B14F-4D97-AF65-F5344CB8AC3E}">
        <p14:creationId xmlns:p14="http://schemas.microsoft.com/office/powerpoint/2010/main" val="39669089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48</a:t>
            </a:fld>
            <a:endParaRPr sz="13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9842046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t>49</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27352730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A373DA-F9AA-A644-86AE-7CBAAC246365}" type="slidenum">
              <a:rPr lang="en-US" smtClean="0"/>
              <a:t>51</a:t>
            </a:fld>
            <a:endParaRPr lang="en-US"/>
          </a:p>
        </p:txBody>
      </p:sp>
    </p:spTree>
    <p:extLst>
      <p:ext uri="{BB962C8B-B14F-4D97-AF65-F5344CB8AC3E}">
        <p14:creationId xmlns:p14="http://schemas.microsoft.com/office/powerpoint/2010/main" val="123349978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6002251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1294761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108120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1ccdae391d_0_27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g31ccdae391d_0_271: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g31ccdae391d_0_271: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55</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85151687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1ccdae391d_0_27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g31ccdae391d_0_27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g31ccdae391d_0_27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34964994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1ccdae391d_0_28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g31ccdae391d_0_28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g31ccdae391d_0_28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52498511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1ccdae391d_0_29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g31ccdae391d_0_29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7" name="Google Shape;197;g31ccdae391d_0_29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58</a:t>
            </a:fld>
            <a:endParaRPr/>
          </a:p>
        </p:txBody>
      </p:sp>
    </p:spTree>
    <p:extLst>
      <p:ext uri="{BB962C8B-B14F-4D97-AF65-F5344CB8AC3E}">
        <p14:creationId xmlns:p14="http://schemas.microsoft.com/office/powerpoint/2010/main" val="35604871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1ccdae391d_0_30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 name="Google Shape;206;g31ccdae391d_0_30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g31ccdae391d_0_30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59</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39620436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1ccdae391d_0_31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g31ccdae391d_0_31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g31ccdae391d_0_31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60</a:t>
            </a:fld>
            <a:endParaRPr/>
          </a:p>
        </p:txBody>
      </p:sp>
    </p:spTree>
    <p:extLst>
      <p:ext uri="{BB962C8B-B14F-4D97-AF65-F5344CB8AC3E}">
        <p14:creationId xmlns:p14="http://schemas.microsoft.com/office/powerpoint/2010/main" val="146955230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1ccdae391d_0_32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g31ccdae391d_0_32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4" name="Google Shape;224;g31ccdae391d_0_32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61</a:t>
            </a:fld>
            <a:endParaRPr/>
          </a:p>
        </p:txBody>
      </p:sp>
    </p:spTree>
    <p:extLst>
      <p:ext uri="{BB962C8B-B14F-4D97-AF65-F5344CB8AC3E}">
        <p14:creationId xmlns:p14="http://schemas.microsoft.com/office/powerpoint/2010/main" val="100068335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1ccdae391d_0_33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g31ccdae391d_0_33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g31ccdae391d_0_33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00666259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1ccdae391d_0_33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1" name="Google Shape;241;g31ccdae391d_0_33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g31ccdae391d_0_33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63</a:t>
            </a:fld>
            <a:endParaRPr/>
          </a:p>
        </p:txBody>
      </p:sp>
    </p:spTree>
    <p:extLst>
      <p:ext uri="{BB962C8B-B14F-4D97-AF65-F5344CB8AC3E}">
        <p14:creationId xmlns:p14="http://schemas.microsoft.com/office/powerpoint/2010/main" val="346913730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1ccdae391d_0_34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g31ccdae391d_0_347: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 name="Google Shape;251;g31ccdae391d_0_347: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14587002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1ccdae391d_0_35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8" name="Google Shape;258;g31ccdae391d_0_354: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9" name="Google Shape;259;g31ccdae391d_0_354: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65</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82926085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1ccdae391d_0_36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 name="Google Shape;266;g31ccdae391d_0_361: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67" name="Google Shape;267;g31ccdae391d_0_361: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66</a:t>
            </a:fld>
            <a:endParaRPr sz="1200">
              <a:latin typeface="Calibri"/>
              <a:ea typeface="Calibri"/>
              <a:cs typeface="Calibri"/>
              <a:sym typeface="Calibri"/>
            </a:endParaRPr>
          </a:p>
        </p:txBody>
      </p:sp>
    </p:spTree>
    <p:extLst>
      <p:ext uri="{BB962C8B-B14F-4D97-AF65-F5344CB8AC3E}">
        <p14:creationId xmlns:p14="http://schemas.microsoft.com/office/powerpoint/2010/main" val="1630087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1ccdae391d_0_36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 name="Google Shape;274;g31ccdae391d_0_368: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75" name="Google Shape;275;g31ccdae391d_0_368: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67</a:t>
            </a:fld>
            <a:endParaRPr sz="1200">
              <a:latin typeface="Calibri"/>
              <a:ea typeface="Calibri"/>
              <a:cs typeface="Calibri"/>
              <a:sym typeface="Calibri"/>
            </a:endParaRPr>
          </a:p>
        </p:txBody>
      </p:sp>
    </p:spTree>
    <p:extLst>
      <p:ext uri="{BB962C8B-B14F-4D97-AF65-F5344CB8AC3E}">
        <p14:creationId xmlns:p14="http://schemas.microsoft.com/office/powerpoint/2010/main" val="423318530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1ccdae391d_0_37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g31ccdae391d_0_375: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g31ccdae391d_0_375: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68</a:t>
            </a:fld>
            <a:endParaRPr sz="1200">
              <a:latin typeface="Calibri"/>
              <a:ea typeface="Calibri"/>
              <a:cs typeface="Calibri"/>
              <a:sym typeface="Calibri"/>
            </a:endParaRPr>
          </a:p>
        </p:txBody>
      </p:sp>
    </p:spTree>
    <p:extLst>
      <p:ext uri="{BB962C8B-B14F-4D97-AF65-F5344CB8AC3E}">
        <p14:creationId xmlns:p14="http://schemas.microsoft.com/office/powerpoint/2010/main" val="224086750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1ccdae391d_0_38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g31ccdae391d_0_383: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2" name="Google Shape;292;g31ccdae391d_0_383: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69</a:t>
            </a:fld>
            <a:endParaRPr sz="1200">
              <a:latin typeface="Calibri"/>
              <a:ea typeface="Calibri"/>
              <a:cs typeface="Calibri"/>
              <a:sym typeface="Calibri"/>
            </a:endParaRPr>
          </a:p>
        </p:txBody>
      </p:sp>
    </p:spTree>
    <p:extLst>
      <p:ext uri="{BB962C8B-B14F-4D97-AF65-F5344CB8AC3E}">
        <p14:creationId xmlns:p14="http://schemas.microsoft.com/office/powerpoint/2010/main" val="288323474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1ccdae391d_0_38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 name="Google Shape;298;g31ccdae391d_0_389: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9" name="Google Shape;299;g31ccdae391d_0_389: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70</a:t>
            </a:fld>
            <a:endParaRPr sz="1200">
              <a:latin typeface="Calibri"/>
              <a:ea typeface="Calibri"/>
              <a:cs typeface="Calibri"/>
              <a:sym typeface="Calibri"/>
            </a:endParaRPr>
          </a:p>
        </p:txBody>
      </p:sp>
    </p:spTree>
    <p:extLst>
      <p:ext uri="{BB962C8B-B14F-4D97-AF65-F5344CB8AC3E}">
        <p14:creationId xmlns:p14="http://schemas.microsoft.com/office/powerpoint/2010/main" val="105925797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1ccdae391d_0_39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g31ccdae391d_0_396: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307" name="Google Shape;307;g31ccdae391d_0_396: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71</a:t>
            </a:fld>
            <a:endParaRPr sz="1200">
              <a:latin typeface="Calibri"/>
              <a:ea typeface="Calibri"/>
              <a:cs typeface="Calibri"/>
              <a:sym typeface="Calibri"/>
            </a:endParaRPr>
          </a:p>
        </p:txBody>
      </p:sp>
    </p:spTree>
    <p:extLst>
      <p:ext uri="{BB962C8B-B14F-4D97-AF65-F5344CB8AC3E}">
        <p14:creationId xmlns:p14="http://schemas.microsoft.com/office/powerpoint/2010/main" val="268434873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31ccdae391d_0_40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4" name="Google Shape;314;g31ccdae391d_0_40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5" name="Google Shape;315;g31ccdae391d_0_40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72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17628828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38eea6c084_0_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g338eea6c084_0_0: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g338eea6c084_0_0: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73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79029142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01f5ae314a_0_7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g301f5ae314a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51912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366085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1pPr>
            <a:lvl2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2pPr>
            <a:lvl3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3pPr>
            <a:lvl4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4pPr>
            <a:lvl5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imes New Roman" panose="02020603050405020304" pitchFamily="18" charset="0"/>
                <a:ea typeface="Tahoma" pitchFamily="34" charset="0"/>
                <a:cs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4190353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387442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6"/>
            <a:ext cx="5181600" cy="387442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33901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935352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799317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04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17562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916506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pic>
        <p:nvPicPr>
          <p:cNvPr id="2" name="Picture 1"/>
          <p:cNvPicPr>
            <a:picLocks noChangeAspect="1"/>
          </p:cNvPicPr>
          <p:nvPr userDrawn="1"/>
        </p:nvPicPr>
        <p:blipFill>
          <a:blip r:embed="rId3" cstate="print"/>
          <a:stretch>
            <a:fillRect/>
          </a:stretch>
        </p:blipFill>
        <p:spPr>
          <a:xfrm>
            <a:off x="7603958" y="541897"/>
            <a:ext cx="1795803" cy="544909"/>
          </a:xfrm>
          <a:prstGeom prst="rect">
            <a:avLst/>
          </a:prstGeom>
        </p:spPr>
      </p:pic>
    </p:spTree>
    <p:extLst>
      <p:ext uri="{BB962C8B-B14F-4D97-AF65-F5344CB8AC3E}">
        <p14:creationId xmlns:p14="http://schemas.microsoft.com/office/powerpoint/2010/main" val="3677509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2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vi" smtClean="0"/>
              <a:pPr/>
              <a:t>‹#›</a:t>
            </a:fld>
            <a:endParaRPr lang="vi"/>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2769774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7" name="Slide Number Placeholder 3">
            <a:extLst>
              <a:ext uri="{FF2B5EF4-FFF2-40B4-BE49-F238E27FC236}">
                <a16:creationId xmlns:a16="http://schemas.microsoft.com/office/drawing/2014/main" id="{7CD31424-8E36-40E6-9371-E332C871D5A5}"/>
              </a:ext>
            </a:extLst>
          </p:cNvPr>
          <p:cNvSpPr txBox="1">
            <a:spLocks/>
          </p:cNvSpPr>
          <p:nvPr userDrawn="1"/>
        </p:nvSpPr>
        <p:spPr>
          <a:xfrm>
            <a:off x="11486223" y="6421949"/>
            <a:ext cx="611905" cy="365125"/>
          </a:xfrm>
          <a:prstGeom prst="rect">
            <a:avLst/>
          </a:prstGeom>
        </p:spPr>
        <p:txBody>
          <a:bodyPr vert="horz" lIns="91440" tIns="45720" rIns="91440" bIns="45720" rtlCol="0" anchor="ctr"/>
          <a:lstStyle>
            <a:defPPr>
              <a:defRPr lang="en-VN"/>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3A1DAE-E79D-4DA5-B482-81DDF4B01157}" type="slidenum">
              <a:rPr lang="en-VN" sz="1200" smtClean="0">
                <a:solidFill>
                  <a:schemeClr val="bg1"/>
                </a:solidFill>
                <a:latin typeface="Exo"/>
              </a:rPr>
              <a:t>‹#›</a:t>
            </a:fld>
            <a:endParaRPr lang="en-VN" sz="1200" dirty="0">
              <a:solidFill>
                <a:schemeClr val="bg1"/>
              </a:solidFill>
              <a:latin typeface="Exo"/>
            </a:endParaRPr>
          </a:p>
        </p:txBody>
      </p:sp>
      <p:pic>
        <p:nvPicPr>
          <p:cNvPr id="11" name="Picture 10">
            <a:extLst>
              <a:ext uri="{FF2B5EF4-FFF2-40B4-BE49-F238E27FC236}">
                <a16:creationId xmlns:a16="http://schemas.microsoft.com/office/drawing/2014/main" id="{E46A7E23-6711-4728-BF6F-BC4B89E39E0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0096" y="136257"/>
            <a:ext cx="537821" cy="505652"/>
          </a:xfrm>
          <a:prstGeom prst="rect">
            <a:avLst/>
          </a:prstGeom>
        </p:spPr>
      </p:pic>
    </p:spTree>
    <p:extLst>
      <p:ext uri="{BB962C8B-B14F-4D97-AF65-F5344CB8AC3E}">
        <p14:creationId xmlns:p14="http://schemas.microsoft.com/office/powerpoint/2010/main" val="5279815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2_Title and Content">
    <p:spTree>
      <p:nvGrpSpPr>
        <p:cNvPr id="1" name="Shape 78"/>
        <p:cNvGrpSpPr/>
        <p:nvPr/>
      </p:nvGrpSpPr>
      <p:grpSpPr>
        <a:xfrm>
          <a:off x="0" y="0"/>
          <a:ext cx="0" cy="0"/>
          <a:chOff x="0" y="0"/>
          <a:chExt cx="0" cy="0"/>
        </a:xfrm>
      </p:grpSpPr>
      <p:sp>
        <p:nvSpPr>
          <p:cNvPr id="79" name="Google Shape;79;g31ccdae391d_0_417"/>
          <p:cNvSpPr txBox="1">
            <a:spLocks noGrp="1"/>
          </p:cNvSpPr>
          <p:nvPr>
            <p:ph type="body" idx="1"/>
          </p:nvPr>
        </p:nvSpPr>
        <p:spPr>
          <a:xfrm>
            <a:off x="838200" y="1825626"/>
            <a:ext cx="10515600" cy="38829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Montserrat"/>
                <a:ea typeface="Montserrat"/>
                <a:cs typeface="Montserrat"/>
                <a:sym typeface="Montserrat"/>
              </a:defRPr>
            </a:lvl1pPr>
            <a:lvl2pPr marL="914400" lvl="1" indent="-381000" algn="l">
              <a:lnSpc>
                <a:spcPct val="90000"/>
              </a:lnSpc>
              <a:spcBef>
                <a:spcPts val="500"/>
              </a:spcBef>
              <a:spcAft>
                <a:spcPts val="0"/>
              </a:spcAft>
              <a:buClr>
                <a:schemeClr val="dk1"/>
              </a:buClr>
              <a:buSzPts val="2400"/>
              <a:buChar char="•"/>
              <a:defRPr>
                <a:latin typeface="Montserrat"/>
                <a:ea typeface="Montserrat"/>
                <a:cs typeface="Montserrat"/>
                <a:sym typeface="Montserrat"/>
              </a:defRPr>
            </a:lvl2pPr>
            <a:lvl3pPr marL="1371600" lvl="2" indent="-355600" algn="l">
              <a:lnSpc>
                <a:spcPct val="90000"/>
              </a:lnSpc>
              <a:spcBef>
                <a:spcPts val="500"/>
              </a:spcBef>
              <a:spcAft>
                <a:spcPts val="0"/>
              </a:spcAft>
              <a:buClr>
                <a:schemeClr val="dk1"/>
              </a:buClr>
              <a:buSzPts val="2000"/>
              <a:buChar char="•"/>
              <a:defRPr>
                <a:latin typeface="Montserrat"/>
                <a:ea typeface="Montserrat"/>
                <a:cs typeface="Montserrat"/>
                <a:sym typeface="Montserrat"/>
              </a:defRPr>
            </a:lvl3pPr>
            <a:lvl4pPr marL="1828800" lvl="3"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4pPr>
            <a:lvl5pPr marL="2286000" lvl="4"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g31ccdae391d_0_4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D2A43B"/>
              </a:buClr>
              <a:buSzPts val="4400"/>
              <a:buFont typeface="Montserrat"/>
              <a:buNone/>
              <a:defRPr b="1" i="0">
                <a:solidFill>
                  <a:srgbClr val="D2A43B"/>
                </a:solidFill>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g31ccdae391d_0_41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964578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EE876FE3-6897-AC45-A781-6CFE41690726}" type="datetime1">
              <a:rPr lang="en-US" smtClean="0">
                <a:solidFill>
                  <a:prstClr val="black">
                    <a:tint val="75000"/>
                  </a:prstClr>
                </a:solidFill>
              </a:rPr>
              <a:pPr/>
              <a:t>4/20/2025</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6C6B6B8D-D74E-47CD-B5EE-156060B7CD1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3394621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74" r:id="rId10"/>
    <p:sldLayoutId id="2147483699" r:id="rId11"/>
    <p:sldLayoutId id="214748370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0.xml"/><Relationship Id="rId1" Type="http://schemas.openxmlformats.org/officeDocument/2006/relationships/tags" Target="../tags/tag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jpg"/><Relationship Id="rId4" Type="http://schemas.openxmlformats.org/officeDocument/2006/relationships/image" Target="../media/image25.jpe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0.xml"/><Relationship Id="rId1" Type="http://schemas.openxmlformats.org/officeDocument/2006/relationships/tags" Target="../tags/tag3.xml"/><Relationship Id="rId4" Type="http://schemas.openxmlformats.org/officeDocument/2006/relationships/chart" Target="../charts/char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3.xml"/><Relationship Id="rId5" Type="http://schemas.openxmlformats.org/officeDocument/2006/relationships/chart" Target="../charts/chart8.xml"/><Relationship Id="rId4" Type="http://schemas.openxmlformats.org/officeDocument/2006/relationships/image" Target="../media/image8.png"/></Relationships>
</file>

<file path=ppt/slides/_rels/slide34.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10.xml"/><Relationship Id="rId4" Type="http://schemas.openxmlformats.org/officeDocument/2006/relationships/chart" Target="../charts/chart16.xml"/></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10.xml"/><Relationship Id="rId4" Type="http://schemas.openxmlformats.org/officeDocument/2006/relationships/chart" Target="../charts/chart17.xml"/></Relationships>
</file>

<file path=ppt/slides/_rels/slide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4.xml"/><Relationship Id="rId1" Type="http://schemas.openxmlformats.org/officeDocument/2006/relationships/slideLayout" Target="../slideLayouts/slideLayout10.xml"/><Relationship Id="rId4" Type="http://schemas.openxmlformats.org/officeDocument/2006/relationships/chart" Target="../charts/chart18.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4.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p3" descr="A blue background with yellow lines&#10;&#10;Description automatically generated"/>
          <p:cNvPicPr preferRelativeResize="0"/>
          <p:nvPr/>
        </p:nvPicPr>
        <p:blipFill rotWithShape="1">
          <a:blip r:embed="rId3">
            <a:alphaModFix/>
          </a:blip>
          <a:srcRect/>
          <a:stretch/>
        </p:blipFill>
        <p:spPr>
          <a:xfrm>
            <a:off x="1" y="9197"/>
            <a:ext cx="12191999" cy="6972297"/>
          </a:xfrm>
          <a:prstGeom prst="rect">
            <a:avLst/>
          </a:prstGeom>
          <a:noFill/>
          <a:ln>
            <a:noFill/>
          </a:ln>
        </p:spPr>
      </p:pic>
      <p:pic>
        <p:nvPicPr>
          <p:cNvPr id="28" name="Google Shape;28;p3" descr="A white text on a black background&#10;&#10;Description automatically generated"/>
          <p:cNvPicPr preferRelativeResize="0"/>
          <p:nvPr/>
        </p:nvPicPr>
        <p:blipFill rotWithShape="1">
          <a:blip r:embed="rId4">
            <a:alphaModFix/>
          </a:blip>
          <a:srcRect/>
          <a:stretch/>
        </p:blipFill>
        <p:spPr>
          <a:xfrm>
            <a:off x="615360" y="508566"/>
            <a:ext cx="2833825" cy="462665"/>
          </a:xfrm>
          <a:prstGeom prst="rect">
            <a:avLst/>
          </a:prstGeom>
          <a:noFill/>
          <a:ln>
            <a:noFill/>
          </a:ln>
        </p:spPr>
      </p:pic>
      <p:sp>
        <p:nvSpPr>
          <p:cNvPr id="30" name="Google Shape;30;p3"/>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0</a:t>
            </a:fld>
            <a:endParaRPr/>
          </a:p>
        </p:txBody>
      </p:sp>
      <p:sp>
        <p:nvSpPr>
          <p:cNvPr id="7" name="Title 1"/>
          <p:cNvSpPr>
            <a:spLocks noGrp="1"/>
          </p:cNvSpPr>
          <p:nvPr>
            <p:ph type="title"/>
          </p:nvPr>
        </p:nvSpPr>
        <p:spPr>
          <a:xfrm>
            <a:off x="584880" y="2667000"/>
            <a:ext cx="10417006" cy="2067564"/>
          </a:xfrm>
        </p:spPr>
        <p:txBody>
          <a:bodyPr>
            <a:normAutofit/>
          </a:bodyPr>
          <a:lstStyle/>
          <a:p>
            <a:pPr algn="ctr">
              <a:lnSpc>
                <a:spcPct val="150000"/>
              </a:lnSpc>
            </a:pP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BÁO CÁO KỸ THUẬT</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r>
            <a:b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b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Tuần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16</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14/04/2025</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20</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en-US"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04</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/202</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5</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endPar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093610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1</a:t>
            </a:fld>
            <a:endParaRPr lang="en-US"/>
          </a:p>
        </p:txBody>
      </p:sp>
      <p:sp>
        <p:nvSpPr>
          <p:cNvPr id="5" name="Title 4"/>
          <p:cNvSpPr>
            <a:spLocks noGrp="1"/>
          </p:cNvSpPr>
          <p:nvPr>
            <p:ph type="title"/>
          </p:nvPr>
        </p:nvSpPr>
        <p:spPr>
          <a:xfrm>
            <a:off x="990599" y="142581"/>
            <a:ext cx="10306011" cy="506023"/>
          </a:xfrm>
        </p:spPr>
        <p:txBody>
          <a:bodyPr>
            <a:noAutofit/>
          </a:bodyPr>
          <a:lstStyle/>
          <a:p>
            <a:pPr algn="ctr"/>
            <a:r>
              <a:rPr lang="en-US" sz="2800">
                <a:ln w="0"/>
                <a:solidFill>
                  <a:schemeClr val="accent4"/>
                </a:solidFill>
                <a:latin typeface="Times New Roman" panose="02020603050405020304" pitchFamily="18" charset="0"/>
                <a:cs typeface="Times New Roman" panose="02020603050405020304" pitchFamily="18" charset="0"/>
              </a:rPr>
              <a:t>TỔNG HỢP AOG, DELAY VÀ GTB/ATB/DIV</a:t>
            </a:r>
            <a:endParaRPr lang="vi-VN" sz="28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9" name="Chart 8">
            <a:extLst>
              <a:ext uri="{FF2B5EF4-FFF2-40B4-BE49-F238E27FC236}">
                <a16:creationId xmlns:a16="http://schemas.microsoft.com/office/drawing/2014/main" id="{00000000-0008-0000-0900-000004000000}"/>
              </a:ext>
            </a:extLst>
          </p:cNvPr>
          <p:cNvGraphicFramePr>
            <a:graphicFrameLocks/>
          </p:cNvGraphicFramePr>
          <p:nvPr>
            <p:extLst>
              <p:ext uri="{D42A27DB-BD31-4B8C-83A1-F6EECF244321}">
                <p14:modId xmlns:p14="http://schemas.microsoft.com/office/powerpoint/2010/main" val="2549656508"/>
              </p:ext>
            </p:extLst>
          </p:nvPr>
        </p:nvGraphicFramePr>
        <p:xfrm>
          <a:off x="6335550" y="856463"/>
          <a:ext cx="4176000" cy="2376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00000000-0008-0000-0900-000005000000}"/>
              </a:ext>
            </a:extLst>
          </p:cNvPr>
          <p:cNvGraphicFramePr>
            <a:graphicFrameLocks/>
          </p:cNvGraphicFramePr>
          <p:nvPr/>
        </p:nvGraphicFramePr>
        <p:xfrm>
          <a:off x="1680450" y="3616808"/>
          <a:ext cx="4097655" cy="2376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3" name="Chart 12">
            <a:extLst>
              <a:ext uri="{FF2B5EF4-FFF2-40B4-BE49-F238E27FC236}">
                <a16:creationId xmlns:a16="http://schemas.microsoft.com/office/drawing/2014/main" id="{00000000-0008-0000-0900-00000F000000}"/>
              </a:ext>
            </a:extLst>
          </p:cNvPr>
          <p:cNvGraphicFramePr>
            <a:graphicFrameLocks/>
          </p:cNvGraphicFramePr>
          <p:nvPr/>
        </p:nvGraphicFramePr>
        <p:xfrm>
          <a:off x="1689975" y="856463"/>
          <a:ext cx="4116705" cy="2376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4" name="Chart 13">
            <a:extLst>
              <a:ext uri="{FF2B5EF4-FFF2-40B4-BE49-F238E27FC236}">
                <a16:creationId xmlns:a16="http://schemas.microsoft.com/office/drawing/2014/main" id="{8347F7AA-5E77-475C-B68E-49E6EF5DA0A7}"/>
              </a:ext>
            </a:extLst>
          </p:cNvPr>
          <p:cNvGraphicFramePr>
            <a:graphicFrameLocks/>
          </p:cNvGraphicFramePr>
          <p:nvPr/>
        </p:nvGraphicFramePr>
        <p:xfrm>
          <a:off x="6335550" y="3625537"/>
          <a:ext cx="4176000" cy="23760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36819147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2</a:t>
            </a:fld>
            <a:endParaRPr lang="en-US"/>
          </a:p>
        </p:txBody>
      </p:sp>
      <p:sp>
        <p:nvSpPr>
          <p:cNvPr id="5" name="Title 4"/>
          <p:cNvSpPr>
            <a:spLocks noGrp="1"/>
          </p:cNvSpPr>
          <p:nvPr>
            <p:ph type="title"/>
          </p:nvPr>
        </p:nvSpPr>
        <p:spPr>
          <a:xfrm>
            <a:off x="1141240" y="304800"/>
            <a:ext cx="9983960" cy="429008"/>
          </a:xfrm>
        </p:spPr>
        <p:txBody>
          <a:bodyPr>
            <a:normAutofit fontScale="90000"/>
          </a:bodyPr>
          <a:lstStyle/>
          <a:p>
            <a:pPr algn="ctr"/>
            <a:r>
              <a:rPr lang="en-US" sz="2800">
                <a:ln w="0"/>
                <a:solidFill>
                  <a:srgbClr val="FFC000"/>
                </a:solidFill>
                <a:latin typeface="Times New Roman" panose="02020603050405020304" pitchFamily="18" charset="0"/>
                <a:cs typeface="Times New Roman" panose="02020603050405020304" pitchFamily="18" charset="0"/>
              </a:rPr>
              <a:t>ATB/GTB COMPARISON</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6" name="Chart 5">
            <a:extLst>
              <a:ext uri="{FF2B5EF4-FFF2-40B4-BE49-F238E27FC236}">
                <a16:creationId xmlns:a16="http://schemas.microsoft.com/office/drawing/2014/main" id="{00000000-0008-0000-0600-000004000000}"/>
              </a:ext>
            </a:extLst>
          </p:cNvPr>
          <p:cNvGraphicFramePr>
            <a:graphicFrameLocks/>
          </p:cNvGraphicFramePr>
          <p:nvPr>
            <p:extLst>
              <p:ext uri="{D42A27DB-BD31-4B8C-83A1-F6EECF244321}">
                <p14:modId xmlns:p14="http://schemas.microsoft.com/office/powerpoint/2010/main" val="2394626632"/>
              </p:ext>
            </p:extLst>
          </p:nvPr>
        </p:nvGraphicFramePr>
        <p:xfrm>
          <a:off x="990600" y="914400"/>
          <a:ext cx="962025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00000000-0008-0000-0600-000005000000}"/>
              </a:ext>
            </a:extLst>
          </p:cNvPr>
          <p:cNvGraphicFramePr>
            <a:graphicFrameLocks/>
          </p:cNvGraphicFramePr>
          <p:nvPr>
            <p:extLst>
              <p:ext uri="{D42A27DB-BD31-4B8C-83A1-F6EECF244321}">
                <p14:modId xmlns:p14="http://schemas.microsoft.com/office/powerpoint/2010/main" val="3423679856"/>
              </p:ext>
            </p:extLst>
          </p:nvPr>
        </p:nvGraphicFramePr>
        <p:xfrm>
          <a:off x="988840" y="3830955"/>
          <a:ext cx="9609945" cy="274319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655838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A9AD-1F36-71AD-79EA-A60339FB5026}"/>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909AAD87-9B2B-3997-F3A5-296858406FB3}"/>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a16="http://schemas.microsoft.com/office/drawing/2014/main" id="{3045FD90-1673-FBCF-7889-FA2822771FA2}"/>
              </a:ext>
            </a:extLst>
          </p:cNvPr>
          <p:cNvSpPr>
            <a:spLocks noGrp="1"/>
          </p:cNvSpPr>
          <p:nvPr>
            <p:ph type="title"/>
          </p:nvPr>
        </p:nvSpPr>
        <p:spPr>
          <a:xfrm>
            <a:off x="381000" y="485872"/>
            <a:ext cx="5131938" cy="636530"/>
          </a:xfrm>
        </p:spPr>
        <p:txBody>
          <a:bodyPr>
            <a:normAutofit/>
          </a:bodyPr>
          <a:lstStyle/>
          <a:p>
            <a:pPr algn="ctr" eaLnBrk="1" hangingPunct="1"/>
            <a:r>
              <a:rPr lang="en-US" altLang="en-US" sz="28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DE0D23D1-C1A6-8EB2-BEF6-B9530B0AE7E1}"/>
              </a:ext>
            </a:extLst>
          </p:cNvPr>
          <p:cNvSpPr txBox="1"/>
          <p:nvPr/>
        </p:nvSpPr>
        <p:spPr>
          <a:xfrm>
            <a:off x="381000" y="1307068"/>
            <a:ext cx="114008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lang="en-US" b="1" dirty="0">
                <a:solidFill>
                  <a:prstClr val="black"/>
                </a:solidFill>
                <a:latin typeface="Times New Roman" panose="02020603050405020304" pitchFamily="18" charset="0"/>
                <a:ea typeface="MS PGothic" pitchFamily="34" charset="-128"/>
                <a:cs typeface="Times New Roman" panose="02020603050405020304" pitchFamily="18" charset="0"/>
              </a:rPr>
              <a:t>3</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2" name="Table 1">
            <a:extLst>
              <a:ext uri="{FF2B5EF4-FFF2-40B4-BE49-F238E27FC236}">
                <a16:creationId xmlns:a16="http://schemas.microsoft.com/office/drawing/2014/main" id="{83B42F6D-EFDE-187D-27DA-D90B11D8F92E}"/>
              </a:ext>
            </a:extLst>
          </p:cNvPr>
          <p:cNvGraphicFramePr>
            <a:graphicFrameLocks noGrp="1"/>
          </p:cNvGraphicFramePr>
          <p:nvPr>
            <p:extLst>
              <p:ext uri="{D42A27DB-BD31-4B8C-83A1-F6EECF244321}">
                <p14:modId xmlns:p14="http://schemas.microsoft.com/office/powerpoint/2010/main" val="2903803842"/>
              </p:ext>
            </p:extLst>
          </p:nvPr>
        </p:nvGraphicFramePr>
        <p:xfrm>
          <a:off x="361678" y="1952843"/>
          <a:ext cx="11373122" cy="4657282"/>
        </p:xfrm>
        <a:graphic>
          <a:graphicData uri="http://schemas.openxmlformats.org/drawingml/2006/table">
            <a:tbl>
              <a:tblPr/>
              <a:tblGrid>
                <a:gridCol w="321083">
                  <a:extLst>
                    <a:ext uri="{9D8B030D-6E8A-4147-A177-3AD203B41FA5}">
                      <a16:colId xmlns:a16="http://schemas.microsoft.com/office/drawing/2014/main" val="3832153777"/>
                    </a:ext>
                  </a:extLst>
                </a:gridCol>
                <a:gridCol w="304800">
                  <a:extLst>
                    <a:ext uri="{9D8B030D-6E8A-4147-A177-3AD203B41FA5}">
                      <a16:colId xmlns:a16="http://schemas.microsoft.com/office/drawing/2014/main" val="2801288844"/>
                    </a:ext>
                  </a:extLst>
                </a:gridCol>
                <a:gridCol w="536439">
                  <a:extLst>
                    <a:ext uri="{9D8B030D-6E8A-4147-A177-3AD203B41FA5}">
                      <a16:colId xmlns:a16="http://schemas.microsoft.com/office/drawing/2014/main" val="3266840810"/>
                    </a:ext>
                  </a:extLst>
                </a:gridCol>
                <a:gridCol w="533400">
                  <a:extLst>
                    <a:ext uri="{9D8B030D-6E8A-4147-A177-3AD203B41FA5}">
                      <a16:colId xmlns:a16="http://schemas.microsoft.com/office/drawing/2014/main" val="3605852202"/>
                    </a:ext>
                  </a:extLst>
                </a:gridCol>
                <a:gridCol w="838200">
                  <a:extLst>
                    <a:ext uri="{9D8B030D-6E8A-4147-A177-3AD203B41FA5}">
                      <a16:colId xmlns:a16="http://schemas.microsoft.com/office/drawing/2014/main" val="1531018077"/>
                    </a:ext>
                  </a:extLst>
                </a:gridCol>
                <a:gridCol w="457200">
                  <a:extLst>
                    <a:ext uri="{9D8B030D-6E8A-4147-A177-3AD203B41FA5}">
                      <a16:colId xmlns:a16="http://schemas.microsoft.com/office/drawing/2014/main" val="3612329399"/>
                    </a:ext>
                  </a:extLst>
                </a:gridCol>
                <a:gridCol w="2209800">
                  <a:extLst>
                    <a:ext uri="{9D8B030D-6E8A-4147-A177-3AD203B41FA5}">
                      <a16:colId xmlns:a16="http://schemas.microsoft.com/office/drawing/2014/main" val="1096506246"/>
                    </a:ext>
                  </a:extLst>
                </a:gridCol>
                <a:gridCol w="2208976">
                  <a:extLst>
                    <a:ext uri="{9D8B030D-6E8A-4147-A177-3AD203B41FA5}">
                      <a16:colId xmlns:a16="http://schemas.microsoft.com/office/drawing/2014/main" val="2728046097"/>
                    </a:ext>
                  </a:extLst>
                </a:gridCol>
                <a:gridCol w="335371">
                  <a:extLst>
                    <a:ext uri="{9D8B030D-6E8A-4147-A177-3AD203B41FA5}">
                      <a16:colId xmlns:a16="http://schemas.microsoft.com/office/drawing/2014/main" val="777574623"/>
                    </a:ext>
                  </a:extLst>
                </a:gridCol>
                <a:gridCol w="3627853">
                  <a:extLst>
                    <a:ext uri="{9D8B030D-6E8A-4147-A177-3AD203B41FA5}">
                      <a16:colId xmlns:a16="http://schemas.microsoft.com/office/drawing/2014/main" val="1324275825"/>
                    </a:ext>
                  </a:extLst>
                </a:gridCol>
              </a:tblGrid>
              <a:tr h="97992">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A/C</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STA</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DATE</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REASON</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ATA</a:t>
                      </a:r>
                    </a:p>
                  </a:txBody>
                  <a:tcPr marL="3379" marR="3379" marT="337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218543651"/>
                  </a:ext>
                </a:extLst>
              </a:tr>
              <a:tr h="692365">
                <a:tc>
                  <a:txBody>
                    <a:bodyPr/>
                    <a:lstStyle/>
                    <a:p>
                      <a:pPr algn="ctr"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A861</a:t>
                      </a:r>
                    </a:p>
                  </a:txBody>
                  <a:tcPr marL="3379" marR="3379" marT="337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MUC</a:t>
                      </a:r>
                    </a:p>
                  </a:txBody>
                  <a:tcPr marL="3379" marR="3379" marT="337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VN32</a:t>
                      </a:r>
                    </a:p>
                  </a:txBody>
                  <a:tcPr marL="3379" marR="3379" marT="337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MUC-SGN</a:t>
                      </a:r>
                    </a:p>
                  </a:txBody>
                  <a:tcPr marL="3379" marR="3379" marT="337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23:55 17/04/2025</a:t>
                      </a:r>
                    </a:p>
                  </a:txBody>
                  <a:tcPr marL="3379" marR="3379" marT="337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OGTB</a:t>
                      </a:r>
                    </a:p>
                  </a:txBody>
                  <a:tcPr marL="3379" marR="3379" marT="337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MSG IRU ALIGN MODE R WHILE WAITING FOR TAXI, CAPT REQUEST RETURN TO GATE DUE TO FOUND MSG IRU ALIGN MODE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R</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3379" marR="3379" marT="337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IRU R RESET SATIS, MSG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GONE</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3379" marR="3379" marT="337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34-20</a:t>
                      </a:r>
                    </a:p>
                  </a:txBody>
                  <a:tcPr marL="3379" marR="3379" marT="337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050" b="0" i="0" u="none" strike="noStrike">
                          <a:solidFill>
                            <a:srgbClr val="000000"/>
                          </a:solidFill>
                          <a:effectLst/>
                          <a:latin typeface="+mn-lt"/>
                          <a:cs typeface="Times New Roman" panose="02020603050405020304" pitchFamily="18" charset="0"/>
                        </a:rPr>
                        <a:t>Do tín hiệu GPS tại sân bay ở khu vực Châu Âu nên ảnh hưởng đến các thiết bị cần lấy tín hiệu GPS để hoạt động như IRU. Sau khi reset IRU thì tín hiệu GPS và hệ thống tàu bay đã hoạt động trở lại</a:t>
                      </a:r>
                      <a:r>
                        <a:rPr lang="vi-VN" sz="1050" b="0" i="0" u="none" strike="noStrike" smtClean="0">
                          <a:solidFill>
                            <a:srgbClr val="000000"/>
                          </a:solidFill>
                          <a:effectLst/>
                          <a:latin typeface="+mn-lt"/>
                          <a:cs typeface="Times New Roman" panose="02020603050405020304" pitchFamily="18" charset="0"/>
                        </a:rPr>
                        <a:t>.</a:t>
                      </a:r>
                      <a:endParaRPr lang="vi-VN" sz="1050" b="0" i="0" u="none" strike="noStrike">
                        <a:solidFill>
                          <a:srgbClr val="000000"/>
                        </a:solidFill>
                        <a:effectLst/>
                        <a:latin typeface="+mn-lt"/>
                        <a:cs typeface="Times New Roman" panose="02020603050405020304" pitchFamily="18" charset="0"/>
                      </a:endParaRPr>
                    </a:p>
                  </a:txBody>
                  <a:tcPr marL="3379" marR="3379" marT="337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41998791"/>
                  </a:ext>
                </a:extLst>
              </a:tr>
              <a:tr h="627827">
                <a:tc>
                  <a:txBody>
                    <a:bodyPr/>
                    <a:lstStyle/>
                    <a:p>
                      <a:pPr algn="ctr"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A325</a:t>
                      </a:r>
                    </a:p>
                  </a:txBody>
                  <a:tcPr marL="3379" marR="3379" marT="337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PNH</a:t>
                      </a:r>
                    </a:p>
                  </a:txBody>
                  <a:tcPr marL="3379" marR="3379" marT="337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VN920</a:t>
                      </a:r>
                    </a:p>
                  </a:txBody>
                  <a:tcPr marL="3379" marR="3379" marT="337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PNH-VTE</a:t>
                      </a:r>
                    </a:p>
                  </a:txBody>
                  <a:tcPr marL="3379" marR="3379" marT="337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17:45 16/04/2025</a:t>
                      </a:r>
                    </a:p>
                  </a:txBody>
                  <a:tcPr marL="3379" marR="3379" marT="337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OGTB</a:t>
                      </a:r>
                    </a:p>
                  </a:txBody>
                  <a:tcPr marL="3379" marR="3379" marT="337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(RTG) MSG PACK 1 REGULAR FAULT </a:t>
                      </a:r>
                    </a:p>
                  </a:txBody>
                  <a:tcPr marL="3379" marR="3379" marT="337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CRS </a:t>
                      </a:r>
                      <a:r>
                        <a:rPr lang="en-US" sz="1000" b="0" i="0" u="none" strike="noStrike">
                          <a:solidFill>
                            <a:srgbClr val="000000"/>
                          </a:solidFill>
                          <a:effectLst/>
                          <a:latin typeface="Times New Roman" panose="02020603050405020304" pitchFamily="18" charset="0"/>
                          <a:cs typeface="Times New Roman" panose="02020603050405020304" pitchFamily="18" charset="0"/>
                        </a:rPr>
                        <a:t>OF K6 C/O RESET, MS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GONE</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3379" marR="3379" marT="337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3379" marR="3379" marT="337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050" b="0" i="0" u="none" strike="noStrike">
                          <a:solidFill>
                            <a:srgbClr val="000000"/>
                          </a:solidFill>
                          <a:effectLst/>
                          <a:latin typeface="+mn-lt"/>
                          <a:cs typeface="Times New Roman" panose="02020603050405020304" pitchFamily="18" charset="0"/>
                        </a:rPr>
                        <a:t>Theo báo cáo, khi xuất hiện msg thì TSV đã hướng dẫn tổ bay reset để tránh quay lại tuy nhiên tổ bay vẫn quyết định quay lại. Trong quá trình quay lại, tổ bay thực hiện reset thì msg biến mất. Thợ máy đã tiến hành kiểm tra và không phát hiện failuire msg, tàu khai thác bình thường và chưa xuất hiện lại. Đánh giá trường hợp này có thể là báo giả và do chưa có sự phối hợp tốt giữa tổ bay và trực TSV. Cần rút kinh nghiệm thêm với tổ </a:t>
                      </a:r>
                      <a:r>
                        <a:rPr lang="vi-VN" sz="1050" b="0" i="0" u="none" strike="noStrike" smtClean="0">
                          <a:solidFill>
                            <a:srgbClr val="000000"/>
                          </a:solidFill>
                          <a:effectLst/>
                          <a:latin typeface="+mn-lt"/>
                          <a:cs typeface="Times New Roman" panose="02020603050405020304" pitchFamily="18" charset="0"/>
                        </a:rPr>
                        <a:t>bay</a:t>
                      </a:r>
                      <a:endParaRPr lang="vi-VN" sz="1050" b="0" i="0" u="none" strike="noStrike">
                        <a:solidFill>
                          <a:srgbClr val="000000"/>
                        </a:solidFill>
                        <a:effectLst/>
                        <a:latin typeface="+mn-lt"/>
                        <a:cs typeface="Times New Roman" panose="02020603050405020304" pitchFamily="18" charset="0"/>
                      </a:endParaRPr>
                    </a:p>
                  </a:txBody>
                  <a:tcPr marL="3379" marR="3379" marT="337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57227396"/>
                  </a:ext>
                </a:extLst>
              </a:tr>
              <a:tr h="627827">
                <a:tc>
                  <a:txBody>
                    <a:bodyPr/>
                    <a:lstStyle/>
                    <a:p>
                      <a:pPr algn="ctr"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A877</a:t>
                      </a:r>
                    </a:p>
                  </a:txBody>
                  <a:tcPr marL="3379" marR="3379" marT="337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DEL</a:t>
                      </a:r>
                    </a:p>
                  </a:txBody>
                  <a:tcPr marL="3379" marR="3379" marT="337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VN980</a:t>
                      </a:r>
                    </a:p>
                  </a:txBody>
                  <a:tcPr marL="3379" marR="3379" marT="337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DEL-HAN</a:t>
                      </a:r>
                    </a:p>
                  </a:txBody>
                  <a:tcPr marL="3379" marR="3379" marT="337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02:00 14/04/2025</a:t>
                      </a:r>
                    </a:p>
                  </a:txBody>
                  <a:tcPr marL="3379" marR="3379" marT="337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OGTB</a:t>
                      </a:r>
                    </a:p>
                  </a:txBody>
                  <a:tcPr marL="3379" marR="3379" marT="337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(GTB) LEFT RAM AIR FAN FAULT VN980 DEL-HAN ON GROUND TURN BACK DUE TO LEFT RAM AIR FAN FAULT.</a:t>
                      </a:r>
                      <a:br>
                        <a:rPr lang="en-US" sz="1000" b="0" i="0" u="none" strike="noStrike">
                          <a:solidFill>
                            <a:srgbClr val="000000"/>
                          </a:solidFill>
                          <a:effectLst/>
                          <a:latin typeface="Times New Roman" panose="02020603050405020304" pitchFamily="18" charset="0"/>
                          <a:cs typeface="Times New Roman" panose="02020603050405020304" pitchFamily="18" charset="0"/>
                        </a:rPr>
                      </a:b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3379" marR="3379" marT="337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A/C </a:t>
                      </a:r>
                      <a:r>
                        <a:rPr lang="en-US" sz="1000" b="0" i="0" u="none" strike="noStrike">
                          <a:solidFill>
                            <a:srgbClr val="000000"/>
                          </a:solidFill>
                          <a:effectLst/>
                          <a:latin typeface="Times New Roman" panose="02020603050405020304" pitchFamily="18" charset="0"/>
                          <a:cs typeface="Times New Roman" panose="02020603050405020304" pitchFamily="18" charset="0"/>
                        </a:rPr>
                        <a:t>DISPATCH WITH MEL 21-52-12-01 FOR L/H RAM AIR FAN INOP AND ADD MORE FUEL (2509KG). VN980 DEL-HAN DELAY 174MINS (TECH  147MINS, A/C ARRIVED LATE 27MINS) </a:t>
                      </a:r>
                    </a:p>
                  </a:txBody>
                  <a:tcPr marL="3379" marR="3379" marT="337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21-52</a:t>
                      </a:r>
                    </a:p>
                  </a:txBody>
                  <a:tcPr marL="3379" marR="3379" marT="337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050" b="0" i="0" u="none" strike="noStrike" dirty="0">
                          <a:solidFill>
                            <a:srgbClr val="000000"/>
                          </a:solidFill>
                          <a:effectLst/>
                          <a:latin typeface="+mn-lt"/>
                          <a:cs typeface="Times New Roman" panose="02020603050405020304" pitchFamily="18" charset="0"/>
                        </a:rPr>
                        <a:t>Thực hiện thay RAF đê khắc phục. Khối tháo xuống SN 7200800 là khối còn trong bảo hành. </a:t>
                      </a:r>
                    </a:p>
                    <a:p>
                      <a:pPr algn="l" fontAlgn="t"/>
                      <a:r>
                        <a:rPr lang="vi-VN" sz="1050" b="0" i="0" u="none" strike="noStrike" dirty="0">
                          <a:solidFill>
                            <a:srgbClr val="000000"/>
                          </a:solidFill>
                          <a:effectLst/>
                          <a:latin typeface="+mn-lt"/>
                          <a:cs typeface="Times New Roman" panose="02020603050405020304" pitchFamily="18" charset="0"/>
                        </a:rPr>
                        <a:t>Trước đó, để chuẩn bị tàu VIP, ngày 4Apr tàu đã được làm nôi dung kiểm tra RAF, đo dòng khi qua RAF</a:t>
                      </a:r>
                    </a:p>
                    <a:p>
                      <a:pPr algn="l" fontAlgn="t"/>
                      <a:r>
                        <a:rPr lang="vi-VN" sz="1050" b="0" i="0" u="none" strike="noStrike" dirty="0">
                          <a:solidFill>
                            <a:srgbClr val="000000"/>
                          </a:solidFill>
                          <a:effectLst/>
                          <a:latin typeface="+mn-lt"/>
                          <a:cs typeface="Times New Roman" panose="02020603050405020304" pitchFamily="18" charset="0"/>
                        </a:rPr>
                        <a:t>Trươc đó cũng không có các MMG đến RAF. Cần có thêm SFR để đánh giá thêm hỏng hóc của SN này.</a:t>
                      </a:r>
                    </a:p>
                    <a:p>
                      <a:pPr algn="l" fontAlgn="t"/>
                      <a:r>
                        <a:rPr lang="vi-VN" sz="1050" b="0" i="0" u="none" strike="noStrike" dirty="0">
                          <a:solidFill>
                            <a:srgbClr val="000000"/>
                          </a:solidFill>
                          <a:effectLst/>
                          <a:latin typeface="+mn-lt"/>
                          <a:cs typeface="Times New Roman" panose="02020603050405020304" pitchFamily="18" charset="0"/>
                        </a:rPr>
                        <a:t>Hỏng hóc của RAF có thể do khai thác ở môi trường high dust, insects, FOD, pollution gây tắc dòng khí ở HX (gây thiếu dòng khí cho RAF) hoặc là RAF hoạt động với cường độ cao và làm hỏng RAF.</a:t>
                      </a:r>
                    </a:p>
                    <a:p>
                      <a:pPr algn="l" fontAlgn="t"/>
                      <a:r>
                        <a:rPr lang="vi-VN" sz="1050" b="0" i="0" u="none" strike="noStrike" dirty="0">
                          <a:solidFill>
                            <a:srgbClr val="000000"/>
                          </a:solidFill>
                          <a:effectLst/>
                          <a:latin typeface="+mn-lt"/>
                          <a:cs typeface="Times New Roman" panose="02020603050405020304" pitchFamily="18" charset="0"/>
                        </a:rPr>
                        <a:t>Giải pháp hiện là kiểm tra và rửa HX: EO-2020-2265/66 B787 -9: ở interval 2000FH.</a:t>
                      </a:r>
                    </a:p>
                    <a:p>
                      <a:pPr algn="l" fontAlgn="t"/>
                      <a:r>
                        <a:rPr lang="vi-VN" sz="1050" b="0" i="0" u="none" strike="noStrike" dirty="0">
                          <a:solidFill>
                            <a:srgbClr val="000000"/>
                          </a:solidFill>
                          <a:effectLst/>
                          <a:latin typeface="+mn-lt"/>
                          <a:cs typeface="Times New Roman" panose="02020603050405020304" pitchFamily="18" charset="0"/>
                        </a:rPr>
                        <a:t>787-SL-21-003/006 (ban hành FON 20/36) reduce pack operation, sử dụng ground air.</a:t>
                      </a:r>
                    </a:p>
                    <a:p>
                      <a:pPr algn="l" fontAlgn="t"/>
                      <a:r>
                        <a:rPr lang="vi-VN" sz="1050" b="0" i="0" u="none" strike="noStrike" dirty="0">
                          <a:solidFill>
                            <a:srgbClr val="000000"/>
                          </a:solidFill>
                          <a:effectLst/>
                          <a:latin typeface="+mn-lt"/>
                          <a:cs typeface="Times New Roman" panose="02020603050405020304" pitchFamily="18" charset="0"/>
                        </a:rPr>
                        <a:t>Tàu cũng đã rủa bằng phương pháp ACTIVE FLUSH </a:t>
                      </a:r>
                      <a:r>
                        <a:rPr lang="vi-VN" sz="1050" b="0" i="0" u="none" strike="noStrike">
                          <a:solidFill>
                            <a:srgbClr val="000000"/>
                          </a:solidFill>
                          <a:effectLst/>
                          <a:latin typeface="+mn-lt"/>
                          <a:cs typeface="Times New Roman" panose="02020603050405020304" pitchFamily="18" charset="0"/>
                        </a:rPr>
                        <a:t>ngày </a:t>
                      </a:r>
                      <a:r>
                        <a:rPr lang="vi-VN" sz="1050" b="0" i="0" u="none" strike="noStrike" smtClean="0">
                          <a:solidFill>
                            <a:srgbClr val="000000"/>
                          </a:solidFill>
                          <a:effectLst/>
                          <a:latin typeface="+mn-lt"/>
                          <a:cs typeface="Times New Roman" panose="02020603050405020304" pitchFamily="18" charset="0"/>
                        </a:rPr>
                        <a:t>4Mar2025</a:t>
                      </a:r>
                      <a:endParaRPr lang="vi-VN" sz="1050" b="0" i="0" u="none" strike="noStrike" dirty="0">
                        <a:solidFill>
                          <a:srgbClr val="000000"/>
                        </a:solidFill>
                        <a:effectLst/>
                        <a:latin typeface="+mn-lt"/>
                        <a:cs typeface="Times New Roman" panose="02020603050405020304" pitchFamily="18" charset="0"/>
                      </a:endParaRPr>
                    </a:p>
                  </a:txBody>
                  <a:tcPr marL="3379" marR="3379" marT="337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3073713"/>
                  </a:ext>
                </a:extLst>
              </a:tr>
            </a:tbl>
          </a:graphicData>
        </a:graphic>
      </p:graphicFrame>
    </p:spTree>
    <p:custDataLst>
      <p:tags r:id="rId1"/>
    </p:custDataLst>
    <p:extLst>
      <p:ext uri="{BB962C8B-B14F-4D97-AF65-F5344CB8AC3E}">
        <p14:creationId xmlns:p14="http://schemas.microsoft.com/office/powerpoint/2010/main" val="1357940062"/>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4</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07979" y="295296"/>
            <a:ext cx="11556838" cy="424691"/>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pPr>
            <a:r>
              <a:rPr lang="en-US"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SemiBold"/>
              </a:rPr>
              <a:t>CÁC CHUYẾN BAY DELAY ĐẦU NGÀY VÀ DELAY DO THAY LỐP</a:t>
            </a:r>
            <a:endParaRPr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a:endParaRPr>
          </a:p>
        </p:txBody>
      </p:sp>
      <p:sp>
        <p:nvSpPr>
          <p:cNvPr id="6" name="TextBox 5">
            <a:extLst>
              <a:ext uri="{FF2B5EF4-FFF2-40B4-BE49-F238E27FC236}">
                <a16:creationId xmlns:a16="http://schemas.microsoft.com/office/drawing/2014/main" id="{2A0D8269-7016-40C9-871E-187A7FEACF1F}"/>
              </a:ext>
            </a:extLst>
          </p:cNvPr>
          <p:cNvSpPr txBox="1"/>
          <p:nvPr/>
        </p:nvSpPr>
        <p:spPr>
          <a:xfrm>
            <a:off x="302664" y="743554"/>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ĐẦU NGÀY</a:t>
            </a:r>
          </a:p>
        </p:txBody>
      </p:sp>
      <p:graphicFrame>
        <p:nvGraphicFramePr>
          <p:cNvPr id="3" name="Table 2"/>
          <p:cNvGraphicFramePr>
            <a:graphicFrameLocks noGrp="1"/>
          </p:cNvGraphicFramePr>
          <p:nvPr>
            <p:extLst>
              <p:ext uri="{D42A27DB-BD31-4B8C-83A1-F6EECF244321}">
                <p14:modId xmlns:p14="http://schemas.microsoft.com/office/powerpoint/2010/main" val="1890519226"/>
              </p:ext>
            </p:extLst>
          </p:nvPr>
        </p:nvGraphicFramePr>
        <p:xfrm>
          <a:off x="375271" y="1079799"/>
          <a:ext cx="11463227" cy="837819"/>
        </p:xfrm>
        <a:graphic>
          <a:graphicData uri="http://schemas.openxmlformats.org/drawingml/2006/table">
            <a:tbl>
              <a:tblPr/>
              <a:tblGrid>
                <a:gridCol w="427560">
                  <a:extLst>
                    <a:ext uri="{9D8B030D-6E8A-4147-A177-3AD203B41FA5}">
                      <a16:colId xmlns:a16="http://schemas.microsoft.com/office/drawing/2014/main" val="1400939127"/>
                    </a:ext>
                  </a:extLst>
                </a:gridCol>
                <a:gridCol w="531561">
                  <a:extLst>
                    <a:ext uri="{9D8B030D-6E8A-4147-A177-3AD203B41FA5}">
                      <a16:colId xmlns:a16="http://schemas.microsoft.com/office/drawing/2014/main" val="815328117"/>
                    </a:ext>
                  </a:extLst>
                </a:gridCol>
                <a:gridCol w="381337">
                  <a:extLst>
                    <a:ext uri="{9D8B030D-6E8A-4147-A177-3AD203B41FA5}">
                      <a16:colId xmlns:a16="http://schemas.microsoft.com/office/drawing/2014/main" val="1720360630"/>
                    </a:ext>
                  </a:extLst>
                </a:gridCol>
                <a:gridCol w="1155567">
                  <a:extLst>
                    <a:ext uri="{9D8B030D-6E8A-4147-A177-3AD203B41FA5}">
                      <a16:colId xmlns:a16="http://schemas.microsoft.com/office/drawing/2014/main" val="1684777201"/>
                    </a:ext>
                  </a:extLst>
                </a:gridCol>
                <a:gridCol w="392893">
                  <a:extLst>
                    <a:ext uri="{9D8B030D-6E8A-4147-A177-3AD203B41FA5}">
                      <a16:colId xmlns:a16="http://schemas.microsoft.com/office/drawing/2014/main" val="1451179484"/>
                    </a:ext>
                  </a:extLst>
                </a:gridCol>
                <a:gridCol w="751118">
                  <a:extLst>
                    <a:ext uri="{9D8B030D-6E8A-4147-A177-3AD203B41FA5}">
                      <a16:colId xmlns:a16="http://schemas.microsoft.com/office/drawing/2014/main" val="2273417757"/>
                    </a:ext>
                  </a:extLst>
                </a:gridCol>
                <a:gridCol w="658673">
                  <a:extLst>
                    <a:ext uri="{9D8B030D-6E8A-4147-A177-3AD203B41FA5}">
                      <a16:colId xmlns:a16="http://schemas.microsoft.com/office/drawing/2014/main" val="3922052826"/>
                    </a:ext>
                  </a:extLst>
                </a:gridCol>
                <a:gridCol w="774231">
                  <a:extLst>
                    <a:ext uri="{9D8B030D-6E8A-4147-A177-3AD203B41FA5}">
                      <a16:colId xmlns:a16="http://schemas.microsoft.com/office/drawing/2014/main" val="3029852354"/>
                    </a:ext>
                  </a:extLst>
                </a:gridCol>
                <a:gridCol w="2403580">
                  <a:extLst>
                    <a:ext uri="{9D8B030D-6E8A-4147-A177-3AD203B41FA5}">
                      <a16:colId xmlns:a16="http://schemas.microsoft.com/office/drawing/2014/main" val="2636508086"/>
                    </a:ext>
                  </a:extLst>
                </a:gridCol>
                <a:gridCol w="3986707">
                  <a:extLst>
                    <a:ext uri="{9D8B030D-6E8A-4147-A177-3AD203B41FA5}">
                      <a16:colId xmlns:a16="http://schemas.microsoft.com/office/drawing/2014/main" val="1882276902"/>
                    </a:ext>
                  </a:extLst>
                </a:gridCol>
              </a:tblGrid>
              <a:tr h="289698">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STA</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39288818"/>
                  </a:ext>
                </a:extLst>
              </a:tr>
              <a:tr h="496179">
                <a:tc>
                  <a:txBody>
                    <a:bodyPr/>
                    <a:lstStyle/>
                    <a:p>
                      <a:pPr algn="ctr" fontAlgn="ctr"/>
                      <a:r>
                        <a:rPr lang="en-US" sz="1100" b="0" i="0" u="none" strike="noStrike" smtClean="0">
                          <a:solidFill>
                            <a:srgbClr val="000000"/>
                          </a:solidFill>
                          <a:effectLst/>
                          <a:latin typeface="Times New Roman" panose="02020603050405020304" pitchFamily="18" charset="0"/>
                        </a:rPr>
                        <a:t>NIL</a:t>
                      </a:r>
                      <a:endParaRPr lang="en-US" sz="11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7811605"/>
                  </a:ext>
                </a:extLst>
              </a:tr>
            </a:tbl>
          </a:graphicData>
        </a:graphic>
      </p:graphicFrame>
      <p:sp>
        <p:nvSpPr>
          <p:cNvPr id="5" name="TextBox 4">
            <a:extLst>
              <a:ext uri="{FF2B5EF4-FFF2-40B4-BE49-F238E27FC236}">
                <a16:creationId xmlns:a16="http://schemas.microsoft.com/office/drawing/2014/main" id="{92DF34E4-5EAF-DD7F-DEE2-26E7FBD9CDA2}"/>
              </a:ext>
            </a:extLst>
          </p:cNvPr>
          <p:cNvSpPr txBox="1"/>
          <p:nvPr/>
        </p:nvSpPr>
        <p:spPr>
          <a:xfrm>
            <a:off x="375272" y="2459699"/>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DO THAY LỐP</a:t>
            </a:r>
          </a:p>
        </p:txBody>
      </p:sp>
      <p:graphicFrame>
        <p:nvGraphicFramePr>
          <p:cNvPr id="8" name="Table 7"/>
          <p:cNvGraphicFramePr>
            <a:graphicFrameLocks noGrp="1"/>
          </p:cNvGraphicFramePr>
          <p:nvPr>
            <p:extLst>
              <p:ext uri="{D42A27DB-BD31-4B8C-83A1-F6EECF244321}">
                <p14:modId xmlns:p14="http://schemas.microsoft.com/office/powerpoint/2010/main" val="4252542674"/>
              </p:ext>
            </p:extLst>
          </p:nvPr>
        </p:nvGraphicFramePr>
        <p:xfrm>
          <a:off x="375272" y="2902891"/>
          <a:ext cx="11463226" cy="940879"/>
        </p:xfrm>
        <a:graphic>
          <a:graphicData uri="http://schemas.openxmlformats.org/drawingml/2006/table">
            <a:tbl>
              <a:tblPr/>
              <a:tblGrid>
                <a:gridCol w="580907">
                  <a:extLst>
                    <a:ext uri="{9D8B030D-6E8A-4147-A177-3AD203B41FA5}">
                      <a16:colId xmlns:a16="http://schemas.microsoft.com/office/drawing/2014/main" val="3674468684"/>
                    </a:ext>
                  </a:extLst>
                </a:gridCol>
                <a:gridCol w="348544">
                  <a:extLst>
                    <a:ext uri="{9D8B030D-6E8A-4147-A177-3AD203B41FA5}">
                      <a16:colId xmlns:a16="http://schemas.microsoft.com/office/drawing/2014/main" val="2661305286"/>
                    </a:ext>
                  </a:extLst>
                </a:gridCol>
                <a:gridCol w="1097269">
                  <a:extLst>
                    <a:ext uri="{9D8B030D-6E8A-4147-A177-3AD203B41FA5}">
                      <a16:colId xmlns:a16="http://schemas.microsoft.com/office/drawing/2014/main" val="2048303182"/>
                    </a:ext>
                  </a:extLst>
                </a:gridCol>
                <a:gridCol w="593816">
                  <a:extLst>
                    <a:ext uri="{9D8B030D-6E8A-4147-A177-3AD203B41FA5}">
                      <a16:colId xmlns:a16="http://schemas.microsoft.com/office/drawing/2014/main" val="2906750635"/>
                    </a:ext>
                  </a:extLst>
                </a:gridCol>
                <a:gridCol w="645452">
                  <a:extLst>
                    <a:ext uri="{9D8B030D-6E8A-4147-A177-3AD203B41FA5}">
                      <a16:colId xmlns:a16="http://schemas.microsoft.com/office/drawing/2014/main" val="756422633"/>
                    </a:ext>
                  </a:extLst>
                </a:gridCol>
                <a:gridCol w="619634">
                  <a:extLst>
                    <a:ext uri="{9D8B030D-6E8A-4147-A177-3AD203B41FA5}">
                      <a16:colId xmlns:a16="http://schemas.microsoft.com/office/drawing/2014/main" val="1916856600"/>
                    </a:ext>
                  </a:extLst>
                </a:gridCol>
                <a:gridCol w="567997">
                  <a:extLst>
                    <a:ext uri="{9D8B030D-6E8A-4147-A177-3AD203B41FA5}">
                      <a16:colId xmlns:a16="http://schemas.microsoft.com/office/drawing/2014/main" val="1098231851"/>
                    </a:ext>
                  </a:extLst>
                </a:gridCol>
                <a:gridCol w="2723807">
                  <a:extLst>
                    <a:ext uri="{9D8B030D-6E8A-4147-A177-3AD203B41FA5}">
                      <a16:colId xmlns:a16="http://schemas.microsoft.com/office/drawing/2014/main" val="244507178"/>
                    </a:ext>
                  </a:extLst>
                </a:gridCol>
                <a:gridCol w="4285800">
                  <a:extLst>
                    <a:ext uri="{9D8B030D-6E8A-4147-A177-3AD203B41FA5}">
                      <a16:colId xmlns:a16="http://schemas.microsoft.com/office/drawing/2014/main" val="278955444"/>
                    </a:ext>
                  </a:extLst>
                </a:gridCol>
              </a:tblGrid>
              <a:tr h="324938">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FLEET</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A/C</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STA</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252737485"/>
                  </a:ext>
                </a:extLst>
              </a:tr>
              <a:tr h="430895">
                <a:tc>
                  <a:txBody>
                    <a:bodyPr/>
                    <a:lstStyle/>
                    <a:p>
                      <a:pPr algn="ctr" fontAlgn="ctr"/>
                      <a:r>
                        <a:rPr lang="en-US" sz="1100" b="0" i="0" u="none" strike="noStrike" smtClean="0">
                          <a:solidFill>
                            <a:srgbClr val="000000"/>
                          </a:solidFill>
                          <a:effectLst/>
                          <a:latin typeface="Times New Roman" panose="02020603050405020304" pitchFamily="18" charset="0"/>
                        </a:rPr>
                        <a:t>NIL</a:t>
                      </a:r>
                      <a:endParaRPr lang="en-US" sz="11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28222249"/>
                  </a:ext>
                </a:extLst>
              </a:tr>
            </a:tbl>
          </a:graphicData>
        </a:graphic>
      </p:graphicFrame>
    </p:spTree>
    <p:extLst>
      <p:ext uri="{BB962C8B-B14F-4D97-AF65-F5344CB8AC3E}">
        <p14:creationId xmlns:p14="http://schemas.microsoft.com/office/powerpoint/2010/main" val="55088159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5B60134-59D7-B9ED-2806-C1F57EA05F77}"/>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04</a:t>
            </a:r>
          </a:p>
        </p:txBody>
      </p:sp>
      <p:sp>
        <p:nvSpPr>
          <p:cNvPr id="9" name="TextBox 8">
            <a:extLst>
              <a:ext uri="{FF2B5EF4-FFF2-40B4-BE49-F238E27FC236}">
                <a16:creationId xmlns:a16="http://schemas.microsoft.com/office/drawing/2014/main" id="{5FE3B712-9690-42A3-A50E-24E99475755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4 (01 non-tech)</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04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p>
        </p:txBody>
      </p:sp>
      <p:graphicFrame>
        <p:nvGraphicFramePr>
          <p:cNvPr id="3" name="Table 2">
            <a:extLst>
              <a:ext uri="{FF2B5EF4-FFF2-40B4-BE49-F238E27FC236}">
                <a16:creationId xmlns:a16="http://schemas.microsoft.com/office/drawing/2014/main" id="{3897830C-5364-3F59-C751-405808F71DD3}"/>
              </a:ext>
            </a:extLst>
          </p:cNvPr>
          <p:cNvGraphicFramePr>
            <a:graphicFrameLocks noGrp="1"/>
          </p:cNvGraphicFramePr>
          <p:nvPr>
            <p:extLst>
              <p:ext uri="{D42A27DB-BD31-4B8C-83A1-F6EECF244321}">
                <p14:modId xmlns:p14="http://schemas.microsoft.com/office/powerpoint/2010/main" val="1577614320"/>
              </p:ext>
            </p:extLst>
          </p:nvPr>
        </p:nvGraphicFramePr>
        <p:xfrm>
          <a:off x="134289" y="1503198"/>
          <a:ext cx="11676711" cy="4332368"/>
        </p:xfrm>
        <a:graphic>
          <a:graphicData uri="http://schemas.openxmlformats.org/drawingml/2006/table">
            <a:tbl>
              <a:tblPr/>
              <a:tblGrid>
                <a:gridCol w="316136">
                  <a:extLst>
                    <a:ext uri="{9D8B030D-6E8A-4147-A177-3AD203B41FA5}">
                      <a16:colId xmlns:a16="http://schemas.microsoft.com/office/drawing/2014/main" val="1792913397"/>
                    </a:ext>
                  </a:extLst>
                </a:gridCol>
                <a:gridCol w="915130">
                  <a:extLst>
                    <a:ext uri="{9D8B030D-6E8A-4147-A177-3AD203B41FA5}">
                      <a16:colId xmlns:a16="http://schemas.microsoft.com/office/drawing/2014/main" val="529799103"/>
                    </a:ext>
                  </a:extLst>
                </a:gridCol>
                <a:gridCol w="691845">
                  <a:extLst>
                    <a:ext uri="{9D8B030D-6E8A-4147-A177-3AD203B41FA5}">
                      <a16:colId xmlns:a16="http://schemas.microsoft.com/office/drawing/2014/main" val="607951653"/>
                    </a:ext>
                  </a:extLst>
                </a:gridCol>
                <a:gridCol w="304800">
                  <a:extLst>
                    <a:ext uri="{9D8B030D-6E8A-4147-A177-3AD203B41FA5}">
                      <a16:colId xmlns:a16="http://schemas.microsoft.com/office/drawing/2014/main" val="483578627"/>
                    </a:ext>
                  </a:extLst>
                </a:gridCol>
                <a:gridCol w="2362200">
                  <a:extLst>
                    <a:ext uri="{9D8B030D-6E8A-4147-A177-3AD203B41FA5}">
                      <a16:colId xmlns:a16="http://schemas.microsoft.com/office/drawing/2014/main" val="1882943533"/>
                    </a:ext>
                  </a:extLst>
                </a:gridCol>
                <a:gridCol w="1676400">
                  <a:extLst>
                    <a:ext uri="{9D8B030D-6E8A-4147-A177-3AD203B41FA5}">
                      <a16:colId xmlns:a16="http://schemas.microsoft.com/office/drawing/2014/main" val="1497771938"/>
                    </a:ext>
                  </a:extLst>
                </a:gridCol>
                <a:gridCol w="381000">
                  <a:extLst>
                    <a:ext uri="{9D8B030D-6E8A-4147-A177-3AD203B41FA5}">
                      <a16:colId xmlns:a16="http://schemas.microsoft.com/office/drawing/2014/main" val="967639853"/>
                    </a:ext>
                  </a:extLst>
                </a:gridCol>
                <a:gridCol w="5029200">
                  <a:extLst>
                    <a:ext uri="{9D8B030D-6E8A-4147-A177-3AD203B41FA5}">
                      <a16:colId xmlns:a16="http://schemas.microsoft.com/office/drawing/2014/main" val="2889779060"/>
                    </a:ext>
                  </a:extLst>
                </a:gridCol>
              </a:tblGrid>
              <a:tr h="108524">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A/C</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OPEN DATE</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CLOSED DATE</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STA</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DEFECT</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ACTION</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ATA</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353939761"/>
                  </a:ext>
                </a:extLst>
              </a:tr>
              <a:tr h="4054306">
                <a:tc>
                  <a:txBody>
                    <a:bodyPr/>
                    <a:lstStyle/>
                    <a:p>
                      <a:pPr algn="ctr"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A621</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Times New Roman" panose="02020603050405020304" pitchFamily="18" charset="0"/>
                          <a:cs typeface="Times New Roman" panose="02020603050405020304" pitchFamily="18" charset="0"/>
                        </a:rPr>
                        <a:t>08:18 20/04/2025</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Times New Roman" panose="02020603050405020304" pitchFamily="18" charset="0"/>
                          <a:cs typeface="Times New Roman" panose="02020603050405020304" pitchFamily="18" charset="0"/>
                        </a:rPr>
                        <a:t> </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Times New Roman" panose="02020603050405020304" pitchFamily="18" charset="0"/>
                          <a:cs typeface="Times New Roman" panose="02020603050405020304" pitchFamily="18" charset="0"/>
                        </a:rPr>
                        <a:t>VII</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dirty="0">
                          <a:solidFill>
                            <a:srgbClr val="000000"/>
                          </a:solidFill>
                          <a:effectLst/>
                          <a:latin typeface="Times New Roman" panose="02020603050405020304" pitchFamily="18" charset="0"/>
                          <a:cs typeface="Times New Roman" panose="02020603050405020304" pitchFamily="18" charset="0"/>
                        </a:rPr>
                        <a:t>PW RECOMMEND "ENG #1 VIB HIGH". MCC REPORT PW RECOMMEND &amp;#34;ENG #1 VIB HIGH&amp;#34;. A/C AOG AT VII FOR INSPECTION</a:t>
                      </a:r>
                      <a:br>
                        <a:rPr lang="en-US" sz="9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9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smtClean="0">
                          <a:solidFill>
                            <a:srgbClr val="000000"/>
                          </a:solidFill>
                          <a:effectLst/>
                          <a:latin typeface="Times New Roman" panose="02020603050405020304" pitchFamily="18" charset="0"/>
                          <a:cs typeface="Times New Roman" panose="02020603050405020304" pitchFamily="18" charset="0"/>
                        </a:rPr>
                        <a:t>T</a:t>
                      </a:r>
                      <a:r>
                        <a:rPr lang="vi-VN" sz="900" b="0" i="0" u="none" strike="noStrike" smtClean="0">
                          <a:solidFill>
                            <a:srgbClr val="000000"/>
                          </a:solidFill>
                          <a:effectLst/>
                          <a:latin typeface="Times New Roman" panose="02020603050405020304" pitchFamily="18" charset="0"/>
                          <a:cs typeface="Times New Roman" panose="02020603050405020304" pitchFamily="18" charset="0"/>
                        </a:rPr>
                        <a:t>riển khai NVKT từ HAN vào VII bằng đường bộ để k</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iểm</a:t>
                      </a:r>
                      <a:r>
                        <a:rPr lang="en-US" sz="900" b="0" i="0" u="none" strike="noStrike" baseline="0" smtClean="0">
                          <a:solidFill>
                            <a:srgbClr val="000000"/>
                          </a:solidFill>
                          <a:effectLst/>
                          <a:latin typeface="Times New Roman" panose="02020603050405020304" pitchFamily="18" charset="0"/>
                          <a:cs typeface="Times New Roman" panose="02020603050405020304" pitchFamily="18" charset="0"/>
                        </a:rPr>
                        <a:t> </a:t>
                      </a:r>
                      <a:r>
                        <a:rPr lang="vi-VN" sz="900" b="0" i="0" u="none" strike="noStrike" smtClean="0">
                          <a:solidFill>
                            <a:srgbClr val="000000"/>
                          </a:solidFill>
                          <a:effectLst/>
                          <a:latin typeface="Times New Roman" panose="02020603050405020304" pitchFamily="18" charset="0"/>
                          <a:cs typeface="Times New Roman" panose="02020603050405020304" pitchFamily="18" charset="0"/>
                        </a:rPr>
                        <a:t>tra theo y</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êu</a:t>
                      </a:r>
                      <a:r>
                        <a:rPr lang="en-US" sz="900" b="0" i="0" u="none" strike="noStrike" baseline="0" smtClean="0">
                          <a:solidFill>
                            <a:srgbClr val="000000"/>
                          </a:solidFill>
                          <a:effectLst/>
                          <a:latin typeface="Times New Roman" panose="02020603050405020304" pitchFamily="18" charset="0"/>
                          <a:cs typeface="Times New Roman" panose="02020603050405020304" pitchFamily="18" charset="0"/>
                        </a:rPr>
                        <a:t> cầu của</a:t>
                      </a:r>
                      <a:r>
                        <a:rPr lang="vi-VN" sz="900" b="0" i="0" u="none" strike="noStrike" smtClean="0">
                          <a:solidFill>
                            <a:srgbClr val="000000"/>
                          </a:solidFill>
                          <a:effectLst/>
                          <a:latin typeface="Times New Roman" panose="02020603050405020304" pitchFamily="18" charset="0"/>
                          <a:cs typeface="Times New Roman" panose="02020603050405020304" pitchFamily="18" charset="0"/>
                        </a:rPr>
                        <a:t> P&amp;W</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a:t>
                      </a:r>
                    </a:p>
                    <a:p>
                      <a:pPr algn="l" fontAlgn="t"/>
                      <a:r>
                        <a:rPr lang="vi-VN" sz="900" b="0" i="0" u="none" strike="noStrike" smtClean="0">
                          <a:solidFill>
                            <a:srgbClr val="000000"/>
                          </a:solidFill>
                          <a:effectLst/>
                          <a:latin typeface="Times New Roman" panose="02020603050405020304" pitchFamily="18" charset="0"/>
                          <a:cs typeface="Times New Roman" panose="02020603050405020304" pitchFamily="18" charset="0"/>
                        </a:rPr>
                        <a:t>Chiều 20/04: ĐCT</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 soi động</a:t>
                      </a:r>
                      <a:r>
                        <a:rPr lang="en-US" sz="900" b="0" i="0" u="none" strike="noStrike" baseline="0" smtClean="0">
                          <a:solidFill>
                            <a:srgbClr val="000000"/>
                          </a:solidFill>
                          <a:effectLst/>
                          <a:latin typeface="Times New Roman" panose="02020603050405020304" pitchFamily="18" charset="0"/>
                          <a:cs typeface="Times New Roman" panose="02020603050405020304" pitchFamily="18" charset="0"/>
                        </a:rPr>
                        <a:t> cơ</a:t>
                      </a:r>
                      <a:r>
                        <a:rPr lang="vi-VN" sz="900" b="0" i="0" u="none" strike="noStrike" smtClean="0">
                          <a:solidFill>
                            <a:srgbClr val="000000"/>
                          </a:solidFill>
                          <a:effectLst/>
                          <a:latin typeface="Times New Roman" panose="02020603050405020304" pitchFamily="18" charset="0"/>
                          <a:cs typeface="Times New Roman" panose="02020603050405020304" pitchFamily="18" charset="0"/>
                        </a:rPr>
                        <a:t> đã đến VII lúc 15:30 và tiến hành công việc đến 17H15 đã finding HPT1 có 1 lá bị missing material Area A,B. Xác định phải thay đ</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ộng</a:t>
                      </a:r>
                      <a:r>
                        <a:rPr lang="en-US" sz="900" b="0" i="0" u="none" strike="noStrike" baseline="0" smtClean="0">
                          <a:solidFill>
                            <a:srgbClr val="000000"/>
                          </a:solidFill>
                          <a:effectLst/>
                          <a:latin typeface="Times New Roman" panose="02020603050405020304" pitchFamily="18" charset="0"/>
                          <a:cs typeface="Times New Roman" panose="02020603050405020304" pitchFamily="18" charset="0"/>
                        </a:rPr>
                        <a:t> </a:t>
                      </a:r>
                      <a:r>
                        <a:rPr lang="vi-VN" sz="900" b="0" i="0" u="none" strike="noStrike" smtClean="0">
                          <a:solidFill>
                            <a:srgbClr val="000000"/>
                          </a:solidFill>
                          <a:effectLst/>
                          <a:latin typeface="Times New Roman" panose="02020603050405020304" pitchFamily="18" charset="0"/>
                          <a:cs typeface="Times New Roman" panose="02020603050405020304" pitchFamily="18" charset="0"/>
                        </a:rPr>
                        <a:t>cơ. Hiện lên KH để chuyển ENG từ HAN vào (d/k lấy từ tàu BQ A501) và PW từ chối cấp NTO bay ferry về HAN do đánh giá có rủi ro gây hỏng hóc nặng cho động cơ và an toàn bay. Tạm xin dừng bay hết 22/04/25</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 </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900" b="0" i="0" u="none" strike="noStrike" smtClean="0">
                          <a:solidFill>
                            <a:srgbClr val="000000"/>
                          </a:solidFill>
                          <a:effectLst/>
                          <a:latin typeface="Times New Roman" panose="02020603050405020304" pitchFamily="18" charset="0"/>
                          <a:cs typeface="Times New Roman" panose="02020603050405020304" pitchFamily="18" charset="0"/>
                        </a:rPr>
                        <a:t>1. Vấn </a:t>
                      </a:r>
                      <a:r>
                        <a:rPr lang="vi-VN" sz="900" b="0" i="0" u="none" strike="noStrike" dirty="0">
                          <a:solidFill>
                            <a:srgbClr val="000000"/>
                          </a:solidFill>
                          <a:effectLst/>
                          <a:latin typeface="Times New Roman" panose="02020603050405020304" pitchFamily="18" charset="0"/>
                          <a:cs typeface="Times New Roman" panose="02020603050405020304" pitchFamily="18" charset="0"/>
                        </a:rPr>
                        <a:t>đề:</a:t>
                      </a:r>
                      <a:br>
                        <a:rPr lang="vi-VN" sz="900" b="0" i="0" u="none" strike="noStrike" dirty="0">
                          <a:solidFill>
                            <a:srgbClr val="000000"/>
                          </a:solidFill>
                          <a:effectLst/>
                          <a:latin typeface="Times New Roman" panose="02020603050405020304" pitchFamily="18" charset="0"/>
                          <a:cs typeface="Times New Roman" panose="02020603050405020304" pitchFamily="18" charset="0"/>
                        </a:rPr>
                      </a:br>
                      <a:r>
                        <a:rPr lang="vi-VN" sz="900" b="0" i="0" u="none" strike="noStrike" dirty="0">
                          <a:solidFill>
                            <a:srgbClr val="000000"/>
                          </a:solidFill>
                          <a:effectLst/>
                          <a:latin typeface="Times New Roman" panose="02020603050405020304" pitchFamily="18" charset="0"/>
                          <a:cs typeface="Times New Roman" panose="02020603050405020304" pitchFamily="18" charset="0"/>
                        </a:rPr>
                        <a:t>+ Động cơ số #1 A621 ESN 770910  có TSN/CSN 10180FH/7067FC. TSLSV/CSLSV: 1489FH/ 827FC (QT AD HUB), còn 900 FC theo hạn tháo kiểm tra AD Hub và dự kiến tháo vào đầu tháng 9/2025. </a:t>
                      </a:r>
                      <a:br>
                        <a:rPr lang="vi-VN" sz="900" b="0" i="0" u="none" strike="noStrike" dirty="0">
                          <a:solidFill>
                            <a:srgbClr val="000000"/>
                          </a:solidFill>
                          <a:effectLst/>
                          <a:latin typeface="Times New Roman" panose="02020603050405020304" pitchFamily="18" charset="0"/>
                          <a:cs typeface="Times New Roman" panose="02020603050405020304" pitchFamily="18" charset="0"/>
                        </a:rPr>
                      </a:br>
                      <a:r>
                        <a:rPr lang="vi-VN" sz="900" b="0" i="0" u="none" strike="noStrike" dirty="0">
                          <a:solidFill>
                            <a:srgbClr val="000000"/>
                          </a:solidFill>
                          <a:effectLst/>
                          <a:latin typeface="Times New Roman" panose="02020603050405020304" pitchFamily="18" charset="0"/>
                          <a:cs typeface="Times New Roman" panose="02020603050405020304" pitchFamily="18" charset="0"/>
                        </a:rPr>
                        <a:t>+ Ngày 20/4 khi tàu bay HAN-VII, động cơ có cảnh báo Vibration và ADEM có khuyến cáo khẩn cấp yêu cầu soi động cơ trước chuyến bay tiếp theo. Theo ADEM phân tích, các thông số động cơ liên quan HPT performance bị sụt giảm, nguyên nhân có thể do HPT Distress gây N2 Vibration. </a:t>
                      </a:r>
                      <a:br>
                        <a:rPr lang="vi-VN" sz="900" b="0" i="0" u="none" strike="noStrike" dirty="0">
                          <a:solidFill>
                            <a:srgbClr val="000000"/>
                          </a:solidFill>
                          <a:effectLst/>
                          <a:latin typeface="Times New Roman" panose="02020603050405020304" pitchFamily="18" charset="0"/>
                          <a:cs typeface="Times New Roman" panose="02020603050405020304" pitchFamily="18" charset="0"/>
                        </a:rPr>
                      </a:br>
                      <a:r>
                        <a:rPr lang="vi-VN" sz="900" b="0" i="0" u="none" strike="noStrike" dirty="0">
                          <a:solidFill>
                            <a:srgbClr val="000000"/>
                          </a:solidFill>
                          <a:effectLst/>
                          <a:latin typeface="Times New Roman" panose="02020603050405020304" pitchFamily="18" charset="0"/>
                          <a:cs typeface="Times New Roman" panose="02020603050405020304" pitchFamily="18" charset="0"/>
                        </a:rPr>
                        <a:t>+ Động cơ được soi lần cuối ngày 27/2/25 và có hỏng hóc phải soi giảm tần suất HPT 1st stg blade 675 FH/337 FC, hiện còn 56FC đến hạn soi, với lịch soi tiếp theo dự kiến vào tối 20/4.</a:t>
                      </a:r>
                      <a:br>
                        <a:rPr lang="vi-VN" sz="900" b="0" i="0" u="none" strike="noStrike" dirty="0">
                          <a:solidFill>
                            <a:srgbClr val="000000"/>
                          </a:solidFill>
                          <a:effectLst/>
                          <a:latin typeface="Times New Roman" panose="02020603050405020304" pitchFamily="18" charset="0"/>
                          <a:cs typeface="Times New Roman" panose="02020603050405020304" pitchFamily="18" charset="0"/>
                        </a:rPr>
                      </a:br>
                      <a:r>
                        <a:rPr lang="vi-VN" sz="900" b="0" i="0" u="none" strike="noStrike" dirty="0">
                          <a:solidFill>
                            <a:srgbClr val="000000"/>
                          </a:solidFill>
                          <a:effectLst/>
                          <a:latin typeface="Times New Roman" panose="02020603050405020304" pitchFamily="18" charset="0"/>
                          <a:cs typeface="Times New Roman" panose="02020603050405020304" pitchFamily="18" charset="0"/>
                        </a:rPr>
                        <a:t>+ Theo thống kê từ NSX PW, hỏng hóc HPT 1st stg Blade là nguyên nhân phổ biến gây ra tháo động cơ ngoài KH và là nguyên nhân gây IFSD. Tuy nhiên chủ yếu xảy ra đối với động cơ khai thác tại vùng harsh evironment (châu Phi và Trung Đông, Nam Á, Nam Mỹ) và PW đã ban hanh Special Inspection (SI) kiểm tra áp dụng cho các operator này.</a:t>
                      </a:r>
                      <a:br>
                        <a:rPr lang="vi-VN" sz="900" b="0" i="0" u="none" strike="noStrike" dirty="0">
                          <a:solidFill>
                            <a:srgbClr val="000000"/>
                          </a:solidFill>
                          <a:effectLst/>
                          <a:latin typeface="Times New Roman" panose="02020603050405020304" pitchFamily="18" charset="0"/>
                          <a:cs typeface="Times New Roman" panose="02020603050405020304" pitchFamily="18" charset="0"/>
                        </a:rPr>
                      </a:br>
                      <a:r>
                        <a:rPr lang="vi-VN" sz="900" b="0" i="0" u="none" strike="noStrike" dirty="0">
                          <a:solidFill>
                            <a:srgbClr val="000000"/>
                          </a:solidFill>
                          <a:effectLst/>
                          <a:latin typeface="Times New Roman" panose="02020603050405020304" pitchFamily="18" charset="0"/>
                          <a:cs typeface="Times New Roman" panose="02020603050405020304" pitchFamily="18" charset="0"/>
                        </a:rPr>
                        <a:t>+ Hiện tại trong các động cơ đang khai thác ngoài động cơ P770910 đội bay VNA còn động cơ P772905 đang soi giảm tần suất 675 FH/337 FC (đã soi 16/4 không phát sinh thêm hỏng hóc), dự kiến đến hạn AD Hub vào tháng 7/2025.</a:t>
                      </a:r>
                      <a:br>
                        <a:rPr lang="vi-VN" sz="900" b="0" i="0" u="none" strike="noStrike" dirty="0">
                          <a:solidFill>
                            <a:srgbClr val="000000"/>
                          </a:solidFill>
                          <a:effectLst/>
                          <a:latin typeface="Times New Roman" panose="02020603050405020304" pitchFamily="18" charset="0"/>
                          <a:cs typeface="Times New Roman" panose="02020603050405020304" pitchFamily="18" charset="0"/>
                        </a:rPr>
                      </a:br>
                      <a:r>
                        <a:rPr lang="vi-VN" sz="900" b="0" i="0" u="none" strike="noStrike" dirty="0">
                          <a:solidFill>
                            <a:srgbClr val="000000"/>
                          </a:solidFill>
                          <a:effectLst/>
                          <a:latin typeface="Times New Roman" panose="02020603050405020304" pitchFamily="18" charset="0"/>
                          <a:cs typeface="Times New Roman" panose="02020603050405020304" pitchFamily="18" charset="0"/>
                        </a:rPr>
                        <a:t>2. Action:</a:t>
                      </a:r>
                      <a:r>
                        <a:rPr lang="vi-VN" sz="900" b="0" i="0" u="none" strike="noStrike">
                          <a:solidFill>
                            <a:srgbClr val="000000"/>
                          </a:solidFill>
                          <a:effectLst/>
                          <a:latin typeface="Times New Roman" panose="02020603050405020304" pitchFamily="18" charset="0"/>
                          <a:cs typeface="Times New Roman" panose="02020603050405020304" pitchFamily="18" charset="0"/>
                        </a:rPr>
                        <a:t/>
                      </a:r>
                      <a:br>
                        <a:rPr lang="vi-VN" sz="900" b="0" i="0" u="none" strike="noStrike">
                          <a:solidFill>
                            <a:srgbClr val="000000"/>
                          </a:solidFill>
                          <a:effectLst/>
                          <a:latin typeface="Times New Roman" panose="02020603050405020304" pitchFamily="18" charset="0"/>
                          <a:cs typeface="Times New Roman" panose="02020603050405020304" pitchFamily="18" charset="0"/>
                        </a:rPr>
                      </a:b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 </a:t>
                      </a:r>
                      <a:r>
                        <a:rPr lang="vi-VN" sz="900" b="0" i="0" u="none" strike="noStrike" smtClean="0">
                          <a:solidFill>
                            <a:srgbClr val="000000"/>
                          </a:solidFill>
                          <a:effectLst/>
                          <a:latin typeface="+mn-lt"/>
                          <a:cs typeface="Times New Roman" panose="02020603050405020304" pitchFamily="18" charset="0"/>
                        </a:rPr>
                        <a:t>HPT1 có 1 lá bị missing material Area A,B. Xác định phải thay đ</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ộng</a:t>
                      </a:r>
                      <a:r>
                        <a:rPr lang="en-US" sz="900" b="0" i="0" u="none" strike="noStrike" baseline="0" smtClean="0">
                          <a:solidFill>
                            <a:srgbClr val="000000"/>
                          </a:solidFill>
                          <a:effectLst/>
                          <a:latin typeface="Times New Roman" panose="02020603050405020304" pitchFamily="18" charset="0"/>
                          <a:cs typeface="Times New Roman" panose="02020603050405020304" pitchFamily="18" charset="0"/>
                        </a:rPr>
                        <a:t> </a:t>
                      </a:r>
                      <a:r>
                        <a:rPr lang="vi-VN" sz="900" b="0" i="0" u="none" strike="noStrike" smtClean="0">
                          <a:solidFill>
                            <a:srgbClr val="000000"/>
                          </a:solidFill>
                          <a:effectLst/>
                          <a:latin typeface="+mn-lt"/>
                          <a:cs typeface="Times New Roman" panose="02020603050405020304" pitchFamily="18" charset="0"/>
                        </a:rPr>
                        <a:t>cơ.</a:t>
                      </a:r>
                      <a:endParaRPr lang="en-US" sz="900" b="0" i="0" u="none" strike="noStrike" smtClean="0">
                        <a:solidFill>
                          <a:srgbClr val="000000"/>
                        </a:solidFill>
                        <a:effectLst/>
                        <a:latin typeface="+mn-lt"/>
                        <a:cs typeface="Times New Roman" panose="02020603050405020304" pitchFamily="18" charset="0"/>
                      </a:endParaRPr>
                    </a:p>
                    <a:p>
                      <a:pPr algn="l" fontAlgn="t"/>
                      <a:r>
                        <a:rPr lang="en-US" sz="900" b="0" i="0" u="none" strike="noStrike" smtClean="0">
                          <a:solidFill>
                            <a:srgbClr val="000000"/>
                          </a:solidFill>
                          <a:effectLst/>
                          <a:latin typeface="+mn-lt"/>
                          <a:cs typeface="Times New Roman" panose="02020603050405020304" pitchFamily="18" charset="0"/>
                        </a:rPr>
                        <a:t>+ </a:t>
                      </a:r>
                      <a:r>
                        <a:rPr lang="vi-VN" sz="900" b="0" i="0" u="none" strike="noStrike" smtClean="0">
                          <a:solidFill>
                            <a:srgbClr val="000000"/>
                          </a:solidFill>
                          <a:effectLst/>
                          <a:latin typeface="+mn-lt"/>
                          <a:cs typeface="Times New Roman" panose="02020603050405020304" pitchFamily="18" charset="0"/>
                        </a:rPr>
                        <a:t>Hiện lên KH để chuyển ENG từ HAN vào ( d/k lấy từ tàu BQ A501) và PW từ chối cấp NTO bay ferry về HAN do đánh giá có rủi ro gây hỏng hóc nặng cho động cơ và an toàn bay</a:t>
                      </a:r>
                      <a:r>
                        <a:rPr lang="vi-VN" sz="900" b="0" i="0" u="none" strike="noStrike" dirty="0">
                          <a:solidFill>
                            <a:srgbClr val="000000"/>
                          </a:solidFill>
                          <a:effectLst/>
                          <a:latin typeface="Times New Roman" panose="02020603050405020304" pitchFamily="18" charset="0"/>
                          <a:cs typeface="Times New Roman" panose="02020603050405020304" pitchFamily="18" charset="0"/>
                        </a:rPr>
                        <a:t/>
                      </a:r>
                      <a:br>
                        <a:rPr lang="vi-VN" sz="900" b="0" i="0" u="none" strike="noStrike" dirty="0">
                          <a:solidFill>
                            <a:srgbClr val="000000"/>
                          </a:solidFill>
                          <a:effectLst/>
                          <a:latin typeface="Times New Roman" panose="02020603050405020304" pitchFamily="18" charset="0"/>
                          <a:cs typeface="Times New Roman" panose="02020603050405020304" pitchFamily="18" charset="0"/>
                        </a:rPr>
                      </a:br>
                      <a:r>
                        <a:rPr lang="vi-VN" sz="900" b="0" i="0" u="none" strike="noStrike" dirty="0">
                          <a:solidFill>
                            <a:srgbClr val="000000"/>
                          </a:solidFill>
                          <a:effectLst/>
                          <a:latin typeface="Times New Roman" panose="02020603050405020304" pitchFamily="18" charset="0"/>
                          <a:cs typeface="Times New Roman" panose="02020603050405020304" pitchFamily="18" charset="0"/>
                        </a:rPr>
                        <a:t>3. Giải pháp.</a:t>
                      </a:r>
                      <a:br>
                        <a:rPr lang="vi-VN" sz="900" b="0" i="0" u="none" strike="noStrike" dirty="0">
                          <a:solidFill>
                            <a:srgbClr val="000000"/>
                          </a:solidFill>
                          <a:effectLst/>
                          <a:latin typeface="Times New Roman" panose="02020603050405020304" pitchFamily="18" charset="0"/>
                          <a:cs typeface="Times New Roman" panose="02020603050405020304" pitchFamily="18" charset="0"/>
                        </a:rPr>
                      </a:br>
                      <a:r>
                        <a:rPr lang="vi-VN" sz="900" b="0" i="0" u="none" strike="noStrike" dirty="0">
                          <a:solidFill>
                            <a:srgbClr val="000000"/>
                          </a:solidFill>
                          <a:effectLst/>
                          <a:latin typeface="Times New Roman" panose="02020603050405020304" pitchFamily="18" charset="0"/>
                          <a:cs typeface="Times New Roman" panose="02020603050405020304" pitchFamily="18" charset="0"/>
                        </a:rPr>
                        <a:t>+ Tạm thời đã triển khai:</a:t>
                      </a:r>
                      <a:br>
                        <a:rPr lang="vi-VN" sz="900" b="0" i="0" u="none" strike="noStrike" dirty="0">
                          <a:solidFill>
                            <a:srgbClr val="000000"/>
                          </a:solidFill>
                          <a:effectLst/>
                          <a:latin typeface="Times New Roman" panose="02020603050405020304" pitchFamily="18" charset="0"/>
                          <a:cs typeface="Times New Roman" panose="02020603050405020304" pitchFamily="18" charset="0"/>
                        </a:rPr>
                      </a:br>
                      <a:r>
                        <a:rPr lang="vi-VN" sz="900" b="0" i="0" u="none" strike="noStrike" dirty="0">
                          <a:solidFill>
                            <a:srgbClr val="000000"/>
                          </a:solidFill>
                          <a:effectLst/>
                          <a:latin typeface="Times New Roman" panose="02020603050405020304" pitchFamily="18" charset="0"/>
                          <a:cs typeface="Times New Roman" panose="02020603050405020304" pitchFamily="18" charset="0"/>
                        </a:rPr>
                        <a:t>• ADEM triển </a:t>
                      </a:r>
                      <a:r>
                        <a:rPr lang="vi-VN" sz="900" b="0" i="0" u="none" strike="noStrike">
                          <a:solidFill>
                            <a:srgbClr val="000000"/>
                          </a:solidFill>
                          <a:effectLst/>
                          <a:latin typeface="Times New Roman" panose="02020603050405020304" pitchFamily="18" charset="0"/>
                          <a:cs typeface="Times New Roman" panose="02020603050405020304" pitchFamily="18" charset="0"/>
                        </a:rPr>
                        <a:t>khai </a:t>
                      </a:r>
                      <a:r>
                        <a:rPr lang="vi-VN" sz="900" b="0" i="0" u="none" strike="noStrike" smtClean="0">
                          <a:solidFill>
                            <a:srgbClr val="000000"/>
                          </a:solidFill>
                          <a:effectLst/>
                          <a:latin typeface="Times New Roman" panose="02020603050405020304" pitchFamily="18" charset="0"/>
                          <a:cs typeface="Times New Roman" panose="02020603050405020304" pitchFamily="18" charset="0"/>
                        </a:rPr>
                        <a:t>thu</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ậ</a:t>
                      </a:r>
                      <a:r>
                        <a:rPr lang="vi-VN" sz="900" b="0" i="0" u="none" strike="noStrike" smtClean="0">
                          <a:solidFill>
                            <a:srgbClr val="000000"/>
                          </a:solidFill>
                          <a:effectLst/>
                          <a:latin typeface="Times New Roman" panose="02020603050405020304" pitchFamily="18" charset="0"/>
                          <a:cs typeface="Times New Roman" panose="02020603050405020304" pitchFamily="18" charset="0"/>
                        </a:rPr>
                        <a:t>t </a:t>
                      </a:r>
                      <a:r>
                        <a:rPr lang="vi-VN" sz="900" b="0" i="0" u="none" strike="noStrike" dirty="0">
                          <a:solidFill>
                            <a:srgbClr val="000000"/>
                          </a:solidFill>
                          <a:effectLst/>
                          <a:latin typeface="Times New Roman" panose="02020603050405020304" pitchFamily="18" charset="0"/>
                          <a:cs typeface="Times New Roman" panose="02020603050405020304" pitchFamily="18" charset="0"/>
                        </a:rPr>
                        <a:t>toán để phát hiện sớm hỏng hóc trước khi có sự vụ xảy ra</a:t>
                      </a:r>
                      <a:br>
                        <a:rPr lang="vi-VN" sz="900" b="0" i="0" u="none" strike="noStrike" dirty="0">
                          <a:solidFill>
                            <a:srgbClr val="000000"/>
                          </a:solidFill>
                          <a:effectLst/>
                          <a:latin typeface="Times New Roman" panose="02020603050405020304" pitchFamily="18" charset="0"/>
                          <a:cs typeface="Times New Roman" panose="02020603050405020304" pitchFamily="18" charset="0"/>
                        </a:rPr>
                      </a:br>
                      <a:r>
                        <a:rPr lang="vi-VN" sz="900" b="0" i="0" u="none" strike="noStrike" dirty="0">
                          <a:solidFill>
                            <a:srgbClr val="000000"/>
                          </a:solidFill>
                          <a:effectLst/>
                          <a:latin typeface="Times New Roman" panose="02020603050405020304" pitchFamily="18" charset="0"/>
                          <a:cs typeface="Times New Roman" panose="02020603050405020304" pitchFamily="18" charset="0"/>
                        </a:rPr>
                        <a:t>• Soi HPT 1st stg blade với tần suất ban đầu 2700 FH/1350 FC theo khuyến cáo của NSX</a:t>
                      </a:r>
                      <a:br>
                        <a:rPr lang="vi-VN" sz="900" b="0" i="0" u="none" strike="noStrike" dirty="0">
                          <a:solidFill>
                            <a:srgbClr val="000000"/>
                          </a:solidFill>
                          <a:effectLst/>
                          <a:latin typeface="Times New Roman" panose="02020603050405020304" pitchFamily="18" charset="0"/>
                          <a:cs typeface="Times New Roman" panose="02020603050405020304" pitchFamily="18" charset="0"/>
                        </a:rPr>
                      </a:br>
                      <a:r>
                        <a:rPr lang="vi-VN" sz="900" b="0" i="0" u="none" strike="noStrike" dirty="0">
                          <a:solidFill>
                            <a:srgbClr val="000000"/>
                          </a:solidFill>
                          <a:effectLst/>
                          <a:latin typeface="Times New Roman" panose="02020603050405020304" pitchFamily="18" charset="0"/>
                          <a:cs typeface="Times New Roman" panose="02020603050405020304" pitchFamily="18" charset="0"/>
                        </a:rPr>
                        <a:t>+ Triệt để: </a:t>
                      </a:r>
                      <a:br>
                        <a:rPr lang="vi-VN" sz="900" b="0" i="0" u="none" strike="noStrike" dirty="0">
                          <a:solidFill>
                            <a:srgbClr val="000000"/>
                          </a:solidFill>
                          <a:effectLst/>
                          <a:latin typeface="Times New Roman" panose="02020603050405020304" pitchFamily="18" charset="0"/>
                          <a:cs typeface="Times New Roman" panose="02020603050405020304" pitchFamily="18" charset="0"/>
                        </a:rPr>
                      </a:br>
                      <a:r>
                        <a:rPr lang="vi-VN" sz="900" b="0" i="0" u="none" strike="noStrike" dirty="0">
                          <a:solidFill>
                            <a:srgbClr val="000000"/>
                          </a:solidFill>
                          <a:effectLst/>
                          <a:latin typeface="Times New Roman" panose="02020603050405020304" pitchFamily="18" charset="0"/>
                          <a:cs typeface="Times New Roman" panose="02020603050405020304" pitchFamily="18" charset="0"/>
                        </a:rPr>
                        <a:t>• Thay đổi thiết kế của lá HPT 1stg để tăng hiệu suất làm mát bao gồm: thay đổi số lương, kích thước, hình dạng cooling hole trên lá, tăng độ dày lớp gốm nhiệt trên bề mặt lá (Thermal Barrier Coating) à PW ban hành SB 72-00-0239 tháng 3/2025 các động cơ của VNA sẽ được thực hiện khi đi shop đại tu phần </a:t>
                      </a:r>
                      <a:r>
                        <a:rPr lang="vi-VN" sz="900" b="0" i="0" u="none" strike="noStrike">
                          <a:solidFill>
                            <a:srgbClr val="000000"/>
                          </a:solidFill>
                          <a:effectLst/>
                          <a:latin typeface="Times New Roman" panose="02020603050405020304" pitchFamily="18" charset="0"/>
                          <a:cs typeface="Times New Roman" panose="02020603050405020304" pitchFamily="18" charset="0"/>
                        </a:rPr>
                        <a:t>nóng</a:t>
                      </a:r>
                      <a:r>
                        <a:rPr lang="vi-VN" sz="900" b="0" i="0" u="none" strike="noStrike" smtClean="0">
                          <a:solidFill>
                            <a:srgbClr val="000000"/>
                          </a:solidFill>
                          <a:effectLst/>
                          <a:latin typeface="Times New Roman" panose="02020603050405020304" pitchFamily="18" charset="0"/>
                          <a:cs typeface="Times New Roman" panose="02020603050405020304" pitchFamily="18" charset="0"/>
                        </a:rPr>
                        <a:t>.</a:t>
                      </a:r>
                      <a:endParaRPr lang="vi-VN" sz="9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54982336"/>
                  </a:ext>
                </a:extLst>
              </a:tr>
            </a:tbl>
          </a:graphicData>
        </a:graphic>
      </p:graphicFrame>
    </p:spTree>
    <p:extLst>
      <p:ext uri="{BB962C8B-B14F-4D97-AF65-F5344CB8AC3E}">
        <p14:creationId xmlns:p14="http://schemas.microsoft.com/office/powerpoint/2010/main" val="2681083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F471EA3-E5E7-A4FF-E58C-6B06B7263293}"/>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85618BAE-85F3-AB6E-0A11-2FAD7C127C11}"/>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7574ED42-CFB5-1F67-EB3C-1BB7A40B2A87}"/>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8E24B138-29C6-BA19-ADEB-25E8A3F0F3DA}"/>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04</a:t>
            </a:r>
          </a:p>
        </p:txBody>
      </p:sp>
      <p:sp>
        <p:nvSpPr>
          <p:cNvPr id="9" name="TextBox 8">
            <a:extLst>
              <a:ext uri="{FF2B5EF4-FFF2-40B4-BE49-F238E27FC236}">
                <a16:creationId xmlns:a16="http://schemas.microsoft.com/office/drawing/2014/main" id="{623ACB00-B179-BD47-2A8F-D892741356F0}"/>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4 (01 non-tech)</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04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p>
        </p:txBody>
      </p:sp>
      <p:graphicFrame>
        <p:nvGraphicFramePr>
          <p:cNvPr id="5" name="Table 4">
            <a:extLst>
              <a:ext uri="{FF2B5EF4-FFF2-40B4-BE49-F238E27FC236}">
                <a16:creationId xmlns:a16="http://schemas.microsoft.com/office/drawing/2014/main" id="{DDEDF48A-3BED-114C-6C8B-FEA732A89BC7}"/>
              </a:ext>
            </a:extLst>
          </p:cNvPr>
          <p:cNvGraphicFramePr>
            <a:graphicFrameLocks noGrp="1"/>
          </p:cNvGraphicFramePr>
          <p:nvPr>
            <p:extLst>
              <p:ext uri="{D42A27DB-BD31-4B8C-83A1-F6EECF244321}">
                <p14:modId xmlns:p14="http://schemas.microsoft.com/office/powerpoint/2010/main" val="3274286341"/>
              </p:ext>
            </p:extLst>
          </p:nvPr>
        </p:nvGraphicFramePr>
        <p:xfrm>
          <a:off x="116181" y="1516261"/>
          <a:ext cx="11706824" cy="4266928"/>
        </p:xfrm>
        <a:graphic>
          <a:graphicData uri="http://schemas.openxmlformats.org/drawingml/2006/table">
            <a:tbl>
              <a:tblPr/>
              <a:tblGrid>
                <a:gridCol w="316626">
                  <a:extLst>
                    <a:ext uri="{9D8B030D-6E8A-4147-A177-3AD203B41FA5}">
                      <a16:colId xmlns:a16="http://schemas.microsoft.com/office/drawing/2014/main" val="3417516895"/>
                    </a:ext>
                  </a:extLst>
                </a:gridCol>
                <a:gridCol w="916548">
                  <a:extLst>
                    <a:ext uri="{9D8B030D-6E8A-4147-A177-3AD203B41FA5}">
                      <a16:colId xmlns:a16="http://schemas.microsoft.com/office/drawing/2014/main" val="3756402087"/>
                    </a:ext>
                  </a:extLst>
                </a:gridCol>
                <a:gridCol w="916548">
                  <a:extLst>
                    <a:ext uri="{9D8B030D-6E8A-4147-A177-3AD203B41FA5}">
                      <a16:colId xmlns:a16="http://schemas.microsoft.com/office/drawing/2014/main" val="3971272292"/>
                    </a:ext>
                  </a:extLst>
                </a:gridCol>
                <a:gridCol w="316626">
                  <a:extLst>
                    <a:ext uri="{9D8B030D-6E8A-4147-A177-3AD203B41FA5}">
                      <a16:colId xmlns:a16="http://schemas.microsoft.com/office/drawing/2014/main" val="587026432"/>
                    </a:ext>
                  </a:extLst>
                </a:gridCol>
                <a:gridCol w="2383026">
                  <a:extLst>
                    <a:ext uri="{9D8B030D-6E8A-4147-A177-3AD203B41FA5}">
                      <a16:colId xmlns:a16="http://schemas.microsoft.com/office/drawing/2014/main" val="208693751"/>
                    </a:ext>
                  </a:extLst>
                </a:gridCol>
                <a:gridCol w="3116265">
                  <a:extLst>
                    <a:ext uri="{9D8B030D-6E8A-4147-A177-3AD203B41FA5}">
                      <a16:colId xmlns:a16="http://schemas.microsoft.com/office/drawing/2014/main" val="43285502"/>
                    </a:ext>
                  </a:extLst>
                </a:gridCol>
                <a:gridCol w="324958">
                  <a:extLst>
                    <a:ext uri="{9D8B030D-6E8A-4147-A177-3AD203B41FA5}">
                      <a16:colId xmlns:a16="http://schemas.microsoft.com/office/drawing/2014/main" val="3656325275"/>
                    </a:ext>
                  </a:extLst>
                </a:gridCol>
                <a:gridCol w="3416227">
                  <a:extLst>
                    <a:ext uri="{9D8B030D-6E8A-4147-A177-3AD203B41FA5}">
                      <a16:colId xmlns:a16="http://schemas.microsoft.com/office/drawing/2014/main" val="3628365479"/>
                    </a:ext>
                  </a:extLst>
                </a:gridCol>
              </a:tblGrid>
              <a:tr h="108524">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A/C</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OPEN DATE</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CLOSED DATE</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STA</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DEFECT</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ACTION</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ATA</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781914878"/>
                  </a:ext>
                </a:extLst>
              </a:tr>
              <a:tr h="759668">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A357</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15:20 16/04/2025</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20:50 16/04/2025</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CXR</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SPARK AND SMOKE AT LOWER ENG #1 DURING ENG #1 START FOR FLIGHT VN486/CXR-NKG (STD 15:10L)</a:t>
                      </a:r>
                      <a:br>
                        <a:rPr lang="en-US" sz="900" b="0" i="0" u="none" strike="noStrike">
                          <a:solidFill>
                            <a:srgbClr val="000000"/>
                          </a:solidFill>
                          <a:effectLst/>
                          <a:latin typeface="Times New Roman" panose="02020603050405020304" pitchFamily="18" charset="0"/>
                          <a:cs typeface="Times New Roman" panose="02020603050405020304" pitchFamily="18" charset="0"/>
                        </a:rPr>
                      </a:br>
                      <a:r>
                        <a:rPr lang="en-US" sz="900" b="0" i="0" u="none" strike="noStrike">
                          <a:solidFill>
                            <a:srgbClr val="000000"/>
                          </a:solidFill>
                          <a:effectLst/>
                          <a:latin typeface="Times New Roman" panose="02020603050405020304" pitchFamily="18" charset="0"/>
                          <a:cs typeface="Times New Roman" panose="02020603050405020304" pitchFamily="18" charset="0"/>
                        </a:rPr>
                        <a:t/>
                      </a:r>
                      <a:br>
                        <a:rPr lang="en-US" sz="900" b="0" i="0" u="none" strike="noStrike">
                          <a:solidFill>
                            <a:srgbClr val="000000"/>
                          </a:solidFill>
                          <a:effectLst/>
                          <a:latin typeface="Times New Roman" panose="02020603050405020304" pitchFamily="18" charset="0"/>
                          <a:cs typeface="Times New Roman" panose="02020603050405020304" pitchFamily="18" charset="0"/>
                        </a:rPr>
                      </a:br>
                      <a:r>
                        <a:rPr lang="en-US" sz="900" b="0" i="0" u="none" strike="noStrike">
                          <a:solidFill>
                            <a:srgbClr val="000000"/>
                          </a:solidFill>
                          <a:effectLst/>
                          <a:latin typeface="Times New Roman" panose="02020603050405020304" pitchFamily="18" charset="0"/>
                          <a:cs typeface="Times New Roman" panose="02020603050405020304" pitchFamily="18" charset="0"/>
                        </a:rPr>
                        <a:t>FOUND : SPARK AND SMOKE AT LOWER ENG #1</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INSPECTED FOUND STARTER MOTOR INOP. RPL STARTER MOTER OF ENG 1 IAW AMM:80-13-000/400-010-B REV 01FEB25 . ENG 1 RUN UP CHECKED AND LEAK CHECK SATIS REF AMM:71-00-00-710-022-B . TORQUE USED: PN:QD1RN25 / SN:1004604649 ; PN:QD1RN6/0911602063</a:t>
                      </a:r>
                      <a:br>
                        <a:rPr lang="en-US" sz="900" b="0" i="0" u="none" strike="noStrike">
                          <a:solidFill>
                            <a:srgbClr val="000000"/>
                          </a:solidFill>
                          <a:effectLst/>
                          <a:latin typeface="Times New Roman" panose="02020603050405020304" pitchFamily="18" charset="0"/>
                          <a:cs typeface="Times New Roman" panose="02020603050405020304" pitchFamily="18" charset="0"/>
                        </a:rPr>
                      </a:br>
                      <a:r>
                        <a:rPr lang="en-US" sz="900" b="0" i="0" u="none" strike="noStrike">
                          <a:solidFill>
                            <a:srgbClr val="000000"/>
                          </a:solidFill>
                          <a:effectLst/>
                          <a:latin typeface="Times New Roman" panose="02020603050405020304" pitchFamily="18" charset="0"/>
                          <a:cs typeface="Times New Roman" panose="02020603050405020304" pitchFamily="18" charset="0"/>
                        </a:rPr>
                        <a:t> MOR A357 FOUND SPARK AND SMOKE AT LOWER ENG #1 DURING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START</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72</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900" b="0" i="0" u="none" strike="noStrike">
                          <a:solidFill>
                            <a:srgbClr val="000000"/>
                          </a:solidFill>
                          <a:effectLst/>
                          <a:latin typeface="Times New Roman" panose="02020603050405020304" pitchFamily="18" charset="0"/>
                          <a:cs typeface="Times New Roman" panose="02020603050405020304" pitchFamily="18" charset="0"/>
                        </a:rPr>
                        <a:t>Động cơ V17483 có TSN/CSN = 23231.93/16665; TSO/CSO = 4888.93/3599, các thông số không có gì bất thường. Nguyên nhân do Starter bị hỏng. Khối Starter P/N 790425A9, S/N PS4-0731 có TSO/CSO = 2377 FH/1699 FC, được lắp lên tàu A357 ngày 13/07/2024, theo chứng chỉ gần nhất khối được OVH ngày 12/02/2024. Theo lịch sử oil servicing từ khi được theo dõi, lượng oil drain nằm trong ngưỡng cho phép (cao hơn ngưỡng phải tháo 236.59ml - phải tháo do under servicing, và thấp hơn 354ml - ngưỡng engineering cần theo dõi). Đề nghị QLVT làm việc với STA về chất lượng sửa chữa thiết bị.</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39291587"/>
                  </a:ext>
                </a:extLst>
              </a:tr>
              <a:tr h="108833">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A512</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10:05 15/04/2025</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10:35 15/04/2025</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HAN</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C OF A FOUND  ENG 1 FIRE SEAL DAMAGED HAN-UIH/VN1623 (ETD 11:45) C/O C OF A FOUND ENG 1 FIRE SEAL DAMAGED</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C/O REPAIR FIRE SEAL BY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SEALANT; </a:t>
                      </a:r>
                      <a:r>
                        <a:rPr lang="en-US" sz="900" b="0" i="0" u="none" strike="noStrike">
                          <a:solidFill>
                            <a:srgbClr val="000000"/>
                          </a:solidFill>
                          <a:effectLst/>
                          <a:latin typeface="Times New Roman" panose="02020603050405020304" pitchFamily="18" charset="0"/>
                          <a:cs typeface="Times New Roman" panose="02020603050405020304" pitchFamily="18" charset="0"/>
                        </a:rPr>
                        <a:t>REPLACED BREATHER SEAL (ROBBED FROM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A623);CHECK SATIS.</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78-00</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900" b="0" i="0" u="none" strike="noStrike">
                          <a:solidFill>
                            <a:srgbClr val="000000"/>
                          </a:solidFill>
                          <a:effectLst/>
                          <a:latin typeface="Times New Roman" panose="02020603050405020304" pitchFamily="18" charset="0"/>
                          <a:cs typeface="Times New Roman" panose="02020603050405020304" pitchFamily="18" charset="0"/>
                        </a:rPr>
                        <a:t>Hiện tượng rách seal thường do aging và  chỉ thường thấy trên các tàu CEO cao tuổi. Hiện đội bay NEO đã bước sang năm thứ 7 khai thác. Ban KT đang tổng hợp lại các finding CoA để nghiên cứu triển khai biện pháp phòng tránh các hỏng hóc tại nacelle cho đội tàu bay NEO</a:t>
                      </a:r>
                      <a:r>
                        <a:rPr lang="vi-VN" sz="900" b="0" i="0" u="none" strike="noStrike" smtClean="0">
                          <a:solidFill>
                            <a:srgbClr val="000000"/>
                          </a:solidFill>
                          <a:effectLst/>
                          <a:latin typeface="Times New Roman" panose="02020603050405020304" pitchFamily="18" charset="0"/>
                          <a:cs typeface="Times New Roman" panose="02020603050405020304" pitchFamily="18" charset="0"/>
                        </a:rPr>
                        <a:t>.</a:t>
                      </a:r>
                      <a:endParaRPr lang="vi-VN" sz="900" b="0" i="0" u="none" strike="noStrike">
                        <a:solidFill>
                          <a:srgbClr val="000000"/>
                        </a:solidFill>
                        <a:effectLst/>
                        <a:latin typeface="Times New Roman" panose="02020603050405020304" pitchFamily="18" charset="0"/>
                        <a:cs typeface="Times New Roman" panose="02020603050405020304" pitchFamily="18" charset="0"/>
                      </a:endParaRP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3376829"/>
                  </a:ext>
                </a:extLst>
              </a:tr>
              <a:tr h="1373390">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A513</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13:22 14/04/2025</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14:00 17/04/2025</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UIH</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TRANSIT FOUND BIRD STRIKE ON ENG#1  AFTER VN1623 (ETA 13:05) FOUND BIRD STRIKE ON ENG#1 AND DENT LIP SKINN SLAT #1</a:t>
                      </a:r>
                      <a:br>
                        <a:rPr lang="en-US" sz="900" b="0" i="0" u="none" strike="noStrike">
                          <a:solidFill>
                            <a:srgbClr val="000000"/>
                          </a:solidFill>
                          <a:effectLst/>
                          <a:latin typeface="Times New Roman" panose="02020603050405020304" pitchFamily="18" charset="0"/>
                          <a:cs typeface="Times New Roman" panose="02020603050405020304" pitchFamily="18" charset="0"/>
                        </a:rPr>
                      </a:br>
                      <a:r>
                        <a:rPr lang="en-US" sz="900" b="0" i="0" u="none" strike="noStrike">
                          <a:solidFill>
                            <a:srgbClr val="000000"/>
                          </a:solidFill>
                          <a:effectLst/>
                          <a:latin typeface="Times New Roman" panose="02020603050405020304" pitchFamily="18" charset="0"/>
                          <a:cs typeface="Times New Roman" panose="02020603050405020304" pitchFamily="18" charset="0"/>
                        </a:rPr>
                        <a:t>T/S IN PROGRESS</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C/O INSPECTION OF A/C I.A.W AMM 05-51-14-250-803-A (REV FEB 25 )FOUND DENT ON L/H SLAT #1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LxWxD; </a:t>
                      </a:r>
                      <a:r>
                        <a:rPr lang="en-US" sz="900" b="0" i="0" u="none" strike="noStrike">
                          <a:solidFill>
                            <a:srgbClr val="000000"/>
                          </a:solidFill>
                          <a:effectLst/>
                          <a:latin typeface="Times New Roman" panose="02020603050405020304" pitchFamily="18" charset="0"/>
                          <a:cs typeface="Times New Roman" panose="02020603050405020304" pitchFamily="18" charset="0"/>
                        </a:rPr>
                        <a:t>320MM x 140MM x 23MM ; DENT ON LIPSKIN OF ENG#1 LxWxD &amp;#61; 500MM x 330MM x 22MM ; FEGV LINER POSITION 4H BROKEN BIRD STRIKE ON ENG#1 AND DENT LIP SKIN SLAT #1FOUND</a:t>
                      </a:r>
                      <a:br>
                        <a:rPr lang="en-US" sz="900" b="0" i="0" u="none" strike="noStrike">
                          <a:solidFill>
                            <a:srgbClr val="000000"/>
                          </a:solidFill>
                          <a:effectLst/>
                          <a:latin typeface="Times New Roman" panose="02020603050405020304" pitchFamily="18" charset="0"/>
                          <a:cs typeface="Times New Roman" panose="02020603050405020304" pitchFamily="18" charset="0"/>
                        </a:rPr>
                      </a:br>
                      <a:r>
                        <a:rPr lang="en-US" sz="900" b="0" i="0" u="none" strike="noStrike">
                          <a:solidFill>
                            <a:srgbClr val="000000"/>
                          </a:solidFill>
                          <a:effectLst/>
                          <a:latin typeface="Times New Roman" panose="02020603050405020304" pitchFamily="18" charset="0"/>
                          <a:cs typeface="Times New Roman" panose="02020603050405020304" pitchFamily="18" charset="0"/>
                        </a:rPr>
                        <a:t>LPC STG 1 AND STG 3 NO FOUND DAMAGE NO SING OF BIRD DEBRIS</a:t>
                      </a:r>
                      <a:br>
                        <a:rPr lang="en-US" sz="900" b="0" i="0" u="none" strike="noStrike">
                          <a:solidFill>
                            <a:srgbClr val="000000"/>
                          </a:solidFill>
                          <a:effectLst/>
                          <a:latin typeface="Times New Roman" panose="02020603050405020304" pitchFamily="18" charset="0"/>
                          <a:cs typeface="Times New Roman" panose="02020603050405020304" pitchFamily="18" charset="0"/>
                        </a:rPr>
                      </a:br>
                      <a:r>
                        <a:rPr lang="en-US" sz="900" b="0" i="0" u="none" strike="noStrike">
                          <a:solidFill>
                            <a:srgbClr val="000000"/>
                          </a:solidFill>
                          <a:effectLst/>
                          <a:latin typeface="Times New Roman" panose="02020603050405020304" pitchFamily="18" charset="0"/>
                          <a:cs typeface="Times New Roman" panose="02020603050405020304" pitchFamily="18" charset="0"/>
                        </a:rPr>
                        <a:t>HPC STG 1, STG5 AND STG 8 NO FOUND DAMAGE NO SIGN OF BIRD DEBRIS BORESCOPE INSPECTION OF THE LPC(STG1.3) AND HPC(STG 1.5.8)RPL LH SLAT#1 IAW AMM27-84-03-000/400-001-A (FEB 2025). SATIS REQ REPLACED LH SLAT- RPLED ENG 1 INLET COWL IAW AMM71-61-10-000/400-801-A (FEB 2025). SATIS</a:t>
                      </a:r>
                      <a:br>
                        <a:rPr lang="en-US" sz="900" b="0" i="0" u="none" strike="noStrike">
                          <a:solidFill>
                            <a:srgbClr val="000000"/>
                          </a:solidFill>
                          <a:effectLst/>
                          <a:latin typeface="Times New Roman" panose="02020603050405020304" pitchFamily="18" charset="0"/>
                          <a:cs typeface="Times New Roman" panose="02020603050405020304" pitchFamily="18" charset="0"/>
                        </a:rPr>
                      </a:br>
                      <a:r>
                        <a:rPr lang="en-US" sz="900" b="0" i="0" u="none" strike="noStrike">
                          <a:solidFill>
                            <a:srgbClr val="000000"/>
                          </a:solidFill>
                          <a:effectLst/>
                          <a:latin typeface="Times New Roman" panose="02020603050405020304" pitchFamily="18" charset="0"/>
                          <a:cs typeface="Times New Roman" panose="02020603050405020304" pitchFamily="18" charset="0"/>
                        </a:rPr>
                        <a:t>- RPLED 1 FEGV ON ENG#1 IAW AMM72-21-12-000/400-801-A (FEB 2025). SATIS ADD B081 IS CLEARED.</a:t>
                      </a:r>
                      <a:br>
                        <a:rPr lang="en-US" sz="900" b="0" i="0" u="none" strike="noStrike">
                          <a:solidFill>
                            <a:srgbClr val="000000"/>
                          </a:solidFill>
                          <a:effectLst/>
                          <a:latin typeface="Times New Roman" panose="02020603050405020304" pitchFamily="18" charset="0"/>
                          <a:cs typeface="Times New Roman" panose="02020603050405020304" pitchFamily="18" charset="0"/>
                        </a:rPr>
                      </a:br>
                      <a:r>
                        <a:rPr lang="en-US" sz="900" b="0" i="0" u="none" strike="noStrike">
                          <a:solidFill>
                            <a:srgbClr val="000000"/>
                          </a:solidFill>
                          <a:effectLst/>
                          <a:latin typeface="Times New Roman" panose="02020603050405020304" pitchFamily="18" charset="0"/>
                          <a:cs typeface="Times New Roman" panose="02020603050405020304" pitchFamily="18" charset="0"/>
                        </a:rPr>
                        <a:t> REQ REPLACE INLET COWL ; G8FEGV EVENT CLOSED  </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05-51</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dirty="0">
                          <a:solidFill>
                            <a:srgbClr val="000000"/>
                          </a:solidFill>
                          <a:effectLst/>
                          <a:latin typeface="Times New Roman" panose="02020603050405020304" pitchFamily="18" charset="0"/>
                          <a:cs typeface="Times New Roman" panose="02020603050405020304" pitchFamily="18" charset="0"/>
                        </a:rPr>
                        <a:t>Non-tech</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20663362"/>
                  </a:ext>
                </a:extLst>
              </a:tr>
            </a:tbl>
          </a:graphicData>
        </a:graphic>
      </p:graphicFrame>
    </p:spTree>
    <p:extLst>
      <p:ext uri="{BB962C8B-B14F-4D97-AF65-F5344CB8AC3E}">
        <p14:creationId xmlns:p14="http://schemas.microsoft.com/office/powerpoint/2010/main" val="1708210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675B9959-B8E6-8666-7EA4-4B8B68360A03}"/>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F759F7B-1B4B-776B-C78D-8F6B2EBC746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29B9365A-ABE6-5803-F5D5-9A9B1D8AC2FC}"/>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B4742E5D-B583-A75B-7523-0D765EA93D85}"/>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04</a:t>
            </a:r>
          </a:p>
        </p:txBody>
      </p:sp>
      <p:sp>
        <p:nvSpPr>
          <p:cNvPr id="9" name="TextBox 8">
            <a:extLst>
              <a:ext uri="{FF2B5EF4-FFF2-40B4-BE49-F238E27FC236}">
                <a16:creationId xmlns:a16="http://schemas.microsoft.com/office/drawing/2014/main" id="{B6ADA5C2-EA16-56E8-00C2-2A2E280F09FE}"/>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4 (01 non-tech)</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04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p>
        </p:txBody>
      </p:sp>
      <p:graphicFrame>
        <p:nvGraphicFramePr>
          <p:cNvPr id="5" name="Table 4">
            <a:extLst>
              <a:ext uri="{FF2B5EF4-FFF2-40B4-BE49-F238E27FC236}">
                <a16:creationId xmlns:a16="http://schemas.microsoft.com/office/drawing/2014/main" id="{C9618F9A-EEF7-D5D3-CA7A-E8B46BA57E95}"/>
              </a:ext>
            </a:extLst>
          </p:cNvPr>
          <p:cNvGraphicFramePr>
            <a:graphicFrameLocks noGrp="1"/>
          </p:cNvGraphicFramePr>
          <p:nvPr>
            <p:extLst>
              <p:ext uri="{D42A27DB-BD31-4B8C-83A1-F6EECF244321}">
                <p14:modId xmlns:p14="http://schemas.microsoft.com/office/powerpoint/2010/main" val="1212417841"/>
              </p:ext>
            </p:extLst>
          </p:nvPr>
        </p:nvGraphicFramePr>
        <p:xfrm>
          <a:off x="134289" y="1509729"/>
          <a:ext cx="11688713" cy="5092025"/>
        </p:xfrm>
        <a:graphic>
          <a:graphicData uri="http://schemas.openxmlformats.org/drawingml/2006/table">
            <a:tbl>
              <a:tblPr/>
              <a:tblGrid>
                <a:gridCol w="288985">
                  <a:extLst>
                    <a:ext uri="{9D8B030D-6E8A-4147-A177-3AD203B41FA5}">
                      <a16:colId xmlns:a16="http://schemas.microsoft.com/office/drawing/2014/main" val="1699067947"/>
                    </a:ext>
                  </a:extLst>
                </a:gridCol>
                <a:gridCol w="836537">
                  <a:extLst>
                    <a:ext uri="{9D8B030D-6E8A-4147-A177-3AD203B41FA5}">
                      <a16:colId xmlns:a16="http://schemas.microsoft.com/office/drawing/2014/main" val="205224236"/>
                    </a:ext>
                  </a:extLst>
                </a:gridCol>
                <a:gridCol w="288985">
                  <a:extLst>
                    <a:ext uri="{9D8B030D-6E8A-4147-A177-3AD203B41FA5}">
                      <a16:colId xmlns:a16="http://schemas.microsoft.com/office/drawing/2014/main" val="3056190288"/>
                    </a:ext>
                  </a:extLst>
                </a:gridCol>
                <a:gridCol w="783304">
                  <a:extLst>
                    <a:ext uri="{9D8B030D-6E8A-4147-A177-3AD203B41FA5}">
                      <a16:colId xmlns:a16="http://schemas.microsoft.com/office/drawing/2014/main" val="1539559735"/>
                    </a:ext>
                  </a:extLst>
                </a:gridCol>
                <a:gridCol w="585576">
                  <a:extLst>
                    <a:ext uri="{9D8B030D-6E8A-4147-A177-3AD203B41FA5}">
                      <a16:colId xmlns:a16="http://schemas.microsoft.com/office/drawing/2014/main" val="2444827003"/>
                    </a:ext>
                  </a:extLst>
                </a:gridCol>
                <a:gridCol w="486713">
                  <a:extLst>
                    <a:ext uri="{9D8B030D-6E8A-4147-A177-3AD203B41FA5}">
                      <a16:colId xmlns:a16="http://schemas.microsoft.com/office/drawing/2014/main" val="3491416527"/>
                    </a:ext>
                  </a:extLst>
                </a:gridCol>
                <a:gridCol w="2410750">
                  <a:extLst>
                    <a:ext uri="{9D8B030D-6E8A-4147-A177-3AD203B41FA5}">
                      <a16:colId xmlns:a16="http://schemas.microsoft.com/office/drawing/2014/main" val="1857565414"/>
                    </a:ext>
                  </a:extLst>
                </a:gridCol>
                <a:gridCol w="2775785">
                  <a:extLst>
                    <a:ext uri="{9D8B030D-6E8A-4147-A177-3AD203B41FA5}">
                      <a16:colId xmlns:a16="http://schemas.microsoft.com/office/drawing/2014/main" val="3557937854"/>
                    </a:ext>
                  </a:extLst>
                </a:gridCol>
                <a:gridCol w="296591">
                  <a:extLst>
                    <a:ext uri="{9D8B030D-6E8A-4147-A177-3AD203B41FA5}">
                      <a16:colId xmlns:a16="http://schemas.microsoft.com/office/drawing/2014/main" val="3019161719"/>
                    </a:ext>
                  </a:extLst>
                </a:gridCol>
                <a:gridCol w="2935487">
                  <a:extLst>
                    <a:ext uri="{9D8B030D-6E8A-4147-A177-3AD203B41FA5}">
                      <a16:colId xmlns:a16="http://schemas.microsoft.com/office/drawing/2014/main" val="3608241138"/>
                    </a:ext>
                  </a:extLst>
                </a:gridCol>
              </a:tblGrid>
              <a:tr h="99204">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A/C</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STA</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smtClean="0">
                          <a:solidFill>
                            <a:srgbClr val="000000"/>
                          </a:solidFill>
                          <a:effectLst/>
                          <a:latin typeface="Times New Roman" panose="02020603050405020304" pitchFamily="18" charset="0"/>
                          <a:cs typeface="Times New Roman" panose="02020603050405020304" pitchFamily="18" charset="0"/>
                        </a:rPr>
                        <a:t>ROUTE</a:t>
                      </a:r>
                      <a:endParaRPr lang="en-US" sz="900" b="1" i="0" u="none" strike="noStrike">
                        <a:solidFill>
                          <a:srgbClr val="000000"/>
                        </a:solidFill>
                        <a:effectLst/>
                        <a:latin typeface="Times New Roman" panose="02020603050405020304" pitchFamily="18" charset="0"/>
                        <a:cs typeface="Times New Roman" panose="02020603050405020304" pitchFamily="18" charset="0"/>
                      </a:endParaRP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ATA</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635056464"/>
                  </a:ext>
                </a:extLst>
              </a:tr>
              <a:tr h="274350">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A332</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21:00 19/04/2025</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SGN</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35</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VN7120</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SGN-DAD</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MSG: ENG 2 REVERSER FAULT </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TEST FAIL, T/R CAN NOT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RETRACT; </a:t>
                      </a:r>
                      <a:r>
                        <a:rPr lang="en-US" sz="900" b="0" i="0" u="none" strike="noStrike">
                          <a:solidFill>
                            <a:srgbClr val="000000"/>
                          </a:solidFill>
                          <a:effectLst/>
                          <a:latin typeface="Times New Roman" panose="02020603050405020304" pitchFamily="18" charset="0"/>
                          <a:cs typeface="Times New Roman" panose="02020603050405020304" pitchFamily="18" charset="0"/>
                        </a:rPr>
                        <a:t>OPEN ADD T/R INOP, DEACTIVATE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T/R. TOTAL </a:t>
                      </a:r>
                      <a:r>
                        <a:rPr lang="en-US" sz="900" b="0" i="0" u="none" strike="noStrike">
                          <a:solidFill>
                            <a:srgbClr val="000000"/>
                          </a:solidFill>
                          <a:effectLst/>
                          <a:latin typeface="Times New Roman" panose="02020603050405020304" pitchFamily="18" charset="0"/>
                          <a:cs typeface="Times New Roman" panose="02020603050405020304" pitchFamily="18" charset="0"/>
                        </a:rPr>
                        <a:t>DELAY 35 MINS, TECH DELAY 35 MINS</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 </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dirty="0">
                          <a:solidFill>
                            <a:srgbClr val="000000"/>
                          </a:solidFill>
                          <a:effectLst/>
                          <a:latin typeface="Times New Roman" panose="02020603050405020304" pitchFamily="18" charset="0"/>
                          <a:cs typeface="Times New Roman" panose="02020603050405020304" pitchFamily="18" charset="0"/>
                        </a:rPr>
                        <a:t> </a:t>
                      </a:r>
                      <a:r>
                        <a:rPr lang="vi-VN" sz="900" b="0" i="0" u="none" strike="noStrike" dirty="0">
                          <a:solidFill>
                            <a:srgbClr val="000000"/>
                          </a:solidFill>
                          <a:effectLst/>
                          <a:latin typeface="+mn-lt"/>
                          <a:cs typeface="Times New Roman" panose="02020603050405020304" pitchFamily="18" charset="0"/>
                        </a:rPr>
                        <a:t>TR Fault đi kèm msg FAULT HYD CONT UNIT/HC/EEC2. Đây là lỗi thường gặp trên thổi ngược, nguyên nhân có thể do wiring damage hoặc HCU fault. Đối với trường hợp wiring damage, dây hoặc connector có thể bị chaffing cho vặn xoắn, bám bẩm hoặc gỉ. Còn trong trường hợp HCU overheat, nguyên nhân có thể do overheat. Nacelle Anti-Ice duct bị crack khiến khí nóng thổi vào HCU. Hiện VAECO đã sắp xếp lịch kiểm tra OPS test, wiring check và HCU inspection cho tàu A332.</a:t>
                      </a:r>
                      <a:endParaRPr lang="en-US" sz="9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6251504"/>
                  </a:ext>
                </a:extLst>
              </a:tr>
              <a:tr h="595223">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A325</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17:45 16/04/2025</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PNH</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37</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VN920</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PNH-VTE</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(RTG) MSG PACK 1 REGULAR FAULT </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smtClean="0">
                          <a:solidFill>
                            <a:srgbClr val="000000"/>
                          </a:solidFill>
                          <a:effectLst/>
                          <a:latin typeface="Times New Roman" panose="02020603050405020304" pitchFamily="18" charset="0"/>
                          <a:cs typeface="Times New Roman" panose="02020603050405020304" pitchFamily="18" charset="0"/>
                        </a:rPr>
                        <a:t>CRS </a:t>
                      </a:r>
                      <a:r>
                        <a:rPr lang="en-US" sz="900" b="0" i="0" u="none" strike="noStrike">
                          <a:solidFill>
                            <a:srgbClr val="000000"/>
                          </a:solidFill>
                          <a:effectLst/>
                          <a:latin typeface="Times New Roman" panose="02020603050405020304" pitchFamily="18" charset="0"/>
                          <a:cs typeface="Times New Roman" panose="02020603050405020304" pitchFamily="18" charset="0"/>
                        </a:rPr>
                        <a:t>OF K6 C/O RESET, MS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GONE</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 </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900" b="0" i="0" u="none" strike="noStrike">
                          <a:solidFill>
                            <a:srgbClr val="000000"/>
                          </a:solidFill>
                          <a:effectLst/>
                          <a:latin typeface="Times New Roman" panose="02020603050405020304" pitchFamily="18" charset="0"/>
                          <a:cs typeface="Times New Roman" panose="02020603050405020304" pitchFamily="18" charset="0"/>
                        </a:rPr>
                        <a:t>Theo báo cáo, khi xuất hiện msg thì TSV đã hướng dẫn tổ bay reset để tránh quay lại tuy nhiên tổ bay vẫn quyết định quay lại. Trong quá trình quay lại, tổ bay thực hiện reset thì msg biến mất. Thợ máy đã tiến hành kiểm tra và không phát hiện failuire msg, tàu khai thác bình thường và chưa xuất hiện lại. Đánh giá trường hợp này có thể là báo giả và do chưa có sự phối hợp tốt giữa tổ bay và trực TSV. Cần rút kinh nghiệm thêm với tổ bay</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11246926"/>
                  </a:ext>
                </a:extLst>
              </a:tr>
              <a:tr h="793630">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A335</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17:20 16/04/2025</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CXR</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 </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VN1558</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CXR-HAN</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FUEL TRANSFER AFTER FLIGHT VN1559, FUEL IN ACT TANK REMAINING 50KGS. CAPTION REQUEST TO TRANSFER FUEL TO OTHER TANK</a:t>
                      </a:r>
                      <a:br>
                        <a:rPr lang="en-US" sz="900" b="0" i="0" u="none" strike="noStrike">
                          <a:solidFill>
                            <a:srgbClr val="000000"/>
                          </a:solidFill>
                          <a:effectLst/>
                          <a:latin typeface="Times New Roman" panose="02020603050405020304" pitchFamily="18" charset="0"/>
                          <a:cs typeface="Times New Roman" panose="02020603050405020304" pitchFamily="18" charset="0"/>
                        </a:rPr>
                      </a:b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900" b="0" i="0" u="none" strike="noStrike" smtClean="0">
                          <a:solidFill>
                            <a:srgbClr val="000000"/>
                          </a:solidFill>
                          <a:effectLst/>
                          <a:latin typeface="Times New Roman" panose="02020603050405020304" pitchFamily="18" charset="0"/>
                          <a:cs typeface="Times New Roman" panose="02020603050405020304" pitchFamily="18" charset="0"/>
                        </a:rPr>
                        <a:t>TOTAL </a:t>
                      </a:r>
                      <a:r>
                        <a:rPr lang="vi-VN" sz="900" b="0" i="0" u="none" strike="noStrike">
                          <a:solidFill>
                            <a:srgbClr val="000000"/>
                          </a:solidFill>
                          <a:effectLst/>
                          <a:latin typeface="Times New Roman" panose="02020603050405020304" pitchFamily="18" charset="0"/>
                          <a:cs typeface="Times New Roman" panose="02020603050405020304" pitchFamily="18" charset="0"/>
                        </a:rPr>
                        <a:t>DELAY: 55 MINS</a:t>
                      </a:r>
                      <a:br>
                        <a:rPr lang="vi-VN" sz="900" b="0" i="0" u="none" strike="noStrike">
                          <a:solidFill>
                            <a:srgbClr val="000000"/>
                          </a:solidFill>
                          <a:effectLst/>
                          <a:latin typeface="Times New Roman" panose="02020603050405020304" pitchFamily="18" charset="0"/>
                          <a:cs typeface="Times New Roman" panose="02020603050405020304" pitchFamily="18" charset="0"/>
                        </a:rPr>
                      </a:br>
                      <a:r>
                        <a:rPr lang="vi-VN" sz="900" b="0" i="0" u="none" strike="noStrike">
                          <a:solidFill>
                            <a:srgbClr val="000000"/>
                          </a:solidFill>
                          <a:effectLst/>
                          <a:latin typeface="Times New Roman" panose="02020603050405020304" pitchFamily="18" charset="0"/>
                          <a:cs typeface="Times New Roman" panose="02020603050405020304" pitchFamily="18" charset="0"/>
                        </a:rPr>
                        <a:t>TECH DELAY: 0 MIN </a:t>
                      </a:r>
                      <a:br>
                        <a:rPr lang="vi-VN" sz="900" b="0" i="0" u="none" strike="noStrike">
                          <a:solidFill>
                            <a:srgbClr val="000000"/>
                          </a:solidFill>
                          <a:effectLst/>
                          <a:latin typeface="Times New Roman" panose="02020603050405020304" pitchFamily="18" charset="0"/>
                          <a:cs typeface="Times New Roman" panose="02020603050405020304" pitchFamily="18" charset="0"/>
                        </a:rPr>
                      </a:br>
                      <a:r>
                        <a:rPr lang="vi-VN" sz="900" b="0" i="0" u="none" strike="noStrike">
                          <a:solidFill>
                            <a:srgbClr val="000000"/>
                          </a:solidFill>
                          <a:effectLst/>
                          <a:latin typeface="Times New Roman" panose="02020603050405020304" pitchFamily="18" charset="0"/>
                          <a:cs typeface="Times New Roman" panose="02020603050405020304" pitchFamily="18" charset="0"/>
                        </a:rPr>
                        <a:t>- 15h55 Đón tàu ktra tàu. Khi tàu đến có dầu trong ACT 50kgs</a:t>
                      </a:r>
                      <a:br>
                        <a:rPr lang="vi-VN" sz="900" b="0" i="0" u="none" strike="noStrike">
                          <a:solidFill>
                            <a:srgbClr val="000000"/>
                          </a:solidFill>
                          <a:effectLst/>
                          <a:latin typeface="Times New Roman" panose="02020603050405020304" pitchFamily="18" charset="0"/>
                          <a:cs typeface="Times New Roman" panose="02020603050405020304" pitchFamily="18" charset="0"/>
                        </a:rPr>
                      </a:br>
                      <a:r>
                        <a:rPr lang="vi-VN" sz="900" b="0" i="0" u="none" strike="noStrike">
                          <a:solidFill>
                            <a:srgbClr val="000000"/>
                          </a:solidFill>
                          <a:effectLst/>
                          <a:latin typeface="Times New Roman" panose="02020603050405020304" pitchFamily="18" charset="0"/>
                          <a:cs typeface="Times New Roman" panose="02020603050405020304" pitchFamily="18" charset="0"/>
                        </a:rPr>
                        <a:t>- 16h15 Capt yêu cầu tranfer dầu thì đợi bơm dầu xong mới bắt đầu tranfer</a:t>
                      </a:r>
                      <a:br>
                        <a:rPr lang="vi-VN" sz="900" b="0" i="0" u="none" strike="noStrike">
                          <a:solidFill>
                            <a:srgbClr val="000000"/>
                          </a:solidFill>
                          <a:effectLst/>
                          <a:latin typeface="Times New Roman" panose="02020603050405020304" pitchFamily="18" charset="0"/>
                          <a:cs typeface="Times New Roman" panose="02020603050405020304" pitchFamily="18" charset="0"/>
                        </a:rPr>
                      </a:br>
                      <a:r>
                        <a:rPr lang="vi-VN" sz="900" b="0" i="0" u="none" strike="noStrike">
                          <a:solidFill>
                            <a:srgbClr val="000000"/>
                          </a:solidFill>
                          <a:effectLst/>
                          <a:latin typeface="Times New Roman" panose="02020603050405020304" pitchFamily="18" charset="0"/>
                          <a:cs typeface="Times New Roman" panose="02020603050405020304" pitchFamily="18" charset="0"/>
                        </a:rPr>
                        <a:t>- 16h40 Kết thúc tranfer. Nhưng do center còn nhiều capt yêu cầu tranfer tiếp sang 2 cánh</a:t>
                      </a:r>
                      <a:br>
                        <a:rPr lang="vi-VN" sz="900" b="0" i="0" u="none" strike="noStrike">
                          <a:solidFill>
                            <a:srgbClr val="000000"/>
                          </a:solidFill>
                          <a:effectLst/>
                          <a:latin typeface="Times New Roman" panose="02020603050405020304" pitchFamily="18" charset="0"/>
                          <a:cs typeface="Times New Roman" panose="02020603050405020304" pitchFamily="18" charset="0"/>
                        </a:rPr>
                      </a:br>
                      <a:r>
                        <a:rPr lang="vi-VN" sz="900" b="0" i="0" u="none" strike="noStrike">
                          <a:solidFill>
                            <a:srgbClr val="000000"/>
                          </a:solidFill>
                          <a:effectLst/>
                          <a:latin typeface="Times New Roman" panose="02020603050405020304" pitchFamily="18" charset="0"/>
                          <a:cs typeface="Times New Roman" panose="02020603050405020304" pitchFamily="18" charset="0"/>
                        </a:rPr>
                        <a:t>- 16h55 Khi center còn 400kg thì Capt mới đồng ý đi.</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 </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Không tính delay</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04165443"/>
                  </a:ext>
                </a:extLst>
              </a:tr>
              <a:tr h="892834">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A357</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15:20 16/04/2025</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CXR</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320</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VN468</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CXR-NKG</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SPARK AND SMOKE AT LOWER ENG #1 DURING ENG #1 START FOR FLIGHT VN486/CXR-NKG (STD 15:10L)</a:t>
                      </a:r>
                      <a:br>
                        <a:rPr lang="en-US" sz="900" b="0" i="0" u="none" strike="noStrike">
                          <a:solidFill>
                            <a:srgbClr val="000000"/>
                          </a:solidFill>
                          <a:effectLst/>
                          <a:latin typeface="Times New Roman" panose="02020603050405020304" pitchFamily="18" charset="0"/>
                          <a:cs typeface="Times New Roman" panose="02020603050405020304" pitchFamily="18" charset="0"/>
                        </a:rPr>
                      </a:br>
                      <a:r>
                        <a:rPr lang="en-US" sz="900" b="0" i="0" u="none" strike="noStrike">
                          <a:solidFill>
                            <a:srgbClr val="000000"/>
                          </a:solidFill>
                          <a:effectLst/>
                          <a:latin typeface="Times New Roman" panose="02020603050405020304" pitchFamily="18" charset="0"/>
                          <a:cs typeface="Times New Roman" panose="02020603050405020304" pitchFamily="18" charset="0"/>
                        </a:rPr>
                        <a:t/>
                      </a:r>
                      <a:br>
                        <a:rPr lang="en-US" sz="900" b="0" i="0" u="none" strike="noStrike">
                          <a:solidFill>
                            <a:srgbClr val="000000"/>
                          </a:solidFill>
                          <a:effectLst/>
                          <a:latin typeface="Times New Roman" panose="02020603050405020304" pitchFamily="18" charset="0"/>
                          <a:cs typeface="Times New Roman" panose="02020603050405020304" pitchFamily="18" charset="0"/>
                        </a:rPr>
                      </a:br>
                      <a:r>
                        <a:rPr lang="en-US" sz="900" b="0" i="0" u="none" strike="noStrike">
                          <a:solidFill>
                            <a:srgbClr val="000000"/>
                          </a:solidFill>
                          <a:effectLst/>
                          <a:latin typeface="Times New Roman" panose="02020603050405020304" pitchFamily="18" charset="0"/>
                          <a:cs typeface="Times New Roman" panose="02020603050405020304" pitchFamily="18" charset="0"/>
                        </a:rPr>
                        <a:t>FOUND : SPARK AND SMOKE AT LOWER ENG #1</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INSPECTED FOUND STARTER MOTOR INOP. RPL STARTER MOTER OF ENG 1 IAW AMM:80-13-000/400-010-B REV 01FEB25 . ENG 1 RUN UP CHECKED AND LEAK CHECK SATIS REF AMM:71-00-00-710-022-B . TORQUE USED: PN:QD1RN25 / SN:1004604649 ; PN:QD1RN6/0911602063</a:t>
                      </a:r>
                      <a:br>
                        <a:rPr lang="en-US" sz="900" b="0" i="0" u="none" strike="noStrike">
                          <a:solidFill>
                            <a:srgbClr val="000000"/>
                          </a:solidFill>
                          <a:effectLst/>
                          <a:latin typeface="Times New Roman" panose="02020603050405020304" pitchFamily="18" charset="0"/>
                          <a:cs typeface="Times New Roman" panose="02020603050405020304" pitchFamily="18" charset="0"/>
                        </a:rPr>
                      </a:br>
                      <a:r>
                        <a:rPr lang="en-US" sz="900" b="0" i="0" u="none" strike="noStrike">
                          <a:solidFill>
                            <a:srgbClr val="000000"/>
                          </a:solidFill>
                          <a:effectLst/>
                          <a:latin typeface="Times New Roman" panose="02020603050405020304" pitchFamily="18" charset="0"/>
                          <a:cs typeface="Times New Roman" panose="02020603050405020304" pitchFamily="18" charset="0"/>
                        </a:rPr>
                        <a:t> MOR A357 FOUND SPARK AND SMOKE AT LOWER ENG #1 DURING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START.</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72</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900" b="0" i="0" u="none" strike="noStrike" dirty="0">
                          <a:solidFill>
                            <a:srgbClr val="000000"/>
                          </a:solidFill>
                          <a:effectLst/>
                          <a:latin typeface="Times New Roman" panose="02020603050405020304" pitchFamily="18" charset="0"/>
                          <a:cs typeface="Times New Roman" panose="02020603050405020304" pitchFamily="18" charset="0"/>
                        </a:rPr>
                        <a:t>Động cơ V17483 có TSN/CSN = 23231.93/16665; TSO/CSO = 4888.93/3599, các thông số không có gì bất thường. Nguyên nhân do Starter bị hỏng. Khối Starter P/N 790425A9, S/N PS4-0731 có TSO/CSO = 2377 FH/1699 FC, được lắp lên tàu A357 ngày 13/07/2024, theo chứng chỉ gần nhất khối được OVH ngày 12/02/2024. Theo lịch sử oil servicing từ khi được theo dõi, lượng oil drain nằm trong ngưỡng cho phép (cao hơn ngưỡng phải tháo 236.59ml - phải tháo do under servicing, và thấp hơn 354ml - ngưỡng engineering cần theo dõi). Đề nghị QLVT làm việc với STA về chất lượng sửa chữa thiết bị.</a:t>
                      </a:r>
                      <a:br>
                        <a:rPr lang="vi-VN" sz="900" b="0" i="0" u="none" strike="noStrike" dirty="0">
                          <a:solidFill>
                            <a:srgbClr val="000000"/>
                          </a:solidFill>
                          <a:effectLst/>
                          <a:latin typeface="Times New Roman" panose="02020603050405020304" pitchFamily="18" charset="0"/>
                          <a:cs typeface="Times New Roman" panose="02020603050405020304" pitchFamily="18" charset="0"/>
                        </a:rPr>
                      </a:br>
                      <a:endParaRPr lang="vi-VN" sz="9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06170870"/>
                  </a:ext>
                </a:extLst>
              </a:tr>
            </a:tbl>
          </a:graphicData>
        </a:graphic>
      </p:graphicFrame>
    </p:spTree>
    <p:extLst>
      <p:ext uri="{BB962C8B-B14F-4D97-AF65-F5344CB8AC3E}">
        <p14:creationId xmlns:p14="http://schemas.microsoft.com/office/powerpoint/2010/main" val="2056323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A9AD-1F36-71AD-79EA-A60339FB5026}"/>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909AAD87-9B2B-3997-F3A5-296858406FB3}"/>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8" name="Title 4"/>
          <p:cNvSpPr txBox="1">
            <a:spLocks/>
          </p:cNvSpPr>
          <p:nvPr/>
        </p:nvSpPr>
        <p:spPr>
          <a:xfrm>
            <a:off x="217211" y="228601"/>
            <a:ext cx="11811000" cy="533400"/>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pPr>
              <a:defRPr/>
            </a:pPr>
            <a:r>
              <a:rPr lang="en-US" sz="2400" b="1" dirty="0" smtClean="0">
                <a:ln w="0"/>
                <a:solidFill>
                  <a:schemeClr val="accent4"/>
                </a:solidFill>
                <a:cs typeface="Times New Roman" panose="02020603050405020304" pitchFamily="18" charset="0"/>
              </a:rPr>
              <a:t>TÌNH TRẠNG KỸ THUẬT ĐỘI BAY A321</a:t>
            </a:r>
          </a:p>
          <a:p>
            <a:pPr>
              <a:defRPr/>
            </a:pPr>
            <a:endParaRPr lang="en-US" sz="2400" b="1" dirty="0" smtClean="0">
              <a:ln w="0"/>
              <a:solidFill>
                <a:schemeClr val="accent4"/>
              </a:solidFill>
              <a:cs typeface="Times New Roman" panose="02020603050405020304" pitchFamily="18" charset="0"/>
            </a:endParaRPr>
          </a:p>
        </p:txBody>
      </p:sp>
      <p:sp>
        <p:nvSpPr>
          <p:cNvPr id="11" name="Text 2"/>
          <p:cNvSpPr/>
          <p:nvPr/>
        </p:nvSpPr>
        <p:spPr>
          <a:xfrm>
            <a:off x="304800" y="914400"/>
            <a:ext cx="11506200" cy="2209800"/>
          </a:xfrm>
          <a:prstGeom prst="rect">
            <a:avLst/>
          </a:prstGeom>
          <a:noFill/>
          <a:ln/>
        </p:spPr>
        <p:txBody>
          <a:bodyPr wrap="square" lIns="0" tIns="0" rIns="0" bIns="0" rtlCol="0" anchor="t"/>
          <a:lstStyle/>
          <a:p>
            <a:pPr marL="285739" indent="-285739">
              <a:lnSpc>
                <a:spcPts val="2125"/>
              </a:lnSpc>
              <a:buSzPct val="100000"/>
              <a:buFontTx/>
              <a:buChar char="•"/>
            </a:pPr>
            <a:r>
              <a:rPr lang="en-US" sz="1600" dirty="0" err="1" smtClean="0">
                <a:solidFill>
                  <a:srgbClr val="333F70"/>
                </a:solidFill>
                <a:ea typeface="Open Sans" pitchFamily="34" charset="-122"/>
                <a:cs typeface="Times New Roman" panose="02020603050405020304" pitchFamily="18" charset="0"/>
              </a:rPr>
              <a:t>Đội</a:t>
            </a:r>
            <a:r>
              <a:rPr lang="en-US" sz="1600" dirty="0" smtClean="0">
                <a:solidFill>
                  <a:srgbClr val="333F70"/>
                </a:solidFill>
                <a:ea typeface="Open Sans" pitchFamily="34" charset="-122"/>
                <a:cs typeface="Times New Roman" panose="02020603050405020304" pitchFamily="18" charset="0"/>
              </a:rPr>
              <a:t> bay A321 </a:t>
            </a:r>
            <a:r>
              <a:rPr lang="en-US" sz="1600" dirty="0" err="1" smtClean="0">
                <a:solidFill>
                  <a:srgbClr val="333F70"/>
                </a:solidFill>
                <a:ea typeface="Open Sans" pitchFamily="34" charset="-122"/>
                <a:cs typeface="Times New Roman" panose="02020603050405020304" pitchFamily="18" charset="0"/>
              </a:rPr>
              <a:t>trong</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tuần</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phát</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sinh</a:t>
            </a:r>
            <a:r>
              <a:rPr lang="en-US" sz="1600" dirty="0" smtClean="0">
                <a:solidFill>
                  <a:srgbClr val="333F70"/>
                </a:solidFill>
                <a:ea typeface="Open Sans" pitchFamily="34" charset="-122"/>
                <a:cs typeface="Times New Roman" panose="02020603050405020304" pitchFamily="18" charset="0"/>
              </a:rPr>
              <a:t> 03 </a:t>
            </a:r>
            <a:r>
              <a:rPr lang="en-US" sz="1600" dirty="0" err="1" smtClean="0">
                <a:solidFill>
                  <a:srgbClr val="333F70"/>
                </a:solidFill>
                <a:ea typeface="Open Sans" pitchFamily="34" charset="-122"/>
                <a:cs typeface="Times New Roman" panose="02020603050405020304" pitchFamily="18" charset="0"/>
              </a:rPr>
              <a:t>vụ</a:t>
            </a:r>
            <a:r>
              <a:rPr lang="en-US" sz="1600" dirty="0" smtClean="0">
                <a:solidFill>
                  <a:srgbClr val="333F70"/>
                </a:solidFill>
                <a:ea typeface="Open Sans" pitchFamily="34" charset="-122"/>
                <a:cs typeface="Times New Roman" panose="02020603050405020304" pitchFamily="18" charset="0"/>
              </a:rPr>
              <a:t> AOG </a:t>
            </a:r>
            <a:r>
              <a:rPr lang="en-US" sz="1600" dirty="0" err="1" smtClean="0">
                <a:solidFill>
                  <a:srgbClr val="333F70"/>
                </a:solidFill>
                <a:ea typeface="Open Sans" pitchFamily="34" charset="-122"/>
                <a:cs typeface="Times New Roman" panose="02020603050405020304" pitchFamily="18" charset="0"/>
              </a:rPr>
              <a:t>và</a:t>
            </a:r>
            <a:r>
              <a:rPr lang="en-US" sz="1600" dirty="0" smtClean="0">
                <a:solidFill>
                  <a:srgbClr val="333F70"/>
                </a:solidFill>
                <a:ea typeface="Open Sans" pitchFamily="34" charset="-122"/>
                <a:cs typeface="Times New Roman" panose="02020603050405020304" pitchFamily="18" charset="0"/>
              </a:rPr>
              <a:t> 01 </a:t>
            </a:r>
            <a:r>
              <a:rPr lang="en-US" sz="1600" dirty="0" err="1" smtClean="0">
                <a:solidFill>
                  <a:srgbClr val="333F70"/>
                </a:solidFill>
                <a:ea typeface="Open Sans" pitchFamily="34" charset="-122"/>
                <a:cs typeface="Times New Roman" panose="02020603050405020304" pitchFamily="18" charset="0"/>
              </a:rPr>
              <a:t>sự</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kiện</a:t>
            </a:r>
            <a:r>
              <a:rPr lang="en-US" sz="1600" dirty="0" smtClean="0">
                <a:solidFill>
                  <a:srgbClr val="333F70"/>
                </a:solidFill>
                <a:ea typeface="Open Sans" pitchFamily="34" charset="-122"/>
                <a:cs typeface="Times New Roman" panose="02020603050405020304" pitchFamily="18" charset="0"/>
              </a:rPr>
              <a:t> RTG, </a:t>
            </a:r>
            <a:r>
              <a:rPr lang="en-US" sz="1600" dirty="0" err="1" smtClean="0">
                <a:solidFill>
                  <a:srgbClr val="333F70"/>
                </a:solidFill>
                <a:ea typeface="Open Sans" pitchFamily="34" charset="-122"/>
                <a:cs typeface="Times New Roman" panose="02020603050405020304" pitchFamily="18" charset="0"/>
              </a:rPr>
              <a:t>trong</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đó</a:t>
            </a:r>
            <a:r>
              <a:rPr lang="en-US" sz="1600" dirty="0" smtClean="0">
                <a:solidFill>
                  <a:srgbClr val="333F70"/>
                </a:solidFill>
                <a:ea typeface="Open Sans" pitchFamily="34" charset="-122"/>
                <a:cs typeface="Times New Roman" panose="02020603050405020304" pitchFamily="18" charset="0"/>
              </a:rPr>
              <a:t>:</a:t>
            </a:r>
          </a:p>
          <a:p>
            <a:pPr marL="285739" indent="-285739">
              <a:lnSpc>
                <a:spcPts val="2125"/>
              </a:lnSpc>
              <a:buSzPct val="100000"/>
              <a:buFontTx/>
              <a:buChar char="•"/>
            </a:pPr>
            <a:r>
              <a:rPr lang="vi-VN" sz="1600" dirty="0" smtClean="0">
                <a:solidFill>
                  <a:srgbClr val="333F70"/>
                </a:solidFill>
                <a:ea typeface="Open Sans" pitchFamily="34" charset="-122"/>
                <a:cs typeface="Times New Roman" panose="02020603050405020304" pitchFamily="18" charset="0"/>
              </a:rPr>
              <a:t>A325 </a:t>
            </a:r>
            <a:r>
              <a:rPr lang="vi-VN" sz="1600" b="1" dirty="0" smtClean="0">
                <a:solidFill>
                  <a:srgbClr val="333F70"/>
                </a:solidFill>
                <a:ea typeface="Open Sans" pitchFamily="34" charset="-122"/>
                <a:cs typeface="Times New Roman" panose="02020603050405020304" pitchFamily="18" charset="0"/>
              </a:rPr>
              <a:t>RTG</a:t>
            </a:r>
            <a:r>
              <a:rPr lang="en-US" sz="1600" b="1" dirty="0" smtClean="0">
                <a:solidFill>
                  <a:srgbClr val="333F70"/>
                </a:solidFill>
                <a:ea typeface="Open Sans" pitchFamily="34" charset="-122"/>
                <a:cs typeface="Times New Roman" panose="02020603050405020304" pitchFamily="18" charset="0"/>
              </a:rPr>
              <a:t> </a:t>
            </a:r>
            <a:r>
              <a:rPr lang="en-US" sz="1600" dirty="0" smtClean="0">
                <a:solidFill>
                  <a:srgbClr val="333F70"/>
                </a:solidFill>
                <a:ea typeface="Open Sans" pitchFamily="34" charset="-122"/>
                <a:cs typeface="Times New Roman" panose="02020603050405020304" pitchFamily="18" charset="0"/>
              </a:rPr>
              <a:t>do</a:t>
            </a:r>
            <a:r>
              <a:rPr lang="vi-VN" sz="1600" dirty="0" smtClean="0">
                <a:solidFill>
                  <a:srgbClr val="333F70"/>
                </a:solidFill>
                <a:ea typeface="Open Sans" pitchFamily="34" charset="-122"/>
                <a:cs typeface="Times New Roman" panose="02020603050405020304" pitchFamily="18" charset="0"/>
              </a:rPr>
              <a:t> </a:t>
            </a:r>
            <a:r>
              <a:rPr lang="vi-VN" sz="1600" dirty="0">
                <a:solidFill>
                  <a:srgbClr val="333F70"/>
                </a:solidFill>
                <a:ea typeface="Open Sans" pitchFamily="34" charset="-122"/>
                <a:cs typeface="Times New Roman" panose="02020603050405020304" pitchFamily="18" charset="0"/>
              </a:rPr>
              <a:t>MSG PACK 1 REGULAR </a:t>
            </a:r>
            <a:r>
              <a:rPr lang="vi-VN" sz="1600" dirty="0" smtClean="0">
                <a:solidFill>
                  <a:srgbClr val="333F70"/>
                </a:solidFill>
                <a:ea typeface="Open Sans" pitchFamily="34" charset="-122"/>
                <a:cs typeface="Times New Roman" panose="02020603050405020304" pitchFamily="18" charset="0"/>
              </a:rPr>
              <a:t>FAULT</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tuy</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nhiên</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sau</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đó</a:t>
            </a:r>
            <a:r>
              <a:rPr lang="vi-VN" sz="1600" dirty="0" smtClean="0">
                <a:solidFill>
                  <a:srgbClr val="333F70"/>
                </a:solidFill>
                <a:ea typeface="Open Sans" pitchFamily="34" charset="-122"/>
                <a:cs typeface="Times New Roman" panose="02020603050405020304" pitchFamily="18" charset="0"/>
              </a:rPr>
              <a:t> đã </a:t>
            </a:r>
            <a:r>
              <a:rPr lang="vi-VN" sz="1600" dirty="0">
                <a:solidFill>
                  <a:srgbClr val="333F70"/>
                </a:solidFill>
                <a:ea typeface="Open Sans" pitchFamily="34" charset="-122"/>
                <a:cs typeface="Times New Roman" panose="02020603050405020304" pitchFamily="18" charset="0"/>
              </a:rPr>
              <a:t>reset </a:t>
            </a:r>
            <a:r>
              <a:rPr lang="en-US" sz="1600" dirty="0" err="1" smtClean="0">
                <a:solidFill>
                  <a:srgbClr val="333F70"/>
                </a:solidFill>
                <a:ea typeface="Open Sans" pitchFamily="34" charset="-122"/>
                <a:cs typeface="Times New Roman" panose="02020603050405020304" pitchFamily="18" charset="0"/>
              </a:rPr>
              <a:t>hết</a:t>
            </a:r>
            <a:r>
              <a:rPr lang="en-US" sz="1600" dirty="0" smtClean="0">
                <a:solidFill>
                  <a:srgbClr val="333F70"/>
                </a:solidFill>
                <a:ea typeface="Open Sans" pitchFamily="34" charset="-122"/>
                <a:cs typeface="Times New Roman" panose="02020603050405020304" pitchFamily="18" charset="0"/>
              </a:rPr>
              <a:t> mess (</a:t>
            </a:r>
            <a:r>
              <a:rPr lang="en-US" sz="1600" dirty="0" err="1" smtClean="0">
                <a:solidFill>
                  <a:srgbClr val="333F70"/>
                </a:solidFill>
                <a:ea typeface="Open Sans" pitchFamily="34" charset="-122"/>
                <a:cs typeface="Times New Roman" panose="02020603050405020304" pitchFamily="18" charset="0"/>
              </a:rPr>
              <a:t>nghi</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ngờ</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báo</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giả</a:t>
            </a:r>
            <a:r>
              <a:rPr lang="en-US" sz="1600" dirty="0" smtClean="0">
                <a:solidFill>
                  <a:srgbClr val="333F70"/>
                </a:solidFill>
                <a:ea typeface="Open Sans" pitchFamily="34" charset="-122"/>
                <a:cs typeface="Times New Roman" panose="02020603050405020304" pitchFamily="18" charset="0"/>
              </a:rPr>
              <a:t>)</a:t>
            </a:r>
            <a:r>
              <a:rPr lang="vi-VN" sz="1600" dirty="0" smtClean="0">
                <a:solidFill>
                  <a:srgbClr val="333F70"/>
                </a:solidFill>
                <a:ea typeface="Open Sans" pitchFamily="34" charset="-122"/>
                <a:cs typeface="Times New Roman" panose="02020603050405020304" pitchFamily="18" charset="0"/>
              </a:rPr>
              <a:t>. </a:t>
            </a:r>
            <a:r>
              <a:rPr lang="en-US" sz="1600" dirty="0" err="1">
                <a:solidFill>
                  <a:srgbClr val="333F70"/>
                </a:solidFill>
                <a:ea typeface="Open Sans" pitchFamily="34" charset="-122"/>
                <a:cs typeface="Times New Roman" panose="02020603050405020304" pitchFamily="18" charset="0"/>
              </a:rPr>
              <a:t>C</a:t>
            </a:r>
            <a:r>
              <a:rPr lang="en-US" sz="1600" dirty="0" err="1" smtClean="0">
                <a:solidFill>
                  <a:srgbClr val="333F70"/>
                </a:solidFill>
                <a:ea typeface="Open Sans" pitchFamily="34" charset="-122"/>
                <a:cs typeface="Times New Roman" panose="02020603050405020304" pitchFamily="18" charset="0"/>
              </a:rPr>
              <a:t>ần</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xem</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xét</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cách</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phối</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hợp</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giữa</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thợ</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máy</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và</a:t>
            </a:r>
            <a:r>
              <a:rPr lang="en-US" sz="1600" dirty="0" smtClean="0">
                <a:solidFill>
                  <a:srgbClr val="333F70"/>
                </a:solidFill>
                <a:ea typeface="Open Sans" pitchFamily="34" charset="-122"/>
                <a:cs typeface="Times New Roman" panose="02020603050405020304" pitchFamily="18" charset="0"/>
              </a:rPr>
              <a:t> phi </a:t>
            </a:r>
            <a:r>
              <a:rPr lang="en-US" sz="1600" dirty="0" err="1" smtClean="0">
                <a:solidFill>
                  <a:srgbClr val="333F70"/>
                </a:solidFill>
                <a:ea typeface="Open Sans" pitchFamily="34" charset="-122"/>
                <a:cs typeface="Times New Roman" panose="02020603050405020304" pitchFamily="18" charset="0"/>
              </a:rPr>
              <a:t>công</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cho</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linh</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hoạt</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để</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tránh</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các</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trường</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hợp</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tương</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tự</a:t>
            </a:r>
            <a:r>
              <a:rPr lang="en-US" sz="1600" dirty="0" smtClean="0">
                <a:solidFill>
                  <a:srgbClr val="333F70"/>
                </a:solidFill>
                <a:ea typeface="Open Sans" pitchFamily="34" charset="-122"/>
                <a:cs typeface="Times New Roman" panose="02020603050405020304" pitchFamily="18" charset="0"/>
              </a:rPr>
              <a:t>.</a:t>
            </a:r>
          </a:p>
          <a:p>
            <a:pPr marL="285739" indent="-285739">
              <a:lnSpc>
                <a:spcPts val="2125"/>
              </a:lnSpc>
              <a:buSzPct val="100000"/>
              <a:buFontTx/>
              <a:buChar char="•"/>
            </a:pPr>
            <a:r>
              <a:rPr lang="en-US" sz="1600" dirty="0" err="1" smtClean="0">
                <a:solidFill>
                  <a:srgbClr val="333F70"/>
                </a:solidFill>
                <a:ea typeface="Open Sans" pitchFamily="34" charset="-122"/>
                <a:cs typeface="Times New Roman" panose="02020603050405020304" pitchFamily="18" charset="0"/>
              </a:rPr>
              <a:t>Các</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hỏng</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hóc</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liên</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quan</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đến</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eng</a:t>
            </a:r>
            <a:r>
              <a:rPr lang="en-US" sz="1600" dirty="0" smtClean="0">
                <a:solidFill>
                  <a:srgbClr val="333F70"/>
                </a:solidFill>
                <a:ea typeface="Open Sans" pitchFamily="34" charset="-122"/>
                <a:cs typeface="Times New Roman" panose="02020603050405020304" pitchFamily="18" charset="0"/>
              </a:rPr>
              <a:t> fire seal (A512) </a:t>
            </a:r>
            <a:r>
              <a:rPr lang="en-US" sz="1600" dirty="0" err="1" smtClean="0">
                <a:solidFill>
                  <a:srgbClr val="333F70"/>
                </a:solidFill>
                <a:ea typeface="Open Sans" pitchFamily="34" charset="-122"/>
                <a:cs typeface="Times New Roman" panose="02020603050405020304" pitchFamily="18" charset="0"/>
              </a:rPr>
              <a:t>và</a:t>
            </a:r>
            <a:r>
              <a:rPr lang="en-US" sz="1600" dirty="0" smtClean="0">
                <a:solidFill>
                  <a:srgbClr val="333F70"/>
                </a:solidFill>
                <a:ea typeface="Open Sans" pitchFamily="34" charset="-122"/>
                <a:cs typeface="Times New Roman" panose="02020603050405020304" pitchFamily="18" charset="0"/>
              </a:rPr>
              <a:t> rung </a:t>
            </a:r>
            <a:r>
              <a:rPr lang="en-US" sz="1600" dirty="0" err="1" smtClean="0">
                <a:solidFill>
                  <a:srgbClr val="333F70"/>
                </a:solidFill>
                <a:ea typeface="Open Sans" pitchFamily="34" charset="-122"/>
                <a:cs typeface="Times New Roman" panose="02020603050405020304" pitchFamily="18" charset="0"/>
              </a:rPr>
              <a:t>động</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cơ</a:t>
            </a:r>
            <a:r>
              <a:rPr lang="en-US" sz="1600" dirty="0" smtClean="0">
                <a:solidFill>
                  <a:srgbClr val="333F70"/>
                </a:solidFill>
                <a:ea typeface="Open Sans" pitchFamily="34" charset="-122"/>
                <a:cs typeface="Times New Roman" panose="02020603050405020304" pitchFamily="18" charset="0"/>
              </a:rPr>
              <a:t> NEO (A621) </a:t>
            </a:r>
            <a:r>
              <a:rPr lang="en-US" sz="1600" dirty="0" err="1" smtClean="0">
                <a:solidFill>
                  <a:srgbClr val="333F70"/>
                </a:solidFill>
                <a:ea typeface="Open Sans" pitchFamily="34" charset="-122"/>
                <a:cs typeface="Times New Roman" panose="02020603050405020304" pitchFamily="18" charset="0"/>
              </a:rPr>
              <a:t>đều</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là</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các</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hỏng</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hóc</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được</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nhận</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diện</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cần</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lưu</a:t>
            </a:r>
            <a:r>
              <a:rPr lang="en-US" sz="1600" dirty="0" smtClean="0">
                <a:solidFill>
                  <a:srgbClr val="333F70"/>
                </a:solidFill>
                <a:ea typeface="Open Sans" pitchFamily="34" charset="-122"/>
                <a:cs typeface="Times New Roman" panose="02020603050405020304" pitchFamily="18" charset="0"/>
              </a:rPr>
              <a:t> ý </a:t>
            </a:r>
            <a:r>
              <a:rPr lang="en-US" sz="1600" dirty="0" err="1" smtClean="0">
                <a:solidFill>
                  <a:srgbClr val="333F70"/>
                </a:solidFill>
                <a:ea typeface="Open Sans" pitchFamily="34" charset="-122"/>
                <a:cs typeface="Times New Roman" panose="02020603050405020304" pitchFamily="18" charset="0"/>
              </a:rPr>
              <a:t>để</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có</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phương</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án</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theo</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dõi</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và</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khắc</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phục</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phù</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hợp</a:t>
            </a:r>
            <a:r>
              <a:rPr lang="en-US" sz="1600" dirty="0" smtClean="0">
                <a:solidFill>
                  <a:srgbClr val="333F70"/>
                </a:solidFill>
                <a:ea typeface="Open Sans" pitchFamily="34" charset="-122"/>
                <a:cs typeface="Times New Roman" panose="02020603050405020304" pitchFamily="18" charset="0"/>
              </a:rPr>
              <a:t>.</a:t>
            </a:r>
            <a:endParaRPr lang="vi-VN" sz="1600" dirty="0">
              <a:solidFill>
                <a:srgbClr val="333F70"/>
              </a:solidFill>
              <a:ea typeface="Open Sans" pitchFamily="34" charset="-122"/>
              <a:cs typeface="Times New Roman" panose="02020603050405020304" pitchFamily="18" charset="0"/>
            </a:endParaRPr>
          </a:p>
          <a:p>
            <a:pPr marL="285739" indent="-285739">
              <a:lnSpc>
                <a:spcPts val="2125"/>
              </a:lnSpc>
              <a:buSzPct val="100000"/>
              <a:buFontTx/>
              <a:buChar char="•"/>
            </a:pPr>
            <a:r>
              <a:rPr lang="en-US" sz="1600" dirty="0" err="1" smtClean="0">
                <a:solidFill>
                  <a:srgbClr val="333F70"/>
                </a:solidFill>
                <a:ea typeface="Open Sans" pitchFamily="34" charset="-122"/>
                <a:cs typeface="Times New Roman" panose="02020603050405020304" pitchFamily="18" charset="0"/>
              </a:rPr>
              <a:t>Ngoài</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ra</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trường</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hợp</a:t>
            </a:r>
            <a:r>
              <a:rPr lang="en-US" sz="1600" dirty="0" smtClean="0">
                <a:solidFill>
                  <a:srgbClr val="333F70"/>
                </a:solidFill>
                <a:ea typeface="Open Sans" pitchFamily="34" charset="-122"/>
                <a:cs typeface="Times New Roman" panose="02020603050405020304" pitchFamily="18" charset="0"/>
              </a:rPr>
              <a:t> </a:t>
            </a:r>
            <a:r>
              <a:rPr lang="vi-VN" sz="1600" dirty="0" smtClean="0">
                <a:solidFill>
                  <a:srgbClr val="333F70"/>
                </a:solidFill>
                <a:ea typeface="Open Sans" pitchFamily="34" charset="-122"/>
                <a:cs typeface="Times New Roman" panose="02020603050405020304" pitchFamily="18" charset="0"/>
              </a:rPr>
              <a:t>A357 </a:t>
            </a:r>
            <a:r>
              <a:rPr lang="vi-VN" sz="1600" dirty="0">
                <a:solidFill>
                  <a:srgbClr val="333F70"/>
                </a:solidFill>
                <a:ea typeface="Open Sans" pitchFamily="34" charset="-122"/>
                <a:cs typeface="Times New Roman" panose="02020603050405020304" pitchFamily="18" charset="0"/>
              </a:rPr>
              <a:t>AOG tại CXR do phát sinh tia lửa và khói </a:t>
            </a:r>
            <a:r>
              <a:rPr lang="en-US" sz="1600" dirty="0" smtClean="0">
                <a:solidFill>
                  <a:srgbClr val="333F70"/>
                </a:solidFill>
                <a:ea typeface="Open Sans" pitchFamily="34" charset="-122"/>
                <a:cs typeface="Times New Roman" panose="02020603050405020304" pitchFamily="18" charset="0"/>
              </a:rPr>
              <a:t>ở Eng#1 do </a:t>
            </a:r>
            <a:r>
              <a:rPr lang="vi-VN" sz="1600" dirty="0" smtClean="0">
                <a:solidFill>
                  <a:srgbClr val="333F70"/>
                </a:solidFill>
                <a:ea typeface="Open Sans" pitchFamily="34" charset="-122"/>
                <a:cs typeface="Times New Roman" panose="02020603050405020304" pitchFamily="18" charset="0"/>
              </a:rPr>
              <a:t>stator </a:t>
            </a:r>
            <a:r>
              <a:rPr lang="vi-VN" sz="1600" dirty="0">
                <a:solidFill>
                  <a:srgbClr val="333F70"/>
                </a:solidFill>
                <a:ea typeface="Open Sans" pitchFamily="34" charset="-122"/>
                <a:cs typeface="Times New Roman" panose="02020603050405020304" pitchFamily="18" charset="0"/>
              </a:rPr>
              <a:t>motor bị hỏng </a:t>
            </a:r>
            <a:r>
              <a:rPr lang="en-US" sz="1600" dirty="0" err="1" smtClean="0">
                <a:solidFill>
                  <a:srgbClr val="333F70"/>
                </a:solidFill>
                <a:ea typeface="Open Sans" pitchFamily="34" charset="-122"/>
                <a:cs typeface="Times New Roman" panose="02020603050405020304" pitchFamily="18" charset="0"/>
              </a:rPr>
              <a:t>cần</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làm</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việc</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thêm</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với</a:t>
            </a:r>
            <a:r>
              <a:rPr lang="en-US" sz="1600" dirty="0" smtClean="0">
                <a:solidFill>
                  <a:srgbClr val="333F70"/>
                </a:solidFill>
                <a:ea typeface="Open Sans" pitchFamily="34" charset="-122"/>
                <a:cs typeface="Times New Roman" panose="02020603050405020304" pitchFamily="18" charset="0"/>
              </a:rPr>
              <a:t> STA </a:t>
            </a:r>
            <a:r>
              <a:rPr lang="en-US" sz="1600" dirty="0" err="1" smtClean="0">
                <a:solidFill>
                  <a:srgbClr val="333F70"/>
                </a:solidFill>
                <a:ea typeface="Open Sans" pitchFamily="34" charset="-122"/>
                <a:cs typeface="Times New Roman" panose="02020603050405020304" pitchFamily="18" charset="0"/>
              </a:rPr>
              <a:t>về</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chất</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lượng</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sửa</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chữa</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thiết</a:t>
            </a:r>
            <a:r>
              <a:rPr lang="en-US" sz="1600" dirty="0" smtClean="0">
                <a:solidFill>
                  <a:srgbClr val="333F70"/>
                </a:solidFill>
                <a:ea typeface="Open Sans" pitchFamily="34" charset="-122"/>
                <a:cs typeface="Times New Roman" panose="02020603050405020304" pitchFamily="18" charset="0"/>
              </a:rPr>
              <a:t> </a:t>
            </a:r>
            <a:r>
              <a:rPr lang="en-US" sz="1600" dirty="0" err="1" smtClean="0">
                <a:solidFill>
                  <a:srgbClr val="333F70"/>
                </a:solidFill>
                <a:ea typeface="Open Sans" pitchFamily="34" charset="-122"/>
                <a:cs typeface="Times New Roman" panose="02020603050405020304" pitchFamily="18" charset="0"/>
              </a:rPr>
              <a:t>bị</a:t>
            </a:r>
            <a:r>
              <a:rPr lang="en-US" sz="1600" dirty="0">
                <a:solidFill>
                  <a:srgbClr val="333F70"/>
                </a:solidFill>
                <a:ea typeface="Open Sans" pitchFamily="34" charset="-122"/>
                <a:cs typeface="Times New Roman" panose="02020603050405020304" pitchFamily="18" charset="0"/>
              </a:rPr>
              <a:t> </a:t>
            </a:r>
            <a:r>
              <a:rPr lang="en-US" sz="1600" dirty="0" smtClean="0">
                <a:solidFill>
                  <a:srgbClr val="333F70"/>
                </a:solidFill>
                <a:ea typeface="Open Sans" pitchFamily="34" charset="-122"/>
                <a:cs typeface="Times New Roman" panose="02020603050405020304" pitchFamily="18" charset="0"/>
              </a:rPr>
              <a:t>(</a:t>
            </a:r>
            <a:r>
              <a:rPr lang="vi-VN" sz="1600" dirty="0">
                <a:solidFill>
                  <a:srgbClr val="333F70"/>
                </a:solidFill>
                <a:ea typeface="Open Sans" pitchFamily="34" charset="-122"/>
                <a:cs typeface="Times New Roman" panose="02020603050405020304" pitchFamily="18" charset="0"/>
              </a:rPr>
              <a:t>TSO/CSO = 2377 FH/1699 FC, được lắp lên tàu A357 ngày </a:t>
            </a:r>
            <a:r>
              <a:rPr lang="vi-VN" sz="1600" dirty="0" smtClean="0">
                <a:solidFill>
                  <a:srgbClr val="333F70"/>
                </a:solidFill>
                <a:ea typeface="Open Sans" pitchFamily="34" charset="-122"/>
                <a:cs typeface="Times New Roman" panose="02020603050405020304" pitchFamily="18" charset="0"/>
              </a:rPr>
              <a:t>13/07/2024</a:t>
            </a:r>
            <a:r>
              <a:rPr lang="en-US" sz="1600" dirty="0" smtClean="0">
                <a:solidFill>
                  <a:srgbClr val="333F70"/>
                </a:solidFill>
                <a:ea typeface="Open Sans" pitchFamily="34" charset="-122"/>
                <a:cs typeface="Times New Roman" panose="02020603050405020304" pitchFamily="18" charset="0"/>
              </a:rPr>
              <a:t>, </a:t>
            </a:r>
            <a:r>
              <a:rPr lang="en-US" sz="1600" dirty="0">
                <a:solidFill>
                  <a:srgbClr val="333F70"/>
                </a:solidFill>
                <a:ea typeface="Open Sans" pitchFamily="34" charset="-122"/>
                <a:cs typeface="Times New Roman" panose="02020603050405020304" pitchFamily="18" charset="0"/>
              </a:rPr>
              <a:t>t</a:t>
            </a:r>
            <a:r>
              <a:rPr lang="vi-VN" sz="1600" dirty="0" smtClean="0">
                <a:solidFill>
                  <a:srgbClr val="333F70"/>
                </a:solidFill>
                <a:ea typeface="Open Sans" pitchFamily="34" charset="-122"/>
                <a:cs typeface="Times New Roman" panose="02020603050405020304" pitchFamily="18" charset="0"/>
              </a:rPr>
              <a:t>heo </a:t>
            </a:r>
            <a:r>
              <a:rPr lang="vi-VN" sz="1600" dirty="0">
                <a:solidFill>
                  <a:srgbClr val="333F70"/>
                </a:solidFill>
                <a:ea typeface="Open Sans" pitchFamily="34" charset="-122"/>
                <a:cs typeface="Times New Roman" panose="02020603050405020304" pitchFamily="18" charset="0"/>
              </a:rPr>
              <a:t>lịch sử oil servicing cũng không phát hiện bất </a:t>
            </a:r>
            <a:r>
              <a:rPr lang="vi-VN" sz="1600" dirty="0" smtClean="0">
                <a:solidFill>
                  <a:srgbClr val="333F70"/>
                </a:solidFill>
                <a:ea typeface="Open Sans" pitchFamily="34" charset="-122"/>
                <a:cs typeface="Times New Roman" panose="02020603050405020304" pitchFamily="18" charset="0"/>
              </a:rPr>
              <a:t>thường</a:t>
            </a:r>
            <a:r>
              <a:rPr lang="en-US" sz="1600" dirty="0" smtClean="0">
                <a:solidFill>
                  <a:srgbClr val="333F70"/>
                </a:solidFill>
                <a:ea typeface="Open Sans" pitchFamily="34" charset="-122"/>
                <a:cs typeface="Times New Roman" panose="02020603050405020304" pitchFamily="18" charset="0"/>
              </a:rPr>
              <a:t>)</a:t>
            </a:r>
            <a:endParaRPr lang="vi-VN" sz="1600" dirty="0">
              <a:solidFill>
                <a:srgbClr val="333F70"/>
              </a:solidFill>
              <a:ea typeface="Open Sans" pitchFamily="34" charset="-122"/>
              <a:cs typeface="Times New Roman" panose="02020603050405020304" pitchFamily="18" charset="0"/>
            </a:endParaRPr>
          </a:p>
          <a:p>
            <a:pPr>
              <a:lnSpc>
                <a:spcPts val="2125"/>
              </a:lnSpc>
              <a:buSzPct val="100000"/>
            </a:pPr>
            <a:endParaRPr lang="en-US" sz="1600" dirty="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1556758237"/>
      </p:ext>
    </p:extLst>
  </p:cSld>
  <p:clrMapOvr>
    <a:masterClrMapping/>
  </p:clrMapOvr>
  <p:transition spd="med">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85FF762-C7BE-C174-D0AA-48FABC7CA19E}"/>
              </a:ext>
            </a:extLst>
          </p:cNvPr>
          <p:cNvSpPr>
            <a:spLocks noGrp="1"/>
          </p:cNvSpPr>
          <p:nvPr>
            <p:ph type="title"/>
          </p:nvPr>
        </p:nvSpPr>
        <p:spPr>
          <a:xfrm>
            <a:off x="457200" y="167918"/>
            <a:ext cx="10896599"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A350</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E0B7B82D-1374-56D5-C3DF-62BC7E089176}"/>
              </a:ext>
            </a:extLst>
          </p:cNvPr>
          <p:cNvSpPr txBox="1"/>
          <p:nvPr/>
        </p:nvSpPr>
        <p:spPr>
          <a:xfrm>
            <a:off x="609599" y="1002007"/>
            <a:ext cx="10744201"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00 	</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ATB</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834377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10</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57576" y="66595"/>
            <a:ext cx="7860513"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3" name="Table 2">
            <a:extLst>
              <a:ext uri="{FF2B5EF4-FFF2-40B4-BE49-F238E27FC236}">
                <a16:creationId xmlns:a16="http://schemas.microsoft.com/office/drawing/2014/main" id="{12552ABD-F11A-92D9-2255-016DF8F1B808}"/>
              </a:ext>
            </a:extLst>
          </p:cNvPr>
          <p:cNvGraphicFramePr>
            <a:graphicFrameLocks noGrp="1"/>
          </p:cNvGraphicFramePr>
          <p:nvPr>
            <p:extLst/>
          </p:nvPr>
        </p:nvGraphicFramePr>
        <p:xfrm>
          <a:off x="257575" y="565154"/>
          <a:ext cx="11676850" cy="6177159"/>
        </p:xfrm>
        <a:graphic>
          <a:graphicData uri="http://schemas.openxmlformats.org/drawingml/2006/table">
            <a:tbl>
              <a:tblPr/>
              <a:tblGrid>
                <a:gridCol w="317332">
                  <a:extLst>
                    <a:ext uri="{9D8B030D-6E8A-4147-A177-3AD203B41FA5}">
                      <a16:colId xmlns:a16="http://schemas.microsoft.com/office/drawing/2014/main" val="2750872395"/>
                    </a:ext>
                  </a:extLst>
                </a:gridCol>
                <a:gridCol w="614557">
                  <a:extLst>
                    <a:ext uri="{9D8B030D-6E8A-4147-A177-3AD203B41FA5}">
                      <a16:colId xmlns:a16="http://schemas.microsoft.com/office/drawing/2014/main" val="1704320004"/>
                    </a:ext>
                  </a:extLst>
                </a:gridCol>
                <a:gridCol w="664116">
                  <a:extLst>
                    <a:ext uri="{9D8B030D-6E8A-4147-A177-3AD203B41FA5}">
                      <a16:colId xmlns:a16="http://schemas.microsoft.com/office/drawing/2014/main" val="684852944"/>
                    </a:ext>
                  </a:extLst>
                </a:gridCol>
                <a:gridCol w="1397620">
                  <a:extLst>
                    <a:ext uri="{9D8B030D-6E8A-4147-A177-3AD203B41FA5}">
                      <a16:colId xmlns:a16="http://schemas.microsoft.com/office/drawing/2014/main" val="2386194103"/>
                    </a:ext>
                  </a:extLst>
                </a:gridCol>
                <a:gridCol w="1278673">
                  <a:extLst>
                    <a:ext uri="{9D8B030D-6E8A-4147-A177-3AD203B41FA5}">
                      <a16:colId xmlns:a16="http://schemas.microsoft.com/office/drawing/2014/main" val="623159147"/>
                    </a:ext>
                  </a:extLst>
                </a:gridCol>
                <a:gridCol w="1754459">
                  <a:extLst>
                    <a:ext uri="{9D8B030D-6E8A-4147-A177-3AD203B41FA5}">
                      <a16:colId xmlns:a16="http://schemas.microsoft.com/office/drawing/2014/main" val="2209689717"/>
                    </a:ext>
                  </a:extLst>
                </a:gridCol>
                <a:gridCol w="5650093">
                  <a:extLst>
                    <a:ext uri="{9D8B030D-6E8A-4147-A177-3AD203B41FA5}">
                      <a16:colId xmlns:a16="http://schemas.microsoft.com/office/drawing/2014/main" val="2474515347"/>
                    </a:ext>
                  </a:extLst>
                </a:gridCol>
              </a:tblGrid>
              <a:tr h="206168">
                <a:tc>
                  <a:txBody>
                    <a:bodyPr/>
                    <a:lstStyle/>
                    <a:p>
                      <a:pPr algn="ctr" fontAlgn="ctr"/>
                      <a:r>
                        <a:rPr lang="en-US" sz="1300" b="0" i="0" u="none" strike="noStrike">
                          <a:solidFill>
                            <a:srgbClr val="000000"/>
                          </a:solidFill>
                          <a:effectLst/>
                          <a:latin typeface="Calibri" panose="020F0502020204030204" pitchFamily="34" charset="0"/>
                        </a:rPr>
                        <a:t>No</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Fleet</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A/C</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tàu bay</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KT</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Calibri" panose="020F0502020204030204" pitchFamily="34" charset="0"/>
                        </a:rPr>
                        <a:t>Điều kiện chuyên cơ</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Ghi chú</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89158629"/>
                  </a:ext>
                </a:extLst>
              </a:tr>
              <a:tr h="612568">
                <a:tc>
                  <a:txBody>
                    <a:bodyPr/>
                    <a:lstStyle/>
                    <a:p>
                      <a:pPr algn="ctr" fontAlgn="ctr"/>
                      <a:r>
                        <a:rPr lang="en-US" sz="1300" b="0" i="0" u="none" strike="noStrike">
                          <a:solidFill>
                            <a:srgbClr val="000000"/>
                          </a:solidFill>
                          <a:effectLst/>
                          <a:latin typeface="Calibri" panose="020F0502020204030204" pitchFamily="34" charset="0"/>
                        </a:rPr>
                        <a:t>1</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A886</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ADD B1372 RAISED DM AIR REDUNDANCY LOSS ON FUEL INERTING</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ADD B1379 RAISED PACK 1 REGULATION REDUNDANCY</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ADD B1381 RAISED F/CTL R OUT R AILERON G ACTUATOR</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04164138"/>
                  </a:ext>
                </a:extLst>
              </a:tr>
              <a:tr h="206168">
                <a:tc>
                  <a:txBody>
                    <a:bodyPr/>
                    <a:lstStyle/>
                    <a:p>
                      <a:pPr algn="ctr" fontAlgn="ctr"/>
                      <a:r>
                        <a:rPr lang="en-US" sz="1300" b="0" i="0" u="none" strike="noStrike">
                          <a:solidFill>
                            <a:srgbClr val="000000"/>
                          </a:solidFill>
                          <a:effectLst/>
                          <a:latin typeface="Calibri" panose="020F0502020204030204" pitchFamily="34" charset="0"/>
                        </a:rPr>
                        <a:t>2</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A887</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ADD B1246 RAISED AIR PACK 2 REGUL REDUNDANCY</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27624473"/>
                  </a:ext>
                </a:extLst>
              </a:tr>
              <a:tr h="815768">
                <a:tc>
                  <a:txBody>
                    <a:bodyPr/>
                    <a:lstStyle/>
                    <a:p>
                      <a:pPr algn="ctr" fontAlgn="ctr"/>
                      <a:r>
                        <a:rPr lang="en-US" sz="1300" b="0" i="0" u="none" strike="noStrike">
                          <a:solidFill>
                            <a:srgbClr val="000000"/>
                          </a:solidFill>
                          <a:effectLst/>
                          <a:latin typeface="Calibri" panose="020F0502020204030204" pitchFamily="34" charset="0"/>
                        </a:rPr>
                        <a:t>3</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A888</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21682  giảm tần suất soi heatshield 2400FH/400FC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FM: ENG1 LOW OIL LEVEL</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ADD C1236: CHILLER SYS INOP DURING CRUISE</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4. ADD B1399"GEAR MONITORING REDUNDANCY"</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36961705"/>
                  </a:ext>
                </a:extLst>
              </a:tr>
              <a:tr h="612568">
                <a:tc>
                  <a:txBody>
                    <a:bodyPr/>
                    <a:lstStyle/>
                    <a:p>
                      <a:pPr algn="ctr" fontAlgn="ctr"/>
                      <a:r>
                        <a:rPr lang="en-US" sz="1300" b="0" i="0" u="none" strike="noStrike">
                          <a:solidFill>
                            <a:srgbClr val="000000"/>
                          </a:solidFill>
                          <a:effectLst/>
                          <a:latin typeface="Calibri" panose="020F0502020204030204" pitchFamily="34" charset="0"/>
                        </a:rPr>
                        <a:t>4</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A889</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1 21088 giảm tần suất soi HPT blade 800FH/100FC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FM: ENG2 LOW OIL LEVEL</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ADD B1247 IS RAISED:" CAB COM SINGLE CIDS"</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85049966"/>
                  </a:ext>
                </a:extLst>
              </a:tr>
              <a:tr h="612568">
                <a:tc>
                  <a:txBody>
                    <a:bodyPr/>
                    <a:lstStyle/>
                    <a:p>
                      <a:pPr algn="ctr" fontAlgn="ctr"/>
                      <a:r>
                        <a:rPr lang="en-US" sz="1300" b="0" i="0" u="none" strike="noStrike">
                          <a:solidFill>
                            <a:srgbClr val="000000"/>
                          </a:solidFill>
                          <a:effectLst/>
                          <a:latin typeface="Calibri" panose="020F0502020204030204" pitchFamily="34" charset="0"/>
                        </a:rPr>
                        <a:t>5</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A890</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TR 81489576: PREVENTIVE RECOMMENDATION PACK 2 INTERNAL LEAKAGE</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ADD B1508 RAISED APU INOP</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ADD B1516"FLAP1 ADGB BRK"</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1162018"/>
                  </a:ext>
                </a:extLst>
              </a:tr>
              <a:tr h="206168">
                <a:tc>
                  <a:txBody>
                    <a:bodyPr/>
                    <a:lstStyle/>
                    <a:p>
                      <a:pPr algn="ctr" fontAlgn="ctr"/>
                      <a:r>
                        <a:rPr lang="en-US" sz="1300" b="0" i="0" u="none" strike="noStrike">
                          <a:solidFill>
                            <a:srgbClr val="000000"/>
                          </a:solidFill>
                          <a:effectLst/>
                          <a:latin typeface="Calibri" panose="020F0502020204030204" pitchFamily="34" charset="0"/>
                        </a:rPr>
                        <a:t>6</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A891</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6801315"/>
                  </a:ext>
                </a:extLst>
              </a:tr>
              <a:tr h="409368">
                <a:tc>
                  <a:txBody>
                    <a:bodyPr/>
                    <a:lstStyle/>
                    <a:p>
                      <a:pPr algn="ctr" fontAlgn="ctr"/>
                      <a:r>
                        <a:rPr lang="en-US" sz="1300" b="0" i="0" u="none" strike="noStrike">
                          <a:solidFill>
                            <a:srgbClr val="000000"/>
                          </a:solidFill>
                          <a:effectLst/>
                          <a:latin typeface="Calibri" panose="020F0502020204030204" pitchFamily="34" charset="0"/>
                        </a:rPr>
                        <a:t>7</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A892</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ENGINE: #2/21368 ON AIRCRAFT VN-A892: P25 MEASUREMENT ERROR -&gt; Đã thực hiện t/s theo khuyến cáo của RR </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11817933"/>
                  </a:ext>
                </a:extLst>
              </a:tr>
              <a:tr h="409368">
                <a:tc>
                  <a:txBody>
                    <a:bodyPr/>
                    <a:lstStyle/>
                    <a:p>
                      <a:pPr algn="ctr" fontAlgn="ctr"/>
                      <a:r>
                        <a:rPr lang="en-US" sz="1300" b="0" i="0" u="none" strike="noStrike">
                          <a:solidFill>
                            <a:srgbClr val="000000"/>
                          </a:solidFill>
                          <a:effectLst/>
                          <a:latin typeface="Calibri" panose="020F0502020204030204" pitchFamily="34" charset="0"/>
                        </a:rPr>
                        <a:t>8</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A893</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1. Không chọn chuyên cơ do động cơ số 2 S/N 21369 tiêu hao dầu nhờn cao, Rolls-Royce chưa đưa ra được giải pháp khắc phục.</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62382576"/>
                  </a:ext>
                </a:extLst>
              </a:tr>
              <a:tr h="206168">
                <a:tc>
                  <a:txBody>
                    <a:bodyPr/>
                    <a:lstStyle/>
                    <a:p>
                      <a:pPr algn="ctr" fontAlgn="ctr"/>
                      <a:r>
                        <a:rPr lang="en-US" sz="1300" b="0" i="0" u="none" strike="noStrike">
                          <a:solidFill>
                            <a:srgbClr val="000000"/>
                          </a:solidFill>
                          <a:effectLst/>
                          <a:latin typeface="Calibri" panose="020F0502020204030204" pitchFamily="34" charset="0"/>
                        </a:rPr>
                        <a:t>9</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A894</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21425 giảm tần suất soi HPT blade 800FH/100FC ( giảm 600FH/75FC)</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50094555"/>
                  </a:ext>
                </a:extLst>
              </a:tr>
              <a:tr h="409368">
                <a:tc>
                  <a:txBody>
                    <a:bodyPr/>
                    <a:lstStyle/>
                    <a:p>
                      <a:pPr algn="ctr" fontAlgn="ctr"/>
                      <a:r>
                        <a:rPr lang="en-US" sz="1300" b="0" i="0" u="none" strike="noStrike">
                          <a:solidFill>
                            <a:srgbClr val="000000"/>
                          </a:solidFill>
                          <a:effectLst/>
                          <a:latin typeface="Calibri" panose="020F0502020204030204" pitchFamily="34" charset="0"/>
                        </a:rPr>
                        <a:t>10</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A895</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ADD B995 RAISED ENGINE #1 SN 21604 HAVE LOW LIFE TIME </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2. ADD B996 RAISED ENGINE #2 SN 21414 HAVE LOW LIFE TIME</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15299685"/>
                  </a:ext>
                </a:extLst>
              </a:tr>
              <a:tr h="206168">
                <a:tc>
                  <a:txBody>
                    <a:bodyPr/>
                    <a:lstStyle/>
                    <a:p>
                      <a:pPr algn="ctr" fontAlgn="ctr"/>
                      <a:r>
                        <a:rPr lang="en-US" sz="1300" b="0" i="0" u="none" strike="noStrike">
                          <a:solidFill>
                            <a:srgbClr val="000000"/>
                          </a:solidFill>
                          <a:effectLst/>
                          <a:latin typeface="Calibri" panose="020F0502020204030204" pitchFamily="34" charset="0"/>
                        </a:rPr>
                        <a:t>11</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A896</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TR 81416394: PREVENTIVE RECOMMENDATION PACK 1 INTERNAL LEAKAGE</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08431039"/>
                  </a:ext>
                </a:extLst>
              </a:tr>
              <a:tr h="409368">
                <a:tc>
                  <a:txBody>
                    <a:bodyPr/>
                    <a:lstStyle/>
                    <a:p>
                      <a:pPr algn="ctr" fontAlgn="ctr"/>
                      <a:r>
                        <a:rPr lang="en-US" sz="1300" b="0" i="0" u="none" strike="noStrike">
                          <a:solidFill>
                            <a:srgbClr val="000000"/>
                          </a:solidFill>
                          <a:effectLst/>
                          <a:latin typeface="Calibri" panose="020F0502020204030204" pitchFamily="34" charset="0"/>
                        </a:rPr>
                        <a:t>12</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A897</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21214 giảm tần suất soi heatshield 2400FH/400FC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A897 có logo Skyteam</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24659250"/>
                  </a:ext>
                </a:extLst>
              </a:tr>
              <a:tr h="649207">
                <a:tc>
                  <a:txBody>
                    <a:bodyPr/>
                    <a:lstStyle/>
                    <a:p>
                      <a:pPr algn="ctr" fontAlgn="ctr"/>
                      <a:r>
                        <a:rPr lang="en-US" sz="1300" b="0" i="0" u="none" strike="noStrike">
                          <a:solidFill>
                            <a:srgbClr val="000000"/>
                          </a:solidFill>
                          <a:effectLst/>
                          <a:latin typeface="Calibri" panose="020F0502020204030204" pitchFamily="34" charset="0"/>
                        </a:rPr>
                        <a:t>13</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A898</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1 21214 giảm tần suất soi heatshield 2400FH/400FC. Eng 2 21268 giảm tần suất soi HPT blade 800FH/100FC</a:t>
                      </a:r>
                      <a:br>
                        <a:rPr lang="en-US" sz="1300" b="0" i="0" u="none" strike="noStrike">
                          <a:solidFill>
                            <a:srgbClr val="000000"/>
                          </a:solidFill>
                          <a:effectLst/>
                          <a:latin typeface="Calibri" panose="020F0502020204030204" pitchFamily="34" charset="0"/>
                        </a:rPr>
                      </a:br>
                      <a:endParaRPr lang="en-US" sz="1300" b="0" i="0" u="none" strike="noStrike">
                        <a:solidFill>
                          <a:srgbClr val="000000"/>
                        </a:solidFill>
                        <a:effectLst/>
                        <a:latin typeface="Calibri" panose="020F0502020204030204" pitchFamily="34" charset="0"/>
                      </a:endParaRP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81461555"/>
                  </a:ext>
                </a:extLst>
              </a:tr>
              <a:tr h="206168">
                <a:tc>
                  <a:txBody>
                    <a:bodyPr/>
                    <a:lstStyle/>
                    <a:p>
                      <a:pPr algn="ctr" fontAlgn="ctr"/>
                      <a:r>
                        <a:rPr lang="en-US" sz="1300" b="0" i="0" u="none" strike="noStrike">
                          <a:solidFill>
                            <a:srgbClr val="000000"/>
                          </a:solidFill>
                          <a:effectLst/>
                          <a:latin typeface="Calibri" panose="020F0502020204030204" pitchFamily="34" charset="0"/>
                        </a:rPr>
                        <a:t>14</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A899</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AOG</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ENG1 STALL</a:t>
                      </a:r>
                    </a:p>
                  </a:txBody>
                  <a:tcPr marL="2968" marR="2968" marT="29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69737051"/>
                  </a:ext>
                </a:extLst>
              </a:tr>
            </a:tbl>
          </a:graphicData>
        </a:graphic>
      </p:graphicFrame>
    </p:spTree>
    <p:extLst>
      <p:ext uri="{BB962C8B-B14F-4D97-AF65-F5344CB8AC3E}">
        <p14:creationId xmlns:p14="http://schemas.microsoft.com/office/powerpoint/2010/main" val="37994608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4" name="Google Shape;82;p7">
            <a:extLst>
              <a:ext uri="{FF2B5EF4-FFF2-40B4-BE49-F238E27FC236}">
                <a16:creationId xmlns:a16="http://schemas.microsoft.com/office/drawing/2014/main" id="{E8C503CE-18C5-4A3D-AD46-240DA1F966DC}"/>
              </a:ext>
            </a:extLst>
          </p:cNvPr>
          <p:cNvSpPr txBox="1"/>
          <p:nvPr/>
        </p:nvSpPr>
        <p:spPr>
          <a:xfrm>
            <a:off x="212083" y="107143"/>
            <a:ext cx="8438437"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5914447B-A879-4C97-AD62-7AFABAF9410A}"/>
              </a:ext>
            </a:extLst>
          </p:cNvPr>
          <p:cNvSpPr/>
          <p:nvPr/>
        </p:nvSpPr>
        <p:spPr>
          <a:xfrm>
            <a:off x="210231" y="535899"/>
            <a:ext cx="11769687" cy="3539430"/>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A3</a:t>
            </a:r>
            <a:r>
              <a:rPr lang="en-US" sz="1600">
                <a:solidFill>
                  <a:prstClr val="black"/>
                </a:solidFill>
                <a:latin typeface="Times New Roman" panose="02020603050405020304" pitchFamily="18" charset="0"/>
                <a:cs typeface="Times New Roman" panose="02020603050405020304" pitchFamily="18" charset="0"/>
              </a:rPr>
              <a:t>50 trong tuần tương đối tốt tuy nhiên A899 tiếp tục AOG chờ thay động cơ tại SGN.</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US" sz="1600">
                <a:latin typeface="Times New Roman" panose="02020603050405020304" pitchFamily="18" charset="0"/>
                <a:cs typeface="Times New Roman" panose="02020603050405020304" pitchFamily="18" charset="0"/>
              </a:rPr>
              <a:t>+ A899 ngày 13/04 GTB VN607 SGN-BKK do ENG1 STALL, tàu cần thay động cơ với dự kiến 27/04 có động cơ tại SGN và ngày 04/05 tàu trở lại khai thác.</a:t>
            </a:r>
          </a:p>
          <a:p>
            <a:pPr marL="609585" lvl="1" algn="just"/>
            <a:r>
              <a:rPr lang="vi-VN" sz="1600">
                <a:solidFill>
                  <a:srgbClr val="FF0000"/>
                </a:solidFill>
                <a:latin typeface="Times New Roman" panose="02020603050405020304" pitchFamily="18" charset="0"/>
                <a:cs typeface="Times New Roman" panose="02020603050405020304" pitchFamily="18" charset="0"/>
              </a:rPr>
              <a:t>Khi kiểm tra theo khuyến cáo của RR cho trường hợp động cơ hút phải băng (soi IPC tầng 1, 2, 4) phát hiện một lá IPC tầng 2 bị mất vật liệu. Khả năng đây là nguyên nhân trực tiếp gây ra stall nhất thời, tuy nhiên do hỏng hóc nhỏ nên động cơ ổn định lại được và khai thác tiếp bình thường. </a:t>
            </a:r>
          </a:p>
          <a:p>
            <a:pPr marL="609585" lvl="1" algn="just"/>
            <a:r>
              <a:rPr lang="vi-VN" sz="1600">
                <a:solidFill>
                  <a:srgbClr val="FF0000"/>
                </a:solidFill>
                <a:latin typeface="Times New Roman" panose="02020603050405020304" pitchFamily="18" charset="0"/>
                <a:cs typeface="Times New Roman" panose="02020603050405020304" pitchFamily="18" charset="0"/>
              </a:rPr>
              <a:t>Tuy nhiên dữ liệu được Airbus phân tích cho thấy hệ thống anti-icing của động cơ hoạt động bình thường. Ban KT sẽ tiếp tục phối hợp với SQD, Airbus và RR để điều tra thêm. </a:t>
            </a:r>
          </a:p>
          <a:p>
            <a:pPr marL="609585" lvl="1" algn="just"/>
            <a:r>
              <a:rPr lang="vi-VN" sz="1600">
                <a:solidFill>
                  <a:srgbClr val="FF0000"/>
                </a:solidFill>
                <a:latin typeface="Times New Roman" panose="02020603050405020304" pitchFamily="18" charset="0"/>
                <a:cs typeface="Times New Roman" panose="02020603050405020304" pitchFamily="18" charset="0"/>
              </a:rPr>
              <a:t>Hiện NSX đã cấp TV cho phép thực hiện sửa chữa mài lá, tuy nhiên hiện vẫn chưa có lịch chuyên gia sang, thông thường phải mất 2-4 tuần. Do vậy để khắc phục trước cao điểm 30/4, Ban KT sẽ triển khai thay động cơ tại SGN. </a:t>
            </a:r>
          </a:p>
          <a:p>
            <a:pPr marL="609585" lvl="1" algn="just"/>
            <a:r>
              <a:rPr lang="vi-VN" sz="1600">
                <a:solidFill>
                  <a:srgbClr val="FF0000"/>
                </a:solidFill>
                <a:latin typeface="Times New Roman" panose="02020603050405020304" pitchFamily="18" charset="0"/>
                <a:cs typeface="Times New Roman" panose="02020603050405020304" pitchFamily="18" charset="0"/>
              </a:rPr>
              <a:t>ESN: 21316 A899#1  TSN/CSN</a:t>
            </a:r>
          </a:p>
          <a:p>
            <a:pPr marL="609585" lvl="1" algn="just"/>
            <a:r>
              <a:rPr lang="vi-VN" sz="1600">
                <a:solidFill>
                  <a:srgbClr val="FF0000"/>
                </a:solidFill>
                <a:latin typeface="Times New Roman" panose="02020603050405020304" pitchFamily="18" charset="0"/>
                <a:cs typeface="Times New Roman" panose="02020603050405020304" pitchFamily="18" charset="0"/>
              </a:rPr>
              <a:t>20848FH/ 5227FC</a:t>
            </a:r>
            <a:endParaRPr lang="en-US"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6530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FCD2F7F1-EC77-040F-D02F-CB420ADAF06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FE098302-6DCD-71EE-1FBF-9F6961136E89}"/>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97340C5B-610F-40BC-689E-C441111B49A7}"/>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
            </a:r>
            <a:r>
              <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B787</a:t>
            </a:r>
          </a:p>
        </p:txBody>
      </p:sp>
      <p:sp>
        <p:nvSpPr>
          <p:cNvPr id="4" name="TextBox 3">
            <a:extLst>
              <a:ext uri="{FF2B5EF4-FFF2-40B4-BE49-F238E27FC236}">
                <a16:creationId xmlns:a16="http://schemas.microsoft.com/office/drawing/2014/main" id="{130C61D1-F425-C7FC-4F91-76E0FD4C2304}"/>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4</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D48FB457-A375-1917-6C38-EA994CBDA891}"/>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4</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7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3" name="Table 2">
            <a:extLst>
              <a:ext uri="{FF2B5EF4-FFF2-40B4-BE49-F238E27FC236}">
                <a16:creationId xmlns:a16="http://schemas.microsoft.com/office/drawing/2014/main" id="{72EB48D5-1B88-98A1-6C1A-7AB1180F2341}"/>
              </a:ext>
            </a:extLst>
          </p:cNvPr>
          <p:cNvGraphicFramePr>
            <a:graphicFrameLocks noGrp="1"/>
          </p:cNvGraphicFramePr>
          <p:nvPr>
            <p:extLst>
              <p:ext uri="{D42A27DB-BD31-4B8C-83A1-F6EECF244321}">
                <p14:modId xmlns:p14="http://schemas.microsoft.com/office/powerpoint/2010/main" val="699501062"/>
              </p:ext>
            </p:extLst>
          </p:nvPr>
        </p:nvGraphicFramePr>
        <p:xfrm>
          <a:off x="182878" y="1549209"/>
          <a:ext cx="11506200" cy="3273400"/>
        </p:xfrm>
        <a:graphic>
          <a:graphicData uri="http://schemas.openxmlformats.org/drawingml/2006/table">
            <a:tbl>
              <a:tblPr/>
              <a:tblGrid>
                <a:gridCol w="311200">
                  <a:extLst>
                    <a:ext uri="{9D8B030D-6E8A-4147-A177-3AD203B41FA5}">
                      <a16:colId xmlns:a16="http://schemas.microsoft.com/office/drawing/2014/main" val="2381843916"/>
                    </a:ext>
                  </a:extLst>
                </a:gridCol>
                <a:gridCol w="900841">
                  <a:extLst>
                    <a:ext uri="{9D8B030D-6E8A-4147-A177-3AD203B41FA5}">
                      <a16:colId xmlns:a16="http://schemas.microsoft.com/office/drawing/2014/main" val="2244419063"/>
                    </a:ext>
                  </a:extLst>
                </a:gridCol>
                <a:gridCol w="900841">
                  <a:extLst>
                    <a:ext uri="{9D8B030D-6E8A-4147-A177-3AD203B41FA5}">
                      <a16:colId xmlns:a16="http://schemas.microsoft.com/office/drawing/2014/main" val="2155175414"/>
                    </a:ext>
                  </a:extLst>
                </a:gridCol>
                <a:gridCol w="311200">
                  <a:extLst>
                    <a:ext uri="{9D8B030D-6E8A-4147-A177-3AD203B41FA5}">
                      <a16:colId xmlns:a16="http://schemas.microsoft.com/office/drawing/2014/main" val="833446243"/>
                    </a:ext>
                  </a:extLst>
                </a:gridCol>
                <a:gridCol w="2342187">
                  <a:extLst>
                    <a:ext uri="{9D8B030D-6E8A-4147-A177-3AD203B41FA5}">
                      <a16:colId xmlns:a16="http://schemas.microsoft.com/office/drawing/2014/main" val="1995080760"/>
                    </a:ext>
                  </a:extLst>
                </a:gridCol>
                <a:gridCol w="3062861">
                  <a:extLst>
                    <a:ext uri="{9D8B030D-6E8A-4147-A177-3AD203B41FA5}">
                      <a16:colId xmlns:a16="http://schemas.microsoft.com/office/drawing/2014/main" val="3188018420"/>
                    </a:ext>
                  </a:extLst>
                </a:gridCol>
                <a:gridCol w="319389">
                  <a:extLst>
                    <a:ext uri="{9D8B030D-6E8A-4147-A177-3AD203B41FA5}">
                      <a16:colId xmlns:a16="http://schemas.microsoft.com/office/drawing/2014/main" val="3270864221"/>
                    </a:ext>
                  </a:extLst>
                </a:gridCol>
                <a:gridCol w="3357681">
                  <a:extLst>
                    <a:ext uri="{9D8B030D-6E8A-4147-A177-3AD203B41FA5}">
                      <a16:colId xmlns:a16="http://schemas.microsoft.com/office/drawing/2014/main" val="2990893294"/>
                    </a:ext>
                  </a:extLst>
                </a:gridCol>
              </a:tblGrid>
              <a:tr h="108524">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A/C</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OPEN DATE</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CLOSED DATE</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STA</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DEFECT</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ACTION</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ATA</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514944120"/>
                  </a:ext>
                </a:extLst>
              </a:tr>
              <a:tr h="542620">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A879</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02:00 18/04/2025</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11:40 18/04/2025</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HAN</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STS MSG: " ELEC GEN SYS L2" APPEAR AGAIN STS MSG: &amp;#34; ELEC GEN SYS L2&amp;#34;; DO NOT REOPEN ADD B567 DUE TO OVER DEADLINE; T/S FOUND NEED REPLACED VFSG; HAN STOCK NIL SPARE; WAITING SPARE</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ref WO</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Replaced L2 VFSG, test satis.</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Replaced MEDC, ENG run up test passed REPLACED L2 VFSG, TEST SATIS. EVENT CLOSED  </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000" b="0" i="0" u="none" strike="noStrike">
                          <a:solidFill>
                            <a:srgbClr val="000000"/>
                          </a:solidFill>
                          <a:effectLst/>
                          <a:latin typeface="Times New Roman" panose="02020603050405020304" pitchFamily="18" charset="0"/>
                          <a:cs typeface="Times New Roman" panose="02020603050405020304" pitchFamily="18" charset="0"/>
                        </a:rPr>
                        <a:t>Tàu bay trước đó đã thay GCU và VFSG để khắc phục hỏng hóc tuy nhiên sau vài chuyến lại xuất hiện lại FDE: ELEC GEN SYS/OFF với MMSG 24-16592 VFSG oil pressure sensor is failed. Đã thực hiện thay MEDC và VFSG (lần thứ 2) để khắc phục. Hiện nay cảnh báo không xuất hiện lại. Tiếp tục monitor và đợi kết quả SFR để đánh giá thêm. Xem thêm slide đánh giá chi tiết</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55379479"/>
                  </a:ext>
                </a:extLst>
              </a:tr>
              <a:tr h="2061956">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A869</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20:00 17/04/2025</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04:00 18/04/2025</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SGN</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HYD PUMP PRI R AFTER HAN-SGN VN273 A/C HAS MSG: HYD PUMP PRI R</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 A879 CHANGED FLT SGN-HAN/VN256 INSTEAD OFF A869</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000" b="0" i="0" u="none" strike="noStrike" smtClean="0">
                          <a:solidFill>
                            <a:srgbClr val="000000"/>
                          </a:solidFill>
                          <a:effectLst/>
                          <a:latin typeface="Times New Roman" panose="02020603050405020304" pitchFamily="18" charset="0"/>
                          <a:cs typeface="Times New Roman" panose="02020603050405020304" pitchFamily="18" charset="0"/>
                        </a:rPr>
                        <a:t>FINAL </a:t>
                      </a:r>
                      <a:r>
                        <a:rPr lang="vi-VN" sz="1000" b="0" i="0" u="none" strike="noStrike">
                          <a:solidFill>
                            <a:srgbClr val="000000"/>
                          </a:solidFill>
                          <a:effectLst/>
                          <a:latin typeface="Times New Roman" panose="02020603050405020304" pitchFamily="18" charset="0"/>
                          <a:cs typeface="Times New Roman" panose="02020603050405020304" pitchFamily="18" charset="0"/>
                        </a:rPr>
                        <a:t>ACTION:</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C/O RPLD EDP ROB FROM A874. ERU AND OPS TEST SAIIS , A/C SERVICEABLE </a:t>
                      </a:r>
                      <a:r>
                        <a:rPr lang="vi-VN" sz="1000" b="0" i="0" u="none" strike="noStrike" smtClean="0">
                          <a:solidFill>
                            <a:srgbClr val="000000"/>
                          </a:solidFill>
                          <a:effectLst/>
                          <a:latin typeface="Times New Roman" panose="02020603050405020304" pitchFamily="18" charset="0"/>
                          <a:cs typeface="Times New Roman" panose="02020603050405020304" pitchFamily="18" charset="0"/>
                        </a:rPr>
                        <a:t>- </a:t>
                      </a:r>
                      <a:r>
                        <a:rPr lang="vi-VN" sz="1000" b="0" i="0" u="none" strike="noStrike">
                          <a:solidFill>
                            <a:srgbClr val="000000"/>
                          </a:solidFill>
                          <a:effectLst/>
                          <a:latin typeface="Times New Roman" panose="02020603050405020304" pitchFamily="18" charset="0"/>
                          <a:cs typeface="Times New Roman" panose="02020603050405020304" pitchFamily="18" charset="0"/>
                        </a:rPr>
                        <a:t>A/C TOTAL DELAY: 80mins, TECH: 25mins</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29-00</a:t>
                      </a: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000" b="0" i="0" u="none" strike="noStrike" dirty="0">
                          <a:solidFill>
                            <a:srgbClr val="000000"/>
                          </a:solidFill>
                          <a:effectLst/>
                          <a:latin typeface="Times New Roman" panose="02020603050405020304" pitchFamily="18" charset="0"/>
                          <a:cs typeface="Times New Roman" panose="02020603050405020304" pitchFamily="18" charset="0"/>
                        </a:rPr>
                        <a:t>Khi tháo EDP phát hiện shearshaft. BOE cho rằng EDP bị vỡ trục, nguyên nhân có thể do sự ăn khớp không khít giữa Internal shaft và External shaft. OEM đã đưa ra giải pháp sử dụng tool (PN K29006-1) khi lắp EDP (ban hành Apr2022) giúp torque ép sát V clam. VAE cũng đã mua 01 tool này và đặt ở SGN. </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Khối hỏng SN 530651814 nhận từ 18.Aug2020 có TSN 14645FH 1635FC, sau đó từng lắp trên qua 8 tàu thì lần này lắp trên A869, hiện tại có TSN 29832FH 6059FC. Do khối cao giờ nên nguyên nhân cũng có thê từ độ bền mỏi của trục đến giới hạn.</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P KTMB đã yêu cầu VAE báo cáo về việc tuân thủ AMM khi tháo lắp cũng như hỏi thêm BOE về nguyên nhân có thể của hỏng hóc này để có phương án ngăn ngừa.</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endParaRPr lang="vi-VN"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742" marR="3742" marT="3742"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3497561"/>
                  </a:ext>
                </a:extLst>
              </a:tr>
            </a:tbl>
          </a:graphicData>
        </a:graphic>
      </p:graphicFrame>
    </p:spTree>
    <p:extLst>
      <p:ext uri="{BB962C8B-B14F-4D97-AF65-F5344CB8AC3E}">
        <p14:creationId xmlns:p14="http://schemas.microsoft.com/office/powerpoint/2010/main" val="20218665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D2AF5316-2810-C9B5-8E6A-EDE3689A841D}"/>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AF9F6AC3-E516-F6A5-A8B6-0C2A2CE4D401}"/>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D7A9B995-1294-8609-1274-E152DAA6DDEE}"/>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
            </a:r>
            <a:r>
              <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B787</a:t>
            </a:r>
          </a:p>
        </p:txBody>
      </p:sp>
      <p:sp>
        <p:nvSpPr>
          <p:cNvPr id="4" name="TextBox 3">
            <a:extLst>
              <a:ext uri="{FF2B5EF4-FFF2-40B4-BE49-F238E27FC236}">
                <a16:creationId xmlns:a16="http://schemas.microsoft.com/office/drawing/2014/main" id="{77CE0F4B-1C59-45B2-A37D-BFAD5C246910}"/>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4</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17BD7619-571A-36A6-C788-FDA8C8BDDA28}"/>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4</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7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6" name="Table 5">
            <a:extLst>
              <a:ext uri="{FF2B5EF4-FFF2-40B4-BE49-F238E27FC236}">
                <a16:creationId xmlns:a16="http://schemas.microsoft.com/office/drawing/2014/main" id="{A1F04A76-CB9E-CE39-1F14-2661320AA616}"/>
              </a:ext>
            </a:extLst>
          </p:cNvPr>
          <p:cNvGraphicFramePr>
            <a:graphicFrameLocks noGrp="1"/>
          </p:cNvGraphicFramePr>
          <p:nvPr>
            <p:extLst>
              <p:ext uri="{D42A27DB-BD31-4B8C-83A1-F6EECF244321}">
                <p14:modId xmlns:p14="http://schemas.microsoft.com/office/powerpoint/2010/main" val="3094620338"/>
              </p:ext>
            </p:extLst>
          </p:nvPr>
        </p:nvGraphicFramePr>
        <p:xfrm>
          <a:off x="152398" y="1451784"/>
          <a:ext cx="11688715" cy="5219219"/>
        </p:xfrm>
        <a:graphic>
          <a:graphicData uri="http://schemas.openxmlformats.org/drawingml/2006/table">
            <a:tbl>
              <a:tblPr/>
              <a:tblGrid>
                <a:gridCol w="316135">
                  <a:extLst>
                    <a:ext uri="{9D8B030D-6E8A-4147-A177-3AD203B41FA5}">
                      <a16:colId xmlns:a16="http://schemas.microsoft.com/office/drawing/2014/main" val="3733972511"/>
                    </a:ext>
                  </a:extLst>
                </a:gridCol>
                <a:gridCol w="915131">
                  <a:extLst>
                    <a:ext uri="{9D8B030D-6E8A-4147-A177-3AD203B41FA5}">
                      <a16:colId xmlns:a16="http://schemas.microsoft.com/office/drawing/2014/main" val="2845542319"/>
                    </a:ext>
                  </a:extLst>
                </a:gridCol>
                <a:gridCol w="915131">
                  <a:extLst>
                    <a:ext uri="{9D8B030D-6E8A-4147-A177-3AD203B41FA5}">
                      <a16:colId xmlns:a16="http://schemas.microsoft.com/office/drawing/2014/main" val="1407995332"/>
                    </a:ext>
                  </a:extLst>
                </a:gridCol>
                <a:gridCol w="316135">
                  <a:extLst>
                    <a:ext uri="{9D8B030D-6E8A-4147-A177-3AD203B41FA5}">
                      <a16:colId xmlns:a16="http://schemas.microsoft.com/office/drawing/2014/main" val="648182626"/>
                    </a:ext>
                  </a:extLst>
                </a:gridCol>
                <a:gridCol w="2379340">
                  <a:extLst>
                    <a:ext uri="{9D8B030D-6E8A-4147-A177-3AD203B41FA5}">
                      <a16:colId xmlns:a16="http://schemas.microsoft.com/office/drawing/2014/main" val="1687300626"/>
                    </a:ext>
                  </a:extLst>
                </a:gridCol>
                <a:gridCol w="3111445">
                  <a:extLst>
                    <a:ext uri="{9D8B030D-6E8A-4147-A177-3AD203B41FA5}">
                      <a16:colId xmlns:a16="http://schemas.microsoft.com/office/drawing/2014/main" val="2753923911"/>
                    </a:ext>
                  </a:extLst>
                </a:gridCol>
                <a:gridCol w="324456">
                  <a:extLst>
                    <a:ext uri="{9D8B030D-6E8A-4147-A177-3AD203B41FA5}">
                      <a16:colId xmlns:a16="http://schemas.microsoft.com/office/drawing/2014/main" val="4194548674"/>
                    </a:ext>
                  </a:extLst>
                </a:gridCol>
                <a:gridCol w="3410942">
                  <a:extLst>
                    <a:ext uri="{9D8B030D-6E8A-4147-A177-3AD203B41FA5}">
                      <a16:colId xmlns:a16="http://schemas.microsoft.com/office/drawing/2014/main" val="2569202868"/>
                    </a:ext>
                  </a:extLst>
                </a:gridCol>
              </a:tblGrid>
              <a:tr h="70893">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A/C</a:t>
                      </a:r>
                    </a:p>
                  </a:txBody>
                  <a:tcPr marL="2445" marR="2445" marT="24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OPEN DATE</a:t>
                      </a:r>
                    </a:p>
                  </a:txBody>
                  <a:tcPr marL="2445" marR="2445" marT="24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CLOSED DATE</a:t>
                      </a:r>
                    </a:p>
                  </a:txBody>
                  <a:tcPr marL="2445" marR="2445" marT="24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STA</a:t>
                      </a:r>
                    </a:p>
                  </a:txBody>
                  <a:tcPr marL="2445" marR="2445" marT="24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DEFECT</a:t>
                      </a:r>
                    </a:p>
                  </a:txBody>
                  <a:tcPr marL="2445" marR="2445" marT="24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ACTION</a:t>
                      </a:r>
                    </a:p>
                  </a:txBody>
                  <a:tcPr marL="2445" marR="2445" marT="24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ATA</a:t>
                      </a:r>
                    </a:p>
                  </a:txBody>
                  <a:tcPr marL="2445" marR="2445" marT="24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2445" marR="2445" marT="24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4162657879"/>
                  </a:ext>
                </a:extLst>
              </a:tr>
              <a:tr h="2906596">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A865</a:t>
                      </a:r>
                    </a:p>
                  </a:txBody>
                  <a:tcPr marL="2445" marR="2445" marT="24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23:00 14/04/2025</a:t>
                      </a:r>
                    </a:p>
                  </a:txBody>
                  <a:tcPr marL="2445" marR="2445" marT="24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2445" marR="2445" marT="24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SGN</a:t>
                      </a:r>
                    </a:p>
                  </a:txBody>
                  <a:tcPr marL="2445" marR="2445" marT="24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FOUND FUEL LEAK AT PANEL 611HB FOUND FUEL LEAK AT PANEL 611HB NEAR PYLON INBOARD ENG#2</a:t>
                      </a:r>
                      <a:br>
                        <a:rPr lang="en-US" sz="1000" b="0" i="0" u="none" strike="noStrike">
                          <a:solidFill>
                            <a:srgbClr val="000000"/>
                          </a:solidFill>
                          <a:effectLst/>
                          <a:latin typeface="Times New Roman" panose="02020603050405020304" pitchFamily="18" charset="0"/>
                          <a:cs typeface="Times New Roman" panose="02020603050405020304" pitchFamily="18" charset="0"/>
                        </a:rPr>
                      </a:b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2445" marR="2445" marT="24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900" b="0" i="0" u="none" strike="noStrike">
                          <a:solidFill>
                            <a:srgbClr val="000000"/>
                          </a:solidFill>
                          <a:effectLst/>
                          <a:latin typeface="+mn-lt"/>
                        </a:rPr>
                        <a:t>TIMELINE LOCAL TIME</a:t>
                      </a:r>
                      <a:br>
                        <a:rPr lang="vi-VN" sz="900" b="0" i="0" u="none" strike="noStrike">
                          <a:solidFill>
                            <a:srgbClr val="000000"/>
                          </a:solidFill>
                          <a:effectLst/>
                          <a:latin typeface="+mn-lt"/>
                        </a:rPr>
                      </a:br>
                      <a:r>
                        <a:rPr lang="vi-VN" sz="900" b="0" i="0" u="none" strike="noStrike">
                          <a:solidFill>
                            <a:srgbClr val="000000"/>
                          </a:solidFill>
                          <a:effectLst/>
                          <a:latin typeface="+mn-lt"/>
                        </a:rPr>
                        <a:t>14/04</a:t>
                      </a:r>
                      <a:br>
                        <a:rPr lang="vi-VN" sz="900" b="0" i="0" u="none" strike="noStrike">
                          <a:solidFill>
                            <a:srgbClr val="000000"/>
                          </a:solidFill>
                          <a:effectLst/>
                          <a:latin typeface="+mn-lt"/>
                        </a:rPr>
                      </a:br>
                      <a:r>
                        <a:rPr lang="vi-VN" sz="900" b="0" i="0" u="none" strike="noStrike">
                          <a:solidFill>
                            <a:srgbClr val="000000"/>
                          </a:solidFill>
                          <a:effectLst/>
                          <a:latin typeface="+mn-lt"/>
                        </a:rPr>
                        <a:t>- 23:00 CRS BÁO FOUND LEAK FUEL AT PANEL 611HB NEAR PYLON ENG#2</a:t>
                      </a:r>
                      <a:br>
                        <a:rPr lang="vi-VN" sz="900" b="0" i="0" u="none" strike="noStrike">
                          <a:solidFill>
                            <a:srgbClr val="000000"/>
                          </a:solidFill>
                          <a:effectLst/>
                          <a:latin typeface="+mn-lt"/>
                        </a:rPr>
                      </a:br>
                      <a:r>
                        <a:rPr lang="vi-VN" sz="900" b="0" i="0" u="none" strike="noStrike" smtClean="0">
                          <a:solidFill>
                            <a:srgbClr val="000000"/>
                          </a:solidFill>
                          <a:effectLst/>
                          <a:latin typeface="+mn-lt"/>
                        </a:rPr>
                        <a:t>- </a:t>
                      </a:r>
                      <a:r>
                        <a:rPr lang="vi-VN" sz="900" b="0" i="0" u="none" strike="noStrike">
                          <a:solidFill>
                            <a:srgbClr val="000000"/>
                          </a:solidFill>
                          <a:effectLst/>
                          <a:latin typeface="+mn-lt"/>
                        </a:rPr>
                        <a:t>23:40 </a:t>
                      </a:r>
                      <a:r>
                        <a:rPr lang="vi-VN" sz="900" b="0" i="0" u="none" strike="noStrike" smtClean="0">
                          <a:solidFill>
                            <a:srgbClr val="000000"/>
                          </a:solidFill>
                          <a:effectLst/>
                          <a:latin typeface="+mn-lt"/>
                        </a:rPr>
                        <a:t>FOUND </a:t>
                      </a:r>
                      <a:r>
                        <a:rPr lang="vi-VN" sz="900" b="0" i="0" u="none" strike="noStrike">
                          <a:solidFill>
                            <a:srgbClr val="000000"/>
                          </a:solidFill>
                          <a:effectLst/>
                          <a:latin typeface="+mn-lt"/>
                        </a:rPr>
                        <a:t>PANEL 611DB HAD THE DENT(3x1,5CM) AND PANEL 611BB HAD THE DENT(5x3CM) OUT OF LIMIT AND REQUIRE REPAIR (WO </a:t>
                      </a:r>
                      <a:r>
                        <a:rPr lang="vi-VN" sz="900" b="0" i="0" u="none" strike="noStrike" smtClean="0">
                          <a:solidFill>
                            <a:srgbClr val="000000"/>
                          </a:solidFill>
                          <a:effectLst/>
                          <a:latin typeface="+mn-lt"/>
                        </a:rPr>
                        <a:t>7298509</a:t>
                      </a:r>
                      <a:r>
                        <a:rPr lang="vi-VN" sz="900" b="0" i="0" u="none" strike="noStrike">
                          <a:solidFill>
                            <a:srgbClr val="000000"/>
                          </a:solidFill>
                          <a:effectLst/>
                          <a:latin typeface="+mn-lt"/>
                        </a:rPr>
                        <a:t>)</a:t>
                      </a:r>
                      <a:br>
                        <a:rPr lang="vi-VN" sz="900" b="0" i="0" u="none" strike="noStrike">
                          <a:solidFill>
                            <a:srgbClr val="000000"/>
                          </a:solidFill>
                          <a:effectLst/>
                          <a:latin typeface="+mn-lt"/>
                        </a:rPr>
                      </a:br>
                      <a:r>
                        <a:rPr lang="vi-VN" sz="900" b="0" i="0" u="none" strike="noStrike">
                          <a:solidFill>
                            <a:srgbClr val="000000"/>
                          </a:solidFill>
                          <a:effectLst/>
                          <a:latin typeface="+mn-lt"/>
                        </a:rPr>
                        <a:t>15/04</a:t>
                      </a:r>
                      <a:br>
                        <a:rPr lang="vi-VN" sz="900" b="0" i="0" u="none" strike="noStrike">
                          <a:solidFill>
                            <a:srgbClr val="000000"/>
                          </a:solidFill>
                          <a:effectLst/>
                          <a:latin typeface="+mn-lt"/>
                        </a:rPr>
                      </a:br>
                      <a:r>
                        <a:rPr lang="vi-VN" sz="900" b="0" i="0" u="none" strike="noStrike" smtClean="0">
                          <a:solidFill>
                            <a:srgbClr val="000000"/>
                          </a:solidFill>
                          <a:effectLst/>
                          <a:latin typeface="+mn-lt"/>
                        </a:rPr>
                        <a:t>- </a:t>
                      </a:r>
                      <a:r>
                        <a:rPr lang="vi-VN" sz="900" b="0" i="0" u="none" strike="noStrike">
                          <a:solidFill>
                            <a:srgbClr val="000000"/>
                          </a:solidFill>
                          <a:effectLst/>
                          <a:latin typeface="+mn-lt"/>
                        </a:rPr>
                        <a:t>10:04 CÓ EMAIL HDAN CỦA BOE</a:t>
                      </a:r>
                      <a:br>
                        <a:rPr lang="vi-VN" sz="900" b="0" i="0" u="none" strike="noStrike">
                          <a:solidFill>
                            <a:srgbClr val="000000"/>
                          </a:solidFill>
                          <a:effectLst/>
                          <a:latin typeface="+mn-lt"/>
                        </a:rPr>
                      </a:br>
                      <a:r>
                        <a:rPr lang="vi-VN" sz="900" b="0" i="0" u="none" strike="noStrike">
                          <a:solidFill>
                            <a:srgbClr val="000000"/>
                          </a:solidFill>
                          <a:effectLst/>
                          <a:latin typeface="+mn-lt"/>
                        </a:rPr>
                        <a:t>- 11:15 KTRA THEO BOE THÌ KO PHẢI LEAK CHỖ COUPLING BÊN NGOÀI, TIẾP TỤC MỞ PNL 621AB ĐỂ KTRA COUPLING</a:t>
                      </a:r>
                      <a:br>
                        <a:rPr lang="vi-VN" sz="900" b="0" i="0" u="none" strike="noStrike">
                          <a:solidFill>
                            <a:srgbClr val="000000"/>
                          </a:solidFill>
                          <a:effectLst/>
                          <a:latin typeface="+mn-lt"/>
                        </a:rPr>
                      </a:br>
                      <a:r>
                        <a:rPr lang="vi-VN" sz="900" b="0" i="0" u="none" strike="noStrike">
                          <a:solidFill>
                            <a:srgbClr val="000000"/>
                          </a:solidFill>
                          <a:effectLst/>
                          <a:latin typeface="+mn-lt"/>
                        </a:rPr>
                        <a:t>- 12:40 MỞ TIẾP PANEL 621AB KTRA COUPLING: ĐỔ NƯỚC TỪ ĐƯỜNG DRAIN CHẢY RA ĐƯỜNG DRAIN HOLE Ở PANEL 613, THÁO TIẾP SHROUD ĐỂ KIỂM TRA LEAK</a:t>
                      </a:r>
                      <a:br>
                        <a:rPr lang="vi-VN" sz="900" b="0" i="0" u="none" strike="noStrike">
                          <a:solidFill>
                            <a:srgbClr val="000000"/>
                          </a:solidFill>
                          <a:effectLst/>
                          <a:latin typeface="+mn-lt"/>
                        </a:rPr>
                      </a:br>
                      <a:r>
                        <a:rPr lang="vi-VN" sz="900" b="0" i="0" u="none" strike="noStrike">
                          <a:solidFill>
                            <a:srgbClr val="000000"/>
                          </a:solidFill>
                          <a:effectLst/>
                          <a:latin typeface="+mn-lt"/>
                        </a:rPr>
                        <a:t>- 13:45 FOUND SEAL PN: MS29513-226 DAMAGED. </a:t>
                      </a:r>
                      <a:r>
                        <a:rPr lang="vi-VN" sz="900" b="0" i="0" u="none" strike="noStrike" smtClean="0">
                          <a:solidFill>
                            <a:srgbClr val="000000"/>
                          </a:solidFill>
                          <a:effectLst/>
                          <a:latin typeface="+mn-lt"/>
                        </a:rPr>
                        <a:t>TIẾN </a:t>
                      </a:r>
                      <a:r>
                        <a:rPr lang="vi-VN" sz="900" b="0" i="0" u="none" strike="noStrike">
                          <a:solidFill>
                            <a:srgbClr val="000000"/>
                          </a:solidFill>
                          <a:effectLst/>
                          <a:latin typeface="+mn-lt"/>
                        </a:rPr>
                        <a:t>HÀNH THAY</a:t>
                      </a:r>
                      <a:br>
                        <a:rPr lang="vi-VN" sz="900" b="0" i="0" u="none" strike="noStrike">
                          <a:solidFill>
                            <a:srgbClr val="000000"/>
                          </a:solidFill>
                          <a:effectLst/>
                          <a:latin typeface="+mn-lt"/>
                        </a:rPr>
                      </a:br>
                      <a:r>
                        <a:rPr lang="vi-VN" sz="900" b="0" i="0" u="none" strike="noStrike">
                          <a:solidFill>
                            <a:srgbClr val="000000"/>
                          </a:solidFill>
                          <a:effectLst/>
                          <a:latin typeface="+mn-lt"/>
                        </a:rPr>
                        <a:t>- 16:00 THAY SEAL XONG, CHỜ ĐÓNG LẠI CÁC ACCESS PANEL VÀ NỔ MÁY KIỂM LEAK</a:t>
                      </a:r>
                      <a:br>
                        <a:rPr lang="vi-VN" sz="900" b="0" i="0" u="none" strike="noStrike">
                          <a:solidFill>
                            <a:srgbClr val="000000"/>
                          </a:solidFill>
                          <a:effectLst/>
                          <a:latin typeface="+mn-lt"/>
                        </a:rPr>
                      </a:br>
                      <a:r>
                        <a:rPr lang="vi-VN" sz="900" b="0" i="0" u="none" strike="noStrike" smtClean="0">
                          <a:solidFill>
                            <a:srgbClr val="000000"/>
                          </a:solidFill>
                          <a:effectLst/>
                          <a:latin typeface="+mn-lt"/>
                        </a:rPr>
                        <a:t>- </a:t>
                      </a:r>
                      <a:r>
                        <a:rPr lang="vi-VN" sz="900" b="0" i="0" u="none" strike="noStrike">
                          <a:solidFill>
                            <a:srgbClr val="000000"/>
                          </a:solidFill>
                          <a:effectLst/>
                          <a:latin typeface="+mn-lt"/>
                        </a:rPr>
                        <a:t>16:30 MCC TRIỂN KHAI ROB 2 PNL TỪ A874 (STA 17:55) VÀ SCCT STBY NHÂN LỰC TRONG TH LỆCH LỖ SẼ CẦN ADJUST LỖ</a:t>
                      </a:r>
                      <a:br>
                        <a:rPr lang="vi-VN" sz="900" b="0" i="0" u="none" strike="noStrike">
                          <a:solidFill>
                            <a:srgbClr val="000000"/>
                          </a:solidFill>
                          <a:effectLst/>
                          <a:latin typeface="+mn-lt"/>
                        </a:rPr>
                      </a:br>
                      <a:r>
                        <a:rPr lang="vi-VN" sz="900" b="0" i="0" u="none" strike="noStrike">
                          <a:solidFill>
                            <a:srgbClr val="000000"/>
                          </a:solidFill>
                          <a:effectLst/>
                          <a:latin typeface="+mn-lt"/>
                        </a:rPr>
                        <a:t>- 17:15 MCC TRIỂN KHAI WO 7300275 ROB 2 PANEL </a:t>
                      </a:r>
                      <a:r>
                        <a:rPr lang="vi-VN" sz="900" b="0" i="0" u="none" strike="noStrike" smtClean="0">
                          <a:solidFill>
                            <a:srgbClr val="000000"/>
                          </a:solidFill>
                          <a:effectLst/>
                          <a:latin typeface="+mn-lt"/>
                        </a:rPr>
                        <a:t>611BB; </a:t>
                      </a:r>
                      <a:r>
                        <a:rPr lang="vi-VN" sz="900" b="0" i="0" u="none" strike="noStrike">
                          <a:solidFill>
                            <a:srgbClr val="000000"/>
                          </a:solidFill>
                          <a:effectLst/>
                          <a:latin typeface="+mn-lt"/>
                        </a:rPr>
                        <a:t>611DB TỪ A874 SANG CHO A865</a:t>
                      </a:r>
                      <a:br>
                        <a:rPr lang="vi-VN" sz="900" b="0" i="0" u="none" strike="noStrike">
                          <a:solidFill>
                            <a:srgbClr val="000000"/>
                          </a:solidFill>
                          <a:effectLst/>
                          <a:latin typeface="+mn-lt"/>
                        </a:rPr>
                      </a:br>
                      <a:r>
                        <a:rPr lang="vi-VN" sz="900" b="0" i="0" u="none" strike="noStrike" smtClean="0">
                          <a:solidFill>
                            <a:srgbClr val="000000"/>
                          </a:solidFill>
                          <a:effectLst/>
                          <a:latin typeface="+mn-lt"/>
                        </a:rPr>
                        <a:t>- </a:t>
                      </a:r>
                      <a:r>
                        <a:rPr lang="vi-VN" sz="900" b="0" i="0" u="none" strike="noStrike">
                          <a:solidFill>
                            <a:srgbClr val="000000"/>
                          </a:solidFill>
                          <a:effectLst/>
                          <a:latin typeface="+mn-lt"/>
                        </a:rPr>
                        <a:t>01:35 , ERU LEAK CHECK SATIS. A/C SERV FOUND FUEL LEAK AT PANEL 611HB EVENT CLOSED TOTAL AOG 26.5 </a:t>
                      </a:r>
                      <a:r>
                        <a:rPr lang="vi-VN" sz="900" b="0" i="0" u="none" strike="noStrike" smtClean="0">
                          <a:solidFill>
                            <a:srgbClr val="000000"/>
                          </a:solidFill>
                          <a:effectLst/>
                          <a:latin typeface="+mn-lt"/>
                        </a:rPr>
                        <a:t>GIỜ</a:t>
                      </a:r>
                      <a:endParaRPr lang="vi-VN" sz="900" b="0" i="0" u="none" strike="noStrike">
                        <a:solidFill>
                          <a:srgbClr val="000000"/>
                        </a:solidFill>
                        <a:effectLst/>
                        <a:latin typeface="+mn-lt"/>
                      </a:endParaRPr>
                    </a:p>
                  </a:txBody>
                  <a:tcPr marL="2445" marR="2445" marT="24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28-22</a:t>
                      </a:r>
                    </a:p>
                  </a:txBody>
                  <a:tcPr marL="2445" marR="2445" marT="24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000" b="0" i="0" u="none" strike="noStrike">
                          <a:solidFill>
                            <a:srgbClr val="000000"/>
                          </a:solidFill>
                          <a:effectLst/>
                          <a:latin typeface="+mn-lt"/>
                        </a:rPr>
                        <a:t>Kiểm tra phát hiện Eng Fuel Feed Flexible Coupling Packing bị đứt PN MS29513-226</a:t>
                      </a:r>
                      <a:br>
                        <a:rPr lang="vi-VN" sz="1000" b="0" i="0" u="none" strike="noStrike">
                          <a:solidFill>
                            <a:srgbClr val="000000"/>
                          </a:solidFill>
                          <a:effectLst/>
                          <a:latin typeface="+mn-lt"/>
                        </a:rPr>
                      </a:br>
                      <a:r>
                        <a:rPr lang="vi-VN" sz="1000" b="0" i="0" u="none" strike="noStrike">
                          <a:solidFill>
                            <a:srgbClr val="000000"/>
                          </a:solidFill>
                          <a:effectLst/>
                          <a:latin typeface="+mn-lt"/>
                        </a:rPr>
                        <a:t>Packing này được sử dụng rất nhiều vị trí trên máy bay gồm cả ATA 28, 29 và 38.</a:t>
                      </a:r>
                      <a:br>
                        <a:rPr lang="vi-VN" sz="1000" b="0" i="0" u="none" strike="noStrike">
                          <a:solidFill>
                            <a:srgbClr val="000000"/>
                          </a:solidFill>
                          <a:effectLst/>
                          <a:latin typeface="+mn-lt"/>
                        </a:rPr>
                      </a:br>
                      <a:r>
                        <a:rPr lang="vi-VN" sz="1000" b="0" i="0" u="none" strike="noStrike">
                          <a:solidFill>
                            <a:srgbClr val="000000"/>
                          </a:solidFill>
                          <a:effectLst/>
                          <a:latin typeface="+mn-lt"/>
                        </a:rPr>
                        <a:t>Hỏng hóc có thể do seal bị khô nứt hoặc sai trong quá trình bảo dưỡng lắp đặt. Hiện BOE cũng không có nội dung nào liên quan đến kiểm tra, nâng cấp Seal này.</a:t>
                      </a:r>
                      <a:br>
                        <a:rPr lang="vi-VN" sz="1000" b="0" i="0" u="none" strike="noStrike">
                          <a:solidFill>
                            <a:srgbClr val="000000"/>
                          </a:solidFill>
                          <a:effectLst/>
                          <a:latin typeface="+mn-lt"/>
                        </a:rPr>
                      </a:br>
                      <a:endParaRPr lang="vi-VN" sz="1000" b="0" i="0" u="none" strike="noStrike">
                        <a:solidFill>
                          <a:srgbClr val="000000"/>
                        </a:solidFill>
                        <a:effectLst/>
                        <a:latin typeface="+mn-lt"/>
                      </a:endParaRPr>
                    </a:p>
                  </a:txBody>
                  <a:tcPr marL="2445" marR="2445" marT="24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47064540"/>
                  </a:ext>
                </a:extLst>
              </a:tr>
              <a:tr h="1373849">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A879</a:t>
                      </a:r>
                    </a:p>
                  </a:txBody>
                  <a:tcPr marL="2445" marR="2445" marT="24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19:00 17/04/2025</a:t>
                      </a:r>
                    </a:p>
                  </a:txBody>
                  <a:tcPr marL="2445" marR="2445" marT="24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19:45 17/04/2025</a:t>
                      </a:r>
                    </a:p>
                  </a:txBody>
                  <a:tcPr marL="2445" marR="2445" marT="24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New Roman" panose="02020603050405020304" pitchFamily="18" charset="0"/>
                          <a:cs typeface="Times New Roman" panose="02020603050405020304" pitchFamily="18" charset="0"/>
                        </a:rPr>
                        <a:t>SGN</a:t>
                      </a:r>
                    </a:p>
                  </a:txBody>
                  <a:tcPr marL="2445" marR="2445" marT="24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000" b="0" i="0" u="none" strike="noStrike" dirty="0">
                          <a:solidFill>
                            <a:srgbClr val="000000"/>
                          </a:solidFill>
                          <a:effectLst/>
                          <a:latin typeface="Times New Roman" panose="02020603050405020304" pitchFamily="18" charset="0"/>
                          <a:cs typeface="Times New Roman" panose="02020603050405020304" pitchFamily="18" charset="0"/>
                        </a:rPr>
                        <a:t>ELEC GEN SYS  L2 AFTER VN246 HAN-SGN A/C HAS STS MSG: ELEC GEN SYS L2, A/C CHANGED</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DO ĐÃ CÓ ADD B567HẾT NHÂN NHƯỢNG NGÀY 16/04/25 , NÊN KHÔNG THỂ RE-OPEN ADD FOR VFSG INOP ,</a:t>
                      </a:r>
                    </a:p>
                  </a:txBody>
                  <a:tcPr marL="2445" marR="2445" marT="24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900" b="0" i="0" u="none" strike="noStrike" smtClean="0">
                          <a:solidFill>
                            <a:srgbClr val="000000"/>
                          </a:solidFill>
                          <a:effectLst/>
                          <a:latin typeface="+mn-lt"/>
                        </a:rPr>
                        <a:t>FINAL </a:t>
                      </a:r>
                      <a:r>
                        <a:rPr lang="vi-VN" sz="900" b="0" i="0" u="none" strike="noStrike" dirty="0">
                          <a:solidFill>
                            <a:srgbClr val="000000"/>
                          </a:solidFill>
                          <a:effectLst/>
                          <a:latin typeface="+mn-lt"/>
                        </a:rPr>
                        <a:t>ACTION:</a:t>
                      </a:r>
                      <a:br>
                        <a:rPr lang="vi-VN" sz="900" b="0" i="0" u="none" strike="noStrike" dirty="0">
                          <a:solidFill>
                            <a:srgbClr val="000000"/>
                          </a:solidFill>
                          <a:effectLst/>
                          <a:latin typeface="+mn-lt"/>
                        </a:rPr>
                      </a:br>
                      <a:r>
                        <a:rPr lang="vi-VN" sz="900" b="0" i="0" u="none" strike="noStrike" dirty="0">
                          <a:solidFill>
                            <a:srgbClr val="000000"/>
                          </a:solidFill>
                          <a:effectLst/>
                          <a:latin typeface="+mn-lt"/>
                        </a:rPr>
                        <a:t>- REF FIM TASK AND C/O CB RESET, ERU AND OPS TEST SATIS,</a:t>
                      </a:r>
                      <a:br>
                        <a:rPr lang="vi-VN" sz="900" b="0" i="0" u="none" strike="noStrike" dirty="0">
                          <a:solidFill>
                            <a:srgbClr val="000000"/>
                          </a:solidFill>
                          <a:effectLst/>
                          <a:latin typeface="+mn-lt"/>
                        </a:rPr>
                      </a:br>
                      <a:r>
                        <a:rPr lang="vi-VN" sz="900" b="0" i="0" u="none" strike="noStrike" dirty="0">
                          <a:solidFill>
                            <a:srgbClr val="000000"/>
                          </a:solidFill>
                          <a:effectLst/>
                          <a:latin typeface="+mn-lt"/>
                        </a:rPr>
                        <a:t>- C/O WO T/S ELEC GEN SYS L2 . WIRING CHK VOLTAGE PIN 4-5 OF CONNECTOR DM2421002P03 : 30.64 VDC SATIS</a:t>
                      </a:r>
                      <a:br>
                        <a:rPr lang="vi-VN" sz="900" b="0" i="0" u="none" strike="noStrike" dirty="0">
                          <a:solidFill>
                            <a:srgbClr val="000000"/>
                          </a:solidFill>
                          <a:effectLst/>
                          <a:latin typeface="+mn-lt"/>
                        </a:rPr>
                      </a:br>
                      <a:r>
                        <a:rPr lang="vi-VN" sz="900" b="0" i="0" u="none" strike="noStrike" dirty="0">
                          <a:solidFill>
                            <a:srgbClr val="000000"/>
                          </a:solidFill>
                          <a:effectLst/>
                          <a:latin typeface="+mn-lt"/>
                        </a:rPr>
                        <a:t>A/C SERVICEABLE</a:t>
                      </a:r>
                      <a:r>
                        <a:rPr lang="vi-VN" sz="900" b="0" i="0" u="none" strike="noStrike">
                          <a:solidFill>
                            <a:srgbClr val="000000"/>
                          </a:solidFill>
                          <a:effectLst/>
                          <a:latin typeface="+mn-lt"/>
                        </a:rPr>
                        <a:t>. </a:t>
                      </a:r>
                      <a:r>
                        <a:rPr lang="vi-VN" sz="900" b="0" i="0" u="none" strike="noStrike" smtClean="0">
                          <a:solidFill>
                            <a:srgbClr val="000000"/>
                          </a:solidFill>
                          <a:effectLst/>
                          <a:latin typeface="+mn-lt"/>
                        </a:rPr>
                        <a:t>A/C </a:t>
                      </a:r>
                      <a:r>
                        <a:rPr lang="vi-VN" sz="900" b="0" i="0" u="none" strike="noStrike" dirty="0">
                          <a:solidFill>
                            <a:srgbClr val="000000"/>
                          </a:solidFill>
                          <a:effectLst/>
                          <a:latin typeface="+mn-lt"/>
                        </a:rPr>
                        <a:t>TOTAL DELAY: 48mins, TECH: 0mins, A/C ARRIVE LATE: 34mins</a:t>
                      </a:r>
                    </a:p>
                  </a:txBody>
                  <a:tcPr marL="2445" marR="2445" marT="24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24-00</a:t>
                      </a:r>
                    </a:p>
                  </a:txBody>
                  <a:tcPr marL="2445" marR="2445" marT="24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000" b="0" i="0" u="none" strike="noStrike" dirty="0">
                          <a:solidFill>
                            <a:srgbClr val="000000"/>
                          </a:solidFill>
                          <a:effectLst/>
                          <a:latin typeface="+mn-lt"/>
                        </a:rPr>
                        <a:t>Tàu bay trước đó đã thay GCU và VFSG để khắc phục hỏng hóc tuy nhiên sau vài chuyến lại xuất hiện lại FDE: ELEC GEN SYS/OFF với MMSG 24-16592 VFSG oil pressure sensor is failed. Đã thực hiện thay MEDC và VFSG (lần thứ 2) để khắc phục. Hiện nay cảnh báo không xuất hiện lại. Tiếp tục monitor và đợi kết quả SFR để đánh giá thêm. Xem thêm slide đánh giá chi tiết.</a:t>
                      </a:r>
                      <a:br>
                        <a:rPr lang="vi-VN" sz="1000" b="0" i="0" u="none" strike="noStrike" dirty="0">
                          <a:solidFill>
                            <a:srgbClr val="000000"/>
                          </a:solidFill>
                          <a:effectLst/>
                          <a:latin typeface="+mn-lt"/>
                        </a:rPr>
                      </a:br>
                      <a:endParaRPr lang="vi-VN" sz="1000" b="0" i="0" u="none" strike="noStrike" dirty="0">
                        <a:solidFill>
                          <a:srgbClr val="000000"/>
                        </a:solidFill>
                        <a:effectLst/>
                        <a:latin typeface="+mn-lt"/>
                      </a:endParaRPr>
                    </a:p>
                  </a:txBody>
                  <a:tcPr marL="2445" marR="2445" marT="24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64846918"/>
                  </a:ext>
                </a:extLst>
              </a:tr>
            </a:tbl>
          </a:graphicData>
        </a:graphic>
      </p:graphicFrame>
    </p:spTree>
    <p:extLst>
      <p:ext uri="{BB962C8B-B14F-4D97-AF65-F5344CB8AC3E}">
        <p14:creationId xmlns:p14="http://schemas.microsoft.com/office/powerpoint/2010/main" val="6767284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6DE5A5B-A26D-8C50-5840-2CEF7AB2FCA5}"/>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52EB31AE-1E7E-96A2-7CE6-00EE9F1D7651}"/>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796C7C24-6C35-D745-5AF6-C474AA6239D6}"/>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
            </a:r>
            <a:r>
              <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B787</a:t>
            </a:r>
          </a:p>
        </p:txBody>
      </p:sp>
      <p:sp>
        <p:nvSpPr>
          <p:cNvPr id="4" name="TextBox 3">
            <a:extLst>
              <a:ext uri="{FF2B5EF4-FFF2-40B4-BE49-F238E27FC236}">
                <a16:creationId xmlns:a16="http://schemas.microsoft.com/office/drawing/2014/main" id="{AFBDB7AA-5A32-85DD-5F17-28985908EDA9}"/>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7</a:t>
            </a:r>
          </a:p>
        </p:txBody>
      </p:sp>
      <p:sp>
        <p:nvSpPr>
          <p:cNvPr id="9" name="TextBox 8">
            <a:extLst>
              <a:ext uri="{FF2B5EF4-FFF2-40B4-BE49-F238E27FC236}">
                <a16:creationId xmlns:a16="http://schemas.microsoft.com/office/drawing/2014/main" id="{6F4FE76F-7319-5447-EF60-65D90651D228}"/>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4</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7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F7E646D3-DC8B-86C5-31C9-08E631287AA2}"/>
              </a:ext>
            </a:extLst>
          </p:cNvPr>
          <p:cNvGraphicFramePr>
            <a:graphicFrameLocks noGrp="1"/>
          </p:cNvGraphicFramePr>
          <p:nvPr>
            <p:extLst>
              <p:ext uri="{D42A27DB-BD31-4B8C-83A1-F6EECF244321}">
                <p14:modId xmlns:p14="http://schemas.microsoft.com/office/powerpoint/2010/main" val="2131232262"/>
              </p:ext>
            </p:extLst>
          </p:nvPr>
        </p:nvGraphicFramePr>
        <p:xfrm>
          <a:off x="152398" y="1433157"/>
          <a:ext cx="11658603" cy="5266308"/>
        </p:xfrm>
        <a:graphic>
          <a:graphicData uri="http://schemas.openxmlformats.org/drawingml/2006/table">
            <a:tbl>
              <a:tblPr/>
              <a:tblGrid>
                <a:gridCol w="288241">
                  <a:extLst>
                    <a:ext uri="{9D8B030D-6E8A-4147-A177-3AD203B41FA5}">
                      <a16:colId xmlns:a16="http://schemas.microsoft.com/office/drawing/2014/main" val="4131362466"/>
                    </a:ext>
                  </a:extLst>
                </a:gridCol>
                <a:gridCol w="834382">
                  <a:extLst>
                    <a:ext uri="{9D8B030D-6E8A-4147-A177-3AD203B41FA5}">
                      <a16:colId xmlns:a16="http://schemas.microsoft.com/office/drawing/2014/main" val="1785518426"/>
                    </a:ext>
                  </a:extLst>
                </a:gridCol>
                <a:gridCol w="288241">
                  <a:extLst>
                    <a:ext uri="{9D8B030D-6E8A-4147-A177-3AD203B41FA5}">
                      <a16:colId xmlns:a16="http://schemas.microsoft.com/office/drawing/2014/main" val="3216648026"/>
                    </a:ext>
                  </a:extLst>
                </a:gridCol>
                <a:gridCol w="570338">
                  <a:extLst>
                    <a:ext uri="{9D8B030D-6E8A-4147-A177-3AD203B41FA5}">
                      <a16:colId xmlns:a16="http://schemas.microsoft.com/office/drawing/2014/main" val="3746359936"/>
                    </a:ext>
                  </a:extLst>
                </a:gridCol>
                <a:gridCol w="457200">
                  <a:extLst>
                    <a:ext uri="{9D8B030D-6E8A-4147-A177-3AD203B41FA5}">
                      <a16:colId xmlns:a16="http://schemas.microsoft.com/office/drawing/2014/main" val="1610784580"/>
                    </a:ext>
                  </a:extLst>
                </a:gridCol>
                <a:gridCol w="457200">
                  <a:extLst>
                    <a:ext uri="{9D8B030D-6E8A-4147-A177-3AD203B41FA5}">
                      <a16:colId xmlns:a16="http://schemas.microsoft.com/office/drawing/2014/main" val="1971569680"/>
                    </a:ext>
                  </a:extLst>
                </a:gridCol>
                <a:gridCol w="2362200">
                  <a:extLst>
                    <a:ext uri="{9D8B030D-6E8A-4147-A177-3AD203B41FA5}">
                      <a16:colId xmlns:a16="http://schemas.microsoft.com/office/drawing/2014/main" val="1693216106"/>
                    </a:ext>
                  </a:extLst>
                </a:gridCol>
                <a:gridCol w="2362200">
                  <a:extLst>
                    <a:ext uri="{9D8B030D-6E8A-4147-A177-3AD203B41FA5}">
                      <a16:colId xmlns:a16="http://schemas.microsoft.com/office/drawing/2014/main" val="1519823970"/>
                    </a:ext>
                  </a:extLst>
                </a:gridCol>
                <a:gridCol w="381000">
                  <a:extLst>
                    <a:ext uri="{9D8B030D-6E8A-4147-A177-3AD203B41FA5}">
                      <a16:colId xmlns:a16="http://schemas.microsoft.com/office/drawing/2014/main" val="3437813945"/>
                    </a:ext>
                  </a:extLst>
                </a:gridCol>
                <a:gridCol w="3657601">
                  <a:extLst>
                    <a:ext uri="{9D8B030D-6E8A-4147-A177-3AD203B41FA5}">
                      <a16:colId xmlns:a16="http://schemas.microsoft.com/office/drawing/2014/main" val="2165781464"/>
                    </a:ext>
                  </a:extLst>
                </a:gridCol>
              </a:tblGrid>
              <a:tr h="99204">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A/C</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STA</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ROUTE</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ATA</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154968580"/>
                  </a:ext>
                </a:extLst>
              </a:tr>
              <a:tr h="396815">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A861</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23:55 17/04/2025</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MUC</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98</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VN32</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MUC-SGN</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MSG IRU ALIGN MODE R WHILE WAITING FOR TAXI, CAPT REQUEST RETURN TO GATE DUE TO FOUND MSG IRU ALIGN MODE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R</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IRU R RESET SATIS, MSG GONE RESET SATIS EVENT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CLOSE</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34-20</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900" b="0" i="0" u="none" strike="noStrike">
                          <a:solidFill>
                            <a:srgbClr val="000000"/>
                          </a:solidFill>
                          <a:effectLst/>
                          <a:latin typeface="Times New Roman" panose="02020603050405020304" pitchFamily="18" charset="0"/>
                          <a:cs typeface="Times New Roman" panose="02020603050405020304" pitchFamily="18" charset="0"/>
                        </a:rPr>
                        <a:t>Do tín hiệu GPS tại sân bay ở khu vực Châu Âu nên ảnh hưởng đến các thiết bị cần lấy tín hiệu GPS để hoạt động như IRU. Sau khi reset IRU thì tín hiệu GPS và hệ thống tàu bay đã hoạt động trở lại</a:t>
                      </a:r>
                      <a:r>
                        <a:rPr lang="vi-VN" sz="900" b="0" i="0" u="none" strike="noStrike" smtClean="0">
                          <a:solidFill>
                            <a:srgbClr val="000000"/>
                          </a:solidFill>
                          <a:effectLst/>
                          <a:latin typeface="Times New Roman" panose="02020603050405020304" pitchFamily="18" charset="0"/>
                          <a:cs typeface="Times New Roman" panose="02020603050405020304" pitchFamily="18" charset="0"/>
                        </a:rPr>
                        <a:t>.</a:t>
                      </a:r>
                      <a:endParaRPr lang="vi-VN" sz="900" b="0" i="0" u="none" strike="noStrike">
                        <a:solidFill>
                          <a:srgbClr val="000000"/>
                        </a:solidFill>
                        <a:effectLst/>
                        <a:latin typeface="Times New Roman" panose="02020603050405020304" pitchFamily="18" charset="0"/>
                        <a:cs typeface="Times New Roman" panose="02020603050405020304" pitchFamily="18" charset="0"/>
                      </a:endParaRP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808626"/>
                  </a:ext>
                </a:extLst>
              </a:tr>
              <a:tr h="1686464">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A869</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20:00 17/04/2025</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SGN</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25</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VN273</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SGN-HAN</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HYD PUMP PRI R AFTER HAN-SGN VN273 A/C HAS MSG: HYD PUMP PRI R</a:t>
                      </a:r>
                      <a:br>
                        <a:rPr lang="en-US" sz="900" b="0" i="0" u="none" strike="noStrike">
                          <a:solidFill>
                            <a:srgbClr val="000000"/>
                          </a:solidFill>
                          <a:effectLst/>
                          <a:latin typeface="Times New Roman" panose="02020603050405020304" pitchFamily="18" charset="0"/>
                          <a:cs typeface="Times New Roman" panose="02020603050405020304" pitchFamily="18" charset="0"/>
                        </a:rPr>
                      </a:br>
                      <a:r>
                        <a:rPr lang="en-US" sz="900" b="0" i="0" u="none" strike="noStrike">
                          <a:solidFill>
                            <a:srgbClr val="000000"/>
                          </a:solidFill>
                          <a:effectLst/>
                          <a:latin typeface="Times New Roman" panose="02020603050405020304" pitchFamily="18" charset="0"/>
                          <a:cs typeface="Times New Roman" panose="02020603050405020304" pitchFamily="18" charset="0"/>
                        </a:rPr>
                        <a:t>- A879 CHANGED FLT SGN-HAN/VN256 INSTEAD OFF A869</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900" b="0" i="0" u="none" strike="noStrike" smtClean="0">
                          <a:solidFill>
                            <a:srgbClr val="000000"/>
                          </a:solidFill>
                          <a:effectLst/>
                          <a:latin typeface="Times New Roman" panose="02020603050405020304" pitchFamily="18" charset="0"/>
                          <a:cs typeface="Times New Roman" panose="02020603050405020304" pitchFamily="18" charset="0"/>
                        </a:rPr>
                        <a:t>FINAL </a:t>
                      </a:r>
                      <a:r>
                        <a:rPr lang="vi-VN" sz="900" b="0" i="0" u="none" strike="noStrike">
                          <a:solidFill>
                            <a:srgbClr val="000000"/>
                          </a:solidFill>
                          <a:effectLst/>
                          <a:latin typeface="Times New Roman" panose="02020603050405020304" pitchFamily="18" charset="0"/>
                          <a:cs typeface="Times New Roman" panose="02020603050405020304" pitchFamily="18" charset="0"/>
                        </a:rPr>
                        <a:t>ACTION:</a:t>
                      </a:r>
                      <a:br>
                        <a:rPr lang="vi-VN" sz="900" b="0" i="0" u="none" strike="noStrike">
                          <a:solidFill>
                            <a:srgbClr val="000000"/>
                          </a:solidFill>
                          <a:effectLst/>
                          <a:latin typeface="Times New Roman" panose="02020603050405020304" pitchFamily="18" charset="0"/>
                          <a:cs typeface="Times New Roman" panose="02020603050405020304" pitchFamily="18" charset="0"/>
                        </a:rPr>
                      </a:br>
                      <a:r>
                        <a:rPr lang="vi-VN" sz="900" b="0" i="0" u="none" strike="noStrike">
                          <a:solidFill>
                            <a:srgbClr val="000000"/>
                          </a:solidFill>
                          <a:effectLst/>
                          <a:latin typeface="Times New Roman" panose="02020603050405020304" pitchFamily="18" charset="0"/>
                          <a:cs typeface="Times New Roman" panose="02020603050405020304" pitchFamily="18" charset="0"/>
                        </a:rPr>
                        <a:t>C/O RPLD EDP ROB FROM A874. ERU AND OPS TEST SAIIS , A/C SERVICEABLE </a:t>
                      </a:r>
                      <a:r>
                        <a:rPr lang="vi-VN" sz="900" b="0" i="0" u="none" strike="noStrike" smtClean="0">
                          <a:solidFill>
                            <a:srgbClr val="000000"/>
                          </a:solidFill>
                          <a:effectLst/>
                          <a:latin typeface="Times New Roman" panose="02020603050405020304" pitchFamily="18" charset="0"/>
                          <a:cs typeface="Times New Roman" panose="02020603050405020304" pitchFamily="18" charset="0"/>
                        </a:rPr>
                        <a:t>- </a:t>
                      </a:r>
                      <a:r>
                        <a:rPr lang="vi-VN" sz="900" b="0" i="0" u="none" strike="noStrike">
                          <a:solidFill>
                            <a:srgbClr val="000000"/>
                          </a:solidFill>
                          <a:effectLst/>
                          <a:latin typeface="Times New Roman" panose="02020603050405020304" pitchFamily="18" charset="0"/>
                          <a:cs typeface="Times New Roman" panose="02020603050405020304" pitchFamily="18" charset="0"/>
                        </a:rPr>
                        <a:t>A/C TOTAL DELAY: 80mins, TECH: 25mins</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29-00</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900" b="0" i="0" u="none" strike="noStrike">
                          <a:solidFill>
                            <a:srgbClr val="000000"/>
                          </a:solidFill>
                          <a:effectLst/>
                          <a:latin typeface="Times New Roman" panose="02020603050405020304" pitchFamily="18" charset="0"/>
                          <a:cs typeface="Times New Roman" panose="02020603050405020304" pitchFamily="18" charset="0"/>
                        </a:rPr>
                        <a:t>Khi tháo EDP phát hiện shearshaft. BOE cho rằng EDP bị vỡ trục, nguyên nhân có thể do sự ăn khớp không khít giữa Internal shaft và External shaft. OEM đã đưa ra giải pháp sử dụng tool (PN K29006-1) khi lắp EDP (ban hành Apr2022) giúp torque ép sát V clam. VAE cũng đã mua 01 tool này và đặt ở SGN. </a:t>
                      </a:r>
                      <a:br>
                        <a:rPr lang="vi-VN" sz="900" b="0" i="0" u="none" strike="noStrike">
                          <a:solidFill>
                            <a:srgbClr val="000000"/>
                          </a:solidFill>
                          <a:effectLst/>
                          <a:latin typeface="Times New Roman" panose="02020603050405020304" pitchFamily="18" charset="0"/>
                          <a:cs typeface="Times New Roman" panose="02020603050405020304" pitchFamily="18" charset="0"/>
                        </a:rPr>
                      </a:br>
                      <a:r>
                        <a:rPr lang="vi-VN" sz="900" b="0" i="0" u="none" strike="noStrike">
                          <a:solidFill>
                            <a:srgbClr val="000000"/>
                          </a:solidFill>
                          <a:effectLst/>
                          <a:latin typeface="Times New Roman" panose="02020603050405020304" pitchFamily="18" charset="0"/>
                          <a:cs typeface="Times New Roman" panose="02020603050405020304" pitchFamily="18" charset="0"/>
                        </a:rPr>
                        <a:t>Khối hỏng SN 530651814 nhận từ 18.Aug2020 có TSN 14645FH 1635FC, sau đó từng lắp trên qua 8 tàu thì lần này lắp trên A869, hiện tại có TSN 29832FH 6059FC. Do khối cao giờ nên nguyên nhân cũng có thê từ độ bền mỏi của trục đến giới hạn.</a:t>
                      </a:r>
                      <a:br>
                        <a:rPr lang="vi-VN" sz="900" b="0" i="0" u="none" strike="noStrike">
                          <a:solidFill>
                            <a:srgbClr val="000000"/>
                          </a:solidFill>
                          <a:effectLst/>
                          <a:latin typeface="Times New Roman" panose="02020603050405020304" pitchFamily="18" charset="0"/>
                          <a:cs typeface="Times New Roman" panose="02020603050405020304" pitchFamily="18" charset="0"/>
                        </a:rPr>
                      </a:br>
                      <a:r>
                        <a:rPr lang="vi-VN" sz="900" b="0" i="0" u="none" strike="noStrike">
                          <a:solidFill>
                            <a:srgbClr val="000000"/>
                          </a:solidFill>
                          <a:effectLst/>
                          <a:latin typeface="Times New Roman" panose="02020603050405020304" pitchFamily="18" charset="0"/>
                          <a:cs typeface="Times New Roman" panose="02020603050405020304" pitchFamily="18" charset="0"/>
                        </a:rPr>
                        <a:t>P KTMB đã yêu cầu VAE báo cáo về việc tuân thủ AMM khi tháo lắp cũng như hỏi thêm BOE về nguyên nhân có thể của hỏng hóc này để có phương án ngăn ngừa</a:t>
                      </a:r>
                      <a:r>
                        <a:rPr lang="vi-VN" sz="900" b="0" i="0" u="none" strike="noStrike" smtClean="0">
                          <a:solidFill>
                            <a:srgbClr val="000000"/>
                          </a:solidFill>
                          <a:effectLst/>
                          <a:latin typeface="Times New Roman" panose="02020603050405020304" pitchFamily="18" charset="0"/>
                          <a:cs typeface="Times New Roman" panose="02020603050405020304" pitchFamily="18" charset="0"/>
                        </a:rPr>
                        <a:t>.</a:t>
                      </a:r>
                      <a:endParaRPr lang="vi-VN" sz="900" b="0" i="0" u="none" strike="noStrike">
                        <a:solidFill>
                          <a:srgbClr val="000000"/>
                        </a:solidFill>
                        <a:effectLst/>
                        <a:latin typeface="Times New Roman" panose="02020603050405020304" pitchFamily="18" charset="0"/>
                        <a:cs typeface="Times New Roman" panose="02020603050405020304" pitchFamily="18" charset="0"/>
                      </a:endParaRP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2355117"/>
                  </a:ext>
                </a:extLst>
              </a:tr>
              <a:tr h="496019">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A865</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17:15 17/04/2025</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SGN</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20</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VN208</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SGN-HAN</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dirty="0">
                          <a:solidFill>
                            <a:srgbClr val="000000"/>
                          </a:solidFill>
                          <a:effectLst/>
                          <a:latin typeface="Times New Roman" panose="02020603050405020304" pitchFamily="18" charset="0"/>
                          <a:cs typeface="Times New Roman" panose="02020603050405020304" pitchFamily="18" charset="0"/>
                        </a:rPr>
                        <a:t>AFTER CLOSED DOOR FOUND IRU R FAULT </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smtClean="0">
                          <a:solidFill>
                            <a:srgbClr val="000000"/>
                          </a:solidFill>
                          <a:effectLst/>
                          <a:latin typeface="Times New Roman" panose="02020603050405020304" pitchFamily="18" charset="0"/>
                          <a:cs typeface="Times New Roman" panose="02020603050405020304" pitchFamily="18" charset="0"/>
                        </a:rPr>
                        <a:t>- </a:t>
                      </a:r>
                      <a:r>
                        <a:rPr lang="en-US" sz="900" b="0" i="0" u="none" strike="noStrike">
                          <a:solidFill>
                            <a:srgbClr val="000000"/>
                          </a:solidFill>
                          <a:effectLst/>
                          <a:latin typeface="Times New Roman" panose="02020603050405020304" pitchFamily="18" charset="0"/>
                          <a:cs typeface="Times New Roman" panose="02020603050405020304" pitchFamily="18" charset="0"/>
                        </a:rPr>
                        <a:t>17:38 FINAL ACTION: C/O RAISED ADD FOR IRU R SATIS. A/C SERVICEABLE</a:t>
                      </a:r>
                      <a:br>
                        <a:rPr lang="en-US" sz="900" b="0" i="0" u="none" strike="noStrike">
                          <a:solidFill>
                            <a:srgbClr val="000000"/>
                          </a:solidFill>
                          <a:effectLst/>
                          <a:latin typeface="Times New Roman" panose="02020603050405020304" pitchFamily="18" charset="0"/>
                          <a:cs typeface="Times New Roman" panose="02020603050405020304" pitchFamily="18" charset="0"/>
                        </a:rPr>
                      </a:br>
                      <a:r>
                        <a:rPr lang="en-US" sz="900" b="0" i="0" u="none" strike="noStrike">
                          <a:solidFill>
                            <a:srgbClr val="000000"/>
                          </a:solidFill>
                          <a:effectLst/>
                          <a:latin typeface="Times New Roman" panose="02020603050405020304" pitchFamily="18" charset="0"/>
                          <a:cs typeface="Times New Roman" panose="02020603050405020304" pitchFamily="18" charset="0"/>
                        </a:rPr>
                        <a:t>- 17:40 DOOR CLOSED TIMELINE (LOCAL TIME) EVENT CLOSED  </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34-00</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Hỏng hóc có thể do khối IRU PN: HG2100BC02. Thống kê tháo lắp các năm gần đây tăng cao do thiết bị đến tuổi. Năm 2022 (1 lần), 2023 (4 lần), 2024 (8 lần), từ đầu năm 2025 (1 lần). MTBUR=44,979FH &gt; RSPL=30,000FH. Hiện không có FTD liên quan. Sẽ đợi thông tin T/S để đánh giá thêm</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a:t>
                      </a: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63913328"/>
                  </a:ext>
                </a:extLst>
              </a:tr>
              <a:tr h="1587260">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A872</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15:30 17/04/2025</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SGN</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 </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VN216</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SGN-HAN</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BRAKE #5 FAULT </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- 14:10 TÀU KÉO TỪ 31 SANG 104</a:t>
                      </a:r>
                      <a:br>
                        <a:rPr lang="en-US" sz="900" b="0" i="0" u="none" strike="noStrike">
                          <a:solidFill>
                            <a:srgbClr val="000000"/>
                          </a:solidFill>
                          <a:effectLst/>
                          <a:latin typeface="Times New Roman" panose="02020603050405020304" pitchFamily="18" charset="0"/>
                          <a:cs typeface="Times New Roman" panose="02020603050405020304" pitchFamily="18" charset="0"/>
                        </a:rPr>
                      </a:br>
                      <a:r>
                        <a:rPr lang="en-US" sz="900" b="0" i="0" u="none" strike="noStrike">
                          <a:solidFill>
                            <a:srgbClr val="000000"/>
                          </a:solidFill>
                          <a:effectLst/>
                          <a:latin typeface="Times New Roman" panose="02020603050405020304" pitchFamily="18" charset="0"/>
                          <a:cs typeface="Times New Roman" panose="02020603050405020304" pitchFamily="18" charset="0"/>
                        </a:rPr>
                        <a:t>- 15:30 CRS BÁO LỖI BRAKE #5, CHỜ B1 T/S</a:t>
                      </a:r>
                      <a:br>
                        <a:rPr lang="en-US" sz="900" b="0" i="0" u="none" strike="noStrike">
                          <a:solidFill>
                            <a:srgbClr val="000000"/>
                          </a:solidFill>
                          <a:effectLst/>
                          <a:latin typeface="Times New Roman" panose="02020603050405020304" pitchFamily="18" charset="0"/>
                          <a:cs typeface="Times New Roman" panose="02020603050405020304" pitchFamily="18" charset="0"/>
                        </a:rPr>
                      </a:br>
                      <a:r>
                        <a:rPr lang="en-US" sz="900" b="0" i="0" u="none" strike="noStrike">
                          <a:solidFill>
                            <a:srgbClr val="000000"/>
                          </a:solidFill>
                          <a:effectLst/>
                          <a:latin typeface="Times New Roman" panose="02020603050405020304" pitchFamily="18" charset="0"/>
                          <a:cs typeface="Times New Roman" panose="02020603050405020304" pitchFamily="18" charset="0"/>
                        </a:rPr>
                        <a:t>- 16:10 FINAL ACTION: C/O RAISED ADD BRAKE #5 DEACTIVATED SATIS. A/C SERVICEABLE</a:t>
                      </a:r>
                      <a:br>
                        <a:rPr lang="en-US" sz="900" b="0" i="0" u="none" strike="noStrike">
                          <a:solidFill>
                            <a:srgbClr val="000000"/>
                          </a:solidFill>
                          <a:effectLst/>
                          <a:latin typeface="Times New Roman" panose="02020603050405020304" pitchFamily="18" charset="0"/>
                          <a:cs typeface="Times New Roman" panose="02020603050405020304" pitchFamily="18" charset="0"/>
                        </a:rPr>
                      </a:br>
                      <a:r>
                        <a:rPr lang="en-US" sz="900" b="0" i="0" u="none" strike="noStrike">
                          <a:solidFill>
                            <a:srgbClr val="000000"/>
                          </a:solidFill>
                          <a:effectLst/>
                          <a:latin typeface="Times New Roman" panose="02020603050405020304" pitchFamily="18" charset="0"/>
                          <a:cs typeface="Times New Roman" panose="02020603050405020304" pitchFamily="18" charset="0"/>
                        </a:rPr>
                        <a:t>- 16:46 DOOR CLOSED (BÃI XA) TIMELINE (LOCAL TIME) EVENT CLOSED  TOTAL DELAY 16 MINS, TECH DELAY 0 MIN.</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32-45</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900" b="0" i="0" u="none" strike="noStrike" dirty="0">
                          <a:solidFill>
                            <a:srgbClr val="000000"/>
                          </a:solidFill>
                          <a:effectLst/>
                          <a:latin typeface="Times New Roman" panose="02020603050405020304" pitchFamily="18" charset="0"/>
                          <a:cs typeface="Times New Roman" panose="02020603050405020304" pitchFamily="18" charset="0"/>
                        </a:rPr>
                        <a:t>Tech delay 0 Min</a:t>
                      </a:r>
                      <a:br>
                        <a:rPr lang="vi-VN" sz="900" b="0" i="0" u="none" strike="noStrike" dirty="0">
                          <a:solidFill>
                            <a:srgbClr val="000000"/>
                          </a:solidFill>
                          <a:effectLst/>
                          <a:latin typeface="Times New Roman" panose="02020603050405020304" pitchFamily="18" charset="0"/>
                          <a:cs typeface="Times New Roman" panose="02020603050405020304" pitchFamily="18" charset="0"/>
                        </a:rPr>
                      </a:br>
                      <a:r>
                        <a:rPr lang="vi-VN" sz="900" b="0" i="0" u="none" strike="noStrike" dirty="0">
                          <a:solidFill>
                            <a:srgbClr val="000000"/>
                          </a:solidFill>
                          <a:effectLst/>
                          <a:latin typeface="Times New Roman" panose="02020603050405020304" pitchFamily="18" charset="0"/>
                          <a:cs typeface="Times New Roman" panose="02020603050405020304" pitchFamily="18" charset="0"/>
                        </a:rPr>
                        <a:t>Thực hiện thay EBA và Geartrain #1 để khắc phục hỏng hóc</a:t>
                      </a:r>
                      <a:br>
                        <a:rPr lang="vi-VN" sz="900" b="0" i="0" u="none" strike="noStrike" dirty="0">
                          <a:solidFill>
                            <a:srgbClr val="000000"/>
                          </a:solidFill>
                          <a:effectLst/>
                          <a:latin typeface="Times New Roman" panose="02020603050405020304" pitchFamily="18" charset="0"/>
                          <a:cs typeface="Times New Roman" panose="02020603050405020304" pitchFamily="18" charset="0"/>
                        </a:rPr>
                      </a:br>
                      <a:r>
                        <a:rPr lang="vi-VN" sz="900" b="0" i="0" u="none" strike="noStrike" dirty="0">
                          <a:solidFill>
                            <a:srgbClr val="000000"/>
                          </a:solidFill>
                          <a:effectLst/>
                          <a:latin typeface="Times New Roman" panose="02020603050405020304" pitchFamily="18" charset="0"/>
                          <a:cs typeface="Times New Roman" panose="02020603050405020304" pitchFamily="18" charset="0"/>
                        </a:rPr>
                        <a:t>Hỏng hóc do các EBA motor do các nguyên nhân sau: </a:t>
                      </a:r>
                      <a:br>
                        <a:rPr lang="vi-VN" sz="900" b="0" i="0" u="none" strike="noStrike" dirty="0">
                          <a:solidFill>
                            <a:srgbClr val="000000"/>
                          </a:solidFill>
                          <a:effectLst/>
                          <a:latin typeface="Times New Roman" panose="02020603050405020304" pitchFamily="18" charset="0"/>
                          <a:cs typeface="Times New Roman" panose="02020603050405020304" pitchFamily="18" charset="0"/>
                        </a:rPr>
                      </a:br>
                      <a:r>
                        <a:rPr lang="vi-VN" sz="900" b="0" i="0" u="none" strike="noStrike" dirty="0">
                          <a:solidFill>
                            <a:srgbClr val="000000"/>
                          </a:solidFill>
                          <a:effectLst/>
                          <a:latin typeface="Times New Roman" panose="02020603050405020304" pitchFamily="18" charset="0"/>
                          <a:cs typeface="Times New Roman" panose="02020603050405020304" pitchFamily="18" charset="0"/>
                        </a:rPr>
                        <a:t>- Hệ thống làm kín (Sealing) kém dẫn đến bị xâm nhập vào bên trong EBA</a:t>
                      </a:r>
                      <a:br>
                        <a:rPr lang="vi-VN" sz="900" b="0" i="0" u="none" strike="noStrike" dirty="0">
                          <a:solidFill>
                            <a:srgbClr val="000000"/>
                          </a:solidFill>
                          <a:effectLst/>
                          <a:latin typeface="Times New Roman" panose="02020603050405020304" pitchFamily="18" charset="0"/>
                          <a:cs typeface="Times New Roman" panose="02020603050405020304" pitchFamily="18" charset="0"/>
                        </a:rPr>
                      </a:br>
                      <a:r>
                        <a:rPr lang="vi-VN" sz="900" b="0" i="0" u="none" strike="noStrike" dirty="0">
                          <a:solidFill>
                            <a:srgbClr val="000000"/>
                          </a:solidFill>
                          <a:effectLst/>
                          <a:latin typeface="Times New Roman" panose="02020603050405020304" pitchFamily="18" charset="0"/>
                          <a:cs typeface="Times New Roman" panose="02020603050405020304" pitchFamily="18" charset="0"/>
                        </a:rPr>
                        <a:t>- Rung động trong quá trình hoạt động của Brake, mess xuất hiện có thể do EBA motor khi thực hiện phanh sẽ tạo ra rung động và nhất thời ảnh hưởng đế hoạt động của EBA. </a:t>
                      </a:r>
                      <a:br>
                        <a:rPr lang="vi-VN" sz="900" b="0" i="0" u="none" strike="noStrike" dirty="0">
                          <a:solidFill>
                            <a:srgbClr val="000000"/>
                          </a:solidFill>
                          <a:effectLst/>
                          <a:latin typeface="Times New Roman" panose="02020603050405020304" pitchFamily="18" charset="0"/>
                          <a:cs typeface="Times New Roman" panose="02020603050405020304" pitchFamily="18" charset="0"/>
                        </a:rPr>
                      </a:br>
                      <a:r>
                        <a:rPr lang="vi-VN" sz="900" b="0" i="0" u="none" strike="noStrike" dirty="0">
                          <a:solidFill>
                            <a:srgbClr val="000000"/>
                          </a:solidFill>
                          <a:effectLst/>
                          <a:latin typeface="Times New Roman" panose="02020603050405020304" pitchFamily="18" charset="0"/>
                          <a:cs typeface="Times New Roman" panose="02020603050405020304" pitchFamily="18" charset="0"/>
                        </a:rPr>
                        <a:t>Safran đã có các nâng cấp như sau:</a:t>
                      </a:r>
                      <a:br>
                        <a:rPr lang="vi-VN" sz="900" b="0" i="0" u="none" strike="noStrike" dirty="0">
                          <a:solidFill>
                            <a:srgbClr val="000000"/>
                          </a:solidFill>
                          <a:effectLst/>
                          <a:latin typeface="Times New Roman" panose="02020603050405020304" pitchFamily="18" charset="0"/>
                          <a:cs typeface="Times New Roman" panose="02020603050405020304" pitchFamily="18" charset="0"/>
                        </a:rPr>
                      </a:br>
                      <a:r>
                        <a:rPr lang="vi-VN" sz="900" b="0" i="0" u="none" strike="noStrike" dirty="0">
                          <a:solidFill>
                            <a:srgbClr val="000000"/>
                          </a:solidFill>
                          <a:effectLst/>
                          <a:latin typeface="Times New Roman" panose="02020603050405020304" pitchFamily="18" charset="0"/>
                          <a:cs typeface="Times New Roman" panose="02020603050405020304" pitchFamily="18" charset="0"/>
                        </a:rPr>
                        <a:t>Mar2021 upgrade to P/N PN C20604001 để ngăn ngừa rung động trong quá trình hoạt động (gây ra lỗi). Khối PN cũ được nâng cấp On attrition, đổi trực tiếp EBA hoặc nâng cấp khi Brake đi shop</a:t>
                      </a:r>
                      <a:br>
                        <a:rPr lang="vi-VN" sz="900" b="0" i="0" u="none" strike="noStrike" dirty="0">
                          <a:solidFill>
                            <a:srgbClr val="000000"/>
                          </a:solidFill>
                          <a:effectLst/>
                          <a:latin typeface="Times New Roman" panose="02020603050405020304" pitchFamily="18" charset="0"/>
                          <a:cs typeface="Times New Roman" panose="02020603050405020304" pitchFamily="18" charset="0"/>
                        </a:rPr>
                      </a:br>
                      <a:r>
                        <a:rPr lang="vi-VN" sz="900" b="0" i="0" u="none" strike="noStrike" dirty="0">
                          <a:solidFill>
                            <a:srgbClr val="000000"/>
                          </a:solidFill>
                          <a:effectLst/>
                          <a:latin typeface="Times New Roman" panose="02020603050405020304" pitchFamily="18" charset="0"/>
                          <a:cs typeface="Times New Roman" panose="02020603050405020304" pitchFamily="18" charset="0"/>
                        </a:rPr>
                        <a:t>Q1 2024 upgrade to P/N C20604100 đang được thực hiện on attrition theo hợp đồng pool. Các cải tiến ở PN mới: Nâng cấp các chi tiết làm kín  (sealing); Tăng khả năng sửa chữa thiết bị; Tăng tính thay thế và lắp lẫn giữa các phiên bản; Cập nhật thêm yêu cầu benches test cho Brake và Motor.</a:t>
                      </a:r>
                      <a:br>
                        <a:rPr lang="vi-VN" sz="900" b="0" i="0" u="none" strike="noStrike" dirty="0">
                          <a:solidFill>
                            <a:srgbClr val="000000"/>
                          </a:solidFill>
                          <a:effectLst/>
                          <a:latin typeface="Times New Roman" panose="02020603050405020304" pitchFamily="18" charset="0"/>
                          <a:cs typeface="Times New Roman" panose="02020603050405020304" pitchFamily="18" charset="0"/>
                        </a:rPr>
                      </a:br>
                      <a:endParaRPr lang="vi-VN" sz="9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1681521"/>
                  </a:ext>
                </a:extLst>
              </a:tr>
            </a:tbl>
          </a:graphicData>
        </a:graphic>
      </p:graphicFrame>
    </p:spTree>
    <p:extLst>
      <p:ext uri="{BB962C8B-B14F-4D97-AF65-F5344CB8AC3E}">
        <p14:creationId xmlns:p14="http://schemas.microsoft.com/office/powerpoint/2010/main" val="38791064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B0E1DA2B-68BA-A927-6A6D-6F86EBE72FDE}"/>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1A48751E-1070-E60A-D33E-B1AFED7D422B}"/>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8651F78A-713B-3434-27CF-01067722E915}"/>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
            </a:r>
            <a:r>
              <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B787</a:t>
            </a:r>
          </a:p>
        </p:txBody>
      </p:sp>
      <p:sp>
        <p:nvSpPr>
          <p:cNvPr id="4" name="TextBox 3">
            <a:extLst>
              <a:ext uri="{FF2B5EF4-FFF2-40B4-BE49-F238E27FC236}">
                <a16:creationId xmlns:a16="http://schemas.microsoft.com/office/drawing/2014/main" id="{414A0B12-6A4C-B978-FF3F-094191BEB39E}"/>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7</a:t>
            </a:r>
          </a:p>
        </p:txBody>
      </p:sp>
      <p:sp>
        <p:nvSpPr>
          <p:cNvPr id="9" name="TextBox 8">
            <a:extLst>
              <a:ext uri="{FF2B5EF4-FFF2-40B4-BE49-F238E27FC236}">
                <a16:creationId xmlns:a16="http://schemas.microsoft.com/office/drawing/2014/main" id="{A5EE8967-8A79-0227-FE03-EE3319D047A7}"/>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4</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7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3" name="Table 2">
            <a:extLst>
              <a:ext uri="{FF2B5EF4-FFF2-40B4-BE49-F238E27FC236}">
                <a16:creationId xmlns:a16="http://schemas.microsoft.com/office/drawing/2014/main" id="{217C44EA-E1F3-6A9C-D07D-201B8A30B5E8}"/>
              </a:ext>
            </a:extLst>
          </p:cNvPr>
          <p:cNvGraphicFramePr>
            <a:graphicFrameLocks noGrp="1"/>
          </p:cNvGraphicFramePr>
          <p:nvPr>
            <p:extLst>
              <p:ext uri="{D42A27DB-BD31-4B8C-83A1-F6EECF244321}">
                <p14:modId xmlns:p14="http://schemas.microsoft.com/office/powerpoint/2010/main" val="4043842435"/>
              </p:ext>
            </p:extLst>
          </p:nvPr>
        </p:nvGraphicFramePr>
        <p:xfrm>
          <a:off x="152398" y="1451784"/>
          <a:ext cx="11658602" cy="5049815"/>
        </p:xfrm>
        <a:graphic>
          <a:graphicData uri="http://schemas.openxmlformats.org/drawingml/2006/table">
            <a:tbl>
              <a:tblPr/>
              <a:tblGrid>
                <a:gridCol w="287101">
                  <a:extLst>
                    <a:ext uri="{9D8B030D-6E8A-4147-A177-3AD203B41FA5}">
                      <a16:colId xmlns:a16="http://schemas.microsoft.com/office/drawing/2014/main" val="551579778"/>
                    </a:ext>
                  </a:extLst>
                </a:gridCol>
                <a:gridCol w="831084">
                  <a:extLst>
                    <a:ext uri="{9D8B030D-6E8A-4147-A177-3AD203B41FA5}">
                      <a16:colId xmlns:a16="http://schemas.microsoft.com/office/drawing/2014/main" val="3973396131"/>
                    </a:ext>
                  </a:extLst>
                </a:gridCol>
                <a:gridCol w="287101">
                  <a:extLst>
                    <a:ext uri="{9D8B030D-6E8A-4147-A177-3AD203B41FA5}">
                      <a16:colId xmlns:a16="http://schemas.microsoft.com/office/drawing/2014/main" val="3713792266"/>
                    </a:ext>
                  </a:extLst>
                </a:gridCol>
                <a:gridCol w="778198">
                  <a:extLst>
                    <a:ext uri="{9D8B030D-6E8A-4147-A177-3AD203B41FA5}">
                      <a16:colId xmlns:a16="http://schemas.microsoft.com/office/drawing/2014/main" val="56761839"/>
                    </a:ext>
                  </a:extLst>
                </a:gridCol>
                <a:gridCol w="581758">
                  <a:extLst>
                    <a:ext uri="{9D8B030D-6E8A-4147-A177-3AD203B41FA5}">
                      <a16:colId xmlns:a16="http://schemas.microsoft.com/office/drawing/2014/main" val="4041587818"/>
                    </a:ext>
                  </a:extLst>
                </a:gridCol>
                <a:gridCol w="483540">
                  <a:extLst>
                    <a:ext uri="{9D8B030D-6E8A-4147-A177-3AD203B41FA5}">
                      <a16:colId xmlns:a16="http://schemas.microsoft.com/office/drawing/2014/main" val="168024152"/>
                    </a:ext>
                  </a:extLst>
                </a:gridCol>
                <a:gridCol w="2395035">
                  <a:extLst>
                    <a:ext uri="{9D8B030D-6E8A-4147-A177-3AD203B41FA5}">
                      <a16:colId xmlns:a16="http://schemas.microsoft.com/office/drawing/2014/main" val="1680715838"/>
                    </a:ext>
                  </a:extLst>
                </a:gridCol>
                <a:gridCol w="2757689">
                  <a:extLst>
                    <a:ext uri="{9D8B030D-6E8A-4147-A177-3AD203B41FA5}">
                      <a16:colId xmlns:a16="http://schemas.microsoft.com/office/drawing/2014/main" val="4140518241"/>
                    </a:ext>
                  </a:extLst>
                </a:gridCol>
                <a:gridCol w="294657">
                  <a:extLst>
                    <a:ext uri="{9D8B030D-6E8A-4147-A177-3AD203B41FA5}">
                      <a16:colId xmlns:a16="http://schemas.microsoft.com/office/drawing/2014/main" val="1853649774"/>
                    </a:ext>
                  </a:extLst>
                </a:gridCol>
                <a:gridCol w="2962439">
                  <a:extLst>
                    <a:ext uri="{9D8B030D-6E8A-4147-A177-3AD203B41FA5}">
                      <a16:colId xmlns:a16="http://schemas.microsoft.com/office/drawing/2014/main" val="2121358206"/>
                    </a:ext>
                  </a:extLst>
                </a:gridCol>
              </a:tblGrid>
              <a:tr h="99204">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A/C</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STA</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ATA</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843258155"/>
                  </a:ext>
                </a:extLst>
              </a:tr>
              <a:tr h="595223">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A867</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08:30 17/04/2025</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SGN</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36</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VN208</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SGN-HAN</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CABIN PA SPEAKER SOUND VERY NOIZY </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smtClean="0">
                          <a:solidFill>
                            <a:srgbClr val="000000"/>
                          </a:solidFill>
                          <a:effectLst/>
                          <a:latin typeface="Times New Roman" panose="02020603050405020304" pitchFamily="18" charset="0"/>
                          <a:cs typeface="Times New Roman" panose="02020603050405020304" pitchFamily="18" charset="0"/>
                        </a:rPr>
                        <a:t>- </a:t>
                      </a:r>
                      <a:r>
                        <a:rPr lang="en-US" sz="900" b="0" i="0" u="none" strike="noStrike">
                          <a:solidFill>
                            <a:srgbClr val="000000"/>
                          </a:solidFill>
                          <a:effectLst/>
                          <a:latin typeface="Times New Roman" panose="02020603050405020304" pitchFamily="18" charset="0"/>
                          <a:cs typeface="Times New Roman" panose="02020603050405020304" pitchFamily="18" charset="0"/>
                        </a:rPr>
                        <a:t>09:10 FINAL ACTION: C/O DE-ACTIVATED SPEAKER AT SEAT 35 A,B,C, </a:t>
                      </a:r>
                      <a:r>
                        <a:rPr lang="en-US" sz="900" b="0" i="0" u="none" strike="noStrike" smtClean="0">
                          <a:solidFill>
                            <a:srgbClr val="000000"/>
                          </a:solidFill>
                          <a:effectLst/>
                          <a:latin typeface="Times New Roman" panose="02020603050405020304" pitchFamily="18" charset="0"/>
                          <a:cs typeface="Times New Roman" panose="02020603050405020304" pitchFamily="18" charset="0"/>
                        </a:rPr>
                        <a:t>G,H,K; </a:t>
                      </a:r>
                      <a:r>
                        <a:rPr lang="en-US" sz="900" b="0" i="0" u="none" strike="noStrike">
                          <a:solidFill>
                            <a:srgbClr val="000000"/>
                          </a:solidFill>
                          <a:effectLst/>
                          <a:latin typeface="Times New Roman" panose="02020603050405020304" pitchFamily="18" charset="0"/>
                          <a:cs typeface="Times New Roman" panose="02020603050405020304" pitchFamily="18" charset="0"/>
                        </a:rPr>
                        <a:t>40 D,F AND RAISED ADD SATIS</a:t>
                      </a:r>
                      <a:br>
                        <a:rPr lang="en-US" sz="900" b="0" i="0" u="none" strike="noStrike">
                          <a:solidFill>
                            <a:srgbClr val="000000"/>
                          </a:solidFill>
                          <a:effectLst/>
                          <a:latin typeface="Times New Roman" panose="02020603050405020304" pitchFamily="18" charset="0"/>
                          <a:cs typeface="Times New Roman" panose="02020603050405020304" pitchFamily="18" charset="0"/>
                        </a:rPr>
                      </a:br>
                      <a:r>
                        <a:rPr lang="en-US" sz="900" b="0" i="0" u="none" strike="noStrike">
                          <a:solidFill>
                            <a:srgbClr val="000000"/>
                          </a:solidFill>
                          <a:effectLst/>
                          <a:latin typeface="Times New Roman" panose="02020603050405020304" pitchFamily="18" charset="0"/>
                          <a:cs typeface="Times New Roman" panose="02020603050405020304" pitchFamily="18" charset="0"/>
                        </a:rPr>
                        <a:t>- 09:34 DOOR CLOSED TIMELINE (LOCAL TIME) EVENT CLOSED  </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44-12</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900" b="0" i="0" u="none" strike="noStrike">
                          <a:solidFill>
                            <a:srgbClr val="000000"/>
                          </a:solidFill>
                          <a:effectLst/>
                          <a:latin typeface="Times New Roman" panose="02020603050405020304" pitchFamily="18" charset="0"/>
                          <a:cs typeface="Times New Roman" panose="02020603050405020304" pitchFamily="18" charset="0"/>
                        </a:rPr>
                        <a:t>Hỏng hóc đơn lẻ. Sẽ đợi thông tin khắc phục để đánh giá. Khả năng reset lại hệ thống CSSC.</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74394642"/>
                  </a:ext>
                </a:extLst>
              </a:tr>
              <a:tr h="1289649">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A877</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02:00 14/04/2025</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DEL</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147</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VN980</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DEL-HAN</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(GTB) LEFT RAM AIR FAN FAULT VN980 DEL-HAN ON GROUND TURN BACK DUE TO LEFT RAM AIR FAN FAULT.</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smtClean="0">
                          <a:solidFill>
                            <a:srgbClr val="000000"/>
                          </a:solidFill>
                          <a:effectLst/>
                          <a:latin typeface="Times New Roman" panose="02020603050405020304" pitchFamily="18" charset="0"/>
                          <a:cs typeface="Times New Roman" panose="02020603050405020304" pitchFamily="18" charset="0"/>
                        </a:rPr>
                        <a:t>A/C </a:t>
                      </a:r>
                      <a:r>
                        <a:rPr lang="en-US" sz="900" b="0" i="0" u="none" strike="noStrike">
                          <a:solidFill>
                            <a:srgbClr val="000000"/>
                          </a:solidFill>
                          <a:effectLst/>
                          <a:latin typeface="Times New Roman" panose="02020603050405020304" pitchFamily="18" charset="0"/>
                          <a:cs typeface="Times New Roman" panose="02020603050405020304" pitchFamily="18" charset="0"/>
                        </a:rPr>
                        <a:t>DISPATCH WITH MEL 21-52-12-01 FOR L/H RAM AIR FAN INOP AND ADD MORE FUEL (2509KG). VN980 DEL-HAN DELAY 174MINS (TECH  147MINS, A/C ARRIVED LATE 27MINS) </a:t>
                      </a:r>
                      <a:br>
                        <a:rPr lang="en-US" sz="900" b="0" i="0" u="none" strike="noStrike">
                          <a:solidFill>
                            <a:srgbClr val="000000"/>
                          </a:solidFill>
                          <a:effectLst/>
                          <a:latin typeface="Times New Roman" panose="02020603050405020304" pitchFamily="18" charset="0"/>
                          <a:cs typeface="Times New Roman" panose="02020603050405020304" pitchFamily="18" charset="0"/>
                        </a:rPr>
                      </a:br>
                      <a:r>
                        <a:rPr lang="en-US" sz="900" b="0" i="0" u="none" strike="noStrike">
                          <a:solidFill>
                            <a:srgbClr val="000000"/>
                          </a:solidFill>
                          <a:effectLst/>
                          <a:latin typeface="Times New Roman" panose="02020603050405020304" pitchFamily="18" charset="0"/>
                          <a:cs typeface="Times New Roman" panose="02020603050405020304" pitchFamily="18" charset="0"/>
                        </a:rPr>
                        <a:t/>
                      </a:r>
                      <a:br>
                        <a:rPr lang="en-US" sz="900" b="0" i="0" u="none" strike="noStrike">
                          <a:solidFill>
                            <a:srgbClr val="000000"/>
                          </a:solidFill>
                          <a:effectLst/>
                          <a:latin typeface="Times New Roman" panose="02020603050405020304" pitchFamily="18" charset="0"/>
                          <a:cs typeface="Times New Roman" panose="02020603050405020304" pitchFamily="18" charset="0"/>
                        </a:rPr>
                      </a:b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21-52</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900" b="0" i="0" u="none" strike="noStrike">
                          <a:solidFill>
                            <a:srgbClr val="000000"/>
                          </a:solidFill>
                          <a:effectLst/>
                          <a:latin typeface="Times New Roman" panose="02020603050405020304" pitchFamily="18" charset="0"/>
                          <a:cs typeface="Times New Roman" panose="02020603050405020304" pitchFamily="18" charset="0"/>
                        </a:rPr>
                        <a:t>Thực hiện thay RAF đê khắc phục. Khối tháo xuống SN 7200800 là khối còn trong bảo hành. </a:t>
                      </a:r>
                      <a:br>
                        <a:rPr lang="vi-VN" sz="900" b="0" i="0" u="none" strike="noStrike">
                          <a:solidFill>
                            <a:srgbClr val="000000"/>
                          </a:solidFill>
                          <a:effectLst/>
                          <a:latin typeface="Times New Roman" panose="02020603050405020304" pitchFamily="18" charset="0"/>
                          <a:cs typeface="Times New Roman" panose="02020603050405020304" pitchFamily="18" charset="0"/>
                        </a:rPr>
                      </a:br>
                      <a:r>
                        <a:rPr lang="vi-VN" sz="900" b="0" i="0" u="none" strike="noStrike">
                          <a:solidFill>
                            <a:srgbClr val="000000"/>
                          </a:solidFill>
                          <a:effectLst/>
                          <a:latin typeface="Times New Roman" panose="02020603050405020304" pitchFamily="18" charset="0"/>
                          <a:cs typeface="Times New Roman" panose="02020603050405020304" pitchFamily="18" charset="0"/>
                        </a:rPr>
                        <a:t>Trước đó, để chuẩn bị tàu VIP, ngày 4Apr tàu đã được làm nôi dung kiểm tra RAF, đo dòng khi qua RAF</a:t>
                      </a:r>
                      <a:br>
                        <a:rPr lang="vi-VN" sz="900" b="0" i="0" u="none" strike="noStrike">
                          <a:solidFill>
                            <a:srgbClr val="000000"/>
                          </a:solidFill>
                          <a:effectLst/>
                          <a:latin typeface="Times New Roman" panose="02020603050405020304" pitchFamily="18" charset="0"/>
                          <a:cs typeface="Times New Roman" panose="02020603050405020304" pitchFamily="18" charset="0"/>
                        </a:rPr>
                      </a:br>
                      <a:r>
                        <a:rPr lang="vi-VN" sz="900" b="0" i="0" u="none" strike="noStrike">
                          <a:solidFill>
                            <a:srgbClr val="000000"/>
                          </a:solidFill>
                          <a:effectLst/>
                          <a:latin typeface="Times New Roman" panose="02020603050405020304" pitchFamily="18" charset="0"/>
                          <a:cs typeface="Times New Roman" panose="02020603050405020304" pitchFamily="18" charset="0"/>
                        </a:rPr>
                        <a:t>Trươc đó cũng không có các MMG đến RAF. Cần có thêm SFR để đánh giá thêm hỏng hóc của SN này.</a:t>
                      </a:r>
                      <a:br>
                        <a:rPr lang="vi-VN" sz="900" b="0" i="0" u="none" strike="noStrike">
                          <a:solidFill>
                            <a:srgbClr val="000000"/>
                          </a:solidFill>
                          <a:effectLst/>
                          <a:latin typeface="Times New Roman" panose="02020603050405020304" pitchFamily="18" charset="0"/>
                          <a:cs typeface="Times New Roman" panose="02020603050405020304" pitchFamily="18" charset="0"/>
                        </a:rPr>
                      </a:br>
                      <a:r>
                        <a:rPr lang="vi-VN" sz="900" b="0" i="0" u="none" strike="noStrike">
                          <a:solidFill>
                            <a:srgbClr val="000000"/>
                          </a:solidFill>
                          <a:effectLst/>
                          <a:latin typeface="Times New Roman" panose="02020603050405020304" pitchFamily="18" charset="0"/>
                          <a:cs typeface="Times New Roman" panose="02020603050405020304" pitchFamily="18" charset="0"/>
                        </a:rPr>
                        <a:t>Hỏng hóc của RAF có thể do khai thác ở môi trường high dust, insects, FOD, pollution gây tắc dòng khí ở HX (gây thiếu dòng khí cho RAF) hoặc là RAF hoạt động với cường độ cao và làm hỏng RAF.</a:t>
                      </a:r>
                      <a:br>
                        <a:rPr lang="vi-VN" sz="900" b="0" i="0" u="none" strike="noStrike">
                          <a:solidFill>
                            <a:srgbClr val="000000"/>
                          </a:solidFill>
                          <a:effectLst/>
                          <a:latin typeface="Times New Roman" panose="02020603050405020304" pitchFamily="18" charset="0"/>
                          <a:cs typeface="Times New Roman" panose="02020603050405020304" pitchFamily="18" charset="0"/>
                        </a:rPr>
                      </a:br>
                      <a:r>
                        <a:rPr lang="vi-VN" sz="900" b="0" i="0" u="none" strike="noStrike">
                          <a:solidFill>
                            <a:srgbClr val="000000"/>
                          </a:solidFill>
                          <a:effectLst/>
                          <a:latin typeface="Times New Roman" panose="02020603050405020304" pitchFamily="18" charset="0"/>
                          <a:cs typeface="Times New Roman" panose="02020603050405020304" pitchFamily="18" charset="0"/>
                        </a:rPr>
                        <a:t>Giải pháp hiện là kiểm tra và rửa HX: EO-2020-2265/66 B787 -9: ở interval 2000FH.</a:t>
                      </a:r>
                      <a:br>
                        <a:rPr lang="vi-VN" sz="900" b="0" i="0" u="none" strike="noStrike">
                          <a:solidFill>
                            <a:srgbClr val="000000"/>
                          </a:solidFill>
                          <a:effectLst/>
                          <a:latin typeface="Times New Roman" panose="02020603050405020304" pitchFamily="18" charset="0"/>
                          <a:cs typeface="Times New Roman" panose="02020603050405020304" pitchFamily="18" charset="0"/>
                        </a:rPr>
                      </a:br>
                      <a:r>
                        <a:rPr lang="vi-VN" sz="900" b="0" i="0" u="none" strike="noStrike">
                          <a:solidFill>
                            <a:srgbClr val="000000"/>
                          </a:solidFill>
                          <a:effectLst/>
                          <a:latin typeface="Times New Roman" panose="02020603050405020304" pitchFamily="18" charset="0"/>
                          <a:cs typeface="Times New Roman" panose="02020603050405020304" pitchFamily="18" charset="0"/>
                        </a:rPr>
                        <a:t>787-SL-21-003/006 (ban hành FON 20/36) reduce pack operation, sử dụng ground air.</a:t>
                      </a:r>
                      <a:br>
                        <a:rPr lang="vi-VN" sz="900" b="0" i="0" u="none" strike="noStrike">
                          <a:solidFill>
                            <a:srgbClr val="000000"/>
                          </a:solidFill>
                          <a:effectLst/>
                          <a:latin typeface="Times New Roman" panose="02020603050405020304" pitchFamily="18" charset="0"/>
                          <a:cs typeface="Times New Roman" panose="02020603050405020304" pitchFamily="18" charset="0"/>
                        </a:rPr>
                      </a:br>
                      <a:r>
                        <a:rPr lang="vi-VN" sz="900" b="0" i="0" u="none" strike="noStrike">
                          <a:solidFill>
                            <a:srgbClr val="000000"/>
                          </a:solidFill>
                          <a:effectLst/>
                          <a:latin typeface="Times New Roman" panose="02020603050405020304" pitchFamily="18" charset="0"/>
                          <a:cs typeface="Times New Roman" panose="02020603050405020304" pitchFamily="18" charset="0"/>
                        </a:rPr>
                        <a:t>Tàu cũng đã rủa bằng phương pháp ACTIVE FLUSH ngày 4Mar2025</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10919388"/>
                  </a:ext>
                </a:extLst>
              </a:tr>
              <a:tr h="1884872">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A879</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19:00 17/04/2025</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SGN</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 </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VN260</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SGN-HAN</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900" b="0" i="0" u="none" strike="noStrike">
                          <a:solidFill>
                            <a:srgbClr val="000000"/>
                          </a:solidFill>
                          <a:effectLst/>
                          <a:latin typeface="Times New Roman" panose="02020603050405020304" pitchFamily="18" charset="0"/>
                          <a:cs typeface="Times New Roman" panose="02020603050405020304" pitchFamily="18" charset="0"/>
                        </a:rPr>
                        <a:t>ELEC GEN SYS  L2 AFTER VN246 HAN-SGN A/C HAS STS MSG: ELEC GEN SYS L2, A/C CHANGED</a:t>
                      </a:r>
                      <a:br>
                        <a:rPr lang="vi-VN" sz="900" b="0" i="0" u="none" strike="noStrike">
                          <a:solidFill>
                            <a:srgbClr val="000000"/>
                          </a:solidFill>
                          <a:effectLst/>
                          <a:latin typeface="Times New Roman" panose="02020603050405020304" pitchFamily="18" charset="0"/>
                          <a:cs typeface="Times New Roman" panose="02020603050405020304" pitchFamily="18" charset="0"/>
                        </a:rPr>
                      </a:br>
                      <a:r>
                        <a:rPr lang="vi-VN" sz="900" b="0" i="0" u="none" strike="noStrike">
                          <a:solidFill>
                            <a:srgbClr val="000000"/>
                          </a:solidFill>
                          <a:effectLst/>
                          <a:latin typeface="Times New Roman" panose="02020603050405020304" pitchFamily="18" charset="0"/>
                          <a:cs typeface="Times New Roman" panose="02020603050405020304" pitchFamily="18" charset="0"/>
                        </a:rPr>
                        <a:t/>
                      </a:r>
                      <a:br>
                        <a:rPr lang="vi-VN" sz="900" b="0" i="0" u="none" strike="noStrike">
                          <a:solidFill>
                            <a:srgbClr val="000000"/>
                          </a:solidFill>
                          <a:effectLst/>
                          <a:latin typeface="Times New Roman" panose="02020603050405020304" pitchFamily="18" charset="0"/>
                          <a:cs typeface="Times New Roman" panose="02020603050405020304" pitchFamily="18" charset="0"/>
                        </a:rPr>
                      </a:br>
                      <a:r>
                        <a:rPr lang="vi-VN" sz="900" b="0" i="0" u="none" strike="noStrike">
                          <a:solidFill>
                            <a:srgbClr val="000000"/>
                          </a:solidFill>
                          <a:effectLst/>
                          <a:latin typeface="Times New Roman" panose="02020603050405020304" pitchFamily="18" charset="0"/>
                          <a:cs typeface="Times New Roman" panose="02020603050405020304" pitchFamily="18" charset="0"/>
                        </a:rPr>
                        <a:t>DO ĐÃ CÓ ADD B567HẾT NHÂN NHƯỢNG NGÀY 16/04/25 , NÊN KHÔNG THỂ RE-OPEN ADD FOR VFSG INOP ,</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900" b="0" i="0" u="none" strike="noStrike" smtClean="0">
                          <a:solidFill>
                            <a:srgbClr val="000000"/>
                          </a:solidFill>
                          <a:effectLst/>
                          <a:latin typeface="+mn-lt"/>
                        </a:rPr>
                        <a:t>FINAL ACTION:</a:t>
                      </a:r>
                      <a:br>
                        <a:rPr lang="vi-VN" sz="900" b="0" i="0" u="none" strike="noStrike" smtClean="0">
                          <a:solidFill>
                            <a:srgbClr val="000000"/>
                          </a:solidFill>
                          <a:effectLst/>
                          <a:latin typeface="+mn-lt"/>
                        </a:rPr>
                      </a:br>
                      <a:r>
                        <a:rPr lang="vi-VN" sz="900" b="0" i="0" u="none" strike="noStrike" smtClean="0">
                          <a:solidFill>
                            <a:srgbClr val="000000"/>
                          </a:solidFill>
                          <a:effectLst/>
                          <a:latin typeface="+mn-lt"/>
                        </a:rPr>
                        <a:t>- REF FIM TASK AND C/O CB RESET, ERU AND OPS TEST SATIS,</a:t>
                      </a:r>
                      <a:br>
                        <a:rPr lang="vi-VN" sz="900" b="0" i="0" u="none" strike="noStrike" smtClean="0">
                          <a:solidFill>
                            <a:srgbClr val="000000"/>
                          </a:solidFill>
                          <a:effectLst/>
                          <a:latin typeface="+mn-lt"/>
                        </a:rPr>
                      </a:br>
                      <a:r>
                        <a:rPr lang="vi-VN" sz="900" b="0" i="0" u="none" strike="noStrike" smtClean="0">
                          <a:solidFill>
                            <a:srgbClr val="000000"/>
                          </a:solidFill>
                          <a:effectLst/>
                          <a:latin typeface="+mn-lt"/>
                        </a:rPr>
                        <a:t>- C/O WO T/S ELEC GEN SYS L2 . WIRING CHK VOLTAGE PIN 4-5 OF CONNECTOR DM2421002P03 : 30.64 VDC SATIS</a:t>
                      </a:r>
                      <a:br>
                        <a:rPr lang="vi-VN" sz="900" b="0" i="0" u="none" strike="noStrike" smtClean="0">
                          <a:solidFill>
                            <a:srgbClr val="000000"/>
                          </a:solidFill>
                          <a:effectLst/>
                          <a:latin typeface="+mn-lt"/>
                        </a:rPr>
                      </a:br>
                      <a:r>
                        <a:rPr lang="vi-VN" sz="900" b="0" i="0" u="none" strike="noStrike" smtClean="0">
                          <a:solidFill>
                            <a:srgbClr val="000000"/>
                          </a:solidFill>
                          <a:effectLst/>
                          <a:latin typeface="+mn-lt"/>
                        </a:rPr>
                        <a:t>A/C SERVICEABLE. A/C TOTAL DELAY: 48mins, TECH: 0mins, A/C ARRIVE LATE: 34mins</a:t>
                      </a:r>
                      <a:endParaRPr lang="vi-VN" sz="900" b="0" i="0" u="none" strike="noStrike" dirty="0">
                        <a:solidFill>
                          <a:srgbClr val="000000"/>
                        </a:solidFill>
                        <a:effectLst/>
                        <a:latin typeface="+mn-lt"/>
                      </a:endParaRP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24-00</a:t>
                      </a: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900" b="0" i="0" u="none" strike="noStrike" dirty="0">
                          <a:solidFill>
                            <a:srgbClr val="000000"/>
                          </a:solidFill>
                          <a:effectLst/>
                          <a:latin typeface="Times New Roman" panose="02020603050405020304" pitchFamily="18" charset="0"/>
                          <a:cs typeface="Times New Roman" panose="02020603050405020304" pitchFamily="18" charset="0"/>
                        </a:rPr>
                        <a:t>Tàu bay trước đó đã thay GCU và VFSG để khắc phục hỏng hóc tuy nhiên sau vài chuyến lại xuất hiện lại FDE: ELEC GEN SYS/OFF với MMSG 24-16592 VFSG oil pressure sensor is failed. Đã thực hiện thay MEDC và VFSG (lần thứ 2) để khắc phục. Hiện nay cảnh báo không xuất hiện lại. Tiếp tục monitor và đợi kết quả SFR để đánh giá thêm. Xem thêm slide đánh giá chi tiết.</a:t>
                      </a:r>
                      <a:br>
                        <a:rPr lang="vi-VN" sz="900" b="0" i="0" u="none" strike="noStrike" dirty="0">
                          <a:solidFill>
                            <a:srgbClr val="000000"/>
                          </a:solidFill>
                          <a:effectLst/>
                          <a:latin typeface="Times New Roman" panose="02020603050405020304" pitchFamily="18" charset="0"/>
                          <a:cs typeface="Times New Roman" panose="02020603050405020304" pitchFamily="18" charset="0"/>
                        </a:rPr>
                      </a:br>
                      <a:endParaRPr lang="vi-VN" sz="9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421" marR="3421" marT="342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52013365"/>
                  </a:ext>
                </a:extLst>
              </a:tr>
            </a:tbl>
          </a:graphicData>
        </a:graphic>
      </p:graphicFrame>
    </p:spTree>
    <p:extLst>
      <p:ext uri="{BB962C8B-B14F-4D97-AF65-F5344CB8AC3E}">
        <p14:creationId xmlns:p14="http://schemas.microsoft.com/office/powerpoint/2010/main" val="41621840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4294967295"/>
          </p:nvPr>
        </p:nvSpPr>
        <p:spPr>
          <a:xfrm>
            <a:off x="11460163" y="6218238"/>
            <a:ext cx="731837" cy="52387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0" name="Slide Number Placeholder 3">
            <a:extLst>
              <a:ext uri="{FF2B5EF4-FFF2-40B4-BE49-F238E27FC236}">
                <a16:creationId xmlns:a16="http://schemas.microsoft.com/office/drawing/2014/main" id="{750EDDA6-1339-2CDD-30C4-7B99D11D9417}"/>
              </a:ext>
            </a:extLst>
          </p:cNvPr>
          <p:cNvSpPr txBox="1">
            <a:spLocks/>
          </p:cNvSpPr>
          <p:nvPr/>
        </p:nvSpPr>
        <p:spPr>
          <a:xfrm>
            <a:off x="8610600" y="6356350"/>
            <a:ext cx="2743200" cy="365125"/>
          </a:xfrm>
          <a:prstGeom prst="rect">
            <a:avLst/>
          </a:prstGeom>
        </p:spPr>
        <p:txBody>
          <a:bodyPr spcFirstLastPara="1" vert="horz" wrap="square" lIns="91425" tIns="91425" rIns="91425" bIns="91425" rtlCol="0" anchor="ctr" anchorCtr="0">
            <a:normAutofit lnSpcReduction="10000"/>
          </a:bodyPr>
          <a:lstStyle>
            <a:defPPr>
              <a:defRPr lang="en-US"/>
            </a:defPPr>
            <a:lvl1pPr marL="0" lvl="0" algn="r" defTabSz="914400" rtl="0" eaLnBrk="1" latinLnBrk="0" hangingPunct="1">
              <a:buNone/>
              <a:defRPr sz="1200" kern="1200">
                <a:solidFill>
                  <a:schemeClr val="tx1">
                    <a:tint val="75000"/>
                  </a:schemeClr>
                </a:solidFill>
                <a:latin typeface="+mn-lt"/>
                <a:ea typeface="+mn-ea"/>
                <a:cs typeface="+mn-cs"/>
              </a:defRPr>
            </a:lvl1pPr>
            <a:lvl2pPr marL="457200" lvl="1" algn="l" defTabSz="914400" rtl="0" eaLnBrk="1" latinLnBrk="0" hangingPunct="1">
              <a:buNone/>
              <a:defRPr sz="1800" kern="1200">
                <a:solidFill>
                  <a:schemeClr val="tx1"/>
                </a:solidFill>
                <a:latin typeface="+mn-lt"/>
                <a:ea typeface="+mn-ea"/>
                <a:cs typeface="+mn-cs"/>
              </a:defRPr>
            </a:lvl2pPr>
            <a:lvl3pPr marL="914400" lvl="2" algn="l" defTabSz="914400" rtl="0" eaLnBrk="1" latinLnBrk="0" hangingPunct="1">
              <a:buNone/>
              <a:defRPr sz="1800" kern="1200">
                <a:solidFill>
                  <a:schemeClr val="tx1"/>
                </a:solidFill>
                <a:latin typeface="+mn-lt"/>
                <a:ea typeface="+mn-ea"/>
                <a:cs typeface="+mn-cs"/>
              </a:defRPr>
            </a:lvl3pPr>
            <a:lvl4pPr marL="1371600" lvl="3" algn="l" defTabSz="914400" rtl="0" eaLnBrk="1" latinLnBrk="0" hangingPunct="1">
              <a:buNone/>
              <a:defRPr sz="1800" kern="1200">
                <a:solidFill>
                  <a:schemeClr val="tx1"/>
                </a:solidFill>
                <a:latin typeface="+mn-lt"/>
                <a:ea typeface="+mn-ea"/>
                <a:cs typeface="+mn-cs"/>
              </a:defRPr>
            </a:lvl4pPr>
            <a:lvl5pPr marL="1828800" lvl="4" algn="l" defTabSz="914400" rtl="0" eaLnBrk="1" latinLnBrk="0" hangingPunct="1">
              <a:buNone/>
              <a:defRPr sz="1800" kern="1200">
                <a:solidFill>
                  <a:schemeClr val="tx1"/>
                </a:solidFill>
                <a:latin typeface="+mn-lt"/>
                <a:ea typeface="+mn-ea"/>
                <a:cs typeface="+mn-cs"/>
              </a:defRPr>
            </a:lvl5pPr>
            <a:lvl6pPr marL="2286000" lvl="5" algn="l" defTabSz="914400" rtl="0" eaLnBrk="1" latinLnBrk="0" hangingPunct="1">
              <a:buNone/>
              <a:defRPr sz="1800" kern="1200">
                <a:solidFill>
                  <a:schemeClr val="tx1"/>
                </a:solidFill>
                <a:latin typeface="+mn-lt"/>
                <a:ea typeface="+mn-ea"/>
                <a:cs typeface="+mn-cs"/>
              </a:defRPr>
            </a:lvl6pPr>
            <a:lvl7pPr marL="2743200" lvl="6" algn="l" defTabSz="914400" rtl="0" eaLnBrk="1" latinLnBrk="0" hangingPunct="1">
              <a:buNone/>
              <a:defRPr sz="1800" kern="1200">
                <a:solidFill>
                  <a:schemeClr val="tx1"/>
                </a:solidFill>
                <a:latin typeface="+mn-lt"/>
                <a:ea typeface="+mn-ea"/>
                <a:cs typeface="+mn-cs"/>
              </a:defRPr>
            </a:lvl7pPr>
            <a:lvl8pPr marL="3200400" lvl="7" algn="l" defTabSz="914400" rtl="0" eaLnBrk="1" latinLnBrk="0" hangingPunct="1">
              <a:buNone/>
              <a:defRPr sz="1800" kern="1200">
                <a:solidFill>
                  <a:schemeClr val="tx1"/>
                </a:solidFill>
                <a:latin typeface="+mn-lt"/>
                <a:ea typeface="+mn-ea"/>
                <a:cs typeface="+mn-cs"/>
              </a:defRPr>
            </a:lvl8pPr>
            <a:lvl9pPr marL="3657600" lvl="8" algn="l" defTabSz="914400" rtl="0" eaLnBrk="1" latinLnBrk="0" hangingPunct="1">
              <a:buNone/>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0681A5EF-23F5-49DF-95AC-6291EB1079D8}"/>
              </a:ext>
            </a:extLst>
          </p:cNvPr>
          <p:cNvSpPr txBox="1"/>
          <p:nvPr/>
        </p:nvSpPr>
        <p:spPr>
          <a:xfrm>
            <a:off x="762001" y="168860"/>
            <a:ext cx="9062935" cy="523220"/>
          </a:xfrm>
          <a:prstGeom prst="rect">
            <a:avLst/>
          </a:prstGeom>
          <a:noFill/>
        </p:spPr>
        <p:txBody>
          <a:bodyPr wrap="square" rtlCol="0">
            <a:spAutoFit/>
          </a:bodyPr>
          <a:lstStyle/>
          <a:p>
            <a:pPr algn="just"/>
            <a:r>
              <a:rPr lang="en-US" sz="2800" b="1" dirty="0">
                <a:solidFill>
                  <a:srgbClr val="DEA610"/>
                </a:solidFill>
                <a:latin typeface="Montserrat SemiBold" pitchFamily="2" charset="77"/>
              </a:rPr>
              <a:t>B787 – ATA 24 – VFSG P/N 7001330H04</a:t>
            </a:r>
          </a:p>
        </p:txBody>
      </p:sp>
      <p:grpSp>
        <p:nvGrpSpPr>
          <p:cNvPr id="22" name="Group 21">
            <a:extLst>
              <a:ext uri="{FF2B5EF4-FFF2-40B4-BE49-F238E27FC236}">
                <a16:creationId xmlns:a16="http://schemas.microsoft.com/office/drawing/2014/main" id="{9B6A9713-5436-421E-B6A7-D165186920E1}"/>
              </a:ext>
            </a:extLst>
          </p:cNvPr>
          <p:cNvGrpSpPr/>
          <p:nvPr/>
        </p:nvGrpSpPr>
        <p:grpSpPr>
          <a:xfrm>
            <a:off x="395080" y="804172"/>
            <a:ext cx="11352813" cy="980500"/>
            <a:chOff x="709281" y="790589"/>
            <a:chExt cx="11200517" cy="893481"/>
          </a:xfrm>
        </p:grpSpPr>
        <p:sp>
          <p:nvSpPr>
            <p:cNvPr id="23" name="Rectangle: Single Corner Rounded 22">
              <a:extLst>
                <a:ext uri="{FF2B5EF4-FFF2-40B4-BE49-F238E27FC236}">
                  <a16:creationId xmlns:a16="http://schemas.microsoft.com/office/drawing/2014/main" id="{BCDB3182-F766-42D9-866A-9031CAAF78AF}"/>
                </a:ext>
              </a:extLst>
            </p:cNvPr>
            <p:cNvSpPr/>
            <p:nvPr/>
          </p:nvSpPr>
          <p:spPr>
            <a:xfrm flipH="1" flipV="1">
              <a:off x="709281" y="790589"/>
              <a:ext cx="11200517" cy="893481"/>
            </a:xfrm>
            <a:prstGeom prst="round1Rect">
              <a:avLst/>
            </a:prstGeom>
            <a:pattFill prst="lgGrid">
              <a:fgClr>
                <a:srgbClr val="5B9BD5">
                  <a:lumMod val="40000"/>
                  <a:lumOff val="60000"/>
                </a:srgbClr>
              </a:fgClr>
              <a:bgClr>
                <a:srgbClr val="4472C4">
                  <a:lumMod val="20000"/>
                  <a:lumOff val="80000"/>
                </a:srgbClr>
              </a:bgClr>
            </a:patt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5A59D53F-CA6A-4EBC-8B24-F9550120E2C8}"/>
                </a:ext>
              </a:extLst>
            </p:cNvPr>
            <p:cNvSpPr/>
            <p:nvPr/>
          </p:nvSpPr>
          <p:spPr>
            <a:xfrm>
              <a:off x="818874" y="840925"/>
              <a:ext cx="10445094" cy="687131"/>
            </a:xfrm>
            <a:prstGeom prst="rect">
              <a:avLst/>
            </a:prstGeom>
          </p:spPr>
          <p:txBody>
            <a:bodyPr wrap="square">
              <a:spAutoFit/>
            </a:bodyPr>
            <a:lstStyle/>
            <a:p>
              <a:pPr indent="230188">
                <a:defRPr/>
              </a:pPr>
              <a:r>
                <a:rPr lang="en-US" sz="2400" b="1" dirty="0">
                  <a:solidFill>
                    <a:srgbClr val="4472C4">
                      <a:lumMod val="50000"/>
                    </a:srgbClr>
                  </a:solidFill>
                  <a:latin typeface="Franklin Gothic Medium Cond" panose="020B0606030402020204" pitchFamily="34" charset="0"/>
                  <a:ea typeface="Tahoma" pitchFamily="34" charset="0"/>
                  <a:cs typeface="Times New Roman" panose="02020603050405020304" pitchFamily="18" charset="0"/>
                </a:rPr>
                <a:t>A879 18-APR-25 AOG due “ELEC GEN SYS/OFF L2”</a:t>
              </a:r>
            </a:p>
            <a:p>
              <a:pPr marL="574675" indent="-349250">
                <a:spcBef>
                  <a:spcPts val="600"/>
                </a:spcBef>
                <a:buFont typeface="Arial" panose="020B0604020202020204" pitchFamily="34" charset="0"/>
                <a:buChar char="•"/>
                <a:defRPr/>
              </a:pPr>
              <a:r>
                <a:rPr lang="en-US" sz="1400" dirty="0">
                  <a:solidFill>
                    <a:srgbClr val="4472C4">
                      <a:lumMod val="50000"/>
                    </a:srgbClr>
                  </a:solidFill>
                  <a:latin typeface="Cambria" panose="02040503050406030204" pitchFamily="18" charset="0"/>
                  <a:ea typeface="Cambria" panose="02040503050406030204" pitchFamily="18" charset="0"/>
                </a:rPr>
                <a:t>A879 18-APR-25 AOG @HAN due to “ELEC GEN SYS/OFF L2”</a:t>
              </a:r>
            </a:p>
          </p:txBody>
        </p:sp>
      </p:grpSp>
      <p:grpSp>
        <p:nvGrpSpPr>
          <p:cNvPr id="25" name="Group 24">
            <a:extLst>
              <a:ext uri="{FF2B5EF4-FFF2-40B4-BE49-F238E27FC236}">
                <a16:creationId xmlns:a16="http://schemas.microsoft.com/office/drawing/2014/main" id="{39B197CB-46BC-4C6F-B83C-43A28FDA38B0}"/>
              </a:ext>
            </a:extLst>
          </p:cNvPr>
          <p:cNvGrpSpPr/>
          <p:nvPr/>
        </p:nvGrpSpPr>
        <p:grpSpPr>
          <a:xfrm>
            <a:off x="795408" y="288234"/>
            <a:ext cx="11197675" cy="678753"/>
            <a:chOff x="976560" y="323070"/>
            <a:chExt cx="10755065" cy="678753"/>
          </a:xfrm>
        </p:grpSpPr>
        <p:cxnSp>
          <p:nvCxnSpPr>
            <p:cNvPr id="26" name="Straight Connector 25">
              <a:extLst>
                <a:ext uri="{FF2B5EF4-FFF2-40B4-BE49-F238E27FC236}">
                  <a16:creationId xmlns:a16="http://schemas.microsoft.com/office/drawing/2014/main" id="{885E6F6F-56D2-494A-A0FC-610F6F83C790}"/>
                </a:ext>
              </a:extLst>
            </p:cNvPr>
            <p:cNvCxnSpPr/>
            <p:nvPr/>
          </p:nvCxnSpPr>
          <p:spPr>
            <a:xfrm>
              <a:off x="976560"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27" name="Picture 26">
              <a:extLst>
                <a:ext uri="{FF2B5EF4-FFF2-40B4-BE49-F238E27FC236}">
                  <a16:creationId xmlns:a16="http://schemas.microsoft.com/office/drawing/2014/main" id="{D34AC1DE-CA0C-4BB4-AE51-D5ADE7A644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9123" y="323070"/>
              <a:ext cx="452502" cy="678753"/>
            </a:xfrm>
            <a:prstGeom prst="rect">
              <a:avLst/>
            </a:prstGeom>
          </p:spPr>
        </p:pic>
      </p:grpSp>
      <p:sp>
        <p:nvSpPr>
          <p:cNvPr id="28" name="TextBox 27">
            <a:extLst>
              <a:ext uri="{FF2B5EF4-FFF2-40B4-BE49-F238E27FC236}">
                <a16:creationId xmlns:a16="http://schemas.microsoft.com/office/drawing/2014/main" id="{49E6A7A5-9C71-4890-A038-C3E8235FFE8D}"/>
              </a:ext>
            </a:extLst>
          </p:cNvPr>
          <p:cNvSpPr txBox="1"/>
          <p:nvPr/>
        </p:nvSpPr>
        <p:spPr>
          <a:xfrm>
            <a:off x="650518" y="1930117"/>
            <a:ext cx="2378027" cy="369332"/>
          </a:xfrm>
          <a:prstGeom prst="rect">
            <a:avLst/>
          </a:prstGeom>
          <a:noFill/>
        </p:spPr>
        <p:txBody>
          <a:bodyPr wrap="square" rtlCol="0">
            <a:spAutoFit/>
          </a:bodyPr>
          <a:lstStyle/>
          <a:p>
            <a:pPr lvl="0" algn="just">
              <a:spcBef>
                <a:spcPts val="600"/>
              </a:spcBef>
              <a:defRPr/>
            </a:pPr>
            <a:r>
              <a:rPr lang="en-US" b="1" dirty="0" err="1">
                <a:solidFill>
                  <a:srgbClr val="006885"/>
                </a:solidFill>
                <a:latin typeface="Montserrat SemiBold"/>
                <a:ea typeface="Cambria" panose="02040503050406030204" pitchFamily="18" charset="0"/>
                <a:cs typeface="Times New Roman" panose="02020603050405020304" pitchFamily="18" charset="0"/>
              </a:rPr>
              <a:t>Lịch</a:t>
            </a:r>
            <a:r>
              <a:rPr lang="en-US" b="1" dirty="0">
                <a:solidFill>
                  <a:srgbClr val="006885"/>
                </a:solidFill>
                <a:latin typeface="Montserrat SemiBold"/>
                <a:ea typeface="Cambria" panose="02040503050406030204" pitchFamily="18" charset="0"/>
                <a:cs typeface="Times New Roman" panose="02020603050405020304" pitchFamily="18" charset="0"/>
              </a:rPr>
              <a:t> </a:t>
            </a:r>
            <a:r>
              <a:rPr lang="en-US" b="1" dirty="0" err="1">
                <a:solidFill>
                  <a:srgbClr val="006885"/>
                </a:solidFill>
                <a:latin typeface="Montserrat SemiBold"/>
                <a:ea typeface="Cambria" panose="02040503050406030204" pitchFamily="18" charset="0"/>
                <a:cs typeface="Times New Roman" panose="02020603050405020304" pitchFamily="18" charset="0"/>
              </a:rPr>
              <a:t>sử</a:t>
            </a:r>
            <a:r>
              <a:rPr lang="en-US" b="1" dirty="0">
                <a:solidFill>
                  <a:srgbClr val="006885"/>
                </a:solidFill>
                <a:latin typeface="Montserrat SemiBold"/>
                <a:ea typeface="Cambria" panose="02040503050406030204" pitchFamily="18" charset="0"/>
                <a:cs typeface="Times New Roman" panose="02020603050405020304" pitchFamily="18" charset="0"/>
              </a:rPr>
              <a:t> </a:t>
            </a:r>
            <a:r>
              <a:rPr lang="en-US" b="1" dirty="0" err="1">
                <a:solidFill>
                  <a:srgbClr val="006885"/>
                </a:solidFill>
                <a:latin typeface="Montserrat SemiBold"/>
                <a:ea typeface="Cambria" panose="02040503050406030204" pitchFamily="18" charset="0"/>
                <a:cs typeface="Times New Roman" panose="02020603050405020304" pitchFamily="18" charset="0"/>
              </a:rPr>
              <a:t>hỏng</a:t>
            </a:r>
            <a:r>
              <a:rPr lang="en-US" b="1" dirty="0">
                <a:solidFill>
                  <a:srgbClr val="006885"/>
                </a:solidFill>
                <a:latin typeface="Montserrat SemiBold"/>
                <a:ea typeface="Cambria" panose="02040503050406030204" pitchFamily="18" charset="0"/>
                <a:cs typeface="Times New Roman" panose="02020603050405020304" pitchFamily="18" charset="0"/>
              </a:rPr>
              <a:t> </a:t>
            </a:r>
            <a:r>
              <a:rPr lang="en-US" b="1" dirty="0" err="1">
                <a:solidFill>
                  <a:srgbClr val="006885"/>
                </a:solidFill>
                <a:latin typeface="Montserrat SemiBold"/>
                <a:ea typeface="Cambria" panose="02040503050406030204" pitchFamily="18" charset="0"/>
                <a:cs typeface="Times New Roman" panose="02020603050405020304" pitchFamily="18" charset="0"/>
              </a:rPr>
              <a:t>hóc</a:t>
            </a:r>
            <a:endParaRPr lang="en-US" b="1" dirty="0">
              <a:solidFill>
                <a:srgbClr val="006885"/>
              </a:solidFill>
              <a:latin typeface="Montserrat SemiBold"/>
              <a:ea typeface="Cambria" panose="020405030504060302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23B08F3B-D5EC-40B5-8A3A-80FC42D346A6}"/>
              </a:ext>
            </a:extLst>
          </p:cNvPr>
          <p:cNvSpPr txBox="1"/>
          <p:nvPr/>
        </p:nvSpPr>
        <p:spPr>
          <a:xfrm>
            <a:off x="650518" y="2258983"/>
            <a:ext cx="7405380" cy="307777"/>
          </a:xfrm>
          <a:prstGeom prst="rect">
            <a:avLst/>
          </a:prstGeom>
          <a:noFill/>
        </p:spPr>
        <p:txBody>
          <a:bodyPr wrap="square" rtlCol="0">
            <a:spAutoFit/>
          </a:bodyPr>
          <a:lstStyle/>
          <a:p>
            <a:pPr marL="339725" lvl="0" indent="-227013">
              <a:spcBef>
                <a:spcPts val="400"/>
              </a:spcBef>
              <a:buFont typeface="Arial" panose="020B0604020202020204" pitchFamily="34" charset="0"/>
              <a:buChar char="•"/>
              <a:defRPr/>
            </a:pPr>
            <a:r>
              <a:rPr lang="en-US" sz="1400" dirty="0" err="1">
                <a:solidFill>
                  <a:srgbClr val="4472C4">
                    <a:lumMod val="50000"/>
                  </a:srgbClr>
                </a:solidFill>
                <a:latin typeface="Cambria" panose="02040503050406030204" pitchFamily="18" charset="0"/>
                <a:ea typeface="Cambria" panose="02040503050406030204" pitchFamily="18" charset="0"/>
              </a:rPr>
              <a:t>Ngày</a:t>
            </a:r>
            <a:r>
              <a:rPr lang="en-US" sz="1400" dirty="0">
                <a:solidFill>
                  <a:srgbClr val="4472C4">
                    <a:lumMod val="50000"/>
                  </a:srgbClr>
                </a:solidFill>
                <a:latin typeface="Cambria" panose="02040503050406030204" pitchFamily="18" charset="0"/>
                <a:ea typeface="Cambria" panose="02040503050406030204" pitchFamily="18" charset="0"/>
              </a:rPr>
              <a:t> 11/4 </a:t>
            </a:r>
            <a:r>
              <a:rPr lang="en-US" sz="1400" dirty="0" err="1">
                <a:solidFill>
                  <a:srgbClr val="4472C4">
                    <a:lumMod val="50000"/>
                  </a:srgbClr>
                </a:solidFill>
                <a:latin typeface="Cambria" panose="02040503050406030204" pitchFamily="18" charset="0"/>
                <a:ea typeface="Cambria" panose="02040503050406030204" pitchFamily="18" charset="0"/>
              </a:rPr>
              <a:t>tàu</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xuất</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hiện</a:t>
            </a:r>
            <a:r>
              <a:rPr lang="en-US" sz="1400" dirty="0">
                <a:solidFill>
                  <a:srgbClr val="4472C4">
                    <a:lumMod val="50000"/>
                  </a:srgbClr>
                </a:solidFill>
                <a:latin typeface="Cambria" panose="02040503050406030204" pitchFamily="18" charset="0"/>
                <a:ea typeface="Cambria" panose="02040503050406030204" pitchFamily="18" charset="0"/>
              </a:rPr>
              <a:t> FDE: </a:t>
            </a:r>
            <a:r>
              <a:rPr lang="en-US" sz="1400" b="1" dirty="0">
                <a:solidFill>
                  <a:srgbClr val="4472C4">
                    <a:lumMod val="50000"/>
                  </a:srgbClr>
                </a:solidFill>
                <a:latin typeface="Cambria" panose="02040503050406030204" pitchFamily="18" charset="0"/>
                <a:ea typeface="Cambria" panose="02040503050406030204" pitchFamily="18" charset="0"/>
              </a:rPr>
              <a:t>ELEC GEN SYS/OFF L2 </a:t>
            </a:r>
            <a:r>
              <a:rPr lang="en-US" sz="1400" dirty="0" err="1">
                <a:solidFill>
                  <a:srgbClr val="4472C4">
                    <a:lumMod val="50000"/>
                  </a:srgbClr>
                </a:solidFill>
                <a:latin typeface="Cambria" panose="02040503050406030204" pitchFamily="18" charset="0"/>
                <a:ea typeface="Cambria" panose="02040503050406030204" pitchFamily="18" charset="0"/>
              </a:rPr>
              <a:t>với</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a:solidFill>
                  <a:srgbClr val="FF0000"/>
                </a:solidFill>
                <a:latin typeface="Cambria" panose="02040503050406030204" pitchFamily="18" charset="0"/>
                <a:ea typeface="Cambria" panose="02040503050406030204" pitchFamily="18" charset="0"/>
              </a:rPr>
              <a:t>MMSG: 24-16002</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và</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a:solidFill>
                  <a:srgbClr val="FF0000"/>
                </a:solidFill>
                <a:latin typeface="Cambria" panose="02040503050406030204" pitchFamily="18" charset="0"/>
                <a:ea typeface="Cambria" panose="02040503050406030204" pitchFamily="18" charset="0"/>
              </a:rPr>
              <a:t>24-16072</a:t>
            </a:r>
          </a:p>
        </p:txBody>
      </p:sp>
      <p:pic>
        <p:nvPicPr>
          <p:cNvPr id="32" name="Picture 31">
            <a:extLst>
              <a:ext uri="{FF2B5EF4-FFF2-40B4-BE49-F238E27FC236}">
                <a16:creationId xmlns:a16="http://schemas.microsoft.com/office/drawing/2014/main" id="{4DBFF7F0-3257-4570-ADE3-318ED6EB66A3}"/>
              </a:ext>
            </a:extLst>
          </p:cNvPr>
          <p:cNvPicPr>
            <a:picLocks noChangeAspect="1"/>
          </p:cNvPicPr>
          <p:nvPr/>
        </p:nvPicPr>
        <p:blipFill>
          <a:blip r:embed="rId4"/>
          <a:stretch>
            <a:fillRect/>
          </a:stretch>
        </p:blipFill>
        <p:spPr>
          <a:xfrm>
            <a:off x="139641" y="1894057"/>
            <a:ext cx="510877" cy="512345"/>
          </a:xfrm>
          <a:prstGeom prst="rect">
            <a:avLst/>
          </a:prstGeom>
        </p:spPr>
      </p:pic>
      <p:pic>
        <p:nvPicPr>
          <p:cNvPr id="7" name="Picture 6">
            <a:extLst>
              <a:ext uri="{FF2B5EF4-FFF2-40B4-BE49-F238E27FC236}">
                <a16:creationId xmlns:a16="http://schemas.microsoft.com/office/drawing/2014/main" id="{CAAAAC9B-3057-F9F2-6273-E886AEE1956B}"/>
              </a:ext>
            </a:extLst>
          </p:cNvPr>
          <p:cNvPicPr>
            <a:picLocks noChangeAspect="1"/>
          </p:cNvPicPr>
          <p:nvPr/>
        </p:nvPicPr>
        <p:blipFill>
          <a:blip r:embed="rId5"/>
          <a:stretch>
            <a:fillRect/>
          </a:stretch>
        </p:blipFill>
        <p:spPr>
          <a:xfrm>
            <a:off x="193347" y="2551847"/>
            <a:ext cx="11212749" cy="988242"/>
          </a:xfrm>
          <a:prstGeom prst="rect">
            <a:avLst/>
          </a:prstGeom>
        </p:spPr>
      </p:pic>
      <p:sp>
        <p:nvSpPr>
          <p:cNvPr id="8" name="TextBox 7">
            <a:extLst>
              <a:ext uri="{FF2B5EF4-FFF2-40B4-BE49-F238E27FC236}">
                <a16:creationId xmlns:a16="http://schemas.microsoft.com/office/drawing/2014/main" id="{5B8979BC-BD0E-7639-EF94-1E34912732D9}"/>
              </a:ext>
            </a:extLst>
          </p:cNvPr>
          <p:cNvSpPr txBox="1"/>
          <p:nvPr/>
        </p:nvSpPr>
        <p:spPr>
          <a:xfrm>
            <a:off x="650518" y="3654570"/>
            <a:ext cx="7405380" cy="1107996"/>
          </a:xfrm>
          <a:prstGeom prst="rect">
            <a:avLst/>
          </a:prstGeom>
          <a:noFill/>
        </p:spPr>
        <p:txBody>
          <a:bodyPr wrap="square" rtlCol="0">
            <a:spAutoFit/>
          </a:bodyPr>
          <a:lstStyle/>
          <a:p>
            <a:pPr marL="339725" lvl="0" indent="-227013">
              <a:spcBef>
                <a:spcPts val="400"/>
              </a:spcBef>
              <a:buFont typeface="Arial" panose="020B0604020202020204" pitchFamily="34" charset="0"/>
              <a:buChar char="•"/>
              <a:defRPr/>
            </a:pPr>
            <a:r>
              <a:rPr lang="en-US" sz="1400" dirty="0">
                <a:solidFill>
                  <a:srgbClr val="4472C4">
                    <a:lumMod val="50000"/>
                  </a:srgbClr>
                </a:solidFill>
                <a:latin typeface="Cambria" panose="02040503050406030204" pitchFamily="18" charset="0"/>
                <a:ea typeface="Cambria" panose="02040503050406030204" pitchFamily="18" charset="0"/>
              </a:rPr>
              <a:t>Tiến </a:t>
            </a:r>
            <a:r>
              <a:rPr lang="en-US" sz="1400" dirty="0" err="1">
                <a:solidFill>
                  <a:srgbClr val="4472C4">
                    <a:lumMod val="50000"/>
                  </a:srgbClr>
                </a:solidFill>
                <a:latin typeface="Cambria" panose="02040503050406030204" pitchFamily="18" charset="0"/>
                <a:ea typeface="Cambria" panose="02040503050406030204" pitchFamily="18" charset="0"/>
              </a:rPr>
              <a:t>hành</a:t>
            </a:r>
            <a:r>
              <a:rPr lang="en-US" sz="1400" dirty="0">
                <a:solidFill>
                  <a:srgbClr val="4472C4">
                    <a:lumMod val="50000"/>
                  </a:srgbClr>
                </a:solidFill>
                <a:latin typeface="Cambria" panose="02040503050406030204" pitchFamily="18" charset="0"/>
                <a:ea typeface="Cambria" panose="02040503050406030204" pitchFamily="18" charset="0"/>
              </a:rPr>
              <a:t> T/S </a:t>
            </a:r>
            <a:r>
              <a:rPr lang="en-US" sz="1400" dirty="0" err="1">
                <a:solidFill>
                  <a:srgbClr val="4472C4">
                    <a:lumMod val="50000"/>
                  </a:srgbClr>
                </a:solidFill>
                <a:latin typeface="Cambria" panose="02040503050406030204" pitchFamily="18" charset="0"/>
                <a:ea typeface="Cambria" panose="02040503050406030204" pitchFamily="18" charset="0"/>
              </a:rPr>
              <a:t>theo</a:t>
            </a:r>
            <a:r>
              <a:rPr lang="en-US" sz="1400" dirty="0">
                <a:solidFill>
                  <a:srgbClr val="4472C4">
                    <a:lumMod val="50000"/>
                  </a:srgbClr>
                </a:solidFill>
                <a:latin typeface="Cambria" panose="02040503050406030204" pitchFamily="18" charset="0"/>
                <a:ea typeface="Cambria" panose="02040503050406030204" pitchFamily="18" charset="0"/>
              </a:rPr>
              <a:t> 2 MMSG </a:t>
            </a:r>
            <a:r>
              <a:rPr lang="en-US" sz="1400" dirty="0" err="1">
                <a:solidFill>
                  <a:srgbClr val="4472C4">
                    <a:lumMod val="50000"/>
                  </a:srgbClr>
                </a:solidFill>
                <a:latin typeface="Cambria" panose="02040503050406030204" pitchFamily="18" charset="0"/>
                <a:ea typeface="Cambria" panose="02040503050406030204" pitchFamily="18" charset="0"/>
              </a:rPr>
              <a:t>trên</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đã</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thực</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hiện</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thay</a:t>
            </a:r>
            <a:r>
              <a:rPr lang="en-US" sz="1400" dirty="0">
                <a:solidFill>
                  <a:srgbClr val="4472C4">
                    <a:lumMod val="50000"/>
                  </a:srgbClr>
                </a:solidFill>
                <a:latin typeface="Cambria" panose="02040503050406030204" pitchFamily="18" charset="0"/>
                <a:ea typeface="Cambria" panose="02040503050406030204" pitchFamily="18" charset="0"/>
              </a:rPr>
              <a:t>:</a:t>
            </a:r>
          </a:p>
          <a:p>
            <a:pPr marL="455612" lvl="0" indent="-342900">
              <a:spcBef>
                <a:spcPts val="400"/>
              </a:spcBef>
              <a:buFont typeface="+mj-lt"/>
              <a:buAutoNum type="arabicPeriod"/>
              <a:defRPr/>
            </a:pPr>
            <a:r>
              <a:rPr lang="en-US" sz="1400" dirty="0">
                <a:solidFill>
                  <a:srgbClr val="4472C4">
                    <a:lumMod val="50000"/>
                  </a:srgbClr>
                </a:solidFill>
                <a:latin typeface="Cambria" panose="02040503050406030204" pitchFamily="18" charset="0"/>
                <a:ea typeface="Cambria" panose="02040503050406030204" pitchFamily="18" charset="0"/>
              </a:rPr>
              <a:t>GCU PN: 7000053H05, SN: AAEM006235. TSN/TSO=12917.8FH. RSPL=50000FH.</a:t>
            </a:r>
          </a:p>
          <a:p>
            <a:pPr marL="455612" lvl="0" indent="-342900">
              <a:spcBef>
                <a:spcPts val="400"/>
              </a:spcBef>
              <a:buFont typeface="+mj-lt"/>
              <a:buAutoNum type="arabicPeriod"/>
              <a:defRPr/>
            </a:pPr>
            <a:r>
              <a:rPr lang="en-US" sz="1400" dirty="0">
                <a:solidFill>
                  <a:srgbClr val="4472C4">
                    <a:lumMod val="50000"/>
                  </a:srgbClr>
                </a:solidFill>
                <a:latin typeface="Cambria" panose="02040503050406030204" pitchFamily="18" charset="0"/>
                <a:ea typeface="Cambria" panose="02040503050406030204" pitchFamily="18" charset="0"/>
              </a:rPr>
              <a:t>VFSG PN: 7001330H04, SN: AAEF000476. TSN/TSO=34721.7FH. GMTBUR=12000FH.</a:t>
            </a:r>
          </a:p>
          <a:p>
            <a:pPr marL="398462" lvl="0" indent="-285750">
              <a:spcBef>
                <a:spcPts val="400"/>
              </a:spcBef>
              <a:buFont typeface="Arial" panose="020B0604020202020204" pitchFamily="34" charset="0"/>
              <a:buChar char="•"/>
              <a:defRPr/>
            </a:pPr>
            <a:r>
              <a:rPr lang="en-US" sz="1400" dirty="0" err="1">
                <a:solidFill>
                  <a:srgbClr val="4472C4">
                    <a:lumMod val="50000"/>
                  </a:srgbClr>
                </a:solidFill>
                <a:latin typeface="Cambria" panose="02040503050406030204" pitchFamily="18" charset="0"/>
                <a:ea typeface="Cambria" panose="02040503050406030204" pitchFamily="18" charset="0"/>
              </a:rPr>
              <a:t>Ngày</a:t>
            </a:r>
            <a:r>
              <a:rPr lang="en-US" sz="1400" dirty="0">
                <a:solidFill>
                  <a:srgbClr val="4472C4">
                    <a:lumMod val="50000"/>
                  </a:srgbClr>
                </a:solidFill>
                <a:latin typeface="Cambria" panose="02040503050406030204" pitchFamily="18" charset="0"/>
                <a:ea typeface="Cambria" panose="02040503050406030204" pitchFamily="18" charset="0"/>
              </a:rPr>
              <a:t> 17/4 </a:t>
            </a:r>
            <a:r>
              <a:rPr lang="en-US" sz="1400" dirty="0" err="1">
                <a:solidFill>
                  <a:srgbClr val="4472C4">
                    <a:lumMod val="50000"/>
                  </a:srgbClr>
                </a:solidFill>
                <a:latin typeface="Cambria" panose="02040503050406030204" pitchFamily="18" charset="0"/>
                <a:ea typeface="Cambria" panose="02040503050406030204" pitchFamily="18" charset="0"/>
              </a:rPr>
              <a:t>tàu</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xuất</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hiện</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lại</a:t>
            </a:r>
            <a:r>
              <a:rPr lang="en-US" sz="1400" dirty="0">
                <a:solidFill>
                  <a:srgbClr val="4472C4">
                    <a:lumMod val="50000"/>
                  </a:srgbClr>
                </a:solidFill>
                <a:latin typeface="Cambria" panose="02040503050406030204" pitchFamily="18" charset="0"/>
                <a:ea typeface="Cambria" panose="02040503050406030204" pitchFamily="18" charset="0"/>
              </a:rPr>
              <a:t> FDE: </a:t>
            </a:r>
            <a:r>
              <a:rPr lang="en-US" sz="1400" b="1" dirty="0">
                <a:solidFill>
                  <a:srgbClr val="4472C4">
                    <a:lumMod val="50000"/>
                  </a:srgbClr>
                </a:solidFill>
                <a:latin typeface="Cambria" panose="02040503050406030204" pitchFamily="18" charset="0"/>
                <a:ea typeface="Cambria" panose="02040503050406030204" pitchFamily="18" charset="0"/>
              </a:rPr>
              <a:t>ELEC GEN SYS/OFF L2 </a:t>
            </a:r>
            <a:r>
              <a:rPr lang="en-US" sz="1400" dirty="0" err="1">
                <a:solidFill>
                  <a:srgbClr val="4472C4">
                    <a:lumMod val="50000"/>
                  </a:srgbClr>
                </a:solidFill>
                <a:latin typeface="Cambria" panose="02040503050406030204" pitchFamily="18" charset="0"/>
                <a:ea typeface="Cambria" panose="02040503050406030204" pitchFamily="18" charset="0"/>
              </a:rPr>
              <a:t>với</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a:solidFill>
                  <a:srgbClr val="FF0000"/>
                </a:solidFill>
                <a:latin typeface="Cambria" panose="02040503050406030204" pitchFamily="18" charset="0"/>
                <a:ea typeface="Cambria" panose="02040503050406030204" pitchFamily="18" charset="0"/>
              </a:rPr>
              <a:t>MMSG: 24-16592</a:t>
            </a:r>
          </a:p>
        </p:txBody>
      </p:sp>
      <p:pic>
        <p:nvPicPr>
          <p:cNvPr id="10" name="Picture 9">
            <a:extLst>
              <a:ext uri="{FF2B5EF4-FFF2-40B4-BE49-F238E27FC236}">
                <a16:creationId xmlns:a16="http://schemas.microsoft.com/office/drawing/2014/main" id="{147EA13C-436C-7570-C975-CB2501162E40}"/>
              </a:ext>
            </a:extLst>
          </p:cNvPr>
          <p:cNvPicPr>
            <a:picLocks noChangeAspect="1"/>
          </p:cNvPicPr>
          <p:nvPr/>
        </p:nvPicPr>
        <p:blipFill>
          <a:blip r:embed="rId6"/>
          <a:stretch>
            <a:fillRect/>
          </a:stretch>
        </p:blipFill>
        <p:spPr>
          <a:xfrm>
            <a:off x="175651" y="4763818"/>
            <a:ext cx="11230445" cy="703783"/>
          </a:xfrm>
          <a:prstGeom prst="rect">
            <a:avLst/>
          </a:prstGeom>
        </p:spPr>
      </p:pic>
      <p:sp>
        <p:nvSpPr>
          <p:cNvPr id="11" name="TextBox 10">
            <a:extLst>
              <a:ext uri="{FF2B5EF4-FFF2-40B4-BE49-F238E27FC236}">
                <a16:creationId xmlns:a16="http://schemas.microsoft.com/office/drawing/2014/main" id="{F1921298-9CD8-AB18-54FB-DE76AA0E4CB3}"/>
              </a:ext>
            </a:extLst>
          </p:cNvPr>
          <p:cNvSpPr txBox="1"/>
          <p:nvPr/>
        </p:nvSpPr>
        <p:spPr>
          <a:xfrm>
            <a:off x="650517" y="5448358"/>
            <a:ext cx="10809646" cy="1107996"/>
          </a:xfrm>
          <a:prstGeom prst="rect">
            <a:avLst/>
          </a:prstGeom>
          <a:noFill/>
        </p:spPr>
        <p:txBody>
          <a:bodyPr wrap="square" rtlCol="0">
            <a:spAutoFit/>
          </a:bodyPr>
          <a:lstStyle/>
          <a:p>
            <a:pPr marL="339725" lvl="0" indent="-227013">
              <a:spcBef>
                <a:spcPts val="400"/>
              </a:spcBef>
              <a:buFont typeface="Arial" panose="020B0604020202020204" pitchFamily="34" charset="0"/>
              <a:buChar char="•"/>
              <a:defRPr/>
            </a:pPr>
            <a:r>
              <a:rPr lang="en-US" sz="1400" dirty="0" err="1">
                <a:solidFill>
                  <a:srgbClr val="4472C4">
                    <a:lumMod val="50000"/>
                  </a:srgbClr>
                </a:solidFill>
                <a:latin typeface="Cambria" panose="02040503050406030204" pitchFamily="18" charset="0"/>
                <a:ea typeface="Cambria" panose="02040503050406030204" pitchFamily="18" charset="0"/>
              </a:rPr>
              <a:t>Thực</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hiện</a:t>
            </a:r>
            <a:r>
              <a:rPr lang="en-US" sz="1400" dirty="0">
                <a:solidFill>
                  <a:srgbClr val="4472C4">
                    <a:lumMod val="50000"/>
                  </a:srgbClr>
                </a:solidFill>
                <a:latin typeface="Cambria" panose="02040503050406030204" pitchFamily="18" charset="0"/>
                <a:ea typeface="Cambria" panose="02040503050406030204" pitchFamily="18" charset="0"/>
              </a:rPr>
              <a:t> T/S </a:t>
            </a:r>
            <a:r>
              <a:rPr lang="en-US" sz="1400" dirty="0" err="1">
                <a:solidFill>
                  <a:srgbClr val="4472C4">
                    <a:lumMod val="50000"/>
                  </a:srgbClr>
                </a:solidFill>
                <a:latin typeface="Cambria" panose="02040503050406030204" pitchFamily="18" charset="0"/>
                <a:ea typeface="Cambria" panose="02040503050406030204" pitchFamily="18" charset="0"/>
              </a:rPr>
              <a:t>theo</a:t>
            </a:r>
            <a:r>
              <a:rPr lang="en-US" sz="1400" dirty="0">
                <a:solidFill>
                  <a:srgbClr val="4472C4">
                    <a:lumMod val="50000"/>
                  </a:srgbClr>
                </a:solidFill>
                <a:latin typeface="Cambria" panose="02040503050406030204" pitchFamily="18" charset="0"/>
                <a:ea typeface="Cambria" panose="02040503050406030204" pitchFamily="18" charset="0"/>
              </a:rPr>
              <a:t> MMSG </a:t>
            </a:r>
            <a:r>
              <a:rPr lang="en-US" sz="1400" dirty="0" err="1">
                <a:solidFill>
                  <a:srgbClr val="4472C4">
                    <a:lumMod val="50000"/>
                  </a:srgbClr>
                </a:solidFill>
                <a:latin typeface="Cambria" panose="02040503050406030204" pitchFamily="18" charset="0"/>
                <a:ea typeface="Cambria" panose="02040503050406030204" pitchFamily="18" charset="0"/>
              </a:rPr>
              <a:t>trên</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đã</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thực</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hiện</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thay</a:t>
            </a:r>
            <a:r>
              <a:rPr lang="en-US" sz="1400" dirty="0">
                <a:solidFill>
                  <a:srgbClr val="4472C4">
                    <a:lumMod val="50000"/>
                  </a:srgbClr>
                </a:solidFill>
                <a:latin typeface="Cambria" panose="02040503050406030204" pitchFamily="18" charset="0"/>
                <a:ea typeface="Cambria" panose="02040503050406030204" pitchFamily="18" charset="0"/>
              </a:rPr>
              <a:t>:</a:t>
            </a:r>
          </a:p>
          <a:p>
            <a:pPr marL="455612" lvl="0" indent="-342900">
              <a:spcBef>
                <a:spcPts val="400"/>
              </a:spcBef>
              <a:buFont typeface="+mj-lt"/>
              <a:buAutoNum type="arabicPeriod"/>
              <a:defRPr/>
            </a:pPr>
            <a:r>
              <a:rPr lang="en-US" sz="1400" dirty="0">
                <a:solidFill>
                  <a:srgbClr val="4472C4">
                    <a:lumMod val="50000"/>
                  </a:srgbClr>
                </a:solidFill>
                <a:latin typeface="Cambria" panose="02040503050406030204" pitchFamily="18" charset="0"/>
                <a:ea typeface="Cambria" panose="02040503050406030204" pitchFamily="18" charset="0"/>
              </a:rPr>
              <a:t>Check wiring </a:t>
            </a:r>
            <a:r>
              <a:rPr lang="en-US" sz="1400" dirty="0" err="1">
                <a:solidFill>
                  <a:srgbClr val="4472C4">
                    <a:lumMod val="50000"/>
                  </a:srgbClr>
                </a:solidFill>
                <a:latin typeface="Cambria" panose="02040503050406030204" pitchFamily="18" charset="0"/>
                <a:ea typeface="Cambria" panose="02040503050406030204" pitchFamily="18" charset="0"/>
              </a:rPr>
              <a:t>không</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phát</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hiện</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bất</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thường</a:t>
            </a:r>
            <a:endParaRPr lang="en-US" sz="1400" dirty="0">
              <a:solidFill>
                <a:srgbClr val="4472C4">
                  <a:lumMod val="50000"/>
                </a:srgbClr>
              </a:solidFill>
              <a:latin typeface="Cambria" panose="02040503050406030204" pitchFamily="18" charset="0"/>
              <a:ea typeface="Cambria" panose="02040503050406030204" pitchFamily="18" charset="0"/>
            </a:endParaRPr>
          </a:p>
          <a:p>
            <a:pPr marL="455612" lvl="0" indent="-342900">
              <a:spcBef>
                <a:spcPts val="400"/>
              </a:spcBef>
              <a:buFont typeface="+mj-lt"/>
              <a:buAutoNum type="arabicPeriod"/>
              <a:defRPr/>
            </a:pPr>
            <a:r>
              <a:rPr lang="en-US" sz="1400" dirty="0">
                <a:solidFill>
                  <a:srgbClr val="4472C4">
                    <a:lumMod val="50000"/>
                  </a:srgbClr>
                </a:solidFill>
                <a:latin typeface="Cambria" panose="02040503050406030204" pitchFamily="18" charset="0"/>
                <a:ea typeface="Cambria" panose="02040503050406030204" pitchFamily="18" charset="0"/>
              </a:rPr>
              <a:t>Main Engine Data Concentrator (MEDC) PN: 30295-0101, SN: 3093. TSN/TSO=13087FH. RSPL=20250FH</a:t>
            </a:r>
          </a:p>
          <a:p>
            <a:pPr marL="455612" lvl="0" indent="-342900">
              <a:spcBef>
                <a:spcPts val="400"/>
              </a:spcBef>
              <a:buFont typeface="+mj-lt"/>
              <a:buAutoNum type="arabicPeriod"/>
              <a:defRPr/>
            </a:pPr>
            <a:r>
              <a:rPr lang="en-US" sz="1400" dirty="0">
                <a:solidFill>
                  <a:srgbClr val="4472C4">
                    <a:lumMod val="50000"/>
                  </a:srgbClr>
                </a:solidFill>
                <a:latin typeface="Cambria" panose="02040503050406030204" pitchFamily="18" charset="0"/>
                <a:ea typeface="Cambria" panose="02040503050406030204" pitchFamily="18" charset="0"/>
              </a:rPr>
              <a:t>VFSG PN: 7001330H04, SN: AAEF001608. TSN/TSO=17140FH. TSI=5FC. GMTBUR=12000FH. </a:t>
            </a:r>
            <a:r>
              <a:rPr lang="en-US" sz="1400" dirty="0" err="1">
                <a:solidFill>
                  <a:srgbClr val="4472C4">
                    <a:lumMod val="50000"/>
                  </a:srgbClr>
                </a:solidFill>
                <a:latin typeface="Cambria" panose="02040503050406030204" pitchFamily="18" charset="0"/>
                <a:ea typeface="Cambria" panose="02040503050406030204" pitchFamily="18" charset="0"/>
              </a:rPr>
              <a:t>Đây</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là</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khối</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mới</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nhận</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về</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từ</a:t>
            </a:r>
            <a:r>
              <a:rPr lang="en-US" sz="1400" dirty="0">
                <a:solidFill>
                  <a:srgbClr val="4472C4">
                    <a:lumMod val="50000"/>
                  </a:srgbClr>
                </a:solidFill>
                <a:latin typeface="Cambria" panose="02040503050406030204" pitchFamily="18" charset="0"/>
                <a:ea typeface="Cambria" panose="02040503050406030204" pitchFamily="18" charset="0"/>
              </a:rPr>
              <a:t> KLM</a:t>
            </a:r>
            <a:endParaRPr lang="en-US" sz="1400" dirty="0">
              <a:solidFill>
                <a:srgbClr val="FF000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8617544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3D2AC-485F-9B90-5D07-ED0F7DF91E2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2F3C13A-7AAC-50DA-49F9-F32E98A3B686}"/>
              </a:ext>
            </a:extLst>
          </p:cNvPr>
          <p:cNvSpPr>
            <a:spLocks noGrp="1"/>
          </p:cNvSpPr>
          <p:nvPr>
            <p:ph type="sldNum" idx="4294967295"/>
          </p:nvPr>
        </p:nvSpPr>
        <p:spPr>
          <a:xfrm>
            <a:off x="11460163" y="6218238"/>
            <a:ext cx="731837" cy="52387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0" name="Slide Number Placeholder 3">
            <a:extLst>
              <a:ext uri="{FF2B5EF4-FFF2-40B4-BE49-F238E27FC236}">
                <a16:creationId xmlns:a16="http://schemas.microsoft.com/office/drawing/2014/main" id="{F7FC8F38-9C02-6AE7-BE30-F5B77AB6FDC7}"/>
              </a:ext>
            </a:extLst>
          </p:cNvPr>
          <p:cNvSpPr txBox="1">
            <a:spLocks/>
          </p:cNvSpPr>
          <p:nvPr/>
        </p:nvSpPr>
        <p:spPr>
          <a:xfrm>
            <a:off x="8610600" y="6356350"/>
            <a:ext cx="2743200" cy="365125"/>
          </a:xfrm>
          <a:prstGeom prst="rect">
            <a:avLst/>
          </a:prstGeom>
        </p:spPr>
        <p:txBody>
          <a:bodyPr spcFirstLastPara="1" vert="horz" wrap="square" lIns="91425" tIns="91425" rIns="91425" bIns="91425" rtlCol="0" anchor="ctr" anchorCtr="0">
            <a:normAutofit lnSpcReduction="10000"/>
          </a:bodyPr>
          <a:lstStyle>
            <a:defPPr>
              <a:defRPr lang="en-US"/>
            </a:defPPr>
            <a:lvl1pPr marL="0" lvl="0" algn="r" defTabSz="914400" rtl="0" eaLnBrk="1" latinLnBrk="0" hangingPunct="1">
              <a:buNone/>
              <a:defRPr sz="1200" kern="1200">
                <a:solidFill>
                  <a:schemeClr val="tx1">
                    <a:tint val="75000"/>
                  </a:schemeClr>
                </a:solidFill>
                <a:latin typeface="+mn-lt"/>
                <a:ea typeface="+mn-ea"/>
                <a:cs typeface="+mn-cs"/>
              </a:defRPr>
            </a:lvl1pPr>
            <a:lvl2pPr marL="457200" lvl="1" algn="l" defTabSz="914400" rtl="0" eaLnBrk="1" latinLnBrk="0" hangingPunct="1">
              <a:buNone/>
              <a:defRPr sz="1800" kern="1200">
                <a:solidFill>
                  <a:schemeClr val="tx1"/>
                </a:solidFill>
                <a:latin typeface="+mn-lt"/>
                <a:ea typeface="+mn-ea"/>
                <a:cs typeface="+mn-cs"/>
              </a:defRPr>
            </a:lvl2pPr>
            <a:lvl3pPr marL="914400" lvl="2" algn="l" defTabSz="914400" rtl="0" eaLnBrk="1" latinLnBrk="0" hangingPunct="1">
              <a:buNone/>
              <a:defRPr sz="1800" kern="1200">
                <a:solidFill>
                  <a:schemeClr val="tx1"/>
                </a:solidFill>
                <a:latin typeface="+mn-lt"/>
                <a:ea typeface="+mn-ea"/>
                <a:cs typeface="+mn-cs"/>
              </a:defRPr>
            </a:lvl3pPr>
            <a:lvl4pPr marL="1371600" lvl="3" algn="l" defTabSz="914400" rtl="0" eaLnBrk="1" latinLnBrk="0" hangingPunct="1">
              <a:buNone/>
              <a:defRPr sz="1800" kern="1200">
                <a:solidFill>
                  <a:schemeClr val="tx1"/>
                </a:solidFill>
                <a:latin typeface="+mn-lt"/>
                <a:ea typeface="+mn-ea"/>
                <a:cs typeface="+mn-cs"/>
              </a:defRPr>
            </a:lvl4pPr>
            <a:lvl5pPr marL="1828800" lvl="4" algn="l" defTabSz="914400" rtl="0" eaLnBrk="1" latinLnBrk="0" hangingPunct="1">
              <a:buNone/>
              <a:defRPr sz="1800" kern="1200">
                <a:solidFill>
                  <a:schemeClr val="tx1"/>
                </a:solidFill>
                <a:latin typeface="+mn-lt"/>
                <a:ea typeface="+mn-ea"/>
                <a:cs typeface="+mn-cs"/>
              </a:defRPr>
            </a:lvl5pPr>
            <a:lvl6pPr marL="2286000" lvl="5" algn="l" defTabSz="914400" rtl="0" eaLnBrk="1" latinLnBrk="0" hangingPunct="1">
              <a:buNone/>
              <a:defRPr sz="1800" kern="1200">
                <a:solidFill>
                  <a:schemeClr val="tx1"/>
                </a:solidFill>
                <a:latin typeface="+mn-lt"/>
                <a:ea typeface="+mn-ea"/>
                <a:cs typeface="+mn-cs"/>
              </a:defRPr>
            </a:lvl6pPr>
            <a:lvl7pPr marL="2743200" lvl="6" algn="l" defTabSz="914400" rtl="0" eaLnBrk="1" latinLnBrk="0" hangingPunct="1">
              <a:buNone/>
              <a:defRPr sz="1800" kern="1200">
                <a:solidFill>
                  <a:schemeClr val="tx1"/>
                </a:solidFill>
                <a:latin typeface="+mn-lt"/>
                <a:ea typeface="+mn-ea"/>
                <a:cs typeface="+mn-cs"/>
              </a:defRPr>
            </a:lvl7pPr>
            <a:lvl8pPr marL="3200400" lvl="7" algn="l" defTabSz="914400" rtl="0" eaLnBrk="1" latinLnBrk="0" hangingPunct="1">
              <a:buNone/>
              <a:defRPr sz="1800" kern="1200">
                <a:solidFill>
                  <a:schemeClr val="tx1"/>
                </a:solidFill>
                <a:latin typeface="+mn-lt"/>
                <a:ea typeface="+mn-ea"/>
                <a:cs typeface="+mn-cs"/>
              </a:defRPr>
            </a:lvl8pPr>
            <a:lvl9pPr marL="3657600" lvl="8" algn="l" defTabSz="914400" rtl="0" eaLnBrk="1" latinLnBrk="0" hangingPunct="1">
              <a:buNone/>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E27E3241-8AD2-F885-34F4-FDD32086E47C}"/>
              </a:ext>
            </a:extLst>
          </p:cNvPr>
          <p:cNvSpPr txBox="1"/>
          <p:nvPr/>
        </p:nvSpPr>
        <p:spPr>
          <a:xfrm>
            <a:off x="762001" y="168860"/>
            <a:ext cx="9062935" cy="523220"/>
          </a:xfrm>
          <a:prstGeom prst="rect">
            <a:avLst/>
          </a:prstGeom>
          <a:noFill/>
        </p:spPr>
        <p:txBody>
          <a:bodyPr wrap="square" rtlCol="0">
            <a:spAutoFit/>
          </a:bodyPr>
          <a:lstStyle/>
          <a:p>
            <a:pPr algn="just"/>
            <a:r>
              <a:rPr lang="en-US" sz="2800" b="1" dirty="0">
                <a:solidFill>
                  <a:srgbClr val="DEA610"/>
                </a:solidFill>
                <a:latin typeface="Montserrat SemiBold" pitchFamily="2" charset="77"/>
              </a:rPr>
              <a:t>B787 – ATA 24 – VFSG P/N 7001330H04</a:t>
            </a:r>
          </a:p>
        </p:txBody>
      </p:sp>
      <p:grpSp>
        <p:nvGrpSpPr>
          <p:cNvPr id="25" name="Group 24">
            <a:extLst>
              <a:ext uri="{FF2B5EF4-FFF2-40B4-BE49-F238E27FC236}">
                <a16:creationId xmlns:a16="http://schemas.microsoft.com/office/drawing/2014/main" id="{F73D7409-90DA-46D9-811A-67310F44F185}"/>
              </a:ext>
            </a:extLst>
          </p:cNvPr>
          <p:cNvGrpSpPr/>
          <p:nvPr/>
        </p:nvGrpSpPr>
        <p:grpSpPr>
          <a:xfrm>
            <a:off x="795408" y="288234"/>
            <a:ext cx="11215009" cy="593740"/>
            <a:chOff x="976560" y="323070"/>
            <a:chExt cx="10755065" cy="678753"/>
          </a:xfrm>
        </p:grpSpPr>
        <p:cxnSp>
          <p:nvCxnSpPr>
            <p:cNvPr id="26" name="Straight Connector 25">
              <a:extLst>
                <a:ext uri="{FF2B5EF4-FFF2-40B4-BE49-F238E27FC236}">
                  <a16:creationId xmlns:a16="http://schemas.microsoft.com/office/drawing/2014/main" id="{D25B811D-970D-DCB8-78C5-EDBF7A73B446}"/>
                </a:ext>
              </a:extLst>
            </p:cNvPr>
            <p:cNvCxnSpPr/>
            <p:nvPr/>
          </p:nvCxnSpPr>
          <p:spPr>
            <a:xfrm>
              <a:off x="976560"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27" name="Picture 26">
              <a:extLst>
                <a:ext uri="{FF2B5EF4-FFF2-40B4-BE49-F238E27FC236}">
                  <a16:creationId xmlns:a16="http://schemas.microsoft.com/office/drawing/2014/main" id="{145D540D-BAB6-B491-A1E5-DE44E7BF3C6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9123" y="323070"/>
              <a:ext cx="452502" cy="678753"/>
            </a:xfrm>
            <a:prstGeom prst="rect">
              <a:avLst/>
            </a:prstGeom>
          </p:spPr>
        </p:pic>
      </p:grpSp>
      <p:sp>
        <p:nvSpPr>
          <p:cNvPr id="2" name="TextBox 1">
            <a:extLst>
              <a:ext uri="{FF2B5EF4-FFF2-40B4-BE49-F238E27FC236}">
                <a16:creationId xmlns:a16="http://schemas.microsoft.com/office/drawing/2014/main" id="{B556DD37-C295-FB1D-9D73-F86075316C22}"/>
              </a:ext>
            </a:extLst>
          </p:cNvPr>
          <p:cNvSpPr txBox="1"/>
          <p:nvPr/>
        </p:nvSpPr>
        <p:spPr>
          <a:xfrm>
            <a:off x="520815" y="728085"/>
            <a:ext cx="7405380" cy="307777"/>
          </a:xfrm>
          <a:prstGeom prst="rect">
            <a:avLst/>
          </a:prstGeom>
          <a:noFill/>
        </p:spPr>
        <p:txBody>
          <a:bodyPr wrap="square" rtlCol="0">
            <a:spAutoFit/>
          </a:bodyPr>
          <a:lstStyle/>
          <a:p>
            <a:pPr marL="339725" lvl="0" indent="-227013">
              <a:spcBef>
                <a:spcPts val="400"/>
              </a:spcBef>
              <a:buFont typeface="Arial" panose="020B0604020202020204" pitchFamily="34" charset="0"/>
              <a:buChar char="•"/>
              <a:defRPr/>
            </a:pPr>
            <a:r>
              <a:rPr lang="en-US" sz="1400" dirty="0">
                <a:solidFill>
                  <a:srgbClr val="4472C4">
                    <a:lumMod val="50000"/>
                  </a:srgbClr>
                </a:solidFill>
                <a:latin typeface="Cambria" panose="02040503050406030204" pitchFamily="18" charset="0"/>
                <a:ea typeface="Cambria" panose="02040503050406030204" pitchFamily="18" charset="0"/>
              </a:rPr>
              <a:t>Sau </a:t>
            </a:r>
            <a:r>
              <a:rPr lang="en-US" sz="1400" dirty="0" err="1">
                <a:solidFill>
                  <a:srgbClr val="4472C4">
                    <a:lumMod val="50000"/>
                  </a:srgbClr>
                </a:solidFill>
                <a:latin typeface="Cambria" panose="02040503050406030204" pitchFamily="18" charset="0"/>
                <a:ea typeface="Cambria" panose="02040503050406030204" pitchFamily="18" charset="0"/>
              </a:rPr>
              <a:t>khi</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thực</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hiện</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thay</a:t>
            </a:r>
            <a:r>
              <a:rPr lang="en-US" sz="1400" dirty="0">
                <a:solidFill>
                  <a:srgbClr val="4472C4">
                    <a:lumMod val="50000"/>
                  </a:srgbClr>
                </a:solidFill>
                <a:latin typeface="Cambria" panose="02040503050406030204" pitchFamily="18" charset="0"/>
                <a:ea typeface="Cambria" panose="02040503050406030204" pitchFamily="18" charset="0"/>
              </a:rPr>
              <a:t> MEDC </a:t>
            </a:r>
            <a:r>
              <a:rPr lang="en-US" sz="1400" dirty="0" err="1">
                <a:solidFill>
                  <a:srgbClr val="4472C4">
                    <a:lumMod val="50000"/>
                  </a:srgbClr>
                </a:solidFill>
                <a:latin typeface="Cambria" panose="02040503050406030204" pitchFamily="18" charset="0"/>
                <a:ea typeface="Cambria" panose="02040503050406030204" pitchFamily="18" charset="0"/>
              </a:rPr>
              <a:t>và</a:t>
            </a:r>
            <a:r>
              <a:rPr lang="en-US" sz="1400" dirty="0">
                <a:solidFill>
                  <a:srgbClr val="4472C4">
                    <a:lumMod val="50000"/>
                  </a:srgbClr>
                </a:solidFill>
                <a:latin typeface="Cambria" panose="02040503050406030204" pitchFamily="18" charset="0"/>
                <a:ea typeface="Cambria" panose="02040503050406030204" pitchFamily="18" charset="0"/>
              </a:rPr>
              <a:t> VFSG (</a:t>
            </a:r>
            <a:r>
              <a:rPr lang="en-US" sz="1400" dirty="0" err="1">
                <a:solidFill>
                  <a:srgbClr val="4472C4">
                    <a:lumMod val="50000"/>
                  </a:srgbClr>
                </a:solidFill>
                <a:latin typeface="Cambria" panose="02040503050406030204" pitchFamily="18" charset="0"/>
                <a:ea typeface="Cambria" panose="02040503050406030204" pitchFamily="18" charset="0"/>
              </a:rPr>
              <a:t>lần</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thứ</a:t>
            </a:r>
            <a:r>
              <a:rPr lang="en-US" sz="1400" dirty="0">
                <a:solidFill>
                  <a:srgbClr val="4472C4">
                    <a:lumMod val="50000"/>
                  </a:srgbClr>
                </a:solidFill>
                <a:latin typeface="Cambria" panose="02040503050406030204" pitchFamily="18" charset="0"/>
                <a:ea typeface="Cambria" panose="02040503050406030204" pitchFamily="18" charset="0"/>
              </a:rPr>
              <a:t> 2), </a:t>
            </a:r>
            <a:r>
              <a:rPr lang="en-US" sz="1400" dirty="0" err="1">
                <a:solidFill>
                  <a:srgbClr val="4472C4">
                    <a:lumMod val="50000"/>
                  </a:srgbClr>
                </a:solidFill>
                <a:latin typeface="Cambria" panose="02040503050406030204" pitchFamily="18" charset="0"/>
                <a:ea typeface="Cambria" panose="02040503050406030204" pitchFamily="18" charset="0"/>
              </a:rPr>
              <a:t>đến</a:t>
            </a:r>
            <a:r>
              <a:rPr lang="en-US" sz="1400" dirty="0">
                <a:solidFill>
                  <a:srgbClr val="4472C4">
                    <a:lumMod val="50000"/>
                  </a:srgbClr>
                </a:solidFill>
                <a:latin typeface="Cambria" panose="02040503050406030204" pitchFamily="18" charset="0"/>
                <a:ea typeface="Cambria" panose="02040503050406030204" pitchFamily="18" charset="0"/>
              </a:rPr>
              <a:t> nay MSG </a:t>
            </a:r>
            <a:r>
              <a:rPr lang="en-US" sz="1400" dirty="0" err="1">
                <a:solidFill>
                  <a:srgbClr val="4472C4">
                    <a:lumMod val="50000"/>
                  </a:srgbClr>
                </a:solidFill>
                <a:latin typeface="Cambria" panose="02040503050406030204" pitchFamily="18" charset="0"/>
                <a:ea typeface="Cambria" panose="02040503050406030204" pitchFamily="18" charset="0"/>
              </a:rPr>
              <a:t>không</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còn</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xuất</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hiện</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lại</a:t>
            </a:r>
            <a:r>
              <a:rPr lang="en-US" sz="1400" dirty="0">
                <a:solidFill>
                  <a:srgbClr val="4472C4">
                    <a:lumMod val="50000"/>
                  </a:srgbClr>
                </a:solidFill>
                <a:latin typeface="Cambria" panose="02040503050406030204" pitchFamily="18" charset="0"/>
                <a:ea typeface="Cambria" panose="02040503050406030204" pitchFamily="18" charset="0"/>
              </a:rPr>
              <a:t>.</a:t>
            </a:r>
            <a:endParaRPr lang="en-US" sz="1400" dirty="0">
              <a:solidFill>
                <a:srgbClr val="FF0000"/>
              </a:solidFill>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226BD618-7F0D-FFF1-C083-490885CDA7D4}"/>
              </a:ext>
            </a:extLst>
          </p:cNvPr>
          <p:cNvPicPr>
            <a:picLocks noChangeAspect="1"/>
          </p:cNvPicPr>
          <p:nvPr/>
        </p:nvPicPr>
        <p:blipFill>
          <a:blip r:embed="rId4"/>
          <a:stretch>
            <a:fillRect/>
          </a:stretch>
        </p:blipFill>
        <p:spPr>
          <a:xfrm>
            <a:off x="159749" y="1035862"/>
            <a:ext cx="510877" cy="512345"/>
          </a:xfrm>
          <a:prstGeom prst="rect">
            <a:avLst/>
          </a:prstGeom>
        </p:spPr>
      </p:pic>
      <p:sp>
        <p:nvSpPr>
          <p:cNvPr id="5" name="TextBox 4">
            <a:extLst>
              <a:ext uri="{FF2B5EF4-FFF2-40B4-BE49-F238E27FC236}">
                <a16:creationId xmlns:a16="http://schemas.microsoft.com/office/drawing/2014/main" id="{5D076704-20D0-109C-CBD6-D9101997C000}"/>
              </a:ext>
            </a:extLst>
          </p:cNvPr>
          <p:cNvSpPr txBox="1"/>
          <p:nvPr/>
        </p:nvSpPr>
        <p:spPr>
          <a:xfrm>
            <a:off x="611607" y="1071867"/>
            <a:ext cx="2378027" cy="369332"/>
          </a:xfrm>
          <a:prstGeom prst="rect">
            <a:avLst/>
          </a:prstGeom>
          <a:noFill/>
        </p:spPr>
        <p:txBody>
          <a:bodyPr wrap="square" rtlCol="0">
            <a:spAutoFit/>
          </a:bodyPr>
          <a:lstStyle/>
          <a:p>
            <a:pPr lvl="0" algn="just">
              <a:spcBef>
                <a:spcPts val="600"/>
              </a:spcBef>
              <a:defRPr/>
            </a:pPr>
            <a:r>
              <a:rPr lang="en-US" b="1" dirty="0" err="1">
                <a:solidFill>
                  <a:srgbClr val="006885"/>
                </a:solidFill>
                <a:latin typeface="Montserrat SemiBold"/>
                <a:ea typeface="Cambria" panose="02040503050406030204" pitchFamily="18" charset="0"/>
                <a:cs typeface="Times New Roman" panose="02020603050405020304" pitchFamily="18" charset="0"/>
              </a:rPr>
              <a:t>Đánh</a:t>
            </a:r>
            <a:r>
              <a:rPr lang="en-US" b="1" dirty="0">
                <a:solidFill>
                  <a:srgbClr val="006885"/>
                </a:solidFill>
                <a:latin typeface="Montserrat SemiBold"/>
                <a:ea typeface="Cambria" panose="02040503050406030204" pitchFamily="18" charset="0"/>
                <a:cs typeface="Times New Roman" panose="02020603050405020304" pitchFamily="18" charset="0"/>
              </a:rPr>
              <a:t> </a:t>
            </a:r>
            <a:r>
              <a:rPr lang="en-US" b="1" dirty="0" err="1">
                <a:solidFill>
                  <a:srgbClr val="006885"/>
                </a:solidFill>
                <a:latin typeface="Montserrat SemiBold"/>
                <a:ea typeface="Cambria" panose="02040503050406030204" pitchFamily="18" charset="0"/>
                <a:cs typeface="Times New Roman" panose="02020603050405020304" pitchFamily="18" charset="0"/>
              </a:rPr>
              <a:t>giá</a:t>
            </a:r>
            <a:r>
              <a:rPr lang="en-US" b="1" dirty="0">
                <a:solidFill>
                  <a:srgbClr val="006885"/>
                </a:solidFill>
                <a:latin typeface="Montserrat SemiBold"/>
                <a:ea typeface="Cambria" panose="02040503050406030204" pitchFamily="18" charset="0"/>
                <a:cs typeface="Times New Roman" panose="02020603050405020304" pitchFamily="18" charset="0"/>
              </a:rPr>
              <a:t> </a:t>
            </a:r>
            <a:r>
              <a:rPr lang="en-US" b="1" dirty="0" err="1">
                <a:solidFill>
                  <a:srgbClr val="006885"/>
                </a:solidFill>
                <a:latin typeface="Montserrat SemiBold"/>
                <a:ea typeface="Cambria" panose="02040503050406030204" pitchFamily="18" charset="0"/>
                <a:cs typeface="Times New Roman" panose="02020603050405020304" pitchFamily="18" charset="0"/>
              </a:rPr>
              <a:t>sơ</a:t>
            </a:r>
            <a:r>
              <a:rPr lang="en-US" b="1" dirty="0">
                <a:solidFill>
                  <a:srgbClr val="006885"/>
                </a:solidFill>
                <a:latin typeface="Montserrat SemiBold"/>
                <a:ea typeface="Cambria" panose="02040503050406030204" pitchFamily="18" charset="0"/>
                <a:cs typeface="Times New Roman" panose="02020603050405020304" pitchFamily="18" charset="0"/>
              </a:rPr>
              <a:t> </a:t>
            </a:r>
            <a:r>
              <a:rPr lang="en-US" b="1" dirty="0" err="1">
                <a:solidFill>
                  <a:srgbClr val="006885"/>
                </a:solidFill>
                <a:latin typeface="Montserrat SemiBold"/>
                <a:ea typeface="Cambria" panose="02040503050406030204" pitchFamily="18" charset="0"/>
                <a:cs typeface="Times New Roman" panose="02020603050405020304" pitchFamily="18" charset="0"/>
              </a:rPr>
              <a:t>bộ</a:t>
            </a:r>
            <a:endParaRPr lang="en-US" b="1" dirty="0">
              <a:solidFill>
                <a:srgbClr val="006885"/>
              </a:solidFill>
              <a:latin typeface="Montserrat SemiBold"/>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40BC0BB-81CF-272C-AD7C-2F6E812274E1}"/>
              </a:ext>
            </a:extLst>
          </p:cNvPr>
          <p:cNvSpPr txBox="1"/>
          <p:nvPr/>
        </p:nvSpPr>
        <p:spPr>
          <a:xfrm>
            <a:off x="670626" y="1402288"/>
            <a:ext cx="8745748" cy="841256"/>
          </a:xfrm>
          <a:prstGeom prst="rect">
            <a:avLst/>
          </a:prstGeom>
          <a:noFill/>
        </p:spPr>
        <p:txBody>
          <a:bodyPr wrap="square" rtlCol="0">
            <a:spAutoFit/>
          </a:bodyPr>
          <a:lstStyle/>
          <a:p>
            <a:pPr marL="339725" lvl="0" indent="-227013">
              <a:spcBef>
                <a:spcPts val="400"/>
              </a:spcBef>
              <a:buFont typeface="Arial" panose="020B0604020202020204" pitchFamily="34" charset="0"/>
              <a:buChar char="•"/>
              <a:defRPr/>
            </a:pPr>
            <a:r>
              <a:rPr lang="en-US" sz="1400" dirty="0">
                <a:solidFill>
                  <a:srgbClr val="4472C4">
                    <a:lumMod val="50000"/>
                  </a:srgbClr>
                </a:solidFill>
                <a:latin typeface="Cambria" panose="02040503050406030204" pitchFamily="18" charset="0"/>
                <a:ea typeface="Cambria" panose="02040503050406030204" pitchFamily="18" charset="0"/>
              </a:rPr>
              <a:t>Do MMSG </a:t>
            </a:r>
            <a:r>
              <a:rPr lang="en-US" sz="1400" dirty="0" err="1">
                <a:solidFill>
                  <a:srgbClr val="4472C4">
                    <a:lumMod val="50000"/>
                  </a:srgbClr>
                </a:solidFill>
                <a:latin typeface="Cambria" panose="02040503050406030204" pitchFamily="18" charset="0"/>
                <a:ea typeface="Cambria" panose="02040503050406030204" pitchFamily="18" charset="0"/>
              </a:rPr>
              <a:t>lần</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thứ</a:t>
            </a:r>
            <a:r>
              <a:rPr lang="en-US" sz="1400" dirty="0">
                <a:solidFill>
                  <a:srgbClr val="4472C4">
                    <a:lumMod val="50000"/>
                  </a:srgbClr>
                </a:solidFill>
                <a:latin typeface="Cambria" panose="02040503050406030204" pitchFamily="18" charset="0"/>
                <a:ea typeface="Cambria" panose="02040503050406030204" pitchFamily="18" charset="0"/>
              </a:rPr>
              <a:t> 2 (24-16592) </a:t>
            </a:r>
            <a:r>
              <a:rPr lang="en-US" sz="1400" dirty="0" err="1">
                <a:solidFill>
                  <a:srgbClr val="4472C4">
                    <a:lumMod val="50000"/>
                  </a:srgbClr>
                </a:solidFill>
                <a:latin typeface="Cambria" panose="02040503050406030204" pitchFamily="18" charset="0"/>
                <a:ea typeface="Cambria" panose="02040503050406030204" pitchFamily="18" charset="0"/>
              </a:rPr>
              <a:t>liên</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quan</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đến</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hệ</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thống</a:t>
            </a:r>
            <a:r>
              <a:rPr lang="en-US" sz="1400" dirty="0">
                <a:solidFill>
                  <a:srgbClr val="4472C4">
                    <a:lumMod val="50000"/>
                  </a:srgbClr>
                </a:solidFill>
                <a:latin typeface="Cambria" panose="02040503050406030204" pitchFamily="18" charset="0"/>
                <a:ea typeface="Cambria" panose="02040503050406030204" pitchFamily="18" charset="0"/>
              </a:rPr>
              <a:t> oil pressure </a:t>
            </a:r>
            <a:r>
              <a:rPr lang="en-US" sz="1400" dirty="0" err="1">
                <a:solidFill>
                  <a:srgbClr val="4472C4">
                    <a:lumMod val="50000"/>
                  </a:srgbClr>
                </a:solidFill>
                <a:latin typeface="Cambria" panose="02040503050406030204" pitchFamily="18" charset="0"/>
                <a:ea typeface="Cambria" panose="02040503050406030204" pitchFamily="18" charset="0"/>
              </a:rPr>
              <a:t>nên</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nguyên</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nhân</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gốc</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có</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thể</a:t>
            </a:r>
            <a:r>
              <a:rPr lang="en-US" sz="1400" dirty="0">
                <a:solidFill>
                  <a:srgbClr val="4472C4">
                    <a:lumMod val="50000"/>
                  </a:srgbClr>
                </a:solidFill>
                <a:latin typeface="Cambria" panose="02040503050406030204" pitchFamily="18" charset="0"/>
                <a:ea typeface="Cambria" panose="02040503050406030204" pitchFamily="18" charset="0"/>
              </a:rPr>
              <a:t> do:</a:t>
            </a:r>
          </a:p>
          <a:p>
            <a:pPr marL="455612" lvl="0" indent="-342900">
              <a:spcBef>
                <a:spcPts val="400"/>
              </a:spcBef>
              <a:buFont typeface="+mj-lt"/>
              <a:buAutoNum type="arabicPeriod"/>
              <a:defRPr/>
            </a:pPr>
            <a:r>
              <a:rPr lang="en-US" sz="1400" dirty="0">
                <a:solidFill>
                  <a:srgbClr val="4472C4">
                    <a:lumMod val="50000"/>
                  </a:srgbClr>
                </a:solidFill>
                <a:latin typeface="Cambria" panose="02040503050406030204" pitchFamily="18" charset="0"/>
                <a:ea typeface="Cambria" panose="02040503050406030204" pitchFamily="18" charset="0"/>
              </a:rPr>
              <a:t>MEDC:  The MEDC supplies the primary source of the oil data for the EICAS displays</a:t>
            </a:r>
          </a:p>
          <a:p>
            <a:pPr marL="455612" lvl="0" indent="-342900">
              <a:spcBef>
                <a:spcPts val="400"/>
              </a:spcBef>
              <a:buFont typeface="+mj-lt"/>
              <a:buAutoNum type="arabicPeriod"/>
              <a:defRPr/>
            </a:pPr>
            <a:r>
              <a:rPr lang="en-US" sz="1400" dirty="0">
                <a:solidFill>
                  <a:srgbClr val="4472C4">
                    <a:lumMod val="50000"/>
                  </a:srgbClr>
                </a:solidFill>
                <a:latin typeface="Cambria" panose="02040503050406030204" pitchFamily="18" charset="0"/>
                <a:ea typeface="Cambria" panose="02040503050406030204" pitchFamily="18" charset="0"/>
              </a:rPr>
              <a:t>VFSG </a:t>
            </a:r>
            <a:r>
              <a:rPr lang="en-US" sz="1400" dirty="0" err="1">
                <a:solidFill>
                  <a:srgbClr val="4472C4">
                    <a:lumMod val="50000"/>
                  </a:srgbClr>
                </a:solidFill>
                <a:latin typeface="Cambria" panose="02040503050406030204" pitchFamily="18" charset="0"/>
                <a:ea typeface="Cambria" panose="02040503050406030204" pitchFamily="18" charset="0"/>
              </a:rPr>
              <a:t>lỗi</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kẹt</a:t>
            </a:r>
            <a:r>
              <a:rPr lang="en-US" sz="1400" dirty="0">
                <a:solidFill>
                  <a:srgbClr val="4472C4">
                    <a:lumMod val="50000"/>
                  </a:srgbClr>
                </a:solidFill>
                <a:latin typeface="Cambria" panose="02040503050406030204" pitchFamily="18" charset="0"/>
                <a:ea typeface="Cambria" panose="02040503050406030204" pitchFamily="18" charset="0"/>
              </a:rPr>
              <a:t> pressure switch assembly </a:t>
            </a:r>
            <a:r>
              <a:rPr lang="en-US" sz="1400" dirty="0" err="1">
                <a:solidFill>
                  <a:srgbClr val="4472C4">
                    <a:lumMod val="50000"/>
                  </a:srgbClr>
                </a:solidFill>
                <a:latin typeface="Cambria" panose="02040503050406030204" pitchFamily="18" charset="0"/>
                <a:ea typeface="Cambria" panose="02040503050406030204" pitchFamily="18" charset="0"/>
              </a:rPr>
              <a:t>khiến</a:t>
            </a:r>
            <a:r>
              <a:rPr lang="en-US" sz="1400" dirty="0">
                <a:solidFill>
                  <a:srgbClr val="4472C4">
                    <a:lumMod val="50000"/>
                  </a:srgbClr>
                </a:solidFill>
                <a:latin typeface="Cambria" panose="02040503050406030204" pitchFamily="18" charset="0"/>
                <a:ea typeface="Cambria" panose="02040503050406030204" pitchFamily="18" charset="0"/>
              </a:rPr>
              <a:t> oil pressure </a:t>
            </a:r>
            <a:r>
              <a:rPr lang="en-US" sz="1400" dirty="0" err="1">
                <a:solidFill>
                  <a:srgbClr val="4472C4">
                    <a:lumMod val="50000"/>
                  </a:srgbClr>
                </a:solidFill>
                <a:latin typeface="Cambria" panose="02040503050406030204" pitchFamily="18" charset="0"/>
                <a:ea typeface="Cambria" panose="02040503050406030204" pitchFamily="18" charset="0"/>
              </a:rPr>
              <a:t>bị</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mất</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áp</a:t>
            </a:r>
            <a:endParaRPr lang="en-US" sz="1400" dirty="0">
              <a:solidFill>
                <a:srgbClr val="FF0000"/>
              </a:solidFill>
              <a:latin typeface="Cambria" panose="02040503050406030204" pitchFamily="18" charset="0"/>
              <a:ea typeface="Cambria" panose="02040503050406030204" pitchFamily="18" charset="0"/>
            </a:endParaRPr>
          </a:p>
        </p:txBody>
      </p:sp>
      <p:pic>
        <p:nvPicPr>
          <p:cNvPr id="12" name="Picture 11">
            <a:extLst>
              <a:ext uri="{FF2B5EF4-FFF2-40B4-BE49-F238E27FC236}">
                <a16:creationId xmlns:a16="http://schemas.microsoft.com/office/drawing/2014/main" id="{FAB426B7-1EC6-BC9C-7910-4ADA3AE33BF6}"/>
              </a:ext>
            </a:extLst>
          </p:cNvPr>
          <p:cNvPicPr>
            <a:picLocks noChangeAspect="1"/>
          </p:cNvPicPr>
          <p:nvPr/>
        </p:nvPicPr>
        <p:blipFill>
          <a:blip r:embed="rId5"/>
          <a:stretch>
            <a:fillRect/>
          </a:stretch>
        </p:blipFill>
        <p:spPr>
          <a:xfrm>
            <a:off x="0" y="2479840"/>
            <a:ext cx="3307404" cy="3590634"/>
          </a:xfrm>
          <a:prstGeom prst="rect">
            <a:avLst/>
          </a:prstGeom>
        </p:spPr>
      </p:pic>
      <p:sp>
        <p:nvSpPr>
          <p:cNvPr id="15" name="Oval 14">
            <a:extLst>
              <a:ext uri="{FF2B5EF4-FFF2-40B4-BE49-F238E27FC236}">
                <a16:creationId xmlns:a16="http://schemas.microsoft.com/office/drawing/2014/main" id="{EBADC9E8-83D8-5403-B93C-994AC7936052}"/>
              </a:ext>
            </a:extLst>
          </p:cNvPr>
          <p:cNvSpPr/>
          <p:nvPr/>
        </p:nvSpPr>
        <p:spPr>
          <a:xfrm>
            <a:off x="1744494" y="2821021"/>
            <a:ext cx="732817" cy="29183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CD3CEA69-FF90-DF47-47DD-7AC89A149764}"/>
              </a:ext>
            </a:extLst>
          </p:cNvPr>
          <p:cNvPicPr>
            <a:picLocks noChangeAspect="1"/>
          </p:cNvPicPr>
          <p:nvPr/>
        </p:nvPicPr>
        <p:blipFill>
          <a:blip r:embed="rId6"/>
          <a:stretch>
            <a:fillRect/>
          </a:stretch>
        </p:blipFill>
        <p:spPr>
          <a:xfrm>
            <a:off x="3198472" y="2392319"/>
            <a:ext cx="7002599" cy="4307813"/>
          </a:xfrm>
          <a:prstGeom prst="rect">
            <a:avLst/>
          </a:prstGeom>
        </p:spPr>
      </p:pic>
      <p:cxnSp>
        <p:nvCxnSpPr>
          <p:cNvPr id="19" name="Straight Arrow Connector 18">
            <a:extLst>
              <a:ext uri="{FF2B5EF4-FFF2-40B4-BE49-F238E27FC236}">
                <a16:creationId xmlns:a16="http://schemas.microsoft.com/office/drawing/2014/main" id="{7736703B-AB06-B0BD-48BD-F04B86A9D9C7}"/>
              </a:ext>
            </a:extLst>
          </p:cNvPr>
          <p:cNvCxnSpPr/>
          <p:nvPr/>
        </p:nvCxnSpPr>
        <p:spPr>
          <a:xfrm flipV="1">
            <a:off x="2583674" y="2821021"/>
            <a:ext cx="3395594" cy="13273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77B1C4C-1322-1AEB-2558-C0C3156346ED}"/>
              </a:ext>
            </a:extLst>
          </p:cNvPr>
          <p:cNvSpPr/>
          <p:nvPr/>
        </p:nvSpPr>
        <p:spPr>
          <a:xfrm>
            <a:off x="8365787" y="2821021"/>
            <a:ext cx="609600" cy="29183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Arrow Connector 32">
            <a:extLst>
              <a:ext uri="{FF2B5EF4-FFF2-40B4-BE49-F238E27FC236}">
                <a16:creationId xmlns:a16="http://schemas.microsoft.com/office/drawing/2014/main" id="{E98F14DE-4648-24CE-48F9-E8A4DE5A245B}"/>
              </a:ext>
            </a:extLst>
          </p:cNvPr>
          <p:cNvCxnSpPr/>
          <p:nvPr/>
        </p:nvCxnSpPr>
        <p:spPr>
          <a:xfrm flipV="1">
            <a:off x="8826230" y="2127115"/>
            <a:ext cx="351510" cy="67256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8B3B3A3E-8C2D-D188-7FB1-C0A3EE38153B}"/>
              </a:ext>
            </a:extLst>
          </p:cNvPr>
          <p:cNvSpPr txBox="1"/>
          <p:nvPr/>
        </p:nvSpPr>
        <p:spPr>
          <a:xfrm>
            <a:off x="8687453" y="1616999"/>
            <a:ext cx="1575880" cy="507831"/>
          </a:xfrm>
          <a:prstGeom prst="rect">
            <a:avLst/>
          </a:prstGeom>
          <a:noFill/>
        </p:spPr>
        <p:txBody>
          <a:bodyPr wrap="square" rtlCol="0">
            <a:spAutoFit/>
          </a:bodyPr>
          <a:lstStyle/>
          <a:p>
            <a:r>
              <a:rPr lang="en-US" sz="900" dirty="0" err="1">
                <a:solidFill>
                  <a:srgbClr val="FF0000"/>
                </a:solidFill>
                <a:latin typeface="Cambria" panose="02040503050406030204" pitchFamily="18" charset="0"/>
                <a:ea typeface="Cambria" panose="02040503050406030204" pitchFamily="18" charset="0"/>
              </a:rPr>
              <a:t>Đã</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kiểm</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tra</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dây</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đầu</a:t>
            </a:r>
            <a:r>
              <a:rPr lang="en-US" sz="900" dirty="0">
                <a:solidFill>
                  <a:srgbClr val="FF0000"/>
                </a:solidFill>
                <a:latin typeface="Cambria" panose="02040503050406030204" pitchFamily="18" charset="0"/>
                <a:ea typeface="Cambria" panose="02040503050406030204" pitchFamily="18" charset="0"/>
              </a:rPr>
              <a:t> pin 4-5 </a:t>
            </a:r>
            <a:r>
              <a:rPr lang="en-US" sz="900" dirty="0" err="1">
                <a:solidFill>
                  <a:srgbClr val="FF0000"/>
                </a:solidFill>
                <a:latin typeface="Cambria" panose="02040503050406030204" pitchFamily="18" charset="0"/>
                <a:ea typeface="Cambria" panose="02040503050406030204" pitchFamily="18" charset="0"/>
              </a:rPr>
              <a:t>của</a:t>
            </a:r>
            <a:r>
              <a:rPr lang="en-US" sz="900" dirty="0">
                <a:solidFill>
                  <a:srgbClr val="FF0000"/>
                </a:solidFill>
                <a:latin typeface="Cambria" panose="02040503050406030204" pitchFamily="18" charset="0"/>
                <a:ea typeface="Cambria" panose="02040503050406030204" pitchFamily="18" charset="0"/>
              </a:rPr>
              <a:t> connector DM2421002P03 </a:t>
            </a:r>
            <a:r>
              <a:rPr lang="en-US" sz="900" dirty="0" err="1">
                <a:solidFill>
                  <a:srgbClr val="FF0000"/>
                </a:solidFill>
                <a:latin typeface="Cambria" panose="02040503050406030204" pitchFamily="18" charset="0"/>
                <a:ea typeface="Cambria" panose="02040503050406030204" pitchFamily="18" charset="0"/>
              </a:rPr>
              <a:t>theo</a:t>
            </a:r>
            <a:r>
              <a:rPr lang="en-US" sz="900" dirty="0">
                <a:solidFill>
                  <a:srgbClr val="FF0000"/>
                </a:solidFill>
                <a:latin typeface="Cambria" panose="02040503050406030204" pitchFamily="18" charset="0"/>
                <a:ea typeface="Cambria" panose="02040503050406030204" pitchFamily="18" charset="0"/>
              </a:rPr>
              <a:t> FIM</a:t>
            </a:r>
          </a:p>
        </p:txBody>
      </p:sp>
      <p:cxnSp>
        <p:nvCxnSpPr>
          <p:cNvPr id="37" name="Straight Arrow Connector 36">
            <a:extLst>
              <a:ext uri="{FF2B5EF4-FFF2-40B4-BE49-F238E27FC236}">
                <a16:creationId xmlns:a16="http://schemas.microsoft.com/office/drawing/2014/main" id="{9799F937-2CB9-4DFA-3DBF-D2D632C0F11A}"/>
              </a:ext>
            </a:extLst>
          </p:cNvPr>
          <p:cNvCxnSpPr>
            <a:cxnSpLocks/>
          </p:cNvCxnSpPr>
          <p:nvPr/>
        </p:nvCxnSpPr>
        <p:spPr>
          <a:xfrm>
            <a:off x="6280128" y="2887386"/>
            <a:ext cx="2040263" cy="0"/>
          </a:xfrm>
          <a:prstGeom prst="straightConnector1">
            <a:avLst/>
          </a:prstGeom>
          <a:ln w="952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393AE06C-1B70-6B74-7F45-DA6BE4D1C67D}"/>
              </a:ext>
            </a:extLst>
          </p:cNvPr>
          <p:cNvSpPr txBox="1"/>
          <p:nvPr/>
        </p:nvSpPr>
        <p:spPr>
          <a:xfrm>
            <a:off x="6874848" y="2701394"/>
            <a:ext cx="595358" cy="230832"/>
          </a:xfrm>
          <a:prstGeom prst="rect">
            <a:avLst/>
          </a:prstGeom>
          <a:noFill/>
        </p:spPr>
        <p:txBody>
          <a:bodyPr wrap="square" rtlCol="0">
            <a:spAutoFit/>
          </a:bodyPr>
          <a:lstStyle/>
          <a:p>
            <a:r>
              <a:rPr lang="en-US" sz="900" dirty="0" err="1">
                <a:solidFill>
                  <a:srgbClr val="FF0000"/>
                </a:solidFill>
                <a:latin typeface="Cambria" panose="02040503050406030204" pitchFamily="18" charset="0"/>
                <a:ea typeface="Cambria" panose="02040503050406030204" pitchFamily="18" charset="0"/>
              </a:rPr>
              <a:t>Tín</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hiệu</a:t>
            </a:r>
            <a:endParaRPr lang="en-US" sz="900" dirty="0">
              <a:solidFill>
                <a:srgbClr val="FF0000"/>
              </a:solidFill>
              <a:latin typeface="Cambria" panose="02040503050406030204" pitchFamily="18" charset="0"/>
              <a:ea typeface="Cambria" panose="02040503050406030204" pitchFamily="18" charset="0"/>
            </a:endParaRPr>
          </a:p>
        </p:txBody>
      </p:sp>
      <p:sp>
        <p:nvSpPr>
          <p:cNvPr id="40" name="Oval 39">
            <a:extLst>
              <a:ext uri="{FF2B5EF4-FFF2-40B4-BE49-F238E27FC236}">
                <a16:creationId xmlns:a16="http://schemas.microsoft.com/office/drawing/2014/main" id="{F6E4E778-F3A7-3BBF-70ED-4F68B6CA7732}"/>
              </a:ext>
            </a:extLst>
          </p:cNvPr>
          <p:cNvSpPr/>
          <p:nvPr/>
        </p:nvSpPr>
        <p:spPr>
          <a:xfrm>
            <a:off x="9241277" y="2581072"/>
            <a:ext cx="583659" cy="84792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Arrow Connector 40">
            <a:extLst>
              <a:ext uri="{FF2B5EF4-FFF2-40B4-BE49-F238E27FC236}">
                <a16:creationId xmlns:a16="http://schemas.microsoft.com/office/drawing/2014/main" id="{EAB7F6B3-A21B-0D99-79F5-300D77D4566C}"/>
              </a:ext>
            </a:extLst>
          </p:cNvPr>
          <p:cNvCxnSpPr>
            <a:cxnSpLocks/>
          </p:cNvCxnSpPr>
          <p:nvPr/>
        </p:nvCxnSpPr>
        <p:spPr>
          <a:xfrm flipV="1">
            <a:off x="9904685" y="2559729"/>
            <a:ext cx="562276" cy="25708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341A318F-D100-CEB6-23C1-12FE285D1953}"/>
              </a:ext>
            </a:extLst>
          </p:cNvPr>
          <p:cNvSpPr txBox="1"/>
          <p:nvPr/>
        </p:nvSpPr>
        <p:spPr>
          <a:xfrm>
            <a:off x="10405966" y="2327156"/>
            <a:ext cx="947834" cy="230832"/>
          </a:xfrm>
          <a:prstGeom prst="rect">
            <a:avLst/>
          </a:prstGeom>
          <a:noFill/>
        </p:spPr>
        <p:txBody>
          <a:bodyPr wrap="square" rtlCol="0">
            <a:spAutoFit/>
          </a:bodyPr>
          <a:lstStyle/>
          <a:p>
            <a:r>
              <a:rPr lang="en-US" sz="900" dirty="0" err="1">
                <a:solidFill>
                  <a:srgbClr val="FF0000"/>
                </a:solidFill>
                <a:latin typeface="Cambria" panose="02040503050406030204" pitchFamily="18" charset="0"/>
                <a:ea typeface="Cambria" panose="02040503050406030204" pitchFamily="18" charset="0"/>
              </a:rPr>
              <a:t>Đã</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thay</a:t>
            </a:r>
            <a:r>
              <a:rPr lang="en-US" sz="900" dirty="0">
                <a:solidFill>
                  <a:srgbClr val="FF0000"/>
                </a:solidFill>
                <a:latin typeface="Cambria" panose="02040503050406030204" pitchFamily="18" charset="0"/>
                <a:ea typeface="Cambria" panose="02040503050406030204" pitchFamily="18" charset="0"/>
              </a:rPr>
              <a:t> MEDC</a:t>
            </a:r>
          </a:p>
        </p:txBody>
      </p:sp>
      <p:sp>
        <p:nvSpPr>
          <p:cNvPr id="44" name="Oval 43">
            <a:extLst>
              <a:ext uri="{FF2B5EF4-FFF2-40B4-BE49-F238E27FC236}">
                <a16:creationId xmlns:a16="http://schemas.microsoft.com/office/drawing/2014/main" id="{1AF6EFB8-D283-0319-5C70-DDD9A5AF1C41}"/>
              </a:ext>
            </a:extLst>
          </p:cNvPr>
          <p:cNvSpPr/>
          <p:nvPr/>
        </p:nvSpPr>
        <p:spPr>
          <a:xfrm>
            <a:off x="9824936" y="3035030"/>
            <a:ext cx="304800" cy="39397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Straight Arrow Connector 44">
            <a:extLst>
              <a:ext uri="{FF2B5EF4-FFF2-40B4-BE49-F238E27FC236}">
                <a16:creationId xmlns:a16="http://schemas.microsoft.com/office/drawing/2014/main" id="{15EC456F-6897-9B83-7B29-22AB706A6916}"/>
              </a:ext>
            </a:extLst>
          </p:cNvPr>
          <p:cNvCxnSpPr>
            <a:cxnSpLocks/>
          </p:cNvCxnSpPr>
          <p:nvPr/>
        </p:nvCxnSpPr>
        <p:spPr>
          <a:xfrm>
            <a:off x="10073866" y="3429000"/>
            <a:ext cx="254410" cy="40417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B4612C1A-CB37-12A7-7181-E7AD6B08510C}"/>
              </a:ext>
            </a:extLst>
          </p:cNvPr>
          <p:cNvSpPr txBox="1"/>
          <p:nvPr/>
        </p:nvSpPr>
        <p:spPr>
          <a:xfrm>
            <a:off x="10325513" y="3847564"/>
            <a:ext cx="1801636" cy="1061829"/>
          </a:xfrm>
          <a:prstGeom prst="rect">
            <a:avLst/>
          </a:prstGeom>
          <a:noFill/>
        </p:spPr>
        <p:txBody>
          <a:bodyPr wrap="square" rtlCol="0">
            <a:spAutoFit/>
          </a:bodyPr>
          <a:lstStyle/>
          <a:p>
            <a:r>
              <a:rPr lang="en-US" sz="900" dirty="0" err="1">
                <a:solidFill>
                  <a:srgbClr val="FF0000"/>
                </a:solidFill>
                <a:latin typeface="Cambria" panose="02040503050406030204" pitchFamily="18" charset="0"/>
                <a:ea typeface="Cambria" panose="02040503050406030204" pitchFamily="18" charset="0"/>
              </a:rPr>
              <a:t>Tàu</a:t>
            </a:r>
            <a:r>
              <a:rPr lang="en-US" sz="900" dirty="0">
                <a:solidFill>
                  <a:srgbClr val="FF0000"/>
                </a:solidFill>
                <a:latin typeface="Cambria" panose="02040503050406030204" pitchFamily="18" charset="0"/>
                <a:ea typeface="Cambria" panose="02040503050406030204" pitchFamily="18" charset="0"/>
              </a:rPr>
              <a:t> bay </a:t>
            </a:r>
            <a:r>
              <a:rPr lang="en-US" sz="900" dirty="0" err="1">
                <a:solidFill>
                  <a:srgbClr val="FF0000"/>
                </a:solidFill>
                <a:latin typeface="Cambria" panose="02040503050406030204" pitchFamily="18" charset="0"/>
                <a:ea typeface="Cambria" panose="02040503050406030204" pitchFamily="18" charset="0"/>
              </a:rPr>
              <a:t>có</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thể</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báo</a:t>
            </a:r>
            <a:r>
              <a:rPr lang="en-US" sz="900" dirty="0">
                <a:solidFill>
                  <a:srgbClr val="FF0000"/>
                </a:solidFill>
                <a:latin typeface="Cambria" panose="02040503050406030204" pitchFamily="18" charset="0"/>
                <a:ea typeface="Cambria" panose="02040503050406030204" pitchFamily="18" charset="0"/>
              </a:rPr>
              <a:t> Low Oil Pressure </a:t>
            </a:r>
            <a:r>
              <a:rPr lang="en-US" sz="900" dirty="0" err="1">
                <a:solidFill>
                  <a:srgbClr val="FF0000"/>
                </a:solidFill>
                <a:latin typeface="Cambria" panose="02040503050406030204" pitchFamily="18" charset="0"/>
                <a:ea typeface="Cambria" panose="02040503050406030204" pitchFamily="18" charset="0"/>
              </a:rPr>
              <a:t>nếu</a:t>
            </a:r>
            <a:r>
              <a:rPr lang="en-US" sz="900" dirty="0">
                <a:solidFill>
                  <a:srgbClr val="FF0000"/>
                </a:solidFill>
                <a:latin typeface="Cambria" panose="02040503050406030204" pitchFamily="18" charset="0"/>
                <a:ea typeface="Cambria" panose="02040503050406030204" pitchFamily="18" charset="0"/>
              </a:rPr>
              <a:t> 1 </a:t>
            </a:r>
            <a:r>
              <a:rPr lang="en-US" sz="900" dirty="0" err="1">
                <a:solidFill>
                  <a:srgbClr val="FF0000"/>
                </a:solidFill>
                <a:latin typeface="Cambria" panose="02040503050406030204" pitchFamily="18" charset="0"/>
                <a:ea typeface="Cambria" panose="02040503050406030204" pitchFamily="18" charset="0"/>
              </a:rPr>
              <a:t>trong</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các</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điều</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kiện</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sau</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xuất</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hiện</a:t>
            </a:r>
            <a:r>
              <a:rPr lang="en-US" sz="900" dirty="0">
                <a:solidFill>
                  <a:srgbClr val="FF0000"/>
                </a:solidFill>
                <a:latin typeface="Cambria" panose="02040503050406030204" pitchFamily="18" charset="0"/>
                <a:ea typeface="Cambria" panose="02040503050406030204" pitchFamily="18" charset="0"/>
              </a:rPr>
              <a:t>:</a:t>
            </a:r>
          </a:p>
          <a:p>
            <a:pPr marL="228600" indent="-228600">
              <a:buAutoNum type="arabicPeriod"/>
            </a:pPr>
            <a:r>
              <a:rPr lang="en-US" sz="900" dirty="0">
                <a:solidFill>
                  <a:srgbClr val="FF0000"/>
                </a:solidFill>
                <a:latin typeface="Cambria" panose="02040503050406030204" pitchFamily="18" charset="0"/>
                <a:ea typeface="Cambria" panose="02040503050406030204" pitchFamily="18" charset="0"/>
              </a:rPr>
              <a:t>Pressure switch </a:t>
            </a:r>
            <a:r>
              <a:rPr lang="en-US" sz="900" dirty="0" err="1">
                <a:solidFill>
                  <a:srgbClr val="FF0000"/>
                </a:solidFill>
                <a:latin typeface="Cambria" panose="02040503050406030204" pitchFamily="18" charset="0"/>
                <a:ea typeface="Cambria" panose="02040503050406030204" pitchFamily="18" charset="0"/>
              </a:rPr>
              <a:t>bị</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hỏng</a:t>
            </a:r>
            <a:r>
              <a:rPr lang="en-US" sz="900" dirty="0">
                <a:solidFill>
                  <a:srgbClr val="FF0000"/>
                </a:solidFill>
                <a:latin typeface="Cambria" panose="02040503050406030204" pitchFamily="18" charset="0"/>
                <a:ea typeface="Cambria" panose="02040503050406030204" pitchFamily="18" charset="0"/>
              </a:rPr>
              <a:t>/</a:t>
            </a:r>
            <a:r>
              <a:rPr lang="en-US" sz="900" dirty="0" err="1">
                <a:solidFill>
                  <a:srgbClr val="FF0000"/>
                </a:solidFill>
                <a:latin typeface="Cambria" panose="02040503050406030204" pitchFamily="18" charset="0"/>
                <a:ea typeface="Cambria" panose="02040503050406030204" pitchFamily="18" charset="0"/>
              </a:rPr>
              <a:t>kẹt</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phải</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thay</a:t>
            </a:r>
            <a:r>
              <a:rPr lang="en-US" sz="900" dirty="0">
                <a:solidFill>
                  <a:srgbClr val="FF0000"/>
                </a:solidFill>
                <a:latin typeface="Cambria" panose="02040503050406030204" pitchFamily="18" charset="0"/>
                <a:ea typeface="Cambria" panose="02040503050406030204" pitchFamily="18" charset="0"/>
              </a:rPr>
              <a:t> VFSG)</a:t>
            </a:r>
          </a:p>
          <a:p>
            <a:pPr marL="228600" indent="-228600">
              <a:buAutoNum type="arabicPeriod"/>
            </a:pPr>
            <a:r>
              <a:rPr lang="en-US" sz="900" dirty="0" err="1">
                <a:solidFill>
                  <a:srgbClr val="FF0000"/>
                </a:solidFill>
                <a:latin typeface="Cambria" panose="02040503050406030204" pitchFamily="18" charset="0"/>
                <a:ea typeface="Cambria" panose="02040503050406030204" pitchFamily="18" charset="0"/>
              </a:rPr>
              <a:t>Dây</a:t>
            </a:r>
            <a:r>
              <a:rPr lang="en-US" sz="900" dirty="0">
                <a:solidFill>
                  <a:srgbClr val="FF0000"/>
                </a:solidFill>
                <a:latin typeface="Cambria" panose="02040503050406030204" pitchFamily="18" charset="0"/>
                <a:ea typeface="Cambria" panose="02040503050406030204" pitchFamily="18" charset="0"/>
              </a:rPr>
              <a:t>/connector </a:t>
            </a:r>
            <a:r>
              <a:rPr lang="en-US" sz="900" dirty="0" err="1">
                <a:solidFill>
                  <a:srgbClr val="FF0000"/>
                </a:solidFill>
                <a:latin typeface="Cambria" panose="02040503050406030204" pitchFamily="18" charset="0"/>
                <a:ea typeface="Cambria" panose="02040503050406030204" pitchFamily="18" charset="0"/>
              </a:rPr>
              <a:t>hỏng</a:t>
            </a:r>
            <a:endParaRPr lang="en-US" sz="900" dirty="0">
              <a:solidFill>
                <a:srgbClr val="FF0000"/>
              </a:solidFill>
              <a:latin typeface="Cambria" panose="02040503050406030204" pitchFamily="18" charset="0"/>
              <a:ea typeface="Cambria" panose="02040503050406030204" pitchFamily="18" charset="0"/>
            </a:endParaRPr>
          </a:p>
          <a:p>
            <a:pPr marL="228600" indent="-228600">
              <a:buAutoNum type="arabicPeriod"/>
            </a:pPr>
            <a:r>
              <a:rPr lang="en-US" sz="900" dirty="0">
                <a:solidFill>
                  <a:srgbClr val="FF0000"/>
                </a:solidFill>
                <a:latin typeface="Cambria" panose="02040503050406030204" pitchFamily="18" charset="0"/>
                <a:ea typeface="Cambria" panose="02040503050406030204" pitchFamily="18" charset="0"/>
              </a:rPr>
              <a:t>MEDC </a:t>
            </a:r>
            <a:r>
              <a:rPr lang="en-US" sz="900" dirty="0" err="1">
                <a:solidFill>
                  <a:srgbClr val="FF0000"/>
                </a:solidFill>
                <a:latin typeface="Cambria" panose="02040503050406030204" pitchFamily="18" charset="0"/>
                <a:ea typeface="Cambria" panose="02040503050406030204" pitchFamily="18" charset="0"/>
              </a:rPr>
              <a:t>hỏng</a:t>
            </a:r>
            <a:endParaRPr lang="en-US" sz="900" dirty="0">
              <a:solidFill>
                <a:srgbClr val="FF000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2051199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3C2CD-50B8-48E7-EF81-05F56369896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D5BD7A0-CA89-791D-B37B-DDC6894719D4}"/>
              </a:ext>
            </a:extLst>
          </p:cNvPr>
          <p:cNvSpPr>
            <a:spLocks noGrp="1"/>
          </p:cNvSpPr>
          <p:nvPr>
            <p:ph type="sldNum" idx="4294967295"/>
          </p:nvPr>
        </p:nvSpPr>
        <p:spPr>
          <a:xfrm>
            <a:off x="11460163" y="6218238"/>
            <a:ext cx="731837" cy="52387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0" name="Slide Number Placeholder 3">
            <a:extLst>
              <a:ext uri="{FF2B5EF4-FFF2-40B4-BE49-F238E27FC236}">
                <a16:creationId xmlns:a16="http://schemas.microsoft.com/office/drawing/2014/main" id="{5197B910-C8C7-BB1F-14C4-74FC67177C81}"/>
              </a:ext>
            </a:extLst>
          </p:cNvPr>
          <p:cNvSpPr txBox="1">
            <a:spLocks/>
          </p:cNvSpPr>
          <p:nvPr/>
        </p:nvSpPr>
        <p:spPr>
          <a:xfrm>
            <a:off x="8610600" y="6356350"/>
            <a:ext cx="2743200" cy="365125"/>
          </a:xfrm>
          <a:prstGeom prst="rect">
            <a:avLst/>
          </a:prstGeom>
        </p:spPr>
        <p:txBody>
          <a:bodyPr spcFirstLastPara="1" vert="horz" wrap="square" lIns="91425" tIns="91425" rIns="91425" bIns="91425" rtlCol="0" anchor="ctr" anchorCtr="0">
            <a:normAutofit lnSpcReduction="10000"/>
          </a:bodyPr>
          <a:lstStyle>
            <a:defPPr>
              <a:defRPr lang="en-US"/>
            </a:defPPr>
            <a:lvl1pPr marL="0" lvl="0" algn="r" defTabSz="914400" rtl="0" eaLnBrk="1" latinLnBrk="0" hangingPunct="1">
              <a:buNone/>
              <a:defRPr sz="1200" kern="1200">
                <a:solidFill>
                  <a:schemeClr val="tx1">
                    <a:tint val="75000"/>
                  </a:schemeClr>
                </a:solidFill>
                <a:latin typeface="+mn-lt"/>
                <a:ea typeface="+mn-ea"/>
                <a:cs typeface="+mn-cs"/>
              </a:defRPr>
            </a:lvl1pPr>
            <a:lvl2pPr marL="457200" lvl="1" algn="l" defTabSz="914400" rtl="0" eaLnBrk="1" latinLnBrk="0" hangingPunct="1">
              <a:buNone/>
              <a:defRPr sz="1800" kern="1200">
                <a:solidFill>
                  <a:schemeClr val="tx1"/>
                </a:solidFill>
                <a:latin typeface="+mn-lt"/>
                <a:ea typeface="+mn-ea"/>
                <a:cs typeface="+mn-cs"/>
              </a:defRPr>
            </a:lvl2pPr>
            <a:lvl3pPr marL="914400" lvl="2" algn="l" defTabSz="914400" rtl="0" eaLnBrk="1" latinLnBrk="0" hangingPunct="1">
              <a:buNone/>
              <a:defRPr sz="1800" kern="1200">
                <a:solidFill>
                  <a:schemeClr val="tx1"/>
                </a:solidFill>
                <a:latin typeface="+mn-lt"/>
                <a:ea typeface="+mn-ea"/>
                <a:cs typeface="+mn-cs"/>
              </a:defRPr>
            </a:lvl3pPr>
            <a:lvl4pPr marL="1371600" lvl="3" algn="l" defTabSz="914400" rtl="0" eaLnBrk="1" latinLnBrk="0" hangingPunct="1">
              <a:buNone/>
              <a:defRPr sz="1800" kern="1200">
                <a:solidFill>
                  <a:schemeClr val="tx1"/>
                </a:solidFill>
                <a:latin typeface="+mn-lt"/>
                <a:ea typeface="+mn-ea"/>
                <a:cs typeface="+mn-cs"/>
              </a:defRPr>
            </a:lvl4pPr>
            <a:lvl5pPr marL="1828800" lvl="4" algn="l" defTabSz="914400" rtl="0" eaLnBrk="1" latinLnBrk="0" hangingPunct="1">
              <a:buNone/>
              <a:defRPr sz="1800" kern="1200">
                <a:solidFill>
                  <a:schemeClr val="tx1"/>
                </a:solidFill>
                <a:latin typeface="+mn-lt"/>
                <a:ea typeface="+mn-ea"/>
                <a:cs typeface="+mn-cs"/>
              </a:defRPr>
            </a:lvl5pPr>
            <a:lvl6pPr marL="2286000" lvl="5" algn="l" defTabSz="914400" rtl="0" eaLnBrk="1" latinLnBrk="0" hangingPunct="1">
              <a:buNone/>
              <a:defRPr sz="1800" kern="1200">
                <a:solidFill>
                  <a:schemeClr val="tx1"/>
                </a:solidFill>
                <a:latin typeface="+mn-lt"/>
                <a:ea typeface="+mn-ea"/>
                <a:cs typeface="+mn-cs"/>
              </a:defRPr>
            </a:lvl6pPr>
            <a:lvl7pPr marL="2743200" lvl="6" algn="l" defTabSz="914400" rtl="0" eaLnBrk="1" latinLnBrk="0" hangingPunct="1">
              <a:buNone/>
              <a:defRPr sz="1800" kern="1200">
                <a:solidFill>
                  <a:schemeClr val="tx1"/>
                </a:solidFill>
                <a:latin typeface="+mn-lt"/>
                <a:ea typeface="+mn-ea"/>
                <a:cs typeface="+mn-cs"/>
              </a:defRPr>
            </a:lvl7pPr>
            <a:lvl8pPr marL="3200400" lvl="7" algn="l" defTabSz="914400" rtl="0" eaLnBrk="1" latinLnBrk="0" hangingPunct="1">
              <a:buNone/>
              <a:defRPr sz="1800" kern="1200">
                <a:solidFill>
                  <a:schemeClr val="tx1"/>
                </a:solidFill>
                <a:latin typeface="+mn-lt"/>
                <a:ea typeface="+mn-ea"/>
                <a:cs typeface="+mn-cs"/>
              </a:defRPr>
            </a:lvl8pPr>
            <a:lvl9pPr marL="3657600" lvl="8" algn="l" defTabSz="914400" rtl="0" eaLnBrk="1" latinLnBrk="0" hangingPunct="1">
              <a:buNone/>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6D34F947-4E25-CCB8-609A-F9DA6E403F0D}"/>
              </a:ext>
            </a:extLst>
          </p:cNvPr>
          <p:cNvSpPr txBox="1"/>
          <p:nvPr/>
        </p:nvSpPr>
        <p:spPr>
          <a:xfrm>
            <a:off x="762001" y="168860"/>
            <a:ext cx="9062935" cy="523220"/>
          </a:xfrm>
          <a:prstGeom prst="rect">
            <a:avLst/>
          </a:prstGeom>
          <a:noFill/>
        </p:spPr>
        <p:txBody>
          <a:bodyPr wrap="square" rtlCol="0">
            <a:spAutoFit/>
          </a:bodyPr>
          <a:lstStyle/>
          <a:p>
            <a:pPr algn="just"/>
            <a:r>
              <a:rPr lang="en-US" sz="2800" b="1" dirty="0">
                <a:solidFill>
                  <a:srgbClr val="DEA610"/>
                </a:solidFill>
                <a:latin typeface="Montserrat SemiBold" pitchFamily="2" charset="77"/>
              </a:rPr>
              <a:t>B787 – ATA 24 – VFSG P/N 7001330H04</a:t>
            </a:r>
          </a:p>
        </p:txBody>
      </p:sp>
      <p:grpSp>
        <p:nvGrpSpPr>
          <p:cNvPr id="25" name="Group 24">
            <a:extLst>
              <a:ext uri="{FF2B5EF4-FFF2-40B4-BE49-F238E27FC236}">
                <a16:creationId xmlns:a16="http://schemas.microsoft.com/office/drawing/2014/main" id="{34134C13-4C12-ED3A-EDDE-E97B47656148}"/>
              </a:ext>
            </a:extLst>
          </p:cNvPr>
          <p:cNvGrpSpPr/>
          <p:nvPr/>
        </p:nvGrpSpPr>
        <p:grpSpPr>
          <a:xfrm>
            <a:off x="795408" y="288234"/>
            <a:ext cx="11215009" cy="593740"/>
            <a:chOff x="976560" y="323070"/>
            <a:chExt cx="10755065" cy="678753"/>
          </a:xfrm>
        </p:grpSpPr>
        <p:cxnSp>
          <p:nvCxnSpPr>
            <p:cNvPr id="26" name="Straight Connector 25">
              <a:extLst>
                <a:ext uri="{FF2B5EF4-FFF2-40B4-BE49-F238E27FC236}">
                  <a16:creationId xmlns:a16="http://schemas.microsoft.com/office/drawing/2014/main" id="{C56A57CF-5A56-A2F5-6DC5-D012D4241EA7}"/>
                </a:ext>
              </a:extLst>
            </p:cNvPr>
            <p:cNvCxnSpPr/>
            <p:nvPr/>
          </p:nvCxnSpPr>
          <p:spPr>
            <a:xfrm>
              <a:off x="976560"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27" name="Picture 26">
              <a:extLst>
                <a:ext uri="{FF2B5EF4-FFF2-40B4-BE49-F238E27FC236}">
                  <a16:creationId xmlns:a16="http://schemas.microsoft.com/office/drawing/2014/main" id="{EB56E31A-33B5-FD89-9ADE-02E2EE71C8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9123" y="323070"/>
              <a:ext cx="452502" cy="678753"/>
            </a:xfrm>
            <a:prstGeom prst="rect">
              <a:avLst/>
            </a:prstGeom>
          </p:spPr>
        </p:pic>
      </p:grpSp>
      <p:sp>
        <p:nvSpPr>
          <p:cNvPr id="5" name="TextBox 4">
            <a:extLst>
              <a:ext uri="{FF2B5EF4-FFF2-40B4-BE49-F238E27FC236}">
                <a16:creationId xmlns:a16="http://schemas.microsoft.com/office/drawing/2014/main" id="{D0FC1273-736E-D5DF-7D43-88023CC875E3}"/>
              </a:ext>
            </a:extLst>
          </p:cNvPr>
          <p:cNvSpPr txBox="1"/>
          <p:nvPr/>
        </p:nvSpPr>
        <p:spPr>
          <a:xfrm>
            <a:off x="635935" y="730142"/>
            <a:ext cx="2671469" cy="369332"/>
          </a:xfrm>
          <a:prstGeom prst="rect">
            <a:avLst/>
          </a:prstGeom>
          <a:noFill/>
        </p:spPr>
        <p:txBody>
          <a:bodyPr wrap="square" rtlCol="0">
            <a:spAutoFit/>
          </a:bodyPr>
          <a:lstStyle/>
          <a:p>
            <a:pPr lvl="0" algn="just">
              <a:spcBef>
                <a:spcPts val="600"/>
              </a:spcBef>
              <a:defRPr/>
            </a:pPr>
            <a:r>
              <a:rPr lang="en-US" b="1" dirty="0" err="1">
                <a:solidFill>
                  <a:srgbClr val="006885"/>
                </a:solidFill>
                <a:latin typeface="Montserrat SemiBold"/>
                <a:ea typeface="Cambria" panose="02040503050406030204" pitchFamily="18" charset="0"/>
                <a:cs typeface="Times New Roman" panose="02020603050405020304" pitchFamily="18" charset="0"/>
              </a:rPr>
              <a:t>Giải</a:t>
            </a:r>
            <a:r>
              <a:rPr lang="en-US" b="1" dirty="0">
                <a:solidFill>
                  <a:srgbClr val="006885"/>
                </a:solidFill>
                <a:latin typeface="Montserrat SemiBold"/>
                <a:ea typeface="Cambria" panose="02040503050406030204" pitchFamily="18" charset="0"/>
                <a:cs typeface="Times New Roman" panose="02020603050405020304" pitchFamily="18" charset="0"/>
              </a:rPr>
              <a:t> </a:t>
            </a:r>
            <a:r>
              <a:rPr lang="en-US" b="1" dirty="0" err="1">
                <a:solidFill>
                  <a:srgbClr val="006885"/>
                </a:solidFill>
                <a:latin typeface="Montserrat SemiBold"/>
                <a:ea typeface="Cambria" panose="02040503050406030204" pitchFamily="18" charset="0"/>
                <a:cs typeface="Times New Roman" panose="02020603050405020304" pitchFamily="18" charset="0"/>
              </a:rPr>
              <a:t>pháp</a:t>
            </a:r>
            <a:r>
              <a:rPr lang="en-US" b="1" dirty="0">
                <a:solidFill>
                  <a:srgbClr val="006885"/>
                </a:solidFill>
                <a:latin typeface="Montserrat SemiBold"/>
                <a:ea typeface="Cambria" panose="02040503050406030204" pitchFamily="18" charset="0"/>
                <a:cs typeface="Times New Roman" panose="02020603050405020304" pitchFamily="18" charset="0"/>
              </a:rPr>
              <a:t> </a:t>
            </a:r>
            <a:r>
              <a:rPr lang="en-US" b="1" dirty="0" err="1">
                <a:solidFill>
                  <a:srgbClr val="006885"/>
                </a:solidFill>
                <a:latin typeface="Montserrat SemiBold"/>
                <a:ea typeface="Cambria" panose="02040503050406030204" pitchFamily="18" charset="0"/>
                <a:cs typeface="Times New Roman" panose="02020603050405020304" pitchFamily="18" charset="0"/>
              </a:rPr>
              <a:t>khắc</a:t>
            </a:r>
            <a:r>
              <a:rPr lang="en-US" b="1" dirty="0">
                <a:solidFill>
                  <a:srgbClr val="006885"/>
                </a:solidFill>
                <a:latin typeface="Montserrat SemiBold"/>
                <a:ea typeface="Cambria" panose="02040503050406030204" pitchFamily="18" charset="0"/>
                <a:cs typeface="Times New Roman" panose="02020603050405020304" pitchFamily="18" charset="0"/>
              </a:rPr>
              <a:t> </a:t>
            </a:r>
            <a:r>
              <a:rPr lang="en-US" b="1" dirty="0" err="1">
                <a:solidFill>
                  <a:srgbClr val="006885"/>
                </a:solidFill>
                <a:latin typeface="Montserrat SemiBold"/>
                <a:ea typeface="Cambria" panose="02040503050406030204" pitchFamily="18" charset="0"/>
                <a:cs typeface="Times New Roman" panose="02020603050405020304" pitchFamily="18" charset="0"/>
              </a:rPr>
              <a:t>phục</a:t>
            </a:r>
            <a:endParaRPr lang="en-US" b="1" dirty="0">
              <a:solidFill>
                <a:srgbClr val="006885"/>
              </a:solidFill>
              <a:latin typeface="Montserrat SemiBold"/>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F03FAF1-1F89-0FB5-00D3-2AF3CC5AFF85}"/>
              </a:ext>
            </a:extLst>
          </p:cNvPr>
          <p:cNvSpPr txBox="1"/>
          <p:nvPr/>
        </p:nvSpPr>
        <p:spPr>
          <a:xfrm>
            <a:off x="635935" y="1123580"/>
            <a:ext cx="8745748" cy="789960"/>
          </a:xfrm>
          <a:prstGeom prst="rect">
            <a:avLst/>
          </a:prstGeom>
          <a:noFill/>
        </p:spPr>
        <p:txBody>
          <a:bodyPr wrap="square" rtlCol="0">
            <a:spAutoFit/>
          </a:bodyPr>
          <a:lstStyle/>
          <a:p>
            <a:pPr marL="339725" lvl="0" indent="-227013">
              <a:spcBef>
                <a:spcPts val="400"/>
              </a:spcBef>
              <a:buFont typeface="Arial" panose="020B0604020202020204" pitchFamily="34" charset="0"/>
              <a:buChar char="•"/>
              <a:defRPr/>
            </a:pPr>
            <a:r>
              <a:rPr lang="en-US" sz="1400" dirty="0" err="1">
                <a:solidFill>
                  <a:srgbClr val="4472C4">
                    <a:lumMod val="50000"/>
                  </a:srgbClr>
                </a:solidFill>
                <a:latin typeface="Cambria" panose="02040503050406030204" pitchFamily="18" charset="0"/>
                <a:ea typeface="Cambria" panose="02040503050406030204" pitchFamily="18" charset="0"/>
              </a:rPr>
              <a:t>Lỗi</a:t>
            </a:r>
            <a:r>
              <a:rPr lang="en-US" sz="1400" dirty="0">
                <a:solidFill>
                  <a:srgbClr val="4472C4">
                    <a:lumMod val="50000"/>
                  </a:srgbClr>
                </a:solidFill>
                <a:latin typeface="Cambria" panose="02040503050406030204" pitchFamily="18" charset="0"/>
                <a:ea typeface="Cambria" panose="02040503050406030204" pitchFamily="18" charset="0"/>
              </a:rPr>
              <a:t> Low Oil Pressure (LOP) switch </a:t>
            </a:r>
            <a:r>
              <a:rPr lang="en-US" sz="1400" dirty="0" err="1">
                <a:solidFill>
                  <a:srgbClr val="4472C4">
                    <a:lumMod val="50000"/>
                  </a:srgbClr>
                </a:solidFill>
                <a:latin typeface="Cambria" panose="02040503050406030204" pitchFamily="18" charset="0"/>
                <a:ea typeface="Cambria" panose="02040503050406030204" pitchFamily="18" charset="0"/>
              </a:rPr>
              <a:t>bị</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kẹt</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đã</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được</a:t>
            </a:r>
            <a:r>
              <a:rPr lang="en-US" sz="1400" dirty="0">
                <a:solidFill>
                  <a:srgbClr val="4472C4">
                    <a:lumMod val="50000"/>
                  </a:srgbClr>
                </a:solidFill>
                <a:latin typeface="Cambria" panose="02040503050406030204" pitchFamily="18" charset="0"/>
                <a:ea typeface="Cambria" panose="02040503050406030204" pitchFamily="18" charset="0"/>
              </a:rPr>
              <a:t> Boeing/Collins </a:t>
            </a:r>
            <a:r>
              <a:rPr lang="en-US" sz="1400" dirty="0" err="1">
                <a:solidFill>
                  <a:srgbClr val="4472C4">
                    <a:lumMod val="50000"/>
                  </a:srgbClr>
                </a:solidFill>
                <a:latin typeface="Cambria" panose="02040503050406030204" pitchFamily="18" charset="0"/>
                <a:ea typeface="Cambria" panose="02040503050406030204" pitchFamily="18" charset="0"/>
              </a:rPr>
              <a:t>nhận</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diện</a:t>
            </a:r>
            <a:r>
              <a:rPr lang="en-US" sz="1400" dirty="0">
                <a:solidFill>
                  <a:srgbClr val="4472C4">
                    <a:lumMod val="50000"/>
                  </a:srgbClr>
                </a:solidFill>
                <a:latin typeface="Cambria" panose="02040503050406030204" pitchFamily="18" charset="0"/>
                <a:ea typeface="Cambria" panose="02040503050406030204" pitchFamily="18" charset="0"/>
              </a:rPr>
              <a:t> qua 787-FTD-24-22002. </a:t>
            </a:r>
            <a:r>
              <a:rPr lang="en-US" sz="1400" dirty="0" err="1">
                <a:solidFill>
                  <a:srgbClr val="4472C4">
                    <a:lumMod val="50000"/>
                  </a:srgbClr>
                </a:solidFill>
                <a:latin typeface="Cambria" panose="02040503050406030204" pitchFamily="18" charset="0"/>
                <a:ea typeface="Cambria" panose="02040503050406030204" pitchFamily="18" charset="0"/>
              </a:rPr>
              <a:t>Hiện</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vẫn</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đang</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nghiên</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cứu</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giải</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pháp</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khắc</a:t>
            </a:r>
            <a:r>
              <a:rPr lang="en-US" sz="1400" dirty="0">
                <a:solidFill>
                  <a:srgbClr val="4472C4">
                    <a:lumMod val="50000"/>
                  </a:srgbClr>
                </a:solidFill>
                <a:latin typeface="Cambria" panose="02040503050406030204" pitchFamily="18" charset="0"/>
                <a:ea typeface="Cambria" panose="020405030504060302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rPr>
              <a:t>phục</a:t>
            </a:r>
            <a:r>
              <a:rPr lang="en-US" sz="1400" dirty="0">
                <a:solidFill>
                  <a:srgbClr val="4472C4">
                    <a:lumMod val="50000"/>
                  </a:srgbClr>
                </a:solidFill>
                <a:latin typeface="Cambria" panose="02040503050406030204" pitchFamily="18" charset="0"/>
                <a:ea typeface="Cambria" panose="02040503050406030204" pitchFamily="18" charset="0"/>
              </a:rPr>
              <a:t>. </a:t>
            </a:r>
          </a:p>
          <a:p>
            <a:pPr marL="339725" lvl="0" indent="-227013">
              <a:spcBef>
                <a:spcPts val="400"/>
              </a:spcBef>
              <a:buFont typeface="Arial" panose="020B0604020202020204" pitchFamily="34" charset="0"/>
              <a:buChar char="•"/>
              <a:defRPr/>
            </a:pPr>
            <a:endParaRPr lang="en-US" sz="1400" dirty="0">
              <a:solidFill>
                <a:srgbClr val="FF0000"/>
              </a:solidFill>
              <a:latin typeface="Cambria" panose="02040503050406030204" pitchFamily="18" charset="0"/>
              <a:ea typeface="Cambria" panose="02040503050406030204" pitchFamily="18" charset="0"/>
            </a:endParaRPr>
          </a:p>
        </p:txBody>
      </p:sp>
      <p:pic>
        <p:nvPicPr>
          <p:cNvPr id="8" name="Picture 7">
            <a:extLst>
              <a:ext uri="{FF2B5EF4-FFF2-40B4-BE49-F238E27FC236}">
                <a16:creationId xmlns:a16="http://schemas.microsoft.com/office/drawing/2014/main" id="{77E8947F-F3C5-6E74-34BA-BB67FB37212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277" y="644513"/>
            <a:ext cx="622349" cy="512345"/>
          </a:xfrm>
          <a:prstGeom prst="rect">
            <a:avLst/>
          </a:prstGeom>
        </p:spPr>
      </p:pic>
      <p:pic>
        <p:nvPicPr>
          <p:cNvPr id="14" name="Picture 13">
            <a:extLst>
              <a:ext uri="{FF2B5EF4-FFF2-40B4-BE49-F238E27FC236}">
                <a16:creationId xmlns:a16="http://schemas.microsoft.com/office/drawing/2014/main" id="{ECDDD40A-57BE-4D1B-9134-6AA72968D6DC}"/>
              </a:ext>
            </a:extLst>
          </p:cNvPr>
          <p:cNvPicPr>
            <a:picLocks noChangeAspect="1"/>
          </p:cNvPicPr>
          <p:nvPr/>
        </p:nvPicPr>
        <p:blipFill>
          <a:blip r:embed="rId5"/>
          <a:stretch>
            <a:fillRect/>
          </a:stretch>
        </p:blipFill>
        <p:spPr>
          <a:xfrm>
            <a:off x="197206" y="1868164"/>
            <a:ext cx="7169876" cy="3967194"/>
          </a:xfrm>
          <a:prstGeom prst="rect">
            <a:avLst/>
          </a:prstGeom>
        </p:spPr>
      </p:pic>
      <p:pic>
        <p:nvPicPr>
          <p:cNvPr id="18" name="Picture 17">
            <a:extLst>
              <a:ext uri="{FF2B5EF4-FFF2-40B4-BE49-F238E27FC236}">
                <a16:creationId xmlns:a16="http://schemas.microsoft.com/office/drawing/2014/main" id="{45BBA2F4-5985-3177-774B-12FD3195224E}"/>
              </a:ext>
            </a:extLst>
          </p:cNvPr>
          <p:cNvPicPr>
            <a:picLocks noChangeAspect="1"/>
          </p:cNvPicPr>
          <p:nvPr/>
        </p:nvPicPr>
        <p:blipFill>
          <a:blip r:embed="rId6"/>
          <a:stretch>
            <a:fillRect/>
          </a:stretch>
        </p:blipFill>
        <p:spPr>
          <a:xfrm>
            <a:off x="7456988" y="1518560"/>
            <a:ext cx="1834788" cy="1878999"/>
          </a:xfrm>
          <a:prstGeom prst="rect">
            <a:avLst/>
          </a:prstGeom>
        </p:spPr>
      </p:pic>
      <p:pic>
        <p:nvPicPr>
          <p:cNvPr id="23" name="Picture 22">
            <a:extLst>
              <a:ext uri="{FF2B5EF4-FFF2-40B4-BE49-F238E27FC236}">
                <a16:creationId xmlns:a16="http://schemas.microsoft.com/office/drawing/2014/main" id="{CBF98CED-DBDF-7A86-C556-0E969E1D3F4C}"/>
              </a:ext>
            </a:extLst>
          </p:cNvPr>
          <p:cNvPicPr>
            <a:picLocks noChangeAspect="1"/>
          </p:cNvPicPr>
          <p:nvPr/>
        </p:nvPicPr>
        <p:blipFill>
          <a:blip r:embed="rId7"/>
          <a:stretch>
            <a:fillRect/>
          </a:stretch>
        </p:blipFill>
        <p:spPr>
          <a:xfrm>
            <a:off x="9291776" y="2789403"/>
            <a:ext cx="2849648" cy="3131966"/>
          </a:xfrm>
          <a:prstGeom prst="rect">
            <a:avLst/>
          </a:prstGeom>
        </p:spPr>
      </p:pic>
      <p:sp>
        <p:nvSpPr>
          <p:cNvPr id="24" name="TextBox 23">
            <a:extLst>
              <a:ext uri="{FF2B5EF4-FFF2-40B4-BE49-F238E27FC236}">
                <a16:creationId xmlns:a16="http://schemas.microsoft.com/office/drawing/2014/main" id="{9E0EB45C-16D3-A588-DC13-74EF83370746}"/>
              </a:ext>
            </a:extLst>
          </p:cNvPr>
          <p:cNvSpPr txBox="1"/>
          <p:nvPr/>
        </p:nvSpPr>
        <p:spPr>
          <a:xfrm>
            <a:off x="7613073" y="3397559"/>
            <a:ext cx="1522619" cy="230832"/>
          </a:xfrm>
          <a:prstGeom prst="rect">
            <a:avLst/>
          </a:prstGeom>
          <a:noFill/>
        </p:spPr>
        <p:txBody>
          <a:bodyPr wrap="square" rtlCol="0">
            <a:spAutoFit/>
          </a:bodyPr>
          <a:lstStyle/>
          <a:p>
            <a:r>
              <a:rPr lang="en-US" sz="900" dirty="0">
                <a:solidFill>
                  <a:srgbClr val="FF0000"/>
                </a:solidFill>
                <a:latin typeface="Cambria" panose="02040503050406030204" pitchFamily="18" charset="0"/>
                <a:ea typeface="Cambria" panose="02040503050406030204" pitchFamily="18" charset="0"/>
              </a:rPr>
              <a:t>Pressure switch assembly</a:t>
            </a:r>
          </a:p>
        </p:txBody>
      </p:sp>
      <p:cxnSp>
        <p:nvCxnSpPr>
          <p:cNvPr id="29" name="Straight Arrow Connector 28">
            <a:extLst>
              <a:ext uri="{FF2B5EF4-FFF2-40B4-BE49-F238E27FC236}">
                <a16:creationId xmlns:a16="http://schemas.microsoft.com/office/drawing/2014/main" id="{60B8151E-1D38-2C0C-E43B-90D41F9D6B46}"/>
              </a:ext>
            </a:extLst>
          </p:cNvPr>
          <p:cNvCxnSpPr>
            <a:cxnSpLocks/>
          </p:cNvCxnSpPr>
          <p:nvPr/>
        </p:nvCxnSpPr>
        <p:spPr>
          <a:xfrm flipH="1" flipV="1">
            <a:off x="9414053" y="3098040"/>
            <a:ext cx="618407" cy="41493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844675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556280" y="606663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Montserrat" pitchFamily="2" charset="77"/>
              <a:ea typeface="+mn-ea"/>
              <a:cs typeface="+mn-cs"/>
            </a:endParaRPr>
          </a:p>
        </p:txBody>
      </p:sp>
      <p:sp>
        <p:nvSpPr>
          <p:cNvPr id="3" name="Rectangle 2"/>
          <p:cNvSpPr/>
          <p:nvPr/>
        </p:nvSpPr>
        <p:spPr>
          <a:xfrm>
            <a:off x="385676" y="147086"/>
            <a:ext cx="2950616"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A865 Fuel leak 14 Apr 2025</a:t>
            </a:r>
          </a:p>
        </p:txBody>
      </p:sp>
      <p:pic>
        <p:nvPicPr>
          <p:cNvPr id="7" name="Picture 6"/>
          <p:cNvPicPr>
            <a:picLocks noChangeAspect="1"/>
          </p:cNvPicPr>
          <p:nvPr/>
        </p:nvPicPr>
        <p:blipFill>
          <a:blip r:embed="rId3"/>
          <a:stretch>
            <a:fillRect/>
          </a:stretch>
        </p:blipFill>
        <p:spPr>
          <a:xfrm>
            <a:off x="8888896" y="253000"/>
            <a:ext cx="2970923" cy="4407301"/>
          </a:xfrm>
          <a:prstGeom prst="rect">
            <a:avLst/>
          </a:prstGeom>
        </p:spPr>
      </p:pic>
      <p:pic>
        <p:nvPicPr>
          <p:cNvPr id="8" name="Picture 7"/>
          <p:cNvPicPr>
            <a:picLocks noChangeAspect="1"/>
          </p:cNvPicPr>
          <p:nvPr/>
        </p:nvPicPr>
        <p:blipFill>
          <a:blip r:embed="rId4"/>
          <a:stretch>
            <a:fillRect/>
          </a:stretch>
        </p:blipFill>
        <p:spPr>
          <a:xfrm>
            <a:off x="4913897" y="2126414"/>
            <a:ext cx="2763465" cy="2294306"/>
          </a:xfrm>
          <a:prstGeom prst="rect">
            <a:avLst/>
          </a:prstGeom>
        </p:spPr>
      </p:pic>
      <p:pic>
        <p:nvPicPr>
          <p:cNvPr id="9" name="Picture 8"/>
          <p:cNvPicPr>
            <a:picLocks noChangeAspect="1"/>
          </p:cNvPicPr>
          <p:nvPr/>
        </p:nvPicPr>
        <p:blipFill>
          <a:blip r:embed="rId5"/>
          <a:stretch>
            <a:fillRect/>
          </a:stretch>
        </p:blipFill>
        <p:spPr>
          <a:xfrm>
            <a:off x="4825737" y="4584924"/>
            <a:ext cx="2880320" cy="1961043"/>
          </a:xfrm>
          <a:prstGeom prst="rect">
            <a:avLst/>
          </a:prstGeom>
        </p:spPr>
      </p:pic>
      <p:pic>
        <p:nvPicPr>
          <p:cNvPr id="13" name="Picture 12"/>
          <p:cNvPicPr>
            <a:picLocks noChangeAspect="1"/>
          </p:cNvPicPr>
          <p:nvPr/>
        </p:nvPicPr>
        <p:blipFill>
          <a:blip r:embed="rId6"/>
          <a:stretch>
            <a:fillRect/>
          </a:stretch>
        </p:blipFill>
        <p:spPr>
          <a:xfrm rot="5400000">
            <a:off x="9427791" y="4250126"/>
            <a:ext cx="1908183" cy="2955873"/>
          </a:xfrm>
          <a:prstGeom prst="rect">
            <a:avLst/>
          </a:prstGeom>
        </p:spPr>
      </p:pic>
      <p:cxnSp>
        <p:nvCxnSpPr>
          <p:cNvPr id="15" name="Straight Arrow Connector 14"/>
          <p:cNvCxnSpPr/>
          <p:nvPr/>
        </p:nvCxnSpPr>
        <p:spPr>
          <a:xfrm flipV="1">
            <a:off x="6167336" y="1328194"/>
            <a:ext cx="4014157" cy="1128456"/>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16" name="Picture 15"/>
          <p:cNvPicPr>
            <a:picLocks noChangeAspect="1"/>
          </p:cNvPicPr>
          <p:nvPr/>
        </p:nvPicPr>
        <p:blipFill>
          <a:blip r:embed="rId7"/>
          <a:stretch>
            <a:fillRect/>
          </a:stretch>
        </p:blipFill>
        <p:spPr>
          <a:xfrm>
            <a:off x="1545980" y="4584924"/>
            <a:ext cx="2762150" cy="1961043"/>
          </a:xfrm>
          <a:prstGeom prst="rect">
            <a:avLst/>
          </a:prstGeom>
        </p:spPr>
      </p:pic>
      <p:pic>
        <p:nvPicPr>
          <p:cNvPr id="17" name="Picture 16"/>
          <p:cNvPicPr>
            <a:picLocks noChangeAspect="1"/>
          </p:cNvPicPr>
          <p:nvPr/>
        </p:nvPicPr>
        <p:blipFill>
          <a:blip r:embed="rId8"/>
          <a:stretch>
            <a:fillRect/>
          </a:stretch>
        </p:blipFill>
        <p:spPr>
          <a:xfrm>
            <a:off x="1655211" y="1997521"/>
            <a:ext cx="2764294" cy="2423199"/>
          </a:xfrm>
          <a:prstGeom prst="rect">
            <a:avLst/>
          </a:prstGeom>
        </p:spPr>
      </p:pic>
      <p:sp>
        <p:nvSpPr>
          <p:cNvPr id="18" name="Rectangle 17"/>
          <p:cNvSpPr/>
          <p:nvPr/>
        </p:nvSpPr>
        <p:spPr>
          <a:xfrm>
            <a:off x="385675" y="686405"/>
            <a:ext cx="8067661" cy="1384995"/>
          </a:xfrm>
          <a:prstGeom prst="rect">
            <a:avLst/>
          </a:prstGeom>
        </p:spPr>
        <p:txBody>
          <a:bodyPr wrap="square">
            <a:spAutoFit/>
          </a:bodyPr>
          <a:lstStyle/>
          <a:p>
            <a:pPr marL="285750" indent="-285750">
              <a:buFontTx/>
              <a:buChar char="-"/>
            </a:pPr>
            <a:r>
              <a:rPr lang="en-US" sz="1400" dirty="0" err="1">
                <a:latin typeface="Times New Roman" panose="02020603050405020304" pitchFamily="18" charset="0"/>
                <a:cs typeface="Times New Roman" panose="02020603050405020304" pitchFamily="18" charset="0"/>
              </a:rPr>
              <a:t>Kiểm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tra</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phát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hiện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Eng</a:t>
            </a:r>
            <a:r>
              <a:rPr lang="en-US" sz="1400" dirty="0">
                <a:latin typeface="Times New Roman" panose="02020603050405020304" pitchFamily="18" charset="0"/>
                <a:cs typeface="Times New Roman" panose="02020603050405020304" pitchFamily="18" charset="0"/>
              </a:rPr>
              <a:t> Fuel Feed Flexible Coupling Packing </a:t>
            </a:r>
            <a:r>
              <a:rPr lang="en-US" sz="1400" dirty="0" err="1">
                <a:latin typeface="Times New Roman" panose="02020603050405020304" pitchFamily="18" charset="0"/>
                <a:cs typeface="Times New Roman" panose="02020603050405020304" pitchFamily="18" charset="0"/>
              </a:rPr>
              <a:t>bị</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đứt</a:t>
            </a:r>
            <a:r>
              <a:rPr lang="en-US" sz="1400" dirty="0">
                <a:latin typeface="Times New Roman" panose="02020603050405020304" pitchFamily="18" charset="0"/>
                <a:cs typeface="Times New Roman" panose="02020603050405020304" pitchFamily="18" charset="0"/>
              </a:rPr>
              <a:t> PN MS29513-226</a:t>
            </a:r>
          </a:p>
          <a:p>
            <a:pPr marL="285750" indent="-285750">
              <a:buFontTx/>
              <a:buChar char="-"/>
            </a:pPr>
            <a:r>
              <a:rPr lang="en-US" sz="1400" dirty="0">
                <a:latin typeface="Times New Roman" panose="02020603050405020304" pitchFamily="18" charset="0"/>
                <a:cs typeface="Times New Roman" panose="02020603050405020304" pitchFamily="18" charset="0"/>
              </a:rPr>
              <a:t>Packing </a:t>
            </a:r>
            <a:r>
              <a:rPr lang="en-US" sz="1400" dirty="0" err="1">
                <a:latin typeface="Times New Roman" panose="02020603050405020304" pitchFamily="18" charset="0"/>
                <a:cs typeface="Times New Roman" panose="02020603050405020304" pitchFamily="18" charset="0"/>
              </a:rPr>
              <a:t>này</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được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sử</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dụng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rất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nhiều</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vị</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trí</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trên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máy</a:t>
            </a:r>
            <a:r>
              <a:rPr lang="en-US" sz="1400" dirty="0">
                <a:latin typeface="Times New Roman" panose="02020603050405020304" pitchFamily="18" charset="0"/>
                <a:cs typeface="Times New Roman" panose="02020603050405020304" pitchFamily="18" charset="0"/>
              </a:rPr>
              <a:t> bay </a:t>
            </a:r>
            <a:r>
              <a:rPr lang="en-US" sz="1400" dirty="0" err="1">
                <a:latin typeface="Times New Roman" panose="02020603050405020304" pitchFamily="18" charset="0"/>
                <a:cs typeface="Times New Roman" panose="02020603050405020304" pitchFamily="18" charset="0"/>
              </a:rPr>
              <a:t>gồm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cả</a:t>
            </a:r>
            <a:r>
              <a:rPr lang="en-US" sz="1400" dirty="0">
                <a:latin typeface="Times New Roman" panose="02020603050405020304" pitchFamily="18" charset="0"/>
                <a:cs typeface="Times New Roman" panose="02020603050405020304" pitchFamily="18" charset="0"/>
              </a:rPr>
              <a:t> ATA 28, 29 </a:t>
            </a:r>
            <a:r>
              <a:rPr lang="en-US" sz="1400" dirty="0" err="1">
                <a:latin typeface="Times New Roman" panose="02020603050405020304" pitchFamily="18" charset="0"/>
                <a:cs typeface="Times New Roman" panose="02020603050405020304" pitchFamily="18" charset="0"/>
              </a:rPr>
              <a:t>và</a:t>
            </a:r>
            <a:r>
              <a:rPr lang="en-US" sz="1400" dirty="0">
                <a:latin typeface="Times New Roman" panose="02020603050405020304" pitchFamily="18" charset="0"/>
                <a:cs typeface="Times New Roman" panose="02020603050405020304" pitchFamily="18" charset="0"/>
              </a:rPr>
              <a:t> 38.</a:t>
            </a:r>
          </a:p>
          <a:p>
            <a:pPr marL="285750" indent="-285750">
              <a:buFontTx/>
              <a:buChar char="-"/>
            </a:pPr>
            <a:r>
              <a:rPr lang="en-US" sz="1400" dirty="0" err="1">
                <a:latin typeface="Times New Roman" panose="02020603050405020304" pitchFamily="18" charset="0"/>
                <a:cs typeface="Times New Roman" panose="02020603050405020304" pitchFamily="18" charset="0"/>
              </a:rPr>
              <a:t>Hỏng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hóc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có</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thể</a:t>
            </a:r>
            <a:r>
              <a:rPr lang="en-US" sz="1400" dirty="0">
                <a:latin typeface="Times New Roman" panose="02020603050405020304" pitchFamily="18" charset="0"/>
                <a:cs typeface="Times New Roman" panose="02020603050405020304" pitchFamily="18" charset="0"/>
              </a:rPr>
              <a:t> do seal </a:t>
            </a:r>
            <a:r>
              <a:rPr lang="en-US" sz="1400" dirty="0" err="1">
                <a:latin typeface="Times New Roman" panose="02020603050405020304" pitchFamily="18" charset="0"/>
                <a:cs typeface="Times New Roman" panose="02020603050405020304" pitchFamily="18" charset="0"/>
              </a:rPr>
              <a:t>bị</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khô</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nứt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hoặc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sai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trong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quá</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trình</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bảo</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dưỡng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lắp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đặt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Hiện</a:t>
            </a:r>
            <a:r>
              <a:rPr lang="en-US" sz="1400" dirty="0">
                <a:latin typeface="Times New Roman" panose="02020603050405020304" pitchFamily="18" charset="0"/>
                <a:cs typeface="Times New Roman" panose="02020603050405020304" pitchFamily="18" charset="0"/>
              </a:rPr>
              <a:t> BOE </a:t>
            </a:r>
            <a:r>
              <a:rPr lang="en-US" sz="1400" dirty="0" err="1">
                <a:latin typeface="Times New Roman" panose="02020603050405020304" pitchFamily="18" charset="0"/>
                <a:cs typeface="Times New Roman" panose="02020603050405020304" pitchFamily="18" charset="0"/>
              </a:rPr>
              <a:t>cũng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không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có</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nội</a:t>
            </a:r>
            <a:r>
              <a:rPr lang="en-US" sz="1400" dirty="0">
                <a:latin typeface="Times New Roman" panose="02020603050405020304" pitchFamily="18" charset="0"/>
                <a:cs typeface="Times New Roman" panose="02020603050405020304" pitchFamily="18" charset="0"/>
              </a:rPr>
              <a:t> dung </a:t>
            </a:r>
            <a:r>
              <a:rPr lang="en-US" sz="1400" dirty="0" err="1">
                <a:latin typeface="Times New Roman" panose="02020603050405020304" pitchFamily="18" charset="0"/>
                <a:cs typeface="Times New Roman" panose="02020603050405020304" pitchFamily="18" charset="0"/>
              </a:rPr>
              <a:t>nào</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liên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quan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đến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kiểm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tra</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nâng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cấp</a:t>
            </a:r>
            <a:r>
              <a:rPr lang="en-US" sz="1400" dirty="0">
                <a:latin typeface="Times New Roman" panose="02020603050405020304" pitchFamily="18" charset="0"/>
                <a:cs typeface="Times New Roman" panose="02020603050405020304" pitchFamily="18" charset="0"/>
              </a:rPr>
              <a:t> Seal </a:t>
            </a:r>
            <a:r>
              <a:rPr lang="en-US" sz="1400" dirty="0" err="1">
                <a:latin typeface="Times New Roman" panose="02020603050405020304" pitchFamily="18" charset="0"/>
                <a:cs typeface="Times New Roman" panose="02020603050405020304" pitchFamily="18" charset="0"/>
              </a:rPr>
              <a:t>này</a:t>
            </a:r>
            <a:r>
              <a:rPr lang="en-US" sz="1400" dirty="0">
                <a:latin typeface="Times New Roman" panose="02020603050405020304" pitchFamily="18" charset="0"/>
                <a:cs typeface="Times New Roman" panose="02020603050405020304" pitchFamily="18" charset="0"/>
              </a:rPr>
              <a:t>.</a:t>
            </a:r>
          </a:p>
          <a:p>
            <a:pPr marL="285750" indent="-285750">
              <a:buFontTx/>
              <a:buChar char="-"/>
            </a:pP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Ref: 787 MT 28-003 </a:t>
            </a:r>
          </a:p>
        </p:txBody>
      </p:sp>
    </p:spTree>
    <p:extLst>
      <p:ext uri="{BB962C8B-B14F-4D97-AF65-F5344CB8AC3E}">
        <p14:creationId xmlns:p14="http://schemas.microsoft.com/office/powerpoint/2010/main" val="8772768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556280" y="606663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Montserrat" pitchFamily="2" charset="77"/>
              <a:ea typeface="+mn-ea"/>
              <a:cs typeface="+mn-cs"/>
            </a:endParaRPr>
          </a:p>
        </p:txBody>
      </p:sp>
      <p:sp>
        <p:nvSpPr>
          <p:cNvPr id="3" name="Rectangle 2"/>
          <p:cNvSpPr/>
          <p:nvPr/>
        </p:nvSpPr>
        <p:spPr>
          <a:xfrm>
            <a:off x="385676" y="147086"/>
            <a:ext cx="3790525"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A869 EDP Low press </a:t>
            </a:r>
            <a:r>
              <a:rPr lang="en-US" b="1" dirty="0" err="1">
                <a:latin typeface="Times New Roman" panose="02020603050405020304" pitchFamily="18" charset="0"/>
                <a:cs typeface="Times New Roman" panose="02020603050405020304" pitchFamily="18" charset="0"/>
              </a:rPr>
              <a:t>ngày</a:t>
            </a:r>
            <a:r>
              <a:rPr lang="en-US" b="1" dirty="0">
                <a:latin typeface="Times New Roman" panose="02020603050405020304" pitchFamily="18" charset="0"/>
                <a:cs typeface="Times New Roman" panose="02020603050405020304" pitchFamily="18" charset="0"/>
              </a:rPr>
              <a:t> 17/4/2025</a:t>
            </a:r>
          </a:p>
        </p:txBody>
      </p:sp>
      <p:sp>
        <p:nvSpPr>
          <p:cNvPr id="18" name="Rectangle 17"/>
          <p:cNvSpPr/>
          <p:nvPr/>
        </p:nvSpPr>
        <p:spPr>
          <a:xfrm>
            <a:off x="503853" y="542144"/>
            <a:ext cx="10562253" cy="1600438"/>
          </a:xfrm>
          <a:prstGeom prst="rect">
            <a:avLst/>
          </a:prstGeom>
        </p:spPr>
        <p:txBody>
          <a:bodyPr wrap="square">
            <a:spAutoFit/>
          </a:bodyPr>
          <a:lstStyle/>
          <a:p>
            <a:pPr marL="285750" indent="-285750" algn="just">
              <a:buFontTx/>
              <a:buChar char="-"/>
            </a:pPr>
            <a:r>
              <a:rPr lang="vi-VN" sz="1400" dirty="0">
                <a:latin typeface="Times New Roman" panose="02020603050405020304" pitchFamily="18" charset="0"/>
                <a:cs typeface="Times New Roman" panose="02020603050405020304" pitchFamily="18" charset="0"/>
              </a:rPr>
              <a:t>Khi tháo EDP phát hiện shearshaft. BOE cho rằng EDP bị vỡ trục, nguyên nhân có thể do sự ăn khớp không khít giữa Internal shaft và External shaft. OEM đã đưa ra giải pháp sử dụng tool (PN K29006-1) khi lắp EDP (ban hành Apr2022) giúp torque ép sát V clam. VAE cũng đã mua 01 tool này và đặt ở SGN. </a:t>
            </a:r>
          </a:p>
          <a:p>
            <a:pPr marL="285750" indent="-285750" algn="just">
              <a:buFontTx/>
              <a:buChar char="-"/>
            </a:pPr>
            <a:r>
              <a:rPr lang="vi-VN" sz="1400" dirty="0">
                <a:latin typeface="Times New Roman" panose="02020603050405020304" pitchFamily="18" charset="0"/>
                <a:cs typeface="Times New Roman" panose="02020603050405020304" pitchFamily="18" charset="0"/>
              </a:rPr>
              <a:t>Khối hỏng SN 530651814 nhận từ 18.Aug2020 có TSN 14645FH 1635FC, sau đó từng lắp trên qua 8 tàu thì lần này lắp trên A869, hiện tại có TSN 29832FH 6059FC. Do khối cao giờ nên nguyên nhân cũng có thê từ độ bền mỏi của trục đến giới hạn.</a:t>
            </a:r>
          </a:p>
          <a:p>
            <a:pPr marL="285750" indent="-285750" algn="just">
              <a:buFontTx/>
              <a:buChar char="-"/>
            </a:pPr>
            <a:r>
              <a:rPr lang="vi-VN" sz="1400" dirty="0">
                <a:latin typeface="Times New Roman" panose="02020603050405020304" pitchFamily="18" charset="0"/>
                <a:cs typeface="Times New Roman" panose="02020603050405020304" pitchFamily="18" charset="0"/>
              </a:rPr>
              <a:t>P KTMB đã yêu cầu VAE báo cáo về việc tuân thủ AMM khi tháo lắp cũng như hỏi thêm BOE về nguyên nhân có thể của hỏng hóc này để có phương án ngăn ngừa.</a:t>
            </a:r>
            <a:endParaRPr lang="en-US" sz="1400" dirty="0">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04180" y="2887717"/>
            <a:ext cx="2707383" cy="3609844"/>
          </a:xfrm>
          <a:prstGeom prst="rect">
            <a:avLst/>
          </a:prstGeom>
        </p:spPr>
      </p:pic>
      <p:pic>
        <p:nvPicPr>
          <p:cNvPr id="11" name="Picture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32177" y="2887717"/>
            <a:ext cx="2707383" cy="3609844"/>
          </a:xfrm>
          <a:prstGeom prst="rect">
            <a:avLst/>
          </a:prstGeom>
        </p:spPr>
      </p:pic>
      <p:pic>
        <p:nvPicPr>
          <p:cNvPr id="12" name="Pictur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401" y="2887717"/>
            <a:ext cx="2596049" cy="3619472"/>
          </a:xfrm>
          <a:prstGeom prst="rect">
            <a:avLst/>
          </a:prstGeom>
        </p:spPr>
      </p:pic>
      <p:pic>
        <p:nvPicPr>
          <p:cNvPr id="19" name="Picture 18"/>
          <p:cNvPicPr>
            <a:picLocks noChangeAspect="1"/>
          </p:cNvPicPr>
          <p:nvPr/>
        </p:nvPicPr>
        <p:blipFill>
          <a:blip r:embed="rId6"/>
          <a:stretch>
            <a:fillRect/>
          </a:stretch>
        </p:blipFill>
        <p:spPr>
          <a:xfrm>
            <a:off x="9176183" y="3044757"/>
            <a:ext cx="2633196" cy="3598967"/>
          </a:xfrm>
          <a:prstGeom prst="rect">
            <a:avLst/>
          </a:prstGeom>
        </p:spPr>
      </p:pic>
      <p:sp>
        <p:nvSpPr>
          <p:cNvPr id="20" name="Rectangle 19"/>
          <p:cNvSpPr/>
          <p:nvPr/>
        </p:nvSpPr>
        <p:spPr>
          <a:xfrm>
            <a:off x="1142689" y="6523287"/>
            <a:ext cx="833883" cy="307777"/>
          </a:xfrm>
          <a:prstGeom prst="rect">
            <a:avLst/>
          </a:prstGeom>
        </p:spPr>
        <p:txBody>
          <a:bodyPr wrap="none">
            <a:spAutoFit/>
          </a:bodyPr>
          <a:lstStyle/>
          <a:p>
            <a:r>
              <a:rPr lang="en-US" sz="1400" dirty="0" err="1">
                <a:solidFill>
                  <a:prstClr val="black"/>
                </a:solidFill>
                <a:latin typeface="Times New Roman" panose="02020603050405020304" pitchFamily="18" charset="0"/>
                <a:cs typeface="Times New Roman" panose="02020603050405020304" pitchFamily="18" charset="0"/>
              </a:rPr>
              <a:t>GearBox</a:t>
            </a:r>
            <a:endParaRPr lang="en-US" dirty="0"/>
          </a:p>
        </p:txBody>
      </p:sp>
      <p:sp>
        <p:nvSpPr>
          <p:cNvPr id="24" name="Rectangle 23"/>
          <p:cNvSpPr/>
          <p:nvPr/>
        </p:nvSpPr>
        <p:spPr>
          <a:xfrm>
            <a:off x="3947534" y="6513659"/>
            <a:ext cx="1146468" cy="307777"/>
          </a:xfrm>
          <a:prstGeom prst="rect">
            <a:avLst/>
          </a:prstGeom>
        </p:spPr>
        <p:txBody>
          <a:bodyPr wrap="none">
            <a:spAutoFit/>
          </a:bodyPr>
          <a:lstStyle/>
          <a:p>
            <a:pPr lvl="0"/>
            <a:r>
              <a:rPr lang="en-US" sz="1400" dirty="0" err="1">
                <a:solidFill>
                  <a:prstClr val="black"/>
                </a:solidFill>
                <a:latin typeface="Times New Roman" panose="02020603050405020304" pitchFamily="18" charset="0"/>
                <a:cs typeface="Times New Roman" panose="02020603050405020304" pitchFamily="18" charset="0"/>
              </a:rPr>
              <a:t>Extenal</a:t>
            </a:r>
            <a:r>
              <a:rPr lang="en-US" sz="1400" dirty="0">
                <a:solidFill>
                  <a:prstClr val="black"/>
                </a:solidFill>
                <a:latin typeface="Times New Roman" panose="02020603050405020304" pitchFamily="18" charset="0"/>
                <a:cs typeface="Times New Roman" panose="02020603050405020304" pitchFamily="18" charset="0"/>
              </a:rPr>
              <a:t> drive</a:t>
            </a:r>
            <a:endParaRPr lang="en-US" dirty="0">
              <a:solidFill>
                <a:prstClr val="black"/>
              </a:solidFill>
            </a:endParaRPr>
          </a:p>
        </p:txBody>
      </p:sp>
      <p:sp>
        <p:nvSpPr>
          <p:cNvPr id="25" name="Rectangle 24"/>
          <p:cNvSpPr/>
          <p:nvPr/>
        </p:nvSpPr>
        <p:spPr>
          <a:xfrm>
            <a:off x="6639024" y="6523287"/>
            <a:ext cx="1917256" cy="307777"/>
          </a:xfrm>
          <a:prstGeom prst="rect">
            <a:avLst/>
          </a:prstGeom>
        </p:spPr>
        <p:txBody>
          <a:bodyPr wrap="none">
            <a:spAutoFit/>
          </a:bodyPr>
          <a:lstStyle/>
          <a:p>
            <a:pPr lvl="0"/>
            <a:r>
              <a:rPr lang="en-US" sz="1400" dirty="0">
                <a:solidFill>
                  <a:prstClr val="black"/>
                </a:solidFill>
                <a:latin typeface="Times New Roman" panose="02020603050405020304" pitchFamily="18" charset="0"/>
                <a:cs typeface="Times New Roman" panose="02020603050405020304" pitchFamily="18" charset="0"/>
              </a:rPr>
              <a:t>EDP and External </a:t>
            </a:r>
            <a:r>
              <a:rPr lang="en-US" sz="1400" dirty="0" err="1">
                <a:solidFill>
                  <a:prstClr val="black"/>
                </a:solidFill>
                <a:latin typeface="Times New Roman" panose="02020603050405020304" pitchFamily="18" charset="0"/>
                <a:cs typeface="Times New Roman" panose="02020603050405020304" pitchFamily="18" charset="0"/>
              </a:rPr>
              <a:t>dvive</a:t>
            </a:r>
            <a:endParaRPr lang="en-US" dirty="0">
              <a:solidFill>
                <a:prstClr val="black"/>
              </a:solidFill>
            </a:endParaRPr>
          </a:p>
        </p:txBody>
      </p:sp>
    </p:spTree>
    <p:extLst>
      <p:ext uri="{BB962C8B-B14F-4D97-AF65-F5344CB8AC3E}">
        <p14:creationId xmlns:p14="http://schemas.microsoft.com/office/powerpoint/2010/main" val="2020210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21</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175690" y="2906"/>
            <a:ext cx="8474831"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3" name="Table 2">
            <a:extLst>
              <a:ext uri="{FF2B5EF4-FFF2-40B4-BE49-F238E27FC236}">
                <a16:creationId xmlns:a16="http://schemas.microsoft.com/office/drawing/2014/main" id="{71629F70-0BD0-1EEA-FDD9-5E8BD40FDFA1}"/>
              </a:ext>
            </a:extLst>
          </p:cNvPr>
          <p:cNvGraphicFramePr>
            <a:graphicFrameLocks noGrp="1"/>
          </p:cNvGraphicFramePr>
          <p:nvPr>
            <p:extLst/>
          </p:nvPr>
        </p:nvGraphicFramePr>
        <p:xfrm>
          <a:off x="332340" y="501462"/>
          <a:ext cx="11683970" cy="6313556"/>
        </p:xfrm>
        <a:graphic>
          <a:graphicData uri="http://schemas.openxmlformats.org/drawingml/2006/table">
            <a:tbl>
              <a:tblPr/>
              <a:tblGrid>
                <a:gridCol w="819621">
                  <a:extLst>
                    <a:ext uri="{9D8B030D-6E8A-4147-A177-3AD203B41FA5}">
                      <a16:colId xmlns:a16="http://schemas.microsoft.com/office/drawing/2014/main" val="2322885338"/>
                    </a:ext>
                  </a:extLst>
                </a:gridCol>
                <a:gridCol w="941693">
                  <a:extLst>
                    <a:ext uri="{9D8B030D-6E8A-4147-A177-3AD203B41FA5}">
                      <a16:colId xmlns:a16="http://schemas.microsoft.com/office/drawing/2014/main" val="1465023425"/>
                    </a:ext>
                  </a:extLst>
                </a:gridCol>
                <a:gridCol w="819621">
                  <a:extLst>
                    <a:ext uri="{9D8B030D-6E8A-4147-A177-3AD203B41FA5}">
                      <a16:colId xmlns:a16="http://schemas.microsoft.com/office/drawing/2014/main" val="1866041254"/>
                    </a:ext>
                  </a:extLst>
                </a:gridCol>
                <a:gridCol w="1813631">
                  <a:extLst>
                    <a:ext uri="{9D8B030D-6E8A-4147-A177-3AD203B41FA5}">
                      <a16:colId xmlns:a16="http://schemas.microsoft.com/office/drawing/2014/main" val="2309493722"/>
                    </a:ext>
                  </a:extLst>
                </a:gridCol>
                <a:gridCol w="1116080">
                  <a:extLst>
                    <a:ext uri="{9D8B030D-6E8A-4147-A177-3AD203B41FA5}">
                      <a16:colId xmlns:a16="http://schemas.microsoft.com/office/drawing/2014/main" val="3391807494"/>
                    </a:ext>
                  </a:extLst>
                </a:gridCol>
                <a:gridCol w="1743877">
                  <a:extLst>
                    <a:ext uri="{9D8B030D-6E8A-4147-A177-3AD203B41FA5}">
                      <a16:colId xmlns:a16="http://schemas.microsoft.com/office/drawing/2014/main" val="2632106471"/>
                    </a:ext>
                  </a:extLst>
                </a:gridCol>
                <a:gridCol w="4429447">
                  <a:extLst>
                    <a:ext uri="{9D8B030D-6E8A-4147-A177-3AD203B41FA5}">
                      <a16:colId xmlns:a16="http://schemas.microsoft.com/office/drawing/2014/main" val="547606464"/>
                    </a:ext>
                  </a:extLst>
                </a:gridCol>
              </a:tblGrid>
              <a:tr h="208347">
                <a:tc>
                  <a:txBody>
                    <a:bodyPr/>
                    <a:lstStyle/>
                    <a:p>
                      <a:pPr algn="ctr" fontAlgn="ctr"/>
                      <a:r>
                        <a:rPr lang="en-US" sz="1300" b="0" i="0" u="none" strike="noStrike">
                          <a:solidFill>
                            <a:srgbClr val="000000"/>
                          </a:solidFill>
                          <a:effectLst/>
                          <a:latin typeface="Calibri" panose="020F0502020204030204" pitchFamily="34" charset="0"/>
                        </a:rPr>
                        <a:t>No</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Fleet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tàu bay</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KT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Calibri" panose="020F0502020204030204" pitchFamily="34" charset="0"/>
                        </a:rPr>
                        <a:t>Điều kiện chuyên cơ</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Ghi chú</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18477149"/>
                  </a:ext>
                </a:extLst>
              </a:tr>
              <a:tr h="208347">
                <a:tc>
                  <a:txBody>
                    <a:bodyPr/>
                    <a:lstStyle/>
                    <a:p>
                      <a:pPr algn="ctr" fontAlgn="ctr"/>
                      <a:r>
                        <a:rPr lang="en-US" sz="1300" b="0" i="0" u="none" strike="noStrike">
                          <a:solidFill>
                            <a:srgbClr val="000000"/>
                          </a:solidFill>
                          <a:effectLst/>
                          <a:latin typeface="Calibri" panose="020F0502020204030204" pitchFamily="34" charset="0"/>
                        </a:rPr>
                        <a:t>1</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A861</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Đang định kỳ</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73457336"/>
                  </a:ext>
                </a:extLst>
              </a:tr>
              <a:tr h="208347">
                <a:tc>
                  <a:txBody>
                    <a:bodyPr/>
                    <a:lstStyle/>
                    <a:p>
                      <a:pPr algn="ctr" fontAlgn="ctr"/>
                      <a:r>
                        <a:rPr lang="en-US" sz="1300" b="0" i="0" u="none" strike="noStrike">
                          <a:solidFill>
                            <a:srgbClr val="000000"/>
                          </a:solidFill>
                          <a:effectLst/>
                          <a:latin typeface="Calibri" panose="020F0502020204030204" pitchFamily="34" charset="0"/>
                        </a:rPr>
                        <a:t>2</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A862</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24417121"/>
                  </a:ext>
                </a:extLst>
              </a:tr>
              <a:tr h="483079">
                <a:tc>
                  <a:txBody>
                    <a:bodyPr/>
                    <a:lstStyle/>
                    <a:p>
                      <a:pPr algn="ctr" fontAlgn="ctr"/>
                      <a:r>
                        <a:rPr lang="en-US" sz="1300" b="0" i="0" u="none" strike="noStrike">
                          <a:solidFill>
                            <a:srgbClr val="000000"/>
                          </a:solidFill>
                          <a:effectLst/>
                          <a:latin typeface="Calibri" panose="020F0502020204030204" pitchFamily="34" charset="0"/>
                        </a:rPr>
                        <a:t>3</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A863</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1 (958170) HPT 1B có hỏng hóc (giảm tần suất 50FC)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B1668 RAISED: STS MSG: TAIL AIRFLOW SYS</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34877525"/>
                  </a:ext>
                </a:extLst>
              </a:tr>
              <a:tr h="208347">
                <a:tc>
                  <a:txBody>
                    <a:bodyPr/>
                    <a:lstStyle/>
                    <a:p>
                      <a:pPr algn="ctr" fontAlgn="ctr"/>
                      <a:r>
                        <a:rPr lang="en-US" sz="1300" b="0" i="0" u="none" strike="noStrike">
                          <a:solidFill>
                            <a:srgbClr val="000000"/>
                          </a:solidFill>
                          <a:effectLst/>
                          <a:latin typeface="Calibri" panose="020F0502020204030204" pitchFamily="34" charset="0"/>
                        </a:rPr>
                        <a:t>4</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A864</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7588057"/>
                  </a:ext>
                </a:extLst>
              </a:tr>
              <a:tr h="411547">
                <a:tc>
                  <a:txBody>
                    <a:bodyPr/>
                    <a:lstStyle/>
                    <a:p>
                      <a:pPr algn="ctr" fontAlgn="ctr"/>
                      <a:r>
                        <a:rPr lang="en-US" sz="1300" b="0" i="0" u="none" strike="noStrike">
                          <a:solidFill>
                            <a:srgbClr val="000000"/>
                          </a:solidFill>
                          <a:effectLst/>
                          <a:latin typeface="Calibri" panose="020F0502020204030204" pitchFamily="34" charset="0"/>
                        </a:rPr>
                        <a:t>5</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A865</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B1285  STS IRU R</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B1288 NITROGEN GENERATION SYS</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21522577"/>
                  </a:ext>
                </a:extLst>
              </a:tr>
              <a:tr h="614747">
                <a:tc>
                  <a:txBody>
                    <a:bodyPr/>
                    <a:lstStyle/>
                    <a:p>
                      <a:pPr algn="ctr" fontAlgn="ctr"/>
                      <a:r>
                        <a:rPr lang="en-US" sz="1300" b="0" i="0" u="none" strike="noStrike">
                          <a:solidFill>
                            <a:srgbClr val="000000"/>
                          </a:solidFill>
                          <a:effectLst/>
                          <a:latin typeface="Calibri" panose="020F0502020204030204" pitchFamily="34" charset="0"/>
                        </a:rPr>
                        <a:t>6</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A866</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100 FC HPTS1B missing material theo Departure Recommendation 01643368 Revision 0.0</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36552994"/>
                  </a:ext>
                </a:extLst>
              </a:tr>
              <a:tr h="483079">
                <a:tc>
                  <a:txBody>
                    <a:bodyPr/>
                    <a:lstStyle/>
                    <a:p>
                      <a:pPr algn="ctr" fontAlgn="ctr"/>
                      <a:r>
                        <a:rPr lang="en-US" sz="1300" b="0" i="0" u="none" strike="noStrike">
                          <a:solidFill>
                            <a:srgbClr val="000000"/>
                          </a:solidFill>
                          <a:effectLst/>
                          <a:latin typeface="Calibri" panose="020F0502020204030204" pitchFamily="34" charset="0"/>
                        </a:rPr>
                        <a:t>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STG 2 CRACK, giảm tần suất soi 250 FC theo DR Recommendation 01379322 Revision 0.0</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5233314"/>
                  </a:ext>
                </a:extLst>
              </a:tr>
              <a:tr h="208347">
                <a:tc>
                  <a:txBody>
                    <a:bodyPr/>
                    <a:lstStyle/>
                    <a:p>
                      <a:pPr algn="ctr" fontAlgn="ctr"/>
                      <a:r>
                        <a:rPr lang="en-US" sz="1300" b="0" i="0" u="none" strike="noStrike">
                          <a:solidFill>
                            <a:srgbClr val="000000"/>
                          </a:solidFill>
                          <a:effectLst/>
                          <a:latin typeface="Calibri" panose="020F0502020204030204" pitchFamily="34" charset="0"/>
                        </a:rPr>
                        <a:t>8</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A868</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07807598"/>
                  </a:ext>
                </a:extLst>
              </a:tr>
              <a:tr h="483079">
                <a:tc>
                  <a:txBody>
                    <a:bodyPr/>
                    <a:lstStyle/>
                    <a:p>
                      <a:pPr algn="ctr" fontAlgn="ctr"/>
                      <a:r>
                        <a:rPr lang="en-US" sz="1300" b="0" i="0" u="none" strike="noStrike">
                          <a:solidFill>
                            <a:srgbClr val="000000"/>
                          </a:solidFill>
                          <a:effectLst/>
                          <a:latin typeface="Calibri" panose="020F0502020204030204" pitchFamily="34" charset="0"/>
                        </a:rPr>
                        <a:t>9</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A869</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giảm tần suất soi 250 FC (HPT S2 blade cracks) và soi giảm tần suất 250 FC (fuel nozzle cup missing materials)</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79839738"/>
                  </a:ext>
                </a:extLst>
              </a:tr>
              <a:tr h="208347">
                <a:tc>
                  <a:txBody>
                    <a:bodyPr/>
                    <a:lstStyle/>
                    <a:p>
                      <a:pPr algn="ctr" fontAlgn="ctr"/>
                      <a:r>
                        <a:rPr lang="en-US" sz="1300" b="0" i="0" u="none" strike="noStrike">
                          <a:solidFill>
                            <a:srgbClr val="000000"/>
                          </a:solidFill>
                          <a:effectLst/>
                          <a:latin typeface="Calibri" panose="020F0502020204030204" pitchFamily="34" charset="0"/>
                        </a:rPr>
                        <a:t>10</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A870</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pt-BR" sz="1300" b="0" i="0" u="none" strike="noStrike">
                          <a:solidFill>
                            <a:srgbClr val="000000"/>
                          </a:solidFill>
                          <a:effectLst/>
                          <a:latin typeface="Calibri" panose="020F0502020204030204" pitchFamily="34" charset="0"/>
                        </a:rPr>
                        <a:t>B1413: ENG VIB MONITOR R</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87783799"/>
                  </a:ext>
                </a:extLst>
              </a:tr>
              <a:tr h="321861">
                <a:tc>
                  <a:txBody>
                    <a:bodyPr/>
                    <a:lstStyle/>
                    <a:p>
                      <a:pPr algn="ctr" fontAlgn="ctr"/>
                      <a:r>
                        <a:rPr lang="en-US" sz="1300" b="0" i="0" u="none" strike="noStrike">
                          <a:solidFill>
                            <a:srgbClr val="000000"/>
                          </a:solidFill>
                          <a:effectLst/>
                          <a:latin typeface="Calibri" panose="020F0502020204030204" pitchFamily="34" charset="0"/>
                        </a:rPr>
                        <a:t>11</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A871</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1 (956913) HPT 1B có hỏng hóc (giảm tần suất 50FC)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4711789"/>
                  </a:ext>
                </a:extLst>
              </a:tr>
              <a:tr h="411547">
                <a:tc>
                  <a:txBody>
                    <a:bodyPr/>
                    <a:lstStyle/>
                    <a:p>
                      <a:pPr algn="ctr" fontAlgn="ctr"/>
                      <a:r>
                        <a:rPr lang="en-US" sz="1300" b="0" i="0" u="none" strike="noStrike">
                          <a:solidFill>
                            <a:srgbClr val="000000"/>
                          </a:solidFill>
                          <a:effectLst/>
                          <a:latin typeface="Calibri" panose="020F0502020204030204" pitchFamily="34" charset="0"/>
                        </a:rPr>
                        <a:t>12</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A872</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B1278 COMPANY FUNCTION OF COMM MANAGEMENT SYS INOP; B1280 :STS MSG "AHRU L"</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89746661"/>
                  </a:ext>
                </a:extLst>
              </a:tr>
              <a:tr h="208347">
                <a:tc>
                  <a:txBody>
                    <a:bodyPr/>
                    <a:lstStyle/>
                    <a:p>
                      <a:pPr algn="ctr" fontAlgn="ctr"/>
                      <a:r>
                        <a:rPr lang="en-US" sz="1300" b="0" i="0" u="none" strike="noStrike">
                          <a:solidFill>
                            <a:srgbClr val="000000"/>
                          </a:solidFill>
                          <a:effectLst/>
                          <a:latin typeface="Calibri" panose="020F0502020204030204" pitchFamily="34" charset="0"/>
                        </a:rPr>
                        <a:t>13</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A873</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HPT 1nd stage 100 FC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5294378"/>
                  </a:ext>
                </a:extLst>
              </a:tr>
              <a:tr h="208347">
                <a:tc>
                  <a:txBody>
                    <a:bodyPr/>
                    <a:lstStyle/>
                    <a:p>
                      <a:pPr algn="ctr" fontAlgn="ctr"/>
                      <a:r>
                        <a:rPr lang="en-US" sz="1300" b="0" i="0" u="none" strike="noStrike">
                          <a:solidFill>
                            <a:srgbClr val="000000"/>
                          </a:solidFill>
                          <a:effectLst/>
                          <a:latin typeface="Calibri" panose="020F0502020204030204" pitchFamily="34" charset="0"/>
                        </a:rPr>
                        <a:t>14</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A874</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HPT 1nd stage 100 FC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3357092"/>
                  </a:ext>
                </a:extLst>
              </a:tr>
              <a:tr h="208347">
                <a:tc>
                  <a:txBody>
                    <a:bodyPr/>
                    <a:lstStyle/>
                    <a:p>
                      <a:pPr algn="ctr" fontAlgn="ctr"/>
                      <a:r>
                        <a:rPr lang="en-US" sz="1300" b="0" i="0" u="none" strike="noStrike">
                          <a:solidFill>
                            <a:srgbClr val="000000"/>
                          </a:solidFill>
                          <a:effectLst/>
                          <a:latin typeface="Calibri" panose="020F0502020204030204" pitchFamily="34" charset="0"/>
                        </a:rPr>
                        <a:t>15</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01366061"/>
                  </a:ext>
                </a:extLst>
              </a:tr>
              <a:tr h="208347">
                <a:tc>
                  <a:txBody>
                    <a:bodyPr/>
                    <a:lstStyle/>
                    <a:p>
                      <a:pPr algn="ctr" fontAlgn="ctr"/>
                      <a:r>
                        <a:rPr lang="en-US" sz="1300" b="0" i="0" u="none" strike="noStrike">
                          <a:solidFill>
                            <a:srgbClr val="000000"/>
                          </a:solidFill>
                          <a:effectLst/>
                          <a:latin typeface="Calibri" panose="020F0502020204030204" pitchFamily="34" charset="0"/>
                        </a:rPr>
                        <a:t>16</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A878</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72544053"/>
                  </a:ext>
                </a:extLst>
              </a:tr>
              <a:tr h="1021147">
                <a:tc>
                  <a:txBody>
                    <a:bodyPr/>
                    <a:lstStyle/>
                    <a:p>
                      <a:pPr algn="ctr" fontAlgn="ctr"/>
                      <a:r>
                        <a:rPr lang="en-US" sz="1300" b="0" i="0" u="none" strike="noStrike">
                          <a:solidFill>
                            <a:srgbClr val="000000"/>
                          </a:solidFill>
                          <a:effectLst/>
                          <a:latin typeface="Calibri" panose="020F0502020204030204" pitchFamily="34" charset="0"/>
                        </a:rPr>
                        <a:t>17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A879</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blage stg 1 cracked giảm tần suất soi 250 FC; Động cơ số 2 HPT blage stg 1 cracked giảm tần suất soi 100 FCGE DR 01664320 Revision 0.0</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B566 FASTEN SEATBELT SIGNS INDICATOR AT SEAT 4A INOP</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B570 STS MSG DET LEAK L CHAN B</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99605163"/>
                  </a:ext>
                </a:extLst>
              </a:tr>
            </a:tbl>
          </a:graphicData>
        </a:graphic>
      </p:graphicFrame>
    </p:spTree>
    <p:extLst>
      <p:ext uri="{BB962C8B-B14F-4D97-AF65-F5344CB8AC3E}">
        <p14:creationId xmlns:p14="http://schemas.microsoft.com/office/powerpoint/2010/main" val="2866398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22</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39379" y="207227"/>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795CC2F9-72E9-47BD-A040-3231760CEEDB}"/>
              </a:ext>
            </a:extLst>
          </p:cNvPr>
          <p:cNvSpPr/>
          <p:nvPr/>
        </p:nvSpPr>
        <p:spPr>
          <a:xfrm>
            <a:off x="250649" y="594263"/>
            <a:ext cx="11103151" cy="5262979"/>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t>
            </a:r>
            <a:r>
              <a:rPr lang="en-US" sz="1600">
                <a:solidFill>
                  <a:prstClr val="black"/>
                </a:solidFill>
                <a:latin typeface="Times New Roman" panose="02020603050405020304" pitchFamily="18" charset="0"/>
                <a:cs typeface="Times New Roman" panose="02020603050405020304" pitchFamily="18" charset="0"/>
              </a:rPr>
              <a:t>B787 trong tuần không tốt với 02 TH GTB và 04 TH AOG. </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SG" sz="1600">
                <a:solidFill>
                  <a:prstClr val="black"/>
                </a:solidFill>
                <a:latin typeface="Times New Roman" panose="02020603050405020304" pitchFamily="18" charset="0"/>
                <a:cs typeface="Times New Roman" panose="02020603050405020304" pitchFamily="18" charset="0"/>
              </a:rPr>
              <a:t>+ A877 GTB VN980 DEL-HAN ngày 14/04 do LEFT RAM AIR FAN FAULT -&gt; ADD FOR L/H RAM AIR FAN INOP</a:t>
            </a:r>
          </a:p>
          <a:p>
            <a:pPr marL="609585" lvl="1" algn="just"/>
            <a:r>
              <a:rPr lang="vi-VN" sz="1600">
                <a:solidFill>
                  <a:srgbClr val="FF0000"/>
                </a:solidFill>
                <a:latin typeface="Times New Roman" panose="02020603050405020304" pitchFamily="18" charset="0"/>
                <a:cs typeface="Times New Roman" panose="02020603050405020304" pitchFamily="18" charset="0"/>
              </a:rPr>
              <a:t>"Thực hiện thay RAF đê khắc phục. Khối tháo xuống SN 7200800 là khối còn trong bảo hành. Trước đó, để chuẩn bị tàu VIP, ngày 4Apr tàu đã được làm nôi dung kiểm tra RAF, đo dòng khi qua RAF Trươc đó cũng không có các MMG đến RAF. Cần có thêm SFR để đánh giá thêm hỏng hóc của SN này. Hỏng hóc của RAF có thể do khai thác ở môi trường high dust, insects, FOD, pollution gây tắc dòng khí ở HX (gây thiếu dòng khí cho RAF) hoặc là RAF hoạt động với cường độ cao và làm hỏng RAF. Giải pháp hiện là kiểm tra và rửa HX: EO-2020-2265/66 B787 -9: ở interval 2000FH. 787-SL-21-003/006 (ban hành FON 20/36) reduce pack operation, sử dụng ground air. Tàu cũng đã rủa bằng phương pháp ACTIVE FLUSH ngày 4Mar2025"</a:t>
            </a:r>
            <a:endParaRPr lang="en-SG" sz="1600">
              <a:solidFill>
                <a:srgbClr val="FF0000"/>
              </a:solidFill>
              <a:latin typeface="Times New Roman" panose="02020603050405020304" pitchFamily="18" charset="0"/>
              <a:cs typeface="Times New Roman" panose="02020603050405020304" pitchFamily="18" charset="0"/>
            </a:endParaRPr>
          </a:p>
          <a:p>
            <a:pPr marL="609585" lvl="1" algn="just"/>
            <a:endParaRPr lang="en-US" sz="1600">
              <a:solidFill>
                <a:srgbClr val="FF0000"/>
              </a:solidFill>
              <a:latin typeface="Times New Roman" panose="02020603050405020304" pitchFamily="18" charset="0"/>
              <a:cs typeface="Times New Roman" panose="02020603050405020304" pitchFamily="18" charset="0"/>
            </a:endParaRPr>
          </a:p>
          <a:p>
            <a:pPr marL="609585" lvl="1" algn="just"/>
            <a:r>
              <a:rPr lang="en-US" sz="1600">
                <a:latin typeface="Times New Roman" panose="02020603050405020304" pitchFamily="18" charset="0"/>
                <a:cs typeface="Times New Roman" panose="02020603050405020304" pitchFamily="18" charset="0"/>
              </a:rPr>
              <a:t>+ A861 GTB VN32 MUC-SGN ngày 17/04 do MSG IRU ALIGN MODE R -&gt; IRU R RESET SATIS, MSG GONE</a:t>
            </a:r>
          </a:p>
          <a:p>
            <a:pPr marL="609585" lvl="1" algn="just"/>
            <a:r>
              <a:rPr lang="vi-VN" sz="1600">
                <a:solidFill>
                  <a:srgbClr val="FF0000"/>
                </a:solidFill>
                <a:latin typeface="Times New Roman" panose="02020603050405020304" pitchFamily="18" charset="0"/>
                <a:cs typeface="Times New Roman" panose="02020603050405020304" pitchFamily="18" charset="0"/>
              </a:rPr>
              <a:t>Do tín hiệu GPS tại sân bay ở khu vực Châu Âu nên ảnh hưởng đến các thiết bị cần lấy tín hiệu GPS để hoạt động như IRU. Sau khi reset IRU thì tín hiệu GPS và hệ thống tàu bay đã hoạt động trở lại.</a:t>
            </a:r>
          </a:p>
          <a:p>
            <a:pPr marL="609585" lvl="1" algn="just"/>
            <a:endParaRPr lang="vi-VN" sz="1600">
              <a:latin typeface="Times New Roman" panose="02020603050405020304" pitchFamily="18" charset="0"/>
              <a:cs typeface="Times New Roman" panose="02020603050405020304" pitchFamily="18" charset="0"/>
            </a:endParaRPr>
          </a:p>
          <a:p>
            <a:pPr marL="609585" lvl="1" algn="just"/>
            <a:r>
              <a:rPr lang="en-SG" sz="1600">
                <a:latin typeface="Times New Roman" panose="02020603050405020304" pitchFamily="18" charset="0"/>
                <a:cs typeface="Times New Roman" panose="02020603050405020304" pitchFamily="18" charset="0"/>
              </a:rPr>
              <a:t>+ A865 AOG tại SGN ngày 14/04 do FUEL LEAK AT PANEL 611HB NEAR PYLON INBOARD ENG#2 -&gt; ROB 2 PANEL 611BB &amp; 611DB TỪ A874 SANG CHO A865</a:t>
            </a:r>
          </a:p>
          <a:p>
            <a:pPr marL="609585" lvl="1" algn="just"/>
            <a:r>
              <a:rPr lang="vi-VN" sz="1600">
                <a:solidFill>
                  <a:srgbClr val="FF0000"/>
                </a:solidFill>
                <a:latin typeface="Times New Roman" panose="02020603050405020304" pitchFamily="18" charset="0"/>
                <a:cs typeface="Times New Roman" panose="02020603050405020304" pitchFamily="18" charset="0"/>
              </a:rPr>
              <a:t>Kiểm tra phát hiện Eng Fuel Feed Flexible Coupling Packing bị đứt PN MS29513-226 Packing này được sử dụng rất nhiều vị trí trên máy bay gồm cả ATA 28, 29 và 38. Hỏng hóc có thể do seal bị khô nứt hoặc sai trong quá trình bảo dưỡng lắp đặt. Hiện BOE cũng không có nội dung nào liên quan đến kiểm tra, nâng cấp Seal này.</a:t>
            </a:r>
            <a:endParaRPr lang="en-SG"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82601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23</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39379" y="207227"/>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795CC2F9-72E9-47BD-A040-3231760CEEDB}"/>
              </a:ext>
            </a:extLst>
          </p:cNvPr>
          <p:cNvSpPr/>
          <p:nvPr/>
        </p:nvSpPr>
        <p:spPr>
          <a:xfrm>
            <a:off x="250650" y="594263"/>
            <a:ext cx="11045962" cy="4278094"/>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t>
            </a:r>
            <a:r>
              <a:rPr lang="en-US" sz="1600">
                <a:solidFill>
                  <a:prstClr val="black"/>
                </a:solidFill>
                <a:latin typeface="Times New Roman" panose="02020603050405020304" pitchFamily="18" charset="0"/>
                <a:cs typeface="Times New Roman" panose="02020603050405020304" pitchFamily="18" charset="0"/>
              </a:rPr>
              <a:t>B787 trong tuần không tốt với 02 TH GTB và 04 TH AOG. </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SG" sz="1600">
                <a:solidFill>
                  <a:prstClr val="black"/>
                </a:solidFill>
                <a:latin typeface="Times New Roman" panose="02020603050405020304" pitchFamily="18" charset="0"/>
                <a:cs typeface="Times New Roman" panose="02020603050405020304" pitchFamily="18" charset="0"/>
              </a:rPr>
              <a:t>+ A879 AOG tại HAN ngày 18/04 do hỏng hóc lặp lại ELEC GEN SYS L2 -&gt; Replaced L2 VFSG, MEDC. Hỏng hóc bị xuất hiện lại sau khi khắc phục ngày 16/04 và bay được 04FC.</a:t>
            </a:r>
          </a:p>
          <a:p>
            <a:pPr marL="609585" lvl="1" algn="just"/>
            <a:r>
              <a:rPr lang="vi-VN" sz="1600">
                <a:solidFill>
                  <a:srgbClr val="FF0000"/>
                </a:solidFill>
                <a:latin typeface="Times New Roman" panose="02020603050405020304" pitchFamily="18" charset="0"/>
                <a:cs typeface="Times New Roman" panose="02020603050405020304" pitchFamily="18" charset="0"/>
              </a:rPr>
              <a:t>Tàu bay trước đó đã thay GCU và VFSG để khắc phục hỏng hóc tuy nhiên sau vài chuyến lại xuất hiện lại FDE: ELEC GEN SYS/OFF với MMSG 24-16592 VFSG oil pressure sensor is failed. Đã thực hiện thay MEDC và VFSG (lần thứ 2) để khắc phục. Hiện nay cảnh báo không xuất hiện lại. Tiếp tục monitor và đợi kết quả SFR để đánh giá thêm. Xem thêm slide đánh giá chi tiết.</a:t>
            </a:r>
            <a:endParaRPr lang="en-US" sz="1600">
              <a:solidFill>
                <a:srgbClr val="FF0000"/>
              </a:solidFill>
              <a:latin typeface="Times New Roman" panose="02020603050405020304" pitchFamily="18" charset="0"/>
              <a:cs typeface="Times New Roman" panose="02020603050405020304" pitchFamily="18" charset="0"/>
            </a:endParaRPr>
          </a:p>
          <a:p>
            <a:pPr marL="609585" lvl="1" algn="just"/>
            <a:endParaRPr lang="en-US" sz="1600">
              <a:solidFill>
                <a:srgbClr val="FF0000"/>
              </a:solidFill>
              <a:latin typeface="Times New Roman" panose="02020603050405020304" pitchFamily="18" charset="0"/>
              <a:cs typeface="Times New Roman" panose="02020603050405020304" pitchFamily="18" charset="0"/>
            </a:endParaRPr>
          </a:p>
          <a:p>
            <a:pPr marL="609585" lvl="1" algn="just"/>
            <a:r>
              <a:rPr lang="en-US" sz="1600">
                <a:latin typeface="Times New Roman" panose="02020603050405020304" pitchFamily="18" charset="0"/>
                <a:cs typeface="Times New Roman" panose="02020603050405020304" pitchFamily="18" charset="0"/>
              </a:rPr>
              <a:t>+ A869 AOG tại SGN ngày 17/04 do HYD PUMP PRI R -&gt; Rob EDP từ A874 để thay thế.</a:t>
            </a:r>
          </a:p>
          <a:p>
            <a:pPr marL="609585" lvl="1" algn="just"/>
            <a:r>
              <a:rPr lang="vi-VN" sz="1600">
                <a:solidFill>
                  <a:srgbClr val="FF0000"/>
                </a:solidFill>
                <a:latin typeface="Times New Roman" panose="02020603050405020304" pitchFamily="18" charset="0"/>
                <a:cs typeface="Times New Roman" panose="02020603050405020304" pitchFamily="18" charset="0"/>
              </a:rPr>
              <a:t>Khi tháo EDP phát hiện shearshaft. BOE cho rằng EDP bị vỡ trục, nguyên nhân có thể do sự ăn khớp không khít giữa Internal shaft và External shaft. OEM đã đưa ra giải pháp sử dụng tool (PN K29006-1) khi lắp EDP (ban hành Apr2022) giúp torque ép sát V clam. VAE cũng đã mua 01 tool này và đặt ở SGN. Khối hỏng SN 530651814 nhận từ 18.Aug2020 có TSN 14645FH 1635FC, sau đó từng lắp trên qua 8 tàu thì lần này lắp trên A869, hiện tại có TSN 29832FH 6059FC. Do khối cao giờ nên nguyên nhân cũng có thê từ độ bền mỏi của trục đến giới hạn. P KTMB đã yêu cầu VAE báo cáo về việc tuân thủ AMM khi tháo lắp cũng như hỏi thêm BOE về nguyên nhân có thể của hỏng hóc này để có phương án ngăn ngừa.</a:t>
            </a:r>
            <a:endParaRPr lang="en-SG"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29690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E792E031-A495-C425-F4D6-8B23CC62A112}"/>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9EF91500-24F8-9A79-AC28-72188765A159}"/>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5C1F1A29-C2BD-434E-677B-E97D46A702DD}"/>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ATR72</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792301F0-8542-2D8A-C66A-326C6F3CDFAE}"/>
              </a:ext>
            </a:extLst>
          </p:cNvPr>
          <p:cNvSpPr txBox="1"/>
          <p:nvPr/>
        </p:nvSpPr>
        <p:spPr>
          <a:xfrm>
            <a:off x="381000" y="693720"/>
            <a:ext cx="113839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sp>
        <p:nvSpPr>
          <p:cNvPr id="5" name="Rectangle 4">
            <a:extLst>
              <a:ext uri="{FF2B5EF4-FFF2-40B4-BE49-F238E27FC236}">
                <a16:creationId xmlns:a16="http://schemas.microsoft.com/office/drawing/2014/main" id="{795CC2F9-72E9-47BD-A040-3231760CEEDB}"/>
              </a:ext>
            </a:extLst>
          </p:cNvPr>
          <p:cNvSpPr/>
          <p:nvPr/>
        </p:nvSpPr>
        <p:spPr>
          <a:xfrm>
            <a:off x="246132" y="1219200"/>
            <a:ext cx="10972799" cy="338554"/>
          </a:xfrm>
          <a:prstGeom prst="rect">
            <a:avLst/>
          </a:prstGeom>
        </p:spPr>
        <p:txBody>
          <a:bodyPr wrap="square">
            <a:spAutoFit/>
          </a:bodyPr>
          <a:lstStyle/>
          <a:p>
            <a:pPr algn="just"/>
            <a:r>
              <a:rPr lang="en-US" sz="1600" b="1" dirty="0" err="1">
                <a:solidFill>
                  <a:prstClr val="black"/>
                </a:solidFill>
                <a:latin typeface="Times New Roman" panose="02020603050405020304" pitchFamily="18" charset="0"/>
                <a:cs typeface="Times New Roman" panose="02020603050405020304" pitchFamily="18" charset="0"/>
              </a:rPr>
              <a:t>Nhận</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xét</a:t>
            </a:r>
            <a:r>
              <a:rPr lang="en-US" sz="1600" b="1"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Tình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trạng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kỹ</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thuật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đội</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tàu</a:t>
            </a:r>
            <a:r>
              <a:rPr lang="en-US" sz="1600" dirty="0">
                <a:solidFill>
                  <a:prstClr val="black"/>
                </a:solidFill>
                <a:latin typeface="Times New Roman" panose="02020603050405020304" pitchFamily="18" charset="0"/>
                <a:cs typeface="Times New Roman" panose="02020603050405020304" pitchFamily="18" charset="0"/>
              </a:rPr>
              <a:t> bay ATR72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tuần</a:t>
            </a:r>
            <a:r>
              <a:rPr lang="en-US" sz="1600">
                <a:solidFill>
                  <a:prstClr val="black"/>
                </a:solidFill>
                <a:latin typeface="Times New Roman" panose="02020603050405020304" pitchFamily="18" charset="0"/>
                <a:cs typeface="Times New Roman" panose="02020603050405020304" pitchFamily="18" charset="0"/>
              </a:rPr>
              <a:t> </a:t>
            </a:r>
            <a:r>
              <a:rPr lang="en-US" sz="1600" smtClean="0">
                <a:solidFill>
                  <a:prstClr val="black"/>
                </a:solidFill>
                <a:latin typeface="Times New Roman" panose="02020603050405020304" pitchFamily="18" charset="0"/>
                <a:cs typeface="Times New Roman" panose="02020603050405020304" pitchFamily="18" charset="0"/>
              </a:rPr>
              <a:t>tốt, không có vụ việc gián đoạn khai thác</a:t>
            </a:r>
            <a:r>
              <a:rPr lang="vi-VN" sz="1600" smtClean="0">
                <a:solidFill>
                  <a:srgbClr val="000000"/>
                </a:solidFill>
                <a:cs typeface="Times New Roman" panose="02020603050405020304" pitchFamily="18" charset="0"/>
              </a:rPr>
              <a:t>.</a:t>
            </a:r>
            <a:r>
              <a:rPr lang="en-US" sz="1600" smtClean="0">
                <a:solidFill>
                  <a:prstClr val="black"/>
                </a:solidFill>
                <a:latin typeface="Times New Roman" panose="02020603050405020304" pitchFamily="18" charset="0"/>
                <a:cs typeface="Times New Roman" panose="02020603050405020304" pitchFamily="18" charset="0"/>
              </a:rPr>
              <a:t> </a:t>
            </a:r>
            <a:endParaRPr lang="en-SG" sz="16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53682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554909D-4576-933D-CD81-4BA601F47856}"/>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B0B05232-48BF-3B43-E8AE-43FA6A3D88AA}"/>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84D028AA-A55C-EAF0-9D7C-9D32C1075691}"/>
              </a:ext>
            </a:extLst>
          </p:cNvPr>
          <p:cNvSpPr>
            <a:spLocks noGrp="1"/>
          </p:cNvSpPr>
          <p:nvPr>
            <p:ph type="title"/>
          </p:nvPr>
        </p:nvSpPr>
        <p:spPr>
          <a:xfrm>
            <a:off x="304800" y="96660"/>
            <a:ext cx="9155467" cy="551496"/>
          </a:xfrm>
        </p:spPr>
        <p:txBody>
          <a:bodyPr rtlCol="0">
            <a:noAutofit/>
          </a:bodyPr>
          <a:lstStyle/>
          <a:p>
            <a:pPr>
              <a:defRPr/>
            </a:pPr>
            <a:r>
              <a:rPr lang="en-US">
                <a:ln w="0"/>
                <a:solidFill>
                  <a:schemeClr val="accent4"/>
                </a:solidFill>
                <a:latin typeface="Times New Roman" panose="02020603050405020304" pitchFamily="18" charset="0"/>
                <a:cs typeface="Times New Roman" panose="02020603050405020304" pitchFamily="18" charset="0"/>
              </a:rPr>
              <a:t>DISPATCH RELIABILITY W16 </a:t>
            </a:r>
            <a:r>
              <a:rPr lang="vi-VN">
                <a:ln w="0"/>
                <a:solidFill>
                  <a:schemeClr val="accent4"/>
                </a:solidFill>
                <a:latin typeface="Times New Roman" panose="02020603050405020304" pitchFamily="18" charset="0"/>
                <a:cs typeface="Times New Roman" panose="02020603050405020304" pitchFamily="18" charset="0"/>
              </a:rPr>
              <a:t>(</a:t>
            </a:r>
            <a:r>
              <a:rPr lang="en-US">
                <a:ln w="0"/>
                <a:solidFill>
                  <a:schemeClr val="accent4"/>
                </a:solidFill>
                <a:latin typeface="Times New Roman" panose="02020603050405020304" pitchFamily="18" charset="0"/>
                <a:cs typeface="Times New Roman" panose="02020603050405020304" pitchFamily="18" charset="0"/>
              </a:rPr>
              <a:t>14/04/2025-20/04/20</a:t>
            </a:r>
            <a:r>
              <a:rPr lang="vi-VN">
                <a:ln w="0"/>
                <a:solidFill>
                  <a:schemeClr val="accent4"/>
                </a:solidFill>
                <a:latin typeface="Times New Roman" panose="02020603050405020304" pitchFamily="18" charset="0"/>
                <a:cs typeface="Times New Roman" panose="02020603050405020304" pitchFamily="18" charset="0"/>
              </a:rPr>
              <a:t>2</a:t>
            </a:r>
            <a:r>
              <a:rPr lang="en-US">
                <a:ln w="0"/>
                <a:solidFill>
                  <a:schemeClr val="accent4"/>
                </a:solidFill>
                <a:latin typeface="Times New Roman" panose="02020603050405020304" pitchFamily="18" charset="0"/>
                <a:cs typeface="Times New Roman" panose="02020603050405020304" pitchFamily="18" charset="0"/>
              </a:rPr>
              <a:t>5)</a:t>
            </a:r>
            <a:endParaRPr lang="vi-VN" dirty="0">
              <a:ln w="0"/>
              <a:solidFill>
                <a:schemeClr val="accent4"/>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552666" y="4395787"/>
            <a:ext cx="7004074" cy="18158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Trong </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tuần 16/2025 </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chỉ số độ tin </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cậy </a:t>
            </a:r>
            <a:r>
              <a:rPr kumimoji="0" lang="en-US" sz="1400" b="0" i="0" u="none" strike="noStrike" kern="1200" cap="none" spc="0" normalizeH="0" noProof="0">
                <a:ln>
                  <a:noFill/>
                </a:ln>
                <a:solidFill>
                  <a:prstClr val="black"/>
                </a:solidFill>
                <a:effectLst/>
                <a:uLnTx/>
                <a:uFillTx/>
                <a:latin typeface="Times New Roman" panose="02020603050405020304" pitchFamily="18" charset="0"/>
                <a:cs typeface="Times New Roman" panose="02020603050405020304" pitchFamily="18" charset="0"/>
              </a:rPr>
              <a:t>các đội </a:t>
            </a:r>
            <a:r>
              <a:rPr lang="en-US" sz="1400">
                <a:solidFill>
                  <a:prstClr val="black"/>
                </a:solidFill>
                <a:latin typeface="Times New Roman" panose="02020603050405020304" pitchFamily="18" charset="0"/>
                <a:cs typeface="Times New Roman" panose="02020603050405020304" pitchFamily="18" charset="0"/>
              </a:rPr>
              <a:t>A321, A350, ATR7 đạt mục tiêu, riêng đội B787 không đạt mục tiêu</a:t>
            </a:r>
            <a:r>
              <a:rPr kumimoji="0" lang="en-US" sz="1400" b="0" i="0" u="none" strike="noStrike" kern="1200" cap="none" spc="0" normalizeH="0" noProof="0">
                <a:ln>
                  <a:noFill/>
                </a:ln>
                <a:solidFill>
                  <a:prstClr val="black"/>
                </a:solidFill>
                <a:effectLst/>
                <a:uLnTx/>
                <a:uFillTx/>
                <a:latin typeface="Times New Roman" panose="02020603050405020304" pitchFamily="18" charset="0"/>
                <a:cs typeface="Times New Roman" panose="02020603050405020304" pitchFamily="18" charset="0"/>
              </a:rPr>
              <a:t>:</a:t>
            </a:r>
            <a:endParaRPr kumimoji="0" lang="en-US" sz="14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400" dirty="0">
                <a:solidFill>
                  <a:prstClr val="black"/>
                </a:solidFill>
                <a:latin typeface="Times New Roman" panose="02020603050405020304" pitchFamily="18" charset="0"/>
                <a:cs typeface="Times New Roman" panose="02020603050405020304" pitchFamily="18" charset="0"/>
              </a:rPr>
              <a:t>A3</a:t>
            </a:r>
            <a:r>
              <a:rPr lang="vi-VN" sz="1400" dirty="0">
                <a:solidFill>
                  <a:prstClr val="black"/>
                </a:solidFill>
                <a:latin typeface="Times New Roman" panose="02020603050405020304" pitchFamily="18" charset="0"/>
                <a:cs typeface="Times New Roman" panose="02020603050405020304" pitchFamily="18" charset="0"/>
              </a:rPr>
              <a:t>21</a:t>
            </a:r>
            <a:r>
              <a:rPr lang="en-US" sz="1400">
                <a:solidFill>
                  <a:prstClr val="black"/>
                </a:solidFill>
                <a:latin typeface="Times New Roman" panose="02020603050405020304" pitchFamily="18" charset="0"/>
                <a:cs typeface="Times New Roman" panose="02020603050405020304" pitchFamily="18" charset="0"/>
              </a:rPr>
              <a:t>: 99,85% cao hơn 0,22%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tiêu.</a:t>
            </a:r>
            <a:endParaRPr lang="vi-VN" sz="1400" dirty="0">
              <a:solidFill>
                <a:prstClr val="black"/>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A350: 100% cao hơn 0,56%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tiêu.</a:t>
            </a: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B787: 98,67% </a:t>
            </a:r>
            <a:r>
              <a:rPr lang="en-US" sz="1400">
                <a:latin typeface="Times New Roman" panose="02020603050405020304" pitchFamily="18" charset="0"/>
                <a:cs typeface="Times New Roman" panose="02020603050405020304" pitchFamily="18" charset="0"/>
              </a:rPr>
              <a:t>thấp hơn 0,69% so với mục tiêu do trong tuần xuất hiện 5 sự kiện delay kỹ thuật, nguyên nhân do các hỏng hóc liên quan tới EDP, VFSG, Ram Air Fan, IRU, PA Speaker.</a:t>
            </a: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ATR72: 100% cao hơn 0,35%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tiêu.</a:t>
            </a:r>
            <a:endParaRPr lang="en-US" sz="1400" dirty="0">
              <a:solidFill>
                <a:prstClr val="black"/>
              </a:solidFill>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29C63447-9F0E-F5EB-F621-78A1848A848E}"/>
              </a:ext>
            </a:extLst>
          </p:cNvPr>
          <p:cNvGraphicFramePr>
            <a:graphicFrameLocks noGrp="1"/>
          </p:cNvGraphicFramePr>
          <p:nvPr/>
        </p:nvGraphicFramePr>
        <p:xfrm>
          <a:off x="7625750" y="4533234"/>
          <a:ext cx="4082595" cy="1272344"/>
        </p:xfrm>
        <a:graphic>
          <a:graphicData uri="http://schemas.openxmlformats.org/drawingml/2006/table">
            <a:tbl>
              <a:tblPr/>
              <a:tblGrid>
                <a:gridCol w="1255255">
                  <a:extLst>
                    <a:ext uri="{9D8B030D-6E8A-4147-A177-3AD203B41FA5}">
                      <a16:colId xmlns:a16="http://schemas.microsoft.com/office/drawing/2014/main" val="2169649306"/>
                    </a:ext>
                  </a:extLst>
                </a:gridCol>
                <a:gridCol w="1496650">
                  <a:extLst>
                    <a:ext uri="{9D8B030D-6E8A-4147-A177-3AD203B41FA5}">
                      <a16:colId xmlns:a16="http://schemas.microsoft.com/office/drawing/2014/main" val="3397981216"/>
                    </a:ext>
                  </a:extLst>
                </a:gridCol>
                <a:gridCol w="1330690">
                  <a:extLst>
                    <a:ext uri="{9D8B030D-6E8A-4147-A177-3AD203B41FA5}">
                      <a16:colId xmlns:a16="http://schemas.microsoft.com/office/drawing/2014/main" val="4123869646"/>
                    </a:ext>
                  </a:extLst>
                </a:gridCol>
              </a:tblGrid>
              <a:tr h="502724">
                <a:tc>
                  <a:txBody>
                    <a:bodyPr/>
                    <a:lstStyle/>
                    <a:p>
                      <a:pPr algn="ctr" fontAlgn="ctr"/>
                      <a:r>
                        <a:rPr lang="en-US" sz="1400" b="1" i="0" u="none" strike="noStrike" dirty="0" err="1">
                          <a:solidFill>
                            <a:srgbClr val="00B050"/>
                          </a:solidFill>
                          <a:effectLst/>
                          <a:latin typeface="Times New Roman" panose="02020603050405020304" pitchFamily="18" charset="0"/>
                        </a:rPr>
                        <a:t>Loại</a:t>
                      </a:r>
                      <a:r>
                        <a:rPr lang="en-US" sz="1400" b="1" i="0" u="none" strike="noStrike" dirty="0">
                          <a:solidFill>
                            <a:srgbClr val="00B050"/>
                          </a:solidFill>
                          <a:effectLst/>
                          <a:latin typeface="Times New Roman" panose="02020603050405020304" pitchFamily="18" charset="0"/>
                        </a:rPr>
                        <a:t> </a:t>
                      </a:r>
                      <a:r>
                        <a:rPr lang="en-US" sz="1400" b="1" i="0" u="none" strike="noStrike" dirty="0" err="1">
                          <a:solidFill>
                            <a:srgbClr val="00B050"/>
                          </a:solidFill>
                          <a:effectLst/>
                          <a:latin typeface="Times New Roman" panose="02020603050405020304" pitchFamily="18" charset="0"/>
                        </a:rPr>
                        <a:t>máy</a:t>
                      </a:r>
                      <a:r>
                        <a:rPr lang="en-US" sz="1400" b="1" i="0" u="none" strike="noStrike" dirty="0">
                          <a:solidFill>
                            <a:srgbClr val="00B050"/>
                          </a:solidFill>
                          <a:effectLst/>
                          <a:latin typeface="Times New Roman" panose="02020603050405020304" pitchFamily="18" charset="0"/>
                        </a:rPr>
                        <a:t> bay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Số chuyến chậm, </a:t>
                      </a:r>
                      <a:br>
                        <a:rPr lang="en-US" sz="1400" b="1" i="0" u="none" strike="noStrike">
                          <a:solidFill>
                            <a:srgbClr val="00B050"/>
                          </a:solidFill>
                          <a:effectLst/>
                          <a:latin typeface="Times New Roman" panose="02020603050405020304" pitchFamily="18" charset="0"/>
                        </a:rPr>
                      </a:br>
                      <a:r>
                        <a:rPr lang="en-US" sz="1400" b="1" i="0" u="none" strike="noStrike">
                          <a:solidFill>
                            <a:srgbClr val="00B050"/>
                          </a:solidFill>
                          <a:effectLst/>
                          <a:latin typeface="Times New Roman" panose="02020603050405020304" pitchFamily="18" charset="0"/>
                        </a:rPr>
                        <a:t>hủy chuyến KT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FC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8093152"/>
                  </a:ext>
                </a:extLst>
              </a:tr>
              <a:tr h="164465">
                <a:tc>
                  <a:txBody>
                    <a:bodyPr/>
                    <a:lstStyle/>
                    <a:p>
                      <a:pPr algn="l" fontAlgn="ctr"/>
                      <a:r>
                        <a:rPr lang="en-US" sz="1200" b="1" i="0" u="none" strike="noStrike">
                          <a:solidFill>
                            <a:srgbClr val="00B05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2055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406977045"/>
                  </a:ext>
                </a:extLst>
              </a:tr>
              <a:tr h="164465">
                <a:tc>
                  <a:txBody>
                    <a:bodyPr/>
                    <a:lstStyle/>
                    <a:p>
                      <a:pPr algn="l" fontAlgn="ctr"/>
                      <a:r>
                        <a:rPr lang="en-US" sz="1200" b="1" i="0" u="none" strike="noStrike" dirty="0">
                          <a:solidFill>
                            <a:srgbClr val="00B05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163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50568924"/>
                  </a:ext>
                </a:extLst>
              </a:tr>
              <a:tr h="164465">
                <a:tc>
                  <a:txBody>
                    <a:bodyPr/>
                    <a:lstStyle/>
                    <a:p>
                      <a:pPr algn="l" fontAlgn="ctr"/>
                      <a:r>
                        <a:rPr lang="en-US" sz="1200" b="1" i="0" u="none" strike="noStrike">
                          <a:solidFill>
                            <a:srgbClr val="00B05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376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529025990"/>
                  </a:ext>
                </a:extLst>
              </a:tr>
              <a:tr h="162092">
                <a:tc>
                  <a:txBody>
                    <a:bodyPr/>
                    <a:lstStyle/>
                    <a:p>
                      <a:pPr algn="l" fontAlgn="ctr"/>
                      <a:r>
                        <a:rPr lang="en-US" sz="1200" b="1" i="0" u="none" strike="noStrike">
                          <a:solidFill>
                            <a:srgbClr val="00B05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804591176"/>
                  </a:ext>
                </a:extLst>
              </a:tr>
            </a:tbl>
          </a:graphicData>
        </a:graphic>
      </p:graphicFrame>
      <p:graphicFrame>
        <p:nvGraphicFramePr>
          <p:cNvPr id="7" name="Chart 6">
            <a:extLst>
              <a:ext uri="{FF2B5EF4-FFF2-40B4-BE49-F238E27FC236}">
                <a16:creationId xmlns:a16="http://schemas.microsoft.com/office/drawing/2014/main" id="{00000000-0008-0000-0000-000006000000}"/>
              </a:ext>
            </a:extLst>
          </p:cNvPr>
          <p:cNvGraphicFramePr>
            <a:graphicFrameLocks/>
          </p:cNvGraphicFramePr>
          <p:nvPr/>
        </p:nvGraphicFramePr>
        <p:xfrm>
          <a:off x="552665" y="764292"/>
          <a:ext cx="11155680" cy="3219450"/>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38479906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26</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156783" y="11853"/>
            <a:ext cx="9312664" cy="508000"/>
          </a:xfrm>
        </p:spPr>
        <p:txBody>
          <a:bodyPr>
            <a:noAutofit/>
          </a:bodyPr>
          <a:lstStyle/>
          <a:p>
            <a:pPr eaLnBrk="1" hangingPunct="1"/>
            <a:r>
              <a:rPr lang="en-US" altLang="en-US" sz="29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nvGraphicFramePr>
        <p:xfrm>
          <a:off x="156783" y="606959"/>
          <a:ext cx="11878434" cy="5736817"/>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899599">
                  <a:extLst>
                    <a:ext uri="{9D8B030D-6E8A-4147-A177-3AD203B41FA5}">
                      <a16:colId xmlns:a16="http://schemas.microsoft.com/office/drawing/2014/main" val="426833219"/>
                    </a:ext>
                  </a:extLst>
                </a:gridCol>
                <a:gridCol w="1373165">
                  <a:extLst>
                    <a:ext uri="{9D8B030D-6E8A-4147-A177-3AD203B41FA5}">
                      <a16:colId xmlns:a16="http://schemas.microsoft.com/office/drawing/2014/main" val="3649942957"/>
                    </a:ext>
                  </a:extLst>
                </a:gridCol>
              </a:tblGrid>
              <a:tr h="503416">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1709025">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chương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trình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 CEO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NEO</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SSA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13.5k/10k,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90M.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bao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gồm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2022.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quả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23/10: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chỉ</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gửi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đủ</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engine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Shop)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a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số</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l</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SV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2025. SSA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vẫn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giữ</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nguyên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07/11: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xác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T12 </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tổng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17 slot.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29/12: 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 PW &amp;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hành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vị</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quan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26/2,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dự</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kiến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2025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chỉ</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 – 16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GTF.</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tăng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mức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133870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Genx-1B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dung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KLM</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nội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dung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lưu</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Week 10 Engine.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Tập</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trung</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xử</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lý</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on-watch, induction slot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Ngày 11/02</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a:t>
                      </a: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Đ</a:t>
                      </a: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ã họp telecon giữa VNA và GE dưới sự chị đạo của EVP về tình trạng động cơ GEnx hiện tại</a:t>
                      </a:r>
                      <a:endPar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endParaRP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Tuần</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10 – 14/03: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Technical Review GE – Working Level (12/03)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Giới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thiệu</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GE9X (B777X)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13/03.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triển</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khai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action items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báo</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cáo</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nội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dung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Giới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thiệu</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GE9X</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26 - 28/03/2025: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KLM (QLVT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chủ</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trì</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thông</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tin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nội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dung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192661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kern="1200">
                          <a:solidFill>
                            <a:schemeClr val="tx1"/>
                          </a:solidFill>
                          <a:effectLst/>
                          <a:latin typeface="Times New Roman" panose="02020603050405020304" pitchFamily="18" charset="0"/>
                          <a:ea typeface="+mn-ea"/>
                          <a:cs typeface="Times New Roman" panose="02020603050405020304" pitchFamily="18" charset="0"/>
                        </a:rPr>
                        <a:t>Động c</a:t>
                      </a:r>
                      <a:r>
                        <a:rPr lang="vi-VN" sz="1300" kern="1200">
                          <a:solidFill>
                            <a:schemeClr val="tx1"/>
                          </a:solidFill>
                          <a:effectLst/>
                          <a:latin typeface="Times New Roman" panose="02020603050405020304" pitchFamily="18" charset="0"/>
                          <a:ea typeface="+mn-ea"/>
                          <a:cs typeface="Times New Roman" panose="02020603050405020304" pitchFamily="18" charset="0"/>
                        </a:rPr>
                        <a:t>ơ</a:t>
                      </a:r>
                      <a:r>
                        <a:rPr lang="en-US" sz="1300" kern="1200">
                          <a:solidFill>
                            <a:schemeClr val="tx1"/>
                          </a:solidFill>
                          <a:effectLst/>
                          <a:latin typeface="Times New Roman" panose="02020603050405020304" pitchFamily="18" charset="0"/>
                          <a:ea typeface="+mn-ea"/>
                          <a:cs typeface="Times New Roman" panose="02020603050405020304" pitchFamily="18" charset="0"/>
                        </a:rPr>
                        <a:t> TrentXWB-84</a:t>
                      </a: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kern="1200">
                          <a:solidFill>
                            <a:schemeClr val="tx1"/>
                          </a:solidFill>
                          <a:effectLst/>
                          <a:latin typeface="Times New Roman" panose="02020603050405020304" pitchFamily="18" charset="0"/>
                          <a:ea typeface="+mn-ea"/>
                          <a:cs typeface="Times New Roman" panose="02020603050405020304" pitchFamily="18" charset="0"/>
                        </a:rPr>
                        <a:t>Các nội dung cần làm việc với RR</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3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 VP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hoạch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nguồn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lực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A350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xuất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SV...). Ban KT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hợp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QLVT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đòi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triển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khai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hợp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QLVT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toán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draft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cao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nhằm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theo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HĐ TCA.</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Trong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buổi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MRO Asia, 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bổ</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sung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cuối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T10 –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T11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AOG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giai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đoạn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17/12 SVP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CEO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tuy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đạt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đ</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cụ</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04/03 VP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vấn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nguồn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lực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tìm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kiếm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AOG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đồng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thời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hợp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quyết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vấn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còn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tồn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CRC, Day in service</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a:solidFill>
                            <a:srgbClr val="FF0000"/>
                          </a:solidFill>
                          <a:effectLst/>
                          <a:latin typeface="Times New Roman" panose="02020603050405020304" pitchFamily="18" charset="0"/>
                          <a:ea typeface="+mn-ea"/>
                          <a:cs typeface="Times New Roman" panose="02020603050405020304" pitchFamily="18" charset="0"/>
                        </a:rPr>
                        <a:t>Ngày 15/04 VP RR đã sang làm việc với EVP VNA. KT sẽ chuẩn bị sẵn các nội dung làm việc liên quan đến hỗ trợ slot shop visit, spare, TAT… để đàm phán nếu cần thiết. </a:t>
                      </a:r>
                      <a:endPar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RR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slot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c</a:t>
                      </a:r>
                      <a:r>
                        <a:rPr lang="vi-VN" sz="1300" kern="1200" dirty="0">
                          <a:solidFill>
                            <a:schemeClr val="tx1"/>
                          </a:solidFill>
                          <a:effectLst/>
                          <a:latin typeface="Times New Roman" panose="02020603050405020304" pitchFamily="18" charset="0"/>
                          <a:ea typeface="+mn-ea"/>
                          <a:cs typeface="Times New Roman" panose="02020603050405020304" pitchFamily="18" charset="0"/>
                        </a:rPr>
                        <a:t>ơ</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TAT.</a:t>
                      </a: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bl>
          </a:graphicData>
        </a:graphic>
      </p:graphicFrame>
    </p:spTree>
    <p:extLst>
      <p:ext uri="{BB962C8B-B14F-4D97-AF65-F5344CB8AC3E}">
        <p14:creationId xmlns:p14="http://schemas.microsoft.com/office/powerpoint/2010/main" val="14962026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27</a:t>
            </a:fld>
            <a:endParaRPr>
              <a:latin typeface="Times New Roman" panose="02020603050405020304" pitchFamily="18" charset="0"/>
              <a:cs typeface="Times New Roman" panose="02020603050405020304" pitchFamily="18" charset="0"/>
            </a:endParaRPr>
          </a:p>
        </p:txBody>
      </p:sp>
      <p:graphicFrame>
        <p:nvGraphicFramePr>
          <p:cNvPr id="7"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3166309161"/>
              </p:ext>
            </p:extLst>
          </p:nvPr>
        </p:nvGraphicFramePr>
        <p:xfrm>
          <a:off x="156783" y="538480"/>
          <a:ext cx="11878434" cy="4062581"/>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757530">
                  <a:extLst>
                    <a:ext uri="{9D8B030D-6E8A-4147-A177-3AD203B41FA5}">
                      <a16:colId xmlns:a16="http://schemas.microsoft.com/office/drawing/2014/main" val="426833219"/>
                    </a:ext>
                  </a:extLst>
                </a:gridCol>
                <a:gridCol w="1515234">
                  <a:extLst>
                    <a:ext uri="{9D8B030D-6E8A-4147-A177-3AD203B41FA5}">
                      <a16:colId xmlns:a16="http://schemas.microsoft.com/office/drawing/2014/main" val="3649942957"/>
                    </a:ext>
                  </a:extLst>
                </a:gridCol>
              </a:tblGrid>
              <a:tr h="444099">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Trạng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thái</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1247144">
                <a:tc>
                  <a:txBody>
                    <a:bodyPr/>
                    <a:lstStyle/>
                    <a:p>
                      <a:pPr algn="ctr" fontAlgn="b"/>
                      <a:r>
                        <a:rPr lang="en-US" sz="1400" b="0" i="0" u="none" strike="noStrike" smtClean="0">
                          <a:solidFill>
                            <a:schemeClr val="tx1"/>
                          </a:solidFill>
                          <a:effectLst/>
                          <a:latin typeface="Times New Roman" panose="02020603050405020304" pitchFamily="18" charset="0"/>
                          <a:cs typeface="Times New Roman" panose="02020603050405020304" pitchFamily="18" charset="0"/>
                        </a:rPr>
                        <a:t>4</a:t>
                      </a:r>
                      <a:endParaRPr lang="en-US" sz="14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1" dirty="0">
                          <a:solidFill>
                            <a:schemeClr val="tx1"/>
                          </a:solidFill>
                          <a:latin typeface="Times New Roman" panose="02020603050405020304" pitchFamily="18" charset="0"/>
                          <a:cs typeface="Times New Roman" panose="02020603050405020304" pitchFamily="18" charset="0"/>
                        </a:rPr>
                        <a:t>IFC 10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 A350</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04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HW (on-wing/off-wing): A892, A899, A893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A896</a:t>
                      </a:r>
                    </a:p>
                    <a:p>
                      <a:pPr marL="176213" lvl="1" indent="-176213">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04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trên</a:t>
                      </a:r>
                      <a:r>
                        <a:rPr lang="en-US" sz="1400" dirty="0">
                          <a:solidFill>
                            <a:schemeClr val="tx1"/>
                          </a:solidFill>
                          <a:latin typeface="Times New Roman" panose="02020603050405020304" pitchFamily="18" charset="0"/>
                          <a:cs typeface="Times New Roman" panose="02020603050405020304" pitchFamily="18" charset="0"/>
                        </a:rPr>
                        <a:t> - </a:t>
                      </a:r>
                      <a:r>
                        <a:rPr lang="en-US" sz="1400" dirty="0" err="1">
                          <a:solidFill>
                            <a:schemeClr val="tx1"/>
                          </a:solidFill>
                          <a:latin typeface="Times New Roman" panose="02020603050405020304" pitchFamily="18" charset="0"/>
                          <a:cs typeface="Times New Roman" panose="02020603050405020304" pitchFamily="18" charset="0"/>
                        </a:rPr>
                        <a:t>tiếp</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tục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Server MPS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SW </a:t>
                      </a:r>
                      <a:r>
                        <a:rPr lang="en-US" sz="1400" dirty="0" err="1">
                          <a:solidFill>
                            <a:schemeClr val="tx1"/>
                          </a:solidFill>
                          <a:latin typeface="Times New Roman" panose="02020603050405020304" pitchFamily="18" charset="0"/>
                          <a:cs typeface="Times New Roman" panose="02020603050405020304" pitchFamily="18" charset="0"/>
                        </a:rPr>
                        <a:t>để</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kích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hoạt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dịch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vụ</a:t>
                      </a:r>
                      <a:r>
                        <a:rPr lang="en-US" sz="1400" dirty="0">
                          <a:solidFill>
                            <a:schemeClr val="tx1"/>
                          </a:solidFill>
                          <a:latin typeface="Times New Roman" panose="02020603050405020304" pitchFamily="18" charset="0"/>
                          <a:cs typeface="Times New Roman" panose="02020603050405020304" pitchFamily="18" charset="0"/>
                        </a:rPr>
                        <a:t> (A899 </a:t>
                      </a:r>
                      <a:r>
                        <a:rPr lang="en-US" sz="1400" dirty="0" err="1">
                          <a:solidFill>
                            <a:schemeClr val="tx1"/>
                          </a:solidFill>
                          <a:latin typeface="Times New Roman" panose="02020603050405020304" pitchFamily="18" charset="0"/>
                          <a:cs typeface="Times New Roman" panose="02020603050405020304" pitchFamily="18" charset="0"/>
                        </a:rPr>
                        <a:t>làm</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đầu</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tiên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trong</a:t>
                      </a:r>
                      <a:r>
                        <a:rPr lang="en-US" sz="1400" dirty="0">
                          <a:solidFill>
                            <a:schemeClr val="tx1"/>
                          </a:solidFill>
                          <a:latin typeface="Times New Roman" panose="02020603050405020304" pitchFamily="18" charset="0"/>
                          <a:cs typeface="Times New Roman" panose="02020603050405020304" pitchFamily="18" charset="0"/>
                        </a:rPr>
                        <a:t> check </a:t>
                      </a:r>
                      <a:r>
                        <a:rPr lang="en-US" sz="1400" dirty="0" err="1">
                          <a:solidFill>
                            <a:schemeClr val="tx1"/>
                          </a:solidFill>
                          <a:latin typeface="Times New Roman" panose="02020603050405020304" pitchFamily="18" charset="0"/>
                          <a:cs typeface="Times New Roman" panose="02020603050405020304" pitchFamily="18" charset="0"/>
                        </a:rPr>
                        <a:t>tháng</a:t>
                      </a:r>
                      <a:r>
                        <a:rPr lang="en-US" sz="1400" dirty="0">
                          <a:solidFill>
                            <a:schemeClr val="tx1"/>
                          </a:solidFill>
                          <a:latin typeface="Times New Roman" panose="02020603050405020304" pitchFamily="18" charset="0"/>
                          <a:cs typeface="Times New Roman" panose="02020603050405020304" pitchFamily="18" charset="0"/>
                        </a:rPr>
                        <a:t> 5, </a:t>
                      </a:r>
                      <a:r>
                        <a:rPr lang="en-US" sz="1400" dirty="0" err="1">
                          <a:solidFill>
                            <a:schemeClr val="tx1"/>
                          </a:solidFill>
                          <a:latin typeface="Times New Roman" panose="02020603050405020304" pitchFamily="18" charset="0"/>
                          <a:cs typeface="Times New Roman" panose="02020603050405020304" pitchFamily="18" charset="0"/>
                        </a:rPr>
                        <a:t>các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tiếp</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theo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chờ</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xếp</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lịch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thực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hiện</a:t>
                      </a:r>
                      <a:r>
                        <a:rPr lang="en-US" sz="1400" dirty="0">
                          <a:solidFill>
                            <a:schemeClr val="tx1"/>
                          </a:solidFill>
                          <a:latin typeface="Times New Roman" panose="02020603050405020304" pitchFamily="18" charset="0"/>
                          <a:cs typeface="Times New Roman" panose="02020603050405020304" pitchFamily="18" charset="0"/>
                        </a:rPr>
                        <a:t>)</a:t>
                      </a:r>
                    </a:p>
                    <a:p>
                      <a:pPr marL="176213" lvl="1" indent="-176213">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Các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lại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cần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gửi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khối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tại</a:t>
                      </a:r>
                      <a:r>
                        <a:rPr lang="en-US" sz="1400" dirty="0">
                          <a:solidFill>
                            <a:schemeClr val="tx1"/>
                          </a:solidFill>
                          <a:latin typeface="Times New Roman" panose="02020603050405020304" pitchFamily="18" charset="0"/>
                          <a:cs typeface="Times New Roman" panose="02020603050405020304" pitchFamily="18" charset="0"/>
                        </a:rPr>
                        <a:t> shop (TAT </a:t>
                      </a:r>
                      <a:r>
                        <a:rPr lang="en-US" sz="1400" dirty="0" err="1">
                          <a:solidFill>
                            <a:schemeClr val="tx1"/>
                          </a:solidFill>
                          <a:latin typeface="Times New Roman" panose="02020603050405020304" pitchFamily="18" charset="0"/>
                          <a:cs typeface="Times New Roman" panose="02020603050405020304" pitchFamily="18" charset="0"/>
                        </a:rPr>
                        <a:t>tại</a:t>
                      </a:r>
                      <a:r>
                        <a:rPr lang="en-US" sz="1400" dirty="0">
                          <a:solidFill>
                            <a:schemeClr val="tx1"/>
                          </a:solidFill>
                          <a:latin typeface="Times New Roman" panose="02020603050405020304" pitchFamily="18" charset="0"/>
                          <a:cs typeface="Times New Roman" panose="02020603050405020304" pitchFamily="18" charset="0"/>
                        </a:rPr>
                        <a:t> HON shop </a:t>
                      </a:r>
                      <a:r>
                        <a:rPr lang="en-US" sz="1400" dirty="0" err="1">
                          <a:solidFill>
                            <a:schemeClr val="tx1"/>
                          </a:solidFill>
                          <a:latin typeface="Times New Roman" panose="02020603050405020304" pitchFamily="18" charset="0"/>
                          <a:cs typeface="Times New Roman" panose="02020603050405020304" pitchFamily="18" charset="0"/>
                        </a:rPr>
                        <a:t>đang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bị</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kéo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dài</a:t>
                      </a:r>
                      <a:r>
                        <a:rPr lang="en-US" sz="1400" dirty="0">
                          <a:solidFill>
                            <a:schemeClr val="tx1"/>
                          </a:solidFill>
                          <a:latin typeface="Times New Roman" panose="02020603050405020304" pitchFamily="18" charset="0"/>
                          <a:cs typeface="Times New Roman" panose="02020603050405020304" pitchFamily="18" charset="0"/>
                        </a:rPr>
                        <a:t> 129 </a:t>
                      </a:r>
                      <a:r>
                        <a:rPr lang="en-US" sz="1400" dirty="0" err="1">
                          <a:solidFill>
                            <a:schemeClr val="tx1"/>
                          </a:solidFill>
                          <a:latin typeface="Times New Roman" panose="02020603050405020304" pitchFamily="18" charset="0"/>
                          <a:cs typeface="Times New Roman" panose="02020603050405020304" pitchFamily="18" charset="0"/>
                        </a:rPr>
                        <a:t>ngày</a:t>
                      </a:r>
                      <a:r>
                        <a:rPr lang="en-US" sz="1400">
                          <a:solidFill>
                            <a:schemeClr val="tx1"/>
                          </a:solidFill>
                          <a:latin typeface="Times New Roman" panose="02020603050405020304" pitchFamily="18" charset="0"/>
                          <a:cs typeface="Times New Roman" panose="02020603050405020304" pitchFamily="18" charset="0"/>
                        </a:rPr>
                        <a:t>)</a:t>
                      </a:r>
                      <a:endParaRPr lang="en-US" sz="1400" dirty="0">
                        <a:solidFill>
                          <a:schemeClr val="tx1"/>
                        </a:solidFill>
                        <a:latin typeface="Times New Roman" panose="02020603050405020304" pitchFamily="18" charset="0"/>
                        <a:cs typeface="Times New Roman" panose="02020603050405020304" pitchFamily="18" charset="0"/>
                      </a:endParaRPr>
                    </a:p>
                    <a:p>
                      <a:pPr marL="176213" lvl="1" indent="-176213">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Đào </a:t>
                      </a:r>
                      <a:r>
                        <a:rPr lang="en-US" sz="1400" dirty="0" err="1">
                          <a:solidFill>
                            <a:schemeClr val="tx1"/>
                          </a:solidFill>
                          <a:latin typeface="Times New Roman" panose="02020603050405020304" pitchFamily="18" charset="0"/>
                          <a:cs typeface="Times New Roman" panose="02020603050405020304" pitchFamily="18" charset="0"/>
                        </a:rPr>
                        <a:t>tạo</a:t>
                      </a:r>
                      <a:r>
                        <a:rPr lang="en-US" sz="1400" dirty="0">
                          <a:solidFill>
                            <a:schemeClr val="tx1"/>
                          </a:solidFill>
                          <a:latin typeface="Times New Roman" panose="02020603050405020304" pitchFamily="18" charset="0"/>
                          <a:cs typeface="Times New Roman" panose="02020603050405020304" pitchFamily="18" charset="0"/>
                        </a:rPr>
                        <a:t> IFC VAECO 19-20/2/2025: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thực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hiện</a:t>
                      </a:r>
                      <a:endParaRPr lang="en-US" sz="1400" b="1" dirty="0">
                        <a:solidFill>
                          <a:schemeClr val="tx1"/>
                        </a:solidFill>
                        <a:latin typeface="Times New Roman" panose="02020603050405020304" pitchFamily="18" charset="0"/>
                        <a:cs typeface="Times New Roman" panose="02020603050405020304" pitchFamily="18" charset="0"/>
                      </a:endParaRP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400" dirty="0">
                          <a:solidFill>
                            <a:schemeClr val="tx1"/>
                          </a:solidFill>
                          <a:latin typeface="Times New Roman" panose="02020603050405020304" pitchFamily="18" charset="0"/>
                          <a:cs typeface="Times New Roman" panose="02020603050405020304" pitchFamily="18" charset="0"/>
                        </a:rPr>
                        <a:t>Tài </a:t>
                      </a:r>
                      <a:r>
                        <a:rPr lang="en-US" sz="1400" dirty="0" err="1">
                          <a:solidFill>
                            <a:schemeClr val="tx1"/>
                          </a:solidFill>
                          <a:latin typeface="Times New Roman" panose="02020603050405020304" pitchFamily="18" charset="0"/>
                          <a:cs typeface="Times New Roman" panose="02020603050405020304" pitchFamily="18" charset="0"/>
                        </a:rPr>
                        <a:t>liệu</a:t>
                      </a:r>
                      <a:r>
                        <a:rPr lang="en-US" sz="1400" dirty="0">
                          <a:solidFill>
                            <a:schemeClr val="tx1"/>
                          </a:solidFill>
                          <a:latin typeface="Times New Roman" panose="02020603050405020304" pitchFamily="18" charset="0"/>
                          <a:cs typeface="Times New Roman" panose="02020603050405020304" pitchFamily="18" charset="0"/>
                        </a:rPr>
                        <a:t> TSM </a:t>
                      </a:r>
                      <a:r>
                        <a:rPr lang="en-US" sz="1400" dirty="0" err="1">
                          <a:solidFill>
                            <a:schemeClr val="tx1"/>
                          </a:solidFill>
                          <a:latin typeface="Times New Roman" panose="02020603050405020304" pitchFamily="18" charset="0"/>
                          <a:cs typeface="Times New Roman" panose="02020603050405020304" pitchFamily="18" charset="0"/>
                        </a:rPr>
                        <a:t>hệ</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thống</a:t>
                      </a:r>
                      <a:r>
                        <a:rPr lang="en-US" sz="1400" dirty="0">
                          <a:solidFill>
                            <a:schemeClr val="tx1"/>
                          </a:solidFill>
                          <a:latin typeface="Times New Roman" panose="02020603050405020304" pitchFamily="18" charset="0"/>
                          <a:cs typeface="Times New Roman" panose="02020603050405020304" pitchFamily="18" charset="0"/>
                        </a:rPr>
                        <a:t> IFC: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giao</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và</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triển</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khai</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cho</a:t>
                      </a:r>
                      <a:r>
                        <a:rPr lang="en-US" sz="1400" b="1" dirty="0">
                          <a:solidFill>
                            <a:schemeClr val="tx1"/>
                          </a:solidFill>
                          <a:latin typeface="Times New Roman" panose="02020603050405020304" pitchFamily="18" charset="0"/>
                          <a:cs typeface="Times New Roman" panose="02020603050405020304" pitchFamily="18" charset="0"/>
                        </a:rPr>
                        <a:t> VAECO</a:t>
                      </a: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400" b="0" dirty="0">
                          <a:solidFill>
                            <a:schemeClr val="tx1"/>
                          </a:solidFill>
                          <a:latin typeface="Times New Roman" panose="02020603050405020304" pitchFamily="18" charset="0"/>
                          <a:cs typeface="Times New Roman" panose="02020603050405020304" pitchFamily="18" charset="0"/>
                        </a:rPr>
                        <a:t>Tài </a:t>
                      </a:r>
                      <a:r>
                        <a:rPr lang="en-US" sz="1400" b="0" dirty="0" err="1">
                          <a:solidFill>
                            <a:schemeClr val="tx1"/>
                          </a:solidFill>
                          <a:latin typeface="Times New Roman" panose="02020603050405020304" pitchFamily="18" charset="0"/>
                          <a:cs typeface="Times New Roman" panose="02020603050405020304" pitchFamily="18" charset="0"/>
                        </a:rPr>
                        <a:t>liệu</a:t>
                      </a:r>
                      <a:r>
                        <a:rPr lang="en-US" sz="1400" b="0" dirty="0">
                          <a:solidFill>
                            <a:schemeClr val="tx1"/>
                          </a:solidFill>
                          <a:latin typeface="Times New Roman" panose="02020603050405020304" pitchFamily="18" charset="0"/>
                          <a:cs typeface="Times New Roman" panose="02020603050405020304" pitchFamily="18" charset="0"/>
                        </a:rPr>
                        <a:t> AMM: </a:t>
                      </a:r>
                      <a:r>
                        <a:rPr lang="en-US" sz="1400" b="1" dirty="0">
                          <a:solidFill>
                            <a:schemeClr val="tx1"/>
                          </a:solidFill>
                          <a:latin typeface="Times New Roman" panose="02020603050405020304" pitchFamily="18" charset="0"/>
                          <a:cs typeface="Times New Roman" panose="02020603050405020304" pitchFamily="18" charset="0"/>
                        </a:rPr>
                        <a:t>update </a:t>
                      </a:r>
                      <a:r>
                        <a:rPr lang="en-US" sz="1400" b="1" dirty="0" err="1">
                          <a:solidFill>
                            <a:schemeClr val="tx1"/>
                          </a:solidFill>
                          <a:latin typeface="Times New Roman" panose="02020603050405020304" pitchFamily="18" charset="0"/>
                          <a:cs typeface="Times New Roman" panose="02020603050405020304" pitchFamily="18" charset="0"/>
                        </a:rPr>
                        <a:t>trong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tháng</a:t>
                      </a:r>
                      <a:r>
                        <a:rPr lang="en-US" sz="1400" b="1" dirty="0">
                          <a:solidFill>
                            <a:schemeClr val="tx1"/>
                          </a:solidFill>
                          <a:latin typeface="Times New Roman" panose="02020603050405020304" pitchFamily="18" charset="0"/>
                          <a:cs typeface="Times New Roman" panose="02020603050405020304" pitchFamily="18" charset="0"/>
                        </a:rPr>
                        <a:t> 5/2025</a:t>
                      </a: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400" dirty="0" err="1">
                          <a:solidFill>
                            <a:schemeClr val="tx1"/>
                          </a:solidFill>
                          <a:latin typeface="Times New Roman" panose="02020603050405020304" pitchFamily="18" charset="0"/>
                          <a:cs typeface="Times New Roman" panose="02020603050405020304" pitchFamily="18" charset="0"/>
                        </a:rPr>
                        <a:t>Vật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tư</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dự</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phòng</a:t>
                      </a:r>
                      <a:r>
                        <a:rPr lang="en-US" sz="1400"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giao</a:t>
                      </a:r>
                      <a:endParaRPr lang="en-US" sz="1400" b="1" dirty="0">
                        <a:solidFill>
                          <a:schemeClr val="tx1"/>
                        </a:solidFill>
                        <a:latin typeface="Times New Roman" panose="02020603050405020304" pitchFamily="18" charset="0"/>
                        <a:cs typeface="Times New Roman" panose="02020603050405020304" pitchFamily="18" charset="0"/>
                      </a:endParaRP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gửi</a:t>
                      </a:r>
                      <a:r>
                        <a:rPr lang="en-US" sz="1400" dirty="0">
                          <a:solidFill>
                            <a:schemeClr val="tx1"/>
                          </a:solidFill>
                          <a:latin typeface="Times New Roman" panose="02020603050405020304" pitchFamily="18" charset="0"/>
                          <a:cs typeface="Times New Roman" panose="02020603050405020304" pitchFamily="18" charset="0"/>
                        </a:rPr>
                        <a:t> 02 shipset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bảo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quản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firmwarre</a:t>
                      </a:r>
                      <a:r>
                        <a:rPr lang="en-US" sz="1400" dirty="0">
                          <a:solidFill>
                            <a:schemeClr val="tx1"/>
                          </a:solidFill>
                          <a:latin typeface="Times New Roman" panose="02020603050405020304" pitchFamily="18" charset="0"/>
                          <a:cs typeface="Times New Roman" panose="02020603050405020304" pitchFamily="18" charset="0"/>
                        </a:rPr>
                        <a:t>, TAT 60-70 </a:t>
                      </a:r>
                      <a:r>
                        <a:rPr lang="en-US" sz="1400" dirty="0" err="1">
                          <a:solidFill>
                            <a:schemeClr val="tx1"/>
                          </a:solidFill>
                          <a:latin typeface="Times New Roman" panose="02020603050405020304" pitchFamily="18" charset="0"/>
                          <a:cs typeface="Times New Roman" panose="02020603050405020304" pitchFamily="18" charset="0"/>
                        </a:rPr>
                        <a:t>ngày</a:t>
                      </a:r>
                      <a:r>
                        <a:rPr lang="en-US" sz="1400" dirty="0">
                          <a:solidFill>
                            <a:schemeClr val="tx1"/>
                          </a:solidFill>
                          <a:latin typeface="Times New Roman" panose="02020603050405020304" pitchFamily="18" charset="0"/>
                          <a:cs typeface="Times New Roman" panose="02020603050405020304" pitchFamily="18" charset="0"/>
                        </a:rPr>
                        <a:t> =&gt;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về</a:t>
                      </a:r>
                      <a:r>
                        <a:rPr lang="en-US" sz="1400" b="1" dirty="0">
                          <a:solidFill>
                            <a:schemeClr val="tx1"/>
                          </a:solidFill>
                          <a:latin typeface="Times New Roman" panose="02020603050405020304" pitchFamily="18" charset="0"/>
                          <a:cs typeface="Times New Roman" panose="02020603050405020304" pitchFamily="18" charset="0"/>
                        </a:rPr>
                        <a:t> 02 KANDU, 02 FMA, 01 MODMAN; </a:t>
                      </a:r>
                      <a:r>
                        <a:rPr lang="en-US" sz="1400" b="1" dirty="0" err="1">
                          <a:solidFill>
                            <a:schemeClr val="tx1"/>
                          </a:solidFill>
                          <a:latin typeface="Times New Roman" panose="02020603050405020304" pitchFamily="18" charset="0"/>
                          <a:cs typeface="Times New Roman" panose="02020603050405020304" pitchFamily="18" charset="0"/>
                        </a:rPr>
                        <a:t>tiếp</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tục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giục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về</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sớm</a:t>
                      </a:r>
                      <a:r>
                        <a:rPr lang="en-US" sz="1400" b="1" dirty="0">
                          <a:solidFill>
                            <a:schemeClr val="tx1"/>
                          </a:solidFill>
                          <a:latin typeface="Times New Roman" panose="02020603050405020304" pitchFamily="18" charset="0"/>
                          <a:cs typeface="Times New Roman" panose="02020603050405020304" pitchFamily="18" charset="0"/>
                        </a:rPr>
                        <a:t> 02 KRFU + </a:t>
                      </a:r>
                      <a:r>
                        <a:rPr lang="en-US" sz="1400" b="1">
                          <a:solidFill>
                            <a:schemeClr val="tx1"/>
                          </a:solidFill>
                          <a:latin typeface="Times New Roman" panose="02020603050405020304" pitchFamily="18" charset="0"/>
                          <a:cs typeface="Times New Roman" panose="02020603050405020304" pitchFamily="18" charset="0"/>
                        </a:rPr>
                        <a:t>01 </a:t>
                      </a:r>
                      <a:r>
                        <a:rPr lang="en-US" sz="1400" b="1" smtClean="0">
                          <a:solidFill>
                            <a:schemeClr val="tx1"/>
                          </a:solidFill>
                          <a:latin typeface="Times New Roman" panose="02020603050405020304" pitchFamily="18" charset="0"/>
                          <a:cs typeface="Times New Roman" panose="02020603050405020304" pitchFamily="18" charset="0"/>
                        </a:rPr>
                        <a:t>MODMAN</a:t>
                      </a:r>
                      <a:endParaRPr lang="en-US" sz="1400" b="1" dirty="0">
                        <a:solidFill>
                          <a:schemeClr val="tx1"/>
                        </a:solidFill>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507751">
                <a:tc>
                  <a:txBody>
                    <a:bodyPr/>
                    <a:lstStyle/>
                    <a:p>
                      <a:pPr algn="ctr" fontAlgn="b"/>
                      <a:r>
                        <a:rPr lang="en-US" sz="1400" b="0" i="0" u="none" strike="noStrike" dirty="0">
                          <a:solidFill>
                            <a:schemeClr val="tx1"/>
                          </a:solidFill>
                          <a:effectLst/>
                          <a:latin typeface="Times New Roman" panose="02020603050405020304" pitchFamily="18" charset="0"/>
                          <a:cs typeface="Times New Roman" panose="02020603050405020304" pitchFamily="18" charset="0"/>
                        </a:rPr>
                        <a:t>5</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1" dirty="0">
                          <a:solidFill>
                            <a:schemeClr val="tx1"/>
                          </a:solidFill>
                          <a:latin typeface="Times New Roman" panose="02020603050405020304" pitchFamily="18" charset="0"/>
                          <a:cs typeface="Times New Roman" panose="02020603050405020304" pitchFamily="18" charset="0"/>
                        </a:rPr>
                        <a:t>CĐCH </a:t>
                      </a:r>
                      <a:r>
                        <a:rPr lang="en-US" sz="1400" b="1" dirty="0" err="1">
                          <a:solidFill>
                            <a:schemeClr val="tx1"/>
                          </a:solidFill>
                          <a:latin typeface="Times New Roman" panose="02020603050405020304" pitchFamily="18" charset="0"/>
                          <a:cs typeface="Times New Roman" panose="02020603050405020304" pitchFamily="18" charset="0"/>
                        </a:rPr>
                        <a:t>ghế</a:t>
                      </a:r>
                      <a:r>
                        <a:rPr lang="en-US" sz="1400" b="1" dirty="0">
                          <a:solidFill>
                            <a:schemeClr val="tx1"/>
                          </a:solidFill>
                          <a:latin typeface="Times New Roman" panose="02020603050405020304" pitchFamily="18" charset="0"/>
                          <a:cs typeface="Times New Roman" panose="02020603050405020304" pitchFamily="18" charset="0"/>
                        </a:rPr>
                        <a:t> 23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 A321CEO</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phát</a:t>
                      </a:r>
                      <a:r>
                        <a:rPr lang="en-US" sz="1400" dirty="0">
                          <a:solidFill>
                            <a:schemeClr val="tx1"/>
                          </a:solidFill>
                          <a:latin typeface="Times New Roman" panose="02020603050405020304" pitchFamily="18" charset="0"/>
                          <a:cs typeface="Times New Roman" panose="02020603050405020304" pitchFamily="18" charset="0"/>
                        </a:rPr>
                        <a:t> HSYC </a:t>
                      </a:r>
                      <a:r>
                        <a:rPr lang="en-US" sz="1400" dirty="0" err="1">
                          <a:solidFill>
                            <a:schemeClr val="tx1"/>
                          </a:solidFill>
                          <a:latin typeface="Times New Roman" panose="02020603050405020304" pitchFamily="18" charset="0"/>
                          <a:cs typeface="Times New Roman" panose="02020603050405020304" pitchFamily="18" charset="0"/>
                        </a:rPr>
                        <a:t>lần</a:t>
                      </a:r>
                      <a:r>
                        <a:rPr lang="en-US" sz="1400" dirty="0">
                          <a:solidFill>
                            <a:schemeClr val="tx1"/>
                          </a:solidFill>
                          <a:latin typeface="Times New Roman" panose="02020603050405020304" pitchFamily="18" charset="0"/>
                          <a:cs typeface="Times New Roman" panose="02020603050405020304" pitchFamily="18" charset="0"/>
                        </a:rPr>
                        <a:t> 1,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lần</a:t>
                      </a:r>
                      <a:r>
                        <a:rPr lang="en-US" sz="1400" dirty="0">
                          <a:solidFill>
                            <a:schemeClr val="tx1"/>
                          </a:solidFill>
                          <a:latin typeface="Times New Roman" panose="02020603050405020304" pitchFamily="18" charset="0"/>
                          <a:cs typeface="Times New Roman" panose="02020603050405020304" pitchFamily="18" charset="0"/>
                        </a:rPr>
                        <a:t> 2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nhận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bản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chào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lần</a:t>
                      </a:r>
                      <a:r>
                        <a:rPr lang="en-US" sz="1400" dirty="0">
                          <a:solidFill>
                            <a:schemeClr val="tx1"/>
                          </a:solidFill>
                          <a:latin typeface="Times New Roman" panose="02020603050405020304" pitchFamily="18" charset="0"/>
                          <a:cs typeface="Times New Roman" panose="02020603050405020304" pitchFamily="18" charset="0"/>
                        </a:rPr>
                        <a:t> 2</a:t>
                      </a:r>
                    </a:p>
                    <a:p>
                      <a:pPr marL="176213" lvl="1" indent="-176213">
                        <a:lnSpc>
                          <a:spcPct val="130000"/>
                        </a:lnSpc>
                        <a:buFontTx/>
                        <a:buChar char="-"/>
                      </a:pPr>
                      <a:r>
                        <a:rPr lang="en-US" sz="1400" dirty="0" err="1">
                          <a:solidFill>
                            <a:schemeClr val="tx1"/>
                          </a:solidFill>
                          <a:latin typeface="Times New Roman" panose="02020603050405020304" pitchFamily="18" charset="0"/>
                          <a:cs typeface="Times New Roman" panose="02020603050405020304" pitchFamily="18" charset="0"/>
                        </a:rPr>
                        <a:t>Tổ</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hoàn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thành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đánh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giá</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bản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chào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lần</a:t>
                      </a:r>
                      <a:r>
                        <a:rPr lang="en-US" sz="1400" dirty="0">
                          <a:solidFill>
                            <a:schemeClr val="tx1"/>
                          </a:solidFill>
                          <a:latin typeface="Times New Roman" panose="02020603050405020304" pitchFamily="18" charset="0"/>
                          <a:cs typeface="Times New Roman" panose="02020603050405020304" pitchFamily="18" charset="0"/>
                        </a:rPr>
                        <a:t> 2 =&gt; </a:t>
                      </a:r>
                      <a:r>
                        <a:rPr lang="en-US" sz="1400" dirty="0" err="1">
                          <a:solidFill>
                            <a:schemeClr val="tx1"/>
                          </a:solidFill>
                          <a:latin typeface="Times New Roman" panose="02020603050405020304" pitchFamily="18" charset="0"/>
                          <a:cs typeface="Times New Roman" panose="02020603050405020304" pitchFamily="18" charset="0"/>
                        </a:rPr>
                        <a:t>tổ</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trình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kết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quả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lựa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chọn</a:t>
                      </a:r>
                      <a:r>
                        <a:rPr lang="en-US" sz="1400" dirty="0">
                          <a:solidFill>
                            <a:schemeClr val="tx1"/>
                          </a:solidFill>
                          <a:latin typeface="Times New Roman" panose="02020603050405020304" pitchFamily="18" charset="0"/>
                          <a:cs typeface="Times New Roman" panose="02020603050405020304" pitchFamily="18" charset="0"/>
                        </a:rPr>
                        <a:t> NCC </a:t>
                      </a:r>
                      <a:r>
                        <a:rPr lang="en-US" sz="1400" dirty="0" err="1">
                          <a:solidFill>
                            <a:schemeClr val="tx1"/>
                          </a:solidFill>
                          <a:latin typeface="Times New Roman" panose="02020603050405020304" pitchFamily="18" charset="0"/>
                          <a:cs typeface="Times New Roman" panose="02020603050405020304" pitchFamily="18" charset="0"/>
                        </a:rPr>
                        <a:t>ghế</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STC;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làm</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việc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với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đối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tác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họp</a:t>
                      </a:r>
                      <a:r>
                        <a:rPr lang="en-US" sz="1400" dirty="0">
                          <a:solidFill>
                            <a:schemeClr val="tx1"/>
                          </a:solidFill>
                          <a:latin typeface="Times New Roman" panose="02020603050405020304" pitchFamily="18" charset="0"/>
                          <a:cs typeface="Times New Roman" panose="02020603050405020304" pitchFamily="18" charset="0"/>
                        </a:rPr>
                        <a:t> pre-ICTM,  </a:t>
                      </a:r>
                      <a:r>
                        <a:rPr lang="en-US" sz="1400" dirty="0" err="1">
                          <a:solidFill>
                            <a:schemeClr val="tx1"/>
                          </a:solidFill>
                          <a:latin typeface="Times New Roman" panose="02020603050405020304" pitchFamily="18" charset="0"/>
                          <a:cs typeface="Times New Roman" panose="02020603050405020304" pitchFamily="18" charset="0"/>
                        </a:rPr>
                        <a:t>dự</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kiến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thông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báo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kết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quả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chính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thức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phát</a:t>
                      </a:r>
                      <a:r>
                        <a:rPr lang="en-US" sz="1400" dirty="0">
                          <a:solidFill>
                            <a:schemeClr val="tx1"/>
                          </a:solidFill>
                          <a:latin typeface="Times New Roman" panose="02020603050405020304" pitchFamily="18" charset="0"/>
                          <a:cs typeface="Times New Roman" panose="02020603050405020304" pitchFamily="18" charset="0"/>
                        </a:rPr>
                        <a:t> PO </a:t>
                      </a:r>
                      <a:r>
                        <a:rPr lang="en-US" sz="1400" dirty="0" err="1">
                          <a:solidFill>
                            <a:schemeClr val="tx1"/>
                          </a:solidFill>
                          <a:latin typeface="Times New Roman" panose="02020603050405020304" pitchFamily="18" charset="0"/>
                          <a:cs typeface="Times New Roman" panose="02020603050405020304" pitchFamily="18" charset="0"/>
                        </a:rPr>
                        <a:t>tuần</a:t>
                      </a:r>
                      <a:r>
                        <a:rPr lang="en-US" sz="1400" dirty="0">
                          <a:solidFill>
                            <a:schemeClr val="tx1"/>
                          </a:solidFill>
                          <a:latin typeface="Times New Roman" panose="02020603050405020304" pitchFamily="18" charset="0"/>
                          <a:cs typeface="Times New Roman" panose="02020603050405020304" pitchFamily="18" charset="0"/>
                        </a:rPr>
                        <a:t> 17</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bl>
          </a:graphicData>
        </a:graphic>
      </p:graphicFrame>
      <p:sp>
        <p:nvSpPr>
          <p:cNvPr id="9" name="Title 2">
            <a:extLst>
              <a:ext uri="{FF2B5EF4-FFF2-40B4-BE49-F238E27FC236}">
                <a16:creationId xmlns:a16="http://schemas.microsoft.com/office/drawing/2014/main" id="{A54B3B80-6D5D-62F3-88B2-C803136634FB}"/>
              </a:ext>
            </a:extLst>
          </p:cNvPr>
          <p:cNvSpPr>
            <a:spLocks noGrp="1"/>
          </p:cNvSpPr>
          <p:nvPr>
            <p:ph type="title"/>
          </p:nvPr>
        </p:nvSpPr>
        <p:spPr>
          <a:xfrm>
            <a:off x="156783" y="11853"/>
            <a:ext cx="9312664" cy="508000"/>
          </a:xfrm>
        </p:spPr>
        <p:txBody>
          <a:bodyPr>
            <a:noAutofit/>
          </a:bodyPr>
          <a:lstStyle/>
          <a:p>
            <a:pPr eaLnBrk="1" hangingPunct="1"/>
            <a:r>
              <a:rPr lang="en-US" altLang="en-US" sz="29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spTree>
    <p:extLst>
      <p:ext uri="{BB962C8B-B14F-4D97-AF65-F5344CB8AC3E}">
        <p14:creationId xmlns:p14="http://schemas.microsoft.com/office/powerpoint/2010/main" val="36983407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28</a:t>
            </a:fld>
            <a:endParaRPr>
              <a:latin typeface="Times New Roman" panose="02020603050405020304" pitchFamily="18" charset="0"/>
              <a:cs typeface="Times New Roman" panose="02020603050405020304" pitchFamily="18" charset="0"/>
            </a:endParaRP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3435520056"/>
              </p:ext>
            </p:extLst>
          </p:nvPr>
        </p:nvGraphicFramePr>
        <p:xfrm>
          <a:off x="156783" y="606960"/>
          <a:ext cx="11878434" cy="5237474"/>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753147">
                  <a:extLst>
                    <a:ext uri="{9D8B030D-6E8A-4147-A177-3AD203B41FA5}">
                      <a16:colId xmlns:a16="http://schemas.microsoft.com/office/drawing/2014/main" val="426833219"/>
                    </a:ext>
                  </a:extLst>
                </a:gridCol>
                <a:gridCol w="1519617">
                  <a:extLst>
                    <a:ext uri="{9D8B030D-6E8A-4147-A177-3AD203B41FA5}">
                      <a16:colId xmlns:a16="http://schemas.microsoft.com/office/drawing/2014/main" val="3649942957"/>
                    </a:ext>
                  </a:extLst>
                </a:gridCol>
              </a:tblGrid>
              <a:tr h="40078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474926">
                <a:tc>
                  <a:txBody>
                    <a:bodyPr/>
                    <a:lstStyle/>
                    <a:p>
                      <a:pPr algn="ctr" fontAlgn="b"/>
                      <a:r>
                        <a:rPr lang="en-US" sz="1300" b="0" i="0" u="none" strike="noStrike" smtClean="0">
                          <a:solidFill>
                            <a:schemeClr val="tx1"/>
                          </a:solidFill>
                          <a:effectLst/>
                          <a:latin typeface="Times New Roman" panose="02020603050405020304" pitchFamily="18" charset="0"/>
                          <a:cs typeface="Times New Roman" panose="02020603050405020304" pitchFamily="18" charset="0"/>
                        </a:rPr>
                        <a:t>6</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300" b="0" smtClean="0">
                          <a:latin typeface="Times New Roman" panose="02020603050405020304" pitchFamily="18" charset="0"/>
                          <a:cs typeface="Times New Roman" panose="02020603050405020304" pitchFamily="18" charset="0"/>
                        </a:rPr>
                        <a:t>GIA HẠN THUÊ 10 TÀU VALC </a:t>
                      </a:r>
                      <a:endParaRPr lang="en-US" sz="1300" b="0" dirty="0">
                        <a:solidFill>
                          <a:schemeClr val="tx1"/>
                        </a:solidFill>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pPr>
                      <a:r>
                        <a:rPr lang="en-US" sz="1300" smtClean="0">
                          <a:latin typeface="Times New Roman" panose="02020603050405020304" pitchFamily="18" charset="0"/>
                          <a:cs typeface="Times New Roman" panose="02020603050405020304" pitchFamily="18" charset="0"/>
                        </a:rPr>
                        <a:t>Thủ tục bán tàu của VALC chậm nên VNA và VALC đã đồng ý và ký kết gia hạn hợp đồng thuê tiếp 10 tàu bay A321CEO 3 tháng đến hết 30/06/2025.</a:t>
                      </a:r>
                    </a:p>
                    <a:p>
                      <a:pPr algn="just">
                        <a:lnSpc>
                          <a:spcPct val="150000"/>
                        </a:lnSpc>
                      </a:pPr>
                      <a:r>
                        <a:rPr lang="en-US" sz="1300" smtClean="0">
                          <a:latin typeface="Times New Roman" panose="02020603050405020304" pitchFamily="18" charset="0"/>
                          <a:cs typeface="Times New Roman" panose="02020603050405020304" pitchFamily="18" charset="0"/>
                        </a:rPr>
                        <a:t>Đã có 2 đối tác thực hiện kiểm tra tàu bay và tài liệu phục vụ công tác bán tàu của VALC là Arena và XAero. Các đối tác này đã kiểm tra xong tàu bay và tài liệu (kiểm tra 05 tàu bay VN-A397(VAECO-HCM) và VN-A338/A392/A395/A604(VAECO-HAN)). </a:t>
                      </a:r>
                    </a:p>
                    <a:p>
                      <a:pPr algn="just">
                        <a:lnSpc>
                          <a:spcPct val="150000"/>
                        </a:lnSpc>
                      </a:pPr>
                      <a:r>
                        <a:rPr lang="en-US" sz="1300" smtClean="0">
                          <a:latin typeface="Times New Roman" panose="02020603050405020304" pitchFamily="18" charset="0"/>
                          <a:cs typeface="Times New Roman" panose="02020603050405020304" pitchFamily="18" charset="0"/>
                        </a:rPr>
                        <a:t>Hiện tại VNA đang chờ kết quả bán tàu từ VALC, tiếp theo sẽ cần triển khai đàm phán hợp đồng thuê trong tr</a:t>
                      </a:r>
                      <a:r>
                        <a:rPr lang="vi-VN" sz="1300" smtClean="0">
                          <a:latin typeface="Times New Roman" panose="02020603050405020304" pitchFamily="18" charset="0"/>
                          <a:cs typeface="Times New Roman" panose="02020603050405020304" pitchFamily="18" charset="0"/>
                        </a:rPr>
                        <a:t>ư</a:t>
                      </a:r>
                      <a:r>
                        <a:rPr lang="en-US" sz="1300" smtClean="0">
                          <a:latin typeface="Times New Roman" panose="02020603050405020304" pitchFamily="18" charset="0"/>
                          <a:cs typeface="Times New Roman" panose="02020603050405020304" pitchFamily="18" charset="0"/>
                        </a:rPr>
                        <a:t>ờng hợp chuyển đổi chủ sở hữu tàu bay. </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r>
                        <a:rPr lang="en-US" sz="1300" kern="1200" smtClean="0">
                          <a:solidFill>
                            <a:schemeClr val="tx1"/>
                          </a:solidFill>
                          <a:effectLst/>
                          <a:latin typeface="Times New Roman" panose="02020603050405020304" pitchFamily="18" charset="0"/>
                          <a:ea typeface="+mn-ea"/>
                          <a:cs typeface="Times New Roman" panose="02020603050405020304" pitchFamily="18" charset="0"/>
                        </a:rPr>
                        <a:t>Đang triển khai</a:t>
                      </a:r>
                    </a:p>
                    <a:p>
                      <a:pPr marL="60325"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690677">
                <a:tc>
                  <a:txBody>
                    <a:bodyPr/>
                    <a:lstStyle/>
                    <a:p>
                      <a:pPr algn="ctr" fontAlgn="b"/>
                      <a:r>
                        <a:rPr lang="en-US" sz="1300" b="0" i="0" u="none" strike="noStrike" smtClean="0">
                          <a:solidFill>
                            <a:schemeClr val="tx1"/>
                          </a:solidFill>
                          <a:effectLst/>
                          <a:latin typeface="Times New Roman" panose="02020603050405020304" pitchFamily="18" charset="0"/>
                          <a:cs typeface="Times New Roman" panose="02020603050405020304" pitchFamily="18" charset="0"/>
                        </a:rPr>
                        <a:t>7</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50000"/>
                        </a:lnSpc>
                      </a:pPr>
                      <a:r>
                        <a:rPr lang="en-US" sz="1300" b="0" smtClean="0">
                          <a:latin typeface="Times New Roman" panose="02020603050405020304" pitchFamily="18" charset="0"/>
                          <a:cs typeface="Times New Roman" panose="02020603050405020304" pitchFamily="18" charset="0"/>
                        </a:rPr>
                        <a:t>DỰ ÁN TÀU BAY THÂN HẸP</a:t>
                      </a:r>
                      <a:endParaRPr lang="en-US" sz="1300" b="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pPr>
                      <a:r>
                        <a:rPr lang="vi-VN" sz="1300" smtClean="0">
                          <a:latin typeface="Times New Roman" panose="02020603050405020304" pitchFamily="18" charset="0"/>
                          <a:cs typeface="Times New Roman" panose="02020603050405020304" pitchFamily="18" charset="0"/>
                        </a:rPr>
                        <a:t>Tổ thuê mua tàu bay vẫn tiếp tục chủ trì phối hợp với các </a:t>
                      </a:r>
                      <a:r>
                        <a:rPr lang="en-US" sz="1300" smtClean="0">
                          <a:latin typeface="Times New Roman" panose="02020603050405020304" pitchFamily="18" charset="0"/>
                          <a:cs typeface="Times New Roman" panose="02020603050405020304" pitchFamily="18" charset="0"/>
                        </a:rPr>
                        <a:t>CQĐV</a:t>
                      </a:r>
                      <a:r>
                        <a:rPr lang="vi-VN" sz="1300" smtClean="0">
                          <a:latin typeface="Times New Roman" panose="02020603050405020304" pitchFamily="18" charset="0"/>
                          <a:cs typeface="Times New Roman" panose="02020603050405020304" pitchFamily="18" charset="0"/>
                        </a:rPr>
                        <a:t> chuyên môn làm việc với Boeing để có số liệu cuối cùng tính toán hiệu quả khả thi dự án đầu tư báo cáo cấp có thẩm quyền. </a:t>
                      </a:r>
                      <a:r>
                        <a:rPr lang="en-US" sz="1300" smtClean="0">
                          <a:latin typeface="Times New Roman" panose="02020603050405020304" pitchFamily="18" charset="0"/>
                          <a:cs typeface="Times New Roman" panose="02020603050405020304" pitchFamily="18" charset="0"/>
                        </a:rPr>
                        <a:t>VNA đã </a:t>
                      </a:r>
                      <a:r>
                        <a:rPr lang="vi-VN" sz="1300" smtClean="0">
                          <a:latin typeface="Times New Roman" panose="02020603050405020304" pitchFamily="18" charset="0"/>
                          <a:cs typeface="Times New Roman" panose="02020603050405020304" pitchFamily="18" charset="0"/>
                        </a:rPr>
                        <a:t>tổ chức cuộc hội thảo với Boeing vào 1/4 và 2/4 để đánh giá các vấn đề</a:t>
                      </a:r>
                      <a:r>
                        <a:rPr lang="en-US" sz="1300" smtClean="0">
                          <a:latin typeface="Times New Roman" panose="02020603050405020304" pitchFamily="18" charset="0"/>
                          <a:cs typeface="Times New Roman" panose="02020603050405020304" pitchFamily="18" charset="0"/>
                        </a:rPr>
                        <a:t> </a:t>
                      </a:r>
                      <a:r>
                        <a:rPr lang="vi-VN" sz="1300" smtClean="0">
                          <a:latin typeface="Times New Roman" panose="02020603050405020304" pitchFamily="18" charset="0"/>
                          <a:cs typeface="Times New Roman" panose="02020603050405020304" pitchFamily="18" charset="0"/>
                        </a:rPr>
                        <a:t>khi khai thác 737 </a:t>
                      </a:r>
                      <a:r>
                        <a:rPr lang="en-US" sz="1300" smtClean="0">
                          <a:latin typeface="Times New Roman" panose="02020603050405020304" pitchFamily="18" charset="0"/>
                          <a:cs typeface="Times New Roman" panose="02020603050405020304" pitchFamily="18" charset="0"/>
                        </a:rPr>
                        <a:t>M</a:t>
                      </a:r>
                      <a:r>
                        <a:rPr lang="vi-VN" sz="1300" smtClean="0">
                          <a:latin typeface="Times New Roman" panose="02020603050405020304" pitchFamily="18" charset="0"/>
                          <a:cs typeface="Times New Roman" panose="02020603050405020304" pitchFamily="18" charset="0"/>
                        </a:rPr>
                        <a:t>ax.</a:t>
                      </a:r>
                      <a:r>
                        <a:rPr lang="en-US" sz="1300" smtClean="0">
                          <a:latin typeface="Times New Roman" panose="02020603050405020304" pitchFamily="18" charset="0"/>
                          <a:cs typeface="Times New Roman" panose="02020603050405020304" pitchFamily="18" charset="0"/>
                        </a:rPr>
                        <a:t> </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r>
                        <a:rPr lang="en-US" sz="1300" kern="1200" smtClean="0">
                          <a:solidFill>
                            <a:schemeClr val="tx1"/>
                          </a:solidFill>
                          <a:effectLst/>
                          <a:latin typeface="Times New Roman" panose="02020603050405020304" pitchFamily="18" charset="0"/>
                          <a:ea typeface="+mn-ea"/>
                          <a:cs typeface="Times New Roman" panose="02020603050405020304" pitchFamily="18" charset="0"/>
                        </a:rPr>
                        <a:t>Đang triển khai</a:t>
                      </a:r>
                      <a:endPar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690677">
                <a:tc>
                  <a:txBody>
                    <a:bodyPr/>
                    <a:lstStyle/>
                    <a:p>
                      <a:pPr algn="ctr" fontAlgn="b"/>
                      <a:r>
                        <a:rPr lang="en-US" sz="1300" b="0" i="0" u="none" strike="noStrike" smtClean="0">
                          <a:solidFill>
                            <a:schemeClr val="tx1"/>
                          </a:solidFill>
                          <a:effectLst/>
                          <a:latin typeface="Times New Roman" panose="02020603050405020304" pitchFamily="18" charset="0"/>
                          <a:cs typeface="Times New Roman" panose="02020603050405020304" pitchFamily="18" charset="0"/>
                        </a:rPr>
                        <a:t>8</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sz="1300" b="0" smtClean="0">
                          <a:latin typeface="Times New Roman" panose="02020603050405020304" pitchFamily="18" charset="0"/>
                          <a:cs typeface="Times New Roman" panose="02020603050405020304" pitchFamily="18" charset="0"/>
                        </a:rPr>
                        <a:t>TÀU ATR72 CHO K6 THUÊ KHÔ VN-B220 MSN 890</a:t>
                      </a:r>
                      <a:endParaRPr lang="en-US" sz="1300" b="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pPr>
                      <a:r>
                        <a:rPr lang="en-US" sz="1300" smtClean="0">
                          <a:latin typeface="Times New Roman" panose="02020603050405020304" pitchFamily="18" charset="0"/>
                          <a:cs typeface="Times New Roman" panose="02020603050405020304" pitchFamily="18" charset="0"/>
                        </a:rPr>
                        <a:t>VNA đang cho K6 thuê khô 01 tàu ATR72 MSN 890 VN-B220, hết hạn thuê vào ngày 25/06/2025. K6 đang đề nghị VNA:</a:t>
                      </a:r>
                    </a:p>
                    <a:p>
                      <a:pPr marL="285750" indent="-285750" algn="just">
                        <a:lnSpc>
                          <a:spcPct val="150000"/>
                        </a:lnSpc>
                        <a:buFontTx/>
                        <a:buChar char="-"/>
                      </a:pPr>
                      <a:r>
                        <a:rPr lang="en-US" sz="1300" smtClean="0">
                          <a:latin typeface="Times New Roman" panose="02020603050405020304" pitchFamily="18" charset="0"/>
                          <a:cs typeface="Times New Roman" panose="02020603050405020304" pitchFamily="18" charset="0"/>
                        </a:rPr>
                        <a:t>Gia hạn thuê với t</a:t>
                      </a:r>
                      <a:r>
                        <a:rPr lang="vi-VN" sz="1300" smtClean="0">
                          <a:latin typeface="Times New Roman" panose="02020603050405020304" pitchFamily="18" charset="0"/>
                          <a:cs typeface="Times New Roman" panose="02020603050405020304" pitchFamily="18" charset="0"/>
                        </a:rPr>
                        <a:t>hời hạn gian hạn (hoặc thuê mới) từ 26/06/2025 – 30/11/2025; </a:t>
                      </a:r>
                      <a:endParaRPr lang="en-US" sz="1300" smtClean="0">
                        <a:latin typeface="Times New Roman" panose="02020603050405020304" pitchFamily="18" charset="0"/>
                        <a:cs typeface="Times New Roman" panose="02020603050405020304" pitchFamily="18" charset="0"/>
                      </a:endParaRPr>
                    </a:p>
                    <a:p>
                      <a:pPr marL="285750" indent="-285750" algn="just">
                        <a:lnSpc>
                          <a:spcPct val="150000"/>
                        </a:lnSpc>
                        <a:buFontTx/>
                        <a:buChar char="-"/>
                      </a:pPr>
                      <a:r>
                        <a:rPr lang="vi-VN" sz="1300" smtClean="0">
                          <a:latin typeface="Times New Roman" panose="02020603050405020304" pitchFamily="18" charset="0"/>
                          <a:cs typeface="Times New Roman" panose="02020603050405020304" pitchFamily="18" charset="0"/>
                        </a:rPr>
                        <a:t>Điều kiện khai thác tàu bay: Đảm bảo tàu bay khai thác liên tục trong thời gian gia hạn hoặc cho thuê mới. Điều kiện trả As-is, serviceable theo điều kiện HĐ hiện tại. Trường hợp gia hạn tàu VN-B220, K6 đề nghị xem xét đẩy sớm lịch bảo dưỡng thân (</a:t>
                      </a:r>
                      <a:r>
                        <a:rPr lang="en-US" sz="1300" smtClean="0">
                          <a:latin typeface="Times New Roman" panose="02020603050405020304" pitchFamily="18" charset="0"/>
                          <a:cs typeface="Times New Roman" panose="02020603050405020304" pitchFamily="18" charset="0"/>
                        </a:rPr>
                        <a:t>4</a:t>
                      </a:r>
                      <a:r>
                        <a:rPr lang="vi-VN" sz="1300" smtClean="0">
                          <a:latin typeface="Times New Roman" panose="02020603050405020304" pitchFamily="18" charset="0"/>
                          <a:cs typeface="Times New Roman" panose="02020603050405020304" pitchFamily="18" charset="0"/>
                        </a:rPr>
                        <a:t>Y/8Y) từ giữa T5/2025 và kết hợp việc thay mới ĐC (nếu được) để đảm bảo lịch khai thác tàu bay trong thời gian gia hạn</a:t>
                      </a:r>
                      <a:r>
                        <a:rPr lang="en-US" sz="1300" smtClean="0">
                          <a:latin typeface="Times New Roman" panose="02020603050405020304" pitchFamily="18" charset="0"/>
                          <a:cs typeface="Times New Roman" panose="02020603050405020304" pitchFamily="18" charset="0"/>
                        </a:rPr>
                        <a:t>. BKT VNA đã kiểm tra và trả lời nguồn lực VNA chỉ có thể bố trí có slot (4Y/8Y) từ 21/06 đến 11/07.</a:t>
                      </a:r>
                    </a:p>
                    <a:p>
                      <a:pPr algn="just">
                        <a:lnSpc>
                          <a:spcPct val="150000"/>
                        </a:lnSpc>
                      </a:pP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endPar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9565452"/>
                  </a:ext>
                </a:extLst>
              </a:tr>
            </a:tbl>
          </a:graphicData>
        </a:graphic>
      </p:graphicFrame>
      <p:sp>
        <p:nvSpPr>
          <p:cNvPr id="5" name="Title 2">
            <a:extLst>
              <a:ext uri="{FF2B5EF4-FFF2-40B4-BE49-F238E27FC236}">
                <a16:creationId xmlns:a16="http://schemas.microsoft.com/office/drawing/2014/main" id="{A54B3B80-6D5D-62F3-88B2-C803136634FB}"/>
              </a:ext>
            </a:extLst>
          </p:cNvPr>
          <p:cNvSpPr>
            <a:spLocks noGrp="1"/>
          </p:cNvSpPr>
          <p:nvPr>
            <p:ph type="title"/>
          </p:nvPr>
        </p:nvSpPr>
        <p:spPr>
          <a:xfrm>
            <a:off x="156783" y="11853"/>
            <a:ext cx="9312664" cy="508000"/>
          </a:xfrm>
        </p:spPr>
        <p:txBody>
          <a:bodyPr>
            <a:noAutofit/>
          </a:bodyPr>
          <a:lstStyle/>
          <a:p>
            <a:pPr eaLnBrk="1" hangingPunct="1"/>
            <a:r>
              <a:rPr lang="en-US" altLang="en-US" sz="29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spTree>
    <p:extLst>
      <p:ext uri="{BB962C8B-B14F-4D97-AF65-F5344CB8AC3E}">
        <p14:creationId xmlns:p14="http://schemas.microsoft.com/office/powerpoint/2010/main" val="235326344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1331384620"/>
              </p:ext>
            </p:extLst>
          </p:nvPr>
        </p:nvGraphicFramePr>
        <p:xfrm>
          <a:off x="156783" y="606960"/>
          <a:ext cx="11878434" cy="5870040"/>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753147">
                  <a:extLst>
                    <a:ext uri="{9D8B030D-6E8A-4147-A177-3AD203B41FA5}">
                      <a16:colId xmlns:a16="http://schemas.microsoft.com/office/drawing/2014/main" val="426833219"/>
                    </a:ext>
                  </a:extLst>
                </a:gridCol>
                <a:gridCol w="1519617">
                  <a:extLst>
                    <a:ext uri="{9D8B030D-6E8A-4147-A177-3AD203B41FA5}">
                      <a16:colId xmlns:a16="http://schemas.microsoft.com/office/drawing/2014/main" val="3649942957"/>
                    </a:ext>
                  </a:extLst>
                </a:gridCol>
              </a:tblGrid>
              <a:tr h="996537">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4873503">
                <a:tc>
                  <a:txBody>
                    <a:bodyPr/>
                    <a:lstStyle/>
                    <a:p>
                      <a:pPr algn="ctr" fontAlgn="b"/>
                      <a:r>
                        <a:rPr lang="en-US" sz="1300" b="0" i="0" u="none" strike="noStrike" smtClean="0">
                          <a:solidFill>
                            <a:schemeClr val="tx1"/>
                          </a:solidFill>
                          <a:effectLst/>
                          <a:latin typeface="Times New Roman" panose="02020603050405020304" pitchFamily="18" charset="0"/>
                          <a:cs typeface="Times New Roman" panose="02020603050405020304" pitchFamily="18" charset="0"/>
                        </a:rPr>
                        <a:t>9</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400" b="0" smtClean="0">
                          <a:latin typeface="Times New Roman" panose="02020603050405020304" pitchFamily="18" charset="0"/>
                          <a:cs typeface="Times New Roman" panose="02020603050405020304" pitchFamily="18" charset="0"/>
                        </a:rPr>
                        <a:t>03 TÀU BAY A321 CEO CHO PA THUÊ KHÔ</a:t>
                      </a:r>
                      <a:r>
                        <a:rPr lang="vi-VN" sz="1400" b="0" smtClean="0">
                          <a:latin typeface="+mn-lt"/>
                          <a:cs typeface="Times New Roman" panose="02020603050405020304" pitchFamily="18" charset="0"/>
                        </a:rPr>
                        <a:t> </a:t>
                      </a:r>
                      <a:r>
                        <a:rPr lang="en-US" sz="1400" b="0" smtClean="0">
                          <a:latin typeface="Times New Roman" panose="02020603050405020304" pitchFamily="18" charset="0"/>
                          <a:cs typeface="Times New Roman" panose="02020603050405020304" pitchFamily="18" charset="0"/>
                        </a:rPr>
                        <a:t>VN-A354, VN-A359 và VN-A363</a:t>
                      </a:r>
                      <a:endParaRPr lang="en-US" sz="1300" b="0" dirty="0">
                        <a:solidFill>
                          <a:schemeClr val="tx1"/>
                        </a:solidFill>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lvl="0" indent="-285750" algn="just">
                        <a:buFontTx/>
                        <a:buChar char="-"/>
                      </a:pPr>
                      <a:r>
                        <a:rPr lang="en-US" sz="1300" smtClean="0">
                          <a:latin typeface="Times New Roman" panose="02020603050405020304" pitchFamily="18" charset="0"/>
                          <a:cs typeface="Times New Roman" panose="02020603050405020304" pitchFamily="18" charset="0"/>
                        </a:rPr>
                        <a:t>03 tàu bay hết hạn thuê tháng 06,07,10 năm 2025 cần gia hạn duy trì khai thác AOC cho PA</a:t>
                      </a:r>
                    </a:p>
                    <a:p>
                      <a:pPr marL="285750" lvl="0" indent="-285750" algn="just">
                        <a:buFontTx/>
                        <a:buChar char="-"/>
                      </a:pPr>
                      <a:r>
                        <a:rPr lang="en-US" sz="1300" smtClean="0">
                          <a:latin typeface="Times New Roman" panose="02020603050405020304" pitchFamily="18" charset="0"/>
                          <a:cs typeface="Times New Roman" panose="02020603050405020304" pitchFamily="18" charset="0"/>
                        </a:rPr>
                        <a:t>05 động cơ có hạn SV trong 2025 cần thay động cơ khác của VNA nếu tiếp tục khai thác</a:t>
                      </a:r>
                    </a:p>
                    <a:p>
                      <a:pPr marL="285750" indent="-285750" algn="just">
                        <a:buFontTx/>
                        <a:buChar char="-"/>
                      </a:pPr>
                      <a:r>
                        <a:rPr lang="en-US" sz="1300" smtClean="0">
                          <a:latin typeface="Times New Roman" panose="02020603050405020304" pitchFamily="18" charset="0"/>
                          <a:cs typeface="Times New Roman" panose="02020603050405020304" pitchFamily="18" charset="0"/>
                        </a:rPr>
                        <a:t>VNA đã phê duyệt swap động c</a:t>
                      </a:r>
                      <a:r>
                        <a:rPr lang="vi-VN" sz="1300" smtClean="0">
                          <a:latin typeface="Times New Roman" panose="02020603050405020304" pitchFamily="18" charset="0"/>
                          <a:cs typeface="Times New Roman" panose="02020603050405020304" pitchFamily="18" charset="0"/>
                        </a:rPr>
                        <a:t>ơ</a:t>
                      </a:r>
                      <a:r>
                        <a:rPr lang="en-US" sz="1300" smtClean="0">
                          <a:latin typeface="Times New Roman" panose="02020603050405020304" pitchFamily="18" charset="0"/>
                          <a:cs typeface="Times New Roman" panose="02020603050405020304" pitchFamily="18" charset="0"/>
                        </a:rPr>
                        <a:t> và APU. APU lắp trên A363 là thiết bị tàu thuê ACG đã swap bằng APU khác sở hữu của VNA</a:t>
                      </a:r>
                    </a:p>
                    <a:p>
                      <a:r>
                        <a:rPr lang="en-US" sz="1300" smtClean="0">
                          <a:latin typeface="Times New Roman" panose="02020603050405020304" pitchFamily="18" charset="0"/>
                          <a:cs typeface="Times New Roman" panose="02020603050405020304" pitchFamily="18" charset="0"/>
                        </a:rPr>
                        <a:t>Kế hoạch thực hiện thay/tráo đổi ENG/APU: </a:t>
                      </a:r>
                    </a:p>
                    <a:p>
                      <a:r>
                        <a:rPr lang="en-US" sz="1300" smtClean="0">
                          <a:latin typeface="Times New Roman" panose="02020603050405020304" pitchFamily="18" charset="0"/>
                          <a:cs typeface="Times New Roman" panose="02020603050405020304" pitchFamily="18" charset="0"/>
                        </a:rPr>
                        <a:t>    - MSN 3198 VN-A354: Engine #2 V11752 replaced by V16456 (sẽ thay trong 6Y CHK tại SGN)</a:t>
                      </a:r>
                    </a:p>
                    <a:p>
                      <a:r>
                        <a:rPr lang="en-US" sz="1300" smtClean="0">
                          <a:latin typeface="Times New Roman" panose="02020603050405020304" pitchFamily="18" charset="0"/>
                          <a:cs typeface="Times New Roman" panose="02020603050405020304" pitchFamily="18" charset="0"/>
                        </a:rPr>
                        <a:t>    - MSN 4136 VN-A363: Engine #2 V11696 replaced by V16037 (đã thực hiện).  APU P-7845 replaced by P-4708 (đã thực hiện)</a:t>
                      </a:r>
                    </a:p>
                    <a:p>
                      <a:pPr marL="12700" lvl="0" algn="just">
                        <a:spcBef>
                          <a:spcPts val="1000"/>
                        </a:spcBef>
                        <a:buClr>
                          <a:schemeClr val="dk1"/>
                        </a:buClr>
                        <a:buSzPts val="1100"/>
                      </a:pPr>
                      <a:endParaRPr lang="en-US" sz="1400" b="1"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endParaRPr>
                    </a:p>
                  </a:txBody>
                  <a:tcPr marL="6352" marR="6352" marT="634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bl>
          </a:graphicData>
        </a:graphic>
      </p:graphicFrame>
      <p:graphicFrame>
        <p:nvGraphicFramePr>
          <p:cNvPr id="5" name="Table 4">
            <a:extLst>
              <a:ext uri="{FF2B5EF4-FFF2-40B4-BE49-F238E27FC236}">
                <a16:creationId xmlns:a16="http://schemas.microsoft.com/office/drawing/2014/main" id="{962DBD6D-0E55-49C5-944E-0A919014F196}"/>
              </a:ext>
            </a:extLst>
          </p:cNvPr>
          <p:cNvGraphicFramePr>
            <a:graphicFrameLocks noGrp="1"/>
          </p:cNvGraphicFramePr>
          <p:nvPr>
            <p:extLst>
              <p:ext uri="{D42A27DB-BD31-4B8C-83A1-F6EECF244321}">
                <p14:modId xmlns:p14="http://schemas.microsoft.com/office/powerpoint/2010/main" val="4161429291"/>
              </p:ext>
            </p:extLst>
          </p:nvPr>
        </p:nvGraphicFramePr>
        <p:xfrm>
          <a:off x="1752599" y="3169623"/>
          <a:ext cx="8763002" cy="3307376"/>
        </p:xfrm>
        <a:graphic>
          <a:graphicData uri="http://schemas.openxmlformats.org/drawingml/2006/table">
            <a:tbl>
              <a:tblPr firstRow="1" firstCol="1" bandRow="1"/>
              <a:tblGrid>
                <a:gridCol w="533401">
                  <a:extLst>
                    <a:ext uri="{9D8B030D-6E8A-4147-A177-3AD203B41FA5}">
                      <a16:colId xmlns:a16="http://schemas.microsoft.com/office/drawing/2014/main" val="1531600724"/>
                    </a:ext>
                  </a:extLst>
                </a:gridCol>
                <a:gridCol w="928503">
                  <a:extLst>
                    <a:ext uri="{9D8B030D-6E8A-4147-A177-3AD203B41FA5}">
                      <a16:colId xmlns:a16="http://schemas.microsoft.com/office/drawing/2014/main" val="2778344331"/>
                    </a:ext>
                  </a:extLst>
                </a:gridCol>
                <a:gridCol w="936642">
                  <a:extLst>
                    <a:ext uri="{9D8B030D-6E8A-4147-A177-3AD203B41FA5}">
                      <a16:colId xmlns:a16="http://schemas.microsoft.com/office/drawing/2014/main" val="51065387"/>
                    </a:ext>
                  </a:extLst>
                </a:gridCol>
                <a:gridCol w="924883">
                  <a:extLst>
                    <a:ext uri="{9D8B030D-6E8A-4147-A177-3AD203B41FA5}">
                      <a16:colId xmlns:a16="http://schemas.microsoft.com/office/drawing/2014/main" val="783667054"/>
                    </a:ext>
                  </a:extLst>
                </a:gridCol>
                <a:gridCol w="791372">
                  <a:extLst>
                    <a:ext uri="{9D8B030D-6E8A-4147-A177-3AD203B41FA5}">
                      <a16:colId xmlns:a16="http://schemas.microsoft.com/office/drawing/2014/main" val="2213163783"/>
                    </a:ext>
                  </a:extLst>
                </a:gridCol>
                <a:gridCol w="1367998">
                  <a:extLst>
                    <a:ext uri="{9D8B030D-6E8A-4147-A177-3AD203B41FA5}">
                      <a16:colId xmlns:a16="http://schemas.microsoft.com/office/drawing/2014/main" val="3043656086"/>
                    </a:ext>
                  </a:extLst>
                </a:gridCol>
                <a:gridCol w="1408278">
                  <a:extLst>
                    <a:ext uri="{9D8B030D-6E8A-4147-A177-3AD203B41FA5}">
                      <a16:colId xmlns:a16="http://schemas.microsoft.com/office/drawing/2014/main" val="2131793250"/>
                    </a:ext>
                  </a:extLst>
                </a:gridCol>
                <a:gridCol w="1871925">
                  <a:extLst>
                    <a:ext uri="{9D8B030D-6E8A-4147-A177-3AD203B41FA5}">
                      <a16:colId xmlns:a16="http://schemas.microsoft.com/office/drawing/2014/main" val="1805902935"/>
                    </a:ext>
                  </a:extLst>
                </a:gridCol>
              </a:tblGrid>
              <a:tr h="937778">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a:solidFill>
                            <a:schemeClr val="tx1"/>
                          </a:solidFill>
                          <a:effectLst/>
                          <a:latin typeface="Times New Roman" panose="02020603050405020304" pitchFamily="18" charset="0"/>
                          <a:cs typeface="Times New Roman" panose="02020603050405020304" pitchFamily="18" charset="0"/>
                        </a:rPr>
                        <a:t>STT</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Tàu bay</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US" sz="1300" b="0" kern="100" dirty="0" err="1">
                          <a:solidFill>
                            <a:schemeClr val="tx1"/>
                          </a:solidFill>
                          <a:effectLst/>
                          <a:latin typeface="Times New Roman" panose="02020603050405020304" pitchFamily="18" charset="0"/>
                          <a:cs typeface="Times New Roman" panose="02020603050405020304" pitchFamily="18" charset="0"/>
                        </a:rPr>
                        <a:t>Ngày</a:t>
                      </a:r>
                      <a:r>
                        <a:rPr lang="en-US" sz="1300" b="0" kern="100" dirty="0">
                          <a:solidFill>
                            <a:schemeClr val="tx1"/>
                          </a:solidFill>
                          <a:effectLst/>
                          <a:latin typeface="Times New Roman" panose="02020603050405020304" pitchFamily="18" charset="0"/>
                          <a:cs typeface="Times New Roman" panose="02020603050405020304" pitchFamily="18" charset="0"/>
                        </a:rPr>
                        <a:t> </a:t>
                      </a:r>
                      <a:r>
                        <a:rPr lang="en-US" sz="1300" b="0" kern="100" dirty="0" err="1">
                          <a:solidFill>
                            <a:schemeClr val="tx1"/>
                          </a:solidFill>
                          <a:effectLst/>
                          <a:latin typeface="Times New Roman" panose="02020603050405020304" pitchFamily="18" charset="0"/>
                          <a:cs typeface="Times New Roman" panose="02020603050405020304" pitchFamily="18" charset="0"/>
                        </a:rPr>
                        <a:t>bàn</a:t>
                      </a:r>
                      <a:r>
                        <a:rPr lang="en-US" sz="1300" b="0" kern="100" dirty="0">
                          <a:solidFill>
                            <a:schemeClr val="tx1"/>
                          </a:solidFill>
                          <a:effectLst/>
                          <a:latin typeface="Times New Roman" panose="02020603050405020304" pitchFamily="18" charset="0"/>
                          <a:cs typeface="Times New Roman" panose="02020603050405020304" pitchFamily="18" charset="0"/>
                        </a:rPr>
                        <a:t> </a:t>
                      </a:r>
                      <a:r>
                        <a:rPr lang="en-US" sz="1300" b="0" kern="100" dirty="0" err="1">
                          <a:solidFill>
                            <a:schemeClr val="tx1"/>
                          </a:solidFill>
                          <a:effectLst/>
                          <a:latin typeface="Times New Roman" panose="02020603050405020304" pitchFamily="18" charset="0"/>
                          <a:cs typeface="Times New Roman" panose="02020603050405020304" pitchFamily="18" charset="0"/>
                        </a:rPr>
                        <a:t>giao</a:t>
                      </a:r>
                      <a:r>
                        <a:rPr lang="en-US" sz="1300" b="0" kern="100" dirty="0">
                          <a:solidFill>
                            <a:schemeClr val="tx1"/>
                          </a:solidFill>
                          <a:effectLst/>
                          <a:latin typeface="Times New Roman" panose="02020603050405020304" pitchFamily="18" charset="0"/>
                          <a:cs typeface="Times New Roman" panose="02020603050405020304" pitchFamily="18" charset="0"/>
                        </a:rPr>
                        <a:t> </a:t>
                      </a:r>
                      <a:r>
                        <a:rPr lang="en-US" sz="1300" b="0" kern="100" dirty="0" err="1">
                          <a:solidFill>
                            <a:schemeClr val="tx1"/>
                          </a:solidFill>
                          <a:effectLst/>
                          <a:latin typeface="Times New Roman" panose="02020603050405020304" pitchFamily="18" charset="0"/>
                          <a:cs typeface="Times New Roman" panose="02020603050405020304" pitchFamily="18" charset="0"/>
                        </a:rPr>
                        <a:t>cho</a:t>
                      </a:r>
                      <a:r>
                        <a:rPr lang="en-US" sz="1300" b="0" kern="100" dirty="0">
                          <a:solidFill>
                            <a:schemeClr val="tx1"/>
                          </a:solidFill>
                          <a:effectLst/>
                          <a:latin typeface="Times New Roman" panose="02020603050405020304" pitchFamily="18" charset="0"/>
                          <a:cs typeface="Times New Roman" panose="02020603050405020304" pitchFamily="18" charset="0"/>
                        </a:rPr>
                        <a:t> PA</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err="1">
                          <a:solidFill>
                            <a:schemeClr val="tx1"/>
                          </a:solidFill>
                          <a:effectLst/>
                          <a:latin typeface="Times New Roman" panose="02020603050405020304" pitchFamily="18" charset="0"/>
                          <a:cs typeface="Times New Roman" panose="02020603050405020304" pitchFamily="18" charset="0"/>
                        </a:rPr>
                        <a:t>Ngày</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trả</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tàu</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US" sz="1300" b="0" kern="100">
                          <a:solidFill>
                            <a:schemeClr val="tx1"/>
                          </a:solidFill>
                          <a:effectLst/>
                          <a:latin typeface="Times New Roman" panose="02020603050405020304" pitchFamily="18" charset="0"/>
                          <a:cs typeface="Times New Roman" panose="02020603050405020304" pitchFamily="18" charset="0"/>
                        </a:rPr>
                        <a:t>Lịch SC Thân</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err="1">
                          <a:solidFill>
                            <a:schemeClr val="tx1"/>
                          </a:solidFill>
                          <a:effectLst/>
                          <a:latin typeface="Times New Roman" panose="02020603050405020304" pitchFamily="18" charset="0"/>
                          <a:cs typeface="Times New Roman" panose="02020603050405020304" pitchFamily="18" charset="0"/>
                        </a:rPr>
                        <a:t>Dự</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kiến</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err="1">
                          <a:solidFill>
                            <a:schemeClr val="tx1"/>
                          </a:solidFill>
                          <a:effectLst/>
                          <a:latin typeface="Times New Roman" panose="02020603050405020304" pitchFamily="18" charset="0"/>
                          <a:cs typeface="Times New Roman" panose="02020603050405020304" pitchFamily="18" charset="0"/>
                        </a:rPr>
                        <a:t>thời</a:t>
                      </a:r>
                      <a:r>
                        <a:rPr lang="en-GB" sz="1300" b="0" kern="100">
                          <a:solidFill>
                            <a:schemeClr val="tx1"/>
                          </a:solidFill>
                          <a:effectLst/>
                          <a:latin typeface="Times New Roman" panose="02020603050405020304" pitchFamily="18" charset="0"/>
                          <a:cs typeface="Times New Roman" panose="02020603050405020304" pitchFamily="18" charset="0"/>
                        </a:rPr>
                        <a:t> </a:t>
                      </a:r>
                      <a:endParaRPr lang="en-GB" sz="1300" b="0" kern="100" smtClean="0">
                        <a:solidFill>
                          <a:schemeClr val="tx1"/>
                        </a:solidFill>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smtClean="0">
                          <a:solidFill>
                            <a:schemeClr val="tx1"/>
                          </a:solidFill>
                          <a:effectLst/>
                          <a:latin typeface="Times New Roman" panose="02020603050405020304" pitchFamily="18" charset="0"/>
                          <a:cs typeface="Times New Roman" panose="02020603050405020304" pitchFamily="18" charset="0"/>
                        </a:rPr>
                        <a:t>gian </a:t>
                      </a:r>
                      <a:r>
                        <a:rPr lang="en-GB" sz="1300" b="0" kern="100" dirty="0" err="1">
                          <a:solidFill>
                            <a:schemeClr val="tx1"/>
                          </a:solidFill>
                          <a:effectLst/>
                          <a:latin typeface="Times New Roman" panose="02020603050405020304" pitchFamily="18" charset="0"/>
                          <a:cs typeface="Times New Roman" panose="02020603050405020304" pitchFamily="18" charset="0"/>
                        </a:rPr>
                        <a:t>sửa</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chữa</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ĐC lắp trên tàu bay</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Lịch sửa chữa ĐC </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2539848"/>
                  </a:ext>
                </a:extLst>
              </a:tr>
              <a:tr h="322573">
                <a:tc rowSpan="2">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smtClean="0">
                          <a:solidFill>
                            <a:schemeClr val="tx1"/>
                          </a:solidFill>
                          <a:effectLst/>
                          <a:latin typeface="Times New Roman" panose="02020603050405020304" pitchFamily="18" charset="0"/>
                          <a:cs typeface="Times New Roman" panose="02020603050405020304" pitchFamily="18" charset="0"/>
                        </a:rPr>
                        <a:t>1</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VN-A354</a:t>
                      </a:r>
                      <a:endParaRPr lang="en-US" sz="1300" b="0" kern="100" dirty="0">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MSN 3198</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15/7/2024</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14/7/2025</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US" sz="1300" b="0" kern="100" dirty="0">
                          <a:effectLst/>
                          <a:latin typeface="Times New Roman" panose="02020603050405020304" pitchFamily="18" charset="0"/>
                          <a:cs typeface="Times New Roman" panose="02020603050405020304" pitchFamily="18" charset="0"/>
                        </a:rPr>
                        <a:t>Y6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16/03-10/04/2025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V15894</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16/10/2028</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2024124"/>
                  </a:ext>
                </a:extLst>
              </a:tr>
              <a:tr h="467293">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V11752</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05/03/2025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3377786"/>
                  </a:ext>
                </a:extLst>
              </a:tr>
              <a:tr h="322573">
                <a:tc rowSpan="2">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2</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VN-A359</a:t>
                      </a:r>
                      <a:endParaRPr lang="en-US" sz="1300" b="0" kern="100">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MSN 3737</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30/10/2024</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29/10/2025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US" sz="1300" b="0" kern="100" dirty="0">
                          <a:effectLst/>
                          <a:latin typeface="Times New Roman" panose="02020603050405020304" pitchFamily="18" charset="0"/>
                          <a:cs typeface="Times New Roman" panose="02020603050405020304" pitchFamily="18" charset="0"/>
                        </a:rPr>
                        <a:t>Y6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02/2026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V11694</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10/04/2025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5771852"/>
                  </a:ext>
                </a:extLst>
              </a:tr>
              <a:tr h="467293">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V16049</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15/05/2025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1051290"/>
                  </a:ext>
                </a:extLst>
              </a:tr>
              <a:tr h="322573">
                <a:tc rowSpan="2">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a:solidFill>
                            <a:schemeClr val="tx1"/>
                          </a:solidFill>
                          <a:effectLst/>
                          <a:latin typeface="Times New Roman" panose="02020603050405020304" pitchFamily="18" charset="0"/>
                          <a:cs typeface="Times New Roman" panose="02020603050405020304" pitchFamily="18" charset="0"/>
                        </a:rPr>
                        <a:t>3</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VN-A363</a:t>
                      </a:r>
                      <a:endParaRPr lang="en-US" sz="1300" b="0" kern="100">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MSN 4136</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25/6/2024</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24/6/2025</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US" sz="1300" b="0" kern="100">
                          <a:effectLst/>
                          <a:latin typeface="Times New Roman" panose="02020603050405020304" pitchFamily="18" charset="0"/>
                          <a:cs typeface="Times New Roman" panose="02020603050405020304" pitchFamily="18" charset="0"/>
                        </a:rPr>
                        <a:t>C4</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05-16/05/2025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V16563</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07/11/2025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1708291"/>
                  </a:ext>
                </a:extLst>
              </a:tr>
              <a:tr h="467293">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V11696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20/10/2025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09814873"/>
                  </a:ext>
                </a:extLst>
              </a:tr>
            </a:tbl>
          </a:graphicData>
        </a:graphic>
      </p:graphicFrame>
      <p:sp>
        <p:nvSpPr>
          <p:cNvPr id="6" name="Title 2">
            <a:extLst>
              <a:ext uri="{FF2B5EF4-FFF2-40B4-BE49-F238E27FC236}">
                <a16:creationId xmlns:a16="http://schemas.microsoft.com/office/drawing/2014/main" id="{A54B3B80-6D5D-62F3-88B2-C803136634FB}"/>
              </a:ext>
            </a:extLst>
          </p:cNvPr>
          <p:cNvSpPr>
            <a:spLocks noGrp="1"/>
          </p:cNvSpPr>
          <p:nvPr>
            <p:ph type="title"/>
          </p:nvPr>
        </p:nvSpPr>
        <p:spPr>
          <a:xfrm>
            <a:off x="156783" y="11853"/>
            <a:ext cx="9312664" cy="508000"/>
          </a:xfrm>
        </p:spPr>
        <p:txBody>
          <a:bodyPr>
            <a:noAutofit/>
          </a:bodyPr>
          <a:lstStyle/>
          <a:p>
            <a:pPr eaLnBrk="1" hangingPunct="1"/>
            <a:r>
              <a:rPr lang="en-US" altLang="en-US" sz="29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spTree>
    <p:extLst>
      <p:ext uri="{BB962C8B-B14F-4D97-AF65-F5344CB8AC3E}">
        <p14:creationId xmlns:p14="http://schemas.microsoft.com/office/powerpoint/2010/main" val="284012132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30</a:t>
            </a:fld>
            <a:endParaRPr>
              <a:latin typeface="Times New Roman" panose="02020603050405020304" pitchFamily="18" charset="0"/>
              <a:cs typeface="Times New Roman" panose="02020603050405020304" pitchFamily="18" charset="0"/>
            </a:endParaRP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2926100017"/>
              </p:ext>
            </p:extLst>
          </p:nvPr>
        </p:nvGraphicFramePr>
        <p:xfrm>
          <a:off x="156783" y="518160"/>
          <a:ext cx="11878434" cy="3226808"/>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7229147">
                  <a:extLst>
                    <a:ext uri="{9D8B030D-6E8A-4147-A177-3AD203B41FA5}">
                      <a16:colId xmlns:a16="http://schemas.microsoft.com/office/drawing/2014/main" val="426833219"/>
                    </a:ext>
                  </a:extLst>
                </a:gridCol>
                <a:gridCol w="3043617">
                  <a:extLst>
                    <a:ext uri="{9D8B030D-6E8A-4147-A177-3AD203B41FA5}">
                      <a16:colId xmlns:a16="http://schemas.microsoft.com/office/drawing/2014/main" val="3649942957"/>
                    </a:ext>
                  </a:extLst>
                </a:gridCol>
              </a:tblGrid>
              <a:tr h="40078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474926">
                <a:tc>
                  <a:txBody>
                    <a:bodyPr/>
                    <a:lstStyle/>
                    <a:p>
                      <a:pPr algn="ctr" fontAlgn="b"/>
                      <a:r>
                        <a:rPr lang="en-US" sz="1300" b="0" i="0" u="none" strike="noStrike" smtClean="0">
                          <a:solidFill>
                            <a:schemeClr val="tx1"/>
                          </a:solidFill>
                          <a:effectLst/>
                          <a:latin typeface="Times New Roman" panose="02020603050405020304" pitchFamily="18" charset="0"/>
                          <a:cs typeface="Times New Roman" panose="02020603050405020304" pitchFamily="18" charset="0"/>
                        </a:rPr>
                        <a:t>10</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rPr>
                        <a:t>eTechlog</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33363" marR="0" lvl="0" indent="-173038"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rPr>
                        <a:t>11-Mar: Đã có phê duyệt KQLCNCC (AMOSeTL của SwissAS). Đang đàm phán ký kết hợp đồng</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Kiện toàn Tổ triển khai; Đề nghị CAAV triển khai phase 1 trong quy trình 5 phase</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690677">
                <a:tc>
                  <a:txBody>
                    <a:bodyPr/>
                    <a:lstStyle/>
                    <a:p>
                      <a:pPr algn="ctr" fontAlgn="b"/>
                      <a:r>
                        <a:rPr lang="en-US" sz="1300" b="0" i="0" u="none" strike="noStrike" smtClean="0">
                          <a:solidFill>
                            <a:schemeClr val="tx1"/>
                          </a:solidFill>
                          <a:effectLst/>
                          <a:latin typeface="Times New Roman" panose="02020603050405020304" pitchFamily="18" charset="0"/>
                          <a:cs typeface="Times New Roman" panose="02020603050405020304" pitchFamily="18" charset="0"/>
                        </a:rPr>
                        <a:t>11</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indent="0" algn="l" fontAlgn="ct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rPr>
                        <a:t>Nâng MTOW A350/B787</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33363" marR="0" lvl="0" indent="-173038"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 họp nhiều phiên với Boeing và Airbus. Hiện chờ OCC xác nhận payload tăng đ</a:t>
                      </a:r>
                      <a:r>
                        <a:rPr lang="vi-VN"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ợc theo từng tháng để KHPT tính toán hiệu quả.. </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 A350 (2 tàu cuối thuộc standard 2018  là A898, A899): đánh giá là khó thực hiện khi bay đi Mỹ do hiện nay đã phải nạp full tank dầu</a:t>
                      </a:r>
                      <a:endPar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690677">
                <a:tc>
                  <a:txBody>
                    <a:bodyPr/>
                    <a:lstStyle/>
                    <a:p>
                      <a:pPr algn="ctr" fontAlgn="b"/>
                      <a:r>
                        <a:rPr lang="en-US" sz="1300" b="0" i="0" u="none" strike="noStrike" smtClean="0">
                          <a:solidFill>
                            <a:schemeClr val="tx1"/>
                          </a:solidFill>
                          <a:effectLst/>
                          <a:latin typeface="Times New Roman" panose="02020603050405020304" pitchFamily="18" charset="0"/>
                          <a:cs typeface="Times New Roman" panose="02020603050405020304" pitchFamily="18" charset="0"/>
                        </a:rPr>
                        <a:t>12</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indent="0" algn="l" fontAlgn="ctr"/>
                      <a:r>
                        <a:rPr lang="en-US" sz="1300" b="0" i="0" u="none" strike="noStrike" kern="1200" baseline="0" smtClean="0">
                          <a:solidFill>
                            <a:schemeClr val="tx1"/>
                          </a:solidFill>
                          <a:effectLst/>
                          <a:latin typeface="Times New Roman" panose="02020603050405020304" pitchFamily="18" charset="0"/>
                          <a:ea typeface="+mn-ea"/>
                          <a:cs typeface="Times New Roman" panose="02020603050405020304" pitchFamily="18" charset="0"/>
                        </a:rPr>
                        <a:t>Chuẩn bị VIP VTE</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33363" marR="0" lvl="0" indent="-173038"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Công tác chuẩn bị vẫn theo kế hoạch, không có phát sinh.</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smtClean="0">
                          <a:solidFill>
                            <a:schemeClr val="tx1"/>
                          </a:solidFill>
                          <a:effectLst/>
                          <a:latin typeface="Times New Roman" panose="02020603050405020304" pitchFamily="18" charset="0"/>
                          <a:ea typeface="+mn-ea"/>
                          <a:cs typeface="Times New Roman" panose="02020603050405020304" pitchFamily="18" charset="0"/>
                        </a:rPr>
                        <a:t>Đang triển khai</a:t>
                      </a:r>
                      <a:endPar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9529684"/>
                  </a:ext>
                </a:extLst>
              </a:tr>
              <a:tr h="690677">
                <a:tc>
                  <a:txBody>
                    <a:bodyPr/>
                    <a:lstStyle/>
                    <a:p>
                      <a:pPr algn="ctr" fontAlgn="b"/>
                      <a:r>
                        <a:rPr lang="en-US" sz="1300" b="0" i="0" u="none" strike="noStrike" smtClean="0">
                          <a:solidFill>
                            <a:schemeClr val="tx1"/>
                          </a:solidFill>
                          <a:effectLst/>
                          <a:latin typeface="Times New Roman" panose="02020603050405020304" pitchFamily="18" charset="0"/>
                          <a:cs typeface="Times New Roman" panose="02020603050405020304" pitchFamily="18" charset="0"/>
                        </a:rPr>
                        <a:t>13</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indent="0" algn="l" fontAlgn="ctr"/>
                      <a:r>
                        <a:rPr lang="en-US" sz="1300" b="0" i="0" u="none" strike="noStrike" kern="1200" baseline="0" smtClean="0">
                          <a:solidFill>
                            <a:schemeClr val="tx1"/>
                          </a:solidFill>
                          <a:effectLst/>
                          <a:latin typeface="Times New Roman" panose="02020603050405020304" pitchFamily="18" charset="0"/>
                          <a:ea typeface="+mn-ea"/>
                          <a:cs typeface="Times New Roman" panose="02020603050405020304" pitchFamily="18" charset="0"/>
                        </a:rPr>
                        <a:t>Chuẩn bị khôi phục đường bay Nga (HAN-SVO)</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33363" marR="0" lvl="0" indent="-173038"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 hoạch swap 01 động cơ còn lại cho tàu A867 vẫn theo kế hoạch (từ ngày 24-27/04), đảm bảo kịp khai thác.</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smtClean="0">
                          <a:solidFill>
                            <a:schemeClr val="tx1"/>
                          </a:solidFill>
                          <a:effectLst/>
                          <a:latin typeface="Times New Roman" panose="02020603050405020304" pitchFamily="18" charset="0"/>
                          <a:ea typeface="+mn-ea"/>
                          <a:cs typeface="Times New Roman" panose="02020603050405020304" pitchFamily="18" charset="0"/>
                        </a:rPr>
                        <a:t>Đang triển khai</a:t>
                      </a:r>
                      <a:endPar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4548750"/>
                  </a:ext>
                </a:extLst>
              </a:tr>
            </a:tbl>
          </a:graphicData>
        </a:graphic>
      </p:graphicFrame>
      <p:sp>
        <p:nvSpPr>
          <p:cNvPr id="5" name="Title 2">
            <a:extLst>
              <a:ext uri="{FF2B5EF4-FFF2-40B4-BE49-F238E27FC236}">
                <a16:creationId xmlns:a16="http://schemas.microsoft.com/office/drawing/2014/main" id="{A54B3B80-6D5D-62F3-88B2-C803136634FB}"/>
              </a:ext>
            </a:extLst>
          </p:cNvPr>
          <p:cNvSpPr>
            <a:spLocks noGrp="1"/>
          </p:cNvSpPr>
          <p:nvPr>
            <p:ph type="title"/>
          </p:nvPr>
        </p:nvSpPr>
        <p:spPr>
          <a:xfrm>
            <a:off x="156783" y="11853"/>
            <a:ext cx="9312664" cy="508000"/>
          </a:xfrm>
        </p:spPr>
        <p:txBody>
          <a:bodyPr>
            <a:noAutofit/>
          </a:bodyPr>
          <a:lstStyle/>
          <a:p>
            <a:pPr eaLnBrk="1" hangingPunct="1"/>
            <a:r>
              <a:rPr lang="en-US" altLang="en-US" sz="29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spTree>
    <p:extLst>
      <p:ext uri="{BB962C8B-B14F-4D97-AF65-F5344CB8AC3E}">
        <p14:creationId xmlns:p14="http://schemas.microsoft.com/office/powerpoint/2010/main" val="376710886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FCDADE51-C6B9-5C4B-8E7E-2C9068925992}"/>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247D3536-C804-0133-4A2E-A846C5CD8D46}"/>
              </a:ext>
            </a:extLst>
          </p:cNvPr>
          <p:cNvSpPr>
            <a:spLocks noGrp="1"/>
          </p:cNvSpPr>
          <p:nvPr>
            <p:ph type="title"/>
          </p:nvPr>
        </p:nvSpPr>
        <p:spPr>
          <a:xfrm>
            <a:off x="771524" y="2977615"/>
            <a:ext cx="10648952" cy="627834"/>
          </a:xfrm>
          <a:noFill/>
        </p:spPr>
        <p:txBody>
          <a:bodyPr wrap="square" rtlCol="0">
            <a:spAutoFit/>
          </a:bodyPr>
          <a:lstStyle/>
          <a:p>
            <a:pPr algn="ctr"/>
            <a:r>
              <a:rPr lang="vi-VN" sz="3200" dirty="0">
                <a:ln w="0"/>
                <a:solidFill>
                  <a:srgbClr val="0070C0"/>
                </a:solidFill>
                <a:latin typeface="Times New Roman" panose="02020603050405020304" pitchFamily="18" charset="0"/>
                <a:ea typeface="+mn-ea"/>
                <a:cs typeface="Times New Roman" panose="02020603050405020304" pitchFamily="18" charset="0"/>
              </a:rPr>
              <a:t>KHẢ NĂNG CUNG ỨNG ĐỘNG CƠ</a:t>
            </a:r>
            <a:r>
              <a:rPr lang="en-US" sz="3200" dirty="0">
                <a:ln w="0"/>
                <a:solidFill>
                  <a:srgbClr val="0070C0"/>
                </a:solidFill>
                <a:latin typeface="Times New Roman" panose="02020603050405020304" pitchFamily="18" charset="0"/>
                <a:ea typeface="+mn-ea"/>
                <a:cs typeface="Times New Roman" panose="02020603050405020304" pitchFamily="18" charset="0"/>
              </a:rPr>
              <a:t>/APU</a:t>
            </a:r>
          </a:p>
        </p:txBody>
      </p:sp>
    </p:spTree>
    <p:extLst>
      <p:ext uri="{BB962C8B-B14F-4D97-AF65-F5344CB8AC3E}">
        <p14:creationId xmlns:p14="http://schemas.microsoft.com/office/powerpoint/2010/main" val="7555054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22A72-54FF-8086-CABE-943B9F79B55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4848883-0D37-D0EE-F00E-CA550378B7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0523" y="134658"/>
            <a:ext cx="537821" cy="505652"/>
          </a:xfrm>
          <a:prstGeom prst="rect">
            <a:avLst/>
          </a:prstGeom>
        </p:spPr>
      </p:pic>
      <p:sp>
        <p:nvSpPr>
          <p:cNvPr id="7" name="Title 1">
            <a:extLst>
              <a:ext uri="{FF2B5EF4-FFF2-40B4-BE49-F238E27FC236}">
                <a16:creationId xmlns:a16="http://schemas.microsoft.com/office/drawing/2014/main" id="{209F39F1-CDB6-3B62-4B32-ACAA9A730526}"/>
              </a:ext>
            </a:extLst>
          </p:cNvPr>
          <p:cNvSpPr txBox="1">
            <a:spLocks/>
          </p:cNvSpPr>
          <p:nvPr/>
        </p:nvSpPr>
        <p:spPr>
          <a:xfrm>
            <a:off x="844871" y="203761"/>
            <a:ext cx="9132732" cy="458687"/>
          </a:xfrm>
          <a:prstGeom prst="rect">
            <a:avLst/>
          </a:prstGeom>
        </p:spPr>
        <p:txBody>
          <a:bodyPr vert="horz" lIns="91440" tIns="45720" rIns="91440" bIns="45720" rtlCol="0" anchor="ctr">
            <a:noAutofit/>
          </a:bodyPr>
          <a:lstStyle>
            <a:defPPr>
              <a:defRPr lang="en-US"/>
            </a:defPPr>
            <a:lvl1pPr>
              <a:lnSpc>
                <a:spcPct val="90000"/>
              </a:lnSpc>
              <a:spcBef>
                <a:spcPct val="0"/>
              </a:spcBef>
              <a:buNone/>
              <a:defRPr sz="2800" b="1">
                <a:solidFill>
                  <a:srgbClr val="D2A43B"/>
                </a:solidFill>
                <a:latin typeface="Times New Roman" panose="02020603050405020304" pitchFamily="18" charset="0"/>
                <a:ea typeface="Tahoma" pitchFamily="34" charset="0"/>
                <a:cs typeface="Times New Roman" panose="02020603050405020304" pitchFamily="18" charset="0"/>
              </a:defRPr>
            </a:lvl1pPr>
          </a:lstStyle>
          <a:p>
            <a:pPr defTabSz="914377">
              <a:defRPr/>
            </a:pPr>
            <a:r>
              <a:rPr lang="en-US" dirty="0"/>
              <a:t>NHU CẦU ĐỘNG CƠ DỰ </a:t>
            </a:r>
            <a:r>
              <a:rPr lang="en-US"/>
              <a:t>PHÒNG Q1-Q2/2025</a:t>
            </a:r>
            <a:endParaRPr lang="vi-VN" dirty="0"/>
          </a:p>
        </p:txBody>
      </p:sp>
      <p:grpSp>
        <p:nvGrpSpPr>
          <p:cNvPr id="8" name="Group 7">
            <a:extLst>
              <a:ext uri="{FF2B5EF4-FFF2-40B4-BE49-F238E27FC236}">
                <a16:creationId xmlns:a16="http://schemas.microsoft.com/office/drawing/2014/main" id="{9743D403-841B-4C88-9A8E-7F9B02422512}"/>
              </a:ext>
            </a:extLst>
          </p:cNvPr>
          <p:cNvGrpSpPr/>
          <p:nvPr/>
        </p:nvGrpSpPr>
        <p:grpSpPr>
          <a:xfrm>
            <a:off x="932601" y="288236"/>
            <a:ext cx="10799027" cy="678753"/>
            <a:chOff x="1363421" y="323070"/>
            <a:chExt cx="10799027" cy="678753"/>
          </a:xfrm>
        </p:grpSpPr>
        <p:cxnSp>
          <p:nvCxnSpPr>
            <p:cNvPr id="9" name="Straight Connector 8">
              <a:extLst>
                <a:ext uri="{FF2B5EF4-FFF2-40B4-BE49-F238E27FC236}">
                  <a16:creationId xmlns:a16="http://schemas.microsoft.com/office/drawing/2014/main" id="{02D9B4C5-DC85-8A40-532D-EB022CFB7B1B}"/>
                </a:ext>
              </a:extLst>
            </p:cNvPr>
            <p:cNvCxnSpPr/>
            <p:nvPr/>
          </p:nvCxnSpPr>
          <p:spPr>
            <a:xfrm>
              <a:off x="1363421"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C0941FC1-E581-6BDB-582E-7D9D8FDE8A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709946" y="323070"/>
              <a:ext cx="452502" cy="678753"/>
            </a:xfrm>
            <a:prstGeom prst="rect">
              <a:avLst/>
            </a:prstGeom>
          </p:spPr>
        </p:pic>
      </p:grpSp>
      <p:graphicFrame>
        <p:nvGraphicFramePr>
          <p:cNvPr id="19" name="Chart 18">
            <a:extLst>
              <a:ext uri="{FF2B5EF4-FFF2-40B4-BE49-F238E27FC236}">
                <a16:creationId xmlns:a16="http://schemas.microsoft.com/office/drawing/2014/main" id="{211010DD-A36B-7A4B-2FF6-01A604A6123F}"/>
              </a:ext>
            </a:extLst>
          </p:cNvPr>
          <p:cNvGraphicFramePr>
            <a:graphicFrameLocks/>
          </p:cNvGraphicFramePr>
          <p:nvPr/>
        </p:nvGraphicFramePr>
        <p:xfrm>
          <a:off x="495300" y="801732"/>
          <a:ext cx="11236328" cy="4607249"/>
        </p:xfrm>
        <a:graphic>
          <a:graphicData uri="http://schemas.openxmlformats.org/drawingml/2006/chart">
            <c:chart xmlns:c="http://schemas.openxmlformats.org/drawingml/2006/chart" xmlns:r="http://schemas.openxmlformats.org/officeDocument/2006/relationships" r:id="rId5"/>
          </a:graphicData>
        </a:graphic>
      </p:graphicFrame>
      <p:sp>
        <p:nvSpPr>
          <p:cNvPr id="20" name="TextBox 19">
            <a:extLst>
              <a:ext uri="{FF2B5EF4-FFF2-40B4-BE49-F238E27FC236}">
                <a16:creationId xmlns:a16="http://schemas.microsoft.com/office/drawing/2014/main" id="{4DD2277F-2B8A-7B9C-24AD-6310EB414239}"/>
              </a:ext>
            </a:extLst>
          </p:cNvPr>
          <p:cNvSpPr txBox="1"/>
          <p:nvPr/>
        </p:nvSpPr>
        <p:spPr>
          <a:xfrm>
            <a:off x="477836" y="5458746"/>
            <a:ext cx="11236328" cy="1323054"/>
          </a:xfrm>
          <a:prstGeom prst="rect">
            <a:avLst/>
          </a:prstGeom>
          <a:noFill/>
          <a:ln>
            <a:solidFill>
              <a:schemeClr val="accent1"/>
            </a:solidFill>
          </a:ln>
        </p:spPr>
        <p:txBody>
          <a:bodyPr wrap="square" rtlCol="0">
            <a:spAutoFit/>
          </a:bodyPr>
          <a:lstStyle/>
          <a:p>
            <a:pPr defTabSz="914377">
              <a:defRPr/>
            </a:pPr>
            <a:r>
              <a:rPr lang="en-US" sz="1333" b="1" dirty="0">
                <a:solidFill>
                  <a:prstClr val="black"/>
                </a:solidFill>
                <a:latin typeface="Times New Roman" panose="02020603050405020304" pitchFamily="18" charset="0"/>
                <a:cs typeface="Times New Roman" panose="02020603050405020304" pitchFamily="18" charset="0"/>
              </a:rPr>
              <a:t>*A321CEO: </a:t>
            </a:r>
            <a:r>
              <a:rPr lang="en-US" sz="1333" dirty="0" err="1">
                <a:solidFill>
                  <a:prstClr val="black"/>
                </a:solidFill>
                <a:latin typeface="Times New Roman" panose="02020603050405020304" pitchFamily="18" charset="0"/>
                <a:cs typeface="Times New Roman" panose="02020603050405020304" pitchFamily="18" charset="0"/>
              </a:rPr>
              <a:t>Dự</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kiến</a:t>
            </a:r>
            <a:r>
              <a:rPr lang="en-US" sz="1333" dirty="0">
                <a:solidFill>
                  <a:prstClr val="black"/>
                </a:solidFill>
                <a:latin typeface="Times New Roman" panose="02020603050405020304" pitchFamily="18" charset="0"/>
                <a:cs typeface="Times New Roman" panose="02020603050405020304" pitchFamily="18" charset="0"/>
              </a:rPr>
              <a:t> Q3-Q4/2025 </a:t>
            </a:r>
            <a:r>
              <a:rPr lang="en-US" sz="1333" dirty="0" err="1">
                <a:solidFill>
                  <a:prstClr val="black"/>
                </a:solidFill>
                <a:latin typeface="Times New Roman" panose="02020603050405020304" pitchFamily="18" charset="0"/>
                <a:cs typeface="Times New Roman" panose="02020603050405020304" pitchFamily="18" charset="0"/>
              </a:rPr>
              <a:t>trả</a:t>
            </a:r>
            <a:r>
              <a:rPr lang="en-US" sz="1333" dirty="0">
                <a:solidFill>
                  <a:prstClr val="black"/>
                </a:solidFill>
                <a:latin typeface="Times New Roman" panose="02020603050405020304" pitchFamily="18" charset="0"/>
                <a:cs typeface="Times New Roman" panose="02020603050405020304" pitchFamily="18" charset="0"/>
              </a:rPr>
              <a:t> 3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thuê</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Cần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duy</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trì</a:t>
            </a:r>
            <a:r>
              <a:rPr lang="en-US" sz="1333" dirty="0">
                <a:solidFill>
                  <a:prstClr val="black"/>
                </a:solidFill>
                <a:latin typeface="Times New Roman" panose="02020603050405020304" pitchFamily="18" charset="0"/>
                <a:cs typeface="Times New Roman" panose="02020603050405020304" pitchFamily="18" charset="0"/>
              </a:rPr>
              <a:t> 9-10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dự</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phòng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trong</a:t>
            </a:r>
            <a:r>
              <a:rPr lang="en-US" sz="1333" dirty="0">
                <a:solidFill>
                  <a:prstClr val="black"/>
                </a:solidFill>
                <a:latin typeface="Times New Roman" panose="02020603050405020304" pitchFamily="18" charset="0"/>
                <a:cs typeface="Times New Roman" panose="02020603050405020304" pitchFamily="18" charset="0"/>
              </a:rPr>
              <a:t> 2026.</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*A321NEO</a:t>
            </a:r>
            <a:r>
              <a:rPr lang="en-US" sz="1333" dirty="0">
                <a:solidFill>
                  <a:prstClr val="black"/>
                </a:solidFill>
                <a:latin typeface="Times New Roman" panose="02020603050405020304" pitchFamily="18" charset="0"/>
                <a:cs typeface="Times New Roman" panose="02020603050405020304" pitchFamily="18" charset="0"/>
              </a:rPr>
              <a:t>: </a:t>
            </a:r>
            <a:r>
              <a:rPr lang="vi-VN" sz="1333" dirty="0">
                <a:solidFill>
                  <a:prstClr val="black"/>
                </a:solidFill>
                <a:latin typeface="Times New Roman" panose="02020603050405020304" pitchFamily="18" charset="0"/>
                <a:cs typeface="Times New Roman" panose="02020603050405020304" pitchFamily="18" charset="0"/>
              </a:rPr>
              <a:t>Rủi ro động cơ đi shop về muộn (thực tế đã bị shop delay nhiều lần) và rủi ro tháo động cơ </a:t>
            </a:r>
            <a:r>
              <a:rPr lang="vi-VN" sz="1333" dirty="0">
                <a:latin typeface="Times New Roman" panose="02020603050405020304" pitchFamily="18" charset="0"/>
                <a:cs typeface="Times New Roman" panose="02020603050405020304" pitchFamily="18" charset="0"/>
              </a:rPr>
              <a:t>ngoài KH do Vibration, Oil Leak…08 động cơ đang sửa chữa bị delay nhiều lần từ đầu tháng 12, với tổng ~ 366 days, tương ứng ~ 183 AOG days.</a:t>
            </a:r>
            <a:endParaRPr lang="en-US" sz="1333" dirty="0">
              <a:highlight>
                <a:srgbClr val="FFFF00"/>
              </a:highlight>
              <a:latin typeface="Times New Roman" panose="02020603050405020304" pitchFamily="18" charset="0"/>
              <a:cs typeface="Times New Roman" panose="02020603050405020304" pitchFamily="18" charset="0"/>
            </a:endParaRPr>
          </a:p>
          <a:p>
            <a:pPr defTabSz="914377">
              <a:defRPr/>
            </a:pPr>
            <a:r>
              <a:rPr lang="en-US" sz="1333" b="1" dirty="0">
                <a:latin typeface="Times New Roman" panose="02020603050405020304" pitchFamily="18" charset="0"/>
                <a:cs typeface="Times New Roman" panose="02020603050405020304" pitchFamily="18" charset="0"/>
              </a:rPr>
              <a:t>*B787: </a:t>
            </a:r>
            <a:r>
              <a:rPr lang="en-US" sz="1333" dirty="0" err="1">
                <a:latin typeface="Times New Roman" panose="02020603050405020304" pitchFamily="18" charset="0"/>
                <a:cs typeface="Times New Roman" panose="02020603050405020304" pitchFamily="18" charset="0"/>
              </a:rPr>
              <a:t>Thực</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tế</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đã</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phải</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bổ</a:t>
            </a:r>
            <a:r>
              <a:rPr lang="en-US" sz="1333" dirty="0">
                <a:latin typeface="Times New Roman" panose="02020603050405020304" pitchFamily="18" charset="0"/>
                <a:cs typeface="Times New Roman" panose="02020603050405020304" pitchFamily="18" charset="0"/>
              </a:rPr>
              <a:t> sung 01 ĐC </a:t>
            </a:r>
            <a:r>
              <a:rPr lang="en-US" sz="1333" dirty="0" err="1">
                <a:latin typeface="Times New Roman" panose="02020603050405020304" pitchFamily="18" charset="0"/>
                <a:cs typeface="Times New Roman" panose="02020603050405020304" pitchFamily="18" charset="0"/>
              </a:rPr>
              <a:t>vào</a:t>
            </a:r>
            <a:r>
              <a:rPr lang="en-US" sz="1333" dirty="0">
                <a:latin typeface="Times New Roman" panose="02020603050405020304" pitchFamily="18" charset="0"/>
                <a:cs typeface="Times New Roman" panose="02020603050405020304" pitchFamily="18" charset="0"/>
              </a:rPr>
              <a:t> T4/2025 </a:t>
            </a:r>
            <a:r>
              <a:rPr lang="en-US" sz="1333" dirty="0" err="1">
                <a:latin typeface="Times New Roman" panose="02020603050405020304" pitchFamily="18" charset="0"/>
                <a:cs typeface="Times New Roman" panose="02020603050405020304" pitchFamily="18" charset="0"/>
              </a:rPr>
              <a:t>để</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khai</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thác</a:t>
            </a:r>
            <a:r>
              <a:rPr lang="en-US" sz="1333" dirty="0">
                <a:latin typeface="Times New Roman" panose="02020603050405020304" pitchFamily="18" charset="0"/>
                <a:cs typeface="Times New Roman" panose="02020603050405020304" pitchFamily="18" charset="0"/>
              </a:rPr>
              <a:t> A868. </a:t>
            </a:r>
            <a:r>
              <a:rPr lang="en-US" sz="1333" dirty="0" err="1">
                <a:latin typeface="Times New Roman" panose="02020603050405020304" pitchFamily="18" charset="0"/>
                <a:cs typeface="Times New Roman" panose="02020603050405020304" pitchFamily="18" charset="0"/>
              </a:rPr>
              <a:t>Số</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lượng</a:t>
            </a:r>
            <a:r>
              <a:rPr lang="en-US" sz="1333" dirty="0">
                <a:latin typeface="Times New Roman" panose="02020603050405020304" pitchFamily="18" charset="0"/>
                <a:cs typeface="Times New Roman" panose="02020603050405020304" pitchFamily="18" charset="0"/>
              </a:rPr>
              <a:t> ĐCDP </a:t>
            </a:r>
            <a:r>
              <a:rPr lang="en-US" sz="1333" dirty="0" err="1">
                <a:latin typeface="Times New Roman" panose="02020603050405020304" pitchFamily="18" charset="0"/>
                <a:cs typeface="Times New Roman" panose="02020603050405020304" pitchFamily="18" charset="0"/>
              </a:rPr>
              <a:t>hiện</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tại</a:t>
            </a:r>
            <a:r>
              <a:rPr lang="en-US" sz="1333" dirty="0">
                <a:latin typeface="Times New Roman" panose="02020603050405020304" pitchFamily="18" charset="0"/>
                <a:cs typeface="Times New Roman" panose="02020603050405020304" pitchFamily="18" charset="0"/>
              </a:rPr>
              <a:t> 10 (ĐC </a:t>
            </a:r>
            <a:r>
              <a:rPr lang="en-US" sz="1333" dirty="0" err="1">
                <a:latin typeface="Times New Roman" panose="02020603050405020304" pitchFamily="18" charset="0"/>
                <a:cs typeface="Times New Roman" panose="02020603050405020304" pitchFamily="18" charset="0"/>
              </a:rPr>
              <a:t>thuê</a:t>
            </a:r>
            <a:r>
              <a:rPr lang="en-US" sz="1333" dirty="0">
                <a:latin typeface="Times New Roman" panose="02020603050405020304" pitchFamily="18" charset="0"/>
                <a:cs typeface="Times New Roman" panose="02020603050405020304" pitchFamily="18" charset="0"/>
              </a:rPr>
              <a:t> 06)</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*ATR: </a:t>
            </a:r>
            <a:r>
              <a:rPr lang="en-US" sz="1333" dirty="0">
                <a:solidFill>
                  <a:prstClr val="black"/>
                </a:solidFill>
                <a:latin typeface="Times New Roman" panose="02020603050405020304" pitchFamily="18" charset="0"/>
                <a:cs typeface="Times New Roman" panose="02020603050405020304" pitchFamily="18" charset="0"/>
              </a:rPr>
              <a:t>Nhu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này</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đã</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tính</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nhu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nguồn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lực</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cho</a:t>
            </a:r>
            <a:r>
              <a:rPr lang="en-US" sz="1333" dirty="0">
                <a:solidFill>
                  <a:prstClr val="black"/>
                </a:solidFill>
                <a:latin typeface="Times New Roman" panose="02020603050405020304" pitchFamily="18" charset="0"/>
                <a:cs typeface="Times New Roman" panose="02020603050405020304" pitchFamily="18" charset="0"/>
              </a:rPr>
              <a:t> 05 </a:t>
            </a:r>
            <a:r>
              <a:rPr lang="en-US" sz="1333" dirty="0" err="1">
                <a:solidFill>
                  <a:prstClr val="black"/>
                </a:solidFill>
                <a:latin typeface="Times New Roman" panose="02020603050405020304" pitchFamily="18" charset="0"/>
                <a:cs typeface="Times New Roman" panose="02020603050405020304" pitchFamily="18" charset="0"/>
              </a:rPr>
              <a:t>tàu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gồm</a:t>
            </a:r>
            <a:r>
              <a:rPr lang="en-US" sz="1333" dirty="0">
                <a:solidFill>
                  <a:prstClr val="black"/>
                </a:solidFill>
                <a:latin typeface="Times New Roman" panose="02020603050405020304" pitchFamily="18" charset="0"/>
                <a:cs typeface="Times New Roman" panose="02020603050405020304" pitchFamily="18" charset="0"/>
              </a:rPr>
              <a:t> B225 RTS </a:t>
            </a:r>
            <a:r>
              <a:rPr lang="en-US" sz="1333" dirty="0" err="1">
                <a:solidFill>
                  <a:prstClr val="black"/>
                </a:solidFill>
                <a:latin typeface="Times New Roman" panose="02020603050405020304" pitchFamily="18" charset="0"/>
                <a:cs typeface="Times New Roman" panose="02020603050405020304" pitchFamily="18" charset="0"/>
              </a:rPr>
              <a:t>từ</a:t>
            </a:r>
            <a:r>
              <a:rPr lang="en-US" sz="1333" dirty="0">
                <a:solidFill>
                  <a:prstClr val="black"/>
                </a:solidFill>
                <a:latin typeface="Times New Roman" panose="02020603050405020304" pitchFamily="18" charset="0"/>
                <a:cs typeface="Times New Roman" panose="02020603050405020304" pitchFamily="18" charset="0"/>
              </a:rPr>
              <a:t> T1/2025).</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*A350</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Rủi</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ro</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tháo</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c</a:t>
            </a:r>
            <a:r>
              <a:rPr lang="vi-VN" sz="1333" dirty="0">
                <a:solidFill>
                  <a:prstClr val="black"/>
                </a:solidFill>
                <a:latin typeface="Times New Roman" panose="02020603050405020304" pitchFamily="18" charset="0"/>
                <a:cs typeface="Times New Roman" panose="02020603050405020304" pitchFamily="18" charset="0"/>
              </a:rPr>
              <a:t>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ngoài</a:t>
            </a:r>
            <a:r>
              <a:rPr lang="en-US" sz="1333" dirty="0">
                <a:solidFill>
                  <a:prstClr val="black"/>
                </a:solidFill>
                <a:latin typeface="Times New Roman" panose="02020603050405020304" pitchFamily="18" charset="0"/>
                <a:cs typeface="Times New Roman" panose="02020603050405020304" pitchFamily="18" charset="0"/>
              </a:rPr>
              <a:t> KH do High oil consumption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A893), HPT Blade (2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100FC), IPC Blade (3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cần</a:t>
            </a:r>
            <a:r>
              <a:rPr lang="en-US" sz="1333" dirty="0">
                <a:solidFill>
                  <a:prstClr val="black"/>
                </a:solidFill>
                <a:latin typeface="Times New Roman" panose="02020603050405020304" pitchFamily="18" charset="0"/>
                <a:cs typeface="Times New Roman" panose="02020603050405020304" pitchFamily="18" charset="0"/>
              </a:rPr>
              <a:t> soi </a:t>
            </a:r>
            <a:r>
              <a:rPr lang="en-US" sz="1333" dirty="0" err="1">
                <a:solidFill>
                  <a:prstClr val="black"/>
                </a:solidFill>
                <a:latin typeface="Times New Roman" panose="02020603050405020304" pitchFamily="18" charset="0"/>
                <a:cs typeface="Times New Roman" panose="02020603050405020304" pitchFamily="18" charset="0"/>
              </a:rPr>
              <a:t>năm</a:t>
            </a:r>
            <a:r>
              <a:rPr lang="en-US" sz="1333" dirty="0">
                <a:solidFill>
                  <a:prstClr val="black"/>
                </a:solidFill>
                <a:latin typeface="Times New Roman" panose="02020603050405020304" pitchFamily="18" charset="0"/>
                <a:cs typeface="Times New Roman" panose="02020603050405020304" pitchFamily="18" charset="0"/>
              </a:rPr>
              <a:t> 2025)</a:t>
            </a:r>
          </a:p>
        </p:txBody>
      </p:sp>
    </p:spTree>
    <p:extLst>
      <p:ext uri="{BB962C8B-B14F-4D97-AF65-F5344CB8AC3E}">
        <p14:creationId xmlns:p14="http://schemas.microsoft.com/office/powerpoint/2010/main" val="1743677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5B988DA-38D1-571B-6871-9FBC014FB168}"/>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54CB31C7-4E2E-A024-3D90-6B5B7D962E96}"/>
              </a:ext>
            </a:extLst>
          </p:cNvPr>
          <p:cNvSpPr txBox="1">
            <a:spLocks/>
          </p:cNvSpPr>
          <p:nvPr/>
        </p:nvSpPr>
        <p:spPr>
          <a:xfrm>
            <a:off x="8534400" y="637116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mn-cs"/>
              </a:rPr>
              <a:pPr>
                <a:buClrTx/>
                <a:buFontTx/>
                <a:buNone/>
                <a:defRPr/>
              </a:pPr>
              <a:t>33</a:t>
            </a:fld>
            <a:endParaRPr lang="en-US" sz="1600" dirty="0">
              <a:solidFill>
                <a:srgbClr val="D2A43B"/>
              </a:solidFill>
              <a:latin typeface="Times New Roman" panose="02020603050405020304" pitchFamily="18" charset="0"/>
              <a:ea typeface="+mn-ea"/>
              <a:cs typeface="+mn-cs"/>
            </a:endParaRPr>
          </a:p>
        </p:txBody>
      </p:sp>
      <p:sp>
        <p:nvSpPr>
          <p:cNvPr id="7" name="TextBox 6">
            <a:extLst>
              <a:ext uri="{FF2B5EF4-FFF2-40B4-BE49-F238E27FC236}">
                <a16:creationId xmlns:a16="http://schemas.microsoft.com/office/drawing/2014/main" id="{ECD7242A-6EC4-6B1A-A438-79B9107F1CD6}"/>
              </a:ext>
            </a:extLst>
          </p:cNvPr>
          <p:cNvSpPr txBox="1"/>
          <p:nvPr/>
        </p:nvSpPr>
        <p:spPr>
          <a:xfrm>
            <a:off x="203197" y="0"/>
            <a:ext cx="1534160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NHU CẦU ĐỘNG CƠ DỰ PHÒNG CÁC </a:t>
            </a:r>
            <a:r>
              <a:rPr lang="en-US" sz="2667" b="1">
                <a:ln w="0"/>
                <a:solidFill>
                  <a:srgbClr val="FBAC00"/>
                </a:solidFill>
                <a:latin typeface="Times New Roman" panose="02020603050405020304" pitchFamily="18" charset="0"/>
                <a:cs typeface="Times New Roman" panose="02020603050405020304" pitchFamily="18" charset="0"/>
              </a:rPr>
              <a:t>FLEET T4-T6/2025</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a16="http://schemas.microsoft.com/office/drawing/2014/main" id="{3AE6B01F-84E3-881B-E0A6-2DB2CB883A49}"/>
              </a:ext>
            </a:extLst>
          </p:cNvPr>
          <p:cNvGraphicFramePr>
            <a:graphicFrameLocks/>
          </p:cNvGraphicFramePr>
          <p:nvPr/>
        </p:nvGraphicFramePr>
        <p:xfrm>
          <a:off x="190500" y="592815"/>
          <a:ext cx="11811000" cy="4673672"/>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6E40E499-B08B-C67F-623B-F023D733338B}"/>
              </a:ext>
            </a:extLst>
          </p:cNvPr>
          <p:cNvSpPr txBox="1"/>
          <p:nvPr/>
        </p:nvSpPr>
        <p:spPr>
          <a:xfrm>
            <a:off x="190500" y="5266487"/>
            <a:ext cx="11811000" cy="1384995"/>
          </a:xfrm>
          <a:prstGeom prst="rect">
            <a:avLst/>
          </a:prstGeom>
          <a:noFill/>
          <a:ln>
            <a:solidFill>
              <a:schemeClr val="accent1"/>
            </a:solidFill>
          </a:ln>
        </p:spPr>
        <p:txBody>
          <a:bodyPr wrap="square" rtlCol="0">
            <a:spAutoFit/>
          </a:bodyPr>
          <a:lstStyle/>
          <a:p>
            <a:r>
              <a:rPr lang="en-US" sz="1200" b="1" dirty="0">
                <a:latin typeface="Times New Roman" panose="02020603050405020304" pitchFamily="18" charset="0"/>
                <a:cs typeface="Times New Roman" panose="02020603050405020304" pitchFamily="18" charset="0"/>
              </a:rPr>
              <a:t>Action </a:t>
            </a:r>
            <a:r>
              <a:rPr lang="en-US" sz="1200" b="1" dirty="0" err="1">
                <a:latin typeface="Times New Roman" panose="02020603050405020304" pitchFamily="18" charset="0"/>
                <a:cs typeface="Times New Roman" panose="02020603050405020304" pitchFamily="18" charset="0"/>
              </a:rPr>
              <a:t>ngắn</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hạn</a:t>
            </a:r>
            <a:r>
              <a:rPr lang="en-US" sz="1200" b="1" dirty="0">
                <a:latin typeface="Times New Roman" panose="02020603050405020304" pitchFamily="18" charset="0"/>
                <a:cs typeface="Times New Roman" panose="02020603050405020304" pitchFamily="18" charset="0"/>
              </a:rPr>
              <a:t> &amp; </a:t>
            </a:r>
            <a:r>
              <a:rPr lang="en-US" sz="1200" b="1" dirty="0" err="1">
                <a:latin typeface="Times New Roman" panose="02020603050405020304" pitchFamily="18" charset="0"/>
                <a:cs typeface="Times New Roman" panose="02020603050405020304" pitchFamily="18" charset="0"/>
              </a:rPr>
              <a:t>rủi</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ro</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nhận</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diện</a:t>
            </a:r>
            <a:r>
              <a:rPr lang="en-US" sz="1200" dirty="0">
                <a:latin typeface="Times New Roman" panose="02020603050405020304" pitchFamily="18" charset="0"/>
                <a:cs typeface="Times New Roman" panose="02020603050405020304" pitchFamily="18" charset="0"/>
              </a:rPr>
              <a:t>:</a:t>
            </a:r>
          </a:p>
          <a:p>
            <a:pPr defTabSz="914377">
              <a:defRPr/>
            </a:pPr>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A321CEO </a:t>
            </a:r>
            <a:r>
              <a:rPr lang="en-US" sz="1200" dirty="0">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Dự</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kiến</a:t>
            </a:r>
            <a:r>
              <a:rPr lang="en-US" sz="1200" dirty="0">
                <a:solidFill>
                  <a:prstClr val="black"/>
                </a:solidFill>
                <a:latin typeface="Times New Roman" panose="02020603050405020304" pitchFamily="18" charset="0"/>
                <a:cs typeface="Times New Roman" panose="02020603050405020304" pitchFamily="18" charset="0"/>
              </a:rPr>
              <a:t> Q3-Q4/2025 </a:t>
            </a:r>
            <a:r>
              <a:rPr lang="en-US" sz="1200" dirty="0" err="1">
                <a:solidFill>
                  <a:prstClr val="black"/>
                </a:solidFill>
                <a:latin typeface="Times New Roman" panose="02020603050405020304" pitchFamily="18" charset="0"/>
                <a:cs typeface="Times New Roman" panose="02020603050405020304" pitchFamily="18" charset="0"/>
              </a:rPr>
              <a:t>trả</a:t>
            </a:r>
            <a:r>
              <a:rPr lang="en-US" sz="1200" dirty="0">
                <a:solidFill>
                  <a:prstClr val="black"/>
                </a:solidFill>
                <a:latin typeface="Times New Roman" panose="02020603050405020304" pitchFamily="18" charset="0"/>
                <a:cs typeface="Times New Roman" panose="02020603050405020304" pitchFamily="18" charset="0"/>
              </a:rPr>
              <a:t> 3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thuê</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Cần</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duy</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trì</a:t>
            </a:r>
            <a:r>
              <a:rPr lang="en-US" sz="1200" dirty="0">
                <a:solidFill>
                  <a:prstClr val="black"/>
                </a:solidFill>
                <a:latin typeface="Times New Roman" panose="02020603050405020304" pitchFamily="18" charset="0"/>
                <a:cs typeface="Times New Roman" panose="02020603050405020304" pitchFamily="18" charset="0"/>
              </a:rPr>
              <a:t> 9-10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dự</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phòng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trong</a:t>
            </a:r>
            <a:r>
              <a:rPr lang="en-US" sz="1200" dirty="0">
                <a:solidFill>
                  <a:prstClr val="black"/>
                </a:solidFill>
                <a:latin typeface="Times New Roman" panose="02020603050405020304" pitchFamily="18" charset="0"/>
                <a:cs typeface="Times New Roman" panose="02020603050405020304" pitchFamily="18" charset="0"/>
              </a:rPr>
              <a:t> 2026.</a:t>
            </a:r>
          </a:p>
          <a:p>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A321NEO </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Rủi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đi</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muộn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thực</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tế</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đã</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bị</a:t>
            </a:r>
            <a:r>
              <a:rPr lang="en-US" sz="1200" dirty="0">
                <a:latin typeface="Times New Roman" panose="02020603050405020304" pitchFamily="18" charset="0"/>
                <a:cs typeface="Times New Roman" panose="02020603050405020304" pitchFamily="18" charset="0"/>
              </a:rPr>
              <a:t> shop delay </a:t>
            </a:r>
            <a:r>
              <a:rPr lang="en-US" sz="1200" dirty="0" err="1">
                <a:latin typeface="Times New Roman" panose="02020603050405020304" pitchFamily="18" charset="0"/>
                <a:cs typeface="Times New Roman" panose="02020603050405020304" pitchFamily="18" charset="0"/>
              </a:rPr>
              <a:t>nhiều</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lần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rủi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tháo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ngoài</a:t>
            </a:r>
            <a:r>
              <a:rPr lang="en-US" sz="1200" dirty="0">
                <a:latin typeface="Times New Roman" panose="02020603050405020304" pitchFamily="18" charset="0"/>
                <a:cs typeface="Times New Roman" panose="02020603050405020304" pitchFamily="18" charset="0"/>
              </a:rPr>
              <a:t> KH do Vibration, Oil Leak, HPT </a:t>
            </a:r>
            <a:r>
              <a:rPr lang="en-US" sz="1200" dirty="0" err="1">
                <a:latin typeface="Times New Roman" panose="02020603050405020304" pitchFamily="18" charset="0"/>
                <a:cs typeface="Times New Roman" panose="02020603050405020304" pitchFamily="18" charset="0"/>
              </a:rPr>
              <a:t>Balde</a:t>
            </a:r>
            <a:r>
              <a:rPr lang="en-US" sz="1200" dirty="0">
                <a:latin typeface="Times New Roman" panose="02020603050405020304" pitchFamily="18" charset="0"/>
                <a:cs typeface="Times New Roman" panose="02020603050405020304" pitchFamily="18" charset="0"/>
              </a:rPr>
              <a:t>…</a:t>
            </a:r>
            <a:r>
              <a:rPr lang="vi-VN" sz="1200" dirty="0">
                <a:cs typeface="Times New Roman" panose="02020603050405020304" pitchFamily="18" charset="0"/>
              </a:rPr>
              <a:t>08 động cơ đang sửa chữa bị delay nhiều lần từ đầu tháng 12, với tổng ~ 366 days, tương ứng ~ 183 AOG days</a:t>
            </a:r>
            <a:r>
              <a:rPr lang="vi-VN" sz="1200" dirty="0">
                <a:solidFill>
                  <a:srgbClr val="FF0000"/>
                </a:solidFill>
                <a:cs typeface="Times New Roman" panose="02020603050405020304" pitchFamily="18" charset="0"/>
              </a:rPr>
              <a:t>.</a:t>
            </a:r>
            <a:endParaRPr lang="en-US" sz="1200" dirty="0">
              <a:highlight>
                <a:srgbClr val="FFFF00"/>
              </a:highlight>
              <a:latin typeface="Times New Roman" panose="02020603050405020304" pitchFamily="18" charset="0"/>
              <a:cs typeface="Times New Roman" panose="02020603050405020304" pitchFamily="18" charset="0"/>
            </a:endParaRPr>
          </a:p>
          <a:p>
            <a:pPr defTabSz="914377">
              <a:defRPr/>
            </a:pPr>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B787 </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Thực</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tế</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đã</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phải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bổ</a:t>
            </a:r>
            <a:r>
              <a:rPr lang="en-US" sz="1200" dirty="0">
                <a:latin typeface="Times New Roman" panose="02020603050405020304" pitchFamily="18" charset="0"/>
                <a:cs typeface="Times New Roman" panose="02020603050405020304" pitchFamily="18" charset="0"/>
              </a:rPr>
              <a:t> sung 01 ĐC </a:t>
            </a:r>
            <a:r>
              <a:rPr lang="en-US" sz="1200" dirty="0" err="1">
                <a:latin typeface="Times New Roman" panose="02020603050405020304" pitchFamily="18" charset="0"/>
                <a:cs typeface="Times New Roman" panose="02020603050405020304" pitchFamily="18" charset="0"/>
              </a:rPr>
              <a:t>vào</a:t>
            </a:r>
            <a:r>
              <a:rPr lang="en-US" sz="1200" dirty="0">
                <a:latin typeface="Times New Roman" panose="02020603050405020304" pitchFamily="18" charset="0"/>
                <a:cs typeface="Times New Roman" panose="02020603050405020304" pitchFamily="18" charset="0"/>
              </a:rPr>
              <a:t> T4/2025 </a:t>
            </a:r>
            <a:r>
              <a:rPr lang="en-US" sz="1200" dirty="0" err="1">
                <a:latin typeface="Times New Roman" panose="02020603050405020304" pitchFamily="18" charset="0"/>
                <a:cs typeface="Times New Roman" panose="02020603050405020304" pitchFamily="18" charset="0"/>
              </a:rPr>
              <a:t>để</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khai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thác</a:t>
            </a:r>
            <a:r>
              <a:rPr lang="en-US" sz="1200" dirty="0">
                <a:latin typeface="Times New Roman" panose="02020603050405020304" pitchFamily="18" charset="0"/>
                <a:cs typeface="Times New Roman" panose="02020603050405020304" pitchFamily="18" charset="0"/>
              </a:rPr>
              <a:t> A868. </a:t>
            </a:r>
            <a:r>
              <a:rPr lang="en-US" sz="1200" dirty="0" err="1">
                <a:latin typeface="Times New Roman" panose="02020603050405020304" pitchFamily="18" charset="0"/>
                <a:cs typeface="Times New Roman" panose="02020603050405020304" pitchFamily="18" charset="0"/>
              </a:rPr>
              <a:t>Số</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lượng</a:t>
            </a:r>
            <a:r>
              <a:rPr lang="en-US" sz="1200" dirty="0">
                <a:latin typeface="Times New Roman" panose="02020603050405020304" pitchFamily="18" charset="0"/>
                <a:cs typeface="Times New Roman" panose="02020603050405020304" pitchFamily="18" charset="0"/>
              </a:rPr>
              <a:t> ĐCDP </a:t>
            </a:r>
            <a:r>
              <a:rPr lang="en-US" sz="1200" dirty="0" err="1">
                <a:latin typeface="Times New Roman" panose="02020603050405020304" pitchFamily="18" charset="0"/>
                <a:cs typeface="Times New Roman" panose="02020603050405020304" pitchFamily="18" charset="0"/>
              </a:rPr>
              <a:t>hiện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tại</a:t>
            </a:r>
            <a:r>
              <a:rPr lang="en-US" sz="1200" dirty="0">
                <a:latin typeface="Times New Roman" panose="02020603050405020304" pitchFamily="18" charset="0"/>
                <a:cs typeface="Times New Roman" panose="02020603050405020304" pitchFamily="18" charset="0"/>
              </a:rPr>
              <a:t> 10 (ĐC </a:t>
            </a:r>
            <a:r>
              <a:rPr lang="en-US" sz="1200" dirty="0" err="1">
                <a:latin typeface="Times New Roman" panose="02020603050405020304" pitchFamily="18" charset="0"/>
                <a:cs typeface="Times New Roman" panose="02020603050405020304" pitchFamily="18" charset="0"/>
              </a:rPr>
              <a:t>thuê</a:t>
            </a:r>
            <a:r>
              <a:rPr lang="en-US" sz="1200" dirty="0">
                <a:latin typeface="Times New Roman" panose="02020603050405020304" pitchFamily="18" charset="0"/>
                <a:cs typeface="Times New Roman" panose="02020603050405020304" pitchFamily="18" charset="0"/>
              </a:rPr>
              <a:t> 06)</a:t>
            </a:r>
          </a:p>
          <a:p>
            <a:pPr marL="0" lvl="1"/>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A350: </a:t>
            </a:r>
            <a:r>
              <a:rPr lang="en-US" sz="1200" dirty="0">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Rủi</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ro</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tháo</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c</a:t>
            </a:r>
            <a:r>
              <a:rPr lang="vi-VN" sz="1200" dirty="0">
                <a:solidFill>
                  <a:prstClr val="black"/>
                </a:solidFill>
                <a:latin typeface="Times New Roman" panose="02020603050405020304" pitchFamily="18" charset="0"/>
                <a:cs typeface="Times New Roman" panose="02020603050405020304" pitchFamily="18" charset="0"/>
              </a:rPr>
              <a:t>ơ</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ngoài</a:t>
            </a:r>
            <a:r>
              <a:rPr lang="en-US" sz="1200" dirty="0">
                <a:solidFill>
                  <a:prstClr val="black"/>
                </a:solidFill>
                <a:latin typeface="Times New Roman" panose="02020603050405020304" pitchFamily="18" charset="0"/>
                <a:cs typeface="Times New Roman" panose="02020603050405020304" pitchFamily="18" charset="0"/>
              </a:rPr>
              <a:t> KH do High oil consumption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A893), HPT Blade (2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100FC), IPC Blade (3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cần</a:t>
            </a:r>
            <a:r>
              <a:rPr lang="en-US" sz="1200" dirty="0">
                <a:solidFill>
                  <a:prstClr val="black"/>
                </a:solidFill>
                <a:latin typeface="Times New Roman" panose="02020603050405020304" pitchFamily="18" charset="0"/>
                <a:cs typeface="Times New Roman" panose="02020603050405020304" pitchFamily="18" charset="0"/>
              </a:rPr>
              <a:t> soi </a:t>
            </a:r>
            <a:r>
              <a:rPr lang="en-US" sz="1200" dirty="0" err="1">
                <a:solidFill>
                  <a:prstClr val="black"/>
                </a:solidFill>
                <a:latin typeface="Times New Roman" panose="02020603050405020304" pitchFamily="18" charset="0"/>
                <a:cs typeface="Times New Roman" panose="02020603050405020304" pitchFamily="18" charset="0"/>
              </a:rPr>
              <a:t>năm</a:t>
            </a:r>
            <a:r>
              <a:rPr lang="en-US" sz="1200" dirty="0">
                <a:solidFill>
                  <a:prstClr val="black"/>
                </a:solidFill>
                <a:latin typeface="Times New Roman" panose="02020603050405020304" pitchFamily="18" charset="0"/>
                <a:cs typeface="Times New Roman" panose="02020603050405020304" pitchFamily="18" charset="0"/>
              </a:rPr>
              <a:t> 2025)</a:t>
            </a:r>
            <a:endParaRPr lang="en-US" sz="1200" dirty="0">
              <a:latin typeface="Times New Roman" panose="02020603050405020304" pitchFamily="18" charset="0"/>
              <a:cs typeface="Times New Roman" panose="02020603050405020304" pitchFamily="18" charset="0"/>
            </a:endParaRPr>
          </a:p>
          <a:p>
            <a:pPr marL="0" lvl="1"/>
            <a:r>
              <a:rPr lang="en-US" sz="1200" b="1" dirty="0">
                <a:latin typeface="Times New Roman" panose="02020603050405020304" pitchFamily="18" charset="0"/>
                <a:cs typeface="Times New Roman" panose="02020603050405020304" pitchFamily="18" charset="0"/>
              </a:rPr>
              <a:t>*ATR72: </a:t>
            </a:r>
            <a:r>
              <a:rPr lang="vi-VN" sz="1200" dirty="0">
                <a:latin typeface="Times New Roman" panose="02020603050405020304" pitchFamily="18" charset="0"/>
                <a:cs typeface="Times New Roman" panose="02020603050405020304" pitchFamily="18" charset="0"/>
              </a:rPr>
              <a:t>B225</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dùng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ED0214 </a:t>
            </a:r>
            <a:r>
              <a:rPr lang="en-US" sz="1200" dirty="0" err="1">
                <a:latin typeface="Times New Roman" panose="02020603050405020304" pitchFamily="18" charset="0"/>
                <a:cs typeface="Times New Roman" panose="02020603050405020304" pitchFamily="18" charset="0"/>
              </a:rPr>
              <a:t>trong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kho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còn</a:t>
            </a:r>
            <a:r>
              <a:rPr lang="en-US" sz="1200" dirty="0">
                <a:latin typeface="Times New Roman" panose="02020603050405020304" pitchFamily="18" charset="0"/>
                <a:cs typeface="Times New Roman" panose="02020603050405020304" pitchFamily="18" charset="0"/>
              </a:rPr>
              <a:t> 151 FC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ED0241 </a:t>
            </a:r>
            <a:r>
              <a:rPr lang="en-US" sz="1200" dirty="0" err="1">
                <a:latin typeface="Times New Roman" panose="02020603050405020304" pitchFamily="18" charset="0"/>
                <a:cs typeface="Times New Roman" panose="02020603050405020304" pitchFamily="18" charset="0"/>
              </a:rPr>
              <a:t>từ</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giữa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tháng</a:t>
            </a:r>
            <a:r>
              <a:rPr lang="en-US" sz="1200" dirty="0">
                <a:latin typeface="Times New Roman" panose="02020603050405020304" pitchFamily="18" charset="0"/>
                <a:cs typeface="Times New Roman" panose="02020603050405020304" pitchFamily="18" charset="0"/>
              </a:rPr>
              <a:t> 1/25 </a:t>
            </a:r>
            <a:r>
              <a:rPr lang="en-US" sz="1200" dirty="0" err="1">
                <a:latin typeface="Times New Roman" panose="02020603050405020304" pitchFamily="18" charset="0"/>
                <a:cs typeface="Times New Roman" panose="02020603050405020304" pitchFamily="18" charset="0"/>
              </a:rPr>
              <a:t>sẽ</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lấy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ED0181 </a:t>
            </a:r>
            <a:r>
              <a:rPr lang="en-US" sz="1200" dirty="0" err="1">
                <a:latin typeface="Times New Roman" panose="02020603050405020304" pitchFamily="18" charset="0"/>
                <a:cs typeface="Times New Roman" panose="02020603050405020304" pitchFamily="18" charset="0"/>
              </a:rPr>
              <a:t>từ</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thay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cho</a:t>
            </a:r>
            <a:r>
              <a:rPr lang="en-US" sz="1200" dirty="0">
                <a:latin typeface="Times New Roman" panose="02020603050405020304" pitchFamily="18" charset="0"/>
                <a:cs typeface="Times New Roman" panose="02020603050405020304" pitchFamily="18" charset="0"/>
              </a:rPr>
              <a:t> ED0214.</a:t>
            </a:r>
          </a:p>
        </p:txBody>
      </p:sp>
    </p:spTree>
    <p:extLst>
      <p:ext uri="{BB962C8B-B14F-4D97-AF65-F5344CB8AC3E}">
        <p14:creationId xmlns:p14="http://schemas.microsoft.com/office/powerpoint/2010/main" val="39741611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366920A6-6915-5AA0-8C7B-86FFAA7C86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36F650-D34B-32F5-0EFD-8481BE8666F3}"/>
              </a:ext>
            </a:extLst>
          </p:cNvPr>
          <p:cNvSpPr txBox="1"/>
          <p:nvPr/>
        </p:nvSpPr>
        <p:spPr>
          <a:xfrm>
            <a:off x="690253" y="115968"/>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DỰ BÁO AOG </a:t>
            </a:r>
            <a:r>
              <a:rPr lang="en-US" sz="2667" b="1">
                <a:ln w="0"/>
                <a:solidFill>
                  <a:srgbClr val="FBAC00"/>
                </a:solidFill>
                <a:latin typeface="Times New Roman" panose="02020603050405020304" pitchFamily="18" charset="0"/>
                <a:cs typeface="Times New Roman" panose="02020603050405020304" pitchFamily="18" charset="0"/>
              </a:rPr>
              <a:t>A321NEO 2025 </a:t>
            </a:r>
            <a:r>
              <a:rPr lang="en-US" sz="2667" b="1" dirty="0">
                <a:ln w="0"/>
                <a:solidFill>
                  <a:srgbClr val="FBAC00"/>
                </a:solidFill>
                <a:latin typeface="Times New Roman" panose="02020603050405020304" pitchFamily="18" charset="0"/>
                <a:cs typeface="Times New Roman" panose="02020603050405020304" pitchFamily="18" charset="0"/>
              </a:rPr>
              <a:t>DO HPT HUB</a:t>
            </a:r>
          </a:p>
        </p:txBody>
      </p:sp>
      <p:sp>
        <p:nvSpPr>
          <p:cNvPr id="6" name="Rectangle 5">
            <a:extLst>
              <a:ext uri="{FF2B5EF4-FFF2-40B4-BE49-F238E27FC236}">
                <a16:creationId xmlns:a16="http://schemas.microsoft.com/office/drawing/2014/main" id="{F732C424-6503-4AF0-A801-38325F00ECC8}"/>
              </a:ext>
            </a:extLst>
          </p:cNvPr>
          <p:cNvSpPr/>
          <p:nvPr/>
        </p:nvSpPr>
        <p:spPr>
          <a:xfrm>
            <a:off x="228600" y="6077034"/>
            <a:ext cx="11201400" cy="523220"/>
          </a:xfrm>
          <a:prstGeom prst="rect">
            <a:avLst/>
          </a:prstGeom>
          <a:solidFill>
            <a:srgbClr val="FFFF00"/>
          </a:solidFill>
          <a:ln>
            <a:solidFill>
              <a:schemeClr val="accent1"/>
            </a:solidFill>
          </a:ln>
        </p:spPr>
        <p:txBody>
          <a:bodyPr wrap="square">
            <a:spAutoFit/>
          </a:bodyPr>
          <a:lstStyle/>
          <a:p>
            <a:pPr algn="ctr"/>
            <a:r>
              <a:rPr lang="en-US" sz="1400" b="1" dirty="0"/>
              <a:t>PH</a:t>
            </a:r>
            <a:r>
              <a:rPr lang="vi-VN" sz="1400" b="1" dirty="0"/>
              <a:t>Ư</a:t>
            </a:r>
            <a:r>
              <a:rPr lang="en-US" sz="1400" b="1" dirty="0"/>
              <a:t>ƠNG ÁN GIỮ GIỜ</a:t>
            </a:r>
          </a:p>
          <a:p>
            <a:r>
              <a:rPr lang="en-US" sz="1400" dirty="0"/>
              <a:t>-</a:t>
            </a:r>
            <a:r>
              <a:rPr lang="vi-VN" sz="1400" dirty="0"/>
              <a:t>Giữ giờ động cơ P771710</a:t>
            </a:r>
            <a:r>
              <a:rPr lang="en-US" sz="1400" dirty="0"/>
              <a:t> </a:t>
            </a:r>
            <a:r>
              <a:rPr lang="en-US" sz="1400" dirty="0" err="1"/>
              <a:t>trên</a:t>
            </a:r>
            <a:r>
              <a:rPr lang="en-US" sz="1400" dirty="0"/>
              <a:t> A621</a:t>
            </a:r>
            <a:r>
              <a:rPr lang="vi-VN" sz="1400" dirty="0"/>
              <a:t> (hết hạn 05/07) và P772905 </a:t>
            </a:r>
            <a:r>
              <a:rPr lang="en-US" sz="1400" err="1"/>
              <a:t>trên</a:t>
            </a:r>
            <a:r>
              <a:rPr lang="en-US" sz="1400"/>
              <a:t> A619 </a:t>
            </a:r>
            <a:r>
              <a:rPr lang="vi-VN" sz="1400"/>
              <a:t>(</a:t>
            </a:r>
            <a:r>
              <a:rPr lang="en-US" sz="1400" dirty="0" err="1"/>
              <a:t>hết</a:t>
            </a:r>
            <a:r>
              <a:rPr lang="en-US" sz="1400" dirty="0"/>
              <a:t> </a:t>
            </a:r>
            <a:r>
              <a:rPr lang="en-US" sz="1400" dirty="0" err="1"/>
              <a:t>hạn</a:t>
            </a:r>
            <a:r>
              <a:rPr lang="en-US" sz="1400" dirty="0"/>
              <a:t> </a:t>
            </a:r>
            <a:r>
              <a:rPr lang="vi-VN" sz="1400" dirty="0"/>
              <a:t>19/07) sang sau cao điểm hè (15/8) để có thêm 1 tàu từ giữa T7.</a:t>
            </a:r>
            <a:endParaRPr lang="en-US" sz="1400" dirty="0"/>
          </a:p>
        </p:txBody>
      </p:sp>
      <p:graphicFrame>
        <p:nvGraphicFramePr>
          <p:cNvPr id="3" name="Chart 2">
            <a:extLst>
              <a:ext uri="{FF2B5EF4-FFF2-40B4-BE49-F238E27FC236}">
                <a16:creationId xmlns:a16="http://schemas.microsoft.com/office/drawing/2014/main" id="{B6D2BFDC-B8A6-1C6A-1378-381323CC21AE}"/>
              </a:ext>
            </a:extLst>
          </p:cNvPr>
          <p:cNvGraphicFramePr>
            <a:graphicFrameLocks/>
          </p:cNvGraphicFramePr>
          <p:nvPr/>
        </p:nvGraphicFramePr>
        <p:xfrm>
          <a:off x="232458" y="914400"/>
          <a:ext cx="11811000" cy="4978472"/>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1">
            <a:extLst>
              <a:ext uri="{FF2B5EF4-FFF2-40B4-BE49-F238E27FC236}">
                <a16:creationId xmlns:a16="http://schemas.microsoft.com/office/drawing/2014/main" id="{DBA8147F-0EF8-415E-A7D8-99D0ECD639ED}"/>
              </a:ext>
            </a:extLst>
          </p:cNvPr>
          <p:cNvSpPr txBox="1"/>
          <p:nvPr/>
        </p:nvSpPr>
        <p:spPr>
          <a:xfrm>
            <a:off x="1219200" y="4230627"/>
            <a:ext cx="3505182" cy="861774"/>
          </a:xfrm>
          <a:prstGeom prst="rect">
            <a:avLst/>
          </a:prstGeom>
          <a:solidFill>
            <a:srgbClr val="FFFFCC"/>
          </a:solidFill>
          <a:ln>
            <a:solidFill>
              <a:srgbClr val="FFC000"/>
            </a:solidFill>
          </a:ln>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000" b="1">
                <a:solidFill>
                  <a:srgbClr val="FF0000"/>
                </a:solidFill>
                <a:latin typeface="+mj-lt"/>
              </a:rPr>
              <a:t>Update thay đổi:</a:t>
            </a:r>
          </a:p>
          <a:p>
            <a:pPr marL="171450" indent="-171450">
              <a:buFontTx/>
              <a:buChar char="-"/>
            </a:pPr>
            <a:r>
              <a:rPr lang="en-US" sz="1000" b="1">
                <a:solidFill>
                  <a:schemeClr val="tx1"/>
                </a:solidFill>
                <a:latin typeface="+mj-lt"/>
              </a:rPr>
              <a:t>Update 20/04: </a:t>
            </a:r>
            <a:r>
              <a:rPr lang="en-US" sz="1000">
                <a:solidFill>
                  <a:schemeClr val="tx1"/>
                </a:solidFill>
                <a:latin typeface="+mj-lt"/>
              </a:rPr>
              <a:t>nếu A621 phải thay động c</a:t>
            </a:r>
            <a:r>
              <a:rPr lang="vi-VN" sz="1000">
                <a:solidFill>
                  <a:schemeClr val="tx1"/>
                </a:solidFill>
                <a:latin typeface="+mj-lt"/>
              </a:rPr>
              <a:t>ơ</a:t>
            </a:r>
            <a:r>
              <a:rPr lang="en-US" sz="1000">
                <a:solidFill>
                  <a:schemeClr val="tx1"/>
                </a:solidFill>
                <a:latin typeface="+mj-lt"/>
              </a:rPr>
              <a:t> sẽ làm tăng 0,5 AOG vào T5, 7 &amp; 8 (thiếu 1 động c</a:t>
            </a:r>
            <a:r>
              <a:rPr lang="vi-VN" sz="1000">
                <a:solidFill>
                  <a:schemeClr val="tx1"/>
                </a:solidFill>
                <a:latin typeface="+mj-lt"/>
              </a:rPr>
              <a:t>ơ</a:t>
            </a:r>
            <a:r>
              <a:rPr lang="en-US" sz="1000">
                <a:solidFill>
                  <a:schemeClr val="tx1"/>
                </a:solidFill>
                <a:latin typeface="+mj-lt"/>
              </a:rPr>
              <a:t> và ảnh h</a:t>
            </a:r>
            <a:r>
              <a:rPr lang="vi-VN" sz="1000">
                <a:solidFill>
                  <a:schemeClr val="tx1"/>
                </a:solidFill>
                <a:latin typeface="+mj-lt"/>
              </a:rPr>
              <a:t>ư</a:t>
            </a:r>
            <a:r>
              <a:rPr lang="en-US" sz="1000">
                <a:latin typeface="+mj-lt"/>
              </a:rPr>
              <a:t>ởng đến giữ giờ). Cần tính toán sắp xếp lại KH stagger để tối </a:t>
            </a:r>
            <a:r>
              <a:rPr lang="vi-VN" sz="1000">
                <a:latin typeface="+mj-lt"/>
              </a:rPr>
              <a:t>ư</a:t>
            </a:r>
            <a:r>
              <a:rPr lang="en-US" sz="1000">
                <a:latin typeface="+mj-lt"/>
              </a:rPr>
              <a:t>u số tàu dừng.</a:t>
            </a:r>
            <a:endParaRPr lang="en-US" sz="1000" b="1" dirty="0">
              <a:solidFill>
                <a:schemeClr val="tx1"/>
              </a:solidFill>
              <a:latin typeface="+mj-lt"/>
            </a:endParaRPr>
          </a:p>
        </p:txBody>
      </p:sp>
    </p:spTree>
    <p:extLst>
      <p:ext uri="{BB962C8B-B14F-4D97-AF65-F5344CB8AC3E}">
        <p14:creationId xmlns:p14="http://schemas.microsoft.com/office/powerpoint/2010/main" val="9187442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F201DCB-0F48-45FA-23D1-D69FC207E9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7759506-148F-6ED1-3F13-4D127FBBC4FC}"/>
              </a:ext>
            </a:extLst>
          </p:cNvPr>
          <p:cNvSpPr txBox="1"/>
          <p:nvPr/>
        </p:nvSpPr>
        <p:spPr>
          <a:xfrm>
            <a:off x="153472" y="517989"/>
            <a:ext cx="4267200"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Tình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trạng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sửa</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chữa</a:t>
            </a:r>
            <a:endParaRPr lang="en-GB"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1AC2A46E-4E4A-6339-72C3-1800A18927D9}"/>
              </a:ext>
            </a:extLst>
          </p:cNvPr>
          <p:cNvGraphicFramePr>
            <a:graphicFrameLocks noGrp="1"/>
          </p:cNvGraphicFramePr>
          <p:nvPr/>
        </p:nvGraphicFramePr>
        <p:xfrm>
          <a:off x="162461" y="1051467"/>
          <a:ext cx="11867079" cy="5206840"/>
        </p:xfrm>
        <a:graphic>
          <a:graphicData uri="http://schemas.openxmlformats.org/drawingml/2006/table">
            <a:tbl>
              <a:tblPr firstRow="1" bandRow="1">
                <a:tableStyleId>{5C22544A-7EE6-4342-B048-85BDC9FD1C3A}</a:tableStyleId>
              </a:tblPr>
              <a:tblGrid>
                <a:gridCol w="474684">
                  <a:extLst>
                    <a:ext uri="{9D8B030D-6E8A-4147-A177-3AD203B41FA5}">
                      <a16:colId xmlns:a16="http://schemas.microsoft.com/office/drawing/2014/main" val="1598605427"/>
                    </a:ext>
                  </a:extLst>
                </a:gridCol>
                <a:gridCol w="886855">
                  <a:extLst>
                    <a:ext uri="{9D8B030D-6E8A-4147-A177-3AD203B41FA5}">
                      <a16:colId xmlns:a16="http://schemas.microsoft.com/office/drawing/2014/main" val="3845954792"/>
                    </a:ext>
                  </a:extLst>
                </a:gridCol>
                <a:gridCol w="1170104">
                  <a:extLst>
                    <a:ext uri="{9D8B030D-6E8A-4147-A177-3AD203B41FA5}">
                      <a16:colId xmlns:a16="http://schemas.microsoft.com/office/drawing/2014/main" val="2148822928"/>
                    </a:ext>
                  </a:extLst>
                </a:gridCol>
                <a:gridCol w="1265823">
                  <a:extLst>
                    <a:ext uri="{9D8B030D-6E8A-4147-A177-3AD203B41FA5}">
                      <a16:colId xmlns:a16="http://schemas.microsoft.com/office/drawing/2014/main" val="2136763095"/>
                    </a:ext>
                  </a:extLst>
                </a:gridCol>
                <a:gridCol w="1740505">
                  <a:extLst>
                    <a:ext uri="{9D8B030D-6E8A-4147-A177-3AD203B41FA5}">
                      <a16:colId xmlns:a16="http://schemas.microsoft.com/office/drawing/2014/main" val="1185879436"/>
                    </a:ext>
                  </a:extLst>
                </a:gridCol>
                <a:gridCol w="2757768">
                  <a:extLst>
                    <a:ext uri="{9D8B030D-6E8A-4147-A177-3AD203B41FA5}">
                      <a16:colId xmlns:a16="http://schemas.microsoft.com/office/drawing/2014/main" val="3807119371"/>
                    </a:ext>
                  </a:extLst>
                </a:gridCol>
                <a:gridCol w="3571340">
                  <a:extLst>
                    <a:ext uri="{9D8B030D-6E8A-4147-A177-3AD203B41FA5}">
                      <a16:colId xmlns:a16="http://schemas.microsoft.com/office/drawing/2014/main" val="3735753066"/>
                    </a:ext>
                  </a:extLst>
                </a:gridCol>
              </a:tblGrid>
              <a:tr h="450741">
                <a:tc>
                  <a:txBody>
                    <a:bodyPr/>
                    <a:lstStyle/>
                    <a:p>
                      <a:pPr algn="ctr"/>
                      <a:r>
                        <a:rPr lang="en-GB" sz="11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Induction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Dự</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kiến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về</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KH Sử dụng</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460013">
                <a:tc>
                  <a:txBody>
                    <a:bodyPr/>
                    <a:lstStyle/>
                    <a:p>
                      <a:pPr algn="ctr"/>
                      <a:r>
                        <a:rPr lang="en-US"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P770903</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b="0" kern="1200" dirty="0">
                          <a:solidFill>
                            <a:schemeClr val="tx1"/>
                          </a:solidFill>
                          <a:latin typeface="Times New Roman" panose="02020603050405020304" pitchFamily="18" charset="0"/>
                          <a:ea typeface="+mn-ea"/>
                          <a:cs typeface="Times New Roman" panose="02020603050405020304" pitchFamily="18" charset="0"/>
                        </a:rPr>
                        <a:t>18/07/2024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kern="1200">
                          <a:solidFill>
                            <a:srgbClr val="FF0000"/>
                          </a:solidFill>
                          <a:latin typeface="Times New Roman" panose="02020603050405020304" pitchFamily="18" charset="0"/>
                          <a:ea typeface="+mn-ea"/>
                          <a:cs typeface="Times New Roman" panose="02020603050405020304" pitchFamily="18" charset="0"/>
                        </a:rPr>
                        <a:t>10/05/2025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kern="1200" noProof="0">
                          <a:solidFill>
                            <a:schemeClr val="tx1"/>
                          </a:solidFill>
                          <a:latin typeface="Times New Roman" panose="02020603050405020304" pitchFamily="18" charset="0"/>
                          <a:ea typeface="+mn-ea"/>
                          <a:cs typeface="Times New Roman" panose="02020603050405020304" pitchFamily="18" charset="0"/>
                        </a:rPr>
                        <a:t>RTS A501</a:t>
                      </a:r>
                      <a:endParaRPr lang="en-GB" sz="1100" b="0" kern="1200" noProof="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967959161"/>
                  </a:ext>
                </a:extLst>
              </a:tr>
              <a:tr h="552379">
                <a:tc>
                  <a:txBody>
                    <a:bodyPr/>
                    <a:lstStyle/>
                    <a:p>
                      <a:pPr algn="ctr"/>
                      <a:r>
                        <a:rPr lang="en-GB" sz="1100" dirty="0">
                          <a:latin typeface="Times New Roman" panose="02020603050405020304" pitchFamily="18" charset="0"/>
                          <a:cs typeface="Times New Roman" panose="02020603050405020304" pitchFamily="18" charset="0"/>
                        </a:rPr>
                        <a:t>2</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100" dirty="0">
                          <a:solidFill>
                            <a:schemeClr val="tx1"/>
                          </a:solidFill>
                          <a:effectLst/>
                          <a:latin typeface="Times New Roman" panose="02020603050405020304" pitchFamily="18" charset="0"/>
                          <a:cs typeface="Times New Roman" panose="02020603050405020304" pitchFamily="18" charset="0"/>
                        </a:rPr>
                        <a:t>P770904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22/04/2024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a:solidFill>
                            <a:srgbClr val="FF0000"/>
                          </a:solidFill>
                          <a:latin typeface="Times New Roman" panose="02020603050405020304" pitchFamily="18" charset="0"/>
                          <a:cs typeface="Times New Roman" panose="02020603050405020304" pitchFamily="18" charset="0"/>
                        </a:rPr>
                        <a:t>28/04/2025</a:t>
                      </a:r>
                      <a:endParaRPr lang="en-GB" sz="1100" dirty="0">
                        <a:solidFill>
                          <a:srgbClr val="FF0000"/>
                        </a:solidFill>
                        <a:latin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A616</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latin typeface="Times New Roman" panose="02020603050405020304" pitchFamily="18" charset="0"/>
                          <a:cs typeface="Times New Roman" panose="02020603050405020304" pitchFamily="18" charset="0"/>
                        </a:rPr>
                        <a:t>Delay 6 ngày do transportation.</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410844604"/>
                  </a:ext>
                </a:extLst>
              </a:tr>
              <a:tr h="460013">
                <a:tc>
                  <a:txBody>
                    <a:bodyPr/>
                    <a:lstStyle/>
                    <a:p>
                      <a:pPr algn="ctr"/>
                      <a:r>
                        <a:rPr lang="en-US" sz="1100" dirty="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P771130</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25/09/2024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rgbClr val="FF0000"/>
                          </a:solidFill>
                          <a:effectLst/>
                          <a:latin typeface="Times New Roman" panose="02020603050405020304" pitchFamily="18" charset="0"/>
                          <a:ea typeface="+mn-ea"/>
                          <a:cs typeface="Times New Roman" panose="02020603050405020304" pitchFamily="18" charset="0"/>
                        </a:rPr>
                        <a:t>29/04/2025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A616</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latin typeface="Times New Roman" panose="02020603050405020304" pitchFamily="18" charset="0"/>
                          <a:cs typeface="Times New Roman" panose="02020603050405020304" pitchFamily="18" charset="0"/>
                        </a:rPr>
                        <a:t>Delay 3 ngày do transportation</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518084637"/>
                  </a:ext>
                </a:extLst>
              </a:tr>
              <a:tr h="460013">
                <a:tc>
                  <a:txBody>
                    <a:bodyPr/>
                    <a:lstStyle/>
                    <a:p>
                      <a:pPr algn="ctr"/>
                      <a:r>
                        <a:rPr lang="en-GB" sz="1100" dirty="0">
                          <a:latin typeface="Times New Roman" panose="02020603050405020304" pitchFamily="18" charset="0"/>
                          <a:cs typeface="Times New Roman" panose="02020603050405020304" pitchFamily="18" charset="0"/>
                        </a:rPr>
                        <a:t>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P771391</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Inducted</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11/10/2024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25/05/2025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A625</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753673127"/>
                  </a:ext>
                </a:extLst>
              </a:tr>
              <a:tr h="460013">
                <a:tc>
                  <a:txBody>
                    <a:bodyPr/>
                    <a:lstStyle/>
                    <a:p>
                      <a:pPr algn="ctr"/>
                      <a:r>
                        <a:rPr lang="en-GB" sz="1100" dirty="0">
                          <a:latin typeface="Times New Roman" panose="02020603050405020304" pitchFamily="18" charset="0"/>
                          <a:cs typeface="Times New Roman" panose="02020603050405020304" pitchFamily="18" charset="0"/>
                        </a:rPr>
                        <a:t>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P771077</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24/10/2024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23/05/2025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A619#2 ENG CHANGE</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Giữ giờ bay cao điểm hè</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502614763"/>
                  </a:ext>
                </a:extLst>
              </a:tr>
              <a:tr h="460013">
                <a:tc>
                  <a:txBody>
                    <a:bodyPr/>
                    <a:lstStyle/>
                    <a:p>
                      <a:pPr algn="ctr"/>
                      <a:r>
                        <a:rPr lang="en-GB" sz="1100" dirty="0">
                          <a:latin typeface="Times New Roman" panose="02020603050405020304" pitchFamily="18" charset="0"/>
                          <a:cs typeface="Times New Roman" panose="02020603050405020304" pitchFamily="18" charset="0"/>
                        </a:rPr>
                        <a:t>6</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P771387</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05/11/2024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29/05/2025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 A625</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dirty="0">
                          <a:solidFill>
                            <a:schemeClr val="tx1"/>
                          </a:solidFill>
                          <a:effectLst/>
                          <a:latin typeface="Times New Roman" panose="02020603050405020304" pitchFamily="18" charset="0"/>
                          <a:ea typeface="+mn-ea"/>
                          <a:cs typeface="Times New Roman" panose="02020603050405020304" pitchFamily="18" charset="0"/>
                        </a:rPr>
                        <a:t>Target build ~4280 FC do HPT Hub not affected by AD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991877321"/>
                  </a:ext>
                </a:extLst>
              </a:tr>
              <a:tr h="460013">
                <a:tc>
                  <a:txBody>
                    <a:bodyPr/>
                    <a:lstStyle/>
                    <a:p>
                      <a:pPr algn="ctr"/>
                      <a:r>
                        <a:rPr lang="en-GB" sz="1100">
                          <a:latin typeface="Times New Roman" panose="02020603050405020304" pitchFamily="18" charset="0"/>
                          <a:cs typeface="Times New Roman" panose="02020603050405020304" pitchFamily="18" charset="0"/>
                        </a:rPr>
                        <a:t>7</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P771373</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20/02/2025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29/08/2025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06751762"/>
                  </a:ext>
                </a:extLst>
              </a:tr>
              <a:tr h="52361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P771041</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19/03/2025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12/06/2025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WSC QT</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179968567"/>
                  </a:ext>
                </a:extLst>
              </a:tr>
              <a:tr h="460013">
                <a:tc>
                  <a:txBody>
                    <a:bodyPr/>
                    <a:lstStyle/>
                    <a:p>
                      <a:pPr algn="ctr"/>
                      <a:r>
                        <a:rPr lang="en-GB" sz="1100">
                          <a:solidFill>
                            <a:schemeClr val="tx1"/>
                          </a:solidFill>
                          <a:latin typeface="Times New Roman" panose="02020603050405020304" pitchFamily="18" charset="0"/>
                          <a:cs typeface="Times New Roman" panose="02020603050405020304" pitchFamily="18" charset="0"/>
                        </a:rPr>
                        <a:t> 9</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P771423</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15/04/2025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09/07/2025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692465008"/>
                  </a:ext>
                </a:extLst>
              </a:tr>
              <a:tr h="460013">
                <a:tc>
                  <a:txBody>
                    <a:bodyPr/>
                    <a:lstStyle/>
                    <a:p>
                      <a:pPr algn="ctr"/>
                      <a:r>
                        <a:rPr lang="en-GB" sz="1100">
                          <a:solidFill>
                            <a:schemeClr val="tx1"/>
                          </a:solidFill>
                          <a:latin typeface="Times New Roman" panose="02020603050405020304" pitchFamily="18" charset="0"/>
                          <a:cs typeface="Times New Roman" panose="02020603050405020304" pitchFamily="18" charset="0"/>
                        </a:rPr>
                        <a:t>10</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P771079</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Not 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16/05/2025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22/12/2025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4518812"/>
                  </a:ext>
                </a:extLst>
              </a:tr>
            </a:tbl>
          </a:graphicData>
        </a:graphic>
      </p:graphicFrame>
      <p:sp>
        <p:nvSpPr>
          <p:cNvPr id="4" name="TextBox 3">
            <a:extLst>
              <a:ext uri="{FF2B5EF4-FFF2-40B4-BE49-F238E27FC236}">
                <a16:creationId xmlns:a16="http://schemas.microsoft.com/office/drawing/2014/main" id="{8E657E58-C6AA-4957-1D5D-8F4F96FE5488}"/>
              </a:ext>
            </a:extLst>
          </p:cNvPr>
          <p:cNvSpPr txBox="1"/>
          <p:nvPr/>
        </p:nvSpPr>
        <p:spPr>
          <a:xfrm>
            <a:off x="153473" y="103041"/>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ĐỘNG CƠ ĐỘI BAY A321NEO</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84000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566C40-78C1-9EC0-1727-A8DD49C3FD9B}"/>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16" name="TextBox 15">
            <a:extLst>
              <a:ext uri="{FF2B5EF4-FFF2-40B4-BE49-F238E27FC236}">
                <a16:creationId xmlns:a16="http://schemas.microsoft.com/office/drawing/2014/main" id="{A2528A14-5474-03B4-BF8A-AFDB59E54730}"/>
              </a:ext>
            </a:extLst>
          </p:cNvPr>
          <p:cNvSpPr txBox="1"/>
          <p:nvPr/>
        </p:nvSpPr>
        <p:spPr>
          <a:xfrm>
            <a:off x="0" y="431801"/>
            <a:ext cx="7890933" cy="461665"/>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Kế</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hoạch</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thay</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c</a:t>
            </a:r>
            <a:r>
              <a:rPr kumimoji="0" lang="vi-VN"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ơ</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A321NEO T4/25</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7" name="TextBox 16">
            <a:extLst>
              <a:ext uri="{FF2B5EF4-FFF2-40B4-BE49-F238E27FC236}">
                <a16:creationId xmlns:a16="http://schemas.microsoft.com/office/drawing/2014/main" id="{FF648BE0-3FB3-B153-2A56-6AAF25C6C6E2}"/>
              </a:ext>
            </a:extLst>
          </p:cNvPr>
          <p:cNvSpPr txBox="1"/>
          <p:nvPr/>
        </p:nvSpPr>
        <p:spPr>
          <a:xfrm>
            <a:off x="1" y="-5952"/>
            <a:ext cx="9584267"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ĐỘI BAY A321NEO</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8" name="Table 2">
            <a:extLst>
              <a:ext uri="{FF2B5EF4-FFF2-40B4-BE49-F238E27FC236}">
                <a16:creationId xmlns:a16="http://schemas.microsoft.com/office/drawing/2014/main" id="{6F2FE8BC-4850-BD1B-EABA-12CA92CD86BA}"/>
              </a:ext>
            </a:extLst>
          </p:cNvPr>
          <p:cNvGraphicFramePr>
            <a:graphicFrameLocks noGrp="1"/>
          </p:cNvGraphicFramePr>
          <p:nvPr/>
        </p:nvGraphicFramePr>
        <p:xfrm>
          <a:off x="163789" y="1032931"/>
          <a:ext cx="11864421" cy="5393270"/>
        </p:xfrm>
        <a:graphic>
          <a:graphicData uri="http://schemas.openxmlformats.org/drawingml/2006/table">
            <a:tbl>
              <a:tblPr firstRow="1" bandRow="1">
                <a:tableStyleId>{5C22544A-7EE6-4342-B048-85BDC9FD1C3A}</a:tableStyleId>
              </a:tblPr>
              <a:tblGrid>
                <a:gridCol w="518103">
                  <a:extLst>
                    <a:ext uri="{9D8B030D-6E8A-4147-A177-3AD203B41FA5}">
                      <a16:colId xmlns:a16="http://schemas.microsoft.com/office/drawing/2014/main" val="1598605427"/>
                    </a:ext>
                  </a:extLst>
                </a:gridCol>
                <a:gridCol w="1162593">
                  <a:extLst>
                    <a:ext uri="{9D8B030D-6E8A-4147-A177-3AD203B41FA5}">
                      <a16:colId xmlns:a16="http://schemas.microsoft.com/office/drawing/2014/main" val="3845954792"/>
                    </a:ext>
                  </a:extLst>
                </a:gridCol>
                <a:gridCol w="1190421">
                  <a:extLst>
                    <a:ext uri="{9D8B030D-6E8A-4147-A177-3AD203B41FA5}">
                      <a16:colId xmlns:a16="http://schemas.microsoft.com/office/drawing/2014/main" val="2148822928"/>
                    </a:ext>
                  </a:extLst>
                </a:gridCol>
                <a:gridCol w="1190421">
                  <a:extLst>
                    <a:ext uri="{9D8B030D-6E8A-4147-A177-3AD203B41FA5}">
                      <a16:colId xmlns:a16="http://schemas.microsoft.com/office/drawing/2014/main" val="2136763095"/>
                    </a:ext>
                  </a:extLst>
                </a:gridCol>
                <a:gridCol w="1190421">
                  <a:extLst>
                    <a:ext uri="{9D8B030D-6E8A-4147-A177-3AD203B41FA5}">
                      <a16:colId xmlns:a16="http://schemas.microsoft.com/office/drawing/2014/main" val="4058157000"/>
                    </a:ext>
                  </a:extLst>
                </a:gridCol>
                <a:gridCol w="1190421">
                  <a:extLst>
                    <a:ext uri="{9D8B030D-6E8A-4147-A177-3AD203B41FA5}">
                      <a16:colId xmlns:a16="http://schemas.microsoft.com/office/drawing/2014/main" val="1185879436"/>
                    </a:ext>
                  </a:extLst>
                </a:gridCol>
                <a:gridCol w="1190421">
                  <a:extLst>
                    <a:ext uri="{9D8B030D-6E8A-4147-A177-3AD203B41FA5}">
                      <a16:colId xmlns:a16="http://schemas.microsoft.com/office/drawing/2014/main" val="3807119371"/>
                    </a:ext>
                  </a:extLst>
                </a:gridCol>
                <a:gridCol w="890210">
                  <a:extLst>
                    <a:ext uri="{9D8B030D-6E8A-4147-A177-3AD203B41FA5}">
                      <a16:colId xmlns:a16="http://schemas.microsoft.com/office/drawing/2014/main" val="2251645117"/>
                    </a:ext>
                  </a:extLst>
                </a:gridCol>
                <a:gridCol w="3341410">
                  <a:extLst>
                    <a:ext uri="{9D8B030D-6E8A-4147-A177-3AD203B41FA5}">
                      <a16:colId xmlns:a16="http://schemas.microsoft.com/office/drawing/2014/main" val="3735753066"/>
                    </a:ext>
                  </a:extLst>
                </a:gridCol>
              </a:tblGrid>
              <a:tr h="614315">
                <a:tc>
                  <a:txBody>
                    <a:bodyPr/>
                    <a:lstStyle/>
                    <a:p>
                      <a:pPr algn="ctr"/>
                      <a:r>
                        <a:rPr lang="en-GB" sz="12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Times New Roman" panose="02020603050405020304" pitchFamily="18" charset="0"/>
                          <a:cs typeface="Times New Roman" panose="02020603050405020304" pitchFamily="18" charset="0"/>
                        </a:rPr>
                        <a:t>ESN OFF</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ESN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Remove from</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dirty="0">
                          <a:solidFill>
                            <a:schemeClr val="lt1"/>
                          </a:solidFill>
                          <a:latin typeface="Times New Roman" panose="02020603050405020304" pitchFamily="18" charset="0"/>
                          <a:ea typeface="+mn-ea"/>
                          <a:cs typeface="Times New Roman" panose="02020603050405020304" pitchFamily="18" charset="0"/>
                        </a:rPr>
                        <a:t>Removal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Shopvisit</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200">
                          <a:latin typeface="Times New Roman" panose="02020603050405020304" pitchFamily="18" charset="0"/>
                          <a:cs typeface="Times New Roman" panose="02020603050405020304" pitchFamily="18" charset="0"/>
                        </a:rPr>
                        <a:t>Remark</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530995">
                <a:tc>
                  <a:txBody>
                    <a:bodyPr/>
                    <a:lstStyle/>
                    <a:p>
                      <a:pPr algn="ctr"/>
                      <a:r>
                        <a:rPr lang="en-US"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P7709</a:t>
                      </a:r>
                      <a:r>
                        <a:rPr lang="en-US" sz="1200" b="0" i="0" u="none" strike="noStrike" kern="1200">
                          <a:solidFill>
                            <a:schemeClr val="tx1"/>
                          </a:solidFill>
                          <a:effectLst/>
                          <a:latin typeface="Calibri" panose="020F0502020204030204" pitchFamily="34" charset="0"/>
                          <a:ea typeface="+mn-ea"/>
                          <a:cs typeface="+mn-cs"/>
                          <a:sym typeface="Arial"/>
                        </a:rPr>
                        <a:t>94</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A503#1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10-Apr-25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Install U/S engine P770994 in HAN to perform check, release stand and run-up 7 day interval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4390368"/>
                  </a:ext>
                </a:extLst>
              </a:tr>
              <a:tr h="530995">
                <a:tc>
                  <a:txBody>
                    <a:bodyPr/>
                    <a:lstStyle/>
                    <a:p>
                      <a:pPr algn="ctr"/>
                      <a:r>
                        <a:rPr lang="en-GB" sz="1100" dirty="0">
                          <a:latin typeface="Times New Roman" panose="02020603050405020304" pitchFamily="18" charset="0"/>
                          <a:cs typeface="Times New Roman" panose="02020603050405020304" pitchFamily="18" charset="0"/>
                        </a:rPr>
                        <a:t>2</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a:t>
                      </a:r>
                      <a:r>
                        <a:rPr lang="en-US" sz="1200" b="0" i="0" u="none" strike="noStrike" kern="1200">
                          <a:solidFill>
                            <a:schemeClr val="tx1"/>
                          </a:solidFill>
                          <a:effectLst/>
                          <a:latin typeface="Calibri" panose="020F0502020204030204" pitchFamily="34" charset="0"/>
                          <a:ea typeface="+mn-ea"/>
                          <a:cs typeface="+mn-cs"/>
                          <a:sym typeface="Arial"/>
                        </a:rPr>
                        <a:t>1022</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A503#2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10-Apr-25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Install U/S engine P770994 in HAN to perform check, release stand and run-up 7 day interval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3539945"/>
                  </a:ext>
                </a:extLst>
              </a:tr>
              <a:tr h="530995">
                <a:tc>
                  <a:txBody>
                    <a:bodyPr/>
                    <a:lstStyle/>
                    <a:p>
                      <a:pPr algn="ctr"/>
                      <a:r>
                        <a:rPr lang="en-US" sz="1100" dirty="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P770904</a:t>
                      </a: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A616#2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28-Apr-25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200" b="0" i="0" u="none" strike="noStrike" kern="1200" noProof="0">
                          <a:solidFill>
                            <a:schemeClr val="tx1"/>
                          </a:solidFill>
                          <a:effectLst/>
                          <a:latin typeface="Calibri" panose="020F0502020204030204" pitchFamily="34" charset="0"/>
                          <a:ea typeface="+mn-ea"/>
                          <a:cs typeface="+mn-cs"/>
                          <a:sym typeface="Arial"/>
                        </a:rPr>
                        <a:t>ENG </a:t>
                      </a:r>
                      <a:r>
                        <a:rPr lang="en-US" sz="1200" b="0" i="0" u="none" strike="noStrike" kern="1200" noProof="0">
                          <a:solidFill>
                            <a:schemeClr val="tx1"/>
                          </a:solidFill>
                          <a:effectLst/>
                          <a:latin typeface="Calibri" panose="020F0502020204030204" pitchFamily="34" charset="0"/>
                          <a:ea typeface="+mn-ea"/>
                          <a:cs typeface="+mn-cs"/>
                          <a:sym typeface="Arial"/>
                        </a:rPr>
                        <a:t>INSTALL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1868498"/>
                  </a:ext>
                </a:extLst>
              </a:tr>
              <a:tr h="530995">
                <a:tc>
                  <a:txBody>
                    <a:bodyPr/>
                    <a:lstStyle/>
                    <a:p>
                      <a:pPr algn="ctr"/>
                      <a:r>
                        <a:rPr lang="en-GB" sz="1100" dirty="0">
                          <a:latin typeface="Times New Roman" panose="02020603050405020304" pitchFamily="18" charset="0"/>
                          <a:cs typeface="Times New Roman" panose="02020603050405020304" pitchFamily="18" charset="0"/>
                        </a:rPr>
                        <a:t>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a:t>
                      </a:r>
                      <a:r>
                        <a:rPr lang="en-US" sz="1200" b="0" i="0" u="none" strike="noStrike" kern="1200">
                          <a:solidFill>
                            <a:schemeClr val="tx1"/>
                          </a:solidFill>
                          <a:effectLst/>
                          <a:latin typeface="Calibri" panose="020F0502020204030204" pitchFamily="34" charset="0"/>
                          <a:ea typeface="+mn-ea"/>
                          <a:cs typeface="+mn-cs"/>
                          <a:sym typeface="Arial"/>
                        </a:rPr>
                        <a:t>1130</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A616#1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29-Apr-25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200" b="0" i="0" u="none" strike="noStrike" kern="1200" noProof="0">
                          <a:solidFill>
                            <a:schemeClr val="tx1"/>
                          </a:solidFill>
                          <a:effectLst/>
                          <a:latin typeface="Calibri" panose="020F0502020204030204" pitchFamily="34" charset="0"/>
                          <a:ea typeface="+mn-ea"/>
                          <a:cs typeface="+mn-cs"/>
                          <a:sym typeface="Arial"/>
                        </a:rPr>
                        <a:t>ENG </a:t>
                      </a:r>
                      <a:r>
                        <a:rPr lang="en-US" sz="1200" b="0" i="0" u="none" strike="noStrike" kern="1200" noProof="0">
                          <a:solidFill>
                            <a:schemeClr val="tx1"/>
                          </a:solidFill>
                          <a:effectLst/>
                          <a:latin typeface="Calibri" panose="020F0502020204030204" pitchFamily="34" charset="0"/>
                          <a:ea typeface="+mn-ea"/>
                          <a:cs typeface="+mn-cs"/>
                          <a:sym typeface="Arial"/>
                        </a:rPr>
                        <a:t>INSTALL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2485768"/>
                  </a:ext>
                </a:extLst>
              </a:tr>
              <a:tr h="530995">
                <a:tc>
                  <a:txBody>
                    <a:bodyPr/>
                    <a:lstStyle/>
                    <a:p>
                      <a:pPr algn="ctr"/>
                      <a:r>
                        <a:rPr lang="en-GB" sz="1100" dirty="0">
                          <a:latin typeface="Times New Roman" panose="02020603050405020304" pitchFamily="18" charset="0"/>
                          <a:cs typeface="Times New Roman" panose="02020603050405020304" pitchFamily="18" charset="0"/>
                        </a:rPr>
                        <a:t>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a:t>
                      </a:r>
                      <a:r>
                        <a:rPr lang="en-US" sz="1200" b="0" i="0" u="none" strike="noStrike" kern="1200">
                          <a:solidFill>
                            <a:schemeClr val="tx1"/>
                          </a:solidFill>
                          <a:effectLst/>
                          <a:latin typeface="Calibri" panose="020F0502020204030204" pitchFamily="34" charset="0"/>
                          <a:ea typeface="+mn-ea"/>
                          <a:cs typeface="+mn-cs"/>
                          <a:sym typeface="Arial"/>
                        </a:rPr>
                        <a:t>1710</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1-Apr-25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3-Apr-25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2644935"/>
                  </a:ext>
                </a:extLst>
              </a:tr>
              <a:tr h="530995">
                <a:tc>
                  <a:txBody>
                    <a:bodyPr/>
                    <a:lstStyle/>
                    <a:p>
                      <a:pPr algn="ctr"/>
                      <a:r>
                        <a:rPr lang="en-GB" sz="1100" dirty="0">
                          <a:latin typeface="Times New Roman" panose="02020603050405020304" pitchFamily="18" charset="0"/>
                          <a:cs typeface="Times New Roman" panose="02020603050405020304" pitchFamily="18" charset="0"/>
                        </a:rPr>
                        <a:t>6</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P771131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a:t>
                      </a:r>
                      <a:r>
                        <a:rPr lang="en-US" sz="1200" b="0" i="0" u="none" strike="noStrike" kern="1200">
                          <a:solidFill>
                            <a:schemeClr val="tx1"/>
                          </a:solidFill>
                          <a:effectLst/>
                          <a:latin typeface="Calibri" panose="020F0502020204030204" pitchFamily="34" charset="0"/>
                          <a:ea typeface="+mn-ea"/>
                          <a:cs typeface="+mn-cs"/>
                          <a:sym typeface="Arial"/>
                        </a:rPr>
                        <a:t>0903</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9-May-25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11-May-25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1236811"/>
                  </a:ext>
                </a:extLst>
              </a:tr>
              <a:tr h="530995">
                <a:tc>
                  <a:txBody>
                    <a:bodyPr/>
                    <a:lstStyle/>
                    <a:p>
                      <a:pPr algn="ctr"/>
                      <a:r>
                        <a:rPr lang="en-GB" sz="1100">
                          <a:latin typeface="Times New Roman" panose="02020603050405020304" pitchFamily="18" charset="0"/>
                          <a:cs typeface="Times New Roman" panose="02020603050405020304" pitchFamily="18" charset="0"/>
                        </a:rPr>
                        <a:t>7</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P771177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P771110</a:t>
                      </a: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A622#1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A622#1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3-Apr-25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5-Apr-25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a:t>
                      </a:r>
                      <a:endParaRPr lang="en-GB" sz="1200" b="0" i="0" u="none" strike="noStrike" kern="1200" noProof="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5520155"/>
                  </a:ext>
                </a:extLst>
              </a:tr>
              <a:tr h="530995">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P771131</a:t>
                      </a: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rPr>
                        <a:t>A623#2</a:t>
                      </a: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7-May-25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INSTALLATION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1110417"/>
                  </a:ext>
                </a:extLst>
              </a:tr>
              <a:tr h="530995">
                <a:tc>
                  <a:txBody>
                    <a:bodyPr/>
                    <a:lstStyle/>
                    <a:p>
                      <a:pPr algn="ctr"/>
                      <a:r>
                        <a:rPr lang="en-GB" sz="1100">
                          <a:solidFill>
                            <a:schemeClr val="tx1"/>
                          </a:solidFill>
                          <a:latin typeface="Times New Roman" panose="02020603050405020304" pitchFamily="18" charset="0"/>
                          <a:cs typeface="Times New Roman" panose="02020603050405020304" pitchFamily="18" charset="0"/>
                        </a:rPr>
                        <a:t> 9</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P771079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P771177</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A617#1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rPr>
                        <a:t>A617#1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15-Apr-25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rPr>
                        <a:t>16-Apr-25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69115696"/>
                  </a:ext>
                </a:extLst>
              </a:tr>
            </a:tbl>
          </a:graphicData>
        </a:graphic>
      </p:graphicFrame>
    </p:spTree>
    <p:extLst>
      <p:ext uri="{BB962C8B-B14F-4D97-AF65-F5344CB8AC3E}">
        <p14:creationId xmlns:p14="http://schemas.microsoft.com/office/powerpoint/2010/main" val="34412577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AF8DC-DB52-2B80-A0CB-44CC8F1F6223}"/>
              </a:ext>
            </a:extLst>
          </p:cNvPr>
          <p:cNvSpPr>
            <a:spLocks noGrp="1"/>
          </p:cNvSpPr>
          <p:nvPr>
            <p:ph type="sldNum" idx="12"/>
          </p:nvPr>
        </p:nvSpPr>
        <p:spPr/>
        <p:txBody>
          <a:bodyPr/>
          <a:lstStyle/>
          <a:p>
            <a:fld id="{00000000-1234-1234-1234-123412341234}" type="slidenum">
              <a:rPr lang="vi" smtClean="0"/>
              <a:pPr/>
              <a:t>37</a:t>
            </a:fld>
            <a:endParaRPr lang="vi"/>
          </a:p>
        </p:txBody>
      </p:sp>
      <p:sp>
        <p:nvSpPr>
          <p:cNvPr id="4" name="TextBox 3">
            <a:extLst>
              <a:ext uri="{FF2B5EF4-FFF2-40B4-BE49-F238E27FC236}">
                <a16:creationId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algn="ctr"/>
            <a:r>
              <a:rPr lang="en-US" sz="2400" b="1" dirty="0">
                <a:solidFill>
                  <a:srgbClr val="DAA600"/>
                </a:solidFill>
                <a:latin typeface="Times New Roman" panose="02020603050405020304" pitchFamily="18" charset="0"/>
                <a:cs typeface="Times New Roman" panose="02020603050405020304" pitchFamily="18" charset="0"/>
              </a:rPr>
              <a:t>ĐỘI BAY A321CEO</a:t>
            </a:r>
            <a:endParaRPr lang="en-GB" sz="2400" b="1" dirty="0">
              <a:solidFill>
                <a:srgbClr val="DAA600"/>
              </a:solidFill>
              <a:latin typeface="Times New Roman" panose="02020603050405020304" pitchFamily="18" charset="0"/>
              <a:cs typeface="Times New Roman" panose="02020603050405020304" pitchFamily="18" charset="0"/>
            </a:endParaRPr>
          </a:p>
        </p:txBody>
      </p:sp>
      <p:graphicFrame>
        <p:nvGraphicFramePr>
          <p:cNvPr id="7" name="Table 2">
            <a:extLst>
              <a:ext uri="{FF2B5EF4-FFF2-40B4-BE49-F238E27FC236}">
                <a16:creationId xmlns:a16="http://schemas.microsoft.com/office/drawing/2014/main" id="{7BBB0B2C-0AB6-AE2A-F08B-65F49223079D}"/>
              </a:ext>
            </a:extLst>
          </p:cNvPr>
          <p:cNvGraphicFramePr>
            <a:graphicFrameLocks noGrp="1"/>
          </p:cNvGraphicFramePr>
          <p:nvPr/>
        </p:nvGraphicFramePr>
        <p:xfrm>
          <a:off x="185138" y="1041725"/>
          <a:ext cx="5339361" cy="3638990"/>
        </p:xfrm>
        <a:graphic>
          <a:graphicData uri="http://schemas.openxmlformats.org/drawingml/2006/table">
            <a:tbl>
              <a:tblPr firstRow="1" bandRow="1">
                <a:tableStyleId>{5C22544A-7EE6-4342-B048-85BDC9FD1C3A}</a:tableStyleId>
              </a:tblPr>
              <a:tblGrid>
                <a:gridCol w="430883">
                  <a:extLst>
                    <a:ext uri="{9D8B030D-6E8A-4147-A177-3AD203B41FA5}">
                      <a16:colId xmlns:a16="http://schemas.microsoft.com/office/drawing/2014/main" val="1598605427"/>
                    </a:ext>
                  </a:extLst>
                </a:gridCol>
                <a:gridCol w="701211">
                  <a:extLst>
                    <a:ext uri="{9D8B030D-6E8A-4147-A177-3AD203B41FA5}">
                      <a16:colId xmlns:a16="http://schemas.microsoft.com/office/drawing/2014/main" val="3845954792"/>
                    </a:ext>
                  </a:extLst>
                </a:gridCol>
                <a:gridCol w="1023768">
                  <a:extLst>
                    <a:ext uri="{9D8B030D-6E8A-4147-A177-3AD203B41FA5}">
                      <a16:colId xmlns:a16="http://schemas.microsoft.com/office/drawing/2014/main" val="2148822928"/>
                    </a:ext>
                  </a:extLst>
                </a:gridCol>
                <a:gridCol w="872619">
                  <a:extLst>
                    <a:ext uri="{9D8B030D-6E8A-4147-A177-3AD203B41FA5}">
                      <a16:colId xmlns:a16="http://schemas.microsoft.com/office/drawing/2014/main" val="1185879436"/>
                    </a:ext>
                  </a:extLst>
                </a:gridCol>
                <a:gridCol w="2310880">
                  <a:extLst>
                    <a:ext uri="{9D8B030D-6E8A-4147-A177-3AD203B41FA5}">
                      <a16:colId xmlns:a16="http://schemas.microsoft.com/office/drawing/2014/main" val="3328294324"/>
                    </a:ext>
                  </a:extLst>
                </a:gridCol>
              </a:tblGrid>
              <a:tr h="259882">
                <a:tc>
                  <a:txBody>
                    <a:bodyPr/>
                    <a:lstStyle/>
                    <a:p>
                      <a:pPr algn="ct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Ngày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xong</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SGN SERV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28/01/2024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4237589"/>
                  </a:ext>
                </a:extLst>
              </a:tr>
              <a:tr h="173734">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2</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V16338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02/05/2025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09/05/2025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4525903"/>
                  </a:ext>
                </a:extLst>
              </a:tr>
              <a:tr h="259882">
                <a:tc>
                  <a:txBody>
                    <a:bodyPr/>
                    <a:lstStyle/>
                    <a:p>
                      <a:pPr algn="ctr"/>
                      <a:r>
                        <a:rPr lang="en-US" sz="1100" dirty="0">
                          <a:solidFill>
                            <a:srgbClr val="FF0000"/>
                          </a:solidFill>
                          <a:latin typeface="Times New Roman" panose="02020603050405020304" pitchFamily="18" charset="0"/>
                          <a:cs typeface="Times New Roman" panose="02020603050405020304" pitchFamily="18" charset="0"/>
                        </a:rPr>
                        <a:t>3</a:t>
                      </a:r>
                      <a:endParaRPr lang="en-GB" sz="11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V16692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13/05/2025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22/05/2025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19/05)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5220057"/>
                  </a:ext>
                </a:extLst>
              </a:tr>
              <a:tr h="259882">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V12505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SGN SERV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24/03/2025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err="1">
                          <a:solidFill>
                            <a:srgbClr val="FF0000"/>
                          </a:solidFill>
                          <a:latin typeface="Times New Roman" panose="02020603050405020304" pitchFamily="18" charset="0"/>
                          <a:cs typeface="Times New Roman" panose="02020603050405020304" pitchFamily="18" charset="0"/>
                        </a:rPr>
                        <a:t>Đã</a:t>
                      </a:r>
                      <a:r>
                        <a:rPr lang="en-GB" sz="1100" dirty="0">
                          <a:solidFill>
                            <a:srgbClr val="FF0000"/>
                          </a:solidFill>
                          <a:latin typeface="Times New Roman" panose="02020603050405020304" pitchFamily="18" charset="0"/>
                          <a:cs typeface="Times New Roman" panose="02020603050405020304" pitchFamily="18" charset="0"/>
                        </a:rPr>
                        <a:t> </a:t>
                      </a:r>
                      <a:r>
                        <a:rPr lang="en-GB" sz="1100" dirty="0" err="1">
                          <a:solidFill>
                            <a:srgbClr val="FF0000"/>
                          </a:solidFill>
                          <a:latin typeface="Times New Roman" panose="02020603050405020304" pitchFamily="18" charset="0"/>
                          <a:cs typeface="Times New Roman" panose="02020603050405020304" pitchFamily="18" charset="0"/>
                        </a:rPr>
                        <a:t>giao</a:t>
                      </a:r>
                      <a:r>
                        <a:rPr lang="en-GB" sz="1100" dirty="0">
                          <a:solidFill>
                            <a:srgbClr val="FF0000"/>
                          </a:solidFill>
                          <a:latin typeface="Times New Roman" panose="02020603050405020304" pitchFamily="18" charset="0"/>
                          <a:cs typeface="Times New Roman" panose="02020603050405020304" pitchFamily="18" charset="0"/>
                        </a:rPr>
                        <a:t> </a:t>
                      </a:r>
                      <a:r>
                        <a:rPr lang="en-GB" sz="1100" dirty="0" err="1">
                          <a:solidFill>
                            <a:srgbClr val="FF0000"/>
                          </a:solidFill>
                          <a:latin typeface="Times New Roman" panose="02020603050405020304" pitchFamily="18" charset="0"/>
                          <a:cs typeface="Times New Roman" panose="02020603050405020304" pitchFamily="18" charset="0"/>
                        </a:rPr>
                        <a:t>Vaeco</a:t>
                      </a:r>
                      <a:r>
                        <a:rPr lang="en-GB" sz="1100" dirty="0">
                          <a:solidFill>
                            <a:srgbClr val="FF0000"/>
                          </a:solidFill>
                          <a:latin typeface="Times New Roman" panose="02020603050405020304" pitchFamily="18" charset="0"/>
                          <a:cs typeface="Times New Roman" panose="02020603050405020304" pitchFamily="18" charset="0"/>
                        </a:rPr>
                        <a:t> SGN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26/05/2025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11/06/2025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V16799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10/06/2025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17/06/2025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28/07/2025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09/08/2025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26533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20/07/2025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27/07/2025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30/07/2025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06/08/2025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7"/>
                  </a:ext>
                </a:extLst>
              </a:tr>
              <a:tr h="19699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V17403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07/05/2025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14/05/2025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8"/>
                  </a:ext>
                </a:extLst>
              </a:tr>
              <a:tr h="19892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V11696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25/04 induct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0"/>
                  </a:ext>
                </a:extLst>
              </a:tr>
              <a:tr h="245444">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 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1"/>
                  </a:ext>
                </a:extLst>
              </a:tr>
              <a:tr h="1565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V16582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SGN 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2"/>
                  </a:ext>
                </a:extLst>
              </a:tr>
            </a:tbl>
          </a:graphicData>
        </a:graphic>
      </p:graphicFrame>
      <p:sp>
        <p:nvSpPr>
          <p:cNvPr id="10" name="TextBox 9">
            <a:extLst>
              <a:ext uri="{FF2B5EF4-FFF2-40B4-BE49-F238E27FC236}">
                <a16:creationId xmlns:a16="http://schemas.microsoft.com/office/drawing/2014/main" id="{065B7C68-FAE0-542E-3B49-CC53ADF9B04A}"/>
              </a:ext>
            </a:extLst>
          </p:cNvPr>
          <p:cNvSpPr txBox="1"/>
          <p:nvPr/>
        </p:nvSpPr>
        <p:spPr>
          <a:xfrm>
            <a:off x="6731101" y="606857"/>
            <a:ext cx="3788281"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hoạch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đội</a:t>
            </a:r>
            <a:r>
              <a:rPr lang="en-US" b="1" dirty="0">
                <a:solidFill>
                  <a:srgbClr val="002060"/>
                </a:solidFill>
                <a:latin typeface="Times New Roman" panose="02020603050405020304" pitchFamily="18" charset="0"/>
                <a:cs typeface="Times New Roman" panose="02020603050405020304" pitchFamily="18" charset="0"/>
              </a:rPr>
              <a:t> A321CEO Q2-Q3/2025</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94FDAB8-BE54-1FE3-A128-4924718F86B6}"/>
              </a:ext>
            </a:extLst>
          </p:cNvPr>
          <p:cNvSpPr txBox="1"/>
          <p:nvPr/>
        </p:nvSpPr>
        <p:spPr>
          <a:xfrm>
            <a:off x="953116" y="626875"/>
            <a:ext cx="3692036"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Các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đã</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tháo</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sửa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chữa</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798A4453-6D37-A3D5-A532-1D65A56E72A5}"/>
              </a:ext>
            </a:extLst>
          </p:cNvPr>
          <p:cNvGraphicFramePr>
            <a:graphicFrameLocks noGrp="1"/>
          </p:cNvGraphicFramePr>
          <p:nvPr/>
        </p:nvGraphicFramePr>
        <p:xfrm>
          <a:off x="5737199" y="1035392"/>
          <a:ext cx="6207275" cy="2071693"/>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V11752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A354#2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20-22/04/2025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V15851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149846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V16462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XU350#2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17-19/04/2025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AD Hub,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V12505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023496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V16049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10-12/05/2025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V16338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21377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V15876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A610#1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15-17/05/2025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V17403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V15935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A392#2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21-23/05/2025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467654"/>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A398#1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13-15/06/2025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Tháo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Willis,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V16558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V16570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A329#2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19-21/06/2025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V16799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1983395"/>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V11694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A359#1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01-03/08/2025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5079666"/>
                  </a:ext>
                </a:extLst>
              </a:tr>
            </a:tbl>
          </a:graphicData>
        </a:graphic>
      </p:graphicFrame>
      <p:sp>
        <p:nvSpPr>
          <p:cNvPr id="3" name="TextBox 2">
            <a:extLst>
              <a:ext uri="{FF2B5EF4-FFF2-40B4-BE49-F238E27FC236}">
                <a16:creationId xmlns:a16="http://schemas.microsoft.com/office/drawing/2014/main" id="{4DE6CC1A-C4DC-6FC8-06CD-779939B6893C}"/>
              </a:ext>
            </a:extLst>
          </p:cNvPr>
          <p:cNvSpPr txBox="1"/>
          <p:nvPr/>
        </p:nvSpPr>
        <p:spPr>
          <a:xfrm>
            <a:off x="7340536" y="3568160"/>
            <a:ext cx="2582758"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Tình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trạng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thuê</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E7616FB-C309-B068-5BA6-2EC84567F23C}"/>
              </a:ext>
            </a:extLst>
          </p:cNvPr>
          <p:cNvGraphicFramePr>
            <a:graphicFrameLocks noGrp="1"/>
          </p:cNvGraphicFramePr>
          <p:nvPr/>
        </p:nvGraphicFramePr>
        <p:xfrm>
          <a:off x="5760208" y="3956846"/>
          <a:ext cx="6207275" cy="2519367"/>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V17365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SMBC</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31/12/2025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162735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T6/2025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V18818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27/12/2025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429295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V15346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03/01/2026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64767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V15369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053351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V18874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680001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V18977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14/03/2026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97111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V13187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07/04/2026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5628123"/>
                  </a:ext>
                </a:extLst>
              </a:tr>
            </a:tbl>
          </a:graphicData>
        </a:graphic>
      </p:graphicFrame>
    </p:spTree>
    <p:extLst>
      <p:ext uri="{BB962C8B-B14F-4D97-AF65-F5344CB8AC3E}">
        <p14:creationId xmlns:p14="http://schemas.microsoft.com/office/powerpoint/2010/main" val="31872575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D3F78-EE7A-6244-EF60-C9D5576F3B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8AFE3E-3844-01D3-D72D-0F4786BACA0F}"/>
              </a:ext>
            </a:extLst>
          </p:cNvPr>
          <p:cNvSpPr>
            <a:spLocks noGrp="1"/>
          </p:cNvSpPr>
          <p:nvPr>
            <p:ph type="sldNum" idx="12"/>
          </p:nvPr>
        </p:nvSpPr>
        <p:spPr/>
        <p:txBody>
          <a:bodyPr/>
          <a:lstStyle/>
          <a:p>
            <a:fld id="{00000000-1234-1234-1234-123412341234}" type="slidenum">
              <a:rPr lang="vi"/>
              <a:pPr/>
              <a:t>38</a:t>
            </a:fld>
            <a:endParaRPr lang="vi"/>
          </a:p>
        </p:txBody>
      </p:sp>
      <p:sp>
        <p:nvSpPr>
          <p:cNvPr id="3" name="Slide Number Placeholder 3">
            <a:extLst>
              <a:ext uri="{FF2B5EF4-FFF2-40B4-BE49-F238E27FC236}">
                <a16:creationId xmlns:a16="http://schemas.microsoft.com/office/drawing/2014/main" id="{BB68B28C-7DC1-3513-7C03-97417DFFBE37}"/>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2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38</a:t>
            </a:fld>
            <a:endParaRPr lang="en-US" sz="1200" dirty="0">
              <a:solidFill>
                <a:srgbClr val="D2A43B"/>
              </a:solidFill>
              <a:latin typeface="Times New Roman" panose="02020603050405020304" pitchFamily="18" charset="0"/>
              <a:ea typeface="+mn-ea"/>
              <a:cs typeface="Times New Roman" panose="02020603050405020304" pitchFamily="18" charset="0"/>
              <a:sym typeface="Montserrat"/>
            </a:endParaRPr>
          </a:p>
        </p:txBody>
      </p:sp>
      <p:graphicFrame>
        <p:nvGraphicFramePr>
          <p:cNvPr id="4" name="Chart 3">
            <a:extLst>
              <a:ext uri="{FF2B5EF4-FFF2-40B4-BE49-F238E27FC236}">
                <a16:creationId xmlns:a16="http://schemas.microsoft.com/office/drawing/2014/main" id="{C6B0DA9E-4175-8F90-5644-7AB7D854EA46}"/>
              </a:ext>
            </a:extLst>
          </p:cNvPr>
          <p:cNvGraphicFramePr/>
          <p:nvPr/>
        </p:nvGraphicFramePr>
        <p:xfrm>
          <a:off x="6867117" y="491751"/>
          <a:ext cx="5236309" cy="3337138"/>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B830FD37-0C62-DD9A-7EAB-6CFC0D17CDB3}"/>
              </a:ext>
            </a:extLst>
          </p:cNvPr>
          <p:cNvSpPr txBox="1"/>
          <p:nvPr/>
        </p:nvSpPr>
        <p:spPr>
          <a:xfrm>
            <a:off x="88573" y="3940887"/>
            <a:ext cx="12014853" cy="2801536"/>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Động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cơ</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dự</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phòng</a:t>
            </a:r>
            <a:r>
              <a:rPr lang="en-US" sz="1467" b="1" dirty="0">
                <a:solidFill>
                  <a:schemeClr val="tx1"/>
                </a:solidFill>
                <a:latin typeface="Times New Roman" panose="02020603050405020304" pitchFamily="18" charset="0"/>
                <a:cs typeface="Times New Roman" panose="02020603050405020304" pitchFamily="18" charset="0"/>
              </a:rPr>
              <a:t>:</a:t>
            </a:r>
            <a:r>
              <a:rPr lang="en-US" sz="1467" dirty="0">
                <a:solidFill>
                  <a:schemeClr val="tx1"/>
                </a:solidFill>
                <a:latin typeface="Times New Roman" panose="02020603050405020304" pitchFamily="18" charset="0"/>
                <a:cs typeface="Times New Roman" panose="02020603050405020304" pitchFamily="18" charset="0"/>
              </a:rPr>
              <a:t> 956533 </a:t>
            </a:r>
            <a:r>
              <a:rPr lang="en-US" sz="1467" dirty="0" err="1">
                <a:solidFill>
                  <a:schemeClr val="tx1"/>
                </a:solidFill>
                <a:latin typeface="Times New Roman" panose="02020603050405020304" pitchFamily="18" charset="0"/>
                <a:cs typeface="Times New Roman" panose="02020603050405020304" pitchFamily="18" charset="0"/>
              </a:rPr>
              <a:t>dự</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kiến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cuối</a:t>
            </a:r>
            <a:r>
              <a:rPr lang="en-US" sz="1467" dirty="0">
                <a:solidFill>
                  <a:schemeClr val="tx1"/>
                </a:solidFill>
                <a:latin typeface="Times New Roman" panose="02020603050405020304" pitchFamily="18" charset="0"/>
                <a:cs typeface="Times New Roman" panose="02020603050405020304" pitchFamily="18" charset="0"/>
              </a:rPr>
              <a:t> T4 </a:t>
            </a:r>
            <a:r>
              <a:rPr lang="en-US" sz="1467" dirty="0" err="1">
                <a:solidFill>
                  <a:schemeClr val="tx1"/>
                </a:solidFill>
                <a:latin typeface="Times New Roman" panose="02020603050405020304" pitchFamily="18" charset="0"/>
                <a:cs typeface="Times New Roman" panose="02020603050405020304" pitchFamily="18" charset="0"/>
              </a:rPr>
              <a:t>nhận</a:t>
            </a:r>
            <a:r>
              <a:rPr lang="en-US" sz="1467" dirty="0">
                <a:solidFill>
                  <a:schemeClr val="tx1"/>
                </a:solidFill>
                <a:latin typeface="Times New Roman" panose="02020603050405020304" pitchFamily="18" charset="0"/>
                <a:cs typeface="Times New Roman" panose="02020603050405020304" pitchFamily="18" charset="0"/>
              </a:rPr>
              <a:t> ở VN.</a:t>
            </a:r>
          </a:p>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Động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cơ</a:t>
            </a:r>
            <a:r>
              <a:rPr lang="en-US" sz="1467" b="1" dirty="0">
                <a:solidFill>
                  <a:schemeClr val="tx1"/>
                </a:solidFill>
                <a:latin typeface="Times New Roman" panose="02020603050405020304" pitchFamily="18" charset="0"/>
                <a:cs typeface="Times New Roman" panose="02020603050405020304" pitchFamily="18" charset="0"/>
              </a:rPr>
              <a:t> on-watch &amp; </a:t>
            </a:r>
            <a:r>
              <a:rPr lang="en-US" sz="1467" b="1" dirty="0" err="1">
                <a:solidFill>
                  <a:schemeClr val="tx1"/>
                </a:solidFill>
                <a:latin typeface="Times New Roman" panose="02020603050405020304" pitchFamily="18" charset="0"/>
                <a:cs typeface="Times New Roman" panose="02020603050405020304" pitchFamily="18" charset="0"/>
              </a:rPr>
              <a:t>Hạn</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chế</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khai</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thác</a:t>
            </a:r>
            <a:r>
              <a:rPr lang="en-US" sz="1467" b="1"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vi-VN" sz="1467" b="1" dirty="0">
                <a:solidFill>
                  <a:srgbClr val="ED0000"/>
                </a:solidFill>
                <a:latin typeface="Times New Roman" panose="02020603050405020304" pitchFamily="18" charset="0"/>
                <a:cs typeface="Times New Roman" panose="02020603050405020304" pitchFamily="18" charset="0"/>
              </a:rPr>
              <a:t>Remove in </a:t>
            </a:r>
            <a:r>
              <a:rPr lang="en-US" sz="1467" b="1" dirty="0">
                <a:solidFill>
                  <a:srgbClr val="ED0000"/>
                </a:solidFill>
                <a:latin typeface="Times New Roman" panose="02020603050405020304" pitchFamily="18" charset="0"/>
                <a:cs typeface="Times New Roman" panose="02020603050405020304" pitchFamily="18" charset="0"/>
              </a:rPr>
              <a:t>25</a:t>
            </a:r>
            <a:r>
              <a:rPr lang="vi-VN" sz="1467" b="1" dirty="0">
                <a:solidFill>
                  <a:srgbClr val="ED0000"/>
                </a:solidFill>
                <a:latin typeface="Times New Roman" panose="02020603050405020304" pitchFamily="18" charset="0"/>
                <a:cs typeface="Times New Roman" panose="02020603050405020304" pitchFamily="18" charset="0"/>
              </a:rPr>
              <a:t> cyc or reinspect</a:t>
            </a:r>
            <a:r>
              <a:rPr lang="en-US" sz="1467" b="1" dirty="0">
                <a:solidFill>
                  <a:srgbClr val="ED0000"/>
                </a:solidFill>
                <a:latin typeface="Times New Roman" panose="02020603050405020304" pitchFamily="18" charset="0"/>
                <a:cs typeface="Times New Roman" panose="02020603050405020304" pitchFamily="18" charset="0"/>
              </a:rPr>
              <a:t>: </a:t>
            </a:r>
            <a:r>
              <a:rPr lang="vi-VN" sz="1467" b="1" dirty="0">
                <a:solidFill>
                  <a:srgbClr val="ED0000"/>
                </a:solidFill>
                <a:latin typeface="Times New Roman" panose="02020603050405020304" pitchFamily="18" charset="0"/>
                <a:cs typeface="Times New Roman" panose="02020603050405020304" pitchFamily="18" charset="0"/>
              </a:rPr>
              <a:t>956913 (A871)</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vừa</a:t>
            </a:r>
            <a:r>
              <a:rPr lang="en-US" sz="1467" b="1" dirty="0">
                <a:solidFill>
                  <a:srgbClr val="ED0000"/>
                </a:solidFill>
                <a:latin typeface="Times New Roman" panose="02020603050405020304" pitchFamily="18" charset="0"/>
                <a:cs typeface="Times New Roman" panose="02020603050405020304" pitchFamily="18" charset="0"/>
              </a:rPr>
              <a:t> soi </a:t>
            </a:r>
            <a:r>
              <a:rPr lang="en-US" sz="1467" b="1" dirty="0" err="1">
                <a:solidFill>
                  <a:srgbClr val="ED0000"/>
                </a:solidFill>
                <a:latin typeface="Times New Roman" panose="02020603050405020304" pitchFamily="18" charset="0"/>
                <a:cs typeface="Times New Roman" panose="02020603050405020304" pitchFamily="18" charset="0"/>
              </a:rPr>
              <a:t>lại</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ngày</a:t>
            </a:r>
            <a:r>
              <a:rPr lang="en-US" sz="1467" b="1" dirty="0">
                <a:solidFill>
                  <a:srgbClr val="ED0000"/>
                </a:solidFill>
                <a:latin typeface="Times New Roman" panose="02020603050405020304" pitchFamily="18" charset="0"/>
                <a:cs typeface="Times New Roman" panose="02020603050405020304" pitchFamily="18" charset="0"/>
              </a:rPr>
              <a:t> 18/4 </a:t>
            </a:r>
            <a:r>
              <a:rPr lang="en-US" sz="1467" b="1" dirty="0" err="1">
                <a:solidFill>
                  <a:srgbClr val="ED0000"/>
                </a:solidFill>
                <a:latin typeface="Times New Roman" panose="02020603050405020304" pitchFamily="18" charset="0"/>
                <a:cs typeface="Times New Roman" panose="02020603050405020304" pitchFamily="18" charset="0"/>
              </a:rPr>
              <a:t>tiếp</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tục</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được</a:t>
            </a:r>
            <a:r>
              <a:rPr lang="en-US" sz="1467" b="1" dirty="0">
                <a:solidFill>
                  <a:srgbClr val="ED0000"/>
                </a:solidFill>
                <a:latin typeface="Times New Roman" panose="02020603050405020304" pitchFamily="18" charset="0"/>
                <a:cs typeface="Times New Roman" panose="02020603050405020304" pitchFamily="18" charset="0"/>
              </a:rPr>
              <a:t> GE </a:t>
            </a:r>
            <a:r>
              <a:rPr lang="en-US" sz="1467" b="1" dirty="0" err="1">
                <a:solidFill>
                  <a:srgbClr val="ED0000"/>
                </a:solidFill>
                <a:latin typeface="Times New Roman" panose="02020603050405020304" pitchFamily="18" charset="0"/>
                <a:cs typeface="Times New Roman" panose="02020603050405020304" pitchFamily="18" charset="0"/>
              </a:rPr>
              <a:t>cho</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khai</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thác</a:t>
            </a:r>
            <a:r>
              <a:rPr lang="en-US" sz="1467" b="1" dirty="0">
                <a:solidFill>
                  <a:srgbClr val="ED0000"/>
                </a:solidFill>
                <a:latin typeface="Times New Roman" panose="02020603050405020304" pitchFamily="18" charset="0"/>
                <a:cs typeface="Times New Roman" panose="02020603050405020304" pitchFamily="18" charset="0"/>
              </a:rPr>
              <a:t> 25 </a:t>
            </a:r>
            <a:r>
              <a:rPr lang="en-US" sz="1467" b="1" dirty="0" err="1">
                <a:solidFill>
                  <a:srgbClr val="ED0000"/>
                </a:solidFill>
                <a:latin typeface="Times New Roman" panose="02020603050405020304" pitchFamily="18" charset="0"/>
                <a:cs typeface="Times New Roman" panose="02020603050405020304" pitchFamily="18" charset="0"/>
              </a:rPr>
              <a:t>cyc</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và</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được</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đánh</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giá</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lại</a:t>
            </a:r>
            <a:r>
              <a:rPr lang="en-US" sz="1467" b="1" dirty="0">
                <a:solidFill>
                  <a:srgbClr val="ED0000"/>
                </a:solidFill>
                <a:latin typeface="Times New Roman" panose="02020603050405020304" pitchFamily="18" charset="0"/>
                <a:cs typeface="Times New Roman" panose="02020603050405020304" pitchFamily="18" charset="0"/>
              </a:rPr>
              <a:t>. </a:t>
            </a:r>
          </a:p>
          <a:p>
            <a:pPr marL="548640" indent="-18288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Remove in 50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 or reinspect: </a:t>
            </a:r>
            <a:r>
              <a:rPr lang="vi-VN" sz="1467" dirty="0">
                <a:solidFill>
                  <a:schemeClr val="tx1"/>
                </a:solidFill>
                <a:latin typeface="Times New Roman" panose="02020603050405020304" pitchFamily="18" charset="0"/>
                <a:cs typeface="Times New Roman" panose="02020603050405020304" pitchFamily="18" charset="0"/>
              </a:rPr>
              <a:t>958170 (A863)</a:t>
            </a:r>
            <a:endParaRPr lang="en-US" sz="1467" dirty="0">
              <a:solidFill>
                <a:srgbClr val="ED0000"/>
              </a:solidFill>
              <a:latin typeface="Times New Roman" panose="02020603050405020304" pitchFamily="18" charset="0"/>
              <a:cs typeface="Times New Roman" panose="02020603050405020304" pitchFamily="18" charset="0"/>
            </a:endParaRPr>
          </a:p>
          <a:p>
            <a:pPr marL="548640" indent="-182880">
              <a:buFont typeface="Wingdings" panose="05000000000000000000" pitchFamily="2" charset="2"/>
              <a:buChar char="§"/>
              <a:defRPr/>
            </a:pPr>
            <a:r>
              <a:rPr lang="vi-VN" sz="1467" dirty="0">
                <a:solidFill>
                  <a:schemeClr val="tx1"/>
                </a:solidFill>
                <a:latin typeface="Times New Roman" panose="02020603050405020304" pitchFamily="18" charset="0"/>
                <a:cs typeface="Times New Roman" panose="02020603050405020304" pitchFamily="18" charset="0"/>
              </a:rPr>
              <a:t>100 cycle – 0</a:t>
            </a:r>
            <a:r>
              <a:rPr lang="en-US" sz="1467" dirty="0">
                <a:solidFill>
                  <a:schemeClr val="tx1"/>
                </a:solidFill>
                <a:latin typeface="Times New Roman" panose="02020603050405020304" pitchFamily="18" charset="0"/>
                <a:cs typeface="Times New Roman" panose="02020603050405020304" pitchFamily="18" charset="0"/>
              </a:rPr>
              <a:t>3</a:t>
            </a:r>
            <a:r>
              <a:rPr lang="vi-VN" sz="1467" dirty="0">
                <a:solidFill>
                  <a:schemeClr val="tx1"/>
                </a:solidFill>
                <a:latin typeface="Times New Roman" panose="02020603050405020304" pitchFamily="18" charset="0"/>
                <a:cs typeface="Times New Roman" panose="02020603050405020304" pitchFamily="18" charset="0"/>
              </a:rPr>
              <a:t> ĐC</a:t>
            </a:r>
            <a:r>
              <a:rPr lang="en-US" sz="1467" dirty="0">
                <a:solidFill>
                  <a:schemeClr val="tx1"/>
                </a:solidFill>
                <a:latin typeface="Times New Roman" panose="02020603050405020304" pitchFamily="18" charset="0"/>
                <a:cs typeface="Times New Roman" panose="02020603050405020304" pitchFamily="18" charset="0"/>
              </a:rPr>
              <a:t> (bao </a:t>
            </a:r>
            <a:r>
              <a:rPr lang="en-US" sz="1467" dirty="0" err="1">
                <a:solidFill>
                  <a:schemeClr val="tx1"/>
                </a:solidFill>
                <a:latin typeface="Times New Roman" panose="02020603050405020304" pitchFamily="18" charset="0"/>
                <a:cs typeface="Times New Roman" panose="02020603050405020304" pitchFamily="18" charset="0"/>
              </a:rPr>
              <a:t>gồm</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thuê</a:t>
            </a:r>
            <a:r>
              <a:rPr lang="en-US" sz="1467" dirty="0">
                <a:solidFill>
                  <a:schemeClr val="tx1"/>
                </a:solidFill>
                <a:latin typeface="Times New Roman" panose="02020603050405020304" pitchFamily="18" charset="0"/>
                <a:cs typeface="Times New Roman" panose="02020603050405020304" pitchFamily="18" charset="0"/>
              </a:rPr>
              <a:t> 958266)</a:t>
            </a:r>
            <a:r>
              <a:rPr lang="vi-VN" sz="1467" dirty="0">
                <a:solidFill>
                  <a:schemeClr val="tx1"/>
                </a:solidFill>
                <a:latin typeface="Times New Roman" panose="02020603050405020304" pitchFamily="18" charset="0"/>
                <a:cs typeface="Times New Roman" panose="02020603050405020304" pitchFamily="18" charset="0"/>
              </a:rPr>
              <a:t>;  150 cycle – 01 ĐC; 250 cycle – 0</a:t>
            </a:r>
            <a:r>
              <a:rPr lang="en-US" sz="1467" dirty="0">
                <a:solidFill>
                  <a:schemeClr val="tx1"/>
                </a:solidFill>
                <a:latin typeface="Times New Roman" panose="02020603050405020304" pitchFamily="18" charset="0"/>
                <a:cs typeface="Times New Roman" panose="02020603050405020304" pitchFamily="18" charset="0"/>
              </a:rPr>
              <a:t>1</a:t>
            </a:r>
            <a:r>
              <a:rPr lang="vi-VN" sz="1467" dirty="0">
                <a:solidFill>
                  <a:schemeClr val="tx1"/>
                </a:solidFill>
                <a:latin typeface="Times New Roman" panose="02020603050405020304" pitchFamily="18" charset="0"/>
                <a:cs typeface="Times New Roman" panose="02020603050405020304" pitchFamily="18" charset="0"/>
              </a:rPr>
              <a:t> ĐC</a:t>
            </a:r>
            <a:r>
              <a:rPr lang="en-US" sz="1467"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en-US" sz="1467" dirty="0" err="1">
                <a:solidFill>
                  <a:schemeClr val="tx1"/>
                </a:solidFill>
                <a:latin typeface="Times New Roman" panose="02020603050405020304" pitchFamily="18" charset="0"/>
                <a:cs typeface="Times New Roman" panose="02020603050405020304" pitchFamily="18" charset="0"/>
              </a:rPr>
              <a:t>Hạn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chế</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khai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thác</a:t>
            </a:r>
            <a:r>
              <a:rPr lang="en-US" sz="1467" dirty="0">
                <a:solidFill>
                  <a:schemeClr val="tx1"/>
                </a:solidFill>
                <a:latin typeface="Times New Roman" panose="02020603050405020304" pitchFamily="18" charset="0"/>
                <a:cs typeface="Times New Roman" panose="02020603050405020304" pitchFamily="18" charset="0"/>
              </a:rPr>
              <a:t>: A873 (</a:t>
            </a:r>
            <a:r>
              <a:rPr lang="en-US" sz="1467" dirty="0" err="1">
                <a:solidFill>
                  <a:schemeClr val="tx1"/>
                </a:solidFill>
                <a:latin typeface="Times New Roman" panose="02020603050405020304" pitchFamily="18" charset="0"/>
                <a:cs typeface="Times New Roman" panose="02020603050405020304" pitchFamily="18" charset="0"/>
              </a:rPr>
              <a:t>cả</a:t>
            </a:r>
            <a:r>
              <a:rPr lang="en-US" sz="1467" dirty="0">
                <a:solidFill>
                  <a:schemeClr val="tx1"/>
                </a:solidFill>
                <a:latin typeface="Times New Roman" panose="02020603050405020304" pitchFamily="18" charset="0"/>
                <a:cs typeface="Times New Roman" panose="02020603050405020304" pitchFamily="18" charset="0"/>
              </a:rPr>
              <a:t> 2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chỉ</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được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khai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đến</a:t>
            </a:r>
            <a:r>
              <a:rPr lang="en-US" sz="1467" dirty="0">
                <a:solidFill>
                  <a:schemeClr val="tx1"/>
                </a:solidFill>
                <a:latin typeface="Times New Roman" panose="02020603050405020304" pitchFamily="18" charset="0"/>
                <a:cs typeface="Times New Roman" panose="02020603050405020304" pitchFamily="18" charset="0"/>
              </a:rPr>
              <a:t> CSN 5500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a:t>
            </a:r>
          </a:p>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Công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tác</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kế</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hoạch</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trọng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điểm</a:t>
            </a:r>
            <a:r>
              <a:rPr lang="en-US" sz="1467" b="1"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en-US" sz="1467" dirty="0">
                <a:solidFill>
                  <a:srgbClr val="388600"/>
                </a:solidFill>
                <a:latin typeface="Times New Roman" panose="02020603050405020304" pitchFamily="18" charset="0"/>
                <a:cs typeface="Times New Roman" panose="02020603050405020304" pitchFamily="18" charset="0"/>
              </a:rPr>
              <a:t>A870/</a:t>
            </a:r>
            <a:r>
              <a:rPr lang="vi-VN" sz="1467" dirty="0">
                <a:solidFill>
                  <a:srgbClr val="388600"/>
                </a:solidFill>
                <a:latin typeface="Times New Roman" panose="02020603050405020304" pitchFamily="18" charset="0"/>
                <a:cs typeface="Times New Roman" panose="02020603050405020304" pitchFamily="18" charset="0"/>
              </a:rPr>
              <a:t>956638</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khắc</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phục</a:t>
            </a:r>
            <a:r>
              <a:rPr lang="vi-VN" sz="1467" dirty="0">
                <a:solidFill>
                  <a:srgbClr val="388600"/>
                </a:solidFill>
                <a:latin typeface="Times New Roman" panose="02020603050405020304" pitchFamily="18" charset="0"/>
                <a:cs typeface="Times New Roman" panose="02020603050405020304" pitchFamily="18" charset="0"/>
              </a:rPr>
              <a:t> </a:t>
            </a:r>
            <a:r>
              <a:rPr lang="en-US" sz="1467" dirty="0">
                <a:solidFill>
                  <a:srgbClr val="388600"/>
                </a:solidFill>
                <a:latin typeface="Times New Roman" panose="02020603050405020304" pitchFamily="18" charset="0"/>
                <a:cs typeface="Times New Roman" panose="02020603050405020304" pitchFamily="18" charset="0"/>
              </a:rPr>
              <a:t>AOG </a:t>
            </a:r>
            <a:r>
              <a:rPr lang="en-US" sz="1467" dirty="0" err="1">
                <a:solidFill>
                  <a:srgbClr val="388600"/>
                </a:solidFill>
                <a:latin typeface="Times New Roman" panose="02020603050405020304" pitchFamily="18" charset="0"/>
                <a:cs typeface="Times New Roman" panose="02020603050405020304" pitchFamily="18" charset="0"/>
              </a:rPr>
              <a:t>và</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hoàn</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thiện</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cấu</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hình</a:t>
            </a:r>
            <a:r>
              <a:rPr lang="en-US" sz="1467" dirty="0">
                <a:solidFill>
                  <a:srgbClr val="388600"/>
                </a:solidFill>
                <a:latin typeface="Times New Roman" panose="02020603050405020304" pitchFamily="18" charset="0"/>
                <a:cs typeface="Times New Roman" panose="02020603050405020304" pitchFamily="18" charset="0"/>
              </a:rPr>
              <a:t> bay Nga - </a:t>
            </a:r>
            <a:r>
              <a:rPr lang="en-US" sz="1467" b="1" dirty="0">
                <a:solidFill>
                  <a:srgbClr val="388600"/>
                </a:solidFill>
                <a:latin typeface="Times New Roman" panose="02020603050405020304" pitchFamily="18" charset="0"/>
                <a:cs typeface="Times New Roman" panose="02020603050405020304" pitchFamily="18" charset="0"/>
              </a:rPr>
              <a:t>12/03/2025. </a:t>
            </a:r>
            <a:r>
              <a:rPr lang="en-US" sz="1467" b="1" dirty="0" err="1">
                <a:solidFill>
                  <a:srgbClr val="388600"/>
                </a:solidFill>
                <a:latin typeface="Times New Roman" panose="02020603050405020304" pitchFamily="18" charset="0"/>
                <a:cs typeface="Times New Roman" panose="02020603050405020304" pitchFamily="18" charset="0"/>
              </a:rPr>
              <a:t>Đã</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hoàn</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thành</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tàu</a:t>
            </a:r>
            <a:r>
              <a:rPr lang="en-US" sz="1467" b="1" dirty="0">
                <a:solidFill>
                  <a:srgbClr val="388600"/>
                </a:solidFill>
                <a:latin typeface="Times New Roman" panose="02020603050405020304" pitchFamily="18" charset="0"/>
                <a:cs typeface="Times New Roman" panose="02020603050405020304" pitchFamily="18" charset="0"/>
              </a:rPr>
              <a:t> A870 </a:t>
            </a:r>
            <a:r>
              <a:rPr lang="en-US" sz="1467" b="1" dirty="0" err="1">
                <a:solidFill>
                  <a:srgbClr val="388600"/>
                </a:solidFill>
                <a:latin typeface="Times New Roman" panose="02020603050405020304" pitchFamily="18" charset="0"/>
                <a:cs typeface="Times New Roman" panose="02020603050405020304" pitchFamily="18" charset="0"/>
              </a:rPr>
              <a:t>đã</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lắp</a:t>
            </a:r>
            <a:r>
              <a:rPr lang="en-US" sz="1467" b="1" dirty="0">
                <a:solidFill>
                  <a:srgbClr val="388600"/>
                </a:solidFill>
                <a:latin typeface="Times New Roman" panose="02020603050405020304" pitchFamily="18" charset="0"/>
                <a:cs typeface="Times New Roman" panose="02020603050405020304" pitchFamily="18" charset="0"/>
              </a:rPr>
              <a:t> 02 </a:t>
            </a:r>
            <a:r>
              <a:rPr lang="en-US" sz="1467" b="1" dirty="0" err="1">
                <a:solidFill>
                  <a:srgbClr val="388600"/>
                </a:solidFill>
                <a:latin typeface="Times New Roman" panose="02020603050405020304" pitchFamily="18" charset="0"/>
                <a:cs typeface="Times New Roman" panose="02020603050405020304" pitchFamily="18" charset="0"/>
              </a:rPr>
              <a:t>động</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cơ</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gốc</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để</a:t>
            </a:r>
            <a:r>
              <a:rPr lang="en-US" sz="1467" b="1" dirty="0">
                <a:solidFill>
                  <a:srgbClr val="388600"/>
                </a:solidFill>
                <a:latin typeface="Times New Roman" panose="02020603050405020304" pitchFamily="18" charset="0"/>
                <a:cs typeface="Times New Roman" panose="02020603050405020304" pitchFamily="18" charset="0"/>
              </a:rPr>
              <a:t> bay Nga. </a:t>
            </a:r>
          </a:p>
          <a:p>
            <a:pPr marL="548640" indent="-182880">
              <a:buFont typeface="Wingdings" panose="05000000000000000000" pitchFamily="2" charset="2"/>
              <a:buChar char="§"/>
              <a:defRPr/>
            </a:pPr>
            <a:r>
              <a:rPr lang="en-US" sz="1467" dirty="0">
                <a:solidFill>
                  <a:srgbClr val="388600"/>
                </a:solidFill>
                <a:latin typeface="Times New Roman" panose="02020603050405020304" pitchFamily="18" charset="0"/>
                <a:cs typeface="Times New Roman" panose="02020603050405020304" pitchFamily="18" charset="0"/>
              </a:rPr>
              <a:t>A864/956577 </a:t>
            </a:r>
            <a:r>
              <a:rPr lang="en-US" sz="1467" dirty="0" err="1">
                <a:solidFill>
                  <a:srgbClr val="388600"/>
                </a:solidFill>
                <a:latin typeface="Times New Roman" panose="02020603050405020304" pitchFamily="18" charset="0"/>
                <a:cs typeface="Times New Roman" panose="02020603050405020304" pitchFamily="18" charset="0"/>
              </a:rPr>
              <a:t>từ</a:t>
            </a:r>
            <a:r>
              <a:rPr lang="en-US" sz="1467" dirty="0">
                <a:solidFill>
                  <a:srgbClr val="388600"/>
                </a:solidFill>
                <a:latin typeface="Times New Roman" panose="02020603050405020304" pitchFamily="18" charset="0"/>
                <a:cs typeface="Times New Roman" panose="02020603050405020304" pitchFamily="18" charset="0"/>
              </a:rPr>
              <a:t> </a:t>
            </a:r>
            <a:r>
              <a:rPr lang="en-US" sz="1467" b="1" dirty="0">
                <a:solidFill>
                  <a:srgbClr val="388600"/>
                </a:solidFill>
                <a:latin typeface="Times New Roman" panose="02020603050405020304" pitchFamily="18" charset="0"/>
                <a:cs typeface="Times New Roman" panose="02020603050405020304" pitchFamily="18" charset="0"/>
              </a:rPr>
              <a:t>14/03 - 04/04/2025</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khắc</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phục</a:t>
            </a:r>
            <a:r>
              <a:rPr lang="en-US" sz="1467" dirty="0">
                <a:solidFill>
                  <a:srgbClr val="388600"/>
                </a:solidFill>
                <a:latin typeface="Times New Roman" panose="02020603050405020304" pitchFamily="18" charset="0"/>
                <a:cs typeface="Times New Roman" panose="02020603050405020304" pitchFamily="18" charset="0"/>
              </a:rPr>
              <a:t> AOG </a:t>
            </a:r>
            <a:r>
              <a:rPr lang="en-US" sz="1467" dirty="0" err="1">
                <a:solidFill>
                  <a:srgbClr val="388600"/>
                </a:solidFill>
                <a:latin typeface="Times New Roman" panose="02020603050405020304" pitchFamily="18" charset="0"/>
                <a:cs typeface="Times New Roman" panose="02020603050405020304" pitchFamily="18" charset="0"/>
              </a:rPr>
              <a:t>sử</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dụng</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động</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cơ</a:t>
            </a:r>
            <a:r>
              <a:rPr lang="en-US" sz="1467" dirty="0">
                <a:solidFill>
                  <a:srgbClr val="388600"/>
                </a:solidFill>
                <a:latin typeface="Times New Roman" panose="02020603050405020304" pitchFamily="18" charset="0"/>
                <a:cs typeface="Times New Roman" panose="02020603050405020304" pitchFamily="18" charset="0"/>
              </a:rPr>
              <a:t> 956556 </a:t>
            </a:r>
            <a:r>
              <a:rPr lang="en-US" sz="1467" dirty="0" err="1">
                <a:solidFill>
                  <a:srgbClr val="388600"/>
                </a:solidFill>
                <a:latin typeface="Times New Roman" panose="02020603050405020304" pitchFamily="18" charset="0"/>
                <a:cs typeface="Times New Roman" panose="02020603050405020304" pitchFamily="18" charset="0"/>
              </a:rPr>
              <a:t>và</a:t>
            </a:r>
            <a:r>
              <a:rPr lang="en-US" sz="1467" dirty="0">
                <a:solidFill>
                  <a:srgbClr val="388600"/>
                </a:solidFill>
                <a:latin typeface="Times New Roman" panose="02020603050405020304" pitchFamily="18" charset="0"/>
                <a:cs typeface="Times New Roman" panose="02020603050405020304" pitchFamily="18" charset="0"/>
              </a:rPr>
              <a:t> ENG SWAP 956697 </a:t>
            </a:r>
            <a:r>
              <a:rPr lang="en-US" sz="1467" dirty="0" err="1">
                <a:solidFill>
                  <a:srgbClr val="388600"/>
                </a:solidFill>
                <a:latin typeface="Times New Roman" panose="02020603050405020304" pitchFamily="18" charset="0"/>
                <a:cs typeface="Times New Roman" panose="02020603050405020304" pitchFamily="18" charset="0"/>
              </a:rPr>
              <a:t>với</a:t>
            </a:r>
            <a:r>
              <a:rPr lang="en-US" sz="1467" dirty="0">
                <a:solidFill>
                  <a:srgbClr val="388600"/>
                </a:solidFill>
                <a:latin typeface="Times New Roman" panose="02020603050405020304" pitchFamily="18" charset="0"/>
                <a:cs typeface="Times New Roman" panose="02020603050405020304" pitchFamily="18" charset="0"/>
              </a:rPr>
              <a:t> A867. </a:t>
            </a:r>
            <a:r>
              <a:rPr lang="en-US" sz="1467" b="1" dirty="0" err="1">
                <a:solidFill>
                  <a:srgbClr val="388600"/>
                </a:solidFill>
                <a:latin typeface="Times New Roman" panose="02020603050405020304" pitchFamily="18" charset="0"/>
                <a:cs typeface="Times New Roman" panose="02020603050405020304" pitchFamily="18" charset="0"/>
              </a:rPr>
              <a:t>Đã</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hoàn</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thành</a:t>
            </a:r>
            <a:r>
              <a:rPr lang="en-US" sz="1467" b="1" dirty="0">
                <a:solidFill>
                  <a:srgbClr val="388600"/>
                </a:solidFill>
                <a:latin typeface="Times New Roman" panose="02020603050405020304" pitchFamily="18" charset="0"/>
                <a:cs typeface="Times New Roman" panose="02020603050405020304" pitchFamily="18" charset="0"/>
              </a:rPr>
              <a:t>.</a:t>
            </a:r>
            <a:r>
              <a:rPr lang="en-US" sz="1467" dirty="0">
                <a:solidFill>
                  <a:srgbClr val="388600"/>
                </a:solidFill>
                <a:latin typeface="Times New Roman" panose="02020603050405020304" pitchFamily="18" charset="0"/>
                <a:cs typeface="Times New Roman" panose="02020603050405020304" pitchFamily="18" charset="0"/>
              </a:rPr>
              <a:t> </a:t>
            </a:r>
          </a:p>
          <a:p>
            <a:pPr marL="548640" indent="-182880">
              <a:buFont typeface="Wingdings" panose="05000000000000000000" pitchFamily="2" charset="2"/>
              <a:buChar char="§"/>
              <a:defRPr/>
            </a:pPr>
            <a:r>
              <a:rPr lang="en-US" sz="1467" dirty="0">
                <a:solidFill>
                  <a:srgbClr val="388600"/>
                </a:solidFill>
                <a:latin typeface="Times New Roman" panose="02020603050405020304" pitchFamily="18" charset="0"/>
                <a:cs typeface="Times New Roman" panose="02020603050405020304" pitchFamily="18" charset="0"/>
              </a:rPr>
              <a:t>A868/956769 </a:t>
            </a:r>
            <a:r>
              <a:rPr lang="en-US" sz="1467" dirty="0" err="1">
                <a:solidFill>
                  <a:srgbClr val="388600"/>
                </a:solidFill>
                <a:latin typeface="Times New Roman" panose="02020603050405020304" pitchFamily="18" charset="0"/>
                <a:cs typeface="Times New Roman" panose="02020603050405020304" pitchFamily="18" charset="0"/>
              </a:rPr>
              <a:t>khắc</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phục</a:t>
            </a:r>
            <a:r>
              <a:rPr lang="en-US" sz="1467" dirty="0">
                <a:solidFill>
                  <a:srgbClr val="388600"/>
                </a:solidFill>
                <a:latin typeface="Times New Roman" panose="02020603050405020304" pitchFamily="18" charset="0"/>
                <a:cs typeface="Times New Roman" panose="02020603050405020304" pitchFamily="18" charset="0"/>
              </a:rPr>
              <a:t> AOG </a:t>
            </a:r>
            <a:r>
              <a:rPr lang="en-US" sz="1467" dirty="0" err="1">
                <a:solidFill>
                  <a:srgbClr val="388600"/>
                </a:solidFill>
                <a:latin typeface="Times New Roman" panose="02020603050405020304" pitchFamily="18" charset="0"/>
                <a:cs typeface="Times New Roman" panose="02020603050405020304" pitchFamily="18" charset="0"/>
              </a:rPr>
              <a:t>và</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khôi</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phục</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cấu</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hình</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tàu</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chuyên</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cơ</a:t>
            </a:r>
            <a:r>
              <a:rPr lang="en-US" sz="1467" dirty="0">
                <a:solidFill>
                  <a:srgbClr val="388600"/>
                </a:solidFill>
                <a:latin typeface="Times New Roman" panose="02020603050405020304" pitchFamily="18" charset="0"/>
                <a:cs typeface="Times New Roman" panose="02020603050405020304" pitchFamily="18" charset="0"/>
              </a:rPr>
              <a:t> – </a:t>
            </a:r>
            <a:r>
              <a:rPr lang="en-US" sz="1467" b="1" dirty="0">
                <a:solidFill>
                  <a:srgbClr val="388600"/>
                </a:solidFill>
                <a:latin typeface="Times New Roman" panose="02020603050405020304" pitchFamily="18" charset="0"/>
                <a:cs typeface="Times New Roman" panose="02020603050405020304" pitchFamily="18" charset="0"/>
              </a:rPr>
              <a:t>16/04/2025 – </a:t>
            </a:r>
            <a:r>
              <a:rPr lang="en-US" sz="1467" b="1" dirty="0" err="1">
                <a:solidFill>
                  <a:srgbClr val="388600"/>
                </a:solidFill>
                <a:latin typeface="Times New Roman" panose="02020603050405020304" pitchFamily="18" charset="0"/>
                <a:cs typeface="Times New Roman" panose="02020603050405020304" pitchFamily="18" charset="0"/>
              </a:rPr>
              <a:t>Đã</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hoàn</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thành</a:t>
            </a:r>
            <a:r>
              <a:rPr lang="en-US" sz="1467" b="1" dirty="0">
                <a:solidFill>
                  <a:srgbClr val="388600"/>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Hoàn </a:t>
            </a:r>
            <a:r>
              <a:rPr lang="en-US" sz="1467" dirty="0" err="1">
                <a:solidFill>
                  <a:schemeClr val="tx1"/>
                </a:solidFill>
                <a:latin typeface="Times New Roman" panose="02020603050405020304" pitchFamily="18" charset="0"/>
                <a:cs typeface="Times New Roman" panose="02020603050405020304" pitchFamily="18" charset="0"/>
              </a:rPr>
              <a:t>thiện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cấu</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hình</a:t>
            </a:r>
            <a:r>
              <a:rPr lang="en-US" sz="1467" dirty="0">
                <a:solidFill>
                  <a:schemeClr val="tx1"/>
                </a:solidFill>
                <a:latin typeface="Times New Roman" panose="02020603050405020304" pitchFamily="18" charset="0"/>
                <a:cs typeface="Times New Roman" panose="02020603050405020304" pitchFamily="18" charset="0"/>
              </a:rPr>
              <a:t> bay Nga </a:t>
            </a:r>
            <a:r>
              <a:rPr lang="en-US" sz="1467" dirty="0" err="1">
                <a:solidFill>
                  <a:schemeClr val="tx1"/>
                </a:solidFill>
                <a:latin typeface="Times New Roman" panose="02020603050405020304" pitchFamily="18" charset="0"/>
                <a:cs typeface="Times New Roman" panose="02020603050405020304" pitchFamily="18" charset="0"/>
              </a:rPr>
              <a:t>tàu</a:t>
            </a:r>
            <a:r>
              <a:rPr lang="en-US" sz="1467" dirty="0">
                <a:solidFill>
                  <a:schemeClr val="tx1"/>
                </a:solidFill>
                <a:latin typeface="Times New Roman" panose="02020603050405020304" pitchFamily="18" charset="0"/>
                <a:cs typeface="Times New Roman" panose="02020603050405020304" pitchFamily="18" charset="0"/>
              </a:rPr>
              <a:t> A867 – </a:t>
            </a:r>
            <a:r>
              <a:rPr lang="en-US" sz="1467" b="1" dirty="0">
                <a:solidFill>
                  <a:schemeClr val="tx1"/>
                </a:solidFill>
                <a:latin typeface="Times New Roman" panose="02020603050405020304" pitchFamily="18" charset="0"/>
                <a:cs typeface="Times New Roman" panose="02020603050405020304" pitchFamily="18" charset="0"/>
              </a:rPr>
              <a:t>29/04/2025</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thực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hiện</a:t>
            </a:r>
            <a:r>
              <a:rPr lang="en-US" sz="1467" dirty="0">
                <a:solidFill>
                  <a:schemeClr val="tx1"/>
                </a:solidFill>
                <a:latin typeface="Times New Roman" panose="02020603050405020304" pitchFamily="18" charset="0"/>
                <a:cs typeface="Times New Roman" panose="02020603050405020304" pitchFamily="18" charset="0"/>
              </a:rPr>
              <a:t> 02 </a:t>
            </a:r>
            <a:r>
              <a:rPr lang="en-US" sz="1467" dirty="0" err="1">
                <a:solidFill>
                  <a:schemeClr val="tx1"/>
                </a:solidFill>
                <a:latin typeface="Times New Roman" panose="02020603050405020304" pitchFamily="18" charset="0"/>
                <a:cs typeface="Times New Roman" panose="02020603050405020304" pitchFamily="18" charset="0"/>
              </a:rPr>
              <a:t>lần</a:t>
            </a:r>
            <a:r>
              <a:rPr lang="en-US" sz="1467" dirty="0">
                <a:solidFill>
                  <a:schemeClr val="tx1"/>
                </a:solidFill>
                <a:latin typeface="Times New Roman" panose="02020603050405020304" pitchFamily="18" charset="0"/>
                <a:cs typeface="Times New Roman" panose="02020603050405020304" pitchFamily="18" charset="0"/>
              </a:rPr>
              <a:t> ENG SWAP </a:t>
            </a:r>
            <a:r>
              <a:rPr lang="en-US" sz="1467" dirty="0" err="1">
                <a:solidFill>
                  <a:schemeClr val="tx1"/>
                </a:solidFill>
                <a:latin typeface="Times New Roman" panose="02020603050405020304" pitchFamily="18" charset="0"/>
                <a:cs typeface="Times New Roman" panose="02020603050405020304" pitchFamily="18" charset="0"/>
              </a:rPr>
              <a:t>với</a:t>
            </a:r>
            <a:r>
              <a:rPr lang="en-US" sz="1467" dirty="0">
                <a:solidFill>
                  <a:schemeClr val="accent6">
                    <a:lumMod val="75000"/>
                  </a:schemeClr>
                </a:solidFill>
                <a:latin typeface="Times New Roman" panose="02020603050405020304" pitchFamily="18" charset="0"/>
                <a:cs typeface="Times New Roman" panose="02020603050405020304" pitchFamily="18" charset="0"/>
              </a:rPr>
              <a:t> A864 </a:t>
            </a:r>
            <a:r>
              <a:rPr lang="en-US" sz="1467" dirty="0" err="1">
                <a:solidFill>
                  <a:schemeClr val="accent6">
                    <a:lumMod val="75000"/>
                  </a:schemeClr>
                </a:solidFill>
                <a:latin typeface="Times New Roman" panose="02020603050405020304" pitchFamily="18" charset="0"/>
                <a:cs typeface="Times New Roman" panose="02020603050405020304" pitchFamily="18" charset="0"/>
              </a:rPr>
              <a:t>trong</a:t>
            </a:r>
            <a:r>
              <a:rPr lang="en-US" sz="1467" dirty="0">
                <a:solidFill>
                  <a:schemeClr val="accent6">
                    <a:lumMod val="75000"/>
                  </a:schemeClr>
                </a:solidFill>
                <a:latin typeface="Times New Roman" panose="02020603050405020304" pitchFamily="18" charset="0"/>
                <a:cs typeface="Times New Roman" panose="02020603050405020304" pitchFamily="18" charset="0"/>
              </a:rPr>
              <a:t> T3/2025 </a:t>
            </a:r>
            <a:r>
              <a:rPr lang="en-US" sz="1467" dirty="0" err="1">
                <a:solidFill>
                  <a:schemeClr val="tx1"/>
                </a:solidFill>
                <a:latin typeface="Times New Roman" panose="02020603050405020304" pitchFamily="18" charset="0"/>
                <a:cs typeface="Times New Roman" panose="02020603050405020304" pitchFamily="18" charset="0"/>
              </a:rPr>
              <a:t>và</a:t>
            </a:r>
            <a:r>
              <a:rPr lang="en-US" sz="1467" dirty="0">
                <a:solidFill>
                  <a:schemeClr val="tx1"/>
                </a:solidFill>
                <a:latin typeface="Times New Roman" panose="02020603050405020304" pitchFamily="18" charset="0"/>
                <a:cs typeface="Times New Roman" panose="02020603050405020304" pitchFamily="18" charset="0"/>
              </a:rPr>
              <a:t> A861 </a:t>
            </a:r>
            <a:r>
              <a:rPr lang="en-US" sz="1467" dirty="0" err="1">
                <a:solidFill>
                  <a:schemeClr val="tx1"/>
                </a:solidFill>
                <a:latin typeface="Times New Roman" panose="02020603050405020304" pitchFamily="18" charset="0"/>
                <a:cs typeface="Times New Roman" panose="02020603050405020304" pitchFamily="18" charset="0"/>
              </a:rPr>
              <a:t>trong</a:t>
            </a:r>
            <a:r>
              <a:rPr lang="en-US" sz="1467" dirty="0">
                <a:solidFill>
                  <a:schemeClr val="tx1"/>
                </a:solidFill>
                <a:latin typeface="Times New Roman" panose="02020603050405020304" pitchFamily="18" charset="0"/>
                <a:cs typeface="Times New Roman" panose="02020603050405020304" pitchFamily="18" charset="0"/>
              </a:rPr>
              <a:t> T4/2025 – </a:t>
            </a:r>
            <a:r>
              <a:rPr lang="en-US" sz="1467" dirty="0" err="1">
                <a:solidFill>
                  <a:schemeClr val="tx1"/>
                </a:solidFill>
                <a:latin typeface="Times New Roman" panose="02020603050405020304" pitchFamily="18" charset="0"/>
                <a:cs typeface="Times New Roman" panose="02020603050405020304" pitchFamily="18" charset="0"/>
              </a:rPr>
              <a:t>Đã</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triển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khai</a:t>
            </a:r>
            <a:r>
              <a:rPr lang="en-US" sz="1467" dirty="0">
                <a:solidFill>
                  <a:schemeClr val="tx1"/>
                </a:solidFill>
                <a:latin typeface="Times New Roman" panose="02020603050405020304" pitchFamily="18" charset="0"/>
                <a:cs typeface="Times New Roman" panose="02020603050405020304" pitchFamily="18" charset="0"/>
              </a:rPr>
              <a:t> Service Order).</a:t>
            </a:r>
          </a:p>
        </p:txBody>
      </p:sp>
      <p:graphicFrame>
        <p:nvGraphicFramePr>
          <p:cNvPr id="6" name="Table 5">
            <a:extLst>
              <a:ext uri="{FF2B5EF4-FFF2-40B4-BE49-F238E27FC236}">
                <a16:creationId xmlns:a16="http://schemas.microsoft.com/office/drawing/2014/main" id="{66BC6617-EF33-BB90-B1C0-6DFD65C9FC16}"/>
              </a:ext>
            </a:extLst>
          </p:cNvPr>
          <p:cNvGraphicFramePr>
            <a:graphicFrameLocks noGrp="1"/>
          </p:cNvGraphicFramePr>
          <p:nvPr/>
        </p:nvGraphicFramePr>
        <p:xfrm>
          <a:off x="88573" y="502766"/>
          <a:ext cx="6778543" cy="3345559"/>
        </p:xfrm>
        <a:graphic>
          <a:graphicData uri="http://schemas.openxmlformats.org/drawingml/2006/table">
            <a:tbl>
              <a:tblPr firstRow="1" bandRow="1">
                <a:tableStyleId>{7DF18680-E054-41AD-8BC1-D1AEF772440D}</a:tableStyleId>
              </a:tblPr>
              <a:tblGrid>
                <a:gridCol w="680205">
                  <a:extLst>
                    <a:ext uri="{9D8B030D-6E8A-4147-A177-3AD203B41FA5}">
                      <a16:colId xmlns:a16="http://schemas.microsoft.com/office/drawing/2014/main" val="1598605427"/>
                    </a:ext>
                  </a:extLst>
                </a:gridCol>
                <a:gridCol w="669252">
                  <a:extLst>
                    <a:ext uri="{9D8B030D-6E8A-4147-A177-3AD203B41FA5}">
                      <a16:colId xmlns:a16="http://schemas.microsoft.com/office/drawing/2014/main" val="3845954792"/>
                    </a:ext>
                  </a:extLst>
                </a:gridCol>
                <a:gridCol w="924170">
                  <a:extLst>
                    <a:ext uri="{9D8B030D-6E8A-4147-A177-3AD203B41FA5}">
                      <a16:colId xmlns:a16="http://schemas.microsoft.com/office/drawing/2014/main" val="3803391337"/>
                    </a:ext>
                  </a:extLst>
                </a:gridCol>
                <a:gridCol w="1722414">
                  <a:extLst>
                    <a:ext uri="{9D8B030D-6E8A-4147-A177-3AD203B41FA5}">
                      <a16:colId xmlns:a16="http://schemas.microsoft.com/office/drawing/2014/main" val="2148822928"/>
                    </a:ext>
                  </a:extLst>
                </a:gridCol>
                <a:gridCol w="954581">
                  <a:extLst>
                    <a:ext uri="{9D8B030D-6E8A-4147-A177-3AD203B41FA5}">
                      <a16:colId xmlns:a16="http://schemas.microsoft.com/office/drawing/2014/main" val="1106888684"/>
                    </a:ext>
                  </a:extLst>
                </a:gridCol>
                <a:gridCol w="721013">
                  <a:extLst>
                    <a:ext uri="{9D8B030D-6E8A-4147-A177-3AD203B41FA5}">
                      <a16:colId xmlns:a16="http://schemas.microsoft.com/office/drawing/2014/main" val="1185879436"/>
                    </a:ext>
                  </a:extLst>
                </a:gridCol>
                <a:gridCol w="1106908">
                  <a:extLst>
                    <a:ext uri="{9D8B030D-6E8A-4147-A177-3AD203B41FA5}">
                      <a16:colId xmlns:a16="http://schemas.microsoft.com/office/drawing/2014/main" val="558551088"/>
                    </a:ext>
                  </a:extLst>
                </a:gridCol>
              </a:tblGrid>
              <a:tr h="424875">
                <a:tc>
                  <a:txBody>
                    <a:bodyPr/>
                    <a:lstStyle/>
                    <a:p>
                      <a:pPr algn="ctr" fontAlgn="ctr"/>
                      <a:r>
                        <a:rPr lang="en-US" sz="1200" u="none" strike="noStrike" dirty="0">
                          <a:solidFill>
                            <a:schemeClr val="bg1"/>
                          </a:solidFill>
                          <a:effectLst/>
                          <a:latin typeface="+mn-lt"/>
                        </a:rPr>
                        <a:t>Engine SV</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a:solidFill>
                            <a:schemeClr val="bg1"/>
                          </a:solidFill>
                          <a:effectLst/>
                          <a:latin typeface="+mn-lt"/>
                        </a:rPr>
                        <a:t>Shop</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err="1">
                          <a:solidFill>
                            <a:schemeClr val="bg1"/>
                          </a:solidFill>
                          <a:effectLst/>
                          <a:latin typeface="Calibri" panose="020F0502020204030204" pitchFamily="34" charset="0"/>
                          <a:cs typeface="Calibri" panose="020F0502020204030204" pitchFamily="34" charset="0"/>
                        </a:rPr>
                        <a:t>Ngày</a:t>
                      </a:r>
                      <a:r>
                        <a:rPr lang="en-US" sz="1200" b="1" i="0" u="none" strike="noStrike" dirty="0">
                          <a:solidFill>
                            <a:schemeClr val="bg1"/>
                          </a:solidFill>
                          <a:effectLst/>
                          <a:latin typeface="Calibri" panose="020F0502020204030204" pitchFamily="34" charset="0"/>
                          <a:cs typeface="Calibri" panose="020F0502020204030204" pitchFamily="34" charset="0"/>
                        </a:rPr>
                        <a:t> </a:t>
                      </a:r>
                      <a:r>
                        <a:rPr lang="en-US" sz="1200" b="1" i="0" u="none" strike="noStrike" dirty="0" err="1">
                          <a:solidFill>
                            <a:schemeClr val="bg1"/>
                          </a:solidFill>
                          <a:effectLst/>
                          <a:latin typeface="Calibri" panose="020F0502020204030204" pitchFamily="34" charset="0"/>
                          <a:cs typeface="Calibri" panose="020F0502020204030204" pitchFamily="34" charset="0"/>
                        </a:rPr>
                        <a:t>tháo</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vi-VN" sz="1200" u="none" strike="noStrike" dirty="0">
                          <a:solidFill>
                            <a:schemeClr val="bg1"/>
                          </a:solidFill>
                          <a:effectLst/>
                          <a:latin typeface="Calibri" panose="020F0502020204030204" pitchFamily="34" charset="0"/>
                          <a:cs typeface="Calibri" panose="020F0502020204030204" pitchFamily="34" charset="0"/>
                        </a:rPr>
                        <a:t>Ngày sửa xong</a:t>
                      </a:r>
                      <a:r>
                        <a:rPr lang="en-US" sz="1200" u="none" strike="noStrike" dirty="0">
                          <a:solidFill>
                            <a:schemeClr val="bg1"/>
                          </a:solidFill>
                          <a:effectLst/>
                          <a:latin typeface="Calibri" panose="020F0502020204030204" pitchFamily="34" charset="0"/>
                          <a:cs typeface="Calibri" panose="020F0502020204030204" pitchFamily="34" charset="0"/>
                        </a:rPr>
                        <a:t> &amp;</a:t>
                      </a:r>
                    </a:p>
                    <a:p>
                      <a:pPr algn="ctr" fontAlgn="ctr"/>
                      <a:r>
                        <a:rPr lang="en-US" sz="1200" u="none" strike="noStrike" dirty="0" err="1">
                          <a:solidFill>
                            <a:schemeClr val="bg1"/>
                          </a:solidFill>
                          <a:effectLst/>
                          <a:latin typeface="Calibri" panose="020F0502020204030204" pitchFamily="34" charset="0"/>
                          <a:cs typeface="Calibri" panose="020F0502020204030204" pitchFamily="34" charset="0"/>
                        </a:rPr>
                        <a:t>Ngày</a:t>
                      </a:r>
                      <a:r>
                        <a:rPr lang="en-US" sz="1200" u="none" strike="noStrike" dirty="0">
                          <a:solidFill>
                            <a:schemeClr val="bg1"/>
                          </a:solidFill>
                          <a:effectLst/>
                          <a:latin typeface="Calibri" panose="020F0502020204030204" pitchFamily="34" charset="0"/>
                          <a:cs typeface="Calibri" panose="020F0502020204030204" pitchFamily="34" charset="0"/>
                        </a:rPr>
                        <a:t> Induction</a:t>
                      </a:r>
                      <a:r>
                        <a:rPr lang="vi-VN" sz="1200" u="none" strike="noStrike" dirty="0">
                          <a:solidFill>
                            <a:schemeClr val="bg1"/>
                          </a:solidFill>
                          <a:effectLst/>
                          <a:latin typeface="Calibri" panose="020F0502020204030204" pitchFamily="34" charset="0"/>
                          <a:cs typeface="Calibri" panose="020F0502020204030204" pitchFamily="34" charset="0"/>
                        </a:rPr>
                        <a:t> </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về</a:t>
                      </a:r>
                      <a:r>
                        <a:rPr lang="en-US" sz="1200" b="1" u="none" strike="noStrike" dirty="0">
                          <a:solidFill>
                            <a:schemeClr val="bg1"/>
                          </a:solidFill>
                          <a:effectLst/>
                          <a:latin typeface="+mn-lt"/>
                        </a:rPr>
                        <a:t> </a:t>
                      </a:r>
                    </a:p>
                    <a:p>
                      <a:pPr algn="ctr" fontAlgn="ctr"/>
                      <a:r>
                        <a:rPr lang="en-US" sz="1200" b="1" u="none" strike="noStrike" dirty="0">
                          <a:solidFill>
                            <a:schemeClr val="bg1"/>
                          </a:solidFill>
                          <a:effectLst/>
                          <a:latin typeface="+mn-lt"/>
                        </a:rPr>
                        <a:t>(+7 </a:t>
                      </a: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vc</a:t>
                      </a:r>
                      <a:r>
                        <a:rPr lang="en-US" sz="1200" b="1" u="none" strike="noStrike" dirty="0">
                          <a:solidFill>
                            <a:schemeClr val="bg1"/>
                          </a:solidFill>
                          <a:effectLst/>
                          <a:latin typeface="+mn-lt"/>
                        </a:rPr>
                        <a:t>)</a:t>
                      </a:r>
                      <a:endParaRPr lang="vi-VN"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err="1">
                          <a:solidFill>
                            <a:schemeClr val="bg1"/>
                          </a:solidFill>
                          <a:effectLst/>
                          <a:latin typeface="+mn-lt"/>
                        </a:rPr>
                        <a:t>Dùng</a:t>
                      </a:r>
                      <a:r>
                        <a:rPr lang="en-US" sz="1200" u="none" strike="noStrike" dirty="0">
                          <a:solidFill>
                            <a:schemeClr val="bg1"/>
                          </a:solidFill>
                          <a:effectLst/>
                          <a:latin typeface="+mn-lt"/>
                        </a:rPr>
                        <a:t> </a:t>
                      </a:r>
                      <a:r>
                        <a:rPr lang="en-US" sz="1200" u="none" strike="noStrike" dirty="0" err="1">
                          <a:solidFill>
                            <a:schemeClr val="bg1"/>
                          </a:solidFill>
                          <a:effectLst/>
                          <a:latin typeface="+mn-lt"/>
                        </a:rPr>
                        <a:t>cho</a:t>
                      </a:r>
                      <a:r>
                        <a:rPr lang="en-US" sz="1200" u="none" strike="noStrike" dirty="0">
                          <a:solidFill>
                            <a:schemeClr val="bg1"/>
                          </a:solidFill>
                          <a:effectLst/>
                          <a:latin typeface="+mn-lt"/>
                        </a:rPr>
                        <a:t> </a:t>
                      </a:r>
                      <a:r>
                        <a:rPr lang="en-US" sz="1200" u="none" strike="noStrike" dirty="0" err="1">
                          <a:solidFill>
                            <a:schemeClr val="bg1"/>
                          </a:solidFill>
                          <a:effectLst/>
                          <a:latin typeface="+mn-lt"/>
                        </a:rPr>
                        <a:t>tàu</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tháo</a:t>
                      </a:r>
                      <a:r>
                        <a:rPr lang="en-US" sz="1200" b="1" u="none" strike="noStrike" dirty="0">
                          <a:solidFill>
                            <a:schemeClr val="bg1"/>
                          </a:solidFill>
                          <a:effectLst/>
                          <a:latin typeface="+mn-lt"/>
                        </a:rPr>
                        <a:t> ĐC </a:t>
                      </a:r>
                      <a:r>
                        <a:rPr lang="en-US" sz="1200" b="1" u="none" strike="noStrike" dirty="0" err="1">
                          <a:solidFill>
                            <a:schemeClr val="bg1"/>
                          </a:solidFill>
                          <a:effectLst/>
                          <a:latin typeface="+mn-lt"/>
                        </a:rPr>
                        <a:t>tiếp</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theo</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234812354"/>
                  </a:ext>
                </a:extLst>
              </a:tr>
              <a:tr h="203288">
                <a:tc>
                  <a:txBody>
                    <a:bodyPr/>
                    <a:lstStyle/>
                    <a:p>
                      <a:pPr algn="ctr" fontAlgn="ctr"/>
                      <a:r>
                        <a:rPr lang="en-US" sz="1200" b="0" u="none" strike="noStrike" dirty="0">
                          <a:solidFill>
                            <a:schemeClr val="tx1"/>
                          </a:solidFill>
                          <a:effectLst/>
                          <a:latin typeface="+mn-lt"/>
                        </a:rPr>
                        <a:t>956577</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24/03/2025</a:t>
                      </a:r>
                    </a:p>
                  </a:txBody>
                  <a:tcPr marL="12700" marR="12700" marT="12700" marB="0" anchor="ctr"/>
                </a:tc>
                <a:tc>
                  <a:txBody>
                    <a:bodyPr/>
                    <a:lstStyle/>
                    <a:p>
                      <a:pPr algn="ctr" fontAlgn="ctr"/>
                      <a:r>
                        <a:rPr lang="en-US" sz="1200" u="none" strike="noStrike" dirty="0">
                          <a:solidFill>
                            <a:schemeClr val="tx1"/>
                          </a:solidFill>
                          <a:effectLst/>
                          <a:latin typeface="+mn-lt"/>
                        </a:rPr>
                        <a:t>Induction 24/06/2025</a:t>
                      </a:r>
                      <a:endParaRPr lang="en-US" sz="120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1"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10276437"/>
                  </a:ext>
                </a:extLst>
              </a:tr>
              <a:tr h="215910">
                <a:tc>
                  <a:txBody>
                    <a:bodyPr/>
                    <a:lstStyle/>
                    <a:p>
                      <a:pPr algn="ctr" fontAlgn="ctr"/>
                      <a:r>
                        <a:rPr lang="en-US" sz="1200" b="0" i="0" u="none" strike="noStrike" dirty="0">
                          <a:solidFill>
                            <a:schemeClr val="tx1"/>
                          </a:solidFill>
                          <a:effectLst/>
                          <a:latin typeface="+mn-lt"/>
                          <a:cs typeface="Times New Roman" panose="02020603050405020304" pitchFamily="18" charset="0"/>
                        </a:rPr>
                        <a:t>956769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08/04/2025</a:t>
                      </a: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Induction 22/07/2025</a:t>
                      </a:r>
                    </a:p>
                  </a:txBody>
                  <a:tcPr marL="12700" marR="12700" marT="12700" marB="0" anchor="ctr"/>
                </a:tc>
                <a:tc>
                  <a:txBody>
                    <a:bodyPr/>
                    <a:lstStyle/>
                    <a:p>
                      <a:pPr algn="ctr" fontAlgn="ctr"/>
                      <a:r>
                        <a:rPr lang="en-US" sz="1200" b="1"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393248472"/>
                  </a:ext>
                </a:extLst>
              </a:tr>
              <a:tr h="396015">
                <a:tc>
                  <a:txBody>
                    <a:bodyPr/>
                    <a:lstStyle/>
                    <a:p>
                      <a:pPr algn="ctr" fontAlgn="ctr"/>
                      <a:r>
                        <a:rPr lang="en-US" sz="1200" b="0" u="none" strike="noStrike" dirty="0">
                          <a:solidFill>
                            <a:schemeClr val="tx1"/>
                          </a:solidFill>
                          <a:effectLst/>
                          <a:latin typeface="+mn-lt"/>
                        </a:rPr>
                        <a:t>956533</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26/01/2024</a:t>
                      </a:r>
                    </a:p>
                  </a:txBody>
                  <a:tcPr marL="12700" marR="12700" marT="12700" marB="0" anchor="ctr"/>
                </a:tc>
                <a:tc>
                  <a:txBody>
                    <a:bodyPr/>
                    <a:lstStyle/>
                    <a:p>
                      <a:pPr algn="ctr" fontAlgn="ctr"/>
                      <a:r>
                        <a:rPr lang="en-US" sz="1200" b="1" u="none" strike="noStrike" dirty="0">
                          <a:solidFill>
                            <a:srgbClr val="BA0000"/>
                          </a:solidFill>
                          <a:effectLst/>
                          <a:latin typeface="+mn-lt"/>
                          <a:cs typeface="Times New Roman" panose="02020603050405020304" pitchFamily="18" charset="0"/>
                        </a:rPr>
                        <a:t>24/04/2025</a:t>
                      </a:r>
                    </a:p>
                    <a:p>
                      <a:pPr algn="ctr" fontAlgn="ctr"/>
                      <a:r>
                        <a:rPr lang="en-US" sz="1200" b="0" u="none" strike="noStrike" dirty="0">
                          <a:solidFill>
                            <a:schemeClr val="tx1"/>
                          </a:solidFill>
                          <a:effectLst/>
                          <a:latin typeface="+mn-lt"/>
                          <a:cs typeface="Times New Roman" panose="02020603050405020304" pitchFamily="18" charset="0"/>
                        </a:rPr>
                        <a:t>Inducted 05/10/2024</a:t>
                      </a:r>
                    </a:p>
                  </a:txBody>
                  <a:tcPr marL="12700" marR="12700" marT="12700" marB="0" anchor="ctr"/>
                </a:tc>
                <a:tc>
                  <a:txBody>
                    <a:bodyPr/>
                    <a:lstStyle/>
                    <a:p>
                      <a:pPr marL="0" algn="ctr" defTabSz="914400" rtl="0" eaLnBrk="1" fontAlgn="ctr" latinLnBrk="0" hangingPunct="1"/>
                      <a:r>
                        <a:rPr lang="en-US" sz="1200" b="1" i="0" u="none" strike="noStrike" kern="1200" dirty="0">
                          <a:solidFill>
                            <a:srgbClr val="BA0000"/>
                          </a:solidFill>
                          <a:effectLst/>
                          <a:latin typeface="+mn-lt"/>
                          <a:ea typeface="+mn-ea"/>
                          <a:cs typeface="Times New Roman" panose="02020603050405020304" pitchFamily="18" charset="0"/>
                        </a:rPr>
                        <a:t>30/04/2025</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i="0" u="none" strike="noStrike" dirty="0">
                          <a:solidFill>
                            <a:srgbClr val="C00000"/>
                          </a:solidFill>
                          <a:effectLst/>
                          <a:latin typeface="+mn-lt"/>
                          <a:cs typeface="Times New Roman" panose="02020603050405020304" pitchFamily="18" charset="0"/>
                        </a:rPr>
                        <a:t>A871 (</a:t>
                      </a:r>
                      <a:r>
                        <a:rPr lang="en-US" sz="1200" b="0" i="0" u="none" strike="noStrike" dirty="0" err="1">
                          <a:solidFill>
                            <a:srgbClr val="C00000"/>
                          </a:solidFill>
                          <a:effectLst/>
                          <a:latin typeface="+mn-lt"/>
                          <a:cs typeface="Times New Roman" panose="02020603050405020304" pitchFamily="18" charset="0"/>
                        </a:rPr>
                        <a:t>dự</a:t>
                      </a:r>
                      <a:r>
                        <a:rPr lang="en-US" sz="1200" b="0" i="0" u="none" strike="noStrike" dirty="0">
                          <a:solidFill>
                            <a:srgbClr val="C00000"/>
                          </a:solidFill>
                          <a:effectLst/>
                          <a:latin typeface="+mn-lt"/>
                          <a:cs typeface="Times New Roman" panose="02020603050405020304" pitchFamily="18" charset="0"/>
                        </a:rPr>
                        <a:t> </a:t>
                      </a:r>
                      <a:r>
                        <a:rPr lang="en-US" sz="1200" b="0" i="0" u="none" strike="noStrike" dirty="0" err="1">
                          <a:solidFill>
                            <a:srgbClr val="C00000"/>
                          </a:solidFill>
                          <a:effectLst/>
                          <a:latin typeface="+mn-lt"/>
                          <a:cs typeface="Times New Roman" panose="02020603050405020304" pitchFamily="18" charset="0"/>
                        </a:rPr>
                        <a:t>kiến</a:t>
                      </a:r>
                      <a:r>
                        <a:rPr lang="en-US" sz="1200" b="0" i="0" u="none" strike="noStrike" dirty="0">
                          <a:solidFill>
                            <a:srgbClr val="C00000"/>
                          </a:solidFill>
                          <a:effectLst/>
                          <a:latin typeface="+mn-lt"/>
                          <a:cs typeface="Times New Roman" panose="02020603050405020304" pitchFamily="18" charset="0"/>
                        </a:rPr>
                        <a:t>)</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80068930"/>
                  </a:ext>
                </a:extLst>
              </a:tr>
              <a:tr h="393375">
                <a:tc>
                  <a:txBody>
                    <a:bodyPr/>
                    <a:lstStyle/>
                    <a:p>
                      <a:pPr algn="ctr" fontAlgn="ctr"/>
                      <a:r>
                        <a:rPr lang="en-US" sz="1200" b="0" u="none" strike="noStrike" dirty="0">
                          <a:solidFill>
                            <a:schemeClr val="tx1"/>
                          </a:solidFill>
                          <a:effectLst/>
                          <a:latin typeface="+mn-lt"/>
                        </a:rPr>
                        <a:t>956569</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28/07/2024</a:t>
                      </a:r>
                    </a:p>
                  </a:txBody>
                  <a:tcPr marL="12700" marR="12700" marT="12700" marB="0" anchor="ctr"/>
                </a:tc>
                <a:tc>
                  <a:txBody>
                    <a:bodyPr/>
                    <a:lstStyle/>
                    <a:p>
                      <a:pPr algn="ctr" fontAlgn="ctr"/>
                      <a:r>
                        <a:rPr lang="en-US" sz="1200" b="1" u="none" strike="noStrike" dirty="0">
                          <a:solidFill>
                            <a:srgbClr val="BA0000"/>
                          </a:solidFill>
                          <a:effectLst/>
                          <a:latin typeface="+mn-lt"/>
                          <a:cs typeface="Times New Roman" panose="02020603050405020304" pitchFamily="18" charset="0"/>
                        </a:rPr>
                        <a:t>28/05/2025</a:t>
                      </a:r>
                    </a:p>
                    <a:p>
                      <a:pPr algn="ctr" fontAlgn="ctr"/>
                      <a:r>
                        <a:rPr lang="en-US" sz="1200" b="0" u="none" strike="noStrike" dirty="0">
                          <a:solidFill>
                            <a:schemeClr val="tx1"/>
                          </a:solidFill>
                          <a:effectLst/>
                          <a:latin typeface="+mn-lt"/>
                          <a:cs typeface="Times New Roman" panose="02020603050405020304" pitchFamily="18" charset="0"/>
                        </a:rPr>
                        <a:t>Inducted 12/11/2024</a:t>
                      </a:r>
                    </a:p>
                  </a:txBody>
                  <a:tcPr marL="12700" marR="12700" marT="12700" marB="0" anchor="ctr"/>
                </a:tc>
                <a:tc>
                  <a:txBody>
                    <a:bodyPr/>
                    <a:lstStyle/>
                    <a:p>
                      <a:pPr marL="0" algn="ctr" defTabSz="914400" rtl="0" eaLnBrk="1" fontAlgn="ctr" latinLnBrk="0" hangingPunct="1"/>
                      <a:r>
                        <a:rPr lang="en-US" sz="1200" b="1" i="0" u="none" strike="noStrike" kern="1200" dirty="0">
                          <a:solidFill>
                            <a:srgbClr val="BA0000"/>
                          </a:solidFill>
                          <a:effectLst/>
                          <a:latin typeface="+mn-lt"/>
                          <a:ea typeface="+mn-ea"/>
                          <a:cs typeface="Times New Roman" panose="02020603050405020304" pitchFamily="18" charset="0"/>
                        </a:rPr>
                        <a:t>04/06/2025</a:t>
                      </a: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1" i="0" u="none" strike="noStrike" dirty="0">
                        <a:solidFill>
                          <a:srgbClr val="BA0000"/>
                        </a:solidFill>
                        <a:effectLst/>
                        <a:latin typeface="+mn-lt"/>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8617102"/>
                  </a:ext>
                </a:extLst>
              </a:tr>
              <a:tr h="424875">
                <a:tc>
                  <a:txBody>
                    <a:bodyPr/>
                    <a:lstStyle/>
                    <a:p>
                      <a:pPr algn="ctr" fontAlgn="ctr"/>
                      <a:r>
                        <a:rPr lang="en-US" sz="1200" b="0" i="0" u="none" strike="noStrike" dirty="0">
                          <a:solidFill>
                            <a:schemeClr val="tx1"/>
                          </a:solidFill>
                          <a:effectLst/>
                          <a:latin typeface="+mn-lt"/>
                          <a:cs typeface="Times New Roman" panose="02020603050405020304" pitchFamily="18" charset="0"/>
                        </a:rPr>
                        <a:t>958398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GEEVES</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21/06/2024</a:t>
                      </a:r>
                    </a:p>
                  </a:txBody>
                  <a:tcPr marL="12700" marR="12700" marT="12700" marB="0" anchor="ctr"/>
                </a:tc>
                <a:tc>
                  <a:txBody>
                    <a:bodyPr/>
                    <a:lstStyle/>
                    <a:p>
                      <a:pPr algn="ctr" fontAlgn="ctr"/>
                      <a:r>
                        <a:rPr lang="en-US" sz="1200" b="1" u="none" strike="noStrike" dirty="0">
                          <a:solidFill>
                            <a:srgbClr val="C00000"/>
                          </a:solidFill>
                          <a:effectLst/>
                          <a:latin typeface="+mn-lt"/>
                          <a:cs typeface="Times New Roman" panose="02020603050405020304" pitchFamily="18" charset="0"/>
                        </a:rPr>
                        <a:t>07/06/2025</a:t>
                      </a:r>
                    </a:p>
                    <a:p>
                      <a:pPr algn="ctr" fontAlgn="ctr"/>
                      <a:r>
                        <a:rPr lang="en-US" sz="1200" b="0" u="none" strike="noStrike" dirty="0">
                          <a:solidFill>
                            <a:schemeClr val="tx1"/>
                          </a:solidFill>
                          <a:effectLst/>
                          <a:latin typeface="+mn-lt"/>
                          <a:cs typeface="Times New Roman" panose="02020603050405020304" pitchFamily="18" charset="0"/>
                        </a:rPr>
                        <a:t>Inducted 17/07/2024</a:t>
                      </a:r>
                    </a:p>
                  </a:txBody>
                  <a:tcPr marL="12700" marR="12700" marT="12700" marB="0" anchor="ctr"/>
                </a:tc>
                <a:tc>
                  <a:txBody>
                    <a:bodyPr/>
                    <a:lstStyle/>
                    <a:p>
                      <a:pPr algn="ctr" fontAlgn="ctr"/>
                      <a:r>
                        <a:rPr lang="en-US" sz="1200" b="1" i="0" u="none" strike="noStrike">
                          <a:solidFill>
                            <a:srgbClr val="C00000"/>
                          </a:solidFill>
                          <a:effectLst/>
                          <a:latin typeface="+mn-lt"/>
                          <a:cs typeface="Times New Roman" panose="02020603050405020304" pitchFamily="18" charset="0"/>
                        </a:rPr>
                        <a:t>15/06/2025</a:t>
                      </a:r>
                      <a:endParaRPr lang="en-US" sz="1200" b="1" i="0" u="none" strike="noStrike" dirty="0">
                        <a:solidFill>
                          <a:srgbClr val="C00000"/>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rgbClr val="00B050"/>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rgbClr val="00B05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168631574"/>
                  </a:ext>
                </a:extLst>
              </a:tr>
              <a:tr h="424875">
                <a:tc>
                  <a:txBody>
                    <a:bodyPr/>
                    <a:lstStyle/>
                    <a:p>
                      <a:pPr algn="ctr" fontAlgn="ctr"/>
                      <a:r>
                        <a:rPr lang="en-US" sz="1200" b="0" i="0" u="none" strike="noStrike" dirty="0">
                          <a:solidFill>
                            <a:schemeClr val="tx1"/>
                          </a:solidFill>
                          <a:effectLst/>
                          <a:latin typeface="+mn-lt"/>
                          <a:cs typeface="Times New Roman" panose="02020603050405020304" pitchFamily="18" charset="0"/>
                        </a:rPr>
                        <a:t>956599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05/09/2024</a:t>
                      </a:r>
                    </a:p>
                  </a:txBody>
                  <a:tcPr marL="12700" marR="12700" marT="12700" marB="0" anchor="ctr"/>
                </a:tc>
                <a:tc>
                  <a:txBody>
                    <a:bodyPr/>
                    <a:lstStyle/>
                    <a:p>
                      <a:pPr algn="ctr" fontAlgn="ctr"/>
                      <a:r>
                        <a:rPr lang="en-US" sz="1200" b="1" u="none" strike="noStrike" dirty="0">
                          <a:solidFill>
                            <a:srgbClr val="C00000"/>
                          </a:solidFill>
                          <a:effectLst/>
                          <a:latin typeface="+mn-lt"/>
                          <a:cs typeface="Times New Roman" panose="02020603050405020304" pitchFamily="18" charset="0"/>
                        </a:rPr>
                        <a:t>13/07/2025</a:t>
                      </a:r>
                    </a:p>
                    <a:p>
                      <a:pPr algn="ctr" fontAlgn="ctr"/>
                      <a:r>
                        <a:rPr lang="en-US" sz="1200" b="0" u="none" strike="noStrike" dirty="0">
                          <a:solidFill>
                            <a:schemeClr val="tx1"/>
                          </a:solidFill>
                          <a:effectLst/>
                          <a:latin typeface="+mn-lt"/>
                          <a:cs typeface="Times New Roman" panose="02020603050405020304" pitchFamily="18" charset="0"/>
                        </a:rPr>
                        <a:t>Inducted 26/11/2024</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167051134"/>
                  </a:ext>
                </a:extLst>
              </a:tr>
              <a:tr h="237753">
                <a:tc>
                  <a:txBody>
                    <a:bodyPr/>
                    <a:lstStyle/>
                    <a:p>
                      <a:pPr algn="ctr" fontAlgn="ctr"/>
                      <a:r>
                        <a:rPr lang="en-US" sz="1200" b="0" i="0" u="none" strike="noStrike" dirty="0">
                          <a:solidFill>
                            <a:schemeClr val="tx1"/>
                          </a:solidFill>
                          <a:effectLst/>
                          <a:latin typeface="+mn-lt"/>
                          <a:cs typeface="Times New Roman" panose="02020603050405020304" pitchFamily="18" charset="0"/>
                        </a:rPr>
                        <a:t>956638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11/03/2025</a:t>
                      </a:r>
                    </a:p>
                  </a:txBody>
                  <a:tcPr marL="12700" marR="12700" marT="12700" marB="0" anchor="ctr"/>
                </a:tc>
                <a:tc>
                  <a:txBody>
                    <a:bodyPr/>
                    <a:lstStyle/>
                    <a:p>
                      <a:pPr algn="ctr" fontAlgn="ctr"/>
                      <a:r>
                        <a:rPr lang="en-US" sz="1200" b="0" u="none" strike="noStrike" kern="1200" dirty="0">
                          <a:solidFill>
                            <a:schemeClr val="tx1"/>
                          </a:solidFill>
                          <a:effectLst/>
                          <a:latin typeface="+mn-lt"/>
                          <a:ea typeface="+mn-ea"/>
                          <a:cs typeface="Times New Roman" panose="02020603050405020304" pitchFamily="18" charset="0"/>
                        </a:rPr>
                        <a:t>Induction 27/05/2025</a:t>
                      </a:r>
                    </a:p>
                  </a:txBody>
                  <a:tcPr marL="12700" marR="12700" marT="12700" marB="0" anchor="ctr"/>
                </a:tc>
                <a:tc>
                  <a:txBody>
                    <a:bodyPr/>
                    <a:lstStyle/>
                    <a:p>
                      <a:pPr algn="ctr" fontAlgn="ctr"/>
                      <a:r>
                        <a:rPr lang="en-US" sz="1200" b="0" u="none" strike="noStrike" kern="1200" dirty="0">
                          <a:solidFill>
                            <a:schemeClr val="tx1"/>
                          </a:solidFill>
                          <a:effectLst/>
                          <a:latin typeface="+mn-lt"/>
                          <a:ea typeface="+mn-ea"/>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80115374"/>
                  </a:ext>
                </a:extLst>
              </a:tr>
              <a:tr h="148504">
                <a:tc>
                  <a:txBody>
                    <a:bodyPr/>
                    <a:lstStyle/>
                    <a:p>
                      <a:pPr algn="ctr" fontAlgn="ctr"/>
                      <a:r>
                        <a:rPr lang="en-US" sz="1200" b="0" i="0" u="none" strike="noStrike" dirty="0">
                          <a:solidFill>
                            <a:schemeClr val="tx1"/>
                          </a:solidFill>
                          <a:effectLst/>
                          <a:latin typeface="+mn-lt"/>
                          <a:cs typeface="Times New Roman" panose="02020603050405020304" pitchFamily="18" charset="0"/>
                        </a:rPr>
                        <a:t>956947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13/11/2024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Inducted 04/03/2025       </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90409908"/>
                  </a:ext>
                </a:extLst>
              </a:tr>
              <a:tr h="209446">
                <a:tc>
                  <a:txBody>
                    <a:bodyPr/>
                    <a:lstStyle/>
                    <a:p>
                      <a:pPr algn="ctr" fontAlgn="ctr"/>
                      <a:r>
                        <a:rPr lang="en-US" sz="1200" b="0" i="0" u="none" strike="noStrike" dirty="0">
                          <a:solidFill>
                            <a:schemeClr val="tx1"/>
                          </a:solidFill>
                          <a:effectLst/>
                          <a:latin typeface="+mn-lt"/>
                          <a:cs typeface="Times New Roman" panose="02020603050405020304" pitchFamily="18" charset="0"/>
                        </a:rPr>
                        <a:t>956534</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15/12/2024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Induction 15/04/2025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64472465"/>
                  </a:ext>
                </a:extLst>
              </a:tr>
              <a:tr h="219567">
                <a:tc>
                  <a:txBody>
                    <a:bodyPr/>
                    <a:lstStyle/>
                    <a:p>
                      <a:pPr algn="ctr" fontAlgn="ctr"/>
                      <a:r>
                        <a:rPr lang="en-US" sz="1200" b="0" i="0" u="none" strike="noStrike" dirty="0">
                          <a:solidFill>
                            <a:schemeClr val="tx1"/>
                          </a:solidFill>
                          <a:effectLst/>
                          <a:latin typeface="+mn-lt"/>
                          <a:cs typeface="Times New Roman" panose="02020603050405020304" pitchFamily="18" charset="0"/>
                        </a:rPr>
                        <a:t>958395</a:t>
                      </a:r>
                    </a:p>
                  </a:txBody>
                  <a:tcPr marL="12700" marR="12700" marT="1270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 CAL</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11/02/2025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Induction 06/05/2025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9697906"/>
                  </a:ext>
                </a:extLst>
              </a:tr>
            </a:tbl>
          </a:graphicData>
        </a:graphic>
      </p:graphicFrame>
      <p:sp>
        <p:nvSpPr>
          <p:cNvPr id="7" name="TextBox 6">
            <a:extLst>
              <a:ext uri="{FF2B5EF4-FFF2-40B4-BE49-F238E27FC236}">
                <a16:creationId xmlns:a16="http://schemas.microsoft.com/office/drawing/2014/main" id="{1D51DD3A-A3BC-37D8-A7BC-C2D1AAF32241}"/>
              </a:ext>
            </a:extLst>
          </p:cNvPr>
          <p:cNvSpPr txBox="1"/>
          <p:nvPr/>
        </p:nvSpPr>
        <p:spPr>
          <a:xfrm>
            <a:off x="-2309" y="0"/>
            <a:ext cx="14875495"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B787</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42663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1B87A-D677-E2CD-D388-4756C0FD6622}"/>
              </a:ext>
            </a:extLst>
          </p:cNvPr>
          <p:cNvSpPr>
            <a:spLocks noGrp="1"/>
          </p:cNvSpPr>
          <p:nvPr>
            <p:ph type="sldNum" idx="12"/>
          </p:nvPr>
        </p:nvSpPr>
        <p:spPr/>
        <p:txBody>
          <a:bodyPr/>
          <a:lstStyle/>
          <a:p>
            <a:fld id="{00000000-1234-1234-1234-123412341234}" type="slidenum">
              <a:rPr lang="vi" smtClean="0">
                <a:cs typeface="Times New Roman" panose="02020603050405020304" pitchFamily="18" charset="0"/>
              </a:rPr>
              <a:pPr/>
              <a:t>39</a:t>
            </a:fld>
            <a:endParaRPr lang="vi">
              <a:cs typeface="Times New Roman" panose="02020603050405020304" pitchFamily="18" charset="0"/>
            </a:endParaRPr>
          </a:p>
        </p:txBody>
      </p:sp>
      <p:sp>
        <p:nvSpPr>
          <p:cNvPr id="3" name="Slide Number Placeholder 3">
            <a:extLst>
              <a:ext uri="{FF2B5EF4-FFF2-40B4-BE49-F238E27FC236}">
                <a16:creationId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39</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id="{EF695E52-C896-9BB0-D877-6900CC294C68}"/>
              </a:ext>
            </a:extLst>
          </p:cNvPr>
          <p:cNvSpPr txBox="1"/>
          <p:nvPr/>
        </p:nvSpPr>
        <p:spPr>
          <a:xfrm>
            <a:off x="59590" y="0"/>
            <a:ext cx="14875495" cy="502766"/>
          </a:xfrm>
          <a:prstGeom prst="rect">
            <a:avLst/>
          </a:prstGeom>
          <a:noFill/>
        </p:spPr>
        <p:txBody>
          <a:bodyPr wrap="square" rtlCol="0">
            <a:spAutoFit/>
          </a:bodyPr>
          <a:lstStyle/>
          <a:p>
            <a:pPr defTabSz="1219170">
              <a:defRPr/>
            </a:pPr>
            <a:r>
              <a:rPr lang="en-GB" sz="2667" b="1" dirty="0">
                <a:ln w="0"/>
                <a:solidFill>
                  <a:srgbClr val="FBAC00"/>
                </a:solidFill>
                <a:latin typeface="Times New Roman" panose="02020603050405020304" pitchFamily="18" charset="0"/>
                <a:cs typeface="Times New Roman" panose="02020603050405020304" pitchFamily="18" charset="0"/>
              </a:rPr>
              <a:t>TÌNH TRẠNG ĐỘNG CƠ A350</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9BAFF210-6A48-BE4D-D3F6-9B8EEEA5040F}"/>
              </a:ext>
            </a:extLst>
          </p:cNvPr>
          <p:cNvGraphicFramePr>
            <a:graphicFrameLocks noGrp="1"/>
          </p:cNvGraphicFramePr>
          <p:nvPr/>
        </p:nvGraphicFramePr>
        <p:xfrm>
          <a:off x="59590" y="875397"/>
          <a:ext cx="5905159" cy="3589020"/>
        </p:xfrm>
        <a:graphic>
          <a:graphicData uri="http://schemas.openxmlformats.org/drawingml/2006/table">
            <a:tbl>
              <a:tblPr firstRow="1" bandRow="1">
                <a:tableStyleId>{5C22544A-7EE6-4342-B048-85BDC9FD1C3A}</a:tableStyleId>
              </a:tblPr>
              <a:tblGrid>
                <a:gridCol w="854810">
                  <a:extLst>
                    <a:ext uri="{9D8B030D-6E8A-4147-A177-3AD203B41FA5}">
                      <a16:colId xmlns:a16="http://schemas.microsoft.com/office/drawing/2014/main" val="1930757539"/>
                    </a:ext>
                  </a:extLst>
                </a:gridCol>
                <a:gridCol w="762000">
                  <a:extLst>
                    <a:ext uri="{9D8B030D-6E8A-4147-A177-3AD203B41FA5}">
                      <a16:colId xmlns:a16="http://schemas.microsoft.com/office/drawing/2014/main" val="1674463010"/>
                    </a:ext>
                  </a:extLst>
                </a:gridCol>
                <a:gridCol w="838200">
                  <a:extLst>
                    <a:ext uri="{9D8B030D-6E8A-4147-A177-3AD203B41FA5}">
                      <a16:colId xmlns:a16="http://schemas.microsoft.com/office/drawing/2014/main" val="1549944897"/>
                    </a:ext>
                  </a:extLst>
                </a:gridCol>
                <a:gridCol w="1752600">
                  <a:extLst>
                    <a:ext uri="{9D8B030D-6E8A-4147-A177-3AD203B41FA5}">
                      <a16:colId xmlns:a16="http://schemas.microsoft.com/office/drawing/2014/main" val="3687717734"/>
                    </a:ext>
                  </a:extLst>
                </a:gridCol>
                <a:gridCol w="1697549">
                  <a:extLst>
                    <a:ext uri="{9D8B030D-6E8A-4147-A177-3AD203B41FA5}">
                      <a16:colId xmlns:a16="http://schemas.microsoft.com/office/drawing/2014/main" val="4100307886"/>
                    </a:ext>
                  </a:extLst>
                </a:gridCol>
              </a:tblGrid>
              <a:tr h="170307">
                <a:tc>
                  <a:txBody>
                    <a:bodyPr/>
                    <a:lstStyle/>
                    <a:p>
                      <a:r>
                        <a:rPr lang="en-US" sz="1200">
                          <a:latin typeface="Times New Roman" panose="02020603050405020304" pitchFamily="18" charset="0"/>
                          <a:cs typeface="Times New Roman" panose="02020603050405020304" pitchFamily="18" charset="0"/>
                        </a:rPr>
                        <a:t>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Shop</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Induct</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err="1">
                          <a:latin typeface="Times New Roman" panose="02020603050405020304" pitchFamily="18" charset="0"/>
                          <a:cs typeface="Times New Roman" panose="02020603050405020304" pitchFamily="18" charset="0"/>
                        </a:rPr>
                        <a:t>Ngày</a:t>
                      </a:r>
                      <a:r>
                        <a:rPr lang="en-US" sz="1200">
                          <a:latin typeface="Times New Roman" panose="02020603050405020304" pitchFamily="18" charset="0"/>
                          <a:cs typeface="Times New Roman" panose="02020603050405020304" pitchFamily="18" charset="0"/>
                        </a:rPr>
                        <a:t> xong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263976">
                <a:tc>
                  <a:txBody>
                    <a:bodyPr/>
                    <a:lstStyle/>
                    <a:p>
                      <a:r>
                        <a:rPr lang="en-US" sz="1200" b="1" dirty="0">
                          <a:latin typeface="Times New Roman" panose="02020603050405020304" pitchFamily="18" charset="0"/>
                          <a:cs typeface="Times New Roman" panose="02020603050405020304" pitchFamily="18" charset="0"/>
                        </a:rPr>
                        <a:t>21047</a:t>
                      </a: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N3</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14/08/24</a:t>
                      </a: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08/04/</a:t>
                      </a:r>
                      <a:r>
                        <a:rPr lang="vi-VN" sz="1200" b="0">
                          <a:solidFill>
                            <a:schemeClr val="tx1"/>
                          </a:solidFill>
                          <a:latin typeface="Times New Roman" panose="02020603050405020304" pitchFamily="18" charset="0"/>
                          <a:cs typeface="Times New Roman" panose="02020603050405020304" pitchFamily="18" charset="0"/>
                        </a:rPr>
                        <a:t>25</a:t>
                      </a:r>
                      <a:endParaRPr lang="en-US" sz="1200" b="0">
                        <a:solidFill>
                          <a:schemeClr val="tx1"/>
                        </a:solidFill>
                        <a:latin typeface="Times New Roman" panose="02020603050405020304" pitchFamily="18" charset="0"/>
                        <a:cs typeface="Times New Roman" panose="02020603050405020304" pitchFamily="18" charset="0"/>
                      </a:endParaRPr>
                    </a:p>
                    <a:p>
                      <a:r>
                        <a:rPr lang="en-US" sz="1100" b="0" i="0">
                          <a:solidFill>
                            <a:schemeClr val="tx1"/>
                          </a:solidFill>
                          <a:latin typeface="Times New Roman" panose="02020603050405020304" pitchFamily="18" charset="0"/>
                          <a:cs typeface="Times New Roman" panose="02020603050405020304" pitchFamily="18" charset="0"/>
                        </a:rPr>
                        <a:t>(Delay 37 ngày vs KH gốc)</a:t>
                      </a:r>
                      <a:endParaRPr lang="en-US" sz="1100" b="0" i="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1">
                          <a:solidFill>
                            <a:srgbClr val="FF0000"/>
                          </a:solidFill>
                          <a:latin typeface="Times New Roman" panose="02020603050405020304" pitchFamily="18" charset="0"/>
                          <a:cs typeface="Times New Roman" panose="02020603050405020304" pitchFamily="18" charset="0"/>
                        </a:rPr>
                        <a:t>27/04/</a:t>
                      </a:r>
                      <a:r>
                        <a:rPr lang="vi-VN" sz="1200" b="1">
                          <a:solidFill>
                            <a:srgbClr val="FF0000"/>
                          </a:solidFill>
                          <a:latin typeface="Times New Roman" panose="02020603050405020304" pitchFamily="18" charset="0"/>
                          <a:cs typeface="Times New Roman" panose="02020603050405020304" pitchFamily="18" charset="0"/>
                        </a:rPr>
                        <a:t>25</a:t>
                      </a:r>
                      <a:r>
                        <a:rPr lang="en-US" sz="1200" b="1">
                          <a:solidFill>
                            <a:srgbClr val="FF0000"/>
                          </a:solidFill>
                          <a:latin typeface="Times New Roman" panose="02020603050405020304" pitchFamily="18" charset="0"/>
                          <a:cs typeface="Times New Roman" panose="02020603050405020304" pitchFamily="18" charset="0"/>
                        </a:rPr>
                        <a:t> (delay do vấn đề vận chuyển)</a:t>
                      </a:r>
                      <a:endParaRPr lang="en-US" sz="1200" b="1" dirty="0">
                        <a:solidFill>
                          <a:srgbClr val="FF0000"/>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082573017"/>
                  </a:ext>
                </a:extLst>
              </a:tr>
              <a:tr h="259718">
                <a:tc>
                  <a:txBody>
                    <a:bodyPr/>
                    <a:lstStyle/>
                    <a:p>
                      <a:r>
                        <a:rPr lang="en-US" sz="1200" b="1" dirty="0">
                          <a:latin typeface="Times New Roman" panose="02020603050405020304" pitchFamily="18" charset="0"/>
                          <a:cs typeface="Times New Roman" panose="02020603050405020304" pitchFamily="18" charset="0"/>
                        </a:rPr>
                        <a:t>21043</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N3</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14/11/24</a:t>
                      </a: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14/06/25</a:t>
                      </a:r>
                    </a:p>
                    <a:p>
                      <a:r>
                        <a:rPr lang="en-US" sz="1050" b="0">
                          <a:solidFill>
                            <a:schemeClr val="tx1"/>
                          </a:solidFill>
                          <a:latin typeface="Times New Roman" panose="02020603050405020304" pitchFamily="18" charset="0"/>
                          <a:cs typeface="Times New Roman" panose="02020603050405020304" pitchFamily="18" charset="0"/>
                        </a:rPr>
                        <a:t>(+14 ngày so với KH gốc)</a:t>
                      </a:r>
                      <a:endParaRPr lang="en-US" sz="105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24/06/25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3465224"/>
                  </a:ext>
                </a:extLst>
              </a:tr>
              <a:tr h="263976">
                <a:tc>
                  <a:txBody>
                    <a:bodyPr/>
                    <a:lstStyle/>
                    <a:p>
                      <a:r>
                        <a:rPr lang="en-US" sz="1200" b="1" dirty="0">
                          <a:latin typeface="Times New Roman" panose="02020603050405020304" pitchFamily="18" charset="0"/>
                          <a:cs typeface="Times New Roman" panose="02020603050405020304" pitchFamily="18" charset="0"/>
                        </a:rPr>
                        <a:t>21137</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N3</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12/12/24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20/06/25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a:solidFill>
                            <a:schemeClr val="tx1"/>
                          </a:solidFill>
                          <a:latin typeface="Times New Roman" panose="02020603050405020304" pitchFamily="18" charset="0"/>
                          <a:cs typeface="Times New Roman" panose="02020603050405020304" pitchFamily="18" charset="0"/>
                        </a:rPr>
                        <a:t>(+7 ngày so với KH gốc)</a:t>
                      </a: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07/07/25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733553736"/>
                  </a:ext>
                </a:extLst>
              </a:tr>
              <a:tr h="170307">
                <a:tc>
                  <a:txBody>
                    <a:bodyPr/>
                    <a:lstStyle/>
                    <a:p>
                      <a:r>
                        <a:rPr lang="en-US" sz="1200" b="1" dirty="0">
                          <a:latin typeface="Times New Roman" panose="02020603050405020304" pitchFamily="18" charset="0"/>
                          <a:cs typeface="Times New Roman" panose="02020603050405020304" pitchFamily="18" charset="0"/>
                        </a:rPr>
                        <a:t>21201</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28/12/24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17/04/25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07/05/25 (cần chuyển stand)</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727372545"/>
                  </a:ext>
                </a:extLst>
              </a:tr>
              <a:tr h="170307">
                <a:tc>
                  <a:txBody>
                    <a:bodyPr/>
                    <a:lstStyle/>
                    <a:p>
                      <a:r>
                        <a:rPr lang="en-US" sz="1200" b="1" dirty="0">
                          <a:latin typeface="Times New Roman" panose="02020603050405020304" pitchFamily="18" charset="0"/>
                          <a:cs typeface="Times New Roman" panose="02020603050405020304" pitchFamily="18" charset="0"/>
                        </a:rPr>
                        <a:t>21584</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SAESL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23/01/25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23/05/25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02/06/25</a:t>
                      </a:r>
                    </a:p>
                  </a:txBody>
                  <a:tcPr marL="121920" marR="121920" marT="60960" marB="60960" anchor="ctr"/>
                </a:tc>
                <a:extLst>
                  <a:ext uri="{0D108BD9-81ED-4DB2-BD59-A6C34878D82A}">
                    <a16:rowId xmlns:a16="http://schemas.microsoft.com/office/drawing/2014/main" val="829074625"/>
                  </a:ext>
                </a:extLst>
              </a:tr>
              <a:tr h="170307">
                <a:tc>
                  <a:txBody>
                    <a:bodyPr/>
                    <a:lstStyle/>
                    <a:p>
                      <a:r>
                        <a:rPr lang="en-US" sz="1200" b="1">
                          <a:latin typeface="Times New Roman" panose="02020603050405020304" pitchFamily="18" charset="0"/>
                          <a:cs typeface="Times New Roman" panose="02020603050405020304" pitchFamily="18" charset="0"/>
                        </a:rPr>
                        <a:t>21040</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07/02/25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07/06/25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17/06/25</a:t>
                      </a:r>
                    </a:p>
                  </a:txBody>
                  <a:tcPr marL="121920" marR="121920" marT="60960" marB="60960" anchor="ctr"/>
                </a:tc>
                <a:extLst>
                  <a:ext uri="{0D108BD9-81ED-4DB2-BD59-A6C34878D82A}">
                    <a16:rowId xmlns:a16="http://schemas.microsoft.com/office/drawing/2014/main" val="3135666374"/>
                  </a:ext>
                </a:extLst>
              </a:tr>
              <a:tr h="170307">
                <a:tc>
                  <a:txBody>
                    <a:bodyPr/>
                    <a:lstStyle/>
                    <a:p>
                      <a:r>
                        <a:rPr lang="en-US" sz="1200" b="1">
                          <a:latin typeface="Times New Roman" panose="02020603050405020304" pitchFamily="18" charset="0"/>
                          <a:cs typeface="Times New Roman" panose="02020603050405020304" pitchFamily="18" charset="0"/>
                        </a:rPr>
                        <a:t>21414</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SAESL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19/03/25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17/07/25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27/07/25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587742417"/>
                  </a:ext>
                </a:extLst>
              </a:tr>
              <a:tr h="170307">
                <a:tc>
                  <a:txBody>
                    <a:bodyPr/>
                    <a:lstStyle/>
                    <a:p>
                      <a:r>
                        <a:rPr lang="en-US" sz="1200" b="1">
                          <a:latin typeface="Times New Roman" panose="02020603050405020304" pitchFamily="18" charset="0"/>
                          <a:cs typeface="Times New Roman" panose="02020603050405020304" pitchFamily="18" charset="0"/>
                        </a:rPr>
                        <a:t>21604</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SAESL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31/03/25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29/07/25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06/08/25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4034618264"/>
                  </a:ext>
                </a:extLst>
              </a:tr>
            </a:tbl>
          </a:graphicData>
        </a:graphic>
      </p:graphicFrame>
      <p:graphicFrame>
        <p:nvGraphicFramePr>
          <p:cNvPr id="6" name="Table 5">
            <a:extLst>
              <a:ext uri="{FF2B5EF4-FFF2-40B4-BE49-F238E27FC236}">
                <a16:creationId xmlns:a16="http://schemas.microsoft.com/office/drawing/2014/main" id="{7BFB9EC9-2DB3-4DC1-4221-D1E337486ABA}"/>
              </a:ext>
            </a:extLst>
          </p:cNvPr>
          <p:cNvGraphicFramePr>
            <a:graphicFrameLocks noGrp="1"/>
          </p:cNvGraphicFramePr>
          <p:nvPr/>
        </p:nvGraphicFramePr>
        <p:xfrm>
          <a:off x="37732" y="4998423"/>
          <a:ext cx="5879459" cy="1524000"/>
        </p:xfrm>
        <a:graphic>
          <a:graphicData uri="http://schemas.openxmlformats.org/drawingml/2006/table">
            <a:tbl>
              <a:tblPr firstRow="1" bandRow="1">
                <a:tableStyleId>{21E4AEA4-8DFA-4A89-87EB-49C32662AFE0}</a:tableStyleId>
              </a:tblPr>
              <a:tblGrid>
                <a:gridCol w="991528">
                  <a:extLst>
                    <a:ext uri="{9D8B030D-6E8A-4147-A177-3AD203B41FA5}">
                      <a16:colId xmlns:a16="http://schemas.microsoft.com/office/drawing/2014/main" val="1930757539"/>
                    </a:ext>
                  </a:extLst>
                </a:gridCol>
                <a:gridCol w="1042096">
                  <a:extLst>
                    <a:ext uri="{9D8B030D-6E8A-4147-A177-3AD203B41FA5}">
                      <a16:colId xmlns:a16="http://schemas.microsoft.com/office/drawing/2014/main" val="1674463010"/>
                    </a:ext>
                  </a:extLst>
                </a:gridCol>
                <a:gridCol w="1823000">
                  <a:extLst>
                    <a:ext uri="{9D8B030D-6E8A-4147-A177-3AD203B41FA5}">
                      <a16:colId xmlns:a16="http://schemas.microsoft.com/office/drawing/2014/main" val="1549944897"/>
                    </a:ext>
                  </a:extLst>
                </a:gridCol>
                <a:gridCol w="2022835">
                  <a:extLst>
                    <a:ext uri="{9D8B030D-6E8A-4147-A177-3AD203B41FA5}">
                      <a16:colId xmlns:a16="http://schemas.microsoft.com/office/drawing/2014/main" val="3366431274"/>
                    </a:ext>
                  </a:extLst>
                </a:gridCol>
              </a:tblGrid>
              <a:tr h="285257">
                <a:tc>
                  <a:txBody>
                    <a:bodyPr/>
                    <a:lstStyle/>
                    <a:p>
                      <a:r>
                        <a:rPr lang="en-US" sz="1200">
                          <a:latin typeface="Times New Roman" panose="02020603050405020304" pitchFamily="18" charset="0"/>
                          <a:cs typeface="Times New Roman" panose="02020603050405020304" pitchFamily="18" charset="0"/>
                        </a:rPr>
                        <a:t>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Status</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sửa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Remark</a:t>
                      </a:r>
                    </a:p>
                  </a:txBody>
                  <a:tcPr marL="121920" marR="121920" marT="60960" marB="60960" anchor="ctr"/>
                </a:tc>
                <a:extLst>
                  <a:ext uri="{0D108BD9-81ED-4DB2-BD59-A6C34878D82A}">
                    <a16:rowId xmlns:a16="http://schemas.microsoft.com/office/drawing/2014/main" val="1532058823"/>
                  </a:ext>
                </a:extLst>
              </a:tr>
              <a:tr h="178280">
                <a:tc>
                  <a:txBody>
                    <a:bodyPr/>
                    <a:lstStyle/>
                    <a:p>
                      <a:r>
                        <a:rPr lang="en-GB" sz="1200" b="1" dirty="0">
                          <a:latin typeface="Times New Roman" panose="02020603050405020304" pitchFamily="18" charset="0"/>
                          <a:cs typeface="Times New Roman" panose="02020603050405020304" pitchFamily="18" charset="0"/>
                        </a:rPr>
                        <a:t>21035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Times New Roman" panose="02020603050405020304" pitchFamily="18" charset="0"/>
                          <a:cs typeface="Times New Roman" panose="02020603050405020304" pitchFamily="18" charset="0"/>
                        </a:rPr>
                        <a:t>A887</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30/09/2025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Tàu BQDB</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tc>
                <a:extLst>
                  <a:ext uri="{0D108BD9-81ED-4DB2-BD59-A6C34878D82A}">
                    <a16:rowId xmlns:a16="http://schemas.microsoft.com/office/drawing/2014/main" val="4282079846"/>
                  </a:ext>
                </a:extLst>
              </a:tr>
              <a:tr h="178280">
                <a:tc>
                  <a:txBody>
                    <a:bodyPr/>
                    <a:lstStyle/>
                    <a:p>
                      <a:r>
                        <a:rPr lang="en-GB" sz="1200" b="1">
                          <a:latin typeface="Times New Roman" panose="02020603050405020304" pitchFamily="18" charset="0"/>
                          <a:cs typeface="Times New Roman" panose="02020603050405020304" pitchFamily="18" charset="0"/>
                        </a:rPr>
                        <a:t>21024</a:t>
                      </a:r>
                      <a:endParaRPr lang="en-GB"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A898</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T5/2025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Tàu BQDB</a:t>
                      </a:r>
                    </a:p>
                  </a:txBody>
                  <a:tcPr marL="121920" marR="121920" marT="60960" marB="60960" anchor="ctr"/>
                </a:tc>
                <a:extLst>
                  <a:ext uri="{0D108BD9-81ED-4DB2-BD59-A6C34878D82A}">
                    <a16:rowId xmlns:a16="http://schemas.microsoft.com/office/drawing/2014/main" val="4001673644"/>
                  </a:ext>
                </a:extLst>
              </a:tr>
              <a:tr h="178280">
                <a:tc>
                  <a:txBody>
                    <a:bodyPr/>
                    <a:lstStyle/>
                    <a:p>
                      <a:r>
                        <a:rPr lang="en-GB" sz="1200" b="1" dirty="0">
                          <a:latin typeface="Times New Roman" panose="02020603050405020304" pitchFamily="18" charset="0"/>
                          <a:cs typeface="Times New Roman" panose="02020603050405020304" pitchFamily="18" charset="0"/>
                        </a:rPr>
                        <a:t>21136</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Send to shop</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T4/2025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err="1">
                          <a:solidFill>
                            <a:schemeClr val="tx1"/>
                          </a:solidFill>
                          <a:latin typeface="Times New Roman" panose="02020603050405020304" pitchFamily="18" charset="0"/>
                          <a:cs typeface="Times New Roman" panose="02020603050405020304" pitchFamily="18" charset="0"/>
                        </a:rPr>
                        <a:t>Đã</a:t>
                      </a:r>
                      <a:r>
                        <a:rPr lang="en-US" sz="1200" b="0" dirty="0">
                          <a:solidFill>
                            <a:schemeClr val="tx1"/>
                          </a:solidFill>
                          <a:latin typeface="Times New Roman" panose="02020603050405020304" pitchFamily="18" charset="0"/>
                          <a:cs typeface="Times New Roman" panose="02020603050405020304" pitchFamily="18" charset="0"/>
                        </a:rPr>
                        <a:t> </a:t>
                      </a:r>
                      <a:r>
                        <a:rPr lang="en-US" sz="1200" b="0" dirty="0" err="1">
                          <a:solidFill>
                            <a:schemeClr val="tx1"/>
                          </a:solidFill>
                          <a:latin typeface="Times New Roman" panose="02020603050405020304" pitchFamily="18" charset="0"/>
                          <a:cs typeface="Times New Roman" panose="02020603050405020304" pitchFamily="18" charset="0"/>
                        </a:rPr>
                        <a:t>đến</a:t>
                      </a:r>
                      <a:r>
                        <a:rPr lang="en-US" sz="1200" b="0" dirty="0">
                          <a:solidFill>
                            <a:schemeClr val="tx1"/>
                          </a:solidFill>
                          <a:latin typeface="Times New Roman" panose="02020603050405020304" pitchFamily="18" charset="0"/>
                          <a:cs typeface="Times New Roman" panose="02020603050405020304" pitchFamily="18" charset="0"/>
                        </a:rPr>
                        <a:t> shop</a:t>
                      </a:r>
                    </a:p>
                  </a:txBody>
                  <a:tcPr marL="121920" marR="121920" marT="60960" marB="60960" anchor="ctr"/>
                </a:tc>
                <a:extLst>
                  <a:ext uri="{0D108BD9-81ED-4DB2-BD59-A6C34878D82A}">
                    <a16:rowId xmlns:a16="http://schemas.microsoft.com/office/drawing/2014/main" val="1927641313"/>
                  </a:ext>
                </a:extLst>
              </a:tr>
              <a:tr h="178280">
                <a:tc>
                  <a:txBody>
                    <a:bodyPr/>
                    <a:lstStyle/>
                    <a:p>
                      <a:r>
                        <a:rPr lang="en-GB" sz="1200" b="1">
                          <a:latin typeface="Times New Roman" panose="02020603050405020304" pitchFamily="18" charset="0"/>
                          <a:cs typeface="Times New Roman" panose="02020603050405020304" pitchFamily="18" charset="0"/>
                        </a:rPr>
                        <a:t>21048</a:t>
                      </a:r>
                      <a:endParaRPr lang="en-GB"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Send to shop</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T4/2025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chemeClr val="tx1"/>
                          </a:solidFill>
                          <a:latin typeface="Times New Roman" panose="02020603050405020304" pitchFamily="18" charset="0"/>
                          <a:cs typeface="Times New Roman" panose="02020603050405020304" pitchFamily="18" charset="0"/>
                        </a:rPr>
                        <a:t>Đã đến shop</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545338606"/>
                  </a:ext>
                </a:extLst>
              </a:tr>
            </a:tbl>
          </a:graphicData>
        </a:graphic>
      </p:graphicFrame>
      <p:sp>
        <p:nvSpPr>
          <p:cNvPr id="7" name="TextBox 6">
            <a:extLst>
              <a:ext uri="{FF2B5EF4-FFF2-40B4-BE49-F238E27FC236}">
                <a16:creationId xmlns:a16="http://schemas.microsoft.com/office/drawing/2014/main" id="{3665DF89-9C1E-039A-24B3-2AC39417A7A0}"/>
              </a:ext>
            </a:extLst>
          </p:cNvPr>
          <p:cNvSpPr txBox="1"/>
          <p:nvPr/>
        </p:nvSpPr>
        <p:spPr>
          <a:xfrm>
            <a:off x="-486043" y="380920"/>
            <a:ext cx="6705299" cy="420564"/>
          </a:xfrm>
          <a:prstGeom prst="rect">
            <a:avLst/>
          </a:prstGeom>
          <a:noFill/>
        </p:spPr>
        <p:txBody>
          <a:bodyPr wrap="square" rtlCol="0">
            <a:spAutoFit/>
          </a:bodyPr>
          <a:lstStyle/>
          <a:p>
            <a:pPr algn="ctr" defTabSz="1219170">
              <a:defRPr/>
            </a:pPr>
            <a:r>
              <a:rPr lang="en-GB" sz="2133" b="1" dirty="0" err="1">
                <a:solidFill>
                  <a:srgbClr val="002060"/>
                </a:solidFill>
                <a:latin typeface="Times New Roman" panose="02020603050405020304" pitchFamily="18" charset="0"/>
                <a:cs typeface="Times New Roman" panose="02020603050405020304" pitchFamily="18" charset="0"/>
              </a:rPr>
              <a:t>Các</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err="1">
                <a:solidFill>
                  <a:srgbClr val="002060"/>
                </a:solidFill>
                <a:latin typeface="Times New Roman" panose="02020603050405020304" pitchFamily="18" charset="0"/>
                <a:cs typeface="Times New Roman" panose="02020603050405020304" pitchFamily="18" charset="0"/>
              </a:rPr>
              <a:t>cơ</a:t>
            </a:r>
            <a:r>
              <a:rPr lang="en-GB" sz="2133" b="1">
                <a:solidFill>
                  <a:srgbClr val="002060"/>
                </a:solidFill>
                <a:latin typeface="Times New Roman" panose="02020603050405020304" pitchFamily="18" charset="0"/>
                <a:cs typeface="Times New Roman" panose="02020603050405020304" pitchFamily="18" charset="0"/>
              </a:rPr>
              <a:t> đang trong shop (8 động c</a:t>
            </a:r>
            <a:r>
              <a:rPr lang="en-US" sz="2133" b="1">
                <a:solidFill>
                  <a:srgbClr val="002060"/>
                </a:solidFill>
                <a:latin typeface="Times New Roman" panose="02020603050405020304" pitchFamily="18" charset="0"/>
                <a:cs typeface="Times New Roman" panose="02020603050405020304" pitchFamily="18" charset="0"/>
              </a:rPr>
              <a:t>ơ)</a:t>
            </a:r>
            <a:endParaRPr lang="en-GB" sz="2133" b="1" dirty="0">
              <a:solidFill>
                <a:srgbClr val="00206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9C2447A-358B-03A9-2203-B477C2215D4C}"/>
              </a:ext>
            </a:extLst>
          </p:cNvPr>
          <p:cNvSpPr txBox="1"/>
          <p:nvPr/>
        </p:nvSpPr>
        <p:spPr>
          <a:xfrm>
            <a:off x="228600" y="4532436"/>
            <a:ext cx="5195392" cy="420564"/>
          </a:xfrm>
          <a:prstGeom prst="rect">
            <a:avLst/>
          </a:prstGeom>
          <a:noFill/>
        </p:spPr>
        <p:txBody>
          <a:bodyPr wrap="square" rtlCol="0">
            <a:spAutoFit/>
          </a:bodyPr>
          <a:lstStyle/>
          <a:p>
            <a:pPr algn="ctr" defTabSz="1219170">
              <a:defRPr/>
            </a:pPr>
            <a:r>
              <a:rPr lang="en-GB" sz="2133" b="1" dirty="0">
                <a:solidFill>
                  <a:srgbClr val="002060"/>
                </a:solidFill>
                <a:latin typeface="Times New Roman" panose="02020603050405020304" pitchFamily="18" charset="0"/>
                <a:cs typeface="Times New Roman" panose="02020603050405020304" pitchFamily="18" charset="0"/>
              </a:rPr>
              <a:t>Các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cơ</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ch</a:t>
            </a:r>
            <a:r>
              <a:rPr lang="en-US" sz="2133" b="1" dirty="0">
                <a:solidFill>
                  <a:srgbClr val="002060"/>
                </a:solidFill>
                <a:latin typeface="Times New Roman" panose="02020603050405020304" pitchFamily="18" charset="0"/>
                <a:cs typeface="Times New Roman" panose="02020603050405020304" pitchFamily="18" charset="0"/>
              </a:rPr>
              <a:t>ờ </a:t>
            </a:r>
            <a:r>
              <a:rPr lang="en-US" sz="2133" b="1" dirty="0" err="1">
                <a:solidFill>
                  <a:srgbClr val="002060"/>
                </a:solidFill>
                <a:latin typeface="Times New Roman" panose="02020603050405020304" pitchFamily="18" charset="0"/>
                <a:cs typeface="Times New Roman" panose="02020603050405020304" pitchFamily="18" charset="0"/>
              </a:rPr>
              <a:t>sửa</a:t>
            </a:r>
            <a:r>
              <a:rPr lang="en-US" sz="2133" b="1" dirty="0">
                <a:solidFill>
                  <a:srgbClr val="002060"/>
                </a:solidFill>
                <a:latin typeface="Times New Roman" panose="02020603050405020304" pitchFamily="18" charset="0"/>
                <a:cs typeface="Times New Roman" panose="02020603050405020304" pitchFamily="18" charset="0"/>
              </a:rPr>
              <a:t> </a:t>
            </a:r>
            <a:r>
              <a:rPr lang="en-GB" sz="2133" b="1">
                <a:solidFill>
                  <a:srgbClr val="002060"/>
                </a:solidFill>
                <a:latin typeface="Times New Roman" panose="02020603050405020304" pitchFamily="18" charset="0"/>
                <a:cs typeface="Times New Roman" panose="02020603050405020304" pitchFamily="18" charset="0"/>
              </a:rPr>
              <a:t>(04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cơ</a:t>
            </a:r>
            <a:r>
              <a:rPr lang="en-GB" sz="2133" b="1" dirty="0">
                <a:solidFill>
                  <a:srgbClr val="002060"/>
                </a:solidFill>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E1A7F173-F863-E486-EAEF-8B51EDF0DABA}"/>
              </a:ext>
            </a:extLst>
          </p:cNvPr>
          <p:cNvSpPr txBox="1"/>
          <p:nvPr/>
        </p:nvSpPr>
        <p:spPr>
          <a:xfrm>
            <a:off x="6553200" y="3471758"/>
            <a:ext cx="5167083" cy="461665"/>
          </a:xfrm>
          <a:prstGeom prst="rect">
            <a:avLst/>
          </a:prstGeom>
          <a:noFill/>
        </p:spPr>
        <p:txBody>
          <a:bodyPr wrap="square" rtlCol="0">
            <a:spAutoFit/>
          </a:bodyPr>
          <a:lstStyle/>
          <a:p>
            <a:pPr algn="ctr" defTabSz="1219170">
              <a:defRPr/>
            </a:pPr>
            <a:r>
              <a:rPr lang="en-US" sz="2400" b="1">
                <a:solidFill>
                  <a:srgbClr val="002060"/>
                </a:solidFill>
                <a:latin typeface="Times New Roman" panose="02020603050405020304" pitchFamily="18" charset="0"/>
                <a:cs typeface="Times New Roman" panose="02020603050405020304" pitchFamily="18" charset="0"/>
              </a:rPr>
              <a:t>Số tàu AOG (kb tốt)</a:t>
            </a:r>
            <a:endParaRPr lang="en-GB"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1" name="Chart 10">
            <a:extLst>
              <a:ext uri="{FF2B5EF4-FFF2-40B4-BE49-F238E27FC236}">
                <a16:creationId xmlns:a16="http://schemas.microsoft.com/office/drawing/2014/main" id="{39ED28EB-EF54-433B-60B3-87892499A24D}"/>
              </a:ext>
            </a:extLst>
          </p:cNvPr>
          <p:cNvGraphicFramePr/>
          <p:nvPr/>
        </p:nvGraphicFramePr>
        <p:xfrm>
          <a:off x="6274810" y="3962400"/>
          <a:ext cx="5808956" cy="25908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Table 11">
            <a:extLst>
              <a:ext uri="{FF2B5EF4-FFF2-40B4-BE49-F238E27FC236}">
                <a16:creationId xmlns:a16="http://schemas.microsoft.com/office/drawing/2014/main" id="{4BCF0C24-45DA-44DA-8EDA-2C6618ED53DE}"/>
              </a:ext>
            </a:extLst>
          </p:cNvPr>
          <p:cNvGraphicFramePr>
            <a:graphicFrameLocks noGrp="1"/>
          </p:cNvGraphicFramePr>
          <p:nvPr/>
        </p:nvGraphicFramePr>
        <p:xfrm>
          <a:off x="6229534" y="907137"/>
          <a:ext cx="5625452" cy="2621280"/>
        </p:xfrm>
        <a:graphic>
          <a:graphicData uri="http://schemas.openxmlformats.org/drawingml/2006/table">
            <a:tbl>
              <a:tblPr firstRow="1" bandRow="1">
                <a:tableStyleId>{93296810-A885-4BE3-A3E7-6D5BEEA58F35}</a:tableStyleId>
              </a:tblPr>
              <a:tblGrid>
                <a:gridCol w="1004609">
                  <a:extLst>
                    <a:ext uri="{9D8B030D-6E8A-4147-A177-3AD203B41FA5}">
                      <a16:colId xmlns:a16="http://schemas.microsoft.com/office/drawing/2014/main" val="1930757539"/>
                    </a:ext>
                  </a:extLst>
                </a:gridCol>
                <a:gridCol w="4620843">
                  <a:extLst>
                    <a:ext uri="{9D8B030D-6E8A-4147-A177-3AD203B41FA5}">
                      <a16:colId xmlns:a16="http://schemas.microsoft.com/office/drawing/2014/main" val="1674463010"/>
                    </a:ext>
                  </a:extLst>
                </a:gridCol>
              </a:tblGrid>
              <a:tr h="191279">
                <a:tc>
                  <a:txBody>
                    <a:bodyPr/>
                    <a:lstStyle/>
                    <a:p>
                      <a:r>
                        <a:rPr lang="en-US" sz="1200">
                          <a:latin typeface="Times New Roman" panose="02020603050405020304" pitchFamily="18" charset="0"/>
                          <a:cs typeface="Times New Roman" panose="02020603050405020304" pitchFamily="18" charset="0"/>
                        </a:rPr>
                        <a:t>Tàu</a:t>
                      </a: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Tình trạng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191279">
                <a:tc>
                  <a:txBody>
                    <a:bodyPr/>
                    <a:lstStyle/>
                    <a:p>
                      <a:r>
                        <a:rPr lang="en-US" sz="1200">
                          <a:latin typeface="Times New Roman" panose="02020603050405020304" pitchFamily="18" charset="0"/>
                          <a:cs typeface="Times New Roman" panose="02020603050405020304" pitchFamily="18" charset="0"/>
                        </a:rPr>
                        <a:t>A886</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Trống 2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082573017"/>
                  </a:ext>
                </a:extLst>
              </a:tr>
              <a:tr h="306046">
                <a:tc>
                  <a:txBody>
                    <a:bodyPr/>
                    <a:lstStyle/>
                    <a:p>
                      <a:r>
                        <a:rPr lang="en-US" sz="1200">
                          <a:latin typeface="Times New Roman" panose="02020603050405020304" pitchFamily="18" charset="0"/>
                          <a:cs typeface="Times New Roman" panose="02020603050405020304" pitchFamily="18" charset="0"/>
                        </a:rPr>
                        <a:t>A887</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Trống 1 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1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đến hạn kiểm tra LPT</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3465224"/>
                  </a:ext>
                </a:extLst>
              </a:tr>
              <a:tr h="270381">
                <a:tc>
                  <a:txBody>
                    <a:bodyPr/>
                    <a:lstStyle/>
                    <a:p>
                      <a:r>
                        <a:rPr lang="en-US" sz="1200">
                          <a:latin typeface="Times New Roman" panose="02020603050405020304" pitchFamily="18" charset="0"/>
                          <a:cs typeface="Times New Roman" panose="02020603050405020304" pitchFamily="18" charset="0"/>
                        </a:rPr>
                        <a:t>A895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Trống 2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218884716"/>
                  </a:ext>
                </a:extLst>
              </a:tr>
              <a:tr h="191279">
                <a:tc>
                  <a:txBody>
                    <a:bodyPr/>
                    <a:lstStyle/>
                    <a:p>
                      <a:r>
                        <a:rPr lang="en-US" sz="1200">
                          <a:latin typeface="Times New Roman" panose="02020603050405020304" pitchFamily="18" charset="0"/>
                          <a:cs typeface="Times New Roman" panose="02020603050405020304" pitchFamily="18" charset="0"/>
                        </a:rPr>
                        <a:t>A898</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Pos#1: đã thay thế bằng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đi shop về.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Pos#2: crack IPC Blade, đã soi lại theo SB mới của RR, EASA đã có AD mới cho phép khai thác với soi giảm tần suất 100FC, tuy nhiên ch</a:t>
                      </a:r>
                      <a:r>
                        <a:rPr lang="vi-VN" sz="1200">
                          <a:latin typeface="Times New Roman" panose="02020603050405020304" pitchFamily="18" charset="0"/>
                          <a:cs typeface="Times New Roman" panose="02020603050405020304" pitchFamily="18" charset="0"/>
                        </a:rPr>
                        <a:t>ư</a:t>
                      </a:r>
                      <a:r>
                        <a:rPr lang="en-US" sz="1200">
                          <a:latin typeface="Times New Roman" panose="02020603050405020304" pitchFamily="18" charset="0"/>
                          <a:cs typeface="Times New Roman" panose="02020603050405020304" pitchFamily="18" charset="0"/>
                        </a:rPr>
                        <a:t>a có AMOC cho FAA AD. Ban KT đang trình MME sửa đổi cho phép khai thác không tuân thủ FAA AD khi không bay Mỹ (do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type certificate của EASA).</a:t>
                      </a:r>
                    </a:p>
                  </a:txBody>
                  <a:tcPr marL="121920" marR="121920" marT="60960" marB="60960" anchor="ctr"/>
                </a:tc>
                <a:extLst>
                  <a:ext uri="{0D108BD9-81ED-4DB2-BD59-A6C34878D82A}">
                    <a16:rowId xmlns:a16="http://schemas.microsoft.com/office/drawing/2014/main" val="1733553736"/>
                  </a:ext>
                </a:extLst>
              </a:tr>
            </a:tbl>
          </a:graphicData>
        </a:graphic>
      </p:graphicFrame>
      <p:sp>
        <p:nvSpPr>
          <p:cNvPr id="13" name="TextBox 12">
            <a:extLst>
              <a:ext uri="{FF2B5EF4-FFF2-40B4-BE49-F238E27FC236}">
                <a16:creationId xmlns:a16="http://schemas.microsoft.com/office/drawing/2014/main" id="{90C76007-F5F9-4B91-90BD-15B1D817EC54}"/>
              </a:ext>
            </a:extLst>
          </p:cNvPr>
          <p:cNvSpPr txBox="1"/>
          <p:nvPr/>
        </p:nvSpPr>
        <p:spPr>
          <a:xfrm>
            <a:off x="6014053" y="423991"/>
            <a:ext cx="6705299" cy="420564"/>
          </a:xfrm>
          <a:prstGeom prst="rect">
            <a:avLst/>
          </a:prstGeom>
          <a:noFill/>
        </p:spPr>
        <p:txBody>
          <a:bodyPr wrap="square" rtlCol="0">
            <a:spAutoFit/>
          </a:bodyPr>
          <a:lstStyle/>
          <a:p>
            <a:pPr algn="ctr" defTabSz="1219170">
              <a:defRPr/>
            </a:pPr>
            <a:r>
              <a:rPr lang="en-US" sz="2133" b="1">
                <a:solidFill>
                  <a:srgbClr val="002060"/>
                </a:solidFill>
                <a:latin typeface="Times New Roman" panose="02020603050405020304" pitchFamily="18" charset="0"/>
                <a:cs typeface="Times New Roman" panose="02020603050405020304" pitchFamily="18" charset="0"/>
              </a:rPr>
              <a:t>Các tàu đang AOG (04 tàu)</a:t>
            </a:r>
            <a:endParaRPr lang="en-GB" sz="2133"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73472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83F1044C-49FE-4761-AB6C-08C2C66EE4F0}"/>
              </a:ext>
            </a:extLst>
          </p:cNvPr>
          <p:cNvSpPr txBox="1"/>
          <p:nvPr/>
        </p:nvSpPr>
        <p:spPr>
          <a:xfrm>
            <a:off x="690253" y="115968"/>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DỰ BÁO </a:t>
            </a:r>
            <a:r>
              <a:rPr lang="en-US" sz="2667" b="1">
                <a:ln w="0"/>
                <a:solidFill>
                  <a:srgbClr val="FBAC00"/>
                </a:solidFill>
                <a:latin typeface="Times New Roman" panose="02020603050405020304" pitchFamily="18" charset="0"/>
                <a:cs typeface="Times New Roman" panose="02020603050405020304" pitchFamily="18" charset="0"/>
              </a:rPr>
              <a:t>AOG A350 2025 DO THIẾU ĐỘNG C</a:t>
            </a:r>
            <a:r>
              <a:rPr lang="vi-VN" sz="2667" b="1">
                <a:ln w="0"/>
                <a:solidFill>
                  <a:srgbClr val="FBAC00"/>
                </a:solidFill>
                <a:latin typeface="Times New Roman" panose="02020603050405020304" pitchFamily="18" charset="0"/>
                <a:cs typeface="Times New Roman" panose="02020603050405020304" pitchFamily="18" charset="0"/>
              </a:rPr>
              <a:t>Ơ</a:t>
            </a:r>
            <a:endParaRPr lang="en-US" sz="2667" b="1" dirty="0">
              <a:ln w="0"/>
              <a:solidFill>
                <a:srgbClr val="FBAC00"/>
              </a:solidFill>
              <a:latin typeface="Times New Roman" panose="02020603050405020304" pitchFamily="18" charset="0"/>
              <a:cs typeface="Times New Roman" panose="02020603050405020304" pitchFamily="18" charset="0"/>
            </a:endParaRPr>
          </a:p>
        </p:txBody>
      </p:sp>
      <p:sp>
        <p:nvSpPr>
          <p:cNvPr id="17" name="Rectangle 16">
            <a:extLst>
              <a:ext uri="{FF2B5EF4-FFF2-40B4-BE49-F238E27FC236}">
                <a16:creationId xmlns:a16="http://schemas.microsoft.com/office/drawing/2014/main" id="{E9C07DA6-E964-4FA0-BC5D-1A4F09D3658F}"/>
              </a:ext>
            </a:extLst>
          </p:cNvPr>
          <p:cNvSpPr/>
          <p:nvPr/>
        </p:nvSpPr>
        <p:spPr>
          <a:xfrm>
            <a:off x="228600" y="6111240"/>
            <a:ext cx="12039600" cy="630942"/>
          </a:xfrm>
          <a:prstGeom prst="rect">
            <a:avLst/>
          </a:prstGeom>
          <a:solidFill>
            <a:srgbClr val="FFFF00"/>
          </a:solidFill>
          <a:ln>
            <a:solidFill>
              <a:schemeClr val="accent1"/>
            </a:solidFill>
          </a:ln>
        </p:spPr>
        <p:txBody>
          <a:bodyPr wrap="square">
            <a:spAutoFit/>
          </a:bodyPr>
          <a:lstStyle/>
          <a:p>
            <a:pPr algn="ctr"/>
            <a:r>
              <a:rPr lang="en-US" sz="1400" b="1" dirty="0"/>
              <a:t>PH</a:t>
            </a:r>
            <a:r>
              <a:rPr lang="vi-VN" sz="1400" b="1" dirty="0"/>
              <a:t>Ư</a:t>
            </a:r>
            <a:r>
              <a:rPr lang="en-US" sz="1400" b="1" dirty="0"/>
              <a:t>ƠNG ÁN GIỮ GIỜ</a:t>
            </a:r>
          </a:p>
          <a:p>
            <a:pPr lvl="0"/>
            <a:r>
              <a:rPr lang="en-US" sz="900" dirty="0"/>
              <a:t>- </a:t>
            </a:r>
            <a:r>
              <a:rPr lang="en-GB" sz="1050" dirty="0" err="1"/>
              <a:t>Với</a:t>
            </a:r>
            <a:r>
              <a:rPr lang="en-GB" sz="1050" dirty="0"/>
              <a:t> 21346 (</a:t>
            </a:r>
            <a:r>
              <a:rPr lang="en-GB" sz="1050" dirty="0" err="1"/>
              <a:t>hết</a:t>
            </a:r>
            <a:r>
              <a:rPr lang="en-GB" sz="1050" dirty="0"/>
              <a:t> </a:t>
            </a:r>
            <a:r>
              <a:rPr lang="en-GB" sz="1050" dirty="0" err="1"/>
              <a:t>hạn</a:t>
            </a:r>
            <a:r>
              <a:rPr lang="en-GB" sz="1050" dirty="0"/>
              <a:t> 14/06): </a:t>
            </a:r>
            <a:r>
              <a:rPr lang="en-GB" sz="1050" dirty="0" err="1"/>
              <a:t>chờ</a:t>
            </a:r>
            <a:r>
              <a:rPr lang="en-GB" sz="1050" dirty="0"/>
              <a:t> </a:t>
            </a:r>
            <a:r>
              <a:rPr lang="en-GB" sz="1050" dirty="0" err="1"/>
              <a:t>động</a:t>
            </a:r>
            <a:r>
              <a:rPr lang="en-GB" sz="1050" dirty="0"/>
              <a:t> </a:t>
            </a:r>
            <a:r>
              <a:rPr lang="en-GB" sz="1050" dirty="0" err="1"/>
              <a:t>cơ</a:t>
            </a:r>
            <a:r>
              <a:rPr lang="en-GB" sz="1050" dirty="0"/>
              <a:t> 21269 </a:t>
            </a:r>
            <a:r>
              <a:rPr lang="en-GB" sz="1050" dirty="0" err="1"/>
              <a:t>đi</a:t>
            </a:r>
            <a:r>
              <a:rPr lang="en-GB" sz="1050" dirty="0"/>
              <a:t> shop </a:t>
            </a:r>
            <a:r>
              <a:rPr lang="en-GB" sz="1050" dirty="0" err="1"/>
              <a:t>về</a:t>
            </a:r>
            <a:r>
              <a:rPr lang="en-GB" sz="1050" dirty="0"/>
              <a:t> </a:t>
            </a:r>
            <a:r>
              <a:rPr lang="en-GB" sz="1050" dirty="0" err="1"/>
              <a:t>ngày</a:t>
            </a:r>
            <a:r>
              <a:rPr lang="en-GB" sz="1050" dirty="0"/>
              <a:t> 24/03 </a:t>
            </a:r>
            <a:r>
              <a:rPr lang="en-GB" sz="1050" dirty="0" err="1"/>
              <a:t>sẽ</a:t>
            </a:r>
            <a:r>
              <a:rPr lang="en-GB" sz="1050" dirty="0"/>
              <a:t> </a:t>
            </a:r>
            <a:r>
              <a:rPr lang="en-GB" sz="1050" dirty="0" err="1"/>
              <a:t>tháo</a:t>
            </a:r>
            <a:r>
              <a:rPr lang="en-GB" sz="1050" dirty="0"/>
              <a:t> </a:t>
            </a:r>
            <a:r>
              <a:rPr lang="en-GB" sz="1050" dirty="0" err="1"/>
              <a:t>động</a:t>
            </a:r>
            <a:r>
              <a:rPr lang="en-GB" sz="1050" dirty="0"/>
              <a:t> </a:t>
            </a:r>
            <a:r>
              <a:rPr lang="en-GB" sz="1050" dirty="0" err="1"/>
              <a:t>cơ</a:t>
            </a:r>
            <a:r>
              <a:rPr lang="en-GB" sz="1050" dirty="0"/>
              <a:t> </a:t>
            </a:r>
            <a:r>
              <a:rPr lang="en-GB" sz="1050" dirty="0" err="1"/>
              <a:t>này</a:t>
            </a:r>
            <a:r>
              <a:rPr lang="en-GB" sz="1050" dirty="0"/>
              <a:t> </a:t>
            </a:r>
            <a:r>
              <a:rPr lang="en-GB" sz="1050" dirty="0" err="1"/>
              <a:t>xuống</a:t>
            </a:r>
            <a:r>
              <a:rPr lang="en-GB" sz="1050" dirty="0"/>
              <a:t> </a:t>
            </a:r>
            <a:r>
              <a:rPr lang="en-GB" sz="1050" dirty="0" err="1"/>
              <a:t>giữ</a:t>
            </a:r>
            <a:r>
              <a:rPr lang="en-GB" sz="1050" dirty="0"/>
              <a:t> </a:t>
            </a:r>
            <a:r>
              <a:rPr lang="en-GB" sz="1050" dirty="0" err="1"/>
              <a:t>giờ</a:t>
            </a:r>
            <a:r>
              <a:rPr lang="en-GB" sz="1050" dirty="0"/>
              <a:t> </a:t>
            </a:r>
            <a:r>
              <a:rPr lang="en-GB" sz="1050" dirty="0" err="1"/>
              <a:t>đến</a:t>
            </a:r>
            <a:r>
              <a:rPr lang="en-GB" sz="1050" dirty="0"/>
              <a:t> 10/5 </a:t>
            </a:r>
            <a:r>
              <a:rPr lang="en-GB" sz="1050" dirty="0" err="1"/>
              <a:t>lắp</a:t>
            </a:r>
            <a:r>
              <a:rPr lang="en-GB" sz="1050" dirty="0"/>
              <a:t> </a:t>
            </a:r>
            <a:r>
              <a:rPr lang="en-GB" sz="1050" dirty="0" err="1"/>
              <a:t>lại</a:t>
            </a:r>
            <a:r>
              <a:rPr lang="en-GB" sz="1050" dirty="0"/>
              <a:t> A899 (</a:t>
            </a:r>
            <a:r>
              <a:rPr lang="en-GB" sz="1050" dirty="0" err="1"/>
              <a:t>tàu</a:t>
            </a:r>
            <a:r>
              <a:rPr lang="en-GB" sz="1050" dirty="0"/>
              <a:t> </a:t>
            </a:r>
            <a:r>
              <a:rPr lang="en-GB" sz="1050" dirty="0" err="1"/>
              <a:t>đang</a:t>
            </a:r>
            <a:r>
              <a:rPr lang="en-GB" sz="1050" dirty="0"/>
              <a:t> </a:t>
            </a:r>
            <a:r>
              <a:rPr lang="en-GB" sz="1050" dirty="0" err="1"/>
              <a:t>dừng</a:t>
            </a:r>
            <a:r>
              <a:rPr lang="en-GB" sz="1050" dirty="0"/>
              <a:t> </a:t>
            </a:r>
            <a:r>
              <a:rPr lang="en-GB" sz="1050" dirty="0" err="1"/>
              <a:t>làm</a:t>
            </a:r>
            <a:r>
              <a:rPr lang="en-GB" sz="1050" dirty="0"/>
              <a:t> 6Y</a:t>
            </a:r>
            <a:r>
              <a:rPr lang="en-US" sz="1050" dirty="0"/>
              <a:t>), </a:t>
            </a:r>
            <a:r>
              <a:rPr lang="en-US" sz="1050" dirty="0" err="1"/>
              <a:t>sau</a:t>
            </a:r>
            <a:r>
              <a:rPr lang="en-US" sz="1050" dirty="0"/>
              <a:t> </a:t>
            </a:r>
            <a:r>
              <a:rPr lang="en-US" sz="1050" dirty="0" err="1"/>
              <a:t>đó</a:t>
            </a:r>
            <a:r>
              <a:rPr lang="en-US" sz="1050" dirty="0"/>
              <a:t> </a:t>
            </a:r>
            <a:r>
              <a:rPr lang="en-US" sz="1050" dirty="0" err="1"/>
              <a:t>lắp</a:t>
            </a:r>
            <a:r>
              <a:rPr lang="en-US" sz="1050" dirty="0"/>
              <a:t> A899 </a:t>
            </a:r>
            <a:r>
              <a:rPr lang="en-US" sz="1050" dirty="0" err="1"/>
              <a:t>giữ</a:t>
            </a:r>
            <a:r>
              <a:rPr lang="en-US" sz="1050" dirty="0"/>
              <a:t> </a:t>
            </a:r>
            <a:r>
              <a:rPr lang="en-US" sz="1050" dirty="0" err="1"/>
              <a:t>thêm</a:t>
            </a:r>
            <a:r>
              <a:rPr lang="en-US" sz="1050" dirty="0"/>
              <a:t> 10 </a:t>
            </a:r>
            <a:r>
              <a:rPr lang="en-US" sz="1050" dirty="0" err="1"/>
              <a:t>ngày</a:t>
            </a:r>
            <a:r>
              <a:rPr lang="en-US" sz="1050" dirty="0"/>
              <a:t>. </a:t>
            </a:r>
            <a:endParaRPr lang="en-US" sz="1000" dirty="0"/>
          </a:p>
          <a:p>
            <a:pPr lvl="0"/>
            <a:r>
              <a:rPr lang="en-GB" sz="1050" dirty="0"/>
              <a:t>- </a:t>
            </a:r>
            <a:r>
              <a:rPr lang="en-GB" sz="1050" dirty="0" err="1"/>
              <a:t>Với</a:t>
            </a:r>
            <a:r>
              <a:rPr lang="en-GB" sz="1050" dirty="0"/>
              <a:t> 21418 (</a:t>
            </a:r>
            <a:r>
              <a:rPr lang="en-GB" sz="1050" dirty="0" err="1"/>
              <a:t>hết</a:t>
            </a:r>
            <a:r>
              <a:rPr lang="en-GB" sz="1050" dirty="0"/>
              <a:t> </a:t>
            </a:r>
            <a:r>
              <a:rPr lang="en-GB" sz="1050" dirty="0" err="1"/>
              <a:t>hạn</a:t>
            </a:r>
            <a:r>
              <a:rPr lang="en-GB" sz="1050" dirty="0"/>
              <a:t> 07/07): </a:t>
            </a:r>
            <a:r>
              <a:rPr lang="en-GB" sz="1050" dirty="0" err="1"/>
              <a:t>Lắp</a:t>
            </a:r>
            <a:r>
              <a:rPr lang="en-GB" sz="1050" dirty="0"/>
              <a:t> </a:t>
            </a:r>
            <a:r>
              <a:rPr lang="en-GB" sz="1050" dirty="0" err="1"/>
              <a:t>trên</a:t>
            </a:r>
            <a:r>
              <a:rPr lang="en-GB" sz="1050" dirty="0"/>
              <a:t> </a:t>
            </a:r>
            <a:r>
              <a:rPr lang="en-GB" sz="1050" dirty="0" err="1"/>
              <a:t>tàu</a:t>
            </a:r>
            <a:r>
              <a:rPr lang="en-GB" sz="1050" dirty="0"/>
              <a:t> A891 </a:t>
            </a:r>
            <a:r>
              <a:rPr lang="en-GB" sz="1050" dirty="0" err="1"/>
              <a:t>làm</a:t>
            </a:r>
            <a:r>
              <a:rPr lang="en-GB" sz="1050" dirty="0"/>
              <a:t> check </a:t>
            </a:r>
            <a:r>
              <a:rPr lang="en-GB" sz="1050" dirty="0" err="1"/>
              <a:t>từ</a:t>
            </a:r>
            <a:r>
              <a:rPr lang="en-GB" sz="1050" dirty="0"/>
              <a:t> 10/3 – 19/3; </a:t>
            </a:r>
            <a:r>
              <a:rPr lang="en-GB" sz="1050" dirty="0" err="1"/>
              <a:t>từ</a:t>
            </a:r>
            <a:r>
              <a:rPr lang="en-GB" sz="1050" dirty="0"/>
              <a:t> 16/04 – 10/05: </a:t>
            </a:r>
            <a:r>
              <a:rPr lang="en-GB" sz="1050" dirty="0" err="1"/>
              <a:t>lắp</a:t>
            </a:r>
            <a:r>
              <a:rPr lang="en-GB" sz="1050" dirty="0"/>
              <a:t> sang </a:t>
            </a:r>
            <a:r>
              <a:rPr lang="en-GB" sz="1050" dirty="0" err="1"/>
              <a:t>tàu</a:t>
            </a:r>
            <a:r>
              <a:rPr lang="en-GB" sz="1050" dirty="0"/>
              <a:t> A899 (</a:t>
            </a:r>
            <a:r>
              <a:rPr lang="en-GB" sz="1050" dirty="0" err="1"/>
              <a:t>làm</a:t>
            </a:r>
            <a:r>
              <a:rPr lang="en-GB" sz="1050" dirty="0"/>
              <a:t> 6Y) </a:t>
            </a:r>
            <a:r>
              <a:rPr lang="en-GB" sz="1050" dirty="0" err="1"/>
              <a:t>giữ</a:t>
            </a:r>
            <a:r>
              <a:rPr lang="en-GB" sz="1050" dirty="0"/>
              <a:t> </a:t>
            </a:r>
            <a:r>
              <a:rPr lang="en-GB" sz="1050" dirty="0" err="1"/>
              <a:t>thêm</a:t>
            </a:r>
            <a:r>
              <a:rPr lang="en-GB" sz="1050" dirty="0"/>
              <a:t> </a:t>
            </a:r>
            <a:r>
              <a:rPr lang="en-GB" sz="1050" dirty="0" err="1"/>
              <a:t>được</a:t>
            </a:r>
            <a:r>
              <a:rPr lang="en-GB" sz="1050" dirty="0"/>
              <a:t> 25 </a:t>
            </a:r>
            <a:r>
              <a:rPr lang="en-GB" sz="1050" dirty="0" err="1"/>
              <a:t>ngày</a:t>
            </a:r>
            <a:r>
              <a:rPr lang="en-GB" sz="1050" dirty="0"/>
              <a:t>, </a:t>
            </a:r>
            <a:r>
              <a:rPr lang="en-GB" sz="1050" dirty="0" err="1"/>
              <a:t>sau</a:t>
            </a:r>
            <a:r>
              <a:rPr lang="en-GB" sz="1050" dirty="0"/>
              <a:t> </a:t>
            </a:r>
            <a:r>
              <a:rPr lang="en-GB" sz="1050" dirty="0" err="1"/>
              <a:t>đó</a:t>
            </a:r>
            <a:r>
              <a:rPr lang="en-GB" sz="1050" dirty="0"/>
              <a:t> A899 </a:t>
            </a:r>
            <a:r>
              <a:rPr lang="en-GB" sz="1050" dirty="0" err="1"/>
              <a:t>chủ</a:t>
            </a:r>
            <a:r>
              <a:rPr lang="en-GB" sz="1050" dirty="0"/>
              <a:t> </a:t>
            </a:r>
            <a:r>
              <a:rPr lang="en-GB" sz="1050" dirty="0" err="1"/>
              <a:t>động</a:t>
            </a:r>
            <a:r>
              <a:rPr lang="en-GB" sz="1050" dirty="0"/>
              <a:t> d</a:t>
            </a:r>
            <a:r>
              <a:rPr lang="en-US" sz="1050" dirty="0" err="1"/>
              <a:t>ừng</a:t>
            </a:r>
            <a:r>
              <a:rPr lang="en-US" sz="1050" dirty="0"/>
              <a:t> </a:t>
            </a:r>
            <a:r>
              <a:rPr lang="en-US" sz="1050" dirty="0" err="1"/>
              <a:t>thêm</a:t>
            </a:r>
            <a:r>
              <a:rPr lang="en-US" sz="1050" dirty="0"/>
              <a:t> 10 </a:t>
            </a:r>
            <a:r>
              <a:rPr lang="en-US" sz="1050" dirty="0" err="1"/>
              <a:t>ngày</a:t>
            </a:r>
            <a:r>
              <a:rPr lang="en-US" sz="1050" dirty="0"/>
              <a:t>. </a:t>
            </a:r>
            <a:endParaRPr lang="en-US" sz="1000" dirty="0"/>
          </a:p>
        </p:txBody>
      </p:sp>
      <p:graphicFrame>
        <p:nvGraphicFramePr>
          <p:cNvPr id="5" name="Chart 4">
            <a:extLst>
              <a:ext uri="{FF2B5EF4-FFF2-40B4-BE49-F238E27FC236}">
                <a16:creationId xmlns:a16="http://schemas.microsoft.com/office/drawing/2014/main" id="{282059E6-27E7-472C-AEAC-06C1F6F9B2A2}"/>
              </a:ext>
            </a:extLst>
          </p:cNvPr>
          <p:cNvGraphicFramePr/>
          <p:nvPr/>
        </p:nvGraphicFramePr>
        <p:xfrm>
          <a:off x="295373" y="770468"/>
          <a:ext cx="11557960" cy="524933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112922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6EF2E-39D3-88C6-5607-59E0B3AACB2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A0A6B4-0D57-91D1-E90B-8552E0AD5555}"/>
              </a:ext>
            </a:extLst>
          </p:cNvPr>
          <p:cNvSpPr>
            <a:spLocks noGrp="1"/>
          </p:cNvSpPr>
          <p:nvPr>
            <p:ph type="sldNum" idx="12"/>
          </p:nvPr>
        </p:nvSpPr>
        <p:spPr/>
        <p:txBody>
          <a:bodyPr/>
          <a:lstStyle/>
          <a:p>
            <a:fld id="{00000000-1234-1234-1234-123412341234}" type="slidenum">
              <a:rPr lang="vi" smtClean="0"/>
              <a:pPr/>
              <a:t>41</a:t>
            </a:fld>
            <a:endParaRPr lang="vi"/>
          </a:p>
        </p:txBody>
      </p:sp>
      <p:sp>
        <p:nvSpPr>
          <p:cNvPr id="8" name="Slide Number Placeholder 3">
            <a:extLst>
              <a:ext uri="{FF2B5EF4-FFF2-40B4-BE49-F238E27FC236}">
                <a16:creationId xmlns:a16="http://schemas.microsoft.com/office/drawing/2014/main" id="{A871A205-15F4-FDCC-D904-DBF790C95818}"/>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41</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9" name="TextBox 8">
            <a:extLst>
              <a:ext uri="{FF2B5EF4-FFF2-40B4-BE49-F238E27FC236}">
                <a16:creationId xmlns:a16="http://schemas.microsoft.com/office/drawing/2014/main" id="{45661717-286B-9E25-9E8B-05A140AC533E}"/>
              </a:ext>
            </a:extLst>
          </p:cNvPr>
          <p:cNvSpPr txBox="1"/>
          <p:nvPr/>
        </p:nvSpPr>
        <p:spPr>
          <a:xfrm>
            <a:off x="317020" y="5056389"/>
            <a:ext cx="11557960" cy="371255"/>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lnSpc>
                <a:spcPct val="125000"/>
              </a:lnSpc>
              <a:buFont typeface="Arial" panose="020B0604020202020204" pitchFamily="34" charset="0"/>
              <a:buChar char="•"/>
              <a:defRPr/>
            </a:pPr>
            <a:r>
              <a:rPr lang="en-US" sz="1600">
                <a:solidFill>
                  <a:schemeClr val="tx1"/>
                </a:solidFill>
                <a:latin typeface="Times New Roman" panose="02020603050405020304" pitchFamily="18" charset="0"/>
                <a:cs typeface="Times New Roman" panose="02020603050405020304" pitchFamily="18" charset="0"/>
              </a:rPr>
              <a:t>Từ </a:t>
            </a:r>
            <a:r>
              <a:rPr lang="en-US" sz="1600" dirty="0" err="1">
                <a:solidFill>
                  <a:schemeClr val="tx1"/>
                </a:solidFill>
                <a:latin typeface="Times New Roman" panose="02020603050405020304" pitchFamily="18" charset="0"/>
                <a:cs typeface="Times New Roman" panose="02020603050405020304" pitchFamily="18" charset="0"/>
              </a:rPr>
              <a:t>tháng</a:t>
            </a:r>
            <a:r>
              <a:rPr lang="en-US" sz="1600" dirty="0">
                <a:solidFill>
                  <a:schemeClr val="tx1"/>
                </a:solidFill>
                <a:latin typeface="Times New Roman" panose="02020603050405020304" pitchFamily="18" charset="0"/>
                <a:cs typeface="Times New Roman" panose="02020603050405020304" pitchFamily="18" charset="0"/>
              </a:rPr>
              <a:t> 11/2024, </a:t>
            </a:r>
            <a:r>
              <a:rPr lang="en-US" sz="1600" dirty="0" err="1">
                <a:solidFill>
                  <a:schemeClr val="tx1"/>
                </a:solidFill>
                <a:latin typeface="Times New Roman" panose="02020603050405020304" pitchFamily="18" charset="0"/>
                <a:cs typeface="Times New Roman" panose="02020603050405020304" pitchFamily="18" charset="0"/>
              </a:rPr>
              <a:t>khai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thác</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với</a:t>
            </a:r>
            <a:r>
              <a:rPr lang="en-US" sz="1600" dirty="0">
                <a:solidFill>
                  <a:schemeClr val="tx1"/>
                </a:solidFill>
                <a:latin typeface="Times New Roman" panose="02020603050405020304" pitchFamily="18" charset="0"/>
                <a:cs typeface="Times New Roman" panose="02020603050405020304" pitchFamily="18" charset="0"/>
              </a:rPr>
              <a:t> 05 </a:t>
            </a:r>
            <a:r>
              <a:rPr lang="en-US" sz="1600" dirty="0" err="1">
                <a:solidFill>
                  <a:schemeClr val="tx1"/>
                </a:solidFill>
                <a:latin typeface="Times New Roman" panose="02020603050405020304" pitchFamily="18" charset="0"/>
                <a:cs typeface="Times New Roman" panose="02020603050405020304" pitchFamily="18" charset="0"/>
              </a:rPr>
              <a:t>tàu</a:t>
            </a:r>
            <a:r>
              <a:rPr lang="en-US" sz="1600" dirty="0">
                <a:solidFill>
                  <a:schemeClr val="tx1"/>
                </a:solidFill>
                <a:latin typeface="Times New Roman" panose="02020603050405020304" pitchFamily="18" charset="0"/>
                <a:cs typeface="Times New Roman" panose="02020603050405020304" pitchFamily="18" charset="0"/>
              </a:rPr>
              <a:t> do </a:t>
            </a:r>
            <a:r>
              <a:rPr lang="en-US" sz="1600" dirty="0" err="1">
                <a:solidFill>
                  <a:schemeClr val="tx1"/>
                </a:solidFill>
                <a:latin typeface="Times New Roman" panose="02020603050405020304" pitchFamily="18" charset="0"/>
                <a:cs typeface="Times New Roman" panose="02020603050405020304" pitchFamily="18" charset="0"/>
              </a:rPr>
              <a:t>đã</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cho</a:t>
            </a:r>
            <a:r>
              <a:rPr lang="en-US" sz="1600" dirty="0">
                <a:solidFill>
                  <a:schemeClr val="tx1"/>
                </a:solidFill>
                <a:latin typeface="Times New Roman" panose="02020603050405020304" pitchFamily="18" charset="0"/>
                <a:cs typeface="Times New Roman" panose="02020603050405020304" pitchFamily="18" charset="0"/>
              </a:rPr>
              <a:t> K6 </a:t>
            </a:r>
            <a:r>
              <a:rPr lang="en-US" sz="1600" dirty="0" err="1">
                <a:solidFill>
                  <a:schemeClr val="tx1"/>
                </a:solidFill>
                <a:latin typeface="Times New Roman" panose="02020603050405020304" pitchFamily="18" charset="0"/>
                <a:cs typeface="Times New Roman" panose="02020603050405020304" pitchFamily="18" charset="0"/>
              </a:rPr>
              <a:t>thuê</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khô</a:t>
            </a:r>
            <a:r>
              <a:rPr lang="en-US" sz="1600" dirty="0">
                <a:solidFill>
                  <a:schemeClr val="tx1"/>
                </a:solidFill>
                <a:latin typeface="Times New Roman" panose="02020603050405020304" pitchFamily="18" charset="0"/>
                <a:cs typeface="Times New Roman" panose="02020603050405020304" pitchFamily="18" charset="0"/>
              </a:rPr>
              <a:t> B220. </a:t>
            </a:r>
            <a:r>
              <a:rPr lang="en-US" sz="1600" dirty="0" err="1">
                <a:solidFill>
                  <a:schemeClr val="tx1"/>
                </a:solidFill>
                <a:latin typeface="Times New Roman" panose="02020603050405020304" pitchFamily="18" charset="0"/>
                <a:cs typeface="Times New Roman" panose="02020603050405020304" pitchFamily="18" charset="0"/>
              </a:rPr>
              <a:t>Tháng</a:t>
            </a:r>
            <a:r>
              <a:rPr lang="en-US" sz="1600" dirty="0">
                <a:solidFill>
                  <a:schemeClr val="tx1"/>
                </a:solidFill>
                <a:latin typeface="Times New Roman" panose="02020603050405020304" pitchFamily="18" charset="0"/>
                <a:cs typeface="Times New Roman" panose="02020603050405020304" pitchFamily="18" charset="0"/>
              </a:rPr>
              <a:t> 7/2025 </a:t>
            </a:r>
            <a:r>
              <a:rPr lang="en-US" sz="1600" dirty="0" err="1">
                <a:solidFill>
                  <a:schemeClr val="tx1"/>
                </a:solidFill>
                <a:latin typeface="Times New Roman" panose="02020603050405020304" pitchFamily="18" charset="0"/>
                <a:cs typeface="Times New Roman" panose="02020603050405020304" pitchFamily="18" charset="0"/>
              </a:rPr>
              <a:t>sẽ</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khai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thác</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trở</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lại</a:t>
            </a:r>
            <a:r>
              <a:rPr lang="en-US" sz="1600" dirty="0">
                <a:solidFill>
                  <a:schemeClr val="tx1"/>
                </a:solidFill>
                <a:latin typeface="Times New Roman" panose="02020603050405020304" pitchFamily="18" charset="0"/>
                <a:cs typeface="Times New Roman" panose="02020603050405020304" pitchFamily="18" charset="0"/>
              </a:rPr>
              <a:t> 06 </a:t>
            </a:r>
            <a:r>
              <a:rPr lang="en-US" sz="1600" dirty="0" err="1">
                <a:solidFill>
                  <a:schemeClr val="tx1"/>
                </a:solidFill>
                <a:latin typeface="Times New Roman" panose="02020603050405020304" pitchFamily="18" charset="0"/>
                <a:cs typeface="Times New Roman" panose="02020603050405020304" pitchFamily="18" charset="0"/>
              </a:rPr>
              <a:t>tàu</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sau</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khi</a:t>
            </a:r>
            <a:r>
              <a:rPr lang="en-US" sz="1600" dirty="0">
                <a:solidFill>
                  <a:schemeClr val="tx1"/>
                </a:solidFill>
                <a:latin typeface="Times New Roman" panose="02020603050405020304" pitchFamily="18" charset="0"/>
                <a:cs typeface="Times New Roman" panose="02020603050405020304" pitchFamily="18" charset="0"/>
              </a:rPr>
              <a:t> K6 </a:t>
            </a:r>
            <a:r>
              <a:rPr lang="en-US" sz="1600" dirty="0" err="1">
                <a:solidFill>
                  <a:schemeClr val="tx1"/>
                </a:solidFill>
                <a:latin typeface="Times New Roman" panose="02020603050405020304" pitchFamily="18" charset="0"/>
                <a:cs typeface="Times New Roman" panose="02020603050405020304" pitchFamily="18" charset="0"/>
              </a:rPr>
              <a:t>trả</a:t>
            </a:r>
            <a:r>
              <a:rPr lang="en-US" sz="1600" dirty="0">
                <a:solidFill>
                  <a:schemeClr val="tx1"/>
                </a:solidFill>
                <a:latin typeface="Times New Roman" panose="02020603050405020304" pitchFamily="18" charset="0"/>
                <a:cs typeface="Times New Roman" panose="02020603050405020304" pitchFamily="18" charset="0"/>
              </a:rPr>
              <a:t> B220.</a:t>
            </a:r>
          </a:p>
        </p:txBody>
      </p:sp>
      <p:graphicFrame>
        <p:nvGraphicFramePr>
          <p:cNvPr id="10" name="Chart 9">
            <a:extLst>
              <a:ext uri="{FF2B5EF4-FFF2-40B4-BE49-F238E27FC236}">
                <a16:creationId xmlns:a16="http://schemas.microsoft.com/office/drawing/2014/main" id="{76DFC592-D88A-43FC-09E5-06AD8D727013}"/>
              </a:ext>
            </a:extLst>
          </p:cNvPr>
          <p:cNvGraphicFramePr/>
          <p:nvPr/>
        </p:nvGraphicFramePr>
        <p:xfrm>
          <a:off x="295373" y="770468"/>
          <a:ext cx="11557960" cy="4216400"/>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0AA8E0DF-2FF0-D5DB-6896-3F1AD07908A4}"/>
              </a:ext>
            </a:extLst>
          </p:cNvPr>
          <p:cNvSpPr txBox="1"/>
          <p:nvPr/>
        </p:nvSpPr>
        <p:spPr>
          <a:xfrm>
            <a:off x="0" y="88859"/>
            <a:ext cx="11142133"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ATR72</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6081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C0E34002-24DE-E466-318F-A982D9E240D3}"/>
              </a:ext>
            </a:extLst>
          </p:cNvPr>
          <p:cNvSpPr txBox="1"/>
          <p:nvPr/>
        </p:nvSpPr>
        <p:spPr>
          <a:xfrm>
            <a:off x="0" y="475864"/>
            <a:ext cx="4165600" cy="461665"/>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Tình</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trạng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sửa</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chữa</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4" name="Table 2">
            <a:extLst>
              <a:ext uri="{FF2B5EF4-FFF2-40B4-BE49-F238E27FC236}">
                <a16:creationId xmlns:a16="http://schemas.microsoft.com/office/drawing/2014/main" id="{C9E599B2-7A6B-AE61-6B47-ABFA60F331B8}"/>
              </a:ext>
            </a:extLst>
          </p:cNvPr>
          <p:cNvGraphicFramePr>
            <a:graphicFrameLocks noGrp="1"/>
          </p:cNvGraphicFramePr>
          <p:nvPr/>
        </p:nvGraphicFramePr>
        <p:xfrm>
          <a:off x="291533" y="1134199"/>
          <a:ext cx="11460202" cy="3340178"/>
        </p:xfrm>
        <a:graphic>
          <a:graphicData uri="http://schemas.openxmlformats.org/drawingml/2006/table">
            <a:tbl>
              <a:tblPr firstRow="1" bandRow="1">
                <a:tableStyleId>{5C22544A-7EE6-4342-B048-85BDC9FD1C3A}</a:tableStyleId>
              </a:tblPr>
              <a:tblGrid>
                <a:gridCol w="533157">
                  <a:extLst>
                    <a:ext uri="{9D8B030D-6E8A-4147-A177-3AD203B41FA5}">
                      <a16:colId xmlns:a16="http://schemas.microsoft.com/office/drawing/2014/main" val="1598605427"/>
                    </a:ext>
                  </a:extLst>
                </a:gridCol>
                <a:gridCol w="1147672">
                  <a:extLst>
                    <a:ext uri="{9D8B030D-6E8A-4147-A177-3AD203B41FA5}">
                      <a16:colId xmlns:a16="http://schemas.microsoft.com/office/drawing/2014/main" val="3845954792"/>
                    </a:ext>
                  </a:extLst>
                </a:gridCol>
                <a:gridCol w="1298823">
                  <a:extLst>
                    <a:ext uri="{9D8B030D-6E8A-4147-A177-3AD203B41FA5}">
                      <a16:colId xmlns:a16="http://schemas.microsoft.com/office/drawing/2014/main" val="2148822928"/>
                    </a:ext>
                  </a:extLst>
                </a:gridCol>
                <a:gridCol w="2062836">
                  <a:extLst>
                    <a:ext uri="{9D8B030D-6E8A-4147-A177-3AD203B41FA5}">
                      <a16:colId xmlns:a16="http://schemas.microsoft.com/office/drawing/2014/main" val="2136763095"/>
                    </a:ext>
                  </a:extLst>
                </a:gridCol>
                <a:gridCol w="2139239">
                  <a:extLst>
                    <a:ext uri="{9D8B030D-6E8A-4147-A177-3AD203B41FA5}">
                      <a16:colId xmlns:a16="http://schemas.microsoft.com/office/drawing/2014/main" val="1185879436"/>
                    </a:ext>
                  </a:extLst>
                </a:gridCol>
                <a:gridCol w="1986435">
                  <a:extLst>
                    <a:ext uri="{9D8B030D-6E8A-4147-A177-3AD203B41FA5}">
                      <a16:colId xmlns:a16="http://schemas.microsoft.com/office/drawing/2014/main" val="3807119371"/>
                    </a:ext>
                  </a:extLst>
                </a:gridCol>
                <a:gridCol w="2292040">
                  <a:extLst>
                    <a:ext uri="{9D8B030D-6E8A-4147-A177-3AD203B41FA5}">
                      <a16:colId xmlns:a16="http://schemas.microsoft.com/office/drawing/2014/main" val="3735753066"/>
                    </a:ext>
                  </a:extLst>
                </a:gridCol>
              </a:tblGrid>
              <a:tr h="609998">
                <a:tc>
                  <a:txBody>
                    <a:bodyPr/>
                    <a:lstStyle/>
                    <a:p>
                      <a:pPr algn="ctr"/>
                      <a:r>
                        <a:rPr lang="en-GB" sz="1500">
                          <a:latin typeface="Times New Roman" panose="02020603050405020304" pitchFamily="18" charset="0"/>
                          <a:cs typeface="Times New Roman" panose="02020603050405020304" pitchFamily="18" charset="0"/>
                        </a:rPr>
                        <a:t>No.</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ESN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Status</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Induction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err="1">
                          <a:latin typeface="Times New Roman" panose="02020603050405020304" pitchFamily="18" charset="0"/>
                          <a:cs typeface="Times New Roman" panose="02020603050405020304" pitchFamily="18" charset="0"/>
                        </a:rPr>
                        <a:t>Dự</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kiến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về</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KH Sử dụng</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Remark</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535461">
                <a:tc>
                  <a:txBody>
                    <a:bodyPr/>
                    <a:lstStyle/>
                    <a:p>
                      <a:pPr algn="ctr"/>
                      <a:r>
                        <a:rPr lang="vi-VN" sz="1500">
                          <a:latin typeface="Times New Roman" panose="02020603050405020304" pitchFamily="18" charset="0"/>
                          <a:cs typeface="Times New Roman" panose="02020603050405020304" pitchFamily="18" charset="0"/>
                        </a:rPr>
                        <a:t>1</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5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ED0239</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16/10/2024</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09/05/2025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N/A</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227979002"/>
                  </a:ext>
                </a:extLst>
              </a:tr>
              <a:tr h="535461">
                <a:tc>
                  <a:txBody>
                    <a:bodyPr/>
                    <a:lstStyle/>
                    <a:p>
                      <a:pPr algn="ctr"/>
                      <a:r>
                        <a:rPr lang="vi-VN" sz="1500">
                          <a:latin typeface="Times New Roman" panose="02020603050405020304" pitchFamily="18" charset="0"/>
                          <a:cs typeface="Times New Roman" panose="02020603050405020304" pitchFamily="18" charset="0"/>
                        </a:rPr>
                        <a:t>2</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ED238</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24/01/2025</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817893171"/>
                  </a:ext>
                </a:extLst>
              </a:tr>
              <a:tr h="535461">
                <a:tc>
                  <a:txBody>
                    <a:bodyPr/>
                    <a:lstStyle/>
                    <a:p>
                      <a:pPr algn="ctr"/>
                      <a:r>
                        <a:rPr lang="en-GB" sz="1500">
                          <a:latin typeface="Times New Roman" panose="02020603050405020304" pitchFamily="18" charset="0"/>
                          <a:cs typeface="Times New Roman" panose="02020603050405020304" pitchFamily="18" charset="0"/>
                        </a:rPr>
                        <a:t>3</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ED0217</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20/03/2025</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434517888"/>
                  </a:ext>
                </a:extLst>
              </a:tr>
              <a:tr h="496410">
                <a:tc>
                  <a:txBody>
                    <a:bodyPr/>
                    <a:lstStyle/>
                    <a:p>
                      <a:pPr algn="ctr"/>
                      <a:r>
                        <a:rPr lang="en-GB" sz="1500">
                          <a:latin typeface="Times New Roman" panose="02020603050405020304" pitchFamily="18" charset="0"/>
                          <a:cs typeface="Times New Roman" panose="02020603050405020304" pitchFamily="18" charset="0"/>
                        </a:rPr>
                        <a:t>4</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ED0233</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26/03/2025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546132875"/>
                  </a:ext>
                </a:extLst>
              </a:tr>
              <a:tr h="496410">
                <a:tc>
                  <a:txBody>
                    <a:bodyPr/>
                    <a:lstStyle/>
                    <a:p>
                      <a:pPr algn="ctr"/>
                      <a:r>
                        <a:rPr lang="en-GB" sz="1500">
                          <a:latin typeface="Times New Roman" panose="02020603050405020304" pitchFamily="18" charset="0"/>
                          <a:cs typeface="Times New Roman" panose="02020603050405020304" pitchFamily="18" charset="0"/>
                        </a:rPr>
                        <a:t>5</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ED0214</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lgn="ctr" fontAlgn="ct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US" sz="1500" b="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380655896"/>
                  </a:ext>
                </a:extLst>
              </a:tr>
            </a:tbl>
          </a:graphicData>
        </a:graphic>
      </p:graphicFrame>
      <p:sp>
        <p:nvSpPr>
          <p:cNvPr id="15" name="TextBox 14">
            <a:extLst>
              <a:ext uri="{FF2B5EF4-FFF2-40B4-BE49-F238E27FC236}">
                <a16:creationId xmlns:a16="http://schemas.microsoft.com/office/drawing/2014/main" id="{A3B0CE8D-D087-9B22-2C61-0CD1AD45567F}"/>
              </a:ext>
            </a:extLst>
          </p:cNvPr>
          <p:cNvSpPr txBox="1"/>
          <p:nvPr/>
        </p:nvSpPr>
        <p:spPr>
          <a:xfrm>
            <a:off x="1" y="805"/>
            <a:ext cx="11418041"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ĐỘI BAY ATR</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
        <p:nvSpPr>
          <p:cNvPr id="16" name="TextBox 15">
            <a:extLst>
              <a:ext uri="{FF2B5EF4-FFF2-40B4-BE49-F238E27FC236}">
                <a16:creationId xmlns:a16="http://schemas.microsoft.com/office/drawing/2014/main" id="{86965A40-485F-F6CF-1E94-FB69A37B616A}"/>
              </a:ext>
            </a:extLst>
          </p:cNvPr>
          <p:cNvSpPr txBox="1"/>
          <p:nvPr/>
        </p:nvSpPr>
        <p:spPr>
          <a:xfrm>
            <a:off x="36660" y="4557765"/>
            <a:ext cx="7239699" cy="461665"/>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Tình</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trạng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cơ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đội</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bay</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7" name="TextBox 16">
            <a:extLst>
              <a:ext uri="{FF2B5EF4-FFF2-40B4-BE49-F238E27FC236}">
                <a16:creationId xmlns:a16="http://schemas.microsoft.com/office/drawing/2014/main" id="{E8A28E79-E20A-AF25-AF54-BB552A4A1E80}"/>
              </a:ext>
            </a:extLst>
          </p:cNvPr>
          <p:cNvSpPr txBox="1"/>
          <p:nvPr/>
        </p:nvSpPr>
        <p:spPr>
          <a:xfrm>
            <a:off x="112860" y="5093398"/>
            <a:ext cx="11460201" cy="1241365"/>
          </a:xfrm>
          <a:prstGeom prst="rect">
            <a:avLst/>
          </a:prstGeom>
          <a:noFill/>
        </p:spPr>
        <p:txBody>
          <a:bodyPr wrap="square" rtlCol="0">
            <a:spAutoFit/>
          </a:bodyPr>
          <a:lstStyle/>
          <a:p>
            <a:pPr marL="380990" marR="0" lvl="0" indent="-380990"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Động cơ dự phòng: ED0235 còn 916 FC giữ giờ trong kho.</a:t>
            </a:r>
          </a:p>
          <a:p>
            <a:pPr marL="380990" marR="0" lvl="0" indent="-380990"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it-IT"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Động </a:t>
            </a:r>
            <a:r>
              <a:rPr kumimoji="0" lang="it-IT"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cơ thuê: ED0321, ED0036 và ED0715</a:t>
            </a:r>
          </a:p>
          <a:p>
            <a:pPr marL="380990" marR="0" lvl="0" indent="-380990"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it-IT"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Động cơ cao giờ: NIL</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7483337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EBBF0-4138-B510-1979-FBCC81398ABF}"/>
            </a:ext>
          </a:extLst>
        </p:cNvPr>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3AEDC4A0-D9E4-308A-B81A-C497E56EC867}"/>
              </a:ext>
            </a:extLst>
          </p:cNvPr>
          <p:cNvSpPr>
            <a:spLocks noGrp="1"/>
          </p:cNvSpPr>
          <p:nvPr>
            <p:ph type="sldNum" sz="quarter" idx="12"/>
          </p:nvPr>
        </p:nvSpPr>
        <p:spPr>
          <a:xfrm>
            <a:off x="11469279" y="8154511"/>
            <a:ext cx="3657600" cy="486833"/>
          </a:xfrm>
        </p:spPr>
        <p:txBody>
          <a:bodyPr>
            <a:normAutofit/>
          </a:bodyPr>
          <a:lstStyle/>
          <a:p>
            <a:pPr defTabSz="1219170">
              <a:defRPr/>
            </a:pPr>
            <a:r>
              <a:rPr lang="en-US" sz="1600" dirty="0">
                <a:solidFill>
                  <a:srgbClr val="D2A43B"/>
                </a:solidFill>
                <a:latin typeface="Montserrat" pitchFamily="2" charset="77"/>
              </a:rPr>
              <a:t>1</a:t>
            </a:r>
          </a:p>
        </p:txBody>
      </p:sp>
      <p:sp>
        <p:nvSpPr>
          <p:cNvPr id="4" name="TextBox 3">
            <a:extLst>
              <a:ext uri="{FF2B5EF4-FFF2-40B4-BE49-F238E27FC236}">
                <a16:creationId xmlns:a16="http://schemas.microsoft.com/office/drawing/2014/main" id="{5039FD0F-D84D-F582-FC95-7FD457F3C903}"/>
              </a:ext>
            </a:extLst>
          </p:cNvPr>
          <p:cNvSpPr txBox="1"/>
          <p:nvPr/>
        </p:nvSpPr>
        <p:spPr>
          <a:xfrm>
            <a:off x="61186" y="565752"/>
            <a:ext cx="12054615" cy="1077218"/>
          </a:xfrm>
          <a:prstGeom prst="rect">
            <a:avLst/>
          </a:prstGeom>
          <a:noFill/>
          <a:ln>
            <a:solidFill>
              <a:schemeClr val="tx1"/>
            </a:solidFill>
          </a:ln>
        </p:spPr>
        <p:txBody>
          <a:bodyPr wrap="square" rtlCol="0">
            <a:spAutoFit/>
          </a:bodyPr>
          <a:lstStyle/>
          <a:p>
            <a:pPr defTabSz="1219170">
              <a:defRPr/>
            </a:pPr>
            <a:r>
              <a:rPr lang="en-US" sz="1600" dirty="0" err="1">
                <a:solidFill>
                  <a:prstClr val="black"/>
                </a:solidFill>
                <a:latin typeface="Times New Roman" panose="02020603050405020304" pitchFamily="18" charset="0"/>
                <a:cs typeface="Times New Roman" panose="02020603050405020304" pitchFamily="18" charset="0"/>
              </a:rPr>
              <a:t>Từ</a:t>
            </a:r>
            <a:r>
              <a:rPr lang="en-US" sz="1600" dirty="0">
                <a:solidFill>
                  <a:prstClr val="black"/>
                </a:solidFill>
                <a:latin typeface="Times New Roman" panose="02020603050405020304" pitchFamily="18" charset="0"/>
                <a:cs typeface="Times New Roman" panose="02020603050405020304" pitchFamily="18" charset="0"/>
              </a:rPr>
              <a:t> 14/04/2025 – 20/04/2025:</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Phát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sinh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NIL.</a:t>
            </a:r>
          </a:p>
          <a:p>
            <a:pPr marL="380990" indent="-38099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Đã</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A893</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Exciter), </a:t>
            </a:r>
            <a:r>
              <a:rPr lang="en-US" sz="1600" dirty="0" err="1">
                <a:solidFill>
                  <a:prstClr val="black"/>
                </a:solidFill>
                <a:latin typeface="Times New Roman" panose="02020603050405020304" pitchFamily="18" charset="0"/>
                <a:cs typeface="Times New Roman" panose="02020603050405020304" pitchFamily="18" charset="0"/>
              </a:rPr>
              <a:t>A610</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Exciter), </a:t>
            </a:r>
            <a:r>
              <a:rPr lang="en-US" sz="1600" dirty="0" err="1">
                <a:solidFill>
                  <a:prstClr val="black"/>
                </a:solidFill>
                <a:latin typeface="Times New Roman" panose="02020603050405020304" pitchFamily="18" charset="0"/>
                <a:cs typeface="Times New Roman" panose="02020603050405020304" pitchFamily="18" charset="0"/>
              </a:rPr>
              <a:t>A602</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Cooling Fan).</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Hiện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có</a:t>
            </a:r>
            <a:r>
              <a:rPr lang="en-US" sz="1600" dirty="0">
                <a:solidFill>
                  <a:prstClr val="black"/>
                </a:solidFill>
                <a:latin typeface="Times New Roman" panose="02020603050405020304" pitchFamily="18" charset="0"/>
                <a:cs typeface="Times New Roman" panose="02020603050405020304" pitchFamily="18" charset="0"/>
              </a:rPr>
              <a:t> 01 APU </a:t>
            </a:r>
            <a:r>
              <a:rPr lang="en-US" sz="1600" dirty="0" err="1">
                <a:solidFill>
                  <a:prstClr val="black"/>
                </a:solidFill>
                <a:latin typeface="Times New Roman" panose="02020603050405020304" pitchFamily="18" charset="0"/>
                <a:cs typeface="Times New Roman" panose="02020603050405020304" pitchFamily="18" charset="0"/>
              </a:rPr>
              <a:t>chờ</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a:t>
            </a:r>
          </a:p>
        </p:txBody>
      </p:sp>
      <p:graphicFrame>
        <p:nvGraphicFramePr>
          <p:cNvPr id="3" name="Table 2">
            <a:extLst>
              <a:ext uri="{FF2B5EF4-FFF2-40B4-BE49-F238E27FC236}">
                <a16:creationId xmlns:a16="http://schemas.microsoft.com/office/drawing/2014/main" id="{6684DBD8-A2D2-50A1-B1FB-698DABA16090}"/>
              </a:ext>
            </a:extLst>
          </p:cNvPr>
          <p:cNvGraphicFramePr>
            <a:graphicFrameLocks noGrp="1"/>
          </p:cNvGraphicFramePr>
          <p:nvPr/>
        </p:nvGraphicFramePr>
        <p:xfrm>
          <a:off x="61186" y="1787548"/>
          <a:ext cx="12054615" cy="4841852"/>
        </p:xfrm>
        <a:graphic>
          <a:graphicData uri="http://schemas.openxmlformats.org/drawingml/2006/table">
            <a:tbl>
              <a:tblPr firstRow="1" firstCol="1" bandRow="1">
                <a:tableStyleId>{5C22544A-7EE6-4342-B048-85BDC9FD1C3A}</a:tableStyleId>
              </a:tblPr>
              <a:tblGrid>
                <a:gridCol w="635792">
                  <a:extLst>
                    <a:ext uri="{9D8B030D-6E8A-4147-A177-3AD203B41FA5}">
                      <a16:colId xmlns:a16="http://schemas.microsoft.com/office/drawing/2014/main" val="1827702162"/>
                    </a:ext>
                  </a:extLst>
                </a:gridCol>
                <a:gridCol w="1715656">
                  <a:extLst>
                    <a:ext uri="{9D8B030D-6E8A-4147-A177-3AD203B41FA5}">
                      <a16:colId xmlns:a16="http://schemas.microsoft.com/office/drawing/2014/main" val="2395768341"/>
                    </a:ext>
                  </a:extLst>
                </a:gridCol>
                <a:gridCol w="4013376">
                  <a:extLst>
                    <a:ext uri="{9D8B030D-6E8A-4147-A177-3AD203B41FA5}">
                      <a16:colId xmlns:a16="http://schemas.microsoft.com/office/drawing/2014/main" val="4155011410"/>
                    </a:ext>
                  </a:extLst>
                </a:gridCol>
                <a:gridCol w="5689791">
                  <a:extLst>
                    <a:ext uri="{9D8B030D-6E8A-4147-A177-3AD203B41FA5}">
                      <a16:colId xmlns:a16="http://schemas.microsoft.com/office/drawing/2014/main" val="1412321077"/>
                    </a:ext>
                  </a:extLst>
                </a:gridCol>
              </a:tblGrid>
              <a:tr h="418667">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pPr>
                      <a:r>
                        <a:rPr lang="en-US" sz="1500" b="1" kern="1200" dirty="0">
                          <a:solidFill>
                            <a:schemeClr val="tx1"/>
                          </a:solidFill>
                          <a:effectLst/>
                          <a:latin typeface="Times New Roman" panose="02020603050405020304" pitchFamily="18" charset="0"/>
                          <a:ea typeface="+mn-ea"/>
                          <a:cs typeface="Times New Roman" panose="02020603050405020304" pitchFamily="18" charset="0"/>
                        </a:rPr>
                        <a:t>Issue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Troubleshoot action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Note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5328572"/>
                  </a:ext>
                </a:extLst>
              </a:tr>
              <a:tr h="1474395">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A890</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INOP</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08/04. NSX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đã</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khuyến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do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nhiều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mạt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kim</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loại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thay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thế</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ngày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16/05.</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A321:</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BQDB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đã</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5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A350: 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03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giữa</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5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thay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A890</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B787:</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cuối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4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Đề nghị Vaeco cho kiểm tra ngay khi tàu N/S đối với các tàu 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hoặc</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báo bad smell và cung cấp WO T/S kịp thời. </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Đã thống nhất quy trình khắc phục APU bad smell. Vaeco ra TI mở ADD “APU Bleed bad smell for Air conditioning”, tổ bay được phép sử dụng APU để khởi động động cơ. Hạn ADD 6 tháng, Vaeco tiếp tục lên lịch T/S. Đã cập nhật nội dung vào FON2</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2</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/061 R0</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4</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6034225"/>
                  </a:ext>
                </a:extLst>
              </a:tr>
              <a:tr h="1474395">
                <a:tc>
                  <a:txBody>
                    <a:bodyPr/>
                    <a:lstStyle/>
                    <a:p>
                      <a:pPr marL="0" marR="0" algn="ctr">
                        <a:spcBef>
                          <a:spcPts val="0"/>
                        </a:spcBef>
                        <a:spcAft>
                          <a:spcPts val="0"/>
                        </a:spcAft>
                      </a:pP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485791511"/>
                  </a:ext>
                </a:extLst>
              </a:tr>
              <a:tr h="1474395">
                <a:tc>
                  <a:txBody>
                    <a:bodyPr/>
                    <a:lstStyle/>
                    <a:p>
                      <a:pPr marL="0" marR="0" algn="ctr">
                        <a:spcBef>
                          <a:spcPts val="0"/>
                        </a:spcBef>
                        <a:spcAft>
                          <a:spcPts val="0"/>
                        </a:spcAft>
                      </a:pP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36160297"/>
                  </a:ext>
                </a:extLst>
              </a:tr>
            </a:tbl>
          </a:graphicData>
        </a:graphic>
      </p:graphicFrame>
      <p:sp>
        <p:nvSpPr>
          <p:cNvPr id="5" name="TextBox 4">
            <a:extLst>
              <a:ext uri="{FF2B5EF4-FFF2-40B4-BE49-F238E27FC236}">
                <a16:creationId xmlns:a16="http://schemas.microsoft.com/office/drawing/2014/main" id="{C90E461A-8FB3-5729-0D39-FAC90BDE96E0}"/>
              </a:ext>
            </a:extLst>
          </p:cNvPr>
          <p:cNvSpPr txBox="1"/>
          <p:nvPr/>
        </p:nvSpPr>
        <p:spPr>
          <a:xfrm>
            <a:off x="0" y="4175"/>
            <a:ext cx="10155179"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HỎNG HÓC APU TRONG TUẦN</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84650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84535-CFCE-183F-8794-12D95900EC70}"/>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44E34AA5-0AD7-89EB-D556-85A4E3C161E2}"/>
              </a:ext>
            </a:extLst>
          </p:cNvPr>
          <p:cNvGraphicFramePr>
            <a:graphicFrameLocks noGrp="1"/>
          </p:cNvGraphicFramePr>
          <p:nvPr/>
        </p:nvGraphicFramePr>
        <p:xfrm>
          <a:off x="548320" y="609600"/>
          <a:ext cx="11169547" cy="4419600"/>
        </p:xfrm>
        <a:graphic>
          <a:graphicData uri="http://schemas.openxmlformats.org/drawingml/2006/table">
            <a:tbl>
              <a:tblPr firstRow="1" bandRow="1">
                <a:tableStyleId>{7DF18680-E054-41AD-8BC1-D1AEF772440D}</a:tableStyleId>
              </a:tblPr>
              <a:tblGrid>
                <a:gridCol w="1801539">
                  <a:extLst>
                    <a:ext uri="{9D8B030D-6E8A-4147-A177-3AD203B41FA5}">
                      <a16:colId xmlns:a16="http://schemas.microsoft.com/office/drawing/2014/main" val="1598605427"/>
                    </a:ext>
                  </a:extLst>
                </a:gridCol>
                <a:gridCol w="1692295">
                  <a:extLst>
                    <a:ext uri="{9D8B030D-6E8A-4147-A177-3AD203B41FA5}">
                      <a16:colId xmlns:a16="http://schemas.microsoft.com/office/drawing/2014/main" val="3845954792"/>
                    </a:ext>
                  </a:extLst>
                </a:gridCol>
                <a:gridCol w="3352017">
                  <a:extLst>
                    <a:ext uri="{9D8B030D-6E8A-4147-A177-3AD203B41FA5}">
                      <a16:colId xmlns:a16="http://schemas.microsoft.com/office/drawing/2014/main" val="2148822928"/>
                    </a:ext>
                  </a:extLst>
                </a:gridCol>
                <a:gridCol w="2161848">
                  <a:extLst>
                    <a:ext uri="{9D8B030D-6E8A-4147-A177-3AD203B41FA5}">
                      <a16:colId xmlns:a16="http://schemas.microsoft.com/office/drawing/2014/main" val="1106888684"/>
                    </a:ext>
                  </a:extLst>
                </a:gridCol>
                <a:gridCol w="2161848">
                  <a:extLst>
                    <a:ext uri="{9D8B030D-6E8A-4147-A177-3AD203B41FA5}">
                      <a16:colId xmlns:a16="http://schemas.microsoft.com/office/drawing/2014/main" val="571731565"/>
                    </a:ext>
                  </a:extLst>
                </a:gridCol>
              </a:tblGrid>
              <a:tr h="422730">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APU S/N</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Shop</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a:solidFill>
                            <a:schemeClr val="bg1"/>
                          </a:solidFill>
                          <a:effectLst/>
                          <a:latin typeface="Times New Roman" panose="02020603050405020304" pitchFamily="18" charset="0"/>
                          <a:cs typeface="Times New Roman" panose="02020603050405020304" pitchFamily="18" charset="0"/>
                        </a:rPr>
                        <a:t>Induction date</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Dự</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kiến</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ngày</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về</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a:solidFill>
                            <a:schemeClr val="bg1"/>
                          </a:solidFill>
                          <a:effectLst/>
                          <a:latin typeface="Times New Roman" panose="02020603050405020304" pitchFamily="18" charset="0"/>
                          <a:cs typeface="Times New Roman" panose="02020603050405020304" pitchFamily="18" charset="0"/>
                        </a:rPr>
                        <a:t>Dự kiến dùng cho tàu</a:t>
                      </a:r>
                      <a:endParaRPr lang="vi-VN"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extLst>
                  <a:ext uri="{0D108BD9-81ED-4DB2-BD59-A6C34878D82A}">
                    <a16:rowId xmlns:a16="http://schemas.microsoft.com/office/drawing/2014/main" val="1234812354"/>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P-4541</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EPCOR</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22-May-24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25-Jun-24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err="1">
                          <a:solidFill>
                            <a:schemeClr val="tx1"/>
                          </a:solidFill>
                          <a:effectLst/>
                          <a:latin typeface="Times New Roman" panose="02020603050405020304" pitchFamily="18" charset="0"/>
                          <a:cs typeface="Times New Roman" panose="02020603050405020304" pitchFamily="18" charset="0"/>
                        </a:rPr>
                        <a:t>A359</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extLst>
                  <a:ext uri="{0D108BD9-81ED-4DB2-BD59-A6C34878D82A}">
                    <a16:rowId xmlns:a16="http://schemas.microsoft.com/office/drawing/2014/main" val="3716492321"/>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19-Feb-25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07-May-25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A606</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841585950"/>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P-2973</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12-Jun-25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A620</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702873862"/>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P-6032</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12-Jun-25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A605</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28517020"/>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P-5295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12-Jun-25</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A396</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728158122"/>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P-8607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AMECO</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16-Apr-25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16-Jul-25</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A390</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1694765632"/>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PWC-Z925500</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22-Dec-24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30-Apr-25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A871</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3190860515"/>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PWC-Z926122</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14-Mar-24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05-May-25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A869</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2901684868"/>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P-00263</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17-Mar-25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16-May-25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A890</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148885825"/>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P-00194</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26-Mar-25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26-Jul-25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A886</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2828264085"/>
                  </a:ext>
                </a:extLst>
              </a:tr>
            </a:tbl>
          </a:graphicData>
        </a:graphic>
      </p:graphicFrame>
      <p:sp>
        <p:nvSpPr>
          <p:cNvPr id="3" name="TextBox 2">
            <a:extLst>
              <a:ext uri="{FF2B5EF4-FFF2-40B4-BE49-F238E27FC236}">
                <a16:creationId xmlns:a16="http://schemas.microsoft.com/office/drawing/2014/main" id="{683815DC-3726-60C6-9F9A-C1A095C6A727}"/>
              </a:ext>
            </a:extLst>
          </p:cNvPr>
          <p:cNvSpPr txBox="1"/>
          <p:nvPr/>
        </p:nvSpPr>
        <p:spPr>
          <a:xfrm>
            <a:off x="548319" y="5029200"/>
            <a:ext cx="11169547" cy="1816266"/>
          </a:xfrm>
          <a:prstGeom prst="rect">
            <a:avLst/>
          </a:prstGeom>
          <a:noFill/>
        </p:spPr>
        <p:txBody>
          <a:bodyPr wrap="square" rtlCol="0">
            <a:spAutoFit/>
          </a:bodyPr>
          <a:lstStyle/>
          <a:p>
            <a:pPr defTabSz="1219170">
              <a:defRPr/>
            </a:pPr>
            <a:r>
              <a:rPr lang="en-US" b="1" dirty="0" err="1">
                <a:solidFill>
                  <a:prstClr val="black"/>
                </a:solidFill>
                <a:latin typeface="Times New Roman" panose="02020603050405020304" pitchFamily="18" charset="0"/>
                <a:cs typeface="Times New Roman" panose="02020603050405020304" pitchFamily="18" charset="0"/>
              </a:rPr>
              <a:t>Đánh</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giá</a:t>
            </a:r>
            <a:r>
              <a:rPr lang="en-US" b="1" dirty="0">
                <a:solidFill>
                  <a:prstClr val="black"/>
                </a:solidFill>
                <a:latin typeface="Times New Roman" panose="02020603050405020304" pitchFamily="18" charset="0"/>
                <a:cs typeface="Times New Roman" panose="02020603050405020304" pitchFamily="18" charset="0"/>
              </a:rPr>
              <a:t>:</a:t>
            </a:r>
          </a:p>
          <a:p>
            <a:pPr marL="990575" lvl="1" indent="-380990" defTabSz="1219170">
              <a:buFont typeface="Arial" panose="020B0604020202020204" pitchFamily="34" charset="0"/>
              <a:buChar char="•"/>
              <a:defRPr/>
            </a:pPr>
            <a:r>
              <a:rPr lang="en-US" b="1" dirty="0" err="1">
                <a:solidFill>
                  <a:prstClr val="black"/>
                </a:solidFill>
                <a:latin typeface="Times New Roman" panose="02020603050405020304" pitchFamily="18" charset="0"/>
                <a:cs typeface="Times New Roman" panose="02020603050405020304" pitchFamily="18" charset="0"/>
              </a:rPr>
              <a:t>Đội</a:t>
            </a:r>
            <a:r>
              <a:rPr lang="en-US" b="1" dirty="0">
                <a:solidFill>
                  <a:prstClr val="black"/>
                </a:solidFill>
                <a:latin typeface="Times New Roman" panose="02020603050405020304" pitchFamily="18" charset="0"/>
                <a:cs typeface="Times New Roman" panose="02020603050405020304" pitchFamily="18" charset="0"/>
              </a:rPr>
              <a:t> bay A321: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a:p>
            <a:pPr marL="990575" lvl="1" indent="-380990">
              <a:buFont typeface="Arial" panose="020B0604020202020204" pitchFamily="34" charset="0"/>
              <a:buChar char="•"/>
              <a:defRPr/>
            </a:pPr>
            <a:r>
              <a:rPr lang="en-US" b="1"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b="1"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A350: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tới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RTS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cao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điểm</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hè</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do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các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tàu</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A350</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BQDB</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đều</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đã</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ph</a:t>
            </a:r>
            <a:r>
              <a:rPr lang="vi-VN"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ư</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ơng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án</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cung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ứng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APU,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tuy</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nhiên</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phát</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sinh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02 tr</a:t>
            </a:r>
            <a:r>
              <a:rPr lang="vi-VN"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ư</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ờng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hợp</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APU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hỏng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ngoài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kế</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hoạch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dẫn</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tới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đủ</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spare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để</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clear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sớm</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các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hỏng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hóc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cần</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APU.</a:t>
            </a:r>
          </a:p>
          <a:p>
            <a:pPr marL="990575" lvl="1" indent="-380990" defTabSz="1219170">
              <a:buFont typeface="Arial" panose="020B0604020202020204" pitchFamily="34" charset="0"/>
              <a:buChar char="•"/>
              <a:defRPr/>
            </a:pPr>
            <a:r>
              <a:rPr lang="en-US" b="1"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b="1"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B787: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p:txBody>
      </p:sp>
      <p:sp>
        <p:nvSpPr>
          <p:cNvPr id="4" name="TextBox 3">
            <a:extLst>
              <a:ext uri="{FF2B5EF4-FFF2-40B4-BE49-F238E27FC236}">
                <a16:creationId xmlns:a16="http://schemas.microsoft.com/office/drawing/2014/main" id="{2A0F6081-1E4E-10D7-02C6-BC54E456A673}"/>
              </a:ext>
            </a:extLst>
          </p:cNvPr>
          <p:cNvSpPr txBox="1"/>
          <p:nvPr/>
        </p:nvSpPr>
        <p:spPr>
          <a:xfrm>
            <a:off x="1" y="1"/>
            <a:ext cx="752162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SỬA CHỮA APU TẠI SHOP</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38933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C6B6B8D-D74E-47CD-B5EE-156060B7CD17}" type="slidenum">
              <a:rPr lang="en-US" smtClean="0"/>
              <a:pPr/>
              <a:t>45</a:t>
            </a:fld>
            <a:endParaRPr lang="en-US" dirty="0"/>
          </a:p>
        </p:txBody>
      </p:sp>
      <p:sp>
        <p:nvSpPr>
          <p:cNvPr id="3" name="Title 3"/>
          <p:cNvSpPr txBox="1">
            <a:spLocks/>
          </p:cNvSpPr>
          <p:nvPr/>
        </p:nvSpPr>
        <p:spPr>
          <a:xfrm>
            <a:off x="304800" y="2057400"/>
            <a:ext cx="11658600" cy="14700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i="0" kern="1200">
                <a:solidFill>
                  <a:srgbClr val="D2A43B"/>
                </a:solidFill>
                <a:latin typeface="Montserrat" pitchFamily="2" charset="77"/>
                <a:ea typeface="+mj-ea"/>
                <a:cs typeface="+mj-cs"/>
              </a:defRPr>
            </a:lvl1pPr>
          </a:lstStyle>
          <a:p>
            <a:endParaRPr lang="en-US" altLang="en-US" sz="54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BD37A2CA-F6F8-4864-97BD-AC13AAC82518}"/>
              </a:ext>
            </a:extLst>
          </p:cNvPr>
          <p:cNvSpPr txBox="1"/>
          <p:nvPr/>
        </p:nvSpPr>
        <p:spPr>
          <a:xfrm>
            <a:off x="304800" y="-55997"/>
            <a:ext cx="11304482" cy="523220"/>
          </a:xfrm>
          <a:prstGeom prst="rect">
            <a:avLst/>
          </a:prstGeom>
          <a:noFill/>
        </p:spPr>
        <p:txBody>
          <a:bodyPr wrap="square" rtlCol="0">
            <a:spAutoFit/>
          </a:bodyPr>
          <a:lstStyle/>
          <a:p>
            <a:r>
              <a:rPr lang="en-US" sz="2800" b="1">
                <a:ln w="0"/>
                <a:solidFill>
                  <a:srgbClr val="FBAC00"/>
                </a:solidFill>
                <a:latin typeface="Times New Roman" panose="02020603050405020304" pitchFamily="18" charset="0"/>
                <a:cs typeface="Times New Roman" panose="02020603050405020304" pitchFamily="18" charset="0"/>
              </a:rPr>
              <a:t>A899 – ENGINE STALL</a:t>
            </a:r>
            <a:endParaRPr lang="vi-VN" sz="2800" b="1" dirty="0">
              <a:ln w="0"/>
              <a:solidFill>
                <a:srgbClr val="FBAC00"/>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10040895-447B-4C7E-8B37-45E0FD4D6141}"/>
              </a:ext>
            </a:extLst>
          </p:cNvPr>
          <p:cNvSpPr txBox="1"/>
          <p:nvPr/>
        </p:nvSpPr>
        <p:spPr>
          <a:xfrm>
            <a:off x="381716" y="467223"/>
            <a:ext cx="11581682" cy="1631216"/>
          </a:xfrm>
          <a:prstGeom prst="rect">
            <a:avLst/>
          </a:prstGeom>
          <a:solidFill>
            <a:srgbClr val="FFFFCC"/>
          </a:solidFill>
          <a:ln>
            <a:solidFill>
              <a:schemeClr val="accent1"/>
            </a:solidFill>
          </a:ln>
        </p:spPr>
        <p:txBody>
          <a:bodyPr wrap="square" rtlCol="0">
            <a:spAutoFit/>
          </a:bodyPr>
          <a:lstStyle/>
          <a:p>
            <a:r>
              <a:rPr lang="en-US" sz="1600" b="1" dirty="0" err="1">
                <a:ln w="0"/>
                <a:solidFill>
                  <a:srgbClr val="0070C0"/>
                </a:solidFill>
                <a:latin typeface="Times New Roman" panose="02020603050405020304" pitchFamily="18" charset="0"/>
                <a:cs typeface="Times New Roman" panose="02020603050405020304" pitchFamily="18" charset="0"/>
              </a:rPr>
              <a:t>Sự</a:t>
            </a:r>
            <a:r>
              <a:rPr lang="en-US" sz="1600" b="1" dirty="0">
                <a:ln w="0"/>
                <a:solidFill>
                  <a:srgbClr val="0070C0"/>
                </a:solidFill>
                <a:latin typeface="Times New Roman" panose="02020603050405020304" pitchFamily="18" charset="0"/>
                <a:cs typeface="Times New Roman" panose="02020603050405020304" pitchFamily="18" charset="0"/>
              </a:rPr>
              <a:t> </a:t>
            </a:r>
            <a:r>
              <a:rPr lang="en-US" sz="1600" b="1" dirty="0" err="1">
                <a:ln w="0"/>
                <a:solidFill>
                  <a:srgbClr val="0070C0"/>
                </a:solidFill>
                <a:latin typeface="Times New Roman" panose="02020603050405020304" pitchFamily="18" charset="0"/>
                <a:cs typeface="Times New Roman" panose="02020603050405020304" pitchFamily="18" charset="0"/>
              </a:rPr>
              <a:t>kiện</a:t>
            </a:r>
            <a:r>
              <a:rPr lang="en-US" sz="1600" b="1" dirty="0">
                <a:ln w="0"/>
                <a:solidFill>
                  <a:srgbClr val="0070C0"/>
                </a:solidFill>
                <a:latin typeface="Times New Roman" panose="02020603050405020304" pitchFamily="18" charset="0"/>
                <a:cs typeface="Times New Roman" panose="02020603050405020304" pitchFamily="18" charset="0"/>
              </a:rPr>
              <a:t>:</a:t>
            </a:r>
          </a:p>
          <a:p>
            <a:pPr marL="285750" indent="-285750">
              <a:buFontTx/>
              <a:buChar char="-"/>
            </a:pPr>
            <a:r>
              <a:rPr lang="en-US" sz="1400">
                <a:ln w="0"/>
                <a:latin typeface="Times New Roman" panose="02020603050405020304" pitchFamily="18" charset="0"/>
                <a:cs typeface="Times New Roman" panose="02020603050405020304" pitchFamily="18" charset="0"/>
              </a:rPr>
              <a:t>Ngày 13/04, tàu A899 vừa climb đến 30k ft thì có cảnh báo ENG 1 STALL/SURGE trong vài giây rồi tự hết. Tiếp viên có ngửi thấy mùi khét. Các thông số khác của động c</a:t>
            </a:r>
            <a:r>
              <a:rPr lang="vi-VN" sz="1400">
                <a:ln w="0"/>
                <a:latin typeface="Times New Roman" panose="02020603050405020304" pitchFamily="18" charset="0"/>
                <a:cs typeface="Times New Roman" panose="02020603050405020304" pitchFamily="18" charset="0"/>
              </a:rPr>
              <a:t>ơ</a:t>
            </a:r>
            <a:r>
              <a:rPr lang="en-US" sz="1400">
                <a:ln w="0"/>
                <a:latin typeface="Times New Roman" panose="02020603050405020304" pitchFamily="18" charset="0"/>
                <a:cs typeface="Times New Roman" panose="02020603050405020304" pitchFamily="18" charset="0"/>
              </a:rPr>
              <a:t> bình th</a:t>
            </a:r>
            <a:r>
              <a:rPr lang="vi-VN" sz="1400">
                <a:ln w="0"/>
                <a:latin typeface="Times New Roman" panose="02020603050405020304" pitchFamily="18" charset="0"/>
                <a:cs typeface="Times New Roman" panose="02020603050405020304" pitchFamily="18" charset="0"/>
              </a:rPr>
              <a:t>ư</a:t>
            </a:r>
            <a:r>
              <a:rPr lang="en-US" sz="1400">
                <a:ln w="0"/>
                <a:latin typeface="Times New Roman" panose="02020603050405020304" pitchFamily="18" charset="0"/>
                <a:cs typeface="Times New Roman" panose="02020603050405020304" pitchFamily="18" charset="0"/>
              </a:rPr>
              <a:t>ờng, tuy nhiên tổ bay quyết định ATB về SGN để kiểm tra.</a:t>
            </a:r>
          </a:p>
          <a:p>
            <a:pPr marL="285750" indent="-285750">
              <a:buFontTx/>
              <a:buChar char="-"/>
            </a:pPr>
            <a:r>
              <a:rPr lang="en-US" sz="1400">
                <a:ln w="0"/>
                <a:latin typeface="Times New Roman" panose="02020603050405020304" pitchFamily="18" charset="0"/>
                <a:cs typeface="Times New Roman" panose="02020603050405020304" pitchFamily="18" charset="0"/>
              </a:rPr>
              <a:t>Thực hiện kiểm tra theo AMJM không phát hiện bất th</a:t>
            </a:r>
            <a:r>
              <a:rPr lang="vi-VN" sz="1400">
                <a:ln w="0"/>
                <a:latin typeface="Times New Roman" panose="02020603050405020304" pitchFamily="18" charset="0"/>
                <a:cs typeface="Times New Roman" panose="02020603050405020304" pitchFamily="18" charset="0"/>
              </a:rPr>
              <a:t>ư</a:t>
            </a:r>
            <a:r>
              <a:rPr lang="en-US" sz="1400">
                <a:ln w="0"/>
                <a:latin typeface="Times New Roman" panose="02020603050405020304" pitchFamily="18" charset="0"/>
                <a:cs typeface="Times New Roman" panose="02020603050405020304" pitchFamily="18" charset="0"/>
              </a:rPr>
              <a:t>ờng, tuy nhiên phía RR sau khi nghiên cứu dữ liệu tàu bay đánh giá khả năng động c</a:t>
            </a:r>
            <a:r>
              <a:rPr lang="vi-VN" sz="1400">
                <a:ln w="0"/>
                <a:latin typeface="Times New Roman" panose="02020603050405020304" pitchFamily="18" charset="0"/>
                <a:cs typeface="Times New Roman" panose="02020603050405020304" pitchFamily="18" charset="0"/>
              </a:rPr>
              <a:t>ơ</a:t>
            </a:r>
            <a:r>
              <a:rPr lang="en-US" sz="1400">
                <a:ln w="0"/>
                <a:latin typeface="Times New Roman" panose="02020603050405020304" pitchFamily="18" charset="0"/>
                <a:cs typeface="Times New Roman" panose="02020603050405020304" pitchFamily="18" charset="0"/>
              </a:rPr>
              <a:t> stall do sét đánh hoặc hút phải bang, và khuyến cáo soi 4 tầng đầu IPC. </a:t>
            </a:r>
          </a:p>
          <a:p>
            <a:pPr marL="285750" indent="-285750">
              <a:buFontTx/>
              <a:buChar char="-"/>
            </a:pPr>
            <a:r>
              <a:rPr lang="en-US" sz="1400">
                <a:ln w="0"/>
                <a:latin typeface="Times New Roman" panose="02020603050405020304" pitchFamily="18" charset="0"/>
                <a:cs typeface="Times New Roman" panose="02020603050405020304" pitchFamily="18" charset="0"/>
              </a:rPr>
              <a:t>VAECO soi kiểm tra phát hiện 01 lá IPC bị mất vật liệu khoảng 10mm*6mm, có thể xác định là nguyên nhân trực tiếp gây stall nhất thời. Nguyên nhân hỏng lá có thể do hút phải băng. </a:t>
            </a:r>
            <a:endParaRPr lang="vi-VN" sz="1400" dirty="0">
              <a:ln w="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05BAA073-CCA3-4FE1-9E63-192C76429780}"/>
              </a:ext>
            </a:extLst>
          </p:cNvPr>
          <p:cNvSpPr txBox="1"/>
          <p:nvPr/>
        </p:nvSpPr>
        <p:spPr>
          <a:xfrm>
            <a:off x="381716" y="4576206"/>
            <a:ext cx="11658600" cy="1846659"/>
          </a:xfrm>
          <a:prstGeom prst="rect">
            <a:avLst/>
          </a:prstGeom>
          <a:solidFill>
            <a:schemeClr val="accent2">
              <a:lumMod val="40000"/>
              <a:lumOff val="60000"/>
            </a:schemeClr>
          </a:solidFill>
          <a:ln>
            <a:solidFill>
              <a:schemeClr val="accent1"/>
            </a:solidFill>
          </a:ln>
        </p:spPr>
        <p:txBody>
          <a:bodyPr wrap="square" rtlCol="0">
            <a:spAutoFit/>
          </a:bodyPr>
          <a:lstStyle/>
          <a:p>
            <a:r>
              <a:rPr lang="en-US" sz="1600" b="1">
                <a:ln w="0"/>
                <a:solidFill>
                  <a:srgbClr val="0070C0"/>
                </a:solidFill>
                <a:latin typeface="Times New Roman" panose="02020603050405020304" pitchFamily="18" charset="0"/>
                <a:cs typeface="Times New Roman" panose="02020603050405020304" pitchFamily="18" charset="0"/>
              </a:rPr>
              <a:t>Ph</a:t>
            </a:r>
            <a:r>
              <a:rPr lang="vi-VN" sz="1600" b="1">
                <a:ln w="0"/>
                <a:solidFill>
                  <a:srgbClr val="0070C0"/>
                </a:solidFill>
                <a:latin typeface="Times New Roman" panose="02020603050405020304" pitchFamily="18" charset="0"/>
                <a:cs typeface="Times New Roman" panose="02020603050405020304" pitchFamily="18" charset="0"/>
              </a:rPr>
              <a:t>ư</a:t>
            </a:r>
            <a:r>
              <a:rPr lang="en-US" sz="1600" b="1">
                <a:ln w="0"/>
                <a:solidFill>
                  <a:srgbClr val="0070C0"/>
                </a:solidFill>
                <a:latin typeface="Times New Roman" panose="02020603050405020304" pitchFamily="18" charset="0"/>
                <a:cs typeface="Times New Roman" panose="02020603050405020304" pitchFamily="18" charset="0"/>
              </a:rPr>
              <a:t>ơng án khắc phục:</a:t>
            </a:r>
          </a:p>
          <a:p>
            <a:pPr marL="285750" indent="-285750">
              <a:buFont typeface="Wingdings" panose="05000000000000000000" pitchFamily="2" charset="2"/>
              <a:buChar char="Ø"/>
            </a:pPr>
            <a:r>
              <a:rPr lang="en-US" sz="1400">
                <a:ln w="0"/>
                <a:latin typeface="Times New Roman" panose="02020603050405020304" pitchFamily="18" charset="0"/>
                <a:cs typeface="Times New Roman" panose="02020603050405020304" pitchFamily="18" charset="0"/>
              </a:rPr>
              <a:t>VNA đã xin RR cho phép bay ferry ra HAN để khắc phục tuy nhiên phía RR không đồng ý do lo ngại rủi ro an toàn. </a:t>
            </a:r>
          </a:p>
          <a:p>
            <a:pPr marL="285750" indent="-285750">
              <a:buFont typeface="Wingdings" panose="05000000000000000000" pitchFamily="2" charset="2"/>
              <a:buChar char="Ø"/>
            </a:pPr>
            <a:r>
              <a:rPr lang="en-US" sz="1400">
                <a:ln w="0"/>
                <a:latin typeface="Times New Roman" panose="02020603050405020304" pitchFamily="18" charset="0"/>
                <a:cs typeface="Times New Roman" panose="02020603050405020304" pitchFamily="18" charset="0"/>
              </a:rPr>
              <a:t>RR đã cấp TV cho ph</a:t>
            </a:r>
            <a:r>
              <a:rPr lang="vi-VN" sz="1400">
                <a:ln w="0"/>
                <a:latin typeface="Times New Roman" panose="02020603050405020304" pitchFamily="18" charset="0"/>
                <a:cs typeface="Times New Roman" panose="02020603050405020304" pitchFamily="18" charset="0"/>
              </a:rPr>
              <a:t>ư</a:t>
            </a:r>
            <a:r>
              <a:rPr lang="en-US" sz="1400">
                <a:ln w="0"/>
                <a:latin typeface="Times New Roman" panose="02020603050405020304" pitchFamily="18" charset="0"/>
                <a:cs typeface="Times New Roman" panose="02020603050405020304" pitchFamily="18" charset="0"/>
              </a:rPr>
              <a:t>ơng án sửa boro-blending (mài lá), tuy nhiên công việc chỉ có thể thực hiện bởi chuyên gia của NSX. Hiện vẫn ch</a:t>
            </a:r>
            <a:r>
              <a:rPr lang="vi-VN" sz="1400">
                <a:ln w="0"/>
                <a:latin typeface="Times New Roman" panose="02020603050405020304" pitchFamily="18" charset="0"/>
                <a:cs typeface="Times New Roman" panose="02020603050405020304" pitchFamily="18" charset="0"/>
              </a:rPr>
              <a:t>ư</a:t>
            </a:r>
            <a:r>
              <a:rPr lang="en-US" sz="1400">
                <a:ln w="0"/>
                <a:latin typeface="Times New Roman" panose="02020603050405020304" pitchFamily="18" charset="0"/>
                <a:cs typeface="Times New Roman" panose="02020603050405020304" pitchFamily="18" charset="0"/>
              </a:rPr>
              <a:t>a có lịch để chuyên gia sang sửa, thông th</a:t>
            </a:r>
            <a:r>
              <a:rPr lang="vi-VN" sz="1400">
                <a:ln w="0"/>
                <a:latin typeface="Times New Roman" panose="02020603050405020304" pitchFamily="18" charset="0"/>
                <a:cs typeface="Times New Roman" panose="02020603050405020304" pitchFamily="18" charset="0"/>
              </a:rPr>
              <a:t>ư</a:t>
            </a:r>
            <a:r>
              <a:rPr lang="en-US" sz="1400">
                <a:ln w="0"/>
                <a:latin typeface="Times New Roman" panose="02020603050405020304" pitchFamily="18" charset="0"/>
                <a:cs typeface="Times New Roman" panose="02020603050405020304" pitchFamily="18" charset="0"/>
              </a:rPr>
              <a:t>ờng mất 2 – 4 tuần. Ban KT đã có th</a:t>
            </a:r>
            <a:r>
              <a:rPr lang="vi-VN" sz="1400">
                <a:ln w="0"/>
                <a:latin typeface="Times New Roman" panose="02020603050405020304" pitchFamily="18" charset="0"/>
                <a:cs typeface="Times New Roman" panose="02020603050405020304" pitchFamily="18" charset="0"/>
              </a:rPr>
              <a:t>ư</a:t>
            </a:r>
            <a:r>
              <a:rPr lang="en-US" sz="1400">
                <a:ln w="0"/>
                <a:latin typeface="Times New Roman" panose="02020603050405020304" pitchFamily="18" charset="0"/>
                <a:cs typeface="Times New Roman" panose="02020603050405020304" pitchFamily="18" charset="0"/>
              </a:rPr>
              <a:t> cấp cao gửi RR yêu cầu triển khai sớm hơn, phía RR đang xem xét và ch</a:t>
            </a:r>
            <a:r>
              <a:rPr lang="vi-VN" sz="1400">
                <a:ln w="0"/>
                <a:latin typeface="Times New Roman" panose="02020603050405020304" pitchFamily="18" charset="0"/>
                <a:cs typeface="Times New Roman" panose="02020603050405020304" pitchFamily="18" charset="0"/>
              </a:rPr>
              <a:t>ư</a:t>
            </a:r>
            <a:r>
              <a:rPr lang="en-US" sz="1400">
                <a:ln w="0"/>
                <a:latin typeface="Times New Roman" panose="02020603050405020304" pitchFamily="18" charset="0"/>
                <a:cs typeface="Times New Roman" panose="02020603050405020304" pitchFamily="18" charset="0"/>
              </a:rPr>
              <a:t>a có phản hồi. </a:t>
            </a:r>
          </a:p>
          <a:p>
            <a:pPr marL="285750" indent="-285750">
              <a:buFont typeface="Wingdings" panose="05000000000000000000" pitchFamily="2" charset="2"/>
              <a:buChar char="Ø"/>
            </a:pPr>
            <a:r>
              <a:rPr lang="en-US" sz="1400">
                <a:ln w="0"/>
                <a:latin typeface="Times New Roman" panose="02020603050405020304" pitchFamily="18" charset="0"/>
                <a:cs typeface="Times New Roman" panose="02020603050405020304" pitchFamily="18" charset="0"/>
              </a:rPr>
              <a:t>Hiện Ban KT đang triển khai song song ph</a:t>
            </a:r>
            <a:r>
              <a:rPr lang="vi-VN" sz="1400">
                <a:ln w="0"/>
                <a:latin typeface="Times New Roman" panose="02020603050405020304" pitchFamily="18" charset="0"/>
                <a:cs typeface="Times New Roman" panose="02020603050405020304" pitchFamily="18" charset="0"/>
              </a:rPr>
              <a:t>ư</a:t>
            </a:r>
            <a:r>
              <a:rPr lang="en-US" sz="1400">
                <a:ln w="0"/>
                <a:latin typeface="Times New Roman" panose="02020603050405020304" pitchFamily="18" charset="0"/>
                <a:cs typeface="Times New Roman" panose="02020603050405020304" pitchFamily="18" charset="0"/>
              </a:rPr>
              <a:t>ơng án chuyển động c</a:t>
            </a:r>
            <a:r>
              <a:rPr lang="vi-VN" sz="1400">
                <a:ln w="0"/>
                <a:latin typeface="Times New Roman" panose="02020603050405020304" pitchFamily="18" charset="0"/>
                <a:cs typeface="Times New Roman" panose="02020603050405020304" pitchFamily="18" charset="0"/>
              </a:rPr>
              <a:t>ơ</a:t>
            </a:r>
            <a:r>
              <a:rPr lang="en-US" sz="1400">
                <a:ln w="0"/>
                <a:latin typeface="Times New Roman" panose="02020603050405020304" pitchFamily="18" charset="0"/>
                <a:cs typeface="Times New Roman" panose="02020603050405020304" pitchFamily="18" charset="0"/>
              </a:rPr>
              <a:t> 21047 từ shop N3 (Đức) về SGN, dự kiến tới ngày 27/04 để thay cho A899. Tr</a:t>
            </a:r>
            <a:r>
              <a:rPr lang="vi-VN" sz="1400">
                <a:ln w="0"/>
                <a:latin typeface="Times New Roman" panose="02020603050405020304" pitchFamily="18" charset="0"/>
                <a:cs typeface="Times New Roman" panose="02020603050405020304" pitchFamily="18" charset="0"/>
              </a:rPr>
              <a:t>ư</a:t>
            </a:r>
            <a:r>
              <a:rPr lang="en-US" sz="1400">
                <a:ln w="0"/>
                <a:latin typeface="Times New Roman" panose="02020603050405020304" pitchFamily="18" charset="0"/>
                <a:cs typeface="Times New Roman" panose="02020603050405020304" pitchFamily="18" charset="0"/>
              </a:rPr>
              <a:t>ờng hợp chuyên gia có thể sang khắc phục sớm hơn có thể thay đổi ph</a:t>
            </a:r>
            <a:r>
              <a:rPr lang="vi-VN" sz="1400">
                <a:ln w="0"/>
                <a:latin typeface="Times New Roman" panose="02020603050405020304" pitchFamily="18" charset="0"/>
                <a:cs typeface="Times New Roman" panose="02020603050405020304" pitchFamily="18" charset="0"/>
              </a:rPr>
              <a:t>ư</a:t>
            </a:r>
            <a:r>
              <a:rPr lang="en-US" sz="1400">
                <a:ln w="0"/>
                <a:latin typeface="Times New Roman" panose="02020603050405020304" pitchFamily="18" charset="0"/>
                <a:cs typeface="Times New Roman" panose="02020603050405020304" pitchFamily="18" charset="0"/>
              </a:rPr>
              <a:t>ơng án tối </a:t>
            </a:r>
            <a:r>
              <a:rPr lang="vi-VN" sz="1400">
                <a:ln w="0"/>
                <a:latin typeface="Times New Roman" panose="02020603050405020304" pitchFamily="18" charset="0"/>
                <a:cs typeface="Times New Roman" panose="02020603050405020304" pitchFamily="18" charset="0"/>
              </a:rPr>
              <a:t>ư</a:t>
            </a:r>
            <a:r>
              <a:rPr lang="en-US" sz="1400">
                <a:ln w="0"/>
                <a:latin typeface="Times New Roman" panose="02020603050405020304" pitchFamily="18" charset="0"/>
                <a:cs typeface="Times New Roman" panose="02020603050405020304" pitchFamily="18" charset="0"/>
              </a:rPr>
              <a:t>u h</a:t>
            </a:r>
            <a:r>
              <a:rPr lang="vi-VN" sz="1400">
                <a:ln w="0"/>
                <a:latin typeface="Times New Roman" panose="02020603050405020304" pitchFamily="18" charset="0"/>
                <a:cs typeface="Times New Roman" panose="02020603050405020304" pitchFamily="18" charset="0"/>
              </a:rPr>
              <a:t>ơ</a:t>
            </a:r>
            <a:r>
              <a:rPr lang="en-US" sz="1400">
                <a:ln w="0"/>
                <a:latin typeface="Times New Roman" panose="02020603050405020304" pitchFamily="18" charset="0"/>
                <a:cs typeface="Times New Roman" panose="02020603050405020304" pitchFamily="18" charset="0"/>
              </a:rPr>
              <a:t>n. </a:t>
            </a:r>
          </a:p>
          <a:p>
            <a:pPr marL="285750" indent="-285750">
              <a:buFont typeface="Wingdings" panose="05000000000000000000" pitchFamily="2" charset="2"/>
              <a:buChar char="Ø"/>
            </a:pPr>
            <a:r>
              <a:rPr lang="en-US" sz="1400">
                <a:ln w="0"/>
                <a:latin typeface="Times New Roman" panose="02020603050405020304" pitchFamily="18" charset="0"/>
                <a:cs typeface="Times New Roman" panose="02020603050405020304" pitchFamily="18" charset="0"/>
              </a:rPr>
              <a:t>Ban KT cũng đang làm việc thêm với RR, Airbus và SQD để nghiên cứu điều tra sự kiện này. </a:t>
            </a:r>
            <a:endParaRPr lang="en-US" sz="1400" dirty="0">
              <a:ln w="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098825D-7550-4CD4-B42E-7E48AA1633C3}"/>
              </a:ext>
            </a:extLst>
          </p:cNvPr>
          <p:cNvPicPr>
            <a:picLocks noChangeAspect="1"/>
          </p:cNvPicPr>
          <p:nvPr/>
        </p:nvPicPr>
        <p:blipFill>
          <a:blip r:embed="rId2"/>
          <a:stretch>
            <a:fillRect/>
          </a:stretch>
        </p:blipFill>
        <p:spPr>
          <a:xfrm>
            <a:off x="10185694" y="2361161"/>
            <a:ext cx="1777704" cy="1820763"/>
          </a:xfrm>
          <a:prstGeom prst="rect">
            <a:avLst/>
          </a:prstGeom>
        </p:spPr>
      </p:pic>
      <p:pic>
        <p:nvPicPr>
          <p:cNvPr id="7" name="Picture 6">
            <a:extLst>
              <a:ext uri="{FF2B5EF4-FFF2-40B4-BE49-F238E27FC236}">
                <a16:creationId xmlns:a16="http://schemas.microsoft.com/office/drawing/2014/main" id="{FA26AA7D-086B-45DF-93A5-534FA4DF2270}"/>
              </a:ext>
            </a:extLst>
          </p:cNvPr>
          <p:cNvPicPr>
            <a:picLocks noChangeAspect="1"/>
          </p:cNvPicPr>
          <p:nvPr/>
        </p:nvPicPr>
        <p:blipFill>
          <a:blip r:embed="rId3"/>
          <a:stretch>
            <a:fillRect/>
          </a:stretch>
        </p:blipFill>
        <p:spPr>
          <a:xfrm>
            <a:off x="6453050" y="2380317"/>
            <a:ext cx="3529149" cy="1843363"/>
          </a:xfrm>
          <a:prstGeom prst="rect">
            <a:avLst/>
          </a:prstGeom>
        </p:spPr>
      </p:pic>
      <p:pic>
        <p:nvPicPr>
          <p:cNvPr id="10" name="Picture 9">
            <a:extLst>
              <a:ext uri="{FF2B5EF4-FFF2-40B4-BE49-F238E27FC236}">
                <a16:creationId xmlns:a16="http://schemas.microsoft.com/office/drawing/2014/main" id="{C96B6B3A-3960-4CC0-A60A-1B4D54790E25}"/>
              </a:ext>
            </a:extLst>
          </p:cNvPr>
          <p:cNvPicPr>
            <a:picLocks noChangeAspect="1"/>
          </p:cNvPicPr>
          <p:nvPr/>
        </p:nvPicPr>
        <p:blipFill rotWithShape="1">
          <a:blip r:embed="rId4">
            <a:extLst>
              <a:ext uri="{28A0092B-C50C-407E-A947-70E740481C1C}">
                <a14:useLocalDpi xmlns:a14="http://schemas.microsoft.com/office/drawing/2010/main" val="0"/>
              </a:ext>
            </a:extLst>
          </a:blip>
          <a:srcRect r="17410"/>
          <a:stretch/>
        </p:blipFill>
        <p:spPr>
          <a:xfrm>
            <a:off x="381716" y="2361161"/>
            <a:ext cx="5867839" cy="1881677"/>
          </a:xfrm>
          <a:prstGeom prst="rect">
            <a:avLst/>
          </a:prstGeom>
        </p:spPr>
      </p:pic>
    </p:spTree>
    <p:extLst>
      <p:ext uri="{BB962C8B-B14F-4D97-AF65-F5344CB8AC3E}">
        <p14:creationId xmlns:p14="http://schemas.microsoft.com/office/powerpoint/2010/main" val="17329215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46</a:t>
            </a:fld>
            <a:endParaRPr dirty="0"/>
          </a:p>
        </p:txBody>
      </p:sp>
      <p:sp>
        <p:nvSpPr>
          <p:cNvPr id="76" name="Google Shape;76;p2"/>
          <p:cNvSpPr txBox="1">
            <a:spLocks noGrp="1"/>
          </p:cNvSpPr>
          <p:nvPr>
            <p:ph type="title"/>
          </p:nvPr>
        </p:nvSpPr>
        <p:spPr>
          <a:xfrm>
            <a:off x="762001" y="283335"/>
            <a:ext cx="9777833"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5" name="Google Shape;75;p2">
            <a:extLst>
              <a:ext uri="{FF2B5EF4-FFF2-40B4-BE49-F238E27FC236}">
                <a16:creationId xmlns:a16="http://schemas.microsoft.com/office/drawing/2014/main" id="{637BC1EA-95C9-6D4F-9E46-CF744FAC7800}"/>
              </a:ext>
            </a:extLst>
          </p:cNvPr>
          <p:cNvSpPr txBox="1">
            <a:spLocks/>
          </p:cNvSpPr>
          <p:nvPr/>
        </p:nvSpPr>
        <p:spPr>
          <a:xfrm>
            <a:off x="152400" y="609600"/>
            <a:ext cx="10512582" cy="1905000"/>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SzPts val="1100"/>
              <a:buFont typeface="Arial" panose="020B0604020202020204" pitchFamily="34" charset="0"/>
              <a:buNone/>
            </a:pPr>
            <a:r>
              <a:rPr lang="en-US" sz="1600" b="1" dirty="0">
                <a:cs typeface="Times New Roman" panose="02020603050405020304" pitchFamily="18" charset="0"/>
              </a:rPr>
              <a:t>BQDB: </a:t>
            </a:r>
            <a:r>
              <a:rPr lang="pt-BR" sz="1600" b="1" dirty="0">
                <a:cs typeface="Times New Roman" panose="02020603050405020304" pitchFamily="18" charset="0"/>
              </a:rPr>
              <a:t>HAN (A501/03/05/06/08/10/11/16, </a:t>
            </a:r>
            <a:r>
              <a:rPr lang="pt-BR" sz="1600" b="1" dirty="0" smtClean="0">
                <a:cs typeface="Times New Roman" panose="02020603050405020304" pitchFamily="18" charset="0"/>
              </a:rPr>
              <a:t>A617/20/22/23/24/25</a:t>
            </a:r>
            <a:r>
              <a:rPr lang="pt-BR" sz="1600" b="1" dirty="0">
                <a:cs typeface="Times New Roman" panose="02020603050405020304" pitchFamily="18" charset="0"/>
              </a:rPr>
              <a:t>, </a:t>
            </a:r>
            <a:r>
              <a:rPr lang="pt-BR" sz="1600" b="1" dirty="0" smtClean="0">
                <a:cs typeface="Times New Roman" panose="02020603050405020304" pitchFamily="18" charset="0"/>
              </a:rPr>
              <a:t>A886/887/895) </a:t>
            </a:r>
            <a:r>
              <a:rPr lang="pt-BR" sz="1600" b="1" dirty="0">
                <a:cs typeface="Times New Roman" panose="02020603050405020304" pitchFamily="18" charset="0"/>
              </a:rPr>
              <a:t>/</a:t>
            </a:r>
            <a:r>
              <a:rPr lang="pt-BR" sz="1600" b="1" dirty="0">
                <a:solidFill>
                  <a:schemeClr val="accent1">
                    <a:lumMod val="75000"/>
                  </a:schemeClr>
                </a:solidFill>
                <a:cs typeface="Times New Roman" panose="02020603050405020304" pitchFamily="18" charset="0"/>
              </a:rPr>
              <a:t> SGN </a:t>
            </a:r>
            <a:r>
              <a:rPr lang="pt-BR" sz="1600" b="1" dirty="0" smtClean="0">
                <a:solidFill>
                  <a:schemeClr val="accent1">
                    <a:lumMod val="75000"/>
                  </a:schemeClr>
                </a:solidFill>
                <a:cs typeface="Times New Roman" panose="02020603050405020304" pitchFamily="18" charset="0"/>
              </a:rPr>
              <a:t>(A509</a:t>
            </a:r>
            <a:r>
              <a:rPr lang="pt-BR" sz="1600" b="1" dirty="0">
                <a:solidFill>
                  <a:schemeClr val="accent1">
                    <a:lumMod val="75000"/>
                  </a:schemeClr>
                </a:solidFill>
                <a:cs typeface="Times New Roman" panose="02020603050405020304" pitchFamily="18" charset="0"/>
              </a:rPr>
              <a:t>).</a:t>
            </a:r>
            <a:endParaRPr lang="en-US" sz="1600" b="1" dirty="0">
              <a:cs typeface="Times New Roman" panose="02020603050405020304" pitchFamily="18" charset="0"/>
            </a:endParaRPr>
          </a:p>
          <a:p>
            <a:pPr marL="12700" indent="0" algn="just">
              <a:buSzPts val="1100"/>
              <a:buFont typeface="Arial" panose="020B0604020202020204" pitchFamily="34" charset="0"/>
              <a:buNone/>
            </a:pPr>
            <a:r>
              <a:rPr lang="en-US" sz="1600" b="1" dirty="0">
                <a:cs typeface="Times New Roman" panose="02020603050405020304" pitchFamily="18" charset="0"/>
              </a:rPr>
              <a:t>BDĐK: A321: </a:t>
            </a:r>
            <a:r>
              <a:rPr lang="en-US" sz="1600" b="1" dirty="0" smtClean="0">
                <a:cs typeface="Times New Roman" panose="02020603050405020304" pitchFamily="18" charset="0"/>
              </a:rPr>
              <a:t>A604;</a:t>
            </a:r>
            <a:endParaRPr lang="en-US" sz="1600" b="1" dirty="0">
              <a:cs typeface="Times New Roman" panose="02020603050405020304" pitchFamily="18" charset="0"/>
            </a:endParaRPr>
          </a:p>
          <a:p>
            <a:pPr marL="12700" indent="0" algn="just">
              <a:buSzPts val="1100"/>
              <a:buFont typeface="Arial" panose="020B0604020202020204" pitchFamily="34" charset="0"/>
              <a:buNone/>
            </a:pPr>
            <a:r>
              <a:rPr lang="en-US" sz="1600" b="1" dirty="0">
                <a:solidFill>
                  <a:schemeClr val="accent1"/>
                </a:solidFill>
                <a:cs typeface="Times New Roman" panose="02020603050405020304" pitchFamily="18" charset="0"/>
              </a:rPr>
              <a:t>              </a:t>
            </a:r>
            <a:r>
              <a:rPr lang="en-US" sz="1600" b="1" dirty="0">
                <a:cs typeface="Times New Roman" panose="02020603050405020304" pitchFamily="18" charset="0"/>
              </a:rPr>
              <a:t>A350: </a:t>
            </a:r>
            <a:r>
              <a:rPr lang="en-US" sz="1600" b="1" dirty="0" smtClean="0">
                <a:cs typeface="Times New Roman" panose="02020603050405020304" pitchFamily="18" charset="0"/>
              </a:rPr>
              <a:t>A898;</a:t>
            </a:r>
            <a:endParaRPr lang="en-US" sz="1600" b="1" dirty="0">
              <a:cs typeface="Times New Roman" panose="02020603050405020304" pitchFamily="18" charset="0"/>
            </a:endParaRPr>
          </a:p>
          <a:p>
            <a:pPr marL="12700" indent="0" algn="just">
              <a:buSzPts val="1100"/>
              <a:buFont typeface="Arial" panose="020B0604020202020204" pitchFamily="34" charset="0"/>
              <a:buNone/>
            </a:pPr>
            <a:r>
              <a:rPr lang="en-US" sz="1600" b="1" dirty="0">
                <a:cs typeface="Times New Roman" panose="02020603050405020304" pitchFamily="18" charset="0"/>
              </a:rPr>
              <a:t>              ATR72: </a:t>
            </a:r>
            <a:r>
              <a:rPr lang="en-US" sz="1600" b="1" dirty="0" smtClean="0">
                <a:cs typeface="Times New Roman" panose="02020603050405020304" pitchFamily="18" charset="0"/>
              </a:rPr>
              <a:t>B218;</a:t>
            </a:r>
            <a:endParaRPr lang="en-US" sz="1600" b="1" dirty="0">
              <a:cs typeface="Times New Roman" panose="02020603050405020304" pitchFamily="18" charset="0"/>
            </a:endParaRPr>
          </a:p>
          <a:p>
            <a:pPr marL="12700" indent="0" algn="just">
              <a:buClr>
                <a:schemeClr val="dk1"/>
              </a:buClr>
              <a:buSzPts val="1100"/>
              <a:buFont typeface="Arial" panose="020B0604020202020204" pitchFamily="34" charset="0"/>
              <a:buNone/>
            </a:pPr>
            <a:r>
              <a:rPr lang="en-US" sz="1600" b="1" dirty="0">
                <a:cs typeface="Times New Roman" panose="02020603050405020304" pitchFamily="18" charset="0"/>
              </a:rPr>
              <a:t>              B787: </a:t>
            </a:r>
            <a:r>
              <a:rPr lang="en-US" sz="1600" b="1" dirty="0" smtClean="0">
                <a:cs typeface="Times New Roman" panose="02020603050405020304" pitchFamily="18" charset="0"/>
              </a:rPr>
              <a:t>A874;</a:t>
            </a:r>
            <a:endParaRPr lang="en-US" sz="1600" dirty="0">
              <a:cs typeface="Times New Roman" panose="02020603050405020304" pitchFamily="18" charset="0"/>
              <a:sym typeface="Wingdings" panose="05000000000000000000" pitchFamily="2" charset="2"/>
            </a:endParaRPr>
          </a:p>
          <a:p>
            <a:pPr marL="12700" indent="0" algn="just">
              <a:buSzPts val="1100"/>
              <a:buNone/>
            </a:pPr>
            <a:endParaRPr lang="es-ES" sz="1600" dirty="0">
              <a:cs typeface="Times New Roman" panose="02020603050405020304" pitchFamily="18" charset="0"/>
              <a:sym typeface="Wingdings" panose="05000000000000000000" pitchFamily="2" charset="2"/>
            </a:endParaRPr>
          </a:p>
        </p:txBody>
      </p:sp>
      <p:sp>
        <p:nvSpPr>
          <p:cNvPr id="6" name="Google Shape;75;p2">
            <a:extLst>
              <a:ext uri="{FF2B5EF4-FFF2-40B4-BE49-F238E27FC236}">
                <a16:creationId xmlns:a16="http://schemas.microsoft.com/office/drawing/2014/main" id="{637BC1EA-95C9-6D4F-9E46-CF744FAC7800}"/>
              </a:ext>
            </a:extLst>
          </p:cNvPr>
          <p:cNvSpPr txBox="1">
            <a:spLocks/>
          </p:cNvSpPr>
          <p:nvPr/>
        </p:nvSpPr>
        <p:spPr>
          <a:xfrm>
            <a:off x="228599" y="2362200"/>
            <a:ext cx="11068012" cy="4495800"/>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Clr>
                <a:schemeClr val="dk1"/>
              </a:buClr>
              <a:buSzPts val="1100"/>
              <a:buNone/>
            </a:pPr>
            <a:r>
              <a:rPr lang="en-US" sz="1500" b="1" dirty="0">
                <a:cs typeface="Times New Roman" panose="02020603050405020304" pitchFamily="18" charset="0"/>
              </a:rPr>
              <a:t>I. A321: </a:t>
            </a:r>
          </a:p>
          <a:p>
            <a:pPr marL="12700" indent="0" algn="just">
              <a:lnSpc>
                <a:spcPct val="100000"/>
              </a:lnSpc>
              <a:buSzPts val="1100"/>
              <a:buNone/>
            </a:pPr>
            <a:r>
              <a:rPr lang="es-ES" sz="1500" b="1" dirty="0">
                <a:solidFill>
                  <a:srgbClr val="FF0000"/>
                </a:solidFill>
                <a:cs typeface="Times New Roman" panose="02020603050405020304" pitchFamily="18" charset="0"/>
                <a:sym typeface="Wingdings" panose="05000000000000000000" pitchFamily="2" charset="2"/>
              </a:rPr>
              <a:t>    1. </a:t>
            </a:r>
            <a:r>
              <a:rPr lang="en-US" sz="1500" b="1" dirty="0" smtClean="0">
                <a:solidFill>
                  <a:srgbClr val="FF0000"/>
                </a:solidFill>
                <a:cs typeface="Times New Roman" panose="02020603050405020304" pitchFamily="18" charset="0"/>
                <a:sym typeface="Wingdings" panose="05000000000000000000" pitchFamily="2" charset="2"/>
              </a:rPr>
              <a:t>A604_HAN_EC06+EC01+C02+C03+Y06+Y12+EA08-EA09_13/04-13/05: </a:t>
            </a:r>
            <a:r>
              <a:rPr lang="en-US" sz="1500" b="1" dirty="0">
                <a:solidFill>
                  <a:srgbClr val="FF0000"/>
                </a:solidFill>
                <a:cs typeface="Times New Roman" panose="02020603050405020304" pitchFamily="18" charset="0"/>
                <a:sym typeface="Wingdings" panose="05000000000000000000" pitchFamily="2" charset="2"/>
              </a:rPr>
              <a:t>On sked</a:t>
            </a:r>
          </a:p>
          <a:p>
            <a:pPr marL="12700" indent="0" algn="just">
              <a:lnSpc>
                <a:spcPct val="100000"/>
              </a:lnSpc>
              <a:spcBef>
                <a:spcPts val="600"/>
              </a:spcBef>
              <a:buSzPts val="1100"/>
              <a:buNone/>
            </a:pPr>
            <a:r>
              <a:rPr lang="en-US" sz="1500" dirty="0" smtClean="0">
                <a:cs typeface="Times New Roman" panose="02020603050405020304" pitchFamily="18" charset="0"/>
                <a:sym typeface="Wingdings" panose="05000000000000000000" pitchFamily="2" charset="2"/>
              </a:rPr>
              <a:t>    -  Check </a:t>
            </a:r>
            <a:r>
              <a:rPr lang="en-US" sz="1500" dirty="0" err="1" smtClean="0">
                <a:cs typeface="Times New Roman" panose="02020603050405020304" pitchFamily="18" charset="0"/>
                <a:sym typeface="Wingdings" panose="05000000000000000000" pitchFamily="2" charset="2"/>
              </a:rPr>
              <a:t>được</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triển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khai</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theo</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chương</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trình</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giảm</a:t>
            </a:r>
            <a:r>
              <a:rPr lang="en-US" sz="1500" dirty="0" smtClean="0">
                <a:cs typeface="Times New Roman" panose="02020603050405020304" pitchFamily="18" charset="0"/>
                <a:sym typeface="Wingdings" panose="05000000000000000000" pitchFamily="2" charset="2"/>
              </a:rPr>
              <a:t> TAT, </a:t>
            </a:r>
            <a:r>
              <a:rPr lang="en-US" sz="1500" dirty="0" err="1" smtClean="0">
                <a:cs typeface="Times New Roman" panose="02020603050405020304" pitchFamily="18" charset="0"/>
                <a:sym typeface="Wingdings" panose="05000000000000000000" pitchFamily="2" charset="2"/>
              </a:rPr>
              <a:t>cần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hạn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chê</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tối</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đa</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việc</a:t>
            </a:r>
            <a:r>
              <a:rPr lang="en-US" sz="1500" dirty="0" smtClean="0">
                <a:cs typeface="Times New Roman" panose="02020603050405020304" pitchFamily="18" charset="0"/>
                <a:sym typeface="Wingdings" panose="05000000000000000000" pitchFamily="2" charset="2"/>
              </a:rPr>
              <a:t> Rob/ Swap </a:t>
            </a:r>
            <a:r>
              <a:rPr lang="en-US" sz="1500" dirty="0" err="1" smtClean="0">
                <a:cs typeface="Times New Roman" panose="02020603050405020304" pitchFamily="18" charset="0"/>
                <a:sym typeface="Wingdings" panose="05000000000000000000" pitchFamily="2" charset="2"/>
              </a:rPr>
              <a:t>đê</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đảm</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bảo</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tiến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đô</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theo</a:t>
            </a:r>
            <a:r>
              <a:rPr lang="en-US" sz="1500" dirty="0" smtClean="0">
                <a:cs typeface="Times New Roman" panose="02020603050405020304" pitchFamily="18" charset="0"/>
                <a:sym typeface="Wingdings" panose="05000000000000000000" pitchFamily="2" charset="2"/>
              </a:rPr>
              <a:t> KH.</a:t>
            </a:r>
          </a:p>
          <a:p>
            <a:pPr marL="12700" indent="0" algn="just">
              <a:lnSpc>
                <a:spcPct val="100000"/>
              </a:lnSpc>
              <a:spcBef>
                <a:spcPts val="600"/>
              </a:spcBef>
              <a:buSzPts val="1100"/>
              <a:buNone/>
            </a:pPr>
            <a:r>
              <a:rPr lang="es-ES" sz="1500" dirty="0" smtClean="0">
                <a:cs typeface="Times New Roman" panose="02020603050405020304" pitchFamily="18" charset="0"/>
                <a:sym typeface="Wingdings" panose="05000000000000000000" pitchFamily="2" charset="2"/>
              </a:rPr>
              <a:t>    -  </a:t>
            </a:r>
            <a:r>
              <a:rPr lang="vi-VN" sz="1500" dirty="0" smtClean="0">
                <a:cs typeface="Times New Roman" panose="02020603050405020304" pitchFamily="18" charset="0"/>
                <a:sym typeface="Wingdings" panose="05000000000000000000" pitchFamily="2" charset="2"/>
              </a:rPr>
              <a:t>Một </a:t>
            </a:r>
            <a:r>
              <a:rPr lang="vi-VN" sz="1500" dirty="0">
                <a:cs typeface="Times New Roman" panose="02020603050405020304" pitchFamily="18" charset="0"/>
                <a:sym typeface="Wingdings" panose="05000000000000000000" pitchFamily="2" charset="2"/>
              </a:rPr>
              <a:t>số vật tư mới phát sinh chưa </a:t>
            </a:r>
            <a:r>
              <a:rPr lang="en-US" sz="1500" dirty="0" err="1" smtClean="0">
                <a:cs typeface="Times New Roman" panose="02020603050405020304" pitchFamily="18" charset="0"/>
                <a:sym typeface="Wingdings" panose="05000000000000000000" pitchFamily="2" charset="2"/>
              </a:rPr>
              <a:t>cần</a:t>
            </a:r>
            <a:r>
              <a:rPr lang="en-US" sz="1500" dirty="0" smtClean="0">
                <a:cs typeface="Times New Roman" panose="02020603050405020304" pitchFamily="18" charset="0"/>
                <a:sym typeface="Wingdings" panose="05000000000000000000" pitchFamily="2" charset="2"/>
              </a:rPr>
              <a:t> có </a:t>
            </a:r>
            <a:r>
              <a:rPr lang="en-US" sz="1500" dirty="0" err="1" smtClean="0">
                <a:cs typeface="Times New Roman" panose="02020603050405020304" pitchFamily="18" charset="0"/>
                <a:sym typeface="Wingdings" panose="05000000000000000000" pitchFamily="2" charset="2"/>
              </a:rPr>
              <a:t>dư</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kiến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sớm</a:t>
            </a:r>
            <a:r>
              <a:rPr lang="vi-VN" sz="1500" dirty="0" smtClean="0">
                <a:cs typeface="Times New Roman" panose="02020603050405020304" pitchFamily="18" charset="0"/>
                <a:sym typeface="Wingdings" panose="05000000000000000000" pitchFamily="2" charset="2"/>
              </a:rPr>
              <a:t>: </a:t>
            </a:r>
            <a:r>
              <a:rPr lang="vi-VN" sz="1500" dirty="0">
                <a:cs typeface="Times New Roman" panose="02020603050405020304" pitchFamily="18" charset="0"/>
                <a:sym typeface="Wingdings" panose="05000000000000000000" pitchFamily="2" charset="2"/>
              </a:rPr>
              <a:t>Below, Can- Rain repellent, Section T, Shim, </a:t>
            </a:r>
            <a:r>
              <a:rPr lang="vi-VN" sz="1500" dirty="0" smtClean="0">
                <a:cs typeface="Times New Roman" panose="02020603050405020304" pitchFamily="18" charset="0"/>
                <a:sym typeface="Wingdings" panose="05000000000000000000" pitchFamily="2" charset="2"/>
              </a:rPr>
              <a:t>Doubler…</a:t>
            </a:r>
            <a:endParaRPr lang="en-US" sz="1500" dirty="0" smtClean="0">
              <a:cs typeface="Times New Roman" panose="02020603050405020304" pitchFamily="18" charset="0"/>
              <a:sym typeface="Wingdings" panose="05000000000000000000" pitchFamily="2" charset="2"/>
            </a:endParaRPr>
          </a:p>
          <a:p>
            <a:pPr marL="12700" indent="0" algn="just">
              <a:lnSpc>
                <a:spcPct val="100000"/>
              </a:lnSpc>
              <a:spcBef>
                <a:spcPts val="600"/>
              </a:spcBef>
              <a:buSzPts val="1100"/>
              <a:buNone/>
            </a:pPr>
            <a:r>
              <a:rPr lang="es-ES" sz="1500" dirty="0">
                <a:cs typeface="Times New Roman" panose="02020603050405020304" pitchFamily="18" charset="0"/>
                <a:sym typeface="Wingdings" panose="05000000000000000000" pitchFamily="2" charset="2"/>
              </a:rPr>
              <a:t>    - </a:t>
            </a:r>
            <a:r>
              <a:rPr lang="es-ES" sz="1500" dirty="0" err="1" smtClean="0">
                <a:cs typeface="Times New Roman" panose="02020603050405020304" pitchFamily="18" charset="0"/>
                <a:sym typeface="Wingdings" panose="05000000000000000000" pitchFamily="2" charset="2"/>
              </a:rPr>
              <a:t>Corrosion</a:t>
            </a:r>
            <a:r>
              <a:rPr lang="es-ES" sz="1500" dirty="0" smtClean="0">
                <a:cs typeface="Times New Roman" panose="02020603050405020304" pitchFamily="18" charset="0"/>
                <a:sym typeface="Wingdings" panose="05000000000000000000" pitchFamily="2" charset="2"/>
              </a:rPr>
              <a:t> </a:t>
            </a:r>
            <a:r>
              <a:rPr lang="es-ES" sz="1500" dirty="0" err="1" smtClean="0">
                <a:cs typeface="Times New Roman" panose="02020603050405020304" pitchFamily="18" charset="0"/>
                <a:sym typeface="Wingdings" panose="05000000000000000000" pitchFamily="2" charset="2"/>
              </a:rPr>
              <a:t>Doubler</a:t>
            </a:r>
            <a:r>
              <a:rPr lang="es-ES" sz="1500" dirty="0" smtClean="0">
                <a:cs typeface="Times New Roman" panose="02020603050405020304" pitchFamily="18" charset="0"/>
                <a:sym typeface="Wingdings" panose="05000000000000000000" pitchFamily="2" charset="2"/>
              </a:rPr>
              <a:t> FR47.2-FR47.3,STG41RH-STG44. VAECO </a:t>
            </a:r>
            <a:r>
              <a:rPr lang="es-ES" sz="1500" dirty="0" err="1" smtClean="0">
                <a:cs typeface="Times New Roman" panose="02020603050405020304" pitchFamily="18" charset="0"/>
                <a:sym typeface="Wingdings" panose="05000000000000000000" pitchFamily="2" charset="2"/>
              </a:rPr>
              <a:t>đa</a:t>
            </a:r>
            <a:r>
              <a:rPr lang="es-ES" sz="1500" dirty="0" smtClean="0">
                <a:cs typeface="Times New Roman" panose="02020603050405020304" pitchFamily="18" charset="0"/>
                <a:sym typeface="Wingdings" panose="05000000000000000000" pitchFamily="2" charset="2"/>
              </a:rPr>
              <a:t>̃ </a:t>
            </a:r>
            <a:r>
              <a:rPr lang="es-ES" sz="1500" dirty="0" err="1" smtClean="0">
                <a:cs typeface="Times New Roman" panose="02020603050405020304" pitchFamily="18" charset="0"/>
                <a:sym typeface="Wingdings" panose="05000000000000000000" pitchFamily="2" charset="2"/>
              </a:rPr>
              <a:t>đặt</a:t>
            </a:r>
            <a:r>
              <a:rPr lang="es-ES" sz="1500" dirty="0" smtClean="0">
                <a:cs typeface="Times New Roman" panose="02020603050405020304" pitchFamily="18" charset="0"/>
                <a:sym typeface="Wingdings" panose="05000000000000000000" pitchFamily="2" charset="2"/>
              </a:rPr>
              <a:t> </a:t>
            </a:r>
            <a:r>
              <a:rPr lang="es-ES" sz="1500" dirty="0" err="1" smtClean="0">
                <a:cs typeface="Times New Roman" panose="02020603050405020304" pitchFamily="18" charset="0"/>
                <a:sym typeface="Wingdings" panose="05000000000000000000" pitchFamily="2" charset="2"/>
              </a:rPr>
              <a:t>hàng</a:t>
            </a:r>
            <a:r>
              <a:rPr lang="es-ES" sz="1500" dirty="0" smtClean="0">
                <a:cs typeface="Times New Roman" panose="02020603050405020304" pitchFamily="18" charset="0"/>
                <a:sym typeface="Wingdings" panose="05000000000000000000" pitchFamily="2" charset="2"/>
              </a:rPr>
              <a:t> </a:t>
            </a:r>
            <a:r>
              <a:rPr lang="es-ES" sz="1500" dirty="0" err="1" smtClean="0">
                <a:cs typeface="Times New Roman" panose="02020603050405020304" pitchFamily="18" charset="0"/>
                <a:sym typeface="Wingdings" panose="05000000000000000000" pitchFamily="2" charset="2"/>
              </a:rPr>
              <a:t>vật</a:t>
            </a:r>
            <a:r>
              <a:rPr lang="es-ES" sz="1500" dirty="0" smtClean="0">
                <a:cs typeface="Times New Roman" panose="02020603050405020304" pitchFamily="18" charset="0"/>
                <a:sym typeface="Wingdings" panose="05000000000000000000" pitchFamily="2" charset="2"/>
              </a:rPr>
              <a:t> </a:t>
            </a:r>
            <a:r>
              <a:rPr lang="es-ES" sz="1500" dirty="0" err="1" smtClean="0">
                <a:cs typeface="Times New Roman" panose="02020603050405020304" pitchFamily="18" charset="0"/>
                <a:sym typeface="Wingdings" panose="05000000000000000000" pitchFamily="2" charset="2"/>
              </a:rPr>
              <a:t>tư</a:t>
            </a:r>
            <a:r>
              <a:rPr lang="es-ES" sz="1500" dirty="0">
                <a:cs typeface="Times New Roman" panose="02020603050405020304" pitchFamily="18" charset="0"/>
                <a:sym typeface="Wingdings" panose="05000000000000000000" pitchFamily="2" charset="2"/>
              </a:rPr>
              <a:t> PN: PN </a:t>
            </a:r>
            <a:r>
              <a:rPr lang="es-ES" sz="1500" dirty="0" smtClean="0">
                <a:cs typeface="Times New Roman" panose="02020603050405020304" pitchFamily="18" charset="0"/>
                <a:sym typeface="Wingdings" panose="05000000000000000000" pitchFamily="2" charset="2"/>
              </a:rPr>
              <a:t>D5345912820000, </a:t>
            </a:r>
            <a:r>
              <a:rPr lang="es-ES" sz="1500" dirty="0" err="1" smtClean="0">
                <a:cs typeface="Times New Roman" panose="02020603050405020304" pitchFamily="18" charset="0"/>
                <a:sym typeface="Wingdings" panose="05000000000000000000" pitchFamily="2" charset="2"/>
              </a:rPr>
              <a:t>tuy</a:t>
            </a:r>
            <a:r>
              <a:rPr lang="es-ES" sz="1500" dirty="0" smtClean="0">
                <a:cs typeface="Times New Roman" panose="02020603050405020304" pitchFamily="18" charset="0"/>
                <a:sym typeface="Wingdings" panose="05000000000000000000" pitchFamily="2" charset="2"/>
              </a:rPr>
              <a:t> </a:t>
            </a:r>
            <a:r>
              <a:rPr lang="es-ES" sz="1500" dirty="0" err="1" smtClean="0">
                <a:cs typeface="Times New Roman" panose="02020603050405020304" pitchFamily="18" charset="0"/>
                <a:sym typeface="Wingdings" panose="05000000000000000000" pitchFamily="2" charset="2"/>
              </a:rPr>
              <a:t>nhiên</a:t>
            </a:r>
            <a:r>
              <a:rPr lang="es-ES" sz="1500" dirty="0" smtClean="0">
                <a:cs typeface="Times New Roman" panose="02020603050405020304" pitchFamily="18" charset="0"/>
                <a:sym typeface="Wingdings" panose="05000000000000000000" pitchFamily="2" charset="2"/>
              </a:rPr>
              <a:t> </a:t>
            </a:r>
            <a:r>
              <a:rPr lang="es-ES" sz="1500" dirty="0" err="1" smtClean="0">
                <a:cs typeface="Times New Roman" panose="02020603050405020304" pitchFamily="18" charset="0"/>
                <a:sym typeface="Wingdings" panose="05000000000000000000" pitchFamily="2" charset="2"/>
              </a:rPr>
              <a:t>Leadtime</a:t>
            </a:r>
            <a:r>
              <a:rPr lang="es-ES" sz="1500" dirty="0" smtClean="0">
                <a:cs typeface="Times New Roman" panose="02020603050405020304" pitchFamily="18" charset="0"/>
                <a:sym typeface="Wingdings" panose="05000000000000000000" pitchFamily="2" charset="2"/>
              </a:rPr>
              <a:t> </a:t>
            </a:r>
            <a:r>
              <a:rPr lang="es-ES" sz="1500" dirty="0" err="1" smtClean="0">
                <a:cs typeface="Times New Roman" panose="02020603050405020304" pitchFamily="18" charset="0"/>
                <a:sym typeface="Wingdings" panose="05000000000000000000" pitchFamily="2" charset="2"/>
              </a:rPr>
              <a:t>dài</a:t>
            </a:r>
            <a:r>
              <a:rPr lang="es-ES" sz="1500" dirty="0" smtClean="0">
                <a:cs typeface="Times New Roman" panose="02020603050405020304" pitchFamily="18" charset="0"/>
                <a:sym typeface="Wingdings" panose="05000000000000000000" pitchFamily="2" charset="2"/>
              </a:rPr>
              <a:t> = &gt; </a:t>
            </a:r>
            <a:r>
              <a:rPr lang="es-ES" sz="1500" dirty="0" err="1" smtClean="0">
                <a:cs typeface="Times New Roman" panose="02020603050405020304" pitchFamily="18" charset="0"/>
                <a:sym typeface="Wingdings" panose="05000000000000000000" pitchFamily="2" charset="2"/>
              </a:rPr>
              <a:t>Đê</a:t>
            </a:r>
            <a:r>
              <a:rPr lang="es-ES" sz="1500" dirty="0" smtClean="0">
                <a:cs typeface="Times New Roman" panose="02020603050405020304" pitchFamily="18" charset="0"/>
                <a:sym typeface="Wingdings" panose="05000000000000000000" pitchFamily="2" charset="2"/>
              </a:rPr>
              <a:t>̀ </a:t>
            </a:r>
            <a:r>
              <a:rPr lang="es-ES" sz="1500" dirty="0" err="1" smtClean="0">
                <a:cs typeface="Times New Roman" panose="02020603050405020304" pitchFamily="18" charset="0"/>
                <a:sym typeface="Wingdings" panose="05000000000000000000" pitchFamily="2" charset="2"/>
              </a:rPr>
              <a:t>xuất</a:t>
            </a:r>
            <a:r>
              <a:rPr lang="es-ES" sz="1500" dirty="0">
                <a:cs typeface="Times New Roman" panose="02020603050405020304" pitchFamily="18" charset="0"/>
                <a:sym typeface="Wingdings" panose="05000000000000000000" pitchFamily="2" charset="2"/>
              </a:rPr>
              <a:t> </a:t>
            </a:r>
            <a:r>
              <a:rPr lang="es-ES" sz="1500" dirty="0" smtClean="0">
                <a:cs typeface="Times New Roman" panose="02020603050405020304" pitchFamily="18" charset="0"/>
                <a:sym typeface="Wingdings" panose="05000000000000000000" pitchFamily="2" charset="2"/>
              </a:rPr>
              <a:t>Airbus </a:t>
            </a:r>
            <a:r>
              <a:rPr lang="es-ES" sz="1500" dirty="0" err="1" smtClean="0">
                <a:cs typeface="Times New Roman" panose="02020603050405020304" pitchFamily="18" charset="0"/>
                <a:sym typeface="Wingdings" panose="05000000000000000000" pitchFamily="2" charset="2"/>
              </a:rPr>
              <a:t>cho</a:t>
            </a:r>
            <a:r>
              <a:rPr lang="es-ES" sz="1500" dirty="0" smtClean="0">
                <a:cs typeface="Times New Roman" panose="02020603050405020304" pitchFamily="18" charset="0"/>
                <a:sym typeface="Wingdings" panose="05000000000000000000" pitchFamily="2" charset="2"/>
              </a:rPr>
              <a:t> </a:t>
            </a:r>
            <a:r>
              <a:rPr lang="es-ES" sz="1500" dirty="0" err="1" smtClean="0">
                <a:cs typeface="Times New Roman" panose="02020603050405020304" pitchFamily="18" charset="0"/>
                <a:sym typeface="Wingdings" panose="05000000000000000000" pitchFamily="2" charset="2"/>
              </a:rPr>
              <a:t>Fabricate</a:t>
            </a:r>
            <a:r>
              <a:rPr lang="es-ES" sz="1500" dirty="0" smtClean="0">
                <a:cs typeface="Times New Roman" panose="02020603050405020304" pitchFamily="18" charset="0"/>
                <a:sym typeface="Wingdings" panose="05000000000000000000" pitchFamily="2" charset="2"/>
              </a:rPr>
              <a:t> </a:t>
            </a:r>
            <a:r>
              <a:rPr lang="es-ES" sz="1500" dirty="0" err="1" smtClean="0">
                <a:cs typeface="Times New Roman" panose="02020603050405020304" pitchFamily="18" charset="0"/>
                <a:sym typeface="Wingdings" panose="05000000000000000000" pitchFamily="2" charset="2"/>
              </a:rPr>
              <a:t>với</a:t>
            </a:r>
            <a:r>
              <a:rPr lang="es-ES" sz="1500" dirty="0" smtClean="0">
                <a:cs typeface="Times New Roman" panose="02020603050405020304" pitchFamily="18" charset="0"/>
                <a:sym typeface="Wingdings" panose="05000000000000000000" pitchFamily="2" charset="2"/>
              </a:rPr>
              <a:t> RAW </a:t>
            </a:r>
            <a:r>
              <a:rPr lang="es-ES" sz="1500" dirty="0" err="1" smtClean="0">
                <a:cs typeface="Times New Roman" panose="02020603050405020304" pitchFamily="18" charset="0"/>
                <a:sym typeface="Wingdings" panose="05000000000000000000" pitchFamily="2" charset="2"/>
              </a:rPr>
              <a:t>co</a:t>
            </a:r>
            <a:r>
              <a:rPr lang="es-ES" sz="1500" dirty="0" smtClean="0">
                <a:cs typeface="Times New Roman" panose="02020603050405020304" pitchFamily="18" charset="0"/>
                <a:sym typeface="Wingdings" panose="05000000000000000000" pitchFamily="2" charset="2"/>
              </a:rPr>
              <a:t>́ </a:t>
            </a:r>
            <a:r>
              <a:rPr lang="es-ES" sz="1500" dirty="0" err="1" smtClean="0">
                <a:cs typeface="Times New Roman" panose="02020603050405020304" pitchFamily="18" charset="0"/>
                <a:sym typeface="Wingdings" panose="05000000000000000000" pitchFamily="2" charset="2"/>
              </a:rPr>
              <a:t>sẵn</a:t>
            </a:r>
            <a:r>
              <a:rPr lang="es-ES" sz="1500" dirty="0" smtClean="0">
                <a:cs typeface="Times New Roman" panose="02020603050405020304" pitchFamily="18" charset="0"/>
                <a:sym typeface="Wingdings" panose="05000000000000000000" pitchFamily="2" charset="2"/>
              </a:rPr>
              <a:t>.</a:t>
            </a:r>
          </a:p>
          <a:p>
            <a:pPr marL="12700" indent="0">
              <a:lnSpc>
                <a:spcPct val="120000"/>
              </a:lnSpc>
              <a:buSzPts val="1100"/>
              <a:buNone/>
            </a:pPr>
            <a:r>
              <a:rPr lang="en-US" sz="1500" b="1" dirty="0" smtClean="0">
                <a:cs typeface="Times New Roman" panose="02020603050405020304" pitchFamily="18" charset="0"/>
              </a:rPr>
              <a:t>II. </a:t>
            </a:r>
            <a:r>
              <a:rPr lang="en-US" sz="1500" b="1" dirty="0">
                <a:cs typeface="Times New Roman" panose="02020603050405020304" pitchFamily="18" charset="0"/>
              </a:rPr>
              <a:t>A350:</a:t>
            </a:r>
            <a:r>
              <a:rPr lang="es-ES" sz="1500" i="1" dirty="0">
                <a:cs typeface="Times New Roman" panose="02020603050405020304" pitchFamily="18" charset="0"/>
                <a:sym typeface="Wingdings" panose="05000000000000000000" pitchFamily="2" charset="2"/>
              </a:rPr>
              <a:t> </a:t>
            </a:r>
          </a:p>
          <a:p>
            <a:pPr marL="355600" indent="-342900" algn="just">
              <a:buSzPts val="1100"/>
              <a:buAutoNum type="arabicPeriod"/>
            </a:pPr>
            <a:r>
              <a:rPr lang="en-US" sz="1500" b="1" dirty="0">
                <a:solidFill>
                  <a:srgbClr val="FF0000"/>
                </a:solidFill>
                <a:cs typeface="Times New Roman" panose="02020603050405020304" pitchFamily="18" charset="0"/>
                <a:sym typeface="Wingdings" panose="05000000000000000000" pitchFamily="2" charset="2"/>
              </a:rPr>
              <a:t>A898_HAN_ENG1CHG, A12, A01, A02, </a:t>
            </a:r>
            <a:r>
              <a:rPr lang="en-US" sz="1500" b="1" dirty="0" smtClean="0">
                <a:solidFill>
                  <a:srgbClr val="FF0000"/>
                </a:solidFill>
                <a:cs typeface="Times New Roman" panose="02020603050405020304" pitchFamily="18" charset="0"/>
                <a:sym typeface="Wingdings" panose="05000000000000000000" pitchFamily="2" charset="2"/>
              </a:rPr>
              <a:t>RTS_14/4-05/05:</a:t>
            </a:r>
            <a:endParaRPr lang="en-US" sz="1500" b="1" dirty="0">
              <a:solidFill>
                <a:srgbClr val="FF0000"/>
              </a:solidFill>
              <a:cs typeface="Times New Roman" panose="02020603050405020304" pitchFamily="18" charset="0"/>
              <a:sym typeface="Wingdings" panose="05000000000000000000" pitchFamily="2" charset="2"/>
            </a:endParaRPr>
          </a:p>
          <a:p>
            <a:pPr marL="12700" indent="0" algn="just">
              <a:buSzPts val="1100"/>
              <a:buNone/>
            </a:pPr>
            <a:r>
              <a:rPr lang="en-US" sz="1500" dirty="0">
                <a:cs typeface="Times New Roman" panose="02020603050405020304" pitchFamily="18" charset="0"/>
                <a:sym typeface="Wingdings" panose="05000000000000000000" pitchFamily="2" charset="2"/>
              </a:rPr>
              <a:t> - A899 AOG do </a:t>
            </a:r>
            <a:r>
              <a:rPr lang="en-US" sz="1500" dirty="0" err="1">
                <a:cs typeface="Times New Roman" panose="02020603050405020304" pitchFamily="18" charset="0"/>
                <a:sym typeface="Wingdings" panose="05000000000000000000" pitchFamily="2" charset="2"/>
              </a:rPr>
              <a:t>lỗi</a:t>
            </a:r>
            <a:r>
              <a:rPr lang="en-US" sz="1500" dirty="0">
                <a:cs typeface="Times New Roman" panose="02020603050405020304" pitchFamily="18" charset="0"/>
                <a:sym typeface="Wingdings" panose="05000000000000000000" pitchFamily="2" charset="2"/>
              </a:rPr>
              <a:t> ENG = &gt; VAECO </a:t>
            </a:r>
            <a:r>
              <a:rPr lang="en-US" sz="1500" dirty="0" err="1">
                <a:cs typeface="Times New Roman" panose="02020603050405020304" pitchFamily="18" charset="0"/>
                <a:sym typeface="Wingdings" panose="05000000000000000000" pitchFamily="2" charset="2"/>
              </a:rPr>
              <a:t>tập</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trung</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nguồn</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lực</a:t>
            </a:r>
            <a:r>
              <a:rPr lang="en-US" sz="1500" dirty="0">
                <a:cs typeface="Times New Roman" panose="02020603050405020304" pitchFamily="18" charset="0"/>
                <a:sym typeface="Wingdings" panose="05000000000000000000" pitchFamily="2" charset="2"/>
              </a:rPr>
              <a:t> + </a:t>
            </a:r>
            <a:r>
              <a:rPr lang="en-US" sz="1500" dirty="0" err="1">
                <a:cs typeface="Times New Roman" panose="02020603050405020304" pitchFamily="18" charset="0"/>
                <a:sym typeface="Wingdings" panose="05000000000000000000" pitchFamily="2" charset="2"/>
              </a:rPr>
              <a:t>Đánh</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gia</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lại</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nội</a:t>
            </a:r>
            <a:r>
              <a:rPr lang="en-US" sz="1500" dirty="0">
                <a:cs typeface="Times New Roman" panose="02020603050405020304" pitchFamily="18" charset="0"/>
                <a:sym typeface="Wingdings" panose="05000000000000000000" pitchFamily="2" charset="2"/>
              </a:rPr>
              <a:t> dung </a:t>
            </a:r>
            <a:r>
              <a:rPr lang="en-US" sz="1500" dirty="0" err="1">
                <a:cs typeface="Times New Roman" panose="02020603050405020304" pitchFamily="18" charset="0"/>
                <a:sym typeface="Wingdings" panose="05000000000000000000" pitchFamily="2" charset="2"/>
              </a:rPr>
              <a:t>công</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việc</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dư</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kiến</a:t>
            </a:r>
            <a:r>
              <a:rPr lang="en-US" sz="1500" dirty="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cho</a:t>
            </a:r>
            <a:r>
              <a:rPr lang="en-US" sz="1500" dirty="0" smtClean="0">
                <a:cs typeface="Times New Roman" panose="02020603050405020304" pitchFamily="18" charset="0"/>
                <a:sym typeface="Wingdings" panose="05000000000000000000" pitchFamily="2" charset="2"/>
              </a:rPr>
              <a:t> A898 Release </a:t>
            </a:r>
            <a:r>
              <a:rPr lang="en-US" sz="1500" dirty="0" err="1">
                <a:cs typeface="Times New Roman" panose="02020603050405020304" pitchFamily="18" charset="0"/>
                <a:sym typeface="Wingdings" panose="05000000000000000000" pitchFamily="2" charset="2"/>
              </a:rPr>
              <a:t>tư</a:t>
            </a:r>
            <a:r>
              <a:rPr lang="en-US" sz="1500" dirty="0">
                <a:cs typeface="Times New Roman" panose="02020603050405020304" pitchFamily="18" charset="0"/>
                <a:sym typeface="Wingdings" panose="05000000000000000000" pitchFamily="2" charset="2"/>
              </a:rPr>
              <a:t>̀ 27/4 </a:t>
            </a:r>
            <a:r>
              <a:rPr lang="en-US" sz="1500" dirty="0" err="1">
                <a:cs typeface="Times New Roman" panose="02020603050405020304" pitchFamily="18" charset="0"/>
                <a:sym typeface="Wingdings" panose="05000000000000000000" pitchFamily="2" charset="2"/>
              </a:rPr>
              <a:t>đê</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phục</a:t>
            </a:r>
            <a:r>
              <a:rPr lang="en-US" sz="1500" dirty="0">
                <a:cs typeface="Times New Roman" panose="02020603050405020304" pitchFamily="18" charset="0"/>
                <a:sym typeface="Wingdings" panose="05000000000000000000" pitchFamily="2" charset="2"/>
              </a:rPr>
              <a:t> vụ </a:t>
            </a:r>
            <a:r>
              <a:rPr lang="en-US" sz="1500" dirty="0" err="1">
                <a:cs typeface="Times New Roman" panose="02020603050405020304" pitchFamily="18" charset="0"/>
                <a:sym typeface="Wingdings" panose="05000000000000000000" pitchFamily="2" charset="2"/>
              </a:rPr>
              <a:t>khai</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thác</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cao</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điểm</a:t>
            </a:r>
            <a:r>
              <a:rPr lang="en-US" sz="1500" dirty="0">
                <a:cs typeface="Times New Roman" panose="02020603050405020304" pitchFamily="18" charset="0"/>
                <a:sym typeface="Wingdings" panose="05000000000000000000" pitchFamily="2" charset="2"/>
              </a:rPr>
              <a:t> 30/4-01/5 </a:t>
            </a:r>
          </a:p>
          <a:p>
            <a:pPr marL="12700" indent="0" algn="just">
              <a:buSzPts val="1100"/>
              <a:buNone/>
            </a:pPr>
            <a:r>
              <a:rPr lang="en-US" sz="1500" dirty="0">
                <a:cs typeface="Times New Roman" panose="02020603050405020304" pitchFamily="18" charset="0"/>
                <a:sym typeface="Wingdings" panose="05000000000000000000" pitchFamily="2" charset="2"/>
              </a:rPr>
              <a:t> - </a:t>
            </a:r>
            <a:r>
              <a:rPr lang="en-US" sz="1500" dirty="0" err="1">
                <a:cs typeface="Times New Roman" panose="02020603050405020304" pitchFamily="18" charset="0"/>
                <a:sym typeface="Wingdings" panose="05000000000000000000" pitchFamily="2" charset="2"/>
              </a:rPr>
              <a:t>Tàu</a:t>
            </a:r>
            <a:r>
              <a:rPr lang="en-US" sz="1500" dirty="0">
                <a:cs typeface="Times New Roman" panose="02020603050405020304" pitchFamily="18" charset="0"/>
                <a:sym typeface="Wingdings" panose="05000000000000000000" pitchFamily="2" charset="2"/>
              </a:rPr>
              <a:t> có AD </a:t>
            </a:r>
            <a:r>
              <a:rPr lang="en-US" sz="1500" dirty="0" err="1">
                <a:cs typeface="Times New Roman" panose="02020603050405020304" pitchFamily="18" charset="0"/>
                <a:sym typeface="Wingdings" panose="05000000000000000000" pitchFamily="2" charset="2"/>
              </a:rPr>
              <a:t>chưa</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được</a:t>
            </a:r>
            <a:r>
              <a:rPr lang="en-US" sz="1500" dirty="0">
                <a:cs typeface="Times New Roman" panose="02020603050405020304" pitchFamily="18" charset="0"/>
                <a:sym typeface="Wingdings" panose="05000000000000000000" pitchFamily="2" charset="2"/>
              </a:rPr>
              <a:t> FAA approve = &gt; </a:t>
            </a:r>
            <a:r>
              <a:rPr lang="en-US" sz="1500" dirty="0" err="1">
                <a:cs typeface="Times New Roman" panose="02020603050405020304" pitchFamily="18" charset="0"/>
                <a:sym typeface="Wingdings" panose="05000000000000000000" pitchFamily="2" charset="2"/>
              </a:rPr>
              <a:t>Không</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khai</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thác</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Hoa</a:t>
            </a:r>
            <a:r>
              <a:rPr lang="en-US" sz="1500" dirty="0">
                <a:cs typeface="Times New Roman" panose="02020603050405020304" pitchFamily="18" charset="0"/>
                <a:sym typeface="Wingdings" panose="05000000000000000000" pitchFamily="2" charset="2"/>
              </a:rPr>
              <a:t> Kỳ.</a:t>
            </a:r>
          </a:p>
          <a:p>
            <a:pPr marL="12700" indent="0" algn="just">
              <a:buSzPts val="1100"/>
              <a:buNone/>
            </a:pPr>
            <a:r>
              <a:rPr lang="en-US" sz="1500" dirty="0">
                <a:cs typeface="Times New Roman" panose="02020603050405020304" pitchFamily="18" charset="0"/>
                <a:sym typeface="Wingdings" panose="05000000000000000000" pitchFamily="2" charset="2"/>
              </a:rPr>
              <a:t> - </a:t>
            </a:r>
            <a:r>
              <a:rPr lang="en-US" sz="1500" dirty="0" err="1">
                <a:cs typeface="Times New Roman" panose="02020603050405020304" pitchFamily="18" charset="0"/>
                <a:sym typeface="Wingdings" panose="05000000000000000000" pitchFamily="2" charset="2"/>
              </a:rPr>
              <a:t>Tàu</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còn</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hạn</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CofA</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Cần</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đánh</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gia</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thêm</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việc</a:t>
            </a:r>
            <a:r>
              <a:rPr lang="en-US" sz="1500" dirty="0">
                <a:cs typeface="Times New Roman" panose="02020603050405020304" pitchFamily="18" charset="0"/>
                <a:sym typeface="Wingdings" panose="05000000000000000000" pitchFamily="2" charset="2"/>
              </a:rPr>
              <a:t> có </a:t>
            </a:r>
            <a:r>
              <a:rPr lang="en-US" sz="1500" dirty="0" err="1">
                <a:cs typeface="Times New Roman" panose="02020603050405020304" pitchFamily="18" charset="0"/>
                <a:sym typeface="Wingdings" panose="05000000000000000000" pitchFamily="2" charset="2"/>
              </a:rPr>
              <a:t>cần</a:t>
            </a:r>
            <a:r>
              <a:rPr lang="en-US" sz="1500" dirty="0">
                <a:cs typeface="Times New Roman" panose="02020603050405020304" pitchFamily="18" charset="0"/>
                <a:sym typeface="Wingdings" panose="05000000000000000000" pitchFamily="2" charset="2"/>
              </a:rPr>
              <a:t> bay </a:t>
            </a:r>
            <a:r>
              <a:rPr lang="en-US" sz="1500" dirty="0" err="1">
                <a:cs typeface="Times New Roman" panose="02020603050405020304" pitchFamily="18" charset="0"/>
                <a:sym typeface="Wingdings" panose="05000000000000000000" pitchFamily="2" charset="2"/>
              </a:rPr>
              <a:t>thư</a:t>
            </a:r>
            <a:r>
              <a:rPr lang="en-US" sz="1500" dirty="0">
                <a:cs typeface="Times New Roman" panose="02020603050405020304" pitchFamily="18" charset="0"/>
                <a:sym typeface="Wingdings" panose="05000000000000000000" pitchFamily="2" charset="2"/>
              </a:rPr>
              <a:t>̉ do BQDB </a:t>
            </a:r>
            <a:r>
              <a:rPr lang="en-US" sz="1500" dirty="0" err="1">
                <a:cs typeface="Times New Roman" panose="02020603050405020304" pitchFamily="18" charset="0"/>
                <a:sym typeface="Wingdings" panose="05000000000000000000" pitchFamily="2" charset="2"/>
              </a:rPr>
              <a:t>dài</a:t>
            </a:r>
            <a:r>
              <a:rPr lang="en-US" sz="1500" dirty="0">
                <a:cs typeface="Times New Roman" panose="02020603050405020304" pitchFamily="18" charset="0"/>
                <a:sym typeface="Wingdings" panose="05000000000000000000" pitchFamily="2" charset="2"/>
              </a:rPr>
              <a:t> hay </a:t>
            </a:r>
            <a:r>
              <a:rPr lang="en-US" sz="1500" dirty="0" err="1" smtClean="0">
                <a:cs typeface="Times New Roman" panose="02020603050405020304" pitchFamily="18" charset="0"/>
                <a:sym typeface="Wingdings" panose="05000000000000000000" pitchFamily="2" charset="2"/>
              </a:rPr>
              <a:t>không</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Tài</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liệu</a:t>
            </a:r>
            <a:r>
              <a:rPr lang="en-US" sz="1500" dirty="0" smtClean="0">
                <a:cs typeface="Times New Roman" panose="02020603050405020304" pitchFamily="18" charset="0"/>
                <a:sym typeface="Wingdings" panose="05000000000000000000" pitchFamily="2" charset="2"/>
              </a:rPr>
              <a:t> y/c bay </a:t>
            </a:r>
            <a:r>
              <a:rPr lang="en-US" sz="1500" dirty="0" err="1" smtClean="0">
                <a:cs typeface="Times New Roman" panose="02020603050405020304" pitchFamily="18" charset="0"/>
                <a:sym typeface="Wingdings" panose="05000000000000000000" pitchFamily="2" charset="2"/>
              </a:rPr>
              <a:t>trong</a:t>
            </a:r>
            <a:r>
              <a:rPr lang="en-US" sz="1500" dirty="0" smtClean="0">
                <a:cs typeface="Times New Roman" panose="02020603050405020304" pitchFamily="18" charset="0"/>
                <a:sym typeface="Wingdings" panose="05000000000000000000" pitchFamily="2" charset="2"/>
              </a:rPr>
              <a:t> 24 </a:t>
            </a:r>
            <a:r>
              <a:rPr lang="en-US" sz="1500" dirty="0" err="1" smtClean="0">
                <a:cs typeface="Times New Roman" panose="02020603050405020304" pitchFamily="18" charset="0"/>
                <a:sym typeface="Wingdings" panose="05000000000000000000" pitchFamily="2" charset="2"/>
              </a:rPr>
              <a:t>giơ</a:t>
            </a:r>
            <a:r>
              <a:rPr lang="en-US" sz="1500" dirty="0" smtClean="0">
                <a:cs typeface="Times New Roman" panose="02020603050405020304" pitchFamily="18" charset="0"/>
                <a:sym typeface="Wingdings" panose="05000000000000000000" pitchFamily="2" charset="2"/>
              </a:rPr>
              <a:t>̀, có </a:t>
            </a:r>
            <a:r>
              <a:rPr lang="en-US" sz="1500" dirty="0" err="1" smtClean="0">
                <a:cs typeface="Times New Roman" panose="02020603050405020304" pitchFamily="18" charset="0"/>
                <a:sym typeface="Wingdings" panose="05000000000000000000" pitchFamily="2" charset="2"/>
              </a:rPr>
              <a:t>thê</a:t>
            </a:r>
            <a:r>
              <a:rPr lang="en-US" sz="1500" dirty="0" smtClean="0">
                <a:cs typeface="Times New Roman" panose="02020603050405020304" pitchFamily="18" charset="0"/>
                <a:sym typeface="Wingdings" panose="05000000000000000000" pitchFamily="2" charset="2"/>
              </a:rPr>
              <a:t>̉ revenue/ non-revenue flight).</a:t>
            </a:r>
            <a:endParaRPr lang="en-US" sz="1500" dirty="0">
              <a:cs typeface="Times New Roman" panose="02020603050405020304" pitchFamily="18" charset="0"/>
              <a:sym typeface="Wingdings" panose="05000000000000000000" pitchFamily="2" charset="2"/>
            </a:endParaRPr>
          </a:p>
          <a:p>
            <a:pPr marL="12700" indent="0" algn="just">
              <a:lnSpc>
                <a:spcPct val="100000"/>
              </a:lnSpc>
              <a:spcBef>
                <a:spcPts val="600"/>
              </a:spcBef>
              <a:buSzPts val="1100"/>
              <a:buNone/>
            </a:pPr>
            <a:endParaRPr lang="es-ES" sz="1600" dirty="0">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22088155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47</a:t>
            </a:fld>
            <a:endParaRPr dirty="0"/>
          </a:p>
        </p:txBody>
      </p:sp>
      <p:sp>
        <p:nvSpPr>
          <p:cNvPr id="76" name="Google Shape;76;p2"/>
          <p:cNvSpPr txBox="1">
            <a:spLocks noGrp="1"/>
          </p:cNvSpPr>
          <p:nvPr>
            <p:ph type="title"/>
          </p:nvPr>
        </p:nvSpPr>
        <p:spPr>
          <a:xfrm>
            <a:off x="838200" y="152400"/>
            <a:ext cx="9777833" cy="609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4" name="Text Placeholder 1">
            <a:extLst>
              <a:ext uri="{FF2B5EF4-FFF2-40B4-BE49-F238E27FC236}">
                <a16:creationId xmlns:a16="http://schemas.microsoft.com/office/drawing/2014/main" id="{312CF2C2-6EB0-B14C-95A4-C4BAAE6ACB25}"/>
              </a:ext>
            </a:extLst>
          </p:cNvPr>
          <p:cNvSpPr txBox="1">
            <a:spLocks/>
          </p:cNvSpPr>
          <p:nvPr/>
        </p:nvSpPr>
        <p:spPr>
          <a:xfrm>
            <a:off x="838200" y="762000"/>
            <a:ext cx="10591800" cy="57912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SzPts val="1100"/>
              <a:buNone/>
            </a:pPr>
            <a:endParaRPr lang="en-US" sz="1400" dirty="0" smtClean="0">
              <a:cs typeface="Times New Roman" panose="02020603050405020304" pitchFamily="18" charset="0"/>
              <a:sym typeface="Wingdings" panose="05000000000000000000" pitchFamily="2" charset="2"/>
            </a:endParaRPr>
          </a:p>
          <a:p>
            <a:pPr marL="12700" indent="0" algn="just">
              <a:buSzPts val="1100"/>
              <a:buFont typeface="Arial" panose="020B0604020202020204" pitchFamily="34" charset="0"/>
              <a:buNone/>
            </a:pPr>
            <a:r>
              <a:rPr lang="es-ES" sz="1400" b="1" dirty="0" smtClean="0">
                <a:cs typeface="Times New Roman" panose="02020603050405020304" pitchFamily="18" charset="0"/>
                <a:sym typeface="Wingdings" panose="05000000000000000000" pitchFamily="2" charset="2"/>
              </a:rPr>
              <a:t>III. B787:</a:t>
            </a:r>
          </a:p>
          <a:p>
            <a:pPr marL="355600" indent="-342900" algn="just">
              <a:buSzPts val="1100"/>
              <a:buAutoNum type="arabicPeriod"/>
            </a:pPr>
            <a:r>
              <a:rPr lang="en-US" sz="1400" b="1" dirty="0" smtClean="0">
                <a:solidFill>
                  <a:srgbClr val="FF0000"/>
                </a:solidFill>
                <a:cs typeface="Times New Roman" panose="02020603050405020304" pitchFamily="18" charset="0"/>
                <a:sym typeface="Wingdings" panose="05000000000000000000" pitchFamily="2" charset="2"/>
              </a:rPr>
              <a:t>A874_SGN_ A01, C01_16-20/4 : On sked</a:t>
            </a:r>
          </a:p>
          <a:p>
            <a:pPr marL="12700" indent="0" algn="just">
              <a:buSzPts val="1100"/>
              <a:buNone/>
            </a:pPr>
            <a:r>
              <a:rPr lang="en-US" sz="1400" dirty="0" smtClean="0">
                <a:cs typeface="Times New Roman" panose="02020603050405020304" pitchFamily="18" charset="0"/>
                <a:sym typeface="Wingdings" panose="05000000000000000000" pitchFamily="2" charset="2"/>
              </a:rPr>
              <a:t>- A/C serviceable</a:t>
            </a:r>
          </a:p>
          <a:p>
            <a:pPr marL="12700" indent="0" algn="just">
              <a:buSzPts val="1100"/>
              <a:buNone/>
            </a:pP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Một</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sô</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vật</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tư</a:t>
            </a:r>
            <a:r>
              <a:rPr lang="en-US" sz="1400" dirty="0" smtClean="0">
                <a:cs typeface="Times New Roman" panose="02020603050405020304" pitchFamily="18" charset="0"/>
                <a:sym typeface="Wingdings" panose="05000000000000000000" pitchFamily="2" charset="2"/>
              </a:rPr>
              <a:t> bị rob </a:t>
            </a:r>
            <a:r>
              <a:rPr lang="en-US" sz="1400" dirty="0" err="1" smtClean="0">
                <a:cs typeface="Times New Roman" panose="02020603050405020304" pitchFamily="18" charset="0"/>
                <a:sym typeface="Wingdings" panose="05000000000000000000" pitchFamily="2" charset="2"/>
              </a:rPr>
              <a:t>dẫn</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đến</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cần</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dừng</a:t>
            </a:r>
            <a:r>
              <a:rPr lang="en-US" sz="1400" dirty="0" smtClean="0">
                <a:cs typeface="Times New Roman" panose="02020603050405020304" pitchFamily="18" charset="0"/>
                <a:sym typeface="Wingdings" panose="05000000000000000000" pitchFamily="2" charset="2"/>
              </a:rPr>
              <a:t> overlap A861 </a:t>
            </a:r>
            <a:r>
              <a:rPr lang="en-US" sz="1400" dirty="0" err="1" smtClean="0">
                <a:cs typeface="Times New Roman" panose="02020603050405020304" pitchFamily="18" charset="0"/>
                <a:sym typeface="Wingdings" panose="05000000000000000000" pitchFamily="2" charset="2"/>
              </a:rPr>
              <a:t>sớm</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nửa</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ngày</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đê</a:t>
            </a:r>
            <a:r>
              <a:rPr lang="en-US" sz="1400" dirty="0" smtClean="0">
                <a:cs typeface="Times New Roman" panose="02020603050405020304" pitchFamily="18" charset="0"/>
                <a:sym typeface="Wingdings" panose="05000000000000000000" pitchFamily="2" charset="2"/>
              </a:rPr>
              <a:t>̉ có </a:t>
            </a:r>
            <a:r>
              <a:rPr lang="en-US" sz="1400" dirty="0" err="1" smtClean="0">
                <a:cs typeface="Times New Roman" panose="02020603050405020304" pitchFamily="18" charset="0"/>
                <a:sym typeface="Wingdings" panose="05000000000000000000" pitchFamily="2" charset="2"/>
              </a:rPr>
              <a:t>vật</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tư</a:t>
            </a:r>
            <a:r>
              <a:rPr lang="en-US" sz="1400" dirty="0" smtClean="0">
                <a:cs typeface="Times New Roman" panose="02020603050405020304" pitchFamily="18" charset="0"/>
                <a:sym typeface="Wingdings" panose="05000000000000000000" pitchFamily="2" charset="2"/>
              </a:rPr>
              <a:t>: </a:t>
            </a:r>
          </a:p>
          <a:p>
            <a:pPr marL="12700" indent="0" algn="just">
              <a:buSzPts val="1100"/>
              <a:buNone/>
            </a:pPr>
            <a:r>
              <a:rPr lang="en-US" sz="1400" dirty="0" smtClean="0">
                <a:cs typeface="Times New Roman" panose="02020603050405020304" pitchFamily="18" charset="0"/>
                <a:sym typeface="Wingdings" panose="05000000000000000000" pitchFamily="2" charset="2"/>
              </a:rPr>
              <a:t>     + </a:t>
            </a:r>
            <a:r>
              <a:rPr lang="vi-VN" sz="1400" dirty="0" smtClean="0">
                <a:cs typeface="Times New Roman" panose="02020603050405020304" pitchFamily="18" charset="0"/>
                <a:sym typeface="Wingdings" panose="05000000000000000000" pitchFamily="2" charset="2"/>
              </a:rPr>
              <a:t>MCP </a:t>
            </a:r>
            <a:r>
              <a:rPr lang="vi-VN" sz="1400" dirty="0">
                <a:cs typeface="Times New Roman" panose="02020603050405020304" pitchFamily="18" charset="0"/>
                <a:sym typeface="Wingdings" panose="05000000000000000000" pitchFamily="2" charset="2"/>
              </a:rPr>
              <a:t>PN: 4091640-903 Rob cho A865, </a:t>
            </a:r>
            <a:r>
              <a:rPr lang="vi-VN" sz="1400" dirty="0" smtClean="0">
                <a:cs typeface="Times New Roman" panose="02020603050405020304" pitchFamily="18" charset="0"/>
                <a:sym typeface="Wingdings" panose="05000000000000000000" pitchFamily="2" charset="2"/>
              </a:rPr>
              <a:t>Est</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khuya</a:t>
            </a:r>
            <a:r>
              <a:rPr lang="vi-VN" sz="1400" dirty="0" smtClean="0">
                <a:cs typeface="Times New Roman" panose="02020603050405020304" pitchFamily="18" charset="0"/>
                <a:sym typeface="Wingdings" panose="05000000000000000000" pitchFamily="2" charset="2"/>
              </a:rPr>
              <a:t> </a:t>
            </a:r>
            <a:r>
              <a:rPr lang="vi-VN" sz="1400" dirty="0">
                <a:cs typeface="Times New Roman" panose="02020603050405020304" pitchFamily="18" charset="0"/>
                <a:sym typeface="Wingdings" panose="05000000000000000000" pitchFamily="2" charset="2"/>
              </a:rPr>
              <a:t>20/4.</a:t>
            </a:r>
          </a:p>
          <a:p>
            <a:pPr marL="12700" indent="0" algn="just">
              <a:buSzPts val="1100"/>
              <a:buNone/>
            </a:pPr>
            <a:r>
              <a:rPr lang="vi-VN" sz="1400" dirty="0">
                <a:cs typeface="Times New Roman" panose="02020603050405020304" pitchFamily="18" charset="0"/>
                <a:sym typeface="Wingdings" panose="05000000000000000000" pitchFamily="2" charset="2"/>
              </a:rPr>
              <a:t>    </a:t>
            </a:r>
            <a:r>
              <a:rPr lang="en-US" sz="1400" dirty="0" smtClean="0">
                <a:cs typeface="Times New Roman" panose="02020603050405020304" pitchFamily="18" charset="0"/>
                <a:sym typeface="Wingdings" panose="05000000000000000000" pitchFamily="2" charset="2"/>
              </a:rPr>
              <a:t> + </a:t>
            </a:r>
            <a:r>
              <a:rPr lang="vi-VN" sz="1400" dirty="0" smtClean="0">
                <a:cs typeface="Times New Roman" panose="02020603050405020304" pitchFamily="18" charset="0"/>
                <a:sym typeface="Wingdings" panose="05000000000000000000" pitchFamily="2" charset="2"/>
              </a:rPr>
              <a:t>SIDE </a:t>
            </a:r>
            <a:r>
              <a:rPr lang="vi-VN" sz="1400" dirty="0">
                <a:cs typeface="Times New Roman" panose="02020603050405020304" pitchFamily="18" charset="0"/>
                <a:sym typeface="Wingdings" panose="05000000000000000000" pitchFamily="2" charset="2"/>
              </a:rPr>
              <a:t>GUIDE, P/N: 7873066 -1 Rob cho A867, Est 22/4 </a:t>
            </a:r>
          </a:p>
          <a:p>
            <a:pPr marL="12700" indent="0" algn="just">
              <a:buSzPts val="1100"/>
              <a:buNone/>
            </a:pPr>
            <a:r>
              <a:rPr lang="vi-VN" sz="1400" dirty="0">
                <a:cs typeface="Times New Roman" panose="02020603050405020304" pitchFamily="18" charset="0"/>
                <a:sym typeface="Wingdings" panose="05000000000000000000" pitchFamily="2" charset="2"/>
              </a:rPr>
              <a:t>    </a:t>
            </a:r>
            <a:r>
              <a:rPr lang="en-US" sz="1400" dirty="0" smtClean="0">
                <a:cs typeface="Times New Roman" panose="02020603050405020304" pitchFamily="18" charset="0"/>
                <a:sym typeface="Wingdings" panose="05000000000000000000" pitchFamily="2" charset="2"/>
              </a:rPr>
              <a:t> + </a:t>
            </a:r>
            <a:r>
              <a:rPr lang="vi-VN" sz="1400" dirty="0" smtClean="0">
                <a:cs typeface="Times New Roman" panose="02020603050405020304" pitchFamily="18" charset="0"/>
                <a:sym typeface="Wingdings" panose="05000000000000000000" pitchFamily="2" charset="2"/>
              </a:rPr>
              <a:t>EDP Rob </a:t>
            </a:r>
            <a:r>
              <a:rPr lang="vi-VN" sz="1400" dirty="0">
                <a:cs typeface="Times New Roman" panose="02020603050405020304" pitchFamily="18" charset="0"/>
                <a:sym typeface="Wingdings" panose="05000000000000000000" pitchFamily="2" charset="2"/>
              </a:rPr>
              <a:t>cho A869</a:t>
            </a:r>
            <a:r>
              <a:rPr lang="en-US" sz="1400" dirty="0" smtClean="0">
                <a:cs typeface="Times New Roman" panose="02020603050405020304" pitchFamily="18" charset="0"/>
                <a:sym typeface="Wingdings" panose="05000000000000000000" pitchFamily="2" charset="2"/>
              </a:rPr>
              <a:t>.</a:t>
            </a:r>
            <a:endParaRPr lang="en-US" sz="1400" dirty="0">
              <a:cs typeface="Times New Roman" panose="02020603050405020304" pitchFamily="18" charset="0"/>
              <a:sym typeface="Wingdings" panose="05000000000000000000" pitchFamily="2" charset="2"/>
            </a:endParaRPr>
          </a:p>
          <a:p>
            <a:pPr marL="12700" indent="0" algn="just">
              <a:buSzPts val="1100"/>
              <a:buNone/>
            </a:pPr>
            <a:r>
              <a:rPr lang="es-ES" sz="1400" b="1" dirty="0" smtClean="0">
                <a:cs typeface="Times New Roman" panose="02020603050405020304" pitchFamily="18" charset="0"/>
                <a:sym typeface="Wingdings" panose="05000000000000000000" pitchFamily="2" charset="2"/>
              </a:rPr>
              <a:t>IV. </a:t>
            </a:r>
            <a:r>
              <a:rPr lang="es-ES" sz="1400" b="1" dirty="0">
                <a:cs typeface="Times New Roman" panose="02020603050405020304" pitchFamily="18" charset="0"/>
                <a:sym typeface="Wingdings" panose="05000000000000000000" pitchFamily="2" charset="2"/>
              </a:rPr>
              <a:t>ATR72:</a:t>
            </a:r>
          </a:p>
          <a:p>
            <a:pPr marL="12700" indent="0" algn="just">
              <a:buSzPts val="1100"/>
              <a:buNone/>
            </a:pPr>
            <a:r>
              <a:rPr lang="en-US" sz="1400" b="1" dirty="0">
                <a:solidFill>
                  <a:srgbClr val="FF0000"/>
                </a:solidFill>
                <a:cs typeface="Times New Roman" panose="02020603050405020304" pitchFamily="18" charset="0"/>
                <a:sym typeface="Wingdings" panose="05000000000000000000" pitchFamily="2" charset="2"/>
              </a:rPr>
              <a:t>1. B218_SGN_Y02+Y04+Y08+SWAP LH LDG WITH B223_03-25/04: Ext </a:t>
            </a:r>
            <a:r>
              <a:rPr lang="en-US" sz="1400" b="1" dirty="0" smtClean="0">
                <a:solidFill>
                  <a:srgbClr val="FF0000"/>
                </a:solidFill>
                <a:cs typeface="Times New Roman" panose="02020603050405020304" pitchFamily="18" charset="0"/>
                <a:sym typeface="Wingdings" panose="05000000000000000000" pitchFamily="2" charset="2"/>
              </a:rPr>
              <a:t>06/5.</a:t>
            </a:r>
          </a:p>
          <a:p>
            <a:pPr marL="12700" indent="0" algn="just">
              <a:buSzPts val="1100"/>
              <a:buNone/>
            </a:pPr>
            <a:r>
              <a:rPr lang="en-US" sz="1400" dirty="0" smtClean="0">
                <a:cs typeface="Times New Roman" panose="02020603050405020304" pitchFamily="18" charset="0"/>
                <a:sym typeface="Wingdings" panose="05000000000000000000" pitchFamily="2" charset="2"/>
              </a:rPr>
              <a:t>  </a:t>
            </a:r>
            <a:r>
              <a:rPr lang="vi-VN" sz="1400" dirty="0" smtClean="0">
                <a:cs typeface="Times New Roman" panose="02020603050405020304" pitchFamily="18" charset="0"/>
                <a:sym typeface="Wingdings" panose="05000000000000000000" pitchFamily="2" charset="2"/>
              </a:rPr>
              <a:t>- Hỏng hóc cấu trúc Node 5, Floor beam, crack Fr24 segmen</a:t>
            </a:r>
            <a:r>
              <a:rPr lang="en-US" sz="1400" dirty="0" smtClean="0">
                <a:cs typeface="Times New Roman" panose="02020603050405020304" pitchFamily="18" charset="0"/>
                <a:sym typeface="Wingdings" panose="05000000000000000000" pitchFamily="2" charset="2"/>
              </a:rPr>
              <a:t>t</a:t>
            </a:r>
            <a:r>
              <a:rPr lang="vi-VN" sz="1400" dirty="0" smtClean="0">
                <a:cs typeface="Times New Roman" panose="02020603050405020304" pitchFamily="18" charset="0"/>
                <a:sym typeface="Wingdings" panose="05000000000000000000" pitchFamily="2" charset="2"/>
              </a:rPr>
              <a:t>. Cần vật tư: HI-LOK, P/N: HL111VAZ6-9(est 2</a:t>
            </a:r>
            <a:r>
              <a:rPr lang="en-US" sz="1400" dirty="0" smtClean="0">
                <a:cs typeface="Times New Roman" panose="02020603050405020304" pitchFamily="18" charset="0"/>
                <a:sym typeface="Wingdings" panose="05000000000000000000" pitchFamily="2" charset="2"/>
              </a:rPr>
              <a:t>1</a:t>
            </a:r>
            <a:r>
              <a:rPr lang="vi-VN" sz="1400" dirty="0" smtClean="0">
                <a:cs typeface="Times New Roman" panose="02020603050405020304" pitchFamily="18" charset="0"/>
                <a:sym typeface="Wingdings" panose="05000000000000000000" pitchFamily="2" charset="2"/>
              </a:rPr>
              <a:t>/04). FLOOR BEAM, P/N: S5337241124000(est: 2</a:t>
            </a:r>
            <a:r>
              <a:rPr lang="en-US" sz="1400" dirty="0" smtClean="0">
                <a:cs typeface="Times New Roman" panose="02020603050405020304" pitchFamily="18" charset="0"/>
                <a:sym typeface="Wingdings" panose="05000000000000000000" pitchFamily="2" charset="2"/>
              </a:rPr>
              <a:t>4</a:t>
            </a:r>
            <a:r>
              <a:rPr lang="vi-VN" sz="1400" dirty="0" smtClean="0">
                <a:cs typeface="Times New Roman" panose="02020603050405020304" pitchFamily="18" charset="0"/>
                <a:sym typeface="Wingdings" panose="05000000000000000000" pitchFamily="2" charset="2"/>
              </a:rPr>
              <a:t>/4), SEGMENT, P/N: S5367241023400 (est Nil)</a:t>
            </a:r>
          </a:p>
          <a:p>
            <a:pPr marL="12700" indent="0" algn="just">
              <a:buSzPts val="1100"/>
              <a:buNone/>
            </a:pPr>
            <a:r>
              <a:rPr lang="en-US" sz="1400" dirty="0" smtClean="0">
                <a:cs typeface="Times New Roman" panose="02020603050405020304" pitchFamily="18" charset="0"/>
                <a:sym typeface="Wingdings" panose="05000000000000000000" pitchFamily="2" charset="2"/>
              </a:rPr>
              <a:t>  </a:t>
            </a:r>
            <a:r>
              <a:rPr lang="vi-VN" sz="1400" dirty="0" smtClean="0">
                <a:cs typeface="Times New Roman" panose="02020603050405020304" pitchFamily="18" charset="0"/>
                <a:sym typeface="Wingdings" panose="05000000000000000000" pitchFamily="2" charset="2"/>
              </a:rPr>
              <a:t>- 16/4, Dent upper Skin BTW FR 29-30, STGR 6RH-7RH, TAR 14588.</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Đa</a:t>
            </a:r>
            <a:r>
              <a:rPr lang="en-US" sz="1400" dirty="0" smtClean="0">
                <a:cs typeface="Times New Roman" panose="02020603050405020304" pitchFamily="18" charset="0"/>
                <a:sym typeface="Wingdings" panose="05000000000000000000" pitchFamily="2" charset="2"/>
              </a:rPr>
              <a:t>̃ ban </a:t>
            </a:r>
            <a:r>
              <a:rPr lang="en-US" sz="1400" dirty="0" err="1" smtClean="0">
                <a:cs typeface="Times New Roman" panose="02020603050405020304" pitchFamily="18" charset="0"/>
                <a:sym typeface="Wingdings" panose="05000000000000000000" pitchFamily="2" charset="2"/>
              </a:rPr>
              <a:t>hành</a:t>
            </a:r>
            <a:r>
              <a:rPr lang="en-US" sz="1400" dirty="0">
                <a:cs typeface="Times New Roman" panose="02020603050405020304" pitchFamily="18" charset="0"/>
                <a:sym typeface="Wingdings" panose="05000000000000000000" pitchFamily="2" charset="2"/>
              </a:rPr>
              <a:t> </a:t>
            </a:r>
            <a:r>
              <a:rPr lang="en-US" sz="1400" dirty="0" smtClean="0">
                <a:cs typeface="Times New Roman" panose="02020603050405020304" pitchFamily="18" charset="0"/>
                <a:sym typeface="Wingdings" panose="05000000000000000000" pitchFamily="2" charset="2"/>
              </a:rPr>
              <a:t>EOD-ATR-53-61-0006-R00.</a:t>
            </a:r>
            <a:endParaRPr lang="vi-VN" sz="1400" dirty="0" smtClean="0">
              <a:cs typeface="Times New Roman" panose="02020603050405020304" pitchFamily="18" charset="0"/>
              <a:sym typeface="Wingdings" panose="05000000000000000000" pitchFamily="2" charset="2"/>
            </a:endParaRPr>
          </a:p>
          <a:p>
            <a:pPr marL="12700" indent="0" algn="just">
              <a:buSzPts val="1100"/>
              <a:buNone/>
            </a:pPr>
            <a:r>
              <a:rPr lang="en-US" sz="1400" dirty="0" smtClean="0">
                <a:cs typeface="Times New Roman" panose="02020603050405020304" pitchFamily="18" charset="0"/>
                <a:sym typeface="Wingdings" panose="05000000000000000000" pitchFamily="2" charset="2"/>
              </a:rPr>
              <a:t>  </a:t>
            </a:r>
            <a:r>
              <a:rPr lang="vi-VN" sz="1400" dirty="0" smtClean="0">
                <a:cs typeface="Times New Roman" panose="02020603050405020304" pitchFamily="18" charset="0"/>
                <a:sym typeface="Wingdings" panose="05000000000000000000" pitchFamily="2" charset="2"/>
              </a:rPr>
              <a:t>- 17/4, Found heavy corrosion Lower Frame Segment LH 41, TAR 14712, chờ phản hồi</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est</a:t>
            </a:r>
            <a:r>
              <a:rPr lang="en-US" sz="1400" dirty="0" smtClean="0">
                <a:cs typeface="Times New Roman" panose="02020603050405020304" pitchFamily="18" charset="0"/>
                <a:sym typeface="Wingdings" panose="05000000000000000000" pitchFamily="2" charset="2"/>
              </a:rPr>
              <a:t> 21/4 </a:t>
            </a:r>
            <a:r>
              <a:rPr lang="vi-VN" sz="1400" dirty="0" smtClean="0">
                <a:cs typeface="Times New Roman" panose="02020603050405020304" pitchFamily="18" charset="0"/>
                <a:sym typeface="Wingdings" panose="05000000000000000000" pitchFamily="2" charset="2"/>
              </a:rPr>
              <a:t>.</a:t>
            </a:r>
          </a:p>
          <a:p>
            <a:pPr marL="12700" indent="0" algn="just">
              <a:buSzPts val="1100"/>
              <a:buNone/>
            </a:pPr>
            <a:r>
              <a:rPr lang="en-US" sz="1400" dirty="0" smtClean="0">
                <a:cs typeface="Times New Roman" panose="02020603050405020304" pitchFamily="18" charset="0"/>
                <a:sym typeface="Wingdings" panose="05000000000000000000" pitchFamily="2" charset="2"/>
              </a:rPr>
              <a:t>  </a:t>
            </a:r>
            <a:r>
              <a:rPr lang="vi-VN" sz="1400" dirty="0" smtClean="0">
                <a:cs typeface="Times New Roman" panose="02020603050405020304" pitchFamily="18" charset="0"/>
                <a:sym typeface="Wingdings" panose="05000000000000000000" pitchFamily="2" charset="2"/>
              </a:rPr>
              <a:t>- </a:t>
            </a:r>
            <a:r>
              <a:rPr lang="vi-VN" sz="1400" dirty="0">
                <a:cs typeface="Times New Roman" panose="02020603050405020304" pitchFamily="18" charset="0"/>
                <a:sym typeface="Wingdings" panose="05000000000000000000" pitchFamily="2" charset="2"/>
              </a:rPr>
              <a:t>Dự kiến giữa tháng 6 mới có LH MLG. Sẽ swap càng với B219 cho B218 khai thác, các nội dung check sẽ hoàn thiện trước </a:t>
            </a:r>
            <a:r>
              <a:rPr lang="vi-VN" sz="1400" dirty="0" smtClean="0">
                <a:cs typeface="Times New Roman" panose="02020603050405020304" pitchFamily="18" charset="0"/>
                <a:sym typeface="Wingdings" panose="05000000000000000000" pitchFamily="2" charset="2"/>
              </a:rPr>
              <a:t>05/5</a:t>
            </a:r>
            <a:r>
              <a:rPr lang="en-US" sz="1400" dirty="0">
                <a:cs typeface="Times New Roman" panose="02020603050405020304" pitchFamily="18" charset="0"/>
                <a:sym typeface="Wingdings" panose="05000000000000000000" pitchFamily="2" charset="2"/>
              </a:rPr>
              <a:t> </a:t>
            </a:r>
            <a:r>
              <a:rPr lang="en-US" sz="1400" dirty="0" smtClean="0">
                <a:cs typeface="Times New Roman" panose="02020603050405020304" pitchFamily="18" charset="0"/>
                <a:sym typeface="Wingdings" panose="05000000000000000000" pitchFamily="2" charset="2"/>
              </a:rPr>
              <a:t>= &gt; </a:t>
            </a:r>
            <a:r>
              <a:rPr lang="en-US" sz="1400" dirty="0" err="1" smtClean="0">
                <a:cs typeface="Times New Roman" panose="02020603050405020304" pitchFamily="18" charset="0"/>
                <a:sym typeface="Wingdings" panose="05000000000000000000" pitchFamily="2" charset="2"/>
              </a:rPr>
              <a:t>Xem</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xét</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tháo</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càng</a:t>
            </a:r>
            <a:r>
              <a:rPr lang="en-US" sz="1400" dirty="0" smtClean="0">
                <a:cs typeface="Times New Roman" panose="02020603050405020304" pitchFamily="18" charset="0"/>
                <a:sym typeface="Wingdings" panose="05000000000000000000" pitchFamily="2" charset="2"/>
              </a:rPr>
              <a:t> B218 </a:t>
            </a:r>
            <a:r>
              <a:rPr lang="en-US" sz="1400" dirty="0" err="1" smtClean="0">
                <a:cs typeface="Times New Roman" panose="02020603050405020304" pitchFamily="18" charset="0"/>
                <a:sym typeface="Wingdings" panose="05000000000000000000" pitchFamily="2" charset="2"/>
              </a:rPr>
              <a:t>trước</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khi</a:t>
            </a:r>
            <a:r>
              <a:rPr lang="en-US" sz="1400" dirty="0" smtClean="0">
                <a:cs typeface="Times New Roman" panose="02020603050405020304" pitchFamily="18" charset="0"/>
                <a:sym typeface="Wingdings" panose="05000000000000000000" pitchFamily="2" charset="2"/>
              </a:rPr>
              <a:t> B219 </a:t>
            </a:r>
            <a:r>
              <a:rPr lang="en-US" sz="1400" dirty="0" err="1" smtClean="0">
                <a:cs typeface="Times New Roman" panose="02020603050405020304" pitchFamily="18" charset="0"/>
                <a:sym typeface="Wingdings" panose="05000000000000000000" pitchFamily="2" charset="2"/>
              </a:rPr>
              <a:t>dừng</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đê</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hạn</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thê</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tối</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đa</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thời</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gian</a:t>
            </a:r>
            <a:r>
              <a:rPr lang="en-US" sz="1400" dirty="0" smtClean="0">
                <a:cs typeface="Times New Roman" panose="02020603050405020304" pitchFamily="18" charset="0"/>
                <a:sym typeface="Wingdings" panose="05000000000000000000" pitchFamily="2" charset="2"/>
              </a:rPr>
              <a:t> Overlap.</a:t>
            </a:r>
          </a:p>
          <a:p>
            <a:pPr marL="50800" indent="0">
              <a:buFont typeface="Arial" panose="020B0604020202020204" pitchFamily="34" charset="0"/>
              <a:buNone/>
            </a:pPr>
            <a:endParaRPr lang="x-none" dirty="0"/>
          </a:p>
        </p:txBody>
      </p:sp>
    </p:spTree>
    <p:extLst>
      <p:ext uri="{BB962C8B-B14F-4D97-AF65-F5344CB8AC3E}">
        <p14:creationId xmlns:p14="http://schemas.microsoft.com/office/powerpoint/2010/main" val="36460647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5" name="Title 1">
            <a:extLst>
              <a:ext uri="{FF2B5EF4-FFF2-40B4-BE49-F238E27FC236}">
                <a16:creationId xmlns:a16="http://schemas.microsoft.com/office/drawing/2014/main" id="{5781951A-75AB-4FD9-911A-99894057CF57}"/>
              </a:ext>
            </a:extLst>
          </p:cNvPr>
          <p:cNvSpPr txBox="1">
            <a:spLocks/>
          </p:cNvSpPr>
          <p:nvPr/>
        </p:nvSpPr>
        <p:spPr>
          <a:xfrm>
            <a:off x="369435" y="214911"/>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A321</a:t>
            </a:r>
          </a:p>
        </p:txBody>
      </p:sp>
      <p:graphicFrame>
        <p:nvGraphicFramePr>
          <p:cNvPr id="3" name="Table 2"/>
          <p:cNvGraphicFramePr>
            <a:graphicFrameLocks noGrp="1"/>
          </p:cNvGraphicFramePr>
          <p:nvPr>
            <p:extLst>
              <p:ext uri="{D42A27DB-BD31-4B8C-83A1-F6EECF244321}">
                <p14:modId xmlns:p14="http://schemas.microsoft.com/office/powerpoint/2010/main" val="1954202767"/>
              </p:ext>
            </p:extLst>
          </p:nvPr>
        </p:nvGraphicFramePr>
        <p:xfrm>
          <a:off x="457200" y="1219200"/>
          <a:ext cx="11277601" cy="5029200"/>
        </p:xfrm>
        <a:graphic>
          <a:graphicData uri="http://schemas.openxmlformats.org/drawingml/2006/table">
            <a:tbl>
              <a:tblPr/>
              <a:tblGrid>
                <a:gridCol w="385685">
                  <a:extLst>
                    <a:ext uri="{9D8B030D-6E8A-4147-A177-3AD203B41FA5}">
                      <a16:colId xmlns:a16="http://schemas.microsoft.com/office/drawing/2014/main" val="3539434853"/>
                    </a:ext>
                  </a:extLst>
                </a:gridCol>
                <a:gridCol w="2551460">
                  <a:extLst>
                    <a:ext uri="{9D8B030D-6E8A-4147-A177-3AD203B41FA5}">
                      <a16:colId xmlns:a16="http://schemas.microsoft.com/office/drawing/2014/main" val="3250912666"/>
                    </a:ext>
                  </a:extLst>
                </a:gridCol>
                <a:gridCol w="593363">
                  <a:extLst>
                    <a:ext uri="{9D8B030D-6E8A-4147-A177-3AD203B41FA5}">
                      <a16:colId xmlns:a16="http://schemas.microsoft.com/office/drawing/2014/main" val="3074519358"/>
                    </a:ext>
                  </a:extLst>
                </a:gridCol>
                <a:gridCol w="652698">
                  <a:extLst>
                    <a:ext uri="{9D8B030D-6E8A-4147-A177-3AD203B41FA5}">
                      <a16:colId xmlns:a16="http://schemas.microsoft.com/office/drawing/2014/main" val="3627087736"/>
                    </a:ext>
                  </a:extLst>
                </a:gridCol>
                <a:gridCol w="567402">
                  <a:extLst>
                    <a:ext uri="{9D8B030D-6E8A-4147-A177-3AD203B41FA5}">
                      <a16:colId xmlns:a16="http://schemas.microsoft.com/office/drawing/2014/main" val="2993658175"/>
                    </a:ext>
                  </a:extLst>
                </a:gridCol>
                <a:gridCol w="548861">
                  <a:extLst>
                    <a:ext uri="{9D8B030D-6E8A-4147-A177-3AD203B41FA5}">
                      <a16:colId xmlns:a16="http://schemas.microsoft.com/office/drawing/2014/main" val="4095368606"/>
                    </a:ext>
                  </a:extLst>
                </a:gridCol>
                <a:gridCol w="608197">
                  <a:extLst>
                    <a:ext uri="{9D8B030D-6E8A-4147-A177-3AD203B41FA5}">
                      <a16:colId xmlns:a16="http://schemas.microsoft.com/office/drawing/2014/main" val="3246645654"/>
                    </a:ext>
                  </a:extLst>
                </a:gridCol>
                <a:gridCol w="578529">
                  <a:extLst>
                    <a:ext uri="{9D8B030D-6E8A-4147-A177-3AD203B41FA5}">
                      <a16:colId xmlns:a16="http://schemas.microsoft.com/office/drawing/2014/main" val="1069051726"/>
                    </a:ext>
                  </a:extLst>
                </a:gridCol>
                <a:gridCol w="593363">
                  <a:extLst>
                    <a:ext uri="{9D8B030D-6E8A-4147-A177-3AD203B41FA5}">
                      <a16:colId xmlns:a16="http://schemas.microsoft.com/office/drawing/2014/main" val="509043060"/>
                    </a:ext>
                  </a:extLst>
                </a:gridCol>
                <a:gridCol w="608197">
                  <a:extLst>
                    <a:ext uri="{9D8B030D-6E8A-4147-A177-3AD203B41FA5}">
                      <a16:colId xmlns:a16="http://schemas.microsoft.com/office/drawing/2014/main" val="581964962"/>
                    </a:ext>
                  </a:extLst>
                </a:gridCol>
                <a:gridCol w="608197">
                  <a:extLst>
                    <a:ext uri="{9D8B030D-6E8A-4147-A177-3AD203B41FA5}">
                      <a16:colId xmlns:a16="http://schemas.microsoft.com/office/drawing/2014/main" val="1906046664"/>
                    </a:ext>
                  </a:extLst>
                </a:gridCol>
                <a:gridCol w="2981649">
                  <a:extLst>
                    <a:ext uri="{9D8B030D-6E8A-4147-A177-3AD203B41FA5}">
                      <a16:colId xmlns:a16="http://schemas.microsoft.com/office/drawing/2014/main" val="682943794"/>
                    </a:ext>
                  </a:extLst>
                </a:gridCol>
              </a:tblGrid>
              <a:tr h="439600">
                <a:tc gridSpan="12">
                  <a:txBody>
                    <a:bodyPr/>
                    <a:lstStyle/>
                    <a:p>
                      <a:pPr algn="ctr" fontAlgn="ctr"/>
                      <a:r>
                        <a:rPr lang="en-US" sz="1400" b="1" i="0" u="none" strike="noStrike">
                          <a:solidFill>
                            <a:srgbClr val="000000"/>
                          </a:solidFill>
                          <a:effectLst/>
                          <a:latin typeface="Times New Roman" panose="02020603050405020304" pitchFamily="18" charset="0"/>
                        </a:rPr>
                        <a:t>NGUỒN LỰC KỸ </a:t>
                      </a:r>
                      <a:r>
                        <a:rPr lang="en-US" sz="1400" b="1" i="0" u="none" strike="noStrike" smtClean="0">
                          <a:solidFill>
                            <a:srgbClr val="000000"/>
                          </a:solidFill>
                          <a:effectLst/>
                          <a:latin typeface="Times New Roman" panose="02020603050405020304" pitchFamily="18" charset="0"/>
                        </a:rPr>
                        <a:t>THUẬT </a:t>
                      </a:r>
                      <a:r>
                        <a:rPr lang="en-US" sz="1400" b="1" i="0" u="none" strike="noStrike">
                          <a:solidFill>
                            <a:srgbClr val="000000"/>
                          </a:solidFill>
                          <a:effectLst/>
                          <a:latin typeface="Times New Roman" panose="02020603050405020304" pitchFamily="18" charset="0"/>
                        </a:rPr>
                        <a:t>FLEET A321 (CẬP NHẬT 20/04)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050761384"/>
                  </a:ext>
                </a:extLst>
              </a:tr>
              <a:tr h="532848">
                <a:tc>
                  <a:txBody>
                    <a:bodyPr/>
                    <a:lstStyle/>
                    <a:p>
                      <a:pPr algn="ctr" fontAlgn="ctr"/>
                      <a:r>
                        <a:rPr lang="en-US" sz="1200" b="1" i="0" u="none" strike="noStrike">
                          <a:solidFill>
                            <a:srgbClr val="000000"/>
                          </a:solidFill>
                          <a:effectLst/>
                          <a:latin typeface="Times New Roman" panose="02020603050405020304" pitchFamily="18" charset="0"/>
                        </a:rPr>
                        <a:t>STT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Apr-25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May-25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Jun-25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Aug-25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Sep-25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3841790731"/>
                  </a:ext>
                </a:extLst>
              </a:tr>
              <a:tr h="819698">
                <a:tc>
                  <a:txBody>
                    <a:bodyPr/>
                    <a:lstStyle/>
                    <a:p>
                      <a:pPr algn="ctr" fontAlgn="ctr"/>
                      <a:r>
                        <a:rPr lang="en-US" sz="1200" b="1" i="0" u="none" strike="noStrike">
                          <a:solidFill>
                            <a:srgbClr val="00000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a:solidFill>
                            <a:srgbClr val="000000"/>
                          </a:solidFill>
                          <a:effectLst/>
                          <a:latin typeface="Times New Roman" panose="02020603050405020304" pitchFamily="18" charset="0"/>
                        </a:rPr>
                        <a:t>A321 NEO AOG</a:t>
                      </a:r>
                      <a:br>
                        <a:rPr lang="pt-BR" sz="1200" b="1" i="0" u="none" strike="noStrike">
                          <a:solidFill>
                            <a:srgbClr val="000000"/>
                          </a:solidFill>
                          <a:effectLst/>
                          <a:latin typeface="Times New Roman" panose="02020603050405020304" pitchFamily="18" charset="0"/>
                        </a:rPr>
                      </a:br>
                      <a:r>
                        <a:rPr lang="pt-BR" sz="1200" b="1" i="0" u="none" strike="noStrike">
                          <a:solidFill>
                            <a:srgbClr val="000000"/>
                          </a:solidFill>
                          <a:effectLst/>
                          <a:latin typeface="Times New Roman" panose="02020603050405020304" pitchFamily="18" charset="0"/>
                        </a:rPr>
                        <a:t> do thiếu ENG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13.25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11.50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11.50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- 0/2025: tăng 0.5 tàu do ENG về muộn</a:t>
                      </a:r>
                      <a:br>
                        <a:rPr lang="en-US" sz="1200" b="0" i="0" u="none" strike="noStrike">
                          <a:solidFill>
                            <a:srgbClr val="000000"/>
                          </a:solidFill>
                          <a:effectLst/>
                          <a:latin typeface="Times New Roman" panose="02020603050405020304" pitchFamily="18" charset="0"/>
                        </a:rPr>
                      </a:br>
                      <a:r>
                        <a:rPr lang="en-US" sz="1200" b="0" i="0" u="none" strike="noStrike">
                          <a:solidFill>
                            <a:srgbClr val="000000"/>
                          </a:solidFill>
                          <a:effectLst/>
                          <a:latin typeface="Times New Roman" panose="02020603050405020304" pitchFamily="18" charset="0"/>
                        </a:rPr>
                        <a:t>- 05/2025: tăng 0.25 tàu do ENG về muộn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44943099"/>
                  </a:ext>
                </a:extLst>
              </a:tr>
              <a:tr h="745988">
                <a:tc>
                  <a:txBody>
                    <a:bodyPr/>
                    <a:lstStyle/>
                    <a:p>
                      <a:pPr algn="ctr" fontAlgn="ctr"/>
                      <a:r>
                        <a:rPr lang="en-US" sz="1200" b="1" i="0" u="none" strike="noStrike">
                          <a:solidFill>
                            <a:srgbClr val="000000"/>
                          </a:solidFill>
                          <a:effectLst/>
                          <a:latin typeface="Times New Roman" panose="02020603050405020304" pitchFamily="18"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pt-BR" sz="1200" b="1" i="0" u="none" strike="noStrike">
                          <a:solidFill>
                            <a:srgbClr val="000000"/>
                          </a:solidFill>
                          <a:effectLst/>
                          <a:latin typeface="Times New Roman" panose="02020603050405020304" pitchFamily="18" charset="0"/>
                        </a:rPr>
                        <a:t>A321 CEO AOG do thiếu ENG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113426336"/>
                  </a:ext>
                </a:extLst>
              </a:tr>
              <a:tr h="812594">
                <a:tc>
                  <a:txBody>
                    <a:bodyPr/>
                    <a:lstStyle/>
                    <a:p>
                      <a:pPr algn="ctr" fontAlgn="ctr"/>
                      <a:r>
                        <a:rPr lang="en-US" sz="1200" b="1" i="0" u="none" strike="noStrike">
                          <a:solidFill>
                            <a:srgbClr val="000000"/>
                          </a:solidFill>
                          <a:effectLst/>
                          <a:latin typeface="Times New Roman" panose="02020603050405020304" pitchFamily="18"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A321 dừng thực hiện BD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3.40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FF0000"/>
                          </a:solidFill>
                          <a:effectLst/>
                          <a:latin typeface="Times New Roman" panose="02020603050405020304" pitchFamily="18" charset="0"/>
                        </a:rPr>
                        <a:t>05/2025: tăng 0.3 tàu do A616 RTS muộn dự kiến </a:t>
                      </a:r>
                      <a:r>
                        <a:rPr lang="en-US" sz="1200" b="0" i="0" u="none" strike="noStrike" smtClean="0">
                          <a:solidFill>
                            <a:srgbClr val="FF0000"/>
                          </a:solidFill>
                          <a:effectLst/>
                          <a:latin typeface="Times New Roman" panose="02020603050405020304" pitchFamily="18" charset="0"/>
                        </a:rPr>
                        <a:t>09/05</a:t>
                      </a:r>
                      <a:r>
                        <a:rPr lang="en-US" sz="1200" b="0" i="0" u="none" strike="noStrike">
                          <a:solidFill>
                            <a:srgbClr val="FF0000"/>
                          </a:solidFill>
                          <a:effectLst/>
                          <a:latin typeface="Times New Roman" panose="02020603050405020304" pitchFamily="18" charset="0"/>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41651059"/>
                  </a:ext>
                </a:extLst>
              </a:tr>
              <a:tr h="839236">
                <a:tc>
                  <a:txBody>
                    <a:bodyPr/>
                    <a:lstStyle/>
                    <a:p>
                      <a:pPr algn="ctr" fontAlgn="ctr"/>
                      <a:r>
                        <a:rPr lang="en-US" sz="1200" b="1" i="0" u="none" strike="noStrike">
                          <a:solidFill>
                            <a:srgbClr val="000000"/>
                          </a:solidFill>
                          <a:effectLst/>
                          <a:latin typeface="Times New Roman" panose="02020603050405020304" pitchFamily="18" charset="0"/>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Tổng số tàu A321 Dừng</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(Do thiếu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(4) = (1) + (2) + (3)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14.7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633168229"/>
                  </a:ext>
                </a:extLst>
              </a:tr>
              <a:tr h="839236">
                <a:tc>
                  <a:txBody>
                    <a:bodyPr/>
                    <a:lstStyle/>
                    <a:p>
                      <a:pPr algn="ctr" fontAlgn="ctr"/>
                      <a:r>
                        <a:rPr lang="en-US" sz="1200" b="1" i="0" u="none" strike="noStrike">
                          <a:solidFill>
                            <a:srgbClr val="000000"/>
                          </a:solidFill>
                          <a:effectLst/>
                          <a:latin typeface="Times New Roman" panose="02020603050405020304" pitchFamily="18" charset="0"/>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Tổng số tàu A321 thực tế có thể khai thác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48.4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48.4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53.7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49.8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61504188"/>
                  </a:ext>
                </a:extLst>
              </a:tr>
            </a:tbl>
          </a:graphicData>
        </a:graphic>
      </p:graphicFrame>
    </p:spTree>
    <p:extLst>
      <p:ext uri="{BB962C8B-B14F-4D97-AF65-F5344CB8AC3E}">
        <p14:creationId xmlns:p14="http://schemas.microsoft.com/office/powerpoint/2010/main" val="29186194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Title 1">
            <a:extLst>
              <a:ext uri="{FF2B5EF4-FFF2-40B4-BE49-F238E27FC236}">
                <a16:creationId xmlns:a16="http://schemas.microsoft.com/office/drawing/2014/main" id="{5781951A-75AB-4FD9-911A-99894057CF57}"/>
              </a:ext>
            </a:extLst>
          </p:cNvPr>
          <p:cNvSpPr txBox="1">
            <a:spLocks/>
          </p:cNvSpPr>
          <p:nvPr/>
        </p:nvSpPr>
        <p:spPr>
          <a:xfrm>
            <a:off x="304800" y="54848"/>
            <a:ext cx="9792802"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A350/B787</a:t>
            </a:r>
          </a:p>
        </p:txBody>
      </p:sp>
      <p:graphicFrame>
        <p:nvGraphicFramePr>
          <p:cNvPr id="2" name="Table 1"/>
          <p:cNvGraphicFramePr>
            <a:graphicFrameLocks noGrp="1"/>
          </p:cNvGraphicFramePr>
          <p:nvPr>
            <p:extLst>
              <p:ext uri="{D42A27DB-BD31-4B8C-83A1-F6EECF244321}">
                <p14:modId xmlns:p14="http://schemas.microsoft.com/office/powerpoint/2010/main" val="2235448891"/>
              </p:ext>
            </p:extLst>
          </p:nvPr>
        </p:nvGraphicFramePr>
        <p:xfrm>
          <a:off x="304800" y="762000"/>
          <a:ext cx="11658601" cy="5734393"/>
        </p:xfrm>
        <a:graphic>
          <a:graphicData uri="http://schemas.openxmlformats.org/drawingml/2006/table">
            <a:tbl>
              <a:tblPr/>
              <a:tblGrid>
                <a:gridCol w="364996">
                  <a:extLst>
                    <a:ext uri="{9D8B030D-6E8A-4147-A177-3AD203B41FA5}">
                      <a16:colId xmlns:a16="http://schemas.microsoft.com/office/drawing/2014/main" val="2032321168"/>
                    </a:ext>
                  </a:extLst>
                </a:gridCol>
                <a:gridCol w="2509352">
                  <a:extLst>
                    <a:ext uri="{9D8B030D-6E8A-4147-A177-3AD203B41FA5}">
                      <a16:colId xmlns:a16="http://schemas.microsoft.com/office/drawing/2014/main" val="1316856688"/>
                    </a:ext>
                  </a:extLst>
                </a:gridCol>
                <a:gridCol w="498828">
                  <a:extLst>
                    <a:ext uri="{9D8B030D-6E8A-4147-A177-3AD203B41FA5}">
                      <a16:colId xmlns:a16="http://schemas.microsoft.com/office/drawing/2014/main" val="1067181226"/>
                    </a:ext>
                  </a:extLst>
                </a:gridCol>
                <a:gridCol w="535329">
                  <a:extLst>
                    <a:ext uri="{9D8B030D-6E8A-4147-A177-3AD203B41FA5}">
                      <a16:colId xmlns:a16="http://schemas.microsoft.com/office/drawing/2014/main" val="1684705427"/>
                    </a:ext>
                  </a:extLst>
                </a:gridCol>
                <a:gridCol w="498828">
                  <a:extLst>
                    <a:ext uri="{9D8B030D-6E8A-4147-A177-3AD203B41FA5}">
                      <a16:colId xmlns:a16="http://schemas.microsoft.com/office/drawing/2014/main" val="3131346907"/>
                    </a:ext>
                  </a:extLst>
                </a:gridCol>
                <a:gridCol w="450162">
                  <a:extLst>
                    <a:ext uri="{9D8B030D-6E8A-4147-A177-3AD203B41FA5}">
                      <a16:colId xmlns:a16="http://schemas.microsoft.com/office/drawing/2014/main" val="739455154"/>
                    </a:ext>
                  </a:extLst>
                </a:gridCol>
                <a:gridCol w="510996">
                  <a:extLst>
                    <a:ext uri="{9D8B030D-6E8A-4147-A177-3AD203B41FA5}">
                      <a16:colId xmlns:a16="http://schemas.microsoft.com/office/drawing/2014/main" val="2860411297"/>
                    </a:ext>
                  </a:extLst>
                </a:gridCol>
                <a:gridCol w="486662">
                  <a:extLst>
                    <a:ext uri="{9D8B030D-6E8A-4147-A177-3AD203B41FA5}">
                      <a16:colId xmlns:a16="http://schemas.microsoft.com/office/drawing/2014/main" val="3917311893"/>
                    </a:ext>
                  </a:extLst>
                </a:gridCol>
                <a:gridCol w="486662">
                  <a:extLst>
                    <a:ext uri="{9D8B030D-6E8A-4147-A177-3AD203B41FA5}">
                      <a16:colId xmlns:a16="http://schemas.microsoft.com/office/drawing/2014/main" val="1162425538"/>
                    </a:ext>
                  </a:extLst>
                </a:gridCol>
                <a:gridCol w="510996">
                  <a:extLst>
                    <a:ext uri="{9D8B030D-6E8A-4147-A177-3AD203B41FA5}">
                      <a16:colId xmlns:a16="http://schemas.microsoft.com/office/drawing/2014/main" val="699504447"/>
                    </a:ext>
                  </a:extLst>
                </a:gridCol>
                <a:gridCol w="498828">
                  <a:extLst>
                    <a:ext uri="{9D8B030D-6E8A-4147-A177-3AD203B41FA5}">
                      <a16:colId xmlns:a16="http://schemas.microsoft.com/office/drawing/2014/main" val="2517853017"/>
                    </a:ext>
                  </a:extLst>
                </a:gridCol>
                <a:gridCol w="4306962">
                  <a:extLst>
                    <a:ext uri="{9D8B030D-6E8A-4147-A177-3AD203B41FA5}">
                      <a16:colId xmlns:a16="http://schemas.microsoft.com/office/drawing/2014/main" val="3160949618"/>
                    </a:ext>
                  </a:extLst>
                </a:gridCol>
              </a:tblGrid>
              <a:tr h="328585">
                <a:tc gridSpan="12">
                  <a:txBody>
                    <a:bodyPr/>
                    <a:lstStyle/>
                    <a:p>
                      <a:pPr algn="ctr" fontAlgn="ctr"/>
                      <a:r>
                        <a:rPr lang="en-US" sz="1400" b="1" i="0" u="none" strike="noStrike">
                          <a:solidFill>
                            <a:srgbClr val="000000"/>
                          </a:solidFill>
                          <a:effectLst/>
                          <a:latin typeface="Times New Roman" panose="02020603050405020304" pitchFamily="18" charset="0"/>
                        </a:rPr>
                        <a:t>NGUỒN LỰC KỸ </a:t>
                      </a:r>
                      <a:r>
                        <a:rPr lang="en-US" sz="1400" b="1" i="0" u="none" strike="noStrike" smtClean="0">
                          <a:solidFill>
                            <a:srgbClr val="000000"/>
                          </a:solidFill>
                          <a:effectLst/>
                          <a:latin typeface="Times New Roman" panose="02020603050405020304" pitchFamily="18" charset="0"/>
                        </a:rPr>
                        <a:t>THUẬT </a:t>
                      </a:r>
                      <a:r>
                        <a:rPr lang="en-US" sz="1400" b="1" i="0" u="none" strike="noStrike">
                          <a:solidFill>
                            <a:srgbClr val="000000"/>
                          </a:solidFill>
                          <a:effectLst/>
                          <a:latin typeface="Times New Roman" panose="02020603050405020304" pitchFamily="18" charset="0"/>
                        </a:rPr>
                        <a:t>A350/B787 (CẬP NHẬT 20/04)</a:t>
                      </a:r>
                    </a:p>
                  </a:txBody>
                  <a:tcPr marL="7384" marR="7384" marT="7384"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017586744"/>
                  </a:ext>
                </a:extLst>
              </a:tr>
              <a:tr h="311326">
                <a:tc>
                  <a:txBody>
                    <a:bodyPr/>
                    <a:lstStyle/>
                    <a:p>
                      <a:pPr algn="ctr" fontAlgn="ctr"/>
                      <a:r>
                        <a:rPr lang="en-US" sz="1200" b="1" i="0" u="none" strike="noStrike">
                          <a:solidFill>
                            <a:srgbClr val="000000"/>
                          </a:solidFill>
                          <a:effectLst/>
                          <a:latin typeface="Times New Roman" panose="02020603050405020304" pitchFamily="18" charset="0"/>
                        </a:rPr>
                        <a:t>STT</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A/C</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Apr-25</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May-25</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Jun-25</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Aug-25</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Sep-25</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Note</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4169075873"/>
                  </a:ext>
                </a:extLst>
              </a:tr>
              <a:tr h="1289779">
                <a:tc>
                  <a:txBody>
                    <a:bodyPr/>
                    <a:lstStyle/>
                    <a:p>
                      <a:pPr algn="ctr" fontAlgn="ctr"/>
                      <a:r>
                        <a:rPr lang="en-US" sz="1200" b="0" i="0" u="none" strike="noStrike">
                          <a:solidFill>
                            <a:srgbClr val="000000"/>
                          </a:solidFill>
                          <a:effectLst/>
                          <a:latin typeface="Times New Roman" panose="02020603050405020304" pitchFamily="18" charset="0"/>
                        </a:rPr>
                        <a:t>1</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a:solidFill>
                            <a:srgbClr val="000000"/>
                          </a:solidFill>
                          <a:effectLst/>
                          <a:latin typeface="Times New Roman" panose="02020603050405020304" pitchFamily="18" charset="0"/>
                        </a:rPr>
                        <a:t>A350 AOG do thiếu ENG</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0.5</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0.5</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000000"/>
                          </a:solidFill>
                          <a:effectLst/>
                          <a:latin typeface="Times New Roman" panose="02020603050405020304" pitchFamily="18" charset="0"/>
                        </a:rPr>
                        <a:t>KB tốt giữ giờ 03 động cơ tháo trong cao điểm hè:  </a:t>
                      </a:r>
                      <a:br>
                        <a:rPr lang="vi-VN" sz="1200" b="0" i="0" u="none" strike="noStrike">
                          <a:solidFill>
                            <a:srgbClr val="000000"/>
                          </a:solidFill>
                          <a:effectLst/>
                          <a:latin typeface="Times New Roman" panose="02020603050405020304" pitchFamily="18" charset="0"/>
                        </a:rPr>
                      </a:br>
                      <a:r>
                        <a:rPr lang="vi-VN" sz="1200" b="0" i="0" u="none" strike="noStrike">
                          <a:solidFill>
                            <a:srgbClr val="FF0000"/>
                          </a:solidFill>
                          <a:effectLst/>
                          <a:latin typeface="Times New Roman" panose="02020603050405020304" pitchFamily="18" charset="0"/>
                        </a:rPr>
                        <a:t>- 21346 (A891): Cần giữ giờ 63 ngày (đã </a:t>
                      </a:r>
                      <a:r>
                        <a:rPr lang="en-US" sz="1200" b="0" i="0" u="none" strike="noStrike" smtClean="0">
                          <a:solidFill>
                            <a:srgbClr val="FF0000"/>
                          </a:solidFill>
                          <a:effectLst/>
                          <a:latin typeface="Times New Roman" panose="02020603050405020304" pitchFamily="18" charset="0"/>
                        </a:rPr>
                        <a:t>tháo</a:t>
                      </a:r>
                      <a:r>
                        <a:rPr lang="en-US" sz="1200" b="0" i="0" u="none" strike="noStrike" baseline="0" smtClean="0">
                          <a:solidFill>
                            <a:srgbClr val="FF0000"/>
                          </a:solidFill>
                          <a:effectLst/>
                          <a:latin typeface="Times New Roman" panose="02020603050405020304" pitchFamily="18" charset="0"/>
                        </a:rPr>
                        <a:t> giữ giờ offwing từ</a:t>
                      </a:r>
                      <a:r>
                        <a:rPr lang="vi-VN" sz="1200" b="0" i="0" u="none" strike="noStrike" smtClean="0">
                          <a:solidFill>
                            <a:srgbClr val="FF0000"/>
                          </a:solidFill>
                          <a:effectLst/>
                          <a:latin typeface="Times New Roman" panose="02020603050405020304" pitchFamily="18" charset="0"/>
                        </a:rPr>
                        <a:t> 27</a:t>
                      </a:r>
                      <a:r>
                        <a:rPr lang="en-US" sz="1200" b="0" i="0" u="none" strike="noStrike" smtClean="0">
                          <a:solidFill>
                            <a:srgbClr val="FF0000"/>
                          </a:solidFill>
                          <a:effectLst/>
                          <a:latin typeface="Times New Roman" panose="02020603050405020304" pitchFamily="18" charset="0"/>
                        </a:rPr>
                        <a:t>/04-31/05)</a:t>
                      </a:r>
                      <a:r>
                        <a:rPr lang="vi-VN" sz="1200" b="0" i="0" u="none" strike="noStrike" smtClean="0">
                          <a:solidFill>
                            <a:srgbClr val="FF0000"/>
                          </a:solidFill>
                          <a:effectLst/>
                          <a:latin typeface="Times New Roman" panose="02020603050405020304" pitchFamily="18" charset="0"/>
                        </a:rPr>
                        <a:t>;</a:t>
                      </a:r>
                      <a:r>
                        <a:rPr lang="vi-VN" sz="1200" b="0" i="0" u="none" strike="noStrike">
                          <a:solidFill>
                            <a:srgbClr val="000000"/>
                          </a:solidFill>
                          <a:effectLst/>
                          <a:latin typeface="Times New Roman" panose="02020603050405020304" pitchFamily="18" charset="0"/>
                        </a:rPr>
                        <a:t/>
                      </a:r>
                      <a:br>
                        <a:rPr lang="vi-VN" sz="1200" b="0" i="0" u="none" strike="noStrike">
                          <a:solidFill>
                            <a:srgbClr val="000000"/>
                          </a:solidFill>
                          <a:effectLst/>
                          <a:latin typeface="Times New Roman" panose="02020603050405020304" pitchFamily="18" charset="0"/>
                        </a:rPr>
                      </a:br>
                      <a:r>
                        <a:rPr lang="vi-VN" sz="1200" b="0" i="0" u="none" strike="noStrike">
                          <a:solidFill>
                            <a:srgbClr val="000000"/>
                          </a:solidFill>
                          <a:effectLst/>
                          <a:latin typeface="Times New Roman" panose="02020603050405020304" pitchFamily="18" charset="0"/>
                        </a:rPr>
                        <a:t>- </a:t>
                      </a:r>
                      <a:r>
                        <a:rPr lang="vi-VN" sz="1200" b="0" i="0" u="none" strike="noStrike" smtClean="0">
                          <a:solidFill>
                            <a:srgbClr val="000000"/>
                          </a:solidFill>
                          <a:effectLst/>
                          <a:latin typeface="+mn-lt"/>
                        </a:rPr>
                        <a:t>21418 (A890): Cần giữ giờ 38 ngày (đã lên phương án swap ENG A899-Y6)</a:t>
                      </a:r>
                      <a:r>
                        <a:rPr lang="en-US" sz="1200" b="0" i="0" u="none" strike="noStrike" smtClean="0">
                          <a:solidFill>
                            <a:srgbClr val="000000"/>
                          </a:solidFill>
                          <a:effectLst/>
                          <a:latin typeface="+mn-lt"/>
                        </a:rPr>
                        <a:t>;</a:t>
                      </a:r>
                    </a:p>
                    <a:p>
                      <a:pPr algn="l" fontAlgn="ctr"/>
                      <a:r>
                        <a:rPr lang="vi-VN" sz="1200" b="0" i="0" u="none" strike="noStrike" smtClean="0">
                          <a:solidFill>
                            <a:srgbClr val="000000"/>
                          </a:solidFill>
                          <a:effectLst/>
                          <a:latin typeface="+mn-lt"/>
                        </a:rPr>
                        <a:t>- </a:t>
                      </a:r>
                      <a:r>
                        <a:rPr lang="vi-VN" sz="1200" b="0" i="0" u="none" strike="noStrike">
                          <a:solidFill>
                            <a:srgbClr val="000000"/>
                          </a:solidFill>
                          <a:effectLst/>
                          <a:latin typeface="Times New Roman" panose="02020603050405020304" pitchFamily="18" charset="0"/>
                        </a:rPr>
                        <a:t>21317 (A897): Cần giữ giờ 12 ngày. </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5795677"/>
                  </a:ext>
                </a:extLst>
              </a:tr>
              <a:tr h="662481">
                <a:tc>
                  <a:txBody>
                    <a:bodyPr/>
                    <a:lstStyle/>
                    <a:p>
                      <a:pPr algn="ctr" fontAlgn="ctr"/>
                      <a:r>
                        <a:rPr lang="en-US" sz="1200" b="0" i="0" u="none" strike="noStrike">
                          <a:solidFill>
                            <a:srgbClr val="000000"/>
                          </a:solidFill>
                          <a:effectLst/>
                          <a:latin typeface="Times New Roman" panose="02020603050405020304" pitchFamily="18" charset="0"/>
                        </a:rPr>
                        <a:t>2</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 dừng BD</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1.8</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1.5</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0.5</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FF0000"/>
                          </a:solidFill>
                          <a:effectLst/>
                          <a:latin typeface="Times New Roman" panose="02020603050405020304" pitchFamily="18" charset="0"/>
                        </a:rPr>
                        <a:t>- 06/2025: tăng 0.5 tàu A899 AOG =&gt; dồn lịch BD tháng 5 sang tháng 6</a:t>
                      </a:r>
                      <a:r>
                        <a:rPr lang="en-US" sz="1200" b="0" i="0" u="none" strike="noStrike">
                          <a:solidFill>
                            <a:srgbClr val="000000"/>
                          </a:solidFill>
                          <a:effectLst/>
                          <a:latin typeface="Times New Roman" panose="02020603050405020304" pitchFamily="18" charset="0"/>
                        </a:rPr>
                        <a:t/>
                      </a:r>
                      <a:br>
                        <a:rPr lang="en-US" sz="1200" b="0" i="0" u="none" strike="noStrike">
                          <a:solidFill>
                            <a:srgbClr val="000000"/>
                          </a:solidFill>
                          <a:effectLst/>
                          <a:latin typeface="Times New Roman" panose="02020603050405020304" pitchFamily="18" charset="0"/>
                        </a:rPr>
                      </a:br>
                      <a:r>
                        <a:rPr lang="en-US" sz="1200" b="0" i="0" u="none" strike="noStrike">
                          <a:solidFill>
                            <a:srgbClr val="000000"/>
                          </a:solidFill>
                          <a:effectLst/>
                          <a:latin typeface="Times New Roman" panose="02020603050405020304" pitchFamily="18" charset="0"/>
                        </a:rPr>
                        <a:t>- 05/2025: tăng 0.2 tàu do A899 Y6 lùi 3 ngày (lùi dây chuyền từ A892 C4 do VIP), A891 &amp; A896 tăng 1 ngày do kết hợp làm MOD IFC</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641964566"/>
                  </a:ext>
                </a:extLst>
              </a:tr>
              <a:tr h="398285">
                <a:tc>
                  <a:txBody>
                    <a:bodyPr/>
                    <a:lstStyle/>
                    <a:p>
                      <a:pPr algn="ctr" fontAlgn="ctr"/>
                      <a:r>
                        <a:rPr lang="en-US" sz="1200" b="0" i="0" u="none" strike="noStrike">
                          <a:solidFill>
                            <a:srgbClr val="000000"/>
                          </a:solidFill>
                          <a:effectLst/>
                          <a:latin typeface="Times New Roman" panose="02020603050405020304" pitchFamily="18" charset="0"/>
                        </a:rPr>
                        <a:t>3</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A350 Dừng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(3) = (1) + (2)</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5.1</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4.8</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3.0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75035530"/>
                  </a:ext>
                </a:extLst>
              </a:tr>
              <a:tr h="398285">
                <a:tc>
                  <a:txBody>
                    <a:bodyPr/>
                    <a:lstStyle/>
                    <a:p>
                      <a:pPr algn="ctr" fontAlgn="ctr"/>
                      <a:r>
                        <a:rPr lang="en-US" sz="1200" b="0" i="0" u="none" strike="noStrike">
                          <a:solidFill>
                            <a:srgbClr val="000000"/>
                          </a:solidFill>
                          <a:effectLst/>
                          <a:latin typeface="Times New Roman" panose="02020603050405020304" pitchFamily="18" charset="0"/>
                        </a:rPr>
                        <a:t>4</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 thực tế có thể khai thác</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(4) = 14 - (3)</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8.9</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9.2</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12.5</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815725846"/>
                  </a:ext>
                </a:extLst>
              </a:tr>
              <a:tr h="398285">
                <a:tc>
                  <a:txBody>
                    <a:bodyPr/>
                    <a:lstStyle/>
                    <a:p>
                      <a:pPr algn="ctr" fontAlgn="ctr"/>
                      <a:r>
                        <a:rPr lang="en-US" sz="1200" b="0" i="0" u="none" strike="noStrike">
                          <a:solidFill>
                            <a:srgbClr val="000000"/>
                          </a:solidFill>
                          <a:effectLst/>
                          <a:latin typeface="Times New Roman" panose="02020603050405020304" pitchFamily="18" charset="0"/>
                        </a:rPr>
                        <a:t>5</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a:solidFill>
                            <a:srgbClr val="000000"/>
                          </a:solidFill>
                          <a:effectLst/>
                          <a:latin typeface="Times New Roman" panose="02020603050405020304" pitchFamily="18" charset="0"/>
                        </a:rPr>
                        <a:t>B787 rủi ro AOG do ENG</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 Rủi ro phát sinh tàu AOG do ENG </a:t>
                      </a:r>
                      <a:r>
                        <a:rPr lang="en-US" sz="1200" b="0" i="0" u="none" strike="noStrike" smtClean="0">
                          <a:solidFill>
                            <a:srgbClr val="000000"/>
                          </a:solidFill>
                          <a:effectLst/>
                          <a:latin typeface="Times New Roman" panose="02020603050405020304" pitchFamily="18" charset="0"/>
                        </a:rPr>
                        <a:t>(A871 BSI 25CY, A863/A861 BSI </a:t>
                      </a:r>
                      <a:r>
                        <a:rPr lang="en-US" sz="1200" b="0" i="0" u="none" strike="noStrike">
                          <a:solidFill>
                            <a:srgbClr val="000000"/>
                          </a:solidFill>
                          <a:effectLst/>
                          <a:latin typeface="Times New Roman" panose="02020603050405020304" pitchFamily="18" charset="0"/>
                        </a:rPr>
                        <a:t>50CY).</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98263319"/>
                  </a:ext>
                </a:extLst>
              </a:tr>
              <a:tr h="493209">
                <a:tc>
                  <a:txBody>
                    <a:bodyPr/>
                    <a:lstStyle/>
                    <a:p>
                      <a:pPr algn="ctr" fontAlgn="ctr"/>
                      <a:r>
                        <a:rPr lang="en-US" sz="1200" b="0" i="0" u="none" strike="noStrike">
                          <a:solidFill>
                            <a:srgbClr val="000000"/>
                          </a:solidFill>
                          <a:effectLst/>
                          <a:latin typeface="Times New Roman" panose="02020603050405020304" pitchFamily="18" charset="0"/>
                        </a:rPr>
                        <a:t>6</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dừng BD</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0.8</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0.3</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0.8</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- 04/2025: tăng 0.2 tàu A871 hết hạn NN A01 ngày 11/04 =&gt; overlap với A868 thay ENG + A08 </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987597156"/>
                  </a:ext>
                </a:extLst>
              </a:tr>
              <a:tr h="398285">
                <a:tc>
                  <a:txBody>
                    <a:bodyPr/>
                    <a:lstStyle/>
                    <a:p>
                      <a:pPr algn="ctr" fontAlgn="ctr"/>
                      <a:r>
                        <a:rPr lang="en-US" sz="1200" b="0" i="0" u="none" strike="noStrike">
                          <a:solidFill>
                            <a:srgbClr val="000000"/>
                          </a:solidFill>
                          <a:effectLst/>
                          <a:latin typeface="Times New Roman" panose="02020603050405020304" pitchFamily="18" charset="0"/>
                        </a:rPr>
                        <a:t>7</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nb-NO" sz="1200" b="1" i="0" u="none" strike="noStrike">
                          <a:solidFill>
                            <a:srgbClr val="000000"/>
                          </a:solidFill>
                          <a:effectLst/>
                          <a:latin typeface="Times New Roman" panose="02020603050405020304" pitchFamily="18" charset="0"/>
                        </a:rPr>
                        <a:t>B787 Dừng (ENG + BD)</a:t>
                      </a:r>
                      <a:br>
                        <a:rPr lang="nb-NO" sz="1200" b="1" i="0" u="none" strike="noStrike">
                          <a:solidFill>
                            <a:srgbClr val="000000"/>
                          </a:solidFill>
                          <a:effectLst/>
                          <a:latin typeface="Times New Roman" panose="02020603050405020304" pitchFamily="18" charset="0"/>
                        </a:rPr>
                      </a:br>
                      <a:r>
                        <a:rPr lang="nb-NO" sz="1200" b="1" i="0" u="none" strike="noStrike">
                          <a:solidFill>
                            <a:srgbClr val="000000"/>
                          </a:solidFill>
                          <a:effectLst/>
                          <a:latin typeface="Times New Roman" panose="02020603050405020304" pitchFamily="18" charset="0"/>
                        </a:rPr>
                        <a:t>(7) = (5) + (6)</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1.3</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0.8</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0.3</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0.8</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00805453"/>
                  </a:ext>
                </a:extLst>
              </a:tr>
              <a:tr h="398285">
                <a:tc>
                  <a:txBody>
                    <a:bodyPr/>
                    <a:lstStyle/>
                    <a:p>
                      <a:pPr algn="ctr" fontAlgn="ctr"/>
                      <a:r>
                        <a:rPr lang="en-US" sz="1200" b="0" i="0" u="none" strike="noStrike">
                          <a:solidFill>
                            <a:srgbClr val="000000"/>
                          </a:solidFill>
                          <a:effectLst/>
                          <a:latin typeface="Times New Roman" panose="02020603050405020304" pitchFamily="18" charset="0"/>
                        </a:rPr>
                        <a:t>8</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thực tế có thể khai thác</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15.7</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16.2</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16.7</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16.2</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61499843"/>
                  </a:ext>
                </a:extLst>
              </a:tr>
              <a:tr h="398285">
                <a:tc>
                  <a:txBody>
                    <a:bodyPr/>
                    <a:lstStyle/>
                    <a:p>
                      <a:pPr algn="ctr" fontAlgn="ctr"/>
                      <a:r>
                        <a:rPr lang="en-US" sz="1200" b="0" i="0" u="none" strike="noStrike">
                          <a:solidFill>
                            <a:srgbClr val="000000"/>
                          </a:solidFill>
                          <a:effectLst/>
                          <a:latin typeface="Times New Roman" panose="02020603050405020304" pitchFamily="18" charset="0"/>
                        </a:rPr>
                        <a:t>9</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A350/B787 dừng (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(9) = (3) + (7)</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6.4</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5.8</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3.8</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1.3</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2.3</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7384" marR="7384" marT="7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54503072"/>
                  </a:ext>
                </a:extLst>
              </a:tr>
            </a:tbl>
          </a:graphicData>
        </a:graphic>
      </p:graphicFrame>
    </p:spTree>
    <p:extLst>
      <p:ext uri="{BB962C8B-B14F-4D97-AF65-F5344CB8AC3E}">
        <p14:creationId xmlns:p14="http://schemas.microsoft.com/office/powerpoint/2010/main" val="9355471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12"/>
          </p:nvPr>
        </p:nvSpPr>
        <p:spPr>
          <a:xfrm>
            <a:off x="8491920" y="5821369"/>
            <a:ext cx="2743200" cy="365125"/>
          </a:xfrm>
        </p:spPr>
        <p:txBody>
          <a:bodyPr>
            <a:normAutofit/>
          </a:bodyPr>
          <a:lstStyle/>
          <a:p>
            <a:fld id="{6C6B6B8D-D74E-47CD-B5EE-156060B7CD17}" type="slidenum">
              <a:rPr lang="en-US" sz="1100" smtClean="0"/>
              <a:pPr/>
              <a:t>50</a:t>
            </a:fld>
            <a:endParaRPr lang="en-US" sz="1100" dirty="0"/>
          </a:p>
        </p:txBody>
      </p:sp>
      <p:sp>
        <p:nvSpPr>
          <p:cNvPr id="21" name="TextBox 20"/>
          <p:cNvSpPr txBox="1"/>
          <p:nvPr/>
        </p:nvSpPr>
        <p:spPr>
          <a:xfrm>
            <a:off x="990600" y="0"/>
            <a:ext cx="9829800" cy="461665"/>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lvl1pPr algn="ctr" eaLnBrk="0" fontAlgn="auto" hangingPunct="0">
              <a:spcBef>
                <a:spcPts val="0"/>
              </a:spcBef>
              <a:spcAft>
                <a:spcPts val="0"/>
              </a:spcAft>
              <a:defRPr sz="3600" b="1" i="0">
                <a:ln w="0"/>
                <a:solidFill>
                  <a:srgbClr val="FFC000"/>
                </a:solidFill>
                <a:latin typeface="Times New Roman" panose="02020603050405020304" pitchFamily="18" charset="0"/>
                <a:ea typeface="+mn-ea"/>
                <a:cs typeface="Times New Roman" panose="02020603050405020304" pitchFamily="18" charset="0"/>
              </a:defRPr>
            </a:lvl1pPr>
            <a:lvl2pPr algn="ctr" eaLnBrk="0" hangingPunct="0">
              <a:defRPr sz="4400">
                <a:solidFill>
                  <a:srgbClr val="404040"/>
                </a:solidFill>
                <a:latin typeface="Calibri" pitchFamily="34" charset="0"/>
                <a:cs typeface="ＭＳ Ｐゴシック" charset="0"/>
              </a:defRPr>
            </a:lvl2pPr>
            <a:lvl3pPr algn="ctr" eaLnBrk="0" hangingPunct="0">
              <a:defRPr sz="4400">
                <a:solidFill>
                  <a:srgbClr val="404040"/>
                </a:solidFill>
                <a:latin typeface="Calibri" pitchFamily="34" charset="0"/>
                <a:cs typeface="ＭＳ Ｐゴシック" charset="0"/>
              </a:defRPr>
            </a:lvl3pPr>
            <a:lvl4pPr algn="ctr" eaLnBrk="0" hangingPunct="0">
              <a:defRPr sz="4400">
                <a:solidFill>
                  <a:srgbClr val="404040"/>
                </a:solidFill>
                <a:latin typeface="Calibri" pitchFamily="34" charset="0"/>
                <a:cs typeface="ＭＳ Ｐゴシック" charset="0"/>
              </a:defRPr>
            </a:lvl4pPr>
            <a:lvl5pPr algn="ctr" eaLnBrk="0" hangingPunct="0">
              <a:defRPr sz="4400">
                <a:solidFill>
                  <a:srgbClr val="404040"/>
                </a:solidFill>
                <a:latin typeface="Calibri" pitchFamily="34" charset="0"/>
                <a:cs typeface="ＭＳ Ｐゴシック" charset="0"/>
              </a:defRPr>
            </a:lvl5pPr>
            <a:lvl6pPr marL="457200" algn="ctr" fontAlgn="base">
              <a:spcBef>
                <a:spcPct val="0"/>
              </a:spcBef>
              <a:spcAft>
                <a:spcPct val="0"/>
              </a:spcAft>
              <a:defRPr sz="4400">
                <a:solidFill>
                  <a:schemeClr val="bg1"/>
                </a:solidFill>
                <a:latin typeface="Calibri" pitchFamily="34" charset="0"/>
              </a:defRPr>
            </a:lvl6pPr>
            <a:lvl7pPr marL="914400" algn="ctr" fontAlgn="base">
              <a:spcBef>
                <a:spcPct val="0"/>
              </a:spcBef>
              <a:spcAft>
                <a:spcPct val="0"/>
              </a:spcAft>
              <a:defRPr sz="4400">
                <a:solidFill>
                  <a:schemeClr val="bg1"/>
                </a:solidFill>
                <a:latin typeface="Calibri" pitchFamily="34" charset="0"/>
              </a:defRPr>
            </a:lvl7pPr>
            <a:lvl8pPr marL="1371600" algn="ctr" fontAlgn="base">
              <a:spcBef>
                <a:spcPct val="0"/>
              </a:spcBef>
              <a:spcAft>
                <a:spcPct val="0"/>
              </a:spcAft>
              <a:defRPr sz="4400">
                <a:solidFill>
                  <a:schemeClr val="bg1"/>
                </a:solidFill>
                <a:latin typeface="Calibri" pitchFamily="34" charset="0"/>
              </a:defRPr>
            </a:lvl8pPr>
            <a:lvl9pPr marL="1828800" algn="ctr" fontAlgn="base">
              <a:spcBef>
                <a:spcPct val="0"/>
              </a:spcBef>
              <a:spcAft>
                <a:spcPct val="0"/>
              </a:spcAft>
              <a:defRPr sz="4400">
                <a:solidFill>
                  <a:schemeClr val="bg1"/>
                </a:solidFill>
                <a:latin typeface="Calibri" pitchFamily="34" charset="0"/>
              </a:defRPr>
            </a:lvl9pPr>
          </a:lstStyle>
          <a:p>
            <a:pPr algn="l"/>
            <a:r>
              <a:rPr lang="en-US" sz="2400" dirty="0"/>
              <a:t>HỎNG HÓC CABIN ẢNH HƯỞNG KHAI THÁC VÀ PTVT – TUẦN 16</a:t>
            </a:r>
            <a:endParaRPr lang="vi-VN" sz="2400" dirty="0"/>
          </a:p>
        </p:txBody>
      </p:sp>
      <p:sp>
        <p:nvSpPr>
          <p:cNvPr id="22" name="TextBox 21"/>
          <p:cNvSpPr txBox="1"/>
          <p:nvPr/>
        </p:nvSpPr>
        <p:spPr>
          <a:xfrm>
            <a:off x="287571" y="4725540"/>
            <a:ext cx="11674151" cy="203132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Galley:</a:t>
            </a:r>
          </a:p>
          <a:p>
            <a:pPr marL="285750" indent="-285750">
              <a:lnSpc>
                <a:spcPct val="150000"/>
              </a:lnSpc>
              <a:buFontTx/>
              <a:buChar char="-"/>
            </a:pPr>
            <a:r>
              <a:rPr lang="en-US" sz="1400" b="1" dirty="0">
                <a:latin typeface="Times New Roman" panose="02020603050405020304" pitchFamily="18" charset="0"/>
                <a:cs typeface="Times New Roman" panose="02020603050405020304" pitchFamily="18" charset="0"/>
              </a:rPr>
              <a:t>Hỏng </a:t>
            </a:r>
            <a:r>
              <a:rPr lang="en-US" sz="1400" b="1">
                <a:latin typeface="Times New Roman" panose="02020603050405020304" pitchFamily="18" charset="0"/>
                <a:cs typeface="Times New Roman" panose="02020603050405020304" pitchFamily="18" charset="0"/>
              </a:rPr>
              <a:t>hóc W</a:t>
            </a:r>
            <a:r>
              <a:rPr lang="en-US" sz="1400" b="1" smtClean="0">
                <a:latin typeface="Times New Roman" panose="02020603050405020304" pitchFamily="18" charset="0"/>
                <a:cs typeface="Times New Roman" panose="02020603050405020304" pitchFamily="18" charset="0"/>
              </a:rPr>
              <a:t>ine Chiller</a:t>
            </a:r>
            <a:r>
              <a:rPr lang="en-US" sz="1400" dirty="0">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10a,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00ea,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10 ea. </a:t>
            </a:r>
            <a:r>
              <a:rPr lang="en-US" sz="1400" dirty="0" err="1">
                <a:solidFill>
                  <a:schemeClr val="tx1"/>
                </a:solidFill>
                <a:latin typeface="Times New Roman" panose="02020603050405020304" pitchFamily="18" charset="0"/>
                <a:cs typeface="Times New Roman" panose="02020603050405020304" pitchFamily="18" charset="0"/>
              </a:rPr>
              <a:t>Tiến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độ</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sửa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chữa</a:t>
            </a:r>
            <a:r>
              <a:rPr lang="en-US" sz="1400" dirty="0">
                <a:solidFill>
                  <a:schemeClr val="tx1"/>
                </a:solidFill>
                <a:latin typeface="Times New Roman" panose="02020603050405020304" pitchFamily="18" charset="0"/>
                <a:cs typeface="Times New Roman" panose="02020603050405020304" pitchFamily="18" charset="0"/>
              </a:rPr>
              <a:t> </a:t>
            </a:r>
            <a:r>
              <a:rPr lang="en-US" sz="1400" err="1">
                <a:solidFill>
                  <a:schemeClr val="tx1"/>
                </a:solidFill>
                <a:latin typeface="Times New Roman" panose="02020603050405020304" pitchFamily="18" charset="0"/>
                <a:cs typeface="Times New Roman" panose="02020603050405020304" pitchFamily="18" charset="0"/>
              </a:rPr>
              <a:t>tại</a:t>
            </a:r>
            <a:r>
              <a:rPr lang="en-US" sz="1400">
                <a:solidFill>
                  <a:schemeClr val="tx1"/>
                </a:solidFill>
                <a:latin typeface="Times New Roman" panose="02020603050405020304" pitchFamily="18" charset="0"/>
                <a:cs typeface="Times New Roman" panose="02020603050405020304" pitchFamily="18" charset="0"/>
              </a:rPr>
              <a:t> </a:t>
            </a:r>
            <a:r>
              <a:rPr lang="en-US" sz="1400" smtClean="0">
                <a:solidFill>
                  <a:schemeClr val="tx1"/>
                </a:solidFill>
                <a:latin typeface="Times New Roman" panose="02020603050405020304" pitchFamily="18" charset="0"/>
                <a:cs typeface="Times New Roman" panose="02020603050405020304" pitchFamily="18" charset="0"/>
              </a:rPr>
              <a:t>shop:</a:t>
            </a:r>
            <a:endParaRPr lang="en-US" sz="1400" dirty="0">
              <a:solidFill>
                <a:schemeClr val="tx1"/>
              </a:solidFill>
              <a:latin typeface="Times New Roman" panose="02020603050405020304" pitchFamily="18" charset="0"/>
              <a:cs typeface="Times New Roman" panose="02020603050405020304" pitchFamily="18" charset="0"/>
            </a:endParaRPr>
          </a:p>
          <a:p>
            <a:pPr marL="742950" lvl="1" indent="-285750">
              <a:lnSpc>
                <a:spcPct val="150000"/>
              </a:lnSpc>
              <a:buClr>
                <a:srgbClr val="000000"/>
              </a:buClr>
              <a:buSzPts val="1300"/>
              <a:buFont typeface="Arial" panose="020B0604020202020204" pitchFamily="34" charset="0"/>
              <a:buChar char="•"/>
            </a:pPr>
            <a:r>
              <a:rPr lang="vi-VN" sz="1400" dirty="0">
                <a:latin typeface="Times New Roman" panose="02020603050405020304" pitchFamily="18" charset="0"/>
                <a:cs typeface="Times New Roman" panose="02020603050405020304" pitchFamily="18" charset="0"/>
              </a:rPr>
              <a:t>Chiller B787: </a:t>
            </a:r>
            <a:r>
              <a:rPr lang="en-US" sz="1400" dirty="0">
                <a:latin typeface="Times New Roman" panose="02020603050405020304" pitchFamily="18" charset="0"/>
                <a:cs typeface="Times New Roman" panose="02020603050405020304" pitchFamily="18" charset="0"/>
              </a:rPr>
              <a:t>05</a:t>
            </a:r>
            <a:r>
              <a:rPr lang="vi-VN" sz="1400" dirty="0">
                <a:latin typeface="Times New Roman" panose="02020603050405020304" pitchFamily="18" charset="0"/>
                <a:cs typeface="Times New Roman" panose="02020603050405020304" pitchFamily="18" charset="0"/>
              </a:rPr>
              <a:t> ADD</a:t>
            </a:r>
            <a:r>
              <a:rPr lang="vi-VN" sz="1400">
                <a:latin typeface="Times New Roman" panose="02020603050405020304" pitchFamily="18" charset="0"/>
                <a:cs typeface="Times New Roman" panose="02020603050405020304" pitchFamily="18" charset="0"/>
              </a:rPr>
              <a:t>; </a:t>
            </a:r>
            <a:r>
              <a:rPr lang="en-US" sz="1400" smtClean="0">
                <a:latin typeface="Times New Roman"/>
                <a:ea typeface="Times New Roman"/>
                <a:cs typeface="Times New Roman"/>
                <a:sym typeface="Times New Roman"/>
              </a:rPr>
              <a:t>04 RO, </a:t>
            </a:r>
            <a:r>
              <a:rPr lang="vi-VN" sz="1400" dirty="0">
                <a:latin typeface="Times New Roman" panose="02020603050405020304" pitchFamily="18" charset="0"/>
                <a:cs typeface="Times New Roman" panose="02020603050405020304" pitchFamily="18" charset="0"/>
              </a:rPr>
              <a:t>chưa </a:t>
            </a:r>
            <a:r>
              <a:rPr lang="vi-VN" sz="1400">
                <a:latin typeface="Times New Roman" panose="02020603050405020304" pitchFamily="18" charset="0"/>
                <a:cs typeface="Times New Roman" panose="02020603050405020304" pitchFamily="18" charset="0"/>
              </a:rPr>
              <a:t>có </a:t>
            </a:r>
            <a:r>
              <a:rPr lang="vi-VN" sz="1400" smtClean="0">
                <a:latin typeface="Times New Roman" panose="02020603050405020304" pitchFamily="18" charset="0"/>
                <a:cs typeface="Times New Roman" panose="02020603050405020304" pitchFamily="18" charset="0"/>
              </a:rPr>
              <a:t>EDD</a:t>
            </a:r>
            <a:r>
              <a:rPr lang="en-US" sz="1400">
                <a:latin typeface="Times New Roman" panose="02020603050405020304" pitchFamily="18" charset="0"/>
                <a:cs typeface="Times New Roman" panose="02020603050405020304" pitchFamily="18" charset="0"/>
              </a:rPr>
              <a:t>;</a:t>
            </a:r>
            <a:r>
              <a:rPr lang="en-US" sz="1400" smtClean="0">
                <a:latin typeface="Times New Roman" panose="02020603050405020304" pitchFamily="18" charset="0"/>
                <a:cs typeface="Times New Roman" panose="02020603050405020304" pitchFamily="18" charset="0"/>
              </a:rPr>
              <a:t> </a:t>
            </a:r>
            <a:endParaRPr lang="en-US" sz="1400" dirty="0">
              <a:solidFill>
                <a:schemeClr val="tx1"/>
              </a:solidFill>
              <a:latin typeface="Times New Roman" panose="02020603050405020304" pitchFamily="18" charset="0"/>
              <a:cs typeface="Times New Roman" panose="02020603050405020304" pitchFamily="18" charset="0"/>
            </a:endParaRPr>
          </a:p>
          <a:p>
            <a:pPr marL="742950" lvl="1" indent="-285750">
              <a:lnSpc>
                <a:spcPct val="150000"/>
              </a:lnSpc>
              <a:buClr>
                <a:srgbClr val="000000"/>
              </a:buClr>
              <a:buSzPts val="1300"/>
              <a:buFont typeface="Arial" panose="020B0604020202020204" pitchFamily="34" charset="0"/>
              <a:buChar char="•"/>
            </a:pPr>
            <a:r>
              <a:rPr lang="vi-VN" sz="1400" dirty="0">
                <a:latin typeface="Times New Roman" panose="02020603050405020304" pitchFamily="18" charset="0"/>
                <a:cs typeface="Times New Roman" panose="02020603050405020304" pitchFamily="18" charset="0"/>
              </a:rPr>
              <a:t>Chiller A350: </a:t>
            </a:r>
            <a:r>
              <a:rPr lang="en-US" sz="1400">
                <a:latin typeface="Times New Roman" panose="02020603050405020304" pitchFamily="18" charset="0"/>
                <a:cs typeface="Times New Roman" panose="02020603050405020304" pitchFamily="18" charset="0"/>
              </a:rPr>
              <a:t>05 </a:t>
            </a:r>
            <a:r>
              <a:rPr lang="en-US" sz="1400" smtClean="0">
                <a:latin typeface="Times New Roman" panose="02020603050405020304" pitchFamily="18" charset="0"/>
                <a:cs typeface="Times New Roman" panose="02020603050405020304" pitchFamily="18" charset="0"/>
              </a:rPr>
              <a:t>ADD</a:t>
            </a:r>
            <a:r>
              <a:rPr lang="en-US" sz="1400" dirty="0">
                <a:latin typeface="Times New Roman" panose="02020603050405020304" pitchFamily="18" charset="0"/>
                <a:cs typeface="Times New Roman" panose="02020603050405020304" pitchFamily="18" charset="0"/>
              </a:rPr>
              <a:t>; </a:t>
            </a:r>
            <a:r>
              <a:rPr lang="en-US" sz="1400" dirty="0">
                <a:latin typeface="Times New Roman"/>
                <a:cs typeface="Times New Roman"/>
                <a:sym typeface="Times New Roman"/>
              </a:rPr>
              <a:t>05</a:t>
            </a:r>
            <a:r>
              <a:rPr lang="en-US" sz="1400" dirty="0">
                <a:latin typeface="Times New Roman"/>
                <a:ea typeface="Times New Roman"/>
                <a:cs typeface="Times New Roman"/>
                <a:sym typeface="Times New Roman"/>
              </a:rPr>
              <a:t> RO, </a:t>
            </a:r>
            <a:r>
              <a:rPr lang="vi-VN" sz="1400" dirty="0">
                <a:latin typeface="Times New Roman" panose="02020603050405020304" pitchFamily="18" charset="0"/>
                <a:cs typeface="Times New Roman" panose="02020603050405020304" pitchFamily="18" charset="0"/>
              </a:rPr>
              <a:t>chưa </a:t>
            </a:r>
            <a:r>
              <a:rPr lang="vi-VN" sz="1400">
                <a:latin typeface="Times New Roman" panose="02020603050405020304" pitchFamily="18" charset="0"/>
                <a:cs typeface="Times New Roman" panose="02020603050405020304" pitchFamily="18" charset="0"/>
              </a:rPr>
              <a:t>có </a:t>
            </a:r>
            <a:r>
              <a:rPr lang="vi-VN" sz="1400" smtClean="0">
                <a:latin typeface="Times New Roman" panose="02020603050405020304" pitchFamily="18" charset="0"/>
                <a:cs typeface="Times New Roman" panose="02020603050405020304" pitchFamily="18" charset="0"/>
              </a:rPr>
              <a:t>EDD</a:t>
            </a:r>
            <a:r>
              <a:rPr lang="en-US" sz="1400" smtClean="0">
                <a:latin typeface="Times New Roman" panose="02020603050405020304" pitchFamily="18" charset="0"/>
                <a:cs typeface="Times New Roman" panose="02020603050405020304" pitchFamily="18" charset="0"/>
              </a:rPr>
              <a:t>.</a:t>
            </a:r>
            <a:endParaRPr lang="en-US" sz="1400" dirty="0">
              <a:latin typeface="Times New Roman"/>
              <a:cs typeface="Times New Roman"/>
              <a:sym typeface="Times New Roman"/>
            </a:endParaRPr>
          </a:p>
          <a:p>
            <a:pPr marL="285750" indent="-285750">
              <a:lnSpc>
                <a:spcPct val="150000"/>
              </a:lnSpc>
              <a:buClr>
                <a:srgbClr val="000000"/>
              </a:buClr>
              <a:buSzPts val="1300"/>
              <a:buFont typeface="Times New Roman" panose="02020603050405020304" pitchFamily="18" charset="0"/>
              <a:buChar char="⁃"/>
            </a:pPr>
            <a:r>
              <a:rPr lang="en-US" sz="1400" b="1" dirty="0">
                <a:latin typeface="Times New Roman" panose="02020603050405020304" pitchFamily="18" charset="0"/>
                <a:cs typeface="Times New Roman" panose="02020603050405020304" pitchFamily="18" charset="0"/>
              </a:rPr>
              <a:t>Hỏng </a:t>
            </a:r>
            <a:r>
              <a:rPr lang="en-US" sz="1400" b="1">
                <a:latin typeface="Times New Roman" panose="02020603050405020304" pitchFamily="18" charset="0"/>
                <a:cs typeface="Times New Roman" panose="02020603050405020304" pitchFamily="18" charset="0"/>
              </a:rPr>
              <a:t>hóc </a:t>
            </a:r>
            <a:r>
              <a:rPr lang="en-US" sz="1400" b="1" smtClean="0">
                <a:latin typeface="Times New Roman" panose="02020603050405020304" pitchFamily="18" charset="0"/>
                <a:cs typeface="Times New Roman" panose="02020603050405020304" pitchFamily="18" charset="0"/>
              </a:rPr>
              <a:t>Oven</a:t>
            </a:r>
            <a:r>
              <a:rPr lang="en-US" sz="1400" b="1" dirty="0">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hỏng </a:t>
            </a:r>
            <a:r>
              <a:rPr lang="en-US" sz="1400" dirty="0" err="1">
                <a:solidFill>
                  <a:schemeClr val="tx1"/>
                </a:solidFill>
                <a:latin typeface="Times New Roman" panose="02020603050405020304" pitchFamily="18" charset="0"/>
                <a:cs typeface="Times New Roman" panose="02020603050405020304" pitchFamily="18" charset="0"/>
              </a:rPr>
              <a:t>hóc</a:t>
            </a:r>
            <a:r>
              <a:rPr lang="en-US" sz="1400" dirty="0">
                <a:solidFill>
                  <a:schemeClr val="tx1"/>
                </a:solidFill>
                <a:latin typeface="Times New Roman" panose="02020603050405020304" pitchFamily="18" charset="0"/>
                <a:cs typeface="Times New Roman" panose="02020603050405020304" pitchFamily="18" charset="0"/>
              </a:rPr>
              <a:t> 11ea, khắc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02ea,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09ea </a:t>
            </a:r>
            <a:r>
              <a:rPr lang="en-US" sz="1400" b="1" dirty="0">
                <a:solidFill>
                  <a:schemeClr val="tx1"/>
                </a:solidFill>
                <a:latin typeface="Times New Roman" panose="02020603050405020304" pitchFamily="18" charset="0"/>
                <a:cs typeface="Times New Roman" panose="02020603050405020304" pitchFamily="18" charset="0"/>
              </a:rPr>
              <a:t>(Oven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 A350A </a:t>
            </a:r>
            <a:r>
              <a:rPr lang="en-US" sz="1400" b="1" dirty="0" err="1">
                <a:solidFill>
                  <a:schemeClr val="tx1"/>
                </a:solidFill>
                <a:latin typeface="Times New Roman" panose="02020603050405020304" pitchFamily="18" charset="0"/>
                <a:cs typeface="Times New Roman" panose="02020603050405020304" pitchFamily="18" charset="0"/>
              </a:rPr>
              <a:t>hỏng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nhiều</a:t>
            </a:r>
            <a:r>
              <a:rPr lang="en-US" sz="1400" b="1" dirty="0">
                <a:solidFill>
                  <a:schemeClr val="tx1"/>
                </a:solidFill>
                <a:latin typeface="Times New Roman" panose="02020603050405020304" pitchFamily="18" charset="0"/>
                <a:cs typeface="Times New Roman" panose="02020603050405020304" pitchFamily="18" charset="0"/>
              </a:rPr>
              <a:t>, obsolete =&gt; </a:t>
            </a:r>
            <a:r>
              <a:rPr lang="en-US" sz="1400" b="1" dirty="0" err="1">
                <a:solidFill>
                  <a:schemeClr val="tx1"/>
                </a:solidFill>
                <a:latin typeface="Times New Roman" panose="02020603050405020304" pitchFamily="18" charset="0"/>
                <a:cs typeface="Times New Roman" panose="02020603050405020304" pitchFamily="18" charset="0"/>
              </a:rPr>
              <a:t>làm</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việc</a:t>
            </a:r>
            <a:r>
              <a:rPr lang="en-US" sz="1400" b="1" dirty="0">
                <a:solidFill>
                  <a:schemeClr val="tx1"/>
                </a:solidFill>
                <a:latin typeface="Times New Roman" panose="02020603050405020304" pitchFamily="18" charset="0"/>
                <a:cs typeface="Times New Roman" panose="02020603050405020304" pitchFamily="18" charset="0"/>
              </a:rPr>
              <a:t> Safran </a:t>
            </a:r>
            <a:r>
              <a:rPr lang="en-US" sz="1400" b="1" dirty="0" err="1">
                <a:solidFill>
                  <a:schemeClr val="tx1"/>
                </a:solidFill>
                <a:latin typeface="Times New Roman" panose="02020603050405020304" pitchFamily="18" charset="0"/>
                <a:cs typeface="Times New Roman" panose="02020603050405020304" pitchFamily="18" charset="0"/>
              </a:rPr>
              <a:t>phương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án</a:t>
            </a:r>
            <a:r>
              <a:rPr lang="en-US" sz="1400" b="1" dirty="0">
                <a:solidFill>
                  <a:schemeClr val="tx1"/>
                </a:solidFill>
                <a:latin typeface="Times New Roman" panose="02020603050405020304" pitchFamily="18" charset="0"/>
                <a:cs typeface="Times New Roman" panose="02020603050405020304" pitchFamily="18" charset="0"/>
              </a:rPr>
              <a:t> retrofit)</a:t>
            </a:r>
          </a:p>
          <a:p>
            <a:pPr marL="285750" indent="-285750">
              <a:lnSpc>
                <a:spcPct val="150000"/>
              </a:lnSpc>
              <a:buClr>
                <a:srgbClr val="000000"/>
              </a:buClr>
              <a:buSzPts val="1300"/>
              <a:buFont typeface="Times New Roman" panose="02020603050405020304" pitchFamily="18" charset="0"/>
              <a:buChar char="⁃"/>
            </a:pPr>
            <a:r>
              <a:rPr lang="en-US" sz="1400" b="1" dirty="0">
                <a:solidFill>
                  <a:schemeClr val="tx1"/>
                </a:solidFill>
                <a:latin typeface="Times New Roman" panose="02020603050405020304" pitchFamily="18" charset="0"/>
                <a:cs typeface="Times New Roman" panose="02020603050405020304" pitchFamily="18" charset="0"/>
              </a:rPr>
              <a:t>Boiler: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01ea,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01ea,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00ea</a:t>
            </a:r>
          </a:p>
        </p:txBody>
      </p:sp>
      <p:sp>
        <p:nvSpPr>
          <p:cNvPr id="23" name="TextBox 22"/>
          <p:cNvSpPr txBox="1"/>
          <p:nvPr/>
        </p:nvSpPr>
        <p:spPr>
          <a:xfrm>
            <a:off x="304800" y="2190261"/>
            <a:ext cx="11674150" cy="102316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IFE: Thales SVDU (A350/B787): </a:t>
            </a:r>
            <a:r>
              <a:rPr lang="en-US" sz="1400" dirty="0">
                <a:latin typeface="Times New Roman" panose="02020603050405020304" pitchFamily="18" charset="0"/>
                <a:cs typeface="Times New Roman" panose="02020603050405020304" pitchFamily="18" charset="0"/>
              </a:rPr>
              <a:t>replaced </a:t>
            </a:r>
            <a:r>
              <a:rPr lang="en-GB" sz="1400" b="1" dirty="0">
                <a:solidFill>
                  <a:schemeClr val="tx1"/>
                </a:solidFill>
                <a:latin typeface="Times New Roman" panose="02020603050405020304" pitchFamily="18" charset="0"/>
                <a:cs typeface="Times New Roman" panose="02020603050405020304" pitchFamily="18" charset="0"/>
              </a:rPr>
              <a:t>3</a:t>
            </a:r>
            <a:r>
              <a:rPr lang="en-US" sz="1400" b="1" dirty="0">
                <a:solidFill>
                  <a:schemeClr val="tx1"/>
                </a:solidFill>
                <a:latin typeface="Times New Roman" panose="02020603050405020304" pitchFamily="18" charset="0"/>
                <a:cs typeface="Times New Roman" panose="02020603050405020304" pitchFamily="18" charset="0"/>
              </a:rPr>
              <a:t>027</a:t>
            </a:r>
            <a:r>
              <a:rPr lang="en-GB" sz="1400" b="1" dirty="0">
                <a:solidFill>
                  <a:schemeClr val="tx1"/>
                </a:solidFill>
                <a:latin typeface="Times New Roman" panose="02020603050405020304" pitchFamily="18" charset="0"/>
                <a:cs typeface="Times New Roman" panose="02020603050405020304" pitchFamily="18" charset="0"/>
              </a:rPr>
              <a:t>/3</a:t>
            </a:r>
            <a:r>
              <a:rPr lang="en-US" sz="1400" b="1" dirty="0">
                <a:solidFill>
                  <a:schemeClr val="tx1"/>
                </a:solidFill>
                <a:latin typeface="Times New Roman" panose="02020603050405020304" pitchFamily="18" charset="0"/>
                <a:cs typeface="Times New Roman" panose="02020603050405020304" pitchFamily="18" charset="0"/>
              </a:rPr>
              <a:t>137 </a:t>
            </a:r>
            <a:r>
              <a:rPr lang="en-US" sz="1400" b="1" dirty="0">
                <a:latin typeface="Times New Roman" panose="02020603050405020304" pitchFamily="18" charset="0"/>
                <a:cs typeface="Times New Roman" panose="02020603050405020304" pitchFamily="18" charset="0"/>
              </a:rPr>
              <a:t>SVDU (</a:t>
            </a:r>
            <a:r>
              <a:rPr lang="en-US" sz="1400" b="1" dirty="0" err="1">
                <a:latin typeface="Times New Roman" panose="02020603050405020304" pitchFamily="18" charset="0"/>
                <a:cs typeface="Times New Roman" panose="02020603050405020304" pitchFamily="18" charset="0"/>
              </a:rPr>
              <a:t>còn</a:t>
            </a:r>
            <a:r>
              <a:rPr lang="en-US" sz="1400" b="1" dirty="0">
                <a:latin typeface="Times New Roman" panose="02020603050405020304" pitchFamily="18" charset="0"/>
                <a:cs typeface="Times New Roman" panose="02020603050405020304" pitchFamily="18" charset="0"/>
              </a:rPr>
              <a:t> 80 INOP SVDU). </a:t>
            </a:r>
            <a:r>
              <a:rPr lang="en-US" sz="1400" dirty="0">
                <a:solidFill>
                  <a:srgbClr val="FF0000"/>
                </a:solidFill>
                <a:latin typeface="Times New Roman" panose="02020603050405020304" pitchFamily="18" charset="0"/>
                <a:cs typeface="Times New Roman" panose="02020603050405020304" pitchFamily="18" charset="0"/>
              </a:rPr>
              <a:t>Trong </a:t>
            </a:r>
            <a:r>
              <a:rPr lang="en-US" sz="1400" dirty="0" err="1">
                <a:solidFill>
                  <a:srgbClr val="FF0000"/>
                </a:solidFill>
                <a:latin typeface="Times New Roman" panose="02020603050405020304" pitchFamily="18" charset="0"/>
                <a:cs typeface="Times New Roman" panose="02020603050405020304" pitchFamily="18" charset="0"/>
              </a:rPr>
              <a:t>tuần</a:t>
            </a:r>
            <a:r>
              <a:rPr lang="en-US" sz="1400" dirty="0">
                <a:solidFill>
                  <a:srgbClr val="FF0000"/>
                </a:solidFill>
                <a:latin typeface="Times New Roman" panose="02020603050405020304" pitchFamily="18" charset="0"/>
                <a:cs typeface="Times New Roman" panose="02020603050405020304" pitchFamily="18" charset="0"/>
              </a:rPr>
              <a:t> 15:  hỏng </a:t>
            </a:r>
            <a:r>
              <a:rPr lang="en-US" sz="1400" dirty="0" err="1">
                <a:solidFill>
                  <a:srgbClr val="FF0000"/>
                </a:solidFill>
                <a:latin typeface="Times New Roman" panose="02020603050405020304" pitchFamily="18" charset="0"/>
                <a:cs typeface="Times New Roman" panose="02020603050405020304" pitchFamily="18" charset="0"/>
              </a:rPr>
              <a:t>mới</a:t>
            </a:r>
            <a:r>
              <a:rPr lang="en-US" sz="1400" dirty="0">
                <a:solidFill>
                  <a:srgbClr val="FF0000"/>
                </a:solidFill>
                <a:latin typeface="Times New Roman" panose="02020603050405020304" pitchFamily="18" charset="0"/>
                <a:cs typeface="Times New Roman" panose="02020603050405020304" pitchFamily="18" charset="0"/>
              </a:rPr>
              <a:t> 05 ea, </a:t>
            </a:r>
            <a:r>
              <a:rPr lang="en-US" sz="1400" dirty="0" err="1">
                <a:solidFill>
                  <a:srgbClr val="FF0000"/>
                </a:solidFill>
                <a:latin typeface="Times New Roman" panose="02020603050405020304" pitchFamily="18" charset="0"/>
                <a:cs typeface="Times New Roman" panose="02020603050405020304" pitchFamily="18" charset="0"/>
              </a:rPr>
              <a:t>khắc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15ea</a:t>
            </a:r>
            <a:r>
              <a:rPr lang="en-US" sz="1400" dirty="0">
                <a:solidFill>
                  <a:schemeClr val="tx1"/>
                </a:solidFill>
                <a:latin typeface="Times New Roman" panose="02020603050405020304" pitchFamily="18" charset="0"/>
                <a:cs typeface="Times New Roman" panose="02020603050405020304" pitchFamily="18" charset="0"/>
              </a:rPr>
              <a:t>. </a:t>
            </a:r>
            <a:endParaRPr lang="en-GB" sz="1400"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sz="1400" dirty="0">
                <a:latin typeface="Times New Roman" panose="02020603050405020304" pitchFamily="18" charset="0"/>
                <a:cs typeface="Times New Roman" panose="02020603050405020304" pitchFamily="18" charset="0"/>
              </a:rPr>
              <a:t> -       Hỏng hóc đội bay A350: đã được khắc phục và kiểm soát</a:t>
            </a:r>
          </a:p>
          <a:p>
            <a:pPr>
              <a:lnSpc>
                <a:spcPct val="150000"/>
              </a:lnSpc>
            </a:pPr>
            <a:r>
              <a:rPr lang="en-US" sz="1400" dirty="0">
                <a:solidFill>
                  <a:schemeClr val="tx1"/>
                </a:solidFill>
                <a:latin typeface="Times New Roman" panose="02020603050405020304" pitchFamily="18" charset="0"/>
                <a:cs typeface="Times New Roman" panose="02020603050405020304" pitchFamily="18" charset="0"/>
              </a:rPr>
              <a:t>-        Hỏng hóc tồn đọng: tập trung đội bay B787, số lượng quay vòng ít (80ea). =&gt; Thales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bổ</a:t>
            </a:r>
            <a:r>
              <a:rPr lang="en-US" sz="1400" dirty="0">
                <a:solidFill>
                  <a:schemeClr val="tx1"/>
                </a:solidFill>
                <a:latin typeface="Times New Roman" panose="02020603050405020304" pitchFamily="18" charset="0"/>
                <a:cs typeface="Times New Roman" panose="02020603050405020304" pitchFamily="18" charset="0"/>
              </a:rPr>
              <a:t> sung 30 SVDU quay </a:t>
            </a:r>
            <a:r>
              <a:rPr lang="en-US" sz="1400" dirty="0" err="1">
                <a:solidFill>
                  <a:schemeClr val="tx1"/>
                </a:solidFill>
                <a:latin typeface="Times New Roman" panose="02020603050405020304" pitchFamily="18" charset="0"/>
                <a:cs typeface="Times New Roman" panose="02020603050405020304" pitchFamily="18" charset="0"/>
              </a:rPr>
              <a:t>vòng</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25" name="TextBox 24"/>
          <p:cNvSpPr txBox="1"/>
          <p:nvPr/>
        </p:nvSpPr>
        <p:spPr>
          <a:xfrm>
            <a:off x="288692" y="3265965"/>
            <a:ext cx="11673030" cy="13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LAV:</a:t>
            </a:r>
          </a:p>
          <a:p>
            <a:pPr marL="285750" indent="-285750">
              <a:lnSpc>
                <a:spcPct val="150000"/>
              </a:lnSpc>
              <a:buFontTx/>
              <a:buChar char="-"/>
            </a:pPr>
            <a:r>
              <a:rPr lang="en-US" sz="1400" b="1" dirty="0">
                <a:solidFill>
                  <a:schemeClr val="tx1"/>
                </a:solidFill>
                <a:latin typeface="Times New Roman" panose="02020603050405020304" pitchFamily="18" charset="0"/>
                <a:cs typeface="Times New Roman" panose="02020603050405020304" pitchFamily="18" charset="0"/>
              </a:rPr>
              <a:t>Toilet Assy: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05 </a:t>
            </a:r>
            <a:r>
              <a:rPr lang="en-US" sz="1400" dirty="0" err="1">
                <a:solidFill>
                  <a:schemeClr val="tx1"/>
                </a:solidFill>
                <a:latin typeface="Times New Roman" panose="02020603050405020304" pitchFamily="18" charset="0"/>
                <a:cs typeface="Times New Roman" panose="02020603050405020304" pitchFamily="18" charset="0"/>
              </a:rPr>
              <a:t>ea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03ea,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02ea</a:t>
            </a:r>
          </a:p>
          <a:p>
            <a:pPr marL="285750" indent="-285750">
              <a:lnSpc>
                <a:spcPct val="150000"/>
              </a:lnSpc>
              <a:buFontTx/>
              <a:buChar char="-"/>
            </a:pPr>
            <a:r>
              <a:rPr lang="en-US" sz="1400" b="1" dirty="0">
                <a:solidFill>
                  <a:schemeClr val="tx1"/>
                </a:solidFill>
                <a:latin typeface="Times New Roman" panose="02020603050405020304" pitchFamily="18" charset="0"/>
                <a:cs typeface="Times New Roman" panose="02020603050405020304" pitchFamily="18" charset="0"/>
              </a:rPr>
              <a:t>Faucet Assy: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04ea,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02ea,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02ea</a:t>
            </a:r>
          </a:p>
          <a:p>
            <a:pPr marL="285750" indent="-285750">
              <a:lnSpc>
                <a:spcPct val="150000"/>
              </a:lnSpc>
              <a:buFontTx/>
              <a:buChar char="-"/>
            </a:pPr>
            <a:r>
              <a:rPr lang="en-US" sz="1400" b="1" dirty="0">
                <a:solidFill>
                  <a:schemeClr val="tx1"/>
                </a:solidFill>
                <a:latin typeface="Times New Roman" panose="02020603050405020304" pitchFamily="18" charset="0"/>
                <a:cs typeface="Times New Roman" panose="02020603050405020304" pitchFamily="18" charset="0"/>
              </a:rPr>
              <a:t>Basin: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01ea,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00ea,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01ea</a:t>
            </a:r>
          </a:p>
        </p:txBody>
      </p:sp>
      <p:sp>
        <p:nvSpPr>
          <p:cNvPr id="26" name="TextBox 25"/>
          <p:cNvSpPr txBox="1"/>
          <p:nvPr/>
        </p:nvSpPr>
        <p:spPr>
          <a:xfrm>
            <a:off x="304800" y="609600"/>
            <a:ext cx="11674150" cy="30777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b="1" dirty="0">
                <a:latin typeface="Times New Roman" panose="02020603050405020304" pitchFamily="18" charset="0"/>
                <a:cs typeface="Times New Roman" panose="02020603050405020304" pitchFamily="18" charset="0"/>
              </a:rPr>
              <a:t>ADD ảnh hưởng dịch vụ </a:t>
            </a:r>
            <a:r>
              <a:rPr lang="en-US" sz="1400" b="1" dirty="0" err="1">
                <a:latin typeface="Times New Roman" panose="02020603050405020304" pitchFamily="18" charset="0"/>
                <a:cs typeface="Times New Roman" panose="02020603050405020304" pitchFamily="18" charset="0"/>
              </a:rPr>
              <a:t>tuần</a:t>
            </a:r>
            <a:r>
              <a:rPr lang="en-US" sz="1400" b="1" dirty="0">
                <a:latin typeface="Times New Roman" panose="02020603050405020304" pitchFamily="18" charset="0"/>
                <a:cs typeface="Times New Roman" panose="02020603050405020304" pitchFamily="18" charset="0"/>
              </a:rPr>
              <a:t> 16: </a:t>
            </a:r>
            <a:r>
              <a:rPr lang="en-US" sz="1400" dirty="0" err="1">
                <a:latin typeface="Times New Roman" panose="02020603050405020304" pitchFamily="18" charset="0"/>
                <a:cs typeface="Times New Roman" panose="02020603050405020304" pitchFamily="18" charset="0"/>
              </a:rPr>
              <a:t>Tổng</a:t>
            </a:r>
            <a:r>
              <a:rPr lang="en-US" sz="1400" dirty="0">
                <a:latin typeface="Times New Roman" panose="02020603050405020304" pitchFamily="18" charset="0"/>
                <a:cs typeface="Times New Roman" panose="02020603050405020304" pitchFamily="18" charset="0"/>
              </a:rPr>
              <a:t> 212 (</a:t>
            </a:r>
            <a:r>
              <a:rPr lang="en-US" sz="1400" dirty="0" err="1">
                <a:latin typeface="Times New Roman" panose="02020603050405020304" pitchFamily="18" charset="0"/>
                <a:cs typeface="Times New Roman" panose="02020603050405020304" pitchFamily="18" charset="0"/>
              </a:rPr>
              <a:t>giảm</a:t>
            </a:r>
            <a:r>
              <a:rPr lang="en-US" sz="1400" dirty="0">
                <a:latin typeface="Times New Roman" panose="02020603050405020304" pitchFamily="18" charset="0"/>
                <a:cs typeface="Times New Roman" panose="02020603050405020304" pitchFamily="18" charset="0"/>
              </a:rPr>
              <a:t> 3% so </a:t>
            </a:r>
            <a:r>
              <a:rPr lang="en-US" sz="1400" dirty="0" err="1">
                <a:latin typeface="Times New Roman" panose="02020603050405020304" pitchFamily="18" charset="0"/>
                <a:cs typeface="Times New Roman" panose="02020603050405020304" pitchFamily="18" charset="0"/>
              </a:rPr>
              <a:t>với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tuần</a:t>
            </a:r>
            <a:r>
              <a:rPr lang="en-US" sz="1400" dirty="0">
                <a:latin typeface="Times New Roman" panose="02020603050405020304" pitchFamily="18" charset="0"/>
                <a:cs typeface="Times New Roman" panose="02020603050405020304" pitchFamily="18" charset="0"/>
              </a:rPr>
              <a:t> 15), khắc </a:t>
            </a:r>
            <a:r>
              <a:rPr lang="en-US" sz="1400" dirty="0" err="1">
                <a:latin typeface="Times New Roman" panose="02020603050405020304" pitchFamily="18" charset="0"/>
                <a:cs typeface="Times New Roman" panose="02020603050405020304" pitchFamily="18" charset="0"/>
              </a:rPr>
              <a:t>phục</a:t>
            </a:r>
            <a:r>
              <a:rPr lang="en-US" sz="1400" dirty="0">
                <a:latin typeface="Times New Roman" panose="02020603050405020304" pitchFamily="18" charset="0"/>
                <a:cs typeface="Times New Roman" panose="02020603050405020304" pitchFamily="18" charset="0"/>
              </a:rPr>
              <a:t> 73 ADD =&gt; tồn </a:t>
            </a:r>
            <a:r>
              <a:rPr lang="en-US" sz="1400" dirty="0" err="1">
                <a:latin typeface="Times New Roman" panose="02020603050405020304" pitchFamily="18" charset="0"/>
                <a:cs typeface="Times New Roman" panose="02020603050405020304" pitchFamily="18" charset="0"/>
              </a:rPr>
              <a:t>đọng</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139ADD</a:t>
            </a:r>
            <a:r>
              <a:rPr lang="en-US" sz="1400" dirty="0">
                <a:latin typeface="Times New Roman" panose="02020603050405020304" pitchFamily="18" charset="0"/>
                <a:cs typeface="Times New Roman" panose="02020603050405020304" pitchFamily="18" charset="0"/>
              </a:rPr>
              <a:t> </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tăng</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8% so </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với</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tuần</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15).</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304800" y="1046006"/>
            <a:ext cx="11674150" cy="102316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Hỏng hóc Ghế thuộc diện cắt khách </a:t>
            </a:r>
            <a:r>
              <a:rPr lang="en-US" sz="1400" b="1" dirty="0" err="1">
                <a:latin typeface="Times New Roman" panose="02020603050405020304" pitchFamily="18" charset="0"/>
                <a:cs typeface="Times New Roman" panose="02020603050405020304" pitchFamily="18" charset="0"/>
              </a:rPr>
              <a:t>tuần</a:t>
            </a:r>
            <a:r>
              <a:rPr lang="en-US" sz="1400" b="1" dirty="0">
                <a:latin typeface="Times New Roman" panose="02020603050405020304" pitchFamily="18" charset="0"/>
                <a:cs typeface="Times New Roman" panose="02020603050405020304" pitchFamily="18" charset="0"/>
              </a:rPr>
              <a:t> 16</a:t>
            </a:r>
          </a:p>
          <a:p>
            <a:pPr marL="285750" indent="-285750">
              <a:lnSpc>
                <a:spcPct val="150000"/>
              </a:lnSpc>
              <a:buFontTx/>
              <a:buChar char="-"/>
            </a:pPr>
            <a:r>
              <a:rPr lang="en-US" sz="1400" b="1" dirty="0" err="1">
                <a:latin typeface="Times New Roman" panose="02020603050405020304" pitchFamily="18" charset="0"/>
                <a:cs typeface="Times New Roman" panose="02020603050405020304" pitchFamily="18" charset="0"/>
              </a:rPr>
              <a:t>Ghế</a:t>
            </a:r>
            <a:r>
              <a:rPr lang="en-US" sz="1400" b="1" dirty="0">
                <a:latin typeface="Times New Roman" panose="02020603050405020304" pitchFamily="18" charset="0"/>
                <a:cs typeface="Times New Roman" panose="02020603050405020304" pitchFamily="18" charset="0"/>
              </a:rPr>
              <a:t> 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hỏng</a:t>
            </a:r>
            <a:r>
              <a:rPr lang="en-US" sz="1400" dirty="0">
                <a:solidFill>
                  <a:srgbClr val="FF0000"/>
                </a:solidFill>
                <a:latin typeface="Times New Roman" panose="02020603050405020304" pitchFamily="18" charset="0"/>
                <a:cs typeface="Times New Roman" panose="02020603050405020304" pitchFamily="18" charset="0"/>
              </a:rPr>
              <a:t> 01, </a:t>
            </a:r>
            <a:r>
              <a:rPr lang="en-US" sz="1400" dirty="0" err="1">
                <a:solidFill>
                  <a:srgbClr val="FF0000"/>
                </a:solidFill>
                <a:latin typeface="Times New Roman" panose="02020603050405020304" pitchFamily="18" charset="0"/>
                <a:cs typeface="Times New Roman" panose="02020603050405020304" pitchFamily="18" charset="0"/>
              </a:rPr>
              <a:t>khắc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01, </a:t>
            </a:r>
            <a:r>
              <a:rPr lang="en-US" sz="1400" dirty="0" err="1">
                <a:solidFill>
                  <a:srgbClr val="FF0000"/>
                </a:solidFill>
                <a:latin typeface="Times New Roman" panose="02020603050405020304" pitchFamily="18" charset="0"/>
                <a:cs typeface="Times New Roman" panose="02020603050405020304" pitchFamily="18" charset="0"/>
              </a:rPr>
              <a:t>tồn</a:t>
            </a:r>
            <a:r>
              <a:rPr lang="en-US" sz="1400" dirty="0">
                <a:solidFill>
                  <a:srgbClr val="FF0000"/>
                </a:solidFill>
                <a:latin typeface="Times New Roman" panose="02020603050405020304" pitchFamily="18" charset="0"/>
                <a:cs typeface="Times New Roman" panose="02020603050405020304" pitchFamily="18" charset="0"/>
              </a:rPr>
              <a:t> 00.</a:t>
            </a:r>
          </a:p>
          <a:p>
            <a:pPr marL="285750" indent="-285750">
              <a:lnSpc>
                <a:spcPct val="150000"/>
              </a:lnSpc>
              <a:buFontTx/>
              <a:buChar char="-"/>
            </a:pPr>
            <a:r>
              <a:rPr lang="en-US" sz="1400" b="1" dirty="0" err="1">
                <a:latin typeface="Times New Roman" panose="02020603050405020304" pitchFamily="18" charset="0"/>
                <a:cs typeface="Times New Roman" panose="02020603050405020304" pitchFamily="18" charset="0"/>
              </a:rPr>
              <a:t>Ghế</a:t>
            </a:r>
            <a:r>
              <a:rPr lang="en-US" sz="1400" b="1" dirty="0">
                <a:latin typeface="Times New Roman" panose="02020603050405020304" pitchFamily="18" charset="0"/>
                <a:cs typeface="Times New Roman" panose="02020603050405020304" pitchFamily="18" charset="0"/>
              </a:rPr>
              <a:t> Y</a:t>
            </a:r>
            <a:r>
              <a:rPr lang="en-US" sz="1400" b="1"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hỏng</a:t>
            </a:r>
            <a:r>
              <a:rPr lang="en-US" sz="1400" dirty="0">
                <a:solidFill>
                  <a:srgbClr val="FF0000"/>
                </a:solidFill>
                <a:latin typeface="Times New Roman" panose="02020603050405020304" pitchFamily="18" charset="0"/>
                <a:cs typeface="Times New Roman" panose="02020603050405020304" pitchFamily="18" charset="0"/>
              </a:rPr>
              <a:t> 11, đã khắc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07, </a:t>
            </a:r>
            <a:r>
              <a:rPr lang="en-US" sz="1400" dirty="0" err="1">
                <a:solidFill>
                  <a:srgbClr val="FF0000"/>
                </a:solidFill>
                <a:latin typeface="Times New Roman" panose="02020603050405020304" pitchFamily="18" charset="0"/>
                <a:cs typeface="Times New Roman" panose="02020603050405020304" pitchFamily="18" charset="0"/>
              </a:rPr>
              <a:t>tồn</a:t>
            </a:r>
            <a:r>
              <a:rPr lang="en-US" sz="1400" dirty="0">
                <a:solidFill>
                  <a:srgbClr val="FF0000"/>
                </a:solidFill>
                <a:latin typeface="Times New Roman" panose="02020603050405020304" pitchFamily="18" charset="0"/>
                <a:cs typeface="Times New Roman" panose="02020603050405020304" pitchFamily="18" charset="0"/>
              </a:rPr>
              <a:t> 04</a:t>
            </a:r>
            <a:r>
              <a:rPr lang="en-US" sz="1100" dirty="0">
                <a:solidFill>
                  <a:schemeClr val="tx1"/>
                </a:solidFill>
                <a:latin typeface="Times New Roman" panose="02020603050405020304" pitchFamily="18" charset="0"/>
                <a:cs typeface="Times New Roman" panose="02020603050405020304" pitchFamily="18" charset="0"/>
              </a:rPr>
              <a:t>.</a:t>
            </a:r>
            <a:r>
              <a:rPr lang="en-US" sz="1100" dirty="0">
                <a:solidFill>
                  <a:srgbClr val="FF0000"/>
                </a:solidFill>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87393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51</a:t>
            </a:fld>
            <a:endParaRPr lang="en-US"/>
          </a:p>
        </p:txBody>
      </p:sp>
      <p:sp>
        <p:nvSpPr>
          <p:cNvPr id="5" name="Title 4"/>
          <p:cNvSpPr>
            <a:spLocks noGrp="1"/>
          </p:cNvSpPr>
          <p:nvPr>
            <p:ph type="title"/>
          </p:nvPr>
        </p:nvSpPr>
        <p:spPr>
          <a:xfrm>
            <a:off x="228600" y="228600"/>
            <a:ext cx="5663033" cy="482045"/>
          </a:xfrm>
        </p:spPr>
        <p:txBody>
          <a:bodyPr>
            <a:noAutofit/>
          </a:bodyPr>
          <a:lstStyle/>
          <a:p>
            <a:r>
              <a:rPr lang="en-US" sz="2400" dirty="0">
                <a:ln w="0"/>
                <a:solidFill>
                  <a:srgbClr val="FFC000"/>
                </a:solidFill>
                <a:latin typeface="Times New Roman" panose="02020603050405020304" pitchFamily="18" charset="0"/>
                <a:ea typeface="+mn-ea"/>
                <a:cs typeface="Times New Roman" panose="02020603050405020304" pitchFamily="18" charset="0"/>
              </a:rPr>
              <a:t>NHÂN NHƯỢNG TRONG TUẦN</a:t>
            </a:r>
            <a:endParaRPr lang="vi-VN" sz="2400" dirty="0">
              <a:ln w="0"/>
              <a:solidFill>
                <a:srgbClr val="FFC000"/>
              </a:solidFill>
              <a:latin typeface="Times New Roman" panose="02020603050405020304" pitchFamily="18" charset="0"/>
              <a:ea typeface="+mn-ea"/>
              <a:cs typeface="Times New Roman" panose="02020603050405020304" pitchFamily="18" charset="0"/>
            </a:endParaRPr>
          </a:p>
        </p:txBody>
      </p:sp>
      <p:graphicFrame>
        <p:nvGraphicFramePr>
          <p:cNvPr id="7" name="Chart 6">
            <a:extLst>
              <a:ext uri="{FF2B5EF4-FFF2-40B4-BE49-F238E27FC236}">
                <a16:creationId xmlns:a16="http://schemas.microsoft.com/office/drawing/2014/main" id="{00000000-0008-0000-0900-000007000000}"/>
              </a:ext>
            </a:extLst>
          </p:cNvPr>
          <p:cNvGraphicFramePr>
            <a:graphicFrameLocks/>
          </p:cNvGraphicFramePr>
          <p:nvPr>
            <p:extLst>
              <p:ext uri="{D42A27DB-BD31-4B8C-83A1-F6EECF244321}">
                <p14:modId xmlns:p14="http://schemas.microsoft.com/office/powerpoint/2010/main" val="1855865198"/>
              </p:ext>
            </p:extLst>
          </p:nvPr>
        </p:nvGraphicFramePr>
        <p:xfrm>
          <a:off x="4038600" y="692018"/>
          <a:ext cx="4116876" cy="235937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Table 8"/>
          <p:cNvGraphicFramePr>
            <a:graphicFrameLocks noGrp="1"/>
          </p:cNvGraphicFramePr>
          <p:nvPr>
            <p:extLst>
              <p:ext uri="{D42A27DB-BD31-4B8C-83A1-F6EECF244321}">
                <p14:modId xmlns:p14="http://schemas.microsoft.com/office/powerpoint/2010/main" val="2583266630"/>
              </p:ext>
            </p:extLst>
          </p:nvPr>
        </p:nvGraphicFramePr>
        <p:xfrm>
          <a:off x="781014" y="3124200"/>
          <a:ext cx="10515597" cy="1824405"/>
        </p:xfrm>
        <a:graphic>
          <a:graphicData uri="http://schemas.openxmlformats.org/drawingml/2006/table">
            <a:tbl>
              <a:tblPr/>
              <a:tblGrid>
                <a:gridCol w="242554">
                  <a:extLst>
                    <a:ext uri="{9D8B030D-6E8A-4147-A177-3AD203B41FA5}">
                      <a16:colId xmlns:a16="http://schemas.microsoft.com/office/drawing/2014/main" val="3508988415"/>
                    </a:ext>
                  </a:extLst>
                </a:gridCol>
                <a:gridCol w="1550879">
                  <a:extLst>
                    <a:ext uri="{9D8B030D-6E8A-4147-A177-3AD203B41FA5}">
                      <a16:colId xmlns:a16="http://schemas.microsoft.com/office/drawing/2014/main" val="3747716093"/>
                    </a:ext>
                  </a:extLst>
                </a:gridCol>
                <a:gridCol w="499809">
                  <a:extLst>
                    <a:ext uri="{9D8B030D-6E8A-4147-A177-3AD203B41FA5}">
                      <a16:colId xmlns:a16="http://schemas.microsoft.com/office/drawing/2014/main" val="1197752660"/>
                    </a:ext>
                  </a:extLst>
                </a:gridCol>
                <a:gridCol w="426309">
                  <a:extLst>
                    <a:ext uri="{9D8B030D-6E8A-4147-A177-3AD203B41FA5}">
                      <a16:colId xmlns:a16="http://schemas.microsoft.com/office/drawing/2014/main" val="3198857871"/>
                    </a:ext>
                  </a:extLst>
                </a:gridCol>
                <a:gridCol w="4226330">
                  <a:extLst>
                    <a:ext uri="{9D8B030D-6E8A-4147-A177-3AD203B41FA5}">
                      <a16:colId xmlns:a16="http://schemas.microsoft.com/office/drawing/2014/main" val="1983832558"/>
                    </a:ext>
                  </a:extLst>
                </a:gridCol>
                <a:gridCol w="602711">
                  <a:extLst>
                    <a:ext uri="{9D8B030D-6E8A-4147-A177-3AD203B41FA5}">
                      <a16:colId xmlns:a16="http://schemas.microsoft.com/office/drawing/2014/main" val="1161781227"/>
                    </a:ext>
                  </a:extLst>
                </a:gridCol>
                <a:gridCol w="980018">
                  <a:extLst>
                    <a:ext uri="{9D8B030D-6E8A-4147-A177-3AD203B41FA5}">
                      <a16:colId xmlns:a16="http://schemas.microsoft.com/office/drawing/2014/main" val="1326280239"/>
                    </a:ext>
                  </a:extLst>
                </a:gridCol>
                <a:gridCol w="1568029">
                  <a:extLst>
                    <a:ext uri="{9D8B030D-6E8A-4147-A177-3AD203B41FA5}">
                      <a16:colId xmlns:a16="http://schemas.microsoft.com/office/drawing/2014/main" val="906535881"/>
                    </a:ext>
                  </a:extLst>
                </a:gridCol>
                <a:gridCol w="418958">
                  <a:extLst>
                    <a:ext uri="{9D8B030D-6E8A-4147-A177-3AD203B41FA5}">
                      <a16:colId xmlns:a16="http://schemas.microsoft.com/office/drawing/2014/main" val="2513249128"/>
                    </a:ext>
                  </a:extLst>
                </a:gridCol>
              </a:tblGrid>
              <a:tr h="161778">
                <a:tc gridSpan="9">
                  <a:txBody>
                    <a:bodyPr/>
                    <a:lstStyle/>
                    <a:p>
                      <a:pPr algn="ctr" fontAlgn="ctr"/>
                      <a:r>
                        <a:rPr lang="vi-VN" sz="1050" b="1" i="0" u="none" strike="noStrike">
                          <a:solidFill>
                            <a:srgbClr val="000000"/>
                          </a:solidFill>
                          <a:effectLst/>
                          <a:latin typeface="Times New Roman" panose="02020603050405020304" pitchFamily="18" charset="0"/>
                        </a:rPr>
                        <a:t>BẢNG TỔNG HỢP VÀ THEO DÕI NHÂN NHƯỢNG - VIETNAM AIRLINES</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63912048"/>
                  </a:ext>
                </a:extLst>
              </a:tr>
              <a:tr h="161778">
                <a:tc>
                  <a:txBody>
                    <a:bodyPr/>
                    <a:lstStyle/>
                    <a:p>
                      <a:pPr algn="ctr" fontAlgn="ctr"/>
                      <a:r>
                        <a:rPr lang="en-US" sz="1050" b="1" i="0" u="none" strike="noStrike">
                          <a:solidFill>
                            <a:srgbClr val="000000"/>
                          </a:solidFill>
                          <a:effectLst/>
                          <a:latin typeface="Times New Roman" panose="02020603050405020304" pitchFamily="18" charset="0"/>
                        </a:rPr>
                        <a:t>No</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Times New Roman" panose="02020603050405020304" pitchFamily="18" charset="0"/>
                        </a:rPr>
                        <a:t>Concession No.</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Times New Roman" panose="02020603050405020304" pitchFamily="18" charset="0"/>
                        </a:rPr>
                        <a:t>Type</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Times New Roman" panose="02020603050405020304" pitchFamily="18" charset="0"/>
                        </a:rPr>
                        <a:t>Reg</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Times New Roman" panose="02020603050405020304" pitchFamily="18" charset="0"/>
                        </a:rPr>
                        <a:t>Description</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Times New Roman" panose="02020603050405020304" pitchFamily="18" charset="0"/>
                        </a:rPr>
                        <a:t>Issued By</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Times New Roman" panose="02020603050405020304" pitchFamily="18" charset="0"/>
                        </a:rPr>
                        <a:t>Issued Date</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Times New Roman" panose="02020603050405020304" pitchFamily="18" charset="0"/>
                        </a:rPr>
                        <a:t>ADD/CHK/Task No</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Times New Roman" panose="02020603050405020304" pitchFamily="18" charset="0"/>
                        </a:rPr>
                        <a:t>Status</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41850759"/>
                  </a:ext>
                </a:extLst>
              </a:tr>
              <a:tr h="296594">
                <a:tc>
                  <a:txBody>
                    <a:bodyPr/>
                    <a:lstStyle/>
                    <a:p>
                      <a:pPr algn="ctr" fontAlgn="ctr"/>
                      <a:r>
                        <a:rPr lang="en-150" sz="1050" b="0" i="0" u="none" strike="noStrike">
                          <a:solidFill>
                            <a:srgbClr val="000000"/>
                          </a:solidFill>
                          <a:effectLst/>
                          <a:latin typeface="Times New Roman" panose="02020603050405020304" pitchFamily="18" charset="0"/>
                        </a:rPr>
                        <a:t>1</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VN-A879-HVN-14Apr2025</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ADD</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A879</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ADD B567 RAISED “STS MSG: ELEC GEN SYS L2” REFER TO MEL 24-22-01- 03A, Cat A</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CAAV</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050" b="0" i="0" u="none" strike="noStrike">
                          <a:solidFill>
                            <a:srgbClr val="000000"/>
                          </a:solidFill>
                          <a:effectLst/>
                          <a:latin typeface="Times New Roman" panose="02020603050405020304" pitchFamily="18" charset="0"/>
                        </a:rPr>
                        <a:t>14/04/2025</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ADD B567</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050" b="0" i="0" u="none" strike="noStrike">
                          <a:solidFill>
                            <a:srgbClr val="000000"/>
                          </a:solidFill>
                          <a:effectLst/>
                          <a:latin typeface="Times New Roman" panose="02020603050405020304" pitchFamily="18" charset="0"/>
                        </a:rPr>
                        <a:t> </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07216786"/>
                  </a:ext>
                </a:extLst>
              </a:tr>
              <a:tr h="296594">
                <a:tc>
                  <a:txBody>
                    <a:bodyPr/>
                    <a:lstStyle/>
                    <a:p>
                      <a:pPr algn="ctr" fontAlgn="ctr"/>
                      <a:r>
                        <a:rPr lang="en-150" sz="1050" b="0" i="0" u="none" strike="noStrike">
                          <a:solidFill>
                            <a:srgbClr val="000000"/>
                          </a:solidFill>
                          <a:effectLst/>
                          <a:latin typeface="Times New Roman" panose="02020603050405020304" pitchFamily="18" charset="0"/>
                        </a:rPr>
                        <a:t>2</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50" b="0" i="0" u="none" strike="noStrike">
                          <a:solidFill>
                            <a:srgbClr val="000000"/>
                          </a:solidFill>
                          <a:effectLst/>
                          <a:latin typeface="Times New Roman" panose="02020603050405020304" pitchFamily="18" charset="0"/>
                        </a:rPr>
                        <a:t>879-03/25</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ADD</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A879</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ADD B566 RAISED “FASTEN SEATBELT SIGNS INDICATOR AT SEAT 4A INOP"  REFER TO MEL 25-63-02 REV 09, CAT C, DEADLINE 17APR2025.</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SQD</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050" b="0" i="0" u="none" strike="noStrike">
                          <a:solidFill>
                            <a:srgbClr val="000000"/>
                          </a:solidFill>
                          <a:effectLst/>
                          <a:latin typeface="Times New Roman" panose="02020603050405020304" pitchFamily="18" charset="0"/>
                        </a:rPr>
                        <a:t>17/04/2025</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ADD B566</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050" b="0" i="0" u="none" strike="noStrike">
                          <a:solidFill>
                            <a:srgbClr val="000000"/>
                          </a:solidFill>
                          <a:effectLst/>
                          <a:latin typeface="Times New Roman" panose="02020603050405020304" pitchFamily="18" charset="0"/>
                        </a:rPr>
                        <a:t> </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50991940"/>
                  </a:ext>
                </a:extLst>
              </a:tr>
              <a:tr h="296594">
                <a:tc>
                  <a:txBody>
                    <a:bodyPr/>
                    <a:lstStyle/>
                    <a:p>
                      <a:pPr algn="ctr" fontAlgn="ctr"/>
                      <a:r>
                        <a:rPr lang="en-150" sz="1050" b="0" i="0" u="none" strike="noStrike">
                          <a:solidFill>
                            <a:srgbClr val="000000"/>
                          </a:solidFill>
                          <a:effectLst/>
                          <a:latin typeface="Times New Roman" panose="02020603050405020304" pitchFamily="18" charset="0"/>
                        </a:rPr>
                        <a:t>3</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50" b="0" i="0" u="none" strike="noStrike">
                          <a:solidFill>
                            <a:srgbClr val="000000"/>
                          </a:solidFill>
                          <a:effectLst/>
                          <a:latin typeface="Times New Roman" panose="02020603050405020304" pitchFamily="18" charset="0"/>
                        </a:rPr>
                        <a:t>862-05/25</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ADD</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A862</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ADD B1331 IS RAISED: STS MSG FUEL PUMP CENTER R, IAW MEL 28-22-02A R9, CAT C, EXP: 19/04/2025</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SQD</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050" b="0" i="0" u="none" strike="noStrike">
                          <a:solidFill>
                            <a:srgbClr val="000000"/>
                          </a:solidFill>
                          <a:effectLst/>
                          <a:latin typeface="Times New Roman" panose="02020603050405020304" pitchFamily="18" charset="0"/>
                        </a:rPr>
                        <a:t>19/04/2025</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ADD B1331</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050" b="0" i="0" u="none" strike="noStrike">
                          <a:solidFill>
                            <a:srgbClr val="000000"/>
                          </a:solidFill>
                          <a:effectLst/>
                          <a:latin typeface="Times New Roman" panose="02020603050405020304" pitchFamily="18" charset="0"/>
                        </a:rPr>
                        <a:t> </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25873332"/>
                  </a:ext>
                </a:extLst>
              </a:tr>
              <a:tr h="175260">
                <a:tc>
                  <a:txBody>
                    <a:bodyPr/>
                    <a:lstStyle/>
                    <a:p>
                      <a:pPr algn="ctr" fontAlgn="ctr"/>
                      <a:r>
                        <a:rPr lang="en-150" sz="1050" b="0" i="0" u="none" strike="noStrike">
                          <a:solidFill>
                            <a:srgbClr val="000000"/>
                          </a:solidFill>
                          <a:effectLst/>
                          <a:latin typeface="Times New Roman" panose="02020603050405020304" pitchFamily="18" charset="0"/>
                        </a:rPr>
                        <a:t>4</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50" b="0" i="0" u="none" strike="noStrike">
                          <a:solidFill>
                            <a:srgbClr val="000000"/>
                          </a:solidFill>
                          <a:effectLst/>
                          <a:latin typeface="Times New Roman" panose="02020603050405020304" pitchFamily="18" charset="0"/>
                        </a:rPr>
                        <a:t>867-04/25</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CHECK</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A867</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Group AMP tasks check A02</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SQD</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050" b="0" i="0" u="none" strike="noStrike">
                          <a:solidFill>
                            <a:srgbClr val="000000"/>
                          </a:solidFill>
                          <a:effectLst/>
                          <a:latin typeface="Times New Roman" panose="02020603050405020304" pitchFamily="18" charset="0"/>
                        </a:rPr>
                        <a:t>20/04/2025</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CHK A02 AMP</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050" b="0" i="0" u="none" strike="noStrike">
                          <a:solidFill>
                            <a:srgbClr val="000000"/>
                          </a:solidFill>
                          <a:effectLst/>
                          <a:latin typeface="Times New Roman" panose="02020603050405020304" pitchFamily="18" charset="0"/>
                        </a:rPr>
                        <a:t> </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58359210"/>
                  </a:ext>
                </a:extLst>
              </a:tr>
              <a:tr h="175260">
                <a:tc>
                  <a:txBody>
                    <a:bodyPr/>
                    <a:lstStyle/>
                    <a:p>
                      <a:pPr algn="ctr" fontAlgn="ctr"/>
                      <a:r>
                        <a:rPr lang="en-150" sz="1050" b="0" i="0" u="none" strike="noStrike">
                          <a:solidFill>
                            <a:srgbClr val="000000"/>
                          </a:solidFill>
                          <a:effectLst/>
                          <a:latin typeface="Times New Roman" panose="02020603050405020304" pitchFamily="18" charset="0"/>
                        </a:rPr>
                        <a:t>5</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50" b="0" i="0" u="none" strike="noStrike">
                          <a:solidFill>
                            <a:srgbClr val="000000"/>
                          </a:solidFill>
                          <a:effectLst/>
                          <a:latin typeface="Times New Roman" panose="02020603050405020304" pitchFamily="18" charset="0"/>
                        </a:rPr>
                        <a:t>867-05/25</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CHECK</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A867</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Group CMP tasks check A02</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SQD</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050" b="0" i="0" u="none" strike="noStrike">
                          <a:solidFill>
                            <a:srgbClr val="000000"/>
                          </a:solidFill>
                          <a:effectLst/>
                          <a:latin typeface="Times New Roman" panose="02020603050405020304" pitchFamily="18" charset="0"/>
                        </a:rPr>
                        <a:t>20/04/2025</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CHK A02 CMP</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050" b="0" i="0" u="none" strike="noStrike">
                          <a:solidFill>
                            <a:srgbClr val="000000"/>
                          </a:solidFill>
                          <a:effectLst/>
                          <a:latin typeface="Times New Roman" panose="02020603050405020304" pitchFamily="18" charset="0"/>
                        </a:rPr>
                        <a:t> </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7786427"/>
                  </a:ext>
                </a:extLst>
              </a:tr>
            </a:tbl>
          </a:graphicData>
        </a:graphic>
      </p:graphicFrame>
    </p:spTree>
    <p:extLst>
      <p:ext uri="{BB962C8B-B14F-4D97-AF65-F5344CB8AC3E}">
        <p14:creationId xmlns:p14="http://schemas.microsoft.com/office/powerpoint/2010/main" val="31779567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Title 4"/>
          <p:cNvSpPr>
            <a:spLocks noGrp="1"/>
          </p:cNvSpPr>
          <p:nvPr>
            <p:ph type="title"/>
          </p:nvPr>
        </p:nvSpPr>
        <p:spPr>
          <a:xfrm>
            <a:off x="1127264" y="262610"/>
            <a:ext cx="10370492" cy="560972"/>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Giờ bay trung bình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extLst/>
          </p:nvPr>
        </p:nvGraphicFramePr>
        <p:xfrm>
          <a:off x="1059507" y="3904055"/>
          <a:ext cx="4954432" cy="2793501"/>
        </p:xfrm>
        <a:graphic>
          <a:graphicData uri="http://schemas.openxmlformats.org/drawingml/2006/table">
            <a:tbl>
              <a:tblPr/>
              <a:tblGrid>
                <a:gridCol w="792709">
                  <a:extLst>
                    <a:ext uri="{9D8B030D-6E8A-4147-A177-3AD203B41FA5}">
                      <a16:colId xmlns:a16="http://schemas.microsoft.com/office/drawing/2014/main" val="4293334556"/>
                    </a:ext>
                  </a:extLst>
                </a:gridCol>
                <a:gridCol w="1118287">
                  <a:extLst>
                    <a:ext uri="{9D8B030D-6E8A-4147-A177-3AD203B41FA5}">
                      <a16:colId xmlns:a16="http://schemas.microsoft.com/office/drawing/2014/main" val="3593396119"/>
                    </a:ext>
                  </a:extLst>
                </a:gridCol>
                <a:gridCol w="948420">
                  <a:extLst>
                    <a:ext uri="{9D8B030D-6E8A-4147-A177-3AD203B41FA5}">
                      <a16:colId xmlns:a16="http://schemas.microsoft.com/office/drawing/2014/main" val="1444269426"/>
                    </a:ext>
                  </a:extLst>
                </a:gridCol>
                <a:gridCol w="990886">
                  <a:extLst>
                    <a:ext uri="{9D8B030D-6E8A-4147-A177-3AD203B41FA5}">
                      <a16:colId xmlns:a16="http://schemas.microsoft.com/office/drawing/2014/main" val="2696731085"/>
                    </a:ext>
                  </a:extLst>
                </a:gridCol>
                <a:gridCol w="1104130">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This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5929344"/>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2964238"/>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195:40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133.18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386:55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4455108"/>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221:25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771:35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787:10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281:15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480:15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205:55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9" name="Table 8"/>
          <p:cNvGraphicFramePr>
            <a:graphicFrameLocks noGrp="1"/>
          </p:cNvGraphicFramePr>
          <p:nvPr>
            <p:extLst/>
          </p:nvPr>
        </p:nvGraphicFramePr>
        <p:xfrm>
          <a:off x="6312510" y="3904053"/>
          <a:ext cx="5117489" cy="2793501"/>
        </p:xfrm>
        <a:graphic>
          <a:graphicData uri="http://schemas.openxmlformats.org/drawingml/2006/table">
            <a:tbl>
              <a:tblPr/>
              <a:tblGrid>
                <a:gridCol w="818798">
                  <a:extLst>
                    <a:ext uri="{9D8B030D-6E8A-4147-A177-3AD203B41FA5}">
                      <a16:colId xmlns:a16="http://schemas.microsoft.com/office/drawing/2014/main" val="4293334556"/>
                    </a:ext>
                  </a:extLst>
                </a:gridCol>
                <a:gridCol w="1155092">
                  <a:extLst>
                    <a:ext uri="{9D8B030D-6E8A-4147-A177-3AD203B41FA5}">
                      <a16:colId xmlns:a16="http://schemas.microsoft.com/office/drawing/2014/main" val="3593396119"/>
                    </a:ext>
                  </a:extLst>
                </a:gridCol>
                <a:gridCol w="979634">
                  <a:extLst>
                    <a:ext uri="{9D8B030D-6E8A-4147-A177-3AD203B41FA5}">
                      <a16:colId xmlns:a16="http://schemas.microsoft.com/office/drawing/2014/main" val="1444269426"/>
                    </a:ext>
                  </a:extLst>
                </a:gridCol>
                <a:gridCol w="1023497">
                  <a:extLst>
                    <a:ext uri="{9D8B030D-6E8A-4147-A177-3AD203B41FA5}">
                      <a16:colId xmlns:a16="http://schemas.microsoft.com/office/drawing/2014/main" val="2696731085"/>
                    </a:ext>
                  </a:extLst>
                </a:gridCol>
                <a:gridCol w="1140468">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Next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8078206"/>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2051267"/>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132.32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1662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458:05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884690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203:15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4:37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768:00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720:35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293:30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528:45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228:50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10" name="Chart 9"/>
          <p:cNvGraphicFramePr>
            <a:graphicFrameLocks/>
          </p:cNvGraphicFramePr>
          <p:nvPr>
            <p:extLst/>
          </p:nvPr>
        </p:nvGraphicFramePr>
        <p:xfrm>
          <a:off x="1059507" y="938089"/>
          <a:ext cx="10370491" cy="277653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5577895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1068301" y="441128"/>
            <a:ext cx="10515600" cy="558906"/>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Số chuyến bay theo ngày trong </a:t>
            </a:r>
            <a:r>
              <a:rPr lang="en-US" sz="2400">
                <a:ln w="0"/>
                <a:solidFill>
                  <a:schemeClr val="accent4"/>
                </a:solidFill>
                <a:latin typeface="Times New Roman" panose="02020603050405020304" pitchFamily="18" charset="0"/>
                <a:cs typeface="Times New Roman" panose="02020603050405020304" pitchFamily="18" charset="0"/>
              </a:rPr>
              <a:t>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nvPr>
        </p:nvGraphicFramePr>
        <p:xfrm>
          <a:off x="925417" y="3601492"/>
          <a:ext cx="5166913" cy="3074728"/>
        </p:xfrm>
        <a:graphic>
          <a:graphicData uri="http://schemas.openxmlformats.org/drawingml/2006/table">
            <a:tbl>
              <a:tblPr/>
              <a:tblGrid>
                <a:gridCol w="508916">
                  <a:extLst>
                    <a:ext uri="{9D8B030D-6E8A-4147-A177-3AD203B41FA5}">
                      <a16:colId xmlns:a16="http://schemas.microsoft.com/office/drawing/2014/main" val="4007203340"/>
                    </a:ext>
                  </a:extLst>
                </a:gridCol>
                <a:gridCol w="664419">
                  <a:extLst>
                    <a:ext uri="{9D8B030D-6E8A-4147-A177-3AD203B41FA5}">
                      <a16:colId xmlns:a16="http://schemas.microsoft.com/office/drawing/2014/main" val="426832351"/>
                    </a:ext>
                  </a:extLst>
                </a:gridCol>
                <a:gridCol w="558394">
                  <a:extLst>
                    <a:ext uri="{9D8B030D-6E8A-4147-A177-3AD203B41FA5}">
                      <a16:colId xmlns:a16="http://schemas.microsoft.com/office/drawing/2014/main" val="1721542108"/>
                    </a:ext>
                  </a:extLst>
                </a:gridCol>
                <a:gridCol w="558394">
                  <a:extLst>
                    <a:ext uri="{9D8B030D-6E8A-4147-A177-3AD203B41FA5}">
                      <a16:colId xmlns:a16="http://schemas.microsoft.com/office/drawing/2014/main" val="1471932876"/>
                    </a:ext>
                  </a:extLst>
                </a:gridCol>
                <a:gridCol w="558394">
                  <a:extLst>
                    <a:ext uri="{9D8B030D-6E8A-4147-A177-3AD203B41FA5}">
                      <a16:colId xmlns:a16="http://schemas.microsoft.com/office/drawing/2014/main" val="4014421323"/>
                    </a:ext>
                  </a:extLst>
                </a:gridCol>
                <a:gridCol w="558394">
                  <a:extLst>
                    <a:ext uri="{9D8B030D-6E8A-4147-A177-3AD203B41FA5}">
                      <a16:colId xmlns:a16="http://schemas.microsoft.com/office/drawing/2014/main" val="3056975398"/>
                    </a:ext>
                  </a:extLst>
                </a:gridCol>
                <a:gridCol w="558394">
                  <a:extLst>
                    <a:ext uri="{9D8B030D-6E8A-4147-A177-3AD203B41FA5}">
                      <a16:colId xmlns:a16="http://schemas.microsoft.com/office/drawing/2014/main" val="3963358169"/>
                    </a:ext>
                  </a:extLst>
                </a:gridCol>
                <a:gridCol w="643214">
                  <a:extLst>
                    <a:ext uri="{9D8B030D-6E8A-4147-A177-3AD203B41FA5}">
                      <a16:colId xmlns:a16="http://schemas.microsoft.com/office/drawing/2014/main" val="2287965264"/>
                    </a:ext>
                  </a:extLst>
                </a:gridCol>
                <a:gridCol w="558394">
                  <a:extLst>
                    <a:ext uri="{9D8B030D-6E8A-4147-A177-3AD203B41FA5}">
                      <a16:colId xmlns:a16="http://schemas.microsoft.com/office/drawing/2014/main" val="280549794"/>
                    </a:ext>
                  </a:extLst>
                </a:gridCol>
              </a:tblGrid>
              <a:tr h="316070">
                <a:tc gridSpan="9">
                  <a:txBody>
                    <a:bodyPr/>
                    <a:lstStyle/>
                    <a:p>
                      <a:pPr algn="ctr" fontAlgn="ctr"/>
                      <a:r>
                        <a:rPr lang="en-US" sz="1400" b="0" i="0" u="none" strike="noStrike">
                          <a:solidFill>
                            <a:srgbClr val="000000"/>
                          </a:solidFill>
                          <a:effectLst/>
                          <a:latin typeface="Times New Roman" panose="02020603050405020304" pitchFamily="18" charset="0"/>
                        </a:rPr>
                        <a:t>This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1903382"/>
                  </a:ext>
                </a:extLst>
              </a:tr>
              <a:tr h="316070">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14-Apr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15-Apr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16-Apr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17-Apr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18-Apr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19-Apr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160127"/>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A320</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1804899"/>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CEO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5196478"/>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5283256"/>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2940620"/>
                  </a:ext>
                </a:extLst>
              </a:tr>
              <a:tr h="316070">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001083"/>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332843"/>
                  </a:ext>
                </a:extLst>
              </a:tr>
            </a:tbl>
          </a:graphicData>
        </a:graphic>
      </p:graphicFrame>
      <p:graphicFrame>
        <p:nvGraphicFramePr>
          <p:cNvPr id="6" name="Table 5"/>
          <p:cNvGraphicFramePr>
            <a:graphicFrameLocks noGrp="1"/>
          </p:cNvGraphicFramePr>
          <p:nvPr>
            <p:extLst/>
          </p:nvPr>
        </p:nvGraphicFramePr>
        <p:xfrm>
          <a:off x="6323684" y="3601491"/>
          <a:ext cx="5122840" cy="3074728"/>
        </p:xfrm>
        <a:graphic>
          <a:graphicData uri="http://schemas.openxmlformats.org/drawingml/2006/table">
            <a:tbl>
              <a:tblPr/>
              <a:tblGrid>
                <a:gridCol w="594680">
                  <a:extLst>
                    <a:ext uri="{9D8B030D-6E8A-4147-A177-3AD203B41FA5}">
                      <a16:colId xmlns:a16="http://schemas.microsoft.com/office/drawing/2014/main" val="3551115474"/>
                    </a:ext>
                  </a:extLst>
                </a:gridCol>
                <a:gridCol w="566020">
                  <a:extLst>
                    <a:ext uri="{9D8B030D-6E8A-4147-A177-3AD203B41FA5}">
                      <a16:colId xmlns:a16="http://schemas.microsoft.com/office/drawing/2014/main" val="1314180557"/>
                    </a:ext>
                  </a:extLst>
                </a:gridCol>
                <a:gridCol w="566020">
                  <a:extLst>
                    <a:ext uri="{9D8B030D-6E8A-4147-A177-3AD203B41FA5}">
                      <a16:colId xmlns:a16="http://schemas.microsoft.com/office/drawing/2014/main" val="2680264810"/>
                    </a:ext>
                  </a:extLst>
                </a:gridCol>
                <a:gridCol w="566020">
                  <a:extLst>
                    <a:ext uri="{9D8B030D-6E8A-4147-A177-3AD203B41FA5}">
                      <a16:colId xmlns:a16="http://schemas.microsoft.com/office/drawing/2014/main" val="184617242"/>
                    </a:ext>
                  </a:extLst>
                </a:gridCol>
                <a:gridCol w="566020">
                  <a:extLst>
                    <a:ext uri="{9D8B030D-6E8A-4147-A177-3AD203B41FA5}">
                      <a16:colId xmlns:a16="http://schemas.microsoft.com/office/drawing/2014/main" val="3552461699"/>
                    </a:ext>
                  </a:extLst>
                </a:gridCol>
                <a:gridCol w="566020">
                  <a:extLst>
                    <a:ext uri="{9D8B030D-6E8A-4147-A177-3AD203B41FA5}">
                      <a16:colId xmlns:a16="http://schemas.microsoft.com/office/drawing/2014/main" val="3621213656"/>
                    </a:ext>
                  </a:extLst>
                </a:gridCol>
                <a:gridCol w="566020">
                  <a:extLst>
                    <a:ext uri="{9D8B030D-6E8A-4147-A177-3AD203B41FA5}">
                      <a16:colId xmlns:a16="http://schemas.microsoft.com/office/drawing/2014/main" val="4002416887"/>
                    </a:ext>
                  </a:extLst>
                </a:gridCol>
                <a:gridCol w="566020">
                  <a:extLst>
                    <a:ext uri="{9D8B030D-6E8A-4147-A177-3AD203B41FA5}">
                      <a16:colId xmlns:a16="http://schemas.microsoft.com/office/drawing/2014/main" val="2192548362"/>
                    </a:ext>
                  </a:extLst>
                </a:gridCol>
                <a:gridCol w="566020">
                  <a:extLst>
                    <a:ext uri="{9D8B030D-6E8A-4147-A177-3AD203B41FA5}">
                      <a16:colId xmlns:a16="http://schemas.microsoft.com/office/drawing/2014/main" val="604295541"/>
                    </a:ext>
                  </a:extLst>
                </a:gridCol>
              </a:tblGrid>
              <a:tr h="273744">
                <a:tc gridSpan="9">
                  <a:txBody>
                    <a:bodyPr/>
                    <a:lstStyle/>
                    <a:p>
                      <a:pPr algn="ctr" fontAlgn="ctr"/>
                      <a:r>
                        <a:rPr lang="en-US" sz="1400" b="0" i="0" u="none" strike="noStrike" smtClean="0">
                          <a:solidFill>
                            <a:srgbClr val="000000"/>
                          </a:solidFill>
                          <a:effectLst/>
                          <a:latin typeface="Times New Roman" panose="02020603050405020304" pitchFamily="18" charset="0"/>
                        </a:rPr>
                        <a:t>Next </a:t>
                      </a:r>
                      <a:r>
                        <a:rPr lang="en-US" sz="1400" b="0" i="0" u="none" strike="noStrike">
                          <a:solidFill>
                            <a:srgbClr val="000000"/>
                          </a:solidFill>
                          <a:effectLst/>
                          <a:latin typeface="Times New Roman" panose="02020603050405020304" pitchFamily="18" charset="0"/>
                        </a:rPr>
                        <a:t>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73633610"/>
                  </a:ext>
                </a:extLst>
              </a:tr>
              <a:tr h="338389">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21-Apr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22-Apr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23-Apr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24-Apr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4169036"/>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A320</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3065108"/>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CEO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5.63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6.79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7632801"/>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8142930"/>
                  </a:ext>
                </a:extLst>
              </a:tr>
              <a:tr h="339912">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9221019"/>
                  </a:ext>
                </a:extLst>
              </a:tr>
              <a:tr h="344439">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2154933"/>
                  </a:ext>
                </a:extLst>
              </a:tr>
              <a:tr h="273744">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5859539"/>
                  </a:ext>
                </a:extLst>
              </a:tr>
            </a:tbl>
          </a:graphicData>
        </a:graphic>
      </p:graphicFrame>
      <p:graphicFrame>
        <p:nvGraphicFramePr>
          <p:cNvPr id="8" name="Chart 7"/>
          <p:cNvGraphicFramePr>
            <a:graphicFrameLocks/>
          </p:cNvGraphicFramePr>
          <p:nvPr>
            <p:extLst/>
          </p:nvPr>
        </p:nvGraphicFramePr>
        <p:xfrm>
          <a:off x="925418" y="1143000"/>
          <a:ext cx="10521106" cy="226597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9340126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983673" y="508342"/>
            <a:ext cx="10549845" cy="552707"/>
          </a:xfrm>
        </p:spPr>
        <p:txBody>
          <a:bodyPr>
            <a:noAutofit/>
          </a:bodyPr>
          <a:lstStyle/>
          <a:p>
            <a:pPr algn="ctr"/>
            <a:r>
              <a:rPr lang="en-GB" sz="2400">
                <a:ln w="0"/>
                <a:solidFill>
                  <a:schemeClr val="accent4"/>
                </a:solidFill>
                <a:latin typeface="Times New Roman" panose="02020603050405020304" pitchFamily="18" charset="0"/>
                <a:cs typeface="Times New Roman" panose="02020603050405020304" pitchFamily="18" charset="0"/>
              </a:rPr>
              <a:t>S</a:t>
            </a:r>
            <a:r>
              <a:rPr lang="en-GB" sz="2400" smtClean="0">
                <a:ln w="0"/>
                <a:solidFill>
                  <a:schemeClr val="accent4"/>
                </a:solidFill>
                <a:latin typeface="Times New Roman" panose="02020603050405020304" pitchFamily="18" charset="0"/>
                <a:cs typeface="Times New Roman" panose="02020603050405020304" pitchFamily="18" charset="0"/>
              </a:rPr>
              <a:t>ố chuyến bay khai thác theo ngày</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6" name="Chart 5"/>
          <p:cNvGraphicFramePr>
            <a:graphicFrameLocks/>
          </p:cNvGraphicFramePr>
          <p:nvPr>
            <p:extLst/>
          </p:nvPr>
        </p:nvGraphicFramePr>
        <p:xfrm>
          <a:off x="685799" y="1371600"/>
          <a:ext cx="11141075" cy="49530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8191365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g31ccdae391d_0_271"/>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76" name="Google Shape;176;g31ccdae391d_0_27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55</a:t>
            </a:fld>
            <a:endParaRPr/>
          </a:p>
        </p:txBody>
      </p:sp>
      <p:graphicFrame>
        <p:nvGraphicFramePr>
          <p:cNvPr id="177" name="Google Shape;177;g31ccdae391d_0_271"/>
          <p:cNvGraphicFramePr/>
          <p:nvPr/>
        </p:nvGraphicFramePr>
        <p:xfrm>
          <a:off x="489114" y="611396"/>
          <a:ext cx="11570675" cy="4203202"/>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946125">
                  <a:extLst>
                    <a:ext uri="{9D8B030D-6E8A-4147-A177-3AD203B41FA5}">
                      <a16:colId xmlns:a16="http://schemas.microsoft.com/office/drawing/2014/main" val="20001"/>
                    </a:ext>
                  </a:extLst>
                </a:gridCol>
                <a:gridCol w="1285550">
                  <a:extLst>
                    <a:ext uri="{9D8B030D-6E8A-4147-A177-3AD203B41FA5}">
                      <a16:colId xmlns:a16="http://schemas.microsoft.com/office/drawing/2014/main" val="20002"/>
                    </a:ext>
                  </a:extLst>
                </a:gridCol>
                <a:gridCol w="5174925">
                  <a:extLst>
                    <a:ext uri="{9D8B030D-6E8A-4147-A177-3AD203B41FA5}">
                      <a16:colId xmlns:a16="http://schemas.microsoft.com/office/drawing/2014/main" val="20003"/>
                    </a:ext>
                  </a:extLst>
                </a:gridCol>
                <a:gridCol w="2422800">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r>
                        <a:rPr lang="en-US" sz="2000" b="1" u="none" strike="noStrike" cap="none">
                          <a:solidFill>
                            <a:srgbClr val="FF0000"/>
                          </a:solidFill>
                          <a:latin typeface="Times New Roman"/>
                          <a:ea typeface="Times New Roman"/>
                          <a:cs typeface="Times New Roman"/>
                          <a:sym typeface="Times New Roman"/>
                        </a:rPr>
                        <a:t>DANH MỤC VẬT TƯ CRITICAL</a:t>
                      </a:r>
                      <a:endParaRPr sz="2000" u="none" strike="noStrike" cap="none"/>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STT</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Tên thiết bị</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P/N</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Tình trạng vật tư</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Note</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4202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FDRV</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17300G11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1</a:t>
                      </a:r>
                      <a:r>
                        <a:rPr lang="en-US" sz="1600" u="none" strike="noStrike" cap="none">
                          <a:latin typeface="Times New Roman"/>
                          <a:ea typeface="Times New Roman"/>
                          <a:cs typeface="Times New Roman"/>
                          <a:sym typeface="Times New Roman"/>
                        </a:rPr>
                        <a:t>ea alt PN </a:t>
                      </a:r>
                      <a:r>
                        <a:rPr lang="en-US" sz="1600" u="none" strike="noStrike" cap="none">
                          <a:solidFill>
                            <a:schemeClr val="dk1"/>
                          </a:solidFill>
                          <a:latin typeface="Times New Roman"/>
                          <a:ea typeface="Times New Roman"/>
                          <a:cs typeface="Times New Roman"/>
                          <a:sym typeface="Times New Roman"/>
                        </a:rPr>
                        <a:t>17300G12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4177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SSTU</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321000M03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04400">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CNA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745-1101-507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2ea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16325">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4</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LH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665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5</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RH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stock 1ea</a:t>
                      </a:r>
                      <a:endParaRPr sz="160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373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6</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AIR INLET COWL</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745-3400-507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3ea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IPCV NEO</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5325192 (1020925-3)</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2ea </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Rob từ NEO bảo quản</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8</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EIU NEO</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777461-1-1</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a:latin typeface="Times New Roman"/>
                          <a:ea typeface="Times New Roman"/>
                          <a:cs typeface="Times New Roman"/>
                          <a:sym typeface="Times New Roman"/>
                        </a:rPr>
                        <a:t>stock 2ea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Rob từ NEO bảo quản</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34032814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1ccdae391d_0_278"/>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TÌNH TRẠNG APU LRU </a:t>
            </a:r>
            <a:r>
              <a:rPr lang="en-US" sz="2800">
                <a:solidFill>
                  <a:schemeClr val="accent4"/>
                </a:solidFill>
                <a:latin typeface="Times New Roman"/>
                <a:ea typeface="Times New Roman"/>
                <a:cs typeface="Times New Roman"/>
                <a:sym typeface="Times New Roman"/>
              </a:rPr>
              <a:t>A321 </a:t>
            </a:r>
            <a:endParaRPr sz="2800">
              <a:solidFill>
                <a:srgbClr val="FFC000"/>
              </a:solidFill>
              <a:latin typeface="Times New Roman"/>
              <a:ea typeface="Times New Roman"/>
              <a:cs typeface="Times New Roman"/>
              <a:sym typeface="Times New Roman"/>
            </a:endParaRPr>
          </a:p>
        </p:txBody>
      </p:sp>
      <p:sp>
        <p:nvSpPr>
          <p:cNvPr id="184" name="Google Shape;184;g31ccdae391d_0_27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56</a:t>
            </a:fld>
            <a:endParaRPr/>
          </a:p>
        </p:txBody>
      </p:sp>
      <p:graphicFrame>
        <p:nvGraphicFramePr>
          <p:cNvPr id="185" name="Google Shape;185;g31ccdae391d_0_278"/>
          <p:cNvGraphicFramePr/>
          <p:nvPr/>
        </p:nvGraphicFramePr>
        <p:xfrm>
          <a:off x="558675" y="462325"/>
          <a:ext cx="10287000" cy="6299034"/>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2130900">
                  <a:extLst>
                    <a:ext uri="{9D8B030D-6E8A-4147-A177-3AD203B41FA5}">
                      <a16:colId xmlns:a16="http://schemas.microsoft.com/office/drawing/2014/main" val="20001"/>
                    </a:ext>
                  </a:extLst>
                </a:gridCol>
                <a:gridCol w="2382725">
                  <a:extLst>
                    <a:ext uri="{9D8B030D-6E8A-4147-A177-3AD203B41FA5}">
                      <a16:colId xmlns:a16="http://schemas.microsoft.com/office/drawing/2014/main" val="20002"/>
                    </a:ext>
                  </a:extLst>
                </a:gridCol>
                <a:gridCol w="1051825">
                  <a:extLst>
                    <a:ext uri="{9D8B030D-6E8A-4147-A177-3AD203B41FA5}">
                      <a16:colId xmlns:a16="http://schemas.microsoft.com/office/drawing/2014/main" val="20003"/>
                    </a:ext>
                  </a:extLst>
                </a:gridCol>
                <a:gridCol w="4338700">
                  <a:extLst>
                    <a:ext uri="{9D8B030D-6E8A-4147-A177-3AD203B41FA5}">
                      <a16:colId xmlns:a16="http://schemas.microsoft.com/office/drawing/2014/main" val="20004"/>
                    </a:ext>
                  </a:extLst>
                </a:gridCol>
              </a:tblGrid>
              <a:tr h="381000">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it</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Part number</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Description</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MBK level</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status</a:t>
                      </a:r>
                      <a:endParaRPr sz="1800"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106-1-1100-02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ACTUATOR-APU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r>
                        <a:rPr lang="en-US" sz="1300">
                          <a:solidFill>
                            <a:schemeClr val="dk1"/>
                          </a:solidFill>
                          <a:latin typeface="Times New Roman"/>
                          <a:ea typeface="Times New Roman"/>
                          <a:cs typeface="Times New Roman"/>
                          <a:sym typeface="Times New Roman"/>
                        </a:rPr>
                        <a:t> đang đặt mua nhưng Airbus không có stock, đã upgrade AOG nhưng Airbus dự kiến tháng 7/2025</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160494-1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OIL COOLER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2704506-2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MOTOR STARTER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3291238-2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VALVE-SURGE CONTROL</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3291432-1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LOAD CONTROL VALVE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a:t>
                      </a:r>
                      <a:r>
                        <a:rPr lang="en-US" sz="1300" u="none" strike="noStrike" cap="none">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6</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3616140-10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FAN ASSY-OIL COOLING</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6"/>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7</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3876287-1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DATA MEMORY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7"/>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8</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3886188-3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IGV ACTUATOR APU131-9A</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8"/>
                  </a:ext>
                </a:extLst>
              </a:tr>
              <a:tr h="3416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9</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3888058-5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EXCITER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9"/>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3888394-221205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ECB</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a:t>
                      </a:r>
                      <a:r>
                        <a:rPr lang="en-US" sz="1300" u="none" strike="noStrike" cap="none">
                          <a:solidFill>
                            <a:schemeClr val="dk1"/>
                          </a:solidFill>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4131020-4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LUBE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 2RO có TAT tại Honeywell dài</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441921-5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CONTROL FUEL UNIT</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a:t>
                      </a:r>
                      <a:r>
                        <a:rPr lang="en-US" sz="1300" u="none" strike="noStrike" cap="none">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BA03604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GENERATOR-APU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3"/>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3860864-1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CLUTCH ASSY</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 </a:t>
                      </a:r>
                      <a:r>
                        <a:rPr lang="en-US" sz="1300">
                          <a:solidFill>
                            <a:schemeClr val="dk1"/>
                          </a:solidFill>
                          <a:latin typeface="Times New Roman"/>
                          <a:ea typeface="Times New Roman"/>
                          <a:cs typeface="Times New Roman"/>
                          <a:sym typeface="Times New Roman"/>
                        </a:rPr>
                        <a:t>đang đặt mua nhưng honeywell không có stock</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135110800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g31ccdae391d_0_285"/>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CÁC VẬT TƯ VƯỚNG MẮC KHÁC</a:t>
            </a:r>
            <a:endParaRPr sz="2800">
              <a:solidFill>
                <a:srgbClr val="FFC000"/>
              </a:solidFill>
              <a:latin typeface="Times New Roman"/>
              <a:ea typeface="Times New Roman"/>
              <a:cs typeface="Times New Roman"/>
              <a:sym typeface="Times New Roman"/>
            </a:endParaRPr>
          </a:p>
        </p:txBody>
      </p:sp>
      <p:sp>
        <p:nvSpPr>
          <p:cNvPr id="192" name="Google Shape;192;g31ccdae391d_0_28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57</a:t>
            </a:fld>
            <a:endParaRPr/>
          </a:p>
        </p:txBody>
      </p:sp>
      <p:graphicFrame>
        <p:nvGraphicFramePr>
          <p:cNvPr id="193" name="Google Shape;193;g31ccdae391d_0_285"/>
          <p:cNvGraphicFramePr/>
          <p:nvPr/>
        </p:nvGraphicFramePr>
        <p:xfrm>
          <a:off x="438751" y="690871"/>
          <a:ext cx="11570675" cy="3855160"/>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442775">
                  <a:extLst>
                    <a:ext uri="{9D8B030D-6E8A-4147-A177-3AD203B41FA5}">
                      <a16:colId xmlns:a16="http://schemas.microsoft.com/office/drawing/2014/main" val="20001"/>
                    </a:ext>
                  </a:extLst>
                </a:gridCol>
                <a:gridCol w="1263625">
                  <a:extLst>
                    <a:ext uri="{9D8B030D-6E8A-4147-A177-3AD203B41FA5}">
                      <a16:colId xmlns:a16="http://schemas.microsoft.com/office/drawing/2014/main" val="20002"/>
                    </a:ext>
                  </a:extLst>
                </a:gridCol>
                <a:gridCol w="4061500">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STT</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Tên thiết bị</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P/N</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Hỏng hóc</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u="none" strike="noStrike" cap="none">
                          <a:latin typeface="Times New Roman"/>
                          <a:ea typeface="Times New Roman"/>
                          <a:cs typeface="Times New Roman"/>
                          <a:sym typeface="Times New Roman"/>
                        </a:rPr>
                        <a:t>Tình trạng</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020850">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Rotating mech MLG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4133801011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nhiều tuy nhiên ST cấp hàng chậm với lý do các thiết bị gửi đi sửa chữa có TAT dài, PO mua mới tới OEM Safran có leadtime dài. Hiện đã phải dừng chương trình kiểm tra theo khuyến cáo của OEM để có đủ vật tư cho các tàu tháo bảo quản.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Stock </a:t>
                      </a:r>
                      <a:r>
                        <a:rPr lang="en-US" sz="1150">
                          <a:latin typeface="Times New Roman"/>
                          <a:ea typeface="Times New Roman"/>
                          <a:cs typeface="Times New Roman"/>
                          <a:sym typeface="Times New Roman"/>
                        </a:rPr>
                        <a:t>NIL</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a:latin typeface="Times New Roman"/>
                          <a:ea typeface="Times New Roman"/>
                          <a:cs typeface="Times New Roman"/>
                          <a:sym typeface="Times New Roman"/>
                        </a:rPr>
                        <a:t>Hiện đang giục sửa chữa và PO mua 3ea từ OEM Safran, Safran thông báo vật tư này bị global shortage nên đang thúc đẩy và release hàng cho VNA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850725">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2</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Các thiết bị IFE của Panasonic:</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LCD</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VSEB</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RD-AV9844-01</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RD-KA3303-05</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phát sinh nhiều trong khai thác trong khi Panasonic sửa chữa có TAT dài, chủ yếu với lý do thiếu PTVT sửa chữa, thay thế. Các PTVT này hiện đều là đời cũ, VSEB đã dừng sản xuất. </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Phối hợp với Panasonic để đổi PTVT, rút ngắn TAT</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Đề nghị Ban KT xem xét phương án tìm PN thay thế</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680575">
                <a:tc>
                  <a:txBody>
                    <a:bodyPr/>
                    <a:lstStyle/>
                    <a:p>
                      <a:pPr marL="0" marR="0" lvl="0" indent="0" algn="ctr"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Jetpipe</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745-1107-503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Thiết bị nằm trên CNA, hỏng hóc nặng crack, không sửa được tại Vaeco. Gửi đi sửa chữa có TAT dài. Có 3 cấp độ hỏng: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Disbond: TAT nhanh (&lt;30 ngày), chi phí sửa thấp (8k - 10k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1 vị trí: TAT khoảng 40-50 ngày, chi phí sửa khoảng 20k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2 vị trí trở lên: TAT dài 60-80 ngày, chi phí sửa &gt;40kUSD </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50"/>
                        <a:buFont typeface="Times New Roman"/>
                        <a:buNone/>
                      </a:pPr>
                      <a:r>
                        <a:rPr lang="en-US" sz="1150" u="none" strike="noStrike" cap="none">
                          <a:latin typeface="Times New Roman"/>
                          <a:ea typeface="Times New Roman"/>
                          <a:cs typeface="Times New Roman"/>
                          <a:sym typeface="Times New Roman"/>
                        </a:rPr>
                        <a:t>Tình trạng kho: stock </a:t>
                      </a:r>
                      <a:r>
                        <a:rPr lang="en-US" sz="1150">
                          <a:latin typeface="Times New Roman"/>
                          <a:ea typeface="Times New Roman"/>
                          <a:cs typeface="Times New Roman"/>
                          <a:sym typeface="Times New Roman"/>
                        </a:rPr>
                        <a:t>1ea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 </a:t>
                      </a:r>
                      <a:r>
                        <a:rPr lang="en-US" sz="1150" u="none" strike="noStrike" cap="none">
                          <a:latin typeface="Times New Roman"/>
                          <a:ea typeface="Times New Roman"/>
                          <a:cs typeface="Times New Roman"/>
                          <a:sym typeface="Times New Roman"/>
                        </a:rPr>
                        <a:t>Đề nghị VAECO có đánh giá hỏng hóc (SDR) sớm và gửi Ban QLVT để hỏi repair cap và chọn cơ sở sửa chữa phù hợp.</a:t>
                      </a:r>
                      <a:endParaRPr sz="115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a:t>
                      </a:r>
                      <a:r>
                        <a:rPr lang="en-US" sz="1150" b="0" i="0" u="none" strike="noStrike" cap="none">
                          <a:solidFill>
                            <a:srgbClr val="000000"/>
                          </a:solidFill>
                          <a:latin typeface="Times New Roman"/>
                          <a:ea typeface="Times New Roman"/>
                          <a:cs typeface="Times New Roman"/>
                          <a:sym typeface="Times New Roman"/>
                        </a:rPr>
                        <a:t>Ban QLVT tiếp tục làm việc với</a:t>
                      </a:r>
                      <a:r>
                        <a:rPr lang="en-US" sz="1150" u="none" strike="noStrike" cap="none">
                          <a:latin typeface="Times New Roman"/>
                          <a:ea typeface="Times New Roman"/>
                          <a:cs typeface="Times New Roman"/>
                          <a:sym typeface="Times New Roman"/>
                        </a:rPr>
                        <a:t> cơ sở sửa chữa để rút ngắn TAT</a:t>
                      </a:r>
                      <a:r>
                        <a:rPr lang="en-US" sz="1150" b="0" i="0" u="none" strike="noStrike" cap="none">
                          <a:solidFill>
                            <a:srgbClr val="000000"/>
                          </a:solidFill>
                          <a:latin typeface="Times New Roman"/>
                          <a:ea typeface="Times New Roman"/>
                          <a:cs typeface="Times New Roman"/>
                          <a:sym typeface="Times New Roman"/>
                        </a:rPr>
                        <a:t/>
                      </a:r>
                      <a:br>
                        <a:rPr lang="en-US" sz="1150" b="0" i="0" u="none" strike="noStrike" cap="none">
                          <a:solidFill>
                            <a:srgbClr val="000000"/>
                          </a:solidFill>
                          <a:latin typeface="Times New Roman"/>
                          <a:ea typeface="Times New Roman"/>
                          <a:cs typeface="Times New Roman"/>
                          <a:sym typeface="Times New Roman"/>
                        </a:rPr>
                      </a:br>
                      <a:r>
                        <a:rPr lang="en-US" sz="1150" b="0" i="0" u="none" strike="noStrike" cap="none">
                          <a:solidFill>
                            <a:srgbClr val="000000"/>
                          </a:solidFill>
                          <a:latin typeface="Times New Roman"/>
                          <a:ea typeface="Times New Roman"/>
                          <a:cs typeface="Times New Roman"/>
                          <a:sym typeface="Times New Roman"/>
                        </a:rPr>
                        <a:t>- Đề nghị Ban KT/Vaeco có giải pháp hạn chế hỏng hóc</a:t>
                      </a:r>
                      <a:r>
                        <a:rPr lang="en-US" sz="1150" u="none" strike="noStrike" cap="none">
                          <a:latin typeface="Times New Roman"/>
                          <a:ea typeface="Times New Roman"/>
                          <a:cs typeface="Times New Roman"/>
                          <a:sym typeface="Times New Roman"/>
                        </a:rPr>
                        <a:t> bằng các phương án kiểm tra chủ động, thay thế khi bị disbond sẽ tiết kiệm chi phí sửa và TAT ngắn.</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Với các hỏng hóc phát sinh, đề nghị xem xét phương án mở defect để Ban QLVT chủ động phương án cung ứng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0316643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g31ccdae391d_0_29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00" name="Google Shape;200;g31ccdae391d_0_29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58</a:t>
            </a:fld>
            <a:endParaRPr/>
          </a:p>
        </p:txBody>
      </p:sp>
      <p:sp>
        <p:nvSpPr>
          <p:cNvPr id="201" name="Google Shape;201;g31ccdae391d_0_299"/>
          <p:cNvSpPr/>
          <p:nvPr/>
        </p:nvSpPr>
        <p:spPr>
          <a:xfrm>
            <a:off x="533407" y="742682"/>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20</a:t>
            </a:r>
            <a:r>
              <a:rPr lang="en-US" sz="2000" b="1" i="0" u="none" strike="noStrike" cap="none">
                <a:solidFill>
                  <a:srgbClr val="FF0000"/>
                </a:solidFill>
                <a:latin typeface="Times New Roman"/>
                <a:ea typeface="Times New Roman"/>
                <a:cs typeface="Times New Roman"/>
                <a:sym typeface="Times New Roman"/>
              </a:rPr>
              <a:t> đơn hàng quá hạn trong tổng số </a:t>
            </a:r>
            <a:r>
              <a:rPr lang="en-US" sz="2000" b="1">
                <a:solidFill>
                  <a:srgbClr val="FF0000"/>
                </a:solidFill>
                <a:latin typeface="Times New Roman"/>
                <a:ea typeface="Times New Roman"/>
                <a:cs typeface="Times New Roman"/>
                <a:sym typeface="Times New Roman"/>
              </a:rPr>
              <a:t>28</a:t>
            </a:r>
            <a:r>
              <a:rPr lang="en-US" sz="2000" b="1" i="0" u="none" strike="noStrike" cap="none">
                <a:solidFill>
                  <a:srgbClr val="FF0000"/>
                </a:solidFill>
                <a:latin typeface="Times New Roman"/>
                <a:ea typeface="Times New Roman"/>
                <a:cs typeface="Times New Roman"/>
                <a:sym typeface="Times New Roman"/>
              </a:rPr>
              <a:t> 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MBK: </a:t>
            </a:r>
            <a:r>
              <a:rPr lang="en-US" sz="1500" b="0" i="0" u="none" strike="noStrike" cap="none">
                <a:solidFill>
                  <a:schemeClr val="dk1"/>
                </a:solidFill>
                <a:latin typeface="Times New Roman"/>
                <a:ea typeface="Times New Roman"/>
                <a:cs typeface="Times New Roman"/>
                <a:sym typeface="Times New Roman"/>
              </a:rPr>
              <a:t> overdue </a:t>
            </a:r>
            <a:r>
              <a:rPr lang="en-US" sz="1500">
                <a:solidFill>
                  <a:schemeClr val="dk1"/>
                </a:solidFill>
                <a:latin typeface="Times New Roman"/>
                <a:ea typeface="Times New Roman"/>
                <a:cs typeface="Times New Roman"/>
                <a:sym typeface="Times New Roman"/>
              </a:rPr>
              <a:t>08 </a:t>
            </a:r>
            <a:r>
              <a:rPr lang="en-US" sz="1500" b="0" i="0" u="none" strike="noStrike" cap="none">
                <a:solidFill>
                  <a:schemeClr val="dk1"/>
                </a:solidFill>
                <a:latin typeface="Times New Roman"/>
                <a:ea typeface="Times New Roman"/>
                <a:cs typeface="Times New Roman"/>
                <a:sym typeface="Times New Roman"/>
              </a:rPr>
              <a:t>LO / total </a:t>
            </a:r>
            <a:r>
              <a:rPr lang="en-US" sz="1500">
                <a:solidFill>
                  <a:schemeClr val="dk1"/>
                </a:solidFill>
                <a:latin typeface="Times New Roman"/>
                <a:ea typeface="Times New Roman"/>
                <a:cs typeface="Times New Roman"/>
                <a:sym typeface="Times New Roman"/>
              </a:rPr>
              <a:t>10</a:t>
            </a:r>
            <a:r>
              <a:rPr lang="en-US" sz="1500" b="0" i="0" u="none" strike="noStrike" cap="none">
                <a:solidFill>
                  <a:schemeClr val="dk1"/>
                </a:solidFill>
                <a:latin typeface="Times New Roman"/>
                <a:ea typeface="Times New Roman"/>
                <a:cs typeface="Times New Roman"/>
                <a:sym typeface="Times New Roman"/>
              </a:rPr>
              <a:t> LO</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khác (Defect, Hardtime): </a:t>
            </a:r>
            <a:r>
              <a:rPr lang="en-US" sz="1500" b="0" i="0" u="none" strike="noStrike" cap="none">
                <a:solidFill>
                  <a:schemeClr val="dk1"/>
                </a:solidFill>
                <a:latin typeface="Times New Roman"/>
                <a:ea typeface="Times New Roman"/>
                <a:cs typeface="Times New Roman"/>
                <a:sym typeface="Times New Roman"/>
              </a:rPr>
              <a:t>overdue </a:t>
            </a:r>
            <a:r>
              <a:rPr lang="en-US" sz="1500">
                <a:solidFill>
                  <a:schemeClr val="dk1"/>
                </a:solidFill>
                <a:latin typeface="Times New Roman"/>
                <a:ea typeface="Times New Roman"/>
                <a:cs typeface="Times New Roman"/>
                <a:sym typeface="Times New Roman"/>
              </a:rPr>
              <a:t>12</a:t>
            </a:r>
            <a:r>
              <a:rPr lang="en-US" sz="1500" b="0" i="0" u="none" strike="noStrike" cap="none">
                <a:solidFill>
                  <a:schemeClr val="dk1"/>
                </a:solidFill>
                <a:latin typeface="Times New Roman"/>
                <a:ea typeface="Times New Roman"/>
                <a:cs typeface="Times New Roman"/>
                <a:sym typeface="Times New Roman"/>
              </a:rPr>
              <a:t> EO / total </a:t>
            </a:r>
            <a:r>
              <a:rPr lang="en-US" sz="1500">
                <a:solidFill>
                  <a:schemeClr val="dk1"/>
                </a:solidFill>
                <a:latin typeface="Times New Roman"/>
                <a:ea typeface="Times New Roman"/>
                <a:cs typeface="Times New Roman"/>
                <a:sym typeface="Times New Roman"/>
              </a:rPr>
              <a:t>18</a:t>
            </a:r>
            <a:r>
              <a:rPr lang="en-US" sz="1500" b="0" i="0" u="none" strike="noStrike" cap="none">
                <a:solidFill>
                  <a:schemeClr val="dk1"/>
                </a:solidFill>
                <a:latin typeface="Times New Roman"/>
                <a:ea typeface="Times New Roman"/>
                <a:cs typeface="Times New Roman"/>
                <a:sym typeface="Times New Roman"/>
              </a:rPr>
              <a:t> EO </a:t>
            </a:r>
            <a:endParaRPr sz="1500" b="0" i="0" u="none" strike="noStrike" cap="none">
              <a:solidFill>
                <a:srgbClr val="1F497D"/>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Clr>
                <a:srgbClr val="000000"/>
              </a:buClr>
              <a:buSzPts val="1500"/>
              <a:buFont typeface="Arial"/>
              <a:buNone/>
            </a:pPr>
            <a:endParaRPr sz="1500" b="1" i="0" u="none" strike="noStrike" cap="none">
              <a:solidFill>
                <a:srgbClr val="FF0000"/>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202" name="Google Shape;202;g31ccdae391d_0_299"/>
          <p:cNvSpPr txBox="1"/>
          <p:nvPr/>
        </p:nvSpPr>
        <p:spPr>
          <a:xfrm>
            <a:off x="3529775" y="5809425"/>
            <a:ext cx="14100" cy="88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203" name="Google Shape;203;g31ccdae391d_0_299"/>
          <p:cNvPicPr preferRelativeResize="0"/>
          <p:nvPr/>
        </p:nvPicPr>
        <p:blipFill>
          <a:blip r:embed="rId3">
            <a:alphaModFix/>
          </a:blip>
          <a:stretch>
            <a:fillRect/>
          </a:stretch>
        </p:blipFill>
        <p:spPr>
          <a:xfrm>
            <a:off x="2181225" y="1926373"/>
            <a:ext cx="6915850" cy="4202975"/>
          </a:xfrm>
          <a:prstGeom prst="rect">
            <a:avLst/>
          </a:prstGeom>
          <a:noFill/>
          <a:ln>
            <a:noFill/>
          </a:ln>
        </p:spPr>
      </p:pic>
    </p:spTree>
    <p:extLst>
      <p:ext uri="{BB962C8B-B14F-4D97-AF65-F5344CB8AC3E}">
        <p14:creationId xmlns:p14="http://schemas.microsoft.com/office/powerpoint/2010/main" val="352230886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g31ccdae391d_0_308"/>
          <p:cNvSpPr txBox="1">
            <a:spLocks noGrp="1"/>
          </p:cNvSpPr>
          <p:nvPr>
            <p:ph type="title"/>
          </p:nvPr>
        </p:nvSpPr>
        <p:spPr>
          <a:xfrm>
            <a:off x="941350" y="16547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10" name="Google Shape;210;g31ccdae391d_0_30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59</a:t>
            </a:fld>
            <a:endParaRPr/>
          </a:p>
        </p:txBody>
      </p:sp>
      <p:graphicFrame>
        <p:nvGraphicFramePr>
          <p:cNvPr id="211" name="Google Shape;211;g31ccdae391d_0_308"/>
          <p:cNvGraphicFramePr/>
          <p:nvPr>
            <p:extLst/>
          </p:nvPr>
        </p:nvGraphicFramePr>
        <p:xfrm>
          <a:off x="607288" y="787650"/>
          <a:ext cx="11227800" cy="4360600"/>
        </p:xfrm>
        <a:graphic>
          <a:graphicData uri="http://schemas.openxmlformats.org/drawingml/2006/table">
            <a:tbl>
              <a:tblPr>
                <a:noFill/>
              </a:tblPr>
              <a:tblGrid>
                <a:gridCol w="756400">
                  <a:extLst>
                    <a:ext uri="{9D8B030D-6E8A-4147-A177-3AD203B41FA5}">
                      <a16:colId xmlns:a16="http://schemas.microsoft.com/office/drawing/2014/main" val="20000"/>
                    </a:ext>
                  </a:extLst>
                </a:gridCol>
                <a:gridCol w="1531850">
                  <a:extLst>
                    <a:ext uri="{9D8B030D-6E8A-4147-A177-3AD203B41FA5}">
                      <a16:colId xmlns:a16="http://schemas.microsoft.com/office/drawing/2014/main" val="20001"/>
                    </a:ext>
                  </a:extLst>
                </a:gridCol>
                <a:gridCol w="1753750">
                  <a:extLst>
                    <a:ext uri="{9D8B030D-6E8A-4147-A177-3AD203B41FA5}">
                      <a16:colId xmlns:a16="http://schemas.microsoft.com/office/drawing/2014/main" val="20002"/>
                    </a:ext>
                  </a:extLst>
                </a:gridCol>
                <a:gridCol w="3592900">
                  <a:extLst>
                    <a:ext uri="{9D8B030D-6E8A-4147-A177-3AD203B41FA5}">
                      <a16:colId xmlns:a16="http://schemas.microsoft.com/office/drawing/2014/main" val="20003"/>
                    </a:ext>
                  </a:extLst>
                </a:gridCol>
                <a:gridCol w="3592900">
                  <a:extLst>
                    <a:ext uri="{9D8B030D-6E8A-4147-A177-3AD203B41FA5}">
                      <a16:colId xmlns:a16="http://schemas.microsoft.com/office/drawing/2014/main" val="20004"/>
                    </a:ext>
                  </a:extLst>
                </a:gridCol>
              </a:tblGrid>
              <a:tr h="273700">
                <a:tc gridSpan="5">
                  <a:txBody>
                    <a:bodyPr/>
                    <a:lstStyle/>
                    <a:p>
                      <a:pPr marL="0" marR="0" lvl="0" indent="0" algn="ctr" rtl="0">
                        <a:lnSpc>
                          <a:spcPct val="100000"/>
                        </a:lnSpc>
                        <a:spcBef>
                          <a:spcPts val="0"/>
                        </a:spcBef>
                        <a:spcAft>
                          <a:spcPts val="0"/>
                        </a:spcAft>
                        <a:buClr>
                          <a:srgbClr val="000000"/>
                        </a:buClr>
                        <a:buSzPts val="1600"/>
                        <a:buFont typeface="Arial"/>
                        <a:buNone/>
                      </a:pPr>
                      <a:r>
                        <a:rPr lang="en-US" sz="1600" b="1" u="none" strike="noStrike" cap="none" dirty="0">
                          <a:solidFill>
                            <a:srgbClr val="FF0000"/>
                          </a:solidFill>
                          <a:latin typeface="Times New Roman"/>
                          <a:ea typeface="Times New Roman"/>
                          <a:cs typeface="Times New Roman"/>
                          <a:sym typeface="Times New Roman"/>
                        </a:rPr>
                        <a:t> </a:t>
                      </a:r>
                      <a:endParaRPr sz="1600" b="1" i="0" u="none" strike="noStrike" cap="none" dirty="0">
                        <a:solidFill>
                          <a:srgbClr val="FF0000"/>
                        </a:solidFill>
                        <a:latin typeface="Times New Roman"/>
                        <a:ea typeface="Times New Roman"/>
                        <a:cs typeface="Times New Roman"/>
                        <a:sym typeface="Times New Roman"/>
                      </a:endParaRPr>
                    </a:p>
                  </a:txBody>
                  <a:tcPr marL="7800" marR="7800" marT="78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052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Lưu ý</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FMU</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 7000546H14</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gây APU INOP.</a:t>
                      </a:r>
                      <a:endParaRPr sz="130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Không có hỏng hóc.</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02ea in stock.</a:t>
                      </a:r>
                      <a:endParaRPr sz="1300" u="none" strike="noStrike" cap="none">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600-2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err="1">
                          <a:latin typeface="Times New Roman"/>
                          <a:ea typeface="Times New Roman"/>
                          <a:cs typeface="Times New Roman"/>
                          <a:sym typeface="Times New Roman"/>
                        </a:rPr>
                        <a:t>Hiện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cả</a:t>
                      </a:r>
                      <a:r>
                        <a:rPr lang="en-US" sz="1300" u="none" strike="noStrike" cap="none" dirty="0">
                          <a:latin typeface="Times New Roman"/>
                          <a:ea typeface="Times New Roman"/>
                          <a:cs typeface="Times New Roman"/>
                          <a:sym typeface="Times New Roman"/>
                        </a:rPr>
                        <a:t> fleet B787 </a:t>
                      </a:r>
                      <a:r>
                        <a:rPr lang="en-US" sz="1300" u="none" strike="noStrike" cap="none" dirty="0" err="1">
                          <a:latin typeface="Times New Roman"/>
                          <a:ea typeface="Times New Roman"/>
                          <a:cs typeface="Times New Roman"/>
                          <a:sym typeface="Times New Roman"/>
                        </a:rPr>
                        <a:t>có</a:t>
                      </a:r>
                      <a:r>
                        <a:rPr lang="en-US" sz="1300" u="none" strike="noStrike" cap="none" dirty="0">
                          <a:latin typeface="Times New Roman"/>
                          <a:ea typeface="Times New Roman"/>
                          <a:cs typeface="Times New Roman"/>
                          <a:sym typeface="Times New Roman"/>
                        </a:rPr>
                        <a:t> </a:t>
                      </a:r>
                      <a:r>
                        <a:rPr lang="en-US" sz="1300" u="none" strike="noStrike" cap="none" dirty="0" smtClean="0">
                          <a:latin typeface="Times New Roman"/>
                          <a:ea typeface="Times New Roman"/>
                          <a:cs typeface="Times New Roman"/>
                          <a:sym typeface="Times New Roman"/>
                        </a:rPr>
                        <a:t>0</a:t>
                      </a:r>
                      <a:r>
                        <a:rPr lang="en-US" sz="1300" u="none" strike="noStrike" cap="none" dirty="0">
                          <a:latin typeface="Times New Roman"/>
                          <a:ea typeface="Times New Roman"/>
                          <a:cs typeface="Times New Roman"/>
                          <a:sym typeface="Times New Roman"/>
                        </a:rPr>
                        <a:t>7</a:t>
                      </a:r>
                      <a:r>
                        <a:rPr lang="en-US" sz="1300" u="none" strike="noStrike" cap="none" dirty="0" smtClean="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endParaRPr sz="1300" u="none" strike="noStrike" cap="none" dirty="0">
                        <a:latin typeface="Times New Roman"/>
                        <a:ea typeface="Times New Roman"/>
                        <a:cs typeface="Times New Roman"/>
                        <a:sym typeface="Times New Roman"/>
                      </a:endParaRPr>
                    </a:p>
                  </a:txBody>
                  <a:tcPr marL="7800" marR="7800" marT="7800" marB="0" anchor="ctr">
                    <a:lnR w="9525" cap="flat" cmpd="sng">
                      <a:solidFill>
                        <a:schemeClr val="dk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NIL stock</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0</a:t>
                      </a:r>
                      <a:r>
                        <a:rPr lang="en-US" sz="1300">
                          <a:latin typeface="Times New Roman"/>
                          <a:ea typeface="Times New Roman"/>
                          <a:cs typeface="Times New Roman"/>
                          <a:sym typeface="Times New Roman"/>
                        </a:rPr>
                        <a:t>5</a:t>
                      </a:r>
                      <a:r>
                        <a:rPr lang="en-US" sz="1300" u="none" strike="noStrike" cap="none">
                          <a:latin typeface="Times New Roman"/>
                          <a:ea typeface="Times New Roman"/>
                          <a:cs typeface="Times New Roman"/>
                          <a:sym typeface="Times New Roman"/>
                        </a:rPr>
                        <a:t>RO:</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+ 01ea EDD 05/2025.</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+ 04ea chưa có EDD.</a:t>
                      </a:r>
                      <a:endParaRPr sz="1300" u="none" strike="noStrike" cap="none">
                        <a:latin typeface="Times New Roman"/>
                        <a:ea typeface="Times New Roman"/>
                        <a:cs typeface="Times New Roman"/>
                        <a:sym typeface="Times New Roman"/>
                      </a:endParaRPr>
                    </a:p>
                  </a:txBody>
                  <a:tcPr marL="7800" marR="7800" marT="78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316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VFSG</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200">
                          <a:solidFill>
                            <a:schemeClr val="dk1"/>
                          </a:solidFill>
                          <a:latin typeface="Times New Roman"/>
                          <a:ea typeface="Times New Roman"/>
                          <a:cs typeface="Times New Roman"/>
                          <a:sym typeface="Times New Roman"/>
                        </a:rPr>
                        <a:t>7001330H04</a:t>
                      </a:r>
                      <a:endParaRPr sz="1200" u="none" strike="noStrike" cap="none">
                        <a:solidFill>
                          <a:schemeClr val="dk1"/>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Nếu phát sinh hỏng hóc sẽ chỉ mở được 03 ngày.</a:t>
                      </a:r>
                      <a:endParaRPr sz="1300">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NIL stock, lấp đầy chưa có EDD.</a:t>
                      </a:r>
                      <a:endParaRPr sz="1200">
                        <a:solidFill>
                          <a:schemeClr val="dk1"/>
                        </a:solidFill>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286825">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 </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Tailcone light</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Card Led</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30-2968-3</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32-4188-3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Nguồn cung hàng chậm, delay shop Honeywell.</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Hiện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không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có</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a:t>
                      </a:r>
                      <a:endParaRPr sz="1300" dirty="0">
                        <a:latin typeface="Times New Roman"/>
                        <a:ea typeface="Times New Roman"/>
                        <a:cs typeface="Times New Roman"/>
                        <a:sym typeface="Times New Roman"/>
                      </a:endParaRPr>
                    </a:p>
                    <a:p>
                      <a:pPr marL="0" marR="0" lvl="0" indent="0" algn="l" rtl="0">
                        <a:spcBef>
                          <a:spcPts val="0"/>
                        </a:spcBef>
                        <a:spcAft>
                          <a:spcPts val="0"/>
                        </a:spcAft>
                        <a:buNone/>
                      </a:pPr>
                      <a:r>
                        <a:rPr lang="en-US" sz="1300" dirty="0">
                          <a:latin typeface="Times New Roman"/>
                          <a:ea typeface="Times New Roman"/>
                          <a:cs typeface="Times New Roman"/>
                          <a:sym typeface="Times New Roman"/>
                        </a:rPr>
                        <a:t>-Card led: </a:t>
                      </a:r>
                      <a:endParaRPr sz="1300" u="none" strike="noStrike" cap="none" dirty="0">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dirty="0">
                          <a:latin typeface="Times New Roman"/>
                          <a:ea typeface="Times New Roman"/>
                          <a:cs typeface="Times New Roman"/>
                          <a:sym typeface="Times New Roman"/>
                        </a:rPr>
                        <a:t>+ </a:t>
                      </a:r>
                      <a:r>
                        <a:rPr lang="en-US" sz="1300" dirty="0">
                          <a:solidFill>
                            <a:schemeClr val="dk1"/>
                          </a:solidFill>
                          <a:latin typeface="Times New Roman"/>
                          <a:ea typeface="Times New Roman"/>
                          <a:cs typeface="Times New Roman"/>
                          <a:sym typeface="Times New Roman"/>
                        </a:rPr>
                        <a:t>02ea in stock.</a:t>
                      </a:r>
                      <a:endParaRPr sz="13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dirty="0">
                          <a:solidFill>
                            <a:schemeClr val="dk1"/>
                          </a:solidFill>
                          <a:latin typeface="Times New Roman"/>
                          <a:ea typeface="Times New Roman"/>
                          <a:cs typeface="Times New Roman"/>
                          <a:sym typeface="Times New Roman"/>
                        </a:rPr>
                        <a:t>+ 01ea </a:t>
                      </a:r>
                      <a:r>
                        <a:rPr lang="en-US" sz="1300" dirty="0" err="1">
                          <a:solidFill>
                            <a:schemeClr val="dk1"/>
                          </a:solidFill>
                          <a:latin typeface="Times New Roman"/>
                          <a:ea typeface="Times New Roman"/>
                          <a:cs typeface="Times New Roman"/>
                          <a:sym typeface="Times New Roman"/>
                        </a:rPr>
                        <a:t>giao</a:t>
                      </a:r>
                      <a:r>
                        <a:rPr lang="en-US" sz="1300" dirty="0">
                          <a:solidFill>
                            <a:schemeClr val="dk1"/>
                          </a:solidFill>
                          <a:latin typeface="Times New Roman"/>
                          <a:ea typeface="Times New Roman"/>
                          <a:cs typeface="Times New Roman"/>
                          <a:sym typeface="Times New Roman"/>
                        </a:rPr>
                        <a:t> SGN 21/04</a:t>
                      </a:r>
                      <a:r>
                        <a:rPr lang="en-US" sz="1300" dirty="0" smtClean="0">
                          <a:solidFill>
                            <a:schemeClr val="dk1"/>
                          </a:solidFill>
                          <a:latin typeface="Times New Roman"/>
                          <a:ea typeface="Times New Roman"/>
                          <a:cs typeface="Times New Roman"/>
                          <a:sym typeface="Times New Roman"/>
                        </a:rPr>
                        <a:t>.</a:t>
                      </a:r>
                      <a:endParaRPr sz="1300" dirty="0">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38356226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g31ccdae391d_0_315"/>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18" name="Google Shape;218;g31ccdae391d_0_31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60</a:t>
            </a:fld>
            <a:endParaRPr/>
          </a:p>
        </p:txBody>
      </p:sp>
      <p:sp>
        <p:nvSpPr>
          <p:cNvPr id="219" name="Google Shape;219;g31ccdae391d_0_315"/>
          <p:cNvSpPr/>
          <p:nvPr/>
        </p:nvSpPr>
        <p:spPr>
          <a:xfrm>
            <a:off x="500990"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endParaRPr sz="2000" b="1" i="0" u="none" strike="noStrike" cap="none">
              <a:solidFill>
                <a:srgbClr val="FF0000"/>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Một số PTVT cần lưu ý</a:t>
            </a:r>
            <a:r>
              <a:rPr lang="en-US" sz="1600" b="0" i="0" u="none" strike="noStrike" cap="none">
                <a:solidFill>
                  <a:schemeClr val="dk1"/>
                </a:solidFill>
                <a:latin typeface="Times New Roman"/>
                <a:ea typeface="Times New Roman"/>
                <a:cs typeface="Times New Roman"/>
                <a:sym typeface="Times New Roman"/>
              </a:rPr>
              <a:t>:</a:t>
            </a:r>
            <a:endParaRPr sz="1600" b="0" i="0" u="none" strike="noStrike" cap="none">
              <a:solidFill>
                <a:schemeClr val="dk1"/>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chemeClr val="dk1"/>
              </a:buClr>
              <a:buSzPts val="1600"/>
              <a:buFont typeface="Times New Roman"/>
              <a:buChar char="+"/>
            </a:pPr>
            <a:r>
              <a:rPr lang="en-US" sz="1600" b="0" i="0" u="none" strike="noStrike" cap="none">
                <a:solidFill>
                  <a:schemeClr val="dk1"/>
                </a:solidFill>
                <a:latin typeface="Times New Roman"/>
                <a:ea typeface="Times New Roman"/>
                <a:cs typeface="Times New Roman"/>
                <a:sym typeface="Times New Roman"/>
              </a:rPr>
              <a:t>PTVT thay nhiều: VFSG, GPM, NSG, CAC, GWIV. </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Hỏng hóc ảnh hưởng cần lưu ý:</a:t>
            </a:r>
            <a:r>
              <a:rPr lang="en-US" sz="1600" b="0" i="0" u="none" strike="noStrike" cap="none">
                <a:solidFill>
                  <a:schemeClr val="dk1"/>
                </a:solidFill>
                <a:latin typeface="Times New Roman"/>
                <a:ea typeface="Times New Roman"/>
                <a:cs typeface="Times New Roman"/>
                <a:sym typeface="Times New Roman"/>
              </a:rPr>
              <a:t>.</a:t>
            </a:r>
            <a:endParaRPr sz="1600">
              <a:solidFill>
                <a:schemeClr val="dk1"/>
              </a:solidFill>
              <a:latin typeface="Times New Roman"/>
              <a:ea typeface="Times New Roman"/>
              <a:cs typeface="Times New Roman"/>
              <a:sym typeface="Times New Roman"/>
            </a:endParaRPr>
          </a:p>
          <a:p>
            <a:pPr marL="0" lvl="0" indent="0" algn="just" rtl="0">
              <a:spcBef>
                <a:spcPts val="0"/>
              </a:spcBef>
              <a:spcAft>
                <a:spcPts val="0"/>
              </a:spcAft>
              <a:buClr>
                <a:schemeClr val="dk1"/>
              </a:buClr>
              <a:buSzPts val="1600"/>
              <a:buFont typeface="Arial"/>
              <a:buNone/>
            </a:pPr>
            <a:endParaRPr sz="16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100"/>
              <a:buFont typeface="Arial"/>
              <a:buNone/>
            </a:pPr>
            <a:endParaRPr sz="1600" b="0"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p:txBody>
      </p:sp>
      <p:pic>
        <p:nvPicPr>
          <p:cNvPr id="3" name="Picture 2"/>
          <p:cNvPicPr>
            <a:picLocks noChangeAspect="1"/>
          </p:cNvPicPr>
          <p:nvPr/>
        </p:nvPicPr>
        <p:blipFill>
          <a:blip r:embed="rId3"/>
          <a:stretch>
            <a:fillRect/>
          </a:stretch>
        </p:blipFill>
        <p:spPr>
          <a:xfrm>
            <a:off x="800100" y="2267840"/>
            <a:ext cx="10591800" cy="3619500"/>
          </a:xfrm>
          <a:prstGeom prst="rect">
            <a:avLst/>
          </a:prstGeom>
        </p:spPr>
      </p:pic>
    </p:spTree>
    <p:extLst>
      <p:ext uri="{BB962C8B-B14F-4D97-AF65-F5344CB8AC3E}">
        <p14:creationId xmlns:p14="http://schemas.microsoft.com/office/powerpoint/2010/main" val="413223368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g31ccdae391d_0_32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27" name="Google Shape;227;g31ccdae391d_0_32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61</a:t>
            </a:fld>
            <a:endParaRPr/>
          </a:p>
        </p:txBody>
      </p:sp>
      <p:sp>
        <p:nvSpPr>
          <p:cNvPr id="228" name="Google Shape;228;g31ccdae391d_0_32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37</a:t>
            </a:r>
            <a:r>
              <a:rPr lang="en-US" sz="2000" b="1" i="0" u="none" strike="noStrike" cap="none">
                <a:solidFill>
                  <a:srgbClr val="FF0000"/>
                </a:solidFill>
                <a:latin typeface="Times New Roman"/>
                <a:ea typeface="Times New Roman"/>
                <a:cs typeface="Times New Roman"/>
                <a:sym typeface="Times New Roman"/>
              </a:rPr>
              <a:t> đơn hàng quá hạn trong tổng số </a:t>
            </a:r>
            <a:r>
              <a:rPr lang="en-US" sz="2000" b="1">
                <a:solidFill>
                  <a:srgbClr val="FF0000"/>
                </a:solidFill>
                <a:latin typeface="Times New Roman"/>
                <a:ea typeface="Times New Roman"/>
                <a:cs typeface="Times New Roman"/>
                <a:sym typeface="Times New Roman"/>
              </a:rPr>
              <a:t>48</a:t>
            </a:r>
            <a:r>
              <a:rPr lang="en-US" sz="2000" b="1" i="0" u="none" strike="noStrike" cap="none">
                <a:solidFill>
                  <a:srgbClr val="FF0000"/>
                </a:solidFill>
                <a:latin typeface="Times New Roman"/>
                <a:ea typeface="Times New Roman"/>
                <a:cs typeface="Times New Roman"/>
                <a:sym typeface="Times New Roman"/>
              </a:rPr>
              <a:t> 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OSS: </a:t>
            </a:r>
            <a:r>
              <a:rPr lang="en-US" sz="1500">
                <a:solidFill>
                  <a:schemeClr val="dk1"/>
                </a:solidFill>
                <a:latin typeface="Times New Roman"/>
                <a:ea typeface="Times New Roman"/>
                <a:cs typeface="Times New Roman"/>
                <a:sym typeface="Times New Roman"/>
              </a:rPr>
              <a:t>07</a:t>
            </a:r>
            <a:r>
              <a:rPr lang="en-US" sz="1500" b="0" i="0" u="none" strike="noStrike" cap="none">
                <a:solidFill>
                  <a:schemeClr val="dk1"/>
                </a:solidFill>
                <a:latin typeface="Times New Roman"/>
                <a:ea typeface="Times New Roman"/>
                <a:cs typeface="Times New Roman"/>
                <a:sym typeface="Times New Roman"/>
              </a:rPr>
              <a:t> overdue LO / total </a:t>
            </a:r>
            <a:r>
              <a:rPr lang="en-US" sz="1500">
                <a:solidFill>
                  <a:schemeClr val="dk1"/>
                </a:solidFill>
                <a:latin typeface="Times New Roman"/>
                <a:ea typeface="Times New Roman"/>
                <a:cs typeface="Times New Roman"/>
                <a:sym typeface="Times New Roman"/>
              </a:rPr>
              <a:t>08</a:t>
            </a:r>
            <a:r>
              <a:rPr lang="en-US" sz="1500" b="0" i="0" u="none" strike="noStrike" cap="none">
                <a:solidFill>
                  <a:schemeClr val="dk1"/>
                </a:solidFill>
                <a:latin typeface="Times New Roman"/>
                <a:ea typeface="Times New Roman"/>
                <a:cs typeface="Times New Roman"/>
                <a:sym typeface="Times New Roman"/>
              </a:rPr>
              <a:t> LO</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khác (Defect, Hardtime): </a:t>
            </a:r>
            <a:r>
              <a:rPr lang="en-US" sz="1500">
                <a:solidFill>
                  <a:schemeClr val="dk1"/>
                </a:solidFill>
                <a:latin typeface="Times New Roman"/>
                <a:ea typeface="Times New Roman"/>
                <a:cs typeface="Times New Roman"/>
                <a:sym typeface="Times New Roman"/>
              </a:rPr>
              <a:t>30</a:t>
            </a:r>
            <a:r>
              <a:rPr lang="en-US" sz="1500" b="0" i="0" u="none" strike="noStrike" cap="none">
                <a:solidFill>
                  <a:schemeClr val="dk1"/>
                </a:solidFill>
                <a:latin typeface="Times New Roman"/>
                <a:ea typeface="Times New Roman"/>
                <a:cs typeface="Times New Roman"/>
                <a:sym typeface="Times New Roman"/>
              </a:rPr>
              <a:t> overdue EO / total  </a:t>
            </a:r>
            <a:r>
              <a:rPr lang="en-US" sz="1500">
                <a:solidFill>
                  <a:schemeClr val="dk1"/>
                </a:solidFill>
                <a:latin typeface="Times New Roman"/>
                <a:ea typeface="Times New Roman"/>
                <a:cs typeface="Times New Roman"/>
                <a:sym typeface="Times New Roman"/>
              </a:rPr>
              <a:t>40</a:t>
            </a:r>
            <a:r>
              <a:rPr lang="en-US" sz="1500" b="0" i="0" u="none" strike="noStrike" cap="none">
                <a:solidFill>
                  <a:schemeClr val="dk1"/>
                </a:solidFill>
                <a:latin typeface="Times New Roman"/>
                <a:ea typeface="Times New Roman"/>
                <a:cs typeface="Times New Roman"/>
                <a:sym typeface="Times New Roman"/>
              </a:rPr>
              <a:t> EO </a:t>
            </a:r>
            <a:endParaRPr sz="1500" b="0" i="0" u="none" strike="noStrike" cap="none">
              <a:solidFill>
                <a:srgbClr val="1F497D"/>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Tình trạng đơn hàng pool trong 4 tuần gần nhất:</a:t>
            </a:r>
            <a:endParaRPr sz="1500" b="1"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229" name="Google Shape;229;g31ccdae391d_0_32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230" name="Google Shape;230;g31ccdae391d_0_323"/>
          <p:cNvPicPr preferRelativeResize="0"/>
          <p:nvPr/>
        </p:nvPicPr>
        <p:blipFill>
          <a:blip r:embed="rId3">
            <a:alphaModFix/>
          </a:blip>
          <a:stretch>
            <a:fillRect/>
          </a:stretch>
        </p:blipFill>
        <p:spPr>
          <a:xfrm>
            <a:off x="2281248" y="2095898"/>
            <a:ext cx="6538000" cy="4481125"/>
          </a:xfrm>
          <a:prstGeom prst="rect">
            <a:avLst/>
          </a:prstGeom>
          <a:noFill/>
          <a:ln>
            <a:noFill/>
          </a:ln>
        </p:spPr>
      </p:pic>
    </p:spTree>
    <p:extLst>
      <p:ext uri="{BB962C8B-B14F-4D97-AF65-F5344CB8AC3E}">
        <p14:creationId xmlns:p14="http://schemas.microsoft.com/office/powerpoint/2010/main" val="74655997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31ccdae391d_0_332"/>
          <p:cNvSpPr txBox="1">
            <a:spLocks noGrp="1"/>
          </p:cNvSpPr>
          <p:nvPr>
            <p:ph type="title"/>
          </p:nvPr>
        </p:nvSpPr>
        <p:spPr>
          <a:xfrm>
            <a:off x="941350" y="-6312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37" name="Google Shape;237;g31ccdae391d_0_33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62</a:t>
            </a:fld>
            <a:endParaRPr/>
          </a:p>
        </p:txBody>
      </p:sp>
      <p:graphicFrame>
        <p:nvGraphicFramePr>
          <p:cNvPr id="238" name="Google Shape;238;g31ccdae391d_0_332"/>
          <p:cNvGraphicFramePr/>
          <p:nvPr>
            <p:extLst/>
          </p:nvPr>
        </p:nvGraphicFramePr>
        <p:xfrm>
          <a:off x="474783" y="301869"/>
          <a:ext cx="11561850" cy="5878961"/>
        </p:xfrm>
        <a:graphic>
          <a:graphicData uri="http://schemas.openxmlformats.org/drawingml/2006/table">
            <a:tbl>
              <a:tblPr>
                <a:noFill/>
              </a:tblPr>
              <a:tblGrid>
                <a:gridCol w="778900">
                  <a:extLst>
                    <a:ext uri="{9D8B030D-6E8A-4147-A177-3AD203B41FA5}">
                      <a16:colId xmlns:a16="http://schemas.microsoft.com/office/drawing/2014/main" val="20000"/>
                    </a:ext>
                  </a:extLst>
                </a:gridCol>
                <a:gridCol w="1783525">
                  <a:extLst>
                    <a:ext uri="{9D8B030D-6E8A-4147-A177-3AD203B41FA5}">
                      <a16:colId xmlns:a16="http://schemas.microsoft.com/office/drawing/2014/main" val="20001"/>
                    </a:ext>
                  </a:extLst>
                </a:gridCol>
                <a:gridCol w="1599825">
                  <a:extLst>
                    <a:ext uri="{9D8B030D-6E8A-4147-A177-3AD203B41FA5}">
                      <a16:colId xmlns:a16="http://schemas.microsoft.com/office/drawing/2014/main" val="20002"/>
                    </a:ext>
                  </a:extLst>
                </a:gridCol>
                <a:gridCol w="3699800">
                  <a:extLst>
                    <a:ext uri="{9D8B030D-6E8A-4147-A177-3AD203B41FA5}">
                      <a16:colId xmlns:a16="http://schemas.microsoft.com/office/drawing/2014/main" val="20003"/>
                    </a:ext>
                  </a:extLst>
                </a:gridCol>
                <a:gridCol w="3699800">
                  <a:extLst>
                    <a:ext uri="{9D8B030D-6E8A-4147-A177-3AD203B41FA5}">
                      <a16:colId xmlns:a16="http://schemas.microsoft.com/office/drawing/2014/main" val="20004"/>
                    </a:ext>
                  </a:extLst>
                </a:gridCol>
              </a:tblGrid>
              <a:tr h="268269">
                <a:tc gridSpan="5">
                  <a:txBody>
                    <a:bodyPr/>
                    <a:lstStyle/>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68269">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Hỏng hóc</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02621">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1</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Spoiler Servo control</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FCRM</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CA67003-018/020/025</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CA71323-016 / -015</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nhiều trên fleet A350. </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Spoiler Servo:</a:t>
                      </a:r>
                      <a:r>
                        <a:rPr lang="en-US" sz="1300">
                          <a:latin typeface="Times New Roman"/>
                          <a:ea typeface="Times New Roman"/>
                          <a:cs typeface="Times New Roman"/>
                          <a:sym typeface="Times New Roman"/>
                        </a:rPr>
                        <a:t> 01ea in stock</a:t>
                      </a: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FCRM: </a:t>
                      </a:r>
                      <a:r>
                        <a:rPr lang="en-US" sz="1300" u="none" strike="noStrike" cap="none">
                          <a:solidFill>
                            <a:schemeClr val="dk1"/>
                          </a:solidFill>
                          <a:latin typeface="Times New Roman"/>
                          <a:ea typeface="Times New Roman"/>
                          <a:cs typeface="Times New Roman"/>
                          <a:sym typeface="Times New Roman"/>
                        </a:rPr>
                        <a:t>0</a:t>
                      </a:r>
                      <a:r>
                        <a:rPr lang="en-US" sz="1300">
                          <a:solidFill>
                            <a:schemeClr val="dk1"/>
                          </a:solidFill>
                          <a:latin typeface="Times New Roman"/>
                          <a:ea typeface="Times New Roman"/>
                          <a:cs typeface="Times New Roman"/>
                          <a:sym typeface="Times New Roman"/>
                        </a:rPr>
                        <a:t>4e</a:t>
                      </a:r>
                      <a:r>
                        <a:rPr lang="en-US" sz="1300" u="none" strike="noStrike" cap="none">
                          <a:solidFill>
                            <a:schemeClr val="dk1"/>
                          </a:solidFill>
                          <a:latin typeface="Times New Roman"/>
                          <a:ea typeface="Times New Roman"/>
                          <a:cs typeface="Times New Roman"/>
                          <a:sym typeface="Times New Roman"/>
                        </a:rPr>
                        <a:t>a in stock</a:t>
                      </a:r>
                      <a:r>
                        <a:rPr lang="en-US" sz="1300">
                          <a:solidFill>
                            <a:schemeClr val="dk1"/>
                          </a:solidFill>
                          <a:latin typeface="Times New Roman"/>
                          <a:ea typeface="Times New Roman"/>
                          <a:cs typeface="Times New Roman"/>
                          <a:sym typeface="Times New Roman"/>
                        </a:rPr>
                        <a:t>.</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extLst>
                  <a:ext uri="{0D108BD9-81ED-4DB2-BD59-A6C34878D82A}">
                    <a16:rowId xmlns:a16="http://schemas.microsoft.com/office/drawing/2014/main" val="10002"/>
                  </a:ext>
                </a:extLst>
              </a:tr>
              <a:tr h="10400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688-6/688-6-00-100</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err="1">
                          <a:latin typeface="Times New Roman"/>
                          <a:ea typeface="Times New Roman"/>
                          <a:cs typeface="Times New Roman"/>
                          <a:sym typeface="Times New Roman"/>
                        </a:rPr>
                        <a:t>Hiện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cần</a:t>
                      </a:r>
                      <a:r>
                        <a:rPr lang="en-US" sz="1300" u="none" strike="noStrike" cap="none" dirty="0">
                          <a:latin typeface="Times New Roman"/>
                          <a:ea typeface="Times New Roman"/>
                          <a:cs typeface="Times New Roman"/>
                          <a:sym typeface="Times New Roman"/>
                        </a:rPr>
                        <a:t> 1</a:t>
                      </a:r>
                      <a:r>
                        <a:rPr lang="en-US" sz="1300" dirty="0">
                          <a:latin typeface="Times New Roman"/>
                          <a:ea typeface="Times New Roman"/>
                          <a:cs typeface="Times New Roman"/>
                          <a:sym typeface="Times New Roman"/>
                        </a:rPr>
                        <a:t>4</a:t>
                      </a:r>
                      <a:r>
                        <a:rPr lang="en-US" sz="1300" u="none" strike="noStrike" cap="none" dirty="0">
                          <a:latin typeface="Times New Roman"/>
                          <a:ea typeface="Times New Roman"/>
                          <a:cs typeface="Times New Roman"/>
                          <a:sym typeface="Times New Roman"/>
                        </a:rPr>
                        <a:t>ea (</a:t>
                      </a:r>
                      <a:r>
                        <a:rPr lang="en-US" sz="1300" dirty="0">
                          <a:latin typeface="Times New Roman"/>
                          <a:ea typeface="Times New Roman"/>
                          <a:cs typeface="Times New Roman"/>
                          <a:sym typeface="Times New Roman"/>
                        </a:rPr>
                        <a:t>06</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+ 08 </a:t>
                      </a:r>
                      <a:r>
                        <a:rPr lang="en-US" sz="1300" u="none" strike="noStrike" cap="none" dirty="0" err="1">
                          <a:latin typeface="Times New Roman"/>
                          <a:ea typeface="Times New Roman"/>
                          <a:cs typeface="Times New Roman"/>
                          <a:sym typeface="Times New Roman"/>
                        </a:rPr>
                        <a:t>cho</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tàu</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bảo</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quản</a:t>
                      </a:r>
                      <a:r>
                        <a:rPr lang="en-US" sz="1300" u="none" strike="noStrike" cap="none" dirty="0">
                          <a:latin typeface="Times New Roman"/>
                          <a:ea typeface="Times New Roman"/>
                          <a:cs typeface="Times New Roman"/>
                          <a:sym typeface="Times New Roman"/>
                        </a:rPr>
                        <a:t>).</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- 01ea in stock (dùng cho A898)</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a:t>
                      </a:r>
                      <a:r>
                        <a:rPr lang="en-US" sz="1300" u="none" strike="noStrike" cap="none">
                          <a:solidFill>
                            <a:schemeClr val="dk1"/>
                          </a:solidFill>
                          <a:latin typeface="Times New Roman"/>
                          <a:ea typeface="Times New Roman"/>
                          <a:cs typeface="Times New Roman"/>
                          <a:sym typeface="Times New Roman"/>
                        </a:rPr>
                        <a:t>1</a:t>
                      </a:r>
                      <a:r>
                        <a:rPr lang="en-US" sz="1300">
                          <a:solidFill>
                            <a:schemeClr val="dk1"/>
                          </a:solidFill>
                          <a:latin typeface="Times New Roman"/>
                          <a:ea typeface="Times New Roman"/>
                          <a:cs typeface="Times New Roman"/>
                          <a:sym typeface="Times New Roman"/>
                        </a:rPr>
                        <a:t>1</a:t>
                      </a:r>
                      <a:r>
                        <a:rPr lang="en-US" sz="1300" u="none" strike="noStrike" cap="none">
                          <a:solidFill>
                            <a:schemeClr val="dk1"/>
                          </a:solidFill>
                          <a:latin typeface="Times New Roman"/>
                          <a:ea typeface="Times New Roman"/>
                          <a:cs typeface="Times New Roman"/>
                          <a:sym typeface="Times New Roman"/>
                        </a:rPr>
                        <a:t>RO, trong đó: </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+ 03ea EDD 18/06.</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+ 08ea EDD NIL.</a:t>
                      </a:r>
                      <a:endParaRPr sz="130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3"/>
                  </a:ext>
                </a:extLst>
              </a:tr>
              <a:tr h="902621">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EDP</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53098-06</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phát</a:t>
                      </a:r>
                      <a:r>
                        <a:rPr lang="en-US" sz="1300" u="none" strike="noStrike" cap="none" dirty="0">
                          <a:latin typeface="Times New Roman"/>
                          <a:ea typeface="Times New Roman"/>
                          <a:cs typeface="Times New Roman"/>
                          <a:sym typeface="Times New Roman"/>
                        </a:rPr>
                        <a:t> sinh </a:t>
                      </a:r>
                      <a:r>
                        <a:rPr lang="en-US" sz="1300" u="none" strike="noStrike" cap="none" dirty="0" err="1">
                          <a:latin typeface="Times New Roman"/>
                          <a:ea typeface="Times New Roman"/>
                          <a:cs typeface="Times New Roman"/>
                          <a:sym typeface="Times New Roman"/>
                        </a:rPr>
                        <a:t>sẽ</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phải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cắt</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tải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tiềm</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ẩn</a:t>
                      </a:r>
                      <a:r>
                        <a:rPr lang="en-US" sz="1300" u="none" strike="noStrike" cap="none" dirty="0">
                          <a:latin typeface="Times New Roman"/>
                          <a:ea typeface="Times New Roman"/>
                          <a:cs typeface="Times New Roman"/>
                          <a:sym typeface="Times New Roman"/>
                        </a:rPr>
                        <a:t> AOG.</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Vẫn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nhiều</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trên</a:t>
                      </a:r>
                      <a:r>
                        <a:rPr lang="en-US" sz="1300" u="none" strike="noStrike" cap="none" dirty="0">
                          <a:latin typeface="Times New Roman"/>
                          <a:ea typeface="Times New Roman"/>
                          <a:cs typeface="Times New Roman"/>
                          <a:sym typeface="Times New Roman"/>
                        </a:rPr>
                        <a:t> fleet A350. </a:t>
                      </a:r>
                      <a:endParaRPr sz="1300" u="none" strike="noStrike" cap="none" dirty="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solidFill>
                            <a:schemeClr val="dk1"/>
                          </a:solidFill>
                          <a:latin typeface="Times New Roman"/>
                          <a:ea typeface="Times New Roman"/>
                          <a:cs typeface="Times New Roman"/>
                          <a:sym typeface="Times New Roman"/>
                        </a:rPr>
                        <a:t>+ </a:t>
                      </a:r>
                      <a:r>
                        <a:rPr lang="en-US" sz="1300" dirty="0">
                          <a:solidFill>
                            <a:schemeClr val="dk1"/>
                          </a:solidFill>
                          <a:latin typeface="Times New Roman"/>
                          <a:ea typeface="Times New Roman"/>
                          <a:cs typeface="Times New Roman"/>
                          <a:sym typeface="Times New Roman"/>
                        </a:rPr>
                        <a:t>09</a:t>
                      </a:r>
                      <a:r>
                        <a:rPr lang="en-US" sz="1300" u="none" strike="noStrike" cap="none" dirty="0">
                          <a:solidFill>
                            <a:schemeClr val="dk1"/>
                          </a:solidFill>
                          <a:latin typeface="Times New Roman"/>
                          <a:ea typeface="Times New Roman"/>
                          <a:cs typeface="Times New Roman"/>
                          <a:sym typeface="Times New Roman"/>
                        </a:rPr>
                        <a:t>ea in stock (</a:t>
                      </a:r>
                      <a:r>
                        <a:rPr lang="en-US" sz="1300" u="none" strike="noStrike" cap="none" dirty="0" err="1">
                          <a:solidFill>
                            <a:schemeClr val="dk1"/>
                          </a:solidFill>
                          <a:latin typeface="Times New Roman"/>
                          <a:ea typeface="Times New Roman"/>
                          <a:cs typeface="Times New Roman"/>
                          <a:sym typeface="Times New Roman"/>
                        </a:rPr>
                        <a:t>của</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tàu</a:t>
                      </a:r>
                      <a:r>
                        <a:rPr lang="en-US" sz="1300" u="none" strike="noStrike" cap="none" dirty="0">
                          <a:solidFill>
                            <a:schemeClr val="dk1"/>
                          </a:solidFill>
                          <a:latin typeface="Times New Roman"/>
                          <a:ea typeface="Times New Roman"/>
                          <a:cs typeface="Times New Roman"/>
                          <a:sym typeface="Times New Roman"/>
                        </a:rPr>
                        <a:t> BQ). 01 </a:t>
                      </a:r>
                      <a:r>
                        <a:rPr lang="en-US" sz="1300" u="none" strike="noStrike" cap="none" dirty="0" err="1">
                          <a:solidFill>
                            <a:schemeClr val="dk1"/>
                          </a:solidFill>
                          <a:latin typeface="Times New Roman"/>
                          <a:ea typeface="Times New Roman"/>
                          <a:cs typeface="Times New Roman"/>
                          <a:sym typeface="Times New Roman"/>
                        </a:rPr>
                        <a:t>l</a:t>
                      </a:r>
                      <a:r>
                        <a:rPr lang="en-US" sz="1300" dirty="0" err="1">
                          <a:solidFill>
                            <a:schemeClr val="dk1"/>
                          </a:solidFill>
                          <a:latin typeface="Times New Roman"/>
                          <a:ea typeface="Times New Roman"/>
                          <a:cs typeface="Times New Roman"/>
                          <a:sym typeface="Times New Roman"/>
                        </a:rPr>
                        <a:t>ấp</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đầy</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chưa</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có</a:t>
                      </a:r>
                      <a:r>
                        <a:rPr lang="en-US" sz="1300" dirty="0">
                          <a:solidFill>
                            <a:schemeClr val="dk1"/>
                          </a:solidFill>
                          <a:latin typeface="Times New Roman"/>
                          <a:ea typeface="Times New Roman"/>
                          <a:cs typeface="Times New Roman"/>
                          <a:sym typeface="Times New Roman"/>
                        </a:rPr>
                        <a:t> EDD.</a:t>
                      </a:r>
                      <a:endParaRPr sz="1300" u="none" strike="noStrike" cap="none"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4"/>
                  </a:ext>
                </a:extLst>
              </a:tr>
              <a:tr h="902621">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VCRU, Motor Controller</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Calibri"/>
                        <a:buNone/>
                      </a:pP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ảnh hưởng đến hệ thống chiller của tàu bay.</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TAT sửa chữa tại shop Honeywell rất dài (vẫn chưa được cải thiện) dẫn đến việc cung ứng hàng của Airbus rất chậm.</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solidFill>
                            <a:schemeClr val="dk1"/>
                          </a:solidFill>
                          <a:latin typeface="Times New Roman"/>
                          <a:ea typeface="Times New Roman"/>
                          <a:cs typeface="Times New Roman"/>
                          <a:sym typeface="Times New Roman"/>
                        </a:rPr>
                        <a:t>Nhiều</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tàu</a:t>
                      </a:r>
                      <a:r>
                        <a:rPr lang="en-US" sz="1300" u="none" strike="noStrike" cap="none" dirty="0">
                          <a:solidFill>
                            <a:schemeClr val="dk1"/>
                          </a:solidFill>
                          <a:latin typeface="Times New Roman"/>
                          <a:ea typeface="Times New Roman"/>
                          <a:cs typeface="Times New Roman"/>
                          <a:sym typeface="Times New Roman"/>
                        </a:rPr>
                        <a:t> A350 </a:t>
                      </a:r>
                      <a:r>
                        <a:rPr lang="en-US" sz="1300" u="none" strike="noStrike" cap="none" dirty="0" err="1">
                          <a:solidFill>
                            <a:schemeClr val="dk1"/>
                          </a:solidFill>
                          <a:latin typeface="Times New Roman"/>
                          <a:ea typeface="Times New Roman"/>
                          <a:cs typeface="Times New Roman"/>
                          <a:sym typeface="Times New Roman"/>
                        </a:rPr>
                        <a:t>có</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mssg</a:t>
                      </a:r>
                      <a:r>
                        <a:rPr lang="en-US" sz="1300" u="none" strike="noStrike" cap="none" dirty="0">
                          <a:solidFill>
                            <a:schemeClr val="dk1"/>
                          </a:solidFill>
                          <a:latin typeface="Times New Roman"/>
                          <a:ea typeface="Times New Roman"/>
                          <a:cs typeface="Times New Roman"/>
                          <a:sym typeface="Times New Roman"/>
                        </a:rPr>
                        <a:t> VCRU </a:t>
                      </a:r>
                      <a:r>
                        <a:rPr lang="en-US" sz="1300" u="none" strike="noStrike" cap="none" dirty="0" err="1">
                          <a:solidFill>
                            <a:schemeClr val="dk1"/>
                          </a:solidFill>
                          <a:latin typeface="Times New Roman"/>
                          <a:ea typeface="Times New Roman"/>
                          <a:cs typeface="Times New Roman"/>
                          <a:sym typeface="Times New Roman"/>
                        </a:rPr>
                        <a:t>và</a:t>
                      </a:r>
                      <a:r>
                        <a:rPr lang="en-US" sz="1300" u="none" strike="noStrike" cap="none" dirty="0">
                          <a:solidFill>
                            <a:schemeClr val="dk1"/>
                          </a:solidFill>
                          <a:latin typeface="Times New Roman"/>
                          <a:ea typeface="Times New Roman"/>
                          <a:cs typeface="Times New Roman"/>
                          <a:sym typeface="Times New Roman"/>
                        </a:rPr>
                        <a:t> controller.</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err="1">
                          <a:solidFill>
                            <a:schemeClr val="dk1"/>
                          </a:solidFill>
                          <a:latin typeface="Times New Roman"/>
                          <a:ea typeface="Times New Roman"/>
                          <a:cs typeface="Times New Roman"/>
                          <a:sym typeface="Times New Roman"/>
                        </a:rPr>
                        <a:t>Vẫn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chưa</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lịch</a:t>
                      </a:r>
                      <a:r>
                        <a:rPr lang="en-US" sz="1300" dirty="0">
                          <a:solidFill>
                            <a:schemeClr val="dk1"/>
                          </a:solidFill>
                          <a:latin typeface="Times New Roman"/>
                          <a:ea typeface="Times New Roman"/>
                          <a:cs typeface="Times New Roman"/>
                          <a:sym typeface="Times New Roman"/>
                        </a:rPr>
                        <a:t> ship </a:t>
                      </a:r>
                      <a:r>
                        <a:rPr lang="en-US" sz="1300" dirty="0" err="1">
                          <a:solidFill>
                            <a:schemeClr val="dk1"/>
                          </a:solidFill>
                          <a:latin typeface="Times New Roman"/>
                          <a:ea typeface="Times New Roman"/>
                          <a:cs typeface="Times New Roman"/>
                          <a:sym typeface="Times New Roman"/>
                        </a:rPr>
                        <a:t>của</a:t>
                      </a:r>
                      <a:r>
                        <a:rPr lang="en-US" sz="1300" dirty="0">
                          <a:solidFill>
                            <a:schemeClr val="dk1"/>
                          </a:solidFill>
                          <a:latin typeface="Times New Roman"/>
                          <a:ea typeface="Times New Roman"/>
                          <a:cs typeface="Times New Roman"/>
                          <a:sym typeface="Times New Roman"/>
                        </a:rPr>
                        <a:t> VCRU </a:t>
                      </a:r>
                      <a:r>
                        <a:rPr lang="en-US" sz="1300" dirty="0" err="1">
                          <a:solidFill>
                            <a:schemeClr val="dk1"/>
                          </a:solidFill>
                          <a:latin typeface="Times New Roman"/>
                          <a:ea typeface="Times New Roman"/>
                          <a:cs typeface="Times New Roman"/>
                          <a:sym typeface="Times New Roman"/>
                        </a:rPr>
                        <a:t>và</a:t>
                      </a:r>
                      <a:r>
                        <a:rPr lang="en-US" sz="1300" dirty="0">
                          <a:solidFill>
                            <a:schemeClr val="dk1"/>
                          </a:solidFill>
                          <a:latin typeface="Times New Roman"/>
                          <a:ea typeface="Times New Roman"/>
                          <a:cs typeface="Times New Roman"/>
                          <a:sym typeface="Times New Roman"/>
                        </a:rPr>
                        <a:t> controller</a:t>
                      </a:r>
                      <a:endParaRPr sz="1300"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5"/>
                  </a:ext>
                </a:extLst>
              </a:tr>
              <a:tr h="1567684">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Oven Safran</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X200100</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Hỏng hóc ảnh hưởng chất lượng dịch vụ.</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TAT ở shop rất dài do thiếu hụt sub part sửa chữa (PMSD). Safran dự kiến cuối tháng 4 mới có PMSD cho sửa chữa. Mặc dù đã rob 20ea oven từ 02 tàu bảo quản A886 và A887 nhưng vẫn còn 03 hỏng hóc cho 02 tàu khai thác.</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 Trong năm 2025 yêu cầu 28ea, trong đó đã thay 25ea và có 04 TH NFF.</a:t>
                      </a:r>
                      <a:endParaRPr sz="130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solidFill>
                            <a:schemeClr val="dk1"/>
                          </a:solidFill>
                          <a:latin typeface="Times New Roman"/>
                          <a:ea typeface="Times New Roman"/>
                          <a:cs typeface="Times New Roman"/>
                          <a:sym typeface="Times New Roman"/>
                        </a:rPr>
                        <a:t>+ </a:t>
                      </a:r>
                      <a:r>
                        <a:rPr lang="en-US" sz="1300" dirty="0">
                          <a:solidFill>
                            <a:schemeClr val="dk1"/>
                          </a:solidFill>
                          <a:latin typeface="Times New Roman"/>
                          <a:ea typeface="Times New Roman"/>
                          <a:cs typeface="Times New Roman"/>
                          <a:sym typeface="Times New Roman"/>
                        </a:rPr>
                        <a:t>01ea </a:t>
                      </a:r>
                      <a:r>
                        <a:rPr lang="en-US" sz="1300" dirty="0" err="1">
                          <a:solidFill>
                            <a:schemeClr val="dk1"/>
                          </a:solidFill>
                          <a:latin typeface="Times New Roman"/>
                          <a:ea typeface="Times New Roman"/>
                          <a:cs typeface="Times New Roman"/>
                          <a:sym typeface="Times New Roman"/>
                        </a:rPr>
                        <a:t>gian</a:t>
                      </a:r>
                      <a:r>
                        <a:rPr lang="en-US" sz="1300" dirty="0">
                          <a:solidFill>
                            <a:schemeClr val="dk1"/>
                          </a:solidFill>
                          <a:latin typeface="Times New Roman"/>
                          <a:ea typeface="Times New Roman"/>
                          <a:cs typeface="Times New Roman"/>
                          <a:sym typeface="Times New Roman"/>
                        </a:rPr>
                        <a:t> Han 21/04, </a:t>
                      </a:r>
                      <a:r>
                        <a:rPr lang="en-US" sz="1300" dirty="0" err="1">
                          <a:solidFill>
                            <a:schemeClr val="dk1"/>
                          </a:solidFill>
                          <a:latin typeface="Times New Roman"/>
                          <a:ea typeface="Times New Roman"/>
                          <a:cs typeface="Times New Roman"/>
                          <a:sym typeface="Times New Roman"/>
                        </a:rPr>
                        <a:t>tiếp</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tục</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giục</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Safran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để</a:t>
                      </a:r>
                      <a:r>
                        <a:rPr lang="en-US" sz="1300" dirty="0">
                          <a:solidFill>
                            <a:schemeClr val="dk1"/>
                          </a:solidFill>
                          <a:latin typeface="Times New Roman"/>
                          <a:ea typeface="Times New Roman"/>
                          <a:cs typeface="Times New Roman"/>
                          <a:sym typeface="Times New Roman"/>
                        </a:rPr>
                        <a:t> release </a:t>
                      </a:r>
                      <a:r>
                        <a:rPr lang="en-US" sz="1300" dirty="0" err="1">
                          <a:solidFill>
                            <a:schemeClr val="dk1"/>
                          </a:solidFill>
                          <a:latin typeface="Times New Roman"/>
                          <a:ea typeface="Times New Roman"/>
                          <a:cs typeface="Times New Roman"/>
                          <a:sym typeface="Times New Roman"/>
                        </a:rPr>
                        <a:t>thêm</a:t>
                      </a:r>
                      <a:r>
                        <a:rPr lang="en-US" sz="1300" dirty="0">
                          <a:solidFill>
                            <a:schemeClr val="dk1"/>
                          </a:solidFill>
                          <a:latin typeface="Times New Roman"/>
                          <a:ea typeface="Times New Roman"/>
                          <a:cs typeface="Times New Roman"/>
                          <a:sym typeface="Times New Roman"/>
                        </a:rPr>
                        <a:t> oven trong </a:t>
                      </a:r>
                      <a:r>
                        <a:rPr lang="en-US" sz="1300" dirty="0" err="1" smtClean="0">
                          <a:solidFill>
                            <a:schemeClr val="dk1"/>
                          </a:solidFill>
                          <a:latin typeface="Times New Roman"/>
                          <a:ea typeface="Times New Roman"/>
                          <a:cs typeface="Times New Roman"/>
                          <a:sym typeface="Times New Roman"/>
                        </a:rPr>
                        <a:t>tuần</a:t>
                      </a:r>
                      <a:r>
                        <a:rPr lang="en-US" sz="1300" dirty="0" smtClean="0">
                          <a:solidFill>
                            <a:schemeClr val="dk1"/>
                          </a:solidFill>
                          <a:latin typeface="Times New Roman"/>
                          <a:ea typeface="Times New Roman"/>
                          <a:cs typeface="Times New Roman"/>
                          <a:sym typeface="Times New Roman"/>
                        </a:rPr>
                        <a:t> 17 </a:t>
                      </a:r>
                      <a:r>
                        <a:rPr lang="en-US" sz="1300" dirty="0">
                          <a:solidFill>
                            <a:schemeClr val="dk1"/>
                          </a:solidFill>
                          <a:latin typeface="Times New Roman"/>
                          <a:ea typeface="Times New Roman"/>
                          <a:cs typeface="Times New Roman"/>
                          <a:sym typeface="Times New Roman"/>
                        </a:rPr>
                        <a:t>(</a:t>
                      </a:r>
                      <a:r>
                        <a:rPr lang="en-US" sz="1300" dirty="0" err="1">
                          <a:solidFill>
                            <a:schemeClr val="dk1"/>
                          </a:solidFill>
                          <a:latin typeface="Times New Roman"/>
                          <a:ea typeface="Times New Roman"/>
                          <a:cs typeface="Times New Roman"/>
                          <a:sym typeface="Times New Roman"/>
                        </a:rPr>
                        <a:t>đã</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yêu</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cầu</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cả</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khối</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đổi</a:t>
                      </a:r>
                      <a:r>
                        <a:rPr lang="en-US" sz="1300" dirty="0">
                          <a:solidFill>
                            <a:schemeClr val="dk1"/>
                          </a:solidFill>
                          <a:latin typeface="Times New Roman"/>
                          <a:ea typeface="Times New Roman"/>
                          <a:cs typeface="Times New Roman"/>
                          <a:sym typeface="Times New Roman"/>
                        </a:rPr>
                        <a:t>).</a:t>
                      </a:r>
                      <a:endParaRPr sz="1300" u="none" strike="noStrike" cap="none"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4170739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g31ccdae391d_0_33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45" name="Google Shape;245;g31ccdae391d_0_33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63</a:t>
            </a:fld>
            <a:endParaRPr/>
          </a:p>
        </p:txBody>
      </p:sp>
      <p:sp>
        <p:nvSpPr>
          <p:cNvPr id="246" name="Google Shape;246;g31ccdae391d_0_339"/>
          <p:cNvSpPr/>
          <p:nvPr/>
        </p:nvSpPr>
        <p:spPr>
          <a:xfrm>
            <a:off x="500990" y="742682"/>
            <a:ext cx="11164800" cy="5718900"/>
          </a:xfrm>
          <a:prstGeom prst="rect">
            <a:avLst/>
          </a:prstGeom>
          <a:noFill/>
          <a:ln>
            <a:noFill/>
          </a:ln>
        </p:spPr>
        <p:txBody>
          <a:bodyPr spcFirstLastPara="1" wrap="square" lIns="91425" tIns="45700" rIns="91425" bIns="45700" anchor="t" anchorCtr="0">
            <a:noAutofit/>
          </a:bodyPr>
          <a:lstStyle/>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dirty="0" err="1">
                <a:solidFill>
                  <a:srgbClr val="FF0000"/>
                </a:solidFill>
                <a:latin typeface="Times New Roman"/>
                <a:ea typeface="Times New Roman"/>
                <a:cs typeface="Times New Roman"/>
                <a:sym typeface="Times New Roman"/>
              </a:rPr>
              <a:t>Một</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số</a:t>
            </a:r>
            <a:r>
              <a:rPr lang="en-US" sz="2000" b="1" i="0" u="none" strike="noStrike" cap="none" dirty="0">
                <a:solidFill>
                  <a:srgbClr val="FF0000"/>
                </a:solidFill>
                <a:latin typeface="Times New Roman"/>
                <a:ea typeface="Times New Roman"/>
                <a:cs typeface="Times New Roman"/>
                <a:sym typeface="Times New Roman"/>
              </a:rPr>
              <a:t> PTVT </a:t>
            </a:r>
            <a:r>
              <a:rPr lang="en-US" sz="2000" b="1" i="0" u="none" strike="noStrike" cap="none" dirty="0" err="1">
                <a:solidFill>
                  <a:srgbClr val="FF0000"/>
                </a:solidFill>
                <a:latin typeface="Times New Roman"/>
                <a:ea typeface="Times New Roman"/>
                <a:cs typeface="Times New Roman"/>
                <a:sym typeface="Times New Roman"/>
              </a:rPr>
              <a:t>cần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lưu</a:t>
            </a:r>
            <a:r>
              <a:rPr lang="en-US" sz="2000" b="1" i="0" u="none" strike="noStrike" cap="none" dirty="0">
                <a:solidFill>
                  <a:srgbClr val="FF0000"/>
                </a:solidFill>
                <a:latin typeface="Times New Roman"/>
                <a:ea typeface="Times New Roman"/>
                <a:cs typeface="Times New Roman"/>
                <a:sym typeface="Times New Roman"/>
              </a:rPr>
              <a:t> ý:</a:t>
            </a:r>
            <a:endParaRPr sz="1600" b="0" i="0" u="none" strike="noStrike" cap="none" dirty="0">
              <a:solidFill>
                <a:srgbClr val="000000"/>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Times New Roman"/>
                <a:ea typeface="Times New Roman"/>
                <a:cs typeface="Times New Roman"/>
                <a:sym typeface="Times New Roman"/>
              </a:rPr>
              <a:t>  +    </a:t>
            </a:r>
            <a:r>
              <a:rPr lang="en-US" sz="1600" b="0" i="0" u="none" strike="noStrike" cap="none" dirty="0" err="1">
                <a:solidFill>
                  <a:srgbClr val="000000"/>
                </a:solidFill>
                <a:latin typeface="Times New Roman"/>
                <a:ea typeface="Times New Roman"/>
                <a:cs typeface="Times New Roman"/>
                <a:sym typeface="Times New Roman"/>
              </a:rPr>
              <a:t>Một</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số</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thiết</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bị</a:t>
            </a:r>
            <a:r>
              <a:rPr lang="en-US" sz="1600" b="0" i="0" u="none" strike="noStrike" cap="none" dirty="0">
                <a:solidFill>
                  <a:srgbClr val="000000"/>
                </a:solidFill>
                <a:latin typeface="Times New Roman"/>
                <a:ea typeface="Times New Roman"/>
                <a:cs typeface="Times New Roman"/>
                <a:sym typeface="Times New Roman"/>
              </a:rPr>
              <a:t> pooling </a:t>
            </a:r>
            <a:r>
              <a:rPr lang="en-US" sz="1600" b="0" i="0" u="none" strike="noStrike" cap="none" dirty="0" err="1">
                <a:solidFill>
                  <a:srgbClr val="000000"/>
                </a:solidFill>
                <a:latin typeface="Times New Roman"/>
                <a:ea typeface="Times New Roman"/>
                <a:cs typeface="Times New Roman"/>
                <a:sym typeface="Times New Roman"/>
              </a:rPr>
              <a:t>của</a:t>
            </a:r>
            <a:r>
              <a:rPr lang="en-US" sz="1600" b="0" i="0" u="none" strike="noStrike" cap="none" dirty="0">
                <a:solidFill>
                  <a:srgbClr val="000000"/>
                </a:solidFill>
                <a:latin typeface="Times New Roman"/>
                <a:ea typeface="Times New Roman"/>
                <a:cs typeface="Times New Roman"/>
                <a:sym typeface="Times New Roman"/>
              </a:rPr>
              <a:t> OEM Honeywell </a:t>
            </a:r>
            <a:r>
              <a:rPr lang="en-US" sz="1600" b="0" i="0" u="none" strike="noStrike" cap="none" dirty="0" err="1">
                <a:solidFill>
                  <a:srgbClr val="000000"/>
                </a:solidFill>
                <a:latin typeface="Times New Roman"/>
                <a:ea typeface="Times New Roman"/>
                <a:cs typeface="Times New Roman"/>
                <a:sym typeface="Times New Roman"/>
              </a:rPr>
              <a:t>liên</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quan</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hệ</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thống</a:t>
            </a:r>
            <a:r>
              <a:rPr lang="en-US" sz="1600" b="0" i="0" u="none" strike="noStrike" cap="none" dirty="0">
                <a:solidFill>
                  <a:srgbClr val="000000"/>
                </a:solidFill>
                <a:latin typeface="Times New Roman"/>
                <a:ea typeface="Times New Roman"/>
                <a:cs typeface="Times New Roman"/>
                <a:sym typeface="Times New Roman"/>
              </a:rPr>
              <a:t> Chiller (VCRU, Motor </a:t>
            </a:r>
            <a:r>
              <a:rPr lang="en-US" sz="1600" b="0" i="0" u="none" strike="noStrike" cap="none" dirty="0" err="1">
                <a:solidFill>
                  <a:srgbClr val="000000"/>
                </a:solidFill>
                <a:latin typeface="Times New Roman"/>
                <a:ea typeface="Times New Roman"/>
                <a:cs typeface="Times New Roman"/>
                <a:sym typeface="Times New Roman"/>
              </a:rPr>
              <a:t>Controler</a:t>
            </a:r>
            <a:r>
              <a:rPr lang="en-US" sz="1600" b="0" i="0" u="none" strike="noStrike" cap="none" dirty="0">
                <a:solidFill>
                  <a:srgbClr val="000000"/>
                </a:solidFill>
                <a:latin typeface="Times New Roman"/>
                <a:ea typeface="Times New Roman"/>
                <a:cs typeface="Times New Roman"/>
                <a:sym typeface="Times New Roman"/>
              </a:rPr>
              <a:t>) TAT </a:t>
            </a:r>
            <a:r>
              <a:rPr lang="en-US" sz="1600" b="0" i="0" u="none" strike="noStrike" cap="none" dirty="0" err="1">
                <a:solidFill>
                  <a:srgbClr val="000000"/>
                </a:solidFill>
                <a:latin typeface="Times New Roman"/>
                <a:ea typeface="Times New Roman"/>
                <a:cs typeface="Times New Roman"/>
                <a:sym typeface="Times New Roman"/>
              </a:rPr>
              <a:t>vẫn</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rất</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dài</a:t>
            </a:r>
            <a:r>
              <a:rPr lang="en-US" sz="1600" b="0" i="0" u="none" strike="noStrike" cap="none" dirty="0">
                <a:solidFill>
                  <a:srgbClr val="000000"/>
                </a:solidFill>
                <a:latin typeface="Times New Roman"/>
                <a:ea typeface="Times New Roman"/>
                <a:cs typeface="Times New Roman"/>
                <a:sym typeface="Times New Roman"/>
              </a:rPr>
              <a:t>.</a:t>
            </a:r>
            <a:endParaRPr sz="1600" b="0" i="0" u="none" strike="noStrike" cap="none" dirty="0">
              <a:solidFill>
                <a:srgbClr val="000000"/>
              </a:solidFill>
              <a:latin typeface="Times New Roman"/>
              <a:ea typeface="Times New Roman"/>
              <a:cs typeface="Times New Roman"/>
              <a:sym typeface="Times New Roman"/>
            </a:endParaRPr>
          </a:p>
          <a:p>
            <a:pPr marL="914400" marR="0" lvl="0" indent="-330200" algn="just" rtl="0">
              <a:lnSpc>
                <a:spcPct val="100000"/>
              </a:lnSpc>
              <a:spcBef>
                <a:spcPts val="0"/>
              </a:spcBef>
              <a:spcAft>
                <a:spcPts val="0"/>
              </a:spcAft>
              <a:buClr>
                <a:srgbClr val="000000"/>
              </a:buClr>
              <a:buSzPts val="1600"/>
              <a:buFont typeface="Times New Roman"/>
              <a:buChar char="+"/>
            </a:pPr>
            <a:r>
              <a:rPr lang="en-US" sz="1600" b="0" i="0" u="none" strike="noStrike" cap="none" dirty="0" err="1">
                <a:solidFill>
                  <a:srgbClr val="000000"/>
                </a:solidFill>
                <a:latin typeface="Times New Roman"/>
                <a:ea typeface="Times New Roman"/>
                <a:cs typeface="Times New Roman"/>
                <a:sym typeface="Times New Roman"/>
              </a:rPr>
              <a:t>Hỏng</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hóc</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hệ</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thống</a:t>
            </a:r>
            <a:r>
              <a:rPr lang="en-US" sz="1600" b="0" i="0" u="none" strike="noStrike" cap="none" dirty="0">
                <a:solidFill>
                  <a:srgbClr val="000000"/>
                </a:solidFill>
                <a:latin typeface="Times New Roman"/>
                <a:ea typeface="Times New Roman"/>
                <a:cs typeface="Times New Roman"/>
                <a:sym typeface="Times New Roman"/>
              </a:rPr>
              <a:t> flight control </a:t>
            </a:r>
            <a:r>
              <a:rPr lang="en-US" sz="1600" b="0" i="0" u="none" strike="noStrike" cap="none" dirty="0" err="1">
                <a:solidFill>
                  <a:srgbClr val="000000"/>
                </a:solidFill>
                <a:latin typeface="Times New Roman"/>
                <a:ea typeface="Times New Roman"/>
                <a:cs typeface="Times New Roman"/>
                <a:sym typeface="Times New Roman"/>
              </a:rPr>
              <a:t>vẫn</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nhiều</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vẫn</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chưa</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giảm</a:t>
            </a:r>
            <a:r>
              <a:rPr lang="en-US" sz="1600" b="0" i="0" u="none" strike="noStrike" cap="none" dirty="0">
                <a:solidFill>
                  <a:srgbClr val="000000"/>
                </a:solidFill>
                <a:latin typeface="Times New Roman"/>
                <a:ea typeface="Times New Roman"/>
                <a:cs typeface="Times New Roman"/>
                <a:sym typeface="Times New Roman"/>
              </a:rPr>
              <a:t>.</a:t>
            </a:r>
            <a:endParaRPr sz="16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dirty="0">
              <a:solidFill>
                <a:srgbClr val="FF0000"/>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dirty="0" err="1">
                <a:solidFill>
                  <a:srgbClr val="FF0000"/>
                </a:solidFill>
                <a:latin typeface="Times New Roman"/>
                <a:ea typeface="Times New Roman"/>
                <a:cs typeface="Times New Roman"/>
                <a:sym typeface="Times New Roman"/>
              </a:rPr>
              <a:t>Hỏng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hóc</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ảnh</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hưởng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cần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lưu</a:t>
            </a:r>
            <a:r>
              <a:rPr lang="en-US" sz="2000" b="1" i="0" u="none" strike="noStrike" cap="none" dirty="0">
                <a:solidFill>
                  <a:srgbClr val="FF0000"/>
                </a:solidFill>
                <a:latin typeface="Times New Roman"/>
                <a:ea typeface="Times New Roman"/>
                <a:cs typeface="Times New Roman"/>
                <a:sym typeface="Times New Roman"/>
              </a:rPr>
              <a:t> ý:</a:t>
            </a:r>
            <a:endParaRPr sz="16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dirty="0">
                <a:solidFill>
                  <a:schemeClr val="dk1"/>
                </a:solidFill>
                <a:latin typeface="Times New Roman"/>
                <a:ea typeface="Times New Roman"/>
                <a:cs typeface="Times New Roman"/>
                <a:sym typeface="Times New Roman"/>
              </a:rPr>
              <a:t>• A888 - CHILLER SYS INOP DURING CRUISE: </a:t>
            </a:r>
            <a:r>
              <a:rPr lang="en-US" sz="1600" dirty="0" err="1">
                <a:solidFill>
                  <a:schemeClr val="dk1"/>
                </a:solidFill>
                <a:latin typeface="Times New Roman"/>
                <a:ea typeface="Times New Roman"/>
                <a:cs typeface="Times New Roman"/>
                <a:sym typeface="Times New Roman"/>
              </a:rPr>
              <a:t>đặt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hàng</a:t>
            </a:r>
            <a:r>
              <a:rPr lang="en-US" sz="1600" dirty="0">
                <a:solidFill>
                  <a:schemeClr val="dk1"/>
                </a:solidFill>
                <a:latin typeface="Times New Roman"/>
                <a:ea typeface="Times New Roman"/>
                <a:cs typeface="Times New Roman"/>
                <a:sym typeface="Times New Roman"/>
              </a:rPr>
              <a:t> VCRU, </a:t>
            </a:r>
            <a:r>
              <a:rPr lang="en-US" sz="1600" dirty="0" err="1">
                <a:solidFill>
                  <a:schemeClr val="dk1"/>
                </a:solidFill>
                <a:latin typeface="Times New Roman"/>
                <a:ea typeface="Times New Roman"/>
                <a:cs typeface="Times New Roman"/>
                <a:sym typeface="Times New Roman"/>
              </a:rPr>
              <a:t>chưa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EDD.</a:t>
            </a:r>
            <a:endParaRPr sz="16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dirty="0">
                <a:solidFill>
                  <a:schemeClr val="dk1"/>
                </a:solidFill>
                <a:latin typeface="Times New Roman"/>
                <a:ea typeface="Times New Roman"/>
                <a:cs typeface="Times New Roman"/>
                <a:sym typeface="Times New Roman"/>
              </a:rPr>
              <a:t>• A890 - APU INOP: APU </a:t>
            </a:r>
            <a:r>
              <a:rPr lang="en-US" sz="1600" dirty="0" smtClean="0">
                <a:solidFill>
                  <a:schemeClr val="dk1"/>
                </a:solidFill>
                <a:latin typeface="Times New Roman"/>
                <a:ea typeface="Times New Roman"/>
                <a:cs typeface="Times New Roman"/>
                <a:sym typeface="Times New Roman"/>
              </a:rPr>
              <a:t>EST 16/05.</a:t>
            </a:r>
            <a:endParaRPr sz="16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dirty="0">
                <a:solidFill>
                  <a:schemeClr val="dk1"/>
                </a:solidFill>
                <a:latin typeface="Times New Roman"/>
                <a:ea typeface="Times New Roman"/>
                <a:cs typeface="Times New Roman"/>
                <a:sym typeface="Times New Roman"/>
              </a:rPr>
              <a:t>• A897 - SEAL OF RH INBOARD AI-LERON DAMAGED:  </a:t>
            </a:r>
            <a:r>
              <a:rPr lang="en-US" sz="1600" dirty="0" err="1">
                <a:solidFill>
                  <a:schemeClr val="dk1"/>
                </a:solidFill>
                <a:latin typeface="Times New Roman"/>
                <a:ea typeface="Times New Roman"/>
                <a:cs typeface="Times New Roman"/>
                <a:sym typeface="Times New Roman"/>
              </a:rPr>
              <a:t>đặt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hàng</a:t>
            </a:r>
            <a:r>
              <a:rPr lang="en-US" sz="1600" dirty="0">
                <a:solidFill>
                  <a:schemeClr val="dk1"/>
                </a:solidFill>
                <a:latin typeface="Times New Roman"/>
                <a:ea typeface="Times New Roman"/>
                <a:cs typeface="Times New Roman"/>
                <a:sym typeface="Times New Roman"/>
              </a:rPr>
              <a:t> Seal (Vaeco </a:t>
            </a:r>
            <a:r>
              <a:rPr lang="en-US" sz="1600" dirty="0" err="1">
                <a:solidFill>
                  <a:schemeClr val="dk1"/>
                </a:solidFill>
                <a:latin typeface="Times New Roman"/>
                <a:ea typeface="Times New Roman"/>
                <a:cs typeface="Times New Roman"/>
                <a:sym typeface="Times New Roman"/>
              </a:rPr>
              <a:t>cung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ứng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chờ</a:t>
            </a:r>
            <a:r>
              <a:rPr lang="en-US" sz="1600" dirty="0">
                <a:solidFill>
                  <a:schemeClr val="dk1"/>
                </a:solidFill>
                <a:latin typeface="Times New Roman"/>
                <a:ea typeface="Times New Roman"/>
                <a:cs typeface="Times New Roman"/>
                <a:sym typeface="Times New Roman"/>
              </a:rPr>
              <a:t> Airbus </a:t>
            </a:r>
            <a:r>
              <a:rPr lang="en-US" sz="1600" dirty="0" err="1">
                <a:solidFill>
                  <a:schemeClr val="dk1"/>
                </a:solidFill>
                <a:latin typeface="Times New Roman"/>
                <a:ea typeface="Times New Roman"/>
                <a:cs typeface="Times New Roman"/>
                <a:sym typeface="Times New Roman"/>
              </a:rPr>
              <a:t>cập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nhật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kế</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hoạch</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r>
              <a:rPr lang="en-US" sz="1600" b="0" i="0" u="none" strike="noStrike" cap="none" dirty="0">
                <a:solidFill>
                  <a:schemeClr val="dk1"/>
                </a:solidFill>
                <a:latin typeface="Times New Roman"/>
                <a:ea typeface="Times New Roman"/>
                <a:cs typeface="Times New Roman"/>
                <a:sym typeface="Times New Roman"/>
              </a:rPr>
              <a:t> </a:t>
            </a:r>
            <a:endParaRPr sz="20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10000"/>
              </a:lnSpc>
              <a:spcBef>
                <a:spcPts val="0"/>
              </a:spcBef>
              <a:spcAft>
                <a:spcPts val="0"/>
              </a:spcAft>
              <a:buClr>
                <a:srgbClr val="000000"/>
              </a:buClr>
              <a:buSzPts val="1500"/>
              <a:buFont typeface="Arial"/>
              <a:buNone/>
            </a:pPr>
            <a:endParaRPr sz="1500" b="0" i="0" u="none" strike="noStrike" cap="none" dirty="0">
              <a:solidFill>
                <a:schemeClr val="dk1"/>
              </a:solidFill>
              <a:latin typeface="Times New Roman"/>
              <a:ea typeface="Times New Roman"/>
              <a:cs typeface="Times New Roman"/>
              <a:sym typeface="Times New Roman"/>
            </a:endParaRPr>
          </a:p>
        </p:txBody>
      </p:sp>
      <p:pic>
        <p:nvPicPr>
          <p:cNvPr id="247" name="Google Shape;247;g31ccdae391d_0_339"/>
          <p:cNvPicPr preferRelativeResize="0"/>
          <p:nvPr/>
        </p:nvPicPr>
        <p:blipFill>
          <a:blip r:embed="rId3">
            <a:alphaModFix/>
          </a:blip>
          <a:stretch>
            <a:fillRect/>
          </a:stretch>
        </p:blipFill>
        <p:spPr>
          <a:xfrm>
            <a:off x="785813" y="3262313"/>
            <a:ext cx="10620375" cy="1552575"/>
          </a:xfrm>
          <a:prstGeom prst="rect">
            <a:avLst/>
          </a:prstGeom>
          <a:noFill/>
          <a:ln>
            <a:noFill/>
          </a:ln>
        </p:spPr>
      </p:pic>
    </p:spTree>
    <p:extLst>
      <p:ext uri="{BB962C8B-B14F-4D97-AF65-F5344CB8AC3E}">
        <p14:creationId xmlns:p14="http://schemas.microsoft.com/office/powerpoint/2010/main" val="372572688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g31ccdae391d_0_347"/>
          <p:cNvSpPr txBox="1">
            <a:spLocks noGrp="1"/>
          </p:cNvSpPr>
          <p:nvPr>
            <p:ph type="title"/>
          </p:nvPr>
        </p:nvSpPr>
        <p:spPr>
          <a:xfrm>
            <a:off x="276335" y="-18089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ATR</a:t>
            </a:r>
            <a:endParaRPr sz="2800">
              <a:solidFill>
                <a:srgbClr val="FFC000"/>
              </a:solidFill>
              <a:latin typeface="Times New Roman"/>
              <a:ea typeface="Times New Roman"/>
              <a:cs typeface="Times New Roman"/>
              <a:sym typeface="Times New Roman"/>
            </a:endParaRPr>
          </a:p>
        </p:txBody>
      </p:sp>
      <p:sp>
        <p:nvSpPr>
          <p:cNvPr id="254" name="Google Shape;254;g31ccdae391d_0_34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64</a:t>
            </a:fld>
            <a:endParaRPr/>
          </a:p>
        </p:txBody>
      </p:sp>
      <p:graphicFrame>
        <p:nvGraphicFramePr>
          <p:cNvPr id="255" name="Google Shape;255;g31ccdae391d_0_347"/>
          <p:cNvGraphicFramePr/>
          <p:nvPr>
            <p:extLst/>
          </p:nvPr>
        </p:nvGraphicFramePr>
        <p:xfrm>
          <a:off x="439614" y="221847"/>
          <a:ext cx="11611325" cy="6311045"/>
        </p:xfrm>
        <a:graphic>
          <a:graphicData uri="http://schemas.openxmlformats.org/drawingml/2006/table">
            <a:tbl>
              <a:tblPr>
                <a:noFill/>
              </a:tblPr>
              <a:tblGrid>
                <a:gridCol w="548675">
                  <a:extLst>
                    <a:ext uri="{9D8B030D-6E8A-4147-A177-3AD203B41FA5}">
                      <a16:colId xmlns:a16="http://schemas.microsoft.com/office/drawing/2014/main" val="20000"/>
                    </a:ext>
                  </a:extLst>
                </a:gridCol>
                <a:gridCol w="1774900">
                  <a:extLst>
                    <a:ext uri="{9D8B030D-6E8A-4147-A177-3AD203B41FA5}">
                      <a16:colId xmlns:a16="http://schemas.microsoft.com/office/drawing/2014/main" val="20001"/>
                    </a:ext>
                  </a:extLst>
                </a:gridCol>
                <a:gridCol w="1550950">
                  <a:extLst>
                    <a:ext uri="{9D8B030D-6E8A-4147-A177-3AD203B41FA5}">
                      <a16:colId xmlns:a16="http://schemas.microsoft.com/office/drawing/2014/main" val="20002"/>
                    </a:ext>
                  </a:extLst>
                </a:gridCol>
                <a:gridCol w="2501400">
                  <a:extLst>
                    <a:ext uri="{9D8B030D-6E8A-4147-A177-3AD203B41FA5}">
                      <a16:colId xmlns:a16="http://schemas.microsoft.com/office/drawing/2014/main" val="20003"/>
                    </a:ext>
                  </a:extLst>
                </a:gridCol>
                <a:gridCol w="5235400">
                  <a:extLst>
                    <a:ext uri="{9D8B030D-6E8A-4147-A177-3AD203B41FA5}">
                      <a16:colId xmlns:a16="http://schemas.microsoft.com/office/drawing/2014/main" val="20004"/>
                    </a:ext>
                  </a:extLst>
                </a:gridCol>
              </a:tblGrid>
              <a:tr h="2184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dirty="0"/>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84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Tình trạng</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Blade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R815505-6/-9</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dirty="0">
                          <a:solidFill>
                            <a:schemeClr val="dk1"/>
                          </a:solidFill>
                          <a:latin typeface="Times New Roman"/>
                          <a:ea typeface="Times New Roman"/>
                          <a:cs typeface="Times New Roman"/>
                          <a:sym typeface="Times New Roman"/>
                        </a:rPr>
                        <a:t>07</a:t>
                      </a:r>
                      <a:r>
                        <a:rPr lang="en-US" sz="1400" u="none" strike="noStrike" cap="none" dirty="0">
                          <a:solidFill>
                            <a:schemeClr val="dk1"/>
                          </a:solidFill>
                          <a:latin typeface="Times New Roman"/>
                          <a:ea typeface="Times New Roman"/>
                          <a:cs typeface="Times New Roman"/>
                          <a:sym typeface="Times New Roman"/>
                        </a:rPr>
                        <a:t>EA: STK SGN (</a:t>
                      </a:r>
                      <a:r>
                        <a:rPr lang="en-US" dirty="0" err="1">
                          <a:solidFill>
                            <a:schemeClr val="dk1"/>
                          </a:solidFill>
                          <a:latin typeface="Times New Roman"/>
                          <a:ea typeface="Times New Roman"/>
                          <a:cs typeface="Times New Roman"/>
                          <a:sym typeface="Times New Roman"/>
                        </a:rPr>
                        <a:t>p/n</a:t>
                      </a:r>
                      <a:r>
                        <a:rPr lang="en-US" sz="1400" u="none" strike="noStrike" cap="none" dirty="0">
                          <a:solidFill>
                            <a:schemeClr val="dk1"/>
                          </a:solidFill>
                          <a:latin typeface="Times New Roman"/>
                          <a:ea typeface="Times New Roman"/>
                          <a:cs typeface="Times New Roman"/>
                          <a:sym typeface="Times New Roman"/>
                        </a:rPr>
                        <a:t> R815505-9</a:t>
                      </a:r>
                      <a:r>
                        <a:rPr lang="en-US" sz="1400" u="none" strike="noStrike" cap="none" dirty="0" smtClean="0">
                          <a:solidFill>
                            <a:schemeClr val="dk1"/>
                          </a:solidFill>
                          <a:latin typeface="Times New Roman"/>
                          <a:ea typeface="Times New Roman"/>
                          <a:cs typeface="Times New Roman"/>
                          <a:sym typeface="Times New Roman"/>
                        </a:rPr>
                        <a:t>)</a:t>
                      </a:r>
                      <a:endParaRPr sz="1400" u="none" strike="noStrike" cap="none" dirty="0">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Hub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815470-2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dirty="0">
                          <a:latin typeface="Times New Roman"/>
                          <a:ea typeface="Times New Roman"/>
                          <a:cs typeface="Times New Roman"/>
                          <a:sym typeface="Times New Roman"/>
                        </a:rPr>
                        <a:t>02EA: STK SGN</a:t>
                      </a:r>
                      <a:br>
                        <a:rPr lang="en-US" dirty="0">
                          <a:latin typeface="Times New Roman"/>
                          <a:ea typeface="Times New Roman"/>
                          <a:cs typeface="Times New Roman"/>
                          <a:sym typeface="Times New Roman"/>
                        </a:rPr>
                      </a:br>
                      <a:r>
                        <a:rPr lang="en-US" dirty="0">
                          <a:latin typeface="Times New Roman"/>
                          <a:ea typeface="Times New Roman"/>
                          <a:cs typeface="Times New Roman"/>
                          <a:sym typeface="Times New Roman"/>
                        </a:rPr>
                        <a:t>01PO: </a:t>
                      </a:r>
                      <a:r>
                        <a:rPr lang="en-US" dirty="0" err="1">
                          <a:latin typeface="Times New Roman"/>
                          <a:ea typeface="Times New Roman"/>
                          <a:cs typeface="Times New Roman"/>
                          <a:sym typeface="Times New Roman"/>
                        </a:rPr>
                        <a:t>Chưa</a:t>
                      </a: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có</a:t>
                      </a:r>
                      <a:r>
                        <a:rPr lang="en-US" dirty="0">
                          <a:latin typeface="Times New Roman"/>
                          <a:ea typeface="Times New Roman"/>
                          <a:cs typeface="Times New Roman"/>
                          <a:sym typeface="Times New Roman"/>
                        </a:rPr>
                        <a:t> EDD </a:t>
                      </a:r>
                      <a:endParaRPr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Actuator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815585-7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End Wing-Left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S5741212100810</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P/N S5741212100810: STK = 0</a:t>
                      </a:r>
                      <a:endParaRPr sz="140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a:t>
                      </a:r>
                      <a:r>
                        <a:rPr lang="en-US">
                          <a:solidFill>
                            <a:schemeClr val="dk1"/>
                          </a:solidFill>
                          <a:latin typeface="Times New Roman"/>
                          <a:ea typeface="Times New Roman"/>
                          <a:cs typeface="Times New Roman"/>
                          <a:sym typeface="Times New Roman"/>
                        </a:rPr>
                        <a:t>1</a:t>
                      </a:r>
                      <a:r>
                        <a:rPr lang="en-US" sz="1400" u="none" strike="noStrike" cap="none">
                          <a:solidFill>
                            <a:schemeClr val="dk1"/>
                          </a:solidFill>
                          <a:latin typeface="Times New Roman"/>
                          <a:ea typeface="Times New Roman"/>
                          <a:cs typeface="Times New Roman"/>
                          <a:sym typeface="Times New Roman"/>
                        </a:rPr>
                        <a:t>EA: STK SGN P/N 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1098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P.E.C</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816332-5-401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dirty="0">
                          <a:solidFill>
                            <a:schemeClr val="dk1"/>
                          </a:solidFill>
                          <a:latin typeface="Times New Roman"/>
                          <a:ea typeface="Times New Roman"/>
                          <a:cs typeface="Times New Roman"/>
                          <a:sym typeface="Times New Roman"/>
                        </a:rPr>
                        <a:t>02EA: STK SGN</a:t>
                      </a:r>
                      <a:endParaRPr dirty="0"/>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594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MLG Shock Absorber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D23188000-</a:t>
                      </a:r>
                      <a:r>
                        <a:rPr lang="en-US">
                          <a:latin typeface="Times New Roman"/>
                          <a:ea typeface="Times New Roman"/>
                          <a:cs typeface="Times New Roman"/>
                          <a:sym typeface="Times New Roman"/>
                        </a:rPr>
                        <a:t>6B</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Hyd Leak</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RO R4580325: chưa có EDD</a:t>
                      </a: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7428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AFCS Computer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7003974-606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DASH ON ADU; CONNECTOR FOUND LOOSEN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dirty="0">
                          <a:solidFill>
                            <a:schemeClr val="dk1"/>
                          </a:solidFill>
                          <a:latin typeface="Times New Roman"/>
                          <a:ea typeface="Times New Roman"/>
                          <a:cs typeface="Times New Roman"/>
                          <a:sym typeface="Times New Roman"/>
                        </a:rPr>
                        <a:t>01EA: STK SGN</a:t>
                      </a:r>
                      <a:endParaRPr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dirty="0">
                          <a:solidFill>
                            <a:schemeClr val="dk1"/>
                          </a:solidFill>
                          <a:latin typeface="Times New Roman"/>
                          <a:ea typeface="Times New Roman"/>
                          <a:cs typeface="Times New Roman"/>
                          <a:sym typeface="Times New Roman"/>
                        </a:rPr>
                        <a:t>01RO: </a:t>
                      </a:r>
                      <a:r>
                        <a:rPr lang="en-US" dirty="0" err="1">
                          <a:solidFill>
                            <a:schemeClr val="dk1"/>
                          </a:solidFill>
                          <a:latin typeface="Times New Roman"/>
                          <a:ea typeface="Times New Roman"/>
                          <a:cs typeface="Times New Roman"/>
                          <a:sym typeface="Times New Roman"/>
                        </a:rPr>
                        <a:t>chưa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có</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thông</a:t>
                      </a:r>
                      <a:r>
                        <a:rPr lang="en-US" dirty="0">
                          <a:solidFill>
                            <a:schemeClr val="dk1"/>
                          </a:solidFill>
                          <a:latin typeface="Times New Roman"/>
                          <a:ea typeface="Times New Roman"/>
                          <a:cs typeface="Times New Roman"/>
                          <a:sym typeface="Times New Roman"/>
                        </a:rPr>
                        <a:t> </a:t>
                      </a:r>
                      <a:r>
                        <a:rPr lang="en-US" dirty="0" smtClean="0">
                          <a:solidFill>
                            <a:schemeClr val="dk1"/>
                          </a:solidFill>
                          <a:latin typeface="Times New Roman"/>
                          <a:ea typeface="Times New Roman"/>
                          <a:cs typeface="Times New Roman"/>
                          <a:sym typeface="Times New Roman"/>
                        </a:rPr>
                        <a:t>tin</a:t>
                      </a:r>
                      <a:endParaRPr dirty="0">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778184655"/>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g31ccdae391d_0_354"/>
          <p:cNvSpPr txBox="1">
            <a:spLocks noGrp="1"/>
          </p:cNvSpPr>
          <p:nvPr>
            <p:ph type="title"/>
          </p:nvPr>
        </p:nvSpPr>
        <p:spPr>
          <a:xfrm>
            <a:off x="276335" y="12391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Phanh, bánh lốp cho các đội bay</a:t>
            </a:r>
            <a:endParaRPr sz="2800">
              <a:solidFill>
                <a:srgbClr val="FFC000"/>
              </a:solidFill>
              <a:latin typeface="Times New Roman"/>
              <a:ea typeface="Times New Roman"/>
              <a:cs typeface="Times New Roman"/>
              <a:sym typeface="Times New Roman"/>
            </a:endParaRPr>
          </a:p>
        </p:txBody>
      </p:sp>
      <p:sp>
        <p:nvSpPr>
          <p:cNvPr id="262" name="Google Shape;262;g31ccdae391d_0_354"/>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65</a:t>
            </a:fld>
            <a:endParaRPr/>
          </a:p>
        </p:txBody>
      </p:sp>
      <p:graphicFrame>
        <p:nvGraphicFramePr>
          <p:cNvPr id="263" name="Google Shape;263;g31ccdae391d_0_354"/>
          <p:cNvGraphicFramePr/>
          <p:nvPr/>
        </p:nvGraphicFramePr>
        <p:xfrm>
          <a:off x="392714" y="718223"/>
          <a:ext cx="11570675" cy="5310995"/>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235450">
                  <a:extLst>
                    <a:ext uri="{9D8B030D-6E8A-4147-A177-3AD203B41FA5}">
                      <a16:colId xmlns:a16="http://schemas.microsoft.com/office/drawing/2014/main" val="20001"/>
                    </a:ext>
                  </a:extLst>
                </a:gridCol>
                <a:gridCol w="1470950">
                  <a:extLst>
                    <a:ext uri="{9D8B030D-6E8A-4147-A177-3AD203B41FA5}">
                      <a16:colId xmlns:a16="http://schemas.microsoft.com/office/drawing/2014/main" val="20002"/>
                    </a:ext>
                  </a:extLst>
                </a:gridCol>
                <a:gridCol w="4061500">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2155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55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Giải pháp và kiến nghị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286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Lốp cho các đội bay</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Lốp các loại đủ dự phòng</a:t>
                      </a:r>
                      <a:r>
                        <a:rPr lang="en-US">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-Ban QLVT </a:t>
                      </a:r>
                      <a:r>
                        <a:rPr lang="en-US">
                          <a:latin typeface="Times New Roman"/>
                          <a:ea typeface="Times New Roman"/>
                          <a:cs typeface="Times New Roman"/>
                          <a:sym typeface="Times New Roman"/>
                        </a:rPr>
                        <a:t>tiếp tục </a:t>
                      </a:r>
                      <a:r>
                        <a:rPr lang="en-US" sz="1400" u="none" strike="noStrike" cap="none">
                          <a:latin typeface="Times New Roman"/>
                          <a:ea typeface="Times New Roman"/>
                          <a:cs typeface="Times New Roman"/>
                          <a:sym typeface="Times New Roman"/>
                        </a:rPr>
                        <a:t>thúc đẩy lốp về </a:t>
                      </a:r>
                      <a:r>
                        <a:rPr lang="en-US">
                          <a:latin typeface="Times New Roman"/>
                          <a:ea typeface="Times New Roman"/>
                          <a:cs typeface="Times New Roman"/>
                          <a:sym typeface="Times New Roman"/>
                        </a:rPr>
                        <a:t>dự phòng</a:t>
                      </a:r>
                      <a:r>
                        <a:rPr lang="en-US" sz="1400" u="none" strike="noStrike" cap="none">
                          <a:latin typeface="Times New Roman"/>
                          <a:ea typeface="Times New Roman"/>
                          <a:cs typeface="Times New Roman"/>
                          <a:sym typeface="Times New Roman"/>
                        </a:rPr>
                        <a:t> </a:t>
                      </a:r>
                      <a:r>
                        <a:rPr lang="en-US">
                          <a:latin typeface="Times New Roman"/>
                          <a:ea typeface="Times New Roman"/>
                          <a:cs typeface="Times New Roman"/>
                          <a:sym typeface="Times New Roman"/>
                        </a:rPr>
                        <a:t>cho cao điểm hè 2025</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48297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cho Đội bay B787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C20648000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a:latin typeface="Times New Roman"/>
                          <a:ea typeface="Times New Roman"/>
                          <a:cs typeface="Times New Roman"/>
                          <a:sym typeface="Times New Roman"/>
                        </a:rPr>
                        <a:t>02ea in stock. dự kiến 01ea về ngày 22/04.</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Ban QLVT đang làm việc với Safran thúc đẩy</a:t>
                      </a:r>
                      <a:r>
                        <a:rPr lang="en-US" sz="1400" u="none" strike="noStrike" cap="none">
                          <a:latin typeface="Times New Roman"/>
                          <a:ea typeface="Times New Roman"/>
                          <a:cs typeface="Times New Roman"/>
                          <a:sym typeface="Times New Roman"/>
                        </a:rPr>
                        <a:t> các </a:t>
                      </a:r>
                      <a:r>
                        <a:rPr lang="en-US" sz="1400" b="0" i="0" u="none" strike="noStrike" cap="none">
                          <a:solidFill>
                            <a:srgbClr val="000000"/>
                          </a:solidFill>
                          <a:latin typeface="Times New Roman"/>
                          <a:ea typeface="Times New Roman"/>
                          <a:cs typeface="Times New Roman"/>
                          <a:sym typeface="Times New Roman"/>
                        </a:rPr>
                        <a:t>cụm phanh đang sửa chữa về</a:t>
                      </a:r>
                      <a:r>
                        <a:rPr lang="en-US" sz="1400" u="none" strike="noStrike" cap="none">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Tần suất thay phanh B787 đang gia tăng, Ban QLVT đã đề nghị Ban KT và VAECO cập nhật kế hoạch thay phanh cho 3 tháng tới  và rà soát làm stagger </a:t>
                      </a:r>
                      <a:r>
                        <a:rPr lang="en-US" sz="1400" u="none" strike="noStrike" cap="none">
                          <a:solidFill>
                            <a:schemeClr val="dk1"/>
                          </a:solidFill>
                          <a:latin typeface="Times New Roman"/>
                          <a:ea typeface="Times New Roman"/>
                          <a:cs typeface="Times New Roman"/>
                          <a:sym typeface="Times New Roman"/>
                        </a:rPr>
                        <a:t>để tránh tình trạng thay phanh hàng loạt</a:t>
                      </a:r>
                      <a:r>
                        <a:rPr lang="en-US">
                          <a:solidFill>
                            <a:schemeClr val="dk1"/>
                          </a:solidFill>
                          <a:latin typeface="Times New Roman"/>
                          <a:ea typeface="Times New Roman"/>
                          <a:cs typeface="Times New Roman"/>
                          <a:sym typeface="Times New Roman"/>
                        </a:rPr>
                        <a:t> những</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1224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A350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2-1756-1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04ea in stock.</a:t>
                      </a:r>
                      <a:endParaRPr sz="1400" u="none" strike="noStrike" cap="none">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Times New Roman"/>
                          <a:ea typeface="Times New Roman"/>
                          <a:cs typeface="Times New Roman"/>
                          <a:sym typeface="Times New Roman"/>
                        </a:rPr>
                        <a:t> - Tần suất thay phanh A350 đang gia tăng rất nhanh, Ban QLVT đã đề nghị Ban KT và VAECO cập nhật kế hoạch thay phanh cho 3 tháng tới và rà soát làm stagger để tránh tình trạng thay phanh hàng loạt.</a:t>
                      </a:r>
                      <a:r>
                        <a:rPr lang="en-US" sz="1400" u="none" strike="noStrike" cap="none">
                          <a:latin typeface="Times New Roman"/>
                          <a:ea typeface="Times New Roman"/>
                          <a:cs typeface="Times New Roman"/>
                          <a:sym typeface="Times New Roman"/>
                        </a:rPr>
                        <a:t/>
                      </a:r>
                      <a:br>
                        <a:rPr lang="en-US" sz="1400" u="none" strike="noStrike" cap="none">
                          <a:latin typeface="Times New Roman"/>
                          <a:ea typeface="Times New Roman"/>
                          <a:cs typeface="Times New Roman"/>
                          <a:sym typeface="Times New Roman"/>
                        </a:rPr>
                      </a:b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4360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A321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C20534100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a:solidFill>
                            <a:schemeClr val="dk1"/>
                          </a:solidFill>
                          <a:latin typeface="Times New Roman"/>
                          <a:ea typeface="Times New Roman"/>
                          <a:cs typeface="Times New Roman"/>
                          <a:sym typeface="Times New Roman"/>
                        </a:rPr>
                        <a:t>04ea in stock. trong tuần 15 sẽ có thêm 05ea.</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r>
                        <a:rPr lang="en-US" sz="1400" u="none" strike="noStrike" cap="none">
                          <a:latin typeface="Times New Roman"/>
                          <a:ea typeface="Times New Roman"/>
                          <a:cs typeface="Times New Roman"/>
                          <a:sym typeface="Times New Roman"/>
                        </a:rPr>
                        <a:t>Ban QLVT đang tiếp tục  thúc đẩy các heat sink A321 về để phục vụ bảo dưỡng phanh A321.</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a:t>
                      </a:r>
                      <a:r>
                        <a:rPr lang="en-US" sz="1400" u="none" strike="noStrike" cap="none">
                          <a:solidFill>
                            <a:schemeClr val="dk1"/>
                          </a:solidFill>
                          <a:latin typeface="Times New Roman"/>
                          <a:ea typeface="Times New Roman"/>
                          <a:cs typeface="Times New Roman"/>
                          <a:sym typeface="Times New Roman"/>
                        </a:rPr>
                        <a:t>Ban QLVT đã đề nghị Ban KT và VAECO cập nhật kế hoạch làm stagger phanh A321 tránh việc thay phanh hàng loạt.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7619432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g31ccdae391d_0_361"/>
          <p:cNvSpPr txBox="1">
            <a:spLocks noGrp="1"/>
          </p:cNvSpPr>
          <p:nvPr>
            <p:ph type="title"/>
          </p:nvPr>
        </p:nvSpPr>
        <p:spPr>
          <a:xfrm>
            <a:off x="913579" y="37903"/>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70" name="Google Shape;270;g31ccdae391d_0_36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66</a:t>
            </a:fld>
            <a:endParaRPr/>
          </a:p>
        </p:txBody>
      </p:sp>
      <p:sp>
        <p:nvSpPr>
          <p:cNvPr id="271" name="Google Shape;271;g31ccdae391d_0_361"/>
          <p:cNvSpPr/>
          <p:nvPr/>
        </p:nvSpPr>
        <p:spPr>
          <a:xfrm>
            <a:off x="609900" y="80143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a:t>
            </a:r>
            <a:r>
              <a:rPr lang="en-US" sz="1500" b="1" i="0" u="none" strike="noStrike" cap="none">
                <a:solidFill>
                  <a:srgbClr val="FF0000"/>
                </a:solidFill>
                <a:highlight>
                  <a:schemeClr val="lt1"/>
                </a:highlight>
                <a:latin typeface="Times New Roman"/>
                <a:ea typeface="Times New Roman"/>
                <a:cs typeface="Times New Roman"/>
                <a:sym typeface="Times New Roman"/>
              </a:rPr>
              <a:t>Đội bay A350:</a:t>
            </a:r>
            <a:endParaRPr sz="1500" b="1" i="0" u="none" strike="noStrike" cap="none">
              <a:solidFill>
                <a:srgbClr val="FF0000"/>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dự phòng: 03ea (thuê dài hạn) &amp; 03 động cơ thuê ngắn hạn + </a:t>
            </a:r>
            <a:r>
              <a:rPr lang="en-US" sz="1500">
                <a:solidFill>
                  <a:schemeClr val="dk1"/>
                </a:solidFill>
                <a:highlight>
                  <a:schemeClr val="lt1"/>
                </a:highlight>
                <a:latin typeface="Times New Roman"/>
                <a:ea typeface="Times New Roman"/>
                <a:cs typeface="Times New Roman"/>
                <a:sym typeface="Times New Roman"/>
              </a:rPr>
              <a:t>01 động cơ new (giao HAN 22/01).</a:t>
            </a:r>
            <a:endParaRPr sz="1500" b="0" i="0" u="none" strike="noStrike" cap="none">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trong kho: </a:t>
            </a:r>
            <a:r>
              <a:rPr lang="en-US" sz="1500">
                <a:solidFill>
                  <a:schemeClr val="dk1"/>
                </a:solidFill>
                <a:highlight>
                  <a:schemeClr val="lt1"/>
                </a:highlight>
                <a:latin typeface="Times New Roman"/>
                <a:ea typeface="Times New Roman"/>
                <a:cs typeface="Times New Roman"/>
                <a:sym typeface="Times New Roman"/>
              </a:rPr>
              <a:t>NIL</a:t>
            </a:r>
            <a:endParaRPr sz="150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động cơ đang tại shop sửa chữa: 0</a:t>
            </a:r>
            <a:r>
              <a:rPr lang="en-US" sz="1500">
                <a:solidFill>
                  <a:schemeClr val="dk1"/>
                </a:solidFill>
                <a:highlight>
                  <a:schemeClr val="lt1"/>
                </a:highlight>
                <a:latin typeface="Times New Roman"/>
                <a:ea typeface="Times New Roman"/>
                <a:cs typeface="Times New Roman"/>
                <a:sym typeface="Times New Roman"/>
              </a:rPr>
              <a:t>8</a:t>
            </a:r>
            <a:r>
              <a:rPr lang="en-US" sz="1500" b="0" i="0" u="none" strike="noStrike" cap="none">
                <a:solidFill>
                  <a:schemeClr val="dk1"/>
                </a:solidFill>
                <a:highlight>
                  <a:schemeClr val="lt1"/>
                </a:highlight>
                <a:latin typeface="Times New Roman"/>
                <a:ea typeface="Times New Roman"/>
                <a:cs typeface="Times New Roman"/>
                <a:sym typeface="Times New Roman"/>
              </a:rPr>
              <a:t>ea (0</a:t>
            </a:r>
            <a:r>
              <a:rPr lang="en-US" sz="1500">
                <a:solidFill>
                  <a:schemeClr val="dk1"/>
                </a:solidFill>
                <a:highlight>
                  <a:schemeClr val="lt1"/>
                </a:highlight>
                <a:latin typeface="Times New Roman"/>
                <a:ea typeface="Times New Roman"/>
                <a:cs typeface="Times New Roman"/>
                <a:sym typeface="Times New Roman"/>
              </a:rPr>
              <a:t>4</a:t>
            </a:r>
            <a:r>
              <a:rPr lang="en-US" sz="1500" b="0" i="0" u="none" strike="noStrike" cap="none">
                <a:solidFill>
                  <a:schemeClr val="dk1"/>
                </a:solidFill>
                <a:highlight>
                  <a:schemeClr val="lt1"/>
                </a:highlight>
                <a:latin typeface="Times New Roman"/>
                <a:ea typeface="Times New Roman"/>
                <a:cs typeface="Times New Roman"/>
                <a:sym typeface="Times New Roman"/>
              </a:rPr>
              <a:t> động cơ 21047 và 21043 và 21317, 21048 sửa tại N3 và 0</a:t>
            </a:r>
            <a:r>
              <a:rPr lang="en-US" sz="1500">
                <a:solidFill>
                  <a:schemeClr val="dk1"/>
                </a:solidFill>
                <a:highlight>
                  <a:schemeClr val="lt1"/>
                </a:highlight>
                <a:latin typeface="Times New Roman"/>
                <a:ea typeface="Times New Roman"/>
                <a:cs typeface="Times New Roman"/>
                <a:sym typeface="Times New Roman"/>
              </a:rPr>
              <a:t>1</a:t>
            </a:r>
            <a:r>
              <a:rPr lang="en-US" sz="1500" b="0" i="0" u="none" strike="noStrike" cap="none">
                <a:solidFill>
                  <a:schemeClr val="dk1"/>
                </a:solidFill>
                <a:highlight>
                  <a:schemeClr val="lt1"/>
                </a:highlight>
                <a:latin typeface="Times New Roman"/>
                <a:ea typeface="Times New Roman"/>
                <a:cs typeface="Times New Roman"/>
                <a:sym typeface="Times New Roman"/>
              </a:rPr>
              <a:t> động cơ 21201 sửa tại HAESL v</a:t>
            </a:r>
            <a:r>
              <a:rPr lang="en-US" sz="1500">
                <a:solidFill>
                  <a:schemeClr val="dk1"/>
                </a:solidFill>
                <a:highlight>
                  <a:schemeClr val="lt1"/>
                </a:highlight>
                <a:latin typeface="Times New Roman"/>
                <a:ea typeface="Times New Roman"/>
                <a:cs typeface="Times New Roman"/>
                <a:sym typeface="Times New Roman"/>
              </a:rPr>
              <a:t>à 03 tại SEASL 21584, 21414 và 21604</a:t>
            </a:r>
            <a:r>
              <a:rPr lang="en-US" sz="1500" b="0" i="0" u="none" strike="noStrike" cap="none">
                <a:solidFill>
                  <a:schemeClr val="dk1"/>
                </a:solidFill>
                <a:highlight>
                  <a:schemeClr val="lt1"/>
                </a:highlight>
                <a:latin typeface="Times New Roman"/>
                <a:ea typeface="Times New Roman"/>
                <a:cs typeface="Times New Roman"/>
                <a:sym typeface="Times New Roman"/>
              </a:rPr>
              <a:t>)</a:t>
            </a:r>
            <a:r>
              <a:rPr lang="en-US" sz="1500">
                <a:solidFill>
                  <a:schemeClr val="dk1"/>
                </a:solidFill>
                <a:highlight>
                  <a:schemeClr val="lt1"/>
                </a:highlight>
                <a:latin typeface="Times New Roman"/>
                <a:ea typeface="Times New Roman"/>
                <a:cs typeface="Times New Roman"/>
                <a:sym typeface="Times New Roman"/>
              </a:rPr>
              <a:t>. Trong đó 02 động cơ sửa xong tháng 4/2025 (21422 tại HAESL và 21047 tại N3) </a:t>
            </a:r>
            <a:endParaRPr sz="1500" b="0" i="0" u="none" strike="noStrike" cap="none">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•Đã thu xếp chuyển 01 core engine stand từ N3 về để swap động cơ vào tháo tiếp động cơ gửi đi shop.</a:t>
            </a:r>
            <a:endParaRPr sz="1500" b="0" i="0" u="none" strike="noStrike" cap="none">
              <a:solidFill>
                <a:schemeClr val="dk1"/>
              </a:solidFill>
              <a:highlight>
                <a:schemeClr val="lt1"/>
              </a:highlight>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a:solidFill>
                  <a:schemeClr val="dk1"/>
                </a:solidFill>
                <a:highlight>
                  <a:schemeClr val="lt1"/>
                </a:highlight>
                <a:latin typeface="Times New Roman"/>
                <a:ea typeface="Times New Roman"/>
                <a:cs typeface="Times New Roman"/>
                <a:sym typeface="Times New Roman"/>
              </a:rPr>
              <a:t>đã thu xếp chuyển 01 stand từ SIN về HKG cho động cơ 21422.</a:t>
            </a:r>
            <a:endParaRPr sz="1500">
              <a:solidFill>
                <a:schemeClr val="dk1"/>
              </a:solidFill>
              <a:highlight>
                <a:schemeClr val="lt1"/>
              </a:highlight>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a:solidFill>
                  <a:schemeClr val="dk1"/>
                </a:solidFill>
                <a:highlight>
                  <a:schemeClr val="lt1"/>
                </a:highlight>
                <a:latin typeface="Times New Roman"/>
                <a:ea typeface="Times New Roman"/>
                <a:cs typeface="Times New Roman"/>
                <a:sym typeface="Times New Roman"/>
              </a:rPr>
              <a:t>động cơ 21422 từ HKG về HAN giao VAECO ngày 14Apr2025 và đang lắp cho A898.</a:t>
            </a:r>
            <a:endParaRPr sz="1500">
              <a:solidFill>
                <a:schemeClr val="dk1"/>
              </a:solidFill>
              <a:highlight>
                <a:schemeClr val="lt1"/>
              </a:highlight>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a:solidFill>
                  <a:schemeClr val="dk1"/>
                </a:solidFill>
                <a:highlight>
                  <a:schemeClr val="lt1"/>
                </a:highlight>
                <a:latin typeface="Times New Roman"/>
                <a:ea typeface="Times New Roman"/>
                <a:cs typeface="Times New Roman"/>
                <a:sym typeface="Times New Roman"/>
              </a:rPr>
              <a:t>động cơ 21047 dự kiến thu xếp chuyển về SGN thay cho A899 giao 27Apr2025.</a:t>
            </a:r>
            <a:endParaRPr sz="150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1" i="0" u="none" strike="noStrike" cap="none">
                <a:solidFill>
                  <a:srgbClr val="FF0000"/>
                </a:solidFill>
                <a:highlight>
                  <a:schemeClr val="lt1"/>
                </a:highlight>
                <a:latin typeface="Times New Roman"/>
                <a:ea typeface="Times New Roman"/>
                <a:cs typeface="Times New Roman"/>
                <a:sym typeface="Times New Roman"/>
              </a:rPr>
              <a:t>- Đội bay B787:</a:t>
            </a:r>
            <a:endParaRPr sz="1500" b="1" i="0" u="none" strike="noStrike" cap="none">
              <a:solidFill>
                <a:srgbClr val="FF0000"/>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dự phòng: </a:t>
            </a:r>
            <a:r>
              <a:rPr lang="en-US" sz="1500">
                <a:solidFill>
                  <a:schemeClr val="dk1"/>
                </a:solidFill>
                <a:highlight>
                  <a:schemeClr val="lt1"/>
                </a:highlight>
                <a:latin typeface="Times New Roman"/>
                <a:ea typeface="Times New Roman"/>
                <a:cs typeface="Times New Roman"/>
                <a:sym typeface="Times New Roman"/>
              </a:rPr>
              <a:t>10</a:t>
            </a:r>
            <a:r>
              <a:rPr lang="en-US" sz="1500" b="0" i="0" u="none" strike="noStrike" cap="none">
                <a:solidFill>
                  <a:schemeClr val="dk1"/>
                </a:solidFill>
                <a:highlight>
                  <a:schemeClr val="lt1"/>
                </a:highlight>
                <a:latin typeface="Times New Roman"/>
                <a:ea typeface="Times New Roman"/>
                <a:cs typeface="Times New Roman"/>
                <a:sym typeface="Times New Roman"/>
              </a:rPr>
              <a:t>ea (2 sở hữu, 2 dài hạn và </a:t>
            </a:r>
            <a:r>
              <a:rPr lang="en-US" sz="1500">
                <a:solidFill>
                  <a:schemeClr val="dk1"/>
                </a:solidFill>
                <a:highlight>
                  <a:schemeClr val="lt1"/>
                </a:highlight>
                <a:latin typeface="Times New Roman"/>
                <a:ea typeface="Times New Roman"/>
                <a:cs typeface="Times New Roman"/>
                <a:sym typeface="Times New Roman"/>
              </a:rPr>
              <a:t>6</a:t>
            </a:r>
            <a:r>
              <a:rPr lang="en-US" sz="1500" b="0" i="0" u="none" strike="noStrike" cap="none">
                <a:solidFill>
                  <a:schemeClr val="dk1"/>
                </a:solidFill>
                <a:highlight>
                  <a:schemeClr val="lt1"/>
                </a:highlight>
                <a:latin typeface="Times New Roman"/>
                <a:ea typeface="Times New Roman"/>
                <a:cs typeface="Times New Roman"/>
                <a:sym typeface="Times New Roman"/>
              </a:rPr>
              <a:t> ngắn hạn) đã ký thêm </a:t>
            </a:r>
            <a:r>
              <a:rPr lang="en-US" sz="1500">
                <a:solidFill>
                  <a:schemeClr val="dk1"/>
                </a:solidFill>
                <a:highlight>
                  <a:schemeClr val="lt1"/>
                </a:highlight>
                <a:latin typeface="Times New Roman"/>
                <a:ea typeface="Times New Roman"/>
                <a:cs typeface="Times New Roman"/>
                <a:sym typeface="Times New Roman"/>
              </a:rPr>
              <a:t>01</a:t>
            </a:r>
            <a:r>
              <a:rPr lang="en-US" sz="1500" b="0" i="0" u="none" strike="noStrike" cap="none">
                <a:solidFill>
                  <a:schemeClr val="dk1"/>
                </a:solidFill>
                <a:highlight>
                  <a:schemeClr val="lt1"/>
                </a:highlight>
                <a:latin typeface="Times New Roman"/>
                <a:ea typeface="Times New Roman"/>
                <a:cs typeface="Times New Roman"/>
                <a:sym typeface="Times New Roman"/>
              </a:rPr>
              <a:t> hđ thuê đc M</a:t>
            </a:r>
            <a:r>
              <a:rPr lang="en-US" sz="1500">
                <a:solidFill>
                  <a:schemeClr val="dk1"/>
                </a:solidFill>
                <a:highlight>
                  <a:schemeClr val="lt1"/>
                </a:highlight>
                <a:latin typeface="Times New Roman"/>
                <a:ea typeface="Times New Roman"/>
                <a:cs typeface="Times New Roman"/>
                <a:sym typeface="Times New Roman"/>
              </a:rPr>
              <a:t>ar/2025 </a:t>
            </a:r>
            <a:r>
              <a:rPr lang="en-US" sz="1500" b="0" i="0" u="none" strike="noStrike" cap="none">
                <a:solidFill>
                  <a:schemeClr val="dk1"/>
                </a:solidFill>
                <a:highlight>
                  <a:schemeClr val="lt1"/>
                </a:highlight>
                <a:latin typeface="Times New Roman"/>
                <a:ea typeface="Times New Roman"/>
                <a:cs typeface="Times New Roman"/>
                <a:sym typeface="Times New Roman"/>
              </a:rPr>
              <a:t>với Aercap.</a:t>
            </a:r>
            <a:endParaRPr sz="1500" b="0" i="0" u="none" strike="noStrike" cap="none">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trong kho: </a:t>
            </a:r>
            <a:r>
              <a:rPr lang="en-US" sz="1500">
                <a:solidFill>
                  <a:schemeClr val="dk1"/>
                </a:solidFill>
                <a:highlight>
                  <a:schemeClr val="lt1"/>
                </a:highlight>
                <a:latin typeface="Times New Roman"/>
                <a:ea typeface="Times New Roman"/>
                <a:cs typeface="Times New Roman"/>
                <a:sym typeface="Times New Roman"/>
              </a:rPr>
              <a:t>0</a:t>
            </a:r>
            <a:endParaRPr sz="150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động cơ đang tại shop sửa chữa:</a:t>
            </a:r>
            <a:endParaRPr sz="1500" b="0" i="0" u="none" strike="noStrike" cap="none">
              <a:solidFill>
                <a:schemeClr val="dk1"/>
              </a:solidFill>
              <a:highlight>
                <a:schemeClr val="lt1"/>
              </a:highlight>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0" i="0" u="none" strike="noStrike" cap="none">
                <a:solidFill>
                  <a:schemeClr val="dk1"/>
                </a:solidFill>
                <a:highlight>
                  <a:schemeClr val="lt1"/>
                </a:highlight>
                <a:latin typeface="Times New Roman"/>
                <a:ea typeface="Times New Roman"/>
                <a:cs typeface="Times New Roman"/>
                <a:sym typeface="Times New Roman"/>
              </a:rPr>
              <a:t>0</a:t>
            </a:r>
            <a:r>
              <a:rPr lang="en-US" sz="1500">
                <a:solidFill>
                  <a:schemeClr val="dk1"/>
                </a:solidFill>
                <a:highlight>
                  <a:schemeClr val="lt1"/>
                </a:highlight>
                <a:latin typeface="Times New Roman"/>
                <a:ea typeface="Times New Roman"/>
                <a:cs typeface="Times New Roman"/>
                <a:sym typeface="Times New Roman"/>
              </a:rPr>
              <a:t>4</a:t>
            </a:r>
            <a:r>
              <a:rPr lang="en-US" sz="1500" b="0" i="0" u="none" strike="noStrike" cap="none">
                <a:solidFill>
                  <a:schemeClr val="dk1"/>
                </a:solidFill>
                <a:highlight>
                  <a:schemeClr val="lt1"/>
                </a:highlight>
                <a:latin typeface="Times New Roman"/>
                <a:ea typeface="Times New Roman"/>
                <a:cs typeface="Times New Roman"/>
                <a:sym typeface="Times New Roman"/>
              </a:rPr>
              <a:t> động cơ ở KLM shop:  956533, 956599 và 956947, 956534 (inducted th</a:t>
            </a:r>
            <a:r>
              <a:rPr lang="en-US" sz="1500">
                <a:solidFill>
                  <a:schemeClr val="dk1"/>
                </a:solidFill>
                <a:highlight>
                  <a:schemeClr val="lt1"/>
                </a:highlight>
                <a:latin typeface="Times New Roman"/>
                <a:ea typeface="Times New Roman"/>
                <a:cs typeface="Times New Roman"/>
                <a:sym typeface="Times New Roman"/>
              </a:rPr>
              <a:t>áng 4/2025)</a:t>
            </a:r>
            <a:r>
              <a:rPr lang="en-US" sz="1500" b="0" i="0" u="none" strike="noStrike" cap="none">
                <a:solidFill>
                  <a:schemeClr val="dk1"/>
                </a:solidFill>
                <a:highlight>
                  <a:schemeClr val="lt1"/>
                </a:highlight>
                <a:latin typeface="Times New Roman"/>
                <a:ea typeface="Times New Roman"/>
                <a:cs typeface="Times New Roman"/>
                <a:sym typeface="Times New Roman"/>
              </a:rPr>
              <a:t>. trong </a:t>
            </a:r>
            <a:r>
              <a:rPr lang="en-US" sz="1500">
                <a:solidFill>
                  <a:schemeClr val="dk1"/>
                </a:solidFill>
                <a:highlight>
                  <a:schemeClr val="lt1"/>
                </a:highlight>
                <a:latin typeface="Times New Roman"/>
                <a:ea typeface="Times New Roman"/>
                <a:cs typeface="Times New Roman"/>
                <a:sym typeface="Times New Roman"/>
              </a:rPr>
              <a:t>đó động cơ 956533 dự kiến giao 24th Apr về SGN 30Apr.</a:t>
            </a:r>
            <a:endParaRPr sz="1500" b="0" i="0" u="none" strike="noStrike" cap="none">
              <a:solidFill>
                <a:schemeClr val="dk1"/>
              </a:solidFill>
              <a:highlight>
                <a:schemeClr val="lt1"/>
              </a:highlight>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0" i="0" u="none" strike="noStrike" cap="none">
                <a:solidFill>
                  <a:schemeClr val="dk1"/>
                </a:solidFill>
                <a:highlight>
                  <a:schemeClr val="lt1"/>
                </a:highlight>
                <a:latin typeface="Times New Roman"/>
                <a:ea typeface="Times New Roman"/>
                <a:cs typeface="Times New Roman"/>
                <a:sym typeface="Times New Roman"/>
              </a:rPr>
              <a:t>0</a:t>
            </a:r>
            <a:r>
              <a:rPr lang="en-US" sz="1500">
                <a:solidFill>
                  <a:schemeClr val="dk1"/>
                </a:solidFill>
                <a:highlight>
                  <a:schemeClr val="lt1"/>
                </a:highlight>
                <a:latin typeface="Times New Roman"/>
                <a:ea typeface="Times New Roman"/>
                <a:cs typeface="Times New Roman"/>
                <a:sym typeface="Times New Roman"/>
              </a:rPr>
              <a:t>1</a:t>
            </a:r>
            <a:r>
              <a:rPr lang="en-US" sz="1500" b="0" i="0" u="none" strike="noStrike" cap="none">
                <a:solidFill>
                  <a:schemeClr val="dk1"/>
                </a:solidFill>
                <a:highlight>
                  <a:schemeClr val="lt1"/>
                </a:highlight>
                <a:latin typeface="Times New Roman"/>
                <a:ea typeface="Times New Roman"/>
                <a:cs typeface="Times New Roman"/>
                <a:sym typeface="Times New Roman"/>
              </a:rPr>
              <a:t> động cơ ở GE shop: 958398 (delay in GEEVES) d</a:t>
            </a:r>
            <a:r>
              <a:rPr lang="en-US" sz="1500">
                <a:solidFill>
                  <a:schemeClr val="dk1"/>
                </a:solidFill>
                <a:highlight>
                  <a:schemeClr val="lt1"/>
                </a:highlight>
                <a:latin typeface="Times New Roman"/>
                <a:ea typeface="Times New Roman"/>
                <a:cs typeface="Times New Roman"/>
                <a:sym typeface="Times New Roman"/>
              </a:rPr>
              <a:t>ự kiến giao cuối tháng 6/2025.</a:t>
            </a:r>
            <a:endParaRPr sz="150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a:t>
            </a:r>
            <a:r>
              <a:rPr lang="en-US" sz="1500">
                <a:highlight>
                  <a:schemeClr val="lt1"/>
                </a:highlight>
                <a:latin typeface="Times New Roman"/>
                <a:ea typeface="Times New Roman"/>
                <a:cs typeface="Times New Roman"/>
                <a:sym typeface="Times New Roman"/>
              </a:rPr>
              <a:t>Thuê </a:t>
            </a:r>
            <a:r>
              <a:rPr lang="en-US" sz="1500" b="0" i="0" u="none" strike="noStrike" cap="none">
                <a:solidFill>
                  <a:srgbClr val="000000"/>
                </a:solidFill>
                <a:highlight>
                  <a:schemeClr val="lt1"/>
                </a:highlight>
                <a:latin typeface="Times New Roman"/>
                <a:ea typeface="Times New Roman"/>
                <a:cs typeface="Times New Roman"/>
                <a:sym typeface="Times New Roman"/>
              </a:rPr>
              <a:t>động cơ đáp ứng KH sửa 2024-2025: B787 có 04 dự phòng và đang thuê 0</a:t>
            </a:r>
            <a:r>
              <a:rPr lang="en-US" sz="1500">
                <a:highlight>
                  <a:schemeClr val="lt1"/>
                </a:highlight>
                <a:latin typeface="Times New Roman"/>
                <a:ea typeface="Times New Roman"/>
                <a:cs typeface="Times New Roman"/>
                <a:sym typeface="Times New Roman"/>
              </a:rPr>
              <a:t>6</a:t>
            </a:r>
            <a:r>
              <a:rPr lang="en-US" sz="1500" b="0" i="0" u="none" strike="noStrike" cap="none">
                <a:solidFill>
                  <a:srgbClr val="000000"/>
                </a:solidFill>
                <a:highlight>
                  <a:schemeClr val="lt1"/>
                </a:highlight>
                <a:latin typeface="Times New Roman"/>
                <a:ea typeface="Times New Roman"/>
                <a:cs typeface="Times New Roman"/>
                <a:sym typeface="Times New Roman"/>
              </a:rPr>
              <a:t> của Aercap (956933; 958266 và 958934 958966 và 956626, 956980)</a:t>
            </a:r>
            <a:r>
              <a:rPr lang="en-US" sz="1500">
                <a:highlight>
                  <a:schemeClr val="lt1"/>
                </a:highlight>
                <a:latin typeface="Times New Roman"/>
                <a:ea typeface="Times New Roman"/>
                <a:cs typeface="Times New Roman"/>
                <a:sym typeface="Times New Roman"/>
              </a:rPr>
              <a:t> trong đó 956980 mới thuê do 01 đc trên A868 phải tháo đầu tháng 4/2025</a:t>
            </a:r>
            <a:r>
              <a:rPr lang="en-US" sz="1500" b="0" i="0" u="none" strike="noStrike" cap="none">
                <a:solidFill>
                  <a:srgbClr val="000000"/>
                </a:solidFill>
                <a:highlight>
                  <a:schemeClr val="lt1"/>
                </a:highlight>
                <a:latin typeface="Times New Roman"/>
                <a:ea typeface="Times New Roman"/>
                <a:cs typeface="Times New Roman"/>
                <a:sym typeface="Times New Roman"/>
              </a:rPr>
              <a:t>  </a:t>
            </a:r>
            <a:endParaRPr sz="15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07138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g31ccdae391d_0_368"/>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78" name="Google Shape;278;g31ccdae391d_0_36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67</a:t>
            </a:fld>
            <a:endParaRPr/>
          </a:p>
        </p:txBody>
      </p:sp>
      <p:sp>
        <p:nvSpPr>
          <p:cNvPr id="279" name="Google Shape;279;g31ccdae391d_0_368"/>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 Đội bay A321 Ceo:</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dự phòng: 1</a:t>
            </a:r>
            <a:r>
              <a:rPr lang="en-US" sz="1600">
                <a:solidFill>
                  <a:schemeClr val="dk1"/>
                </a:solidFill>
                <a:latin typeface="Times New Roman"/>
                <a:ea typeface="Times New Roman"/>
                <a:cs typeface="Times New Roman"/>
                <a:sym typeface="Times New Roman"/>
              </a:rPr>
              <a:t>3</a:t>
            </a:r>
            <a:r>
              <a:rPr lang="en-US" sz="1600" b="0" i="0" u="none" strike="noStrike" cap="none">
                <a:solidFill>
                  <a:schemeClr val="dk1"/>
                </a:solidFill>
                <a:latin typeface="Times New Roman"/>
                <a:ea typeface="Times New Roman"/>
                <a:cs typeface="Times New Roman"/>
                <a:sym typeface="Times New Roman"/>
              </a:rPr>
              <a:t> (3 sở hữu, </a:t>
            </a:r>
            <a:r>
              <a:rPr lang="en-US" sz="1600">
                <a:solidFill>
                  <a:schemeClr val="dk1"/>
                </a:solidFill>
                <a:latin typeface="Times New Roman"/>
                <a:ea typeface="Times New Roman"/>
                <a:cs typeface="Times New Roman"/>
                <a:sym typeface="Times New Roman"/>
              </a:rPr>
              <a:t>10</a:t>
            </a:r>
            <a:r>
              <a:rPr lang="en-US" sz="1600" b="0" i="0" u="none" strike="noStrike" cap="none">
                <a:solidFill>
                  <a:schemeClr val="dk1"/>
                </a:solidFill>
                <a:latin typeface="Times New Roman"/>
                <a:ea typeface="Times New Roman"/>
                <a:cs typeface="Times New Roman"/>
                <a:sym typeface="Times New Roman"/>
              </a:rPr>
              <a:t> thuê ngắn hạn)</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trong kho: </a:t>
            </a:r>
            <a:r>
              <a:rPr lang="en-US" sz="1600">
                <a:solidFill>
                  <a:schemeClr val="dk1"/>
                </a:solidFill>
                <a:latin typeface="Times New Roman"/>
                <a:ea typeface="Times New Roman"/>
                <a:cs typeface="Times New Roman"/>
                <a:sym typeface="Times New Roman"/>
              </a:rPr>
              <a:t>NIL</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US chờ chuyển đi: </a:t>
            </a:r>
            <a:r>
              <a:rPr lang="en-US" sz="1600">
                <a:solidFill>
                  <a:schemeClr val="dk1"/>
                </a:solidFill>
                <a:latin typeface="Times New Roman"/>
                <a:ea typeface="Times New Roman"/>
                <a:cs typeface="Times New Roman"/>
                <a:sym typeface="Times New Roman"/>
              </a:rPr>
              <a:t>NIL</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động cơ đang sửa tại shop: </a:t>
            </a:r>
            <a:r>
              <a:rPr lang="en-US" sz="1600">
                <a:solidFill>
                  <a:schemeClr val="dk1"/>
                </a:solidFill>
                <a:latin typeface="Times New Roman"/>
                <a:ea typeface="Times New Roman"/>
                <a:cs typeface="Times New Roman"/>
                <a:sym typeface="Times New Roman"/>
              </a:rPr>
              <a:t>08</a:t>
            </a:r>
            <a:r>
              <a:rPr lang="en-US" sz="1600" b="0" i="0" u="none" strike="noStrike" cap="none">
                <a:solidFill>
                  <a:schemeClr val="dk1"/>
                </a:solidFill>
                <a:latin typeface="Times New Roman"/>
                <a:ea typeface="Times New Roman"/>
                <a:cs typeface="Times New Roman"/>
                <a:sym typeface="Times New Roman"/>
              </a:rPr>
              <a:t>ea </a:t>
            </a:r>
            <a:endParaRPr sz="16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sz="16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a:t>
            </a:r>
            <a:r>
              <a:rPr lang="en-US" sz="1600" b="1" i="0" u="none" strike="noStrike" cap="none">
                <a:solidFill>
                  <a:schemeClr val="dk1"/>
                </a:solidFill>
                <a:latin typeface="Times New Roman"/>
                <a:ea typeface="Times New Roman"/>
                <a:cs typeface="Times New Roman"/>
                <a:sym typeface="Times New Roman"/>
              </a:rPr>
              <a:t> </a:t>
            </a:r>
            <a:r>
              <a:rPr lang="en-US" sz="1600" b="1" i="0" u="none" strike="noStrike" cap="none">
                <a:solidFill>
                  <a:srgbClr val="FF0000"/>
                </a:solidFill>
                <a:latin typeface="Times New Roman"/>
                <a:ea typeface="Times New Roman"/>
                <a:cs typeface="Times New Roman"/>
                <a:sym typeface="Times New Roman"/>
              </a:rPr>
              <a:t>Vướng mắc:</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Danh mục missing part list của động cơ sửa chữa về</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a:t>
            </a:r>
            <a:r>
              <a:rPr lang="en-US" sz="1600" b="1" i="0" u="none" strike="noStrike" cap="none">
                <a:solidFill>
                  <a:schemeClr val="dk1"/>
                </a:solidFill>
                <a:latin typeface="Times New Roman"/>
                <a:ea typeface="Times New Roman"/>
                <a:cs typeface="Times New Roman"/>
                <a:sym typeface="Times New Roman"/>
              </a:rPr>
              <a:t> </a:t>
            </a:r>
            <a:r>
              <a:rPr lang="en-US" sz="1600" b="1" i="0" u="none" strike="noStrike" cap="none">
                <a:solidFill>
                  <a:srgbClr val="FF0000"/>
                </a:solidFill>
                <a:latin typeface="Times New Roman"/>
                <a:ea typeface="Times New Roman"/>
                <a:cs typeface="Times New Roman"/>
                <a:sym typeface="Times New Roman"/>
              </a:rPr>
              <a:t>Giải pháp:</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Thúc đẩy việc sửa chữa động cơ tại shop</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Làm việc với Ban KT về KH động cơ về, tháo trả.</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84191220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g31ccdae391d_0_375"/>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86" name="Google Shape;286;g31ccdae391d_0_37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68</a:t>
            </a:fld>
            <a:endParaRPr/>
          </a:p>
        </p:txBody>
      </p:sp>
      <p:sp>
        <p:nvSpPr>
          <p:cNvPr id="287" name="Google Shape;287;g31ccdae391d_0_375"/>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 Tình trạng trả động cơ thuê </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pic>
        <p:nvPicPr>
          <p:cNvPr id="288" name="Google Shape;288;g31ccdae391d_0_375"/>
          <p:cNvPicPr preferRelativeResize="0"/>
          <p:nvPr/>
        </p:nvPicPr>
        <p:blipFill>
          <a:blip r:embed="rId3">
            <a:alphaModFix/>
          </a:blip>
          <a:stretch>
            <a:fillRect/>
          </a:stretch>
        </p:blipFill>
        <p:spPr>
          <a:xfrm>
            <a:off x="166700" y="2095500"/>
            <a:ext cx="11488001" cy="2795275"/>
          </a:xfrm>
          <a:prstGeom prst="rect">
            <a:avLst/>
          </a:prstGeom>
          <a:noFill/>
          <a:ln>
            <a:noFill/>
          </a:ln>
        </p:spPr>
      </p:pic>
    </p:spTree>
    <p:extLst>
      <p:ext uri="{BB962C8B-B14F-4D97-AF65-F5344CB8AC3E}">
        <p14:creationId xmlns:p14="http://schemas.microsoft.com/office/powerpoint/2010/main" val="3198246201"/>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g31ccdae391d_0_38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69</a:t>
            </a:fld>
            <a:endParaRPr/>
          </a:p>
        </p:txBody>
      </p:sp>
      <p:sp>
        <p:nvSpPr>
          <p:cNvPr id="295" name="Google Shape;295;g31ccdae391d_0_383"/>
          <p:cNvSpPr/>
          <p:nvPr/>
        </p:nvSpPr>
        <p:spPr>
          <a:xfrm>
            <a:off x="576275" y="228600"/>
            <a:ext cx="11051100" cy="6059400"/>
          </a:xfrm>
          <a:prstGeom prst="rect">
            <a:avLst/>
          </a:prstGeom>
          <a:noFill/>
          <a:ln>
            <a:noFill/>
          </a:ln>
        </p:spPr>
        <p:txBody>
          <a:bodyPr spcFirstLastPara="1" wrap="square" lIns="91425" tIns="0" rIns="91425" bIns="45700" anchor="t" anchorCtr="0">
            <a:noAutofit/>
          </a:bodyPr>
          <a:lstStyle/>
          <a:p>
            <a:pPr marL="0" marR="0" lvl="0" indent="0" algn="just" rtl="0">
              <a:lnSpc>
                <a:spcPct val="100000"/>
              </a:lnSpc>
              <a:spcBef>
                <a:spcPts val="0"/>
              </a:spcBef>
              <a:spcAft>
                <a:spcPts val="0"/>
              </a:spcAft>
              <a:buClr>
                <a:schemeClr val="dk1"/>
              </a:buClr>
              <a:buSzPts val="18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1" i="0" u="none" strike="noStrike" cap="none">
                <a:solidFill>
                  <a:srgbClr val="FF0000"/>
                </a:solidFill>
                <a:latin typeface="Times New Roman"/>
                <a:ea typeface="Times New Roman"/>
                <a:cs typeface="Times New Roman"/>
                <a:sym typeface="Times New Roman"/>
              </a:rPr>
              <a:t>- Đội bay A321 Neo:</a:t>
            </a:r>
            <a:endParaRPr sz="15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dự phòng: 05ea (2 sở hữu (đang SLB), 2 dài hạn và 01 thuê ngắn hạn thuê của PW).</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trong kho: NIL.</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động cơ sửa chữa: có </a:t>
            </a:r>
            <a:r>
              <a:rPr lang="en-US" sz="1500">
                <a:solidFill>
                  <a:schemeClr val="dk1"/>
                </a:solidFill>
                <a:latin typeface="Times New Roman"/>
                <a:ea typeface="Times New Roman"/>
                <a:cs typeface="Times New Roman"/>
                <a:sym typeface="Times New Roman"/>
              </a:rPr>
              <a:t>8</a:t>
            </a:r>
            <a:r>
              <a:rPr lang="en-US" sz="1500" b="0" i="0" u="none" strike="noStrike" cap="none">
                <a:solidFill>
                  <a:schemeClr val="dk1"/>
                </a:solidFill>
                <a:latin typeface="Times New Roman"/>
                <a:ea typeface="Times New Roman"/>
                <a:cs typeface="Times New Roman"/>
                <a:sym typeface="Times New Roman"/>
              </a:rPr>
              <a:t> động cơ đang sửa (0</a:t>
            </a:r>
            <a:r>
              <a:rPr lang="en-US" sz="1500">
                <a:solidFill>
                  <a:schemeClr val="dk1"/>
                </a:solidFill>
                <a:latin typeface="Times New Roman"/>
                <a:ea typeface="Times New Roman"/>
                <a:cs typeface="Times New Roman"/>
                <a:sym typeface="Times New Roman"/>
              </a:rPr>
              <a:t>5</a:t>
            </a:r>
            <a:r>
              <a:rPr lang="en-US" sz="1500" b="0" i="0" u="none" strike="noStrike" cap="none">
                <a:solidFill>
                  <a:schemeClr val="dk1"/>
                </a:solidFill>
                <a:latin typeface="Times New Roman"/>
                <a:ea typeface="Times New Roman"/>
                <a:cs typeface="Times New Roman"/>
                <a:sym typeface="Times New Roman"/>
              </a:rPr>
              <a:t>ại ESA và 0</a:t>
            </a:r>
            <a:r>
              <a:rPr lang="en-US" sz="1500">
                <a:solidFill>
                  <a:schemeClr val="dk1"/>
                </a:solidFill>
                <a:latin typeface="Times New Roman"/>
                <a:ea typeface="Times New Roman"/>
                <a:cs typeface="Times New Roman"/>
                <a:sym typeface="Times New Roman"/>
              </a:rPr>
              <a:t>2</a:t>
            </a:r>
            <a:r>
              <a:rPr lang="en-US" sz="1500" b="0" i="0" u="none" strike="noStrike" cap="none">
                <a:solidFill>
                  <a:schemeClr val="dk1"/>
                </a:solidFill>
                <a:latin typeface="Times New Roman"/>
                <a:ea typeface="Times New Roman"/>
                <a:cs typeface="Times New Roman"/>
                <a:sym typeface="Times New Roman"/>
              </a:rPr>
              <a:t> tại IHI</a:t>
            </a:r>
            <a:r>
              <a:rPr lang="en-US" sz="1500">
                <a:solidFill>
                  <a:schemeClr val="dk1"/>
                </a:solidFill>
                <a:latin typeface="Times New Roman"/>
                <a:ea typeface="Times New Roman"/>
                <a:cs typeface="Times New Roman"/>
                <a:sym typeface="Times New Roman"/>
              </a:rPr>
              <a:t>, 01 tại MTU-H</a:t>
            </a:r>
            <a:r>
              <a:rPr lang="en-US" sz="1500" b="0" i="0" u="none" strike="noStrike" cap="none">
                <a:solidFill>
                  <a:schemeClr val="dk1"/>
                </a:solidFill>
                <a:latin typeface="Times New Roman"/>
                <a:ea typeface="Times New Roman"/>
                <a:cs typeface="Times New Roman"/>
                <a:sym typeface="Times New Roman"/>
              </a:rPr>
              <a:t>)</a:t>
            </a:r>
            <a:endParaRPr sz="1500" b="0" i="0" u="none" strike="noStrike" cap="none">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 Đang đàm phán với đối tác sửa đổi hợp đồng thuê sau khi trình kí LOI (Willis và ELFC)</a:t>
            </a:r>
            <a:endParaRPr sz="150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500"/>
              <a:buFont typeface="Arial"/>
              <a:buNone/>
            </a:pPr>
            <a:r>
              <a:rPr lang="en-US" sz="1500" b="0" i="0" u="none" strike="noStrike" cap="none">
                <a:solidFill>
                  <a:schemeClr val="dk1"/>
                </a:solidFill>
                <a:latin typeface="Times New Roman"/>
                <a:ea typeface="Times New Roman"/>
                <a:cs typeface="Times New Roman"/>
                <a:sym typeface="Times New Roman"/>
              </a:rPr>
              <a:t>Trong đó: </a:t>
            </a:r>
            <a:endParaRPr sz="150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500"/>
              <a:buFont typeface="Arial"/>
              <a:buNone/>
            </a:pPr>
            <a:r>
              <a:rPr lang="en-US" sz="1500">
                <a:solidFill>
                  <a:schemeClr val="dk1"/>
                </a:solidFill>
                <a:latin typeface="Times New Roman"/>
                <a:ea typeface="Times New Roman"/>
                <a:cs typeface="Times New Roman"/>
                <a:sym typeface="Times New Roman"/>
              </a:rPr>
              <a:t>+ P771079: Hiện đang trên tàu A617 chờ ra HAN để gửi đi ESA shop in SIN (ETD 24/4)</a:t>
            </a:r>
            <a:endParaRPr sz="150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500"/>
              <a:buFont typeface="Arial"/>
              <a:buNone/>
            </a:pPr>
            <a:r>
              <a:rPr lang="en-US" sz="1500">
                <a:solidFill>
                  <a:schemeClr val="dk1"/>
                </a:solidFill>
                <a:latin typeface="Times New Roman"/>
                <a:ea typeface="Times New Roman"/>
                <a:cs typeface="Times New Roman"/>
                <a:sym typeface="Times New Roman"/>
              </a:rPr>
              <a:t>+ P771130: Đang làm việc với Collins để đẩy sớm tiến độ release Eng vào 22/4</a:t>
            </a:r>
            <a:br>
              <a:rPr lang="en-US" sz="1500">
                <a:solidFill>
                  <a:schemeClr val="dk1"/>
                </a:solidFill>
                <a:latin typeface="Times New Roman"/>
                <a:ea typeface="Times New Roman"/>
                <a:cs typeface="Times New Roman"/>
                <a:sym typeface="Times New Roman"/>
              </a:rPr>
            </a:br>
            <a:r>
              <a:rPr lang="en-US" sz="1500">
                <a:solidFill>
                  <a:schemeClr val="dk1"/>
                </a:solidFill>
                <a:latin typeface="Times New Roman"/>
                <a:ea typeface="Times New Roman"/>
                <a:cs typeface="Times New Roman"/>
                <a:sym typeface="Times New Roman"/>
              </a:rPr>
              <a:t>+ P770903: Đã hoàn tất test tại IHI, đang được chuyển sang JALEC lắp QEC (ETA 19/5)</a:t>
            </a:r>
            <a:endParaRPr sz="150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500"/>
              <a:buFont typeface="Arial"/>
              <a:buNone/>
            </a:pP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500"/>
              <a:buFont typeface="Arial"/>
              <a:buNone/>
            </a:pPr>
            <a:r>
              <a:rPr lang="en-US" sz="1500" b="0" i="0" u="none" strike="noStrike" cap="none">
                <a:solidFill>
                  <a:srgbClr val="FF0000"/>
                </a:solidFill>
                <a:latin typeface="Times New Roman"/>
                <a:ea typeface="Times New Roman"/>
                <a:cs typeface="Times New Roman"/>
                <a:sym typeface="Times New Roman"/>
              </a:rPr>
              <a:t>Vướng mắc:</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TAT tại shop kéo dài, hiện do shop quá tải các động cơ tháo cung phải đợi slot lên đến 200 ngày.</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Các động cơ A321 NEO tháo đi sửa trước đây không có đc lắp lên, khi tháo trả đc thuê thiếu nhiều LRUs đang đi cùng đc sửa.</a:t>
            </a:r>
            <a:br>
              <a:rPr lang="en-US" sz="1500" b="0" i="0" u="none" strike="noStrike" cap="none">
                <a:solidFill>
                  <a:schemeClr val="dk1"/>
                </a:solidFill>
                <a:latin typeface="Times New Roman"/>
                <a:ea typeface="Times New Roman"/>
                <a:cs typeface="Times New Roman"/>
                <a:sym typeface="Times New Roman"/>
              </a:rPr>
            </a:br>
            <a:r>
              <a:rPr lang="en-US" sz="1500" b="0" i="0" u="none" strike="noStrike" cap="none">
                <a:solidFill>
                  <a:schemeClr val="dk1"/>
                </a:solidFill>
                <a:latin typeface="Times New Roman"/>
                <a:ea typeface="Times New Roman"/>
                <a:cs typeface="Times New Roman"/>
                <a:sym typeface="Times New Roman"/>
              </a:rPr>
              <a:t>+ Khoảng thời gian cao điểm nghỉ lễ, thiếu hụt phụ tùng vật liệu, sự gia tăng các lỗi Rejection trong kiểm tra sau thử nghiệm.</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rgbClr val="FF0000"/>
                </a:solidFill>
                <a:latin typeface="Times New Roman"/>
                <a:ea typeface="Times New Roman"/>
                <a:cs typeface="Times New Roman"/>
                <a:sym typeface="Times New Roman"/>
              </a:rPr>
              <a:t>Giải pháp:</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Thúc đẩy động cơ sửa chữa tại shop. 	</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Tổ chức họp và tìm giải pháp với Ban KT, VAECO với danh mục MPL đc tháo khi gửi đi sửa.</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710713477"/>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g31ccdae391d_0_38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70</a:t>
            </a:fld>
            <a:endParaRPr/>
          </a:p>
        </p:txBody>
      </p:sp>
      <p:sp>
        <p:nvSpPr>
          <p:cNvPr id="302" name="Google Shape;302;g31ccdae391d_0_389"/>
          <p:cNvSpPr/>
          <p:nvPr/>
        </p:nvSpPr>
        <p:spPr>
          <a:xfrm>
            <a:off x="652475" y="-304800"/>
            <a:ext cx="11051100" cy="73638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8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rgbClr val="FF0000"/>
                </a:solidFill>
                <a:latin typeface="Times New Roman"/>
                <a:ea typeface="Times New Roman"/>
                <a:cs typeface="Times New Roman"/>
                <a:sym typeface="Times New Roman"/>
              </a:rPr>
              <a:t>-</a:t>
            </a: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Đội bay ATR:</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dự phòng: 06:  03 ENG sở hữu, 03 ENG thuê ngắn hạn: (ED0321) (ED0036) (ED0715). </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ED0238 đang sửa tại shop PWC tại SING.</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ED0239, ED0217,ED0</a:t>
            </a:r>
            <a:r>
              <a:rPr lang="en-US" sz="1500">
                <a:solidFill>
                  <a:schemeClr val="dk1"/>
                </a:solidFill>
                <a:latin typeface="Times New Roman"/>
                <a:ea typeface="Times New Roman"/>
                <a:cs typeface="Times New Roman"/>
                <a:sym typeface="Times New Roman"/>
              </a:rPr>
              <a:t>233</a:t>
            </a:r>
            <a:r>
              <a:rPr lang="en-US" sz="1500" b="0" i="0" u="none" strike="noStrike" cap="none">
                <a:solidFill>
                  <a:schemeClr val="dk1"/>
                </a:solidFill>
                <a:latin typeface="Times New Roman"/>
                <a:ea typeface="Times New Roman"/>
                <a:cs typeface="Times New Roman"/>
                <a:sym typeface="Times New Roman"/>
              </a:rPr>
              <a:t> đang sửa tại SA.</a:t>
            </a:r>
            <a:endParaRPr sz="1500" b="0" i="0" u="none" strike="noStrike" cap="none">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  ED0214 gửi đi sửa tại SA.</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Vướng mắc/ Khó khăn:</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a:solidFill>
                  <a:schemeClr val="dk1"/>
                </a:solidFill>
                <a:latin typeface="Times New Roman"/>
                <a:ea typeface="Times New Roman"/>
                <a:cs typeface="Times New Roman"/>
                <a:sym typeface="Times New Roman"/>
              </a:rPr>
              <a:t> Các shop vẫn đang gặp trình trạng thiếu part, dẫn đến TAT bị kéo dài tại cả 02 shop</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Giải pháp:</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Tiếp tục theo sát </a:t>
            </a:r>
            <a:r>
              <a:rPr lang="en-US" sz="1500">
                <a:solidFill>
                  <a:schemeClr val="dk1"/>
                </a:solidFill>
                <a:latin typeface="Times New Roman"/>
                <a:ea typeface="Times New Roman"/>
                <a:cs typeface="Times New Roman"/>
                <a:sym typeface="Times New Roman"/>
              </a:rPr>
              <a:t>các động cơ đang sửa chữa tại PWC và StandardAero.</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1" i="0" u="sng" strike="noStrike" cap="none">
              <a:solidFill>
                <a:srgbClr val="000000"/>
              </a:solidFill>
              <a:latin typeface="Times New Roman"/>
              <a:ea typeface="Times New Roman"/>
              <a:cs typeface="Times New Roman"/>
              <a:sym typeface="Times New Roman"/>
            </a:endParaRPr>
          </a:p>
        </p:txBody>
      </p:sp>
      <p:pic>
        <p:nvPicPr>
          <p:cNvPr id="303" name="Google Shape;303;g31ccdae391d_0_389"/>
          <p:cNvPicPr preferRelativeResize="0"/>
          <p:nvPr/>
        </p:nvPicPr>
        <p:blipFill>
          <a:blip r:embed="rId3">
            <a:alphaModFix/>
          </a:blip>
          <a:stretch>
            <a:fillRect/>
          </a:stretch>
        </p:blipFill>
        <p:spPr>
          <a:xfrm>
            <a:off x="232050" y="2707149"/>
            <a:ext cx="11298949" cy="2812450"/>
          </a:xfrm>
          <a:prstGeom prst="rect">
            <a:avLst/>
          </a:prstGeom>
          <a:noFill/>
          <a:ln>
            <a:noFill/>
          </a:ln>
        </p:spPr>
      </p:pic>
    </p:spTree>
    <p:extLst>
      <p:ext uri="{BB962C8B-B14F-4D97-AF65-F5344CB8AC3E}">
        <p14:creationId xmlns:p14="http://schemas.microsoft.com/office/powerpoint/2010/main" val="296002957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31ccdae391d_0_396"/>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Kế hoạch động cơ </a:t>
            </a:r>
            <a:endParaRPr sz="2800">
              <a:solidFill>
                <a:srgbClr val="FFC000"/>
              </a:solidFill>
              <a:latin typeface="Times New Roman"/>
              <a:ea typeface="Times New Roman"/>
              <a:cs typeface="Times New Roman"/>
              <a:sym typeface="Times New Roman"/>
            </a:endParaRPr>
          </a:p>
        </p:txBody>
      </p:sp>
      <p:sp>
        <p:nvSpPr>
          <p:cNvPr id="310" name="Google Shape;310;g31ccdae391d_0_396"/>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71</a:t>
            </a:fld>
            <a:endParaRPr/>
          </a:p>
        </p:txBody>
      </p:sp>
      <p:sp>
        <p:nvSpPr>
          <p:cNvPr id="311" name="Google Shape;311;g31ccdae391d_0_396"/>
          <p:cNvSpPr/>
          <p:nvPr/>
        </p:nvSpPr>
        <p:spPr>
          <a:xfrm>
            <a:off x="609900" y="26803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A350: </a:t>
            </a:r>
            <a:r>
              <a:rPr lang="en-US" sz="1600" dirty="0">
                <a:solidFill>
                  <a:schemeClr val="dk1"/>
                </a:solidFill>
                <a:latin typeface="Times New Roman"/>
                <a:ea typeface="Times New Roman"/>
                <a:cs typeface="Times New Roman"/>
                <a:sym typeface="Times New Roman"/>
              </a:rPr>
              <a:t>NIL stock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21422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HAESL)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HAN 14/04 </a:t>
            </a:r>
            <a:r>
              <a:rPr lang="en-US" sz="1600" dirty="0" err="1">
                <a:solidFill>
                  <a:schemeClr val="dk1"/>
                </a:solidFill>
                <a:latin typeface="Times New Roman"/>
                <a:ea typeface="Times New Roman"/>
                <a:cs typeface="Times New Roman"/>
                <a:sym typeface="Times New Roman"/>
              </a:rPr>
              <a:t>và</a:t>
            </a:r>
            <a:r>
              <a:rPr lang="en-US" sz="1600" dirty="0">
                <a:solidFill>
                  <a:schemeClr val="dk1"/>
                </a:solidFill>
                <a:latin typeface="Times New Roman"/>
                <a:ea typeface="Times New Roman"/>
                <a:cs typeface="Times New Roman"/>
                <a:sym typeface="Times New Roman"/>
              </a:rPr>
              <a:t> </a:t>
            </a:r>
            <a:r>
              <a:rPr lang="en-US" sz="1600" dirty="0" err="1" smtClean="0">
                <a:solidFill>
                  <a:schemeClr val="dk1"/>
                </a:solidFill>
                <a:latin typeface="Times New Roman"/>
                <a:ea typeface="Times New Roman"/>
                <a:cs typeface="Times New Roman"/>
                <a:sym typeface="Times New Roman"/>
              </a:rPr>
              <a:t>đang</a:t>
            </a:r>
            <a:r>
              <a:rPr lang="en-US" sz="1600" dirty="0" smtClean="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lắp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cho</a:t>
            </a:r>
            <a:r>
              <a:rPr lang="en-US" sz="1600" dirty="0">
                <a:solidFill>
                  <a:schemeClr val="dk1"/>
                </a:solidFill>
                <a:latin typeface="Times New Roman"/>
                <a:ea typeface="Times New Roman"/>
                <a:cs typeface="Times New Roman"/>
                <a:sym typeface="Times New Roman"/>
              </a:rPr>
              <a:t> A898).</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21047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N3)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a:t>
            </a:r>
            <a:r>
              <a:rPr lang="en-US" sz="1600" dirty="0" smtClean="0">
                <a:solidFill>
                  <a:schemeClr val="dk1"/>
                </a:solidFill>
                <a:latin typeface="Times New Roman"/>
                <a:ea typeface="Times New Roman"/>
                <a:cs typeface="Times New Roman"/>
                <a:sym typeface="Times New Roman"/>
              </a:rPr>
              <a:t>27/04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a:t>
            </a:r>
            <a:r>
              <a:rPr lang="en-US" sz="1600" dirty="0" smtClean="0">
                <a:solidFill>
                  <a:schemeClr val="dk1"/>
                </a:solidFill>
                <a:latin typeface="Times New Roman"/>
                <a:ea typeface="Times New Roman"/>
                <a:cs typeface="Times New Roman"/>
                <a:sym typeface="Times New Roman"/>
              </a:rPr>
              <a:t>SGN.</a:t>
            </a:r>
            <a:endParaRPr sz="1600" dirty="0">
              <a:solidFill>
                <a:schemeClr val="dk1"/>
              </a:solidFill>
              <a:latin typeface="Times New Roman"/>
              <a:ea typeface="Times New Roman"/>
              <a:cs typeface="Times New Roman"/>
              <a:sym typeface="Times New Roman"/>
            </a:endParaRPr>
          </a:p>
          <a:p>
            <a:pPr marL="914400" marR="0" lvl="0" indent="0" algn="just" rtl="0">
              <a:lnSpc>
                <a:spcPct val="115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B787: </a:t>
            </a:r>
            <a:r>
              <a:rPr lang="en-US" sz="1600" dirty="0">
                <a:solidFill>
                  <a:schemeClr val="dk1"/>
                </a:solidFill>
                <a:latin typeface="Times New Roman"/>
                <a:ea typeface="Times New Roman"/>
                <a:cs typeface="Times New Roman"/>
                <a:sym typeface="Times New Roman"/>
              </a:rPr>
              <a:t>NIL stock</a:t>
            </a:r>
            <a:r>
              <a:rPr lang="en-US" sz="1600" i="0" u="none" strike="noStrike" cap="none"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956533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KLM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SGN 30/04. </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A321 CEO </a:t>
            </a:r>
            <a:r>
              <a:rPr lang="en-US" sz="1600" b="0" i="0" u="none" strike="noStrike" cap="none" dirty="0">
                <a:solidFill>
                  <a:schemeClr val="dk1"/>
                </a:solidFill>
                <a:latin typeface="Times New Roman"/>
                <a:ea typeface="Times New Roman"/>
                <a:cs typeface="Times New Roman"/>
                <a:sym typeface="Times New Roman"/>
              </a:rPr>
              <a:t>: </a:t>
            </a: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r>
              <a:rPr lang="en-US" sz="1600" b="0" i="0" u="none" strike="noStrike" cap="none"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Tháng</a:t>
            </a:r>
            <a:r>
              <a:rPr lang="en-US" sz="1600" dirty="0">
                <a:solidFill>
                  <a:schemeClr val="dk1"/>
                </a:solidFill>
                <a:latin typeface="Times New Roman"/>
                <a:ea typeface="Times New Roman"/>
                <a:cs typeface="Times New Roman"/>
                <a:sym typeface="Times New Roman"/>
              </a:rPr>
              <a:t> 5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03ea: V16338 (09/05), V17403 (14/05), V16692 (25/05).</a:t>
            </a:r>
            <a:endParaRPr sz="1600"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330200" algn="l"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A321 NEO</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lvl="0" indent="0" rtl="0">
              <a:lnSpc>
                <a:spcPct val="115000"/>
              </a:lnSpc>
              <a:spcBef>
                <a:spcPts val="0"/>
              </a:spcBef>
              <a:spcAft>
                <a:spcPts val="0"/>
              </a:spcAft>
              <a:buClr>
                <a:srgbClr val="000000"/>
              </a:buClr>
              <a:buSzPts val="1100"/>
              <a:buFont typeface="Arial"/>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P770904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HAN 28/04.</a:t>
            </a:r>
            <a:endParaRPr sz="1600" dirty="0">
              <a:solidFill>
                <a:schemeClr val="dk1"/>
              </a:solidFill>
              <a:latin typeface="Times New Roman"/>
              <a:ea typeface="Times New Roman"/>
              <a:cs typeface="Times New Roman"/>
              <a:sym typeface="Times New Roman"/>
            </a:endParaRPr>
          </a:p>
          <a:p>
            <a:pPr marL="457200" lvl="0" indent="0"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P771130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HAN 29/04.</a:t>
            </a:r>
            <a:br>
              <a:rPr lang="en-US" sz="1600" dirty="0">
                <a:solidFill>
                  <a:schemeClr val="dk1"/>
                </a:solidFill>
                <a:latin typeface="Times New Roman"/>
                <a:ea typeface="Times New Roman"/>
                <a:cs typeface="Times New Roman"/>
                <a:sym typeface="Times New Roman"/>
              </a:rPr>
            </a:b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P770903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HAN 19/05.</a:t>
            </a:r>
            <a:endParaRPr sz="1600"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ATR:</a:t>
            </a:r>
            <a:r>
              <a:rPr lang="en-US" sz="1600" b="0" i="0" u="none" strike="noStrike" cap="none" dirty="0">
                <a:solidFill>
                  <a:schemeClr val="dk1"/>
                </a:solidFill>
                <a:latin typeface="Times New Roman"/>
                <a:ea typeface="Times New Roman"/>
                <a:cs typeface="Times New Roman"/>
                <a:sym typeface="Times New Roman"/>
              </a:rPr>
              <a:t> 01 stock (ED0</a:t>
            </a:r>
            <a:r>
              <a:rPr lang="en-US" sz="1600" dirty="0">
                <a:solidFill>
                  <a:schemeClr val="dk1"/>
                </a:solidFill>
                <a:latin typeface="Times New Roman"/>
                <a:ea typeface="Times New Roman"/>
                <a:cs typeface="Times New Roman"/>
                <a:sym typeface="Times New Roman"/>
              </a:rPr>
              <a:t>235</a:t>
            </a:r>
            <a:r>
              <a:rPr lang="en-US" sz="1600" b="0" i="0" u="none" strike="noStrike" cap="none" dirty="0">
                <a:solidFill>
                  <a:schemeClr val="dk1"/>
                </a:solidFill>
                <a:latin typeface="Times New Roman"/>
                <a:ea typeface="Times New Roman"/>
                <a:cs typeface="Times New Roman"/>
                <a:sym typeface="Times New Roman"/>
              </a:rPr>
              <a:t>).</a:t>
            </a:r>
            <a:endParaRPr sz="1600" b="0" i="0" u="none" strike="noStrike" cap="none"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dirty="0">
                <a:solidFill>
                  <a:schemeClr val="dk1"/>
                </a:solidFill>
                <a:latin typeface="Times New Roman"/>
                <a:ea typeface="Times New Roman"/>
                <a:cs typeface="Times New Roman"/>
                <a:sym typeface="Times New Roman"/>
              </a:rPr>
              <a:t>ED0239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chữa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StandardAero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release </a:t>
            </a:r>
            <a:r>
              <a:rPr lang="en-US" sz="1600" dirty="0" err="1">
                <a:solidFill>
                  <a:schemeClr val="dk1"/>
                </a:solidFill>
                <a:latin typeface="Times New Roman"/>
                <a:ea typeface="Times New Roman"/>
                <a:cs typeface="Times New Roman"/>
                <a:sym typeface="Times New Roman"/>
              </a:rPr>
              <a:t>ngày</a:t>
            </a:r>
            <a:r>
              <a:rPr lang="en-US" sz="1600" dirty="0">
                <a:solidFill>
                  <a:schemeClr val="dk1"/>
                </a:solidFill>
                <a:latin typeface="Times New Roman"/>
                <a:ea typeface="Times New Roman"/>
                <a:cs typeface="Times New Roman"/>
                <a:sym typeface="Times New Roman"/>
              </a:rPr>
              <a:t> </a:t>
            </a:r>
            <a:r>
              <a:rPr lang="en-US" sz="1600" dirty="0" smtClean="0">
                <a:solidFill>
                  <a:schemeClr val="dk1"/>
                </a:solidFill>
                <a:latin typeface="Times New Roman"/>
                <a:ea typeface="Times New Roman"/>
                <a:cs typeface="Times New Roman"/>
                <a:sym typeface="Times New Roman"/>
              </a:rPr>
              <a:t>29/04/2025.</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  </a:t>
            </a: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096872483"/>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g31ccdae391d_0_403"/>
          <p:cNvSpPr txBox="1">
            <a:spLocks noGrp="1"/>
          </p:cNvSpPr>
          <p:nvPr>
            <p:ph type="title"/>
          </p:nvPr>
        </p:nvSpPr>
        <p:spPr>
          <a:xfrm>
            <a:off x="372775" y="0"/>
            <a:ext cx="9759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APU</a:t>
            </a:r>
            <a:endParaRPr sz="2800">
              <a:solidFill>
                <a:srgbClr val="FFC000"/>
              </a:solidFill>
              <a:latin typeface="Times New Roman"/>
              <a:ea typeface="Times New Roman"/>
              <a:cs typeface="Times New Roman"/>
              <a:sym typeface="Times New Roman"/>
            </a:endParaRPr>
          </a:p>
        </p:txBody>
      </p:sp>
      <p:sp>
        <p:nvSpPr>
          <p:cNvPr id="318" name="Google Shape;318;g31ccdae391d_0_403"/>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72</a:t>
            </a:fld>
            <a:endParaRPr/>
          </a:p>
        </p:txBody>
      </p:sp>
      <p:sp>
        <p:nvSpPr>
          <p:cNvPr id="319" name="Google Shape;319;g31ccdae391d_0_403"/>
          <p:cNvSpPr txBox="1"/>
          <p:nvPr/>
        </p:nvSpPr>
        <p:spPr>
          <a:xfrm>
            <a:off x="7066700" y="571500"/>
            <a:ext cx="4085700" cy="3724066"/>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n-US" sz="1600" b="1" i="0" u="none" strike="noStrike" cap="none" dirty="0">
                <a:solidFill>
                  <a:schemeClr val="dk1"/>
                </a:solidFill>
                <a:latin typeface="Times New Roman"/>
                <a:ea typeface="Times New Roman"/>
                <a:cs typeface="Times New Roman"/>
                <a:sym typeface="Times New Roman"/>
              </a:rPr>
              <a:t>APU A321 </a:t>
            </a:r>
            <a:endParaRPr sz="1600" b="1"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700"/>
              <a:buFont typeface="Arial"/>
              <a:buNone/>
            </a:pPr>
            <a:r>
              <a:rPr lang="en-US" sz="1700" b="0" i="0" u="none" strike="noStrike" cap="none" dirty="0">
                <a:solidFill>
                  <a:schemeClr val="dk1"/>
                </a:solidFill>
                <a:latin typeface="Times New Roman"/>
                <a:ea typeface="Times New Roman"/>
                <a:cs typeface="Times New Roman"/>
                <a:sym typeface="Times New Roman"/>
              </a:rPr>
              <a:t>+ </a:t>
            </a:r>
            <a:r>
              <a:rPr lang="en-US" sz="1400" b="0" i="0" u="none" strike="noStrike" cap="none" dirty="0">
                <a:solidFill>
                  <a:schemeClr val="dk1"/>
                </a:solidFill>
                <a:latin typeface="Times New Roman"/>
                <a:ea typeface="Times New Roman"/>
                <a:cs typeface="Times New Roman"/>
                <a:sym typeface="Times New Roman"/>
              </a:rPr>
              <a:t>STK: </a:t>
            </a:r>
            <a:r>
              <a:rPr lang="en-US" dirty="0">
                <a:solidFill>
                  <a:schemeClr val="dk1"/>
                </a:solidFill>
                <a:latin typeface="Times New Roman"/>
                <a:ea typeface="Times New Roman"/>
                <a:cs typeface="Times New Roman"/>
                <a:sym typeface="Times New Roman"/>
              </a:rPr>
              <a:t>00 </a:t>
            </a:r>
            <a:r>
              <a:rPr lang="en-US" sz="1400" b="0" i="0" u="none" strike="noStrike" cap="none" dirty="0">
                <a:solidFill>
                  <a:schemeClr val="dk1"/>
                </a:solidFill>
                <a:latin typeface="Times New Roman"/>
                <a:ea typeface="Times New Roman"/>
                <a:cs typeface="Times New Roman"/>
                <a:sym typeface="Times New Roman"/>
              </a:rPr>
              <a:t>APU</a:t>
            </a:r>
            <a:r>
              <a:rPr lang="en-US" dirty="0">
                <a:solidFill>
                  <a:schemeClr val="dk1"/>
                </a:solidFill>
                <a:latin typeface="Times New Roman"/>
                <a:ea typeface="Times New Roman"/>
                <a:cs typeface="Times New Roman"/>
                <a:sym typeface="Times New Roman"/>
              </a:rPr>
              <a:t> </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700"/>
              <a:buFont typeface="Arial"/>
              <a:buNone/>
            </a:pPr>
            <a:r>
              <a:rPr lang="en-US" sz="1400" b="0" i="0" u="none" strike="noStrike" cap="none" dirty="0">
                <a:solidFill>
                  <a:schemeClr val="dk1"/>
                </a:solidFill>
                <a:latin typeface="Times New Roman"/>
                <a:ea typeface="Times New Roman"/>
                <a:cs typeface="Times New Roman"/>
                <a:sym typeface="Times New Roman"/>
              </a:rPr>
              <a:t>+ </a:t>
            </a:r>
            <a:r>
              <a:rPr lang="en-US" sz="1400" b="0" i="0" u="none" strike="noStrike" cap="none" dirty="0" err="1">
                <a:solidFill>
                  <a:schemeClr val="dk1"/>
                </a:solidFill>
                <a:latin typeface="Times New Roman"/>
                <a:ea typeface="Times New Roman"/>
                <a:cs typeface="Times New Roman"/>
                <a:sym typeface="Times New Roman"/>
              </a:rPr>
              <a:t>Th</a:t>
            </a:r>
            <a:r>
              <a:rPr lang="en-US" dirty="0" err="1">
                <a:solidFill>
                  <a:schemeClr val="dk1"/>
                </a:solidFill>
                <a:latin typeface="Times New Roman"/>
                <a:ea typeface="Times New Roman"/>
                <a:cs typeface="Times New Roman"/>
                <a:sym typeface="Times New Roman"/>
              </a:rPr>
              <a:t>áng</a:t>
            </a:r>
            <a:r>
              <a:rPr lang="en-US" dirty="0">
                <a:solidFill>
                  <a:schemeClr val="dk1"/>
                </a:solidFill>
                <a:latin typeface="Times New Roman"/>
                <a:ea typeface="Times New Roman"/>
                <a:cs typeface="Times New Roman"/>
                <a:sym typeface="Times New Roman"/>
              </a:rPr>
              <a:t> 4: </a:t>
            </a:r>
            <a:r>
              <a:rPr lang="en-US" dirty="0" err="1">
                <a:solidFill>
                  <a:schemeClr val="dk1"/>
                </a:solidFill>
                <a:latin typeface="Times New Roman"/>
                <a:ea typeface="Times New Roman"/>
                <a:cs typeface="Times New Roman"/>
                <a:sym typeface="Times New Roman"/>
              </a:rPr>
              <a:t>dk</a:t>
            </a:r>
            <a:r>
              <a:rPr lang="en-US" dirty="0">
                <a:solidFill>
                  <a:schemeClr val="dk1"/>
                </a:solidFill>
                <a:latin typeface="Times New Roman"/>
                <a:ea typeface="Times New Roman"/>
                <a:cs typeface="Times New Roman"/>
                <a:sym typeface="Times New Roman"/>
              </a:rPr>
              <a:t> 00 </a:t>
            </a:r>
            <a:r>
              <a:rPr lang="en-US" dirty="0" err="1">
                <a:solidFill>
                  <a:schemeClr val="dk1"/>
                </a:solidFill>
                <a:latin typeface="Times New Roman"/>
                <a:ea typeface="Times New Roman"/>
                <a:cs typeface="Times New Roman"/>
                <a:sym typeface="Times New Roman"/>
              </a:rPr>
              <a:t>ea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về</a:t>
            </a:r>
            <a:r>
              <a:rPr lang="en-US" dirty="0">
                <a:solidFill>
                  <a:schemeClr val="dk1"/>
                </a:solidFill>
                <a:latin typeface="Times New Roman"/>
                <a:ea typeface="Times New Roman"/>
                <a:cs typeface="Times New Roman"/>
                <a:sym typeface="Times New Roman"/>
              </a:rPr>
              <a:t>.</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500" b="1" i="0" u="none" strike="noStrike" cap="none" dirty="0">
                <a:solidFill>
                  <a:schemeClr val="dk1"/>
                </a:solidFill>
                <a:latin typeface="Times New Roman"/>
                <a:ea typeface="Times New Roman"/>
                <a:cs typeface="Times New Roman"/>
                <a:sym typeface="Times New Roman"/>
              </a:rPr>
              <a:t>APU A350</a:t>
            </a:r>
            <a:endParaRPr sz="1500" b="1"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400" b="0" i="0" u="none" strike="noStrike" cap="none" dirty="0">
                <a:solidFill>
                  <a:schemeClr val="dk1"/>
                </a:solidFill>
                <a:latin typeface="Times New Roman"/>
                <a:ea typeface="Times New Roman"/>
                <a:cs typeface="Times New Roman"/>
                <a:sym typeface="Times New Roman"/>
              </a:rPr>
              <a:t>+ STK: </a:t>
            </a:r>
            <a:r>
              <a:rPr lang="en-US" dirty="0">
                <a:solidFill>
                  <a:schemeClr val="dk1"/>
                </a:solidFill>
                <a:latin typeface="Times New Roman"/>
                <a:ea typeface="Times New Roman"/>
                <a:cs typeface="Times New Roman"/>
                <a:sym typeface="Times New Roman"/>
              </a:rPr>
              <a:t>0</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+ 01 APU </a:t>
            </a:r>
            <a:r>
              <a:rPr lang="en-US" dirty="0" err="1">
                <a:solidFill>
                  <a:schemeClr val="dk1"/>
                </a:solidFill>
                <a:latin typeface="Times New Roman"/>
                <a:ea typeface="Times New Roman"/>
                <a:cs typeface="Times New Roman"/>
                <a:sym typeface="Times New Roman"/>
              </a:rPr>
              <a:t>đang</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vận</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chuyển</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đi</a:t>
            </a:r>
            <a:r>
              <a:rPr lang="en-US" dirty="0">
                <a:solidFill>
                  <a:schemeClr val="dk1"/>
                </a:solidFill>
                <a:latin typeface="Times New Roman"/>
                <a:ea typeface="Times New Roman"/>
                <a:cs typeface="Times New Roman"/>
                <a:sym typeface="Times New Roman"/>
              </a:rPr>
              <a:t> shop </a:t>
            </a:r>
            <a:r>
              <a:rPr lang="en-US" dirty="0" err="1">
                <a:solidFill>
                  <a:schemeClr val="dk1"/>
                </a:solidFill>
                <a:latin typeface="Times New Roman"/>
                <a:ea typeface="Times New Roman"/>
                <a:cs typeface="Times New Roman"/>
                <a:sym typeface="Times New Roman"/>
              </a:rPr>
              <a:t>Lufth</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sửa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chữa</a:t>
            </a:r>
            <a:r>
              <a:rPr lang="en-US" dirty="0">
                <a:solidFill>
                  <a:schemeClr val="dk1"/>
                </a:solidFill>
                <a:latin typeface="Times New Roman"/>
                <a:ea typeface="Times New Roman"/>
                <a:cs typeface="Times New Roman"/>
                <a:sym typeface="Times New Roman"/>
              </a:rPr>
              <a:t>.</a:t>
            </a:r>
            <a:endParaRPr dirty="0">
              <a:solidFill>
                <a:schemeClr val="dk1"/>
              </a:solidFill>
              <a:latin typeface="Times New Roman"/>
              <a:ea typeface="Times New Roman"/>
              <a:cs typeface="Times New Roman"/>
              <a:sym typeface="Times New Roman"/>
            </a:endParaRPr>
          </a:p>
          <a:p>
            <a:pPr lvl="0">
              <a:lnSpc>
                <a:spcPct val="115000"/>
              </a:lnSpc>
              <a:buClr>
                <a:schemeClr val="dk1"/>
              </a:buClr>
              <a:buSzPts val="1100"/>
            </a:pPr>
            <a:r>
              <a:rPr lang="en-US" dirty="0">
                <a:solidFill>
                  <a:schemeClr val="dk1"/>
                </a:solidFill>
                <a:latin typeface="Times New Roman"/>
                <a:ea typeface="Times New Roman"/>
                <a:cs typeface="Times New Roman"/>
                <a:sym typeface="Times New Roman"/>
              </a:rPr>
              <a:t>+02 APU </a:t>
            </a:r>
            <a:r>
              <a:rPr lang="en-US" dirty="0" err="1">
                <a:solidFill>
                  <a:schemeClr val="dk1"/>
                </a:solidFill>
                <a:latin typeface="Times New Roman"/>
                <a:ea typeface="Times New Roman"/>
                <a:cs typeface="Times New Roman"/>
                <a:sym typeface="Times New Roman"/>
              </a:rPr>
              <a:t>đang</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sửa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chữa</a:t>
            </a:r>
            <a:r>
              <a:rPr lang="en-US" dirty="0">
                <a:solidFill>
                  <a:schemeClr val="dk1"/>
                </a:solidFill>
                <a:latin typeface="Times New Roman"/>
                <a:ea typeface="Times New Roman"/>
                <a:cs typeface="Times New Roman"/>
                <a:sym typeface="Times New Roman"/>
              </a:rPr>
              <a:t>: P-00263 DK </a:t>
            </a:r>
            <a:r>
              <a:rPr lang="en-US" dirty="0" smtClean="0">
                <a:solidFill>
                  <a:schemeClr val="dk1"/>
                </a:solidFill>
                <a:latin typeface="Times New Roman"/>
                <a:ea typeface="Times New Roman"/>
                <a:cs typeface="Times New Roman"/>
                <a:sym typeface="Times New Roman"/>
              </a:rPr>
              <a:t>16/05/2025 </a:t>
            </a:r>
            <a:r>
              <a:rPr lang="vi-VN" dirty="0">
                <a:solidFill>
                  <a:schemeClr val="dk1"/>
                </a:solidFill>
                <a:latin typeface="Times New Roman"/>
                <a:ea typeface="Times New Roman"/>
                <a:cs typeface="Times New Roman"/>
                <a:sym typeface="Times New Roman"/>
              </a:rPr>
              <a:t>à P-00194 chưa có ngày release</a:t>
            </a:r>
            <a:r>
              <a:rPr lang="en-US" dirty="0" smtClean="0">
                <a:solidFill>
                  <a:schemeClr val="dk1"/>
                </a:solidFill>
                <a:latin typeface="Times New Roman"/>
                <a:ea typeface="Times New Roman"/>
                <a:cs typeface="Times New Roman"/>
                <a:sym typeface="Times New Roman"/>
              </a:rPr>
              <a:t>.</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100" b="0" i="0" u="none" strike="noStrike" cap="none" dirty="0">
                <a:solidFill>
                  <a:schemeClr val="dk1"/>
                </a:solidFill>
                <a:latin typeface="Times New Roman"/>
                <a:ea typeface="Times New Roman"/>
                <a:cs typeface="Times New Roman"/>
                <a:sym typeface="Times New Roman"/>
              </a:rPr>
              <a:t> </a:t>
            </a:r>
            <a:endParaRPr sz="1100" b="0"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500" b="1" i="0" u="none" strike="noStrike" cap="none" dirty="0">
                <a:solidFill>
                  <a:schemeClr val="dk1"/>
                </a:solidFill>
                <a:latin typeface="Times New Roman"/>
                <a:ea typeface="Times New Roman"/>
                <a:cs typeface="Times New Roman"/>
                <a:sym typeface="Times New Roman"/>
              </a:rPr>
              <a:t>APU B787 </a:t>
            </a:r>
            <a:endParaRPr sz="1500" b="1"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400" b="0" i="0" u="none" strike="noStrike" cap="none" dirty="0">
                <a:solidFill>
                  <a:schemeClr val="dk1"/>
                </a:solidFill>
                <a:latin typeface="Times New Roman"/>
                <a:ea typeface="Times New Roman"/>
                <a:cs typeface="Times New Roman"/>
                <a:sym typeface="Times New Roman"/>
              </a:rPr>
              <a:t>+ STK: </a:t>
            </a:r>
            <a:r>
              <a:rPr lang="en-US" dirty="0">
                <a:solidFill>
                  <a:schemeClr val="dk1"/>
                </a:solidFill>
                <a:latin typeface="Times New Roman"/>
                <a:ea typeface="Times New Roman"/>
                <a:cs typeface="Times New Roman"/>
                <a:sym typeface="Times New Roman"/>
              </a:rPr>
              <a:t>0</a:t>
            </a:r>
            <a:r>
              <a:rPr lang="en-US" sz="1400" b="0" i="0" u="none" strike="noStrike" cap="none" dirty="0">
                <a:solidFill>
                  <a:schemeClr val="dk1"/>
                </a:solidFill>
                <a:latin typeface="Times New Roman"/>
                <a:ea typeface="Times New Roman"/>
                <a:cs typeface="Times New Roman"/>
                <a:sym typeface="Times New Roman"/>
              </a:rPr>
              <a:t> APU</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+ 01 APU (PWC-Z926122) </a:t>
            </a:r>
            <a:r>
              <a:rPr lang="en-US" dirty="0" err="1">
                <a:solidFill>
                  <a:schemeClr val="dk1"/>
                </a:solidFill>
                <a:latin typeface="Times New Roman"/>
                <a:ea typeface="Times New Roman"/>
                <a:cs typeface="Times New Roman"/>
                <a:sym typeface="Times New Roman"/>
              </a:rPr>
              <a:t>chưa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có</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dk</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về</a:t>
            </a:r>
            <a:r>
              <a:rPr lang="en-US" dirty="0">
                <a:solidFill>
                  <a:schemeClr val="dk1"/>
                </a:solidFill>
                <a:latin typeface="Times New Roman"/>
                <a:ea typeface="Times New Roman"/>
                <a:cs typeface="Times New Roman"/>
                <a:sym typeface="Times New Roman"/>
              </a:rPr>
              <a:t>.</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+01 APU ( PWC-Z925500) DK 30/04/2025 </a:t>
            </a:r>
            <a:r>
              <a:rPr lang="en-US" dirty="0" err="1">
                <a:solidFill>
                  <a:schemeClr val="dk1"/>
                </a:solidFill>
                <a:latin typeface="Times New Roman"/>
                <a:ea typeface="Times New Roman"/>
                <a:cs typeface="Times New Roman"/>
                <a:sym typeface="Times New Roman"/>
              </a:rPr>
              <a:t>sửa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xong</a:t>
            </a:r>
            <a:r>
              <a:rPr lang="en-US" dirty="0">
                <a:solidFill>
                  <a:schemeClr val="dk1"/>
                </a:solidFill>
                <a:latin typeface="Times New Roman"/>
                <a:ea typeface="Times New Roman"/>
                <a:cs typeface="Times New Roman"/>
                <a:sym typeface="Times New Roman"/>
              </a:rPr>
              <a:t>.</a:t>
            </a:r>
            <a:endParaRPr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400" b="0" i="0" u="none" strike="noStrike" cap="none" dirty="0">
              <a:solidFill>
                <a:schemeClr val="dk1"/>
              </a:solidFill>
              <a:latin typeface="Times New Roman"/>
              <a:ea typeface="Times New Roman"/>
              <a:cs typeface="Times New Roman"/>
              <a:sym typeface="Times New Roman"/>
            </a:endParaRPr>
          </a:p>
        </p:txBody>
      </p:sp>
      <p:pic>
        <p:nvPicPr>
          <p:cNvPr id="320" name="Google Shape;320;g31ccdae391d_0_403"/>
          <p:cNvPicPr preferRelativeResize="0"/>
          <p:nvPr/>
        </p:nvPicPr>
        <p:blipFill>
          <a:blip r:embed="rId3">
            <a:alphaModFix/>
          </a:blip>
          <a:stretch>
            <a:fillRect/>
          </a:stretch>
        </p:blipFill>
        <p:spPr>
          <a:xfrm>
            <a:off x="448075" y="460200"/>
            <a:ext cx="6569401" cy="5936574"/>
          </a:xfrm>
          <a:prstGeom prst="rect">
            <a:avLst/>
          </a:prstGeom>
          <a:noFill/>
          <a:ln>
            <a:noFill/>
          </a:ln>
        </p:spPr>
      </p:pic>
    </p:spTree>
    <p:extLst>
      <p:ext uri="{BB962C8B-B14F-4D97-AF65-F5344CB8AC3E}">
        <p14:creationId xmlns:p14="http://schemas.microsoft.com/office/powerpoint/2010/main" val="274188581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g338eea6c084_0_0"/>
          <p:cNvSpPr txBox="1">
            <a:spLocks noGrp="1"/>
          </p:cNvSpPr>
          <p:nvPr>
            <p:ph type="title"/>
          </p:nvPr>
        </p:nvSpPr>
        <p:spPr>
          <a:xfrm>
            <a:off x="372775" y="0"/>
            <a:ext cx="112320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CÔNG TÁC CHUẨN BỊ BAY NGA</a:t>
            </a:r>
            <a:endParaRPr sz="2800">
              <a:solidFill>
                <a:srgbClr val="FFC000"/>
              </a:solidFill>
              <a:latin typeface="Times New Roman"/>
              <a:ea typeface="Times New Roman"/>
              <a:cs typeface="Times New Roman"/>
              <a:sym typeface="Times New Roman"/>
            </a:endParaRPr>
          </a:p>
        </p:txBody>
      </p:sp>
      <p:sp>
        <p:nvSpPr>
          <p:cNvPr id="327" name="Google Shape;327;g338eea6c084_0_0"/>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73</a:t>
            </a:fld>
            <a:endParaRPr/>
          </a:p>
        </p:txBody>
      </p:sp>
      <p:sp>
        <p:nvSpPr>
          <p:cNvPr id="328" name="Google Shape;328;g338eea6c084_0_0"/>
          <p:cNvSpPr/>
          <p:nvPr/>
        </p:nvSpPr>
        <p:spPr>
          <a:xfrm>
            <a:off x="609900" y="19183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355600" algn="just" rtl="0">
              <a:lnSpc>
                <a:spcPct val="115000"/>
              </a:lnSpc>
              <a:spcBef>
                <a:spcPts val="0"/>
              </a:spcBef>
              <a:spcAft>
                <a:spcPts val="0"/>
              </a:spcAft>
              <a:buClr>
                <a:schemeClr val="dk1"/>
              </a:buClr>
              <a:buSzPts val="2000"/>
              <a:buFont typeface="Times New Roman"/>
              <a:buAutoNum type="arabicPeriod"/>
            </a:pPr>
            <a:r>
              <a:rPr lang="en-US" sz="2000" b="1" dirty="0">
                <a:solidFill>
                  <a:schemeClr val="dk1"/>
                </a:solidFill>
                <a:latin typeface="Times New Roman"/>
                <a:ea typeface="Times New Roman"/>
                <a:cs typeface="Times New Roman"/>
                <a:sym typeface="Times New Roman"/>
              </a:rPr>
              <a:t>NHIÊN LIỆU:</a:t>
            </a:r>
            <a:endParaRPr sz="2000" b="1"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None/>
            </a:pPr>
            <a:r>
              <a:rPr lang="en-US" sz="1600" dirty="0" err="1">
                <a:solidFill>
                  <a:schemeClr val="dk1"/>
                </a:solidFill>
                <a:latin typeface="Times New Roman"/>
                <a:ea typeface="Times New Roman"/>
                <a:cs typeface="Times New Roman"/>
                <a:sym typeface="Times New Roman"/>
              </a:rPr>
              <a:t>Skypec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cung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cấp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nhiên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liệu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cho</a:t>
            </a:r>
            <a:r>
              <a:rPr lang="en-US" sz="1600" dirty="0">
                <a:solidFill>
                  <a:schemeClr val="dk1"/>
                </a:solidFill>
                <a:latin typeface="Times New Roman"/>
                <a:ea typeface="Times New Roman"/>
                <a:cs typeface="Times New Roman"/>
                <a:sym typeface="Times New Roman"/>
              </a:rPr>
              <a:t> HVN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SVO.</a:t>
            </a:r>
            <a:endParaRPr sz="2000" dirty="0">
              <a:solidFill>
                <a:schemeClr val="dk1"/>
              </a:solidFill>
              <a:latin typeface="Times New Roman"/>
              <a:ea typeface="Times New Roman"/>
              <a:cs typeface="Times New Roman"/>
              <a:sym typeface="Times New Roman"/>
            </a:endParaRPr>
          </a:p>
          <a:p>
            <a:pPr marL="101600" marR="0" lvl="0" algn="just" rtl="0">
              <a:lnSpc>
                <a:spcPct val="115000"/>
              </a:lnSpc>
              <a:spcBef>
                <a:spcPts val="0"/>
              </a:spcBef>
              <a:spcAft>
                <a:spcPts val="0"/>
              </a:spcAft>
              <a:buClr>
                <a:schemeClr val="dk1"/>
              </a:buClr>
              <a:buSzPts val="2000"/>
            </a:pPr>
            <a:r>
              <a:rPr lang="en-US" sz="2000" b="1" dirty="0" smtClean="0">
                <a:solidFill>
                  <a:schemeClr val="dk1"/>
                </a:solidFill>
                <a:latin typeface="Times New Roman"/>
                <a:ea typeface="Times New Roman"/>
                <a:cs typeface="Times New Roman"/>
                <a:sym typeface="Times New Roman"/>
              </a:rPr>
              <a:t>2.   PTVT </a:t>
            </a:r>
            <a:r>
              <a:rPr lang="en-US" sz="2000" b="1" dirty="0">
                <a:solidFill>
                  <a:schemeClr val="dk1"/>
                </a:solidFill>
                <a:latin typeface="Times New Roman"/>
                <a:ea typeface="Times New Roman"/>
                <a:cs typeface="Times New Roman"/>
                <a:sym typeface="Times New Roman"/>
              </a:rPr>
              <a:t>DỰ PHÒNG FAK</a:t>
            </a:r>
            <a:endParaRPr sz="1600" dirty="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TGĐ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phê</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duyệt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mua</a:t>
            </a:r>
            <a:r>
              <a:rPr lang="en-US" sz="1600" dirty="0">
                <a:solidFill>
                  <a:schemeClr val="dk1"/>
                </a:solidFill>
                <a:latin typeface="Times New Roman"/>
                <a:ea typeface="Times New Roman"/>
                <a:cs typeface="Times New Roman"/>
                <a:sym typeface="Times New Roman"/>
              </a:rPr>
              <a:t> 63 item (5.18 </a:t>
            </a:r>
            <a:r>
              <a:rPr lang="en-US" sz="1600" dirty="0" err="1">
                <a:solidFill>
                  <a:schemeClr val="dk1"/>
                </a:solidFill>
                <a:latin typeface="Times New Roman"/>
                <a:ea typeface="Times New Roman"/>
                <a:cs typeface="Times New Roman"/>
                <a:sym typeface="Times New Roman"/>
              </a:rPr>
              <a:t>triệu</a:t>
            </a:r>
            <a:r>
              <a:rPr lang="en-US" sz="1600" dirty="0">
                <a:solidFill>
                  <a:schemeClr val="dk1"/>
                </a:solidFill>
                <a:latin typeface="Times New Roman"/>
                <a:ea typeface="Times New Roman"/>
                <a:cs typeface="Times New Roman"/>
                <a:sym typeface="Times New Roman"/>
              </a:rPr>
              <a:t> USD) trong </a:t>
            </a:r>
            <a:r>
              <a:rPr lang="en-US" sz="1600" dirty="0" err="1">
                <a:solidFill>
                  <a:schemeClr val="dk1"/>
                </a:solidFill>
                <a:latin typeface="Times New Roman"/>
                <a:ea typeface="Times New Roman"/>
                <a:cs typeface="Times New Roman"/>
                <a:sym typeface="Times New Roman"/>
              </a:rPr>
              <a:t>đó</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lvl="0" indent="-330200" algn="just" rtl="0">
              <a:lnSpc>
                <a:spcPct val="115000"/>
              </a:lnSpc>
              <a:spcBef>
                <a:spcPts val="0"/>
              </a:spcBef>
              <a:spcAft>
                <a:spcPts val="0"/>
              </a:spcAft>
              <a:buClr>
                <a:schemeClr val="dk1"/>
              </a:buClr>
              <a:buSzPts val="1600"/>
              <a:buFont typeface="Times New Roman"/>
              <a:buChar char="-"/>
            </a:pPr>
            <a:r>
              <a:rPr lang="en-US" sz="1600" dirty="0">
                <a:solidFill>
                  <a:schemeClr val="dk1"/>
                </a:solidFill>
                <a:latin typeface="Times New Roman"/>
                <a:ea typeface="Times New Roman"/>
                <a:cs typeface="Times New Roman"/>
                <a:sym typeface="Times New Roman"/>
              </a:rPr>
              <a:t>27ea in stock.</a:t>
            </a:r>
            <a:endParaRPr sz="1600" dirty="0">
              <a:solidFill>
                <a:schemeClr val="dk1"/>
              </a:solidFill>
              <a:latin typeface="Times New Roman"/>
              <a:ea typeface="Times New Roman"/>
              <a:cs typeface="Times New Roman"/>
              <a:sym typeface="Times New Roman"/>
            </a:endParaRPr>
          </a:p>
          <a:p>
            <a:pPr marL="457200" lvl="0" indent="-330200" algn="just" rtl="0">
              <a:lnSpc>
                <a:spcPct val="115000"/>
              </a:lnSpc>
              <a:spcBef>
                <a:spcPts val="0"/>
              </a:spcBef>
              <a:spcAft>
                <a:spcPts val="0"/>
              </a:spcAft>
              <a:buClr>
                <a:schemeClr val="dk1"/>
              </a:buClr>
              <a:buSzPts val="1600"/>
              <a:buFont typeface="Times New Roman"/>
              <a:buChar char="-"/>
            </a:pPr>
            <a:r>
              <a:rPr lang="en-US" sz="1600" dirty="0">
                <a:solidFill>
                  <a:schemeClr val="dk1"/>
                </a:solidFill>
                <a:latin typeface="Times New Roman"/>
                <a:ea typeface="Times New Roman"/>
                <a:cs typeface="Times New Roman"/>
                <a:sym typeface="Times New Roman"/>
              </a:rPr>
              <a:t>12ea </a:t>
            </a:r>
            <a:r>
              <a:rPr lang="en-US" sz="1600" dirty="0" err="1">
                <a:solidFill>
                  <a:schemeClr val="dk1"/>
                </a:solidFill>
                <a:latin typeface="Times New Roman"/>
                <a:ea typeface="Times New Roman"/>
                <a:cs typeface="Times New Roman"/>
                <a:sym typeface="Times New Roman"/>
              </a:rPr>
              <a:t>sẽ</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trong </a:t>
            </a:r>
            <a:r>
              <a:rPr lang="en-US" sz="1600" dirty="0" err="1">
                <a:solidFill>
                  <a:schemeClr val="dk1"/>
                </a:solidFill>
                <a:latin typeface="Times New Roman"/>
                <a:ea typeface="Times New Roman"/>
                <a:cs typeface="Times New Roman"/>
                <a:sym typeface="Times New Roman"/>
              </a:rPr>
              <a:t>tháng</a:t>
            </a:r>
            <a:r>
              <a:rPr lang="en-US" sz="1600" dirty="0">
                <a:solidFill>
                  <a:schemeClr val="dk1"/>
                </a:solidFill>
                <a:latin typeface="Times New Roman"/>
                <a:ea typeface="Times New Roman"/>
                <a:cs typeface="Times New Roman"/>
                <a:sym typeface="Times New Roman"/>
              </a:rPr>
              <a:t> 4.</a:t>
            </a:r>
            <a:endParaRPr sz="1600" dirty="0">
              <a:solidFill>
                <a:schemeClr val="dk1"/>
              </a:solidFill>
              <a:latin typeface="Times New Roman"/>
              <a:ea typeface="Times New Roman"/>
              <a:cs typeface="Times New Roman"/>
              <a:sym typeface="Times New Roman"/>
            </a:endParaRPr>
          </a:p>
          <a:p>
            <a:pPr marL="457200" lvl="0" indent="-330200" algn="just" rtl="0">
              <a:lnSpc>
                <a:spcPct val="115000"/>
              </a:lnSpc>
              <a:spcBef>
                <a:spcPts val="0"/>
              </a:spcBef>
              <a:spcAft>
                <a:spcPts val="0"/>
              </a:spcAft>
              <a:buClr>
                <a:schemeClr val="dk1"/>
              </a:buClr>
              <a:buSzPts val="1600"/>
              <a:buFont typeface="Times New Roman"/>
              <a:buChar char="-"/>
            </a:pPr>
            <a:r>
              <a:rPr lang="en-US" sz="1600" dirty="0">
                <a:solidFill>
                  <a:schemeClr val="dk1"/>
                </a:solidFill>
                <a:latin typeface="Times New Roman"/>
                <a:ea typeface="Times New Roman"/>
                <a:cs typeface="Times New Roman"/>
                <a:sym typeface="Times New Roman"/>
              </a:rPr>
              <a:t>17ea </a:t>
            </a:r>
            <a:r>
              <a:rPr lang="en-US" sz="1600" dirty="0" err="1">
                <a:solidFill>
                  <a:schemeClr val="dk1"/>
                </a:solidFill>
                <a:latin typeface="Times New Roman"/>
                <a:ea typeface="Times New Roman"/>
                <a:cs typeface="Times New Roman"/>
                <a:sym typeface="Times New Roman"/>
              </a:rPr>
              <a:t>chưa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xác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lịch</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tiếp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tục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giục</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lvl="0" indent="-330200" algn="just" rtl="0">
              <a:lnSpc>
                <a:spcPct val="115000"/>
              </a:lnSpc>
              <a:spcBef>
                <a:spcPts val="0"/>
              </a:spcBef>
              <a:spcAft>
                <a:spcPts val="0"/>
              </a:spcAft>
              <a:buClr>
                <a:schemeClr val="dk1"/>
              </a:buClr>
              <a:buSzPts val="1600"/>
              <a:buFont typeface="Times New Roman"/>
              <a:buChar char="-"/>
            </a:pPr>
            <a:r>
              <a:rPr lang="en-US" sz="1600" dirty="0">
                <a:solidFill>
                  <a:schemeClr val="dk1"/>
                </a:solidFill>
                <a:latin typeface="Times New Roman"/>
                <a:ea typeface="Times New Roman"/>
                <a:cs typeface="Times New Roman"/>
                <a:sym typeface="Times New Roman"/>
              </a:rPr>
              <a:t>07ea </a:t>
            </a:r>
            <a:r>
              <a:rPr lang="en-US" sz="1600" dirty="0" err="1">
                <a:solidFill>
                  <a:schemeClr val="dk1"/>
                </a:solidFill>
                <a:latin typeface="Times New Roman"/>
                <a:ea typeface="Times New Roman"/>
                <a:cs typeface="Times New Roman"/>
                <a:sym typeface="Times New Roman"/>
              </a:rPr>
              <a:t>đang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trình</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xin</a:t>
            </a:r>
            <a:r>
              <a:rPr lang="en-US" sz="1600" dirty="0">
                <a:solidFill>
                  <a:schemeClr val="dk1"/>
                </a:solidFill>
                <a:latin typeface="Times New Roman"/>
                <a:ea typeface="Times New Roman"/>
                <a:cs typeface="Times New Roman"/>
                <a:sym typeface="Times New Roman"/>
              </a:rPr>
              <a:t> P.TGĐ </a:t>
            </a:r>
            <a:r>
              <a:rPr lang="en-US" sz="1600" dirty="0" err="1">
                <a:solidFill>
                  <a:schemeClr val="dk1"/>
                </a:solidFill>
                <a:latin typeface="Times New Roman"/>
                <a:ea typeface="Times New Roman"/>
                <a:cs typeface="Times New Roman"/>
                <a:sym typeface="Times New Roman"/>
              </a:rPr>
              <a:t>phê</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duyệt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mua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cũ</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gửi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kèm</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thông</a:t>
            </a:r>
            <a:r>
              <a:rPr lang="en-US" sz="1600" dirty="0">
                <a:solidFill>
                  <a:schemeClr val="dk1"/>
                </a:solidFill>
                <a:latin typeface="Times New Roman"/>
                <a:ea typeface="Times New Roman"/>
                <a:cs typeface="Times New Roman"/>
                <a:sym typeface="Times New Roman"/>
              </a:rPr>
              <a:t> tin </a:t>
            </a:r>
            <a:r>
              <a:rPr lang="en-US" sz="1600" dirty="0" err="1">
                <a:solidFill>
                  <a:schemeClr val="dk1"/>
                </a:solidFill>
                <a:latin typeface="Times New Roman"/>
                <a:ea typeface="Times New Roman"/>
                <a:cs typeface="Times New Roman"/>
                <a:sym typeface="Times New Roman"/>
              </a:rPr>
              <a:t>từ</a:t>
            </a:r>
            <a:r>
              <a:rPr lang="en-US" sz="1600" dirty="0">
                <a:solidFill>
                  <a:schemeClr val="dk1"/>
                </a:solidFill>
                <a:latin typeface="Times New Roman"/>
                <a:ea typeface="Times New Roman"/>
                <a:cs typeface="Times New Roman"/>
                <a:sym typeface="Times New Roman"/>
              </a:rPr>
              <a:t>  Ban KT.</a:t>
            </a:r>
            <a:endParaRPr sz="1600" b="0" i="0" u="none" strike="noStrike" cap="none" dirty="0">
              <a:solidFill>
                <a:schemeClr val="dk1"/>
              </a:solidFill>
              <a:latin typeface="Times New Roman"/>
              <a:ea typeface="Times New Roman"/>
              <a:cs typeface="Times New Roman"/>
              <a:sym typeface="Times New Roman"/>
            </a:endParaRPr>
          </a:p>
          <a:p>
            <a:pPr marL="101600" marR="0" lvl="0" algn="just" rtl="0">
              <a:lnSpc>
                <a:spcPct val="115000"/>
              </a:lnSpc>
              <a:spcBef>
                <a:spcPts val="0"/>
              </a:spcBef>
              <a:spcAft>
                <a:spcPts val="0"/>
              </a:spcAft>
              <a:buClr>
                <a:schemeClr val="dk1"/>
              </a:buClr>
              <a:buSzPts val="2000"/>
            </a:pPr>
            <a:r>
              <a:rPr lang="en-US" sz="2000" b="1" dirty="0" smtClean="0">
                <a:solidFill>
                  <a:schemeClr val="dk1"/>
                </a:solidFill>
                <a:latin typeface="Times New Roman"/>
                <a:ea typeface="Times New Roman"/>
                <a:cs typeface="Times New Roman"/>
                <a:sym typeface="Times New Roman"/>
              </a:rPr>
              <a:t>3.   VẬN </a:t>
            </a:r>
            <a:r>
              <a:rPr lang="en-US" sz="2000" b="1" dirty="0">
                <a:solidFill>
                  <a:schemeClr val="dk1"/>
                </a:solidFill>
                <a:latin typeface="Times New Roman"/>
                <a:ea typeface="Times New Roman"/>
                <a:cs typeface="Times New Roman"/>
                <a:sym typeface="Times New Roman"/>
              </a:rPr>
              <a:t>CHUYỂN, THUÊ KHO Ở NGA</a:t>
            </a:r>
            <a:endParaRPr sz="2000" b="1"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dirty="0" err="1">
                <a:solidFill>
                  <a:schemeClr val="dk1"/>
                </a:solidFill>
                <a:latin typeface="Times New Roman"/>
                <a:ea typeface="Times New Roman"/>
                <a:cs typeface="Times New Roman"/>
                <a:sym typeface="Times New Roman"/>
              </a:rPr>
              <a:t>Vận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chuyển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liên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hệ</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với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các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chuyển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để</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tìm</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trước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phương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án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nhưng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hiện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một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số</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vướng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mắc</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Cần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thông</a:t>
            </a:r>
            <a:r>
              <a:rPr lang="en-US" sz="1600" dirty="0">
                <a:solidFill>
                  <a:schemeClr val="dk1"/>
                </a:solidFill>
                <a:latin typeface="Times New Roman"/>
                <a:ea typeface="Times New Roman"/>
                <a:cs typeface="Times New Roman"/>
                <a:sym typeface="Times New Roman"/>
              </a:rPr>
              <a:t> tin </a:t>
            </a:r>
            <a:r>
              <a:rPr lang="en-US" sz="1600" dirty="0" err="1">
                <a:solidFill>
                  <a:schemeClr val="dk1"/>
                </a:solidFill>
                <a:latin typeface="Times New Roman"/>
                <a:ea typeface="Times New Roman"/>
                <a:cs typeface="Times New Roman"/>
                <a:sym typeface="Times New Roman"/>
              </a:rPr>
              <a:t>cụ</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thể</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hàng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cần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chuyển</a:t>
            </a:r>
            <a:r>
              <a:rPr lang="en-US" sz="1600" dirty="0">
                <a:solidFill>
                  <a:schemeClr val="dk1"/>
                </a:solidFill>
                <a:latin typeface="Times New Roman"/>
                <a:ea typeface="Times New Roman"/>
                <a:cs typeface="Times New Roman"/>
                <a:sym typeface="Times New Roman"/>
              </a:rPr>
              <a:t> case by case (HS Code, product description, commercial invoice and purpose of use information in order to take action).</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Submit </a:t>
            </a:r>
            <a:r>
              <a:rPr lang="en-US" sz="1600" dirty="0" err="1">
                <a:solidFill>
                  <a:schemeClr val="dk1"/>
                </a:solidFill>
                <a:latin typeface="Times New Roman"/>
                <a:ea typeface="Times New Roman"/>
                <a:cs typeface="Times New Roman"/>
                <a:sym typeface="Times New Roman"/>
              </a:rPr>
              <a:t>thông</a:t>
            </a:r>
            <a:r>
              <a:rPr lang="en-US" sz="1600" dirty="0">
                <a:solidFill>
                  <a:schemeClr val="dk1"/>
                </a:solidFill>
                <a:latin typeface="Times New Roman"/>
                <a:ea typeface="Times New Roman"/>
                <a:cs typeface="Times New Roman"/>
                <a:sym typeface="Times New Roman"/>
              </a:rPr>
              <a:t> tin </a:t>
            </a:r>
            <a:r>
              <a:rPr lang="en-US" sz="1600" dirty="0" err="1">
                <a:solidFill>
                  <a:schemeClr val="dk1"/>
                </a:solidFill>
                <a:latin typeface="Times New Roman"/>
                <a:ea typeface="Times New Roman"/>
                <a:cs typeface="Times New Roman"/>
                <a:sym typeface="Times New Roman"/>
              </a:rPr>
              <a:t>đến</a:t>
            </a:r>
            <a:r>
              <a:rPr lang="en-US" sz="1600" dirty="0">
                <a:solidFill>
                  <a:schemeClr val="dk1"/>
                </a:solidFill>
                <a:latin typeface="Times New Roman"/>
                <a:ea typeface="Times New Roman"/>
                <a:cs typeface="Times New Roman"/>
                <a:sym typeface="Times New Roman"/>
              </a:rPr>
              <a:t> Airlines </a:t>
            </a:r>
            <a:r>
              <a:rPr lang="en-US" sz="1600" dirty="0" err="1">
                <a:solidFill>
                  <a:schemeClr val="dk1"/>
                </a:solidFill>
                <a:latin typeface="Times New Roman"/>
                <a:ea typeface="Times New Roman"/>
                <a:cs typeface="Times New Roman"/>
                <a:sym typeface="Times New Roman"/>
              </a:rPr>
              <a:t>để</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xin</a:t>
            </a:r>
            <a:r>
              <a:rPr lang="en-US" sz="1600" dirty="0">
                <a:solidFill>
                  <a:schemeClr val="dk1"/>
                </a:solidFill>
                <a:latin typeface="Times New Roman"/>
                <a:ea typeface="Times New Roman"/>
                <a:cs typeface="Times New Roman"/>
                <a:sym typeface="Times New Roman"/>
              </a:rPr>
              <a:t> approval.</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Nếu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chuyển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thì</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cũng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mất</a:t>
            </a:r>
            <a:r>
              <a:rPr lang="en-US" sz="1600" dirty="0">
                <a:solidFill>
                  <a:schemeClr val="dk1"/>
                </a:solidFill>
                <a:latin typeface="Times New Roman"/>
                <a:ea typeface="Times New Roman"/>
                <a:cs typeface="Times New Roman"/>
                <a:sym typeface="Times New Roman"/>
              </a:rPr>
              <a:t> 3-5 </a:t>
            </a:r>
            <a:r>
              <a:rPr lang="en-US" sz="1600" dirty="0" err="1">
                <a:solidFill>
                  <a:schemeClr val="dk1"/>
                </a:solidFill>
                <a:latin typeface="Times New Roman"/>
                <a:ea typeface="Times New Roman"/>
                <a:cs typeface="Times New Roman"/>
                <a:sym typeface="Times New Roman"/>
              </a:rPr>
              <a:t>ngày</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từ</a:t>
            </a:r>
            <a:r>
              <a:rPr lang="en-US" sz="1600" dirty="0">
                <a:solidFill>
                  <a:schemeClr val="dk1"/>
                </a:solidFill>
                <a:latin typeface="Times New Roman"/>
                <a:ea typeface="Times New Roman"/>
                <a:cs typeface="Times New Roman"/>
                <a:sym typeface="Times New Roman"/>
              </a:rPr>
              <a:t> VN. </a:t>
            </a:r>
            <a:r>
              <a:rPr lang="en-US" sz="1600" dirty="0" err="1">
                <a:solidFill>
                  <a:schemeClr val="dk1"/>
                </a:solidFill>
                <a:latin typeface="Times New Roman"/>
                <a:ea typeface="Times New Roman"/>
                <a:cs typeface="Times New Roman"/>
                <a:sym typeface="Times New Roman"/>
              </a:rPr>
              <a:t>Còn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lại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từ</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châu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Âu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Mỹ</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hiện</a:t>
            </a:r>
            <a:r>
              <a:rPr lang="en-US" sz="1600" dirty="0">
                <a:solidFill>
                  <a:schemeClr val="dk1"/>
                </a:solidFill>
                <a:latin typeface="Times New Roman"/>
                <a:ea typeface="Times New Roman"/>
                <a:cs typeface="Times New Roman"/>
                <a:sym typeface="Times New Roman"/>
              </a:rPr>
              <a:t> nay </a:t>
            </a:r>
            <a:r>
              <a:rPr lang="en-US" sz="1600" dirty="0" err="1">
                <a:solidFill>
                  <a:schemeClr val="dk1"/>
                </a:solidFill>
                <a:latin typeface="Times New Roman"/>
                <a:ea typeface="Times New Roman"/>
                <a:cs typeface="Times New Roman"/>
                <a:sym typeface="Times New Roman"/>
              </a:rPr>
              <a:t>không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chuyển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được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đến</a:t>
            </a:r>
            <a:r>
              <a:rPr lang="en-US" sz="1600" dirty="0">
                <a:solidFill>
                  <a:schemeClr val="dk1"/>
                </a:solidFill>
                <a:latin typeface="Times New Roman"/>
                <a:ea typeface="Times New Roman"/>
                <a:cs typeface="Times New Roman"/>
                <a:sym typeface="Times New Roman"/>
              </a:rPr>
              <a:t> Nga</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--&gt; </a:t>
            </a:r>
            <a:r>
              <a:rPr lang="en-US" sz="1600" dirty="0" err="1">
                <a:solidFill>
                  <a:schemeClr val="dk1"/>
                </a:solidFill>
                <a:latin typeface="Times New Roman"/>
                <a:ea typeface="Times New Roman"/>
                <a:cs typeface="Times New Roman"/>
                <a:sym typeface="Times New Roman"/>
              </a:rPr>
              <a:t>vẫn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khăn</a:t>
            </a:r>
            <a:r>
              <a:rPr lang="en-US" sz="1600" dirty="0">
                <a:solidFill>
                  <a:schemeClr val="dk1"/>
                </a:solidFill>
                <a:latin typeface="Times New Roman"/>
                <a:ea typeface="Times New Roman"/>
                <a:cs typeface="Times New Roman"/>
                <a:sym typeface="Times New Roman"/>
              </a:rPr>
              <a:t> trong </a:t>
            </a:r>
            <a:r>
              <a:rPr lang="en-US" sz="1600" dirty="0" err="1">
                <a:solidFill>
                  <a:schemeClr val="dk1"/>
                </a:solidFill>
                <a:latin typeface="Times New Roman"/>
                <a:ea typeface="Times New Roman"/>
                <a:cs typeface="Times New Roman"/>
                <a:sym typeface="Times New Roman"/>
              </a:rPr>
              <a:t>vận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chuyển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tìm</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thêm</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pá</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khác</a:t>
            </a:r>
            <a:endParaRPr sz="1600"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Thuê</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Đối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tác</a:t>
            </a:r>
            <a:r>
              <a:rPr lang="en-US" sz="1600" dirty="0">
                <a:solidFill>
                  <a:schemeClr val="dk1"/>
                </a:solidFill>
                <a:latin typeface="Times New Roman"/>
                <a:ea typeface="Times New Roman"/>
                <a:cs typeface="Times New Roman"/>
                <a:sym typeface="Times New Roman"/>
              </a:rPr>
              <a:t> ở Nga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chấp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thuê</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nhưng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phải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làm</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thủ</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tục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nhập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khẩu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vào</a:t>
            </a:r>
            <a:r>
              <a:rPr lang="en-US" sz="1600" dirty="0">
                <a:solidFill>
                  <a:schemeClr val="dk1"/>
                </a:solidFill>
                <a:latin typeface="Times New Roman"/>
                <a:ea typeface="Times New Roman"/>
                <a:cs typeface="Times New Roman"/>
                <a:sym typeface="Times New Roman"/>
              </a:rPr>
              <a:t> Nga, </a:t>
            </a:r>
            <a:r>
              <a:rPr lang="en-US" sz="1600" dirty="0" err="1">
                <a:solidFill>
                  <a:schemeClr val="dk1"/>
                </a:solidFill>
                <a:latin typeface="Times New Roman"/>
                <a:ea typeface="Times New Roman"/>
                <a:cs typeface="Times New Roman"/>
                <a:sym typeface="Times New Roman"/>
              </a:rPr>
              <a:t>như</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vậy</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sẽ</a:t>
            </a:r>
            <a:r>
              <a:rPr lang="en-US" sz="1600" dirty="0">
                <a:solidFill>
                  <a:schemeClr val="dk1"/>
                </a:solidFill>
                <a:latin typeface="Times New Roman"/>
                <a:ea typeface="Times New Roman"/>
                <a:cs typeface="Times New Roman"/>
                <a:sym typeface="Times New Roman"/>
              </a:rPr>
              <a:t> vi </a:t>
            </a:r>
            <a:r>
              <a:rPr lang="en-US" sz="1600" dirty="0" err="1">
                <a:solidFill>
                  <a:schemeClr val="dk1"/>
                </a:solidFill>
                <a:latin typeface="Times New Roman"/>
                <a:ea typeface="Times New Roman"/>
                <a:cs typeface="Times New Roman"/>
                <a:sym typeface="Times New Roman"/>
              </a:rPr>
              <a:t>phạm</a:t>
            </a:r>
            <a:r>
              <a:rPr lang="en-US" sz="1600" dirty="0">
                <a:solidFill>
                  <a:schemeClr val="dk1"/>
                </a:solidFill>
                <a:latin typeface="Times New Roman"/>
                <a:ea typeface="Times New Roman"/>
                <a:cs typeface="Times New Roman"/>
                <a:sym typeface="Times New Roman"/>
              </a:rPr>
              <a:t> cam </a:t>
            </a:r>
            <a:r>
              <a:rPr lang="en-US" sz="1600" dirty="0" err="1">
                <a:solidFill>
                  <a:schemeClr val="dk1"/>
                </a:solidFill>
                <a:latin typeface="Times New Roman"/>
                <a:ea typeface="Times New Roman"/>
                <a:cs typeface="Times New Roman"/>
                <a:sym typeface="Times New Roman"/>
              </a:rPr>
              <a:t>kết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không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xuất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khẩu</a:t>
            </a:r>
            <a:r>
              <a:rPr lang="en-US" sz="1600" dirty="0">
                <a:solidFill>
                  <a:schemeClr val="dk1"/>
                </a:solidFill>
                <a:latin typeface="Times New Roman"/>
                <a:ea typeface="Times New Roman"/>
                <a:cs typeface="Times New Roman"/>
                <a:sym typeface="Times New Roman"/>
              </a:rPr>
              <a:t> PTVT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ký</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với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các</a:t>
            </a:r>
            <a:r>
              <a:rPr lang="en-US" sz="1600" dirty="0">
                <a:solidFill>
                  <a:schemeClr val="dk1"/>
                </a:solidFill>
                <a:latin typeface="Times New Roman"/>
                <a:ea typeface="Times New Roman"/>
                <a:cs typeface="Times New Roman"/>
                <a:sym typeface="Times New Roman"/>
              </a:rPr>
              <a:t> OEM.</a:t>
            </a:r>
            <a:endParaRPr sz="1600"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  </a:t>
            </a: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80876800"/>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8" descr="A blue background with yellow lines&#10;&#10;Description automatically generated"/>
          <p:cNvPicPr preferRelativeResize="0"/>
          <p:nvPr/>
        </p:nvPicPr>
        <p:blipFill rotWithShape="1">
          <a:blip r:embed="rId3">
            <a:alphaModFix/>
          </a:blip>
          <a:srcRect/>
          <a:stretch/>
        </p:blipFill>
        <p:spPr>
          <a:xfrm>
            <a:off x="0" y="1"/>
            <a:ext cx="12192000" cy="6972300"/>
          </a:xfrm>
          <a:prstGeom prst="rect">
            <a:avLst/>
          </a:prstGeom>
          <a:noFill/>
          <a:ln>
            <a:noFill/>
          </a:ln>
        </p:spPr>
      </p:pic>
      <p:sp>
        <p:nvSpPr>
          <p:cNvPr id="107" name="Google Shape;107;p8"/>
          <p:cNvSpPr txBox="1"/>
          <p:nvPr/>
        </p:nvSpPr>
        <p:spPr>
          <a:xfrm>
            <a:off x="1051901" y="2781528"/>
            <a:ext cx="6795451" cy="2800726"/>
          </a:xfrm>
          <a:prstGeom prst="rect">
            <a:avLst/>
          </a:prstGeom>
          <a:noFill/>
          <a:ln>
            <a:noFill/>
          </a:ln>
        </p:spPr>
        <p:txBody>
          <a:bodyPr spcFirstLastPara="1" wrap="square" lIns="91433" tIns="45700" rIns="91433"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 sz="8800" b="1" i="1" u="none" strike="noStrike" kern="1200" cap="none" spc="0" normalizeH="0" baseline="0" noProof="0">
                <a:ln>
                  <a:noFill/>
                </a:ln>
                <a:solidFill>
                  <a:prstClr val="white"/>
                </a:solidFill>
                <a:effectLst/>
                <a:uLnTx/>
                <a:uFillTx/>
                <a:latin typeface="Montserrat SemiBold"/>
                <a:ea typeface="Montserrat SemiBold"/>
                <a:cs typeface="Montserrat SemiBold"/>
                <a:sym typeface="Montserrat SemiBold"/>
              </a:rPr>
              <a:t>THANK YOU</a:t>
            </a:r>
            <a:endParaRPr kumimoji="0" sz="8800" b="1" i="1" u="none" strike="noStrike" kern="1200" cap="none" spc="0" normalizeH="0" baseline="0" noProof="0">
              <a:ln>
                <a:noFill/>
              </a:ln>
              <a:solidFill>
                <a:prstClr val="white"/>
              </a:solidFill>
              <a:effectLst/>
              <a:uLnTx/>
              <a:uFillTx/>
              <a:latin typeface="Montserrat SemiBold"/>
              <a:ea typeface="Montserrat SemiBold"/>
              <a:cs typeface="Montserrat SemiBold"/>
              <a:sym typeface="Montserrat SemiBold"/>
            </a:endParaRPr>
          </a:p>
        </p:txBody>
      </p:sp>
      <p:sp>
        <p:nvSpPr>
          <p:cNvPr id="108" name="Google Shape;108;p8"/>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1928542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OLD_ID xmlns="e189f61e-1295-4779-a752-040c7fad5177" xsi:nil="true"/>
    <ItemId xmlns="e189f61e-1295-4779-a752-040c7fad5177">0</ItemId>
    <FileName xmlns="e189f61e-1295-4779-a752-040c7fad5177">VNA _ Master template _ 16_9 _ ENG.pptx</FileName>
    <SubLibName xmlns="b6015720-aa74-4be3-ba0d-eab08776cb9b" xsi:nil="true"/>
    <ListName xmlns="e189f61e-1295-4779-a752-040c7fad5177">Com_Notice</ListNam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EF5E1C733973145B1493C5B4700F6CB" ma:contentTypeVersion="5" ma:contentTypeDescription="Create a new document." ma:contentTypeScope="" ma:versionID="312a50383655f8b07477a4ad72a81636">
  <xsd:schema xmlns:xsd="http://www.w3.org/2001/XMLSchema" xmlns:xs="http://www.w3.org/2001/XMLSchema" xmlns:p="http://schemas.microsoft.com/office/2006/metadata/properties" xmlns:ns2="e189f61e-1295-4779-a752-040c7fad5177" xmlns:ns3="b6015720-aa74-4be3-ba0d-eab08776cb9b" targetNamespace="http://schemas.microsoft.com/office/2006/metadata/properties" ma:root="true" ma:fieldsID="5bce5304ba9987326d96874970ac3c5b" ns2:_="" ns3:_="">
    <xsd:import namespace="e189f61e-1295-4779-a752-040c7fad5177"/>
    <xsd:import namespace="b6015720-aa74-4be3-ba0d-eab08776cb9b"/>
    <xsd:element name="properties">
      <xsd:complexType>
        <xsd:sequence>
          <xsd:element name="documentManagement">
            <xsd:complexType>
              <xsd:all>
                <xsd:element ref="ns2:ListName" minOccurs="0"/>
                <xsd:element ref="ns2:ItemId" minOccurs="0"/>
                <xsd:element ref="ns2:FileName" minOccurs="0"/>
                <xsd:element ref="ns2:OLD_ID" minOccurs="0"/>
                <xsd:element ref="ns3:SubLib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89f61e-1295-4779-a752-040c7fad5177" elementFormDefault="qualified">
    <xsd:import namespace="http://schemas.microsoft.com/office/2006/documentManagement/types"/>
    <xsd:import namespace="http://schemas.microsoft.com/office/infopath/2007/PartnerControls"/>
    <xsd:element name="ListName" ma:index="8" nillable="true" ma:displayName="ListName" ma:internalName="ListName">
      <xsd:simpleType>
        <xsd:restriction base="dms:Text">
          <xsd:maxLength value="255"/>
        </xsd:restriction>
      </xsd:simpleType>
    </xsd:element>
    <xsd:element name="ItemId" ma:index="9" nillable="true" ma:displayName="ItemId" ma:internalName="ItemId">
      <xsd:simpleType>
        <xsd:restriction base="dms:Text">
          <xsd:maxLength value="255"/>
        </xsd:restriction>
      </xsd:simpleType>
    </xsd:element>
    <xsd:element name="FileName" ma:index="10" nillable="true" ma:displayName="FileName" ma:internalName="FileName">
      <xsd:simpleType>
        <xsd:restriction base="dms:Text">
          <xsd:maxLength value="255"/>
        </xsd:restriction>
      </xsd:simpleType>
    </xsd:element>
    <xsd:element name="OLD_ID" ma:index="11" nillable="true" ma:displayName="OLD_ID" ma:internalName="OLD_ID">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b6015720-aa74-4be3-ba0d-eab08776cb9b" elementFormDefault="qualified">
    <xsd:import namespace="http://schemas.microsoft.com/office/2006/documentManagement/types"/>
    <xsd:import namespace="http://schemas.microsoft.com/office/infopath/2007/PartnerControls"/>
    <xsd:element name="SubLibName" ma:index="12" nillable="true" ma:displayName="SubLibName" ma:internalName="SubLibNam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B911D9C-B9DB-42A8-B756-3CC928D5245C}">
  <ds:schemaRefs>
    <ds:schemaRef ds:uri="http://schemas.microsoft.com/sharepoint/v3/contenttype/forms"/>
  </ds:schemaRefs>
</ds:datastoreItem>
</file>

<file path=customXml/itemProps2.xml><?xml version="1.0" encoding="utf-8"?>
<ds:datastoreItem xmlns:ds="http://schemas.openxmlformats.org/officeDocument/2006/customXml" ds:itemID="{7CE18D4A-261A-4850-B6EF-E8D1177C057C}">
  <ds:schemaRefs>
    <ds:schemaRef ds:uri="http://purl.org/dc/elements/1.1/"/>
    <ds:schemaRef ds:uri="http://schemas.microsoft.com/office/2006/metadata/properties"/>
    <ds:schemaRef ds:uri="http://purl.org/dc/terms/"/>
    <ds:schemaRef ds:uri="http://schemas.openxmlformats.org/package/2006/metadata/core-properties"/>
    <ds:schemaRef ds:uri="e189f61e-1295-4779-a752-040c7fad5177"/>
    <ds:schemaRef ds:uri="http://schemas.microsoft.com/office/2006/documentManagement/types"/>
    <ds:schemaRef ds:uri="b6015720-aa74-4be3-ba0d-eab08776cb9b"/>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EA328AF4-E0C3-4533-80B7-C0A1C2FFEA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89f61e-1295-4779-a752-040c7fad5177"/>
    <ds:schemaRef ds:uri="b6015720-aa74-4be3-ba0d-eab08776cb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75086</TotalTime>
  <Words>16945</Words>
  <Application>Microsoft Office PowerPoint</Application>
  <PresentationFormat>Widescreen</PresentationFormat>
  <Paragraphs>2656</Paragraphs>
  <Slides>75</Slides>
  <Notes>64</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75</vt:i4>
      </vt:variant>
    </vt:vector>
  </HeadingPairs>
  <TitlesOfParts>
    <vt:vector size="88" baseType="lpstr">
      <vt:lpstr>MS PGothic</vt:lpstr>
      <vt:lpstr>Arial</vt:lpstr>
      <vt:lpstr>Calibri</vt:lpstr>
      <vt:lpstr>Cambria</vt:lpstr>
      <vt:lpstr>Exo</vt:lpstr>
      <vt:lpstr>Franklin Gothic Medium Cond</vt:lpstr>
      <vt:lpstr>Montserrat</vt:lpstr>
      <vt:lpstr>Montserrat SemiBold</vt:lpstr>
      <vt:lpstr>Open Sans</vt:lpstr>
      <vt:lpstr>Tahoma</vt:lpstr>
      <vt:lpstr>Times New Roman</vt:lpstr>
      <vt:lpstr>Wingdings</vt:lpstr>
      <vt:lpstr>16-9 MASTER TEMPLATE</vt:lpstr>
      <vt:lpstr>BÁO CÁO KỸ THUẬT (Tuần 16: 14/04/2025 – 20/04/2025)</vt:lpstr>
      <vt:lpstr>TỔNG HỢP AOG, DELAY VÀ GTB/ATB/DIV</vt:lpstr>
      <vt:lpstr>ATB/GTB COMPARISON</vt:lpstr>
      <vt:lpstr>CÁC SỰ KIỆN ATB/GTB/DIV</vt:lpstr>
      <vt:lpstr>PowerPoint Presentation</vt:lpstr>
      <vt:lpstr>TÌNH TRẠNG KỸ THUẬT ĐỘI BAY – A320/A321</vt:lpstr>
      <vt:lpstr>TÌNH TRẠNG KỸ THUẬT ĐỘI BAY – A320/A321</vt:lpstr>
      <vt:lpstr>TÌNH TRẠNG KỸ THUẬT ĐỘI BAY – A320/A321</vt:lpstr>
      <vt:lpstr>PowerPoint Presentation</vt:lpstr>
      <vt:lpstr>TÌNH TRẠNG KỸ THUẬT ĐỘI BAY – A350</vt:lpstr>
      <vt:lpstr>PowerPoint Presentation</vt:lpstr>
      <vt:lpstr>PowerPoint Presentation</vt:lpstr>
      <vt:lpstr>TÌNH TRẠNG KỸ THUẬT ĐỘI BAY – B787</vt:lpstr>
      <vt:lpstr>TÌNH TRẠNG KỸ THUẬT ĐỘI BAY – B787</vt:lpstr>
      <vt:lpstr>TÌNH TRẠNG KỸ THUẬT ĐỘI BAY – B787</vt:lpstr>
      <vt:lpstr>TÌNH TRẠNG KỸ THUẬT ĐỘI BAY – B787</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TÌNH TRẠNG KỸ THUẬT ĐỘI BAY – ATR72</vt:lpstr>
      <vt:lpstr>DISPATCH RELIABILITY W16 (14/04/2025-20/04/2025)</vt:lpstr>
      <vt:lpstr>CÁC CÔNG VIỆC TRỌNG ĐIỂM TRONG TUẦN</vt:lpstr>
      <vt:lpstr>CÁC CÔNG VIỆC TRỌNG ĐIỂM TRONG TUẦN</vt:lpstr>
      <vt:lpstr>CÁC CÔNG VIỆC TRỌNG ĐIỂM TRONG TUẦN</vt:lpstr>
      <vt:lpstr>CÁC CÔNG VIỆC TRỌNG ĐIỂM TRONG TUẦN</vt:lpstr>
      <vt:lpstr>CÁC CÔNG VIỆC TRỌNG ĐIỂM TRONG TUẦN</vt:lpstr>
      <vt:lpstr>KHẢ NĂNG CUNG ỨNG ĐỘNG CƠ/APU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CÁC TÀU BQDB VÀ ĐANG TRONG BẢO DƯỠNG (BDĐK)</vt:lpstr>
      <vt:lpstr>CÁC TÀU BQDB VÀ ĐANG TRONG BẢO DƯỠNG (BDĐK)</vt:lpstr>
      <vt:lpstr>PowerPoint Presentation</vt:lpstr>
      <vt:lpstr>PowerPoint Presentation</vt:lpstr>
      <vt:lpstr>PowerPoint Presentation</vt:lpstr>
      <vt:lpstr>NHÂN NHƯỢNG TRONG TUẦN</vt:lpstr>
      <vt:lpstr>Giờ bay trung bình trong tuần các đội tàu</vt:lpstr>
      <vt:lpstr>Số chuyến bay theo ngày trong tuần các đội tàu</vt:lpstr>
      <vt:lpstr>Số chuyến bay khai thác theo ngày</vt:lpstr>
      <vt:lpstr>A321</vt:lpstr>
      <vt:lpstr>TÌNH TRẠNG APU LRU A321 </vt:lpstr>
      <vt:lpstr>A321 CÁC VẬT TƯ VƯỚNG MẮC KHÁC</vt:lpstr>
      <vt:lpstr>B787</vt:lpstr>
      <vt:lpstr>B787</vt:lpstr>
      <vt:lpstr>B787</vt:lpstr>
      <vt:lpstr>A350</vt:lpstr>
      <vt:lpstr>A350</vt:lpstr>
      <vt:lpstr>A350</vt:lpstr>
      <vt:lpstr>ATR</vt:lpstr>
      <vt:lpstr>Phanh, bánh lốp cho các đội bay</vt:lpstr>
      <vt:lpstr>Động cơ</vt:lpstr>
      <vt:lpstr>Động cơ</vt:lpstr>
      <vt:lpstr>Động cơ</vt:lpstr>
      <vt:lpstr>PowerPoint Presentation</vt:lpstr>
      <vt:lpstr>PowerPoint Presentation</vt:lpstr>
      <vt:lpstr>Kế hoạch động cơ </vt:lpstr>
      <vt:lpstr>APU</vt:lpstr>
      <vt:lpstr>CÔNG TÁC CHUẨN BỊ BAY NGA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VNA _ Master template _ 16_9 _ ENG.pptx</dc:title>
  <dc:creator>Vu Chi Thanh-Tech</dc:creator>
  <cp:lastModifiedBy>Vu Chi Thanh</cp:lastModifiedBy>
  <cp:revision>11795</cp:revision>
  <cp:lastPrinted>2019-03-27T09:25:07Z</cp:lastPrinted>
  <dcterms:created xsi:type="dcterms:W3CDTF">2018-12-27T04:50:36Z</dcterms:created>
  <dcterms:modified xsi:type="dcterms:W3CDTF">2025-04-20T14:35:54Z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0x0101002EF5E1C733973145B1493C5B4700F6CB</vt:lpwstr>
  </property>
</Properties>
</file>