
<file path=[Content_Types].xml><?xml version="1.0" encoding="utf-8"?>
<Types xmlns="http://schemas.openxmlformats.org/package/2006/content-types">
  <Default Extension="png" ContentType="image/png"/>
  <Default Extension="bin" ContentType="image/unknown"/>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4.xml" ContentType="application/vnd.openxmlformats-officedocument.presentationml.tags+xml"/>
  <Override PartName="/ppt/notesSlides/notesSlide23.xml" ContentType="application/vnd.openxmlformats-officedocument.presentationml.notesSlide+xml"/>
  <Override PartName="/ppt/charts/chart7.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3.xml" ContentType="application/vnd.openxmlformats-officedocument.drawingml.chart+xml"/>
  <Override PartName="/ppt/notesSlides/notesSlide37.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notesSlides/notesSlide38.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notesSlides/notesSlide39.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25" r:id="rId5"/>
  </p:sldMasterIdLst>
  <p:notesMasterIdLst>
    <p:notesMasterId r:id="rId74"/>
  </p:notesMasterIdLst>
  <p:sldIdLst>
    <p:sldId id="11486" r:id="rId6"/>
    <p:sldId id="11487" r:id="rId7"/>
    <p:sldId id="11488" r:id="rId8"/>
    <p:sldId id="12544" r:id="rId9"/>
    <p:sldId id="12547" r:id="rId10"/>
    <p:sldId id="12545" r:id="rId11"/>
    <p:sldId id="12546" r:id="rId12"/>
    <p:sldId id="11493" r:id="rId13"/>
    <p:sldId id="12548" r:id="rId14"/>
    <p:sldId id="12549" r:id="rId15"/>
    <p:sldId id="12550" r:id="rId16"/>
    <p:sldId id="12551" r:id="rId17"/>
    <p:sldId id="12552" r:id="rId18"/>
    <p:sldId id="12553" r:id="rId19"/>
    <p:sldId id="12554" r:id="rId20"/>
    <p:sldId id="12555" r:id="rId21"/>
    <p:sldId id="12556" r:id="rId22"/>
    <p:sldId id="12558" r:id="rId23"/>
    <p:sldId id="12559" r:id="rId24"/>
    <p:sldId id="12562" r:id="rId25"/>
    <p:sldId id="12565" r:id="rId26"/>
    <p:sldId id="12566" r:id="rId27"/>
    <p:sldId id="12564" r:id="rId28"/>
    <p:sldId id="12536" r:id="rId29"/>
    <p:sldId id="12538" r:id="rId30"/>
    <p:sldId id="12539" r:id="rId31"/>
    <p:sldId id="12541" r:id="rId32"/>
    <p:sldId id="12542" r:id="rId33"/>
    <p:sldId id="12527" r:id="rId34"/>
    <p:sldId id="12528" r:id="rId35"/>
    <p:sldId id="12529" r:id="rId36"/>
    <p:sldId id="12530" r:id="rId37"/>
    <p:sldId id="12531" r:id="rId38"/>
    <p:sldId id="12532" r:id="rId39"/>
    <p:sldId id="12533" r:id="rId40"/>
    <p:sldId id="12534" r:id="rId41"/>
    <p:sldId id="12535" r:id="rId42"/>
    <p:sldId id="12567" r:id="rId43"/>
    <p:sldId id="12568" r:id="rId44"/>
    <p:sldId id="12525" r:id="rId45"/>
    <p:sldId id="12526" r:id="rId46"/>
    <p:sldId id="12524" r:id="rId47"/>
    <p:sldId id="11545" r:id="rId48"/>
    <p:sldId id="12521" r:id="rId49"/>
    <p:sldId id="12522" r:id="rId50"/>
    <p:sldId id="12523" r:id="rId51"/>
    <p:sldId id="12500" r:id="rId52"/>
    <p:sldId id="12501" r:id="rId53"/>
    <p:sldId id="12502" r:id="rId54"/>
    <p:sldId id="12503" r:id="rId55"/>
    <p:sldId id="12504" r:id="rId56"/>
    <p:sldId id="12505" r:id="rId57"/>
    <p:sldId id="12506" r:id="rId58"/>
    <p:sldId id="12507" r:id="rId59"/>
    <p:sldId id="12508" r:id="rId60"/>
    <p:sldId id="12509" r:id="rId61"/>
    <p:sldId id="12510" r:id="rId62"/>
    <p:sldId id="12511" r:id="rId63"/>
    <p:sldId id="12512" r:id="rId64"/>
    <p:sldId id="12513" r:id="rId65"/>
    <p:sldId id="12514" r:id="rId66"/>
    <p:sldId id="12515" r:id="rId67"/>
    <p:sldId id="12516" r:id="rId68"/>
    <p:sldId id="12517" r:id="rId69"/>
    <p:sldId id="12518" r:id="rId70"/>
    <p:sldId id="12519" r:id="rId71"/>
    <p:sldId id="12520" r:id="rId72"/>
    <p:sldId id="11888" r:id="rId73"/>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374" autoAdjust="0"/>
  </p:normalViewPr>
  <p:slideViewPr>
    <p:cSldViewPr>
      <p:cViewPr varScale="1">
        <p:scale>
          <a:sx n="115" d="100"/>
          <a:sy n="115" d="100"/>
        </p:scale>
        <p:origin x="312" y="11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s>
</file>

<file path=ppt/charts/_rels/chart1.xml.rels><?xml version="1.0" encoding="UTF-8" standalone="yes"?>
<Relationships xmlns="http://schemas.openxmlformats.org/package/2006/relationships"><Relationship Id="rId2" Type="http://schemas.openxmlformats.org/officeDocument/2006/relationships/oleObject" Target="file:///C:\Users\hoangdg\Desktop\BC%20MOC\W23\W23%20(02-08.06.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oangdg\Desktop\BC%20MOC\W23\W23%20(02-08.06.2025).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oleObject" Target="file:///C:\Users\hoangdg\Desktop\BC%20MOC\W23\W23%20(02-08.06.2025).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hoangdg\Desktop\BC%20MOC\W23\W23%20(02-08.06.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C:\Users\hoangdg\Desktop\BC%20MOC\W23\W23%20(02-08.06.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hoangdg\Desktop\BC%20MOC\W23\W23%20(02-08.06.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23\DR-W23%20r1.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1" Type="http://schemas.openxmlformats.org/officeDocument/2006/relationships/oleObject" Target="file:///C:\Users\hoangdg\Desktop\BC%20MOC\W23\W23%20(02-08.06.2025).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9</c:v>
                </c:pt>
                <c:pt idx="2">
                  <c:v>0</c:v>
                </c:pt>
                <c:pt idx="3">
                  <c:v>3</c:v>
                </c:pt>
                <c:pt idx="4">
                  <c:v>1</c:v>
                </c:pt>
                <c:pt idx="5">
                  <c:v>13</c:v>
                </c:pt>
              </c:numCache>
            </c:numRef>
          </c:val>
          <c:extLst xmlns:c15="http://schemas.microsoft.com/office/drawing/2012/chart">
            <c:ext xmlns:c16="http://schemas.microsoft.com/office/drawing/2014/chart" uri="{C3380CC4-5D6E-409C-BE32-E72D297353CC}">
              <c16:uniqueId val="{00000000-6190-416D-B374-4D426C5CB88E}"/>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10</c:v>
                </c:pt>
                <c:pt idx="2">
                  <c:v>0</c:v>
                </c:pt>
                <c:pt idx="3">
                  <c:v>1</c:v>
                </c:pt>
                <c:pt idx="4">
                  <c:v>0</c:v>
                </c:pt>
                <c:pt idx="5">
                  <c:v>11</c:v>
                </c:pt>
              </c:numCache>
            </c:numRef>
          </c:val>
          <c:extLst>
            <c:ext xmlns:c16="http://schemas.microsoft.com/office/drawing/2014/chart" uri="{C3380CC4-5D6E-409C-BE32-E72D297353CC}">
              <c16:uniqueId val="{00000001-6190-416D-B374-4D426C5CB88E}"/>
            </c:ext>
          </c:extLst>
        </c:ser>
        <c:dLbls>
          <c:dLblPos val="outEnd"/>
          <c:showLegendKey val="0"/>
          <c:showVal val="1"/>
          <c:showCatName val="0"/>
          <c:showSerName val="0"/>
          <c:showPercent val="0"/>
          <c:showBubbleSize val="0"/>
        </c:dLbls>
        <c:gapWidth val="219"/>
        <c:overlap val="-27"/>
        <c:axId val="338769072"/>
        <c:axId val="338766720"/>
        <c:extLst/>
      </c:barChart>
      <c:catAx>
        <c:axId val="338769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38766720"/>
        <c:crosses val="autoZero"/>
        <c:auto val="1"/>
        <c:lblAlgn val="ctr"/>
        <c:lblOffset val="100"/>
        <c:noMultiLvlLbl val="0"/>
      </c:catAx>
      <c:valAx>
        <c:axId val="338766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38769072"/>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FD63-47CA-BF66-5D9B3578396C}"/>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FD63-47CA-BF66-5D9B3578396C}"/>
            </c:ext>
          </c:extLst>
        </c:ser>
        <c:dLbls>
          <c:showLegendKey val="0"/>
          <c:showVal val="0"/>
          <c:showCatName val="0"/>
          <c:showSerName val="0"/>
          <c:showPercent val="0"/>
          <c:showBubbleSize val="0"/>
        </c:dLbls>
        <c:gapWidth val="219"/>
        <c:overlap val="-27"/>
        <c:axId val="339888104"/>
        <c:axId val="339889672"/>
        <c:extLst/>
      </c:barChart>
      <c:catAx>
        <c:axId val="339888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89672"/>
        <c:crosses val="autoZero"/>
        <c:auto val="1"/>
        <c:lblAlgn val="ctr"/>
        <c:lblOffset val="100"/>
        <c:noMultiLvlLbl val="0"/>
      </c:catAx>
      <c:valAx>
        <c:axId val="339889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8810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0</c:v>
                </c:pt>
                <c:pt idx="3">
                  <c:v>2</c:v>
                </c:pt>
                <c:pt idx="4">
                  <c:v>0</c:v>
                </c:pt>
                <c:pt idx="5">
                  <c:v>2</c:v>
                </c:pt>
              </c:numCache>
            </c:numRef>
          </c:val>
          <c:extLst xmlns:c15="http://schemas.microsoft.com/office/drawing/2012/chart">
            <c:ext xmlns:c16="http://schemas.microsoft.com/office/drawing/2014/chart" uri="{C3380CC4-5D6E-409C-BE32-E72D297353CC}">
              <c16:uniqueId val="{00000000-81EF-46EC-BB18-84AF380B9B21}"/>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3</c:v>
                </c:pt>
                <c:pt idx="2">
                  <c:v>0</c:v>
                </c:pt>
                <c:pt idx="3">
                  <c:v>0</c:v>
                </c:pt>
                <c:pt idx="4">
                  <c:v>0</c:v>
                </c:pt>
                <c:pt idx="5">
                  <c:v>3</c:v>
                </c:pt>
              </c:numCache>
            </c:numRef>
          </c:val>
          <c:extLst>
            <c:ext xmlns:c16="http://schemas.microsoft.com/office/drawing/2014/chart" uri="{C3380CC4-5D6E-409C-BE32-E72D297353CC}">
              <c16:uniqueId val="{00000001-81EF-46EC-BB18-84AF380B9B21}"/>
            </c:ext>
          </c:extLst>
        </c:ser>
        <c:dLbls>
          <c:showLegendKey val="0"/>
          <c:showVal val="0"/>
          <c:showCatName val="0"/>
          <c:showSerName val="0"/>
          <c:showPercent val="0"/>
          <c:showBubbleSize val="0"/>
        </c:dLbls>
        <c:gapWidth val="219"/>
        <c:overlap val="-27"/>
        <c:axId val="338762408"/>
        <c:axId val="338765152"/>
        <c:extLst/>
      </c:barChart>
      <c:catAx>
        <c:axId val="338762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8765152"/>
        <c:crosses val="autoZero"/>
        <c:auto val="1"/>
        <c:lblAlgn val="ctr"/>
        <c:lblOffset val="100"/>
        <c:noMultiLvlLbl val="0"/>
      </c:catAx>
      <c:valAx>
        <c:axId val="338765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8762408"/>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3</c:v>
                </c:pt>
                <c:pt idx="2">
                  <c:v>0</c:v>
                </c:pt>
                <c:pt idx="3">
                  <c:v>1</c:v>
                </c:pt>
                <c:pt idx="4">
                  <c:v>3</c:v>
                </c:pt>
                <c:pt idx="5">
                  <c:v>7</c:v>
                </c:pt>
              </c:numCache>
            </c:numRef>
          </c:val>
          <c:extLst xmlns:c15="http://schemas.microsoft.com/office/drawing/2012/chart">
            <c:ext xmlns:c16="http://schemas.microsoft.com/office/drawing/2014/chart" uri="{C3380CC4-5D6E-409C-BE32-E72D297353CC}">
              <c16:uniqueId val="{00000000-8E1C-49C4-BB45-D12418651BAA}"/>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3</c:v>
                </c:pt>
                <c:pt idx="2">
                  <c:v>2</c:v>
                </c:pt>
                <c:pt idx="3">
                  <c:v>0</c:v>
                </c:pt>
                <c:pt idx="4">
                  <c:v>1</c:v>
                </c:pt>
                <c:pt idx="5">
                  <c:v>6</c:v>
                </c:pt>
              </c:numCache>
            </c:numRef>
          </c:val>
          <c:extLst>
            <c:ext xmlns:c16="http://schemas.microsoft.com/office/drawing/2014/chart" uri="{C3380CC4-5D6E-409C-BE32-E72D297353CC}">
              <c16:uniqueId val="{00000001-8E1C-49C4-BB45-D12418651BAA}"/>
            </c:ext>
          </c:extLst>
        </c:ser>
        <c:dLbls>
          <c:dLblPos val="outEnd"/>
          <c:showLegendKey val="0"/>
          <c:showVal val="1"/>
          <c:showCatName val="0"/>
          <c:showSerName val="0"/>
          <c:showPercent val="0"/>
          <c:showBubbleSize val="0"/>
        </c:dLbls>
        <c:gapWidth val="219"/>
        <c:overlap val="-27"/>
        <c:axId val="339892808"/>
        <c:axId val="339894376"/>
        <c:extLst/>
      </c:barChart>
      <c:catAx>
        <c:axId val="339892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94376"/>
        <c:crosses val="autoZero"/>
        <c:auto val="1"/>
        <c:lblAlgn val="ctr"/>
        <c:lblOffset val="100"/>
        <c:noMultiLvlLbl val="0"/>
      </c:catAx>
      <c:valAx>
        <c:axId val="339894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92808"/>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DA33-4679-9E39-C31EDC89D0E9}"/>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pt idx="21">
                  <c:v>0</c:v>
                </c:pt>
                <c:pt idx="22">
                  <c:v>0</c:v>
                </c:pt>
              </c:numCache>
            </c:numRef>
          </c:val>
          <c:smooth val="0"/>
          <c:extLst>
            <c:ext xmlns:c16="http://schemas.microsoft.com/office/drawing/2014/chart" uri="{C3380CC4-5D6E-409C-BE32-E72D297353CC}">
              <c16:uniqueId val="{00000001-DA33-4679-9E39-C31EDC89D0E9}"/>
            </c:ext>
          </c:extLst>
        </c:ser>
        <c:dLbls>
          <c:showLegendKey val="0"/>
          <c:showVal val="0"/>
          <c:showCatName val="0"/>
          <c:showSerName val="0"/>
          <c:showPercent val="0"/>
          <c:showBubbleSize val="0"/>
        </c:dLbls>
        <c:marker val="1"/>
        <c:smooth val="0"/>
        <c:axId val="333287248"/>
        <c:axId val="333290384"/>
      </c:lineChart>
      <c:catAx>
        <c:axId val="3332872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90384"/>
        <c:crosses val="autoZero"/>
        <c:auto val="1"/>
        <c:lblAlgn val="ctr"/>
        <c:lblOffset val="100"/>
        <c:noMultiLvlLbl val="0"/>
      </c:catAx>
      <c:valAx>
        <c:axId val="3332903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7248"/>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DFFE-4D3A-8FA3-55D198384340}"/>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pt idx="21">
                  <c:v>2</c:v>
                </c:pt>
                <c:pt idx="22">
                  <c:v>3</c:v>
                </c:pt>
              </c:numCache>
            </c:numRef>
          </c:val>
          <c:smooth val="0"/>
          <c:extLst>
            <c:ext xmlns:c16="http://schemas.microsoft.com/office/drawing/2014/chart" uri="{C3380CC4-5D6E-409C-BE32-E72D297353CC}">
              <c16:uniqueId val="{00000001-DFFE-4D3A-8FA3-55D198384340}"/>
            </c:ext>
          </c:extLst>
        </c:ser>
        <c:dLbls>
          <c:showLegendKey val="0"/>
          <c:showVal val="0"/>
          <c:showCatName val="0"/>
          <c:showSerName val="0"/>
          <c:showPercent val="0"/>
          <c:showBubbleSize val="0"/>
        </c:dLbls>
        <c:marker val="1"/>
        <c:smooth val="0"/>
        <c:axId val="333289992"/>
        <c:axId val="333286464"/>
      </c:lineChart>
      <c:catAx>
        <c:axId val="33328999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6464"/>
        <c:crosses val="autoZero"/>
        <c:auto val="1"/>
        <c:lblAlgn val="ctr"/>
        <c:lblOffset val="100"/>
        <c:noMultiLvlLbl val="0"/>
      </c:catAx>
      <c:valAx>
        <c:axId val="3332864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999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W22</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17B3-4025-B7BF-2C9FB566C83F}"/>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99.695387293298523</c:v>
                </c:pt>
                <c:pt idx="1">
                  <c:v>99.52153110047847</c:v>
                </c:pt>
                <c:pt idx="2">
                  <c:v>99.445983379501385</c:v>
                </c:pt>
                <c:pt idx="3">
                  <c:v>99.504950495049499</c:v>
                </c:pt>
              </c:numCache>
            </c:numRef>
          </c:val>
          <c:extLst>
            <c:ext xmlns:c16="http://schemas.microsoft.com/office/drawing/2014/chart" uri="{C3380CC4-5D6E-409C-BE32-E72D297353CC}">
              <c16:uniqueId val="{00000001-17B3-4025-B7BF-2C9FB566C83F}"/>
            </c:ext>
          </c:extLst>
        </c:ser>
        <c:ser>
          <c:idx val="1"/>
          <c:order val="1"/>
          <c:tx>
            <c:strRef>
              <c:f>DR!$D$3</c:f>
              <c:strCache>
                <c:ptCount val="1"/>
                <c:pt idx="0">
                  <c:v>W23</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99.559647718174546</c:v>
                </c:pt>
                <c:pt idx="1">
                  <c:v>99.489795918367349</c:v>
                </c:pt>
                <c:pt idx="2">
                  <c:v>99.738219895287955</c:v>
                </c:pt>
                <c:pt idx="3">
                  <c:v>99.551569506726452</c:v>
                </c:pt>
              </c:numCache>
            </c:numRef>
          </c:val>
          <c:extLst>
            <c:ext xmlns:c16="http://schemas.microsoft.com/office/drawing/2014/chart" uri="{C3380CC4-5D6E-409C-BE32-E72D297353CC}">
              <c16:uniqueId val="{00000002-17B3-4025-B7BF-2C9FB566C83F}"/>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7B3-4025-B7BF-2C9FB566C83F}"/>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17B3-4025-B7BF-2C9FB566C83F}"/>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17B3-4025-B7BF-2C9FB566C83F}"/>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Sheet1!$D$8:$BC$8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Sheet1!$D$9:$BC$9</c:f>
              <c:numCache>
                <c:formatCode>General</c:formatCode>
                <c:ptCount val="12"/>
                <c:pt idx="0">
                  <c:v>25</c:v>
                </c:pt>
                <c:pt idx="1">
                  <c:v>24</c:v>
                </c:pt>
                <c:pt idx="2">
                  <c:v>24</c:v>
                </c:pt>
                <c:pt idx="3">
                  <c:v>24</c:v>
                </c:pt>
                <c:pt idx="4">
                  <c:v>24</c:v>
                </c:pt>
                <c:pt idx="5">
                  <c:v>22</c:v>
                </c:pt>
                <c:pt idx="6">
                  <c:v>22</c:v>
                </c:pt>
                <c:pt idx="7">
                  <c:v>22</c:v>
                </c:pt>
                <c:pt idx="8">
                  <c:v>21</c:v>
                </c:pt>
                <c:pt idx="9">
                  <c:v>22</c:v>
                </c:pt>
                <c:pt idx="10">
                  <c:v>23</c:v>
                </c:pt>
                <c:pt idx="11">
                  <c:v>23</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Sheet1!$D$10:$BC$10</c:f>
              <c:numCache>
                <c:formatCode>General</c:formatCode>
                <c:ptCount val="12"/>
                <c:pt idx="0">
                  <c:v>4</c:v>
                </c:pt>
                <c:pt idx="1">
                  <c:v>4</c:v>
                </c:pt>
                <c:pt idx="2">
                  <c:v>3</c:v>
                </c:pt>
                <c:pt idx="3">
                  <c:v>2</c:v>
                </c:pt>
                <c:pt idx="4">
                  <c:v>2</c:v>
                </c:pt>
                <c:pt idx="5">
                  <c:v>2</c:v>
                </c:pt>
                <c:pt idx="6">
                  <c:v>2</c:v>
                </c:pt>
                <c:pt idx="7">
                  <c:v>1</c:v>
                </c:pt>
                <c:pt idx="8">
                  <c:v>0</c:v>
                </c:pt>
                <c:pt idx="9">
                  <c:v>1</c:v>
                </c:pt>
                <c:pt idx="10">
                  <c:v>1</c:v>
                </c:pt>
                <c:pt idx="11">
                  <c:v>1</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Sheet1!$D$11:$BC$11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Sheet1!$D$12:$BC$12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630326240"/>
        <c:axId val="630315360"/>
      </c:lineChart>
      <c:catAx>
        <c:axId val="6303262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630315360"/>
        <c:crosses val="autoZero"/>
        <c:auto val="1"/>
        <c:lblAlgn val="ctr"/>
        <c:lblOffset val="100"/>
        <c:tickMarkSkip val="1"/>
        <c:noMultiLvlLbl val="0"/>
      </c:catAx>
      <c:valAx>
        <c:axId val="630315360"/>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630326240"/>
        <c:crosses val="autoZero"/>
        <c:crossBetween val="between"/>
      </c:valAx>
      <c:spPr>
        <a:noFill/>
        <a:ln>
          <a:noFill/>
        </a:ln>
        <a:effectLst/>
      </c:spPr>
    </c:plotArea>
    <c:legend>
      <c:legendPos val="b"/>
      <c:layout>
        <c:manualLayout>
          <c:xMode val="edge"/>
          <c:yMode val="edge"/>
          <c:x val="0.64598125529584383"/>
          <c:y val="0.49764284272158282"/>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General</c:formatCode>
                <c:ptCount val="12"/>
                <c:pt idx="0">
                  <c:v>14.25</c:v>
                </c:pt>
                <c:pt idx="1">
                  <c:v>13.75</c:v>
                </c:pt>
                <c:pt idx="2">
                  <c:v>15.25</c:v>
                </c:pt>
                <c:pt idx="3">
                  <c:v>15</c:v>
                </c:pt>
                <c:pt idx="4">
                  <c:v>14.5</c:v>
                </c:pt>
                <c:pt idx="5">
                  <c:v>12.25</c:v>
                </c:pt>
                <c:pt idx="6">
                  <c:v>11.5</c:v>
                </c:pt>
                <c:pt idx="7">
                  <c:v>11.5</c:v>
                </c:pt>
                <c:pt idx="8">
                  <c:v>11.75</c:v>
                </c:pt>
                <c:pt idx="9">
                  <c:v>11</c:v>
                </c:pt>
                <c:pt idx="10">
                  <c:v>12</c:v>
                </c:pt>
                <c:pt idx="11">
                  <c:v>12</c:v>
                </c:pt>
              </c:numCache>
            </c:numRef>
          </c:val>
          <c:smooth val="0"/>
          <c:extLst>
            <c:ext xmlns:c16="http://schemas.microsoft.com/office/drawing/2014/chart" uri="{C3380CC4-5D6E-409C-BE32-E72D297353CC}">
              <c16:uniqueId val="{00000001-6D6A-460E-8E11-3C956E9EF4D8}"/>
            </c:ext>
          </c:extLst>
        </c:ser>
        <c:ser>
          <c:idx val="0"/>
          <c:order val="1"/>
          <c:tx>
            <c:strRef>
              <c:f>Sheet1!$D$1</c:f>
              <c:strCache>
                <c:ptCount val="1"/>
                <c:pt idx="0">
                  <c:v>Add 02 Lease đầu T7</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Pt>
            <c:idx val="5"/>
            <c:marker>
              <c:symbol val="circle"/>
              <c:size val="25"/>
              <c:spPr>
                <a:noFill/>
                <a:ln w="9525">
                  <a:noFill/>
                </a:ln>
                <a:effectLst/>
              </c:spPr>
            </c:marker>
            <c:bubble3D val="0"/>
            <c:spPr>
              <a:ln w="28575" cap="rnd">
                <a:noFill/>
                <a:round/>
              </a:ln>
              <a:effectLst/>
            </c:spPr>
            <c:extLst>
              <c:ext xmlns:c16="http://schemas.microsoft.com/office/drawing/2014/chart" uri="{C3380CC4-5D6E-409C-BE32-E72D297353CC}">
                <c16:uniqueId val="{00000002-BADC-4A39-B3FA-08B2A3E82B11}"/>
              </c:ext>
            </c:extLst>
          </c:dPt>
          <c:dLbls>
            <c:dLbl>
              <c:idx val="5"/>
              <c:delete val="1"/>
              <c:extLst>
                <c:ext xmlns:c15="http://schemas.microsoft.com/office/drawing/2012/chart" uri="{CE6537A1-D6FC-4f65-9D91-7224C49458BB}"/>
                <c:ext xmlns:c16="http://schemas.microsoft.com/office/drawing/2014/chart" uri="{C3380CC4-5D6E-409C-BE32-E72D297353CC}">
                  <c16:uniqueId val="{00000002-BADC-4A39-B3FA-08B2A3E82B1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Sheet1!$D$22:$D$33</c:f>
              <c:numCache>
                <c:formatCode>General</c:formatCode>
                <c:ptCount val="12"/>
                <c:pt idx="5">
                  <c:v>12.25</c:v>
                </c:pt>
                <c:pt idx="6">
                  <c:v>10.5</c:v>
                </c:pt>
                <c:pt idx="7">
                  <c:v>10.5</c:v>
                </c:pt>
                <c:pt idx="8">
                  <c:v>10.75</c:v>
                </c:pt>
                <c:pt idx="9">
                  <c:v>10</c:v>
                </c:pt>
                <c:pt idx="10">
                  <c:v>11</c:v>
                </c:pt>
                <c:pt idx="11">
                  <c:v>11</c:v>
                </c:pt>
              </c:numCache>
            </c:numRef>
          </c:val>
          <c:smooth val="0"/>
          <c:extLst>
            <c:ext xmlns:c16="http://schemas.microsoft.com/office/drawing/2014/chart" uri="{C3380CC4-5D6E-409C-BE32-E72D297353CC}">
              <c16:uniqueId val="{00000001-BADC-4A39-B3FA-08B2A3E82B11}"/>
            </c:ext>
          </c:extLst>
        </c:ser>
        <c:dLbls>
          <c:dLblPos val="ctr"/>
          <c:showLegendKey val="0"/>
          <c:showVal val="1"/>
          <c:showCatName val="0"/>
          <c:showSerName val="0"/>
          <c:showPercent val="0"/>
          <c:showBubbleSize val="0"/>
        </c:dLbls>
        <c:marker val="1"/>
        <c:smooth val="0"/>
        <c:axId val="630318080"/>
        <c:axId val="630326784"/>
      </c:lineChart>
      <c:catAx>
        <c:axId val="630318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6784"/>
        <c:crosses val="autoZero"/>
        <c:auto val="1"/>
        <c:lblAlgn val="ctr"/>
        <c:lblOffset val="100"/>
        <c:noMultiLvlLbl val="0"/>
      </c:catAx>
      <c:valAx>
        <c:axId val="630326784"/>
        <c:scaling>
          <c:orientation val="minMax"/>
          <c:max val="16"/>
          <c:min val="9"/>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30318080"/>
        <c:crosses val="autoZero"/>
        <c:crossBetween val="between"/>
        <c:majorUnit val="1"/>
      </c:valAx>
      <c:spPr>
        <a:noFill/>
        <a:ln>
          <a:noFill/>
        </a:ln>
        <a:effectLst/>
      </c:spPr>
    </c:plotArea>
    <c:legend>
      <c:legendPos val="r"/>
      <c:layout>
        <c:manualLayout>
          <c:xMode val="edge"/>
          <c:yMode val="edge"/>
          <c:x val="0.6014428597681637"/>
          <c:y val="0.17217252125015778"/>
          <c:w val="0.29325237236090818"/>
          <c:h val="0.137457945796320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Sheet1!$A$14:$A$29</c:f>
              <c:strCache>
                <c:ptCount val="16"/>
                <c:pt idx="0">
                  <c:v>Jun-W1</c:v>
                </c:pt>
                <c:pt idx="1">
                  <c:v>Jun-W2</c:v>
                </c:pt>
                <c:pt idx="2">
                  <c:v>Jun-W3</c:v>
                </c:pt>
                <c:pt idx="3">
                  <c:v>Jun-W4</c:v>
                </c:pt>
                <c:pt idx="4">
                  <c:v>Jul-W1</c:v>
                </c:pt>
                <c:pt idx="5">
                  <c:v>Jul-W2</c:v>
                </c:pt>
                <c:pt idx="6">
                  <c:v>Jul-W3</c:v>
                </c:pt>
                <c:pt idx="7">
                  <c:v>Jul-W4</c:v>
                </c:pt>
                <c:pt idx="8">
                  <c:v>Aug-W1</c:v>
                </c:pt>
                <c:pt idx="9">
                  <c:v>Aug-W2</c:v>
                </c:pt>
                <c:pt idx="10">
                  <c:v>Aug-W3</c:v>
                </c:pt>
                <c:pt idx="11">
                  <c:v>Aug-W4</c:v>
                </c:pt>
                <c:pt idx="12">
                  <c:v>Sep-W1</c:v>
                </c:pt>
                <c:pt idx="13">
                  <c:v>Sep-W2</c:v>
                </c:pt>
                <c:pt idx="14">
                  <c:v>Sep-W3</c:v>
                </c:pt>
                <c:pt idx="15">
                  <c:v>Sep-W4</c:v>
                </c:pt>
              </c:strCache>
            </c:strRef>
          </c:cat>
          <c:val>
            <c:numRef>
              <c:f>Sheet1!$B$14:$B$29</c:f>
              <c:numCache>
                <c:formatCode>General</c:formatCode>
                <c:ptCount val="16"/>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630327328"/>
        <c:axId val="630318624"/>
      </c:lineChart>
      <c:catAx>
        <c:axId val="630327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630318624"/>
        <c:crosses val="autoZero"/>
        <c:auto val="1"/>
        <c:lblAlgn val="ctr"/>
        <c:lblOffset val="100"/>
        <c:noMultiLvlLbl val="0"/>
      </c:catAx>
      <c:valAx>
        <c:axId val="630318624"/>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73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c:v>
                </c:pt>
                <c:pt idx="7">
                  <c:v>1</c:v>
                </c:pt>
                <c:pt idx="8">
                  <c:v>1.5</c:v>
                </c:pt>
                <c:pt idx="9">
                  <c:v>2</c:v>
                </c:pt>
                <c:pt idx="10">
                  <c:v>2</c:v>
                </c:pt>
                <c:pt idx="11">
                  <c:v>1</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767025936"/>
        <c:axId val="767022672"/>
      </c:lineChart>
      <c:catAx>
        <c:axId val="767025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767022672"/>
        <c:crosses val="autoZero"/>
        <c:auto val="1"/>
        <c:lblAlgn val="ctr"/>
        <c:lblOffset val="100"/>
        <c:noMultiLvlLbl val="0"/>
      </c:catAx>
      <c:valAx>
        <c:axId val="767022672"/>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767025936"/>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630322432"/>
        <c:axId val="630322976"/>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630322432"/>
        <c:axId val="630322976"/>
      </c:lineChart>
      <c:catAx>
        <c:axId val="630322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2976"/>
        <c:crosses val="autoZero"/>
        <c:auto val="1"/>
        <c:lblAlgn val="ctr"/>
        <c:lblOffset val="100"/>
        <c:noMultiLvlLbl val="0"/>
      </c:catAx>
      <c:valAx>
        <c:axId val="630322976"/>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30322432"/>
        <c:crosses val="autoZero"/>
        <c:crossBetween val="between"/>
      </c:valAx>
      <c:spPr>
        <a:noFill/>
        <a:ln>
          <a:noFill/>
        </a:ln>
        <a:effectLst/>
      </c:spPr>
    </c:plotArea>
    <c:legend>
      <c:legendPos val="r"/>
      <c:legendEntry>
        <c:idx val="0"/>
        <c:delete val="1"/>
      </c:legendEntry>
      <c:layout>
        <c:manualLayout>
          <c:xMode val="edge"/>
          <c:yMode val="edge"/>
          <c:x val="0.64913379864755461"/>
          <c:y val="0.43544805434948713"/>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manualLayout>
          <c:xMode val="edge"/>
          <c:yMode val="edge"/>
          <c:x val="0.2126350455901776"/>
          <c:y val="3.2012408379184877E-2"/>
        </c:manualLayout>
      </c:layout>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2</c:v>
                </c:pt>
                <c:pt idx="2">
                  <c:v>0</c:v>
                </c:pt>
                <c:pt idx="3">
                  <c:v>0</c:v>
                </c:pt>
                <c:pt idx="4">
                  <c:v>0</c:v>
                </c:pt>
                <c:pt idx="5" formatCode="0">
                  <c:v>2</c:v>
                </c:pt>
              </c:numCache>
            </c:numRef>
          </c:val>
          <c:extLst>
            <c:ext xmlns:c16="http://schemas.microsoft.com/office/drawing/2014/chart" uri="{C3380CC4-5D6E-409C-BE32-E72D297353CC}">
              <c16:uniqueId val="{00000000-63B8-47B7-ADB8-BCE8FD6B6E79}"/>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1</c:v>
                </c:pt>
                <c:pt idx="2">
                  <c:v>0</c:v>
                </c:pt>
                <c:pt idx="3">
                  <c:v>1</c:v>
                </c:pt>
                <c:pt idx="4">
                  <c:v>0</c:v>
                </c:pt>
                <c:pt idx="5" formatCode="0">
                  <c:v>2</c:v>
                </c:pt>
              </c:numCache>
            </c:numRef>
          </c:val>
          <c:extLst>
            <c:ext xmlns:c16="http://schemas.microsoft.com/office/drawing/2014/chart" uri="{C3380CC4-5D6E-409C-BE32-E72D297353CC}">
              <c16:uniqueId val="{00000001-63B8-47B7-ADB8-BCE8FD6B6E79}"/>
            </c:ext>
          </c:extLst>
        </c:ser>
        <c:dLbls>
          <c:showLegendKey val="0"/>
          <c:showVal val="0"/>
          <c:showCatName val="0"/>
          <c:showSerName val="0"/>
          <c:showPercent val="0"/>
          <c:showBubbleSize val="0"/>
        </c:dLbls>
        <c:gapWidth val="150"/>
        <c:axId val="338767112"/>
        <c:axId val="338763976"/>
      </c:barChart>
      <c:catAx>
        <c:axId val="338767112"/>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38763976"/>
        <c:crosses val="autoZero"/>
        <c:auto val="1"/>
        <c:lblAlgn val="ctr"/>
        <c:lblOffset val="100"/>
        <c:noMultiLvlLbl val="0"/>
      </c:catAx>
      <c:valAx>
        <c:axId val="338763976"/>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38767112"/>
        <c:crosses val="autoZero"/>
        <c:crossBetween val="between"/>
        <c:majorUnit val="4"/>
        <c:minorUnit val="2"/>
      </c:valAx>
    </c:plotArea>
    <c:legend>
      <c:legendPos val="b"/>
      <c:layout/>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6.4215443121693153E-2</c:v>
                </c:pt>
                <c:pt idx="1">
                  <c:v>7.8099201981287864E-2</c:v>
                </c:pt>
                <c:pt idx="2">
                  <c:v>8.1041866794748729E-2</c:v>
                </c:pt>
                <c:pt idx="3">
                  <c:v>0.16408096926713941</c:v>
                </c:pt>
                <c:pt idx="4">
                  <c:v>0.26302665920954543</c:v>
                </c:pt>
                <c:pt idx="5">
                  <c:v>0.2337873931623935</c:v>
                </c:pt>
                <c:pt idx="6">
                  <c:v>0.15730932203389827</c:v>
                </c:pt>
                <c:pt idx="7">
                  <c:v>0.12994473531122772</c:v>
                </c:pt>
                <c:pt idx="8">
                  <c:v>4.4702914798206324E-2</c:v>
                </c:pt>
              </c:numCache>
            </c:numRef>
          </c:val>
          <c:extLst>
            <c:ext xmlns:c16="http://schemas.microsoft.com/office/drawing/2014/chart" uri="{C3380CC4-5D6E-409C-BE32-E72D297353CC}">
              <c16:uniqueId val="{00000000-983F-4B94-AAA8-03547715C7CA}"/>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6.3637102014294997E-2</c:v>
                </c:pt>
                <c:pt idx="1">
                  <c:v>7.6671018469345653E-2</c:v>
                </c:pt>
                <c:pt idx="2">
                  <c:v>8.7743702553485237E-2</c:v>
                </c:pt>
                <c:pt idx="3">
                  <c:v>0.14407343987823437</c:v>
                </c:pt>
                <c:pt idx="4">
                  <c:v>0.26822301024428702</c:v>
                </c:pt>
                <c:pt idx="5">
                  <c:v>0.24160879629629656</c:v>
                </c:pt>
                <c:pt idx="6">
                  <c:v>0.1313844086021505</c:v>
                </c:pt>
                <c:pt idx="7">
                  <c:v>0.12874079189686952</c:v>
                </c:pt>
                <c:pt idx="8">
                  <c:v>4.3619791666666692E-2</c:v>
                </c:pt>
              </c:numCache>
            </c:numRef>
          </c:val>
          <c:extLst>
            <c:ext xmlns:c16="http://schemas.microsoft.com/office/drawing/2014/chart" uri="{C3380CC4-5D6E-409C-BE32-E72D297353CC}">
              <c16:uniqueId val="{00000001-983F-4B94-AAA8-03547715C7CA}"/>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7.9999999999999991</c:v>
                </c:pt>
                <c:pt idx="1">
                  <c:v>6.8308270676691718</c:v>
                </c:pt>
                <c:pt idx="2">
                  <c:v>7.0816326530612255</c:v>
                </c:pt>
                <c:pt idx="3">
                  <c:v>2.5454545454545454</c:v>
                </c:pt>
                <c:pt idx="4">
                  <c:v>3.1932773109243695</c:v>
                </c:pt>
                <c:pt idx="5">
                  <c:v>7.9642857142857144</c:v>
                </c:pt>
              </c:numCache>
            </c:numRef>
          </c:val>
          <c:extLst>
            <c:ext xmlns:c16="http://schemas.microsoft.com/office/drawing/2014/chart" uri="{C3380CC4-5D6E-409C-BE32-E72D297353CC}">
              <c16:uniqueId val="{00000000-9764-45DB-8540-C501C717650A}"/>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8.1428571428571423</c:v>
                </c:pt>
                <c:pt idx="1">
                  <c:v>7.0789473684210522</c:v>
                </c:pt>
                <c:pt idx="2">
                  <c:v>5.75</c:v>
                </c:pt>
                <c:pt idx="3">
                  <c:v>2.5476190476190474</c:v>
                </c:pt>
                <c:pt idx="4">
                  <c:v>3.4117647058823528</c:v>
                </c:pt>
                <c:pt idx="5">
                  <c:v>8</c:v>
                </c:pt>
              </c:numCache>
            </c:numRef>
          </c:val>
          <c:extLst>
            <c:ext xmlns:c16="http://schemas.microsoft.com/office/drawing/2014/chart" uri="{C3380CC4-5D6E-409C-BE32-E72D297353CC}">
              <c16:uniqueId val="{00000001-9764-45DB-8540-C501C717650A}"/>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CFDA-44DA-959B-44D49B967152}"/>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CFDA-44DA-959B-44D49B967152}"/>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CFDA-44DA-959B-44D49B967152}"/>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CFDA-44DA-959B-44D49B967152}"/>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CFDA-44DA-959B-44D49B967152}"/>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CFDA-44DA-959B-44D49B967152}"/>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CFDA-44DA-959B-44D49B967152}"/>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CFDA-44DA-959B-44D49B967152}"/>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numRef>
              <c:f>Week!$B$35:$BP$35</c:f>
              <c:numCache>
                <c:formatCode>d\-mmm</c:formatCode>
                <c:ptCount val="67"/>
                <c:pt idx="0">
                  <c:v>45810</c:v>
                </c:pt>
                <c:pt idx="1">
                  <c:v>45811</c:v>
                </c:pt>
                <c:pt idx="2">
                  <c:v>45812</c:v>
                </c:pt>
                <c:pt idx="3">
                  <c:v>45813</c:v>
                </c:pt>
                <c:pt idx="4">
                  <c:v>45814</c:v>
                </c:pt>
                <c:pt idx="5">
                  <c:v>45815</c:v>
                </c:pt>
                <c:pt idx="6">
                  <c:v>45816</c:v>
                </c:pt>
                <c:pt idx="7">
                  <c:v>45817</c:v>
                </c:pt>
                <c:pt idx="8">
                  <c:v>45818</c:v>
                </c:pt>
                <c:pt idx="9">
                  <c:v>45819</c:v>
                </c:pt>
                <c:pt idx="10">
                  <c:v>45820</c:v>
                </c:pt>
                <c:pt idx="11">
                  <c:v>45821</c:v>
                </c:pt>
                <c:pt idx="12">
                  <c:v>45822</c:v>
                </c:pt>
                <c:pt idx="13">
                  <c:v>45823</c:v>
                </c:pt>
                <c:pt idx="14">
                  <c:v>45824</c:v>
                </c:pt>
                <c:pt idx="15">
                  <c:v>45825</c:v>
                </c:pt>
                <c:pt idx="16">
                  <c:v>45826</c:v>
                </c:pt>
                <c:pt idx="17">
                  <c:v>45827</c:v>
                </c:pt>
                <c:pt idx="18">
                  <c:v>45828</c:v>
                </c:pt>
                <c:pt idx="19">
                  <c:v>45829</c:v>
                </c:pt>
                <c:pt idx="20">
                  <c:v>45830</c:v>
                </c:pt>
                <c:pt idx="21">
                  <c:v>45831</c:v>
                </c:pt>
                <c:pt idx="22">
                  <c:v>45832</c:v>
                </c:pt>
                <c:pt idx="23">
                  <c:v>45833</c:v>
                </c:pt>
                <c:pt idx="24">
                  <c:v>45834</c:v>
                </c:pt>
                <c:pt idx="25">
                  <c:v>45835</c:v>
                </c:pt>
                <c:pt idx="26">
                  <c:v>45836</c:v>
                </c:pt>
                <c:pt idx="27">
                  <c:v>45837</c:v>
                </c:pt>
                <c:pt idx="28">
                  <c:v>45838</c:v>
                </c:pt>
                <c:pt idx="29">
                  <c:v>45839</c:v>
                </c:pt>
                <c:pt idx="30">
                  <c:v>45840</c:v>
                </c:pt>
                <c:pt idx="31">
                  <c:v>45841</c:v>
                </c:pt>
                <c:pt idx="32">
                  <c:v>45842</c:v>
                </c:pt>
                <c:pt idx="33">
                  <c:v>45843</c:v>
                </c:pt>
                <c:pt idx="34">
                  <c:v>45844</c:v>
                </c:pt>
                <c:pt idx="35">
                  <c:v>45845</c:v>
                </c:pt>
                <c:pt idx="36">
                  <c:v>45846</c:v>
                </c:pt>
                <c:pt idx="37">
                  <c:v>45847</c:v>
                </c:pt>
                <c:pt idx="38">
                  <c:v>45848</c:v>
                </c:pt>
                <c:pt idx="39">
                  <c:v>45849</c:v>
                </c:pt>
                <c:pt idx="40">
                  <c:v>45850</c:v>
                </c:pt>
                <c:pt idx="41">
                  <c:v>45851</c:v>
                </c:pt>
                <c:pt idx="42">
                  <c:v>45852</c:v>
                </c:pt>
                <c:pt idx="43">
                  <c:v>45853</c:v>
                </c:pt>
                <c:pt idx="44">
                  <c:v>45854</c:v>
                </c:pt>
                <c:pt idx="45">
                  <c:v>45855</c:v>
                </c:pt>
                <c:pt idx="46">
                  <c:v>45856</c:v>
                </c:pt>
                <c:pt idx="47">
                  <c:v>45857</c:v>
                </c:pt>
                <c:pt idx="48">
                  <c:v>45858</c:v>
                </c:pt>
                <c:pt idx="49">
                  <c:v>45859</c:v>
                </c:pt>
                <c:pt idx="50">
                  <c:v>45860</c:v>
                </c:pt>
                <c:pt idx="51">
                  <c:v>45861</c:v>
                </c:pt>
                <c:pt idx="52">
                  <c:v>45862</c:v>
                </c:pt>
                <c:pt idx="53">
                  <c:v>45863</c:v>
                </c:pt>
                <c:pt idx="54">
                  <c:v>45864</c:v>
                </c:pt>
                <c:pt idx="55">
                  <c:v>45865</c:v>
                </c:pt>
                <c:pt idx="56">
                  <c:v>45866</c:v>
                </c:pt>
                <c:pt idx="57">
                  <c:v>45867</c:v>
                </c:pt>
                <c:pt idx="58">
                  <c:v>45868</c:v>
                </c:pt>
                <c:pt idx="59">
                  <c:v>45869</c:v>
                </c:pt>
              </c:numCache>
            </c:numRef>
          </c:cat>
          <c:val>
            <c:numRef>
              <c:f>Week!$B$36:$BP$36</c:f>
              <c:numCache>
                <c:formatCode>General</c:formatCode>
                <c:ptCount val="67"/>
                <c:pt idx="0">
                  <c:v>465</c:v>
                </c:pt>
                <c:pt idx="1">
                  <c:v>444</c:v>
                </c:pt>
                <c:pt idx="2">
                  <c:v>452</c:v>
                </c:pt>
                <c:pt idx="3">
                  <c:v>489</c:v>
                </c:pt>
                <c:pt idx="4">
                  <c:v>480</c:v>
                </c:pt>
                <c:pt idx="5">
                  <c:v>478</c:v>
                </c:pt>
                <c:pt idx="6">
                  <c:v>491</c:v>
                </c:pt>
                <c:pt idx="7">
                  <c:v>481</c:v>
                </c:pt>
                <c:pt idx="8">
                  <c:v>478</c:v>
                </c:pt>
                <c:pt idx="9">
                  <c:v>483</c:v>
                </c:pt>
                <c:pt idx="10">
                  <c:v>475</c:v>
                </c:pt>
                <c:pt idx="11">
                  <c:v>485</c:v>
                </c:pt>
                <c:pt idx="12">
                  <c:v>485</c:v>
                </c:pt>
                <c:pt idx="13">
                  <c:v>488</c:v>
                </c:pt>
                <c:pt idx="14">
                  <c:v>488</c:v>
                </c:pt>
                <c:pt idx="15">
                  <c:v>478</c:v>
                </c:pt>
                <c:pt idx="16">
                  <c:v>484</c:v>
                </c:pt>
                <c:pt idx="17">
                  <c:v>489</c:v>
                </c:pt>
                <c:pt idx="18">
                  <c:v>495</c:v>
                </c:pt>
                <c:pt idx="19">
                  <c:v>503</c:v>
                </c:pt>
                <c:pt idx="20">
                  <c:v>508</c:v>
                </c:pt>
                <c:pt idx="21">
                  <c:v>503</c:v>
                </c:pt>
                <c:pt idx="22">
                  <c:v>485</c:v>
                </c:pt>
                <c:pt idx="23">
                  <c:v>502</c:v>
                </c:pt>
                <c:pt idx="24">
                  <c:v>505</c:v>
                </c:pt>
                <c:pt idx="25">
                  <c:v>518</c:v>
                </c:pt>
                <c:pt idx="26">
                  <c:v>517</c:v>
                </c:pt>
                <c:pt idx="27">
                  <c:v>523</c:v>
                </c:pt>
                <c:pt idx="28">
                  <c:v>519</c:v>
                </c:pt>
                <c:pt idx="29">
                  <c:v>524</c:v>
                </c:pt>
                <c:pt idx="30">
                  <c:v>522</c:v>
                </c:pt>
                <c:pt idx="31">
                  <c:v>524</c:v>
                </c:pt>
                <c:pt idx="32">
                  <c:v>550</c:v>
                </c:pt>
                <c:pt idx="33">
                  <c:v>547</c:v>
                </c:pt>
                <c:pt idx="34">
                  <c:v>549</c:v>
                </c:pt>
                <c:pt idx="35">
                  <c:v>536</c:v>
                </c:pt>
                <c:pt idx="36">
                  <c:v>530</c:v>
                </c:pt>
                <c:pt idx="37">
                  <c:v>539</c:v>
                </c:pt>
                <c:pt idx="38">
                  <c:v>542</c:v>
                </c:pt>
                <c:pt idx="39">
                  <c:v>562</c:v>
                </c:pt>
                <c:pt idx="40">
                  <c:v>555</c:v>
                </c:pt>
                <c:pt idx="41">
                  <c:v>561</c:v>
                </c:pt>
                <c:pt idx="42">
                  <c:v>543</c:v>
                </c:pt>
                <c:pt idx="43">
                  <c:v>519</c:v>
                </c:pt>
                <c:pt idx="44">
                  <c:v>529</c:v>
                </c:pt>
                <c:pt idx="45">
                  <c:v>530</c:v>
                </c:pt>
                <c:pt idx="46">
                  <c:v>541</c:v>
                </c:pt>
                <c:pt idx="47">
                  <c:v>542</c:v>
                </c:pt>
                <c:pt idx="48">
                  <c:v>550</c:v>
                </c:pt>
                <c:pt idx="49">
                  <c:v>535</c:v>
                </c:pt>
                <c:pt idx="50">
                  <c:v>527</c:v>
                </c:pt>
                <c:pt idx="51">
                  <c:v>536</c:v>
                </c:pt>
                <c:pt idx="52">
                  <c:v>539</c:v>
                </c:pt>
                <c:pt idx="53">
                  <c:v>548</c:v>
                </c:pt>
                <c:pt idx="54">
                  <c:v>545</c:v>
                </c:pt>
                <c:pt idx="55">
                  <c:v>551</c:v>
                </c:pt>
                <c:pt idx="56">
                  <c:v>533</c:v>
                </c:pt>
                <c:pt idx="57">
                  <c:v>531</c:v>
                </c:pt>
                <c:pt idx="58">
                  <c:v>537</c:v>
                </c:pt>
                <c:pt idx="59">
                  <c:v>538</c:v>
                </c:pt>
              </c:numCache>
            </c:numRef>
          </c:val>
          <c:extLst>
            <c:ext xmlns:c16="http://schemas.microsoft.com/office/drawing/2014/chart" uri="{C3380CC4-5D6E-409C-BE32-E72D297353CC}">
              <c16:uniqueId val="{00000010-CFDA-44DA-959B-44D49B967152}"/>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70"/>
          <c:min val="38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08-Jun-25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514002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p:cNvSpPr>
            <a:spLocks noGrp="1"/>
          </p:cNvSpPr>
          <p:nvPr>
            <p:ph type="sldNum" sz="quarter" idx="10"/>
          </p:nvPr>
        </p:nvSpPr>
        <p:spPr/>
        <p:txBody>
          <a:bodyPr/>
          <a:lstStyle/>
          <a:p>
            <a:fld id="{D27FAC9D-6C4D-45A1-835A-6091318B370B}" type="slidenum">
              <a:rPr lang="en-US" smtClean="0"/>
              <a:pPr/>
              <a:t>4</a:t>
            </a:fld>
            <a:endParaRPr lang="en-US" dirty="0"/>
          </a:p>
        </p:txBody>
      </p:sp>
    </p:spTree>
    <p:extLst>
      <p:ext uri="{BB962C8B-B14F-4D97-AF65-F5344CB8AC3E}">
        <p14:creationId xmlns:p14="http://schemas.microsoft.com/office/powerpoint/2010/main" val="4210583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646606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3053625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7</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082723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8380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16579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87658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06651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035769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855792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1981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16</a:t>
            </a:fld>
            <a:endParaRPr/>
          </a:p>
        </p:txBody>
      </p:sp>
    </p:spTree>
    <p:extLst>
      <p:ext uri="{BB962C8B-B14F-4D97-AF65-F5344CB8AC3E}">
        <p14:creationId xmlns:p14="http://schemas.microsoft.com/office/powerpoint/2010/main" val="1610733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426271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2527279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759937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712577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354038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25179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614118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41542205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37282656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603759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17364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345582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434260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018887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37</a:t>
            </a:fld>
            <a:endParaRPr/>
          </a:p>
        </p:txBody>
      </p:sp>
    </p:spTree>
    <p:extLst>
      <p:ext uri="{BB962C8B-B14F-4D97-AF65-F5344CB8AC3E}">
        <p14:creationId xmlns:p14="http://schemas.microsoft.com/office/powerpoint/2010/main" val="2265124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extLst>
      <p:ext uri="{BB962C8B-B14F-4D97-AF65-F5344CB8AC3E}">
        <p14:creationId xmlns:p14="http://schemas.microsoft.com/office/powerpoint/2010/main" val="8777684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39</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224634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40</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1673896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42</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763170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020698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938680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46</a:t>
            </a:fld>
            <a:endParaRPr/>
          </a:p>
        </p:txBody>
      </p:sp>
    </p:spTree>
    <p:extLst>
      <p:ext uri="{BB962C8B-B14F-4D97-AF65-F5344CB8AC3E}">
        <p14:creationId xmlns:p14="http://schemas.microsoft.com/office/powerpoint/2010/main" val="9709566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47</a:t>
            </a:fld>
            <a:endParaRPr/>
          </a:p>
        </p:txBody>
      </p:sp>
    </p:spTree>
    <p:extLst>
      <p:ext uri="{BB962C8B-B14F-4D97-AF65-F5344CB8AC3E}">
        <p14:creationId xmlns:p14="http://schemas.microsoft.com/office/powerpoint/2010/main" val="4692072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414103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f1b08c610_0_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5f1b08c610_0_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5f1b08c610_0_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576288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6186254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51</a:t>
            </a:fld>
            <a:endParaRPr/>
          </a:p>
        </p:txBody>
      </p:sp>
    </p:spTree>
    <p:extLst>
      <p:ext uri="{BB962C8B-B14F-4D97-AF65-F5344CB8AC3E}">
        <p14:creationId xmlns:p14="http://schemas.microsoft.com/office/powerpoint/2010/main" val="16666730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8754994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53</a:t>
            </a:fld>
            <a:endParaRPr/>
          </a:p>
        </p:txBody>
      </p:sp>
    </p:spTree>
    <p:extLst>
      <p:ext uri="{BB962C8B-B14F-4D97-AF65-F5344CB8AC3E}">
        <p14:creationId xmlns:p14="http://schemas.microsoft.com/office/powerpoint/2010/main" val="39943309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324835897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1197269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56</a:t>
            </a:fld>
            <a:endParaRPr/>
          </a:p>
        </p:txBody>
      </p:sp>
    </p:spTree>
    <p:extLst>
      <p:ext uri="{BB962C8B-B14F-4D97-AF65-F5344CB8AC3E}">
        <p14:creationId xmlns:p14="http://schemas.microsoft.com/office/powerpoint/2010/main" val="2556886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675550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999115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59</a:t>
            </a:fld>
            <a:endParaRPr sz="1200">
              <a:latin typeface="Calibri"/>
              <a:ea typeface="Calibri"/>
              <a:cs typeface="Calibri"/>
              <a:sym typeface="Calibri"/>
            </a:endParaRPr>
          </a:p>
        </p:txBody>
      </p:sp>
    </p:spTree>
    <p:extLst>
      <p:ext uri="{BB962C8B-B14F-4D97-AF65-F5344CB8AC3E}">
        <p14:creationId xmlns:p14="http://schemas.microsoft.com/office/powerpoint/2010/main" val="6401722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60</a:t>
            </a:fld>
            <a:endParaRPr sz="1200">
              <a:latin typeface="Calibri"/>
              <a:ea typeface="Calibri"/>
              <a:cs typeface="Calibri"/>
              <a:sym typeface="Calibri"/>
            </a:endParaRPr>
          </a:p>
        </p:txBody>
      </p:sp>
    </p:spTree>
    <p:extLst>
      <p:ext uri="{BB962C8B-B14F-4D97-AF65-F5344CB8AC3E}">
        <p14:creationId xmlns:p14="http://schemas.microsoft.com/office/powerpoint/2010/main" val="41988563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61</a:t>
            </a:fld>
            <a:endParaRPr sz="1200">
              <a:latin typeface="Calibri"/>
              <a:ea typeface="Calibri"/>
              <a:cs typeface="Calibri"/>
              <a:sym typeface="Calibri"/>
            </a:endParaRPr>
          </a:p>
        </p:txBody>
      </p:sp>
    </p:spTree>
    <p:extLst>
      <p:ext uri="{BB962C8B-B14F-4D97-AF65-F5344CB8AC3E}">
        <p14:creationId xmlns:p14="http://schemas.microsoft.com/office/powerpoint/2010/main" val="36626153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219619019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63</a:t>
            </a:fld>
            <a:endParaRPr sz="1200">
              <a:latin typeface="Calibri"/>
              <a:ea typeface="Calibri"/>
              <a:cs typeface="Calibri"/>
              <a:sym typeface="Calibri"/>
            </a:endParaRPr>
          </a:p>
        </p:txBody>
      </p:sp>
    </p:spTree>
    <p:extLst>
      <p:ext uri="{BB962C8B-B14F-4D97-AF65-F5344CB8AC3E}">
        <p14:creationId xmlns:p14="http://schemas.microsoft.com/office/powerpoint/2010/main" val="418197277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64</a:t>
            </a:fld>
            <a:endParaRPr sz="1200">
              <a:latin typeface="Calibri"/>
              <a:ea typeface="Calibri"/>
              <a:cs typeface="Calibri"/>
              <a:sym typeface="Calibri"/>
            </a:endParaRPr>
          </a:p>
        </p:txBody>
      </p:sp>
    </p:spTree>
    <p:extLst>
      <p:ext uri="{BB962C8B-B14F-4D97-AF65-F5344CB8AC3E}">
        <p14:creationId xmlns:p14="http://schemas.microsoft.com/office/powerpoint/2010/main" val="3770227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3949757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9813881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x-none"/>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x-none" sz="1200" smtClean="0">
                <a:solidFill>
                  <a:schemeClr val="bg1"/>
                </a:solidFill>
                <a:latin typeface="Exo"/>
              </a:rPr>
              <a:t>‹#›</a:t>
            </a:fld>
            <a:endParaRPr lang="x-none" sz="1200" dirty="0">
              <a:solidFill>
                <a:schemeClr val="bg1"/>
              </a:solidFill>
              <a:latin typeface="Exo"/>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2080462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fld id="{00000000-1234-1234-1234-123412341234}" type="slidenum">
              <a:rPr lang="en-US"/>
              <a:pPr/>
              <a:t>‹#›</a:t>
            </a:fld>
            <a:endParaRPr/>
          </a:p>
        </p:txBody>
      </p:sp>
    </p:spTree>
    <p:extLst>
      <p:ext uri="{BB962C8B-B14F-4D97-AF65-F5344CB8AC3E}">
        <p14:creationId xmlns:p14="http://schemas.microsoft.com/office/powerpoint/2010/main" val="2210629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252477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551964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1811563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2973151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8715464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5679947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41319688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30205150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40751972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13694972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fld id="{00000000-1234-1234-1234-123412341234}" type="slidenum">
              <a:rPr lang="en-US"/>
              <a:pPr/>
              <a:t>‹#›</a:t>
            </a:fld>
            <a:endParaRPr/>
          </a:p>
        </p:txBody>
      </p:sp>
    </p:spTree>
    <p:extLst>
      <p:ext uri="{BB962C8B-B14F-4D97-AF65-F5344CB8AC3E}">
        <p14:creationId xmlns:p14="http://schemas.microsoft.com/office/powerpoint/2010/main" val="42054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6.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08-Jun-25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3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a:buClr>
                <a:srgbClr val="000000"/>
              </a:buClr>
              <a:buFont typeface="Arial"/>
              <a:buNone/>
            </a:pPr>
            <a:endParaRPr kern="0"/>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a:buClr>
                <a:srgbClr val="000000"/>
              </a:buClr>
              <a:buFont typeface="Arial"/>
              <a:buNone/>
            </a:pPr>
            <a:endParaRPr kern="0"/>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en-US" kern="0"/>
              <a:pPr/>
              <a:t>‹#›</a:t>
            </a:fld>
            <a:endParaRPr kern="0"/>
          </a:p>
        </p:txBody>
      </p:sp>
    </p:spTree>
    <p:extLst>
      <p:ext uri="{BB962C8B-B14F-4D97-AF65-F5344CB8AC3E}">
        <p14:creationId xmlns:p14="http://schemas.microsoft.com/office/powerpoint/2010/main" val="1844831515"/>
      </p:ext>
    </p:extLst>
  </p:cSld>
  <p:clrMap bg1="lt1" tx1="dk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5.bin"/><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17.jp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0.xml"/><Relationship Id="rId1" Type="http://schemas.openxmlformats.org/officeDocument/2006/relationships/tags" Target="../tags/tag4.xml"/><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chart" Target="../charts/chart14.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23</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02/06/2025</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08</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06</a:t>
            </a:r>
            <a:r>
              <a:rPr lang="vi-VN" sz="4000" dirty="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3517671061"/>
              </p:ext>
            </p:extLst>
          </p:nvPr>
        </p:nvGraphicFramePr>
        <p:xfrm>
          <a:off x="6335550" y="930713"/>
          <a:ext cx="4054080" cy="2398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1687018286"/>
              </p:ext>
            </p:extLst>
          </p:nvPr>
        </p:nvGraphicFramePr>
        <p:xfrm>
          <a:off x="6335550" y="3505200"/>
          <a:ext cx="4054080" cy="23988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2265581124"/>
              </p:ext>
            </p:extLst>
          </p:nvPr>
        </p:nvGraphicFramePr>
        <p:xfrm>
          <a:off x="1699953" y="3505200"/>
          <a:ext cx="3990975" cy="23988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Chart 16">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315714780"/>
              </p:ext>
            </p:extLst>
          </p:nvPr>
        </p:nvGraphicFramePr>
        <p:xfrm>
          <a:off x="1699953" y="877472"/>
          <a:ext cx="4010025" cy="239886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946455883"/>
              </p:ext>
            </p:extLst>
          </p:nvPr>
        </p:nvGraphicFramePr>
        <p:xfrm>
          <a:off x="1369840" y="973455"/>
          <a:ext cx="9353550" cy="2857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2225976128"/>
              </p:ext>
            </p:extLst>
          </p:nvPr>
        </p:nvGraphicFramePr>
        <p:xfrm>
          <a:off x="1369840" y="3830955"/>
          <a:ext cx="9343245" cy="284987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3</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BC7B7C08-CD30-40EC-8450-FF432FB889C5}"/>
              </a:ext>
            </a:extLst>
          </p:cNvPr>
          <p:cNvGraphicFramePr>
            <a:graphicFrameLocks noGrp="1"/>
          </p:cNvGraphicFramePr>
          <p:nvPr>
            <p:extLst/>
          </p:nvPr>
        </p:nvGraphicFramePr>
        <p:xfrm>
          <a:off x="333918" y="1371601"/>
          <a:ext cx="11400882" cy="3305762"/>
        </p:xfrm>
        <a:graphic>
          <a:graphicData uri="http://schemas.openxmlformats.org/drawingml/2006/table">
            <a:tbl>
              <a:tblPr/>
              <a:tblGrid>
                <a:gridCol w="361933">
                  <a:extLst>
                    <a:ext uri="{9D8B030D-6E8A-4147-A177-3AD203B41FA5}">
                      <a16:colId xmlns:a16="http://schemas.microsoft.com/office/drawing/2014/main" val="3674260455"/>
                    </a:ext>
                  </a:extLst>
                </a:gridCol>
                <a:gridCol w="361933">
                  <a:extLst>
                    <a:ext uri="{9D8B030D-6E8A-4147-A177-3AD203B41FA5}">
                      <a16:colId xmlns:a16="http://schemas.microsoft.com/office/drawing/2014/main" val="3448990162"/>
                    </a:ext>
                  </a:extLst>
                </a:gridCol>
                <a:gridCol w="618616">
                  <a:extLst>
                    <a:ext uri="{9D8B030D-6E8A-4147-A177-3AD203B41FA5}">
                      <a16:colId xmlns:a16="http://schemas.microsoft.com/office/drawing/2014/main" val="3824527478"/>
                    </a:ext>
                  </a:extLst>
                </a:gridCol>
                <a:gridCol w="609600">
                  <a:extLst>
                    <a:ext uri="{9D8B030D-6E8A-4147-A177-3AD203B41FA5}">
                      <a16:colId xmlns:a16="http://schemas.microsoft.com/office/drawing/2014/main" val="3595271746"/>
                    </a:ext>
                  </a:extLst>
                </a:gridCol>
                <a:gridCol w="609600">
                  <a:extLst>
                    <a:ext uri="{9D8B030D-6E8A-4147-A177-3AD203B41FA5}">
                      <a16:colId xmlns:a16="http://schemas.microsoft.com/office/drawing/2014/main" val="3043790494"/>
                    </a:ext>
                  </a:extLst>
                </a:gridCol>
                <a:gridCol w="609600">
                  <a:extLst>
                    <a:ext uri="{9D8B030D-6E8A-4147-A177-3AD203B41FA5}">
                      <a16:colId xmlns:a16="http://schemas.microsoft.com/office/drawing/2014/main" val="3999979373"/>
                    </a:ext>
                  </a:extLst>
                </a:gridCol>
                <a:gridCol w="2473864">
                  <a:extLst>
                    <a:ext uri="{9D8B030D-6E8A-4147-A177-3AD203B41FA5}">
                      <a16:colId xmlns:a16="http://schemas.microsoft.com/office/drawing/2014/main" val="2189223672"/>
                    </a:ext>
                  </a:extLst>
                </a:gridCol>
                <a:gridCol w="2676794">
                  <a:extLst>
                    <a:ext uri="{9D8B030D-6E8A-4147-A177-3AD203B41FA5}">
                      <a16:colId xmlns:a16="http://schemas.microsoft.com/office/drawing/2014/main" val="3129152884"/>
                    </a:ext>
                  </a:extLst>
                </a:gridCol>
                <a:gridCol w="402148">
                  <a:extLst>
                    <a:ext uri="{9D8B030D-6E8A-4147-A177-3AD203B41FA5}">
                      <a16:colId xmlns:a16="http://schemas.microsoft.com/office/drawing/2014/main" val="3211525834"/>
                    </a:ext>
                  </a:extLst>
                </a:gridCol>
                <a:gridCol w="2676794">
                  <a:extLst>
                    <a:ext uri="{9D8B030D-6E8A-4147-A177-3AD203B41FA5}">
                      <a16:colId xmlns:a16="http://schemas.microsoft.com/office/drawing/2014/main" val="493277285"/>
                    </a:ext>
                  </a:extLst>
                </a:gridCol>
              </a:tblGrid>
              <a:tr h="352250">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024615"/>
                  </a:ext>
                </a:extLst>
              </a:tr>
              <a:tr h="2771949">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A621</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DLI</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VN7578</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DLI-HAN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20:30 02/06/2025</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OGTB</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F/CTL ELEV SERVO FAULT, F/CTL ELAC 2 FAULT A/C GTB DUE TO MSG: F/CTL ELEV SERVO FAULT, F/CTL ELAC 2 FAULT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dirty="0">
                          <a:solidFill>
                            <a:srgbClr val="000000"/>
                          </a:solidFill>
                          <a:effectLst/>
                          <a:latin typeface="Times New Roman" panose="02020603050405020304" pitchFamily="18" charset="0"/>
                          <a:cs typeface="Times New Roman" panose="02020603050405020304" pitchFamily="18" charset="0"/>
                        </a:rPr>
                        <a:t>REPLACED 34CE2 SERVO CONTROL. OPS TEST SATIS. A/C SERVICEABLE F/CTL ELEV SERVO FAULT, F/CTL ELAC 2 FAULT EVENT CLOSED  F/CTL ELEV SERVO FAULT, F/CTL ELAC 2 FAULT</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TOTAL DELAY 555 MINS, TECH DELAY 270 MINS</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TÀU ĐÁP TRỄ VÀ CHỜ KHÍ TÀI GỬI TỪ SGN LÊN</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MSG: F/CTL ELEV SERVO FAULT, F/CTL ELAC 2 FAULT</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200" b="0" i="0" u="none" strike="noStrike">
                          <a:solidFill>
                            <a:srgbClr val="000000"/>
                          </a:solidFill>
                          <a:effectLst/>
                          <a:latin typeface="Times New Roman" panose="02020603050405020304" pitchFamily="18" charset="0"/>
                          <a:cs typeface="Times New Roman" panose="02020603050405020304" pitchFamily="18" charset="0"/>
                        </a:rPr>
                        <a:t>27-00</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200" b="0" i="0" u="none" strike="noStrike" dirty="0">
                          <a:solidFill>
                            <a:srgbClr val="000000"/>
                          </a:solidFill>
                          <a:effectLst/>
                          <a:latin typeface="Times New Roman" panose="02020603050405020304" pitchFamily="18" charset="0"/>
                          <a:cs typeface="Times New Roman" panose="02020603050405020304" pitchFamily="18" charset="0"/>
                        </a:rPr>
                        <a:t>Servo control trên tàu A621 đã khai thác được khoảng hơn 10k FH. Theo thống kê thì mỗi năm từ 2022 đến nay tháo khoảng 10 khối. Đây là khối mới nhất và hiện AIB đánh giá độ tin cậy tương đối cao nên chưa có điều tra đánh giá hoặc biện pháp cải tiến. Thống kê SFR thì có 2 nguyên nhân hỏng chính là leakage và hỏng các thiết bị điện bên trong. Hiện SPM chưa có  module theo dõi tình trạng của thiết bị. Ban KT sẽ làm việc thêm với AIB về vấn đề này</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332929"/>
                  </a:ext>
                </a:extLst>
              </a:tr>
            </a:tbl>
          </a:graphicData>
        </a:graphic>
      </p:graphicFrame>
    </p:spTree>
    <p:custDataLst>
      <p:tags r:id="rId1"/>
    </p:custDataLst>
    <p:extLst>
      <p:ext uri="{BB962C8B-B14F-4D97-AF65-F5344CB8AC3E}">
        <p14:creationId xmlns:p14="http://schemas.microsoft.com/office/powerpoint/2010/main" val="609370490"/>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31A5E89-8330-4CC5-8E86-DC6C55D3DE22}"/>
              </a:ext>
            </a:extLst>
          </p:cNvPr>
          <p:cNvSpPr txBox="1"/>
          <p:nvPr/>
        </p:nvSpPr>
        <p:spPr>
          <a:xfrm>
            <a:off x="737417" y="168860"/>
            <a:ext cx="9721577" cy="523220"/>
          </a:xfrm>
          <a:prstGeom prst="rect">
            <a:avLst/>
          </a:prstGeom>
          <a:noFill/>
        </p:spPr>
        <p:txBody>
          <a:bodyPr wrap="square" rtlCol="0">
            <a:spAutoFit/>
          </a:bodyPr>
          <a:lstStyle/>
          <a:p>
            <a:pPr algn="just"/>
            <a:r>
              <a:rPr lang="en-US" sz="2800" b="1" dirty="0">
                <a:solidFill>
                  <a:srgbClr val="DEA610"/>
                </a:solidFill>
                <a:latin typeface="Montserrat SemiBold" pitchFamily="2" charset="77"/>
              </a:rPr>
              <a:t>A321 – ATA 27 – ELEVATOR SERVO CONTROL</a:t>
            </a:r>
          </a:p>
        </p:txBody>
      </p:sp>
      <p:sp>
        <p:nvSpPr>
          <p:cNvPr id="25" name="Rectangle: Single Corner Rounded 24">
            <a:extLst>
              <a:ext uri="{FF2B5EF4-FFF2-40B4-BE49-F238E27FC236}">
                <a16:creationId xmlns:a16="http://schemas.microsoft.com/office/drawing/2014/main" id="{D5DADBD9-6852-441A-BF72-7DAFAE15B1FD}"/>
              </a:ext>
            </a:extLst>
          </p:cNvPr>
          <p:cNvSpPr/>
          <p:nvPr/>
        </p:nvSpPr>
        <p:spPr>
          <a:xfrm flipH="1" flipV="1">
            <a:off x="292744" y="798630"/>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B07695F-044B-46D6-B43C-B700EFBA7248}"/>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A621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G</a:t>
            </a: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TB due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to ELEV SERVO FAULT 	 	</a:t>
            </a:r>
          </a:p>
        </p:txBody>
      </p:sp>
      <p:sp>
        <p:nvSpPr>
          <p:cNvPr id="27" name="Rectangle 26">
            <a:extLst>
              <a:ext uri="{FF2B5EF4-FFF2-40B4-BE49-F238E27FC236}">
                <a16:creationId xmlns:a16="http://schemas.microsoft.com/office/drawing/2014/main" id="{367F70C2-5165-479E-AFB9-34EDD474B128}"/>
              </a:ext>
            </a:extLst>
          </p:cNvPr>
          <p:cNvSpPr/>
          <p:nvPr/>
        </p:nvSpPr>
        <p:spPr>
          <a:xfrm>
            <a:off x="737417" y="1210054"/>
            <a:ext cx="10882536" cy="815608"/>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A621/DLI/GTB/19:50 02/06: Trong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lúc</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Taxi out VN7578 DLI-HAN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xuất</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hiện</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rất</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nhiều</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Msg</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liên</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quan</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ln w="0"/>
                <a:solidFill>
                  <a:srgbClr val="203864"/>
                </a:solidFill>
                <a:latin typeface="Cambria" panose="02040503050406030204" pitchFamily="18" charset="0"/>
                <a:ea typeface="Cambria" panose="02040503050406030204" pitchFamily="18" charset="0"/>
                <a:cs typeface="Times New Roman" panose="02020603050405020304" pitchFamily="18" charset="0"/>
              </a:rPr>
              <a:t>đến</a:t>
            </a: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 F/CTL: ELEV SERVO FAULT, L+R ELEV FAULT, SEC1+2+3 FAULT, ELAC1+2 FAULT VHF BRAKE #2 HOT, TSV ADVICED BUT CAPT DECIDED RETURN GATE</a:t>
            </a:r>
          </a:p>
          <a:p>
            <a:pPr marL="285750" indent="-285750">
              <a:spcBef>
                <a:spcPts val="600"/>
              </a:spcBef>
              <a:buFont typeface="Arial" panose="020B0604020202020204" pitchFamily="34" charset="0"/>
              <a:buChar char="•"/>
            </a:pP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do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elevator servo control</a:t>
            </a:r>
          </a:p>
        </p:txBody>
      </p:sp>
      <p:sp>
        <p:nvSpPr>
          <p:cNvPr id="39" name="TextBox 38">
            <a:extLst>
              <a:ext uri="{FF2B5EF4-FFF2-40B4-BE49-F238E27FC236}">
                <a16:creationId xmlns:a16="http://schemas.microsoft.com/office/drawing/2014/main" id="{4210CCF0-33AF-4035-BD27-3303A8633E6C}"/>
              </a:ext>
            </a:extLst>
          </p:cNvPr>
          <p:cNvSpPr txBox="1"/>
          <p:nvPr/>
        </p:nvSpPr>
        <p:spPr>
          <a:xfrm>
            <a:off x="795408" y="2477974"/>
            <a:ext cx="2662062" cy="369332"/>
          </a:xfrm>
          <a:prstGeom prst="rect">
            <a:avLst/>
          </a:prstGeom>
          <a:noFill/>
        </p:spPr>
        <p:txBody>
          <a:bodyPr wrap="square" rtlCol="0">
            <a:spAutoFit/>
          </a:bodyPr>
          <a:lstStyle/>
          <a:p>
            <a:pPr lvl="0" algn="just">
              <a:spcBef>
                <a:spcPts val="600"/>
              </a:spcBef>
              <a:defRPr/>
            </a:pPr>
            <a:r>
              <a:rPr lang="en-US" b="1">
                <a:solidFill>
                  <a:srgbClr val="006885"/>
                </a:solidFill>
                <a:latin typeface="Montserrat SemiBold"/>
                <a:ea typeface="Cambria" panose="02040503050406030204" pitchFamily="18" charset="0"/>
                <a:cs typeface="Times New Roman" panose="02020603050405020304" pitchFamily="18" charset="0"/>
              </a:rPr>
              <a:t>Phân tích/Đánh giá</a:t>
            </a:r>
          </a:p>
        </p:txBody>
      </p:sp>
      <p:sp>
        <p:nvSpPr>
          <p:cNvPr id="102" name="TextBox 101">
            <a:extLst>
              <a:ext uri="{FF2B5EF4-FFF2-40B4-BE49-F238E27FC236}">
                <a16:creationId xmlns:a16="http://schemas.microsoft.com/office/drawing/2014/main" id="{E05FED27-E33B-4C7E-85F6-BC470EC52ECB}"/>
              </a:ext>
            </a:extLst>
          </p:cNvPr>
          <p:cNvSpPr txBox="1"/>
          <p:nvPr/>
        </p:nvSpPr>
        <p:spPr>
          <a:xfrm>
            <a:off x="795407" y="2990319"/>
            <a:ext cx="6700767" cy="892552"/>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servo control </a:t>
            </a:r>
            <a:r>
              <a:rPr lang="en-US" sz="1400" dirty="0" err="1">
                <a:solidFill>
                  <a:srgbClr val="203864"/>
                </a:solidFill>
                <a:latin typeface="Times New Roman" panose="02020603050405020304" pitchFamily="18" charset="0"/>
                <a:cs typeface="Times New Roman" panose="02020603050405020304" pitchFamily="18" charset="0"/>
              </a:rPr>
              <a:t>tháo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xuống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TSN </a:t>
            </a:r>
            <a:r>
              <a:rPr lang="en-US" sz="1400" dirty="0" err="1">
                <a:solidFill>
                  <a:srgbClr val="203864"/>
                </a:solidFill>
                <a:latin typeface="Times New Roman" panose="02020603050405020304" pitchFamily="18" charset="0"/>
                <a:cs typeface="Times New Roman" panose="02020603050405020304" pitchFamily="18" charset="0"/>
              </a:rPr>
              <a:t>khoảng</a:t>
            </a:r>
            <a:r>
              <a:rPr lang="en-US" sz="1400" dirty="0">
                <a:solidFill>
                  <a:srgbClr val="203864"/>
                </a:solidFill>
                <a:latin typeface="Times New Roman" panose="02020603050405020304" pitchFamily="18" charset="0"/>
                <a:cs typeface="Times New Roman" panose="02020603050405020304" pitchFamily="18" charset="0"/>
              </a:rPr>
              <a:t> 10k FH</a:t>
            </a: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Thống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kê</a:t>
            </a:r>
            <a:r>
              <a:rPr lang="en-US" sz="1400" dirty="0">
                <a:solidFill>
                  <a:srgbClr val="203864"/>
                </a:solidFill>
                <a:latin typeface="Times New Roman" panose="02020603050405020304" pitchFamily="18" charset="0"/>
                <a:cs typeface="Times New Roman" panose="02020603050405020304" pitchFamily="18" charset="0"/>
              </a:rPr>
              <a:t> SFR </a:t>
            </a:r>
            <a:r>
              <a:rPr lang="en-US" sz="1400" dirty="0" err="1">
                <a:solidFill>
                  <a:srgbClr val="203864"/>
                </a:solidFill>
                <a:latin typeface="Times New Roman" panose="02020603050405020304" pitchFamily="18" charset="0"/>
                <a:cs typeface="Times New Roman" panose="02020603050405020304" pitchFamily="18" charset="0"/>
              </a:rPr>
              <a:t>thì</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chủ</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yếu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a:t>
            </a:r>
            <a:r>
              <a:rPr lang="en-US" sz="1400" dirty="0">
                <a:solidFill>
                  <a:srgbClr val="203864"/>
                </a:solidFill>
                <a:latin typeface="Times New Roman" panose="02020603050405020304" pitchFamily="18" charset="0"/>
                <a:cs typeface="Times New Roman" panose="02020603050405020304" pitchFamily="18" charset="0"/>
              </a:rPr>
              <a:t> leakage do seal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thiết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bị</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trong</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6C0963AF-2C0C-426C-8070-5E29C3C95D73}"/>
              </a:ext>
            </a:extLst>
          </p:cNvPr>
          <p:cNvPicPr>
            <a:picLocks noChangeAspect="1"/>
          </p:cNvPicPr>
          <p:nvPr/>
        </p:nvPicPr>
        <p:blipFill>
          <a:blip r:embed="rId3"/>
          <a:stretch>
            <a:fillRect/>
          </a:stretch>
        </p:blipFill>
        <p:spPr>
          <a:xfrm>
            <a:off x="365624" y="2419483"/>
            <a:ext cx="510877" cy="512345"/>
          </a:xfrm>
          <a:prstGeom prst="rect">
            <a:avLst/>
          </a:prstGeom>
        </p:spPr>
      </p:pic>
      <p:grpSp>
        <p:nvGrpSpPr>
          <p:cNvPr id="43" name="Group 42">
            <a:extLst>
              <a:ext uri="{FF2B5EF4-FFF2-40B4-BE49-F238E27FC236}">
                <a16:creationId xmlns:a16="http://schemas.microsoft.com/office/drawing/2014/main" id="{96848787-7A9F-4F52-ABC0-1107EA34F5F0}"/>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EF38EC88-2153-4950-B37C-5AA23CFFE443}"/>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E261425C-3820-49B8-A55E-025BA5C93B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18" name="TextBox 17">
            <a:extLst>
              <a:ext uri="{FF2B5EF4-FFF2-40B4-BE49-F238E27FC236}">
                <a16:creationId xmlns:a16="http://schemas.microsoft.com/office/drawing/2014/main" id="{B299EA22-CE66-4152-AA3B-0EE67E068BED}"/>
              </a:ext>
            </a:extLst>
          </p:cNvPr>
          <p:cNvSpPr txBox="1"/>
          <p:nvPr/>
        </p:nvSpPr>
        <p:spPr>
          <a:xfrm>
            <a:off x="927866" y="4152735"/>
            <a:ext cx="1969253" cy="369332"/>
          </a:xfrm>
          <a:prstGeom prst="rect">
            <a:avLst/>
          </a:prstGeom>
          <a:noFill/>
        </p:spPr>
        <p:txBody>
          <a:bodyPr wrap="square" rtlCol="0">
            <a:spAutoFit/>
          </a:bodyPr>
          <a:lstStyle/>
          <a:p>
            <a:pPr algn="just">
              <a:spcBef>
                <a:spcPts val="600"/>
              </a:spcBef>
              <a:defRPr/>
            </a:pPr>
            <a:r>
              <a:rPr lang="en-US" b="1">
                <a:solidFill>
                  <a:srgbClr val="006885"/>
                </a:solidFill>
                <a:latin typeface="Montserrat SemiBold"/>
                <a:ea typeface="Cambria" panose="02040503050406030204" pitchFamily="18" charset="0"/>
                <a:cs typeface="Times New Roman" panose="02020603050405020304" pitchFamily="18" charset="0"/>
              </a:rPr>
              <a:t>Giải pháp</a:t>
            </a:r>
          </a:p>
        </p:txBody>
      </p:sp>
      <p:pic>
        <p:nvPicPr>
          <p:cNvPr id="19" name="Picture 18">
            <a:extLst>
              <a:ext uri="{FF2B5EF4-FFF2-40B4-BE49-F238E27FC236}">
                <a16:creationId xmlns:a16="http://schemas.microsoft.com/office/drawing/2014/main" id="{24EBB0B7-3B29-442D-AB18-AC8C4C118B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624" y="3981203"/>
            <a:ext cx="550890" cy="464480"/>
          </a:xfrm>
          <a:prstGeom prst="rect">
            <a:avLst/>
          </a:prstGeom>
        </p:spPr>
      </p:pic>
      <p:sp>
        <p:nvSpPr>
          <p:cNvPr id="6" name="Rectangle 5">
            <a:extLst>
              <a:ext uri="{FF2B5EF4-FFF2-40B4-BE49-F238E27FC236}">
                <a16:creationId xmlns:a16="http://schemas.microsoft.com/office/drawing/2014/main" id="{8577CEAE-802D-4767-9717-645CEE87B488}"/>
              </a:ext>
            </a:extLst>
          </p:cNvPr>
          <p:cNvSpPr/>
          <p:nvPr/>
        </p:nvSpPr>
        <p:spPr>
          <a:xfrm>
            <a:off x="795408" y="4522067"/>
            <a:ext cx="6537210" cy="1477328"/>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Theo </a:t>
            </a:r>
            <a:r>
              <a:rPr lang="en-US" sz="1400" dirty="0" err="1">
                <a:solidFill>
                  <a:srgbClr val="203864"/>
                </a:solidFill>
                <a:latin typeface="Times New Roman" panose="02020603050405020304" pitchFamily="18" charset="0"/>
                <a:cs typeface="Times New Roman" panose="02020603050405020304" pitchFamily="18" charset="0"/>
              </a:rPr>
              <a:t>đánh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giá</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dirty="0">
                <a:solidFill>
                  <a:srgbClr val="203864"/>
                </a:solidFill>
                <a:latin typeface="Times New Roman" panose="02020603050405020304" pitchFamily="18" charset="0"/>
                <a:cs typeface="Times New Roman" panose="02020603050405020304" pitchFamily="18" charset="0"/>
              </a:rPr>
              <a:t> AIB </a:t>
            </a:r>
            <a:r>
              <a:rPr lang="en-US" sz="1400" dirty="0" err="1">
                <a:solidFill>
                  <a:srgbClr val="203864"/>
                </a:solidFill>
                <a:latin typeface="Times New Roman" panose="02020603050405020304" pitchFamily="18" charset="0"/>
                <a:cs typeface="Times New Roman" panose="02020603050405020304" pitchFamily="18" charset="0"/>
              </a:rPr>
              <a:t>thì</a:t>
            </a:r>
            <a:r>
              <a:rPr lang="en-US" sz="1400" dirty="0">
                <a:solidFill>
                  <a:srgbClr val="203864"/>
                </a:solidFill>
                <a:latin typeface="Times New Roman" panose="02020603050405020304" pitchFamily="18" charset="0"/>
                <a:cs typeface="Times New Roman" panose="02020603050405020304" pitchFamily="18" charset="0"/>
              </a:rPr>
              <a:t> ĐTC </a:t>
            </a:r>
            <a:r>
              <a:rPr lang="en-US" sz="1400" dirty="0" err="1">
                <a:solidFill>
                  <a:srgbClr val="203864"/>
                </a:solidFill>
                <a:latin typeface="Times New Roman" panose="02020603050405020304" pitchFamily="18" charset="0"/>
                <a:cs typeface="Times New Roman" panose="02020603050405020304" pitchFamily="18" charset="0"/>
              </a:rPr>
              <a:t>khối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này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ww</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vẫn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cao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AIB </a:t>
            </a:r>
            <a:r>
              <a:rPr lang="en-US" sz="1400" dirty="0" err="1">
                <a:solidFill>
                  <a:srgbClr val="203864"/>
                </a:solidFill>
                <a:latin typeface="Times New Roman" panose="02020603050405020304" pitchFamily="18" charset="0"/>
                <a:cs typeface="Times New Roman" panose="02020603050405020304" pitchFamily="18" charset="0"/>
              </a:rPr>
              <a:t>chưa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đánh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giá</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sâu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về</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nguyên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nhân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hỏng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hóc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hoặc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giải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pháp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phòng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ngừa</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AIB </a:t>
            </a:r>
            <a:r>
              <a:rPr lang="en-US" sz="1400" dirty="0" err="1">
                <a:solidFill>
                  <a:srgbClr val="203864"/>
                </a:solidFill>
                <a:latin typeface="Times New Roman" panose="02020603050405020304" pitchFamily="18" charset="0"/>
                <a:cs typeface="Times New Roman" panose="02020603050405020304" pitchFamily="18" charset="0"/>
              </a:rPr>
              <a:t>cũng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chưa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phát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triển</a:t>
            </a:r>
            <a:r>
              <a:rPr lang="en-US" sz="1400" dirty="0">
                <a:solidFill>
                  <a:srgbClr val="203864"/>
                </a:solidFill>
                <a:latin typeface="Times New Roman" panose="02020603050405020304" pitchFamily="18" charset="0"/>
                <a:cs typeface="Times New Roman" panose="02020603050405020304" pitchFamily="18" charset="0"/>
              </a:rPr>
              <a:t> module SPM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dõi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tình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trạng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dirty="0">
                <a:solidFill>
                  <a:srgbClr val="203864"/>
                </a:solidFill>
                <a:latin typeface="Times New Roman" panose="02020603050405020304" pitchFamily="18" charset="0"/>
                <a:cs typeface="Times New Roman" panose="02020603050405020304" pitchFamily="18" charset="0"/>
              </a:rPr>
              <a:t> servo valve</a:t>
            </a: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Ban KT </a:t>
            </a:r>
            <a:r>
              <a:rPr lang="en-US" sz="1400" dirty="0" err="1">
                <a:solidFill>
                  <a:srgbClr val="203864"/>
                </a:solidFill>
                <a:latin typeface="Times New Roman" panose="02020603050405020304" pitchFamily="18" charset="0"/>
                <a:cs typeface="Times New Roman" panose="02020603050405020304" pitchFamily="18" charset="0"/>
              </a:rPr>
              <a:t>sẽ</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làm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việc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thêm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với</a:t>
            </a:r>
            <a:r>
              <a:rPr lang="en-US" sz="1400" dirty="0">
                <a:solidFill>
                  <a:srgbClr val="203864"/>
                </a:solidFill>
                <a:latin typeface="Times New Roman" panose="02020603050405020304" pitchFamily="18" charset="0"/>
                <a:cs typeface="Times New Roman" panose="02020603050405020304" pitchFamily="18" charset="0"/>
              </a:rPr>
              <a:t> AIB </a:t>
            </a:r>
            <a:r>
              <a:rPr lang="en-US" sz="1400" dirty="0" err="1">
                <a:solidFill>
                  <a:srgbClr val="203864"/>
                </a:solidFill>
                <a:latin typeface="Times New Roman" panose="02020603050405020304" pitchFamily="18" charset="0"/>
                <a:cs typeface="Times New Roman" panose="02020603050405020304" pitchFamily="18" charset="0"/>
              </a:rPr>
              <a:t>về</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việc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phát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triển</a:t>
            </a:r>
            <a:r>
              <a:rPr lang="en-US" sz="1400" dirty="0">
                <a:solidFill>
                  <a:srgbClr val="203864"/>
                </a:solidFill>
                <a:latin typeface="Times New Roman" panose="02020603050405020304" pitchFamily="18" charset="0"/>
                <a:cs typeface="Times New Roman" panose="02020603050405020304" pitchFamily="18" charset="0"/>
              </a:rPr>
              <a:t> module </a:t>
            </a:r>
            <a:r>
              <a:rPr lang="en-US" sz="1400" dirty="0" err="1">
                <a:solidFill>
                  <a:srgbClr val="203864"/>
                </a:solidFill>
                <a:latin typeface="Times New Roman" panose="02020603050405020304" pitchFamily="18" charset="0"/>
                <a:cs typeface="Times New Roman" panose="02020603050405020304" pitchFamily="18" charset="0"/>
              </a:rPr>
              <a:t>theo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dõi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tình</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trạng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của</a:t>
            </a:r>
            <a:r>
              <a:rPr lang="en-US" sz="1400">
                <a:solidFill>
                  <a:srgbClr val="203864"/>
                </a:solidFill>
                <a:latin typeface="Times New Roman" panose="02020603050405020304" pitchFamily="18" charset="0"/>
                <a:cs typeface="Times New Roman" panose="02020603050405020304" pitchFamily="18" charset="0"/>
              </a:rPr>
              <a:t> valve</a:t>
            </a:r>
            <a:endParaRPr lang="en-US" sz="1400" dirty="0">
              <a:solidFill>
                <a:srgbClr val="203864"/>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6"/>
          <a:stretch>
            <a:fillRect/>
          </a:stretch>
        </p:blipFill>
        <p:spPr>
          <a:xfrm>
            <a:off x="8040728" y="2156582"/>
            <a:ext cx="3901727" cy="1895925"/>
          </a:xfrm>
          <a:prstGeom prst="rect">
            <a:avLst/>
          </a:prstGeom>
        </p:spPr>
      </p:pic>
      <p:pic>
        <p:nvPicPr>
          <p:cNvPr id="5" name="Picture 4"/>
          <p:cNvPicPr>
            <a:picLocks noChangeAspect="1"/>
          </p:cNvPicPr>
          <p:nvPr/>
        </p:nvPicPr>
        <p:blipFill>
          <a:blip r:embed="rId7"/>
          <a:stretch>
            <a:fillRect/>
          </a:stretch>
        </p:blipFill>
        <p:spPr>
          <a:xfrm>
            <a:off x="8040729" y="4112524"/>
            <a:ext cx="3968390" cy="1101300"/>
          </a:xfrm>
          <a:prstGeom prst="rect">
            <a:avLst/>
          </a:prstGeom>
        </p:spPr>
      </p:pic>
      <p:pic>
        <p:nvPicPr>
          <p:cNvPr id="10" name="Picture 9"/>
          <p:cNvPicPr>
            <a:picLocks noChangeAspect="1"/>
          </p:cNvPicPr>
          <p:nvPr/>
        </p:nvPicPr>
        <p:blipFill>
          <a:blip r:embed="rId8"/>
          <a:stretch>
            <a:fillRect/>
          </a:stretch>
        </p:blipFill>
        <p:spPr>
          <a:xfrm>
            <a:off x="7990272" y="5368452"/>
            <a:ext cx="4018847" cy="1032348"/>
          </a:xfrm>
          <a:prstGeom prst="rect">
            <a:avLst/>
          </a:prstGeom>
        </p:spPr>
      </p:pic>
    </p:spTree>
    <p:extLst>
      <p:ext uri="{BB962C8B-B14F-4D97-AF65-F5344CB8AC3E}">
        <p14:creationId xmlns:p14="http://schemas.microsoft.com/office/powerpoint/2010/main" val="1084082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3</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BC7B7C08-CD30-40EC-8450-FF432FB889C5}"/>
              </a:ext>
            </a:extLst>
          </p:cNvPr>
          <p:cNvGraphicFramePr>
            <a:graphicFrameLocks noGrp="1"/>
          </p:cNvGraphicFramePr>
          <p:nvPr>
            <p:extLst/>
          </p:nvPr>
        </p:nvGraphicFramePr>
        <p:xfrm>
          <a:off x="333918" y="1371601"/>
          <a:ext cx="11400882" cy="3144670"/>
        </p:xfrm>
        <a:graphic>
          <a:graphicData uri="http://schemas.openxmlformats.org/drawingml/2006/table">
            <a:tbl>
              <a:tblPr/>
              <a:tblGrid>
                <a:gridCol w="361933">
                  <a:extLst>
                    <a:ext uri="{9D8B030D-6E8A-4147-A177-3AD203B41FA5}">
                      <a16:colId xmlns:a16="http://schemas.microsoft.com/office/drawing/2014/main" val="3674260455"/>
                    </a:ext>
                  </a:extLst>
                </a:gridCol>
                <a:gridCol w="361933">
                  <a:extLst>
                    <a:ext uri="{9D8B030D-6E8A-4147-A177-3AD203B41FA5}">
                      <a16:colId xmlns:a16="http://schemas.microsoft.com/office/drawing/2014/main" val="3448990162"/>
                    </a:ext>
                  </a:extLst>
                </a:gridCol>
                <a:gridCol w="618616">
                  <a:extLst>
                    <a:ext uri="{9D8B030D-6E8A-4147-A177-3AD203B41FA5}">
                      <a16:colId xmlns:a16="http://schemas.microsoft.com/office/drawing/2014/main" val="3824527478"/>
                    </a:ext>
                  </a:extLst>
                </a:gridCol>
                <a:gridCol w="609600">
                  <a:extLst>
                    <a:ext uri="{9D8B030D-6E8A-4147-A177-3AD203B41FA5}">
                      <a16:colId xmlns:a16="http://schemas.microsoft.com/office/drawing/2014/main" val="3595271746"/>
                    </a:ext>
                  </a:extLst>
                </a:gridCol>
                <a:gridCol w="609600">
                  <a:extLst>
                    <a:ext uri="{9D8B030D-6E8A-4147-A177-3AD203B41FA5}">
                      <a16:colId xmlns:a16="http://schemas.microsoft.com/office/drawing/2014/main" val="3043790494"/>
                    </a:ext>
                  </a:extLst>
                </a:gridCol>
                <a:gridCol w="609600">
                  <a:extLst>
                    <a:ext uri="{9D8B030D-6E8A-4147-A177-3AD203B41FA5}">
                      <a16:colId xmlns:a16="http://schemas.microsoft.com/office/drawing/2014/main" val="3999979373"/>
                    </a:ext>
                  </a:extLst>
                </a:gridCol>
                <a:gridCol w="2473864">
                  <a:extLst>
                    <a:ext uri="{9D8B030D-6E8A-4147-A177-3AD203B41FA5}">
                      <a16:colId xmlns:a16="http://schemas.microsoft.com/office/drawing/2014/main" val="2189223672"/>
                    </a:ext>
                  </a:extLst>
                </a:gridCol>
                <a:gridCol w="2676794">
                  <a:extLst>
                    <a:ext uri="{9D8B030D-6E8A-4147-A177-3AD203B41FA5}">
                      <a16:colId xmlns:a16="http://schemas.microsoft.com/office/drawing/2014/main" val="3129152884"/>
                    </a:ext>
                  </a:extLst>
                </a:gridCol>
                <a:gridCol w="402148">
                  <a:extLst>
                    <a:ext uri="{9D8B030D-6E8A-4147-A177-3AD203B41FA5}">
                      <a16:colId xmlns:a16="http://schemas.microsoft.com/office/drawing/2014/main" val="3211525834"/>
                    </a:ext>
                  </a:extLst>
                </a:gridCol>
                <a:gridCol w="2676794">
                  <a:extLst>
                    <a:ext uri="{9D8B030D-6E8A-4147-A177-3AD203B41FA5}">
                      <a16:colId xmlns:a16="http://schemas.microsoft.com/office/drawing/2014/main" val="493277285"/>
                    </a:ext>
                  </a:extLst>
                </a:gridCol>
              </a:tblGrid>
              <a:tr h="352250">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024615"/>
                  </a:ext>
                </a:extLst>
              </a:tr>
              <a:tr h="2771949">
                <a:tc>
                  <a:txBody>
                    <a:bodyPr/>
                    <a:lstStyle/>
                    <a:p>
                      <a:pPr algn="l" fontAlgn="t"/>
                      <a:r>
                        <a:rPr lang="en-US" sz="1100" b="0" i="0" u="none" strike="noStrike">
                          <a:solidFill>
                            <a:srgbClr val="000000"/>
                          </a:solidFill>
                          <a:effectLst/>
                          <a:latin typeface="Calibri" panose="020F0502020204030204" pitchFamily="34" charset="0"/>
                        </a:rPr>
                        <a:t>A326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KHH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VN581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KHH-SGN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06:40 04/06/2025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OGTB</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ENG#2 START FAULT VN581 KHH-SGN ON GROUND TURN BACK DUE TO ENG#2 START FAULT, ENG 2 EGT OVERLIMIT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EVENT CLOSED LOCAL TECH CONFIRM HEAVY RAIN. C/O AMM 77-21-43-350-801- A EGT HARNESS DRY-OUT PROCEDURE. ERU BY CAPT SATIS VN581 KHH-SGN ON GROUND TURN BACK DUE TO ENG#2 START FAULT, ENG 2 EGT OVERLIMITENG#2 START FAULT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endParaRPr lang="en-US" sz="1100" b="0"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77-21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dirty="0">
                          <a:solidFill>
                            <a:srgbClr val="000000"/>
                          </a:solidFill>
                          <a:effectLst/>
                          <a:latin typeface="Calibri" panose="020F0502020204030204" pitchFamily="34" charset="0"/>
                        </a:rPr>
                        <a:t>Động cơ V16523 có TSN/CSN = 25725/18477; TSO/CSO = 2380/1885. Động cơ mới lắp lên T8/2024, các thông số trên ADEM không có gì bất thường. Nguyên nhân hỏng hóc là do ở KHH có mưa to, nước mưa ngấm vào EGT Harness dẫn đến tín hiệu chập chờn gây báo giả. Sau khi sấy khô Harness thì nổ máy bình thường, không còn message. Việc EGT Harness bị ngấm nước gây báo giả là lỗi phổ biến trên dòng động cơ V2500. P&amp;W chưa có giải pháp khắc phục hiện tượng này. Hiện nay chỉ có giải pháp tạm thời theo TI-2025-1001 yêu cầu thợ máy sấy khô Harness, tập trung tại vị trí 6H và các điểm nối với Thermocouple, trước chuyến bay đầu ngày trong những ngày trời mưa, để hạn chế báo giả.</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332929"/>
                  </a:ext>
                </a:extLst>
              </a:tr>
            </a:tbl>
          </a:graphicData>
        </a:graphic>
      </p:graphicFrame>
    </p:spTree>
    <p:custDataLst>
      <p:tags r:id="rId1"/>
    </p:custDataLst>
    <p:extLst>
      <p:ext uri="{BB962C8B-B14F-4D97-AF65-F5344CB8AC3E}">
        <p14:creationId xmlns:p14="http://schemas.microsoft.com/office/powerpoint/2010/main" val="2374002619"/>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3</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BC7B7C08-CD30-40EC-8450-FF432FB889C5}"/>
              </a:ext>
            </a:extLst>
          </p:cNvPr>
          <p:cNvGraphicFramePr>
            <a:graphicFrameLocks noGrp="1"/>
          </p:cNvGraphicFramePr>
          <p:nvPr>
            <p:extLst/>
          </p:nvPr>
        </p:nvGraphicFramePr>
        <p:xfrm>
          <a:off x="333918" y="1371601"/>
          <a:ext cx="11400882" cy="3902686"/>
        </p:xfrm>
        <a:graphic>
          <a:graphicData uri="http://schemas.openxmlformats.org/drawingml/2006/table">
            <a:tbl>
              <a:tblPr/>
              <a:tblGrid>
                <a:gridCol w="361933">
                  <a:extLst>
                    <a:ext uri="{9D8B030D-6E8A-4147-A177-3AD203B41FA5}">
                      <a16:colId xmlns:a16="http://schemas.microsoft.com/office/drawing/2014/main" val="3674260455"/>
                    </a:ext>
                  </a:extLst>
                </a:gridCol>
                <a:gridCol w="361933">
                  <a:extLst>
                    <a:ext uri="{9D8B030D-6E8A-4147-A177-3AD203B41FA5}">
                      <a16:colId xmlns:a16="http://schemas.microsoft.com/office/drawing/2014/main" val="3448990162"/>
                    </a:ext>
                  </a:extLst>
                </a:gridCol>
                <a:gridCol w="618616">
                  <a:extLst>
                    <a:ext uri="{9D8B030D-6E8A-4147-A177-3AD203B41FA5}">
                      <a16:colId xmlns:a16="http://schemas.microsoft.com/office/drawing/2014/main" val="3824527478"/>
                    </a:ext>
                  </a:extLst>
                </a:gridCol>
                <a:gridCol w="609600">
                  <a:extLst>
                    <a:ext uri="{9D8B030D-6E8A-4147-A177-3AD203B41FA5}">
                      <a16:colId xmlns:a16="http://schemas.microsoft.com/office/drawing/2014/main" val="3595271746"/>
                    </a:ext>
                  </a:extLst>
                </a:gridCol>
                <a:gridCol w="609600">
                  <a:extLst>
                    <a:ext uri="{9D8B030D-6E8A-4147-A177-3AD203B41FA5}">
                      <a16:colId xmlns:a16="http://schemas.microsoft.com/office/drawing/2014/main" val="3043790494"/>
                    </a:ext>
                  </a:extLst>
                </a:gridCol>
                <a:gridCol w="609600">
                  <a:extLst>
                    <a:ext uri="{9D8B030D-6E8A-4147-A177-3AD203B41FA5}">
                      <a16:colId xmlns:a16="http://schemas.microsoft.com/office/drawing/2014/main" val="3999979373"/>
                    </a:ext>
                  </a:extLst>
                </a:gridCol>
                <a:gridCol w="2473864">
                  <a:extLst>
                    <a:ext uri="{9D8B030D-6E8A-4147-A177-3AD203B41FA5}">
                      <a16:colId xmlns:a16="http://schemas.microsoft.com/office/drawing/2014/main" val="2189223672"/>
                    </a:ext>
                  </a:extLst>
                </a:gridCol>
                <a:gridCol w="2676794">
                  <a:extLst>
                    <a:ext uri="{9D8B030D-6E8A-4147-A177-3AD203B41FA5}">
                      <a16:colId xmlns:a16="http://schemas.microsoft.com/office/drawing/2014/main" val="3129152884"/>
                    </a:ext>
                  </a:extLst>
                </a:gridCol>
                <a:gridCol w="402148">
                  <a:extLst>
                    <a:ext uri="{9D8B030D-6E8A-4147-A177-3AD203B41FA5}">
                      <a16:colId xmlns:a16="http://schemas.microsoft.com/office/drawing/2014/main" val="3211525834"/>
                    </a:ext>
                  </a:extLst>
                </a:gridCol>
                <a:gridCol w="2676794">
                  <a:extLst>
                    <a:ext uri="{9D8B030D-6E8A-4147-A177-3AD203B41FA5}">
                      <a16:colId xmlns:a16="http://schemas.microsoft.com/office/drawing/2014/main" val="493277285"/>
                    </a:ext>
                  </a:extLst>
                </a:gridCol>
              </a:tblGrid>
              <a:tr h="352250">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961" marR="6961" marT="696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024615"/>
                  </a:ext>
                </a:extLst>
              </a:tr>
              <a:tr h="2771949">
                <a:tc>
                  <a:txBody>
                    <a:bodyPr/>
                    <a:lstStyle/>
                    <a:p>
                      <a:pPr algn="l" fontAlgn="t"/>
                      <a:r>
                        <a:rPr lang="en-US" sz="1100" b="0" i="0" u="none" strike="noStrike">
                          <a:solidFill>
                            <a:srgbClr val="000000"/>
                          </a:solidFill>
                          <a:effectLst/>
                          <a:latin typeface="Calibri" panose="020F0502020204030204" pitchFamily="34" charset="0"/>
                        </a:rPr>
                        <a:t>A512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VN1404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SGN-VDH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07:20 08/06/2025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OGTB</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dirty="0">
                          <a:solidFill>
                            <a:srgbClr val="000000"/>
                          </a:solidFill>
                          <a:effectLst/>
                          <a:latin typeface="Calibri" panose="020F0502020204030204" pitchFamily="34" charset="0"/>
                        </a:rPr>
                        <a:t>A512 GTB/MOR ENG 1 FADEC SYS FAULT AFTER START ENG CAPT INFORM VIA VHF MSG ENG 1 FADEC SYS FAULT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TSV ADVISED RESET NIL HELP. CAPT DECIDED A/C RETURN TO GATE 74.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- 07:15 AFTER START ENG CAPT INFORM VIA VHF MSG ENG 1 FADEC SYS FAULT. TSV ADVISED RESET NIL HELP. CAPT DECIDED A/C RETURN TO GATE.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- 07:30 VIAGS KÉO TÀU VÀO BÃI 74, TSV TIẾP CẬN A/C</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- 07:45 TSV C/O RESET, XIN NỔ MÁY CHECK TẠI BÃI</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- 08:20 TSV C/O RESET &amp;amp; E.R.U CHECK BUT MSG STILL APPEAR. BÁO AOG ĐỔI TÀU.</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- 08:50 OCC ĐỔI LỊCH A507 BAY VN1404/NETD 10:00 THAY A512</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- 09:00 MCC BỔ SUNG WO ROB N2 SENSOR A509 CHO A512</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- 11:00 FINAL ACTION: C/O REPLACED ENG#1 N2 SENSOR ; C/O E.R.U CHECK SATIS. A/C SERVICEABLE.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TIME LINE (LOCAL TIME)  TOTAL DELAY 177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100" b="0" i="0" u="none" strike="noStrike">
                          <a:solidFill>
                            <a:srgbClr val="000000"/>
                          </a:solidFill>
                          <a:effectLst/>
                          <a:latin typeface="Calibri" panose="020F0502020204030204" pitchFamily="34"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vi-VN" sz="1100" b="0" i="0" u="none" strike="noStrike" dirty="0">
                          <a:solidFill>
                            <a:srgbClr val="000000"/>
                          </a:solidFill>
                          <a:effectLst/>
                          <a:latin typeface="Calibri" panose="020F0502020204030204" pitchFamily="34" charset="0"/>
                        </a:rPr>
                        <a:t>Động cơ số #1 tàu A512 ESN: P771703 có TSN/ CSN = 7939.07 FH / 5620 FC, TSLSV/CSLSV = 2306.2 FH /1295 FC Động cơ xuất hiện cảnh báo ECAM message ENG 1 FADEC SYS FAULT kèm Fault Message N2 SPEED SNSR FAIL sau khi khởi động động cơ, tổ bay quyết định quay lại để kiểm tra kỹ thuật. Hỏng hcos được khắc phục sau khi thay khối N2 Speed Sensor. Khối tháo xuống P/N: 5315145, S/N: LCWKAK8980 có TSN/CSN = 7939.07 FH / 5620 FC.</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Theo thống kê độ tin cậy, từ 2018 - nay khối N2 Speed Sensor thay 03 lần (2020: 01, 2022: 02), có ngưỡng MTBUR = 118,077 FH. Hiện tại PW và AIB không có khuyến cáo và cải tiến kỹ thuật nào liên quan đến khối N2 Sensor. Tiếp tục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332929"/>
                  </a:ext>
                </a:extLst>
              </a:tr>
            </a:tbl>
          </a:graphicData>
        </a:graphic>
      </p:graphicFrame>
    </p:spTree>
    <p:custDataLst>
      <p:tags r:id="rId1"/>
    </p:custDataLst>
    <p:extLst>
      <p:ext uri="{BB962C8B-B14F-4D97-AF65-F5344CB8AC3E}">
        <p14:creationId xmlns:p14="http://schemas.microsoft.com/office/powerpoint/2010/main" val="390439023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5" name="TextBox 4">
            <a:extLst>
              <a:ext uri="{FF2B5EF4-FFF2-40B4-BE49-F238E27FC236}">
                <a16:creationId xmlns:a16="http://schemas.microsoft.com/office/drawing/2014/main" id="{92DF34E4-5EAF-DD7F-DEE2-26E7FBD9CDA2}"/>
              </a:ext>
            </a:extLst>
          </p:cNvPr>
          <p:cNvSpPr txBox="1"/>
          <p:nvPr/>
        </p:nvSpPr>
        <p:spPr>
          <a:xfrm>
            <a:off x="207979" y="2101066"/>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7" name="Table 6"/>
          <p:cNvGraphicFramePr>
            <a:graphicFrameLocks noGrp="1"/>
          </p:cNvGraphicFramePr>
          <p:nvPr>
            <p:extLst>
              <p:ext uri="{D42A27DB-BD31-4B8C-83A1-F6EECF244321}">
                <p14:modId xmlns:p14="http://schemas.microsoft.com/office/powerpoint/2010/main" val="3191000208"/>
              </p:ext>
            </p:extLst>
          </p:nvPr>
        </p:nvGraphicFramePr>
        <p:xfrm>
          <a:off x="336501" y="2463187"/>
          <a:ext cx="11550698" cy="3794738"/>
        </p:xfrm>
        <a:graphic>
          <a:graphicData uri="http://schemas.openxmlformats.org/drawingml/2006/table">
            <a:tbl>
              <a:tblPr/>
              <a:tblGrid>
                <a:gridCol w="252751">
                  <a:extLst>
                    <a:ext uri="{9D8B030D-6E8A-4147-A177-3AD203B41FA5}">
                      <a16:colId xmlns:a16="http://schemas.microsoft.com/office/drawing/2014/main" val="20000"/>
                    </a:ext>
                  </a:extLst>
                </a:gridCol>
                <a:gridCol w="480227">
                  <a:extLst>
                    <a:ext uri="{9D8B030D-6E8A-4147-A177-3AD203B41FA5}">
                      <a16:colId xmlns:a16="http://schemas.microsoft.com/office/drawing/2014/main" val="20001"/>
                    </a:ext>
                  </a:extLst>
                </a:gridCol>
                <a:gridCol w="454951">
                  <a:extLst>
                    <a:ext uri="{9D8B030D-6E8A-4147-A177-3AD203B41FA5}">
                      <a16:colId xmlns:a16="http://schemas.microsoft.com/office/drawing/2014/main" val="20002"/>
                    </a:ext>
                  </a:extLst>
                </a:gridCol>
                <a:gridCol w="1225840">
                  <a:extLst>
                    <a:ext uri="{9D8B030D-6E8A-4147-A177-3AD203B41FA5}">
                      <a16:colId xmlns:a16="http://schemas.microsoft.com/office/drawing/2014/main" val="20003"/>
                    </a:ext>
                  </a:extLst>
                </a:gridCol>
                <a:gridCol w="454951">
                  <a:extLst>
                    <a:ext uri="{9D8B030D-6E8A-4147-A177-3AD203B41FA5}">
                      <a16:colId xmlns:a16="http://schemas.microsoft.com/office/drawing/2014/main" val="20004"/>
                    </a:ext>
                  </a:extLst>
                </a:gridCol>
                <a:gridCol w="745614">
                  <a:extLst>
                    <a:ext uri="{9D8B030D-6E8A-4147-A177-3AD203B41FA5}">
                      <a16:colId xmlns:a16="http://schemas.microsoft.com/office/drawing/2014/main" val="20005"/>
                    </a:ext>
                  </a:extLst>
                </a:gridCol>
                <a:gridCol w="821439">
                  <a:extLst>
                    <a:ext uri="{9D8B030D-6E8A-4147-A177-3AD203B41FA5}">
                      <a16:colId xmlns:a16="http://schemas.microsoft.com/office/drawing/2014/main" val="20006"/>
                    </a:ext>
                  </a:extLst>
                </a:gridCol>
                <a:gridCol w="697173">
                  <a:extLst>
                    <a:ext uri="{9D8B030D-6E8A-4147-A177-3AD203B41FA5}">
                      <a16:colId xmlns:a16="http://schemas.microsoft.com/office/drawing/2014/main" val="20007"/>
                    </a:ext>
                  </a:extLst>
                </a:gridCol>
                <a:gridCol w="3460572">
                  <a:extLst>
                    <a:ext uri="{9D8B030D-6E8A-4147-A177-3AD203B41FA5}">
                      <a16:colId xmlns:a16="http://schemas.microsoft.com/office/drawing/2014/main" val="20008"/>
                    </a:ext>
                  </a:extLst>
                </a:gridCol>
                <a:gridCol w="2957180">
                  <a:extLst>
                    <a:ext uri="{9D8B030D-6E8A-4147-A177-3AD203B41FA5}">
                      <a16:colId xmlns:a16="http://schemas.microsoft.com/office/drawing/2014/main" val="20009"/>
                    </a:ext>
                  </a:extLst>
                </a:gridCol>
              </a:tblGrid>
              <a:tr h="319691">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A/C</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STA</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FLIGHT NO</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dirty="0">
                          <a:solidFill>
                            <a:srgbClr val="000000"/>
                          </a:solidFill>
                          <a:effectLst/>
                          <a:latin typeface="Times New Roman" panose="02020603050405020304" pitchFamily="18" charset="0"/>
                          <a:cs typeface="Times New Roman" panose="02020603050405020304" pitchFamily="18" charset="0"/>
                        </a:rPr>
                        <a:t>ROUTE</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9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491" marR="6491" marT="649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789122">
                <a:tc>
                  <a:txBody>
                    <a:bodyPr/>
                    <a:lstStyle/>
                    <a:p>
                      <a:pPr algn="ctr" fontAlgn="ctr"/>
                      <a:r>
                        <a:rPr lang="en-US" sz="1100" b="0" i="0" u="none" strike="noStrike" dirty="0">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Calibri" panose="020F0502020204030204" pitchFamily="34"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A331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Calibri" panose="020F0502020204030204" pitchFamily="34" charset="0"/>
                        </a:rPr>
                        <a:t>16:00 07/06/2025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VN920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SGN-PNH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Calibri" panose="020F0502020204030204" pitchFamily="34" charset="0"/>
                        </a:rPr>
                        <a:t>MW #4 INNER SHOULDER WORN TO CORD EXPOSED T/X CHECK FOUND MW #4 INNER SHOULDER WORN TO CORD EXPOSED, REMAINING SHOULDER ~0.5MM, CENTER ~2MM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Calibri" panose="020F0502020204030204" pitchFamily="34" charset="0"/>
                        </a:rPr>
                        <a:t>- 16:00 TÀU VÀO BÃI (ĐÁP TRỄ 40mins)</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- 16:05 BÁO THAY LỐP SỐ 4</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- 16:25 XE LỐP TỚI (TRACFIC)</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- 16:45 HẠ KÍCH BÁO SERVICE VÀ BOARDING</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- 17:17 TÀU ĐÓNG CỬA</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FINAL ACTION: REPLACED MW #4, CHECK SATIS, A/C SERVICEABLE MW #4 INNER SHOULDER WORN TO CORD EXPOSED, EVENT CLOSED FINAL ACTION: REPLACED MW #4, CHECK SATIS, A/C SERVICEABLE TOTAL DELAY 77 MINS, TECH DELAY 0 MIN, A/C ARRIVE LATE: 40mins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482853">
                <a:tc>
                  <a:txBody>
                    <a:bodyPr/>
                    <a:lstStyle/>
                    <a:p>
                      <a:pPr algn="ctr" fontAlgn="ctr"/>
                      <a:r>
                        <a:rPr lang="en-US" sz="1100" b="0" i="0" u="none" strike="noStrike" dirty="0">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A621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15:40 07/06/2025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VN1465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Calibri" panose="020F0502020204030204" pitchFamily="34" charset="0"/>
                        </a:rPr>
                        <a:t>SGN-HUI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000" b="0" i="0" u="none" strike="noStrike" dirty="0">
                          <a:solidFill>
                            <a:srgbClr val="000000"/>
                          </a:solidFill>
                          <a:effectLst/>
                          <a:latin typeface="Calibri" panose="020F0502020204030204" pitchFamily="34" charset="0"/>
                        </a:rPr>
                        <a:t>MW #2 CUT OUT OF LIMIT AT PARKING 97-TSN T/X CHECK FOUND MW #2 CUT OUT OF LIMIT AT PARKING 97-TSN,</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DIMENSION CUT: LxWxD  70x4x3 mm.</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WHEEL: P/N: C20500100,S/N: 48190</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TIRE: PN: M20101-01,SN: 3306T831</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RETREAD: 03</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Thời gian đưa vào khai thác: 18/05/2025</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Hãng SX: MICHELIN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Calibri" panose="020F0502020204030204" pitchFamily="34" charset="0"/>
                        </a:rPr>
                        <a:t>- 15:40 TÀU VÀO BÃI (TÀU ĐÁP TRỄ 40mins)</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- 15:45 BÁO THAY LỐP SỐ 2</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- 15:55 XE LỐP TỚI</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- 16:17 HẠ KÍCH BÁO SERVICE VAF BOARRDING</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- 16:40 TÀU ĐÓNG CỬA</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FINAL ACTION: REPLACED MW #2, CHECK SATIS MW #2 CUT OUT OF LIMIT AT PARKING 97-TSN, EVENT CLOSED FINAL ACTION: REPLACED MW #2, CHECK SATIS A/C TOTAL DELAY:60mins TECH: 0mins A/C ARRIVE LATE: 40mins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593287543"/>
              </p:ext>
            </p:extLst>
          </p:nvPr>
        </p:nvGraphicFramePr>
        <p:xfrm>
          <a:off x="381000" y="1121945"/>
          <a:ext cx="11383818" cy="823492"/>
        </p:xfrm>
        <a:graphic>
          <a:graphicData uri="http://schemas.openxmlformats.org/drawingml/2006/table">
            <a:tbl>
              <a:tblPr/>
              <a:tblGrid>
                <a:gridCol w="417031">
                  <a:extLst>
                    <a:ext uri="{9D8B030D-6E8A-4147-A177-3AD203B41FA5}">
                      <a16:colId xmlns:a16="http://schemas.microsoft.com/office/drawing/2014/main" val="20000"/>
                    </a:ext>
                  </a:extLst>
                </a:gridCol>
                <a:gridCol w="518471">
                  <a:extLst>
                    <a:ext uri="{9D8B030D-6E8A-4147-A177-3AD203B41FA5}">
                      <a16:colId xmlns:a16="http://schemas.microsoft.com/office/drawing/2014/main" val="20001"/>
                    </a:ext>
                  </a:extLst>
                </a:gridCol>
                <a:gridCol w="371947">
                  <a:extLst>
                    <a:ext uri="{9D8B030D-6E8A-4147-A177-3AD203B41FA5}">
                      <a16:colId xmlns:a16="http://schemas.microsoft.com/office/drawing/2014/main" val="20002"/>
                    </a:ext>
                  </a:extLst>
                </a:gridCol>
                <a:gridCol w="1127111">
                  <a:extLst>
                    <a:ext uri="{9D8B030D-6E8A-4147-A177-3AD203B41FA5}">
                      <a16:colId xmlns:a16="http://schemas.microsoft.com/office/drawing/2014/main" val="20003"/>
                    </a:ext>
                  </a:extLst>
                </a:gridCol>
                <a:gridCol w="383217">
                  <a:extLst>
                    <a:ext uri="{9D8B030D-6E8A-4147-A177-3AD203B41FA5}">
                      <a16:colId xmlns:a16="http://schemas.microsoft.com/office/drawing/2014/main" val="20004"/>
                    </a:ext>
                  </a:extLst>
                </a:gridCol>
                <a:gridCol w="935502">
                  <a:extLst>
                    <a:ext uri="{9D8B030D-6E8A-4147-A177-3AD203B41FA5}">
                      <a16:colId xmlns:a16="http://schemas.microsoft.com/office/drawing/2014/main" val="20005"/>
                    </a:ext>
                  </a:extLst>
                </a:gridCol>
                <a:gridCol w="642453">
                  <a:extLst>
                    <a:ext uri="{9D8B030D-6E8A-4147-A177-3AD203B41FA5}">
                      <a16:colId xmlns:a16="http://schemas.microsoft.com/office/drawing/2014/main" val="20006"/>
                    </a:ext>
                  </a:extLst>
                </a:gridCol>
                <a:gridCol w="755164">
                  <a:extLst>
                    <a:ext uri="{9D8B030D-6E8A-4147-A177-3AD203B41FA5}">
                      <a16:colId xmlns:a16="http://schemas.microsoft.com/office/drawing/2014/main" val="20007"/>
                    </a:ext>
                  </a:extLst>
                </a:gridCol>
                <a:gridCol w="2344390">
                  <a:extLst>
                    <a:ext uri="{9D8B030D-6E8A-4147-A177-3AD203B41FA5}">
                      <a16:colId xmlns:a16="http://schemas.microsoft.com/office/drawing/2014/main" val="20008"/>
                    </a:ext>
                  </a:extLst>
                </a:gridCol>
                <a:gridCol w="3888532">
                  <a:extLst>
                    <a:ext uri="{9D8B030D-6E8A-4147-A177-3AD203B41FA5}">
                      <a16:colId xmlns:a16="http://schemas.microsoft.com/office/drawing/2014/main" val="20009"/>
                    </a:ext>
                  </a:extLst>
                </a:gridCol>
              </a:tblGrid>
              <a:tr h="306098">
                <a:tc>
                  <a:txBody>
                    <a:bodyPr/>
                    <a:lstStyle/>
                    <a:p>
                      <a:pPr algn="ctr" fontAlgn="ctr"/>
                      <a:r>
                        <a:rPr lang="en-US" sz="1000" b="1" i="0" u="none" strike="noStrike" dirty="0">
                          <a:solidFill>
                            <a:srgbClr val="000000"/>
                          </a:solidFill>
                          <a:effectLst/>
                          <a:latin typeface="Times New Roman" panose="02020603050405020304" pitchFamily="18" charset="0"/>
                        </a:rPr>
                        <a:t>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FLEET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A/C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DATE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STA</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MINUTES</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FLIGHT 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ROUTINE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DESC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ACTION</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449776">
                <a:tc>
                  <a:txBody>
                    <a:bodyPr/>
                    <a:lstStyle/>
                    <a:p>
                      <a:pPr algn="l" fontAlgn="ctr"/>
                      <a:r>
                        <a:rPr lang="en-US" sz="1100" b="0" i="0" u="none" strike="noStrike" dirty="0">
                          <a:solidFill>
                            <a:srgbClr val="000000"/>
                          </a:solidFill>
                          <a:effectLst/>
                          <a:latin typeface="Calibri" panose="020F050202020403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08:12 06/06/2025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VN1404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SGN-VDH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Y HYD LOW PRE-FLT FOUND Y HYD LOW AFT BOTH CARGO DOORS CLOSED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dirty="0">
                          <a:solidFill>
                            <a:srgbClr val="000000"/>
                          </a:solidFill>
                          <a:effectLst/>
                          <a:latin typeface="Calibri" panose="020F0502020204030204" pitchFamily="34" charset="0"/>
                        </a:rPr>
                        <a:t> EVENT CLOSED ACTION: C/O SERVICING Y HYD SYSTEM FOUND SATIS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TOTAL DELAY 14 MINS. TECH DELAY 10 MINS.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extLst/>
          </p:nvPr>
        </p:nvGraphicFramePr>
        <p:xfrm>
          <a:off x="134289" y="1519622"/>
          <a:ext cx="11688715" cy="4968074"/>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b"/>
                      <a:r>
                        <a:rPr lang="en-US" sz="1100" b="0" i="0" u="none" strike="noStrike" dirty="0">
                          <a:solidFill>
                            <a:srgbClr val="000000"/>
                          </a:solidFill>
                          <a:effectLst/>
                          <a:latin typeface="Calibri" panose="020F0502020204030204" pitchFamily="34" charset="0"/>
                        </a:rPr>
                        <a:t>A621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20:30 02/06/2025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03:30 03/06/2025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DLI</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F/CTL ELEV SERVO FAULT, F/CTL ELAC 2 FAULT A/C GTB DUE TO MSG: F/CTL ELEV SERVO FAULT, F/CTL ELAC 2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REPLACED 34CE2 SERVO CONTROL. OPS TEST SATIS. A/C SERVICEABLE F/CTL ELEV SERVO FAULT, F/CTL ELAC 2 FAULT EVENT CLOSED  F/CTL ELEV SERVO FAULT, F/CTL ELAC 2 FAULT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TOTAL DELAY 555 MINS, TECH DELAY 270 MINS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TÀU ĐÁP TRỄ VÀ CHỜ KHÍ TÀI GỬI TỪ SGN LÊN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MSG: F/CTL ELEV SERVO FAULT, F/CTL ELAC 2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27-00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Calibri" panose="020F0502020204030204" pitchFamily="34" charset="0"/>
                        </a:rPr>
                        <a:t>Servo control trên tàu A621 đã khai thác được khoảng hơn 10k FH. Theo thống kê thì mỗi năm từ 2022 đến nay tháo khoảng 10 khối. Đây là khối mới nhất và hiện AIB đánh giá độ tin cậy tương đối cao nên chưa có điều tra đánh giá hoặc biện pháp cải tiến. Thống kê SFR thì có 2 nguyên nhân hỏng chính là leakage và hỏng các thiết bị điện bên trong. Hiện SPM chưa có  module theo dõi tình trạng của thiết bị. Ban KT sẽ làm việc thêm với AIB về vấn đề này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r h="1401491">
                <a:tc>
                  <a:txBody>
                    <a:bodyPr/>
                    <a:lstStyle/>
                    <a:p>
                      <a:pPr algn="l" fontAlgn="b"/>
                      <a:r>
                        <a:rPr lang="en-US" sz="1100" b="0" i="0" u="none" strike="noStrike">
                          <a:solidFill>
                            <a:srgbClr val="000000"/>
                          </a:solidFill>
                          <a:effectLst/>
                          <a:latin typeface="Calibri" panose="020F0502020204030204" pitchFamily="34" charset="0"/>
                        </a:rPr>
                        <a:t>A512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07:20 08/06/2025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11:00 08/06/2025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A512 GTB/MOR ENG 1 FADEC SYS FAULT AFTER START ENG CAPT INFORM VIA VHF MSG ENG 1 FADEC SYS FAULT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TSV ADVISED RESET NIL HELP. CAPT DECIDED A/C RETURN TO GATE 74.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- 07:15 AFTER START ENG CAPT INFORM VIA VHF MSG ENG 1 FADEC SYS FAULT. TSV ADVISED RESET NIL HELP. CAPT DECIDED A/C RETURN TO GATE.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- 07:30 VIAGS KÉO TÀU VÀO BÃI 74, TSV TIẾP CẬN A/C</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- 07:45 TSV C/O RESET, XIN NỔ MÁY CHECK TẠI BÃI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- 08:20 TSV C/O RESET &amp;amp; E.R.U CHECK BUT MSG STILL APPEAR. BÁO AOG ĐỔI TÀU.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- 08:50 OCC ĐỔI LỊCH A507 BAY VN1404/NETD 10:00 THAY A512</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- 09:00 MCC BỔ SUNG WO ROB N2 SENSOR A509 CHO A512</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- 11:00 FINAL ACTION: C/O REPLACED ENG#1 N2 SENSOR; C/O E.R.U CHECK SATIS. A/C SERVICEABLE.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TIME LINE (LOCAL TIME)  TOTAL DELAY 177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Động cơ số #1 tàu A512 ESN: P771703 có TSN/ CSN = 7939.07 FH / 5620 FC, TSLSV/CSLSV = 2306.2 FH /1295 FC Động cơ xuất hiện cảnh báo ECAM message ENG 1 FADEC SYS FAULT kèm Fault Message N2 SPEED SNSR FAIL sau khi khởi động động cơ, tổ bay quyết định quay lại để kiểm tra kỹ thuật. Hỏng hcos được khắc phục sau khi thay khối N2 Speed Sensor. Khối tháo xuống P/N: 5315145, S/N: LCWKAK8980 có TSN/CSN = 7939.07 FH / 5620 FC.</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Theo thống kê độ tin cậy, từ 2018 - nay khối N2 Speed Sensor thay 03 lần (2020: 01, 2022: 02), có ngưỡng MTBUR = 118,077 FH. Hiện tại PW và AIB không có khuyến cáo và cải tiến kỹ thuật nào liên quan đến khối N2 Sensor. Tiếp tục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3453148"/>
                  </a:ext>
                </a:extLst>
              </a:tr>
            </a:tbl>
          </a:graphicData>
        </a:graphic>
      </p:graphicFrame>
    </p:spTree>
    <p:extLst>
      <p:ext uri="{BB962C8B-B14F-4D97-AF65-F5344CB8AC3E}">
        <p14:creationId xmlns:p14="http://schemas.microsoft.com/office/powerpoint/2010/main" val="472248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a:t>
            </a: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extLst>
              <p:ext uri="{D42A27DB-BD31-4B8C-83A1-F6EECF244321}">
                <p14:modId xmlns:p14="http://schemas.microsoft.com/office/powerpoint/2010/main" val="2999631014"/>
              </p:ext>
            </p:extLst>
          </p:nvPr>
        </p:nvGraphicFramePr>
        <p:xfrm>
          <a:off x="134289" y="1519622"/>
          <a:ext cx="11688715" cy="1773389"/>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ctr"/>
                      <a:r>
                        <a:rPr lang="en-US" sz="1100" b="0" i="0" u="none" strike="noStrike" dirty="0">
                          <a:solidFill>
                            <a:srgbClr val="000000"/>
                          </a:solidFill>
                          <a:effectLst/>
                          <a:latin typeface="Calibri" panose="020F0502020204030204" pitchFamily="34" charset="0"/>
                        </a:rPr>
                        <a:t>A625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Calibri" panose="020F0502020204030204" pitchFamily="34" charset="0"/>
                        </a:rPr>
                        <a:t>13:15 02/06/2025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smtClean="0">
                          <a:solidFill>
                            <a:srgbClr val="000000"/>
                          </a:solidFill>
                          <a:effectLst/>
                          <a:latin typeface="Calibri" panose="020F0502020204030204" pitchFamily="34" charset="0"/>
                        </a:rPr>
                        <a:t>22:00</a:t>
                      </a:r>
                      <a:r>
                        <a:rPr lang="en-US" sz="1100" b="0" i="0" u="none" strike="noStrike" dirty="0">
                          <a:solidFill>
                            <a:srgbClr val="000000"/>
                          </a:solidFill>
                          <a:effectLst/>
                          <a:latin typeface="Calibri" panose="020F0502020204030204" pitchFamily="34" charset="0"/>
                        </a:rPr>
                        <a:t> </a:t>
                      </a:r>
                      <a:endParaRPr lang="en-US" sz="1100" b="0" i="0" u="none" strike="noStrike" dirty="0" smtClean="0">
                        <a:solidFill>
                          <a:srgbClr val="000000"/>
                        </a:solidFill>
                        <a:effectLst/>
                        <a:latin typeface="Calibri" panose="020F0502020204030204" pitchFamily="34" charset="0"/>
                      </a:endParaRPr>
                    </a:p>
                    <a:p>
                      <a:pPr algn="l" fontAlgn="ctr"/>
                      <a:r>
                        <a:rPr lang="en-US" sz="1100" b="0" i="0" u="none" strike="noStrike" dirty="0" smtClean="0">
                          <a:solidFill>
                            <a:srgbClr val="000000"/>
                          </a:solidFill>
                          <a:effectLst/>
                          <a:latin typeface="Calibri" panose="020F0502020204030204" pitchFamily="34" charset="0"/>
                        </a:rPr>
                        <a:t>02/06/2025</a:t>
                      </a: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ENG 1 HAS SIGN OF OIL LEAKAGE AFTER FLIGHT TEST FOR COMPLETE CHECK FOUND ENG 1 HAS SIGN OF OIL LEAKAGE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EVENT CLOSED</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C/O INSPECTION REF AMM 79-00-00-210-810-A FOUND LEAK AT AOHX AT ENG#1 REPLACED AOHX AT ENG#1 REF AMM 79-21-11-000/400-802-A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71-00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Calibri" panose="020F0502020204030204" pitchFamily="34" charset="0"/>
                        </a:rPr>
                        <a:t>Động cơ P772905 tháo giữ giờ từ giữa tháng 5, rồi lắp lên A625#1.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spTree>
    <p:extLst>
      <p:ext uri="{BB962C8B-B14F-4D97-AF65-F5344CB8AC3E}">
        <p14:creationId xmlns:p14="http://schemas.microsoft.com/office/powerpoint/2010/main" val="3354554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10</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nvPr>
        </p:nvGraphicFramePr>
        <p:xfrm>
          <a:off x="116182" y="1521019"/>
          <a:ext cx="11853157" cy="4727400"/>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76400">
                  <a:extLst>
                    <a:ext uri="{9D8B030D-6E8A-4147-A177-3AD203B41FA5}">
                      <a16:colId xmlns:a16="http://schemas.microsoft.com/office/drawing/2014/main" val="2573721533"/>
                    </a:ext>
                  </a:extLst>
                </a:gridCol>
                <a:gridCol w="2667000">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1666479">
                <a:tc>
                  <a:txBody>
                    <a:bodyPr/>
                    <a:lstStyle/>
                    <a:p>
                      <a:pPr algn="l" fontAlgn="b"/>
                      <a:r>
                        <a:rPr lang="en-US" sz="1100" b="0" i="0" u="none" strike="noStrike" dirty="0">
                          <a:solidFill>
                            <a:srgbClr val="000000"/>
                          </a:solidFill>
                          <a:effectLst/>
                          <a:latin typeface="Calibri" panose="020F0502020204030204" pitchFamily="34" charset="0"/>
                        </a:rPr>
                        <a:t>A621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20:30 02/06/2025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DLI</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270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VN7578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DLI-HAN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F/CTL ELEV SERVO FAULT, F/CTL ELAC 2 FAULT A/C GTB DUE TO MSG: F/CTL ELEV SERVO FAULT, F/CTL ELAC 2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REPLACED 34CE2 SERVO CONTROL. OPS TEST SATIS. A/C SERVICEABLE F/CTL ELEV SERVO FAULT, F/CTL ELAC 2 FAULT EVENT CLOSED  F/CTL ELEV SERVO FAULT, F/CTL ELAC 2 FAULT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TOTAL DELAY 555 MINS, TECH DELAY 270 MINS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TÀU ĐÁP TRỄ VÀ CHỜ KHÍ TÀI GỬI TỪ SGN LÊN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MSG: F/CTL ELEV SERVO FAULT, F/CTL ELAC 2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27-00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Servo control trên tàu A621 đã khai thác được khoảng hơn 10k FH. Theo thống kê thì mỗi năm từ 2022 đến nay tháo khoảng 10 khối. Đây là khối mới nhất và hiện AIB đánh giá độ tin cậy tương đối cao nên chưa có điều tra đánh giá hoặc biện pháp cải tiến. Thống kê SFR thì có 2 nguyên nhân hỏng chính là leakage và hỏng các thiết bị điện bên trong. Hiện SPM chưa có  module theo dõi tình trạng của thiết bị. Ban KT sẽ làm việc thêm với AIB về vấn đề này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r h="515354">
                <a:tc>
                  <a:txBody>
                    <a:bodyPr/>
                    <a:lstStyle/>
                    <a:p>
                      <a:pPr algn="l" fontAlgn="b"/>
                      <a:r>
                        <a:rPr lang="en-US" sz="1100" b="0" i="0" u="none" strike="noStrike" dirty="0">
                          <a:solidFill>
                            <a:srgbClr val="000000"/>
                          </a:solidFill>
                          <a:effectLst/>
                          <a:latin typeface="Calibri" panose="020F0502020204030204" pitchFamily="34" charset="0"/>
                        </a:rPr>
                        <a:t>A324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22:45 04/06/2025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Calibri" panose="020F0502020204030204" pitchFamily="34" charset="0"/>
                        </a:rPr>
                        <a:t>39</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VN260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T/X CHECK CAPT  REPORT ON TECHLOG:  ENG#2 REVERSER FAULT T/X CHECK CAPT; REPORT ON TECHLOG: &amp;#160;ENG#2 REVERSER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EVENT CLOSED ADD B1584 RAISED AND DEACTIVATE TR  ENG#2 REVERSER FAULT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78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Cảnh báo TR fault thưởng có 2 nguyên nhân chính, một là  liên quan đến hệ thống điều khiển bao gồm cả dây dẫn và đầu nối terninal module. Trước đây nghi ngờ dây bị cọ xát gây ra báo giả thì đã làm sb bọc bịt dây theo khuyến cáo của AIB. terminal module thì có thể đọng nước hoặc bụi bẩn gây ra báo giả. Nguyên nhân thứ 2 là cái TR không align, ban KT đã khuyến cáo thực hiện căn chỉnh thổi ngược. Hiện Vaeco đang xếp lịch để TS</a:t>
                      </a: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3223236"/>
                  </a:ext>
                </a:extLst>
              </a:tr>
              <a:tr h="515354">
                <a:tc>
                  <a:txBody>
                    <a:bodyPr/>
                    <a:lstStyle/>
                    <a:p>
                      <a:pPr algn="l" fontAlgn="b"/>
                      <a:r>
                        <a:rPr lang="en-US" sz="1100" b="0" i="0" u="none" strike="noStrike">
                          <a:solidFill>
                            <a:srgbClr val="000000"/>
                          </a:solidFill>
                          <a:effectLst/>
                          <a:latin typeface="Calibri" panose="020F0502020204030204" pitchFamily="34" charset="0"/>
                        </a:rPr>
                        <a:t>A621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21:30 04/06/2025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TNA</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Calibri" panose="020F0502020204030204" pitchFamily="34" charset="0"/>
                        </a:rPr>
                        <a:t>27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VN748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TNA-CXR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R/H REFUEL COULING CAP IS STUCK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RE-ADJUST AND REFUEL NORMAL I.A.W AMM 12-11-28-650-003A EVENT CLOSED  R/H REFUEL COULING CAP IS STUCK</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&amp;#160;</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TOTAL DELAY 54 MINS ( TECH : 27 MINS, A/C LATE 27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12-11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Calibri" panose="020F0502020204030204" pitchFamily="34" charset="0"/>
                        </a:rPr>
                        <a:t>Hỏng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hóc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ít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gặp</a:t>
                      </a:r>
                      <a:r>
                        <a:rPr lang="en-US" sz="1100" b="0" i="0" u="none" strike="noStrike" dirty="0">
                          <a:solidFill>
                            <a:srgbClr val="000000"/>
                          </a:solidFill>
                          <a:effectLst/>
                          <a:latin typeface="Calibri" panose="020F0502020204030204" pitchFamily="34" charset="0"/>
                        </a:rPr>
                        <a:t>. Theo </a:t>
                      </a:r>
                      <a:r>
                        <a:rPr lang="en-US" sz="1100" b="0" i="0" u="none" strike="noStrike" dirty="0" err="1">
                          <a:solidFill>
                            <a:srgbClr val="000000"/>
                          </a:solidFill>
                          <a:effectLst/>
                          <a:latin typeface="Calibri" panose="020F0502020204030204" pitchFamily="34" charset="0"/>
                        </a:rPr>
                        <a:t>dõi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thêm</a:t>
                      </a: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151509"/>
                  </a:ext>
                </a:extLst>
              </a:tr>
            </a:tbl>
          </a:graphicData>
        </a:graphic>
      </p:graphicFrame>
    </p:spTree>
    <p:extLst>
      <p:ext uri="{BB962C8B-B14F-4D97-AF65-F5344CB8AC3E}">
        <p14:creationId xmlns:p14="http://schemas.microsoft.com/office/powerpoint/2010/main" val="984175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10</a:t>
            </a:r>
          </a:p>
        </p:txBody>
      </p:sp>
      <p:sp>
        <p:nvSpPr>
          <p:cNvPr id="9" name="TextBox 8">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nvPr>
        </p:nvGraphicFramePr>
        <p:xfrm>
          <a:off x="116182" y="1521019"/>
          <a:ext cx="11853157" cy="5053155"/>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76400">
                  <a:extLst>
                    <a:ext uri="{9D8B030D-6E8A-4147-A177-3AD203B41FA5}">
                      <a16:colId xmlns:a16="http://schemas.microsoft.com/office/drawing/2014/main" val="2573721533"/>
                    </a:ext>
                  </a:extLst>
                </a:gridCol>
                <a:gridCol w="2667000">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1666479">
                <a:tc>
                  <a:txBody>
                    <a:bodyPr/>
                    <a:lstStyle/>
                    <a:p>
                      <a:pPr algn="l" fontAlgn="b"/>
                      <a:r>
                        <a:rPr lang="en-US" sz="1100" b="0" i="0" u="none" strike="noStrike">
                          <a:solidFill>
                            <a:srgbClr val="000000"/>
                          </a:solidFill>
                          <a:effectLst/>
                          <a:latin typeface="Calibri" panose="020F0502020204030204" pitchFamily="34" charset="0"/>
                        </a:rPr>
                        <a:t>A611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19:30 04/06/2025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1100" b="0" i="0" u="none" strike="noStrike" kern="1200">
                          <a:solidFill>
                            <a:srgbClr val="000000"/>
                          </a:solidFill>
                          <a:effectLst/>
                          <a:latin typeface="Calibri" panose="020F0502020204030204" pitchFamily="34" charset="0"/>
                          <a:ea typeface="+mn-ea"/>
                          <a:cs typeface="+mn-cs"/>
                        </a:rPr>
                        <a:t>30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VN218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SGN-HAN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T/X CHECK CAPT  REPORT ON TECHLOG;  ENG#1 FADECT B FAULT T/X CHECK CAPT &amp;#160;REPORT ON TECHLOG; &amp;#160;ENG#1 FADECT B FAULT SHORT &amp;#160;TRANSIT (19:15-19:50)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-19:15: TÀU ĐÁP VÀO BÃI (TÀU &amp;#160;ĐÁP TRỂ 124mins , ASOC BÁO &amp;#160;ĐỔI LỊCH MỚI 19:50)</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- 19:30: CRS BÁO &amp;#160;TÀU CAPT GHI SỔ;ENG#1 FADECT B FAULT (SPURIOUS ALERT DUNRING FLT); BÁO B1 HỖ &amp;#160;TRỢ TRA LỜI SỔ</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-19:30- 20:00; CHỜ CÁC ĐƠN VỊ NẠP DẦU LOAD HÀNG VÀ RÚT CÁC TRANG THIẾT BỊ RA ĐỂ NỔ MÁY KIỂM TRA</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- 20:00-20:20: NỔ MÁY IDLE KIỂM TRA</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- 20:30: BÁO TÀU SERVICE VÀ BÁO BOARDING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- 21:12: TÀU ĐÓNG CỬA VÀ ĐẨY</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FINAL ACTION: &amp;#160;DO START ENG #1 BY NORMAL ENG AUTO START . NO FAULT RECORDED ON FADEC 1B TEST . FOUND TEST PASSED, A/C SERVICEABLE ENG#1 FADECT B FAULT EVENT CLOSED FINAL ACTION:  DO START ENG #1 BY NORMAL ENG AUTO START . NO FAULT RECORDED ON FADEC 1B TEST . FOUND TEST PASSED, A/C SERVICEABLE  ENG#1 FADECT B FAULT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A/C TOTAL DELAY:177mins</a:t>
                      </a:r>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;TECH: 30mins A/C ARRIVE LATE: 124mins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77-11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Động cơ V17092 có TSN/CSN = 24810/17627; TSO/CSO = 9288/6854. Hỏng hóc chưa rõ nguyên nhân, sau khi nổ máy kiểm tra không có message, các thông số động cơ bình thường. Tiếp tục theo dõi thêm.</a:t>
                      </a: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r h="515354">
                <a:tc>
                  <a:txBody>
                    <a:bodyPr/>
                    <a:lstStyle/>
                    <a:p>
                      <a:pPr algn="l" fontAlgn="b"/>
                      <a:r>
                        <a:rPr lang="en-US" sz="1100" b="0" i="0" u="none" strike="noStrike">
                          <a:solidFill>
                            <a:srgbClr val="000000"/>
                          </a:solidFill>
                          <a:effectLst/>
                          <a:latin typeface="Calibri" panose="020F0502020204030204" pitchFamily="34" charset="0"/>
                        </a:rPr>
                        <a:t>A327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11:35 04/06/2025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BKK</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1100" b="0" i="0" u="none" strike="noStrike" kern="1200" dirty="0">
                          <a:solidFill>
                            <a:srgbClr val="000000"/>
                          </a:solidFill>
                          <a:effectLst/>
                          <a:latin typeface="Calibri" panose="020F0502020204030204" pitchFamily="34" charset="0"/>
                          <a:ea typeface="+mn-ea"/>
                          <a:cs typeface="+mn-cs"/>
                        </a:rPr>
                        <a:t>45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VN610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BKK-HAN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L/G LGCIU 1 FAULT L/G LGCIU 1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EVENT CLOSED REF TSM 32-31-00-810-837-A C/O CLEAN PROX SENSOR 33GA, 27GA. BITE TEST FOUND SATIS L/G LGCIU 1 FAULT</a:t>
                      </a:r>
                      <a:br>
                        <a:rPr lang="en-US" sz="1100" b="0" i="0" u="none" strike="noStrike" dirty="0">
                          <a:solidFill>
                            <a:srgbClr val="000000"/>
                          </a:solidFill>
                          <a:effectLst/>
                          <a:latin typeface="Calibri" panose="020F0502020204030204" pitchFamily="34" charset="0"/>
                        </a:rPr>
                      </a:b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32-31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Calibri" panose="020F0502020204030204" pitchFamily="34" charset="0"/>
                        </a:rPr>
                        <a:t>Hỏng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hóc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liên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quan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đến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prox</a:t>
                      </a:r>
                      <a:r>
                        <a:rPr lang="en-US" sz="1100" b="0" i="0" u="none" strike="noStrike" dirty="0">
                          <a:solidFill>
                            <a:srgbClr val="000000"/>
                          </a:solidFill>
                          <a:effectLst/>
                          <a:latin typeface="Calibri" panose="020F0502020204030204" pitchFamily="34" charset="0"/>
                        </a:rPr>
                        <a:t> sensor. </a:t>
                      </a:r>
                      <a:r>
                        <a:rPr lang="en-US" sz="1100" b="0" i="0" u="none" strike="noStrike" dirty="0" err="1">
                          <a:solidFill>
                            <a:srgbClr val="000000"/>
                          </a:solidFill>
                          <a:effectLst/>
                          <a:latin typeface="Calibri" panose="020F0502020204030204" pitchFamily="34" charset="0"/>
                        </a:rPr>
                        <a:t>Giải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pháp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triệt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để</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nâng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cấp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theo</a:t>
                      </a:r>
                      <a:r>
                        <a:rPr lang="en-US" sz="1100" b="0" i="0" u="none" strike="noStrike" dirty="0">
                          <a:solidFill>
                            <a:srgbClr val="000000"/>
                          </a:solidFill>
                          <a:effectLst/>
                          <a:latin typeface="Calibri" panose="020F0502020204030204" pitchFamily="34" charset="0"/>
                        </a:rPr>
                        <a:t> SB 32-1496.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Vaeco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vẫn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đang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tiếp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tục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xếp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lịch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để</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triển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khai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thực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Dự</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kiến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hoàn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thành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trong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năm</a:t>
                      </a:r>
                      <a:r>
                        <a:rPr lang="en-US" sz="1100" b="0" i="0" u="none" strike="noStrike" dirty="0">
                          <a:solidFill>
                            <a:srgbClr val="000000"/>
                          </a:solidFill>
                          <a:effectLst/>
                          <a:latin typeface="Calibri" panose="020F0502020204030204" pitchFamily="34" charset="0"/>
                        </a:rPr>
                        <a:t> nay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3223236"/>
                  </a:ext>
                </a:extLst>
              </a:tr>
            </a:tbl>
          </a:graphicData>
        </a:graphic>
      </p:graphicFrame>
    </p:spTree>
    <p:extLst>
      <p:ext uri="{BB962C8B-B14F-4D97-AF65-F5344CB8AC3E}">
        <p14:creationId xmlns:p14="http://schemas.microsoft.com/office/powerpoint/2010/main" val="3716471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10</a:t>
            </a:r>
          </a:p>
        </p:txBody>
      </p:sp>
      <p:sp>
        <p:nvSpPr>
          <p:cNvPr id="9" name="TextBox 8">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nvPr>
        </p:nvGraphicFramePr>
        <p:xfrm>
          <a:off x="116182" y="1521019"/>
          <a:ext cx="11853157" cy="4195509"/>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76400">
                  <a:extLst>
                    <a:ext uri="{9D8B030D-6E8A-4147-A177-3AD203B41FA5}">
                      <a16:colId xmlns:a16="http://schemas.microsoft.com/office/drawing/2014/main" val="2573721533"/>
                    </a:ext>
                  </a:extLst>
                </a:gridCol>
                <a:gridCol w="2667000">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1666479">
                <a:tc>
                  <a:txBody>
                    <a:bodyPr/>
                    <a:lstStyle/>
                    <a:p>
                      <a:pPr algn="l" fontAlgn="b"/>
                      <a:r>
                        <a:rPr lang="en-US" sz="1100" b="0" i="0" u="none" strike="noStrike">
                          <a:solidFill>
                            <a:srgbClr val="000000"/>
                          </a:solidFill>
                          <a:effectLst/>
                          <a:latin typeface="Calibri" panose="020F0502020204030204" pitchFamily="34" charset="0"/>
                        </a:rPr>
                        <a:t>A353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09:40 04/06/2025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1100" b="0" i="0" u="none" strike="noStrike" kern="1200" dirty="0">
                          <a:solidFill>
                            <a:srgbClr val="000000"/>
                          </a:solidFill>
                          <a:effectLst/>
                          <a:latin typeface="Calibri" panose="020F0502020204030204" pitchFamily="34" charset="0"/>
                          <a:ea typeface="+mn-ea"/>
                          <a:cs typeface="+mn-cs"/>
                        </a:rPr>
                        <a:t>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VN532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HAN-PVG</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L/G SYS DISAGREE FAULT C/O WO7435252: WNG: L/G SYS disagree fault: L L/G door closed PROX SNSR 29GA TGT POS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C/o replaced SNSR 29GA, check </a:t>
                      </a:r>
                      <a:r>
                        <a:rPr lang="en-US" sz="1100" b="0" i="0" u="none" strike="noStrike" dirty="0" err="1">
                          <a:solidFill>
                            <a:srgbClr val="000000"/>
                          </a:solidFill>
                          <a:effectLst/>
                          <a:latin typeface="Calibri" panose="020F0502020204030204" pitchFamily="34" charset="0"/>
                        </a:rPr>
                        <a:t>satis</a:t>
                      </a:r>
                      <a:r>
                        <a:rPr lang="en-US" sz="1100" b="0" i="0" u="none" strike="noStrike" dirty="0">
                          <a:solidFill>
                            <a:srgbClr val="000000"/>
                          </a:solidFill>
                          <a:effectLst/>
                          <a:latin typeface="Calibri" panose="020F0502020204030204" pitchFamily="34" charset="0"/>
                        </a:rPr>
                        <a: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-Appeared MSG: Auto Flt </a:t>
                      </a:r>
                      <a:r>
                        <a:rPr lang="en-US" sz="1100" b="0" i="0" u="none" strike="noStrike" dirty="0" err="1">
                          <a:solidFill>
                            <a:srgbClr val="000000"/>
                          </a:solidFill>
                          <a:effectLst/>
                          <a:latin typeface="Calibri" panose="020F0502020204030204" pitchFamily="34" charset="0"/>
                        </a:rPr>
                        <a:t>Rud</a:t>
                      </a:r>
                      <a:r>
                        <a:rPr lang="en-US" sz="1100" b="0" i="0" u="none" strike="noStrike" dirty="0">
                          <a:solidFill>
                            <a:srgbClr val="000000"/>
                          </a:solidFill>
                          <a:effectLst/>
                          <a:latin typeface="Calibri" panose="020F0502020204030204" pitchFamily="34" charset="0"/>
                        </a:rPr>
                        <a:t> trim sys fault; reset; </a:t>
                      </a:r>
                      <a:r>
                        <a:rPr lang="en-US" sz="1100" b="0" i="0" u="none" strike="noStrike" dirty="0" err="1">
                          <a:solidFill>
                            <a:srgbClr val="000000"/>
                          </a:solidFill>
                          <a:effectLst/>
                          <a:latin typeface="Calibri" panose="020F0502020204030204" pitchFamily="34" charset="0"/>
                        </a:rPr>
                        <a:t>Rud</a:t>
                      </a:r>
                      <a:r>
                        <a:rPr lang="en-US" sz="1100" b="0" i="0" u="none" strike="noStrike" dirty="0">
                          <a:solidFill>
                            <a:srgbClr val="000000"/>
                          </a:solidFill>
                          <a:effectLst/>
                          <a:latin typeface="Calibri" panose="020F0502020204030204" pitchFamily="34" charset="0"/>
                        </a:rPr>
                        <a:t> Trim sys #1 fault; applied MEL. ACTION EVENT CLOSED  L/G SYS DISAGREE FAULT</a:t>
                      </a:r>
                      <a:br>
                        <a:rPr lang="en-US" sz="1100" b="0" i="0" u="none" strike="noStrike" dirty="0">
                          <a:solidFill>
                            <a:srgbClr val="000000"/>
                          </a:solidFill>
                          <a:effectLst/>
                          <a:latin typeface="Calibri" panose="020F0502020204030204" pitchFamily="34" charset="0"/>
                        </a:rPr>
                      </a:b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32-00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Calibri" panose="020F0502020204030204" pitchFamily="34" charset="0"/>
                        </a:rPr>
                        <a:t>Hỏng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hóc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liên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quan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đến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prox</a:t>
                      </a:r>
                      <a:r>
                        <a:rPr lang="en-US" sz="1100" b="0" i="0" u="none" strike="noStrike" dirty="0">
                          <a:solidFill>
                            <a:srgbClr val="000000"/>
                          </a:solidFill>
                          <a:effectLst/>
                          <a:latin typeface="Calibri" panose="020F0502020204030204" pitchFamily="34" charset="0"/>
                        </a:rPr>
                        <a:t> sensor. </a:t>
                      </a:r>
                      <a:r>
                        <a:rPr lang="en-US" sz="1100" b="0" i="0" u="none" strike="noStrike" dirty="0" err="1">
                          <a:solidFill>
                            <a:srgbClr val="000000"/>
                          </a:solidFill>
                          <a:effectLst/>
                          <a:latin typeface="Calibri" panose="020F0502020204030204" pitchFamily="34" charset="0"/>
                        </a:rPr>
                        <a:t>Giải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pháp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triệt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để</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nâng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cấp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theo</a:t>
                      </a:r>
                      <a:r>
                        <a:rPr lang="en-US" sz="1100" b="0" i="0" u="none" strike="noStrike" dirty="0">
                          <a:solidFill>
                            <a:srgbClr val="000000"/>
                          </a:solidFill>
                          <a:effectLst/>
                          <a:latin typeface="Calibri" panose="020F0502020204030204" pitchFamily="34" charset="0"/>
                        </a:rPr>
                        <a:t> SB 32-1496.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Vaeco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vẫn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đang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tiếp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tục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xếp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lịch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để</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triển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khai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thực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Dự</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kiến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hoàn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thành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trong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năm</a:t>
                      </a:r>
                      <a:r>
                        <a:rPr lang="en-US" sz="1100" b="0" i="0" u="none" strike="noStrike" dirty="0">
                          <a:solidFill>
                            <a:srgbClr val="000000"/>
                          </a:solidFill>
                          <a:effectLst/>
                          <a:latin typeface="Calibri" panose="020F0502020204030204" pitchFamily="34" charset="0"/>
                        </a:rPr>
                        <a:t> nay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r h="515354">
                <a:tc>
                  <a:txBody>
                    <a:bodyPr/>
                    <a:lstStyle/>
                    <a:p>
                      <a:pPr algn="l" fontAlgn="b"/>
                      <a:r>
                        <a:rPr lang="en-US" sz="1100" b="0" i="0" u="none" strike="noStrike">
                          <a:solidFill>
                            <a:srgbClr val="000000"/>
                          </a:solidFill>
                          <a:effectLst/>
                          <a:latin typeface="Calibri" panose="020F0502020204030204" pitchFamily="34" charset="0"/>
                        </a:rPr>
                        <a:t>A326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06:40 04/06/2025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KHH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1100" b="0" i="0" u="none" strike="noStrike" kern="1200" dirty="0">
                          <a:solidFill>
                            <a:srgbClr val="000000"/>
                          </a:solidFill>
                          <a:effectLst/>
                          <a:latin typeface="Calibri" panose="020F0502020204030204" pitchFamily="34" charset="0"/>
                          <a:ea typeface="+mn-ea"/>
                          <a:cs typeface="+mn-cs"/>
                        </a:rPr>
                        <a:t>118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VN581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KHH-SGN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ENG#2 START FAULT VN581 KHH-SGN ON GROUND TURN BACK DUE TO ENG#2 START FAULT, ENG 2 EGT OVERLIMIT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EVENT CLOSED LOCAL TECH CONFIRM HEAVY RAIN. C/O AMM 77-21-43-350-801- A EGT HARNESS DRY-OUT PROCEDURE. ERU BY CAPT SATIS VN581 KHH-SGN ON GROUND TURN BACK DUE TO ENG#2 START FAULT, ENG 2 EGT OVERLIMITENG#2 START FAULT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&amp;#160;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77-21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Động cơ V16523 có TSN/CSN = 25725/18477; TSO/CSO = 2380/1885. Động cơ mới lắp lên T8/2024, các thông số trên ADEM không có gì bất thường. Nguyên nhân hỏng hóc là do ở KHH có mưa to, nước mưa ngấm vào EGT Harness dẫn đến tín hiệu chập chờn gây báo giả. Sau khi sấy khô Harness thì nổ máy bình thường, không còn message. Việc EGT Harness bị ngấm nước gây báo giả là lỗi phổ biến trên dòng động cơ V2500. P&amp;W chưa có giải pháp khắc phục hiện tượng này. Hiện nay chỉ có giải pháp tạm thời theo TI-2025-1001 yêu cầu thợ máy sấy khô Harness, tập trung tại vị trí 6H và các điểm nối với Thermocouple, trước chuyến bay đầu ngày trong những ngày trời mưa, để hạn chế báo giả.</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3223236"/>
                  </a:ext>
                </a:extLst>
              </a:tr>
            </a:tbl>
          </a:graphicData>
        </a:graphic>
      </p:graphicFrame>
    </p:spTree>
    <p:extLst>
      <p:ext uri="{BB962C8B-B14F-4D97-AF65-F5344CB8AC3E}">
        <p14:creationId xmlns:p14="http://schemas.microsoft.com/office/powerpoint/2010/main" val="11259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10</a:t>
            </a:r>
          </a:p>
        </p:txBody>
      </p:sp>
      <p:sp>
        <p:nvSpPr>
          <p:cNvPr id="9" name="TextBox 8">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nvPr>
        </p:nvGraphicFramePr>
        <p:xfrm>
          <a:off x="116182" y="1521019"/>
          <a:ext cx="11853157" cy="3702510"/>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76400">
                  <a:extLst>
                    <a:ext uri="{9D8B030D-6E8A-4147-A177-3AD203B41FA5}">
                      <a16:colId xmlns:a16="http://schemas.microsoft.com/office/drawing/2014/main" val="2573721533"/>
                    </a:ext>
                  </a:extLst>
                </a:gridCol>
                <a:gridCol w="2667000">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1666479">
                <a:tc>
                  <a:txBody>
                    <a:bodyPr/>
                    <a:lstStyle/>
                    <a:p>
                      <a:pPr algn="l" fontAlgn="b"/>
                      <a:r>
                        <a:rPr lang="en-US" sz="1100" b="0" i="0" u="none" strike="noStrike">
                          <a:solidFill>
                            <a:srgbClr val="000000"/>
                          </a:solidFill>
                          <a:effectLst/>
                          <a:latin typeface="Calibri" panose="020F0502020204030204" pitchFamily="34" charset="0"/>
                        </a:rPr>
                        <a:t>A512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07:20 08/06/2025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defTabSz="914400" rtl="0" eaLnBrk="1" fontAlgn="b" latinLnBrk="0" hangingPunct="1"/>
                      <a:r>
                        <a:rPr lang="en-US" sz="1100" b="0" i="0" u="none" strike="noStrike" kern="1200" dirty="0">
                          <a:solidFill>
                            <a:srgbClr val="000000"/>
                          </a:solidFill>
                          <a:effectLst/>
                          <a:latin typeface="Calibri" panose="020F0502020204030204" pitchFamily="34" charset="0"/>
                          <a:ea typeface="+mn-ea"/>
                          <a:cs typeface="+mn-cs"/>
                        </a:rPr>
                        <a:t>80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VN1404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SGN-VDH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A512 GTB/MOR ENG 1 FADEC SYS FAULT AFTER START ENG CAPT INFORM VIA VHF MSG ENG 1 FADEC SYS FAULT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TSV ADVISED RESET NIL HELP. CAPT DECIDED A/C RETURN TO GATE 74.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- 07:15 AFTER START ENG CAPT INFORM VIA VHF MSG ENG 1 FADEC SYS FAULT. TSV ADVISED RESET NIL HELP. CAPT DECIDED A/C RETURN TO GATE.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- 07:30 VIAGS KÉO TÀU VÀO BÃI 74, TSV TIẾP CẬN A/C</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- 07:45 TSV C/O RESET, XIN NỔ MÁY CHECK TẠI BÃI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- 08:20 TSV C/O RESET &amp;amp; E.R.U CHECK BUT MSG STILL APPEAR. BÁO AOG ĐỔI TÀU.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- 08:50 OCC ĐỔI LỊCH A507 BAY VN1404/NETD 10:00 THAY A512</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- 09:00 MCC BỔ SUNG WO ROB N2 SENSOR A509 CHO A512</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- 11:00 FINAL ACTION: C/O REPLACED ENG#1 N2 SENSOR &amp;amp; C/O E.R.U CHECK SATIS. A/C SERVICEABLE.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TIME LINE (LOCAL TIME)  TOTAL DELAY 177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Động cơ số #1 tàu A512 ESN: P771703 có TSN/ CSN = 7939.07 FH / 5620 FC, TSLSV/CSLSV = 2306.2 FH /1295 FC Động cơ xuất hiện cảnh báo ECAM message ENG 1 FADEC SYS FAULT kèm Fault Message N2 SPEED SNSR FAIL sau khi khởi động động cơ, tổ bay quyết định quay lại để kiểm tra kỹ thuật. Hỏng hcos được khắc phục sau khi thay khối N2 Speed Sensor. Khối tháo xuống P/N: 5315145, S/N: LCWKAK8980 có TSN/CSN = 7939.07 FH / 5620 FC.</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Theo thống kê độ tin cậy, từ 2018 - nay khối N2 Speed Sensor thay 03 lần (2020: 01, 2022: 02), có ngưỡng MTBUR = 118,077 FH. Hiện tại PW và AIB không có khuyến cáo và cải tiến kỹ thuật nào liên quan đến khối N2 Sensor. Tiếp tục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bl>
          </a:graphicData>
        </a:graphic>
      </p:graphicFrame>
    </p:spTree>
    <p:extLst>
      <p:ext uri="{BB962C8B-B14F-4D97-AF65-F5344CB8AC3E}">
        <p14:creationId xmlns:p14="http://schemas.microsoft.com/office/powerpoint/2010/main" val="3684284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10</a:t>
            </a:r>
          </a:p>
        </p:txBody>
      </p:sp>
      <p:sp>
        <p:nvSpPr>
          <p:cNvPr id="9" name="TextBox 8">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nvPr>
        </p:nvGraphicFramePr>
        <p:xfrm>
          <a:off x="116182" y="1521019"/>
          <a:ext cx="11853157" cy="3692589"/>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76400">
                  <a:extLst>
                    <a:ext uri="{9D8B030D-6E8A-4147-A177-3AD203B41FA5}">
                      <a16:colId xmlns:a16="http://schemas.microsoft.com/office/drawing/2014/main" val="2573721533"/>
                    </a:ext>
                  </a:extLst>
                </a:gridCol>
                <a:gridCol w="2667000">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1666479">
                <a:tc>
                  <a:txBody>
                    <a:bodyPr/>
                    <a:lstStyle/>
                    <a:p>
                      <a:pPr algn="l" fontAlgn="b"/>
                      <a:r>
                        <a:rPr lang="en-US" sz="1100" b="0" i="0" u="none" strike="noStrike" dirty="0">
                          <a:solidFill>
                            <a:srgbClr val="000000"/>
                          </a:solidFill>
                          <a:effectLst/>
                          <a:latin typeface="Calibri" panose="020F0502020204030204" pitchFamily="34" charset="0"/>
                        </a:rPr>
                        <a:t>A332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08:30 08/06/2025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16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601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SGN-BKK</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N1 OF ENG 1&amp;2 REACH NEAR 100% DURING TAKE OFF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08:30 CRS BÁO CAPT REPORT N1 OF ENG 1;2 REACH NEAR 100% DURING TAKE OFF. CHỜ TSV.&lt;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- 09:16 FINAL ACTION: C/O CHECK PFR ; AMM TASK FOUND ENG PARAMETER IN LIMIT. A/C SERVICEABLE.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- 09:19 DOOR CLOSED&lt;/p&gt; TIMELINE (LOCAL TIME) EVENT CLOSED TOTAL DELAY 19 MINS. TECH DELAY 16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71-00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Cả 2 động cơ V16380 và V15826 đều mới đai tu về, các thông số trên ADEM không có gì bất thường. Tiếp tục theo dõi thêm.</a:t>
                      </a: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4419669"/>
                  </a:ext>
                </a:extLst>
              </a:tr>
              <a:tr h="1666479">
                <a:tc>
                  <a:txBody>
                    <a:bodyPr/>
                    <a:lstStyle/>
                    <a:p>
                      <a:pPr algn="l" fontAlgn="b"/>
                      <a:r>
                        <a:rPr lang="en-US" sz="1100" b="0" i="0" u="none" strike="noStrike" dirty="0">
                          <a:solidFill>
                            <a:srgbClr val="000000"/>
                          </a:solidFill>
                          <a:effectLst/>
                          <a:latin typeface="Calibri" panose="020F0502020204030204" pitchFamily="34" charset="0"/>
                        </a:rPr>
                        <a:t>A603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07:40 06/06/2025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KHH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VN587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KHH-HAN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MSG AIR PACK#2 OVHT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EVENT CLOSED</a:t>
                      </a:r>
                    </a:p>
                    <a:p>
                      <a:pPr algn="l" fontAlgn="b"/>
                      <a:r>
                        <a:rPr lang="en-US" sz="1100" b="0" i="0" u="none" strike="noStrike" dirty="0">
                          <a:solidFill>
                            <a:srgbClr val="000000"/>
                          </a:solidFill>
                          <a:effectLst/>
                          <a:latin typeface="Calibri" panose="020F0502020204030204" pitchFamily="34" charset="0"/>
                        </a:rPr>
                        <a:t>C/O RAISED ADD PACK#2 INOP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Calibri" panose="020F0502020204030204" pitchFamily="34" charset="0"/>
                        </a:rPr>
                        <a:t>Phát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ANTI ICE TUBE DUCT OF ACM BLOW OUT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thay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một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số</a:t>
                      </a:r>
                      <a:r>
                        <a:rPr lang="en-US" sz="1100" b="0" i="0" u="none" strike="noStrike" dirty="0">
                          <a:solidFill>
                            <a:srgbClr val="000000"/>
                          </a:solidFill>
                          <a:effectLst/>
                          <a:latin typeface="Calibri" panose="020F0502020204030204" pitchFamily="34" charset="0"/>
                        </a:rPr>
                        <a:t> seal, </a:t>
                      </a:r>
                      <a:r>
                        <a:rPr lang="en-US" sz="1100" b="0" i="0" u="none" strike="noStrike" dirty="0" err="1">
                          <a:solidFill>
                            <a:srgbClr val="000000"/>
                          </a:solidFill>
                          <a:effectLst/>
                          <a:latin typeface="Calibri" panose="020F0502020204030204" pitchFamily="34" charset="0"/>
                        </a:rPr>
                        <a:t>đang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tiếp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tục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theo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dõi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thêm</a:t>
                      </a: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8083172"/>
                  </a:ext>
                </a:extLst>
              </a:tr>
            </a:tbl>
          </a:graphicData>
        </a:graphic>
      </p:graphicFrame>
    </p:spTree>
    <p:extLst>
      <p:ext uri="{BB962C8B-B14F-4D97-AF65-F5344CB8AC3E}">
        <p14:creationId xmlns:p14="http://schemas.microsoft.com/office/powerpoint/2010/main" val="588158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extLst/>
          </p:nvPr>
        </p:nvGraphicFramePr>
        <p:xfrm>
          <a:off x="134289" y="1519622"/>
          <a:ext cx="11688715" cy="1773389"/>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b"/>
                      <a:r>
                        <a:rPr lang="en-US" sz="1100" b="0" i="0" u="none" strike="noStrike">
                          <a:solidFill>
                            <a:srgbClr val="000000"/>
                          </a:solidFill>
                          <a:effectLst/>
                          <a:latin typeface="Calibri" panose="020F0502020204030204" pitchFamily="34" charset="0"/>
                        </a:rPr>
                        <a:t>A888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07:00 03/06/2025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09:15 04/06/2025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KIX</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MSG BRAKE CTL 2 + L/G CTL 2MSG BRAKE CTL 2; L/G CTL 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AFTER C/O M PROCEDURE TO APPLY MEL, MANY NO-GO MESG APPEAR ACTION EVENT CLOSED C/O REPLACED LDG CTL LEVER, TEST SATIS.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với FC 3230F7HB, hỏng hóc được khắc phục sau khi thay control level 5GA P/N 166TS11Y00.</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Đây là lần đầu tiên xuất hiện hỏng hóc này trên đội tàu bay A350 của VNA, Airbus và Operator khác cũng không có phản ánh nào về độ tin cậy của khối này. WW MTBUR = 304,016 &gt; GMTBUR = 124,032.</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Ngoài ra, hỏng hóc này có thể raise MEL với thiết bị tool giả lập. Nhưng đối tác không có đủ điều kiện về tool nên gặp khó khăn trong việc raise MEL cho tàu bay.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718691837"/>
              </p:ext>
            </p:extLst>
          </p:nvPr>
        </p:nvGraphicFramePr>
        <p:xfrm>
          <a:off x="134288" y="3276386"/>
          <a:ext cx="11688715" cy="2602683"/>
        </p:xfrm>
        <a:graphic>
          <a:graphicData uri="http://schemas.openxmlformats.org/drawingml/2006/table">
            <a:tbl>
              <a:tblPr/>
              <a:tblGrid>
                <a:gridCol w="475311">
                  <a:extLst>
                    <a:ext uri="{9D8B030D-6E8A-4147-A177-3AD203B41FA5}">
                      <a16:colId xmlns:a16="http://schemas.microsoft.com/office/drawing/2014/main" val="3331417112"/>
                    </a:ext>
                  </a:extLst>
                </a:gridCol>
                <a:gridCol w="807264">
                  <a:extLst>
                    <a:ext uri="{9D8B030D-6E8A-4147-A177-3AD203B41FA5}">
                      <a16:colId xmlns:a16="http://schemas.microsoft.com/office/drawing/2014/main" val="1462797498"/>
                    </a:ext>
                  </a:extLst>
                </a:gridCol>
                <a:gridCol w="955109">
                  <a:extLst>
                    <a:ext uri="{9D8B030D-6E8A-4147-A177-3AD203B41FA5}">
                      <a16:colId xmlns:a16="http://schemas.microsoft.com/office/drawing/2014/main" val="2750776277"/>
                    </a:ext>
                  </a:extLst>
                </a:gridCol>
                <a:gridCol w="371227">
                  <a:extLst>
                    <a:ext uri="{9D8B030D-6E8A-4147-A177-3AD203B41FA5}">
                      <a16:colId xmlns:a16="http://schemas.microsoft.com/office/drawing/2014/main" val="2820970193"/>
                    </a:ext>
                  </a:extLst>
                </a:gridCol>
                <a:gridCol w="1676400">
                  <a:extLst>
                    <a:ext uri="{9D8B030D-6E8A-4147-A177-3AD203B41FA5}">
                      <a16:colId xmlns:a16="http://schemas.microsoft.com/office/drawing/2014/main" val="4209220726"/>
                    </a:ext>
                  </a:extLst>
                </a:gridCol>
                <a:gridCol w="2743200">
                  <a:extLst>
                    <a:ext uri="{9D8B030D-6E8A-4147-A177-3AD203B41FA5}">
                      <a16:colId xmlns:a16="http://schemas.microsoft.com/office/drawing/2014/main" val="1857606285"/>
                    </a:ext>
                  </a:extLst>
                </a:gridCol>
                <a:gridCol w="381000">
                  <a:extLst>
                    <a:ext uri="{9D8B030D-6E8A-4147-A177-3AD203B41FA5}">
                      <a16:colId xmlns:a16="http://schemas.microsoft.com/office/drawing/2014/main" val="12128489"/>
                    </a:ext>
                  </a:extLst>
                </a:gridCol>
                <a:gridCol w="4279204">
                  <a:extLst>
                    <a:ext uri="{9D8B030D-6E8A-4147-A177-3AD203B41FA5}">
                      <a16:colId xmlns:a16="http://schemas.microsoft.com/office/drawing/2014/main" val="2107187925"/>
                    </a:ext>
                  </a:extLst>
                </a:gridCol>
              </a:tblGrid>
              <a:tr h="2602683">
                <a:tc>
                  <a:txBody>
                    <a:bodyPr/>
                    <a:lstStyle/>
                    <a:p>
                      <a:pPr algn="l" fontAlgn="ctr"/>
                      <a:r>
                        <a:rPr lang="en-US" sz="1100" b="0" i="0" u="none" strike="noStrike" dirty="0">
                          <a:solidFill>
                            <a:srgbClr val="000000"/>
                          </a:solidFill>
                          <a:effectLst/>
                          <a:latin typeface="Calibri" panose="020F0502020204030204" pitchFamily="34" charset="0"/>
                        </a:rPr>
                        <a:t>A889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23:45 01/06/2025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04:45 03/06/2025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BOM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F/CTL ELEVATOR ACTUATOR AOG DUE TO DISPATCH MSG F/CTL ELEVATOR ACTUATOR.</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TSV SUPPORT LOCAL TECH RESET-NIL HELP.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Calibri" panose="020F0502020204030204" pitchFamily="34" charset="0"/>
                        </a:rPr>
                        <a:t> EVENT CLOSED Rpld EHA ACT and Test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FC: 2796F6UA,2796FACS EHA-R ELEVR(2CT2) / ELEK MODULE-EHA R ELEVR(402CT2) do EM trong TFU 27.00.00125. Hiện tại, Airbus và MOOG vẫn đang điều tra nguyên nhân. Analysis of in-service events highlighted 5 main signatures:</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No Refresh monitoring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- 1553 monitoring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Transducer Circuitry monitoring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RVDT/LVDT Disagree monitoring on EHA</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 Electronic Rigging monitoring on EHA (Not sanctioned on EBHA)</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Khối tháo trên tàu bay là khối gốc từ khi nhận tàu CSN=7865, TSN = 27619.</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Theo thống kê, các khối EHA/EBHA/EM có MTBUR = 54,476 đang cao hơn G-MTBUR = 15,316</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Đang tiếp tục làm việc với Airbus về hỏng hóc này.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2213080"/>
                  </a:ext>
                </a:extLst>
              </a:tr>
            </a:tbl>
          </a:graphicData>
        </a:graphic>
      </p:graphicFrame>
    </p:spTree>
    <p:extLst>
      <p:ext uri="{BB962C8B-B14F-4D97-AF65-F5344CB8AC3E}">
        <p14:creationId xmlns:p14="http://schemas.microsoft.com/office/powerpoint/2010/main" val="2897887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99EB258A-4954-BF7B-0806-D2A3C78E1DDD}"/>
              </a:ext>
            </a:extLst>
          </p:cNvPr>
          <p:cNvGraphicFramePr>
            <a:graphicFrameLocks noGrp="1"/>
          </p:cNvGraphicFramePr>
          <p:nvPr>
            <p:extLst/>
          </p:nvPr>
        </p:nvGraphicFramePr>
        <p:xfrm>
          <a:off x="174091" y="565155"/>
          <a:ext cx="11854120" cy="6143771"/>
        </p:xfrm>
        <a:graphic>
          <a:graphicData uri="http://schemas.openxmlformats.org/drawingml/2006/table">
            <a:tbl>
              <a:tblPr/>
              <a:tblGrid>
                <a:gridCol w="264135">
                  <a:extLst>
                    <a:ext uri="{9D8B030D-6E8A-4147-A177-3AD203B41FA5}">
                      <a16:colId xmlns:a16="http://schemas.microsoft.com/office/drawing/2014/main" val="4186916333"/>
                    </a:ext>
                  </a:extLst>
                </a:gridCol>
                <a:gridCol w="649432">
                  <a:extLst>
                    <a:ext uri="{9D8B030D-6E8A-4147-A177-3AD203B41FA5}">
                      <a16:colId xmlns:a16="http://schemas.microsoft.com/office/drawing/2014/main" val="3924496931"/>
                    </a:ext>
                  </a:extLst>
                </a:gridCol>
                <a:gridCol w="689396">
                  <a:extLst>
                    <a:ext uri="{9D8B030D-6E8A-4147-A177-3AD203B41FA5}">
                      <a16:colId xmlns:a16="http://schemas.microsoft.com/office/drawing/2014/main" val="3377862717"/>
                    </a:ext>
                  </a:extLst>
                </a:gridCol>
                <a:gridCol w="1408765">
                  <a:extLst>
                    <a:ext uri="{9D8B030D-6E8A-4147-A177-3AD203B41FA5}">
                      <a16:colId xmlns:a16="http://schemas.microsoft.com/office/drawing/2014/main" val="3893387634"/>
                    </a:ext>
                  </a:extLst>
                </a:gridCol>
                <a:gridCol w="1036776">
                  <a:extLst>
                    <a:ext uri="{9D8B030D-6E8A-4147-A177-3AD203B41FA5}">
                      <a16:colId xmlns:a16="http://schemas.microsoft.com/office/drawing/2014/main" val="709744923"/>
                    </a:ext>
                  </a:extLst>
                </a:gridCol>
                <a:gridCol w="1506655">
                  <a:extLst>
                    <a:ext uri="{9D8B030D-6E8A-4147-A177-3AD203B41FA5}">
                      <a16:colId xmlns:a16="http://schemas.microsoft.com/office/drawing/2014/main" val="3347079229"/>
                    </a:ext>
                  </a:extLst>
                </a:gridCol>
                <a:gridCol w="6298961">
                  <a:extLst>
                    <a:ext uri="{9D8B030D-6E8A-4147-A177-3AD203B41FA5}">
                      <a16:colId xmlns:a16="http://schemas.microsoft.com/office/drawing/2014/main" val="249982567"/>
                    </a:ext>
                  </a:extLst>
                </a:gridCol>
              </a:tblGrid>
              <a:tr h="205599">
                <a:tc>
                  <a:txBody>
                    <a:bodyPr/>
                    <a:lstStyle/>
                    <a:p>
                      <a:pPr algn="ctr" fontAlgn="ctr"/>
                      <a:r>
                        <a:rPr lang="en-US" sz="1300" b="0" i="0" u="none" strike="noStrike">
                          <a:solidFill>
                            <a:srgbClr val="000000"/>
                          </a:solidFill>
                          <a:effectLst/>
                          <a:latin typeface="Calibri" panose="020F0502020204030204" pitchFamily="34" charset="0"/>
                        </a:rPr>
                        <a:t>No</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9789694"/>
                  </a:ext>
                </a:extLst>
              </a:tr>
              <a:tr h="205599">
                <a:tc>
                  <a:txBody>
                    <a:bodyPr/>
                    <a:lstStyle/>
                    <a:p>
                      <a:pPr algn="ctr" fontAlgn="ctr"/>
                      <a:r>
                        <a:rPr lang="en-US" sz="1300" b="0" i="0" u="none" strike="noStrike">
                          <a:solidFill>
                            <a:srgbClr val="000000"/>
                          </a:solidFill>
                          <a:effectLst/>
                          <a:latin typeface="Calibri" panose="020F0502020204030204" pitchFamily="34" charset="0"/>
                        </a:rPr>
                        <a:t>1</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3605764"/>
                  </a:ext>
                </a:extLst>
              </a:tr>
              <a:tr h="408799">
                <a:tc>
                  <a:txBody>
                    <a:bodyPr/>
                    <a:lstStyle/>
                    <a:p>
                      <a:pPr algn="ctr" fontAlgn="ctr"/>
                      <a:r>
                        <a:rPr lang="en-US" sz="1300" b="0" i="0" u="none" strike="noStrike">
                          <a:solidFill>
                            <a:srgbClr val="000000"/>
                          </a:solidFill>
                          <a:effectLst/>
                          <a:latin typeface="Calibri" panose="020F0502020204030204" pitchFamily="34" charset="0"/>
                        </a:rPr>
                        <a:t>2</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2. ADD B1246 RAISED AIR PACK 2 REGUL REDUNDANCY</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2440216"/>
                  </a:ext>
                </a:extLst>
              </a:tr>
              <a:tr h="1221599">
                <a:tc>
                  <a:txBody>
                    <a:bodyPr/>
                    <a:lstStyle/>
                    <a:p>
                      <a:pPr algn="ctr" fontAlgn="ctr"/>
                      <a:r>
                        <a:rPr lang="en-US" sz="1300" b="0" i="0" u="none" strike="noStrike">
                          <a:solidFill>
                            <a:srgbClr val="000000"/>
                          </a:solidFill>
                          <a:effectLst/>
                          <a:latin typeface="Calibri" panose="020F0502020204030204" pitchFamily="34" charset="0"/>
                        </a:rPr>
                        <a:t>3</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 FC: 7321F7FB/7321F3WV intm appeare during take off phasse -&gt; Ref Afi A350-A-79-31-XX-09001-421A-A Low Oil Quantity Alert: no maint action require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TR 81601748: PREVENTIVE RECOMMENDATION: HIGH TEMPERATURE YELLOW RESERVOIR</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9651339"/>
                  </a:ext>
                </a:extLst>
              </a:tr>
              <a:tr h="1030185">
                <a:tc>
                  <a:txBody>
                    <a:bodyPr/>
                    <a:lstStyle/>
                    <a:p>
                      <a:pPr algn="ctr" fontAlgn="ctr"/>
                      <a:r>
                        <a:rPr lang="en-US" sz="1300" b="0" i="0" u="none" strike="noStrike">
                          <a:solidFill>
                            <a:srgbClr val="000000"/>
                          </a:solidFill>
                          <a:effectLst/>
                          <a:latin typeface="Calibri" panose="020F0502020204030204" pitchFamily="34" charset="0"/>
                        </a:rPr>
                        <a:t>4</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800FH/100FC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 FC: 7321FAZT/7321FEJ9 intm appeare during take off phasse -&gt; Ref Afi A350-A-79-31-XX-09001-421A-A Low Oil Quantity Alert: no maint action require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DM A-ICE L+R STBY STATIC PROBE HEATG =&gt; monitor thêm</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ADD B1274 RAISED XPDR # 02 FAULT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8994844"/>
                  </a:ext>
                </a:extLst>
              </a:tr>
              <a:tr h="205599">
                <a:tc>
                  <a:txBody>
                    <a:bodyPr/>
                    <a:lstStyle/>
                    <a:p>
                      <a:pPr algn="ctr" fontAlgn="ctr"/>
                      <a:r>
                        <a:rPr lang="en-US" sz="1300" b="0" i="0" u="none" strike="noStrike">
                          <a:solidFill>
                            <a:srgbClr val="000000"/>
                          </a:solidFill>
                          <a:effectLst/>
                          <a:latin typeface="Calibri" panose="020F0502020204030204" pitchFamily="34" charset="0"/>
                        </a:rPr>
                        <a:t>5</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TR 81489576: PREVENTIVE RECOMMENDATION PACK 2 INTERNAL LEAKAGE</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2442318"/>
                  </a:ext>
                </a:extLst>
              </a:tr>
              <a:tr h="205599">
                <a:tc>
                  <a:txBody>
                    <a:bodyPr/>
                    <a:lstStyle/>
                    <a:p>
                      <a:pPr algn="ctr" fontAlgn="ctr"/>
                      <a:r>
                        <a:rPr lang="en-US" sz="1300" b="0" i="0" u="none" strike="noStrike">
                          <a:solidFill>
                            <a:srgbClr val="000000"/>
                          </a:solidFill>
                          <a:effectLst/>
                          <a:latin typeface="Calibri" panose="020F0502020204030204" pitchFamily="34" charset="0"/>
                        </a:rPr>
                        <a:t>6</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81570626 PREVENTIVE RECOMMENDATION PACK 2 INTERNAL LEAKAGE</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3617229"/>
                  </a:ext>
                </a:extLst>
              </a:tr>
              <a:tr h="408799">
                <a:tc>
                  <a:txBody>
                    <a:bodyPr/>
                    <a:lstStyle/>
                    <a:p>
                      <a:pPr algn="ctr" fontAlgn="ctr"/>
                      <a:r>
                        <a:rPr lang="en-US" sz="1300" b="0" i="0" u="none" strike="noStrike">
                          <a:solidFill>
                            <a:srgbClr val="000000"/>
                          </a:solidFill>
                          <a:effectLst/>
                          <a:latin typeface="Calibri" panose="020F0502020204030204" pitchFamily="34" charset="0"/>
                        </a:rPr>
                        <a:t>7</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ENGINE: #2/21368 ON AIRCRAFT VN-A892: P25 MEASUREMENT ERROR</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3. ADD B1566 RAISED AIR PACK 2 REGUL REDUNANCY</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1770932"/>
                  </a:ext>
                </a:extLst>
              </a:tr>
              <a:tr h="205599">
                <a:tc>
                  <a:txBody>
                    <a:bodyPr/>
                    <a:lstStyle/>
                    <a:p>
                      <a:pPr algn="ctr" fontAlgn="ctr"/>
                      <a:r>
                        <a:rPr lang="en-US" sz="1300" b="0" i="0" u="none" strike="noStrike">
                          <a:solidFill>
                            <a:srgbClr val="000000"/>
                          </a:solidFill>
                          <a:effectLst/>
                          <a:latin typeface="Calibri" panose="020F0502020204030204" pitchFamily="34" charset="0"/>
                        </a:rPr>
                        <a:t>8</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C1191 RAISED CHILLER AT AFT CREWREST INOP</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9016313"/>
                  </a:ext>
                </a:extLst>
              </a:tr>
              <a:tr h="205599">
                <a:tc>
                  <a:txBody>
                    <a:bodyPr/>
                    <a:lstStyle/>
                    <a:p>
                      <a:pPr algn="ctr" fontAlgn="ctr"/>
                      <a:r>
                        <a:rPr lang="en-US" sz="1300" b="0" i="0" u="none" strike="noStrike">
                          <a:solidFill>
                            <a:srgbClr val="000000"/>
                          </a:solidFill>
                          <a:effectLst/>
                          <a:latin typeface="Calibri" panose="020F0502020204030204" pitchFamily="34" charset="0"/>
                        </a:rPr>
                        <a:t>9</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2. ADD B1053 RAISED ENG 1 SINGLE FIRE LOOP</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4375961"/>
                  </a:ext>
                </a:extLst>
              </a:tr>
              <a:tr h="205599">
                <a:tc>
                  <a:txBody>
                    <a:bodyPr/>
                    <a:lstStyle/>
                    <a:p>
                      <a:pPr algn="ctr" fontAlgn="ctr"/>
                      <a:r>
                        <a:rPr lang="en-US" sz="1300" b="0" i="0" u="none" strike="noStrike">
                          <a:solidFill>
                            <a:srgbClr val="000000"/>
                          </a:solidFill>
                          <a:effectLst/>
                          <a:latin typeface="Calibri" panose="020F0502020204030204" pitchFamily="34" charset="0"/>
                        </a:rPr>
                        <a:t>10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6092325"/>
                  </a:ext>
                </a:extLst>
              </a:tr>
              <a:tr h="205599">
                <a:tc>
                  <a:txBody>
                    <a:bodyPr/>
                    <a:lstStyle/>
                    <a:p>
                      <a:pPr algn="ctr" fontAlgn="ctr"/>
                      <a:r>
                        <a:rPr lang="en-US" sz="1300" b="0" i="0" u="none" strike="noStrike">
                          <a:solidFill>
                            <a:srgbClr val="000000"/>
                          </a:solidFill>
                          <a:effectLst/>
                          <a:latin typeface="Calibri" panose="020F0502020204030204" pitchFamily="34" charset="0"/>
                        </a:rPr>
                        <a:t>11</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TR 81416394: PREVENTIVE RECOMMENDATION PACK 1 INTERNAL LEAKAGE</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4991020"/>
                  </a:ext>
                </a:extLst>
              </a:tr>
              <a:tr h="408799">
                <a:tc>
                  <a:txBody>
                    <a:bodyPr/>
                    <a:lstStyle/>
                    <a:p>
                      <a:pPr algn="ctr" fontAlgn="ctr"/>
                      <a:r>
                        <a:rPr lang="en-US" sz="1300" b="0" i="0" u="none" strike="noStrike">
                          <a:solidFill>
                            <a:srgbClr val="000000"/>
                          </a:solidFill>
                          <a:effectLst/>
                          <a:latin typeface="Calibri" panose="020F0502020204030204" pitchFamily="34" charset="0"/>
                        </a:rPr>
                        <a:t>12</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014523"/>
                  </a:ext>
                </a:extLst>
              </a:tr>
              <a:tr h="815199">
                <a:tc>
                  <a:txBody>
                    <a:bodyPr/>
                    <a:lstStyle/>
                    <a:p>
                      <a:pPr algn="ctr" fontAlgn="ctr"/>
                      <a:r>
                        <a:rPr lang="en-US" sz="1300" b="0" i="0" u="none" strike="noStrike">
                          <a:solidFill>
                            <a:srgbClr val="000000"/>
                          </a:solidFill>
                          <a:effectLst/>
                          <a:latin typeface="Calibri" panose="020F0502020204030204" pitchFamily="34" charset="0"/>
                        </a:rPr>
                        <a:t>13</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giảm tần suất soi HPT blade 800FH/100FC, giảm tần suất soi IPC blade root 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C552 RAISED AIR CHILLER SYS AT ALL GALLEY INOP</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ENGINE: #1/21422 ON AIRCRAFT VN-A898: P25 MEASUREMENT ERROR</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214272"/>
                  </a:ext>
                </a:extLst>
              </a:tr>
              <a:tr h="205599">
                <a:tc>
                  <a:txBody>
                    <a:bodyPr/>
                    <a:lstStyle/>
                    <a:p>
                      <a:pPr algn="ctr" fontAlgn="ctr"/>
                      <a:r>
                        <a:rPr lang="en-US" sz="1300" b="0" i="0" u="none" strike="noStrike">
                          <a:solidFill>
                            <a:srgbClr val="000000"/>
                          </a:solidFill>
                          <a:effectLst/>
                          <a:latin typeface="Calibri" panose="020F0502020204030204" pitchFamily="34" charset="0"/>
                        </a:rPr>
                        <a:t>14</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A350</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399" marR="2399" marT="23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0030048"/>
                  </a:ext>
                </a:extLst>
              </a:tr>
            </a:tbl>
          </a:graphicData>
        </a:graphic>
      </p:graphicFrame>
    </p:spTree>
    <p:extLst>
      <p:ext uri="{BB962C8B-B14F-4D97-AF65-F5344CB8AC3E}">
        <p14:creationId xmlns:p14="http://schemas.microsoft.com/office/powerpoint/2010/main" val="4054754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p>
        </p:txBody>
      </p:sp>
      <p:sp>
        <p:nvSpPr>
          <p:cNvPr id="9" name="TextBox 8">
            <a:extLst>
              <a:ext uri="{FF2B5EF4-FFF2-40B4-BE49-F238E27FC236}">
                <a16:creationId xmlns:a16="http://schemas.microsoft.com/office/drawing/2014/main" id="{E85879D9-9E99-36C1-1934-E35ADA9A733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nvPr>
        </p:nvGraphicFramePr>
        <p:xfrm>
          <a:off x="116182" y="1521019"/>
          <a:ext cx="11853157" cy="4921710"/>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691865">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34290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29777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a:solidFill>
                            <a:srgbClr val="000000"/>
                          </a:solidFill>
                          <a:effectLst/>
                          <a:latin typeface="Calibri" panose="020F0502020204030204" pitchFamily="34" charset="0"/>
                        </a:rPr>
                        <a:t>A871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08:00 03/06/2025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VN51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SGN-LHR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T/X CHECK FOUND ACM L INOP, CAC L2 INOP T/X CHECK FOUND ACM L INOP, CAC L2 INOP. A/C HAS ADD B2317 “CAC L2 INOP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000" b="0" i="0" u="none" strike="noStrike" dirty="0">
                          <a:solidFill>
                            <a:srgbClr val="000000"/>
                          </a:solidFill>
                          <a:effectLst/>
                          <a:latin typeface="Calibri" panose="020F0502020204030204" pitchFamily="34" charset="0"/>
                        </a:rPr>
                        <a:t>07:00: TÀU ĐÁP VÀO BÃI 35,</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- 08:00: CRS BÁO TÀU ĐANG CÓ ACM L INOP, CAC L2 INOP (ĐÃ CÓ ADD B2317). TỔ BAY KHÔNG GHI SỔ , CRS CHECK AND FOUND OVER TORQUE.</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- 08:00: BÁO MCC VÀ TSV HỖ TRỢ</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- 08:41: TSV ADVICE MỞ MEL CHO PACK L INOP</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- 09:00: MCC BÁO LẠI , MOC QUYẾT ĐỊNH CHO DỪNG TÀU THAY ACM L</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- 09:30: A/C CHANGED A863/SGN-LHR/VN51/ NEW ETD: 14:30</a:t>
                      </a:r>
                      <a:r>
                        <a:rPr lang="en-US" sz="1000" b="0" i="0" u="none" strike="noStrike" dirty="0">
                          <a:solidFill>
                            <a:srgbClr val="000000"/>
                          </a:solidFill>
                          <a:effectLst/>
                          <a:latin typeface="Calibri" panose="020F0502020204030204" pitchFamily="34" charset="0"/>
                        </a:rPr>
                        <a:t> </a:t>
                      </a:r>
                      <a:r>
                        <a:rPr lang="vi-VN" sz="1000" b="0" i="0" u="none" strike="noStrike" dirty="0">
                          <a:solidFill>
                            <a:srgbClr val="000000"/>
                          </a:solidFill>
                          <a:effectLst/>
                          <a:latin typeface="Calibri" panose="020F0502020204030204" pitchFamily="34" charset="0"/>
                        </a:rPr>
                        <a:t>;INSTEAD OF A871</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- 10:00; TÀU KÉO VỀ HG#4 L-2 ĐỂ KHẮC PHỤC HỎNG HÓC</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- 11:15: ĐÃ THỰC HIỆN THÁO ACM XUỐNG VÀ ĐANG SWAP KHÍ TÀI &amp;#160;QUA ACM MỚI. TÀU CÓ KH KÉO 13:00 LÊN BAY /SGN-HAN/VN248/STD: 15:00</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- 14:00: ĐANG HOÀN THIỆN LẮP ACM LÊN SAU ĐÓ CHECK LEAK</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- 15:00: LẮP XONG ACM VÀ CHECK LEAK . PHÁT HIỆN VẪN LEAK , CRS ĐANG KIỂM TRA LAI CÁC ĐƯỜNG NỐI</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- 15:30: BÁO TÀU SER</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FINAL ACTION: C/O RPLD ACM AND LEAK CHECK SATIS A/C SERVICEABLE T/X CHECK FOUND ACM L INOP, CAC L2 INOP (LOCAL TIME) EVENT CLOSED FINAL ACTION: C/O RPLD ACM AND LEAK CHECK SATIS A/C SERVICEABLE DUE TO A871 HAS MSG: : T/X CHECK FOUND ACM L INOP, CAC L2 INOP. A/C HAS ADD B2317 “CAC L2 INOP .A/C NEED TOWING HANGAR TO RPL ACM L</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 A863 FLT SGN-LHR/VN51/NETD: 14:35 INSTEAD OF A871ACM L INOP, CAC L2 INOP</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A/C TOTAL DELAY: 238mins, TECH:35mins &amp;#160;A/C ARRIVE LATE: 160minsDUE TO A871 C/O WO RPLD AMC PACK L</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A/C CHANGE NETD : 17:10</a:t>
                      </a:r>
                      <a:br>
                        <a:rPr lang="vi-VN" sz="1000" b="0" i="0" u="none" strike="noStrike" dirty="0">
                          <a:solidFill>
                            <a:srgbClr val="000000"/>
                          </a:solidFill>
                          <a:effectLst/>
                          <a:latin typeface="Calibri" panose="020F0502020204030204" pitchFamily="34" charset="0"/>
                        </a:rPr>
                      </a:br>
                      <a:r>
                        <a:rPr lang="vi-VN" sz="1000" b="0" i="0" u="none" strike="noStrike" dirty="0">
                          <a:solidFill>
                            <a:srgbClr val="000000"/>
                          </a:solidFill>
                          <a:effectLst/>
                          <a:latin typeface="Calibri" panose="020F0502020204030204" pitchFamily="34" charset="0"/>
                        </a:rPr>
                        <a:t>A/C TOTAL DELAY: 130MINS, TECH: 0MINS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21-00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Tàu thực hiện thay 03 ACM trong thời gian ngắn (10May, 28May, 03 Jun). </a:t>
                      </a:r>
                    </a:p>
                    <a:p>
                      <a:pPr algn="l" fontAlgn="b"/>
                      <a:r>
                        <a:rPr lang="vi-VN" sz="1100" b="0" i="0" u="none" strike="noStrike" dirty="0">
                          <a:solidFill>
                            <a:srgbClr val="000000"/>
                          </a:solidFill>
                          <a:effectLst/>
                          <a:latin typeface="Calibri" panose="020F0502020204030204" pitchFamily="34" charset="0"/>
                        </a:rPr>
                        <a:t>Tàu chưa thực hiện ECV từ tháng 10/2024. Tàu có làm OOP Airofftest để xả nước từ ngày 06May25. </a:t>
                      </a:r>
                    </a:p>
                    <a:p>
                      <a:pPr algn="l" fontAlgn="b"/>
                      <a:r>
                        <a:rPr lang="vi-VN" sz="1100" b="0" i="0" u="none" strike="noStrike" dirty="0">
                          <a:solidFill>
                            <a:srgbClr val="000000"/>
                          </a:solidFill>
                          <a:effectLst/>
                          <a:latin typeface="Calibri" panose="020F0502020204030204" pitchFamily="34" charset="0"/>
                        </a:rPr>
                        <a:t>Ngày 03June, tàu đã được làm mod ECV.</a:t>
                      </a:r>
                    </a:p>
                    <a:p>
                      <a:pPr algn="l" fontAlgn="b"/>
                      <a:r>
                        <a:rPr lang="vi-VN" sz="1100" b="0" i="0" u="none" strike="noStrike" dirty="0">
                          <a:solidFill>
                            <a:srgbClr val="000000"/>
                          </a:solidFill>
                          <a:effectLst/>
                          <a:latin typeface="Calibri" panose="020F0502020204030204" pitchFamily="34" charset="0"/>
                        </a:rPr>
                        <a:t>Khi thay ACM đều làm EO kiểm tra leak tại thời điểm thay và sau đó 1 tuần để khắc phục nếu có leak. </a:t>
                      </a:r>
                    </a:p>
                    <a:p>
                      <a:pPr algn="l" fontAlgn="b"/>
                      <a:r>
                        <a:rPr lang="vi-VN" sz="1100" b="0" i="0" u="none" strike="noStrike" dirty="0">
                          <a:solidFill>
                            <a:srgbClr val="000000"/>
                          </a:solidFill>
                          <a:effectLst/>
                          <a:latin typeface="Calibri" panose="020F0502020204030204" pitchFamily="34" charset="0"/>
                        </a:rPr>
                        <a:t>Tàu thực hiện EO tháo HX để rửa ngày 10May. Nghi ngờ có thể bị Leak khi lắp lại HX trong EO này. Do đó ngày 5June, HX đã được tháo ra kiểm tra và lắp lại. Đã mở BCS để yêu cầu BOE đánh giá về trường hợp này.</a:t>
                      </a: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3223236"/>
                  </a:ext>
                </a:extLst>
              </a:tr>
            </a:tbl>
          </a:graphicData>
        </a:graphic>
      </p:graphicFrame>
    </p:spTree>
    <p:extLst>
      <p:ext uri="{BB962C8B-B14F-4D97-AF65-F5344CB8AC3E}">
        <p14:creationId xmlns:p14="http://schemas.microsoft.com/office/powerpoint/2010/main" val="680837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18</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A7ADCE5F-E946-556C-1840-4DB61D17D426}"/>
              </a:ext>
            </a:extLst>
          </p:cNvPr>
          <p:cNvGraphicFramePr>
            <a:graphicFrameLocks noGrp="1"/>
          </p:cNvGraphicFramePr>
          <p:nvPr>
            <p:extLst/>
          </p:nvPr>
        </p:nvGraphicFramePr>
        <p:xfrm>
          <a:off x="163789" y="501463"/>
          <a:ext cx="11830731" cy="6289800"/>
        </p:xfrm>
        <a:graphic>
          <a:graphicData uri="http://schemas.openxmlformats.org/drawingml/2006/table">
            <a:tbl>
              <a:tblPr/>
              <a:tblGrid>
                <a:gridCol w="470591">
                  <a:extLst>
                    <a:ext uri="{9D8B030D-6E8A-4147-A177-3AD203B41FA5}">
                      <a16:colId xmlns:a16="http://schemas.microsoft.com/office/drawing/2014/main" val="141406292"/>
                    </a:ext>
                  </a:extLst>
                </a:gridCol>
                <a:gridCol w="674029">
                  <a:extLst>
                    <a:ext uri="{9D8B030D-6E8A-4147-A177-3AD203B41FA5}">
                      <a16:colId xmlns:a16="http://schemas.microsoft.com/office/drawing/2014/main" val="659887263"/>
                    </a:ext>
                  </a:extLst>
                </a:gridCol>
                <a:gridCol w="693855">
                  <a:extLst>
                    <a:ext uri="{9D8B030D-6E8A-4147-A177-3AD203B41FA5}">
                      <a16:colId xmlns:a16="http://schemas.microsoft.com/office/drawing/2014/main" val="3877890265"/>
                    </a:ext>
                  </a:extLst>
                </a:gridCol>
                <a:gridCol w="1268760">
                  <a:extLst>
                    <a:ext uri="{9D8B030D-6E8A-4147-A177-3AD203B41FA5}">
                      <a16:colId xmlns:a16="http://schemas.microsoft.com/office/drawing/2014/main" val="217338626"/>
                    </a:ext>
                  </a:extLst>
                </a:gridCol>
                <a:gridCol w="1189464">
                  <a:extLst>
                    <a:ext uri="{9D8B030D-6E8A-4147-A177-3AD203B41FA5}">
                      <a16:colId xmlns:a16="http://schemas.microsoft.com/office/drawing/2014/main" val="3938147295"/>
                    </a:ext>
                  </a:extLst>
                </a:gridCol>
                <a:gridCol w="1625600">
                  <a:extLst>
                    <a:ext uri="{9D8B030D-6E8A-4147-A177-3AD203B41FA5}">
                      <a16:colId xmlns:a16="http://schemas.microsoft.com/office/drawing/2014/main" val="1190084043"/>
                    </a:ext>
                  </a:extLst>
                </a:gridCol>
                <a:gridCol w="5908432">
                  <a:extLst>
                    <a:ext uri="{9D8B030D-6E8A-4147-A177-3AD203B41FA5}">
                      <a16:colId xmlns:a16="http://schemas.microsoft.com/office/drawing/2014/main" val="23589817"/>
                    </a:ext>
                  </a:extLst>
                </a:gridCol>
              </a:tblGrid>
              <a:tr h="207931">
                <a:tc>
                  <a:txBody>
                    <a:bodyPr/>
                    <a:lstStyle/>
                    <a:p>
                      <a:pPr algn="ctr" fontAlgn="ctr"/>
                      <a:r>
                        <a:rPr lang="en-US" sz="1300" b="0" i="0" u="none" strike="noStrike">
                          <a:solidFill>
                            <a:srgbClr val="000000"/>
                          </a:solidFill>
                          <a:effectLst/>
                          <a:latin typeface="Calibri" panose="020F0502020204030204" pitchFamily="34" charset="0"/>
                        </a:rPr>
                        <a:t>No</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1301988"/>
                  </a:ext>
                </a:extLst>
              </a:tr>
              <a:tr h="411131">
                <a:tc>
                  <a:txBody>
                    <a:bodyPr/>
                    <a:lstStyle/>
                    <a:p>
                      <a:pPr algn="ctr" fontAlgn="ctr"/>
                      <a:r>
                        <a:rPr lang="en-US" sz="1300" b="0" i="0" u="none" strike="noStrike">
                          <a:solidFill>
                            <a:srgbClr val="000000"/>
                          </a:solidFill>
                          <a:effectLst/>
                          <a:latin typeface="Calibri" panose="020F0502020204030204" pitchFamily="34" charset="0"/>
                        </a:rPr>
                        <a:t>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B1584 NITROGEN GENERATION SYS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B1586 TAIL STRIKE CHANNEL 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6290513"/>
                  </a:ext>
                </a:extLst>
              </a:tr>
              <a:tr h="411131">
                <a:tc>
                  <a:txBody>
                    <a:bodyPr/>
                    <a:lstStyle/>
                    <a:p>
                      <a:pPr algn="ctr" fontAlgn="ctr"/>
                      <a:r>
                        <a:rPr lang="en-US" sz="1300" b="0" i="0" u="none" strike="noStrike">
                          <a:solidFill>
                            <a:srgbClr val="000000"/>
                          </a:solidFill>
                          <a:effectLst/>
                          <a:latin typeface="Calibri" panose="020F0502020204030204" pitchFamily="34" charset="0"/>
                        </a:rPr>
                        <a:t>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B1370 RAM FAN PRIMARY L</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B1372 CABIN AIR CPRSR R1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5771137"/>
                  </a:ext>
                </a:extLst>
              </a:tr>
              <a:tr h="817531">
                <a:tc>
                  <a:txBody>
                    <a:bodyPr/>
                    <a:lstStyle/>
                    <a:p>
                      <a:pPr algn="ctr" fontAlgn="ctr"/>
                      <a:r>
                        <a:rPr lang="en-US" sz="1300" b="0" i="0" u="none" strike="noStrike">
                          <a:solidFill>
                            <a:srgbClr val="000000"/>
                          </a:solidFill>
                          <a:effectLst/>
                          <a:latin typeface="Calibri" panose="020F0502020204030204" pitchFamily="34" charset="0"/>
                        </a:rPr>
                        <a:t>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B1668 TAIL AIRFLOW SYS</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B1724 CAC R1</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B1725 ELEC  ENGINE STARTER L2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023332"/>
                  </a:ext>
                </a:extLst>
              </a:tr>
              <a:tr h="411131">
                <a:tc>
                  <a:txBody>
                    <a:bodyPr/>
                    <a:lstStyle/>
                    <a:p>
                      <a:pPr algn="ctr" fontAlgn="ctr"/>
                      <a:r>
                        <a:rPr lang="en-US" sz="1300" b="0" i="0" u="none" strike="noStrike">
                          <a:solidFill>
                            <a:srgbClr val="000000"/>
                          </a:solidFill>
                          <a:effectLst/>
                          <a:latin typeface="Calibri" panose="020F0502020204030204" pitchFamily="34" charset="0"/>
                        </a:rPr>
                        <a:t>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B1264 AFT CARGO HANDLING SYSTEM IN/OUT IN CENTER LOADING PDU INOP</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B1287 INTEGRATED COOLING SYSTEM DEACTIVATED</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3694375"/>
                  </a:ext>
                </a:extLst>
              </a:tr>
              <a:tr h="207931">
                <a:tc>
                  <a:txBody>
                    <a:bodyPr/>
                    <a:lstStyle/>
                    <a:p>
                      <a:pPr algn="ctr" fontAlgn="ctr"/>
                      <a:r>
                        <a:rPr lang="en-US" sz="1300" b="0" i="0" u="none" strike="noStrike">
                          <a:solidFill>
                            <a:srgbClr val="000000"/>
                          </a:solidFill>
                          <a:effectLst/>
                          <a:latin typeface="Calibri" panose="020F0502020204030204" pitchFamily="34" charset="0"/>
                        </a:rPr>
                        <a:t>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1801815"/>
                  </a:ext>
                </a:extLst>
              </a:tr>
              <a:tr h="411131">
                <a:tc>
                  <a:txBody>
                    <a:bodyPr/>
                    <a:lstStyle/>
                    <a:p>
                      <a:pPr algn="ctr" fontAlgn="ctr"/>
                      <a:r>
                        <a:rPr lang="en-US" sz="1300" b="0" i="0" u="none" strike="noStrike">
                          <a:solidFill>
                            <a:srgbClr val="000000"/>
                          </a:solidFill>
                          <a:effectLst/>
                          <a:latin typeface="Calibri" panose="020F0502020204030204" pitchFamily="34" charset="0"/>
                        </a:rPr>
                        <a:t>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3631054"/>
                  </a:ext>
                </a:extLst>
              </a:tr>
              <a:tr h="411131">
                <a:tc>
                  <a:txBody>
                    <a:bodyPr/>
                    <a:lstStyle/>
                    <a:p>
                      <a:pPr algn="ctr" fontAlgn="ctr"/>
                      <a:r>
                        <a:rPr lang="en-US" sz="1300" b="0" i="0" u="none" strike="noStrike">
                          <a:solidFill>
                            <a:srgbClr val="000000"/>
                          </a:solidFill>
                          <a:effectLst/>
                          <a:latin typeface="Calibri" panose="020F0502020204030204" pitchFamily="34" charset="0"/>
                        </a:rPr>
                        <a:t>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5189163"/>
                  </a:ext>
                </a:extLst>
              </a:tr>
              <a:tr h="207931">
                <a:tc>
                  <a:txBody>
                    <a:bodyPr/>
                    <a:lstStyle/>
                    <a:p>
                      <a:pPr algn="ctr" fontAlgn="ctr"/>
                      <a:r>
                        <a:rPr lang="en-US" sz="1300" b="0" i="0" u="none" strike="noStrike">
                          <a:solidFill>
                            <a:srgbClr val="000000"/>
                          </a:solidFill>
                          <a:effectLst/>
                          <a:latin typeface="Calibri" panose="020F0502020204030204" pitchFamily="34" charset="0"/>
                        </a:rPr>
                        <a:t>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2010351"/>
                  </a:ext>
                </a:extLst>
              </a:tr>
              <a:tr h="411131">
                <a:tc>
                  <a:txBody>
                    <a:bodyPr/>
                    <a:lstStyle/>
                    <a:p>
                      <a:pPr algn="ctr" fontAlgn="ctr"/>
                      <a:r>
                        <a:rPr lang="en-US" sz="1300" b="0" i="0" u="none" strike="noStrike">
                          <a:solidFill>
                            <a:srgbClr val="000000"/>
                          </a:solidFill>
                          <a:effectLst/>
                          <a:latin typeface="Calibri" panose="020F0502020204030204" pitchFamily="34" charset="0"/>
                        </a:rPr>
                        <a:t>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Đang định kỳ</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3858582"/>
                  </a:ext>
                </a:extLst>
              </a:tr>
              <a:tr h="207931">
                <a:tc>
                  <a:txBody>
                    <a:bodyPr/>
                    <a:lstStyle/>
                    <a:p>
                      <a:pPr algn="ctr" fontAlgn="ctr"/>
                      <a:r>
                        <a:rPr lang="en-US" sz="1300" b="0" i="0" u="none" strike="noStrike">
                          <a:solidFill>
                            <a:srgbClr val="000000"/>
                          </a:solidFill>
                          <a:effectLst/>
                          <a:latin typeface="Calibri" panose="020F0502020204030204" pitchFamily="34" charset="0"/>
                        </a:rPr>
                        <a:t>10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3556557"/>
                  </a:ext>
                </a:extLst>
              </a:tr>
              <a:tr h="614331">
                <a:tc>
                  <a:txBody>
                    <a:bodyPr/>
                    <a:lstStyle/>
                    <a:p>
                      <a:pPr algn="ctr" fontAlgn="ctr"/>
                      <a:r>
                        <a:rPr lang="en-US" sz="1300" b="0" i="0" u="none" strike="noStrike">
                          <a:solidFill>
                            <a:srgbClr val="000000"/>
                          </a:solidFill>
                          <a:effectLst/>
                          <a:latin typeface="Calibri" panose="020F0502020204030204" pitchFamily="34" charset="0"/>
                        </a:rPr>
                        <a:t>11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B2317 CABIN AIR CPRSR L2</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B2315 INTEGRATED COOLING LEAK</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B2315 INTEGRATED CLG RECIRC AIR</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7930277"/>
                  </a:ext>
                </a:extLst>
              </a:tr>
              <a:tr h="207931">
                <a:tc>
                  <a:txBody>
                    <a:bodyPr/>
                    <a:lstStyle/>
                    <a:p>
                      <a:pPr algn="ctr" fontAlgn="ctr"/>
                      <a:r>
                        <a:rPr lang="en-US" sz="1300" b="0" i="0" u="none" strike="noStrike">
                          <a:solidFill>
                            <a:srgbClr val="000000"/>
                          </a:solidFill>
                          <a:effectLst/>
                          <a:latin typeface="Calibri" panose="020F0502020204030204" pitchFamily="34" charset="0"/>
                        </a:rPr>
                        <a:t>12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046854"/>
                  </a:ext>
                </a:extLst>
              </a:tr>
              <a:tr h="292940">
                <a:tc>
                  <a:txBody>
                    <a:bodyPr/>
                    <a:lstStyle/>
                    <a:p>
                      <a:pPr algn="ctr" fontAlgn="ctr"/>
                      <a:r>
                        <a:rPr lang="en-US" sz="1300" b="0" i="0" u="none" strike="noStrike">
                          <a:solidFill>
                            <a:srgbClr val="000000"/>
                          </a:solidFill>
                          <a:effectLst/>
                          <a:latin typeface="Calibri" panose="020F0502020204030204" pitchFamily="34" charset="0"/>
                        </a:rPr>
                        <a:t>13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B540 : 50 CYCS REPEATED INSPECTION INTERVAL ON ENG#1 S/N 958435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4988151"/>
                  </a:ext>
                </a:extLst>
              </a:tr>
              <a:tr h="231564">
                <a:tc>
                  <a:txBody>
                    <a:bodyPr/>
                    <a:lstStyle/>
                    <a:p>
                      <a:pPr algn="ctr" fontAlgn="ctr"/>
                      <a:r>
                        <a:rPr lang="en-US" sz="1300" b="0" i="0" u="none" strike="noStrike">
                          <a:solidFill>
                            <a:srgbClr val="000000"/>
                          </a:solidFill>
                          <a:effectLst/>
                          <a:latin typeface="Calibri" panose="020F0502020204030204" pitchFamily="34" charset="0"/>
                        </a:rPr>
                        <a:t>14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2278283"/>
                  </a:ext>
                </a:extLst>
              </a:tr>
              <a:tr h="207931">
                <a:tc>
                  <a:txBody>
                    <a:bodyPr/>
                    <a:lstStyle/>
                    <a:p>
                      <a:pPr algn="ctr" fontAlgn="ctr"/>
                      <a:r>
                        <a:rPr lang="en-US" sz="1300" b="0" i="0" u="none" strike="noStrike">
                          <a:solidFill>
                            <a:srgbClr val="000000"/>
                          </a:solidFill>
                          <a:effectLst/>
                          <a:latin typeface="Calibri" panose="020F0502020204030204" pitchFamily="34" charset="0"/>
                        </a:rPr>
                        <a:t>15</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B066 WING ANTI-ICE ZONE</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1171059"/>
                  </a:ext>
                </a:extLst>
              </a:tr>
              <a:tr h="207931">
                <a:tc>
                  <a:txBody>
                    <a:bodyPr/>
                    <a:lstStyle/>
                    <a:p>
                      <a:pPr algn="ctr" fontAlgn="ctr"/>
                      <a:r>
                        <a:rPr lang="en-US" sz="1300" b="0" i="0" u="none" strike="noStrike">
                          <a:solidFill>
                            <a:srgbClr val="000000"/>
                          </a:solidFill>
                          <a:effectLst/>
                          <a:latin typeface="Calibri" panose="020F0502020204030204" pitchFamily="34" charset="0"/>
                        </a:rPr>
                        <a:t>16</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4056351"/>
                  </a:ext>
                </a:extLst>
              </a:tr>
              <a:tr h="411131">
                <a:tc>
                  <a:txBody>
                    <a:bodyPr/>
                    <a:lstStyle/>
                    <a:p>
                      <a:pPr algn="ctr" fontAlgn="ctr"/>
                      <a:r>
                        <a:rPr lang="en-US" sz="1300" b="0" i="0" u="none" strike="noStrike">
                          <a:solidFill>
                            <a:srgbClr val="000000"/>
                          </a:solidFill>
                          <a:effectLst/>
                          <a:latin typeface="Calibri" panose="020F0502020204030204" pitchFamily="34" charset="0"/>
                        </a:rPr>
                        <a:t>17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4731" marR="4731" marT="4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2951752"/>
                  </a:ext>
                </a:extLst>
              </a:tr>
            </a:tbl>
          </a:graphicData>
        </a:graphic>
      </p:graphicFrame>
    </p:spTree>
    <p:extLst>
      <p:ext uri="{BB962C8B-B14F-4D97-AF65-F5344CB8AC3E}">
        <p14:creationId xmlns:p14="http://schemas.microsoft.com/office/powerpoint/2010/main" val="4123912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01</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extLst/>
          </p:nvPr>
        </p:nvGraphicFramePr>
        <p:xfrm>
          <a:off x="134289" y="1519622"/>
          <a:ext cx="11688715" cy="1773389"/>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1401491">
                <a:tc>
                  <a:txBody>
                    <a:bodyPr/>
                    <a:lstStyle/>
                    <a:p>
                      <a:pPr algn="l" fontAlgn="b"/>
                      <a:r>
                        <a:rPr lang="en-US" sz="1100" b="0" i="0" u="none" strike="noStrike">
                          <a:solidFill>
                            <a:srgbClr val="000000"/>
                          </a:solidFill>
                          <a:effectLst/>
                          <a:latin typeface="Calibri" panose="020F0502020204030204" pitchFamily="34" charset="0"/>
                        </a:rPr>
                        <a:t>B218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r>
                        <a:rPr lang="en-US" sz="1100" b="0" i="0" u="none" strike="noStrike">
                          <a:solidFill>
                            <a:srgbClr val="000000"/>
                          </a:solidFill>
                          <a:effectLst/>
                          <a:latin typeface="Calibri" panose="020F0502020204030204" pitchFamily="34" charset="0"/>
                        </a:rPr>
                        <a:t>8/6/25 14:30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CAPT REPORT COCKPIT NOISY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smtClean="0">
                          <a:solidFill>
                            <a:srgbClr val="000000"/>
                          </a:solidFill>
                          <a:effectLst/>
                          <a:latin typeface="Calibri" panose="020F0502020204030204" pitchFamily="34" charset="0"/>
                        </a:rPr>
                        <a:t>-14:30 </a:t>
                      </a:r>
                      <a:r>
                        <a:rPr lang="en-US" sz="1100" b="0" i="0" u="none" strike="noStrike" dirty="0">
                          <a:solidFill>
                            <a:srgbClr val="000000"/>
                          </a:solidFill>
                          <a:effectLst/>
                          <a:latin typeface="Calibri" panose="020F0502020204030204" pitchFamily="34" charset="0"/>
                        </a:rPr>
                        <a:t>CRS BÁO CAPT REPORT COCKPIT NOISY </a:t>
                      </a:r>
                      <a:r>
                        <a:rPr lang="en-US" sz="1100" b="0" i="0" u="none" strike="noStrike" dirty="0" smtClean="0">
                          <a:solidFill>
                            <a:srgbClr val="000000"/>
                          </a:solidFill>
                          <a:effectLst/>
                          <a:latin typeface="Calibri" panose="020F0502020204030204" pitchFamily="34" charset="0"/>
                        </a:rPr>
                        <a:t>&amp;</a:t>
                      </a:r>
                      <a:r>
                        <a:rPr lang="en-US" sz="1100" b="0" i="0" u="none" strike="noStrike" baseline="0" dirty="0" smtClean="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CAPT </a:t>
                      </a:r>
                      <a:r>
                        <a:rPr lang="en-US" sz="1100" b="0" i="0" u="none" strike="noStrike" dirty="0">
                          <a:solidFill>
                            <a:srgbClr val="000000"/>
                          </a:solidFill>
                          <a:effectLst/>
                          <a:latin typeface="Calibri" panose="020F0502020204030204" pitchFamily="34" charset="0"/>
                        </a:rPr>
                        <a:t>WIPER CAN NOT COMPLETELY CLEAR THE </a:t>
                      </a:r>
                      <a:r>
                        <a:rPr lang="en-US" sz="1100" b="0" i="0" u="none" strike="noStrike" dirty="0" smtClean="0">
                          <a:solidFill>
                            <a:srgbClr val="000000"/>
                          </a:solidFill>
                          <a:effectLst/>
                          <a:latin typeface="Calibri" panose="020F0502020204030204" pitchFamily="34" charset="0"/>
                        </a:rPr>
                        <a:t>WATER</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- 14:50 CRS BÁO TÀU CẦN KÉO VỀ TĂNG ÁP KIỂM TRA COCKPIT. BÁO </a:t>
                      </a:r>
                      <a:r>
                        <a:rPr lang="en-US" sz="1100" b="0" i="0" u="none" strike="noStrike" dirty="0" smtClean="0">
                          <a:solidFill>
                            <a:srgbClr val="000000"/>
                          </a:solidFill>
                          <a:effectLst/>
                          <a:latin typeface="Calibri" panose="020F0502020204030204" pitchFamily="34" charset="0"/>
                        </a:rPr>
                        <a:t>AOG.</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- 15:40 TÀU KÉO VỀ </a:t>
                      </a:r>
                      <a:r>
                        <a:rPr lang="en-US" sz="1100" b="0" i="0" u="none" strike="noStrike" dirty="0" smtClean="0">
                          <a:solidFill>
                            <a:srgbClr val="000000"/>
                          </a:solidFill>
                          <a:effectLst/>
                          <a:latin typeface="Calibri" panose="020F0502020204030204" pitchFamily="34" charset="0"/>
                        </a:rPr>
                        <a:t>HG1</a:t>
                      </a:r>
                      <a:r>
                        <a:rPr lang="en-US" sz="1100" b="0" i="0" u="none" strike="noStrike" baseline="0" dirty="0" smtClean="0">
                          <a:solidFill>
                            <a:srgbClr val="000000"/>
                          </a:solidFill>
                          <a:effectLst/>
                          <a:latin typeface="Calibri" panose="020F0502020204030204" pitchFamily="34" charset="0"/>
                        </a:rPr>
                        <a:t> </a:t>
                      </a:r>
                      <a:r>
                        <a:rPr lang="en-US" sz="1100" b="0" i="0" u="none" strike="noStrike" dirty="0" smtClean="0">
                          <a:solidFill>
                            <a:srgbClr val="000000"/>
                          </a:solidFill>
                          <a:effectLst/>
                          <a:latin typeface="Calibri" panose="020F0502020204030204" pitchFamily="34" charset="0"/>
                        </a:rPr>
                        <a:t>(</a:t>
                      </a:r>
                      <a:r>
                        <a:rPr lang="en-US" sz="1100" b="0" i="0" u="none" strike="noStrike" dirty="0">
                          <a:solidFill>
                            <a:srgbClr val="000000"/>
                          </a:solidFill>
                          <a:effectLst/>
                          <a:latin typeface="Calibri" panose="020F0502020204030204" pitchFamily="34" charset="0"/>
                        </a:rPr>
                        <a:t>LOCAL TIME)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đang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trong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quá</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trình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khắc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phục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sẽ</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theo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dõi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cập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nhật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đánh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giá</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sau</a:t>
                      </a:r>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spTree>
    <p:extLst>
      <p:ext uri="{BB962C8B-B14F-4D97-AF65-F5344CB8AC3E}">
        <p14:creationId xmlns:p14="http://schemas.microsoft.com/office/powerpoint/2010/main" val="3044973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28" name="Text 17">
            <a:extLst>
              <a:ext uri="{FF2B5EF4-FFF2-40B4-BE49-F238E27FC236}">
                <a16:creationId xmlns:a16="http://schemas.microsoft.com/office/drawing/2014/main" id="{6DBB0EFA-AED9-8DA1-9E61-2F1D9ED4919D}"/>
              </a:ext>
            </a:extLst>
          </p:cNvPr>
          <p:cNvSpPr/>
          <p:nvPr/>
        </p:nvSpPr>
        <p:spPr>
          <a:xfrm>
            <a:off x="7059345" y="4684379"/>
            <a:ext cx="3974420" cy="812566"/>
          </a:xfrm>
          <a:prstGeom prst="rect">
            <a:avLst/>
          </a:prstGeom>
          <a:noFill/>
          <a:ln/>
        </p:spPr>
        <p:txBody>
          <a:bodyPr wrap="square" lIns="0" tIns="0" rIns="0" bIns="0" rtlCol="0" anchor="t"/>
          <a:lstStyle/>
          <a:p>
            <a:pPr>
              <a:lnSpc>
                <a:spcPts val="2125"/>
              </a:lnSpc>
            </a:pPr>
            <a:endParaRPr lang="vi-VN" sz="1400">
              <a:solidFill>
                <a:srgbClr val="15213F"/>
              </a:solidFill>
              <a:latin typeface="Times New Roman" panose="02020603050405020304" pitchFamily="18" charset="0"/>
              <a:ea typeface="Roboto" pitchFamily="34" charset="-122"/>
              <a:cs typeface="Times New Roman" panose="02020603050405020304" pitchFamily="18" charset="0"/>
            </a:endParaRPr>
          </a:p>
        </p:txBody>
      </p:sp>
      <p:sp>
        <p:nvSpPr>
          <p:cNvPr id="31" name="Rectangle 30">
            <a:extLst>
              <a:ext uri="{FF2B5EF4-FFF2-40B4-BE49-F238E27FC236}">
                <a16:creationId xmlns:a16="http://schemas.microsoft.com/office/drawing/2014/main" id="{C49FCEEA-048E-DB4B-991E-CFCB3CAABC6F}"/>
              </a:ext>
            </a:extLst>
          </p:cNvPr>
          <p:cNvSpPr/>
          <p:nvPr/>
        </p:nvSpPr>
        <p:spPr>
          <a:xfrm>
            <a:off x="5867400" y="3048000"/>
            <a:ext cx="5013965" cy="954107"/>
          </a:xfrm>
          <a:prstGeom prst="rect">
            <a:avLst/>
          </a:prstGeom>
        </p:spPr>
        <p:txBody>
          <a:bodyPr wrap="square">
            <a:spAutoFit/>
          </a:bodyPr>
          <a:lstStyle/>
          <a:p>
            <a:pPr algn="just">
              <a:buClrTx/>
              <a:buFontTx/>
              <a:buNone/>
            </a:pPr>
            <a:r>
              <a:rPr lang="en-US" sz="1600" b="1" dirty="0" smtClean="0">
                <a:solidFill>
                  <a:prstClr val="black"/>
                </a:solidFill>
                <a:latin typeface="Times New Roman" panose="02020603050405020304" pitchFamily="18" charset="0"/>
                <a:cs typeface="Times New Roman" panose="02020603050405020304" pitchFamily="18" charset="0"/>
              </a:rPr>
              <a:t>2. </a:t>
            </a:r>
            <a:r>
              <a:rPr lang="en-US" sz="1600" b="1" dirty="0">
                <a:solidFill>
                  <a:prstClr val="black"/>
                </a:solidFill>
                <a:latin typeface="Times New Roman" panose="02020603050405020304" pitchFamily="18" charset="0"/>
                <a:cs typeface="Times New Roman" panose="02020603050405020304" pitchFamily="18" charset="0"/>
              </a:rPr>
              <a:t>Fleet B787: </a:t>
            </a:r>
          </a:p>
          <a:p>
            <a:pPr marL="380990" indent="-380990" algn="just">
              <a:buFontTx/>
              <a:buChar char="-"/>
            </a:pPr>
            <a:r>
              <a:rPr lang="vi-VN" sz="1200" dirty="0">
                <a:solidFill>
                  <a:prstClr val="black"/>
                </a:solidFill>
                <a:cs typeface="Times New Roman" panose="02020603050405020304" pitchFamily="18" charset="0"/>
              </a:rPr>
              <a:t>Tình hình kỹ thuật đội bay </a:t>
            </a:r>
            <a:r>
              <a:rPr lang="en-US" sz="1200" dirty="0">
                <a:solidFill>
                  <a:prstClr val="black"/>
                </a:solidFill>
                <a:latin typeface="Times New Roman" panose="02020603050405020304" pitchFamily="18" charset="0"/>
                <a:cs typeface="Times New Roman" panose="02020603050405020304" pitchFamily="18" charset="0"/>
              </a:rPr>
              <a:t>B787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tuần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tốt</a:t>
            </a:r>
            <a:r>
              <a:rPr lang="en-US" sz="1200"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en-US" sz="1200" dirty="0" err="1">
                <a:solidFill>
                  <a:prstClr val="black"/>
                </a:solidFill>
                <a:latin typeface="Times New Roman" panose="02020603050405020304" pitchFamily="18" charset="0"/>
                <a:cs typeface="Times New Roman" panose="02020603050405020304" pitchFamily="18" charset="0"/>
              </a:rPr>
              <a:t>Hỏng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hóc</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nổi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cộm</a:t>
            </a:r>
            <a:r>
              <a:rPr lang="en-US" sz="1200" dirty="0">
                <a:solidFill>
                  <a:prstClr val="black"/>
                </a:solidFill>
                <a:latin typeface="Times New Roman" panose="02020603050405020304" pitchFamily="18" charset="0"/>
                <a:cs typeface="Times New Roman" panose="02020603050405020304" pitchFamily="18" charset="0"/>
              </a:rPr>
              <a:t>: </a:t>
            </a:r>
          </a:p>
          <a:p>
            <a:pPr marL="609585" lvl="1" algn="just"/>
            <a:r>
              <a:rPr lang="en-SG" sz="1200" dirty="0">
                <a:solidFill>
                  <a:prstClr val="black"/>
                </a:solidFill>
                <a:latin typeface="Times New Roman" panose="02020603050405020304" pitchFamily="18" charset="0"/>
                <a:cs typeface="Times New Roman" panose="02020603050405020304" pitchFamily="18" charset="0"/>
              </a:rPr>
              <a:t>+ </a:t>
            </a:r>
            <a:r>
              <a:rPr lang="en-US" sz="1200" dirty="0" smtClean="0">
                <a:solidFill>
                  <a:prstClr val="black"/>
                </a:solidFill>
                <a:latin typeface="Times New Roman" panose="02020603050405020304" pitchFamily="18" charset="0"/>
                <a:cs typeface="Times New Roman" panose="02020603050405020304" pitchFamily="18" charset="0"/>
              </a:rPr>
              <a:t>NIL</a:t>
            </a:r>
            <a:r>
              <a:rPr lang="en-US" sz="1600" dirty="0" smtClean="0">
                <a:solidFill>
                  <a:prstClr val="black"/>
                </a:solidFill>
                <a:latin typeface="Times New Roman" panose="02020603050405020304" pitchFamily="18" charset="0"/>
                <a:cs typeface="Times New Roman" panose="02020603050405020304" pitchFamily="18" charset="0"/>
              </a:rPr>
              <a:t> </a:t>
            </a:r>
            <a:endParaRPr lang="en-US" sz="1600" dirty="0">
              <a:solidFill>
                <a:prstClr val="black"/>
              </a:solidFill>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5914447B-A879-4C97-AD62-7AFABAF9410A}"/>
              </a:ext>
            </a:extLst>
          </p:cNvPr>
          <p:cNvSpPr/>
          <p:nvPr/>
        </p:nvSpPr>
        <p:spPr>
          <a:xfrm>
            <a:off x="382699" y="905530"/>
            <a:ext cx="10056701" cy="1538883"/>
          </a:xfrm>
          <a:prstGeom prst="rect">
            <a:avLst/>
          </a:prstGeom>
        </p:spPr>
        <p:txBody>
          <a:bodyPr wrap="square">
            <a:spAutoFit/>
          </a:bodyPr>
          <a:lstStyle/>
          <a:p>
            <a:pPr algn="just">
              <a:buClrTx/>
              <a:buFontTx/>
              <a:buNone/>
            </a:pPr>
            <a:r>
              <a:rPr lang="en-US" sz="1300" b="1" dirty="0" smtClean="0">
                <a:solidFill>
                  <a:prstClr val="black"/>
                </a:solidFill>
                <a:latin typeface="Times New Roman" panose="02020603050405020304" pitchFamily="18" charset="0"/>
                <a:cs typeface="Times New Roman" panose="02020603050405020304" pitchFamily="18" charset="0"/>
              </a:rPr>
              <a:t>1. </a:t>
            </a:r>
            <a:r>
              <a:rPr lang="en-US" sz="1300" b="1" dirty="0">
                <a:solidFill>
                  <a:prstClr val="black"/>
                </a:solidFill>
                <a:latin typeface="Times New Roman" panose="02020603050405020304" pitchFamily="18" charset="0"/>
                <a:cs typeface="Times New Roman" panose="02020603050405020304" pitchFamily="18" charset="0"/>
              </a:rPr>
              <a:t>Fleet A321: </a:t>
            </a:r>
          </a:p>
          <a:p>
            <a:pPr algn="just">
              <a:buClrTx/>
            </a:pPr>
            <a:r>
              <a:rPr lang="vi-VN" sz="1300" dirty="0">
                <a:solidFill>
                  <a:prstClr val="black"/>
                </a:solidFill>
                <a:cs typeface="Times New Roman" panose="02020603050405020304" pitchFamily="18" charset="0"/>
              </a:rPr>
              <a:t>Trong tuần phát sinh 03 trường hợp GTB, trong đó có các hỏng hóc phổ biến của đội bay A321 (top OI)</a:t>
            </a:r>
            <a:r>
              <a:rPr lang="en-US" sz="1300" dirty="0">
                <a:solidFill>
                  <a:prstClr val="black"/>
                </a:solidFill>
                <a:cs typeface="Times New Roman" panose="02020603050405020304" pitchFamily="18" charset="0"/>
              </a:rPr>
              <a:t>:</a:t>
            </a:r>
            <a:endParaRPr lang="vi-VN" sz="1300" dirty="0">
              <a:solidFill>
                <a:prstClr val="black"/>
              </a:solidFill>
              <a:cs typeface="Times New Roman" panose="02020603050405020304" pitchFamily="18" charset="0"/>
            </a:endParaRPr>
          </a:p>
          <a:p>
            <a:pPr algn="just">
              <a:buClrTx/>
            </a:pPr>
            <a:r>
              <a:rPr lang="en-US" sz="1300" dirty="0">
                <a:solidFill>
                  <a:prstClr val="black"/>
                </a:solidFill>
                <a:cs typeface="Times New Roman" panose="02020603050405020304" pitchFamily="18" charset="0"/>
              </a:rPr>
              <a:t>    - </a:t>
            </a:r>
            <a:r>
              <a:rPr lang="vi-VN" sz="1300" dirty="0">
                <a:solidFill>
                  <a:prstClr val="black"/>
                </a:solidFill>
                <a:cs typeface="Times New Roman" panose="02020603050405020304" pitchFamily="18" charset="0"/>
              </a:rPr>
              <a:t>A326</a:t>
            </a:r>
            <a:r>
              <a:rPr lang="en-US" sz="1300" dirty="0">
                <a:solidFill>
                  <a:prstClr val="black"/>
                </a:solidFill>
                <a:cs typeface="Times New Roman" panose="02020603050405020304" pitchFamily="18" charset="0"/>
              </a:rPr>
              <a:t>_</a:t>
            </a:r>
            <a:r>
              <a:rPr lang="vi-VN" sz="1300" dirty="0">
                <a:solidFill>
                  <a:prstClr val="black"/>
                </a:solidFill>
                <a:cs typeface="Times New Roman" panose="02020603050405020304" pitchFamily="18" charset="0"/>
              </a:rPr>
              <a:t>GTB</a:t>
            </a:r>
            <a:r>
              <a:rPr lang="en-US" sz="1300" dirty="0">
                <a:solidFill>
                  <a:prstClr val="black"/>
                </a:solidFill>
                <a:cs typeface="Times New Roman" panose="02020603050405020304" pitchFamily="18" charset="0"/>
              </a:rPr>
              <a:t>_</a:t>
            </a:r>
            <a:r>
              <a:rPr lang="vi-VN" sz="1300" dirty="0">
                <a:solidFill>
                  <a:prstClr val="black"/>
                </a:solidFill>
                <a:cs typeface="Times New Roman" panose="02020603050405020304" pitchFamily="18" charset="0"/>
              </a:rPr>
              <a:t>KHH</a:t>
            </a:r>
            <a:r>
              <a:rPr lang="en-US" sz="1300" dirty="0">
                <a:solidFill>
                  <a:prstClr val="black"/>
                </a:solidFill>
                <a:cs typeface="Times New Roman" panose="02020603050405020304" pitchFamily="18" charset="0"/>
              </a:rPr>
              <a:t>: </a:t>
            </a:r>
            <a:r>
              <a:rPr lang="vi-VN" sz="1300" dirty="0">
                <a:solidFill>
                  <a:prstClr val="black"/>
                </a:solidFill>
                <a:cs typeface="Times New Roman" panose="02020603050405020304" pitchFamily="18" charset="0"/>
              </a:rPr>
              <a:t>ENG 2 EGT OVERLIMIT EGT do nước mưa ngấm harness (top OI) gây báo giả</a:t>
            </a:r>
            <a:r>
              <a:rPr lang="en-US" sz="1300" dirty="0">
                <a:solidFill>
                  <a:prstClr val="black"/>
                </a:solidFill>
                <a:cs typeface="Times New Roman" panose="02020603050405020304" pitchFamily="18" charset="0"/>
              </a:rPr>
              <a:t> = &gt; S</a:t>
            </a:r>
            <a:r>
              <a:rPr lang="vi-VN" sz="1300" dirty="0">
                <a:solidFill>
                  <a:prstClr val="black"/>
                </a:solidFill>
                <a:cs typeface="Times New Roman" panose="02020603050405020304" pitchFamily="18" charset="0"/>
              </a:rPr>
              <a:t>ấy harness và khai thác</a:t>
            </a:r>
            <a:r>
              <a:rPr lang="en-US" sz="1300" dirty="0">
                <a:solidFill>
                  <a:prstClr val="black"/>
                </a:solidFill>
                <a:cs typeface="Times New Roman" panose="02020603050405020304" pitchFamily="18" charset="0"/>
              </a:rPr>
              <a:t>.</a:t>
            </a:r>
            <a:endParaRPr lang="vi-VN" sz="1300" dirty="0">
              <a:solidFill>
                <a:prstClr val="black"/>
              </a:solidFill>
              <a:cs typeface="Times New Roman" panose="02020603050405020304" pitchFamily="18" charset="0"/>
            </a:endParaRPr>
          </a:p>
          <a:p>
            <a:pPr algn="just">
              <a:buClrTx/>
            </a:pPr>
            <a:r>
              <a:rPr lang="en-US" sz="1300" dirty="0">
                <a:solidFill>
                  <a:prstClr val="black"/>
                </a:solidFill>
                <a:cs typeface="Times New Roman" panose="02020603050405020304" pitchFamily="18" charset="0"/>
              </a:rPr>
              <a:t>    - </a:t>
            </a:r>
            <a:r>
              <a:rPr lang="vi-VN" sz="1300" dirty="0">
                <a:solidFill>
                  <a:prstClr val="black"/>
                </a:solidFill>
                <a:cs typeface="Times New Roman" panose="02020603050405020304" pitchFamily="18" charset="0"/>
              </a:rPr>
              <a:t>A621 AOG/GTB DUE TO MSG: F/CTL ELEV SERVO FAULT, F/CTL ELAC 2 FAULT </a:t>
            </a:r>
            <a:r>
              <a:rPr lang="en-US" sz="1300" dirty="0">
                <a:solidFill>
                  <a:prstClr val="black"/>
                </a:solidFill>
                <a:cs typeface="Times New Roman" panose="02020603050405020304" pitchFamily="18" charset="0"/>
              </a:rPr>
              <a:t>=&gt; </a:t>
            </a:r>
            <a:r>
              <a:rPr lang="vi-VN" sz="1300" dirty="0">
                <a:solidFill>
                  <a:prstClr val="black"/>
                </a:solidFill>
                <a:cs typeface="Times New Roman" panose="02020603050405020304" pitchFamily="18" charset="0"/>
              </a:rPr>
              <a:t>thay servo control (top OI).</a:t>
            </a:r>
          </a:p>
          <a:p>
            <a:pPr algn="just">
              <a:buClrTx/>
            </a:pPr>
            <a:r>
              <a:rPr lang="en-US" sz="1300" dirty="0">
                <a:solidFill>
                  <a:prstClr val="black"/>
                </a:solidFill>
                <a:cs typeface="Times New Roman" panose="02020603050405020304" pitchFamily="18" charset="0"/>
              </a:rPr>
              <a:t>    - </a:t>
            </a:r>
            <a:r>
              <a:rPr lang="vi-VN" sz="1300" dirty="0">
                <a:solidFill>
                  <a:prstClr val="black"/>
                </a:solidFill>
                <a:cs typeface="Times New Roman" panose="02020603050405020304" pitchFamily="18" charset="0"/>
              </a:rPr>
              <a:t>A512 GTB/AOG MSG ENG 1 FADEC SYS FAULT</a:t>
            </a:r>
            <a:r>
              <a:rPr lang="en-US" sz="1300" dirty="0">
                <a:solidFill>
                  <a:prstClr val="black"/>
                </a:solidFill>
                <a:cs typeface="Times New Roman" panose="02020603050405020304" pitchFamily="18" charset="0"/>
              </a:rPr>
              <a:t> =&gt; </a:t>
            </a:r>
            <a:r>
              <a:rPr lang="vi-VN" sz="1300" dirty="0">
                <a:solidFill>
                  <a:prstClr val="black"/>
                </a:solidFill>
                <a:cs typeface="Times New Roman" panose="02020603050405020304" pitchFamily="18" charset="0"/>
              </a:rPr>
              <a:t>thay N2 sensor</a:t>
            </a:r>
          </a:p>
          <a:p>
            <a:pPr algn="just">
              <a:buClrTx/>
            </a:pPr>
            <a:r>
              <a:rPr lang="en-US" sz="1300" dirty="0">
                <a:solidFill>
                  <a:prstClr val="black"/>
                </a:solidFill>
                <a:cs typeface="Times New Roman" panose="02020603050405020304" pitchFamily="18" charset="0"/>
              </a:rPr>
              <a:t>    - </a:t>
            </a:r>
            <a:r>
              <a:rPr lang="vi-VN" sz="1300" dirty="0">
                <a:solidFill>
                  <a:prstClr val="black"/>
                </a:solidFill>
                <a:cs typeface="Times New Roman" panose="02020603050405020304" pitchFamily="18" charset="0"/>
              </a:rPr>
              <a:t>Trong tuần phát sinh một số hỏng hóc </a:t>
            </a:r>
            <a:r>
              <a:rPr lang="en-US" sz="1300" dirty="0">
                <a:solidFill>
                  <a:prstClr val="black"/>
                </a:solidFill>
                <a:cs typeface="Times New Roman" panose="02020603050405020304" pitchFamily="18" charset="0"/>
              </a:rPr>
              <a:t>ở </a:t>
            </a:r>
            <a:r>
              <a:rPr lang="vi-VN" sz="1300" dirty="0">
                <a:solidFill>
                  <a:prstClr val="black"/>
                </a:solidFill>
                <a:cs typeface="Times New Roman" panose="02020603050405020304" pitchFamily="18" charset="0"/>
              </a:rPr>
              <a:t>hệ thống </a:t>
            </a:r>
            <a:r>
              <a:rPr lang="en-US" sz="1300" dirty="0">
                <a:solidFill>
                  <a:prstClr val="black"/>
                </a:solidFill>
                <a:cs typeface="Times New Roman" panose="02020603050405020304" pitchFamily="18" charset="0"/>
              </a:rPr>
              <a:t>B</a:t>
            </a:r>
            <a:r>
              <a:rPr lang="vi-VN" sz="1300" dirty="0">
                <a:solidFill>
                  <a:prstClr val="black"/>
                </a:solidFill>
                <a:cs typeface="Times New Roman" panose="02020603050405020304" pitchFamily="18" charset="0"/>
              </a:rPr>
              <a:t>leed, </a:t>
            </a:r>
            <a:r>
              <a:rPr lang="en-US" sz="1300" dirty="0">
                <a:solidFill>
                  <a:prstClr val="black"/>
                </a:solidFill>
                <a:cs typeface="Times New Roman" panose="02020603050405020304" pitchFamily="18" charset="0"/>
              </a:rPr>
              <a:t>C</a:t>
            </a:r>
            <a:r>
              <a:rPr lang="vi-VN" sz="1300" dirty="0">
                <a:solidFill>
                  <a:prstClr val="black"/>
                </a:solidFill>
                <a:cs typeface="Times New Roman" panose="02020603050405020304" pitchFamily="18" charset="0"/>
              </a:rPr>
              <a:t>àng cũng gây ảnh hưởng khai thác. A625 sau </a:t>
            </a:r>
            <a:r>
              <a:rPr lang="en-US" sz="1300" dirty="0">
                <a:solidFill>
                  <a:prstClr val="black"/>
                </a:solidFill>
                <a:cs typeface="Times New Roman" panose="02020603050405020304" pitchFamily="18" charset="0"/>
              </a:rPr>
              <a:t>Flight Test (</a:t>
            </a:r>
            <a:r>
              <a:rPr lang="en-US" sz="1300" dirty="0" err="1">
                <a:solidFill>
                  <a:prstClr val="black"/>
                </a:solidFill>
                <a:cs typeface="Times New Roman" panose="02020603050405020304" pitchFamily="18" charset="0"/>
              </a:rPr>
              <a:t>Sau</a:t>
            </a:r>
            <a:r>
              <a:rPr lang="en-US" sz="1300" dirty="0">
                <a:solidFill>
                  <a:prstClr val="black"/>
                </a:solidFill>
                <a:cs typeface="Times New Roman" panose="02020603050405020304" pitchFamily="18" charset="0"/>
              </a:rPr>
              <a:t> BQDB) =&gt; </a:t>
            </a:r>
            <a:r>
              <a:rPr lang="en-US" sz="1300" dirty="0" smtClean="0">
                <a:solidFill>
                  <a:prstClr val="black"/>
                </a:solidFill>
                <a:cs typeface="Times New Roman" panose="02020603050405020304" pitchFamily="18" charset="0"/>
              </a:rPr>
              <a:t>L</a:t>
            </a:r>
            <a:r>
              <a:rPr lang="vi-VN" sz="1300" dirty="0" smtClean="0">
                <a:solidFill>
                  <a:prstClr val="black"/>
                </a:solidFill>
                <a:cs typeface="Times New Roman" panose="02020603050405020304" pitchFamily="18" charset="0"/>
              </a:rPr>
              <a:t>eak </a:t>
            </a:r>
            <a:r>
              <a:rPr lang="vi-VN" sz="1300" dirty="0">
                <a:solidFill>
                  <a:prstClr val="black"/>
                </a:solidFill>
                <a:cs typeface="Times New Roman" panose="02020603050405020304" pitchFamily="18" charset="0"/>
              </a:rPr>
              <a:t>oil ENG # 1</a:t>
            </a:r>
            <a:r>
              <a:rPr lang="en-US" sz="1300" dirty="0">
                <a:solidFill>
                  <a:prstClr val="black"/>
                </a:solidFill>
                <a:cs typeface="Times New Roman" panose="02020603050405020304" pitchFamily="18" charset="0"/>
              </a:rPr>
              <a:t> =&gt; </a:t>
            </a:r>
            <a:r>
              <a:rPr lang="en-US" sz="1300" dirty="0" err="1">
                <a:solidFill>
                  <a:prstClr val="black"/>
                </a:solidFill>
                <a:cs typeface="Times New Roman" panose="02020603050405020304" pitchFamily="18" charset="0"/>
              </a:rPr>
              <a:t>Thay</a:t>
            </a:r>
            <a:r>
              <a:rPr lang="en-US" sz="1300" dirty="0">
                <a:solidFill>
                  <a:prstClr val="black"/>
                </a:solidFill>
                <a:cs typeface="Times New Roman" panose="02020603050405020304" pitchFamily="18" charset="0"/>
              </a:rPr>
              <a:t> </a:t>
            </a:r>
            <a:r>
              <a:rPr lang="vi-VN" sz="1300" dirty="0">
                <a:solidFill>
                  <a:prstClr val="black"/>
                </a:solidFill>
                <a:cs typeface="Times New Roman" panose="02020603050405020304" pitchFamily="18" charset="0"/>
              </a:rPr>
              <a:t>AIR/OIL HEAT EXCHANGER</a:t>
            </a:r>
            <a:r>
              <a:rPr lang="en-US" sz="1300" dirty="0">
                <a:solidFill>
                  <a:prstClr val="black"/>
                </a:solidFill>
                <a:cs typeface="Times New Roman" panose="02020603050405020304" pitchFamily="18" charset="0"/>
              </a:rPr>
              <a:t>.</a:t>
            </a:r>
            <a:endParaRPr lang="en-US" sz="1300" dirty="0">
              <a:solidFill>
                <a:prstClr val="black"/>
              </a:solidFill>
              <a:latin typeface="Times New Roman" panose="02020603050405020304" pitchFamily="18" charset="0"/>
              <a:cs typeface="Times New Roman" panose="02020603050405020304" pitchFamily="18" charset="0"/>
            </a:endParaRPr>
          </a:p>
        </p:txBody>
      </p:sp>
      <p:sp>
        <p:nvSpPr>
          <p:cNvPr id="11" name="Google Shape;82;p7">
            <a:extLst>
              <a:ext uri="{FF2B5EF4-FFF2-40B4-BE49-F238E27FC236}">
                <a16:creationId xmlns:a16="http://schemas.microsoft.com/office/drawing/2014/main" id="{3A0F535F-A6FA-491F-A033-9D56DEAFD065}"/>
              </a:ext>
            </a:extLst>
          </p:cNvPr>
          <p:cNvSpPr txBox="1"/>
          <p:nvPr/>
        </p:nvSpPr>
        <p:spPr>
          <a:xfrm>
            <a:off x="385220" y="227914"/>
            <a:ext cx="10134600"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dirty="0">
                <a:ln w="0"/>
                <a:solidFill>
                  <a:schemeClr val="accent4"/>
                </a:solidFill>
                <a:latin typeface="Times New Roman" panose="02020603050405020304" pitchFamily="18" charset="0"/>
                <a:cs typeface="Times New Roman" panose="02020603050405020304" pitchFamily="18" charset="0"/>
                <a:sym typeface="Montserrat SemiBold"/>
              </a:rPr>
              <a:t>TÌNH TRẠNG KỸ THUẬT CÁC ĐỘI BAY</a:t>
            </a:r>
            <a:endParaRPr sz="2933" b="1" dirty="0">
              <a:ln w="0"/>
              <a:solidFill>
                <a:schemeClr val="accent4"/>
              </a:solidFill>
              <a:latin typeface="Times New Roman" panose="02020603050405020304" pitchFamily="18" charset="0"/>
              <a:cs typeface="Times New Roman" panose="02020603050405020304" pitchFamily="18" charset="0"/>
              <a:sym typeface="Montserra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759067"/>
            <a:ext cx="5164517" cy="2700000"/>
          </a:xfrm>
          <a:prstGeom prst="rect">
            <a:avLst/>
          </a:prstGeom>
        </p:spPr>
      </p:pic>
    </p:spTree>
    <p:extLst>
      <p:ext uri="{BB962C8B-B14F-4D97-AF65-F5344CB8AC3E}">
        <p14:creationId xmlns:p14="http://schemas.microsoft.com/office/powerpoint/2010/main" val="1757429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3" name="Text 5">
            <a:extLst>
              <a:ext uri="{FF2B5EF4-FFF2-40B4-BE49-F238E27FC236}">
                <a16:creationId xmlns:a16="http://schemas.microsoft.com/office/drawing/2014/main" id="{03E46991-CE7B-B611-684F-9436D5F17EB0}"/>
              </a:ext>
            </a:extLst>
          </p:cNvPr>
          <p:cNvSpPr/>
          <p:nvPr/>
        </p:nvSpPr>
        <p:spPr>
          <a:xfrm>
            <a:off x="533400" y="726408"/>
            <a:ext cx="5837375" cy="3083591"/>
          </a:xfrm>
          <a:prstGeom prst="rect">
            <a:avLst/>
          </a:prstGeom>
          <a:noFill/>
          <a:ln/>
        </p:spPr>
        <p:txBody>
          <a:bodyPr wrap="square" lIns="0" tIns="0" rIns="0" bIns="0" rtlCol="0" anchor="t"/>
          <a:lstStyle/>
          <a:p>
            <a:pPr algn="just">
              <a:buClrTx/>
              <a:buFontTx/>
              <a:buNone/>
            </a:pPr>
            <a:r>
              <a:rPr lang="en-US" sz="1600" b="1" dirty="0" smtClean="0">
                <a:solidFill>
                  <a:prstClr val="black"/>
                </a:solidFill>
                <a:latin typeface="Times New Roman" panose="02020603050405020304" pitchFamily="18" charset="0"/>
                <a:cs typeface="Times New Roman" panose="02020603050405020304" pitchFamily="18" charset="0"/>
              </a:rPr>
              <a:t>3. </a:t>
            </a:r>
            <a:r>
              <a:rPr lang="en-US" sz="1600" b="1" dirty="0">
                <a:solidFill>
                  <a:prstClr val="black"/>
                </a:solidFill>
                <a:latin typeface="Times New Roman" panose="02020603050405020304" pitchFamily="18" charset="0"/>
                <a:cs typeface="Times New Roman" panose="02020603050405020304" pitchFamily="18" charset="0"/>
              </a:rPr>
              <a:t>Fleet A350: </a:t>
            </a:r>
          </a:p>
          <a:p>
            <a:pPr marL="380990" indent="-380990" algn="just">
              <a:buFontTx/>
              <a:buChar char="-"/>
            </a:pPr>
            <a:r>
              <a:rPr lang="vi-VN" sz="1200" dirty="0">
                <a:solidFill>
                  <a:prstClr val="black"/>
                </a:solidFill>
                <a:cs typeface="Times New Roman" panose="02020603050405020304" pitchFamily="18" charset="0"/>
              </a:rPr>
              <a:t>Tình hình kỹ thuật đội bay A3</a:t>
            </a:r>
            <a:r>
              <a:rPr lang="en-US" sz="1200" dirty="0">
                <a:solidFill>
                  <a:prstClr val="black"/>
                </a:solidFill>
                <a:latin typeface="Times New Roman" panose="02020603050405020304" pitchFamily="18" charset="0"/>
                <a:cs typeface="Times New Roman" panose="02020603050405020304" pitchFamily="18" charset="0"/>
              </a:rPr>
              <a:t>50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tuần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tốt</a:t>
            </a:r>
            <a:r>
              <a:rPr lang="en-US" sz="1200" dirty="0">
                <a:solidFill>
                  <a:prstClr val="black"/>
                </a:solidFill>
                <a:latin typeface="Times New Roman" panose="02020603050405020304" pitchFamily="18" charset="0"/>
                <a:cs typeface="Times New Roman" panose="02020603050405020304" pitchFamily="18" charset="0"/>
              </a:rPr>
              <a:t>.</a:t>
            </a:r>
          </a:p>
          <a:p>
            <a:pPr marL="380990" indent="-380990" algn="just">
              <a:buFontTx/>
              <a:buChar char="-"/>
            </a:pPr>
            <a:r>
              <a:rPr lang="en-US" sz="1200" dirty="0" err="1">
                <a:solidFill>
                  <a:prstClr val="black"/>
                </a:solidFill>
                <a:latin typeface="Times New Roman" panose="02020603050405020304" pitchFamily="18" charset="0"/>
                <a:cs typeface="Times New Roman" panose="02020603050405020304" pitchFamily="18" charset="0"/>
              </a:rPr>
              <a:t>Hỏng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hóc</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nổi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cộm</a:t>
            </a:r>
            <a:r>
              <a:rPr lang="en-US" sz="1200" dirty="0">
                <a:solidFill>
                  <a:prstClr val="black"/>
                </a:solidFill>
                <a:latin typeface="Times New Roman" panose="02020603050405020304" pitchFamily="18" charset="0"/>
                <a:cs typeface="Times New Roman" panose="02020603050405020304" pitchFamily="18" charset="0"/>
              </a:rPr>
              <a:t>: </a:t>
            </a:r>
          </a:p>
          <a:p>
            <a:pPr marL="609585" lvl="1" algn="just"/>
            <a:r>
              <a:rPr lang="en-SG"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A888_AOG_KIX_03-04/06: Do </a:t>
            </a:r>
            <a:r>
              <a:rPr lang="nl-NL" sz="1200" dirty="0">
                <a:latin typeface="Times New Roman" panose="02020603050405020304" pitchFamily="18" charset="0"/>
                <a:cs typeface="Times New Roman" panose="02020603050405020304" pitchFamily="18" charset="0"/>
              </a:rPr>
              <a:t>MSG BRAKE CTL 2 + L/G CTL 2 -&gt; </a:t>
            </a:r>
            <a:r>
              <a:rPr lang="en-SG" sz="1200" dirty="0">
                <a:latin typeface="Times New Roman" panose="02020603050405020304" pitchFamily="18" charset="0"/>
                <a:cs typeface="Times New Roman" panose="02020603050405020304" pitchFamily="18" charset="0"/>
              </a:rPr>
              <a:t>C/O REPLACED LDG CTL LEVER, TEST SATIS</a:t>
            </a:r>
            <a:r>
              <a:rPr lang="nl-NL" sz="1200" dirty="0">
                <a:latin typeface="Times New Roman" panose="02020603050405020304" pitchFamily="18" charset="0"/>
                <a:cs typeface="Times New Roman" panose="02020603050405020304" pitchFamily="18" charset="0"/>
              </a:rPr>
              <a:t>.</a:t>
            </a:r>
          </a:p>
          <a:p>
            <a:pPr marL="609585" lvl="1" algn="just"/>
            <a:r>
              <a:rPr lang="en-US" sz="1200" dirty="0">
                <a:solidFill>
                  <a:srgbClr val="FF0000"/>
                </a:solidFill>
                <a:latin typeface="Times New Roman" panose="02020603050405020304" pitchFamily="18" charset="0"/>
                <a:cs typeface="Times New Roman" panose="02020603050405020304" pitchFamily="18" charset="0"/>
              </a:rPr>
              <a:t>  = &gt; </a:t>
            </a:r>
            <a:r>
              <a:rPr lang="vi-VN" sz="1200" dirty="0">
                <a:solidFill>
                  <a:srgbClr val="FF0000"/>
                </a:solidFill>
                <a:cs typeface="Times New Roman" panose="02020603050405020304" pitchFamily="18" charset="0"/>
              </a:rPr>
              <a:t>Hỏng hóc </a:t>
            </a:r>
            <a:r>
              <a:rPr lang="en-US" sz="1200" dirty="0">
                <a:solidFill>
                  <a:srgbClr val="FF0000"/>
                </a:solidFill>
                <a:latin typeface="Times New Roman" panose="02020603050405020304" pitchFamily="18" charset="0"/>
                <a:cs typeface="Times New Roman" panose="02020603050405020304" pitchFamily="18" charset="0"/>
              </a:rPr>
              <a:t>CLR</a:t>
            </a:r>
            <a:r>
              <a:rPr lang="vi-VN" sz="1200" dirty="0">
                <a:solidFill>
                  <a:srgbClr val="FF0000"/>
                </a:solidFill>
                <a:cs typeface="Times New Roman" panose="02020603050405020304" pitchFamily="18" charset="0"/>
              </a:rPr>
              <a:t> sau khi thay control level 5GA P/N 166TS11Y00</a:t>
            </a:r>
            <a:r>
              <a:rPr lang="en-US" sz="1200" dirty="0">
                <a:solidFill>
                  <a:srgbClr val="FF0000"/>
                </a:solidFill>
                <a:latin typeface="Times New Roman" panose="02020603050405020304" pitchFamily="18" charset="0"/>
                <a:cs typeface="Times New Roman" panose="02020603050405020304" pitchFamily="18" charset="0"/>
              </a:rPr>
              <a:t> = &gt; L</a:t>
            </a:r>
            <a:r>
              <a:rPr lang="vi-VN" sz="1200" dirty="0">
                <a:solidFill>
                  <a:srgbClr val="FF0000"/>
                </a:solidFill>
                <a:cs typeface="Times New Roman" panose="02020603050405020304" pitchFamily="18" charset="0"/>
              </a:rPr>
              <a:t>ần đầu xuất hiện </a:t>
            </a:r>
            <a:r>
              <a:rPr lang="en-US" sz="1200" dirty="0">
                <a:solidFill>
                  <a:srgbClr val="FF0000"/>
                </a:solidFill>
                <a:latin typeface="Times New Roman" panose="02020603050405020304" pitchFamily="18" charset="0"/>
                <a:cs typeface="Times New Roman" panose="02020603050405020304" pitchFamily="18" charset="0"/>
              </a:rPr>
              <a:t>ở Fleet </a:t>
            </a:r>
            <a:r>
              <a:rPr lang="vi-VN" sz="1200" dirty="0">
                <a:solidFill>
                  <a:srgbClr val="FF0000"/>
                </a:solidFill>
                <a:cs typeface="Times New Roman" panose="02020603050405020304" pitchFamily="18" charset="0"/>
              </a:rPr>
              <a:t>A350 VNA,</a:t>
            </a:r>
            <a:r>
              <a:rPr lang="en-US" sz="1200" dirty="0">
                <a:solidFill>
                  <a:srgbClr val="FF0000"/>
                </a:solidFill>
                <a:latin typeface="Times New Roman" panose="02020603050405020304" pitchFamily="18" charset="0"/>
                <a:cs typeface="Times New Roman" panose="02020603050405020304" pitchFamily="18" charset="0"/>
              </a:rPr>
              <a:t> có </a:t>
            </a:r>
            <a:r>
              <a:rPr lang="en-US" sz="1200" dirty="0" err="1">
                <a:solidFill>
                  <a:srgbClr val="FF0000"/>
                </a:solidFill>
                <a:latin typeface="Times New Roman" panose="02020603050405020304" pitchFamily="18" charset="0"/>
                <a:cs typeface="Times New Roman" panose="02020603050405020304" pitchFamily="18" charset="0"/>
              </a:rPr>
              <a:t>thê</a:t>
            </a:r>
            <a:r>
              <a:rPr lang="en-US" sz="1200" dirty="0">
                <a:solidFill>
                  <a:srgbClr val="FF0000"/>
                </a:solidFill>
                <a:latin typeface="Times New Roman" panose="02020603050405020304" pitchFamily="18" charset="0"/>
                <a:cs typeface="Times New Roman" panose="02020603050405020304" pitchFamily="18" charset="0"/>
              </a:rPr>
              <a:t>̉ raise MEL </a:t>
            </a:r>
            <a:r>
              <a:rPr lang="en-US" sz="1200" dirty="0" err="1">
                <a:solidFill>
                  <a:srgbClr val="FF0000"/>
                </a:solidFill>
                <a:latin typeface="Times New Roman" panose="02020603050405020304" pitchFamily="18" charset="0"/>
                <a:cs typeface="Times New Roman" panose="02020603050405020304" pitchFamily="18" charset="0"/>
              </a:rPr>
              <a:t>với</a:t>
            </a:r>
            <a:r>
              <a:rPr lang="en-US" sz="1200" dirty="0">
                <a:solidFill>
                  <a:srgbClr val="FF0000"/>
                </a:solidFill>
                <a:latin typeface="Times New Roman" panose="02020603050405020304" pitchFamily="18" charset="0"/>
                <a:cs typeface="Times New Roman" panose="02020603050405020304" pitchFamily="18" charset="0"/>
              </a:rPr>
              <a:t> tool </a:t>
            </a:r>
            <a:r>
              <a:rPr lang="en-US" sz="1200" dirty="0" err="1">
                <a:solidFill>
                  <a:srgbClr val="FF0000"/>
                </a:solidFill>
                <a:latin typeface="Times New Roman" panose="02020603050405020304" pitchFamily="18" charset="0"/>
                <a:cs typeface="Times New Roman" panose="02020603050405020304" pitchFamily="18" charset="0"/>
              </a:rPr>
              <a:t>gia</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lập</a:t>
            </a:r>
            <a:r>
              <a:rPr lang="en-US" sz="1200" dirty="0">
                <a:solidFill>
                  <a:srgbClr val="FF0000"/>
                </a:solidFill>
                <a:latin typeface="Times New Roman" panose="02020603050405020304" pitchFamily="18" charset="0"/>
                <a:cs typeface="Times New Roman" panose="02020603050405020304" pitchFamily="18" charset="0"/>
              </a:rPr>
              <a:t> (Khó </a:t>
            </a:r>
            <a:r>
              <a:rPr lang="en-US" sz="1200" dirty="0" err="1">
                <a:solidFill>
                  <a:srgbClr val="FF0000"/>
                </a:solidFill>
                <a:latin typeface="Times New Roman" panose="02020603050405020304" pitchFamily="18" charset="0"/>
                <a:cs typeface="Times New Roman" panose="02020603050405020304" pitchFamily="18" charset="0"/>
              </a:rPr>
              <a:t>cung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ứng</a:t>
            </a:r>
            <a:r>
              <a:rPr lang="en-US" sz="1200" dirty="0">
                <a:solidFill>
                  <a:srgbClr val="FF0000"/>
                </a:solidFill>
                <a:latin typeface="Times New Roman" panose="02020603050405020304" pitchFamily="18" charset="0"/>
                <a:cs typeface="Times New Roman" panose="02020603050405020304" pitchFamily="18" charset="0"/>
              </a:rPr>
              <a:t> Tool).</a:t>
            </a:r>
            <a:r>
              <a:rPr lang="vi-VN" sz="1200" dirty="0">
                <a:solidFill>
                  <a:srgbClr val="FF0000"/>
                </a:solidFill>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Chưa</a:t>
            </a:r>
            <a:r>
              <a:rPr lang="en-US" sz="1200" dirty="0">
                <a:solidFill>
                  <a:srgbClr val="FF0000"/>
                </a:solidFill>
                <a:latin typeface="Times New Roman" panose="02020603050405020304" pitchFamily="18" charset="0"/>
                <a:cs typeface="Times New Roman" panose="02020603050405020304" pitchFamily="18" charset="0"/>
              </a:rPr>
              <a:t> có </a:t>
            </a:r>
            <a:r>
              <a:rPr lang="en-US" sz="1200" dirty="0" err="1">
                <a:solidFill>
                  <a:srgbClr val="FF0000"/>
                </a:solidFill>
                <a:latin typeface="Times New Roman" panose="02020603050405020304" pitchFamily="18" charset="0"/>
                <a:cs typeface="Times New Roman" panose="02020603050405020304" pitchFamily="18" charset="0"/>
              </a:rPr>
              <a:t>thông</a:t>
            </a:r>
            <a:r>
              <a:rPr lang="en-US" sz="1200" dirty="0">
                <a:solidFill>
                  <a:srgbClr val="FF0000"/>
                </a:solidFill>
                <a:latin typeface="Times New Roman" panose="02020603050405020304" pitchFamily="18" charset="0"/>
                <a:cs typeface="Times New Roman" panose="02020603050405020304" pitchFamily="18" charset="0"/>
              </a:rPr>
              <a:t> tin </a:t>
            </a:r>
            <a:r>
              <a:rPr lang="en-US" sz="1200" dirty="0" err="1">
                <a:solidFill>
                  <a:srgbClr val="FF0000"/>
                </a:solidFill>
                <a:latin typeface="Times New Roman" panose="02020603050405020304" pitchFamily="18" charset="0"/>
                <a:cs typeface="Times New Roman" panose="02020603050405020304" pitchFamily="18" charset="0"/>
              </a:rPr>
              <a:t>của</a:t>
            </a:r>
            <a:r>
              <a:rPr lang="en-US" sz="1200" dirty="0">
                <a:solidFill>
                  <a:srgbClr val="FF0000"/>
                </a:solidFill>
                <a:latin typeface="Times New Roman" panose="02020603050405020304" pitchFamily="18" charset="0"/>
                <a:cs typeface="Times New Roman" panose="02020603050405020304" pitchFamily="18" charset="0"/>
              </a:rPr>
              <a:t> Airbus/Operator </a:t>
            </a:r>
            <a:r>
              <a:rPr lang="en-US" sz="1200" dirty="0" err="1">
                <a:solidFill>
                  <a:srgbClr val="FF0000"/>
                </a:solidFill>
                <a:latin typeface="Times New Roman" panose="02020603050405020304" pitchFamily="18" charset="0"/>
                <a:cs typeface="Times New Roman" panose="02020603050405020304" pitchFamily="18" charset="0"/>
              </a:rPr>
              <a:t>khác</a:t>
            </a:r>
            <a:r>
              <a:rPr lang="vi-VN" sz="1200" dirty="0">
                <a:solidFill>
                  <a:srgbClr val="FF0000"/>
                </a:solidFill>
                <a:cs typeface="Times New Roman" panose="02020603050405020304" pitchFamily="18" charset="0"/>
              </a:rPr>
              <a:t>. WW MTBUR = 304,016 &gt; GMTBUR = 124,032. </a:t>
            </a:r>
            <a:r>
              <a:rPr lang="en-US" sz="1200" dirty="0">
                <a:solidFill>
                  <a:srgbClr val="FF0000"/>
                </a:solidFill>
                <a:latin typeface="Times New Roman" panose="02020603050405020304" pitchFamily="18" charset="0"/>
                <a:cs typeface="Times New Roman" panose="02020603050405020304" pitchFamily="18" charset="0"/>
              </a:rPr>
              <a:t> </a:t>
            </a:r>
          </a:p>
          <a:p>
            <a:pPr marL="609585" lvl="1" algn="just"/>
            <a:r>
              <a:rPr lang="en-US" sz="1200" dirty="0">
                <a:latin typeface="Times New Roman" panose="02020603050405020304" pitchFamily="18" charset="0"/>
                <a:cs typeface="Times New Roman" panose="02020603050405020304" pitchFamily="18" charset="0"/>
              </a:rPr>
              <a:t>+ </a:t>
            </a:r>
            <a:r>
              <a:rPr lang="en-US" sz="1200" dirty="0">
                <a:solidFill>
                  <a:prstClr val="black"/>
                </a:solidFill>
                <a:latin typeface="Times New Roman" panose="02020603050405020304" pitchFamily="18" charset="0"/>
                <a:cs typeface="Times New Roman" panose="02020603050405020304" pitchFamily="18" charset="0"/>
              </a:rPr>
              <a:t>A893 ENG2 HIGH OIL CONSUMPTION -&gt; </a:t>
            </a:r>
            <a:r>
              <a:rPr lang="en-US" sz="1200" dirty="0" err="1">
                <a:solidFill>
                  <a:prstClr val="black"/>
                </a:solidFill>
                <a:latin typeface="Times New Roman" panose="02020603050405020304" pitchFamily="18" charset="0"/>
                <a:cs typeface="Times New Roman" panose="02020603050405020304" pitchFamily="18" charset="0"/>
              </a:rPr>
              <a:t>Đã</a:t>
            </a:r>
            <a:r>
              <a:rPr lang="en-US" sz="1200" dirty="0">
                <a:solidFill>
                  <a:prstClr val="black"/>
                </a:solidFill>
                <a:latin typeface="Times New Roman" panose="02020603050405020304" pitchFamily="18" charset="0"/>
                <a:cs typeface="Times New Roman" panose="02020603050405020304" pitchFamily="18" charset="0"/>
              </a:rPr>
              <a:t> CLR </a:t>
            </a:r>
            <a:r>
              <a:rPr lang="en-US" sz="1200" dirty="0" err="1">
                <a:solidFill>
                  <a:prstClr val="black"/>
                </a:solidFill>
                <a:latin typeface="Times New Roman" panose="02020603050405020304" pitchFamily="18" charset="0"/>
                <a:cs typeface="Times New Roman" panose="02020603050405020304" pitchFamily="18" charset="0"/>
              </a:rPr>
              <a:t>sau</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khi</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thay</a:t>
            </a:r>
            <a:r>
              <a:rPr lang="en-US" sz="1200" dirty="0">
                <a:solidFill>
                  <a:prstClr val="black"/>
                </a:solidFill>
                <a:latin typeface="Times New Roman" panose="02020603050405020304" pitchFamily="18" charset="0"/>
                <a:cs typeface="Times New Roman" panose="02020603050405020304" pitchFamily="18" charset="0"/>
              </a:rPr>
              <a:t> ENG, </a:t>
            </a:r>
            <a:r>
              <a:rPr lang="en-US" sz="1200" dirty="0" err="1">
                <a:solidFill>
                  <a:prstClr val="black"/>
                </a:solidFill>
                <a:latin typeface="Times New Roman" panose="02020603050405020304" pitchFamily="18" charset="0"/>
                <a:cs typeface="Times New Roman" panose="02020603050405020304" pitchFamily="18" charset="0"/>
              </a:rPr>
              <a:t>bỏ</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hạn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chế</a:t>
            </a:r>
            <a:r>
              <a:rPr lang="en-US" sz="1200" dirty="0">
                <a:solidFill>
                  <a:prstClr val="black"/>
                </a:solidFill>
                <a:latin typeface="Times New Roman" panose="02020603050405020304" pitchFamily="18" charset="0"/>
                <a:cs typeface="Times New Roman" panose="02020603050405020304" pitchFamily="18" charset="0"/>
              </a:rPr>
              <a:t> bay </a:t>
            </a:r>
            <a:r>
              <a:rPr lang="en-US" sz="1200" dirty="0" err="1">
                <a:solidFill>
                  <a:prstClr val="black"/>
                </a:solidFill>
                <a:latin typeface="Times New Roman" panose="02020603050405020304" pitchFamily="18" charset="0"/>
                <a:cs typeface="Times New Roman" panose="02020603050405020304" pitchFamily="18" charset="0"/>
              </a:rPr>
              <a:t>dưới</a:t>
            </a:r>
            <a:r>
              <a:rPr lang="en-US" sz="1200" dirty="0">
                <a:solidFill>
                  <a:prstClr val="black"/>
                </a:solidFill>
                <a:latin typeface="Times New Roman" panose="02020603050405020304" pitchFamily="18" charset="0"/>
                <a:cs typeface="Times New Roman" panose="02020603050405020304" pitchFamily="18" charset="0"/>
              </a:rPr>
              <a:t> 9h.</a:t>
            </a:r>
          </a:p>
          <a:p>
            <a:pPr lvl="1" algn="just"/>
            <a:r>
              <a:rPr lang="en-US" sz="1200" dirty="0">
                <a:latin typeface="Times New Roman" panose="02020603050405020304" pitchFamily="18" charset="0"/>
                <a:cs typeface="Times New Roman" panose="02020603050405020304" pitchFamily="18" charset="0"/>
              </a:rPr>
              <a:t>+ A889 AOG_BOM_01-03/06: MSG F/CTL ELEVATOR ACTUATOR -&gt;  </a:t>
            </a:r>
            <a:r>
              <a:rPr lang="en-US" sz="1200" dirty="0" err="1">
                <a:latin typeface="Times New Roman" panose="02020603050405020304" pitchFamily="18" charset="0"/>
                <a:cs typeface="Times New Roman" panose="02020603050405020304" pitchFamily="18" charset="0"/>
              </a:rPr>
              <a:t>Cử</a:t>
            </a:r>
            <a:r>
              <a:rPr lang="en-US" sz="1200" dirty="0">
                <a:latin typeface="Times New Roman" panose="02020603050405020304" pitchFamily="18" charset="0"/>
                <a:cs typeface="Times New Roman" panose="02020603050405020304" pitchFamily="18" charset="0"/>
              </a:rPr>
              <a:t> AOG team sang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EHA ACT.</a:t>
            </a:r>
          </a:p>
          <a:p>
            <a:pPr lvl="1" algn="just"/>
            <a:r>
              <a:rPr lang="vi-VN" sz="1200" dirty="0">
                <a:solidFill>
                  <a:srgbClr val="FF0000"/>
                </a:solidFill>
                <a:cs typeface="Times New Roman" panose="02020603050405020304" pitchFamily="18" charset="0"/>
              </a:rPr>
              <a:t>Hỏng hócdo EM trong TFU 27.00.00125. Airbus và MOOG vẫn đang điều tra. Khối </a:t>
            </a:r>
            <a:r>
              <a:rPr lang="en-US" sz="1200" dirty="0" err="1">
                <a:solidFill>
                  <a:srgbClr val="FF0000"/>
                </a:solidFill>
                <a:latin typeface="Times New Roman" panose="02020603050405020304" pitchFamily="18" charset="0"/>
                <a:cs typeface="Times New Roman" panose="02020603050405020304" pitchFamily="18" charset="0"/>
              </a:rPr>
              <a:t>này</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tư</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khi</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nhận</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tàu</a:t>
            </a:r>
            <a:r>
              <a:rPr lang="vi-VN" sz="1200" dirty="0">
                <a:solidFill>
                  <a:srgbClr val="FF0000"/>
                </a:solidFill>
                <a:cs typeface="Times New Roman" panose="02020603050405020304" pitchFamily="18" charset="0"/>
              </a:rPr>
              <a:t> CSN=7865, TSN = 27619.</a:t>
            </a:r>
          </a:p>
          <a:p>
            <a:pPr lvl="1" algn="just"/>
            <a:r>
              <a:rPr lang="en-US" sz="1200" dirty="0">
                <a:solidFill>
                  <a:srgbClr val="FF0000"/>
                </a:solidFill>
                <a:latin typeface="Times New Roman" panose="02020603050405020304" pitchFamily="18" charset="0"/>
                <a:cs typeface="Times New Roman" panose="02020603050405020304" pitchFamily="18" charset="0"/>
              </a:rPr>
              <a:t>C</a:t>
            </a:r>
            <a:r>
              <a:rPr lang="vi-VN" sz="1200" dirty="0">
                <a:solidFill>
                  <a:srgbClr val="FF0000"/>
                </a:solidFill>
                <a:cs typeface="Times New Roman" panose="02020603050405020304" pitchFamily="18" charset="0"/>
              </a:rPr>
              <a:t>ác khối EHA/EBHA/EM có MTBUR = 54,476 đang cao hơn G-MTBUR = 15,316</a:t>
            </a:r>
            <a:endParaRPr lang="en-US" sz="1200" dirty="0">
              <a:solidFill>
                <a:srgbClr val="FF0000"/>
              </a:solidFill>
              <a:latin typeface="Times New Roman" panose="02020603050405020304" pitchFamily="18" charset="0"/>
              <a:cs typeface="Times New Roman" panose="02020603050405020304" pitchFamily="18" charset="0"/>
            </a:endParaRPr>
          </a:p>
        </p:txBody>
      </p:sp>
      <p:sp>
        <p:nvSpPr>
          <p:cNvPr id="28" name="Text 17">
            <a:extLst>
              <a:ext uri="{FF2B5EF4-FFF2-40B4-BE49-F238E27FC236}">
                <a16:creationId xmlns:a16="http://schemas.microsoft.com/office/drawing/2014/main" id="{6DBB0EFA-AED9-8DA1-9E61-2F1D9ED4919D}"/>
              </a:ext>
            </a:extLst>
          </p:cNvPr>
          <p:cNvSpPr/>
          <p:nvPr/>
        </p:nvSpPr>
        <p:spPr>
          <a:xfrm>
            <a:off x="7059345" y="4684379"/>
            <a:ext cx="3974420" cy="812566"/>
          </a:xfrm>
          <a:prstGeom prst="rect">
            <a:avLst/>
          </a:prstGeom>
          <a:noFill/>
          <a:ln/>
        </p:spPr>
        <p:txBody>
          <a:bodyPr wrap="square" lIns="0" tIns="0" rIns="0" bIns="0" rtlCol="0" anchor="t"/>
          <a:lstStyle/>
          <a:p>
            <a:pPr>
              <a:lnSpc>
                <a:spcPts val="2125"/>
              </a:lnSpc>
            </a:pPr>
            <a:endParaRPr lang="vi-VN" sz="1400">
              <a:solidFill>
                <a:srgbClr val="15213F"/>
              </a:solidFill>
              <a:latin typeface="Times New Roman" panose="02020603050405020304" pitchFamily="18" charset="0"/>
              <a:ea typeface="Roboto" pitchFamily="34" charset="-122"/>
              <a:cs typeface="Times New Roman" panose="02020603050405020304" pitchFamily="18" charset="0"/>
            </a:endParaRPr>
          </a:p>
        </p:txBody>
      </p:sp>
      <p:sp>
        <p:nvSpPr>
          <p:cNvPr id="14" name="TextBox 13">
            <a:extLst>
              <a:ext uri="{FF2B5EF4-FFF2-40B4-BE49-F238E27FC236}">
                <a16:creationId xmlns:a16="http://schemas.microsoft.com/office/drawing/2014/main" id="{2A0D8269-7016-40C9-871E-187A7FEACF1F}"/>
              </a:ext>
            </a:extLst>
          </p:cNvPr>
          <p:cNvSpPr txBox="1"/>
          <p:nvPr/>
        </p:nvSpPr>
        <p:spPr>
          <a:xfrm>
            <a:off x="6572211" y="3895999"/>
            <a:ext cx="4724400" cy="1261884"/>
          </a:xfrm>
          <a:prstGeom prst="rect">
            <a:avLst/>
          </a:prstGeom>
          <a:noFill/>
        </p:spPr>
        <p:txBody>
          <a:bodyPr wrap="square">
            <a:spAutoFit/>
          </a:bodyPr>
          <a:lstStyle/>
          <a:p>
            <a:pPr algn="just">
              <a:buClrTx/>
              <a:buFontTx/>
              <a:buNone/>
              <a:defRPr/>
            </a:pPr>
            <a:r>
              <a:rPr lang="en-US" sz="1600" b="1" dirty="0" smtClean="0">
                <a:solidFill>
                  <a:prstClr val="black"/>
                </a:solidFill>
                <a:latin typeface="Times New Roman" panose="02020603050405020304" pitchFamily="18" charset="0"/>
                <a:cs typeface="Times New Roman" panose="02020603050405020304" pitchFamily="18" charset="0"/>
              </a:rPr>
              <a:t>4</a:t>
            </a:r>
            <a:r>
              <a:rPr lang="en-US" sz="1600" b="1" dirty="0">
                <a:solidFill>
                  <a:prstClr val="black"/>
                </a:solidFill>
                <a:latin typeface="Times New Roman" panose="02020603050405020304" pitchFamily="18" charset="0"/>
                <a:cs typeface="Times New Roman" panose="02020603050405020304" pitchFamily="18" charset="0"/>
              </a:rPr>
              <a:t>. Fleet ATR72:</a:t>
            </a:r>
          </a:p>
          <a:p>
            <a:pPr algn="just">
              <a:buClrTx/>
              <a:buFontTx/>
              <a:buNone/>
              <a:defRPr/>
            </a:pPr>
            <a:r>
              <a:rPr lang="vi-VN" sz="1200" dirty="0">
                <a:solidFill>
                  <a:prstClr val="black"/>
                </a:solidFill>
                <a:cs typeface="Times New Roman" panose="02020603050405020304" pitchFamily="18" charset="0"/>
              </a:rPr>
              <a:t>Tình hình kỹ thuật ATR72 trong tuần cơ bản tốt, có 01 TH AOG tàu B218</a:t>
            </a:r>
            <a:r>
              <a:rPr lang="en-US" sz="1200" dirty="0">
                <a:solidFill>
                  <a:prstClr val="black"/>
                </a:solidFill>
                <a:cs typeface="Times New Roman" panose="02020603050405020304" pitchFamily="18" charset="0"/>
              </a:rPr>
              <a:t>:</a:t>
            </a:r>
          </a:p>
          <a:p>
            <a:pPr marL="228600" indent="-228600" algn="just">
              <a:buClrTx/>
              <a:buFontTx/>
              <a:buAutoNum type="arabicPeriod"/>
              <a:defRPr/>
            </a:pPr>
            <a:r>
              <a:rPr lang="vi-VN" sz="1200" dirty="0">
                <a:solidFill>
                  <a:prstClr val="black"/>
                </a:solidFill>
                <a:cs typeface="Times New Roman" panose="02020603050405020304" pitchFamily="18" charset="0"/>
              </a:rPr>
              <a:t> </a:t>
            </a:r>
            <a:r>
              <a:rPr lang="en-US" sz="1200" dirty="0">
                <a:solidFill>
                  <a:prstClr val="black"/>
                </a:solidFill>
                <a:cs typeface="Times New Roman" panose="02020603050405020304" pitchFamily="18" charset="0"/>
              </a:rPr>
              <a:t>S</a:t>
            </a:r>
            <a:r>
              <a:rPr lang="vi-VN" sz="1200" dirty="0">
                <a:solidFill>
                  <a:prstClr val="black"/>
                </a:solidFill>
                <a:cs typeface="Times New Roman" panose="02020603050405020304" pitchFamily="18" charset="0"/>
              </a:rPr>
              <a:t>au chuyến bay 0V8060/CAH-SGN, CAPT REPORT COCKPIT NOISY AT CONNER OF WINDSHIELD, đang được kiểm tra để khắc phục.</a:t>
            </a:r>
            <a:endParaRPr lang="en-SG" sz="1200" dirty="0">
              <a:solidFill>
                <a:srgbClr val="FF0000"/>
              </a:solidFill>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604" y="3922161"/>
            <a:ext cx="5408224" cy="2820262"/>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4172" y="914400"/>
            <a:ext cx="3562251" cy="2376000"/>
          </a:xfrm>
          <a:prstGeom prst="rect">
            <a:avLst/>
          </a:prstGeom>
        </p:spPr>
      </p:pic>
      <p:sp>
        <p:nvSpPr>
          <p:cNvPr id="9" name="Google Shape;82;p7">
            <a:extLst>
              <a:ext uri="{FF2B5EF4-FFF2-40B4-BE49-F238E27FC236}">
                <a16:creationId xmlns:a16="http://schemas.microsoft.com/office/drawing/2014/main" id="{3A0F535F-A6FA-491F-A033-9D56DEAFD065}"/>
              </a:ext>
            </a:extLst>
          </p:cNvPr>
          <p:cNvSpPr txBox="1"/>
          <p:nvPr/>
        </p:nvSpPr>
        <p:spPr>
          <a:xfrm>
            <a:off x="385220" y="227914"/>
            <a:ext cx="10134600"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dirty="0">
                <a:ln w="0"/>
                <a:solidFill>
                  <a:schemeClr val="accent4"/>
                </a:solidFill>
                <a:latin typeface="Times New Roman" panose="02020603050405020304" pitchFamily="18" charset="0"/>
                <a:cs typeface="Times New Roman" panose="02020603050405020304" pitchFamily="18" charset="0"/>
                <a:sym typeface="Montserrat SemiBold"/>
              </a:rPr>
              <a:t>TÌNH TRẠNG KỸ THUẬT CÁC ĐỘI BAY</a:t>
            </a:r>
            <a:endParaRPr sz="2933" b="1" dirty="0">
              <a:ln w="0"/>
              <a:solidFill>
                <a:schemeClr val="accent4"/>
              </a:solidFill>
              <a:latin typeface="Times New Roman" panose="02020603050405020304" pitchFamily="18" charset="0"/>
              <a:cs typeface="Times New Roman" panose="02020603050405020304" pitchFamily="18" charset="0"/>
              <a:sym typeface="Montserrat"/>
            </a:endParaRPr>
          </a:p>
        </p:txBody>
      </p:sp>
    </p:spTree>
    <p:extLst>
      <p:ext uri="{BB962C8B-B14F-4D97-AF65-F5344CB8AC3E}">
        <p14:creationId xmlns:p14="http://schemas.microsoft.com/office/powerpoint/2010/main" val="2836878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a:t>
            </a:r>
            <a:r>
              <a:rPr lang="en-US" smtClean="0">
                <a:ln w="0"/>
                <a:solidFill>
                  <a:schemeClr val="accent4"/>
                </a:solidFill>
                <a:latin typeface="Times New Roman" panose="02020603050405020304" pitchFamily="18" charset="0"/>
                <a:cs typeface="Times New Roman" panose="02020603050405020304" pitchFamily="18" charset="0"/>
              </a:rPr>
              <a:t>W23 (02/06/2025-08/06/20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87743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a:t>
            </a: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rPr>
              <a:t>23/2025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a:t>
            </a:r>
            <a:r>
              <a:rPr kumimoji="0" lang="en-US" sz="1400" b="0" i="0" u="none" strike="noStrike" kern="1200" cap="none" spc="0" normalizeH="0" baseline="0" noProof="0" smtClean="0">
                <a:ln>
                  <a:noFill/>
                </a:ln>
                <a:solidFill>
                  <a:prstClr val="black"/>
                </a:solidFill>
                <a:effectLst/>
                <a:uLnTx/>
                <a:uFillTx/>
                <a:latin typeface="Times New Roman" panose="02020603050405020304" pitchFamily="18" charset="0"/>
                <a:cs typeface="Times New Roman" panose="02020603050405020304" pitchFamily="18" charset="0"/>
              </a:rPr>
              <a:t>cậy</a:t>
            </a:r>
            <a:r>
              <a:rPr kumimoji="0" lang="en-US" sz="1400" b="0" i="0" u="none" strike="noStrike" kern="1200" cap="none" spc="0" normalizeH="0" noProof="0" smtClean="0">
                <a:ln>
                  <a:noFill/>
                </a:ln>
                <a:solidFill>
                  <a:prstClr val="black"/>
                </a:solidFill>
                <a:effectLst/>
                <a:uLnTx/>
                <a:uFillTx/>
                <a:latin typeface="Times New Roman" panose="02020603050405020304" pitchFamily="18" charset="0"/>
                <a:cs typeface="Times New Roman" panose="02020603050405020304" pitchFamily="18" charset="0"/>
              </a:rPr>
              <a:t> cất cánh </a:t>
            </a:r>
            <a:r>
              <a:rPr lang="en-US" sz="1400" smtClean="0">
                <a:solidFill>
                  <a:prstClr val="black"/>
                </a:solidFill>
                <a:latin typeface="Times New Roman" panose="02020603050405020304" pitchFamily="18" charset="0"/>
                <a:cs typeface="Times New Roman" panose="02020603050405020304" pitchFamily="18" charset="0"/>
              </a:rPr>
              <a:t>toàn bộ các đội đều đạt mục tiêu:</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a:t>
            </a:r>
            <a:r>
              <a:rPr lang="en-US" sz="1400" smtClean="0">
                <a:solidFill>
                  <a:prstClr val="black"/>
                </a:solidFill>
                <a:latin typeface="Times New Roman" panose="02020603050405020304" pitchFamily="18" charset="0"/>
                <a:cs typeface="Times New Roman" panose="02020603050405020304" pitchFamily="18" charset="0"/>
              </a:rPr>
              <a:t>99,56% thấp </a:t>
            </a:r>
            <a:r>
              <a:rPr lang="en-US" sz="1400">
                <a:solidFill>
                  <a:prstClr val="black"/>
                </a:solidFill>
                <a:latin typeface="Times New Roman" panose="02020603050405020304" pitchFamily="18" charset="0"/>
                <a:cs typeface="Times New Roman" panose="02020603050405020304" pitchFamily="18" charset="0"/>
              </a:rPr>
              <a:t>hơn </a:t>
            </a:r>
            <a:r>
              <a:rPr lang="en-US" sz="1400" smtClean="0">
                <a:solidFill>
                  <a:prstClr val="black"/>
                </a:solidFill>
                <a:latin typeface="Times New Roman" panose="02020603050405020304" pitchFamily="18" charset="0"/>
                <a:cs typeface="Times New Roman" panose="02020603050405020304" pitchFamily="18" charset="0"/>
              </a:rPr>
              <a:t>0,07%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trong tuần có 10 sự kiện delay KT </a:t>
            </a:r>
            <a:r>
              <a:rPr lang="en-US" sz="1400" smtClean="0">
                <a:solidFill>
                  <a:prstClr val="black"/>
                </a:solidFill>
                <a:latin typeface="Times New Roman" panose="02020603050405020304" pitchFamily="18" charset="0"/>
                <a:cs typeface="Times New Roman" panose="02020603050405020304" pitchFamily="18" charset="0"/>
              </a:rPr>
              <a:t>trong đó có một số sự kiện liên quan tới Pack, Elev Servo Control, LGCIU</a:t>
            </a:r>
            <a:r>
              <a:rPr lang="en-US" sz="1400">
                <a:solidFill>
                  <a:prstClr val="black"/>
                </a:solidFill>
                <a:latin typeface="Times New Roman" panose="02020603050405020304" pitchFamily="18" charset="0"/>
                <a:cs typeface="Times New Roman" panose="02020603050405020304" pitchFamily="18" charset="0"/>
              </a:rPr>
              <a:t>/ LG </a:t>
            </a:r>
            <a:r>
              <a:rPr lang="en-US" sz="1400" smtClean="0">
                <a:solidFill>
                  <a:prstClr val="black"/>
                </a:solidFill>
                <a:latin typeface="Times New Roman" panose="02020603050405020304" pitchFamily="18" charset="0"/>
                <a:cs typeface="Times New Roman" panose="02020603050405020304" pitchFamily="18" charset="0"/>
              </a:rPr>
              <a:t>disagree, </a:t>
            </a:r>
            <a:r>
              <a:rPr lang="en-US" sz="1400">
                <a:solidFill>
                  <a:prstClr val="black"/>
                </a:solidFill>
                <a:latin typeface="Times New Roman" panose="02020603050405020304" pitchFamily="18" charset="0"/>
                <a:cs typeface="Times New Roman" panose="02020603050405020304" pitchFamily="18" charset="0"/>
              </a:rPr>
              <a:t>FADEC </a:t>
            </a:r>
            <a:r>
              <a:rPr lang="en-US" sz="1400" smtClean="0">
                <a:solidFill>
                  <a:prstClr val="black"/>
                </a:solidFill>
                <a:latin typeface="Times New Roman" panose="02020603050405020304" pitchFamily="18" charset="0"/>
                <a:cs typeface="Times New Roman" panose="02020603050405020304" pitchFamily="18" charset="0"/>
              </a:rPr>
              <a:t>SYS, EGT indication, Reverser </a:t>
            </a:r>
            <a:r>
              <a:rPr lang="en-US" sz="1400">
                <a:solidFill>
                  <a:prstClr val="black"/>
                </a:solidFill>
                <a:latin typeface="Times New Roman" panose="02020603050405020304" pitchFamily="18" charset="0"/>
                <a:cs typeface="Times New Roman" panose="02020603050405020304" pitchFamily="18" charset="0"/>
              </a:rPr>
              <a:t>fault, </a:t>
            </a:r>
            <a:r>
              <a:rPr lang="en-US" sz="1400" smtClean="0">
                <a:solidFill>
                  <a:prstClr val="black"/>
                </a:solidFill>
                <a:latin typeface="Times New Roman" panose="02020603050405020304" pitchFamily="18" charset="0"/>
                <a:cs typeface="Times New Roman" panose="02020603050405020304" pitchFamily="18" charset="0"/>
              </a:rPr>
              <a:t>AOHX.</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smtClean="0">
                <a:solidFill>
                  <a:prstClr val="black"/>
                </a:solidFill>
                <a:latin typeface="Times New Roman" panose="02020603050405020304" pitchFamily="18" charset="0"/>
                <a:cs typeface="Times New Roman" panose="02020603050405020304" pitchFamily="18" charset="0"/>
              </a:rPr>
              <a:t>A350</a:t>
            </a:r>
            <a:r>
              <a:rPr lang="en-US" sz="1400">
                <a:solidFill>
                  <a:prstClr val="black"/>
                </a:solidFill>
                <a:latin typeface="Times New Roman" panose="02020603050405020304" pitchFamily="18" charset="0"/>
                <a:cs typeface="Times New Roman" panose="02020603050405020304" pitchFamily="18" charset="0"/>
              </a:rPr>
              <a:t>: </a:t>
            </a:r>
            <a:r>
              <a:rPr lang="en-US" sz="1400" smtClean="0">
                <a:solidFill>
                  <a:prstClr val="black"/>
                </a:solidFill>
                <a:latin typeface="Times New Roman" panose="02020603050405020304" pitchFamily="18" charset="0"/>
                <a:cs typeface="Times New Roman" panose="02020603050405020304" pitchFamily="18" charset="0"/>
              </a:rPr>
              <a:t>99,49% cao </a:t>
            </a:r>
            <a:r>
              <a:rPr lang="en-US" sz="1400">
                <a:solidFill>
                  <a:prstClr val="black"/>
                </a:solidFill>
                <a:latin typeface="Times New Roman" panose="02020603050405020304" pitchFamily="18" charset="0"/>
                <a:cs typeface="Times New Roman" panose="02020603050405020304" pitchFamily="18" charset="0"/>
              </a:rPr>
              <a:t>hơn </a:t>
            </a:r>
            <a:r>
              <a:rPr lang="en-US" sz="1400" smtClean="0">
                <a:solidFill>
                  <a:prstClr val="black"/>
                </a:solidFill>
                <a:latin typeface="Times New Roman" panose="02020603050405020304" pitchFamily="18" charset="0"/>
                <a:cs typeface="Times New Roman" panose="02020603050405020304" pitchFamily="18" charset="0"/>
              </a:rPr>
              <a:t>0,05%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a:t>
            </a:r>
            <a:r>
              <a:rPr lang="en-US" sz="1400" smtClean="0">
                <a:solidFill>
                  <a:prstClr val="black"/>
                </a:solidFill>
                <a:latin typeface="Times New Roman" panose="02020603050405020304" pitchFamily="18" charset="0"/>
                <a:cs typeface="Times New Roman" panose="02020603050405020304" pitchFamily="18" charset="0"/>
              </a:rPr>
              <a:t>tiêu</a:t>
            </a:r>
            <a:r>
              <a:rPr lang="pt-BR" sz="1400" smtClean="0">
                <a:solidFill>
                  <a:prstClr val="black"/>
                </a:solidFill>
                <a:latin typeface="Times New Roman" panose="02020603050405020304" pitchFamily="18" charset="0"/>
                <a:cs typeface="Times New Roman" panose="02020603050405020304" pitchFamily="18" charset="0"/>
              </a:rPr>
              <a:t>.</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smtClean="0">
                <a:solidFill>
                  <a:prstClr val="black"/>
                </a:solidFill>
                <a:latin typeface="Times New Roman" panose="02020603050405020304" pitchFamily="18" charset="0"/>
                <a:cs typeface="Times New Roman" panose="02020603050405020304" pitchFamily="18" charset="0"/>
              </a:rPr>
              <a:t>B787</a:t>
            </a:r>
            <a:r>
              <a:rPr lang="en-US" sz="1400">
                <a:solidFill>
                  <a:prstClr val="black"/>
                </a:solidFill>
                <a:latin typeface="Times New Roman" panose="02020603050405020304" pitchFamily="18" charset="0"/>
                <a:cs typeface="Times New Roman" panose="02020603050405020304" pitchFamily="18" charset="0"/>
              </a:rPr>
              <a:t>: </a:t>
            </a:r>
            <a:r>
              <a:rPr lang="en-US" sz="1400" smtClean="0">
                <a:solidFill>
                  <a:prstClr val="black"/>
                </a:solidFill>
                <a:latin typeface="Times New Roman" panose="02020603050405020304" pitchFamily="18" charset="0"/>
                <a:cs typeface="Times New Roman" panose="02020603050405020304" pitchFamily="18" charset="0"/>
              </a:rPr>
              <a:t>99,74% </a:t>
            </a:r>
            <a:r>
              <a:rPr lang="en-US" sz="1400" smtClean="0">
                <a:latin typeface="Times New Roman" panose="02020603050405020304" pitchFamily="18" charset="0"/>
                <a:cs typeface="Times New Roman" panose="02020603050405020304" pitchFamily="18" charset="0"/>
              </a:rPr>
              <a:t>cao </a:t>
            </a:r>
            <a:r>
              <a:rPr lang="en-US" sz="1400">
                <a:latin typeface="Times New Roman" panose="02020603050405020304" pitchFamily="18" charset="0"/>
                <a:cs typeface="Times New Roman" panose="02020603050405020304" pitchFamily="18" charset="0"/>
              </a:rPr>
              <a:t>hơn </a:t>
            </a:r>
            <a:r>
              <a:rPr lang="en-US" sz="1400" smtClean="0">
                <a:latin typeface="Times New Roman" panose="02020603050405020304" pitchFamily="18" charset="0"/>
                <a:cs typeface="Times New Roman" panose="02020603050405020304" pitchFamily="18" charset="0"/>
              </a:rPr>
              <a:t>0,38% </a:t>
            </a:r>
            <a:r>
              <a:rPr lang="en-US" sz="1400">
                <a:latin typeface="Times New Roman" panose="02020603050405020304" pitchFamily="18" charset="0"/>
                <a:cs typeface="Times New Roman" panose="02020603050405020304" pitchFamily="18" charset="0"/>
              </a:rPr>
              <a:t>so với mục </a:t>
            </a:r>
            <a:r>
              <a:rPr lang="en-US" sz="1400" smtClean="0">
                <a:latin typeface="Times New Roman" panose="02020603050405020304" pitchFamily="18" charset="0"/>
                <a:cs typeface="Times New Roman" panose="02020603050405020304" pitchFamily="18" charset="0"/>
              </a:rPr>
              <a:t>tiêu.</a:t>
            </a:r>
            <a:endParaRPr lang="en-US" sz="1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a:t>
            </a:r>
            <a:r>
              <a:rPr lang="en-US" sz="1400" smtClean="0">
                <a:solidFill>
                  <a:prstClr val="black"/>
                </a:solidFill>
                <a:latin typeface="Times New Roman" panose="02020603050405020304" pitchFamily="18" charset="0"/>
                <a:cs typeface="Times New Roman" panose="02020603050405020304" pitchFamily="18" charset="0"/>
              </a:rPr>
              <a:t>99.55% thấp </a:t>
            </a:r>
            <a:r>
              <a:rPr lang="en-US" sz="1400">
                <a:solidFill>
                  <a:prstClr val="black"/>
                </a:solidFill>
                <a:latin typeface="Times New Roman" panose="02020603050405020304" pitchFamily="18" charset="0"/>
                <a:cs typeface="Times New Roman" panose="02020603050405020304" pitchFamily="18" charset="0"/>
              </a:rPr>
              <a:t>hơn </a:t>
            </a:r>
            <a:r>
              <a:rPr lang="en-US" sz="1400" smtClean="0">
                <a:solidFill>
                  <a:prstClr val="black"/>
                </a:solidFill>
                <a:latin typeface="Times New Roman" panose="02020603050405020304" pitchFamily="18" charset="0"/>
                <a:cs typeface="Times New Roman" panose="02020603050405020304" pitchFamily="18" charset="0"/>
              </a:rPr>
              <a:t>0,10%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a:t>
            </a:r>
            <a:r>
              <a:rPr lang="en-US" sz="1400" smtClean="0">
                <a:solidFill>
                  <a:prstClr val="black"/>
                </a:solidFill>
                <a:latin typeface="Times New Roman" panose="02020603050405020304" pitchFamily="18" charset="0"/>
                <a:cs typeface="Times New Roman" panose="02020603050405020304" pitchFamily="18" charset="0"/>
              </a:rPr>
              <a:t>tiêu do có 01 sự kiện bị hủy chuyến tàu B218 </a:t>
            </a:r>
            <a:r>
              <a:rPr lang="en-US" sz="1400">
                <a:solidFill>
                  <a:prstClr val="black"/>
                </a:solidFill>
                <a:latin typeface="Times New Roman" panose="02020603050405020304" pitchFamily="18" charset="0"/>
                <a:cs typeface="Times New Roman" panose="02020603050405020304" pitchFamily="18" charset="0"/>
              </a:rPr>
              <a:t>do </a:t>
            </a:r>
            <a:r>
              <a:rPr lang="en-US" sz="1400" smtClean="0">
                <a:solidFill>
                  <a:prstClr val="black"/>
                </a:solidFill>
                <a:latin typeface="Times New Roman" panose="02020603050405020304" pitchFamily="18" charset="0"/>
                <a:cs typeface="Times New Roman" panose="02020603050405020304" pitchFamily="18" charset="0"/>
              </a:rPr>
              <a:t>cockpit noisy &amp; capt wiper can not completely clear the water.</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extLst/>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smtClean="0">
                          <a:solidFill>
                            <a:srgbClr val="00B050"/>
                          </a:solidFill>
                          <a:effectLst/>
                          <a:latin typeface="Times New Roman" panose="02020603050405020304" pitchFamily="18" charset="0"/>
                        </a:rPr>
                        <a:t>10</a:t>
                      </a:r>
                      <a:endParaRPr lang="en-US" sz="1200" b="1" i="0" u="none" strike="noStrike">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2498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smtClean="0">
                          <a:solidFill>
                            <a:srgbClr val="00B050"/>
                          </a:solidFill>
                          <a:effectLst/>
                          <a:latin typeface="Times New Roman" panose="02020603050405020304" pitchFamily="18" charset="0"/>
                        </a:rPr>
                        <a:t>1</a:t>
                      </a:r>
                      <a:endParaRPr lang="en-US" sz="1200" b="1" i="0" u="none" strike="noStrike">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smtClean="0">
                          <a:solidFill>
                            <a:srgbClr val="00B050"/>
                          </a:solidFill>
                          <a:effectLst/>
                          <a:latin typeface="Times New Roman" panose="02020603050405020304" pitchFamily="18" charset="0"/>
                        </a:rPr>
                        <a:t>1</a:t>
                      </a:r>
                      <a:endParaRPr lang="en-US" sz="1200" b="1" i="0" u="none" strike="noStrike">
                        <a:solidFill>
                          <a:srgbClr val="00B05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a:extLst>
              <a:ext uri="{FF2B5EF4-FFF2-40B4-BE49-F238E27FC236}">
                <a16:creationId xmlns:a16="http://schemas.microsoft.com/office/drawing/2014/main" id="{00000000-0008-0000-0000-000006000000}"/>
              </a:ext>
            </a:extLst>
          </p:cNvPr>
          <p:cNvGraphicFramePr>
            <a:graphicFrameLocks/>
          </p:cNvGraphicFramePr>
          <p:nvPr>
            <p:extLst/>
          </p:nvPr>
        </p:nvGraphicFramePr>
        <p:xfrm>
          <a:off x="552666" y="912246"/>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1551028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nvPr>
        </p:nvGraphicFramePr>
        <p:xfrm>
          <a:off x="156783" y="606959"/>
          <a:ext cx="11878434" cy="623288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46876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13.5k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 slot.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telecon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SSA 2024 CAP, Lease engine 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xem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xét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CAP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vượt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14-16 slot induct.</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chuẩn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IATA Meeting,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hẹn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Paris Airshow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thư</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support.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lãnh</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IATA.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lịch</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Paris Airshow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endPar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2582793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24</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4265380968"/>
              </p:ext>
            </p:extLst>
          </p:nvPr>
        </p:nvGraphicFramePr>
        <p:xfrm>
          <a:off x="156782" y="536017"/>
          <a:ext cx="11878434" cy="6026940"/>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30744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7582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E-</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defTabSz="457200">
                        <a:buFont typeface="Arial" panose="020B0604020202020204" pitchFamily="34" charset="0"/>
                        <a:buNone/>
                      </a:pPr>
                      <a:r>
                        <a:rPr lang="en-US" sz="1400" dirty="0" err="1">
                          <a:solidFill>
                            <a:srgbClr val="FF0000"/>
                          </a:solidFill>
                          <a:latin typeface="Times New Roman" panose="02020603050405020304" pitchFamily="18" charset="0"/>
                          <a:cs typeface="Times New Roman" panose="02020603050405020304" pitchFamily="18" charset="0"/>
                        </a:rPr>
                        <a:t>Đang</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chờ</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ký</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hợp</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đồng</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với</a:t>
                      </a:r>
                      <a:r>
                        <a:rPr lang="en-US" sz="1400" dirty="0">
                          <a:solidFill>
                            <a:srgbClr val="FF0000"/>
                          </a:solidFill>
                          <a:latin typeface="Times New Roman" panose="02020603050405020304" pitchFamily="18" charset="0"/>
                          <a:cs typeface="Times New Roman" panose="02020603050405020304" pitchFamily="18" charset="0"/>
                        </a:rPr>
                        <a:t> Swiss - AS (</a:t>
                      </a:r>
                      <a:r>
                        <a:rPr lang="en-US" sz="1400" dirty="0" err="1">
                          <a:solidFill>
                            <a:srgbClr val="FF0000"/>
                          </a:solidFill>
                          <a:latin typeface="Times New Roman" panose="02020603050405020304" pitchFamily="18" charset="0"/>
                          <a:cs typeface="Times New Roman" panose="02020603050405020304" pitchFamily="18" charset="0"/>
                        </a:rPr>
                        <a:t>dự</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kiến</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trong</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2-3 </a:t>
                      </a:r>
                      <a:r>
                        <a:rPr lang="en-US" sz="1400" dirty="0" err="1">
                          <a:solidFill>
                            <a:srgbClr val="FF0000"/>
                          </a:solidFill>
                          <a:latin typeface="Times New Roman" panose="02020603050405020304" pitchFamily="18" charset="0"/>
                          <a:cs typeface="Times New Roman" panose="02020603050405020304" pitchFamily="18" charset="0"/>
                        </a:rPr>
                        <a:t>của</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tháng</a:t>
                      </a:r>
                      <a:r>
                        <a:rPr lang="en-US" sz="1400" dirty="0">
                          <a:solidFill>
                            <a:srgbClr val="FF0000"/>
                          </a:solidFill>
                          <a:latin typeface="Times New Roman" panose="02020603050405020304" pitchFamily="18" charset="0"/>
                          <a:cs typeface="Times New Roman" panose="02020603050405020304" pitchFamily="18" charset="0"/>
                        </a:rPr>
                        <a:t> 6)</a:t>
                      </a:r>
                      <a:endPar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Làm</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với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đối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tác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Swiss – AS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các</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bên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liên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quan</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để</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hợp</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đồng</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533400">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WQAR</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defTabSz="457200">
                        <a:buFont typeface="Arial" panose="020B0604020202020204" pitchFamily="34" charset="0"/>
                        <a:buNone/>
                      </a:pP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Đang</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chờ</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Ban PC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thẩm</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định</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KHLCNCC,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đồng</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thời</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làm</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việc</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với</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Airbus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cập</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nhật</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PN WQAR 3G/4G </a:t>
                      </a:r>
                      <a:r>
                        <a:rPr lang="en-US" sz="14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vào</a:t>
                      </a:r>
                      <a:r>
                        <a:rPr lang="en-US" sz="14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IPC</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Airbus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đối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tác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thiết</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bị</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dịch</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vụ</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WQAR</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185706">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6</a:t>
                      </a:r>
                      <a:endParaRPr lang="en-US" sz="14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IFC 10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A891, A899, A893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KH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SW activation 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hoàn</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thành</a:t>
                      </a:r>
                      <a:r>
                        <a:rPr lang="en-US" sz="1400" b="1" dirty="0">
                          <a:solidFill>
                            <a:srgbClr val="FF0000"/>
                          </a:solidFill>
                          <a:latin typeface="Times New Roman" panose="02020603050405020304" pitchFamily="18" charset="0"/>
                          <a:cs typeface="Times New Roman" panose="02020603050405020304" pitchFamily="18" charset="0"/>
                        </a:rPr>
                        <a:t> A893, A899, A891, A896. =&gt; test </a:t>
                      </a:r>
                      <a:r>
                        <a:rPr lang="en-US" sz="1400" b="1" dirty="0" err="1">
                          <a:solidFill>
                            <a:srgbClr val="FF0000"/>
                          </a:solidFill>
                          <a:latin typeface="Times New Roman" panose="02020603050405020304" pitchFamily="18" charset="0"/>
                          <a:cs typeface="Times New Roman" panose="02020603050405020304" pitchFamily="18" charset="0"/>
                        </a:rPr>
                        <a:t>dịch</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vụ</a:t>
                      </a:r>
                      <a:r>
                        <a:rPr lang="en-US" sz="1400" b="1" dirty="0">
                          <a:solidFill>
                            <a:srgbClr val="FF0000"/>
                          </a:solidFill>
                          <a:latin typeface="Times New Roman" panose="02020603050405020304" pitchFamily="18" charset="0"/>
                          <a:cs typeface="Times New Roman" panose="02020603050405020304" pitchFamily="18" charset="0"/>
                        </a:rPr>
                        <a:t> A899 failed. </a:t>
                      </a:r>
                      <a:r>
                        <a:rPr lang="en-US" sz="1400" b="1" dirty="0" err="1">
                          <a:solidFill>
                            <a:srgbClr val="FF0000"/>
                          </a:solidFill>
                          <a:latin typeface="Times New Roman" panose="02020603050405020304" pitchFamily="18" charset="0"/>
                          <a:cs typeface="Times New Roman" panose="02020603050405020304" pitchFamily="18" charset="0"/>
                        </a:rPr>
                        <a:t>Tàu</a:t>
                      </a:r>
                      <a:r>
                        <a:rPr lang="en-US" sz="1400" b="1" dirty="0">
                          <a:solidFill>
                            <a:srgbClr val="FF0000"/>
                          </a:solidFill>
                          <a:latin typeface="Times New Roman" panose="02020603050405020304" pitchFamily="18" charset="0"/>
                          <a:cs typeface="Times New Roman" panose="02020603050405020304" pitchFamily="18" charset="0"/>
                        </a:rPr>
                        <a:t> bay </a:t>
                      </a:r>
                      <a:r>
                        <a:rPr lang="en-US" sz="1400" b="1" dirty="0" err="1">
                          <a:solidFill>
                            <a:srgbClr val="FF0000"/>
                          </a:solidFill>
                          <a:latin typeface="Times New Roman" panose="02020603050405020304" pitchFamily="18" charset="0"/>
                          <a:cs typeface="Times New Roman" panose="02020603050405020304" pitchFamily="18" charset="0"/>
                        </a:rPr>
                        <a:t>không</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thể</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hiệu</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chỉnh</a:t>
                      </a:r>
                      <a:r>
                        <a:rPr lang="en-US" sz="1400" b="1" dirty="0">
                          <a:solidFill>
                            <a:srgbClr val="FF0000"/>
                          </a:solidFill>
                          <a:latin typeface="Times New Roman" panose="02020603050405020304" pitchFamily="18" charset="0"/>
                          <a:cs typeface="Times New Roman" panose="02020603050405020304" pitchFamily="18" charset="0"/>
                        </a:rPr>
                        <a:t> antenna, </a:t>
                      </a:r>
                      <a:r>
                        <a:rPr lang="en-US" sz="1400" b="1" dirty="0" err="1">
                          <a:solidFill>
                            <a:srgbClr val="FF0000"/>
                          </a:solidFill>
                          <a:latin typeface="Times New Roman" panose="02020603050405020304" pitchFamily="18" charset="0"/>
                          <a:cs typeface="Times New Roman" panose="02020603050405020304" pitchFamily="18" charset="0"/>
                        </a:rPr>
                        <a:t>trạng</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thái</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dịch</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vụ</a:t>
                      </a:r>
                      <a:r>
                        <a:rPr lang="en-US" sz="1400" b="1" dirty="0">
                          <a:solidFill>
                            <a:srgbClr val="FF0000"/>
                          </a:solidFill>
                          <a:latin typeface="Times New Roman" panose="02020603050405020304" pitchFamily="18" charset="0"/>
                          <a:cs typeface="Times New Roman" panose="02020603050405020304" pitchFamily="18" charset="0"/>
                        </a:rPr>
                        <a:t> disabled. Thales </a:t>
                      </a:r>
                      <a:r>
                        <a:rPr lang="en-US" sz="1400" b="1" dirty="0" err="1">
                          <a:solidFill>
                            <a:srgbClr val="FF0000"/>
                          </a:solidFill>
                          <a:latin typeface="Times New Roman" panose="02020603050405020304" pitchFamily="18" charset="0"/>
                          <a:cs typeface="Times New Roman" panose="02020603050405020304" pitchFamily="18" charset="0"/>
                        </a:rPr>
                        <a:t>đã</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tập</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hợp</a:t>
                      </a:r>
                      <a:r>
                        <a:rPr lang="en-US" sz="1400" b="1" dirty="0">
                          <a:solidFill>
                            <a:srgbClr val="FF0000"/>
                          </a:solidFill>
                          <a:latin typeface="Times New Roman" panose="02020603050405020304" pitchFamily="18" charset="0"/>
                          <a:cs typeface="Times New Roman" panose="02020603050405020304" pitchFamily="18" charset="0"/>
                        </a:rPr>
                        <a:t> logs </a:t>
                      </a:r>
                      <a:r>
                        <a:rPr lang="en-US" sz="1400" b="1" dirty="0" err="1">
                          <a:solidFill>
                            <a:srgbClr val="FF0000"/>
                          </a:solidFill>
                          <a:latin typeface="Times New Roman" panose="02020603050405020304" pitchFamily="18" charset="0"/>
                          <a:cs typeface="Times New Roman" panose="02020603050405020304" pitchFamily="18" charset="0"/>
                        </a:rPr>
                        <a:t>và</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đánh</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giá</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nguyên</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nhân</a:t>
                      </a:r>
                      <a:endParaRPr lang="en-US" sz="1400" b="0" dirty="0">
                        <a:solidFill>
                          <a:schemeClr val="tx1"/>
                        </a:solidFill>
                        <a:latin typeface="Times New Roman" panose="02020603050405020304" pitchFamily="18" charset="0"/>
                        <a:cs typeface="Times New Roman" panose="02020603050405020304" pitchFamily="18" charset="0"/>
                      </a:endParaRPr>
                    </a:p>
                    <a:p>
                      <a:pPr marL="176213" lvl="1" indent="-176213">
                        <a:lnSpc>
                          <a:spcPct val="130000"/>
                        </a:lnSpc>
                        <a:buFontTx/>
                        <a:buChar char="-"/>
                      </a:pPr>
                      <a:r>
                        <a:rPr lang="en-US" sz="1400" b="1" dirty="0">
                          <a:solidFill>
                            <a:srgbClr val="FF0000"/>
                          </a:solidFill>
                          <a:latin typeface="Times New Roman" panose="02020603050405020304" pitchFamily="18" charset="0"/>
                          <a:cs typeface="Times New Roman" panose="02020603050405020304" pitchFamily="18" charset="0"/>
                        </a:rPr>
                        <a:t>KH test </a:t>
                      </a:r>
                      <a:r>
                        <a:rPr lang="en-US" sz="1400" b="1" dirty="0" err="1">
                          <a:solidFill>
                            <a:srgbClr val="FF0000"/>
                          </a:solidFill>
                          <a:latin typeface="Times New Roman" panose="02020603050405020304" pitchFamily="18" charset="0"/>
                          <a:cs typeface="Times New Roman" panose="02020603050405020304" pitchFamily="18" charset="0"/>
                        </a:rPr>
                        <a:t>dịch</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vụ</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tàu</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tiếp</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theo</a:t>
                      </a:r>
                      <a:r>
                        <a:rPr lang="en-US" sz="1400" b="1" dirty="0">
                          <a:solidFill>
                            <a:srgbClr val="FF0000"/>
                          </a:solidFill>
                          <a:latin typeface="Times New Roman" panose="02020603050405020304" pitchFamily="18" charset="0"/>
                          <a:cs typeface="Times New Roman" panose="02020603050405020304" pitchFamily="18" charset="0"/>
                        </a:rPr>
                        <a:t> A893 </a:t>
                      </a:r>
                      <a:r>
                        <a:rPr lang="en-US" sz="1400" b="1" dirty="0" err="1">
                          <a:solidFill>
                            <a:srgbClr val="FF0000"/>
                          </a:solidFill>
                          <a:latin typeface="Times New Roman" panose="02020603050405020304" pitchFamily="18" charset="0"/>
                          <a:cs typeface="Times New Roman" panose="02020603050405020304" pitchFamily="18" charset="0"/>
                        </a:rPr>
                        <a:t>ngày</a:t>
                      </a:r>
                      <a:r>
                        <a:rPr lang="en-US" sz="1400" b="1" dirty="0">
                          <a:solidFill>
                            <a:srgbClr val="FF0000"/>
                          </a:solidFill>
                          <a:latin typeface="Times New Roman" panose="02020603050405020304" pitchFamily="18" charset="0"/>
                          <a:cs typeface="Times New Roman" panose="02020603050405020304" pitchFamily="18" charset="0"/>
                        </a:rPr>
                        <a:t> 18/6/2025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118570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24-36MO;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1.5-1.8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trUSD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(T8/2025)</a:t>
                      </a:r>
                    </a:p>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400K/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4038974"/>
                  </a:ext>
                </a:extLst>
              </a:tr>
            </a:tbl>
          </a:graphicData>
        </a:graphic>
      </p:graphicFrame>
    </p:spTree>
    <p:extLst>
      <p:ext uri="{BB962C8B-B14F-4D97-AF65-F5344CB8AC3E}">
        <p14:creationId xmlns:p14="http://schemas.microsoft.com/office/powerpoint/2010/main" val="1651103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25</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228600" y="209484"/>
            <a:ext cx="11612516"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729754912"/>
              </p:ext>
            </p:extLst>
          </p:nvPr>
        </p:nvGraphicFramePr>
        <p:xfrm>
          <a:off x="228600" y="656502"/>
          <a:ext cx="11612515" cy="6236332"/>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720336">
                  <a:extLst>
                    <a:ext uri="{9D8B030D-6E8A-4147-A177-3AD203B41FA5}">
                      <a16:colId xmlns:a16="http://schemas.microsoft.com/office/drawing/2014/main" val="221963637"/>
                    </a:ext>
                  </a:extLst>
                </a:gridCol>
                <a:gridCol w="84582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8</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CĐCH </a:t>
                      </a:r>
                      <a:r>
                        <a:rPr lang="en-US" sz="1400" b="1" dirty="0" err="1">
                          <a:solidFill>
                            <a:schemeClr val="tx1"/>
                          </a:solidFill>
                          <a:latin typeface="Times New Roman" panose="02020603050405020304" pitchFamily="18" charset="0"/>
                          <a:cs typeface="Times New Roman" panose="02020603050405020304" pitchFamily="18" charset="0"/>
                        </a:rPr>
                        <a:t>ghế</a:t>
                      </a:r>
                      <a:r>
                        <a:rPr lang="en-US" sz="1400" b="1" dirty="0">
                          <a:solidFill>
                            <a:schemeClr val="tx1"/>
                          </a:solidFill>
                          <a:latin typeface="Times New Roman" panose="02020603050405020304" pitchFamily="18" charset="0"/>
                          <a:cs typeface="Times New Roman" panose="02020603050405020304" pitchFamily="18" charset="0"/>
                        </a:rPr>
                        <a:t> 23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A321CEO</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HĐQT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thông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quả</a:t>
                      </a:r>
                      <a:r>
                        <a:rPr lang="en-US" sz="1400" dirty="0">
                          <a:solidFill>
                            <a:schemeClr val="tx1"/>
                          </a:solidFill>
                          <a:latin typeface="Times New Roman" panose="02020603050405020304" pitchFamily="18" charset="0"/>
                          <a:cs typeface="Times New Roman" panose="02020603050405020304" pitchFamily="18" charset="0"/>
                        </a:rPr>
                        <a:t> LC NCC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SB</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hành</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đàm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phán</a:t>
                      </a:r>
                      <a:r>
                        <a:rPr lang="en-US" sz="1400" dirty="0">
                          <a:solidFill>
                            <a:schemeClr val="tx1"/>
                          </a:solidFill>
                          <a:latin typeface="Times New Roman" panose="02020603050405020304" pitchFamily="18" charset="0"/>
                          <a:cs typeface="Times New Roman" panose="02020603050405020304" pitchFamily="18" charset="0"/>
                        </a:rPr>
                        <a:t> HĐ, </a:t>
                      </a:r>
                      <a:r>
                        <a:rPr lang="en-US" sz="1400" dirty="0" err="1">
                          <a:solidFill>
                            <a:schemeClr val="tx1"/>
                          </a:solidFill>
                          <a:latin typeface="Times New Roman" panose="02020603050405020304" pitchFamily="18" charset="0"/>
                          <a:cs typeface="Times New Roman" panose="02020603050405020304" pitchFamily="18" charset="0"/>
                        </a:rPr>
                        <a:t>dự</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phát</a:t>
                      </a:r>
                      <a:r>
                        <a:rPr lang="en-US" sz="1400" dirty="0">
                          <a:solidFill>
                            <a:schemeClr val="tx1"/>
                          </a:solidFill>
                          <a:latin typeface="Times New Roman" panose="02020603050405020304" pitchFamily="18" charset="0"/>
                          <a:cs typeface="Times New Roman" panose="02020603050405020304" pitchFamily="18" charset="0"/>
                        </a:rPr>
                        <a:t> PO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3 </a:t>
                      </a:r>
                      <a:r>
                        <a:rPr lang="en-US" sz="1400" dirty="0" err="1">
                          <a:solidFill>
                            <a:schemeClr val="tx1"/>
                          </a:solidFill>
                          <a:latin typeface="Times New Roman" panose="02020603050405020304" pitchFamily="18" charset="0"/>
                          <a:cs typeface="Times New Roman" panose="02020603050405020304" pitchFamily="18" charset="0"/>
                        </a:rPr>
                        <a:t>tháng</a:t>
                      </a:r>
                      <a:r>
                        <a:rPr lang="en-US" sz="1400" dirty="0">
                          <a:solidFill>
                            <a:schemeClr val="tx1"/>
                          </a:solidFill>
                          <a:latin typeface="Times New Roman" panose="02020603050405020304" pitchFamily="18" charset="0"/>
                          <a:cs typeface="Times New Roman" panose="02020603050405020304" pitchFamily="18" charset="0"/>
                        </a:rPr>
                        <a:t> 6/2025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họp</a:t>
                      </a:r>
                      <a:r>
                        <a:rPr lang="en-US" sz="1400" dirty="0">
                          <a:solidFill>
                            <a:schemeClr val="tx1"/>
                          </a:solidFill>
                          <a:latin typeface="Times New Roman" panose="02020603050405020304" pitchFamily="18" charset="0"/>
                          <a:cs typeface="Times New Roman" panose="02020603050405020304" pitchFamily="18" charset="0"/>
                        </a:rPr>
                        <a:t> ICMT </a:t>
                      </a:r>
                      <a:r>
                        <a:rPr lang="en-US" sz="1400" dirty="0" err="1">
                          <a:solidFill>
                            <a:schemeClr val="tx1"/>
                          </a:solidFill>
                          <a:latin typeface="Times New Roman" panose="02020603050405020304" pitchFamily="18" charset="0"/>
                          <a:cs typeface="Times New Roman" panose="02020603050405020304" pitchFamily="18" charset="0"/>
                        </a:rPr>
                        <a:t>đầu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tháng</a:t>
                      </a:r>
                      <a:r>
                        <a:rPr lang="en-US" sz="1400" dirty="0">
                          <a:solidFill>
                            <a:schemeClr val="tx1"/>
                          </a:solidFill>
                          <a:latin typeface="Times New Roman" panose="02020603050405020304" pitchFamily="18" charset="0"/>
                          <a:cs typeface="Times New Roman" panose="02020603050405020304" pitchFamily="18" charset="0"/>
                        </a:rPr>
                        <a:t> 7</a:t>
                      </a:r>
                    </a:p>
                    <a:p>
                      <a:pPr marL="176213" lvl="1" indent="-176213">
                        <a:lnSpc>
                          <a:spcPct val="130000"/>
                        </a:lnSpc>
                        <a:buFontTx/>
                        <a:buChar char="-"/>
                      </a:pPr>
                      <a:r>
                        <a:rPr lang="en-US" sz="1400" dirty="0" err="1">
                          <a:solidFill>
                            <a:schemeClr val="tx1"/>
                          </a:solidFill>
                          <a:latin typeface="Times New Roman" panose="02020603050405020304" pitchFamily="18" charset="0"/>
                          <a:cs typeface="Times New Roman" panose="02020603050405020304" pitchFamily="18" charset="0"/>
                        </a:rPr>
                        <a:t>Tổ</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tiếp</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thủ</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tục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triển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khai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các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gói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còn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lại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vải</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áo</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ghế</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vận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chuyển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thiết</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bị</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khẩn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nguy</a:t>
                      </a:r>
                      <a:r>
                        <a:rPr lang="en-US" sz="1400" dirty="0">
                          <a:solidFill>
                            <a:schemeClr val="tx1"/>
                          </a:solidFill>
                          <a:latin typeface="Times New Roman" panose="02020603050405020304" pitchFamily="18" charset="0"/>
                          <a:cs typeface="Times New Roman" panose="02020603050405020304" pitchFamily="18" charset="0"/>
                        </a:rPr>
                        <a:t>.</a:t>
                      </a:r>
                    </a:p>
                    <a:p>
                      <a:pPr marL="176213" lvl="1" indent="-176213">
                        <a:lnSpc>
                          <a:spcPct val="130000"/>
                        </a:lnSpc>
                        <a:buFontTx/>
                        <a:buChar cha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KH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T12/2025 – Q1/2026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9</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dirty="0">
                          <a:solidFill>
                            <a:schemeClr val="tx1"/>
                          </a:solidFill>
                          <a:latin typeface="Times New Roman" panose="02020603050405020304" pitchFamily="18" charset="0"/>
                          <a:cs typeface="Times New Roman" panose="02020603050405020304" pitchFamily="18" charset="0"/>
                        </a:rPr>
                        <a:t>Decal </a:t>
                      </a:r>
                      <a:r>
                        <a:rPr lang="en-US" sz="1400" b="1" dirty="0" err="1">
                          <a:solidFill>
                            <a:schemeClr val="tx1"/>
                          </a:solidFill>
                          <a:latin typeface="Times New Roman" panose="02020603050405020304" pitchFamily="18" charset="0"/>
                          <a:cs typeface="Times New Roman" panose="02020603050405020304" pitchFamily="18" charset="0"/>
                        </a:rPr>
                        <a:t>báo</a:t>
                      </a:r>
                      <a:r>
                        <a:rPr lang="en-US" sz="1400" b="1" dirty="0">
                          <a:solidFill>
                            <a:schemeClr val="tx1"/>
                          </a:solidFill>
                          <a:latin typeface="Times New Roman" panose="02020603050405020304" pitchFamily="18" charset="0"/>
                          <a:cs typeface="Times New Roman" panose="02020603050405020304" pitchFamily="18" charset="0"/>
                        </a:rPr>
                        <a:t> ND</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bản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chào</a:t>
                      </a:r>
                      <a:r>
                        <a:rPr lang="en-US" sz="1400" kern="1200" dirty="0">
                          <a:solidFill>
                            <a:schemeClr val="tx1"/>
                          </a:solidFill>
                          <a:latin typeface="Times New Roman" panose="02020603050405020304" pitchFamily="18" charset="0"/>
                          <a:ea typeface="+mn-ea"/>
                          <a:cs typeface="Times New Roman" panose="02020603050405020304" pitchFamily="18" charset="0"/>
                        </a:rPr>
                        <a:t> chi </a:t>
                      </a:r>
                      <a:r>
                        <a:rPr lang="en-US" sz="1400" kern="1200" dirty="0" err="1">
                          <a:solidFill>
                            <a:schemeClr val="tx1"/>
                          </a:solidFill>
                          <a:latin typeface="Times New Roman" panose="02020603050405020304" pitchFamily="18" charset="0"/>
                          <a:ea typeface="+mn-ea"/>
                          <a:cs typeface="Times New Roman" panose="02020603050405020304" pitchFamily="18" charset="0"/>
                        </a:rPr>
                        <a:t>phí</a:t>
                      </a:r>
                      <a:r>
                        <a:rPr lang="en-US" sz="1400" kern="1200" dirty="0">
                          <a:solidFill>
                            <a:schemeClr val="tx1"/>
                          </a:solidFill>
                          <a:latin typeface="Times New Roman" panose="02020603050405020304" pitchFamily="18" charset="0"/>
                          <a:ea typeface="+mn-ea"/>
                          <a:cs typeface="Times New Roman" panose="02020603050405020304" pitchFamily="18" charset="0"/>
                        </a:rPr>
                        <a:t> SB &amp; </a:t>
                      </a:r>
                      <a:r>
                        <a:rPr lang="en-US" sz="1400" kern="1200" dirty="0" err="1">
                          <a:solidFill>
                            <a:schemeClr val="tx1"/>
                          </a:solidFill>
                          <a:latin typeface="Times New Roman" panose="02020603050405020304" pitchFamily="18" charset="0"/>
                          <a:ea typeface="+mn-ea"/>
                          <a:cs typeface="Times New Roman" panose="02020603050405020304" pitchFamily="18" charset="0"/>
                        </a:rPr>
                        <a:t>modkit</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cho</a:t>
                      </a:r>
                      <a:r>
                        <a:rPr lang="en-US" sz="1400" kern="1200" dirty="0">
                          <a:solidFill>
                            <a:schemeClr val="tx1"/>
                          </a:solidFill>
                          <a:latin typeface="Times New Roman" panose="02020603050405020304" pitchFamily="18" charset="0"/>
                          <a:ea typeface="+mn-ea"/>
                          <a:cs typeface="Times New Roman" panose="02020603050405020304" pitchFamily="18" charset="0"/>
                        </a:rPr>
                        <a:t> B787 =&gt; </a:t>
                      </a:r>
                      <a:r>
                        <a:rPr lang="en-US" sz="1400" b="1" kern="1200" dirty="0">
                          <a:solidFill>
                            <a:schemeClr val="tx1"/>
                          </a:solidFill>
                          <a:latin typeface="Times New Roman" panose="02020603050405020304" pitchFamily="18" charset="0"/>
                          <a:ea typeface="+mn-ea"/>
                          <a:cs typeface="Times New Roman" panose="02020603050405020304" pitchFamily="18" charset="0"/>
                        </a:rPr>
                        <a:t>ban KT </a:t>
                      </a:r>
                      <a:r>
                        <a:rPr lang="en-US" sz="1400" b="1" kern="1200" dirty="0" err="1">
                          <a:solidFill>
                            <a:schemeClr val="tx1"/>
                          </a:solidFill>
                          <a:latin typeface="Times New Roman" panose="02020603050405020304" pitchFamily="18" charset="0"/>
                          <a:ea typeface="+mn-ea"/>
                          <a:cs typeface="Times New Roman" panose="02020603050405020304" pitchFamily="18" charset="0"/>
                        </a:rPr>
                        <a:t>đã</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phát</a:t>
                      </a:r>
                      <a:r>
                        <a:rPr lang="en-US" sz="1400" b="1" kern="1200" dirty="0">
                          <a:solidFill>
                            <a:schemeClr val="tx1"/>
                          </a:solidFill>
                          <a:latin typeface="Times New Roman" panose="02020603050405020304" pitchFamily="18" charset="0"/>
                          <a:ea typeface="+mn-ea"/>
                          <a:cs typeface="Times New Roman" panose="02020603050405020304" pitchFamily="18" charset="0"/>
                        </a:rPr>
                        <a:t> PO </a:t>
                      </a:r>
                      <a:r>
                        <a:rPr lang="en-US" sz="1400" b="1" kern="1200" dirty="0" err="1">
                          <a:solidFill>
                            <a:schemeClr val="tx1"/>
                          </a:solidFill>
                          <a:latin typeface="Times New Roman" panose="02020603050405020304" pitchFamily="18" charset="0"/>
                          <a:ea typeface="+mn-ea"/>
                          <a:cs typeface="Times New Roman" panose="02020603050405020304" pitchFamily="18" charset="0"/>
                        </a:rPr>
                        <a:t>triển</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khai</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dự</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kiến</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thực</a:t>
                      </a:r>
                      <a:r>
                        <a:rPr lang="en-US" sz="1400" b="1" kern="1200" dirty="0">
                          <a:solidFill>
                            <a:schemeClr val="tx1"/>
                          </a:solidFill>
                          <a:latin typeface="Times New Roman" panose="02020603050405020304" pitchFamily="18" charset="0"/>
                          <a:ea typeface="+mn-ea"/>
                          <a:cs typeface="Times New Roman" panose="02020603050405020304" pitchFamily="18" charset="0"/>
                        </a:rPr>
                        <a:t> </a:t>
                      </a:r>
                      <a:r>
                        <a:rPr lang="en-US" sz="1400" b="1" kern="1200" dirty="0" err="1">
                          <a:solidFill>
                            <a:schemeClr val="tx1"/>
                          </a:solidFill>
                          <a:latin typeface="Times New Roman" panose="02020603050405020304" pitchFamily="18" charset="0"/>
                          <a:ea typeface="+mn-ea"/>
                          <a:cs typeface="Times New Roman" panose="02020603050405020304" pitchFamily="18" charset="0"/>
                        </a:rPr>
                        <a:t>hiện</a:t>
                      </a:r>
                      <a:r>
                        <a:rPr lang="en-US" sz="1400" b="1" kern="1200" dirty="0">
                          <a:solidFill>
                            <a:schemeClr val="tx1"/>
                          </a:solidFill>
                          <a:latin typeface="Times New Roman" panose="02020603050405020304" pitchFamily="18" charset="0"/>
                          <a:ea typeface="+mn-ea"/>
                          <a:cs typeface="Times New Roman" panose="02020603050405020304" pitchFamily="18" charset="0"/>
                        </a:rPr>
                        <a:t> 15-19/5/2025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có</a:t>
                      </a:r>
                      <a:r>
                        <a:rPr lang="en-US" sz="1400" kern="1200" dirty="0">
                          <a:solidFill>
                            <a:schemeClr val="tx1"/>
                          </a:solidFill>
                          <a:latin typeface="Times New Roman" panose="02020603050405020304" pitchFamily="18" charset="0"/>
                          <a:ea typeface="+mn-ea"/>
                          <a:cs typeface="Times New Roman" panose="02020603050405020304" pitchFamily="18" charset="0"/>
                        </a:rPr>
                        <a:t> SB </a:t>
                      </a:r>
                      <a:r>
                        <a:rPr lang="en-US" sz="1400" kern="1200" dirty="0" err="1">
                          <a:solidFill>
                            <a:schemeClr val="tx1"/>
                          </a:solidFill>
                          <a:latin typeface="Times New Roman" panose="02020603050405020304" pitchFamily="18" charset="0"/>
                          <a:ea typeface="+mn-ea"/>
                          <a:cs typeface="Times New Roman" panose="02020603050405020304" pitchFamily="18" charset="0"/>
                        </a:rPr>
                        <a:t>và</a:t>
                      </a:r>
                      <a:r>
                        <a:rPr lang="en-US" sz="1400" kern="1200" dirty="0">
                          <a:solidFill>
                            <a:schemeClr val="tx1"/>
                          </a:solidFill>
                          <a:latin typeface="Times New Roman" panose="02020603050405020304" pitchFamily="18" charset="0"/>
                          <a:ea typeface="+mn-ea"/>
                          <a:cs typeface="Times New Roman" panose="02020603050405020304" pitchFamily="18" charset="0"/>
                        </a:rPr>
                        <a:t> decal </a:t>
                      </a:r>
                      <a:r>
                        <a:rPr lang="en-US" sz="1400" kern="1200" dirty="0" err="1">
                          <a:solidFill>
                            <a:schemeClr val="tx1"/>
                          </a:solidFill>
                          <a:latin typeface="Times New Roman" panose="02020603050405020304" pitchFamily="18" charset="0"/>
                          <a:ea typeface="+mn-ea"/>
                          <a:cs typeface="Times New Roman" panose="02020603050405020304" pitchFamily="18" charset="0"/>
                        </a:rPr>
                        <a:t>đã</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nhập</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kho</a:t>
                      </a:r>
                      <a:r>
                        <a:rPr lang="en-US" sz="1400" kern="1200" dirty="0">
                          <a:solidFill>
                            <a:schemeClr val="tx1"/>
                          </a:solidFill>
                          <a:latin typeface="Times New Roman" panose="02020603050405020304" pitchFamily="18" charset="0"/>
                          <a:ea typeface="+mn-ea"/>
                          <a:cs typeface="Times New Roman" panose="02020603050405020304" pitchFamily="18" charset="0"/>
                        </a:rPr>
                        <a:t> =&gt; VAECO </a:t>
                      </a:r>
                      <a:r>
                        <a:rPr lang="en-US" sz="1400" kern="1200" dirty="0" err="1">
                          <a:solidFill>
                            <a:schemeClr val="tx1"/>
                          </a:solidFill>
                          <a:latin typeface="Times New Roman" panose="02020603050405020304" pitchFamily="18" charset="0"/>
                          <a:ea typeface="+mn-ea"/>
                          <a:cs typeface="Times New Roman" panose="02020603050405020304" pitchFamily="18" charset="0"/>
                        </a:rPr>
                        <a:t>sẽ</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thực</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hiện</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dán</a:t>
                      </a:r>
                      <a:r>
                        <a:rPr lang="en-US" sz="1400" kern="1200" dirty="0">
                          <a:solidFill>
                            <a:schemeClr val="tx1"/>
                          </a:solidFill>
                          <a:latin typeface="Times New Roman" panose="02020603050405020304" pitchFamily="18" charset="0"/>
                          <a:ea typeface="+mn-ea"/>
                          <a:cs typeface="Times New Roman" panose="02020603050405020304" pitchFamily="18" charset="0"/>
                        </a:rPr>
                        <a:t> decal</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400" kern="1200" dirty="0">
                          <a:solidFill>
                            <a:schemeClr val="tx1"/>
                          </a:solidFill>
                          <a:latin typeface="Times New Roman" panose="02020603050405020304" pitchFamily="18" charset="0"/>
                          <a:ea typeface="+mn-ea"/>
                          <a:cs typeface="Times New Roman" panose="02020603050405020304" pitchFamily="18" charset="0"/>
                        </a:rPr>
                        <a:t>KH </a:t>
                      </a:r>
                      <a:r>
                        <a:rPr lang="en-US" sz="1400" kern="1200" dirty="0" err="1">
                          <a:solidFill>
                            <a:schemeClr val="tx1"/>
                          </a:solidFill>
                          <a:latin typeface="Times New Roman" panose="02020603050405020304" pitchFamily="18" charset="0"/>
                          <a:ea typeface="+mn-ea"/>
                          <a:cs typeface="Times New Roman" panose="02020603050405020304" pitchFamily="18" charset="0"/>
                        </a:rPr>
                        <a:t>thực</a:t>
                      </a:r>
                      <a:r>
                        <a:rPr lang="en-US" sz="1400" kern="1200" dirty="0">
                          <a:solidFill>
                            <a:schemeClr val="tx1"/>
                          </a:solidFill>
                          <a:latin typeface="Times New Roman" panose="02020603050405020304" pitchFamily="18" charset="0"/>
                          <a:ea typeface="+mn-ea"/>
                          <a:cs typeface="Times New Roman" panose="02020603050405020304" pitchFamily="18" charset="0"/>
                        </a:rPr>
                        <a:t> </a:t>
                      </a:r>
                      <a:r>
                        <a:rPr lang="en-US" sz="1400" kern="1200" dirty="0" err="1">
                          <a:solidFill>
                            <a:schemeClr val="tx1"/>
                          </a:solidFill>
                          <a:latin typeface="Times New Roman" panose="02020603050405020304" pitchFamily="18" charset="0"/>
                          <a:ea typeface="+mn-ea"/>
                          <a:cs typeface="Times New Roman" panose="02020603050405020304" pitchFamily="18" charset="0"/>
                        </a:rPr>
                        <a:t>hiện</a:t>
                      </a:r>
                      <a:r>
                        <a:rPr lang="en-US" sz="1400" kern="1200" dirty="0">
                          <a:solidFill>
                            <a:schemeClr val="tx1"/>
                          </a:solidFill>
                          <a:latin typeface="Times New Roman" panose="02020603050405020304" pitchFamily="18" charset="0"/>
                          <a:ea typeface="+mn-ea"/>
                          <a:cs typeface="Times New Roman" panose="02020603050405020304" pitchFamily="18" charset="0"/>
                        </a:rPr>
                        <a:t> A871: 12-17/6/2025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2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2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Local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VAECO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sát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=&gt; VAECO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Mua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EASA</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một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đôi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OEM 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DOA regent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liệu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video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trúc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VNA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6/2025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4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mẫu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Boeing/Airbus)</a:t>
                      </a: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đủ</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OCC. Tiến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check</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DVHK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rèm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thẩm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mỹ</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hành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khách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607578"/>
                  </a:ext>
                </a:extLst>
              </a:tr>
            </a:tbl>
          </a:graphicData>
        </a:graphic>
      </p:graphicFrame>
    </p:spTree>
    <p:extLst>
      <p:ext uri="{BB962C8B-B14F-4D97-AF65-F5344CB8AC3E}">
        <p14:creationId xmlns:p14="http://schemas.microsoft.com/office/powerpoint/2010/main" val="3575203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62DBD6D-0E55-49C5-944E-0A919014F196}"/>
              </a:ext>
            </a:extLst>
          </p:cNvPr>
          <p:cNvGraphicFramePr>
            <a:graphicFrameLocks noGrp="1"/>
          </p:cNvGraphicFramePr>
          <p:nvPr>
            <p:extLst/>
          </p:nvPr>
        </p:nvGraphicFramePr>
        <p:xfrm>
          <a:off x="2362200" y="3142104"/>
          <a:ext cx="8610600" cy="3276601"/>
        </p:xfrm>
        <a:graphic>
          <a:graphicData uri="http://schemas.openxmlformats.org/drawingml/2006/table">
            <a:tbl>
              <a:tblPr firstRow="1" firstCol="1" bandRow="1"/>
              <a:tblGrid>
                <a:gridCol w="608030">
                  <a:extLst>
                    <a:ext uri="{9D8B030D-6E8A-4147-A177-3AD203B41FA5}">
                      <a16:colId xmlns:a16="http://schemas.microsoft.com/office/drawing/2014/main" val="1531600724"/>
                    </a:ext>
                  </a:extLst>
                </a:gridCol>
                <a:gridCol w="1630726">
                  <a:extLst>
                    <a:ext uri="{9D8B030D-6E8A-4147-A177-3AD203B41FA5}">
                      <a16:colId xmlns:a16="http://schemas.microsoft.com/office/drawing/2014/main" val="2778344331"/>
                    </a:ext>
                  </a:extLst>
                </a:gridCol>
                <a:gridCol w="1377696">
                  <a:extLst>
                    <a:ext uri="{9D8B030D-6E8A-4147-A177-3AD203B41FA5}">
                      <a16:colId xmlns:a16="http://schemas.microsoft.com/office/drawing/2014/main" val="51065387"/>
                    </a:ext>
                  </a:extLst>
                </a:gridCol>
                <a:gridCol w="1205484">
                  <a:extLst>
                    <a:ext uri="{9D8B030D-6E8A-4147-A177-3AD203B41FA5}">
                      <a16:colId xmlns:a16="http://schemas.microsoft.com/office/drawing/2014/main" val="783667054"/>
                    </a:ext>
                  </a:extLst>
                </a:gridCol>
                <a:gridCol w="1291590">
                  <a:extLst>
                    <a:ext uri="{9D8B030D-6E8A-4147-A177-3AD203B41FA5}">
                      <a16:colId xmlns:a16="http://schemas.microsoft.com/office/drawing/2014/main" val="2213163783"/>
                    </a:ext>
                  </a:extLst>
                </a:gridCol>
                <a:gridCol w="2497074">
                  <a:extLst>
                    <a:ext uri="{9D8B030D-6E8A-4147-A177-3AD203B41FA5}">
                      <a16:colId xmlns:a16="http://schemas.microsoft.com/office/drawing/2014/main" val="3043656086"/>
                    </a:ext>
                  </a:extLst>
                </a:gridCol>
              </a:tblGrid>
              <a:tr h="857967">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p>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2539848"/>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lnSpc>
                          <a:spcPct val="107000"/>
                        </a:lnSpc>
                        <a:spcAft>
                          <a:spcPts val="800"/>
                        </a:spcAft>
                      </a:pPr>
                      <a:r>
                        <a:rPr lang="en-GB" sz="1400" kern="100" smtClean="0">
                          <a:effectLst/>
                          <a:latin typeface="Times New Roman" panose="02020603050405020304" pitchFamily="18" charset="0"/>
                          <a:cs typeface="Times New Roman" panose="02020603050405020304" pitchFamily="18" charset="0"/>
                        </a:rPr>
                        <a:t>Đã hoàn thành 6Y Check + Engine change 29/04/2025</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2024124"/>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5771852"/>
                  </a:ext>
                </a:extLst>
              </a:tr>
              <a:tr h="9733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1708291"/>
                  </a:ext>
                </a:extLst>
              </a:tr>
            </a:tbl>
          </a:graphicData>
        </a:graphic>
      </p:graphicFrame>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96019" y="140130"/>
            <a:ext cx="1182685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nvPr>
        </p:nvGraphicFramePr>
        <p:xfrm>
          <a:off x="166948" y="533400"/>
          <a:ext cx="11853749" cy="6173484"/>
        </p:xfrm>
        <a:graphic>
          <a:graphicData uri="http://schemas.openxmlformats.org/drawingml/2006/table">
            <a:tbl>
              <a:tblPr>
                <a:tableStyleId>{5C22544A-7EE6-4342-B048-85BDC9FD1C3A}</a:tableStyleId>
              </a:tblPr>
              <a:tblGrid>
                <a:gridCol w="421849">
                  <a:extLst>
                    <a:ext uri="{9D8B030D-6E8A-4147-A177-3AD203B41FA5}">
                      <a16:colId xmlns:a16="http://schemas.microsoft.com/office/drawing/2014/main" val="3304650821"/>
                    </a:ext>
                  </a:extLst>
                </a:gridCol>
                <a:gridCol w="1756074">
                  <a:extLst>
                    <a:ext uri="{9D8B030D-6E8A-4147-A177-3AD203B41FA5}">
                      <a16:colId xmlns:a16="http://schemas.microsoft.com/office/drawing/2014/main" val="1220325190"/>
                    </a:ext>
                  </a:extLst>
                </a:gridCol>
                <a:gridCol w="8633907">
                  <a:extLst>
                    <a:ext uri="{9D8B030D-6E8A-4147-A177-3AD203B41FA5}">
                      <a16:colId xmlns:a16="http://schemas.microsoft.com/office/drawing/2014/main" val="3909604654"/>
                    </a:ext>
                  </a:extLst>
                </a:gridCol>
                <a:gridCol w="1041919">
                  <a:extLst>
                    <a:ext uri="{9D8B030D-6E8A-4147-A177-3AD203B41FA5}">
                      <a16:colId xmlns:a16="http://schemas.microsoft.com/office/drawing/2014/main" val="1269662541"/>
                    </a:ext>
                  </a:extLst>
                </a:gridCol>
              </a:tblGrid>
              <a:tr h="53884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41327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smtClean="0">
                          <a:latin typeface="Times New Roman" panose="02020603050405020304" pitchFamily="18" charset="0"/>
                          <a:cs typeface="Times New Roman" panose="02020603050405020304" pitchFamily="18" charset="0"/>
                        </a:rPr>
                        <a:t>TÀU THUÊ KHÔ/ƯỚT VỚI K6</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just" defTabSz="914400" rtl="0" eaLnBrk="1" fontAlgn="auto" latinLnBrk="0" hangingPunct="1">
                        <a:lnSpc>
                          <a:spcPct val="150000"/>
                        </a:lnSpc>
                        <a:spcBef>
                          <a:spcPts val="0"/>
                        </a:spcBef>
                        <a:spcAft>
                          <a:spcPts val="0"/>
                        </a:spcAft>
                        <a:buClrTx/>
                        <a:buSzTx/>
                        <a:buFontTx/>
                        <a:buChar char="-"/>
                        <a:tabLst/>
                        <a:defRPr/>
                      </a:pPr>
                      <a:r>
                        <a:rPr lang="en-US" sz="1300" dirty="0" smtClean="0">
                          <a:latin typeface="Times New Roman" panose="02020603050405020304" pitchFamily="18" charset="0"/>
                          <a:cs typeface="Times New Roman" panose="02020603050405020304" pitchFamily="18" charset="0"/>
                        </a:rPr>
                        <a:t>VNA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K6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khô</a:t>
                      </a:r>
                      <a:r>
                        <a:rPr lang="en-US" sz="1300" dirty="0" smtClean="0">
                          <a:latin typeface="Times New Roman" panose="02020603050405020304" pitchFamily="18" charset="0"/>
                          <a:cs typeface="Times New Roman" panose="02020603050405020304" pitchFamily="18" charset="0"/>
                        </a:rPr>
                        <a:t> 01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ATR72 MSN 890 VN-B220,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vào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ngày</a:t>
                      </a:r>
                      <a:r>
                        <a:rPr lang="en-US" sz="1300" dirty="0" smtClean="0">
                          <a:latin typeface="Times New Roman" panose="02020603050405020304" pitchFamily="18" charset="0"/>
                          <a:cs typeface="Times New Roman" panose="02020603050405020304" pitchFamily="18" charset="0"/>
                        </a:rPr>
                        <a:t> </a:t>
                      </a:r>
                      <a:r>
                        <a:rPr lang="en-US" sz="1300" b="0" dirty="0" smtClean="0">
                          <a:latin typeface="Times New Roman" panose="02020603050405020304" pitchFamily="18" charset="0"/>
                          <a:cs typeface="Times New Roman" panose="02020603050405020304" pitchFamily="18" charset="0"/>
                        </a:rPr>
                        <a:t>25/06/2025</a:t>
                      </a:r>
                      <a:r>
                        <a:rPr lang="en-US" sz="1300" dirty="0" smtClean="0">
                          <a:latin typeface="Times New Roman" panose="02020603050405020304" pitchFamily="18" charset="0"/>
                          <a:cs typeface="Times New Roman" panose="02020603050405020304" pitchFamily="18" charset="0"/>
                        </a:rPr>
                        <a:t>. TGĐ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duyệt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tờ</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ý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30/11/2025,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phụ</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lục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a:t>
                      </a:r>
                    </a:p>
                    <a:p>
                      <a:pPr marL="285750" marR="0" indent="-285750" algn="just" defTabSz="914400" rtl="0" eaLnBrk="1" fontAlgn="auto" latinLnBrk="0" hangingPunct="1">
                        <a:lnSpc>
                          <a:spcPct val="150000"/>
                        </a:lnSpc>
                        <a:spcBef>
                          <a:spcPts val="0"/>
                        </a:spcBef>
                        <a:spcAft>
                          <a:spcPts val="0"/>
                        </a:spcAft>
                        <a:buClrTx/>
                        <a:buSzTx/>
                        <a:buFontTx/>
                        <a:buChar char="-"/>
                        <a:tabLst/>
                        <a:defRPr/>
                      </a:pPr>
                      <a:r>
                        <a:rPr lang="en-US" sz="1300" dirty="0" smtClean="0">
                          <a:latin typeface="Times New Roman" panose="02020603050405020304" pitchFamily="18" charset="0"/>
                          <a:cs typeface="Times New Roman" panose="02020603050405020304" pitchFamily="18" charset="0"/>
                        </a:rPr>
                        <a:t>VNA </a:t>
                      </a:r>
                      <a:r>
                        <a:rPr lang="en-US" sz="1300" dirty="0" err="1" smtClean="0">
                          <a:latin typeface="Times New Roman" panose="02020603050405020304" pitchFamily="18" charset="0"/>
                          <a:cs typeface="Times New Roman" panose="02020603050405020304" pitchFamily="18" charset="0"/>
                        </a:rPr>
                        <a:t>dự</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K6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khô</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thêm</a:t>
                      </a:r>
                      <a:r>
                        <a:rPr lang="en-US" sz="1300" dirty="0" smtClean="0">
                          <a:latin typeface="Times New Roman" panose="02020603050405020304" pitchFamily="18" charset="0"/>
                          <a:cs typeface="Times New Roman" panose="02020603050405020304" pitchFamily="18" charset="0"/>
                        </a:rPr>
                        <a:t> 01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ATR 72 B225 </a:t>
                      </a:r>
                      <a:r>
                        <a:rPr lang="en-US" sz="1300" dirty="0" err="1" smtClean="0">
                          <a:latin typeface="Times New Roman" panose="02020603050405020304" pitchFamily="18" charset="0"/>
                          <a:cs typeface="Times New Roman" panose="02020603050405020304" pitchFamily="18" charset="0"/>
                        </a:rPr>
                        <a:t>thời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từ</a:t>
                      </a:r>
                      <a:r>
                        <a:rPr lang="en-US" sz="1300" dirty="0" smtClean="0">
                          <a:latin typeface="Times New Roman" panose="02020603050405020304" pitchFamily="18" charset="0"/>
                          <a:cs typeface="Times New Roman" panose="02020603050405020304" pitchFamily="18" charset="0"/>
                        </a:rPr>
                        <a:t> 15/06/2025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25/10/2025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làm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tờ</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TGĐ).</a:t>
                      </a:r>
                    </a:p>
                    <a:p>
                      <a:pPr marL="285750" marR="0" indent="-285750" algn="just" defTabSz="914400" rtl="0" eaLnBrk="1" fontAlgn="auto" latinLnBrk="0" hangingPunct="1">
                        <a:lnSpc>
                          <a:spcPct val="150000"/>
                        </a:lnSpc>
                        <a:spcBef>
                          <a:spcPts val="0"/>
                        </a:spcBef>
                        <a:spcAft>
                          <a:spcPts val="0"/>
                        </a:spcAft>
                        <a:buClrTx/>
                        <a:buSzTx/>
                        <a:buFontTx/>
                        <a:buChar char="-"/>
                        <a:tabLst/>
                        <a:defRPr/>
                      </a:pPr>
                      <a:r>
                        <a:rPr lang="en-US" sz="1300" dirty="0" smtClean="0">
                          <a:latin typeface="Times New Roman" panose="02020603050405020304" pitchFamily="18" charset="0"/>
                          <a:cs typeface="Times New Roman" panose="02020603050405020304" pitchFamily="18" charset="0"/>
                        </a:rPr>
                        <a:t>VNA </a:t>
                      </a:r>
                      <a:r>
                        <a:rPr lang="en-US" sz="1300" dirty="0" err="1" smtClean="0">
                          <a:latin typeface="Times New Roman" panose="02020603050405020304" pitchFamily="18" charset="0"/>
                          <a:cs typeface="Times New Roman" panose="02020603050405020304" pitchFamily="18" charset="0"/>
                        </a:rPr>
                        <a:t>dự</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ướt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của</a:t>
                      </a:r>
                      <a:r>
                        <a:rPr lang="en-US" sz="1300" dirty="0" smtClean="0">
                          <a:latin typeface="Times New Roman" panose="02020603050405020304" pitchFamily="18" charset="0"/>
                          <a:cs typeface="Times New Roman" panose="02020603050405020304" pitchFamily="18" charset="0"/>
                        </a:rPr>
                        <a:t> K6 01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A321 bay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thác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với</a:t>
                      </a:r>
                      <a:r>
                        <a:rPr lang="en-US" sz="1300" dirty="0" smtClean="0">
                          <a:latin typeface="Times New Roman" panose="02020603050405020304" pitchFamily="18" charset="0"/>
                          <a:cs typeface="Times New Roman" panose="02020603050405020304" pitchFamily="18" charset="0"/>
                        </a:rPr>
                        <a:t> K6 </a:t>
                      </a:r>
                      <a:r>
                        <a:rPr lang="en-US" sz="1300" dirty="0" err="1" smtClean="0">
                          <a:latin typeface="Times New Roman" panose="02020603050405020304" pitchFamily="18" charset="0"/>
                          <a:cs typeface="Times New Roman" panose="02020603050405020304" pitchFamily="18" charset="0"/>
                        </a:rPr>
                        <a:t>từ</a:t>
                      </a:r>
                      <a:r>
                        <a:rPr lang="en-US" sz="1300" dirty="0" smtClean="0">
                          <a:latin typeface="Times New Roman" panose="02020603050405020304" pitchFamily="18" charset="0"/>
                          <a:cs typeface="Times New Roman" panose="02020603050405020304" pitchFamily="18" charset="0"/>
                        </a:rPr>
                        <a:t> 15/06/2025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25/10/2025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trình</a:t>
                      </a:r>
                      <a:r>
                        <a:rPr lang="en-US" sz="1300" dirty="0" smtClean="0">
                          <a:latin typeface="Times New Roman" panose="02020603050405020304" pitchFamily="18" charset="0"/>
                          <a:cs typeface="Times New Roman" panose="02020603050405020304" pitchFamily="18" charset="0"/>
                        </a:rPr>
                        <a:t> TGĐ).</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968683"/>
                  </a:ext>
                </a:extLst>
              </a:tr>
              <a:tr h="422135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03 TÀU A321 CEO CHO PA THUÊ KHÔ A354, A359,</a:t>
                      </a:r>
                      <a:r>
                        <a:rPr lang="en-US" sz="1300" b="0" baseline="0" dirty="0">
                          <a:latin typeface="Times New Roman" panose="02020603050405020304" pitchFamily="18" charset="0"/>
                          <a:cs typeface="Times New Roman" panose="02020603050405020304" pitchFamily="18" charset="0"/>
                        </a:rPr>
                        <a:t> </a:t>
                      </a:r>
                      <a:r>
                        <a:rPr lang="en-US" sz="1300" b="0" dirty="0">
                          <a:latin typeface="Times New Roman" panose="02020603050405020304" pitchFamily="18" charset="0"/>
                          <a:cs typeface="Times New Roman" panose="02020603050405020304" pitchFamily="18" charset="0"/>
                        </a:rPr>
                        <a:t>A363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dirty="0" smtClean="0">
                          <a:latin typeface="Times New Roman" panose="02020603050405020304" pitchFamily="18" charset="0"/>
                          <a:cs typeface="Times New Roman" panose="02020603050405020304" pitchFamily="18" charset="0"/>
                        </a:rPr>
                        <a:t>03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tháng</a:t>
                      </a:r>
                      <a:r>
                        <a:rPr lang="en-US" sz="1300" dirty="0" smtClean="0">
                          <a:latin typeface="Times New Roman" panose="02020603050405020304" pitchFamily="18" charset="0"/>
                          <a:cs typeface="Times New Roman" panose="02020603050405020304" pitchFamily="18" charset="0"/>
                        </a:rPr>
                        <a:t> 06,07,10 </a:t>
                      </a:r>
                      <a:r>
                        <a:rPr lang="en-US" sz="1300" dirty="0" err="1" smtClean="0">
                          <a:latin typeface="Times New Roman" panose="02020603050405020304" pitchFamily="18" charset="0"/>
                          <a:cs typeface="Times New Roman" panose="02020603050405020304" pitchFamily="18" charset="0"/>
                        </a:rPr>
                        <a:t>năm</a:t>
                      </a:r>
                      <a:r>
                        <a:rPr lang="en-US" sz="1300" dirty="0" smtClean="0">
                          <a:latin typeface="Times New Roman" panose="02020603050405020304" pitchFamily="18" charset="0"/>
                          <a:cs typeface="Times New Roman" panose="02020603050405020304" pitchFamily="18" charset="0"/>
                        </a:rPr>
                        <a:t> 2025 </a:t>
                      </a:r>
                      <a:r>
                        <a:rPr lang="en-US" sz="1300" dirty="0" err="1" smtClean="0">
                          <a:latin typeface="Times New Roman" panose="02020603050405020304" pitchFamily="18" charset="0"/>
                          <a:cs typeface="Times New Roman" panose="02020603050405020304" pitchFamily="18" charset="0"/>
                        </a:rPr>
                        <a:t>cần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duy</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trì</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thác</a:t>
                      </a:r>
                      <a:r>
                        <a:rPr lang="en-US" sz="1300" dirty="0" smtClean="0">
                          <a:latin typeface="Times New Roman" panose="02020603050405020304" pitchFamily="18" charset="0"/>
                          <a:cs typeface="Times New Roman" panose="02020603050405020304" pitchFamily="18" charset="0"/>
                        </a:rPr>
                        <a:t> AOC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PA. PA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có</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bản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đề</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nghị</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03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A354, A359, A363 </a:t>
                      </a:r>
                      <a:r>
                        <a:rPr lang="en-US" sz="1300" dirty="0" err="1" smtClean="0">
                          <a:latin typeface="Times New Roman" panose="02020603050405020304" pitchFamily="18" charset="0"/>
                          <a:cs typeface="Times New Roman" panose="02020603050405020304" pitchFamily="18" charset="0"/>
                        </a:rPr>
                        <a:t>trong</a:t>
                      </a:r>
                      <a:r>
                        <a:rPr lang="en-US" sz="1300" dirty="0" smtClean="0">
                          <a:latin typeface="Times New Roman" panose="02020603050405020304" pitchFamily="18" charset="0"/>
                          <a:cs typeface="Times New Roman" panose="02020603050405020304" pitchFamily="18" charset="0"/>
                        </a:rPr>
                        <a:t> 1 </a:t>
                      </a:r>
                      <a:r>
                        <a:rPr lang="en-US" sz="1300" dirty="0" err="1" smtClean="0">
                          <a:latin typeface="Times New Roman" panose="02020603050405020304" pitchFamily="18" charset="0"/>
                          <a:cs typeface="Times New Roman" panose="02020603050405020304" pitchFamily="18" charset="0"/>
                        </a:rPr>
                        <a:t>năm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theo</a:t>
                      </a:r>
                      <a:r>
                        <a:rPr lang="en-US" sz="1300" dirty="0" smtClean="0">
                          <a:latin typeface="Times New Roman" panose="02020603050405020304" pitchFamily="18" charset="0"/>
                          <a:cs typeface="Times New Roman" panose="02020603050405020304" pitchFamily="18" charset="0"/>
                        </a:rPr>
                        <a:t> so </a:t>
                      </a:r>
                      <a:r>
                        <a:rPr lang="en-US" sz="1300" dirty="0" err="1" smtClean="0">
                          <a:latin typeface="Times New Roman" panose="02020603050405020304" pitchFamily="18" charset="0"/>
                          <a:cs typeface="Times New Roman" panose="02020603050405020304" pitchFamily="18" charset="0"/>
                        </a:rPr>
                        <a:t>với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tại</a:t>
                      </a:r>
                      <a:r>
                        <a:rPr lang="en-US" sz="1300" dirty="0" smtClean="0">
                          <a:latin typeface="Times New Roman" panose="02020603050405020304" pitchFamily="18" charset="0"/>
                          <a:cs typeface="Times New Roman" panose="02020603050405020304" pitchFamily="18" charset="0"/>
                        </a:rPr>
                        <a:t>. TGĐ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ý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thêm</a:t>
                      </a:r>
                      <a:r>
                        <a:rPr lang="en-US" sz="1300" dirty="0" smtClean="0">
                          <a:latin typeface="Times New Roman" panose="02020603050405020304" pitchFamily="18" charset="0"/>
                          <a:cs typeface="Times New Roman" panose="02020603050405020304" pitchFamily="18" charset="0"/>
                        </a:rPr>
                        <a:t> 1 </a:t>
                      </a:r>
                      <a:r>
                        <a:rPr lang="en-US" sz="1300" dirty="0" err="1" smtClean="0">
                          <a:latin typeface="Times New Roman" panose="02020603050405020304" pitchFamily="18" charset="0"/>
                          <a:cs typeface="Times New Roman" panose="02020603050405020304" pitchFamily="18" charset="0"/>
                        </a:rPr>
                        <a:t>năm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thực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sửa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đổi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phụ</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lục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a:t>
                      </a:r>
                      <a:endParaRPr lang="en-US" sz="1300" dirty="0" smtClean="0">
                        <a:latin typeface="Times New Roman" panose="02020603050405020304" pitchFamily="18" charset="0"/>
                        <a:cs typeface="Times New Roman" panose="02020603050405020304" pitchFamily="18" charset="0"/>
                      </a:endParaRPr>
                    </a:p>
                    <a:p>
                      <a:pPr marL="285750" lvl="0" indent="-285750" algn="just">
                        <a:buFontTx/>
                        <a:buChar char="-"/>
                      </a:pPr>
                      <a:endParaRPr lang="en-US" sz="1200" dirty="0">
                        <a:latin typeface="Times New Roman" panose="02020603050405020304" pitchFamily="18" charset="0"/>
                        <a:cs typeface="Times New Roman" panose="02020603050405020304" pitchFamily="18" charset="0"/>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2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200" kern="1200" baseline="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2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200" kern="1200" baseline="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87746"/>
                  </a:ext>
                </a:extLst>
              </a:tr>
            </a:tbl>
          </a:graphicData>
        </a:graphic>
      </p:graphicFrame>
    </p:spTree>
    <p:extLst>
      <p:ext uri="{BB962C8B-B14F-4D97-AF65-F5344CB8AC3E}">
        <p14:creationId xmlns:p14="http://schemas.microsoft.com/office/powerpoint/2010/main" val="456777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96019" y="140130"/>
            <a:ext cx="1182685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7"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892880756"/>
              </p:ext>
            </p:extLst>
          </p:nvPr>
        </p:nvGraphicFramePr>
        <p:xfrm>
          <a:off x="232954" y="762000"/>
          <a:ext cx="11612515" cy="2400141"/>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720336">
                  <a:extLst>
                    <a:ext uri="{9D8B030D-6E8A-4147-A177-3AD203B41FA5}">
                      <a16:colId xmlns:a16="http://schemas.microsoft.com/office/drawing/2014/main" val="221963637"/>
                    </a:ext>
                  </a:extLst>
                </a:gridCol>
                <a:gridCol w="84582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smtClean="0">
                          <a:latin typeface="Times New Roman" panose="02020603050405020304" pitchFamily="18" charset="0"/>
                          <a:cs typeface="Times New Roman" panose="02020603050405020304" pitchFamily="18" charset="0"/>
                        </a:rPr>
                        <a:t>GIA HẠN THUÊ 10 TÀU VALC </a:t>
                      </a:r>
                      <a:endParaRPr lang="en-US" sz="1300" b="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dirty="0" err="1" smtClean="0">
                          <a:latin typeface="Times New Roman" panose="02020603050405020304" pitchFamily="18" charset="0"/>
                          <a:cs typeface="Times New Roman" panose="02020603050405020304" pitchFamily="18" charset="0"/>
                        </a:rPr>
                        <a:t>Thủ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tục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của</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chậm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nên</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đã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ý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10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A321CEO 3 </a:t>
                      </a:r>
                      <a:r>
                        <a:rPr lang="en-US" sz="1300" dirty="0" err="1" smtClean="0">
                          <a:latin typeface="Times New Roman" panose="02020603050405020304" pitchFamily="18" charset="0"/>
                          <a:cs typeface="Times New Roman" panose="02020603050405020304" pitchFamily="18" charset="0"/>
                        </a:rPr>
                        <a:t>tháng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đến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hết</a:t>
                      </a:r>
                      <a:r>
                        <a:rPr lang="en-US" sz="1300" dirty="0" smtClean="0">
                          <a:latin typeface="Times New Roman" panose="02020603050405020304" pitchFamily="18" charset="0"/>
                          <a:cs typeface="Times New Roman" panose="02020603050405020304" pitchFamily="18" charset="0"/>
                        </a:rPr>
                        <a:t> 30/06/2025.</a:t>
                      </a:r>
                    </a:p>
                    <a:p>
                      <a:pPr algn="just">
                        <a:lnSpc>
                          <a:spcPct val="150000"/>
                        </a:lnSpc>
                      </a:pPr>
                      <a:r>
                        <a:rPr lang="en-US" sz="1300" dirty="0" err="1" smtClean="0">
                          <a:latin typeface="Times New Roman" panose="02020603050405020304" pitchFamily="18" charset="0"/>
                          <a:cs typeface="Times New Roman" panose="02020603050405020304" pitchFamily="18" charset="0"/>
                        </a:rPr>
                        <a:t>Hiện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tại</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chờ</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kết</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quả</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từ</a:t>
                      </a:r>
                      <a:r>
                        <a:rPr lang="en-US" sz="1300" dirty="0" smtClean="0">
                          <a:latin typeface="Times New Roman" panose="02020603050405020304" pitchFamily="18" charset="0"/>
                          <a:cs typeface="Times New Roman" panose="02020603050405020304" pitchFamily="18" charset="0"/>
                        </a:rPr>
                        <a:t> VALC, </a:t>
                      </a:r>
                      <a:r>
                        <a:rPr lang="en-US" sz="1300" dirty="0" err="1" smtClean="0">
                          <a:latin typeface="Times New Roman" panose="02020603050405020304" pitchFamily="18" charset="0"/>
                          <a:cs typeface="Times New Roman" panose="02020603050405020304" pitchFamily="18" charset="0"/>
                        </a:rPr>
                        <a:t>tiếp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theo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sẽ</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cần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triển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khai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đàm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phán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đồng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trong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tr</a:t>
                      </a:r>
                      <a:r>
                        <a:rPr lang="vi-VN" sz="1300" dirty="0" smtClean="0">
                          <a:latin typeface="+mn-lt"/>
                          <a:cs typeface="Times New Roman" panose="02020603050405020304" pitchFamily="18" charset="0"/>
                        </a:rPr>
                        <a:t>ư</a:t>
                      </a:r>
                      <a:r>
                        <a:rPr lang="en-US" sz="1300" dirty="0" err="1" smtClean="0">
                          <a:latin typeface="Times New Roman" panose="02020603050405020304" pitchFamily="18" charset="0"/>
                          <a:cs typeface="Times New Roman" panose="02020603050405020304" pitchFamily="18" charset="0"/>
                        </a:rPr>
                        <a:t>ờng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hợp</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chuyển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đổi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chủ</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sở</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hữu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smtClean="0">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smtClean="0">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smtClean="0">
                          <a:solidFill>
                            <a:schemeClr val="tx1"/>
                          </a:solidFill>
                          <a:effectLst/>
                          <a:latin typeface="Times New Roman" panose="02020603050405020304" pitchFamily="18" charset="0"/>
                          <a:cs typeface="Times New Roman" panose="02020603050405020304" pitchFamily="18" charset="0"/>
                        </a:rPr>
                        <a:t>15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smtClean="0">
                          <a:latin typeface="Times New Roman" panose="02020603050405020304" pitchFamily="18" charset="0"/>
                          <a:cs typeface="Times New Roman" panose="02020603050405020304" pitchFamily="18" charset="0"/>
                        </a:rPr>
                        <a:t>DỰ ÁN THUÊ KHÔ 05 TÀU GAT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dirty="0" smtClean="0">
                          <a:latin typeface="Times New Roman" panose="02020603050405020304" pitchFamily="18" charset="0"/>
                          <a:cs typeface="Times New Roman" panose="02020603050405020304" pitchFamily="18" charset="0"/>
                        </a:rPr>
                        <a:t>GAT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gửi</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bản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chào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cho</a:t>
                      </a:r>
                      <a:r>
                        <a:rPr lang="en-US" sz="1300" dirty="0" smtClean="0">
                          <a:latin typeface="Times New Roman" panose="02020603050405020304" pitchFamily="18" charset="0"/>
                          <a:cs typeface="Times New Roman" panose="02020603050405020304" pitchFamily="18" charset="0"/>
                        </a:rPr>
                        <a:t> VNA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khô</a:t>
                      </a:r>
                      <a:r>
                        <a:rPr lang="en-US" sz="1300" dirty="0" smtClean="0">
                          <a:latin typeface="Times New Roman" panose="02020603050405020304" pitchFamily="18" charset="0"/>
                          <a:cs typeface="Times New Roman" panose="02020603050405020304" pitchFamily="18" charset="0"/>
                        </a:rPr>
                        <a:t> 05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A321 CEO(</a:t>
                      </a:r>
                      <a:r>
                        <a:rPr lang="en-US" sz="1300" dirty="0" err="1" smtClean="0">
                          <a:latin typeface="Times New Roman" panose="02020603050405020304" pitchFamily="18" charset="0"/>
                          <a:cs typeface="Times New Roman" panose="02020603050405020304" pitchFamily="18" charset="0"/>
                        </a:rPr>
                        <a:t>năm</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sản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xuất</a:t>
                      </a:r>
                      <a:r>
                        <a:rPr lang="en-US" sz="1300" dirty="0" smtClean="0">
                          <a:latin typeface="Times New Roman" panose="02020603050405020304" pitchFamily="18" charset="0"/>
                          <a:cs typeface="Times New Roman" panose="02020603050405020304" pitchFamily="18" charset="0"/>
                        </a:rPr>
                        <a:t> 2015(01) </a:t>
                      </a:r>
                      <a:r>
                        <a:rPr lang="en-US" sz="1300" dirty="0" err="1" smtClean="0">
                          <a:latin typeface="Times New Roman" panose="02020603050405020304" pitchFamily="18" charset="0"/>
                          <a:cs typeface="Times New Roman" panose="02020603050405020304" pitchFamily="18" charset="0"/>
                        </a:rPr>
                        <a:t>và</a:t>
                      </a:r>
                      <a:r>
                        <a:rPr lang="en-US" sz="1300" dirty="0" smtClean="0">
                          <a:latin typeface="Times New Roman" panose="02020603050405020304" pitchFamily="18" charset="0"/>
                          <a:cs typeface="Times New Roman" panose="02020603050405020304" pitchFamily="18" charset="0"/>
                        </a:rPr>
                        <a:t> 2017(04) </a:t>
                      </a:r>
                      <a:r>
                        <a:rPr lang="en-US" sz="1300" dirty="0" err="1" smtClean="0">
                          <a:latin typeface="Times New Roman" panose="02020603050405020304" pitchFamily="18" charset="0"/>
                          <a:cs typeface="Times New Roman" panose="02020603050405020304" pitchFamily="18" charset="0"/>
                        </a:rPr>
                        <a:t>thời</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60 Months, </a:t>
                      </a:r>
                      <a:r>
                        <a:rPr lang="en-US" sz="1300" dirty="0" err="1" smtClean="0">
                          <a:latin typeface="Times New Roman" panose="02020603050405020304" pitchFamily="18" charset="0"/>
                          <a:cs typeface="Times New Roman" panose="02020603050405020304" pitchFamily="18" charset="0"/>
                        </a:rPr>
                        <a:t>giá</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thuê</a:t>
                      </a:r>
                      <a:r>
                        <a:rPr lang="en-US" sz="1300" dirty="0" smtClean="0">
                          <a:latin typeface="Times New Roman" panose="02020603050405020304" pitchFamily="18" charset="0"/>
                          <a:cs typeface="Times New Roman" panose="02020603050405020304" pitchFamily="18" charset="0"/>
                        </a:rPr>
                        <a:t> 285K$/1 Mo, </a:t>
                      </a:r>
                      <a:r>
                        <a:rPr lang="en-US" sz="1300" dirty="0" err="1" smtClean="0">
                          <a:latin typeface="Times New Roman" panose="02020603050405020304" pitchFamily="18" charset="0"/>
                          <a:cs typeface="Times New Roman" panose="02020603050405020304" pitchFamily="18" charset="0"/>
                        </a:rPr>
                        <a:t>điều</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kiện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giao</a:t>
                      </a:r>
                      <a:r>
                        <a:rPr lang="en-US" sz="1300" dirty="0" smtClean="0">
                          <a:latin typeface="Times New Roman" panose="02020603050405020304" pitchFamily="18" charset="0"/>
                          <a:cs typeface="Times New Roman" panose="02020603050405020304" pitchFamily="18" charset="0"/>
                        </a:rPr>
                        <a:t> / </a:t>
                      </a:r>
                      <a:r>
                        <a:rPr lang="en-US" sz="1300" dirty="0" err="1" smtClean="0">
                          <a:latin typeface="Times New Roman" panose="02020603050405020304" pitchFamily="18" charset="0"/>
                          <a:cs typeface="Times New Roman" panose="02020603050405020304" pitchFamily="18" charset="0"/>
                        </a:rPr>
                        <a:t>nhận</a:t>
                      </a:r>
                      <a:r>
                        <a:rPr lang="en-US" sz="1300" dirty="0" smtClean="0">
                          <a:latin typeface="Times New Roman" panose="02020603050405020304" pitchFamily="18" charset="0"/>
                          <a:cs typeface="Times New Roman" panose="02020603050405020304" pitchFamily="18" charset="0"/>
                        </a:rPr>
                        <a:t> serviceable </a:t>
                      </a:r>
                      <a:r>
                        <a:rPr lang="en-US" sz="1300" dirty="0" err="1" smtClean="0">
                          <a:latin typeface="Times New Roman" panose="02020603050405020304" pitchFamily="18" charset="0"/>
                          <a:cs typeface="Times New Roman" panose="02020603050405020304" pitchFamily="18" charset="0"/>
                        </a:rPr>
                        <a:t>theo</a:t>
                      </a:r>
                      <a:r>
                        <a:rPr lang="en-US" sz="1300" dirty="0" smtClean="0">
                          <a:latin typeface="Times New Roman" panose="02020603050405020304" pitchFamily="18" charset="0"/>
                          <a:cs typeface="Times New Roman" panose="02020603050405020304" pitchFamily="18" charset="0"/>
                        </a:rPr>
                        <a:t> AMM, </a:t>
                      </a:r>
                      <a:r>
                        <a:rPr lang="en-US" sz="1300" dirty="0" err="1" smtClean="0">
                          <a:latin typeface="Times New Roman" panose="02020603050405020304" pitchFamily="18" charset="0"/>
                          <a:cs typeface="Times New Roman" panose="02020603050405020304" pitchFamily="18" charset="0"/>
                        </a:rPr>
                        <a:t>có</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đóng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quỹ</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bảo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dưỡng</a:t>
                      </a:r>
                      <a:r>
                        <a:rPr lang="en-US" sz="1300" dirty="0" smtClean="0">
                          <a:latin typeface="Times New Roman" panose="02020603050405020304" pitchFamily="18" charset="0"/>
                          <a:cs typeface="Times New Roman" panose="02020603050405020304" pitchFamily="18" charset="0"/>
                        </a:rPr>
                        <a:t> 6Y12Y LDG APU. </a:t>
                      </a:r>
                      <a:r>
                        <a:rPr lang="en-US" sz="1300" dirty="0" err="1" smtClean="0">
                          <a:latin typeface="Times New Roman" panose="02020603050405020304" pitchFamily="18" charset="0"/>
                          <a:cs typeface="Times New Roman" panose="02020603050405020304" pitchFamily="18" charset="0"/>
                        </a:rPr>
                        <a:t>Kế</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hoạch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giao</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tàu</a:t>
                      </a:r>
                      <a:r>
                        <a:rPr lang="en-US" sz="1300" dirty="0" smtClean="0">
                          <a:latin typeface="Times New Roman" panose="02020603050405020304" pitchFamily="18" charset="0"/>
                          <a:cs typeface="Times New Roman" panose="02020603050405020304" pitchFamily="18" charset="0"/>
                        </a:rPr>
                        <a:t>: 10/2025, 11/2025, 01/2026, 02/2026, 04/2026. </a:t>
                      </a:r>
                      <a:r>
                        <a:rPr lang="en-US" sz="1300" dirty="0" err="1" smtClean="0">
                          <a:latin typeface="Times New Roman" panose="02020603050405020304" pitchFamily="18" charset="0"/>
                          <a:cs typeface="Times New Roman" panose="02020603050405020304" pitchFamily="18" charset="0"/>
                        </a:rPr>
                        <a:t>Các</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đơn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vị</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đang</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đánh</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giá</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bản</a:t>
                      </a:r>
                      <a:r>
                        <a:rPr lang="en-US" sz="1300" dirty="0" smtClean="0">
                          <a:latin typeface="Times New Roman" panose="02020603050405020304" pitchFamily="18" charset="0"/>
                          <a:cs typeface="Times New Roman" panose="02020603050405020304" pitchFamily="18" charset="0"/>
                        </a:rPr>
                        <a:t> </a:t>
                      </a:r>
                      <a:r>
                        <a:rPr lang="en-US" sz="1300" dirty="0" err="1" smtClean="0">
                          <a:latin typeface="Times New Roman" panose="02020603050405020304" pitchFamily="18" charset="0"/>
                          <a:cs typeface="Times New Roman" panose="02020603050405020304" pitchFamily="18" charset="0"/>
                        </a:rPr>
                        <a:t>chào</a:t>
                      </a:r>
                      <a:r>
                        <a:rPr lang="en-US" sz="1300" b="0" kern="1200" dirty="0" smtClean="0">
                          <a:solidFill>
                            <a:schemeClr val="tx1"/>
                          </a:solidFill>
                          <a:latin typeface="Times New Roman" panose="02020603050405020304" pitchFamily="18" charset="0"/>
                          <a:ea typeface="+mn-ea"/>
                          <a:cs typeface="Times New Roman" panose="02020603050405020304" pitchFamily="18" charset="0"/>
                        </a:rPr>
                        <a:t>.</a:t>
                      </a:r>
                      <a:endParaRPr lang="en-US" sz="1300" b="0" kern="1200" dirty="0">
                        <a:solidFill>
                          <a:schemeClr val="tx1"/>
                        </a:solidFill>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bl>
          </a:graphicData>
        </a:graphic>
      </p:graphicFrame>
    </p:spTree>
    <p:extLst>
      <p:ext uri="{BB962C8B-B14F-4D97-AF65-F5344CB8AC3E}">
        <p14:creationId xmlns:p14="http://schemas.microsoft.com/office/powerpoint/2010/main" val="4264215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3137303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Arial"/>
              <a:sym typeface="Arial"/>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NHU CẦU ĐỘNG CƠ DỰ PHÒNG CÁC FLEET T5-T8/2025</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extLst/>
          </p:nvPr>
        </p:nvGraphicFramePr>
        <p:xfrm>
          <a:off x="2514600" y="592815"/>
          <a:ext cx="9677400" cy="626518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52400" y="592815"/>
            <a:ext cx="2133600" cy="5093702"/>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A321CEO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Q3-Q4/2025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duy</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9-10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2026.</a:t>
            </a: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A321NEO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Rủi ro động cơ đi shop về muộn (thực tế đã bị shop delay nhiều lần) và rủi ro tháo động cơ ngoài KH do Vibration, Oil Leak…</a:t>
            </a:r>
            <a:endParaRPr kumimoji="0" lang="en-US" sz="1300" b="0" i="0" u="none" strike="noStrike" kern="1200" cap="none" spc="0" normalizeH="0" baseline="0" noProof="0" dirty="0">
              <a:ln>
                <a:noFill/>
              </a:ln>
              <a:solidFill>
                <a:prstClr val="black"/>
              </a:solidFill>
              <a:effectLst/>
              <a:uLnTx/>
              <a:uFillTx/>
              <a:latin typeface="Cambria"/>
              <a:ea typeface="+mn-ea"/>
              <a:cs typeface="Times New Roman" panose="02020603050405020304" pitchFamily="18" charset="0"/>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B787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lượng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ĐCDP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tại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 (ĐC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06)</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3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muộn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RR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ư</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ờng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xuyên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extend TAT)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High oil consumption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A893), HPT Blade (2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100FC), IPC Blade (3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soi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2025</a:t>
            </a:r>
            <a:r>
              <a:rPr kumimoji="0" lang="en-US" sz="13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6958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rPr>
              <a:t>ĐỘI BAY A321CEO</a:t>
            </a:r>
            <a:endParaRPr kumimoji="0" lang="en-GB"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89807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19/05/2025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2</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05/06/2025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20/06/2025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28/06)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3</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20/06/2025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27/06/2025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23/06)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03/07/2025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T6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16/06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26/06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V15935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26/06 induct </a:t>
                      </a:r>
                      <a:r>
                        <a:rPr lang="en-GB" sz="1100" dirty="0" err="1">
                          <a:solidFill>
                            <a:schemeClr val="tx1"/>
                          </a:solidFill>
                          <a:latin typeface="Times New Roman" panose="02020603050405020304" pitchFamily="18" charset="0"/>
                          <a:cs typeface="Times New Roman" panose="02020603050405020304" pitchFamily="18" charset="0"/>
                        </a:rPr>
                        <a:t>tại</a:t>
                      </a:r>
                      <a:r>
                        <a:rPr lang="en-GB" sz="1100" dirty="0">
                          <a:solidFill>
                            <a:schemeClr val="tx1"/>
                          </a:solidFill>
                          <a:latin typeface="Times New Roman" panose="02020603050405020304" pitchFamily="18" charset="0"/>
                          <a:cs typeface="Times New Roman" panose="02020603050405020304" pitchFamily="18" charset="0"/>
                        </a:rPr>
                        <a:t>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8793508"/>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A321CEO Q2-Q3/2025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Các</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động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đã</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tháo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sửa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chữa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1847856"/>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V12483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A396#1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29/05-09/06/2025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Swap sang A392#2,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24800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25-27/06/2025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06-08/07/2025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12-14/08/2025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16-18/08/2025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269873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29-31/08/2025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6765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232600"/>
            <a:ext cx="25827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thuê</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62128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30588186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A321NEO</a:t>
            </a: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76948" y="2404954"/>
            <a:ext cx="5167083" cy="53860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AOG do thiếu động c</a:t>
            </a:r>
            <a:r>
              <a:rPr kumimoji="0" lang="vi-VN"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extLst/>
          </p:nvPr>
        </p:nvGraphicFramePr>
        <p:xfrm>
          <a:off x="205742" y="4495800"/>
          <a:ext cx="5765457" cy="2195146"/>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366346">
                <a:tc>
                  <a:txBody>
                    <a:bodyPr/>
                    <a:lstStyle/>
                    <a:p>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805962">
                <a:tc>
                  <a:txBody>
                    <a:bodyPr/>
                    <a:lstStyle/>
                    <a:p>
                      <a:r>
                        <a:rPr lang="en-US" sz="1200" b="1">
                          <a:latin typeface="Times New Roman" panose="02020603050405020304" pitchFamily="18" charset="0"/>
                          <a:cs typeface="Times New Roman" panose="02020603050405020304" pitchFamily="18" charset="0"/>
                        </a:rPr>
                        <a:t>A501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FF0000"/>
                          </a:solidFill>
                          <a:latin typeface="Times New Roman" panose="02020603050405020304" pitchFamily="18" charset="0"/>
                          <a:cs typeface="Times New Roman" panose="02020603050405020304" pitchFamily="18" charset="0"/>
                        </a:rPr>
                        <a:t>Đã đủ 02 động cơ.</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FF0000"/>
                          </a:solidFill>
                          <a:latin typeface="Times New Roman" panose="02020603050405020304" pitchFamily="18" charset="0"/>
                          <a:cs typeface="Times New Roman" panose="02020603050405020304" pitchFamily="18" charset="0"/>
                        </a:rPr>
                        <a:t>*Note: động c</a:t>
                      </a:r>
                      <a:r>
                        <a:rPr lang="vi-VN" sz="1200">
                          <a:solidFill>
                            <a:srgbClr val="FF0000"/>
                          </a:solidFill>
                          <a:latin typeface="Times New Roman" panose="02020603050405020304" pitchFamily="18" charset="0"/>
                          <a:cs typeface="Times New Roman" panose="02020603050405020304" pitchFamily="18" charset="0"/>
                        </a:rPr>
                        <a:t>ơ</a:t>
                      </a:r>
                      <a:r>
                        <a:rPr lang="en-US" sz="1200">
                          <a:solidFill>
                            <a:srgbClr val="FF0000"/>
                          </a:solidFill>
                          <a:latin typeface="Times New Roman" panose="02020603050405020304" pitchFamily="18" charset="0"/>
                          <a:cs typeface="Times New Roman" panose="02020603050405020304" pitchFamily="18" charset="0"/>
                        </a:rPr>
                        <a:t> thuê PWEL v</a:t>
                      </a:r>
                      <a:r>
                        <a:rPr lang="vi-VN" sz="1200">
                          <a:solidFill>
                            <a:srgbClr val="FF0000"/>
                          </a:solidFill>
                          <a:latin typeface="Times New Roman" panose="02020603050405020304" pitchFamily="18" charset="0"/>
                          <a:cs typeface="Times New Roman" panose="02020603050405020304" pitchFamily="18" charset="0"/>
                        </a:rPr>
                        <a:t>ư</a:t>
                      </a:r>
                      <a:r>
                        <a:rPr lang="en-US" sz="1200">
                          <a:solidFill>
                            <a:srgbClr val="FF0000"/>
                          </a:solidFill>
                          <a:latin typeface="Times New Roman" panose="02020603050405020304" pitchFamily="18" charset="0"/>
                          <a:cs typeface="Times New Roman" panose="02020603050405020304" pitchFamily="18" charset="0"/>
                        </a:rPr>
                        <a:t>ớng vấn đề về chứng chỉ, có thể đến 09/06 mới khắc phục đ</a:t>
                      </a:r>
                      <a:r>
                        <a:rPr lang="vi-VN" sz="1200">
                          <a:solidFill>
                            <a:srgbClr val="FF0000"/>
                          </a:solidFill>
                          <a:latin typeface="Times New Roman" panose="02020603050405020304" pitchFamily="18" charset="0"/>
                          <a:cs typeface="Times New Roman" panose="02020603050405020304" pitchFamily="18" charset="0"/>
                        </a:rPr>
                        <a:t>ư</a:t>
                      </a:r>
                      <a:r>
                        <a:rPr lang="en-US" sz="1200">
                          <a:solidFill>
                            <a:srgbClr val="FF0000"/>
                          </a:solidFill>
                          <a:latin typeface="Times New Roman" panose="02020603050405020304" pitchFamily="18" charset="0"/>
                          <a:cs typeface="Times New Roman" panose="02020603050405020304" pitchFamily="18" charset="0"/>
                        </a:rPr>
                        <a:t>ợc.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rgbClr val="FF0000"/>
                          </a:solidFill>
                          <a:latin typeface="Times New Roman" panose="02020603050405020304" pitchFamily="18" charset="0"/>
                          <a:cs typeface="Times New Roman" panose="02020603050405020304" pitchFamily="18" charset="0"/>
                        </a:rPr>
                        <a:t>Còn 12 AOG</a:t>
                      </a:r>
                      <a:endParaRPr lang="en-US" sz="1200"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366346">
                <a:tc>
                  <a:txBody>
                    <a:bodyPr/>
                    <a:lstStyle/>
                    <a:p>
                      <a:r>
                        <a:rPr lang="en-US" sz="1200" b="1" dirty="0">
                          <a:latin typeface="Times New Roman" panose="02020603050405020304" pitchFamily="18" charset="0"/>
                          <a:cs typeface="Times New Roman" panose="02020603050405020304" pitchFamily="18" charset="0"/>
                        </a:rPr>
                        <a:t>A508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Dự</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kiến</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sử</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dụng</a:t>
                      </a:r>
                      <a:r>
                        <a:rPr lang="en-US" sz="1200" dirty="0">
                          <a:solidFill>
                            <a:srgbClr val="FF0000"/>
                          </a:solidFill>
                          <a:latin typeface="Times New Roman" panose="02020603050405020304" pitchFamily="18" charset="0"/>
                          <a:cs typeface="Times New Roman" panose="02020603050405020304" pitchFamily="18" charset="0"/>
                        </a:rPr>
                        <a:t> 02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cơ</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thuê</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về</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đầu</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tháng</a:t>
                      </a:r>
                      <a:r>
                        <a:rPr lang="en-US" sz="1200" dirty="0">
                          <a:solidFill>
                            <a:srgbClr val="FF0000"/>
                          </a:solidFill>
                          <a:latin typeface="Times New Roman" panose="02020603050405020304" pitchFamily="18" charset="0"/>
                          <a:cs typeface="Times New Roman" panose="02020603050405020304" pitchFamily="18" charset="0"/>
                        </a:rPr>
                        <a:t> 7 </a:t>
                      </a:r>
                      <a:r>
                        <a:rPr lang="en-US" sz="1200" dirty="0" err="1">
                          <a:solidFill>
                            <a:srgbClr val="FF0000"/>
                          </a:solidFill>
                          <a:latin typeface="Times New Roman" panose="02020603050405020304" pitchFamily="18" charset="0"/>
                          <a:cs typeface="Times New Roman" panose="02020603050405020304" pitchFamily="18" charset="0"/>
                        </a:rPr>
                        <a:t>theo</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cập</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nhật</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từ</a:t>
                      </a:r>
                      <a:r>
                        <a:rPr lang="en-US" sz="1200" dirty="0">
                          <a:solidFill>
                            <a:srgbClr val="FF0000"/>
                          </a:solidFill>
                          <a:latin typeface="Times New Roman" panose="02020603050405020304" pitchFamily="18" charset="0"/>
                          <a:cs typeface="Times New Roman" panose="02020603050405020304" pitchFamily="18" charset="0"/>
                        </a:rPr>
                        <a:t> ban QLVT.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Còn</a:t>
                      </a:r>
                      <a:r>
                        <a:rPr lang="en-US" sz="1200" dirty="0">
                          <a:solidFill>
                            <a:srgbClr val="FF0000"/>
                          </a:solidFill>
                          <a:latin typeface="Times New Roman" panose="02020603050405020304" pitchFamily="18" charset="0"/>
                          <a:cs typeface="Times New Roman" panose="02020603050405020304" pitchFamily="18" charset="0"/>
                        </a:rPr>
                        <a:t> 11 AOG</a:t>
                      </a:r>
                    </a:p>
                  </a:txBody>
                  <a:tcPr marL="121920" marR="121920" marT="60960" marB="60960" anchor="ctr"/>
                </a:tc>
                <a:extLst>
                  <a:ext uri="{0D108BD9-81ED-4DB2-BD59-A6C34878D82A}">
                    <a16:rowId xmlns:a16="http://schemas.microsoft.com/office/drawing/2014/main" val="1764342503"/>
                  </a:ext>
                </a:extLst>
              </a:tr>
              <a:tr h="366346">
                <a:tc>
                  <a:txBody>
                    <a:bodyPr/>
                    <a:lstStyle/>
                    <a:p>
                      <a:r>
                        <a:rPr lang="en-US" sz="1200" b="1">
                          <a:latin typeface="Times New Roman" panose="02020603050405020304" pitchFamily="18" charset="0"/>
                          <a:cs typeface="Times New Roman" panose="02020603050405020304" pitchFamily="18" charset="0"/>
                        </a:rPr>
                        <a:t>A623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latin typeface="Times New Roman" panose="02020603050405020304" pitchFamily="18" charset="0"/>
                          <a:cs typeface="Times New Roman" panose="02020603050405020304" pitchFamily="18" charset="0"/>
                        </a:rPr>
                        <a:t>12/07 </a:t>
                      </a:r>
                      <a:r>
                        <a:rPr lang="en-US" sz="1200" dirty="0" err="1">
                          <a:solidFill>
                            <a:srgbClr val="FF0000"/>
                          </a:solidFill>
                          <a:latin typeface="Times New Roman" panose="02020603050405020304" pitchFamily="18" charset="0"/>
                          <a:cs typeface="Times New Roman" panose="02020603050405020304" pitchFamily="18" charset="0"/>
                        </a:rPr>
                        <a:t>đủ</a:t>
                      </a:r>
                      <a:r>
                        <a:rPr lang="en-US" sz="1200" dirty="0">
                          <a:solidFill>
                            <a:srgbClr val="FF0000"/>
                          </a:solidFill>
                          <a:latin typeface="Times New Roman" panose="02020603050405020304" pitchFamily="18" charset="0"/>
                          <a:cs typeface="Times New Roman" panose="02020603050405020304" pitchFamily="18" charset="0"/>
                        </a:rPr>
                        <a:t> 2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c</a:t>
                      </a:r>
                      <a:r>
                        <a:rPr lang="vi-VN" sz="1200" dirty="0">
                          <a:solidFill>
                            <a:srgbClr val="FF0000"/>
                          </a:solidFill>
                          <a:latin typeface="+mn-lt"/>
                          <a:cs typeface="Times New Roman" panose="02020603050405020304" pitchFamily="18" charset="0"/>
                        </a:rPr>
                        <a:t>ơ</a:t>
                      </a:r>
                      <a:r>
                        <a:rPr lang="en-US" sz="1200" dirty="0">
                          <a:solidFill>
                            <a:srgbClr val="FF0000"/>
                          </a:solidFill>
                          <a:latin typeface="Times New Roman" panose="02020603050405020304" pitchFamily="18" charset="0"/>
                          <a:cs typeface="Times New Roman" panose="02020603050405020304" pitchFamily="18" charset="0"/>
                        </a:rPr>
                        <a:t> (P771387 &amp; P771041).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Còn</a:t>
                      </a:r>
                      <a:r>
                        <a:rPr lang="en-US" sz="1200" dirty="0">
                          <a:solidFill>
                            <a:srgbClr val="FF0000"/>
                          </a:solidFill>
                          <a:latin typeface="Times New Roman" panose="02020603050405020304" pitchFamily="18" charset="0"/>
                          <a:cs typeface="Times New Roman" panose="02020603050405020304" pitchFamily="18" charset="0"/>
                        </a:rPr>
                        <a:t> 10 AOG.</a:t>
                      </a:r>
                    </a:p>
                  </a:txBody>
                  <a:tcPr marL="121920" marR="121920" marT="60960" marB="60960" anchor="ctr"/>
                </a:tc>
                <a:extLst>
                  <a:ext uri="{0D108BD9-81ED-4DB2-BD59-A6C34878D82A}">
                    <a16:rowId xmlns:a16="http://schemas.microsoft.com/office/drawing/2014/main" val="1074696803"/>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304800" y="335280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RTS</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extLst/>
          </p:nvPr>
        </p:nvGraphicFramePr>
        <p:xfrm>
          <a:off x="6131180" y="3066216"/>
          <a:ext cx="5909514" cy="367620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1672702"/>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just"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RTS trong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đoạn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(A508, A623)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thuộc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(P771387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P771041),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p>
          <a:p>
            <a:pPr marL="0" marR="0" lvl="0" indent="0" algn="just" defTabSz="357188" rtl="0" eaLnBrk="1" fontAlgn="auto" latinLnBrk="0" hangingPunct="1">
              <a:lnSpc>
                <a:spcPct val="100000"/>
              </a:lnSpc>
              <a:spcBef>
                <a:spcPts val="0"/>
              </a:spcBef>
              <a:spcAft>
                <a:spcPts val="0"/>
              </a:spcAft>
              <a:buClrTx/>
              <a:buSzTx/>
              <a:buFontTx/>
              <a:buNone/>
              <a:tabLst/>
              <a:defRPr/>
            </a:pP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357188"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tháo</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ngoài</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Blade (A625 S/N P772905 675 FH/337 FC); A621 S/N P771710 Ground Stall; Oil leak #3DFS (all fleet);</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extLst/>
          </p:nvPr>
        </p:nvGraphicFramePr>
        <p:xfrm>
          <a:off x="173504" y="708743"/>
          <a:ext cx="5650067" cy="3093408"/>
        </p:xfrm>
        <a:graphic>
          <a:graphicData uri="http://schemas.openxmlformats.org/drawingml/2006/table">
            <a:tbl>
              <a:tblPr firstRow="1" bandRow="1">
                <a:tableStyleId>{5C22544A-7EE6-4342-B048-85BDC9FD1C3A}</a:tableStyleId>
              </a:tblPr>
              <a:tblGrid>
                <a:gridCol w="777205">
                  <a:extLst>
                    <a:ext uri="{9D8B030D-6E8A-4147-A177-3AD203B41FA5}">
                      <a16:colId xmlns:a16="http://schemas.microsoft.com/office/drawing/2014/main" val="3123040184"/>
                    </a:ext>
                  </a:extLst>
                </a:gridCol>
                <a:gridCol w="872790">
                  <a:extLst>
                    <a:ext uri="{9D8B030D-6E8A-4147-A177-3AD203B41FA5}">
                      <a16:colId xmlns:a16="http://schemas.microsoft.com/office/drawing/2014/main" val="2204338324"/>
                    </a:ext>
                  </a:extLst>
                </a:gridCol>
                <a:gridCol w="804312">
                  <a:extLst>
                    <a:ext uri="{9D8B030D-6E8A-4147-A177-3AD203B41FA5}">
                      <a16:colId xmlns:a16="http://schemas.microsoft.com/office/drawing/2014/main" val="1128924154"/>
                    </a:ext>
                  </a:extLst>
                </a:gridCol>
                <a:gridCol w="914400">
                  <a:extLst>
                    <a:ext uri="{9D8B030D-6E8A-4147-A177-3AD203B41FA5}">
                      <a16:colId xmlns:a16="http://schemas.microsoft.com/office/drawing/2014/main" val="2627377997"/>
                    </a:ext>
                  </a:extLst>
                </a:gridCol>
                <a:gridCol w="2281360">
                  <a:extLst>
                    <a:ext uri="{9D8B030D-6E8A-4147-A177-3AD203B41FA5}">
                      <a16:colId xmlns:a16="http://schemas.microsoft.com/office/drawing/2014/main" val="1687818387"/>
                    </a:ext>
                  </a:extLst>
                </a:gridCol>
              </a:tblGrid>
              <a:tr h="304791">
                <a:tc>
                  <a:txBody>
                    <a:bodyPr/>
                    <a:lstStyle/>
                    <a:p>
                      <a:pPr algn="l" rtl="0" fontAlgn="ctr"/>
                      <a:r>
                        <a:rPr lang="vi-VN" sz="1100" b="1" u="none" strike="noStrike" dirty="0">
                          <a:solidFill>
                            <a:srgbClr val="FFFFFF"/>
                          </a:solidFill>
                          <a:effectLst/>
                        </a:rPr>
                        <a:t>Động cơ</a:t>
                      </a:r>
                      <a:endParaRPr lang="vi-VN" sz="1100" b="1" i="0" u="none" strike="noStrike" dirty="0">
                        <a:solidFill>
                          <a:srgbClr val="FFFFFF"/>
                        </a:solidFill>
                        <a:effectLst/>
                        <a:latin typeface="Times New Roman" panose="02020603050405020304" pitchFamily="18" charset="0"/>
                      </a:endParaRPr>
                    </a:p>
                  </a:txBody>
                  <a:tcPr marL="47527" marR="5281" marT="5281" marB="0" anchor="ctr"/>
                </a:tc>
                <a:tc>
                  <a:txBody>
                    <a:bodyPr/>
                    <a:lstStyle/>
                    <a:p>
                      <a:pPr algn="ctr" rtl="0" fontAlgn="ctr"/>
                      <a:r>
                        <a:rPr lang="en-GB" sz="1100" b="1" u="none" strike="noStrike">
                          <a:solidFill>
                            <a:srgbClr val="FFFFFF"/>
                          </a:solidFill>
                          <a:effectLst/>
                        </a:rPr>
                        <a:t>Induction</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Dự kiến về</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KH Sử dụng</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Remark</a:t>
                      </a:r>
                      <a:endParaRPr lang="en-GB" sz="1100" b="1" i="0" u="none" strike="noStrike">
                        <a:solidFill>
                          <a:srgbClr val="FFFFFF"/>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673130687"/>
                  </a:ext>
                </a:extLst>
              </a:tr>
              <a:tr h="439087">
                <a:tc>
                  <a:txBody>
                    <a:bodyPr/>
                    <a:lstStyle/>
                    <a:p>
                      <a:pPr algn="ctr" rtl="0" fontAlgn="ctr"/>
                      <a:r>
                        <a:rPr lang="en-GB" sz="1100" b="0" i="0" u="none" strike="noStrike" dirty="0">
                          <a:solidFill>
                            <a:schemeClr val="tx1"/>
                          </a:solidFill>
                          <a:effectLst/>
                          <a:latin typeface="Times New Roman" panose="02020603050405020304" pitchFamily="18" charset="0"/>
                        </a:rPr>
                        <a:t>2 Spare</a:t>
                      </a:r>
                    </a:p>
                    <a:p>
                      <a:pPr algn="ctr" rtl="0" fontAlgn="ctr"/>
                      <a:r>
                        <a:rPr lang="en-GB" sz="1100" b="0" i="0" u="none" strike="noStrike" dirty="0">
                          <a:solidFill>
                            <a:schemeClr val="tx1"/>
                          </a:solidFill>
                          <a:effectLst/>
                          <a:latin typeface="Times New Roman" panose="02020603050405020304" pitchFamily="18" charset="0"/>
                        </a:rPr>
                        <a:t>Willis</a:t>
                      </a:r>
                      <a:r>
                        <a:rPr lang="en-GB" sz="1100" b="0" i="0" u="none" strike="noStrike" baseline="0" dirty="0">
                          <a:solidFill>
                            <a:schemeClr val="tx1"/>
                          </a:solidFill>
                          <a:effectLst/>
                          <a:latin typeface="Times New Roman" panose="02020603050405020304" pitchFamily="18" charset="0"/>
                        </a:rPr>
                        <a:t> + Marathon</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i="0" u="none" strike="noStrike" dirty="0">
                          <a:solidFill>
                            <a:schemeClr val="tx1"/>
                          </a:solidFill>
                          <a:effectLst/>
                          <a:latin typeface="Times New Roman" panose="02020603050405020304" pitchFamily="18" charset="0"/>
                        </a:rPr>
                        <a:t>N/A</a:t>
                      </a:r>
                    </a:p>
                  </a:txBody>
                  <a:tcPr marL="5281" marR="5281" marT="5281" marB="0" anchor="ctr"/>
                </a:tc>
                <a:tc>
                  <a:txBody>
                    <a:bodyPr/>
                    <a:lstStyle/>
                    <a:p>
                      <a:pPr algn="ctr" rtl="0" fontAlgn="ctr"/>
                      <a:r>
                        <a:rPr lang="en-GB" sz="1100" b="0" u="none" strike="noStrike" dirty="0">
                          <a:solidFill>
                            <a:srgbClr val="FF0000"/>
                          </a:solidFill>
                          <a:effectLst/>
                        </a:rPr>
                        <a:t>01/07/2025</a:t>
                      </a:r>
                    </a:p>
                  </a:txBody>
                  <a:tcPr marL="5281" marR="5281" marT="5281" marB="0" anchor="ctr"/>
                </a:tc>
                <a:tc>
                  <a:txBody>
                    <a:bodyPr/>
                    <a:lstStyle/>
                    <a:p>
                      <a:pPr algn="ctr" rtl="0" fontAlgn="ctr"/>
                      <a:r>
                        <a:rPr lang="en-GB" sz="1100" b="0" i="0" u="none" strike="noStrike" dirty="0">
                          <a:solidFill>
                            <a:schemeClr val="tx1"/>
                          </a:solidFill>
                          <a:effectLst/>
                          <a:latin typeface="Times New Roman" panose="02020603050405020304" pitchFamily="18" charset="0"/>
                        </a:rPr>
                        <a:t>RTS A508</a:t>
                      </a:r>
                    </a:p>
                  </a:txBody>
                  <a:tcPr marL="5281" marR="5281" marT="5281" marB="0" anchor="ctr"/>
                </a:tc>
                <a:tc>
                  <a:txBody>
                    <a:bodyPr/>
                    <a:lstStyle/>
                    <a:p>
                      <a:pPr algn="l" rtl="0" fontAlgn="ctr"/>
                      <a:r>
                        <a:rPr lang="en-GB" sz="1100" b="0" i="0" u="none" strike="noStrike" dirty="0" err="1">
                          <a:solidFill>
                            <a:srgbClr val="FF0000"/>
                          </a:solidFill>
                          <a:effectLst/>
                          <a:latin typeface="Times New Roman" panose="02020603050405020304" pitchFamily="18" charset="0"/>
                        </a:rPr>
                        <a:t>Nếu</a:t>
                      </a:r>
                      <a:r>
                        <a:rPr lang="en-GB" sz="1100" b="0" i="0" u="none" strike="noStrike" baseline="0" dirty="0">
                          <a:solidFill>
                            <a:srgbClr val="FF0000"/>
                          </a:solidFill>
                          <a:effectLst/>
                          <a:latin typeface="Times New Roman" panose="02020603050405020304" pitchFamily="18" charset="0"/>
                        </a:rPr>
                        <a:t> 2 spare </a:t>
                      </a:r>
                      <a:r>
                        <a:rPr lang="en-GB" sz="1100" b="0" i="0" u="none" strike="noStrike" baseline="0" dirty="0" err="1">
                          <a:solidFill>
                            <a:srgbClr val="FF0000"/>
                          </a:solidFill>
                          <a:effectLst/>
                          <a:latin typeface="Times New Roman" panose="02020603050405020304" pitchFamily="18" charset="0"/>
                        </a:rPr>
                        <a:t>về</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được</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đầu</a:t>
                      </a:r>
                      <a:r>
                        <a:rPr lang="en-GB" sz="1100" b="0" i="0" u="none" strike="noStrike" baseline="0" dirty="0">
                          <a:solidFill>
                            <a:srgbClr val="FF0000"/>
                          </a:solidFill>
                          <a:effectLst/>
                          <a:latin typeface="Times New Roman" panose="02020603050405020304" pitchFamily="18" charset="0"/>
                        </a:rPr>
                        <a:t> T7 </a:t>
                      </a:r>
                      <a:r>
                        <a:rPr lang="en-GB" sz="1100" b="0" i="0" u="none" strike="noStrike" baseline="0" dirty="0" err="1">
                          <a:solidFill>
                            <a:srgbClr val="FF0000"/>
                          </a:solidFill>
                          <a:effectLst/>
                          <a:latin typeface="Times New Roman" panose="02020603050405020304" pitchFamily="18" charset="0"/>
                        </a:rPr>
                        <a:t>sẽ</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lắp</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cho</a:t>
                      </a:r>
                      <a:r>
                        <a:rPr lang="en-GB" sz="1100" b="0" i="0" u="none" strike="noStrike" baseline="0" dirty="0">
                          <a:solidFill>
                            <a:srgbClr val="FF0000"/>
                          </a:solidFill>
                          <a:effectLst/>
                          <a:latin typeface="Times New Roman" panose="02020603050405020304" pitchFamily="18" charset="0"/>
                        </a:rPr>
                        <a:t> A508, </a:t>
                      </a:r>
                      <a:r>
                        <a:rPr lang="en-GB" sz="1100" b="0" i="0" u="none" strike="noStrike" baseline="0" dirty="0" err="1">
                          <a:solidFill>
                            <a:srgbClr val="FF0000"/>
                          </a:solidFill>
                          <a:effectLst/>
                          <a:latin typeface="Times New Roman" panose="02020603050405020304" pitchFamily="18" charset="0"/>
                        </a:rPr>
                        <a:t>hai</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động</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cơ</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đi</a:t>
                      </a:r>
                      <a:r>
                        <a:rPr lang="en-GB" sz="1100" b="0" i="0" u="none" strike="noStrike" baseline="0" dirty="0">
                          <a:solidFill>
                            <a:srgbClr val="FF0000"/>
                          </a:solidFill>
                          <a:effectLst/>
                          <a:latin typeface="Times New Roman" panose="02020603050405020304" pitchFamily="18" charset="0"/>
                        </a:rPr>
                        <a:t> shop </a:t>
                      </a:r>
                      <a:r>
                        <a:rPr lang="en-GB" sz="1100" b="0" i="0" u="none" strike="noStrike" baseline="0" dirty="0" err="1">
                          <a:solidFill>
                            <a:srgbClr val="FF0000"/>
                          </a:solidFill>
                          <a:effectLst/>
                          <a:latin typeface="Times New Roman" panose="02020603050405020304" pitchFamily="18" charset="0"/>
                        </a:rPr>
                        <a:t>về</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sẽ</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thay</a:t>
                      </a:r>
                      <a:r>
                        <a:rPr lang="en-GB" sz="1100" b="0" i="0" u="none" strike="noStrike" baseline="0" dirty="0">
                          <a:solidFill>
                            <a:srgbClr val="FF0000"/>
                          </a:solidFill>
                          <a:effectLst/>
                          <a:latin typeface="Times New Roman" panose="02020603050405020304" pitchFamily="18" charset="0"/>
                        </a:rPr>
                        <a:t> </a:t>
                      </a:r>
                      <a:r>
                        <a:rPr lang="en-GB" sz="1100" b="0" i="0" u="none" strike="noStrike" baseline="0" dirty="0" err="1">
                          <a:solidFill>
                            <a:srgbClr val="FF0000"/>
                          </a:solidFill>
                          <a:effectLst/>
                          <a:latin typeface="Times New Roman" panose="02020603050405020304" pitchFamily="18" charset="0"/>
                        </a:rPr>
                        <a:t>cho</a:t>
                      </a:r>
                      <a:r>
                        <a:rPr lang="en-GB" sz="1100" b="0" i="0" u="none" strike="noStrike" baseline="0" dirty="0">
                          <a:solidFill>
                            <a:srgbClr val="FF0000"/>
                          </a:solidFill>
                          <a:effectLst/>
                          <a:latin typeface="Times New Roman" panose="02020603050405020304" pitchFamily="18" charset="0"/>
                        </a:rPr>
                        <a:t> A623 </a:t>
                      </a:r>
                      <a:r>
                        <a:rPr lang="en-GB" sz="1100" b="0" i="0" u="none" strike="noStrike" baseline="0" dirty="0" err="1">
                          <a:solidFill>
                            <a:srgbClr val="FF0000"/>
                          </a:solidFill>
                          <a:effectLst/>
                          <a:latin typeface="Times New Roman" panose="02020603050405020304" pitchFamily="18" charset="0"/>
                        </a:rPr>
                        <a:t>để</a:t>
                      </a:r>
                      <a:r>
                        <a:rPr lang="en-GB" sz="1100" b="0" i="0" u="none" strike="noStrike" baseline="0" dirty="0">
                          <a:solidFill>
                            <a:srgbClr val="FF0000"/>
                          </a:solidFill>
                          <a:effectLst/>
                          <a:latin typeface="Times New Roman" panose="02020603050405020304" pitchFamily="18" charset="0"/>
                        </a:rPr>
                        <a:t> RTS</a:t>
                      </a: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0001"/>
                  </a:ext>
                </a:extLst>
              </a:tr>
              <a:tr h="439087">
                <a:tc>
                  <a:txBody>
                    <a:bodyPr/>
                    <a:lstStyle/>
                    <a:p>
                      <a:pPr algn="ctr" rtl="0" fontAlgn="ctr"/>
                      <a:r>
                        <a:rPr lang="en-GB" sz="1100" b="0" u="none" strike="noStrike">
                          <a:solidFill>
                            <a:schemeClr val="tx1"/>
                          </a:solidFill>
                          <a:effectLst/>
                        </a:rPr>
                        <a:t>P771387</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05/11/2024</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FF0000"/>
                          </a:solidFill>
                          <a:effectLst/>
                        </a:rPr>
                        <a:t>06/07/2025</a:t>
                      </a:r>
                      <a:endParaRPr lang="en-GB" sz="1100" b="0" u="none" strike="noStrike" dirty="0">
                        <a:solidFill>
                          <a:srgbClr val="FF0000"/>
                        </a:solidFill>
                        <a:effectLst/>
                      </a:endParaRPr>
                    </a:p>
                  </a:txBody>
                  <a:tcPr marL="5281" marR="5281" marT="5281" marB="0" anchor="ctr"/>
                </a:tc>
                <a:tc>
                  <a:txBody>
                    <a:bodyPr/>
                    <a:lstStyle/>
                    <a:p>
                      <a:pPr algn="ctr" rtl="0" fontAlgn="ctr"/>
                      <a:r>
                        <a:rPr lang="en-GB" sz="1100" b="0" u="none" strike="noStrike" dirty="0">
                          <a:solidFill>
                            <a:schemeClr val="tx1"/>
                          </a:solidFill>
                          <a:effectLst/>
                        </a:rPr>
                        <a:t>RTS A623</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l" rtl="0" fontAlgn="ctr"/>
                      <a:r>
                        <a:rPr lang="en-GB" sz="1100" b="0" u="none" strike="noStrike">
                          <a:solidFill>
                            <a:srgbClr val="FF0000"/>
                          </a:solidFill>
                          <a:effectLst/>
                        </a:rPr>
                        <a:t>+ 03 ngày do thiếu PTVT:  IBR6 </a:t>
                      </a: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35326823"/>
                  </a:ext>
                </a:extLst>
              </a:tr>
              <a:tr h="757179">
                <a:tc>
                  <a:txBody>
                    <a:bodyPr/>
                    <a:lstStyle/>
                    <a:p>
                      <a:pPr algn="ctr" rtl="0" fontAlgn="ctr"/>
                      <a:r>
                        <a:rPr lang="en-GB" sz="1100" b="0" u="none" strike="noStrike">
                          <a:solidFill>
                            <a:schemeClr val="tx1"/>
                          </a:solidFill>
                          <a:effectLst/>
                        </a:rPr>
                        <a:t>P771041</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19/03/2025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FF0000"/>
                          </a:solidFill>
                          <a:effectLst/>
                        </a:rPr>
                        <a:t>12/07/2025</a:t>
                      </a:r>
                    </a:p>
                  </a:txBody>
                  <a:tcPr marL="5281" marR="5281" marT="5281" marB="0" anchor="ctr"/>
                </a:tc>
                <a:tc>
                  <a:txBody>
                    <a:bodyPr/>
                    <a:lstStyle/>
                    <a:p>
                      <a:pPr algn="ctr" rtl="0" fontAlgn="ctr"/>
                      <a:r>
                        <a:rPr lang="en-GB" sz="1100" b="0" u="none" strike="noStrike" dirty="0">
                          <a:solidFill>
                            <a:schemeClr val="tx1"/>
                          </a:solidFill>
                          <a:effectLst/>
                        </a:rPr>
                        <a:t>RTS A623</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l" rtl="0" fontAlgn="ctr"/>
                      <a:r>
                        <a:rPr lang="en-GB" sz="1100" b="0" u="none" strike="noStrike" dirty="0">
                          <a:solidFill>
                            <a:srgbClr val="FF0000"/>
                          </a:solidFill>
                          <a:effectLst/>
                        </a:rPr>
                        <a:t>+02 </a:t>
                      </a:r>
                      <a:r>
                        <a:rPr lang="en-GB" sz="1100" b="0" u="none" strike="noStrike" dirty="0" err="1">
                          <a:solidFill>
                            <a:srgbClr val="FF0000"/>
                          </a:solidFill>
                          <a:effectLst/>
                        </a:rPr>
                        <a:t>ngày</a:t>
                      </a:r>
                      <a:r>
                        <a:rPr lang="en-GB" sz="1100" b="0" u="none" strike="noStrike" dirty="0">
                          <a:solidFill>
                            <a:srgbClr val="FF0000"/>
                          </a:solidFill>
                          <a:effectLst/>
                        </a:rPr>
                        <a:t>, Do </a:t>
                      </a:r>
                      <a:r>
                        <a:rPr lang="en-GB" sz="1100" b="0" u="none" strike="noStrike" dirty="0" err="1">
                          <a:solidFill>
                            <a:srgbClr val="FF0000"/>
                          </a:solidFill>
                          <a:effectLst/>
                        </a:rPr>
                        <a:t>thiếu</a:t>
                      </a:r>
                      <a:r>
                        <a:rPr lang="en-GB" sz="1100" b="0" u="none" strike="noStrike" dirty="0">
                          <a:solidFill>
                            <a:srgbClr val="FF0000"/>
                          </a:solidFill>
                          <a:effectLst/>
                        </a:rPr>
                        <a:t> PTVT  </a:t>
                      </a:r>
                      <a:r>
                        <a:rPr lang="en-US" sz="1100" b="0" u="none" strike="noStrike" dirty="0">
                          <a:solidFill>
                            <a:srgbClr val="FF0000"/>
                          </a:solidFill>
                          <a:effectLst/>
                        </a:rPr>
                        <a:t>Pacing items include #4 BRG, T1 hub, T1 blades, T2 stator vanes, and T2 retaining plate</a:t>
                      </a: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236595682"/>
                  </a:ext>
                </a:extLst>
              </a:tr>
              <a:tr h="570224">
                <a:tc>
                  <a:txBody>
                    <a:bodyPr/>
                    <a:lstStyle/>
                    <a:p>
                      <a:pPr algn="ctr" rtl="0" fontAlgn="ctr"/>
                      <a:r>
                        <a:rPr lang="en-GB" sz="1100" b="0" u="none" strike="noStrike">
                          <a:solidFill>
                            <a:schemeClr val="tx1"/>
                          </a:solidFill>
                          <a:effectLst/>
                        </a:rPr>
                        <a:t>P771423</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15/04/2025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30/07/2025</a:t>
                      </a:r>
                    </a:p>
                  </a:txBody>
                  <a:tcPr marL="5281" marR="5281" marT="5281" marB="0" anchor="ctr"/>
                </a:tc>
                <a:tc>
                  <a:txBody>
                    <a:bodyPr/>
                    <a:lstStyle/>
                    <a:p>
                      <a:pPr algn="ctr" rtl="0" fontAlgn="ctr"/>
                      <a:r>
                        <a:rPr lang="en-US" sz="1100" b="0" i="0" u="none" strike="noStrike">
                          <a:solidFill>
                            <a:schemeClr val="tx1"/>
                          </a:solidFill>
                          <a:effectLst/>
                          <a:latin typeface="Times New Roman" panose="02020603050405020304" pitchFamily="18" charset="0"/>
                        </a:rPr>
                        <a:t>ENG CHANGE</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US" sz="1100" b="0" u="none" strike="noStrike" baseline="0" dirty="0" err="1">
                          <a:solidFill>
                            <a:srgbClr val="FF0000"/>
                          </a:solidFill>
                          <a:effectLst/>
                        </a:rPr>
                        <a:t>Về</a:t>
                      </a:r>
                      <a:r>
                        <a:rPr lang="en-US" sz="1100" b="0" u="none" strike="noStrike" baseline="0" dirty="0">
                          <a:solidFill>
                            <a:srgbClr val="FF0000"/>
                          </a:solidFill>
                          <a:effectLst/>
                        </a:rPr>
                        <a:t> </a:t>
                      </a:r>
                      <a:r>
                        <a:rPr lang="en-US" sz="1100" b="0" u="none" strike="noStrike" baseline="0" dirty="0" err="1">
                          <a:solidFill>
                            <a:srgbClr val="FF0000"/>
                          </a:solidFill>
                          <a:effectLst/>
                        </a:rPr>
                        <a:t>làm</a:t>
                      </a:r>
                      <a:r>
                        <a:rPr lang="en-US" sz="1100" b="0" u="none" strike="noStrike" baseline="0" dirty="0">
                          <a:solidFill>
                            <a:srgbClr val="FF0000"/>
                          </a:solidFill>
                          <a:effectLst/>
                        </a:rPr>
                        <a:t> </a:t>
                      </a:r>
                      <a:r>
                        <a:rPr lang="en-US" sz="1100" b="0" u="none" strike="noStrike" baseline="0" dirty="0" err="1">
                          <a:solidFill>
                            <a:srgbClr val="FF0000"/>
                          </a:solidFill>
                          <a:effectLst/>
                        </a:rPr>
                        <a:t>dự</a:t>
                      </a:r>
                      <a:r>
                        <a:rPr lang="en-US" sz="1100" b="0" u="none" strike="noStrike" baseline="0" dirty="0">
                          <a:solidFill>
                            <a:srgbClr val="FF0000"/>
                          </a:solidFill>
                          <a:effectLst/>
                        </a:rPr>
                        <a:t> </a:t>
                      </a:r>
                      <a:r>
                        <a:rPr lang="en-US" sz="1100" b="0" u="none" strike="noStrike" baseline="0" dirty="0" err="1">
                          <a:solidFill>
                            <a:srgbClr val="FF0000"/>
                          </a:solidFill>
                          <a:effectLst/>
                        </a:rPr>
                        <a:t>phòng</a:t>
                      </a:r>
                      <a:r>
                        <a:rPr lang="en-US" sz="1100" b="0" u="none" strike="noStrike" baseline="0" dirty="0">
                          <a:solidFill>
                            <a:srgbClr val="FF0000"/>
                          </a:solidFill>
                          <a:effectLst/>
                        </a:rPr>
                        <a:t> </a:t>
                      </a:r>
                      <a:r>
                        <a:rPr lang="en-US" sz="1100" b="0" u="none" strike="noStrike" dirty="0">
                          <a:solidFill>
                            <a:srgbClr val="FF0000"/>
                          </a:solidFill>
                          <a:effectLst/>
                        </a:rPr>
                        <a:t>do </a:t>
                      </a:r>
                      <a:r>
                        <a:rPr lang="en-US" sz="1100" b="0" u="none" strike="noStrike" dirty="0" err="1">
                          <a:solidFill>
                            <a:srgbClr val="FF0000"/>
                          </a:solidFill>
                          <a:effectLst/>
                        </a:rPr>
                        <a:t>thiếu</a:t>
                      </a:r>
                      <a:r>
                        <a:rPr lang="en-US" sz="1100" b="0" u="none" strike="noStrike" dirty="0">
                          <a:solidFill>
                            <a:srgbClr val="FF0000"/>
                          </a:solidFill>
                          <a:effectLst/>
                        </a:rPr>
                        <a:t> 1 </a:t>
                      </a:r>
                      <a:r>
                        <a:rPr lang="en-US" sz="1100" b="0" u="none" strike="noStrike" dirty="0" err="1">
                          <a:solidFill>
                            <a:srgbClr val="FF0000"/>
                          </a:solidFill>
                          <a:effectLst/>
                        </a:rPr>
                        <a:t>động</a:t>
                      </a:r>
                      <a:r>
                        <a:rPr lang="en-US" sz="1100" b="0" u="none" strike="noStrike" dirty="0">
                          <a:solidFill>
                            <a:srgbClr val="FF0000"/>
                          </a:solidFill>
                          <a:effectLst/>
                        </a:rPr>
                        <a:t> c</a:t>
                      </a:r>
                      <a:r>
                        <a:rPr lang="vi-VN" sz="1100" b="0" u="none" strike="noStrike" dirty="0">
                          <a:solidFill>
                            <a:srgbClr val="FF0000"/>
                          </a:solidFill>
                          <a:effectLst/>
                        </a:rPr>
                        <a:t>ơ</a:t>
                      </a:r>
                      <a:r>
                        <a:rPr lang="en-US" sz="1100" b="0" u="none" strike="noStrike" dirty="0">
                          <a:solidFill>
                            <a:srgbClr val="FF0000"/>
                          </a:solidFill>
                          <a:effectLst/>
                        </a:rPr>
                        <a:t> </a:t>
                      </a:r>
                      <a:r>
                        <a:rPr lang="en-US" sz="1100" b="0" u="none" strike="noStrike" dirty="0" err="1">
                          <a:solidFill>
                            <a:srgbClr val="FF0000"/>
                          </a:solidFill>
                          <a:effectLst/>
                        </a:rPr>
                        <a:t>nữa</a:t>
                      </a:r>
                      <a:r>
                        <a:rPr lang="en-US" sz="1100" b="0" u="none" strike="noStrike" baseline="0" dirty="0">
                          <a:solidFill>
                            <a:srgbClr val="FF0000"/>
                          </a:solidFill>
                          <a:effectLst/>
                        </a:rPr>
                        <a:t> </a:t>
                      </a:r>
                      <a:r>
                        <a:rPr lang="en-US" sz="1100" b="0" u="none" strike="noStrike" baseline="0" dirty="0" err="1">
                          <a:solidFill>
                            <a:srgbClr val="FF0000"/>
                          </a:solidFill>
                          <a:effectLst/>
                        </a:rPr>
                        <a:t>để</a:t>
                      </a:r>
                      <a:r>
                        <a:rPr lang="en-US" sz="1100" b="0" u="none" strike="noStrike" baseline="0" dirty="0">
                          <a:solidFill>
                            <a:srgbClr val="FF0000"/>
                          </a:solidFill>
                          <a:effectLst/>
                        </a:rPr>
                        <a:t> </a:t>
                      </a:r>
                      <a:r>
                        <a:rPr lang="en-US" sz="1100" b="0" u="none" strike="noStrike" baseline="0" dirty="0" err="1">
                          <a:solidFill>
                            <a:srgbClr val="FF0000"/>
                          </a:solidFill>
                          <a:effectLst/>
                        </a:rPr>
                        <a:t>làm</a:t>
                      </a:r>
                      <a:r>
                        <a:rPr lang="en-US" sz="1100" b="0" u="none" strike="noStrike" baseline="0" dirty="0">
                          <a:solidFill>
                            <a:srgbClr val="FF0000"/>
                          </a:solidFill>
                          <a:effectLst/>
                        </a:rPr>
                        <a:t> RTS</a:t>
                      </a:r>
                      <a:r>
                        <a:rPr lang="en-US" sz="1100" b="0" u="none" strike="noStrike" dirty="0">
                          <a:solidFill>
                            <a:srgbClr val="FF0000"/>
                          </a:solidFill>
                          <a:effectLst/>
                        </a:rPr>
                        <a:t>. </a:t>
                      </a: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871960572"/>
                  </a:ext>
                </a:extLst>
              </a:tr>
              <a:tr h="513926">
                <a:tc>
                  <a:txBody>
                    <a:bodyPr/>
                    <a:lstStyle/>
                    <a:p>
                      <a:pPr algn="ctr" rtl="0" fontAlgn="ctr"/>
                      <a:r>
                        <a:rPr lang="en-GB" sz="1100" b="0" u="none" strike="noStrike">
                          <a:solidFill>
                            <a:srgbClr val="000000"/>
                          </a:solidFill>
                          <a:effectLst/>
                        </a:rPr>
                        <a:t>P771373</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000000"/>
                          </a:solidFill>
                          <a:effectLst/>
                        </a:rPr>
                        <a:t>20/02/2025</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16/09/2025</a:t>
                      </a:r>
                    </a:p>
                  </a:txBody>
                  <a:tcPr marL="5281" marR="5281" marT="5281" marB="0" anchor="ctr"/>
                </a:tc>
                <a:tc>
                  <a:txBody>
                    <a:bodyPr/>
                    <a:lstStyle/>
                    <a:p>
                      <a:pPr algn="ctr" rtl="0" fontAlgn="ctr"/>
                      <a:r>
                        <a:rPr lang="en-GB" sz="1100" b="0" u="none" strike="noStrike" dirty="0">
                          <a:solidFill>
                            <a:srgbClr val="000000"/>
                          </a:solidFill>
                          <a:effectLst/>
                        </a:rPr>
                        <a:t>RTS</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l" fontAlgn="ctr"/>
                      <a:r>
                        <a:rPr lang="en-GB" sz="1100" b="0" u="none" strike="noStrike" dirty="0" err="1">
                          <a:solidFill>
                            <a:srgbClr val="000000"/>
                          </a:solidFill>
                          <a:effectLst/>
                        </a:rPr>
                        <a:t>Sau</a:t>
                      </a:r>
                      <a:r>
                        <a:rPr lang="en-GB" sz="1100" b="0" u="none" strike="noStrike" dirty="0">
                          <a:solidFill>
                            <a:srgbClr val="000000"/>
                          </a:solidFill>
                          <a:effectLst/>
                        </a:rPr>
                        <a:t> </a:t>
                      </a:r>
                      <a:r>
                        <a:rPr lang="en-GB" sz="1100" b="0" u="none" strike="noStrike" dirty="0" err="1">
                          <a:solidFill>
                            <a:srgbClr val="000000"/>
                          </a:solidFill>
                          <a:effectLst/>
                        </a:rPr>
                        <a:t>cao</a:t>
                      </a:r>
                      <a:r>
                        <a:rPr lang="en-GB" sz="1100" b="0" u="none" strike="noStrike" dirty="0">
                          <a:solidFill>
                            <a:srgbClr val="000000"/>
                          </a:solidFill>
                          <a:effectLst/>
                        </a:rPr>
                        <a:t> </a:t>
                      </a:r>
                      <a:r>
                        <a:rPr lang="en-GB" sz="1100" b="0" u="none" strike="noStrike" dirty="0" err="1">
                          <a:solidFill>
                            <a:srgbClr val="000000"/>
                          </a:solidFill>
                          <a:effectLst/>
                        </a:rPr>
                        <a:t>điểm</a:t>
                      </a:r>
                      <a:r>
                        <a:rPr lang="en-GB" sz="1100" b="0" u="none" strike="noStrike" dirty="0">
                          <a:solidFill>
                            <a:srgbClr val="000000"/>
                          </a:solidFill>
                          <a:effectLst/>
                        </a:rPr>
                        <a:t> </a:t>
                      </a:r>
                      <a:endParaRPr lang="en-GB" sz="1100" b="0" i="0" u="none" strike="noStrike" dirty="0">
                        <a:solidFill>
                          <a:srgbClr val="000000"/>
                        </a:solidFill>
                        <a:effectLst/>
                        <a:latin typeface="Arial" panose="020B0604020202020204" pitchFamily="34" charset="0"/>
                      </a:endParaRPr>
                    </a:p>
                  </a:txBody>
                  <a:tcPr marL="5281" marR="5281" marT="5281" marB="0" anchor="ctr"/>
                </a:tc>
                <a:extLst>
                  <a:ext uri="{0D108BD9-81ED-4DB2-BD59-A6C34878D82A}">
                    <a16:rowId xmlns:a16="http://schemas.microsoft.com/office/drawing/2014/main" val="3042752024"/>
                  </a:ext>
                </a:extLst>
              </a:tr>
            </a:tbl>
          </a:graphicData>
        </a:graphic>
      </p:graphicFrame>
      <p:sp>
        <p:nvSpPr>
          <p:cNvPr id="14" name="TextBox 13">
            <a:extLst>
              <a:ext uri="{FF2B5EF4-FFF2-40B4-BE49-F238E27FC236}">
                <a16:creationId xmlns:a16="http://schemas.microsoft.com/office/drawing/2014/main" id="{3665DF89-9C1E-039A-24B3-2AC39417A7A0}"/>
              </a:ext>
            </a:extLst>
          </p:cNvPr>
          <p:cNvSpPr txBox="1"/>
          <p:nvPr/>
        </p:nvSpPr>
        <p:spPr>
          <a:xfrm>
            <a:off x="-438596" y="411480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RTS</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518708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extLst/>
          </p:nvPr>
        </p:nvGraphicFramePr>
        <p:xfrm>
          <a:off x="6248401" y="502765"/>
          <a:ext cx="5855025" cy="373041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4235644"/>
            <a:ext cx="12014853" cy="2575770"/>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Từ</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ngày</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04/06 – 958398.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Cuối</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tháng</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6 – 956569 (KH test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tuần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W23 – delay 2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tuần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do AFI–KLM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có</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vấn</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đề</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về</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test cell)</a:t>
            </a:r>
          </a:p>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on-watch &amp;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chế</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Repetitive inspection 50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958435 -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đã</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soi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lại</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ngày</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04/06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vẫn</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giữ</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50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 KH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thay</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18/06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theo</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lịch</a:t>
            </a:r>
            <a:r>
              <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induct 30/07.</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Remove in 50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or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reinspect</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958170 (A863)</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soi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ngày</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05/06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vẫn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giữ</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nguyên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tình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trạng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endParaRP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100 cycle – 0</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bao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gồm</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958266)</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150 cycle – 01 ĐC; 250 cycle – 0</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chế</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A873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được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đến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CSN 5500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cyc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endPar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công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trọng</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2H 2025:</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soi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50 cycle A873 (958435)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A863 (958170); 01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soi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100 cycle A862 (956600)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đều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phải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Các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spare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sẽ</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lượt</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6 - 8. </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958266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lịch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T9/2025 –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dõi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tình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trạng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spare. </a:t>
            </a:r>
          </a:p>
          <a:p>
            <a:pPr marL="838190" marR="0" lvl="1" indent="-380990" algn="l" defTabSz="121917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extLst/>
          </p:nvPr>
        </p:nvGraphicFramePr>
        <p:xfrm>
          <a:off x="88573" y="502766"/>
          <a:ext cx="6159828" cy="3730417"/>
        </p:xfrm>
        <a:graphic>
          <a:graphicData uri="http://schemas.openxmlformats.org/drawingml/2006/table">
            <a:tbl>
              <a:tblPr firstRow="1" bandRow="1">
                <a:tableStyleId>{7DF18680-E054-41AD-8BC1-D1AEF772440D}</a:tableStyleId>
              </a:tblPr>
              <a:tblGrid>
                <a:gridCol w="691693">
                  <a:extLst>
                    <a:ext uri="{9D8B030D-6E8A-4147-A177-3AD203B41FA5}">
                      <a16:colId xmlns:a16="http://schemas.microsoft.com/office/drawing/2014/main" val="1598605427"/>
                    </a:ext>
                  </a:extLst>
                </a:gridCol>
                <a:gridCol w="680554">
                  <a:extLst>
                    <a:ext uri="{9D8B030D-6E8A-4147-A177-3AD203B41FA5}">
                      <a16:colId xmlns:a16="http://schemas.microsoft.com/office/drawing/2014/main" val="3845954792"/>
                    </a:ext>
                  </a:extLst>
                </a:gridCol>
                <a:gridCol w="939777">
                  <a:extLst>
                    <a:ext uri="{9D8B030D-6E8A-4147-A177-3AD203B41FA5}">
                      <a16:colId xmlns:a16="http://schemas.microsoft.com/office/drawing/2014/main" val="3803391337"/>
                    </a:ext>
                  </a:extLst>
                </a:gridCol>
                <a:gridCol w="1665007">
                  <a:extLst>
                    <a:ext uri="{9D8B030D-6E8A-4147-A177-3AD203B41FA5}">
                      <a16:colId xmlns:a16="http://schemas.microsoft.com/office/drawing/2014/main" val="2148822928"/>
                    </a:ext>
                  </a:extLst>
                </a:gridCol>
                <a:gridCol w="978496">
                  <a:extLst>
                    <a:ext uri="{9D8B030D-6E8A-4147-A177-3AD203B41FA5}">
                      <a16:colId xmlns:a16="http://schemas.microsoft.com/office/drawing/2014/main" val="1106888684"/>
                    </a:ext>
                  </a:extLst>
                </a:gridCol>
                <a:gridCol w="1204301">
                  <a:extLst>
                    <a:ext uri="{9D8B030D-6E8A-4147-A177-3AD203B41FA5}">
                      <a16:colId xmlns:a16="http://schemas.microsoft.com/office/drawing/2014/main" val="558551088"/>
                    </a:ext>
                  </a:extLst>
                </a:gridCol>
              </a:tblGrid>
              <a:tr h="455167">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388824">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rgbClr val="FF0000"/>
                          </a:solidFill>
                          <a:effectLst/>
                          <a:latin typeface="+mn-lt"/>
                        </a:rPr>
                        <a:t>TBD</a:t>
                      </a:r>
                      <a:endParaRPr lang="en-US" sz="1200" u="none" strike="noStrike" dirty="0">
                        <a:solidFill>
                          <a:srgbClr val="FF0000"/>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r>
                        <a:rPr lang="en-US" sz="1200" b="0" i="0" u="none" strike="noStrike" dirty="0" err="1">
                          <a:solidFill>
                            <a:srgbClr val="FF0000"/>
                          </a:solidFill>
                          <a:effectLst/>
                          <a:latin typeface="+mn-lt"/>
                          <a:cs typeface="Times New Roman" panose="02020603050405020304" pitchFamily="18" charset="0"/>
                        </a:rPr>
                        <a:t>Đảo</a:t>
                      </a:r>
                      <a:r>
                        <a:rPr lang="en-US" sz="1200" b="0" i="0" u="none" strike="noStrike" dirty="0">
                          <a:solidFill>
                            <a:srgbClr val="FF0000"/>
                          </a:solidFill>
                          <a:effectLst/>
                          <a:latin typeface="+mn-lt"/>
                          <a:cs typeface="Times New Roman" panose="02020603050405020304" pitchFamily="18" charset="0"/>
                        </a:rPr>
                        <a:t> </a:t>
                      </a:r>
                      <a:r>
                        <a:rPr lang="en-US" sz="1200" b="0" i="0" u="none" strike="noStrike" dirty="0" err="1">
                          <a:solidFill>
                            <a:srgbClr val="FF0000"/>
                          </a:solidFill>
                          <a:effectLst/>
                          <a:latin typeface="+mn-lt"/>
                          <a:cs typeface="Times New Roman" panose="02020603050405020304" pitchFamily="18" charset="0"/>
                        </a:rPr>
                        <a:t>lịch</a:t>
                      </a:r>
                      <a:r>
                        <a:rPr lang="en-US" sz="1200" b="0" i="0" u="none" strike="noStrike" dirty="0">
                          <a:solidFill>
                            <a:srgbClr val="FF0000"/>
                          </a:solidFill>
                          <a:effectLst/>
                          <a:latin typeface="+mn-lt"/>
                          <a:cs typeface="Times New Roman" panose="02020603050405020304" pitchFamily="18" charset="0"/>
                        </a:rPr>
                        <a:t> induct </a:t>
                      </a:r>
                      <a:r>
                        <a:rPr lang="en-US" sz="1200" b="0" i="0" u="none" strike="noStrike" dirty="0" err="1">
                          <a:solidFill>
                            <a:srgbClr val="FF0000"/>
                          </a:solidFill>
                          <a:effectLst/>
                          <a:latin typeface="+mn-lt"/>
                          <a:cs typeface="Times New Roman" panose="02020603050405020304" pitchFamily="18" charset="0"/>
                        </a:rPr>
                        <a:t>với</a:t>
                      </a:r>
                      <a:r>
                        <a:rPr lang="en-US" sz="1200" b="0" i="0" u="none" strike="noStrike" dirty="0">
                          <a:solidFill>
                            <a:srgbClr val="FF0000"/>
                          </a:solidFill>
                          <a:effectLst/>
                          <a:latin typeface="+mn-lt"/>
                          <a:cs typeface="Times New Roman" panose="02020603050405020304" pitchFamily="18" charset="0"/>
                        </a:rPr>
                        <a:t> 956913</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31304">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223233">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Induction 24/06/2025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21422">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err="1">
                          <a:solidFill>
                            <a:srgbClr val="BA0000"/>
                          </a:solidFill>
                          <a:effectLst/>
                          <a:latin typeface="+mn-lt"/>
                          <a:cs typeface="Times New Roman" panose="02020603050405020304" pitchFamily="18" charset="0"/>
                        </a:rPr>
                        <a:t>Cuối</a:t>
                      </a:r>
                      <a:r>
                        <a:rPr lang="en-US" sz="1200" b="1" u="none" strike="noStrike" dirty="0">
                          <a:solidFill>
                            <a:srgbClr val="BA0000"/>
                          </a:solidFill>
                          <a:effectLst/>
                          <a:latin typeface="+mn-lt"/>
                          <a:cs typeface="Times New Roman" panose="02020603050405020304" pitchFamily="18" charset="0"/>
                        </a:rPr>
                        <a:t> T6</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err="1">
                          <a:solidFill>
                            <a:srgbClr val="BA0000"/>
                          </a:solidFill>
                          <a:effectLst/>
                          <a:latin typeface="+mn-lt"/>
                          <a:ea typeface="+mn-ea"/>
                          <a:cs typeface="Times New Roman" panose="02020603050405020304" pitchFamily="18" charset="0"/>
                        </a:rPr>
                        <a:t>Cuối</a:t>
                      </a:r>
                      <a:r>
                        <a:rPr lang="en-US" sz="1200" b="1" i="0" u="none" strike="noStrike" kern="1200" dirty="0">
                          <a:solidFill>
                            <a:srgbClr val="BA0000"/>
                          </a:solidFill>
                          <a:effectLst/>
                          <a:latin typeface="+mn-lt"/>
                          <a:ea typeface="+mn-ea"/>
                          <a:cs typeface="Times New Roman" panose="02020603050405020304" pitchFamily="18" charset="0"/>
                        </a:rPr>
                        <a:t> T6</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A873 (958438)</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368084">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02/06/2025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04/06/2025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A873 (958435)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385641">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1" i="0" u="none" strike="noStrike" dirty="0">
                          <a:solidFill>
                            <a:srgbClr val="D80000"/>
                          </a:solidFill>
                          <a:effectLst/>
                          <a:latin typeface="+mn-lt"/>
                          <a:cs typeface="Times New Roman" panose="02020603050405020304" pitchFamily="18" charset="0"/>
                        </a:rPr>
                        <a:t>10/07/2025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A863 (958170)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54704">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8882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1" u="none" strike="noStrike" dirty="0">
                          <a:solidFill>
                            <a:srgbClr val="D80000"/>
                          </a:solidFill>
                          <a:effectLst/>
                          <a:latin typeface="+mn-lt"/>
                          <a:cs typeface="Times New Roman" panose="02020603050405020304" pitchFamily="18" charset="0"/>
                        </a:rPr>
                        <a:t>30/08/2025</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A862 (956600)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2437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35221">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1" u="none" strike="noStrike" dirty="0">
                          <a:solidFill>
                            <a:srgbClr val="FF0000"/>
                          </a:solidFill>
                          <a:effectLst/>
                          <a:latin typeface="+mn-lt"/>
                          <a:cs typeface="Times New Roman" panose="02020603050405020304" pitchFamily="18" charset="0"/>
                        </a:rPr>
                        <a:t>15/08/2025</a:t>
                      </a:r>
                    </a:p>
                    <a:p>
                      <a:pPr algn="ctr" fontAlgn="ctr"/>
                      <a:r>
                        <a:rPr lang="en-US" sz="1200" b="0" u="none" strike="noStrike" dirty="0">
                          <a:solidFill>
                            <a:schemeClr val="tx1"/>
                          </a:solidFill>
                          <a:effectLst/>
                          <a:latin typeface="+mn-lt"/>
                          <a:cs typeface="Times New Roman" panose="02020603050405020304" pitchFamily="18" charset="0"/>
                        </a:rPr>
                        <a:t>Inducted 05/05/2025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A874 (958266)</a:t>
                      </a: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B787</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05023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extLst/>
          </p:nvPr>
        </p:nvGraphicFramePr>
        <p:xfrm>
          <a:off x="151306" y="707662"/>
          <a:ext cx="5787655" cy="4376696"/>
        </p:xfrm>
        <a:graphic>
          <a:graphicData uri="http://schemas.openxmlformats.org/drawingml/2006/table">
            <a:tbl>
              <a:tblPr firstRow="1" bandRow="1">
                <a:tableStyleId>{5C22544A-7EE6-4342-B048-85BDC9FD1C3A}</a:tableStyleId>
              </a:tblPr>
              <a:tblGrid>
                <a:gridCol w="686894">
                  <a:extLst>
                    <a:ext uri="{9D8B030D-6E8A-4147-A177-3AD203B41FA5}">
                      <a16:colId xmlns:a16="http://schemas.microsoft.com/office/drawing/2014/main" val="1930757539"/>
                    </a:ext>
                  </a:extLst>
                </a:gridCol>
                <a:gridCol w="685800">
                  <a:extLst>
                    <a:ext uri="{9D8B030D-6E8A-4147-A177-3AD203B41FA5}">
                      <a16:colId xmlns:a16="http://schemas.microsoft.com/office/drawing/2014/main" val="1674463010"/>
                    </a:ext>
                  </a:extLst>
                </a:gridCol>
                <a:gridCol w="533400">
                  <a:extLst>
                    <a:ext uri="{9D8B030D-6E8A-4147-A177-3AD203B41FA5}">
                      <a16:colId xmlns:a16="http://schemas.microsoft.com/office/drawing/2014/main" val="1549944897"/>
                    </a:ext>
                  </a:extLst>
                </a:gridCol>
                <a:gridCol w="1828800">
                  <a:extLst>
                    <a:ext uri="{9D8B030D-6E8A-4147-A177-3AD203B41FA5}">
                      <a16:colId xmlns:a16="http://schemas.microsoft.com/office/drawing/2014/main" val="3687717734"/>
                    </a:ext>
                  </a:extLst>
                </a:gridCol>
                <a:gridCol w="2052761">
                  <a:extLst>
                    <a:ext uri="{9D8B030D-6E8A-4147-A177-3AD203B41FA5}">
                      <a16:colId xmlns:a16="http://schemas.microsoft.com/office/drawing/2014/main" val="4100307886"/>
                    </a:ext>
                  </a:extLst>
                </a:gridCol>
              </a:tblGrid>
              <a:tr h="363427">
                <a:tc>
                  <a:txBody>
                    <a:bodyPr/>
                    <a:lstStyle/>
                    <a:p>
                      <a:r>
                        <a:rPr lang="en-US" sz="1100" dirty="0" err="1"/>
                        <a:t>Động</a:t>
                      </a:r>
                      <a:r>
                        <a:rPr lang="en-US" sz="1100" dirty="0"/>
                        <a:t> c</a:t>
                      </a:r>
                      <a:r>
                        <a:rPr lang="vi-VN" sz="1100" dirty="0"/>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a:t>TAT</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Ngày</a:t>
                      </a:r>
                      <a:r>
                        <a:rPr lang="en-US" sz="1100" dirty="0"/>
                        <a:t> </a:t>
                      </a:r>
                      <a:r>
                        <a:rPr lang="en-US" sz="1100" dirty="0" err="1"/>
                        <a:t>về</a:t>
                      </a:r>
                      <a:r>
                        <a:rPr lang="en-US" sz="1100" dirty="0"/>
                        <a:t> </a:t>
                      </a:r>
                      <a:r>
                        <a:rPr lang="en-US" sz="1100" dirty="0" err="1"/>
                        <a:t>dự</a:t>
                      </a:r>
                      <a:r>
                        <a:rPr lang="en-US" sz="1100" dirty="0"/>
                        <a:t> </a:t>
                      </a:r>
                      <a:r>
                        <a:rPr lang="en-US" sz="1100" dirty="0" err="1"/>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Kế</a:t>
                      </a:r>
                      <a:r>
                        <a:rPr lang="en-US" sz="1100" dirty="0"/>
                        <a:t> </a:t>
                      </a:r>
                      <a:r>
                        <a:rPr lang="en-US" sz="1100" dirty="0" err="1"/>
                        <a:t>hoạch</a:t>
                      </a:r>
                      <a:r>
                        <a:rPr lang="en-US" sz="1100" dirty="0"/>
                        <a:t> </a:t>
                      </a:r>
                      <a:r>
                        <a:rPr lang="en-US" sz="1100" dirty="0" err="1"/>
                        <a:t>sử</a:t>
                      </a:r>
                      <a:r>
                        <a:rPr lang="en-US" sz="1100" dirty="0"/>
                        <a:t> </a:t>
                      </a:r>
                      <a:r>
                        <a:rPr lang="en-US" sz="1100" dirty="0" err="1"/>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420810">
                <a:tc>
                  <a:txBody>
                    <a:bodyPr/>
                    <a:lstStyle/>
                    <a:p>
                      <a:pPr algn="ctr" fontAlgn="ctr"/>
                      <a:r>
                        <a:rPr lang="en-GB" sz="1100" b="0" u="none" strike="noStrike" dirty="0">
                          <a:solidFill>
                            <a:schemeClr val="tx1"/>
                          </a:solidFill>
                          <a:effectLst/>
                        </a:rPr>
                        <a:t>21040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HAESL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15/06/2025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A886#1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394394">
                <a:tc>
                  <a:txBody>
                    <a:bodyPr/>
                    <a:lstStyle/>
                    <a:p>
                      <a:pPr algn="ctr" fontAlgn="ctr"/>
                      <a:r>
                        <a:rPr lang="en-GB" sz="1100" b="0" u="none" strike="noStrike" dirty="0">
                          <a:solidFill>
                            <a:schemeClr val="tx1"/>
                          </a:solidFill>
                          <a:effectLst/>
                        </a:rPr>
                        <a:t>21584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SAESL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25/06/2025</a:t>
                      </a:r>
                    </a:p>
                  </a:txBody>
                  <a:tcPr marL="0" marR="0" marT="0" marB="0" anchor="ctr"/>
                </a:tc>
                <a:tc>
                  <a:txBody>
                    <a:bodyPr/>
                    <a:lstStyle/>
                    <a:p>
                      <a:r>
                        <a:rPr lang="en-US" sz="1100" b="0" dirty="0">
                          <a:solidFill>
                            <a:schemeClr val="tx1"/>
                          </a:solidFill>
                        </a:rPr>
                        <a:t>A886#2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363427">
                <a:tc>
                  <a:txBody>
                    <a:bodyPr/>
                    <a:lstStyle/>
                    <a:p>
                      <a:pPr algn="ctr" fontAlgn="ctr"/>
                      <a:r>
                        <a:rPr lang="en-GB" sz="1100" b="0" u="none" strike="noStrike">
                          <a:solidFill>
                            <a:schemeClr val="tx1"/>
                          </a:solidFill>
                          <a:effectLst/>
                        </a:rPr>
                        <a:t>21136</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75</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05/07/2025</a:t>
                      </a:r>
                      <a:endParaRPr lang="en-GB" sz="1100" b="0" i="0" u="none" strike="noStrike" dirty="0">
                        <a:solidFill>
                          <a:schemeClr val="tx1"/>
                        </a:solidFill>
                        <a:effectLst/>
                        <a:latin typeface="Times New Roman" panose="02020603050405020304" pitchFamily="18" charset="0"/>
                      </a:endParaRPr>
                    </a:p>
                  </a:txBody>
                  <a:tcPr marL="0" marR="0" marT="0" marB="0" anchor="ctr"/>
                </a:tc>
                <a:tc rowSpan="5">
                  <a:txBody>
                    <a:bodyPr/>
                    <a:lstStyle/>
                    <a:p>
                      <a:r>
                        <a:rPr lang="en-US" sz="1100" b="0" dirty="0">
                          <a:solidFill>
                            <a:schemeClr val="tx1"/>
                          </a:solidFill>
                          <a:latin typeface="Times New Roman" panose="02020603050405020304" pitchFamily="18" charset="0"/>
                          <a:cs typeface="Times New Roman" panose="02020603050405020304" pitchFamily="18" charset="0"/>
                        </a:rPr>
                        <a:t>05 </a:t>
                      </a:r>
                      <a:r>
                        <a:rPr lang="en-US" sz="1100" b="0" dirty="0" err="1">
                          <a:solidFill>
                            <a:schemeClr val="tx1"/>
                          </a:solidFill>
                          <a:latin typeface="Times New Roman" panose="02020603050405020304" pitchFamily="18" charset="0"/>
                          <a:cs typeface="Times New Roman" panose="02020603050405020304" pitchFamily="18" charset="0"/>
                        </a:rPr>
                        <a:t>động</a:t>
                      </a:r>
                      <a:r>
                        <a:rPr lang="en-US" sz="1100" b="0" dirty="0">
                          <a:solidFill>
                            <a:schemeClr val="tx1"/>
                          </a:solidFill>
                          <a:latin typeface="Times New Roman" panose="02020603050405020304" pitchFamily="18" charset="0"/>
                          <a:cs typeface="Times New Roman" panose="02020603050405020304" pitchFamily="18" charset="0"/>
                        </a:rPr>
                        <a:t> c</a:t>
                      </a:r>
                      <a:r>
                        <a:rPr lang="vi-VN" sz="1100" b="0" dirty="0">
                          <a:solidFill>
                            <a:schemeClr val="tx1"/>
                          </a:solidFill>
                          <a:latin typeface="Times New Roman" panose="02020603050405020304" pitchFamily="18" charset="0"/>
                          <a:cs typeface="Times New Roman" panose="02020603050405020304" pitchFamily="18" charset="0"/>
                        </a:rPr>
                        <a:t>ơ</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này</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sẽ</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sử</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dụng</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cho</a:t>
                      </a:r>
                      <a:r>
                        <a:rPr lang="en-US" sz="1100" b="0" dirty="0">
                          <a:solidFill>
                            <a:schemeClr val="tx1"/>
                          </a:solidFill>
                          <a:latin typeface="Times New Roman" panose="02020603050405020304" pitchFamily="18" charset="0"/>
                          <a:cs typeface="Times New Roman" panose="02020603050405020304" pitchFamily="18" charset="0"/>
                        </a:rPr>
                        <a:t>:</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A890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12/07</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A898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23/07</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A894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31/07</a:t>
                      </a:r>
                    </a:p>
                    <a:p>
                      <a:pPr marL="0" indent="0">
                        <a:buFontTx/>
                        <a:buNone/>
                      </a:pPr>
                      <a:r>
                        <a:rPr lang="en-US" sz="1100" b="0" dirty="0">
                          <a:solidFill>
                            <a:schemeClr val="tx1"/>
                          </a:solidFill>
                          <a:latin typeface="Times New Roman" panose="02020603050405020304" pitchFamily="18" charset="0"/>
                          <a:cs typeface="Times New Roman" panose="02020603050405020304" pitchFamily="18" charset="0"/>
                        </a:rPr>
                        <a:t>(</a:t>
                      </a:r>
                      <a:r>
                        <a:rPr lang="en-US" sz="1100" b="0" dirty="0" err="1">
                          <a:solidFill>
                            <a:schemeClr val="tx1"/>
                          </a:solidFill>
                          <a:latin typeface="Times New Roman" panose="02020603050405020304" pitchFamily="18" charset="0"/>
                          <a:cs typeface="Times New Roman" panose="02020603050405020304" pitchFamily="18" charset="0"/>
                        </a:rPr>
                        <a:t>ước</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baseline="0" dirty="0" err="1">
                          <a:solidFill>
                            <a:schemeClr val="tx1"/>
                          </a:solidFill>
                          <a:latin typeface="Times New Roman" panose="02020603050405020304" pitchFamily="18" charset="0"/>
                          <a:cs typeface="Times New Roman" panose="02020603050405020304" pitchFamily="18" charset="0"/>
                        </a:rPr>
                        <a:t>lượng</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ngày</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tháo</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ch</a:t>
                      </a:r>
                      <a:r>
                        <a:rPr lang="vi-VN" sz="1100" b="0" dirty="0">
                          <a:solidFill>
                            <a:schemeClr val="tx1"/>
                          </a:solidFill>
                          <a:latin typeface="Times New Roman" panose="02020603050405020304" pitchFamily="18" charset="0"/>
                          <a:cs typeface="Times New Roman" panose="02020603050405020304" pitchFamily="18" charset="0"/>
                        </a:rPr>
                        <a:t>ư</a:t>
                      </a:r>
                      <a:r>
                        <a:rPr lang="en-US" sz="1100" b="0" dirty="0">
                          <a:solidFill>
                            <a:schemeClr val="tx1"/>
                          </a:solidFill>
                          <a:latin typeface="Times New Roman" panose="02020603050405020304" pitchFamily="18" charset="0"/>
                          <a:cs typeface="Times New Roman" panose="02020603050405020304" pitchFamily="18" charset="0"/>
                        </a:rPr>
                        <a:t>a </a:t>
                      </a:r>
                      <a:r>
                        <a:rPr lang="en-US" sz="1100" b="0" dirty="0" err="1">
                          <a:solidFill>
                            <a:schemeClr val="tx1"/>
                          </a:solidFill>
                          <a:latin typeface="Times New Roman" panose="02020603050405020304" pitchFamily="18" charset="0"/>
                          <a:cs typeface="Times New Roman" panose="02020603050405020304" pitchFamily="18" charset="0"/>
                        </a:rPr>
                        <a:t>tính</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giữ</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giờ</a:t>
                      </a:r>
                      <a:r>
                        <a:rPr lang="en-US" sz="1100" b="0" dirty="0">
                          <a:solidFill>
                            <a:schemeClr val="tx1"/>
                          </a:solidFill>
                          <a:latin typeface="Times New Roman" panose="02020603050405020304" pitchFamily="18" charset="0"/>
                          <a:cs typeface="Times New Roman" panose="02020603050405020304" pitchFamily="18" charset="0"/>
                        </a:rPr>
                        <a:t>)</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A895 </a:t>
                      </a:r>
                      <a:r>
                        <a:rPr lang="en-US" sz="1100" b="0" dirty="0" err="1">
                          <a:solidFill>
                            <a:schemeClr val="tx1"/>
                          </a:solidFill>
                          <a:latin typeface="Times New Roman" panose="02020603050405020304" pitchFamily="18" charset="0"/>
                          <a:cs typeface="Times New Roman" panose="02020603050405020304" pitchFamily="18" charset="0"/>
                        </a:rPr>
                        <a:t>thiếu</a:t>
                      </a:r>
                      <a:r>
                        <a:rPr lang="en-US" sz="1100" b="0" dirty="0">
                          <a:solidFill>
                            <a:schemeClr val="tx1"/>
                          </a:solidFill>
                          <a:latin typeface="Times New Roman" panose="02020603050405020304" pitchFamily="18" charset="0"/>
                          <a:cs typeface="Times New Roman" panose="02020603050405020304" pitchFamily="18" charset="0"/>
                        </a:rPr>
                        <a:t> 2 </a:t>
                      </a:r>
                      <a:r>
                        <a:rPr lang="en-US" sz="1100" b="0" dirty="0" err="1">
                          <a:solidFill>
                            <a:schemeClr val="tx1"/>
                          </a:solidFill>
                          <a:latin typeface="Times New Roman" panose="02020603050405020304" pitchFamily="18" charset="0"/>
                          <a:cs typeface="Times New Roman" panose="02020603050405020304" pitchFamily="18" charset="0"/>
                        </a:rPr>
                        <a:t>động</a:t>
                      </a:r>
                      <a:r>
                        <a:rPr lang="en-US" sz="1100" b="0" dirty="0">
                          <a:solidFill>
                            <a:schemeClr val="tx1"/>
                          </a:solidFill>
                          <a:latin typeface="Times New Roman" panose="02020603050405020304" pitchFamily="18" charset="0"/>
                          <a:cs typeface="Times New Roman" panose="02020603050405020304" pitchFamily="18" charset="0"/>
                        </a:rPr>
                        <a:t> c</a:t>
                      </a:r>
                      <a:r>
                        <a:rPr lang="vi-VN" sz="1100" b="0" dirty="0">
                          <a:solidFill>
                            <a:schemeClr val="tx1"/>
                          </a:solidFill>
                          <a:latin typeface="Times New Roman" panose="02020603050405020304" pitchFamily="18" charset="0"/>
                          <a:cs typeface="Times New Roman" panose="02020603050405020304" pitchFamily="18" charset="0"/>
                        </a:rPr>
                        <a:t>ơ</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420810">
                <a:tc>
                  <a:txBody>
                    <a:bodyPr/>
                    <a:lstStyle/>
                    <a:p>
                      <a:pPr algn="ctr" fontAlgn="ctr"/>
                      <a:r>
                        <a:rPr lang="en-GB" sz="1100" b="0" u="none" strike="noStrike">
                          <a:solidFill>
                            <a:schemeClr val="tx1"/>
                          </a:solidFill>
                          <a:effectLst/>
                        </a:rPr>
                        <a:t>21043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228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23/07/2025</a:t>
                      </a:r>
                    </a:p>
                    <a:p>
                      <a:pPr algn="ctr" fontAlgn="ctr"/>
                      <a:r>
                        <a:rPr lang="en-GB" sz="1100" b="0" u="none" strike="noStrike" dirty="0">
                          <a:solidFill>
                            <a:schemeClr val="tx1"/>
                          </a:solidFill>
                          <a:effectLst/>
                        </a:rPr>
                        <a:t>+42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 </a:t>
                      </a:r>
                      <a:r>
                        <a:rPr lang="en-GB" sz="1100" b="0" u="none" strike="noStrike" dirty="0" err="1">
                          <a:solidFill>
                            <a:schemeClr val="tx1"/>
                          </a:solidFill>
                          <a:effectLst/>
                        </a:rPr>
                        <a:t>gốc</a:t>
                      </a:r>
                      <a:endParaRPr lang="en-GB" sz="1100" b="0" i="0" u="none" strike="noStrike" dirty="0">
                        <a:solidFill>
                          <a:schemeClr val="tx1"/>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r h="363427">
                <a:tc>
                  <a:txBody>
                    <a:bodyPr/>
                    <a:lstStyle/>
                    <a:p>
                      <a:pPr algn="ctr" fontAlgn="ctr"/>
                      <a:r>
                        <a:rPr lang="en-GB" sz="1100" b="0" u="none" strike="noStrike" dirty="0">
                          <a:solidFill>
                            <a:schemeClr val="tx1"/>
                          </a:solidFill>
                          <a:effectLst/>
                        </a:rPr>
                        <a:t>21414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rgbClr val="FF0000"/>
                          </a:solidFill>
                          <a:effectLst/>
                        </a:rPr>
                        <a:t>06/08/2025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rPr>
                        <a:t>(+10 </a:t>
                      </a:r>
                      <a:r>
                        <a:rPr lang="en-GB" sz="1100" b="0" u="none" strike="noStrike" dirty="0" err="1">
                          <a:solidFill>
                            <a:srgbClr val="FF0000"/>
                          </a:solidFill>
                          <a:effectLst/>
                        </a:rPr>
                        <a:t>ngày</a:t>
                      </a:r>
                      <a:r>
                        <a:rPr lang="en-GB" sz="1100" b="0" u="none" strike="noStrike" dirty="0">
                          <a:solidFill>
                            <a:srgbClr val="FF0000"/>
                          </a:solidFill>
                          <a:effectLst/>
                        </a:rPr>
                        <a:t> so </a:t>
                      </a:r>
                      <a:r>
                        <a:rPr lang="en-GB" sz="1100" b="0" u="none" strike="noStrike" dirty="0" err="1">
                          <a:solidFill>
                            <a:srgbClr val="FF0000"/>
                          </a:solidFill>
                          <a:effectLst/>
                        </a:rPr>
                        <a:t>với</a:t>
                      </a:r>
                      <a:r>
                        <a:rPr lang="en-GB" sz="1100" b="0" u="none" strike="noStrike" baseline="0" dirty="0">
                          <a:solidFill>
                            <a:srgbClr val="FF0000"/>
                          </a:solidFill>
                          <a:effectLst/>
                        </a:rPr>
                        <a:t> </a:t>
                      </a:r>
                      <a:r>
                        <a:rPr lang="en-GB" sz="1100" b="0" u="none" strike="noStrike" baseline="0" dirty="0" err="1">
                          <a:solidFill>
                            <a:srgbClr val="FF0000"/>
                          </a:solidFill>
                          <a:effectLst/>
                        </a:rPr>
                        <a:t>tuần</a:t>
                      </a:r>
                      <a:r>
                        <a:rPr lang="en-GB" sz="1100" b="0" u="none" strike="noStrike" baseline="0" dirty="0">
                          <a:solidFill>
                            <a:srgbClr val="FF0000"/>
                          </a:solidFill>
                          <a:effectLst/>
                        </a:rPr>
                        <a:t> </a:t>
                      </a:r>
                      <a:r>
                        <a:rPr lang="en-GB" sz="1100" b="0" u="none" strike="noStrike" baseline="0" dirty="0" err="1">
                          <a:solidFill>
                            <a:srgbClr val="FF0000"/>
                          </a:solidFill>
                          <a:effectLst/>
                        </a:rPr>
                        <a:t>trước</a:t>
                      </a:r>
                      <a:r>
                        <a:rPr lang="en-GB" sz="1100" b="0" u="none" strike="noStrike" dirty="0">
                          <a:solidFill>
                            <a:srgbClr val="FF0000"/>
                          </a:solidFill>
                          <a:effectLst/>
                        </a:rPr>
                        <a:t>)</a:t>
                      </a:r>
                      <a:endParaRPr lang="en-GB" sz="1100" b="0" i="0" u="none" strike="noStrike" dirty="0">
                        <a:solidFill>
                          <a:srgbClr val="FF0000"/>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420810">
                <a:tc>
                  <a:txBody>
                    <a:bodyPr/>
                    <a:lstStyle/>
                    <a:p>
                      <a:pPr algn="ctr" fontAlgn="ctr"/>
                      <a:r>
                        <a:rPr lang="en-GB" sz="1100" b="0" u="none" strike="noStrike" dirty="0">
                          <a:solidFill>
                            <a:schemeClr val="tx1"/>
                          </a:solidFill>
                          <a:effectLst/>
                        </a:rPr>
                        <a:t>21137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207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rgbClr val="FF0000"/>
                          </a:solidFill>
                          <a:effectLst/>
                        </a:rPr>
                        <a:t>12/08/2025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rPr>
                        <a:t>(+14 </a:t>
                      </a:r>
                      <a:r>
                        <a:rPr lang="en-GB" sz="1100" b="0" u="none" strike="noStrike" dirty="0" err="1">
                          <a:solidFill>
                            <a:srgbClr val="FF0000"/>
                          </a:solidFill>
                          <a:effectLst/>
                        </a:rPr>
                        <a:t>ngày</a:t>
                      </a:r>
                      <a:r>
                        <a:rPr lang="en-GB" sz="1100" b="0" u="none" strike="noStrike" baseline="0" dirty="0">
                          <a:solidFill>
                            <a:srgbClr val="FF0000"/>
                          </a:solidFill>
                          <a:effectLst/>
                        </a:rPr>
                        <a:t> so </a:t>
                      </a:r>
                      <a:r>
                        <a:rPr lang="en-GB" sz="1100" b="0" u="none" strike="noStrike" baseline="0" dirty="0" err="1">
                          <a:solidFill>
                            <a:srgbClr val="FF0000"/>
                          </a:solidFill>
                          <a:effectLst/>
                        </a:rPr>
                        <a:t>với</a:t>
                      </a:r>
                      <a:r>
                        <a:rPr lang="en-GB" sz="1100" b="0" u="none" strike="noStrike" baseline="0" dirty="0">
                          <a:solidFill>
                            <a:srgbClr val="FF0000"/>
                          </a:solidFill>
                          <a:effectLst/>
                        </a:rPr>
                        <a:t> KH </a:t>
                      </a:r>
                      <a:r>
                        <a:rPr lang="en-GB" sz="1100" b="0" u="none" strike="noStrike" baseline="0" dirty="0" err="1">
                          <a:solidFill>
                            <a:srgbClr val="FF0000"/>
                          </a:solidFill>
                          <a:effectLst/>
                        </a:rPr>
                        <a:t>tuần</a:t>
                      </a:r>
                      <a:r>
                        <a:rPr lang="en-GB" sz="1100" b="0" u="none" strike="noStrike" baseline="0" dirty="0">
                          <a:solidFill>
                            <a:srgbClr val="FF0000"/>
                          </a:solidFill>
                          <a:effectLst/>
                        </a:rPr>
                        <a:t> </a:t>
                      </a:r>
                      <a:r>
                        <a:rPr lang="en-GB" sz="1100" b="0" u="none" strike="noStrike" baseline="0" dirty="0" err="1">
                          <a:solidFill>
                            <a:srgbClr val="FF0000"/>
                          </a:solidFill>
                          <a:effectLst/>
                        </a:rPr>
                        <a:t>trước</a:t>
                      </a:r>
                      <a:r>
                        <a:rPr lang="en-GB" sz="1100" b="0" u="none" strike="noStrike" baseline="0" dirty="0">
                          <a:solidFill>
                            <a:srgbClr val="FF0000"/>
                          </a:solidFill>
                          <a:effectLst/>
                        </a:rPr>
                        <a:t>, 42 </a:t>
                      </a:r>
                      <a:r>
                        <a:rPr lang="en-GB" sz="1100" b="0" u="none" strike="noStrike" baseline="0" dirty="0" err="1">
                          <a:solidFill>
                            <a:srgbClr val="FF0000"/>
                          </a:solidFill>
                          <a:effectLst/>
                        </a:rPr>
                        <a:t>ngày</a:t>
                      </a:r>
                      <a:r>
                        <a:rPr lang="en-GB" sz="1100" b="0" u="none" strike="noStrike" baseline="0" dirty="0">
                          <a:solidFill>
                            <a:srgbClr val="FF0000"/>
                          </a:solidFill>
                          <a:effectLst/>
                        </a:rPr>
                        <a:t> so </a:t>
                      </a:r>
                      <a:r>
                        <a:rPr lang="en-GB" sz="1100" b="0" u="none" strike="noStrike" baseline="0" dirty="0" err="1">
                          <a:solidFill>
                            <a:srgbClr val="FF0000"/>
                          </a:solidFill>
                          <a:effectLst/>
                        </a:rPr>
                        <a:t>với</a:t>
                      </a:r>
                      <a:r>
                        <a:rPr lang="en-GB" sz="1100" b="0" u="none" strike="noStrike" baseline="0" dirty="0">
                          <a:solidFill>
                            <a:srgbClr val="FF0000"/>
                          </a:solidFill>
                          <a:effectLst/>
                        </a:rPr>
                        <a:t> KH </a:t>
                      </a:r>
                      <a:r>
                        <a:rPr lang="en-GB" sz="1100" b="0" u="none" strike="noStrike" baseline="0" dirty="0" err="1">
                          <a:solidFill>
                            <a:srgbClr val="FF0000"/>
                          </a:solidFill>
                          <a:effectLst/>
                        </a:rPr>
                        <a:t>gốc</a:t>
                      </a:r>
                      <a:r>
                        <a:rPr lang="en-GB" sz="1100" b="0" u="none" strike="noStrike" baseline="0" dirty="0">
                          <a:solidFill>
                            <a:srgbClr val="FF0000"/>
                          </a:solidFill>
                          <a:effectLst/>
                        </a:rPr>
                        <a:t>)</a:t>
                      </a:r>
                      <a:endParaRPr lang="en-GB" sz="1100" b="0" i="0" u="none" strike="noStrike" dirty="0">
                        <a:solidFill>
                          <a:srgbClr val="FF0000"/>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34618264"/>
                  </a:ext>
                </a:extLst>
              </a:tr>
              <a:tr h="363427">
                <a:tc>
                  <a:txBody>
                    <a:bodyPr/>
                    <a:lstStyle/>
                    <a:p>
                      <a:pPr algn="ctr" fontAlgn="ctr"/>
                      <a:r>
                        <a:rPr lang="en-GB" sz="1100" b="0" u="none" strike="noStrike" dirty="0">
                          <a:solidFill>
                            <a:schemeClr val="tx1"/>
                          </a:solidFill>
                          <a:effectLst/>
                        </a:rPr>
                        <a:t>21604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rgbClr val="FF0000"/>
                          </a:solidFill>
                          <a:effectLst/>
                        </a:rPr>
                        <a:t>13/08/2025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FF0000"/>
                          </a:solidFill>
                          <a:effectLst/>
                        </a:rPr>
                        <a:t>(+5 </a:t>
                      </a:r>
                      <a:r>
                        <a:rPr lang="en-GB" sz="1100" b="0" u="none" strike="noStrike" dirty="0" err="1">
                          <a:solidFill>
                            <a:srgbClr val="FF0000"/>
                          </a:solidFill>
                          <a:effectLst/>
                        </a:rPr>
                        <a:t>ngày</a:t>
                      </a:r>
                      <a:r>
                        <a:rPr lang="en-GB" sz="1100" b="0" u="none" strike="noStrike" dirty="0">
                          <a:solidFill>
                            <a:srgbClr val="FF0000"/>
                          </a:solidFill>
                          <a:effectLst/>
                        </a:rPr>
                        <a:t> so </a:t>
                      </a:r>
                      <a:r>
                        <a:rPr lang="en-GB" sz="1100" b="0" u="none" strike="noStrike" dirty="0" err="1">
                          <a:solidFill>
                            <a:srgbClr val="FF0000"/>
                          </a:solidFill>
                          <a:effectLst/>
                        </a:rPr>
                        <a:t>với</a:t>
                      </a:r>
                      <a:r>
                        <a:rPr lang="en-GB" sz="1100" b="0" u="none" strike="noStrike" baseline="0" dirty="0">
                          <a:solidFill>
                            <a:srgbClr val="FF0000"/>
                          </a:solidFill>
                          <a:effectLst/>
                        </a:rPr>
                        <a:t> </a:t>
                      </a:r>
                      <a:r>
                        <a:rPr lang="en-GB" sz="1100" b="0" u="none" strike="noStrike" baseline="0" dirty="0" err="1">
                          <a:solidFill>
                            <a:srgbClr val="FF0000"/>
                          </a:solidFill>
                          <a:effectLst/>
                        </a:rPr>
                        <a:t>tuần</a:t>
                      </a:r>
                      <a:r>
                        <a:rPr lang="en-GB" sz="1100" b="0" u="none" strike="noStrike" baseline="0" dirty="0">
                          <a:solidFill>
                            <a:srgbClr val="FF0000"/>
                          </a:solidFill>
                          <a:effectLst/>
                        </a:rPr>
                        <a:t> </a:t>
                      </a:r>
                      <a:r>
                        <a:rPr lang="en-GB" sz="1100" b="0" u="none" strike="noStrike" baseline="0" dirty="0" err="1">
                          <a:solidFill>
                            <a:srgbClr val="FF0000"/>
                          </a:solidFill>
                          <a:effectLst/>
                        </a:rPr>
                        <a:t>trước</a:t>
                      </a:r>
                      <a:r>
                        <a:rPr lang="en-GB" sz="1100" b="0" u="none" strike="noStrike" dirty="0">
                          <a:solidFill>
                            <a:srgbClr val="FF0000"/>
                          </a:solidFill>
                          <a:effectLst/>
                        </a:rPr>
                        <a:t>)</a:t>
                      </a:r>
                      <a:endParaRPr lang="en-GB" sz="1100" b="0" i="0" u="none" strike="noStrike" dirty="0">
                        <a:solidFill>
                          <a:srgbClr val="FF0000"/>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45775366"/>
                  </a:ext>
                </a:extLst>
              </a:tr>
              <a:tr h="363427">
                <a:tc>
                  <a:txBody>
                    <a:bodyPr/>
                    <a:lstStyle/>
                    <a:p>
                      <a:pPr algn="ctr" fontAlgn="ctr"/>
                      <a:r>
                        <a:rPr lang="en-GB" sz="1100" b="0" u="none" strike="noStrike" dirty="0">
                          <a:solidFill>
                            <a:schemeClr val="tx1"/>
                          </a:solidFill>
                          <a:effectLst/>
                        </a:rPr>
                        <a:t>21048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08/11/2025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430177177"/>
                  </a:ext>
                </a:extLst>
              </a:tr>
              <a:tr h="363427">
                <a:tc>
                  <a:txBody>
                    <a:bodyPr/>
                    <a:lstStyle/>
                    <a:p>
                      <a:pPr algn="ctr" fontAlgn="ctr"/>
                      <a:r>
                        <a:rPr lang="en-US" sz="1100" b="0" u="none" strike="noStrike" dirty="0">
                          <a:solidFill>
                            <a:schemeClr val="tx1"/>
                          </a:solidFill>
                          <a:effectLst/>
                        </a:rPr>
                        <a:t>21024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01/12/2025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287308911"/>
                  </a:ext>
                </a:extLst>
              </a:tr>
              <a:tr h="363427">
                <a:tc>
                  <a:txBody>
                    <a:bodyPr/>
                    <a:lstStyle/>
                    <a:p>
                      <a:pPr algn="ctr" fontAlgn="ctr"/>
                      <a:r>
                        <a:rPr lang="en-US" sz="1100" b="0" u="none" strike="noStrike" dirty="0">
                          <a:solidFill>
                            <a:schemeClr val="tx1"/>
                          </a:solidFill>
                          <a:effectLst/>
                        </a:rPr>
                        <a:t>21035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A887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10/04/2026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343947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chờ</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740906"/>
            <a:ext cx="5167083" cy="553998"/>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do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thiếu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100" b="0"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Không</a:t>
            </a:r>
            <a:r>
              <a:rPr kumimoji="0" lang="en-US"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100" b="0"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tính</a:t>
            </a:r>
            <a:r>
              <a:rPr kumimoji="0" lang="en-US"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100" b="0"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thời</a:t>
            </a:r>
            <a:r>
              <a:rPr kumimoji="0" lang="en-US"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100" b="0"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gian</a:t>
            </a:r>
            <a:r>
              <a:rPr kumimoji="0" lang="en-US"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100" b="0"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lắp</a:t>
            </a:r>
            <a:r>
              <a:rPr kumimoji="0" lang="en-US"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 RTS + </a:t>
            </a:r>
            <a:r>
              <a:rPr kumimoji="0" lang="en-US" sz="1100" b="0"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định</a:t>
            </a:r>
            <a:r>
              <a:rPr kumimoji="0" lang="en-US"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100" b="0"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extLst/>
          </p:nvPr>
        </p:nvGraphicFramePr>
        <p:xfrm>
          <a:off x="269613" y="5562355"/>
          <a:ext cx="5765457" cy="115824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a:latin typeface="Times New Roman" panose="02020603050405020304" pitchFamily="18" charset="0"/>
                          <a:cs typeface="Times New Roman" panose="02020603050405020304" pitchFamily="18" charset="0"/>
                        </a:rPr>
                        <a:t>A887</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latin typeface="Times New Roman" panose="02020603050405020304" pitchFamily="18" charset="0"/>
                          <a:cs typeface="Times New Roman" panose="02020603050405020304" pitchFamily="18" charset="0"/>
                        </a:rPr>
                        <a:t>Đã</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có</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đủ</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đang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làm</a:t>
                      </a:r>
                      <a:r>
                        <a:rPr lang="en-US" sz="1100" dirty="0">
                          <a:latin typeface="Times New Roman" panose="02020603050405020304" pitchFamily="18" charset="0"/>
                          <a:cs typeface="Times New Roman" panose="02020603050405020304" pitchFamily="18" charset="0"/>
                        </a:rPr>
                        <a:t> RTS</a:t>
                      </a:r>
                    </a:p>
                  </a:txBody>
                  <a:tcPr marL="121920" marR="121920" marT="60960" marB="60960" anchor="ctr"/>
                </a:tc>
                <a:extLst>
                  <a:ext uri="{0D108BD9-81ED-4DB2-BD59-A6C34878D82A}">
                    <a16:rowId xmlns:a16="http://schemas.microsoft.com/office/drawing/2014/main" val="2082573017"/>
                  </a:ext>
                </a:extLst>
              </a:tr>
              <a:tr h="0">
                <a:tc>
                  <a:txBody>
                    <a:bodyPr/>
                    <a:lstStyle/>
                    <a:p>
                      <a:r>
                        <a:rPr lang="en-US" sz="1100">
                          <a:latin typeface="Times New Roman" panose="02020603050405020304" pitchFamily="18" charset="0"/>
                          <a:cs typeface="Times New Roman" panose="02020603050405020304" pitchFamily="18" charset="0"/>
                        </a:rPr>
                        <a:t>A886</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151305" y="5085711"/>
            <a:ext cx="5787655"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AOG (03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extLst/>
          </p:nvPr>
        </p:nvGraphicFramePr>
        <p:xfrm>
          <a:off x="6131180" y="3429000"/>
          <a:ext cx="5909514" cy="331342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112" y="842032"/>
            <a:ext cx="5909513"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thiếu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A886,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A895)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(A890, </a:t>
            </a:r>
            <a:r>
              <a:rPr kumimoji="0" lang="en-US" sz="12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A898</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A894)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T6 – T8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rất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gây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hưởng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tháo</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ngoài</a:t>
            </a:r>
            <a:r>
              <a:rPr kumimoji="0" lang="en-US" sz="12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Blade (A889#1 21088 100FC); A898#2 21268 100FC;</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Crack IPC (A898#2 21268 100FC, A889#1 21088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đến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2300FC trong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742950" marR="0" lvl="1"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Oil leak (A887#2 21369); Oil Hiding (A889#2 21034, A888#1 21052)</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9870" y="335369"/>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79247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rPr>
              <a:t>ĐỘI </a:t>
            </a:r>
            <a:r>
              <a:rPr kumimoji="0" lang="en-US" sz="2400" b="1" i="0" u="none" strike="noStrike" kern="1200" cap="none" spc="0" normalizeH="0" baseline="0" noProof="0">
                <a:ln>
                  <a:noFill/>
                </a:ln>
                <a:solidFill>
                  <a:srgbClr val="DAA600"/>
                </a:solidFill>
                <a:effectLst/>
                <a:uLnTx/>
                <a:uFillTx/>
                <a:latin typeface="Times New Roman" panose="02020603050405020304" pitchFamily="18" charset="0"/>
                <a:ea typeface="+mn-ea"/>
                <a:cs typeface="Times New Roman" panose="02020603050405020304" pitchFamily="18" charset="0"/>
              </a:rPr>
              <a:t>BAY ATR72</a:t>
            </a:r>
            <a:endParaRPr kumimoji="0" lang="en-GB"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tháo Q2-Q3/2025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Các</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động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đã</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tháo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sửa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chữa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extLst/>
          </p:nvPr>
        </p:nvGraphicFramePr>
        <p:xfrm>
          <a:off x="5638799" y="1028139"/>
          <a:ext cx="6207275" cy="22672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541578">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431413">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26-28/06/2025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 </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431413">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10-13/08/2025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Stagger, lắp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234962"/>
                  </a:ext>
                </a:extLst>
              </a:tr>
              <a:tr h="431413">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20-21/09/2025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ED0177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31413">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6765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1" y="3442096"/>
            <a:ext cx="25827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thuê</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extLst/>
          </p:nvPr>
        </p:nvGraphicFramePr>
        <p:xfrm>
          <a:off x="113145" y="3898910"/>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extLst/>
          </p:nvPr>
        </p:nvGraphicFramePr>
        <p:xfrm>
          <a:off x="113146" y="1000567"/>
          <a:ext cx="5144652" cy="2294801"/>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378535">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359374">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16/10/2024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23/06/2025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Lắp cho B220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979002"/>
                  </a:ext>
                </a:extLst>
              </a:tr>
              <a:tr h="470399">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70399">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308047">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308047">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extLst/>
          </p:nvPr>
        </p:nvGraphicFramePr>
        <p:xfrm>
          <a:off x="5638800" y="3878489"/>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9" y="3442096"/>
            <a:ext cx="157927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Nguồn lực tàu</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104451" y="5720368"/>
            <a:ext cx="11557960" cy="98680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Ban ĐTMS đang triển khai thủ tục gia hạn cho K6 thuê tàu B220 từ T7/2025 đến T11/2025.</a:t>
            </a:r>
          </a:p>
          <a:p>
            <a:pPr marL="380990" marR="0" lvl="0" indent="-380990" algn="l" defTabSz="121917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Dự kiến cho K6 thuê khô thêm tàu B223 từ 15/06/2025 – 25/10/2025. B223 hiện đang lắp 1 động cơ thuê của Willis. TH cho thuê cần swap với 1 động cơ trên B225.</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948439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extLst/>
          </p:nvPr>
        </p:nvGraphicFramePr>
        <p:xfrm>
          <a:off x="548320" y="609601"/>
          <a:ext cx="11169547" cy="3784811"/>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06563">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A332</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A359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12-Jun-25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19-Jul-25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08124847"/>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A613</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bảo</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hành</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ở AMECO</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13-Jun-25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A886</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08-May-25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A892</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323718210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01-Aug-25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40546296"/>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48319" y="4394409"/>
            <a:ext cx="11567481" cy="175432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33375" marR="0" lvl="0"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tới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kế</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hoạch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RTS.</a:t>
            </a:r>
          </a:p>
          <a:p>
            <a:pPr marL="152385" marR="0" lvl="0" indent="0" algn="l" defTabSz="121917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Đối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với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03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tàu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RTS : Shop Lufthansa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báo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APU P-00194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sẽ</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hoàn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thiện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sớm</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vào</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13/06, do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tàu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A350 BQDB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đều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phương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án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cung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ứng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250655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02/06/2025 – 08/06/2025:</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A397, A605, A616.</a:t>
            </a: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A897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Exciter), A332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Ignitor Plug), A613.</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 APU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A396, A397, A605, A616.</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extLst/>
          </p:nvPr>
        </p:nvGraphicFramePr>
        <p:xfrm>
          <a:off x="61186" y="1787549"/>
          <a:ext cx="12054615" cy="4841854"/>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32093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A396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22/05.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khắc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phục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check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định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hoàn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thành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tuy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dụng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ngoài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A623)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đều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đủ</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13/06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A886.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thuê</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A892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A397</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07/06. KH T/S SGN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07/06.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A605</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05/06. KH T/S SGN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A616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05/06. KH T/S HAN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09/06.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9427382"/>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529807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37</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781051" y="740535"/>
            <a:ext cx="11068012" cy="703186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500" b="1" dirty="0">
                <a:cs typeface="Times New Roman" panose="02020603050405020304" pitchFamily="18" charset="0"/>
              </a:rPr>
              <a:t>I. A321: </a:t>
            </a:r>
          </a:p>
          <a:p>
            <a:pPr marL="12700" indent="0" algn="just">
              <a:lnSpc>
                <a:spcPct val="100000"/>
              </a:lnSpc>
              <a:buSzPts val="1100"/>
              <a:buNone/>
            </a:pPr>
            <a:r>
              <a:rPr lang="es-ES" sz="1500" b="1" dirty="0" smtClean="0">
                <a:solidFill>
                  <a:srgbClr val="FF0000"/>
                </a:solidFill>
                <a:cs typeface="Times New Roman" panose="02020603050405020304" pitchFamily="18" charset="0"/>
                <a:sym typeface="Wingdings" panose="05000000000000000000" pitchFamily="2" charset="2"/>
              </a:rPr>
              <a:t>    1. </a:t>
            </a:r>
            <a:r>
              <a:rPr lang="en-US" sz="1500" b="1" dirty="0">
                <a:solidFill>
                  <a:srgbClr val="FF0000"/>
                </a:solidFill>
                <a:cs typeface="Times New Roman" panose="02020603050405020304" pitchFamily="18" charset="0"/>
                <a:sym typeface="Wingdings" panose="05000000000000000000" pitchFamily="2" charset="2"/>
              </a:rPr>
              <a:t>A501: INSTALL ENG </a:t>
            </a:r>
            <a:r>
              <a:rPr lang="en-US" sz="1500" b="1" dirty="0" smtClean="0">
                <a:solidFill>
                  <a:srgbClr val="FF0000"/>
                </a:solidFill>
                <a:cs typeface="Times New Roman" panose="02020603050405020304" pitchFamily="18" charset="0"/>
                <a:sym typeface="Wingdings" panose="05000000000000000000" pitchFamily="2" charset="2"/>
              </a:rPr>
              <a:t>1,2+EA14-EA16+RTS_05-16/06: On sked</a:t>
            </a:r>
            <a:endParaRPr lang="en-US" sz="1500" b="1" dirty="0" smtClean="0">
              <a:solidFill>
                <a:srgbClr val="FF0000"/>
              </a:solidFill>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Đa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đu</a:t>
            </a:r>
            <a:r>
              <a:rPr lang="en-US" sz="1500" dirty="0" smtClean="0">
                <a:cs typeface="Times New Roman" panose="02020603050405020304" pitchFamily="18" charset="0"/>
                <a:sym typeface="Wingdings" panose="05000000000000000000" pitchFamily="2" charset="2"/>
              </a:rPr>
              <a:t>̉ 2 ENG</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còn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hạn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CofA</a:t>
            </a:r>
            <a:endParaRPr lang="en-US" sz="1500" dirty="0" smtClean="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500" dirty="0" smtClean="0">
                <a:cs typeface="Times New Roman" panose="02020603050405020304" pitchFamily="18" charset="0"/>
                <a:sym typeface="Wingdings" panose="05000000000000000000" pitchFamily="2" charset="2"/>
              </a:rPr>
              <a:t>    </a:t>
            </a:r>
            <a:r>
              <a:rPr lang="es-ES" sz="1500" b="1" dirty="0" smtClean="0">
                <a:solidFill>
                  <a:srgbClr val="FF0000"/>
                </a:solidFill>
                <a:cs typeface="Times New Roman" panose="02020603050405020304" pitchFamily="18" charset="0"/>
                <a:sym typeface="Wingdings" panose="05000000000000000000" pitchFamily="2" charset="2"/>
              </a:rPr>
              <a:t>2</a:t>
            </a:r>
            <a:r>
              <a:rPr lang="es-ES" sz="1500" b="1" dirty="0" smtClean="0">
                <a:solidFill>
                  <a:srgbClr val="FF0000"/>
                </a:solidFill>
                <a:cs typeface="Times New Roman" panose="02020603050405020304" pitchFamily="18" charset="0"/>
                <a:sym typeface="Wingdings" panose="05000000000000000000" pitchFamily="2" charset="2"/>
              </a:rPr>
              <a:t>. </a:t>
            </a:r>
            <a:r>
              <a:rPr lang="en-US" sz="1500" b="1" dirty="0" smtClean="0">
                <a:solidFill>
                  <a:srgbClr val="FF0000"/>
                </a:solidFill>
                <a:cs typeface="Times New Roman" panose="02020603050405020304" pitchFamily="18" charset="0"/>
                <a:sym typeface="Wingdings" panose="05000000000000000000" pitchFamily="2" charset="2"/>
              </a:rPr>
              <a:t>A508_HAN_ ENG# 1, 2CHG, C01, C03, Y01, Y06, EA22-EA02: </a:t>
            </a:r>
            <a:r>
              <a:rPr lang="en-US" sz="1500" b="1" dirty="0" err="1" smtClean="0">
                <a:solidFill>
                  <a:srgbClr val="FF0000"/>
                </a:solidFill>
                <a:cs typeface="Times New Roman" panose="02020603050405020304" pitchFamily="18" charset="0"/>
                <a:sym typeface="Wingdings" panose="05000000000000000000" pitchFamily="2" charset="2"/>
              </a:rPr>
              <a:t>Chơ</a:t>
            </a:r>
            <a:r>
              <a:rPr lang="en-US" sz="1500" b="1" dirty="0" smtClean="0">
                <a:solidFill>
                  <a:srgbClr val="FF0000"/>
                </a:solidFill>
                <a:cs typeface="Times New Roman" panose="02020603050405020304" pitchFamily="18" charset="0"/>
                <a:sym typeface="Wingdings" panose="05000000000000000000" pitchFamily="2" charset="2"/>
              </a:rPr>
              <a:t>̀ ENG.</a:t>
            </a:r>
          </a:p>
          <a:p>
            <a:pPr marL="12700" indent="0" algn="just">
              <a:lnSpc>
                <a:spcPct val="100000"/>
              </a:lnSpc>
              <a:spcBef>
                <a:spcPts val="600"/>
              </a:spcBef>
              <a:buSzPts val="1100"/>
              <a:buNone/>
            </a:pPr>
            <a:r>
              <a:rPr lang="en-US" sz="1500" dirty="0" smtClean="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Thời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gian</a:t>
            </a:r>
            <a:r>
              <a:rPr lang="en-US" sz="1500" dirty="0" smtClean="0">
                <a:cs typeface="Times New Roman" panose="02020603050405020304" pitchFamily="18" charset="0"/>
                <a:sym typeface="Wingdings" panose="05000000000000000000" pitchFamily="2" charset="2"/>
              </a:rPr>
              <a:t> release </a:t>
            </a:r>
            <a:r>
              <a:rPr lang="en-US" sz="1500" dirty="0" err="1" smtClean="0">
                <a:cs typeface="Times New Roman" panose="02020603050405020304" pitchFamily="18" charset="0"/>
                <a:sym typeface="Wingdings" panose="05000000000000000000" pitchFamily="2" charset="2"/>
              </a:rPr>
              <a:t>của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tàu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phu</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thuộc</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vào</a:t>
            </a:r>
            <a:r>
              <a:rPr lang="en-US" sz="1500" dirty="0" smtClean="0">
                <a:cs typeface="Times New Roman" panose="02020603050405020304" pitchFamily="18" charset="0"/>
                <a:sym typeface="Wingdings" panose="05000000000000000000" pitchFamily="2" charset="2"/>
              </a:rPr>
              <a:t> KH ENG.</a:t>
            </a:r>
            <a:endParaRPr lang="en-US" sz="1500" dirty="0" smtClean="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a:t>
            </a:r>
            <a:r>
              <a:rPr lang="es-ES" sz="1500" b="1" dirty="0">
                <a:solidFill>
                  <a:srgbClr val="FF0000"/>
                </a:solidFill>
                <a:cs typeface="Times New Roman" panose="02020603050405020304" pitchFamily="18" charset="0"/>
                <a:sym typeface="Wingdings" panose="05000000000000000000" pitchFamily="2" charset="2"/>
              </a:rPr>
              <a:t>3</a:t>
            </a:r>
            <a:r>
              <a:rPr lang="es-ES" sz="1500" b="1" dirty="0" smtClean="0">
                <a:solidFill>
                  <a:srgbClr val="FF0000"/>
                </a:solidFill>
                <a:cs typeface="Times New Roman" panose="02020603050405020304" pitchFamily="18" charset="0"/>
                <a:sym typeface="Wingdings" panose="05000000000000000000" pitchFamily="2" charset="2"/>
              </a:rPr>
              <a:t>. </a:t>
            </a:r>
            <a:r>
              <a:rPr lang="en-US" sz="1500" b="1" dirty="0">
                <a:solidFill>
                  <a:srgbClr val="FF0000"/>
                </a:solidFill>
                <a:cs typeface="Times New Roman" panose="02020603050405020304" pitchFamily="18" charset="0"/>
                <a:sym typeface="Wingdings" panose="05000000000000000000" pitchFamily="2" charset="2"/>
              </a:rPr>
              <a:t>A396_HAN_ </a:t>
            </a:r>
            <a:r>
              <a:rPr lang="en-US" sz="1500" b="1" dirty="0" smtClean="0">
                <a:solidFill>
                  <a:srgbClr val="FF0000"/>
                </a:solidFill>
                <a:cs typeface="Times New Roman" panose="02020603050405020304" pitchFamily="18" charset="0"/>
                <a:sym typeface="Wingdings" panose="05000000000000000000" pitchFamily="2" charset="2"/>
              </a:rPr>
              <a:t>Y01, ENGCHG, EA05_29/5-09/6: On sked</a:t>
            </a:r>
          </a:p>
          <a:p>
            <a:pPr marL="12700" indent="0" algn="just">
              <a:lnSpc>
                <a:spcPct val="100000"/>
              </a:lnSpc>
              <a:spcBef>
                <a:spcPts val="600"/>
              </a:spcBef>
              <a:buSzPts val="1100"/>
              <a:buNone/>
            </a:pPr>
            <a:r>
              <a:rPr lang="en-US" sz="1500" dirty="0">
                <a:cs typeface="Times New Roman" panose="02020603050405020304" pitchFamily="18" charset="0"/>
                <a:sym typeface="Wingdings" panose="05000000000000000000" pitchFamily="2" charset="2"/>
              </a:rPr>
              <a:t> </a:t>
            </a:r>
            <a:r>
              <a:rPr lang="en-U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A613 </a:t>
            </a:r>
            <a:r>
              <a:rPr lang="en-US" sz="1500" dirty="0" err="1" smtClean="0">
                <a:cs typeface="Times New Roman" panose="02020603050405020304" pitchFamily="18" charset="0"/>
                <a:sym typeface="Wingdings" panose="05000000000000000000" pitchFamily="2" charset="2"/>
              </a:rPr>
              <a:t>gối</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đầu</a:t>
            </a:r>
            <a:r>
              <a:rPr lang="en-US" sz="1500" dirty="0" smtClean="0">
                <a:cs typeface="Times New Roman" panose="02020603050405020304" pitchFamily="18" charset="0"/>
                <a:sym typeface="Wingdings" panose="05000000000000000000" pitchFamily="2" charset="2"/>
              </a:rPr>
              <a:t> 1 </a:t>
            </a:r>
            <a:r>
              <a:rPr lang="en-US" sz="1500" dirty="0" err="1" smtClean="0">
                <a:cs typeface="Times New Roman" panose="02020603050405020304" pitchFamily="18" charset="0"/>
                <a:sym typeface="Wingdings" panose="05000000000000000000" pitchFamily="2" charset="2"/>
              </a:rPr>
              <a:t>ngày</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Rob Anti-Ice </a:t>
            </a:r>
            <a:r>
              <a:rPr lang="en-US" sz="1500" dirty="0" err="1" smtClean="0">
                <a:cs typeface="Times New Roman" panose="02020603050405020304" pitchFamily="18" charset="0"/>
                <a:sym typeface="Wingdings" panose="05000000000000000000" pitchFamily="2" charset="2"/>
              </a:rPr>
              <a:t>vavle</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va</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Fancowl</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Vật</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tư</a:t>
            </a:r>
            <a:r>
              <a:rPr lang="en-US" sz="1500" dirty="0" smtClean="0">
                <a:cs typeface="Times New Roman" panose="02020603050405020304" pitchFamily="18" charset="0"/>
                <a:sym typeface="Wingdings" panose="05000000000000000000" pitchFamily="2" charset="2"/>
              </a:rPr>
              <a:t> Est 10/06).</a:t>
            </a:r>
            <a:endParaRPr lang="en-US" sz="1500" dirty="0" smtClean="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500" b="1" dirty="0">
                <a:solidFill>
                  <a:srgbClr val="FF0000"/>
                </a:solidFill>
                <a:cs typeface="Times New Roman" panose="02020603050405020304" pitchFamily="18" charset="0"/>
                <a:sym typeface="Wingdings" panose="05000000000000000000" pitchFamily="2" charset="2"/>
              </a:rPr>
              <a:t> </a:t>
            </a:r>
            <a:r>
              <a:rPr lang="en-US" sz="1500" b="1" dirty="0" smtClean="0">
                <a:solidFill>
                  <a:srgbClr val="FF0000"/>
                </a:solidFill>
                <a:cs typeface="Times New Roman" panose="02020603050405020304" pitchFamily="18" charset="0"/>
                <a:sym typeface="Wingdings" panose="05000000000000000000" pitchFamily="2" charset="2"/>
              </a:rPr>
              <a:t>   </a:t>
            </a:r>
            <a:endParaRPr lang="en-US" sz="1500" dirty="0" smtClean="0">
              <a:cs typeface="Times New Roman" panose="02020603050405020304" pitchFamily="18" charset="0"/>
              <a:sym typeface="Wingdings" panose="05000000000000000000" pitchFamily="2" charset="2"/>
            </a:endParaRPr>
          </a:p>
          <a:p>
            <a:pPr marL="12700" indent="0">
              <a:lnSpc>
                <a:spcPct val="120000"/>
              </a:lnSpc>
              <a:buSzPts val="1100"/>
              <a:buNone/>
            </a:pPr>
            <a:r>
              <a:rPr lang="en-US" sz="1500" b="1" dirty="0" smtClean="0">
                <a:cs typeface="Times New Roman" panose="02020603050405020304" pitchFamily="18" charset="0"/>
              </a:rPr>
              <a:t>II. A350:</a:t>
            </a:r>
            <a:r>
              <a:rPr lang="es-ES" sz="1500" i="1" dirty="0" smtClean="0">
                <a:cs typeface="Times New Roman" panose="02020603050405020304" pitchFamily="18" charset="0"/>
                <a:sym typeface="Wingdings" panose="05000000000000000000" pitchFamily="2" charset="2"/>
              </a:rPr>
              <a:t> </a:t>
            </a:r>
          </a:p>
          <a:p>
            <a:pPr marL="12700" indent="0" algn="just">
              <a:buSzPts val="1100"/>
              <a:buNone/>
            </a:pPr>
            <a:r>
              <a:rPr lang="en-US" sz="1500" b="1" dirty="0">
                <a:solidFill>
                  <a:srgbClr val="FF0000"/>
                </a:solidFill>
                <a:cs typeface="Times New Roman" panose="02020603050405020304" pitchFamily="18" charset="0"/>
                <a:sym typeface="Wingdings" panose="05000000000000000000" pitchFamily="2" charset="2"/>
              </a:rPr>
              <a:t>1</a:t>
            </a:r>
            <a:r>
              <a:rPr lang="en-US" sz="1500" b="1" dirty="0" smtClean="0">
                <a:solidFill>
                  <a:srgbClr val="FF0000"/>
                </a:solidFill>
                <a:cs typeface="Times New Roman" panose="02020603050405020304" pitchFamily="18" charset="0"/>
                <a:sym typeface="Wingdings" panose="05000000000000000000" pitchFamily="2" charset="2"/>
              </a:rPr>
              <a:t>. </a:t>
            </a:r>
            <a:r>
              <a:rPr lang="en-US" sz="1500" b="1" dirty="0">
                <a:solidFill>
                  <a:srgbClr val="FF0000"/>
                </a:solidFill>
                <a:cs typeface="Times New Roman" panose="02020603050405020304" pitchFamily="18" charset="0"/>
                <a:sym typeface="Wingdings" panose="05000000000000000000" pitchFamily="2" charset="2"/>
              </a:rPr>
              <a:t>A887_HAN_ A03-A06, C01, Y03, INSTALL ENG 1,2 +RTS_25/05-10/06: </a:t>
            </a:r>
            <a:r>
              <a:rPr lang="en-US" sz="1500" b="1" dirty="0" err="1" smtClean="0">
                <a:solidFill>
                  <a:srgbClr val="FF0000"/>
                </a:solidFill>
                <a:cs typeface="Times New Roman" panose="02020603050405020304" pitchFamily="18" charset="0"/>
                <a:sym typeface="Wingdings" panose="05000000000000000000" pitchFamily="2" charset="2"/>
              </a:rPr>
              <a:t>Chơ</a:t>
            </a:r>
            <a:r>
              <a:rPr lang="en-US" sz="1500" b="1" dirty="0" smtClean="0">
                <a:solidFill>
                  <a:srgbClr val="FF0000"/>
                </a:solidFill>
                <a:cs typeface="Times New Roman" panose="02020603050405020304" pitchFamily="18" charset="0"/>
                <a:sym typeface="Wingdings" panose="05000000000000000000" pitchFamily="2" charset="2"/>
              </a:rPr>
              <a:t>̀ Airbus </a:t>
            </a:r>
            <a:r>
              <a:rPr lang="en-US" sz="1500" b="1" dirty="0" err="1" smtClean="0">
                <a:solidFill>
                  <a:srgbClr val="FF0000"/>
                </a:solidFill>
                <a:cs typeface="Times New Roman" panose="02020603050405020304" pitchFamily="18" charset="0"/>
                <a:sym typeface="Wingdings" panose="05000000000000000000" pitchFamily="2" charset="2"/>
              </a:rPr>
              <a:t>cấp</a:t>
            </a:r>
            <a:r>
              <a:rPr lang="en-US" sz="1500" b="1" dirty="0" smtClean="0">
                <a:solidFill>
                  <a:srgbClr val="FF0000"/>
                </a:solidFill>
                <a:cs typeface="Times New Roman" panose="02020603050405020304" pitchFamily="18" charset="0"/>
                <a:sym typeface="Wingdings" panose="05000000000000000000" pitchFamily="2" charset="2"/>
              </a:rPr>
              <a:t> RDAF.</a:t>
            </a:r>
            <a:endParaRPr lang="en-US" sz="15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s-ES" sz="1500" dirty="0" err="1" smtClean="0">
                <a:cs typeface="Times New Roman" panose="02020603050405020304" pitchFamily="18" charset="0"/>
                <a:sym typeface="Wingdings" panose="05000000000000000000" pitchFamily="2" charset="2"/>
              </a:rPr>
              <a:t>Hiện</a:t>
            </a:r>
            <a:r>
              <a:rPr lang="es-ES" sz="1500" dirty="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đa</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lắp</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xong</a:t>
            </a:r>
            <a:r>
              <a:rPr lang="es-ES" sz="1500" dirty="0" smtClean="0">
                <a:cs typeface="Times New Roman" panose="02020603050405020304" pitchFamily="18" charset="0"/>
                <a:sym typeface="Wingdings" panose="05000000000000000000" pitchFamily="2" charset="2"/>
              </a:rPr>
              <a:t> ENG, Test </a:t>
            </a:r>
            <a:r>
              <a:rPr lang="es-ES" sz="1500" dirty="0" err="1" smtClean="0">
                <a:cs typeface="Times New Roman" panose="02020603050405020304" pitchFamily="18" charset="0"/>
                <a:sym typeface="Wingdings" panose="05000000000000000000" pitchFamily="2" charset="2"/>
              </a:rPr>
              <a:t>thu</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tha</a:t>
            </a:r>
            <a:r>
              <a:rPr lang="es-ES" sz="1500" dirty="0" smtClean="0">
                <a:cs typeface="Times New Roman" panose="02020603050405020304" pitchFamily="18" charset="0"/>
                <a:sym typeface="Wingdings" panose="05000000000000000000" pitchFamily="2" charset="2"/>
              </a:rPr>
              <a:t>̉ và </a:t>
            </a:r>
            <a:r>
              <a:rPr lang="es-ES" sz="1500" dirty="0" err="1" smtClean="0">
                <a:cs typeface="Times New Roman" panose="02020603050405020304" pitchFamily="18" charset="0"/>
                <a:sym typeface="Wingdings" panose="05000000000000000000" pitchFamily="2" charset="2"/>
              </a:rPr>
              <a:t>phản</a:t>
            </a:r>
            <a:r>
              <a:rPr lang="es-ES" sz="1500" dirty="0" smtClean="0">
                <a:cs typeface="Times New Roman" panose="02020603050405020304" pitchFamily="18" charset="0"/>
                <a:sym typeface="Wingdings" panose="05000000000000000000" pitchFamily="2" charset="2"/>
              </a:rPr>
              <a:t> </a:t>
            </a:r>
            <a:r>
              <a:rPr lang="es-ES" sz="1500" dirty="0" err="1" smtClean="0">
                <a:cs typeface="Times New Roman" panose="02020603050405020304" pitchFamily="18" charset="0"/>
                <a:sym typeface="Wingdings" panose="05000000000000000000" pitchFamily="2" charset="2"/>
              </a:rPr>
              <a:t>hồi</a:t>
            </a:r>
            <a:r>
              <a:rPr lang="es-ES" sz="1500" dirty="0" smtClean="0">
                <a:cs typeface="Times New Roman" panose="02020603050405020304" pitchFamily="18" charset="0"/>
                <a:sym typeface="Wingdings" panose="05000000000000000000" pitchFamily="2" charset="2"/>
              </a:rPr>
              <a:t> TM </a:t>
            </a:r>
            <a:r>
              <a:rPr lang="es-ES" sz="1500" dirty="0" err="1" smtClean="0">
                <a:cs typeface="Times New Roman" panose="02020603050405020304" pitchFamily="18" charset="0"/>
                <a:sym typeface="Wingdings" panose="05000000000000000000" pitchFamily="2" charset="2"/>
              </a:rPr>
              <a:t>cho</a:t>
            </a:r>
            <a:r>
              <a:rPr lang="es-ES" sz="1500" dirty="0" smtClean="0">
                <a:cs typeface="Times New Roman" panose="02020603050405020304" pitchFamily="18" charset="0"/>
                <a:sym typeface="Wingdings" panose="05000000000000000000" pitchFamily="2" charset="2"/>
              </a:rPr>
              <a:t> Airbus</a:t>
            </a:r>
            <a:endParaRPr lang="es-ES" sz="1500" dirty="0">
              <a:cs typeface="Times New Roman" panose="02020603050405020304" pitchFamily="18" charset="0"/>
              <a:sym typeface="Wingdings" panose="05000000000000000000" pitchFamily="2" charset="2"/>
            </a:endParaRP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s-ES" sz="1500" dirty="0" err="1">
                <a:cs typeface="Times New Roman" panose="02020603050405020304" pitchFamily="18" charset="0"/>
                <a:sym typeface="Wingdings" panose="05000000000000000000" pitchFamily="2" charset="2"/>
              </a:rPr>
              <a:t>Tàu</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cần</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được</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bay</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thư</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sau</a:t>
            </a:r>
            <a:r>
              <a:rPr lang="es-ES" sz="1500" dirty="0">
                <a:cs typeface="Times New Roman" panose="02020603050405020304" pitchFamily="18" charset="0"/>
                <a:sym typeface="Wingdings" panose="05000000000000000000" pitchFamily="2" charset="2"/>
              </a:rPr>
              <a:t> RTS và </a:t>
            </a:r>
            <a:r>
              <a:rPr lang="es-ES" sz="1500" dirty="0" err="1">
                <a:cs typeface="Times New Roman" panose="02020603050405020304" pitchFamily="18" charset="0"/>
                <a:sym typeface="Wingdings" panose="05000000000000000000" pitchFamily="2" charset="2"/>
              </a:rPr>
              <a:t>gia</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hạn</a:t>
            </a:r>
            <a:r>
              <a:rPr lang="es-ES" sz="1500" dirty="0">
                <a:cs typeface="Times New Roman" panose="02020603050405020304" pitchFamily="18" charset="0"/>
                <a:sym typeface="Wingdings" panose="05000000000000000000" pitchFamily="2" charset="2"/>
              </a:rPr>
              <a:t> </a:t>
            </a:r>
            <a:r>
              <a:rPr lang="es-ES" sz="1500" dirty="0" err="1">
                <a:cs typeface="Times New Roman" panose="02020603050405020304" pitchFamily="18" charset="0"/>
                <a:sym typeface="Wingdings" panose="05000000000000000000" pitchFamily="2" charset="2"/>
              </a:rPr>
              <a:t>CofA</a:t>
            </a:r>
            <a:r>
              <a:rPr lang="es-ES" sz="1500" dirty="0">
                <a:cs typeface="Times New Roman" panose="02020603050405020304" pitchFamily="18" charset="0"/>
                <a:sym typeface="Wingdings" panose="05000000000000000000" pitchFamily="2" charset="2"/>
              </a:rPr>
              <a:t>.</a:t>
            </a:r>
          </a:p>
          <a:p>
            <a:pPr marL="12700" indent="0" algn="just">
              <a:buSzPts val="1100"/>
              <a:buNone/>
            </a:pPr>
            <a:r>
              <a:rPr lang="es-ES" sz="1500" dirty="0">
                <a:cs typeface="Times New Roman" panose="02020603050405020304" pitchFamily="18" charset="0"/>
                <a:sym typeface="Wingdings" panose="05000000000000000000" pitchFamily="2" charset="2"/>
              </a:rPr>
              <a:t>  </a:t>
            </a:r>
            <a:r>
              <a:rPr lang="es-ES" sz="1500" dirty="0" smtClean="0">
                <a:cs typeface="Times New Roman" panose="02020603050405020304" pitchFamily="18" charset="0"/>
                <a:sym typeface="Wingdings" panose="05000000000000000000" pitchFamily="2" charset="2"/>
              </a:rPr>
              <a:t>  - </a:t>
            </a:r>
            <a:r>
              <a:rPr lang="en-US" sz="1500" dirty="0" err="1" smtClean="0">
                <a:cs typeface="Times New Roman" panose="02020603050405020304" pitchFamily="18" charset="0"/>
                <a:sym typeface="Wingdings" panose="05000000000000000000" pitchFamily="2" charset="2"/>
              </a:rPr>
              <a:t>Cần</a:t>
            </a:r>
            <a:r>
              <a:rPr lang="en-US" sz="1500" dirty="0" smtClean="0">
                <a:cs typeface="Times New Roman" panose="02020603050405020304" pitchFamily="18" charset="0"/>
                <a:sym typeface="Wingdings" panose="05000000000000000000" pitchFamily="2" charset="2"/>
              </a:rPr>
              <a:t> Airbus </a:t>
            </a:r>
            <a:r>
              <a:rPr lang="en-US" sz="1500" dirty="0" err="1" smtClean="0">
                <a:cs typeface="Times New Roman" panose="02020603050405020304" pitchFamily="18" charset="0"/>
                <a:sym typeface="Wingdings" panose="05000000000000000000" pitchFamily="2" charset="2"/>
              </a:rPr>
              <a:t>cấp</a:t>
            </a:r>
            <a:r>
              <a:rPr lang="en-US" sz="1500" dirty="0" smtClean="0">
                <a:cs typeface="Times New Roman" panose="02020603050405020304" pitchFamily="18" charset="0"/>
                <a:sym typeface="Wingdings" panose="05000000000000000000" pitchFamily="2" charset="2"/>
              </a:rPr>
              <a:t> RDAF </a:t>
            </a:r>
            <a:r>
              <a:rPr lang="en-US" sz="1500" dirty="0" err="1" smtClean="0">
                <a:cs typeface="Times New Roman" panose="02020603050405020304" pitchFamily="18" charset="0"/>
                <a:sym typeface="Wingdings" panose="05000000000000000000" pitchFamily="2" charset="2"/>
              </a:rPr>
              <a:t>trong</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ngày</a:t>
            </a:r>
            <a:r>
              <a:rPr lang="en-US" sz="1500" dirty="0" smtClean="0">
                <a:cs typeface="Times New Roman" panose="02020603050405020304" pitchFamily="18" charset="0"/>
                <a:sym typeface="Wingdings" panose="05000000000000000000" pitchFamily="2" charset="2"/>
              </a:rPr>
              <a:t> 10/6 </a:t>
            </a:r>
            <a:r>
              <a:rPr lang="en-US" sz="1500" dirty="0" err="1" smtClean="0">
                <a:cs typeface="Times New Roman" panose="02020603050405020304" pitchFamily="18" charset="0"/>
                <a:sym typeface="Wingdings" panose="05000000000000000000" pitchFamily="2" charset="2"/>
              </a:rPr>
              <a:t>đê</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đảm</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bảo</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tiến</a:t>
            </a:r>
            <a:r>
              <a:rPr lang="en-US" sz="1500" dirty="0" smtClean="0">
                <a:cs typeface="Times New Roman" panose="02020603050405020304" pitchFamily="18" charset="0"/>
                <a:sym typeface="Wingdings" panose="05000000000000000000" pitchFamily="2" charset="2"/>
              </a:rPr>
              <a:t> </a:t>
            </a:r>
            <a:r>
              <a:rPr lang="en-US" sz="1500" dirty="0" err="1" smtClean="0">
                <a:cs typeface="Times New Roman" panose="02020603050405020304" pitchFamily="18" charset="0"/>
                <a:sym typeface="Wingdings" panose="05000000000000000000" pitchFamily="2" charset="2"/>
              </a:rPr>
              <a:t>đô</a:t>
            </a:r>
            <a:r>
              <a:rPr lang="en-US" sz="1500" dirty="0" smtClean="0">
                <a:cs typeface="Times New Roman" panose="02020603050405020304" pitchFamily="18" charset="0"/>
                <a:sym typeface="Wingdings" panose="05000000000000000000" pitchFamily="2" charset="2"/>
              </a:rPr>
              <a:t>̣.</a:t>
            </a:r>
          </a:p>
          <a:p>
            <a:pPr marL="12700" indent="0" algn="just">
              <a:buSzPts val="1100"/>
              <a:buNone/>
            </a:pPr>
            <a:r>
              <a:rPr lang="en-US" sz="1500" b="1" dirty="0" smtClean="0">
                <a:solidFill>
                  <a:srgbClr val="FF0000"/>
                </a:solidFill>
                <a:cs typeface="Times New Roman" panose="02020603050405020304" pitchFamily="18" charset="0"/>
                <a:sym typeface="Wingdings" panose="05000000000000000000" pitchFamily="2" charset="2"/>
              </a:rPr>
              <a:t>2. </a:t>
            </a:r>
            <a:r>
              <a:rPr lang="en-US" sz="1500" b="1" dirty="0">
                <a:solidFill>
                  <a:srgbClr val="FF0000"/>
                </a:solidFill>
                <a:cs typeface="Times New Roman" panose="02020603050405020304" pitchFamily="18" charset="0"/>
                <a:sym typeface="Wingdings" panose="05000000000000000000" pitchFamily="2" charset="2"/>
              </a:rPr>
              <a:t>A887_HAN_ </a:t>
            </a:r>
            <a:r>
              <a:rPr lang="en-US" sz="1500" b="1" dirty="0" smtClean="0">
                <a:solidFill>
                  <a:srgbClr val="FF0000"/>
                </a:solidFill>
                <a:cs typeface="Times New Roman" panose="02020603050405020304" pitchFamily="18" charset="0"/>
                <a:sym typeface="Wingdings" panose="05000000000000000000" pitchFamily="2" charset="2"/>
              </a:rPr>
              <a:t>A896_A06_05-09/06: On sked</a:t>
            </a:r>
            <a:endParaRPr lang="en-US" sz="1500" dirty="0" smtClean="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4184041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38</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a:t>
            </a:r>
            <a:r>
              <a:rPr lang="en-US" sz="2400" b="1" dirty="0" smtClean="0">
                <a:solidFill>
                  <a:srgbClr val="FFC000"/>
                </a:solidFill>
                <a:latin typeface="Times New Roman" panose="02020603050405020304" pitchFamily="18" charset="0"/>
                <a:cs typeface="Times New Roman" panose="02020603050405020304" pitchFamily="18" charset="0"/>
              </a:rPr>
              <a:t>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609600"/>
            <a:ext cx="10591800" cy="62484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s-ES" sz="1400" b="1" dirty="0" smtClean="0">
                <a:cs typeface="Times New Roman" panose="02020603050405020304" pitchFamily="18" charset="0"/>
                <a:sym typeface="Wingdings" panose="05000000000000000000" pitchFamily="2" charset="2"/>
              </a:rPr>
              <a:t>III. B787</a:t>
            </a:r>
            <a:r>
              <a:rPr lang="es-ES" sz="1400" b="1" dirty="0" smtClean="0">
                <a:cs typeface="Times New Roman" panose="02020603050405020304" pitchFamily="18" charset="0"/>
                <a:sym typeface="Wingdings" panose="05000000000000000000" pitchFamily="2" charset="2"/>
              </a:rPr>
              <a:t>:</a:t>
            </a:r>
          </a:p>
          <a:p>
            <a:pPr marL="12700" indent="0" algn="just">
              <a:buSzPts val="1100"/>
              <a:buFont typeface="Arial" panose="020B0604020202020204" pitchFamily="34" charset="0"/>
              <a:buNone/>
            </a:pPr>
            <a:r>
              <a:rPr lang="es-ES" sz="1400" b="1" dirty="0" err="1" smtClean="0">
                <a:solidFill>
                  <a:srgbClr val="FF0000"/>
                </a:solidFill>
                <a:cs typeface="Times New Roman" panose="02020603050405020304" pitchFamily="18" charset="0"/>
                <a:sym typeface="Wingdings" panose="05000000000000000000" pitchFamily="2" charset="2"/>
              </a:rPr>
              <a:t>Nil</a:t>
            </a:r>
            <a:endParaRPr lang="es-ES" sz="1400" b="1" dirty="0" smtClean="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s-ES" sz="1400" b="1" dirty="0" smtClean="0">
                <a:sym typeface="Wingdings" panose="05000000000000000000" pitchFamily="2" charset="2"/>
              </a:rPr>
              <a:t>IV</a:t>
            </a:r>
            <a:r>
              <a:rPr lang="es-ES" sz="1400" b="1" dirty="0">
                <a:sym typeface="Wingdings" panose="05000000000000000000" pitchFamily="2" charset="2"/>
              </a:rPr>
              <a:t>. ATR72:</a:t>
            </a:r>
          </a:p>
          <a:p>
            <a:pPr marL="12700" indent="0" algn="just">
              <a:buSzPts val="1100"/>
              <a:buNone/>
            </a:pPr>
            <a:r>
              <a:rPr lang="en-US" sz="1400" b="1" dirty="0">
                <a:solidFill>
                  <a:srgbClr val="FF0000"/>
                </a:solidFill>
                <a:sym typeface="Wingdings" panose="05000000000000000000" pitchFamily="2" charset="2"/>
              </a:rPr>
              <a:t>1. B219_SGN_Y01, Y02, Y04, Y08, RPL LH LDG_12/05-09/06: </a:t>
            </a:r>
            <a:r>
              <a:rPr lang="en-US" sz="1400" b="1" dirty="0" smtClean="0">
                <a:solidFill>
                  <a:srgbClr val="FF0000"/>
                </a:solidFill>
                <a:sym typeface="Wingdings" panose="05000000000000000000" pitchFamily="2" charset="2"/>
              </a:rPr>
              <a:t>Est </a:t>
            </a:r>
            <a:r>
              <a:rPr lang="en-US" sz="1400" b="1" dirty="0" smtClean="0">
                <a:solidFill>
                  <a:srgbClr val="FF0000"/>
                </a:solidFill>
                <a:sym typeface="Wingdings" panose="05000000000000000000" pitchFamily="2" charset="2"/>
              </a:rPr>
              <a:t>20</a:t>
            </a:r>
            <a:r>
              <a:rPr lang="en-US" sz="1400" b="1" dirty="0" smtClean="0">
                <a:solidFill>
                  <a:srgbClr val="FF0000"/>
                </a:solidFill>
                <a:sym typeface="Wingdings" panose="05000000000000000000" pitchFamily="2" charset="2"/>
              </a:rPr>
              <a:t>/6</a:t>
            </a:r>
            <a:r>
              <a:rPr lang="en-US" sz="1400" b="1" dirty="0" smtClean="0">
                <a:solidFill>
                  <a:srgbClr val="FF0000"/>
                </a:solidFill>
                <a:sym typeface="Wingdings" panose="05000000000000000000" pitchFamily="2" charset="2"/>
              </a:rPr>
              <a:t>.</a:t>
            </a:r>
            <a:endParaRPr lang="en-US" sz="1400" b="1" dirty="0">
              <a:solidFill>
                <a:srgbClr val="FF0000"/>
              </a:solidFill>
              <a:sym typeface="Wingdings" panose="05000000000000000000" pitchFamily="2" charset="2"/>
            </a:endParaRPr>
          </a:p>
          <a:p>
            <a:pPr marL="12700" indent="0" algn="just">
              <a:buSzPts val="1100"/>
              <a:buNone/>
            </a:pPr>
            <a:r>
              <a:rPr lang="en-US" sz="1400" dirty="0">
                <a:cs typeface="Times New Roman" panose="02020603050405020304" pitchFamily="18" charset="0"/>
                <a:sym typeface="Wingdings" panose="05000000000000000000" pitchFamily="2" charset="2"/>
              </a:rPr>
              <a:t>  </a:t>
            </a:r>
            <a:r>
              <a:rPr lang="vi-VN" sz="1400" dirty="0">
                <a:cs typeface="Times New Roman" panose="02020603050405020304" pitchFamily="18" charset="0"/>
                <a:sym typeface="Wingdings" panose="05000000000000000000" pitchFamily="2" charset="2"/>
              </a:rPr>
              <a:t>- Dự kiến LH MLG cho B219 </a:t>
            </a:r>
            <a:r>
              <a:rPr lang="en-US" sz="1400" dirty="0" smtClean="0">
                <a:cs typeface="Times New Roman" panose="02020603050405020304" pitchFamily="18" charset="0"/>
                <a:sym typeface="Wingdings" panose="05000000000000000000" pitchFamily="2" charset="2"/>
              </a:rPr>
              <a:t>Avail </a:t>
            </a:r>
            <a:r>
              <a:rPr lang="vi-VN" sz="1400" dirty="0" smtClean="0">
                <a:cs typeface="Times New Roman" panose="02020603050405020304" pitchFamily="18" charset="0"/>
                <a:sym typeface="Wingdings" panose="05000000000000000000" pitchFamily="2" charset="2"/>
              </a:rPr>
              <a:t>1</a:t>
            </a:r>
            <a:r>
              <a:rPr lang="en-US" sz="1400" dirty="0" smtClean="0">
                <a:cs typeface="Times New Roman" panose="02020603050405020304" pitchFamily="18" charset="0"/>
                <a:sym typeface="Wingdings" panose="05000000000000000000" pitchFamily="2" charset="2"/>
              </a:rPr>
              <a:t>8</a:t>
            </a:r>
            <a:r>
              <a:rPr lang="vi-VN" sz="1400" dirty="0" smtClean="0">
                <a:cs typeface="Times New Roman" panose="02020603050405020304" pitchFamily="18" charset="0"/>
                <a:sym typeface="Wingdings" panose="05000000000000000000" pitchFamily="2" charset="2"/>
              </a:rPr>
              <a:t>/6</a:t>
            </a:r>
            <a:r>
              <a:rPr lang="vi-VN" sz="1400" dirty="0">
                <a:cs typeface="Times New Roman" panose="02020603050405020304" pitchFamily="18" charset="0"/>
                <a:sym typeface="Wingdings" panose="05000000000000000000" pitchFamily="2" charset="2"/>
              </a:rPr>
              <a:t>.</a:t>
            </a:r>
          </a:p>
          <a:p>
            <a:pPr marL="12700" indent="0" algn="just">
              <a:buSzPts val="1100"/>
              <a:buNone/>
            </a:pPr>
            <a:r>
              <a:rPr lang="en-US" sz="1400" dirty="0" smtClean="0">
                <a:cs typeface="Times New Roman" panose="02020603050405020304" pitchFamily="18" charset="0"/>
              </a:rPr>
              <a:t>  - </a:t>
            </a:r>
            <a:r>
              <a:rPr lang="vi-VN" sz="1400" dirty="0" smtClean="0">
                <a:cs typeface="Times New Roman" panose="02020603050405020304" pitchFamily="18" charset="0"/>
              </a:rPr>
              <a:t>Many </a:t>
            </a:r>
            <a:r>
              <a:rPr lang="vi-VN" sz="1400" dirty="0">
                <a:cs typeface="Times New Roman" panose="02020603050405020304" pitchFamily="18" charset="0"/>
              </a:rPr>
              <a:t>LH/RH </a:t>
            </a:r>
            <a:r>
              <a:rPr lang="vi-VN" sz="1400" dirty="0" smtClean="0">
                <a:cs typeface="Times New Roman" panose="02020603050405020304" pitchFamily="18" charset="0"/>
              </a:rPr>
              <a:t>Wing Flap Cam Guide Corroded, </a:t>
            </a:r>
            <a:r>
              <a:rPr lang="vi-VN" sz="1400" dirty="0">
                <a:cs typeface="Times New Roman" panose="02020603050405020304" pitchFamily="18" charset="0"/>
              </a:rPr>
              <a:t>Cần </a:t>
            </a:r>
            <a:r>
              <a:rPr lang="vi-VN" sz="1400" dirty="0" smtClean="0">
                <a:cs typeface="Times New Roman" panose="02020603050405020304" pitchFamily="18" charset="0"/>
              </a:rPr>
              <a:t>Cam Guide, </a:t>
            </a:r>
            <a:r>
              <a:rPr lang="vi-VN" sz="1400" dirty="0">
                <a:cs typeface="Times New Roman" panose="02020603050405020304" pitchFamily="18" charset="0"/>
              </a:rPr>
              <a:t>P/N: S5751205020000 = </a:t>
            </a:r>
            <a:r>
              <a:rPr lang="vi-VN" sz="1400" dirty="0" smtClean="0">
                <a:cs typeface="Times New Roman" panose="02020603050405020304" pitchFamily="18" charset="0"/>
              </a:rPr>
              <a:t>&gt;</a:t>
            </a:r>
            <a:r>
              <a:rPr lang="en-US" sz="1400" dirty="0" smtClean="0">
                <a:cs typeface="Times New Roman" panose="02020603050405020304" pitchFamily="18" charset="0"/>
              </a:rPr>
              <a:t> ATR </a:t>
            </a:r>
            <a:r>
              <a:rPr lang="en-US" sz="1400" dirty="0" err="1" smtClean="0">
                <a:cs typeface="Times New Roman" panose="02020603050405020304" pitchFamily="18" charset="0"/>
              </a:rPr>
              <a:t>cho</a:t>
            </a:r>
            <a:r>
              <a:rPr lang="en-US" sz="1400" dirty="0" smtClean="0">
                <a:cs typeface="Times New Roman" panose="02020603050405020304" pitchFamily="18" charset="0"/>
              </a:rPr>
              <a:t> </a:t>
            </a:r>
            <a:r>
              <a:rPr lang="en-US" sz="1400" dirty="0" err="1" smtClean="0">
                <a:cs typeface="Times New Roman" panose="02020603050405020304" pitchFamily="18" charset="0"/>
              </a:rPr>
              <a:t>phép</a:t>
            </a:r>
            <a:r>
              <a:rPr lang="en-US" sz="1400" dirty="0" smtClean="0">
                <a:cs typeface="Times New Roman" panose="02020603050405020304" pitchFamily="18" charset="0"/>
              </a:rPr>
              <a:t> swap Cam-guide </a:t>
            </a:r>
            <a:r>
              <a:rPr lang="en-US" sz="1400" dirty="0" err="1" smtClean="0">
                <a:cs typeface="Times New Roman" panose="02020603050405020304" pitchFamily="18" charset="0"/>
              </a:rPr>
              <a:t>với</a:t>
            </a:r>
            <a:r>
              <a:rPr lang="en-US" sz="1400" dirty="0" smtClean="0">
                <a:cs typeface="Times New Roman" panose="02020603050405020304" pitchFamily="18" charset="0"/>
              </a:rPr>
              <a:t> 1 middle Cam Guide missing</a:t>
            </a:r>
            <a:r>
              <a:rPr lang="vi-VN" sz="1400" dirty="0" smtClean="0">
                <a:cs typeface="Times New Roman" panose="02020603050405020304" pitchFamily="18" charset="0"/>
              </a:rPr>
              <a:t>. </a:t>
            </a:r>
            <a:r>
              <a:rPr lang="vi-VN" sz="1400" dirty="0">
                <a:cs typeface="Times New Roman" panose="02020603050405020304" pitchFamily="18" charset="0"/>
              </a:rPr>
              <a:t>Các khối </a:t>
            </a:r>
            <a:r>
              <a:rPr lang="en-US" sz="1400" dirty="0" err="1" smtClean="0">
                <a:cs typeface="Times New Roman" panose="02020603050405020304" pitchFamily="18" charset="0"/>
              </a:rPr>
              <a:t>còn</a:t>
            </a:r>
            <a:r>
              <a:rPr lang="en-US" sz="1400" dirty="0" smtClean="0">
                <a:cs typeface="Times New Roman" panose="02020603050405020304" pitchFamily="18" charset="0"/>
              </a:rPr>
              <a:t> </a:t>
            </a:r>
            <a:r>
              <a:rPr lang="en-US" sz="1400" dirty="0" err="1" smtClean="0">
                <a:cs typeface="Times New Roman" panose="02020603050405020304" pitchFamily="18" charset="0"/>
              </a:rPr>
              <a:t>lại</a:t>
            </a:r>
            <a:r>
              <a:rPr lang="vi-VN" sz="1400" dirty="0" smtClean="0">
                <a:cs typeface="Times New Roman" panose="02020603050405020304" pitchFamily="18" charset="0"/>
              </a:rPr>
              <a:t> </a:t>
            </a:r>
            <a:r>
              <a:rPr lang="vi-VN" sz="1400" dirty="0">
                <a:cs typeface="Times New Roman" panose="02020603050405020304" pitchFamily="18" charset="0"/>
              </a:rPr>
              <a:t>đang xin ATR cho bay As-is. </a:t>
            </a:r>
          </a:p>
          <a:p>
            <a:pPr marL="12700" indent="0" algn="just">
              <a:buSzPts val="1100"/>
              <a:buNone/>
            </a:pPr>
            <a:r>
              <a:rPr lang="vi-VN" sz="1400" dirty="0">
                <a:cs typeface="Times New Roman" panose="02020603050405020304" pitchFamily="18" charset="0"/>
              </a:rPr>
              <a:t> - </a:t>
            </a:r>
            <a:r>
              <a:rPr lang="en-US" sz="1400" dirty="0" smtClean="0">
                <a:cs typeface="Times New Roman" panose="02020603050405020304" pitchFamily="18" charset="0"/>
              </a:rPr>
              <a:t>C</a:t>
            </a:r>
            <a:r>
              <a:rPr lang="vi-VN" sz="1400" dirty="0" smtClean="0">
                <a:cs typeface="Times New Roman" panose="02020603050405020304" pitchFamily="18" charset="0"/>
              </a:rPr>
              <a:t>ác </a:t>
            </a:r>
            <a:r>
              <a:rPr lang="vi-VN" sz="1400" dirty="0">
                <a:cs typeface="Times New Roman" panose="02020603050405020304" pitchFamily="18" charset="0"/>
              </a:rPr>
              <a:t>hỏng hóc lớn về cấu trúc ở trên sẽ được CLR đến hết 09/06.</a:t>
            </a:r>
          </a:p>
          <a:p>
            <a:pPr marL="12700" indent="0" algn="just">
              <a:buSzPts val="1100"/>
              <a:buNone/>
            </a:pPr>
            <a:r>
              <a:rPr lang="vi-VN" sz="1400" dirty="0">
                <a:cs typeface="Times New Roman" panose="02020603050405020304" pitchFamily="18" charset="0"/>
              </a:rPr>
              <a:t> - Check kéo dài đến 20/6 do nhiều hỏng hóc cấu trúc và chờ LH MLG.</a:t>
            </a:r>
            <a:endParaRPr lang="x-none" sz="1400" dirty="0">
              <a:cs typeface="Times New Roman" panose="02020603050405020304" pitchFamily="18" charset="0"/>
            </a:endParaRPr>
          </a:p>
          <a:p>
            <a:pPr marL="12700" indent="0" algn="just">
              <a:lnSpc>
                <a:spcPct val="150000"/>
              </a:lnSpc>
              <a:buSzPts val="1100"/>
              <a:buNone/>
            </a:pPr>
            <a:endParaRPr lang="fr-FR" sz="1400" dirty="0" smtClean="0">
              <a:cs typeface="Times New Roman" panose="02020603050405020304" pitchFamily="18" charset="0"/>
              <a:sym typeface="Wingdings" panose="05000000000000000000" pitchFamily="2" charset="2"/>
            </a:endParaRPr>
          </a:p>
          <a:p>
            <a:pPr marL="12700" indent="0" algn="just">
              <a:lnSpc>
                <a:spcPct val="150000"/>
              </a:lnSpc>
              <a:buSzPts val="1100"/>
              <a:buNone/>
            </a:pPr>
            <a:endParaRPr lang="fr-FR" sz="14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6832516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3" name="Table 2">
            <a:extLst>
              <a:ext uri="{FF2B5EF4-FFF2-40B4-BE49-F238E27FC236}">
                <a16:creationId xmlns:a16="http://schemas.microsoft.com/office/drawing/2014/main" id="{C0EDB648-D68F-4638-A398-0148A429512B}"/>
              </a:ext>
            </a:extLst>
          </p:cNvPr>
          <p:cNvGraphicFramePr>
            <a:graphicFrameLocks noGrp="1"/>
          </p:cNvGraphicFramePr>
          <p:nvPr>
            <p:extLst/>
          </p:nvPr>
        </p:nvGraphicFramePr>
        <p:xfrm>
          <a:off x="442004" y="1219200"/>
          <a:ext cx="11140398" cy="3725745"/>
        </p:xfrm>
        <a:graphic>
          <a:graphicData uri="http://schemas.openxmlformats.org/drawingml/2006/table">
            <a:tbl>
              <a:tblPr/>
              <a:tblGrid>
                <a:gridCol w="337589">
                  <a:extLst>
                    <a:ext uri="{9D8B030D-6E8A-4147-A177-3AD203B41FA5}">
                      <a16:colId xmlns:a16="http://schemas.microsoft.com/office/drawing/2014/main" val="835655809"/>
                    </a:ext>
                  </a:extLst>
                </a:gridCol>
                <a:gridCol w="2233269">
                  <a:extLst>
                    <a:ext uri="{9D8B030D-6E8A-4147-A177-3AD203B41FA5}">
                      <a16:colId xmlns:a16="http://schemas.microsoft.com/office/drawing/2014/main" val="1323946316"/>
                    </a:ext>
                  </a:extLst>
                </a:gridCol>
                <a:gridCol w="571301">
                  <a:extLst>
                    <a:ext uri="{9D8B030D-6E8A-4147-A177-3AD203B41FA5}">
                      <a16:colId xmlns:a16="http://schemas.microsoft.com/office/drawing/2014/main" val="2449181929"/>
                    </a:ext>
                  </a:extLst>
                </a:gridCol>
                <a:gridCol w="541449">
                  <a:extLst>
                    <a:ext uri="{9D8B030D-6E8A-4147-A177-3AD203B41FA5}">
                      <a16:colId xmlns:a16="http://schemas.microsoft.com/office/drawing/2014/main" val="576971842"/>
                    </a:ext>
                  </a:extLst>
                </a:gridCol>
                <a:gridCol w="480413">
                  <a:extLst>
                    <a:ext uri="{9D8B030D-6E8A-4147-A177-3AD203B41FA5}">
                      <a16:colId xmlns:a16="http://schemas.microsoft.com/office/drawing/2014/main" val="2135067192"/>
                    </a:ext>
                  </a:extLst>
                </a:gridCol>
                <a:gridCol w="532350">
                  <a:extLst>
                    <a:ext uri="{9D8B030D-6E8A-4147-A177-3AD203B41FA5}">
                      <a16:colId xmlns:a16="http://schemas.microsoft.com/office/drawing/2014/main" val="3736410155"/>
                    </a:ext>
                  </a:extLst>
                </a:gridCol>
                <a:gridCol w="506381">
                  <a:extLst>
                    <a:ext uri="{9D8B030D-6E8A-4147-A177-3AD203B41FA5}">
                      <a16:colId xmlns:a16="http://schemas.microsoft.com/office/drawing/2014/main" val="929484790"/>
                    </a:ext>
                  </a:extLst>
                </a:gridCol>
                <a:gridCol w="519364">
                  <a:extLst>
                    <a:ext uri="{9D8B030D-6E8A-4147-A177-3AD203B41FA5}">
                      <a16:colId xmlns:a16="http://schemas.microsoft.com/office/drawing/2014/main" val="485693902"/>
                    </a:ext>
                  </a:extLst>
                </a:gridCol>
                <a:gridCol w="532350">
                  <a:extLst>
                    <a:ext uri="{9D8B030D-6E8A-4147-A177-3AD203B41FA5}">
                      <a16:colId xmlns:a16="http://schemas.microsoft.com/office/drawing/2014/main" val="1486771115"/>
                    </a:ext>
                  </a:extLst>
                </a:gridCol>
                <a:gridCol w="532350">
                  <a:extLst>
                    <a:ext uri="{9D8B030D-6E8A-4147-A177-3AD203B41FA5}">
                      <a16:colId xmlns:a16="http://schemas.microsoft.com/office/drawing/2014/main" val="351396500"/>
                    </a:ext>
                  </a:extLst>
                </a:gridCol>
                <a:gridCol w="4353582">
                  <a:extLst>
                    <a:ext uri="{9D8B030D-6E8A-4147-A177-3AD203B41FA5}">
                      <a16:colId xmlns:a16="http://schemas.microsoft.com/office/drawing/2014/main" val="4050146211"/>
                    </a:ext>
                  </a:extLst>
                </a:gridCol>
              </a:tblGrid>
              <a:tr h="503557">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08/06)</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2850954231"/>
                  </a:ext>
                </a:extLst>
              </a:tr>
              <a:tr h="610370">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742825747"/>
                  </a:ext>
                </a:extLst>
              </a:tr>
              <a:tr h="943473">
                <a:tc>
                  <a:txBody>
                    <a:bodyPr/>
                    <a:lstStyle/>
                    <a:p>
                      <a:pPr algn="ctr" fontAlgn="ctr"/>
                      <a:r>
                        <a:rPr lang="en-US" sz="1200" b="1" i="0" u="none" strike="noStrike">
                          <a:solidFill>
                            <a:schemeClr val="tx1"/>
                          </a:solidFill>
                          <a:effectLst/>
                          <a:latin typeface="Times New Roman" panose="02020603050405020304" pitchFamily="18" charset="0"/>
                        </a:rPr>
                        <a:t>1</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chemeClr val="tx1"/>
                          </a:solidFill>
                          <a:effectLst/>
                          <a:latin typeface="Times New Roman" panose="02020603050405020304" pitchFamily="18" charset="0"/>
                        </a:rPr>
                        <a:t>A321 NEO AOG</a:t>
                      </a:r>
                      <a:br>
                        <a:rPr lang="pt-BR" sz="1200" b="1" i="0" u="none" strike="noStrike">
                          <a:solidFill>
                            <a:schemeClr val="tx1"/>
                          </a:solidFill>
                          <a:effectLst/>
                          <a:latin typeface="Times New Roman" panose="02020603050405020304" pitchFamily="18" charset="0"/>
                        </a:rPr>
                      </a:br>
                      <a:r>
                        <a:rPr lang="pt-BR" sz="1200" b="1" i="0" u="none" strike="noStrike">
                          <a:solidFill>
                            <a:schemeClr val="tx1"/>
                          </a:solidFill>
                          <a:effectLst/>
                          <a:latin typeface="Times New Roman" panose="02020603050405020304" pitchFamily="18" charset="0"/>
                        </a:rPr>
                        <a:t> do thiếu ENG</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14.00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12.00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10.50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10.50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10.50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10.50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11.00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11.00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chemeClr val="tx1"/>
                          </a:solidFill>
                          <a:effectLst/>
                          <a:latin typeface="Times New Roman" panose="02020603050405020304" pitchFamily="18" charset="0"/>
                        </a:rPr>
                        <a:t>- 06/2025: tăng 0.5 tàu do hủy thuê ENG BBAM</a:t>
                      </a:r>
                      <a:br>
                        <a:rPr lang="vi-VN" sz="1200" b="0" i="0" u="none" strike="noStrike" dirty="0">
                          <a:solidFill>
                            <a:schemeClr val="tx1"/>
                          </a:solidFill>
                          <a:effectLst/>
                          <a:latin typeface="Times New Roman" panose="02020603050405020304" pitchFamily="18" charset="0"/>
                        </a:rPr>
                      </a:br>
                      <a:r>
                        <a:rPr lang="vi-VN" sz="1200" b="0" i="0" u="none" strike="noStrike" dirty="0">
                          <a:solidFill>
                            <a:schemeClr val="tx1"/>
                          </a:solidFill>
                          <a:effectLst/>
                          <a:latin typeface="Times New Roman" panose="02020603050405020304" pitchFamily="18" charset="0"/>
                        </a:rPr>
                        <a:t>- 07/2025: Giảm 0.25 tàu do 2 ENG thuê về </a:t>
                      </a:r>
                      <a:r>
                        <a:rPr lang="en-US" sz="1200" b="0" i="0" u="none" strike="noStrike" dirty="0" err="1">
                          <a:solidFill>
                            <a:schemeClr val="tx1"/>
                          </a:solidFill>
                          <a:effectLst/>
                          <a:latin typeface="Times New Roman" panose="02020603050405020304" pitchFamily="18" charset="0"/>
                        </a:rPr>
                        <a:t>đầu</a:t>
                      </a:r>
                      <a:r>
                        <a:rPr lang="en-US" sz="1200" b="0" i="0" u="none" strike="noStrike" dirty="0">
                          <a:solidFill>
                            <a:schemeClr val="tx1"/>
                          </a:solidFill>
                          <a:effectLst/>
                          <a:latin typeface="Times New Roman" panose="02020603050405020304" pitchFamily="18" charset="0"/>
                        </a:rPr>
                        <a:t> </a:t>
                      </a:r>
                      <a:r>
                        <a:rPr lang="en-US" sz="1200" b="0" i="0" u="none" strike="noStrike" dirty="0" err="1">
                          <a:solidFill>
                            <a:schemeClr val="tx1"/>
                          </a:solidFill>
                          <a:effectLst/>
                          <a:latin typeface="Times New Roman" panose="02020603050405020304" pitchFamily="18" charset="0"/>
                        </a:rPr>
                        <a:t>tháng</a:t>
                      </a:r>
                      <a:r>
                        <a:rPr lang="en-US" sz="1200" b="0" i="0" u="none" strike="noStrike" dirty="0">
                          <a:solidFill>
                            <a:schemeClr val="tx1"/>
                          </a:solidFill>
                          <a:effectLst/>
                          <a:latin typeface="Times New Roman" panose="02020603050405020304" pitchFamily="18" charset="0"/>
                        </a:rPr>
                        <a:t> 7 </a:t>
                      </a:r>
                      <a:r>
                        <a:rPr lang="vi-VN" sz="1200" b="0" i="0" u="none" strike="noStrike" dirty="0">
                          <a:solidFill>
                            <a:schemeClr val="tx1"/>
                          </a:solidFill>
                          <a:effectLst/>
                          <a:latin typeface="Times New Roman" panose="02020603050405020304" pitchFamily="18" charset="0"/>
                        </a:rPr>
                        <a:t>muộn hơn so dự kiến 20/06.</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6982183"/>
                  </a:ext>
                </a:extLst>
              </a:tr>
              <a:tr h="526952">
                <a:tc>
                  <a:txBody>
                    <a:bodyPr/>
                    <a:lstStyle/>
                    <a:p>
                      <a:pPr algn="ctr" fontAlgn="ctr"/>
                      <a:r>
                        <a:rPr lang="en-US" sz="1200" b="1" i="0" u="none" strike="noStrike">
                          <a:solidFill>
                            <a:srgbClr val="000000"/>
                          </a:solidFill>
                          <a:effectLst/>
                          <a:latin typeface="Times New Roman" panose="02020603050405020304" pitchFamily="18" charset="0"/>
                        </a:rPr>
                        <a:t>2</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257667897"/>
                  </a:ext>
                </a:extLst>
              </a:tr>
              <a:tr h="500504">
                <a:tc>
                  <a:txBody>
                    <a:bodyPr/>
                    <a:lstStyle/>
                    <a:p>
                      <a:pPr algn="ctr" fontAlgn="ctr"/>
                      <a:r>
                        <a:rPr lang="en-US" sz="1200" b="1" i="0" u="none" strike="noStrike">
                          <a:solidFill>
                            <a:srgbClr val="000000"/>
                          </a:solidFill>
                          <a:effectLst/>
                          <a:latin typeface="Times New Roman" panose="02020603050405020304" pitchFamily="18" charset="0"/>
                        </a:rPr>
                        <a:t>3</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0.90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719248"/>
                  </a:ext>
                </a:extLst>
              </a:tr>
              <a:tr h="640889">
                <a:tc>
                  <a:txBody>
                    <a:bodyPr/>
                    <a:lstStyle/>
                    <a:p>
                      <a:pPr algn="ctr" fontAlgn="ctr"/>
                      <a:r>
                        <a:rPr lang="en-US" sz="1200" b="1" i="0" u="none" strike="noStrike">
                          <a:solidFill>
                            <a:srgbClr val="000000"/>
                          </a:solidFill>
                          <a:effectLst/>
                          <a:latin typeface="Times New Roman" panose="02020603050405020304" pitchFamily="18" charset="0"/>
                        </a:rPr>
                        <a:t>4</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17.10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13.30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11.40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13.70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13.50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8250" marR="8250" marT="82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582022165"/>
                  </a:ext>
                </a:extLst>
              </a:tr>
            </a:tbl>
          </a:graphicData>
        </a:graphic>
      </p:graphicFrame>
    </p:spTree>
    <p:extLst>
      <p:ext uri="{BB962C8B-B14F-4D97-AF65-F5344CB8AC3E}">
        <p14:creationId xmlns:p14="http://schemas.microsoft.com/office/powerpoint/2010/main" val="10493953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a:extLst>
              <a:ext uri="{FF2B5EF4-FFF2-40B4-BE49-F238E27FC236}">
                <a16:creationId xmlns:a16="http://schemas.microsoft.com/office/drawing/2014/main" id="{12A8A1F4-295D-4C97-A3E9-26C172695DFD}"/>
              </a:ext>
            </a:extLst>
          </p:cNvPr>
          <p:cNvGraphicFramePr>
            <a:graphicFrameLocks noGrp="1"/>
          </p:cNvGraphicFramePr>
          <p:nvPr>
            <p:extLst/>
          </p:nvPr>
        </p:nvGraphicFramePr>
        <p:xfrm>
          <a:off x="381000" y="762000"/>
          <a:ext cx="11582401" cy="5867400"/>
        </p:xfrm>
        <a:graphic>
          <a:graphicData uri="http://schemas.openxmlformats.org/drawingml/2006/table">
            <a:tbl>
              <a:tblPr/>
              <a:tblGrid>
                <a:gridCol w="364513">
                  <a:extLst>
                    <a:ext uri="{9D8B030D-6E8A-4147-A177-3AD203B41FA5}">
                      <a16:colId xmlns:a16="http://schemas.microsoft.com/office/drawing/2014/main" val="2607380838"/>
                    </a:ext>
                  </a:extLst>
                </a:gridCol>
                <a:gridCol w="2506027">
                  <a:extLst>
                    <a:ext uri="{9D8B030D-6E8A-4147-A177-3AD203B41FA5}">
                      <a16:colId xmlns:a16="http://schemas.microsoft.com/office/drawing/2014/main" val="2737828768"/>
                    </a:ext>
                  </a:extLst>
                </a:gridCol>
                <a:gridCol w="534618">
                  <a:extLst>
                    <a:ext uri="{9D8B030D-6E8A-4147-A177-3AD203B41FA5}">
                      <a16:colId xmlns:a16="http://schemas.microsoft.com/office/drawing/2014/main" val="1760575704"/>
                    </a:ext>
                  </a:extLst>
                </a:gridCol>
                <a:gridCol w="498167">
                  <a:extLst>
                    <a:ext uri="{9D8B030D-6E8A-4147-A177-3AD203B41FA5}">
                      <a16:colId xmlns:a16="http://schemas.microsoft.com/office/drawing/2014/main" val="2277697044"/>
                    </a:ext>
                  </a:extLst>
                </a:gridCol>
                <a:gridCol w="449566">
                  <a:extLst>
                    <a:ext uri="{9D8B030D-6E8A-4147-A177-3AD203B41FA5}">
                      <a16:colId xmlns:a16="http://schemas.microsoft.com/office/drawing/2014/main" val="2398587976"/>
                    </a:ext>
                  </a:extLst>
                </a:gridCol>
                <a:gridCol w="510319">
                  <a:extLst>
                    <a:ext uri="{9D8B030D-6E8A-4147-A177-3AD203B41FA5}">
                      <a16:colId xmlns:a16="http://schemas.microsoft.com/office/drawing/2014/main" val="1257562048"/>
                    </a:ext>
                  </a:extLst>
                </a:gridCol>
                <a:gridCol w="486018">
                  <a:extLst>
                    <a:ext uri="{9D8B030D-6E8A-4147-A177-3AD203B41FA5}">
                      <a16:colId xmlns:a16="http://schemas.microsoft.com/office/drawing/2014/main" val="1322395650"/>
                    </a:ext>
                  </a:extLst>
                </a:gridCol>
                <a:gridCol w="486018">
                  <a:extLst>
                    <a:ext uri="{9D8B030D-6E8A-4147-A177-3AD203B41FA5}">
                      <a16:colId xmlns:a16="http://schemas.microsoft.com/office/drawing/2014/main" val="1046867756"/>
                    </a:ext>
                  </a:extLst>
                </a:gridCol>
                <a:gridCol w="510319">
                  <a:extLst>
                    <a:ext uri="{9D8B030D-6E8A-4147-A177-3AD203B41FA5}">
                      <a16:colId xmlns:a16="http://schemas.microsoft.com/office/drawing/2014/main" val="3511979573"/>
                    </a:ext>
                  </a:extLst>
                </a:gridCol>
                <a:gridCol w="498167">
                  <a:extLst>
                    <a:ext uri="{9D8B030D-6E8A-4147-A177-3AD203B41FA5}">
                      <a16:colId xmlns:a16="http://schemas.microsoft.com/office/drawing/2014/main" val="3603219040"/>
                    </a:ext>
                  </a:extLst>
                </a:gridCol>
                <a:gridCol w="4738669">
                  <a:extLst>
                    <a:ext uri="{9D8B030D-6E8A-4147-A177-3AD203B41FA5}">
                      <a16:colId xmlns:a16="http://schemas.microsoft.com/office/drawing/2014/main" val="1444133091"/>
                    </a:ext>
                  </a:extLst>
                </a:gridCol>
              </a:tblGrid>
              <a:tr h="331208">
                <a:tc gridSpan="11">
                  <a:txBody>
                    <a:bodyPr/>
                    <a:lstStyle/>
                    <a:p>
                      <a:pPr algn="ctr" fontAlgn="ctr"/>
                      <a:r>
                        <a:rPr lang="en-US" sz="1200" b="1" i="0" u="none" strike="noStrike" dirty="0">
                          <a:solidFill>
                            <a:srgbClr val="000000"/>
                          </a:solidFill>
                          <a:effectLst/>
                          <a:latin typeface="Times New Roman" panose="02020603050405020304" pitchFamily="18" charset="0"/>
                        </a:rPr>
                        <a:t>NGUỒN LỰC KỸ THUÂT A350/B787 (CẬP NHẬT 08/06)</a:t>
                      </a:r>
                    </a:p>
                  </a:txBody>
                  <a:tcPr marL="7443" marR="7443" marT="744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3506847"/>
                  </a:ext>
                </a:extLst>
              </a:tr>
              <a:tr h="313811">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493484015"/>
                  </a:ext>
                </a:extLst>
              </a:tr>
              <a:tr h="913331">
                <a:tc>
                  <a:txBody>
                    <a:bodyPr/>
                    <a:lstStyle/>
                    <a:p>
                      <a:pPr algn="ctr" fontAlgn="ctr"/>
                      <a:r>
                        <a:rPr lang="en-US" sz="1200" b="0" i="0" u="none" strike="noStrike">
                          <a:solidFill>
                            <a:srgbClr val="000000"/>
                          </a:solidFill>
                          <a:effectLst/>
                          <a:latin typeface="Times New Roman" panose="02020603050405020304" pitchFamily="18" charset="0"/>
                        </a:rPr>
                        <a:t>1</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FF0000"/>
                          </a:solidFill>
                          <a:effectLst/>
                          <a:latin typeface="Times New Roman" panose="02020603050405020304" pitchFamily="18" charset="0"/>
                        </a:rPr>
                        <a:t>1.00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Times New Roman" panose="02020603050405020304" pitchFamily="18" charset="0"/>
                        </a:rPr>
                        <a:t>- 07/2025: tăng 0.5 tàu do ENG về muộn  =&gt; A895 RTS muộn</a:t>
                      </a:r>
                      <a:br>
                        <a:rPr lang="vi-VN" sz="1200" b="0" i="0" u="none" strike="noStrike">
                          <a:solidFill>
                            <a:srgbClr val="000000"/>
                          </a:solidFill>
                          <a:effectLst/>
                          <a:latin typeface="Times New Roman" panose="02020603050405020304" pitchFamily="18" charset="0"/>
                        </a:rPr>
                      </a:br>
                      <a:r>
                        <a:rPr lang="vi-VN" sz="1200" b="0" i="0" u="none" strike="noStrike">
                          <a:solidFill>
                            <a:srgbClr val="FF0000"/>
                          </a:solidFill>
                          <a:effectLst/>
                          <a:latin typeface="Times New Roman" panose="02020603050405020304" pitchFamily="18" charset="0"/>
                        </a:rPr>
                        <a:t>- 08/2025: tăng 0.25 tàu do ENG về muộn</a:t>
                      </a:r>
                      <a:br>
                        <a:rPr lang="vi-VN" sz="1200" b="0" i="0" u="none" strike="noStrike">
                          <a:solidFill>
                            <a:srgbClr val="FF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- 09,10/2025: giảm và tăng tương ứng 0.5 tàu do ảnh hưởng việc stagger</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- 12/2025: giảm 1 tàu do về thêm 1 ENG quick turn</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453366"/>
                  </a:ext>
                </a:extLst>
              </a:tr>
              <a:tr h="395443">
                <a:tc>
                  <a:txBody>
                    <a:bodyPr/>
                    <a:lstStyle/>
                    <a:p>
                      <a:pPr algn="ctr" fontAlgn="ctr"/>
                      <a:r>
                        <a:rPr lang="en-US" sz="1200" b="0" i="0" u="none" strike="noStrike">
                          <a:solidFill>
                            <a:srgbClr val="000000"/>
                          </a:solidFill>
                          <a:effectLst/>
                          <a:latin typeface="Times New Roman" panose="02020603050405020304" pitchFamily="18" charset="0"/>
                        </a:rPr>
                        <a:t>1'</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A350 AOG do thiếu ENG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(last update 04/06)</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dirty="0">
                          <a:solidFill>
                            <a:srgbClr val="000000"/>
                          </a:solidFill>
                          <a:effectLst/>
                          <a:latin typeface="Times New Roman" panose="02020603050405020304" pitchFamily="18" charset="0"/>
                        </a:rPr>
                        <a:t>0.75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0" i="0" u="none" strike="noStrike">
                          <a:solidFill>
                            <a:srgbClr val="000000"/>
                          </a:solidFill>
                          <a:effectLst/>
                          <a:latin typeface="Times New Roman" panose="02020603050405020304" pitchFamily="18" charset="0"/>
                        </a:rPr>
                        <a:t>1.00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944380320"/>
                  </a:ext>
                </a:extLst>
              </a:tr>
              <a:tr h="395443">
                <a:tc>
                  <a:txBody>
                    <a:bodyPr/>
                    <a:lstStyle/>
                    <a:p>
                      <a:pPr algn="ctr" fontAlgn="ctr"/>
                      <a:r>
                        <a:rPr lang="en-US" sz="1200" b="0" i="0" u="none" strike="noStrike">
                          <a:solidFill>
                            <a:srgbClr val="000000"/>
                          </a:solidFill>
                          <a:effectLst/>
                          <a:latin typeface="Times New Roman" panose="02020603050405020304" pitchFamily="18" charset="0"/>
                        </a:rPr>
                        <a:t>2</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07/2025: tăng 0.2 tàu do bổ sung thay ENG A890 (không giữ được giờ do ENG 21584 về 16/06 muộn 14 ngày so với KH cũ 02/06)</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07214100"/>
                  </a:ext>
                </a:extLst>
              </a:tr>
              <a:tr h="401464">
                <a:tc>
                  <a:txBody>
                    <a:bodyPr/>
                    <a:lstStyle/>
                    <a:p>
                      <a:pPr algn="ctr" fontAlgn="ctr"/>
                      <a:r>
                        <a:rPr lang="en-US" sz="1200" b="0" i="0" u="none" strike="noStrike">
                          <a:solidFill>
                            <a:srgbClr val="000000"/>
                          </a:solidFill>
                          <a:effectLst/>
                          <a:latin typeface="Times New Roman" panose="02020603050405020304" pitchFamily="18" charset="0"/>
                        </a:rPr>
                        <a:t>3</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FF0000"/>
                          </a:solidFill>
                          <a:effectLst/>
                          <a:latin typeface="Times New Roman" panose="02020603050405020304" pitchFamily="18" charset="0"/>
                        </a:rPr>
                        <a:t>2.0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2150206"/>
                  </a:ext>
                </a:extLst>
              </a:tr>
              <a:tr h="401464">
                <a:tc>
                  <a:txBody>
                    <a:bodyPr/>
                    <a:lstStyle/>
                    <a:p>
                      <a:pPr algn="ctr" fontAlgn="ctr"/>
                      <a:r>
                        <a:rPr lang="en-US" sz="1200" b="0" i="0" u="none" strike="noStrike">
                          <a:solidFill>
                            <a:srgbClr val="000000"/>
                          </a:solidFill>
                          <a:effectLst/>
                          <a:latin typeface="Times New Roman" panose="02020603050405020304" pitchFamily="18" charset="0"/>
                        </a:rPr>
                        <a:t>4</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564688163"/>
                  </a:ext>
                </a:extLst>
              </a:tr>
              <a:tr h="401464">
                <a:tc>
                  <a:txBody>
                    <a:bodyPr/>
                    <a:lstStyle/>
                    <a:p>
                      <a:pPr algn="ctr" fontAlgn="ctr"/>
                      <a:r>
                        <a:rPr lang="en-US" sz="1200" b="0" i="0" u="none" strike="noStrike">
                          <a:solidFill>
                            <a:srgbClr val="000000"/>
                          </a:solidFill>
                          <a:effectLst/>
                          <a:latin typeface="Times New Roman" panose="02020603050405020304" pitchFamily="18" charset="0"/>
                        </a:rPr>
                        <a:t>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A863 BSI 50CY.</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1559537"/>
                  </a:ext>
                </a:extLst>
              </a:tr>
              <a:tr h="1109380">
                <a:tc>
                  <a:txBody>
                    <a:bodyPr/>
                    <a:lstStyle/>
                    <a:p>
                      <a:pPr algn="ctr" fontAlgn="ctr"/>
                      <a:r>
                        <a:rPr lang="en-US" sz="1200" b="0" i="0" u="none" strike="noStrike">
                          <a:solidFill>
                            <a:srgbClr val="000000"/>
                          </a:solidFill>
                          <a:effectLst/>
                          <a:latin typeface="Times New Roman" panose="02020603050405020304" pitchFamily="18" charset="0"/>
                        </a:rPr>
                        <a:t>6</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0.4</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- 06/2025: tăng 0.2 tàu do ảnh hưởng thay ENG A871 AOG và bổ sung thay ENG A863 &amp; A873</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- 07/2023: tăng 0.2 tàu do bổ sung thay ENG A873 (giới hạn CY để ko phát sinh tăng WS SV)</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- 08/2025: tăng 0.2 tàu do A870 Y3 (due: 04/06) xin NN lùi sau cao điểm hè</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096417704"/>
                  </a:ext>
                </a:extLst>
              </a:tr>
              <a:tr h="401464">
                <a:tc>
                  <a:txBody>
                    <a:bodyPr/>
                    <a:lstStyle/>
                    <a:p>
                      <a:pPr algn="ctr" fontAlgn="ctr"/>
                      <a:r>
                        <a:rPr lang="en-US" sz="1200" b="0" i="0" u="none" strike="noStrike">
                          <a:solidFill>
                            <a:srgbClr val="000000"/>
                          </a:solidFill>
                          <a:effectLst/>
                          <a:latin typeface="Times New Roman" panose="02020603050405020304" pitchFamily="18" charset="0"/>
                        </a:rPr>
                        <a:t>7</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0.4</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4258812"/>
                  </a:ext>
                </a:extLst>
              </a:tr>
              <a:tr h="401464">
                <a:tc>
                  <a:txBody>
                    <a:bodyPr/>
                    <a:lstStyle/>
                    <a:p>
                      <a:pPr algn="ctr" fontAlgn="ctr"/>
                      <a:r>
                        <a:rPr lang="en-US" sz="1200" b="0" i="0" u="none" strike="noStrike">
                          <a:solidFill>
                            <a:srgbClr val="000000"/>
                          </a:solidFill>
                          <a:effectLst/>
                          <a:latin typeface="Times New Roman" panose="02020603050405020304" pitchFamily="18" charset="0"/>
                        </a:rPr>
                        <a:t>8</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16.6</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108468224"/>
                  </a:ext>
                </a:extLst>
              </a:tr>
              <a:tr h="401464">
                <a:tc>
                  <a:txBody>
                    <a:bodyPr/>
                    <a:lstStyle/>
                    <a:p>
                      <a:pPr algn="ctr" fontAlgn="ctr"/>
                      <a:r>
                        <a:rPr lang="en-US" sz="1200" b="0" i="0" u="none" strike="noStrike">
                          <a:solidFill>
                            <a:srgbClr val="000000"/>
                          </a:solidFill>
                          <a:effectLst/>
                          <a:latin typeface="Times New Roman" panose="02020603050405020304" pitchFamily="18" charset="0"/>
                        </a:rPr>
                        <a:t>9</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FF0000"/>
                          </a:solidFill>
                          <a:effectLst/>
                          <a:latin typeface="Times New Roman" panose="02020603050405020304" pitchFamily="18" charset="0"/>
                        </a:rPr>
                        <a:t>3.0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4.5</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443" marR="7443" marT="744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1038950"/>
                  </a:ext>
                </a:extLst>
              </a:tr>
            </a:tbl>
          </a:graphicData>
        </a:graphic>
      </p:graphicFrame>
    </p:spTree>
    <p:extLst>
      <p:ext uri="{BB962C8B-B14F-4D97-AF65-F5344CB8AC3E}">
        <p14:creationId xmlns:p14="http://schemas.microsoft.com/office/powerpoint/2010/main" val="2704029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fld id="{6C6B6B8D-D74E-47CD-B5EE-156060B7CD17}" type="slidenum">
              <a:rPr lang="en-US" sz="1100" smtClean="0"/>
              <a:pPr/>
              <a:t>41</a:t>
            </a:fld>
            <a:endParaRPr lang="en-US" sz="1100" dirty="0"/>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23</a:t>
            </a:r>
            <a:endParaRPr lang="vi-VN" sz="2700" dirty="0"/>
          </a:p>
        </p:txBody>
      </p:sp>
      <p:sp>
        <p:nvSpPr>
          <p:cNvPr id="22" name="TextBox 21"/>
          <p:cNvSpPr txBox="1"/>
          <p:nvPr/>
        </p:nvSpPr>
        <p:spPr>
          <a:xfrm>
            <a:off x="376712" y="4389773"/>
            <a:ext cx="11674151" cy="231582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14a,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13 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06</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07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16ea,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14ea </a:t>
            </a:r>
            <a:r>
              <a:rPr lang="en-US" sz="1400" b="1" dirty="0">
                <a:solidFill>
                  <a:schemeClr val="tx1"/>
                </a:solidFill>
                <a:latin typeface="Times New Roman" panose="02020603050405020304" pitchFamily="18" charset="0"/>
                <a:cs typeface="Times New Roman" panose="02020603050405020304" pitchFamily="18" charset="0"/>
              </a:rPr>
              <a:t>(Oven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A350A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nhiều</a:t>
            </a:r>
            <a:r>
              <a:rPr lang="en-US" sz="1400" b="1" dirty="0">
                <a:solidFill>
                  <a:schemeClr val="tx1"/>
                </a:solidFill>
                <a:latin typeface="Times New Roman" panose="02020603050405020304" pitchFamily="18" charset="0"/>
                <a:cs typeface="Times New Roman" panose="02020603050405020304" pitchFamily="18" charset="0"/>
              </a:rPr>
              <a:t>, obsolete =&gt; </a:t>
            </a:r>
            <a:r>
              <a:rPr lang="en-US" sz="1400" b="1" dirty="0" err="1">
                <a:solidFill>
                  <a:schemeClr val="tx1"/>
                </a:solidFill>
                <a:latin typeface="Times New Roman" panose="02020603050405020304" pitchFamily="18" charset="0"/>
                <a:cs typeface="Times New Roman" panose="02020603050405020304" pitchFamily="18" charset="0"/>
              </a:rPr>
              <a:t>làm</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việc</a:t>
            </a:r>
            <a:r>
              <a:rPr lang="en-US" sz="1400" b="1" dirty="0">
                <a:solidFill>
                  <a:schemeClr val="tx1"/>
                </a:solidFill>
                <a:latin typeface="Times New Roman" panose="02020603050405020304" pitchFamily="18" charset="0"/>
                <a:cs typeface="Times New Roman" panose="02020603050405020304" pitchFamily="18" charset="0"/>
              </a:rPr>
              <a:t> Safran </a:t>
            </a:r>
            <a:r>
              <a:rPr lang="en-US" sz="1400" b="1" dirty="0" err="1">
                <a:solidFill>
                  <a:schemeClr val="tx1"/>
                </a:solidFill>
                <a:latin typeface="Times New Roman" panose="02020603050405020304" pitchFamily="18" charset="0"/>
                <a:cs typeface="Times New Roman" panose="02020603050405020304" pitchFamily="18" charset="0"/>
              </a:rPr>
              <a:t>phương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án</a:t>
            </a:r>
            <a:r>
              <a:rPr lang="en-US" sz="1400" b="1" dirty="0">
                <a:solidFill>
                  <a:schemeClr val="tx1"/>
                </a:solidFill>
                <a:latin typeface="Times New Roman" panose="02020603050405020304" pitchFamily="18" charset="0"/>
                <a:cs typeface="Times New Roman" panose="02020603050405020304" pitchFamily="18" charset="0"/>
              </a:rPr>
              <a:t> retrofit – T10/2025; Oven A35X =&gt; QLVT </a:t>
            </a:r>
            <a:r>
              <a:rPr lang="en-US" sz="1400" b="1" dirty="0" err="1">
                <a:solidFill>
                  <a:schemeClr val="tx1"/>
                </a:solidFill>
                <a:latin typeface="Times New Roman" panose="02020603050405020304" pitchFamily="18" charset="0"/>
                <a:cs typeface="Times New Roman" panose="02020603050405020304" pitchFamily="18" charset="0"/>
              </a:rPr>
              <a:t>mua</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bổ</a:t>
            </a:r>
            <a:r>
              <a:rPr lang="en-US" sz="1400" b="1" dirty="0">
                <a:solidFill>
                  <a:schemeClr val="tx1"/>
                </a:solidFill>
                <a:latin typeface="Times New Roman" panose="02020603050405020304" pitchFamily="18" charset="0"/>
                <a:cs typeface="Times New Roman" panose="02020603050405020304" pitchFamily="18" charset="0"/>
              </a:rPr>
              <a:t> sung Oven part </a:t>
            </a:r>
            <a:r>
              <a:rPr lang="en-US" sz="1400" b="1" dirty="0" err="1">
                <a:solidFill>
                  <a:schemeClr val="tx1"/>
                </a:solidFill>
                <a:latin typeface="Times New Roman" panose="02020603050405020304" pitchFamily="18" charset="0"/>
                <a:cs typeface="Times New Roman" panose="02020603050405020304" pitchFamily="18" charset="0"/>
              </a:rPr>
              <a:t>mới</a:t>
            </a:r>
            <a:r>
              <a:rPr lang="en-US" sz="1400" b="1" dirty="0">
                <a:solidFill>
                  <a:schemeClr val="tx1"/>
                </a:solidFill>
                <a:latin typeface="Times New Roman" panose="02020603050405020304" pitchFamily="18" charset="0"/>
                <a:cs typeface="Times New Roman" panose="02020603050405020304" pitchFamily="18" charset="0"/>
              </a:rPr>
              <a:t> do part </a:t>
            </a:r>
            <a:r>
              <a:rPr lang="en-US" sz="1400" b="1" dirty="0" err="1">
                <a:solidFill>
                  <a:schemeClr val="tx1"/>
                </a:solidFill>
                <a:latin typeface="Times New Roman" panose="02020603050405020304" pitchFamily="18" charset="0"/>
                <a:cs typeface="Times New Roman" panose="02020603050405020304" pitchFamily="18" charset="0"/>
              </a:rPr>
              <a:t>cũ</a:t>
            </a:r>
            <a:r>
              <a:rPr lang="en-US" sz="1400" b="1" dirty="0">
                <a:solidFill>
                  <a:schemeClr val="tx1"/>
                </a:solidFill>
                <a:latin typeface="Times New Roman" panose="02020603050405020304" pitchFamily="18" charset="0"/>
                <a:cs typeface="Times New Roman" panose="02020603050405020304" pitchFamily="18" charset="0"/>
              </a:rPr>
              <a:t> obsoleted)</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23" name="TextBox 22"/>
          <p:cNvSpPr txBox="1"/>
          <p:nvPr/>
        </p:nvSpPr>
        <p:spPr>
          <a:xfrm>
            <a:off x="393941" y="19486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107/</a:t>
            </a:r>
            <a:r>
              <a:rPr lang="en-GB" sz="1400" b="1" dirty="0">
                <a:solidFill>
                  <a:schemeClr val="tx1"/>
                </a:solidFill>
                <a:latin typeface="Times New Roman" panose="02020603050405020304" pitchFamily="18" charset="0"/>
                <a:cs typeface="Times New Roman" panose="02020603050405020304" pitchFamily="18" charset="0"/>
              </a:rPr>
              <a:t>/3</a:t>
            </a:r>
            <a:r>
              <a:rPr lang="en-US" sz="1400" b="1" dirty="0">
                <a:solidFill>
                  <a:schemeClr val="tx1"/>
                </a:solidFill>
                <a:latin typeface="Times New Roman" panose="02020603050405020304" pitchFamily="18" charset="0"/>
                <a:cs typeface="Times New Roman" panose="02020603050405020304" pitchFamily="18" charset="0"/>
              </a:rPr>
              <a:t>187 </a:t>
            </a:r>
            <a:r>
              <a:rPr lang="en-US" sz="1400" b="1" dirty="0">
                <a:latin typeface="Times New Roman" panose="02020603050405020304" pitchFamily="18" charset="0"/>
                <a:cs typeface="Times New Roman" panose="02020603050405020304" pitchFamily="18" charset="0"/>
              </a:rPr>
              <a:t>SVDU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80 INOP SVDU). </a:t>
            </a:r>
            <a:r>
              <a:rPr lang="en-US" sz="1400" dirty="0">
                <a:solidFill>
                  <a:srgbClr val="FF0000"/>
                </a:solidFill>
                <a:latin typeface="Times New Roman" panose="02020603050405020304" pitchFamily="18" charset="0"/>
                <a:cs typeface="Times New Roman" panose="02020603050405020304" pitchFamily="18" charset="0"/>
              </a:rPr>
              <a:t>Trong </a:t>
            </a:r>
            <a:r>
              <a:rPr lang="en-US" sz="1400" dirty="0" err="1">
                <a:solidFill>
                  <a:srgbClr val="FF0000"/>
                </a:solidFill>
                <a:latin typeface="Times New Roman" panose="02020603050405020304" pitchFamily="18" charset="0"/>
                <a:cs typeface="Times New Roman" panose="02020603050405020304" pitchFamily="18" charset="0"/>
              </a:rPr>
              <a:t>tuần</a:t>
            </a:r>
            <a:r>
              <a:rPr lang="en-US" sz="1400" dirty="0">
                <a:solidFill>
                  <a:srgbClr val="FF0000"/>
                </a:solidFill>
                <a:latin typeface="Times New Roman" panose="02020603050405020304" pitchFamily="18" charset="0"/>
                <a:cs typeface="Times New Roman" panose="02020603050405020304" pitchFamily="18" charset="0"/>
              </a:rPr>
              <a:t> 23:  hỏng </a:t>
            </a:r>
            <a:r>
              <a:rPr lang="en-US" sz="1400" dirty="0" err="1">
                <a:solidFill>
                  <a:srgbClr val="FF0000"/>
                </a:solidFill>
                <a:latin typeface="Times New Roman" panose="02020603050405020304" pitchFamily="18" charset="0"/>
                <a:cs typeface="Times New Roman" panose="02020603050405020304" pitchFamily="18" charset="0"/>
              </a:rPr>
              <a:t>mới</a:t>
            </a:r>
            <a:r>
              <a:rPr lang="en-US" sz="1400" dirty="0">
                <a:solidFill>
                  <a:srgbClr val="FF0000"/>
                </a:solidFill>
                <a:latin typeface="Times New Roman" panose="02020603050405020304" pitchFamily="18" charset="0"/>
                <a:cs typeface="Times New Roman" panose="02020603050405020304" pitchFamily="18" charset="0"/>
              </a:rPr>
              <a:t> 10 ea,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15ea</a:t>
            </a:r>
            <a:r>
              <a:rPr lang="en-US" sz="1400" dirty="0">
                <a:solidFill>
                  <a:schemeClr val="tx1"/>
                </a:solidFill>
                <a:latin typeface="Times New Roman" panose="02020603050405020304" pitchFamily="18" charset="0"/>
                <a:cs typeface="Times New Roman" panose="02020603050405020304" pitchFamily="18" charset="0"/>
              </a:rPr>
              <a:t>.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 =&gt; </a:t>
            </a:r>
            <a:r>
              <a:rPr lang="vi-VN" sz="1400" dirty="0"/>
              <a:t>Hỏng hóc tồn đọng: Đã khắc phục các tàu bay bị hỏng với số lượng lớn; hiện chỉ còn một số hỏng hóc rải rác trên các tàu bay và cần tập trung màn hình cho A895 RTS</a:t>
            </a:r>
            <a:endParaRPr lang="en-US" sz="1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377833" y="2997069"/>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LAV:</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05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03ea,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02ea</a:t>
            </a:r>
          </a:p>
          <a:p>
            <a:pPr marL="285750" indent="-285750">
              <a:lnSpc>
                <a:spcPct val="15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01ea</a:t>
            </a:r>
          </a:p>
        </p:txBody>
      </p:sp>
      <p:sp>
        <p:nvSpPr>
          <p:cNvPr id="26" name="TextBox 25"/>
          <p:cNvSpPr txBox="1"/>
          <p:nvPr/>
        </p:nvSpPr>
        <p:spPr>
          <a:xfrm>
            <a:off x="365449" y="451497"/>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23: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227 (</a:t>
            </a:r>
            <a:r>
              <a:rPr lang="en-US" sz="1400" dirty="0" err="1">
                <a:latin typeface="Times New Roman" panose="02020603050405020304" pitchFamily="18" charset="0"/>
                <a:cs typeface="Times New Roman" panose="02020603050405020304" pitchFamily="18" charset="0"/>
              </a:rPr>
              <a:t>tăng</a:t>
            </a:r>
            <a:r>
              <a:rPr lang="en-US" sz="1400" dirty="0">
                <a:latin typeface="Times New Roman" panose="02020603050405020304" pitchFamily="18" charset="0"/>
                <a:cs typeface="Times New Roman" panose="02020603050405020304" pitchFamily="18" charset="0"/>
              </a:rPr>
              <a:t> 2%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22),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68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159ADD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tăng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3%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22).</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93941" y="8867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23</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01,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00,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056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05,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0782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42</a:t>
            </a:fld>
            <a:endParaRPr lang="en-US"/>
          </a:p>
        </p:txBody>
      </p:sp>
      <p:sp>
        <p:nvSpPr>
          <p:cNvPr id="5" name="Title 4"/>
          <p:cNvSpPr>
            <a:spLocks noGrp="1"/>
          </p:cNvSpPr>
          <p:nvPr>
            <p:ph type="title"/>
          </p:nvPr>
        </p:nvSpPr>
        <p:spPr>
          <a:xfrm>
            <a:off x="201769" y="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561419961"/>
              </p:ext>
            </p:extLst>
          </p:nvPr>
        </p:nvGraphicFramePr>
        <p:xfrm>
          <a:off x="761999" y="3200399"/>
          <a:ext cx="10591801" cy="1237129"/>
        </p:xfrm>
        <a:graphic>
          <a:graphicData uri="http://schemas.openxmlformats.org/drawingml/2006/table">
            <a:tbl>
              <a:tblPr/>
              <a:tblGrid>
                <a:gridCol w="246553">
                  <a:extLst>
                    <a:ext uri="{9D8B030D-6E8A-4147-A177-3AD203B41FA5}">
                      <a16:colId xmlns:a16="http://schemas.microsoft.com/office/drawing/2014/main" val="20000"/>
                    </a:ext>
                  </a:extLst>
                </a:gridCol>
                <a:gridCol w="1658448">
                  <a:extLst>
                    <a:ext uri="{9D8B030D-6E8A-4147-A177-3AD203B41FA5}">
                      <a16:colId xmlns:a16="http://schemas.microsoft.com/office/drawing/2014/main" val="20001"/>
                    </a:ext>
                  </a:extLst>
                </a:gridCol>
                <a:gridCol w="426041">
                  <a:extLst>
                    <a:ext uri="{9D8B030D-6E8A-4147-A177-3AD203B41FA5}">
                      <a16:colId xmlns:a16="http://schemas.microsoft.com/office/drawing/2014/main" val="20002"/>
                    </a:ext>
                  </a:extLst>
                </a:gridCol>
                <a:gridCol w="433335">
                  <a:extLst>
                    <a:ext uri="{9D8B030D-6E8A-4147-A177-3AD203B41FA5}">
                      <a16:colId xmlns:a16="http://schemas.microsoft.com/office/drawing/2014/main" val="20003"/>
                    </a:ext>
                  </a:extLst>
                </a:gridCol>
                <a:gridCol w="4246024">
                  <a:extLst>
                    <a:ext uri="{9D8B030D-6E8A-4147-A177-3AD203B41FA5}">
                      <a16:colId xmlns:a16="http://schemas.microsoft.com/office/drawing/2014/main" val="20004"/>
                    </a:ext>
                  </a:extLst>
                </a:gridCol>
                <a:gridCol w="762232">
                  <a:extLst>
                    <a:ext uri="{9D8B030D-6E8A-4147-A177-3AD203B41FA5}">
                      <a16:colId xmlns:a16="http://schemas.microsoft.com/office/drawing/2014/main" val="20005"/>
                    </a:ext>
                  </a:extLst>
                </a:gridCol>
                <a:gridCol w="799428">
                  <a:extLst>
                    <a:ext uri="{9D8B030D-6E8A-4147-A177-3AD203B41FA5}">
                      <a16:colId xmlns:a16="http://schemas.microsoft.com/office/drawing/2014/main" val="20006"/>
                    </a:ext>
                  </a:extLst>
                </a:gridCol>
                <a:gridCol w="1593876">
                  <a:extLst>
                    <a:ext uri="{9D8B030D-6E8A-4147-A177-3AD203B41FA5}">
                      <a16:colId xmlns:a16="http://schemas.microsoft.com/office/drawing/2014/main" val="20007"/>
                    </a:ext>
                  </a:extLst>
                </a:gridCol>
                <a:gridCol w="425864">
                  <a:extLst>
                    <a:ext uri="{9D8B030D-6E8A-4147-A177-3AD203B41FA5}">
                      <a16:colId xmlns:a16="http://schemas.microsoft.com/office/drawing/2014/main" val="20008"/>
                    </a:ext>
                  </a:extLst>
                </a:gridCol>
              </a:tblGrid>
              <a:tr h="322729">
                <a:tc gridSpan="9">
                  <a:txBody>
                    <a:bodyPr/>
                    <a:lstStyle/>
                    <a:p>
                      <a:pPr algn="ctr" fontAlgn="ctr"/>
                      <a:r>
                        <a:rPr lang="vi-VN" sz="1000" b="1" i="0" u="none" strike="noStrike" dirty="0">
                          <a:solidFill>
                            <a:srgbClr val="000000"/>
                          </a:solidFill>
                          <a:effectLst/>
                          <a:latin typeface="Times New Roman" panose="02020603050405020304" pitchFamily="18" charset="0"/>
                        </a:rPr>
                        <a:t>BẢNG TỔNG HỢP VÀ THEO DÕI NHÂN NHƯỢNG - VIETNAM AIRLINES</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2729">
                <a:tc>
                  <a:txBody>
                    <a:bodyPr/>
                    <a:lstStyle/>
                    <a:p>
                      <a:pPr algn="ctr" fontAlgn="ctr"/>
                      <a:r>
                        <a:rPr lang="en-US" sz="1000" b="1" i="0" u="none" strike="noStrike">
                          <a:solidFill>
                            <a:srgbClr val="000000"/>
                          </a:solidFill>
                          <a:effectLst/>
                          <a:latin typeface="Times New Roman" panose="02020603050405020304" pitchFamily="18" charset="0"/>
                        </a:rPr>
                        <a:t>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Concession 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dirty="0">
                          <a:solidFill>
                            <a:srgbClr val="000000"/>
                          </a:solidFill>
                          <a:effectLst/>
                          <a:latin typeface="Times New Roman" panose="02020603050405020304" pitchFamily="18" charset="0"/>
                        </a:rPr>
                        <a:t>Type</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Reg</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Description</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By</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Issued Date</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ADD/CHK/Task No</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1" i="0" u="none" strike="noStrike">
                          <a:solidFill>
                            <a:srgbClr val="000000"/>
                          </a:solidFill>
                          <a:effectLst/>
                          <a:latin typeface="Times New Roman" panose="02020603050405020304" pitchFamily="18" charset="0"/>
                        </a:rPr>
                        <a:t>Status</a:t>
                      </a: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91671">
                <a:tc>
                  <a:txBody>
                    <a:bodyPr/>
                    <a:lstStyle/>
                    <a:p>
                      <a:pPr algn="ctr" fontAlgn="ctr"/>
                      <a:r>
                        <a:rPr lang="en-US" sz="900" b="0" i="0" u="none" strike="noStrike" dirty="0" smtClean="0">
                          <a:solidFill>
                            <a:srgbClr val="000000"/>
                          </a:solidFill>
                          <a:effectLst/>
                          <a:latin typeface="Times New Roman" panose="02020603050405020304" pitchFamily="18" charset="0"/>
                        </a:rPr>
                        <a:t>1</a:t>
                      </a:r>
                      <a:endParaRPr lang="en-US" sz="900" b="0" i="0" u="none" strike="noStrike" dirty="0">
                        <a:solidFill>
                          <a:srgbClr val="000000"/>
                        </a:solidFill>
                        <a:effectLst/>
                        <a:latin typeface="Times New Roman" panose="02020603050405020304" pitchFamily="18" charset="0"/>
                      </a:endParaRPr>
                    </a:p>
                  </a:txBody>
                  <a:tcPr marL="6684" marR="6684" marT="668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HVN/VN-A390/2025-06-06/01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A390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ADD B2316 RAISED DUE TO NIL SPARE “SEAL OF FLAP TRACK FIXED FAIRING 632EB DAMAGED IAW MCDL 27-15. NEXT DEAD-LINE: 36,353:42 FH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7-Jun-2025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smtClean="0">
                          <a:solidFill>
                            <a:srgbClr val="000000"/>
                          </a:solidFill>
                          <a:effectLst/>
                          <a:latin typeface="Times New Roman" panose="02020603050405020304" pitchFamily="18" charset="0"/>
                        </a:rPr>
                        <a:t>            ADD</a:t>
                      </a:r>
                      <a:endParaRPr lang="en-US" sz="10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3873480449"/>
              </p:ext>
            </p:extLst>
          </p:nvPr>
        </p:nvGraphicFramePr>
        <p:xfrm>
          <a:off x="761999" y="4440069"/>
          <a:ext cx="10591801" cy="591671"/>
        </p:xfrm>
        <a:graphic>
          <a:graphicData uri="http://schemas.openxmlformats.org/drawingml/2006/table">
            <a:tbl>
              <a:tblPr/>
              <a:tblGrid>
                <a:gridCol w="246553">
                  <a:extLst>
                    <a:ext uri="{9D8B030D-6E8A-4147-A177-3AD203B41FA5}">
                      <a16:colId xmlns:a16="http://schemas.microsoft.com/office/drawing/2014/main" val="2965330969"/>
                    </a:ext>
                  </a:extLst>
                </a:gridCol>
                <a:gridCol w="1658448">
                  <a:extLst>
                    <a:ext uri="{9D8B030D-6E8A-4147-A177-3AD203B41FA5}">
                      <a16:colId xmlns:a16="http://schemas.microsoft.com/office/drawing/2014/main" val="3355577873"/>
                    </a:ext>
                  </a:extLst>
                </a:gridCol>
                <a:gridCol w="426041">
                  <a:extLst>
                    <a:ext uri="{9D8B030D-6E8A-4147-A177-3AD203B41FA5}">
                      <a16:colId xmlns:a16="http://schemas.microsoft.com/office/drawing/2014/main" val="3527980464"/>
                    </a:ext>
                  </a:extLst>
                </a:gridCol>
                <a:gridCol w="433335">
                  <a:extLst>
                    <a:ext uri="{9D8B030D-6E8A-4147-A177-3AD203B41FA5}">
                      <a16:colId xmlns:a16="http://schemas.microsoft.com/office/drawing/2014/main" val="4245479879"/>
                    </a:ext>
                  </a:extLst>
                </a:gridCol>
                <a:gridCol w="4246024">
                  <a:extLst>
                    <a:ext uri="{9D8B030D-6E8A-4147-A177-3AD203B41FA5}">
                      <a16:colId xmlns:a16="http://schemas.microsoft.com/office/drawing/2014/main" val="510598735"/>
                    </a:ext>
                  </a:extLst>
                </a:gridCol>
                <a:gridCol w="762232">
                  <a:extLst>
                    <a:ext uri="{9D8B030D-6E8A-4147-A177-3AD203B41FA5}">
                      <a16:colId xmlns:a16="http://schemas.microsoft.com/office/drawing/2014/main" val="1936629445"/>
                    </a:ext>
                  </a:extLst>
                </a:gridCol>
                <a:gridCol w="799428">
                  <a:extLst>
                    <a:ext uri="{9D8B030D-6E8A-4147-A177-3AD203B41FA5}">
                      <a16:colId xmlns:a16="http://schemas.microsoft.com/office/drawing/2014/main" val="3445340454"/>
                    </a:ext>
                  </a:extLst>
                </a:gridCol>
                <a:gridCol w="1593876">
                  <a:extLst>
                    <a:ext uri="{9D8B030D-6E8A-4147-A177-3AD203B41FA5}">
                      <a16:colId xmlns:a16="http://schemas.microsoft.com/office/drawing/2014/main" val="3615637604"/>
                    </a:ext>
                  </a:extLst>
                </a:gridCol>
                <a:gridCol w="425864">
                  <a:extLst>
                    <a:ext uri="{9D8B030D-6E8A-4147-A177-3AD203B41FA5}">
                      <a16:colId xmlns:a16="http://schemas.microsoft.com/office/drawing/2014/main" val="1775437875"/>
                    </a:ext>
                  </a:extLst>
                </a:gridCol>
              </a:tblGrid>
              <a:tr h="591671">
                <a:tc>
                  <a:txBody>
                    <a:bodyPr/>
                    <a:lstStyle/>
                    <a:p>
                      <a:pPr algn="ctr" fontAlgn="ctr"/>
                      <a:r>
                        <a:rPr lang="en-US" sz="1000" b="0" i="0" u="none" strike="noStrike" dirty="0">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871-05/25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A871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ADD B2317 RAISED: “CABIN AIR CPRSR L2” REF MEL 21-51-01-0201-01, REV 09, CAT C, DEADLINE: 08/06/2025. New Dead -Line: 13/06/2025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Times New Roman" panose="02020603050405020304" pitchFamily="18" charset="0"/>
                        </a:rPr>
                        <a:t>8-Jun-2025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smtClean="0">
                          <a:solidFill>
                            <a:srgbClr val="000000"/>
                          </a:solidFill>
                          <a:effectLst/>
                          <a:latin typeface="Times New Roman" panose="02020603050405020304" pitchFamily="18" charset="0"/>
                        </a:rPr>
                        <a:t>            ADD</a:t>
                      </a:r>
                      <a:endParaRPr lang="en-US" sz="1000" b="0" i="0" u="none" strike="noStrike" dirty="0">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dirty="0">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5840957"/>
                  </a:ext>
                </a:extLst>
              </a:tr>
            </a:tbl>
          </a:graphicData>
        </a:graphic>
      </p:graphicFrame>
      <p:graphicFrame>
        <p:nvGraphicFramePr>
          <p:cNvPr id="8" name="Chart 7">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2336797714"/>
              </p:ext>
            </p:extLst>
          </p:nvPr>
        </p:nvGraphicFramePr>
        <p:xfrm>
          <a:off x="3581400" y="762000"/>
          <a:ext cx="4004481" cy="238032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141.91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674:55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185:05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940:35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222:45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595:40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239:15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822545"/>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261:10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144.37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1883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678:05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252:25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907:40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78642">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559:15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234:30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7" y="914400"/>
          <a:ext cx="10370492" cy="268572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883820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674783">
                  <a:extLst>
                    <a:ext uri="{9D8B030D-6E8A-4147-A177-3AD203B41FA5}">
                      <a16:colId xmlns:a16="http://schemas.microsoft.com/office/drawing/2014/main" val="4007203340"/>
                    </a:ext>
                  </a:extLst>
                </a:gridCol>
                <a:gridCol w="498552">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400" b="0" i="0" u="none" strike="noStrike" smtClean="0">
                          <a:solidFill>
                            <a:srgbClr val="000000"/>
                          </a:solidFill>
                          <a:effectLst/>
                          <a:latin typeface="Times New Roman" panose="02020603050405020304" pitchFamily="18" charset="0"/>
                        </a:rPr>
                        <a:t>ATR72</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extLst/>
          </p:nvPr>
        </p:nvGraphicFramePr>
        <p:xfrm>
          <a:off x="925418" y="1219200"/>
          <a:ext cx="10521106" cy="22005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162342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983673" y="1295400"/>
          <a:ext cx="10549845" cy="5181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9166369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
        <p:nvSpPr>
          <p:cNvPr id="158" name="Google Shape;158;g31ccdae391d_0_248"/>
          <p:cNvSpPr/>
          <p:nvPr/>
        </p:nvSpPr>
        <p:spPr>
          <a:xfrm>
            <a:off x="1373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i="0" u="none" strike="noStrike" cap="none">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A396: HAN - Y01+ENGCHG+EA05 (29/05-09/06): hiện đang thiếu 02ea Anti Ice Valve PN 326975 và 01 Fancowl LH, chưa cung ứng kịp và đã đề nghị Ban KT rob từ tàu check gối đầu</a:t>
            </a: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A508: HAN - EVENTS+ENGCHG+ENGCHG+C01+C03+Y01+Y06+EA22-EA02 (25/05-15/7): đang giục vật tư và engine về cho tàu</a:t>
            </a: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A501: HAN - INSTALL ENG 1,2+EA14-EA16+RTS (05/06-16/06): đã có phương án cung ứng vật tư</a:t>
            </a:r>
            <a:endParaRPr sz="15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k</a:t>
            </a:r>
            <a:r>
              <a:rPr lang="en-US" sz="1500" b="1">
                <a:solidFill>
                  <a:schemeClr val="dk1"/>
                </a:solidFill>
                <a:latin typeface="Times New Roman"/>
                <a:ea typeface="Times New Roman"/>
                <a:cs typeface="Times New Roman"/>
                <a:sym typeface="Times New Roman"/>
              </a:rPr>
              <a:t>hông có vướng mắc vật tư</a:t>
            </a:r>
            <a:endParaRPr sz="1500" b="1"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47956305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5" name="Google Shape;165;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166" name="Google Shape;166;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63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95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30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37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18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39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15 overdue orders / total 19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7" name="Google Shape;167;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8" name="Google Shape;168;g34b80f439b0_0_3"/>
          <p:cNvPicPr preferRelativeResize="0"/>
          <p:nvPr/>
        </p:nvPicPr>
        <p:blipFill>
          <a:blip r:embed="rId3">
            <a:alphaModFix/>
          </a:blip>
          <a:stretch>
            <a:fillRect/>
          </a:stretch>
        </p:blipFill>
        <p:spPr>
          <a:xfrm>
            <a:off x="913575" y="2049299"/>
            <a:ext cx="8369549" cy="4125226"/>
          </a:xfrm>
          <a:prstGeom prst="rect">
            <a:avLst/>
          </a:prstGeom>
          <a:noFill/>
          <a:ln>
            <a:noFill/>
          </a:ln>
        </p:spPr>
      </p:pic>
    </p:spTree>
    <p:extLst>
      <p:ext uri="{BB962C8B-B14F-4D97-AF65-F5344CB8AC3E}">
        <p14:creationId xmlns:p14="http://schemas.microsoft.com/office/powerpoint/2010/main" val="268639644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a:t>
            </a:r>
            <a:endParaRPr sz="2800">
              <a:solidFill>
                <a:srgbClr val="FFC000"/>
              </a:solidFill>
              <a:latin typeface="Times New Roman"/>
              <a:ea typeface="Times New Roman"/>
              <a:cs typeface="Times New Roman"/>
              <a:sym typeface="Times New Roman"/>
            </a:endParaRPr>
          </a:p>
        </p:txBody>
      </p:sp>
      <p:sp>
        <p:nvSpPr>
          <p:cNvPr id="175" name="Google Shape;175;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pic>
        <p:nvPicPr>
          <p:cNvPr id="176" name="Google Shape;176;g31ccdae391d_0_285"/>
          <p:cNvPicPr preferRelativeResize="0"/>
          <p:nvPr/>
        </p:nvPicPr>
        <p:blipFill>
          <a:blip r:embed="rId3">
            <a:alphaModFix/>
          </a:blip>
          <a:stretch>
            <a:fillRect/>
          </a:stretch>
        </p:blipFill>
        <p:spPr>
          <a:xfrm>
            <a:off x="706475" y="951710"/>
            <a:ext cx="10229850" cy="4000500"/>
          </a:xfrm>
          <a:prstGeom prst="rect">
            <a:avLst/>
          </a:prstGeom>
          <a:noFill/>
          <a:ln>
            <a:noFill/>
          </a:ln>
        </p:spPr>
      </p:pic>
    </p:spTree>
    <p:extLst>
      <p:ext uri="{BB962C8B-B14F-4D97-AF65-F5344CB8AC3E}">
        <p14:creationId xmlns:p14="http://schemas.microsoft.com/office/powerpoint/2010/main" val="189063426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5f1b08c610_0_9"/>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(Chi tiết)</a:t>
            </a:r>
            <a:endParaRPr sz="2800">
              <a:solidFill>
                <a:srgbClr val="FFC000"/>
              </a:solidFill>
              <a:latin typeface="Times New Roman"/>
              <a:ea typeface="Times New Roman"/>
              <a:cs typeface="Times New Roman"/>
              <a:sym typeface="Times New Roman"/>
            </a:endParaRPr>
          </a:p>
        </p:txBody>
      </p:sp>
      <p:sp>
        <p:nvSpPr>
          <p:cNvPr id="183" name="Google Shape;183;g35f1b08c610_0_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pic>
        <p:nvPicPr>
          <p:cNvPr id="184" name="Google Shape;184;g35f1b08c610_0_9"/>
          <p:cNvPicPr preferRelativeResize="0"/>
          <p:nvPr/>
        </p:nvPicPr>
        <p:blipFill>
          <a:blip r:embed="rId3">
            <a:alphaModFix/>
          </a:blip>
          <a:stretch>
            <a:fillRect/>
          </a:stretch>
        </p:blipFill>
        <p:spPr>
          <a:xfrm>
            <a:off x="791225" y="611399"/>
            <a:ext cx="8940526" cy="5943025"/>
          </a:xfrm>
          <a:prstGeom prst="rect">
            <a:avLst/>
          </a:prstGeom>
          <a:noFill/>
          <a:ln>
            <a:noFill/>
          </a:ln>
        </p:spPr>
      </p:pic>
    </p:spTree>
    <p:extLst>
      <p:ext uri="{BB962C8B-B14F-4D97-AF65-F5344CB8AC3E}">
        <p14:creationId xmlns:p14="http://schemas.microsoft.com/office/powerpoint/2010/main" val="199050590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91" name="Google Shape;191;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graphicFrame>
        <p:nvGraphicFramePr>
          <p:cNvPr id="192" name="Google Shape;192;g31ccdae391d_0_278"/>
          <p:cNvGraphicFramePr/>
          <p:nvPr/>
        </p:nvGraphicFramePr>
        <p:xfrm>
          <a:off x="558675" y="462325"/>
          <a:ext cx="10287000" cy="6141469"/>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1ea mới dùng cho tàu khai thác, đang đặt bù</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do </a:t>
                      </a:r>
                      <a:r>
                        <a:rPr lang="en-US" sz="1300">
                          <a:latin typeface="Times New Roman"/>
                          <a:ea typeface="Times New Roman"/>
                          <a:cs typeface="Times New Roman"/>
                          <a:sym typeface="Times New Roman"/>
                        </a:rPr>
                        <a:t>không có mức kho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giục STEA khối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04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1ea 2/6 nhập kho</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20/6 nhập kho 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93628890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9" name="Google Shape;199;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
        <p:nvSpPr>
          <p:cNvPr id="200" name="Google Shape;200;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29</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73</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17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30</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12</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43</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01" name="Google Shape;201;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2" name="Google Shape;202;g31ccdae391d_0_299"/>
          <p:cNvPicPr preferRelativeResize="0"/>
          <p:nvPr/>
        </p:nvPicPr>
        <p:blipFill>
          <a:blip r:embed="rId3">
            <a:alphaModFix/>
          </a:blip>
          <a:stretch>
            <a:fillRect/>
          </a:stretch>
        </p:blipFill>
        <p:spPr>
          <a:xfrm>
            <a:off x="2333625" y="1753799"/>
            <a:ext cx="7450599" cy="4527951"/>
          </a:xfrm>
          <a:prstGeom prst="rect">
            <a:avLst/>
          </a:prstGeom>
          <a:noFill/>
          <a:ln>
            <a:noFill/>
          </a:ln>
        </p:spPr>
      </p:pic>
    </p:spTree>
    <p:extLst>
      <p:ext uri="{BB962C8B-B14F-4D97-AF65-F5344CB8AC3E}">
        <p14:creationId xmlns:p14="http://schemas.microsoft.com/office/powerpoint/2010/main" val="127365608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9" name="Google Shape;209;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graphicFrame>
        <p:nvGraphicFramePr>
          <p:cNvPr id="210" name="Google Shape;210;g31ccdae391d_0_308"/>
          <p:cNvGraphicFramePr/>
          <p:nvPr>
            <p:extLst/>
          </p:nvPr>
        </p:nvGraphicFramePr>
        <p:xfrm>
          <a:off x="607288" y="787650"/>
          <a:ext cx="11227800" cy="4360600"/>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err="1">
                          <a:latin typeface="Times New Roman"/>
                          <a:ea typeface="Times New Roman"/>
                          <a:cs typeface="Times New Roman"/>
                          <a:sym typeface="Times New Roman"/>
                        </a:rPr>
                        <a:t>Không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03ea in stock</a:t>
                      </a:r>
                      <a:r>
                        <a:rPr lang="en-US" sz="1300" dirty="0" smtClean="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+ 03ea EDD 10Jul.</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+ 02ea chưa có EDD.</a:t>
                      </a:r>
                      <a:endParaRPr sz="130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03ea in stock.</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488204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7" name="Google Shape;217;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sp>
        <p:nvSpPr>
          <p:cNvPr id="218" name="Google Shape;218;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GWIV.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A864 - .AFT CARGO HANDLING SYSTEM IN/OUT IN CENTER LOADING PDU INOP: Joystick đã giao 07/06</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A863 - ELEC  ENGINE STARTER L2: đặt hàng CMSC, đàn làm việc với KLM để có hàng trong tuần 24.</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A866 - RH VACUUM BLOWER INOP: đã có Vacuum.</a:t>
            </a: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19" name="Google Shape;219;g31ccdae391d_0_315"/>
          <p:cNvPicPr preferRelativeResize="0"/>
          <p:nvPr/>
        </p:nvPicPr>
        <p:blipFill>
          <a:blip r:embed="rId3">
            <a:alphaModFix/>
          </a:blip>
          <a:stretch>
            <a:fillRect/>
          </a:stretch>
        </p:blipFill>
        <p:spPr>
          <a:xfrm>
            <a:off x="785813" y="2905125"/>
            <a:ext cx="10620375" cy="3028950"/>
          </a:xfrm>
          <a:prstGeom prst="rect">
            <a:avLst/>
          </a:prstGeom>
          <a:noFill/>
          <a:ln>
            <a:noFill/>
          </a:ln>
        </p:spPr>
      </p:pic>
    </p:spTree>
    <p:extLst>
      <p:ext uri="{BB962C8B-B14F-4D97-AF65-F5344CB8AC3E}">
        <p14:creationId xmlns:p14="http://schemas.microsoft.com/office/powerpoint/2010/main" val="19978760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6" name="Google Shape;226;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27" name="Google Shape;227;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49</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88</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14</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17</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35</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71</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8" name="Google Shape;228;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29" name="Google Shape;229;g31ccdae391d_0_323"/>
          <p:cNvPicPr preferRelativeResize="0"/>
          <p:nvPr/>
        </p:nvPicPr>
        <p:blipFill>
          <a:blip r:embed="rId3">
            <a:alphaModFix/>
          </a:blip>
          <a:stretch>
            <a:fillRect/>
          </a:stretch>
        </p:blipFill>
        <p:spPr>
          <a:xfrm>
            <a:off x="2357448" y="2136948"/>
            <a:ext cx="6589274" cy="4516274"/>
          </a:xfrm>
          <a:prstGeom prst="rect">
            <a:avLst/>
          </a:prstGeom>
          <a:noFill/>
          <a:ln>
            <a:noFill/>
          </a:ln>
        </p:spPr>
      </p:pic>
    </p:spTree>
    <p:extLst>
      <p:ext uri="{BB962C8B-B14F-4D97-AF65-F5344CB8AC3E}">
        <p14:creationId xmlns:p14="http://schemas.microsoft.com/office/powerpoint/2010/main" val="150277671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6" name="Google Shape;236;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237" name="Google Shape;237;g31ccdae391d_0_332"/>
          <p:cNvGraphicFramePr/>
          <p:nvPr>
            <p:extLst/>
          </p:nvPr>
        </p:nvGraphicFramePr>
        <p:xfrm>
          <a:off x="474783" y="301869"/>
          <a:ext cx="11561850" cy="6202091"/>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276476">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76476">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3023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Spoiler Servo control</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FCRM</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CA67003-018/020/025</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CA71323-016 / -015</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Spoiler Servo:</a:t>
                      </a:r>
                      <a:r>
                        <a:rPr lang="en-US" sz="1300" dirty="0">
                          <a:latin typeface="Times New Roman"/>
                          <a:ea typeface="Times New Roman"/>
                          <a:cs typeface="Times New Roman"/>
                          <a:sym typeface="Times New Roman"/>
                        </a:rPr>
                        <a:t> 01ea in stock</a:t>
                      </a:r>
                      <a:r>
                        <a:rPr lang="en-US" sz="1300" u="none" strike="noStrike" cap="none"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FCRM: </a:t>
                      </a:r>
                      <a:r>
                        <a:rPr lang="en-US" sz="1300" u="none" strike="noStrike" cap="none" dirty="0" smtClean="0">
                          <a:solidFill>
                            <a:schemeClr val="dk1"/>
                          </a:solidFill>
                          <a:latin typeface="Times New Roman"/>
                          <a:ea typeface="Times New Roman"/>
                          <a:cs typeface="Times New Roman"/>
                          <a:sym typeface="Times New Roman"/>
                        </a:rPr>
                        <a:t>0</a:t>
                      </a:r>
                      <a:r>
                        <a:rPr lang="en-US" sz="1300" u="none" strike="noStrike" cap="none" dirty="0">
                          <a:solidFill>
                            <a:schemeClr val="dk1"/>
                          </a:solidFill>
                          <a:latin typeface="Times New Roman"/>
                          <a:ea typeface="Times New Roman"/>
                          <a:cs typeface="Times New Roman"/>
                          <a:sym typeface="Times New Roman"/>
                        </a:rPr>
                        <a:t>6</a:t>
                      </a:r>
                      <a:r>
                        <a:rPr lang="en-US" sz="1300" dirty="0" smtClean="0">
                          <a:solidFill>
                            <a:schemeClr val="dk1"/>
                          </a:solidFill>
                          <a:latin typeface="Times New Roman"/>
                          <a:ea typeface="Times New Roman"/>
                          <a:cs typeface="Times New Roman"/>
                          <a:sym typeface="Times New Roman"/>
                        </a:rPr>
                        <a:t>e</a:t>
                      </a:r>
                      <a:r>
                        <a:rPr lang="en-US" sz="1300" u="none" strike="noStrike" cap="none" dirty="0" smtClean="0">
                          <a:solidFill>
                            <a:schemeClr val="dk1"/>
                          </a:solidFill>
                          <a:latin typeface="Times New Roman"/>
                          <a:ea typeface="Times New Roman"/>
                          <a:cs typeface="Times New Roman"/>
                          <a:sym typeface="Times New Roman"/>
                        </a:rPr>
                        <a:t>a </a:t>
                      </a:r>
                      <a:r>
                        <a:rPr lang="en-US" sz="1300" u="none" strike="noStrike" cap="none" dirty="0">
                          <a:solidFill>
                            <a:schemeClr val="dk1"/>
                          </a:solidFill>
                          <a:latin typeface="Times New Roman"/>
                          <a:ea typeface="Times New Roman"/>
                          <a:cs typeface="Times New Roman"/>
                          <a:sym typeface="Times New Roman"/>
                        </a:rPr>
                        <a:t>in stock</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dùng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thay</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thế</a:t>
                      </a:r>
                      <a:r>
                        <a:rPr lang="en-US" sz="1300" dirty="0">
                          <a:solidFill>
                            <a:schemeClr val="dk1"/>
                          </a:solidFill>
                          <a:latin typeface="Times New Roman"/>
                          <a:ea typeface="Times New Roman"/>
                          <a:cs typeface="Times New Roman"/>
                          <a:sym typeface="Times New Roman"/>
                        </a:rPr>
                        <a:t> AD).</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71889">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688-6/688-6-00-100</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09</a:t>
                      </a:r>
                      <a:r>
                        <a:rPr lang="en-US" sz="1300" u="none" strike="noStrike" cap="none">
                          <a:latin typeface="Times New Roman"/>
                          <a:ea typeface="Times New Roman"/>
                          <a:cs typeface="Times New Roman"/>
                          <a:sym typeface="Times New Roman"/>
                        </a:rPr>
                        <a:t> hỏng hóc + 0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NIL stock.</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0</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+ 05ea dự kiến release trong tháng 6.</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+ 05ea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3023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06</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93023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- 01ea VCRU in stock</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78656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X200100</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lượng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dịch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vụ</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TAT ở shop </a:t>
                      </a:r>
                      <a:r>
                        <a:rPr lang="en-US" sz="1300" dirty="0" err="1">
                          <a:latin typeface="Times New Roman"/>
                          <a:ea typeface="Times New Roman"/>
                          <a:cs typeface="Times New Roman"/>
                          <a:sym typeface="Times New Roman"/>
                        </a:rPr>
                        <a:t>rất</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dài</a:t>
                      </a:r>
                      <a:r>
                        <a:rPr lang="en-US" sz="1300" dirty="0">
                          <a:latin typeface="Times New Roman"/>
                          <a:ea typeface="Times New Roman"/>
                          <a:cs typeface="Times New Roman"/>
                          <a:sym typeface="Times New Roman"/>
                        </a:rPr>
                        <a:t> do </a:t>
                      </a:r>
                      <a:r>
                        <a:rPr lang="en-US" sz="1300" dirty="0" err="1">
                          <a:latin typeface="Times New Roman"/>
                          <a:ea typeface="Times New Roman"/>
                          <a:cs typeface="Times New Roman"/>
                          <a:sym typeface="Times New Roman"/>
                        </a:rPr>
                        <a:t>thiếu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hụt</a:t>
                      </a:r>
                      <a:r>
                        <a:rPr lang="en-US" sz="1300" dirty="0">
                          <a:latin typeface="Times New Roman"/>
                          <a:ea typeface="Times New Roman"/>
                          <a:cs typeface="Times New Roman"/>
                          <a:sym typeface="Times New Roman"/>
                        </a:rPr>
                        <a:t> sub part </a:t>
                      </a:r>
                      <a:r>
                        <a:rPr lang="en-US" sz="1300" dirty="0" err="1">
                          <a:latin typeface="Times New Roman"/>
                          <a:ea typeface="Times New Roman"/>
                          <a:cs typeface="Times New Roman"/>
                          <a:sym typeface="Times New Roman"/>
                        </a:rPr>
                        <a:t>sửa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chữa</a:t>
                      </a:r>
                      <a:r>
                        <a:rPr lang="en-US" sz="1300" dirty="0">
                          <a:latin typeface="Times New Roman"/>
                          <a:ea typeface="Times New Roman"/>
                          <a:cs typeface="Times New Roman"/>
                          <a:sym typeface="Times New Roman"/>
                        </a:rPr>
                        <a:t> (PMSD). </a:t>
                      </a:r>
                      <a:r>
                        <a:rPr lang="en-US" sz="1300" dirty="0" err="1">
                          <a:latin typeface="Times New Roman"/>
                          <a:ea typeface="Times New Roman"/>
                          <a:cs typeface="Times New Roman"/>
                          <a:sym typeface="Times New Roman"/>
                        </a:rPr>
                        <a:t>Safran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dự</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kiến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cuối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tháng</a:t>
                      </a:r>
                      <a:r>
                        <a:rPr lang="en-US" sz="1300" dirty="0">
                          <a:latin typeface="Times New Roman"/>
                          <a:ea typeface="Times New Roman"/>
                          <a:cs typeface="Times New Roman"/>
                          <a:sym typeface="Times New Roman"/>
                        </a:rPr>
                        <a:t> 4 </a:t>
                      </a:r>
                      <a:r>
                        <a:rPr lang="en-US" sz="1300" dirty="0" err="1">
                          <a:latin typeface="Times New Roman"/>
                          <a:ea typeface="Times New Roman"/>
                          <a:cs typeface="Times New Roman"/>
                          <a:sym typeface="Times New Roman"/>
                        </a:rPr>
                        <a:t>mới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PMSD </a:t>
                      </a:r>
                      <a:r>
                        <a:rPr lang="en-US" sz="1300" dirty="0" err="1">
                          <a:latin typeface="Times New Roman"/>
                          <a:ea typeface="Times New Roman"/>
                          <a:cs typeface="Times New Roman"/>
                          <a:sym typeface="Times New Roman"/>
                        </a:rPr>
                        <a:t>cho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sửa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chữa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Mặc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dù</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đã</a:t>
                      </a:r>
                      <a:r>
                        <a:rPr lang="en-US" sz="1300" dirty="0">
                          <a:latin typeface="Times New Roman"/>
                          <a:ea typeface="Times New Roman"/>
                          <a:cs typeface="Times New Roman"/>
                          <a:sym typeface="Times New Roman"/>
                        </a:rPr>
                        <a:t> rob 20ea oven </a:t>
                      </a:r>
                      <a:r>
                        <a:rPr lang="en-US" sz="1300" dirty="0" err="1">
                          <a:latin typeface="Times New Roman"/>
                          <a:ea typeface="Times New Roman"/>
                          <a:cs typeface="Times New Roman"/>
                          <a:sym typeface="Times New Roman"/>
                        </a:rPr>
                        <a:t>từ</a:t>
                      </a:r>
                      <a:r>
                        <a:rPr lang="en-US" sz="1300" dirty="0">
                          <a:latin typeface="Times New Roman"/>
                          <a:ea typeface="Times New Roman"/>
                          <a:cs typeface="Times New Roman"/>
                          <a:sym typeface="Times New Roman"/>
                        </a:rPr>
                        <a:t> 02 </a:t>
                      </a:r>
                      <a:r>
                        <a:rPr lang="en-US" sz="1300" dirty="0" err="1">
                          <a:latin typeface="Times New Roman"/>
                          <a:ea typeface="Times New Roman"/>
                          <a:cs typeface="Times New Roman"/>
                          <a:sym typeface="Times New Roman"/>
                        </a:rPr>
                        <a:t>tàu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bảo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quản</a:t>
                      </a:r>
                      <a:r>
                        <a:rPr lang="en-US" sz="1300" dirty="0">
                          <a:latin typeface="Times New Roman"/>
                          <a:ea typeface="Times New Roman"/>
                          <a:cs typeface="Times New Roman"/>
                          <a:sym typeface="Times New Roman"/>
                        </a:rPr>
                        <a:t> A886 </a:t>
                      </a:r>
                      <a:r>
                        <a:rPr lang="en-US" sz="1300" dirty="0" err="1">
                          <a:latin typeface="Times New Roman"/>
                          <a:ea typeface="Times New Roman"/>
                          <a:cs typeface="Times New Roman"/>
                          <a:sym typeface="Times New Roman"/>
                        </a:rPr>
                        <a:t>và</a:t>
                      </a:r>
                      <a:r>
                        <a:rPr lang="en-US" sz="1300" dirty="0">
                          <a:latin typeface="Times New Roman"/>
                          <a:ea typeface="Times New Roman"/>
                          <a:cs typeface="Times New Roman"/>
                          <a:sym typeface="Times New Roman"/>
                        </a:rPr>
                        <a:t> A887 </a:t>
                      </a:r>
                      <a:r>
                        <a:rPr lang="en-US" sz="1300" dirty="0" err="1">
                          <a:latin typeface="Times New Roman"/>
                          <a:ea typeface="Times New Roman"/>
                          <a:cs typeface="Times New Roman"/>
                          <a:sym typeface="Times New Roman"/>
                        </a:rPr>
                        <a:t>nhưng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vẫn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còn</a:t>
                      </a:r>
                      <a:r>
                        <a:rPr lang="en-US" sz="1300" dirty="0">
                          <a:latin typeface="Times New Roman"/>
                          <a:ea typeface="Times New Roman"/>
                          <a:cs typeface="Times New Roman"/>
                          <a:sym typeface="Times New Roman"/>
                        </a:rPr>
                        <a:t> 04 </a:t>
                      </a: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nhưng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hiện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sẽ</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giữ</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lại</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toàn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bộ</a:t>
                      </a:r>
                      <a:r>
                        <a:rPr lang="en-US" sz="1300" dirty="0">
                          <a:latin typeface="Times New Roman"/>
                          <a:ea typeface="Times New Roman"/>
                          <a:cs typeface="Times New Roman"/>
                          <a:sym typeface="Times New Roman"/>
                        </a:rPr>
                        <a:t> oven </a:t>
                      </a:r>
                      <a:r>
                        <a:rPr lang="en-US" sz="1300" dirty="0" err="1">
                          <a:latin typeface="Times New Roman"/>
                          <a:ea typeface="Times New Roman"/>
                          <a:cs typeface="Times New Roman"/>
                          <a:sym typeface="Times New Roman"/>
                        </a:rPr>
                        <a:t>tỏng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kho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và</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xuất</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trả</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cho</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tàu</a:t>
                      </a:r>
                      <a:r>
                        <a:rPr lang="en-US" sz="1300" dirty="0">
                          <a:latin typeface="Times New Roman"/>
                          <a:ea typeface="Times New Roman"/>
                          <a:cs typeface="Times New Roman"/>
                          <a:sym typeface="Times New Roman"/>
                        </a:rPr>
                        <a:t> BQ </a:t>
                      </a:r>
                      <a:r>
                        <a:rPr lang="en-US" sz="1300" dirty="0" err="1">
                          <a:latin typeface="Times New Roman"/>
                          <a:ea typeface="Times New Roman"/>
                          <a:cs typeface="Times New Roman"/>
                          <a:sym typeface="Times New Roman"/>
                        </a:rPr>
                        <a:t>trước</a:t>
                      </a:r>
                      <a:r>
                        <a:rPr lang="en-US" sz="1300"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Từ</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đầu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năm</a:t>
                      </a:r>
                      <a:r>
                        <a:rPr lang="en-US" sz="1300" dirty="0">
                          <a:latin typeface="Times New Roman"/>
                          <a:ea typeface="Times New Roman"/>
                          <a:cs typeface="Times New Roman"/>
                          <a:sym typeface="Times New Roman"/>
                        </a:rPr>
                        <a:t> 2025 </a:t>
                      </a:r>
                      <a:r>
                        <a:rPr lang="en-US" sz="1300" dirty="0" err="1">
                          <a:latin typeface="Times New Roman"/>
                          <a:ea typeface="Times New Roman"/>
                          <a:cs typeface="Times New Roman"/>
                          <a:sym typeface="Times New Roman"/>
                        </a:rPr>
                        <a:t>yêu</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cầu</a:t>
                      </a:r>
                      <a:r>
                        <a:rPr lang="en-US" sz="1300" dirty="0">
                          <a:latin typeface="Times New Roman"/>
                          <a:ea typeface="Times New Roman"/>
                          <a:cs typeface="Times New Roman"/>
                          <a:sym typeface="Times New Roman"/>
                        </a:rPr>
                        <a:t> </a:t>
                      </a:r>
                      <a:r>
                        <a:rPr lang="en-US" sz="1300" dirty="0" smtClean="0">
                          <a:latin typeface="Times New Roman"/>
                          <a:ea typeface="Times New Roman"/>
                          <a:cs typeface="Times New Roman"/>
                          <a:sym typeface="Times New Roman"/>
                        </a:rPr>
                        <a:t>31ea.</a:t>
                      </a:r>
                      <a:endParaRPr sz="1300"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NIL stock. </a:t>
                      </a:r>
                      <a:r>
                        <a:rPr lang="en-US" sz="1300" dirty="0" err="1">
                          <a:solidFill>
                            <a:schemeClr val="dk1"/>
                          </a:solidFill>
                          <a:latin typeface="Times New Roman"/>
                          <a:ea typeface="Times New Roman"/>
                          <a:cs typeface="Times New Roman"/>
                          <a:sym typeface="Times New Roman"/>
                        </a:rPr>
                        <a:t>Đã</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đủ</a:t>
                      </a:r>
                      <a:r>
                        <a:rPr lang="en-US" sz="1300" dirty="0">
                          <a:solidFill>
                            <a:schemeClr val="dk1"/>
                          </a:solidFill>
                          <a:latin typeface="Times New Roman"/>
                          <a:ea typeface="Times New Roman"/>
                          <a:cs typeface="Times New Roman"/>
                          <a:sym typeface="Times New Roman"/>
                        </a:rPr>
                        <a:t> 12ea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A887 </a:t>
                      </a:r>
                      <a:r>
                        <a:rPr lang="en-US" sz="1300" dirty="0" err="1">
                          <a:solidFill>
                            <a:schemeClr val="dk1"/>
                          </a:solidFill>
                          <a:latin typeface="Times New Roman"/>
                          <a:ea typeface="Times New Roman"/>
                          <a:cs typeface="Times New Roman"/>
                          <a:sym typeface="Times New Roman"/>
                        </a:rPr>
                        <a:t>phá</a:t>
                      </a:r>
                      <a:r>
                        <a:rPr lang="en-US" sz="1300" dirty="0">
                          <a:solidFill>
                            <a:schemeClr val="dk1"/>
                          </a:solidFill>
                          <a:latin typeface="Times New Roman"/>
                          <a:ea typeface="Times New Roman"/>
                          <a:cs typeface="Times New Roman"/>
                          <a:sym typeface="Times New Roman"/>
                        </a:rPr>
                        <a:t> BQ, </a:t>
                      </a:r>
                      <a:r>
                        <a:rPr lang="en-US" sz="1300" dirty="0" err="1">
                          <a:solidFill>
                            <a:schemeClr val="dk1"/>
                          </a:solidFill>
                          <a:latin typeface="Times New Roman"/>
                          <a:ea typeface="Times New Roman"/>
                          <a:cs typeface="Times New Roman"/>
                          <a:sym typeface="Times New Roman"/>
                        </a:rPr>
                        <a:t>tiếp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giục</a:t>
                      </a:r>
                      <a:r>
                        <a:rPr lang="en-US" sz="1300" dirty="0">
                          <a:solidFill>
                            <a:schemeClr val="dk1"/>
                          </a:solidFill>
                          <a:latin typeface="Times New Roman"/>
                          <a:ea typeface="Times New Roman"/>
                          <a:cs typeface="Times New Roman"/>
                          <a:sym typeface="Times New Roman"/>
                        </a:rPr>
                        <a:t> 12ea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A886 RTS </a:t>
                      </a:r>
                      <a:r>
                        <a:rPr lang="en-US" sz="1300" dirty="0" err="1">
                          <a:solidFill>
                            <a:schemeClr val="dk1"/>
                          </a:solidFill>
                          <a:latin typeface="Times New Roman"/>
                          <a:ea typeface="Times New Roman"/>
                          <a:cs typeface="Times New Roman"/>
                          <a:sym typeface="Times New Roman"/>
                        </a:rPr>
                        <a:t>cuối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tháng</a:t>
                      </a:r>
                      <a:r>
                        <a:rPr lang="en-US" sz="1300" dirty="0">
                          <a:solidFill>
                            <a:schemeClr val="dk1"/>
                          </a:solidFill>
                          <a:latin typeface="Times New Roman"/>
                          <a:ea typeface="Times New Roman"/>
                          <a:cs typeface="Times New Roman"/>
                          <a:sym typeface="Times New Roman"/>
                        </a:rPr>
                        <a:t> 6.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oven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ưu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tiên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t>
                      </a:r>
                      <a:r>
                        <a:rPr lang="en-US" sz="1300" dirty="0" err="1">
                          <a:solidFill>
                            <a:schemeClr val="dk1"/>
                          </a:solidFill>
                          <a:latin typeface="Times New Roman"/>
                          <a:ea typeface="Times New Roman"/>
                          <a:cs typeface="Times New Roman"/>
                          <a:sym typeface="Times New Roman"/>
                        </a:rPr>
                        <a:t>trước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tạm</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thời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issue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khai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thác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hỏng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hóc</a:t>
                      </a:r>
                      <a:r>
                        <a:rPr lang="en-US" sz="1300" dirty="0">
                          <a:solidFill>
                            <a:schemeClr val="dk1"/>
                          </a:solidFill>
                          <a:latin typeface="Times New Roman"/>
                          <a:ea typeface="Times New Roman"/>
                          <a:cs typeface="Times New Roman"/>
                          <a:sym typeface="Times New Roman"/>
                        </a:rPr>
                        <a:t>..</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0302448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4" name="Google Shape;244;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sp>
        <p:nvSpPr>
          <p:cNvPr id="245" name="Google Shape;245;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Hỏng hóc hệ thống flight control vẫn nhiều, vẫn chưa giảm.</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A888, A892, A898 - CHILLER SYS INOP: đặt hàng VCRU, 01ea in stock + 02ea chưa có EDD.</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A893 - CHILLER AT AFT CREWREST INOP: cần I/O CON-TROLLER và SWITCH PANEL, đang đặt hàng.</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46" name="Google Shape;246;g31ccdae391d_0_339"/>
          <p:cNvPicPr preferRelativeResize="0"/>
          <p:nvPr/>
        </p:nvPicPr>
        <p:blipFill>
          <a:blip r:embed="rId3">
            <a:alphaModFix/>
          </a:blip>
          <a:stretch>
            <a:fillRect/>
          </a:stretch>
        </p:blipFill>
        <p:spPr>
          <a:xfrm>
            <a:off x="785813" y="2909888"/>
            <a:ext cx="10620375" cy="1952625"/>
          </a:xfrm>
          <a:prstGeom prst="rect">
            <a:avLst/>
          </a:prstGeom>
          <a:noFill/>
          <a:ln>
            <a:noFill/>
          </a:ln>
        </p:spPr>
      </p:pic>
    </p:spTree>
    <p:extLst>
      <p:ext uri="{BB962C8B-B14F-4D97-AF65-F5344CB8AC3E}">
        <p14:creationId xmlns:p14="http://schemas.microsoft.com/office/powerpoint/2010/main" val="355712522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3" name="Google Shape;253;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graphicFrame>
        <p:nvGraphicFramePr>
          <p:cNvPr id="254" name="Google Shape;254;g31ccdae391d_0_347"/>
          <p:cNvGraphicFramePr/>
          <p:nvPr/>
        </p:nvGraphicFramePr>
        <p:xfrm>
          <a:off x="439614" y="221847"/>
          <a:ext cx="11611325" cy="642753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06</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br>
                        <a:rPr lang="en-US" sz="1400" u="none" strike="noStrike" cap="none">
                          <a:solidFill>
                            <a:schemeClr val="dk1"/>
                          </a:solidFill>
                          <a:latin typeface="Times New Roman"/>
                          <a:ea typeface="Times New Roman"/>
                          <a:cs typeface="Times New Roman"/>
                          <a:sym typeface="Times New Roman"/>
                        </a:rPr>
                      </a:br>
                      <a:r>
                        <a:rPr lang="en-US" sz="1400" u="none" strike="noStrike" cap="none">
                          <a:solidFill>
                            <a:schemeClr val="dk1"/>
                          </a:solidFill>
                          <a:latin typeface="Times New Roman"/>
                          <a:ea typeface="Times New Roman"/>
                          <a:cs typeface="Times New Roman"/>
                          <a:sym typeface="Times New Roman"/>
                        </a:rPr>
                        <a:t>01PO: </a:t>
                      </a:r>
                      <a:r>
                        <a:rPr lang="en-US">
                          <a:solidFill>
                            <a:schemeClr val="dk1"/>
                          </a:solidFill>
                          <a:latin typeface="Times New Roman"/>
                          <a:ea typeface="Times New Roman"/>
                          <a:cs typeface="Times New Roman"/>
                          <a:sym typeface="Times New Roman"/>
                        </a:rPr>
                        <a:t>EST 15/06</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01RO: issued ngày 27/05. Đang thu xếp v/c sang shop làm OH</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5952564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1" name="Google Shape;261;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262" name="Google Shape;262;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04ea in stock + 01ea FAK Nga+01 VIP kit. Dự kiến tuần 24 có 02 ea về.</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03ea in stock. Dự kiến tuần 24 VSTEA xuất xưởng thêm 2 ea.</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04ea in stock. trong tuần 24 dự kiến sẽ có thêm 05ea.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086154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9" name="Google Shape;269;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270" name="Google Shape;270;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22/01).</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NIL</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7</a:t>
            </a:r>
            <a:r>
              <a:rPr lang="en-US" sz="1500" b="0" i="0" u="none" strike="noStrike" cap="none" dirty="0">
                <a:solidFill>
                  <a:schemeClr val="dk1"/>
                </a:solidFill>
                <a:highlight>
                  <a:schemeClr val="lt1"/>
                </a:highlight>
                <a:latin typeface="Times New Roman"/>
                <a:ea typeface="Times New Roman"/>
                <a:cs typeface="Times New Roman"/>
                <a:sym typeface="Times New Roman"/>
              </a:rPr>
              <a:t>ea (0</a:t>
            </a:r>
            <a:r>
              <a:rPr lang="en-US" sz="1500" dirty="0">
                <a:solidFill>
                  <a:schemeClr val="dk1"/>
                </a:solidFill>
                <a:highlight>
                  <a:schemeClr val="lt1"/>
                </a:highlight>
                <a:latin typeface="Times New Roman"/>
                <a:ea typeface="Times New Roman"/>
                <a:cs typeface="Times New Roman"/>
                <a:sym typeface="Times New Roman"/>
              </a:rPr>
              <a:t>3</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21317, 21048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21201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a:t>
            </a:r>
            <a:r>
              <a:rPr lang="en-US" sz="1500" dirty="0" err="1">
                <a:solidFill>
                  <a:schemeClr val="dk1"/>
                </a:solidFill>
                <a:highlight>
                  <a:schemeClr val="lt1"/>
                </a:highlight>
                <a:latin typeface="Times New Roman"/>
                <a:ea typeface="Times New Roman"/>
                <a:cs typeface="Times New Roman"/>
                <a:sym typeface="Times New Roman"/>
              </a:rPr>
              <a:t>à</a:t>
            </a:r>
            <a:r>
              <a:rPr lang="en-US" sz="1500" dirty="0">
                <a:solidFill>
                  <a:schemeClr val="dk1"/>
                </a:solidFill>
                <a:highlight>
                  <a:schemeClr val="lt1"/>
                </a:highlight>
                <a:latin typeface="Times New Roman"/>
                <a:ea typeface="Times New Roman"/>
                <a:cs typeface="Times New Roman"/>
                <a:sym typeface="Times New Roman"/>
              </a:rPr>
              <a:t> 03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SEASL 21584, 21414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21604</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dirty="0">
                <a:solidFill>
                  <a:schemeClr val="dk1"/>
                </a:solidFill>
                <a:highlight>
                  <a:schemeClr val="lt1"/>
                </a:highlight>
                <a:latin typeface="Times New Roman"/>
                <a:ea typeface="Times New Roman"/>
                <a:cs typeface="Times New Roman"/>
                <a:sym typeface="Times New Roman"/>
              </a:rPr>
              <a:t>. </a:t>
            </a:r>
            <a:endParaRPr sz="1500"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a:solidFill>
                  <a:schemeClr val="dk1"/>
                </a:solidFill>
                <a:highlight>
                  <a:schemeClr val="lt1"/>
                </a:highlight>
                <a:latin typeface="Times New Roman"/>
                <a:ea typeface="Times New Roman"/>
                <a:cs typeface="Times New Roman"/>
                <a:sym typeface="Times New Roman"/>
              </a:rPr>
              <a:t>02 ENG </a:t>
            </a:r>
            <a:r>
              <a:rPr lang="en-US" sz="1500" dirty="0" err="1">
                <a:solidFill>
                  <a:schemeClr val="dk1"/>
                </a:solidFill>
                <a:highlight>
                  <a:schemeClr val="lt1"/>
                </a:highlight>
                <a:latin typeface="Times New Roman"/>
                <a:ea typeface="Times New Roman"/>
                <a:cs typeface="Times New Roman"/>
                <a:sym typeface="Times New Roman"/>
              </a:rPr>
              <a:t>cho</a:t>
            </a:r>
            <a:r>
              <a:rPr lang="en-US" sz="1500" dirty="0">
                <a:solidFill>
                  <a:schemeClr val="dk1"/>
                </a:solidFill>
                <a:highlight>
                  <a:schemeClr val="lt1"/>
                </a:highlight>
                <a:latin typeface="Times New Roman"/>
                <a:ea typeface="Times New Roman"/>
                <a:cs typeface="Times New Roman"/>
                <a:sym typeface="Times New Roman"/>
              </a:rPr>
              <a:t> A886 </a:t>
            </a:r>
            <a:r>
              <a:rPr lang="en-US" sz="1500" dirty="0" err="1">
                <a:solidFill>
                  <a:schemeClr val="dk1"/>
                </a:solidFill>
                <a:highlight>
                  <a:schemeClr val="lt1"/>
                </a:highlight>
                <a:latin typeface="Times New Roman"/>
                <a:ea typeface="Times New Roman"/>
                <a:cs typeface="Times New Roman"/>
                <a:sym typeface="Times New Roman"/>
              </a:rPr>
              <a:t>phá</a:t>
            </a:r>
            <a:r>
              <a:rPr lang="en-US" sz="1500" dirty="0">
                <a:solidFill>
                  <a:schemeClr val="dk1"/>
                </a:solidFill>
                <a:highlight>
                  <a:schemeClr val="lt1"/>
                </a:highlight>
                <a:latin typeface="Times New Roman"/>
                <a:ea typeface="Times New Roman"/>
                <a:cs typeface="Times New Roman"/>
                <a:sym typeface="Times New Roman"/>
              </a:rPr>
              <a:t> BQ: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15/06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25/06.</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10</a:t>
            </a:r>
            <a:r>
              <a:rPr lang="en-US" sz="1500" b="0" i="0" u="none" strike="noStrike" cap="none" dirty="0">
                <a:solidFill>
                  <a:schemeClr val="dk1"/>
                </a:solidFill>
                <a:highlight>
                  <a:schemeClr val="lt1"/>
                </a:highlight>
                <a:latin typeface="Times New Roman"/>
                <a:ea typeface="Times New Roman"/>
                <a:cs typeface="Times New Roman"/>
                <a:sym typeface="Times New Roman"/>
              </a:rPr>
              <a:t>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6</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M</a:t>
            </a:r>
            <a:r>
              <a:rPr lang="en-US" sz="1500" dirty="0">
                <a:solidFill>
                  <a:schemeClr val="dk1"/>
                </a:solidFill>
                <a:highlight>
                  <a:schemeClr val="lt1"/>
                </a:highlight>
                <a:latin typeface="Times New Roman"/>
                <a:ea typeface="Times New Roman"/>
                <a:cs typeface="Times New Roman"/>
                <a:sym typeface="Times New Roman"/>
              </a:rPr>
              <a:t>ar/2025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4</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  9565</a:t>
            </a:r>
            <a:r>
              <a:rPr lang="en-US" sz="1500" dirty="0">
                <a:solidFill>
                  <a:schemeClr val="dk1"/>
                </a:solidFill>
                <a:highlight>
                  <a:schemeClr val="lt1"/>
                </a:highlight>
                <a:latin typeface="Times New Roman"/>
                <a:ea typeface="Times New Roman"/>
                <a:cs typeface="Times New Roman"/>
                <a:sym typeface="Times New Roman"/>
              </a:rPr>
              <a:t>69</a:t>
            </a:r>
            <a:r>
              <a:rPr lang="en-US" sz="1500" b="0" i="0" u="none" strike="noStrike" cap="none" dirty="0">
                <a:solidFill>
                  <a:schemeClr val="dk1"/>
                </a:solidFill>
                <a:highlight>
                  <a:schemeClr val="lt1"/>
                </a:highlight>
                <a:latin typeface="Times New Roman"/>
                <a:ea typeface="Times New Roman"/>
                <a:cs typeface="Times New Roman"/>
                <a:sym typeface="Times New Roman"/>
              </a:rPr>
              <a:t>, 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 956534.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956569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15/6/2025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chuyển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SGN 25/7/2025.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956569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15/6/2025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chuyển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SGN 25/06/2025</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GE shop: 958398 </a:t>
            </a:r>
            <a:r>
              <a:rPr lang="en-US" sz="1500" dirty="0" err="1" smtClean="0">
                <a:solidFill>
                  <a:schemeClr val="dk1"/>
                </a:solidFill>
                <a:highlight>
                  <a:schemeClr val="lt1"/>
                </a:highlight>
                <a:latin typeface="Times New Roman"/>
                <a:ea typeface="Times New Roman"/>
                <a:cs typeface="Times New Roman"/>
                <a:sym typeface="Times New Roman"/>
              </a:rPr>
              <a:t>đã</a:t>
            </a:r>
            <a:r>
              <a:rPr lang="en-US" sz="1500" dirty="0" smtClean="0">
                <a:solidFill>
                  <a:schemeClr val="dk1"/>
                </a:solidFill>
                <a:highlight>
                  <a:schemeClr val="lt1"/>
                </a:highlight>
                <a:latin typeface="Times New Roman"/>
                <a:ea typeface="Times New Roman"/>
                <a:cs typeface="Times New Roman"/>
                <a:sym typeface="Times New Roman"/>
              </a:rPr>
              <a:t> </a:t>
            </a:r>
            <a:r>
              <a:rPr lang="en-US" sz="1500" dirty="0" err="1" smtClean="0">
                <a:solidFill>
                  <a:schemeClr val="dk1"/>
                </a:solidFill>
                <a:highlight>
                  <a:schemeClr val="lt1"/>
                </a:highlight>
                <a:latin typeface="Times New Roman"/>
                <a:ea typeface="Times New Roman"/>
                <a:cs typeface="Times New Roman"/>
                <a:sym typeface="Times New Roman"/>
              </a:rPr>
              <a:t>giao</a:t>
            </a:r>
            <a:r>
              <a:rPr lang="en-US" sz="1500" dirty="0" smtClean="0">
                <a:solidFill>
                  <a:schemeClr val="dk1"/>
                </a:solidFill>
                <a:highlight>
                  <a:schemeClr val="lt1"/>
                </a:highlight>
                <a:latin typeface="Times New Roman"/>
                <a:ea typeface="Times New Roman"/>
                <a:cs typeface="Times New Roman"/>
                <a:sym typeface="Times New Roman"/>
              </a:rPr>
              <a:t> SGN </a:t>
            </a:r>
            <a:r>
              <a:rPr lang="en-US" sz="1500" dirty="0">
                <a:solidFill>
                  <a:schemeClr val="dk1"/>
                </a:solidFill>
                <a:highlight>
                  <a:schemeClr val="lt1"/>
                </a:highlight>
                <a:latin typeface="Times New Roman"/>
                <a:ea typeface="Times New Roman"/>
                <a:cs typeface="Times New Roman"/>
                <a:sym typeface="Times New Roman"/>
              </a:rPr>
              <a:t>06/06/2025.</a:t>
            </a: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a:t>
            </a:r>
            <a:r>
              <a:rPr lang="en-US" sz="1500" dirty="0">
                <a:highlight>
                  <a:schemeClr val="lt1"/>
                </a:highlight>
                <a:latin typeface="Times New Roman"/>
                <a:ea typeface="Times New Roman"/>
                <a:cs typeface="Times New Roman"/>
                <a:sym typeface="Times New Roman"/>
              </a:rPr>
              <a:t>6</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956626, 956980)</a:t>
            </a:r>
            <a:r>
              <a:rPr lang="en-US" sz="1500" dirty="0">
                <a:highlight>
                  <a:schemeClr val="lt1"/>
                </a:highlight>
                <a:latin typeface="Times New Roman"/>
                <a:ea typeface="Times New Roman"/>
                <a:cs typeface="Times New Roman"/>
                <a:sym typeface="Times New Roman"/>
              </a:rPr>
              <a:t> trong </a:t>
            </a:r>
            <a:r>
              <a:rPr lang="en-US" sz="1500" dirty="0" err="1">
                <a:highlight>
                  <a:schemeClr val="lt1"/>
                </a:highlight>
                <a:latin typeface="Times New Roman"/>
                <a:ea typeface="Times New Roman"/>
                <a:cs typeface="Times New Roman"/>
                <a:sym typeface="Times New Roman"/>
              </a:rPr>
              <a:t>đó</a:t>
            </a:r>
            <a:r>
              <a:rPr lang="en-US" sz="1500" dirty="0">
                <a:highlight>
                  <a:schemeClr val="lt1"/>
                </a:highlight>
                <a:latin typeface="Times New Roman"/>
                <a:ea typeface="Times New Roman"/>
                <a:cs typeface="Times New Roman"/>
                <a:sym typeface="Times New Roman"/>
              </a:rPr>
              <a:t> 956980 </a:t>
            </a:r>
            <a:r>
              <a:rPr lang="en-US" sz="1500" dirty="0" err="1">
                <a:highlight>
                  <a:schemeClr val="lt1"/>
                </a:highlight>
                <a:latin typeface="Times New Roman"/>
                <a:ea typeface="Times New Roman"/>
                <a:cs typeface="Times New Roman"/>
                <a:sym typeface="Times New Roman"/>
              </a:rPr>
              <a:t>mới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do 01 </a:t>
            </a:r>
            <a:r>
              <a:rPr lang="en-US" sz="1500" dirty="0" err="1">
                <a:highlight>
                  <a:schemeClr val="lt1"/>
                </a:highlight>
                <a:latin typeface="Times New Roman"/>
                <a:ea typeface="Times New Roman"/>
                <a:cs typeface="Times New Roman"/>
                <a:sym typeface="Times New Roman"/>
              </a:rPr>
              <a:t>đc</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trên</a:t>
            </a:r>
            <a:r>
              <a:rPr lang="en-US" sz="1500" dirty="0">
                <a:highlight>
                  <a:schemeClr val="lt1"/>
                </a:highlight>
                <a:latin typeface="Times New Roman"/>
                <a:ea typeface="Times New Roman"/>
                <a:cs typeface="Times New Roman"/>
                <a:sym typeface="Times New Roman"/>
              </a:rPr>
              <a:t> A868 </a:t>
            </a:r>
            <a:r>
              <a:rPr lang="en-US" sz="1500" dirty="0" err="1">
                <a:highlight>
                  <a:schemeClr val="lt1"/>
                </a:highlight>
                <a:latin typeface="Times New Roman"/>
                <a:ea typeface="Times New Roman"/>
                <a:cs typeface="Times New Roman"/>
                <a:sym typeface="Times New Roman"/>
              </a:rPr>
              <a:t>phải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tháo</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đầu</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tháng</a:t>
            </a:r>
            <a:r>
              <a:rPr lang="en-US" sz="1500" dirty="0">
                <a:highlight>
                  <a:schemeClr val="lt1"/>
                </a:highlight>
                <a:latin typeface="Times New Roman"/>
                <a:ea typeface="Times New Roman"/>
                <a:cs typeface="Times New Roman"/>
                <a:sym typeface="Times New Roman"/>
              </a:rPr>
              <a:t> 4/2025</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endParaRPr sz="15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959124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7" name="Google Shape;277;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78" name="Google Shape;278;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02ea V16049, V15935</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US đang chuyển đi shop: 01ea V15876</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09ea </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động cơ đang cho K6 thuê: 01ea (V12505)</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8298657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5" name="Google Shape;285;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86" name="Google Shape;286;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87" name="Google Shape;287;g31ccdae391d_0_375"/>
          <p:cNvPicPr preferRelativeResize="0"/>
          <p:nvPr/>
        </p:nvPicPr>
        <p:blipFill>
          <a:blip r:embed="rId3">
            <a:alphaModFix/>
          </a:blip>
          <a:stretch>
            <a:fillRect/>
          </a:stretch>
        </p:blipFill>
        <p:spPr>
          <a:xfrm>
            <a:off x="459225" y="1378813"/>
            <a:ext cx="11732774" cy="3711475"/>
          </a:xfrm>
          <a:prstGeom prst="rect">
            <a:avLst/>
          </a:prstGeom>
          <a:noFill/>
          <a:ln>
            <a:noFill/>
          </a:ln>
        </p:spPr>
      </p:pic>
    </p:spTree>
    <p:extLst>
      <p:ext uri="{BB962C8B-B14F-4D97-AF65-F5344CB8AC3E}">
        <p14:creationId xmlns:p14="http://schemas.microsoft.com/office/powerpoint/2010/main" val="283720491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94" name="Google Shape;294;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dirty="0">
                <a:solidFill>
                  <a:srgbClr val="FF0000"/>
                </a:solidFill>
                <a:latin typeface="Times New Roman"/>
                <a:ea typeface="Times New Roman"/>
                <a:cs typeface="Times New Roman"/>
                <a:sym typeface="Times New Roman"/>
              </a:rPr>
              <a:t>- Đội bay A321 Neo:</a:t>
            </a: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05ea (2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SLB), 2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01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của</a:t>
            </a:r>
            <a:r>
              <a:rPr lang="en-US" sz="1500" b="0" i="0" u="none" strike="noStrike" cap="none" dirty="0">
                <a:solidFill>
                  <a:schemeClr val="dk1"/>
                </a:solidFill>
                <a:latin typeface="Times New Roman"/>
                <a:ea typeface="Times New Roman"/>
                <a:cs typeface="Times New Roman"/>
                <a:sym typeface="Times New Roman"/>
              </a:rPr>
              <a:t> PW).</a:t>
            </a:r>
            <a:endParaRPr sz="1500" b="0" i="0" u="none" strike="noStrike" cap="none" dirty="0">
              <a:solidFill>
                <a:schemeClr val="dk1"/>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trong </a:t>
            </a:r>
            <a:r>
              <a:rPr lang="en-US" sz="1500" b="0" i="0" u="none" strike="noStrike" cap="none" dirty="0" err="1">
                <a:solidFill>
                  <a:schemeClr val="dk1"/>
                </a:solidFill>
                <a:latin typeface="Times New Roman"/>
                <a:ea typeface="Times New Roman"/>
                <a:cs typeface="Times New Roman"/>
                <a:sym typeface="Times New Roman"/>
              </a:rPr>
              <a:t>kho</a:t>
            </a:r>
            <a:r>
              <a:rPr lang="en-US" sz="1500" b="0" i="0" u="none" strike="noStrike" cap="none" dirty="0">
                <a:solidFill>
                  <a:schemeClr val="dk1"/>
                </a:solidFill>
                <a:latin typeface="Times New Roman"/>
                <a:ea typeface="Times New Roman"/>
                <a:cs typeface="Times New Roman"/>
                <a:sym typeface="Times New Roman"/>
              </a:rPr>
              <a:t>: NIL.</a:t>
            </a:r>
            <a:endParaRPr sz="1500" b="0" i="0" u="none" strike="noStrike" cap="none" dirty="0">
              <a:solidFill>
                <a:schemeClr val="dk1"/>
              </a:solidFill>
              <a:latin typeface="Times New Roman"/>
              <a:ea typeface="Times New Roman"/>
              <a:cs typeface="Times New Roman"/>
              <a:sym typeface="Times New Roman"/>
            </a:endParaRPr>
          </a:p>
          <a:p>
            <a:pPr marL="0" marR="0" lvl="0" indent="0"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6</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4 </a:t>
            </a:r>
            <a:r>
              <a:rPr lang="en-US" sz="1500" dirty="0" err="1">
                <a:solidFill>
                  <a:schemeClr val="dk1"/>
                </a:solidFill>
                <a:latin typeface="Times New Roman"/>
                <a:ea typeface="Times New Roman"/>
                <a:cs typeface="Times New Roman"/>
                <a:sym typeface="Times New Roman"/>
              </a:rPr>
              <a:t>t</a:t>
            </a:r>
            <a:r>
              <a:rPr lang="en-US" sz="1500" b="0" i="0" u="none" strike="noStrike" cap="none" dirty="0" err="1">
                <a:solidFill>
                  <a:schemeClr val="dk1"/>
                </a:solidFill>
                <a:latin typeface="Times New Roman"/>
                <a:ea typeface="Times New Roman"/>
                <a:cs typeface="Times New Roman"/>
                <a:sym typeface="Times New Roman"/>
              </a:rPr>
              <a:t>ại</a:t>
            </a:r>
            <a:r>
              <a:rPr lang="en-US" sz="1500" b="0" i="0" u="none" strike="noStrike" cap="none" dirty="0">
                <a:solidFill>
                  <a:schemeClr val="dk1"/>
                </a:solidFill>
                <a:latin typeface="Times New Roman"/>
                <a:ea typeface="Times New Roman"/>
                <a:cs typeface="Times New Roman"/>
                <a:sym typeface="Times New Roman"/>
              </a:rPr>
              <a:t> ESA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1</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IHI</a:t>
            </a:r>
            <a:r>
              <a:rPr lang="en-US" sz="1500" dirty="0">
                <a:solidFill>
                  <a:schemeClr val="dk1"/>
                </a:solidFill>
                <a:latin typeface="Times New Roman"/>
                <a:ea typeface="Times New Roman"/>
                <a:cs typeface="Times New Roman"/>
                <a:sym typeface="Times New Roman"/>
              </a:rPr>
              <a:t>, 01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MTU-H</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làm</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việc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với</a:t>
            </a:r>
            <a:r>
              <a:rPr lang="en-US" sz="1500" dirty="0">
                <a:solidFill>
                  <a:schemeClr val="dk1"/>
                </a:solidFill>
                <a:latin typeface="Times New Roman"/>
                <a:ea typeface="Times New Roman"/>
                <a:cs typeface="Times New Roman"/>
                <a:sym typeface="Times New Roman"/>
              </a:rPr>
              <a:t> shop, </a:t>
            </a:r>
            <a:r>
              <a:rPr lang="en-US" sz="1500" dirty="0" err="1">
                <a:solidFill>
                  <a:schemeClr val="dk1"/>
                </a:solidFill>
                <a:latin typeface="Times New Roman"/>
                <a:ea typeface="Times New Roman"/>
                <a:cs typeface="Times New Roman"/>
                <a:sym typeface="Times New Roman"/>
              </a:rPr>
              <a:t>không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có</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indution</a:t>
            </a:r>
            <a:r>
              <a:rPr lang="en-US" sz="1500" dirty="0">
                <a:solidFill>
                  <a:schemeClr val="dk1"/>
                </a:solidFill>
                <a:latin typeface="Times New Roman"/>
                <a:ea typeface="Times New Roman"/>
                <a:cs typeface="Times New Roman"/>
                <a:sym typeface="Times New Roman"/>
              </a:rPr>
              <a:t> slot </a:t>
            </a:r>
            <a:r>
              <a:rPr lang="en-US" sz="1500" dirty="0" err="1">
                <a:solidFill>
                  <a:schemeClr val="dk1"/>
                </a:solidFill>
                <a:latin typeface="Times New Roman"/>
                <a:ea typeface="Times New Roman"/>
                <a:cs typeface="Times New Roman"/>
                <a:sym typeface="Times New Roman"/>
              </a:rPr>
              <a:t>vào</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tháng</a:t>
            </a:r>
            <a:r>
              <a:rPr lang="en-US" sz="1500" dirty="0">
                <a:solidFill>
                  <a:schemeClr val="dk1"/>
                </a:solidFill>
                <a:latin typeface="Times New Roman"/>
                <a:ea typeface="Times New Roman"/>
                <a:cs typeface="Times New Roman"/>
                <a:sym typeface="Times New Roman"/>
              </a:rPr>
              <a:t> 7</a:t>
            </a:r>
            <a:endParaRPr sz="1500" b="0" i="0" u="none" strike="noStrike" cap="none" dirty="0">
              <a:solidFill>
                <a:schemeClr val="dk1"/>
              </a:solidFill>
              <a:latin typeface="Times New Roman"/>
              <a:ea typeface="Times New Roman"/>
              <a:cs typeface="Times New Roman"/>
              <a:sym typeface="Times New Roman"/>
            </a:endParaRPr>
          </a:p>
          <a:p>
            <a:pPr marL="0" lvl="0" indent="0"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đàm</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phán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thuê</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thêm</a:t>
            </a:r>
            <a:r>
              <a:rPr lang="en-US" sz="1500" dirty="0">
                <a:solidFill>
                  <a:schemeClr val="dk1"/>
                </a:solidFill>
                <a:latin typeface="Times New Roman"/>
                <a:ea typeface="Times New Roman"/>
                <a:cs typeface="Times New Roman"/>
                <a:sym typeface="Times New Roman"/>
              </a:rPr>
              <a:t> 2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Đàm</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phán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và</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kí</a:t>
            </a:r>
            <a:r>
              <a:rPr lang="en-US" sz="1500" dirty="0">
                <a:solidFill>
                  <a:schemeClr val="dk1"/>
                </a:solidFill>
                <a:latin typeface="Times New Roman"/>
                <a:ea typeface="Times New Roman"/>
                <a:cs typeface="Times New Roman"/>
                <a:sym typeface="Times New Roman"/>
              </a:rPr>
              <a:t> LOI AERCAP, WLFC, Marathon </a:t>
            </a:r>
            <a:br>
              <a:rPr lang="en-US" sz="1500" dirty="0">
                <a:solidFill>
                  <a:schemeClr val="dk1"/>
                </a:solidFill>
                <a:latin typeface="Times New Roman"/>
                <a:ea typeface="Times New Roman"/>
                <a:cs typeface="Times New Roman"/>
                <a:sym typeface="Times New Roman"/>
              </a:rPr>
            </a:br>
            <a:endParaRPr sz="1500"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TAT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r>
              <a:rPr lang="en-US" sz="1500" b="0" i="0" u="none" strike="noStrike" cap="none" dirty="0" err="1">
                <a:solidFill>
                  <a:schemeClr val="dk1"/>
                </a:solidFill>
                <a:latin typeface="Times New Roman"/>
                <a:ea typeface="Times New Roman"/>
                <a:cs typeface="Times New Roman"/>
                <a:sym typeface="Times New Roman"/>
              </a:rPr>
              <a:t>kéo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hiện</a:t>
            </a:r>
            <a:r>
              <a:rPr lang="en-US" sz="1500" b="0" i="0" u="none" strike="noStrike" cap="none" dirty="0">
                <a:solidFill>
                  <a:schemeClr val="dk1"/>
                </a:solidFill>
                <a:latin typeface="Times New Roman"/>
                <a:ea typeface="Times New Roman"/>
                <a:cs typeface="Times New Roman"/>
                <a:sym typeface="Times New Roman"/>
              </a:rPr>
              <a:t> do shop </a:t>
            </a:r>
            <a:r>
              <a:rPr lang="en-US" sz="1500" b="0" i="0" u="none" strike="noStrike" cap="none" dirty="0" err="1">
                <a:solidFill>
                  <a:schemeClr val="dk1"/>
                </a:solidFill>
                <a:latin typeface="Times New Roman"/>
                <a:ea typeface="Times New Roman"/>
                <a:cs typeface="Times New Roman"/>
                <a:sym typeface="Times New Roman"/>
              </a:rPr>
              <a:t>quá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cung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đợi</a:t>
            </a:r>
            <a:r>
              <a:rPr lang="en-US" sz="1500" b="0" i="0" u="none" strike="noStrike" cap="none" dirty="0">
                <a:solidFill>
                  <a:schemeClr val="dk1"/>
                </a:solidFill>
                <a:latin typeface="Times New Roman"/>
                <a:ea typeface="Times New Roman"/>
                <a:cs typeface="Times New Roman"/>
                <a:sym typeface="Times New Roman"/>
              </a:rPr>
              <a:t> slot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đến</a:t>
            </a:r>
            <a:r>
              <a:rPr lang="en-US" sz="1500" b="0" i="0" u="none" strike="noStrike" cap="none" dirty="0">
                <a:solidFill>
                  <a:schemeClr val="dk1"/>
                </a:solidFill>
                <a:latin typeface="Times New Roman"/>
                <a:ea typeface="Times New Roman"/>
                <a:cs typeface="Times New Roman"/>
                <a:sym typeface="Times New Roman"/>
              </a:rPr>
              <a:t> 200 </a:t>
            </a:r>
            <a:r>
              <a:rPr lang="en-US" sz="1500" b="0" i="0" u="none" strike="noStrike" cap="none" dirty="0" err="1">
                <a:solidFill>
                  <a:schemeClr val="dk1"/>
                </a:solidFill>
                <a:latin typeface="Times New Roman"/>
                <a:ea typeface="Times New Roman"/>
                <a:cs typeface="Times New Roman"/>
                <a:sym typeface="Times New Roman"/>
              </a:rPr>
              <a:t>ngày</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A321 NEO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trước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đây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không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lắp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trả</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nhiều</a:t>
            </a:r>
            <a:r>
              <a:rPr lang="en-US" sz="1500" b="0" i="0" u="none" strike="noStrike" cap="none" dirty="0">
                <a:solidFill>
                  <a:schemeClr val="dk1"/>
                </a:solidFill>
                <a:latin typeface="Times New Roman"/>
                <a:ea typeface="Times New Roman"/>
                <a:cs typeface="Times New Roman"/>
                <a:sym typeface="Times New Roman"/>
              </a:rPr>
              <a:t> LRUs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Khoảng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thời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cao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nghỉ</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lễ</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hụt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phụ</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vật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liệu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tăng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lỗi</a:t>
            </a:r>
            <a:r>
              <a:rPr lang="en-US" sz="1500" b="0" i="0" u="none" strike="noStrike" cap="none" dirty="0">
                <a:solidFill>
                  <a:schemeClr val="dk1"/>
                </a:solidFill>
                <a:latin typeface="Times New Roman"/>
                <a:ea typeface="Times New Roman"/>
                <a:cs typeface="Times New Roman"/>
                <a:sym typeface="Times New Roman"/>
              </a:rPr>
              <a:t> Rejection trong </a:t>
            </a:r>
            <a:r>
              <a:rPr lang="en-US" sz="1500" b="0" i="0" u="none" strike="noStrike" cap="none" dirty="0" err="1">
                <a:solidFill>
                  <a:schemeClr val="dk1"/>
                </a:solidFill>
                <a:latin typeface="Times New Roman"/>
                <a:ea typeface="Times New Roman"/>
                <a:cs typeface="Times New Roman"/>
                <a:sym typeface="Times New Roman"/>
              </a:rPr>
              <a:t>kiểm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sau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thử</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nghiệm</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 PTVT </a:t>
            </a:r>
            <a:r>
              <a:rPr lang="en-US" sz="1500" dirty="0" err="1">
                <a:solidFill>
                  <a:schemeClr val="dk1"/>
                </a:solidFill>
                <a:latin typeface="Times New Roman"/>
                <a:ea typeface="Times New Roman"/>
                <a:cs typeface="Times New Roman"/>
                <a:sym typeface="Times New Roman"/>
              </a:rPr>
              <a:t>thiếu</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hụt</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đặc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biệt</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là</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khác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khối</a:t>
            </a:r>
            <a:r>
              <a:rPr lang="en-US" sz="1500" dirty="0">
                <a:solidFill>
                  <a:schemeClr val="dk1"/>
                </a:solidFill>
                <a:latin typeface="Times New Roman"/>
                <a:ea typeface="Times New Roman"/>
                <a:cs typeface="Times New Roman"/>
                <a:sym typeface="Times New Roman"/>
              </a:rPr>
              <a:t> AP51</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Thúc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đẩy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Tổ</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chức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họp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tìm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pháp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Ban KT, VAECO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danh</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mục</a:t>
            </a:r>
            <a:r>
              <a:rPr lang="en-US" sz="1500" b="0" i="0" u="none" strike="noStrike" cap="none" dirty="0">
                <a:solidFill>
                  <a:schemeClr val="dk1"/>
                </a:solidFill>
                <a:latin typeface="Times New Roman"/>
                <a:ea typeface="Times New Roman"/>
                <a:cs typeface="Times New Roman"/>
                <a:sym typeface="Times New Roman"/>
              </a:rPr>
              <a:t> MPL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gửi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0024492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301" name="Google Shape;301;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ED0239, ED0217,ED0</a:t>
            </a:r>
            <a:r>
              <a:rPr lang="en-US" sz="1500">
                <a:solidFill>
                  <a:schemeClr val="dk1"/>
                </a:solidFill>
                <a:latin typeface="Times New Roman"/>
                <a:ea typeface="Times New Roman"/>
                <a:cs typeface="Times New Roman"/>
                <a:sym typeface="Times New Roman"/>
              </a:rPr>
              <a:t>233, ED0214</a:t>
            </a:r>
            <a:r>
              <a:rPr lang="en-US" sz="1500" b="0" i="0" u="none" strike="noStrike" cap="none">
                <a:solidFill>
                  <a:schemeClr val="dk1"/>
                </a:solidFill>
                <a:latin typeface="Times New Roman"/>
                <a:ea typeface="Times New Roman"/>
                <a:cs typeface="Times New Roman"/>
                <a:sym typeface="Times New Roman"/>
              </a:rPr>
              <a:t> đang sửa tại SA.</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 Đặc biệt cần giục ED0239 về sớm.</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302" name="Google Shape;302;g31ccdae391d_0_389"/>
          <p:cNvPicPr preferRelativeResize="0"/>
          <p:nvPr/>
        </p:nvPicPr>
        <p:blipFill>
          <a:blip r:embed="rId3">
            <a:alphaModFix/>
          </a:blip>
          <a:stretch>
            <a:fillRect/>
          </a:stretch>
        </p:blipFill>
        <p:spPr>
          <a:xfrm>
            <a:off x="122350" y="2809875"/>
            <a:ext cx="11947302" cy="2467850"/>
          </a:xfrm>
          <a:prstGeom prst="rect">
            <a:avLst/>
          </a:prstGeom>
          <a:noFill/>
          <a:ln>
            <a:noFill/>
          </a:ln>
        </p:spPr>
      </p:pic>
    </p:spTree>
    <p:extLst>
      <p:ext uri="{BB962C8B-B14F-4D97-AF65-F5344CB8AC3E}">
        <p14:creationId xmlns:p14="http://schemas.microsoft.com/office/powerpoint/2010/main" val="55689611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9" name="Google Shape;309;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310" name="Google Shape;310;g31ccdae391d_0_396"/>
          <p:cNvSpPr/>
          <p:nvPr/>
        </p:nvSpPr>
        <p:spPr>
          <a:xfrm>
            <a:off x="609900" y="3836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+ 02 ENG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A887 </a:t>
            </a:r>
            <a:r>
              <a:rPr lang="en-US" sz="1600" dirty="0" err="1">
                <a:solidFill>
                  <a:schemeClr val="dk1"/>
                </a:solidFill>
                <a:latin typeface="Times New Roman"/>
                <a:ea typeface="Times New Roman"/>
                <a:cs typeface="Times New Roman"/>
                <a:sym typeface="Times New Roman"/>
              </a:rPr>
              <a:t>phá</a:t>
            </a:r>
            <a:r>
              <a:rPr lang="en-US" sz="1600" dirty="0">
                <a:solidFill>
                  <a:schemeClr val="dk1"/>
                </a:solidFill>
                <a:latin typeface="Times New Roman"/>
                <a:ea typeface="Times New Roman"/>
                <a:cs typeface="Times New Roman"/>
                <a:sym typeface="Times New Roman"/>
              </a:rPr>
              <a:t> BQ: 01ea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trong SGN)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20/05 + 01ea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29/05.</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+ 02 ENG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A886 </a:t>
            </a:r>
            <a:r>
              <a:rPr lang="en-US" sz="1600" dirty="0" err="1">
                <a:solidFill>
                  <a:schemeClr val="dk1"/>
                </a:solidFill>
                <a:latin typeface="Times New Roman"/>
                <a:ea typeface="Times New Roman"/>
                <a:cs typeface="Times New Roman"/>
                <a:sym typeface="Times New Roman"/>
              </a:rPr>
              <a:t>phá</a:t>
            </a:r>
            <a:r>
              <a:rPr lang="en-US" sz="1600" dirty="0">
                <a:solidFill>
                  <a:schemeClr val="dk1"/>
                </a:solidFill>
                <a:latin typeface="Times New Roman"/>
                <a:ea typeface="Times New Roman"/>
                <a:cs typeface="Times New Roman"/>
                <a:sym typeface="Times New Roman"/>
              </a:rPr>
              <a:t> BQ: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15/06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25/06.</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NIL stock</a:t>
            </a:r>
            <a:r>
              <a:rPr lang="en-US" sz="1600" i="0" u="none" strike="noStrike" cap="none" dirty="0">
                <a:solidFill>
                  <a:schemeClr val="dk1"/>
                </a:solidFill>
                <a:latin typeface="Times New Roman"/>
                <a:ea typeface="Times New Roman"/>
                <a:cs typeface="Times New Roman"/>
                <a:sym typeface="Times New Roman"/>
              </a:rPr>
              <a:t>.</a:t>
            </a:r>
            <a:endParaRPr sz="160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958398 (GE shop) </a:t>
            </a:r>
            <a:r>
              <a:rPr lang="en-US" sz="1600" dirty="0" err="1" smtClean="0">
                <a:solidFill>
                  <a:schemeClr val="dk1"/>
                </a:solidFill>
                <a:latin typeface="Times New Roman"/>
                <a:ea typeface="Times New Roman"/>
                <a:cs typeface="Times New Roman"/>
                <a:sym typeface="Times New Roman"/>
              </a:rPr>
              <a:t>đã</a:t>
            </a:r>
            <a:r>
              <a:rPr lang="en-US" sz="1600" dirty="0" smtClean="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giao</a:t>
            </a:r>
            <a:r>
              <a:rPr lang="en-US" sz="1600" dirty="0" smtClean="0">
                <a:solidFill>
                  <a:schemeClr val="dk1"/>
                </a:solidFill>
                <a:latin typeface="Times New Roman"/>
                <a:ea typeface="Times New Roman"/>
                <a:cs typeface="Times New Roman"/>
                <a:sym typeface="Times New Roman"/>
              </a:rPr>
              <a:t> SGN 06/06.</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956569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15/6/2025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chuyển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a:t>
            </a:r>
            <a:r>
              <a:rPr lang="en-US" sz="1600" dirty="0" smtClean="0">
                <a:solidFill>
                  <a:schemeClr val="dk1"/>
                </a:solidFill>
                <a:latin typeface="Times New Roman"/>
                <a:ea typeface="Times New Roman"/>
                <a:cs typeface="Times New Roman"/>
                <a:sym typeface="Times New Roman"/>
              </a:rPr>
              <a:t>25/06.</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tháng</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6</a:t>
            </a:r>
            <a:r>
              <a:rPr lang="en-US" sz="1600" b="0" i="0" u="none" strike="noStrike" cap="none" dirty="0">
                <a:solidFill>
                  <a:schemeClr val="dk1"/>
                </a:solidFill>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 V16558 (20/06)</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P771041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12/07.</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P771423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30/07.</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P771387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0	6/07.</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WLFC- Marathon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đầu</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7.</a:t>
            </a:r>
            <a:endParaRPr sz="1600" dirty="0">
              <a:solidFill>
                <a:srgbClr val="FF0000"/>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NIL stock</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EST SGN 23/06.</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1409341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7" name="Google Shape;317;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318" name="Google Shape;318;g31ccdae391d_0_403"/>
          <p:cNvSpPr txBox="1"/>
          <p:nvPr/>
        </p:nvSpPr>
        <p:spPr>
          <a:xfrm>
            <a:off x="8187100" y="778400"/>
            <a:ext cx="3783300" cy="3940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a:solidFill>
                  <a:schemeClr val="dk1"/>
                </a:solidFill>
                <a:latin typeface="Times New Roman"/>
                <a:ea typeface="Times New Roman"/>
                <a:cs typeface="Times New Roman"/>
                <a:sym typeface="Times New Roman"/>
              </a:rPr>
              <a:t>APU A321 </a:t>
            </a:r>
            <a:endParaRPr sz="16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a:solidFill>
                  <a:schemeClr val="dk1"/>
                </a:solidFill>
                <a:latin typeface="Times New Roman"/>
                <a:ea typeface="Times New Roman"/>
                <a:cs typeface="Times New Roman"/>
                <a:sym typeface="Times New Roman"/>
              </a:rPr>
              <a:t>+ </a:t>
            </a:r>
            <a:r>
              <a:rPr lang="en-US" sz="1400" b="0" i="0" u="none" strike="noStrike" cap="none">
                <a:solidFill>
                  <a:schemeClr val="dk1"/>
                </a:solidFill>
                <a:latin typeface="Times New Roman"/>
                <a:ea typeface="Times New Roman"/>
                <a:cs typeface="Times New Roman"/>
                <a:sym typeface="Times New Roman"/>
              </a:rPr>
              <a:t>STK: </a:t>
            </a:r>
            <a:r>
              <a:rPr lang="en-US">
                <a:solidFill>
                  <a:schemeClr val="dk1"/>
                </a:solidFill>
                <a:latin typeface="Times New Roman"/>
                <a:ea typeface="Times New Roman"/>
                <a:cs typeface="Times New Roman"/>
                <a:sym typeface="Times New Roman"/>
              </a:rPr>
              <a:t>00 </a:t>
            </a:r>
            <a:r>
              <a:rPr lang="en-US" sz="1400" b="0" i="0" u="none" strike="noStrike" cap="none">
                <a:solidFill>
                  <a:schemeClr val="dk1"/>
                </a:solidFill>
                <a:latin typeface="Times New Roman"/>
                <a:ea typeface="Times New Roman"/>
                <a:cs typeface="Times New Roman"/>
                <a:sym typeface="Times New Roman"/>
              </a:rPr>
              <a:t>APU</a:t>
            </a: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400" b="0" i="0" u="none" strike="noStrike" cap="none">
                <a:solidFill>
                  <a:schemeClr val="dk1"/>
                </a:solidFill>
                <a:latin typeface="Times New Roman"/>
                <a:ea typeface="Times New Roman"/>
                <a:cs typeface="Times New Roman"/>
                <a:sym typeface="Times New Roman"/>
              </a:rPr>
              <a:t>+ Th</a:t>
            </a:r>
            <a:r>
              <a:rPr lang="en-US">
                <a:solidFill>
                  <a:schemeClr val="dk1"/>
                </a:solidFill>
                <a:latin typeface="Times New Roman"/>
                <a:ea typeface="Times New Roman"/>
                <a:cs typeface="Times New Roman"/>
                <a:sym typeface="Times New Roman"/>
              </a:rPr>
              <a:t>áng 6: dk về 03 APU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500" b="1" i="0" u="none" strike="noStrike" cap="none">
                <a:solidFill>
                  <a:schemeClr val="dk1"/>
                </a:solidFill>
                <a:latin typeface="Times New Roman"/>
                <a:ea typeface="Times New Roman"/>
                <a:cs typeface="Times New Roman"/>
                <a:sym typeface="Times New Roman"/>
              </a:rPr>
              <a:t>APU A350</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+03 APU đang sửa chữa: </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P-00194: EDD 09/06/2025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P-00113: EDD 15/07/2025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P-00391: EDD 01/08/2025</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 </a:t>
            </a:r>
            <a:endParaRPr sz="11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B787 </a:t>
            </a:r>
            <a:endParaRPr sz="1500" b="1"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01</a:t>
            </a:r>
            <a:r>
              <a:rPr lang="en-US" sz="1400" b="0" i="0" u="none" strike="noStrike" cap="none">
                <a:solidFill>
                  <a:schemeClr val="dk1"/>
                </a:solidFill>
                <a:latin typeface="Times New Roman"/>
                <a:ea typeface="Times New Roman"/>
                <a:cs typeface="Times New Roman"/>
                <a:sym typeface="Times New Roman"/>
              </a:rPr>
              <a:t> APU SGN</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(PWC-Z926122) DK 09 June sửa xong.</a:t>
            </a:r>
            <a:endParaRPr>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p:txBody>
      </p:sp>
      <p:pic>
        <p:nvPicPr>
          <p:cNvPr id="319" name="Google Shape;319;g31ccdae391d_0_403"/>
          <p:cNvPicPr preferRelativeResize="0"/>
          <p:nvPr/>
        </p:nvPicPr>
        <p:blipFill>
          <a:blip r:embed="rId3">
            <a:alphaModFix/>
          </a:blip>
          <a:stretch>
            <a:fillRect/>
          </a:stretch>
        </p:blipFill>
        <p:spPr>
          <a:xfrm>
            <a:off x="1815913" y="271975"/>
            <a:ext cx="5903950" cy="6403249"/>
          </a:xfrm>
          <a:prstGeom prst="rect">
            <a:avLst/>
          </a:prstGeom>
          <a:noFill/>
          <a:ln>
            <a:noFill/>
          </a:ln>
        </p:spPr>
      </p:pic>
    </p:spTree>
    <p:extLst>
      <p:ext uri="{BB962C8B-B14F-4D97-AF65-F5344CB8AC3E}">
        <p14:creationId xmlns:p14="http://schemas.microsoft.com/office/powerpoint/2010/main" val="323558814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338eea6c084_0_0"/>
          <p:cNvSpPr txBox="1">
            <a:spLocks noGrp="1"/>
          </p:cNvSpPr>
          <p:nvPr>
            <p:ph type="title"/>
          </p:nvPr>
        </p:nvSpPr>
        <p:spPr>
          <a:xfrm>
            <a:off x="448975" y="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BAY NGA</a:t>
            </a:r>
            <a:endParaRPr sz="2800">
              <a:solidFill>
                <a:srgbClr val="FFC000"/>
              </a:solidFill>
              <a:latin typeface="Times New Roman"/>
              <a:ea typeface="Times New Roman"/>
              <a:cs typeface="Times New Roman"/>
              <a:sym typeface="Times New Roman"/>
            </a:endParaRPr>
          </a:p>
        </p:txBody>
      </p:sp>
      <p:sp>
        <p:nvSpPr>
          <p:cNvPr id="326" name="Google Shape;326;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327" name="Google Shape;327;g338eea6c084_0_0"/>
          <p:cNvSpPr/>
          <p:nvPr/>
        </p:nvSpPr>
        <p:spPr>
          <a:xfrm>
            <a:off x="609900" y="1156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15000"/>
              </a:lnSpc>
              <a:spcBef>
                <a:spcPts val="0"/>
              </a:spcBef>
              <a:spcAft>
                <a:spcPts val="0"/>
              </a:spcAft>
              <a:buClr>
                <a:schemeClr val="dk1"/>
              </a:buClr>
              <a:buSzPts val="2000"/>
              <a:buFont typeface="Times New Roman"/>
              <a:buAutoNum type="arabicPeriod"/>
            </a:pPr>
            <a:r>
              <a:rPr lang="en-US" sz="2000" b="1" dirty="0">
                <a:solidFill>
                  <a:schemeClr val="dk1"/>
                </a:solidFill>
                <a:latin typeface="Times New Roman"/>
                <a:ea typeface="Times New Roman"/>
                <a:cs typeface="Times New Roman"/>
                <a:sym typeface="Times New Roman"/>
              </a:rPr>
              <a:t>NHIÊN LIỆU:</a:t>
            </a:r>
            <a:endParaRPr sz="2000" b="1"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r>
              <a:rPr lang="en-US" sz="1600" dirty="0" err="1">
                <a:solidFill>
                  <a:schemeClr val="dk1"/>
                </a:solidFill>
                <a:latin typeface="Times New Roman"/>
                <a:ea typeface="Times New Roman"/>
                <a:cs typeface="Times New Roman"/>
                <a:sym typeface="Times New Roman"/>
              </a:rPr>
              <a:t>Nhà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cấp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SVO </a:t>
            </a:r>
            <a:r>
              <a:rPr lang="en-US" sz="1600" dirty="0" err="1">
                <a:solidFill>
                  <a:schemeClr val="dk1"/>
                </a:solidFill>
                <a:latin typeface="Times New Roman"/>
                <a:ea typeface="Times New Roman"/>
                <a:cs typeface="Times New Roman"/>
                <a:sym typeface="Times New Roman"/>
              </a:rPr>
              <a:t>là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công</a:t>
            </a:r>
            <a:r>
              <a:rPr lang="en-US" sz="1600" dirty="0">
                <a:solidFill>
                  <a:schemeClr val="dk1"/>
                </a:solidFill>
                <a:latin typeface="Times New Roman"/>
                <a:ea typeface="Times New Roman"/>
                <a:cs typeface="Times New Roman"/>
                <a:sym typeface="Times New Roman"/>
              </a:rPr>
              <a:t> ty </a:t>
            </a:r>
            <a:r>
              <a:rPr lang="en-US" sz="1600" dirty="0" err="1">
                <a:solidFill>
                  <a:schemeClr val="dk1"/>
                </a:solidFill>
                <a:latin typeface="Times New Roman"/>
                <a:ea typeface="Times New Roman"/>
                <a:cs typeface="Times New Roman"/>
                <a:sym typeface="Times New Roman"/>
              </a:rPr>
              <a:t>Skypec</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2.  PTVT </a:t>
            </a:r>
            <a:r>
              <a:rPr lang="en-US" sz="2000" b="1" dirty="0">
                <a:solidFill>
                  <a:schemeClr val="dk1"/>
                </a:solidFill>
                <a:latin typeface="Times New Roman"/>
                <a:ea typeface="Times New Roman"/>
                <a:cs typeface="Times New Roman"/>
                <a:sym typeface="Times New Roman"/>
              </a:rPr>
              <a:t>DỰ PHÒNG FAK</a:t>
            </a:r>
            <a:endParaRPr sz="1600"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TGĐ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phê</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duyệt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mua</a:t>
            </a:r>
            <a:r>
              <a:rPr lang="en-US" sz="1600" dirty="0">
                <a:solidFill>
                  <a:schemeClr val="dk1"/>
                </a:solidFill>
                <a:latin typeface="Times New Roman"/>
                <a:ea typeface="Times New Roman"/>
                <a:cs typeface="Times New Roman"/>
                <a:sym typeface="Times New Roman"/>
              </a:rPr>
              <a:t> 63 item (5.18 </a:t>
            </a:r>
            <a:r>
              <a:rPr lang="en-US" sz="1600" dirty="0" err="1">
                <a:solidFill>
                  <a:schemeClr val="dk1"/>
                </a:solidFill>
                <a:latin typeface="Times New Roman"/>
                <a:ea typeface="Times New Roman"/>
                <a:cs typeface="Times New Roman"/>
                <a:sym typeface="Times New Roman"/>
              </a:rPr>
              <a:t>triệu</a:t>
            </a:r>
            <a:r>
              <a:rPr lang="en-US" sz="1600" dirty="0">
                <a:solidFill>
                  <a:schemeClr val="dk1"/>
                </a:solidFill>
                <a:latin typeface="Times New Roman"/>
                <a:ea typeface="Times New Roman"/>
                <a:cs typeface="Times New Roman"/>
                <a:sym typeface="Times New Roman"/>
              </a:rPr>
              <a:t> USD) trong </a:t>
            </a:r>
            <a:r>
              <a:rPr lang="en-US" sz="1600" dirty="0" err="1">
                <a:solidFill>
                  <a:schemeClr val="dk1"/>
                </a:solidFill>
                <a:latin typeface="Times New Roman"/>
                <a:ea typeface="Times New Roman"/>
                <a:cs typeface="Times New Roman"/>
                <a:sym typeface="Times New Roman"/>
              </a:rPr>
              <a:t>đó</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56 item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kho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330200" algn="just" rtl="0">
              <a:lnSpc>
                <a:spcPct val="115000"/>
              </a:lnSpc>
              <a:spcBef>
                <a:spcPts val="0"/>
              </a:spcBef>
              <a:spcAft>
                <a:spcPts val="0"/>
              </a:spcAft>
              <a:buClr>
                <a:schemeClr val="dk1"/>
              </a:buClr>
              <a:buSzPts val="1600"/>
              <a:buFont typeface="Times New Roman"/>
              <a:buChar char="-"/>
            </a:pPr>
            <a:r>
              <a:rPr lang="en-US" sz="1600" dirty="0">
                <a:solidFill>
                  <a:schemeClr val="dk1"/>
                </a:solidFill>
                <a:latin typeface="Times New Roman"/>
                <a:ea typeface="Times New Roman"/>
                <a:cs typeface="Times New Roman"/>
                <a:sym typeface="Times New Roman"/>
              </a:rPr>
              <a:t>07 item lead time </a:t>
            </a:r>
            <a:r>
              <a:rPr lang="en-US" sz="1600" dirty="0" err="1">
                <a:solidFill>
                  <a:schemeClr val="dk1"/>
                </a:solidFill>
                <a:latin typeface="Times New Roman"/>
                <a:ea typeface="Times New Roman"/>
                <a:cs typeface="Times New Roman"/>
                <a:sym typeface="Times New Roman"/>
              </a:rPr>
              <a:t>dài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tiếp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giục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endParaRPr lang="en-US" sz="1600" dirty="0">
              <a:solidFill>
                <a:schemeClr val="dk1"/>
              </a:solidFill>
              <a:latin typeface="Times New Roman"/>
              <a:ea typeface="Times New Roman"/>
              <a:cs typeface="Times New Roman"/>
              <a:sym typeface="Times New Roman"/>
            </a:endParaRPr>
          </a:p>
          <a:p>
            <a:pPr marL="101600" marR="0" lvl="0" algn="just" rtl="0">
              <a:lnSpc>
                <a:spcPct val="115000"/>
              </a:lnSpc>
              <a:spcBef>
                <a:spcPts val="0"/>
              </a:spcBef>
              <a:spcAft>
                <a:spcPts val="0"/>
              </a:spcAft>
              <a:buClr>
                <a:schemeClr val="dk1"/>
              </a:buClr>
              <a:buSzPts val="2000"/>
            </a:pPr>
            <a:r>
              <a:rPr lang="en-US" sz="2000" b="1" dirty="0" smtClean="0">
                <a:solidFill>
                  <a:schemeClr val="dk1"/>
                </a:solidFill>
                <a:latin typeface="Times New Roman"/>
                <a:ea typeface="Times New Roman"/>
                <a:cs typeface="Times New Roman"/>
                <a:sym typeface="Times New Roman"/>
              </a:rPr>
              <a:t>3.   </a:t>
            </a:r>
            <a:r>
              <a:rPr lang="en-US" sz="2000" b="1" dirty="0" err="1" smtClean="0">
                <a:solidFill>
                  <a:schemeClr val="dk1"/>
                </a:solidFill>
                <a:latin typeface="Times New Roman"/>
                <a:ea typeface="Times New Roman"/>
                <a:cs typeface="Times New Roman"/>
                <a:sym typeface="Times New Roman"/>
              </a:rPr>
              <a:t>Thiết</a:t>
            </a:r>
            <a:r>
              <a:rPr lang="en-US" sz="2000" b="1" dirty="0" smtClean="0">
                <a:solidFill>
                  <a:schemeClr val="dk1"/>
                </a:solidFill>
                <a:latin typeface="Times New Roman"/>
                <a:ea typeface="Times New Roman"/>
                <a:cs typeface="Times New Roman"/>
                <a:sym typeface="Times New Roman"/>
              </a:rPr>
              <a:t> </a:t>
            </a:r>
            <a:r>
              <a:rPr lang="en-US" sz="2000" b="1" dirty="0" err="1">
                <a:solidFill>
                  <a:schemeClr val="dk1"/>
                </a:solidFill>
                <a:latin typeface="Times New Roman"/>
                <a:ea typeface="Times New Roman"/>
                <a:cs typeface="Times New Roman"/>
                <a:sym typeface="Times New Roman"/>
              </a:rPr>
              <a:t>lập</a:t>
            </a:r>
            <a:r>
              <a:rPr lang="en-US" sz="2000" b="1" dirty="0">
                <a:solidFill>
                  <a:schemeClr val="dk1"/>
                </a:solidFill>
                <a:latin typeface="Times New Roman"/>
                <a:ea typeface="Times New Roman"/>
                <a:cs typeface="Times New Roman"/>
                <a:sym typeface="Times New Roman"/>
              </a:rPr>
              <a:t> </a:t>
            </a:r>
            <a:r>
              <a:rPr lang="en-US" sz="2000" b="1" dirty="0" err="1">
                <a:solidFill>
                  <a:schemeClr val="dk1"/>
                </a:solidFill>
                <a:latin typeface="Times New Roman"/>
                <a:ea typeface="Times New Roman"/>
                <a:cs typeface="Times New Roman"/>
                <a:sym typeface="Times New Roman"/>
              </a:rPr>
              <a:t>kho</a:t>
            </a:r>
            <a:r>
              <a:rPr lang="en-US" sz="2000" b="1" dirty="0">
                <a:solidFill>
                  <a:schemeClr val="dk1"/>
                </a:solidFill>
                <a:latin typeface="Times New Roman"/>
                <a:ea typeface="Times New Roman"/>
                <a:cs typeface="Times New Roman"/>
                <a:sym typeface="Times New Roman"/>
              </a:rPr>
              <a:t> </a:t>
            </a:r>
            <a:r>
              <a:rPr lang="en-US" sz="2000" b="1" dirty="0" err="1">
                <a:solidFill>
                  <a:schemeClr val="dk1"/>
                </a:solidFill>
                <a:latin typeface="Times New Roman"/>
                <a:ea typeface="Times New Roman"/>
                <a:cs typeface="Times New Roman"/>
                <a:sym typeface="Times New Roman"/>
              </a:rPr>
              <a:t>ngoại</a:t>
            </a:r>
            <a:r>
              <a:rPr lang="en-US" sz="2000" b="1" dirty="0">
                <a:solidFill>
                  <a:schemeClr val="dk1"/>
                </a:solidFill>
                <a:latin typeface="Times New Roman"/>
                <a:ea typeface="Times New Roman"/>
                <a:cs typeface="Times New Roman"/>
                <a:sym typeface="Times New Roman"/>
              </a:rPr>
              <a:t> </a:t>
            </a:r>
            <a:r>
              <a:rPr lang="en-US" sz="2000" b="1" dirty="0" err="1">
                <a:solidFill>
                  <a:schemeClr val="dk1"/>
                </a:solidFill>
                <a:latin typeface="Times New Roman"/>
                <a:ea typeface="Times New Roman"/>
                <a:cs typeface="Times New Roman"/>
                <a:sym typeface="Times New Roman"/>
              </a:rPr>
              <a:t>quan</a:t>
            </a:r>
            <a:r>
              <a:rPr lang="en-US" sz="2000" b="1" dirty="0">
                <a:solidFill>
                  <a:schemeClr val="dk1"/>
                </a:solidFill>
                <a:latin typeface="Times New Roman"/>
                <a:ea typeface="Times New Roman"/>
                <a:cs typeface="Times New Roman"/>
                <a:sym typeface="Times New Roman"/>
              </a:rPr>
              <a:t> ở </a:t>
            </a:r>
            <a:r>
              <a:rPr lang="en-US" sz="2000" b="1" dirty="0" err="1">
                <a:solidFill>
                  <a:schemeClr val="dk1"/>
                </a:solidFill>
                <a:latin typeface="Times New Roman"/>
                <a:ea typeface="Times New Roman"/>
                <a:cs typeface="Times New Roman"/>
                <a:sym typeface="Times New Roman"/>
              </a:rPr>
              <a:t>sân</a:t>
            </a:r>
            <a:r>
              <a:rPr lang="en-US" sz="2000" b="1" dirty="0">
                <a:solidFill>
                  <a:schemeClr val="dk1"/>
                </a:solidFill>
                <a:latin typeface="Times New Roman"/>
                <a:ea typeface="Times New Roman"/>
                <a:cs typeface="Times New Roman"/>
                <a:sym typeface="Times New Roman"/>
              </a:rPr>
              <a:t> bay SVO</a:t>
            </a:r>
            <a:endParaRPr sz="2000" b="1"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dirty="0" err="1">
                <a:solidFill>
                  <a:schemeClr val="dk1"/>
                </a:solidFill>
                <a:latin typeface="Times New Roman"/>
                <a:ea typeface="Times New Roman"/>
                <a:cs typeface="Times New Roman"/>
                <a:sym typeface="Times New Roman"/>
              </a:rPr>
              <a:t>Đại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diện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SVO </a:t>
            </a:r>
            <a:r>
              <a:rPr lang="en-US" sz="1600" dirty="0" err="1">
                <a:solidFill>
                  <a:schemeClr val="dk1"/>
                </a:solidFill>
                <a:latin typeface="Times New Roman"/>
                <a:ea typeface="Times New Roman"/>
                <a:cs typeface="Times New Roman"/>
                <a:sym typeface="Times New Roman"/>
              </a:rPr>
              <a:t>đang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làm</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việc</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với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phía</a:t>
            </a:r>
            <a:r>
              <a:rPr lang="en-US" sz="1600" dirty="0">
                <a:solidFill>
                  <a:schemeClr val="dk1"/>
                </a:solidFill>
                <a:latin typeface="Times New Roman"/>
                <a:ea typeface="Times New Roman"/>
                <a:cs typeface="Times New Roman"/>
                <a:sym typeface="Times New Roman"/>
              </a:rPr>
              <a:t> Nga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nhờ</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hỗ</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trợ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từ</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sứ</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quán</a:t>
            </a:r>
            <a:r>
              <a:rPr lang="en-US" sz="1600" dirty="0">
                <a:solidFill>
                  <a:schemeClr val="dk1"/>
                </a:solidFill>
                <a:latin typeface="Times New Roman"/>
                <a:ea typeface="Times New Roman"/>
                <a:cs typeface="Times New Roman"/>
                <a:sym typeface="Times New Roman"/>
              </a:rPr>
              <a:t> VN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Nga).</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40145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CE18D4A-261A-4850-B6EF-E8D1177C057C}">
  <ds:schemaRefs>
    <ds:schemaRef ds:uri="e189f61e-1295-4779-a752-040c7fad5177"/>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b6015720-aa74-4be3-ba0d-eab08776cb9b"/>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B911D9C-B9DB-42A8-B756-3CC928D524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76206</TotalTime>
  <Words>11754</Words>
  <Application>Microsoft Office PowerPoint</Application>
  <PresentationFormat>Widescreen</PresentationFormat>
  <Paragraphs>2512</Paragraphs>
  <Slides>68</Slides>
  <Notes>61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68</vt:i4>
      </vt:variant>
    </vt:vector>
  </HeadingPairs>
  <TitlesOfParts>
    <vt:vector size="82" baseType="lpstr">
      <vt:lpstr>MS PGothic</vt:lpstr>
      <vt:lpstr>Arial</vt:lpstr>
      <vt:lpstr>Calibri</vt:lpstr>
      <vt:lpstr>Cambria</vt:lpstr>
      <vt:lpstr>Exo</vt:lpstr>
      <vt:lpstr>Franklin Gothic Medium Cond</vt:lpstr>
      <vt:lpstr>Montserrat</vt:lpstr>
      <vt:lpstr>Montserrat SemiBold</vt:lpstr>
      <vt:lpstr>Roboto</vt:lpstr>
      <vt:lpstr>Tahoma</vt:lpstr>
      <vt:lpstr>Times New Roman</vt:lpstr>
      <vt:lpstr>Wingdings</vt:lpstr>
      <vt:lpstr>16-9 MASTER TEMPLATE</vt:lpstr>
      <vt:lpstr>Office Theme</vt:lpstr>
      <vt:lpstr>BÁO CÁO KỸ THUẬT (Tuần 23: 02/06/2025 – 08/06/2025)</vt:lpstr>
      <vt:lpstr>TỔNG HỢP AOG, DELAY VÀ GTB/ATB/DIV</vt:lpstr>
      <vt:lpstr>ATB/GTB COMPARISON</vt:lpstr>
      <vt:lpstr>CÁC SỰ KIỆN ATB/GTB/DIV</vt:lpstr>
      <vt:lpstr>PowerPoint Presentation</vt:lpstr>
      <vt:lpstr>CÁC SỰ KIỆN ATB/GTB/DIV</vt:lpstr>
      <vt:lpstr>CÁC SỰ KIỆN ATB/GTB/DIV</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A350</vt:lpstr>
      <vt:lpstr>PowerPoint Presentation</vt:lpstr>
      <vt:lpstr>TÌNH TRẠNG KỸ THUẬT ĐỘI BAY – B787</vt:lpstr>
      <vt:lpstr>PowerPoint Presentation</vt:lpstr>
      <vt:lpstr>TÌNH TRẠNG KỸ THUẬT ĐỘI BAY – ATR72</vt:lpstr>
      <vt:lpstr>PowerPoint Presentation</vt:lpstr>
      <vt:lpstr>PowerPoint Presentation</vt:lpstr>
      <vt:lpstr>DISPATCH RELIABILITY W23 (02/06/2025-08/06/2025)</vt:lpstr>
      <vt:lpstr>CÁC CÔNG VIỆC TRỌNG ĐIỂM TRONG TUẦN</vt:lpstr>
      <vt:lpstr>CÁC CÔNG VIỆC TRỌNG ĐIỂM TRONG TUẦN</vt:lpstr>
      <vt:lpstr>CÁC CÔNG VIỆC TRỌNG ĐIỂM</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BẢO DƯỠNG</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 CÁC VẬT TƯ VƯỚNG MẮC </vt:lpstr>
      <vt:lpstr>A321 CÁC VẬT TƯ VƯỚNG MẮC (Chi tiết)</vt:lpstr>
      <vt:lpstr>TÌNH TRẠNG APU LRU A321 </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Dinh Gia Hoang-Tech</cp:lastModifiedBy>
  <cp:revision>11964</cp:revision>
  <cp:lastPrinted>2019-03-27T09:25:07Z</cp:lastPrinted>
  <dcterms:created xsi:type="dcterms:W3CDTF">2018-12-27T04:50:36Z</dcterms:created>
  <dcterms:modified xsi:type="dcterms:W3CDTF">2025-06-08T14:50:19Z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