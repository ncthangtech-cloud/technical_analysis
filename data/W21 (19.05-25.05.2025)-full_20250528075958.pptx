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3.xml" ContentType="application/vnd.openxmlformats-officedocument.drawingml.chart+xml"/>
  <Override PartName="/ppt/notesSlides/notesSlide35.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36.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37.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01" r:id="rId5"/>
  </p:sldMasterIdLst>
  <p:notesMasterIdLst>
    <p:notesMasterId r:id="rId72"/>
  </p:notesMasterIdLst>
  <p:sldIdLst>
    <p:sldId id="11486" r:id="rId6"/>
    <p:sldId id="11487" r:id="rId7"/>
    <p:sldId id="11488" r:id="rId8"/>
    <p:sldId id="12382" r:id="rId9"/>
    <p:sldId id="11493" r:id="rId10"/>
    <p:sldId id="12383" r:id="rId11"/>
    <p:sldId id="12384" r:id="rId12"/>
    <p:sldId id="12385" r:id="rId13"/>
    <p:sldId id="12386" r:id="rId14"/>
    <p:sldId id="12387" r:id="rId15"/>
    <p:sldId id="12360" r:id="rId16"/>
    <p:sldId id="12388" r:id="rId17"/>
    <p:sldId id="12430" r:id="rId18"/>
    <p:sldId id="12431" r:id="rId19"/>
    <p:sldId id="12389" r:id="rId20"/>
    <p:sldId id="12390" r:id="rId21"/>
    <p:sldId id="12432" r:id="rId22"/>
    <p:sldId id="12433" r:id="rId23"/>
    <p:sldId id="12391" r:id="rId24"/>
    <p:sldId id="12327" r:id="rId25"/>
    <p:sldId id="12392" r:id="rId26"/>
    <p:sldId id="12393" r:id="rId27"/>
    <p:sldId id="12284" r:id="rId28"/>
    <p:sldId id="12285" r:id="rId29"/>
    <p:sldId id="12092" r:id="rId30"/>
    <p:sldId id="12436" r:id="rId31"/>
    <p:sldId id="12394" r:id="rId32"/>
    <p:sldId id="12395" r:id="rId33"/>
    <p:sldId id="12396" r:id="rId34"/>
    <p:sldId id="12397" r:id="rId35"/>
    <p:sldId id="12398" r:id="rId36"/>
    <p:sldId id="12399" r:id="rId37"/>
    <p:sldId id="12400" r:id="rId38"/>
    <p:sldId id="12401" r:id="rId39"/>
    <p:sldId id="12402" r:id="rId40"/>
    <p:sldId id="12434" r:id="rId41"/>
    <p:sldId id="12435" r:id="rId42"/>
    <p:sldId id="12404" r:id="rId43"/>
    <p:sldId id="12405" r:id="rId44"/>
    <p:sldId id="12403" r:id="rId45"/>
    <p:sldId id="11545" r:id="rId46"/>
    <p:sldId id="12427" r:id="rId47"/>
    <p:sldId id="12428" r:id="rId48"/>
    <p:sldId id="12429" r:id="rId49"/>
    <p:sldId id="12406" r:id="rId50"/>
    <p:sldId id="12407" r:id="rId51"/>
    <p:sldId id="12408" r:id="rId52"/>
    <p:sldId id="12409" r:id="rId53"/>
    <p:sldId id="12410" r:id="rId54"/>
    <p:sldId id="12411" r:id="rId55"/>
    <p:sldId id="12412" r:id="rId56"/>
    <p:sldId id="12413" r:id="rId57"/>
    <p:sldId id="12414" r:id="rId58"/>
    <p:sldId id="12415" r:id="rId59"/>
    <p:sldId id="12416" r:id="rId60"/>
    <p:sldId id="12417" r:id="rId61"/>
    <p:sldId id="12418" r:id="rId62"/>
    <p:sldId id="12419" r:id="rId63"/>
    <p:sldId id="12420" r:id="rId64"/>
    <p:sldId id="12421" r:id="rId65"/>
    <p:sldId id="12422" r:id="rId66"/>
    <p:sldId id="12423" r:id="rId67"/>
    <p:sldId id="12424" r:id="rId68"/>
    <p:sldId id="12425" r:id="rId69"/>
    <p:sldId id="12426" r:id="rId70"/>
    <p:sldId id="11888" r:id="rId7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374" autoAdjust="0"/>
  </p:normalViewPr>
  <p:slideViewPr>
    <p:cSldViewPr>
      <p:cViewPr varScale="1">
        <p:scale>
          <a:sx n="113" d="100"/>
          <a:sy n="113" d="100"/>
        </p:scale>
        <p:origin x="322" y="67"/>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charts/_rels/chart1.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21\W21%20(19.05-25.05.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1\W21%20(19.05-25.05.202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21\W21%20(19.05-25.05.202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21\W21%20(19.05-25.05.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1\W21%20(19.05-25.05.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1\W21%20(19.05-25.05.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1\DR-W21.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1\W21%20(19.05-25.05.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9</c:v>
                </c:pt>
                <c:pt idx="2">
                  <c:v>0</c:v>
                </c:pt>
                <c:pt idx="3">
                  <c:v>3</c:v>
                </c:pt>
                <c:pt idx="4">
                  <c:v>0</c:v>
                </c:pt>
                <c:pt idx="5">
                  <c:v>12</c:v>
                </c:pt>
              </c:numCache>
            </c:numRef>
          </c:val>
          <c:extLst xmlns:c15="http://schemas.microsoft.com/office/drawing/2012/chart">
            <c:ext xmlns:c16="http://schemas.microsoft.com/office/drawing/2014/chart" uri="{C3380CC4-5D6E-409C-BE32-E72D297353CC}">
              <c16:uniqueId val="{00000000-E77C-4D1C-9F82-5FCBE7951667}"/>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7</c:v>
                </c:pt>
                <c:pt idx="2">
                  <c:v>1</c:v>
                </c:pt>
                <c:pt idx="3">
                  <c:v>1</c:v>
                </c:pt>
                <c:pt idx="4">
                  <c:v>0</c:v>
                </c:pt>
                <c:pt idx="5">
                  <c:v>9</c:v>
                </c:pt>
              </c:numCache>
            </c:numRef>
          </c:val>
          <c:extLst>
            <c:ext xmlns:c16="http://schemas.microsoft.com/office/drawing/2014/chart" uri="{C3380CC4-5D6E-409C-BE32-E72D297353CC}">
              <c16:uniqueId val="{00000001-E77C-4D1C-9F82-5FCBE7951667}"/>
            </c:ext>
          </c:extLst>
        </c:ser>
        <c:dLbls>
          <c:dLblPos val="outEnd"/>
          <c:showLegendKey val="0"/>
          <c:showVal val="1"/>
          <c:showCatName val="0"/>
          <c:showSerName val="0"/>
          <c:showPercent val="0"/>
          <c:showBubbleSize val="0"/>
        </c:dLbls>
        <c:gapWidth val="219"/>
        <c:overlap val="-27"/>
        <c:axId val="326994968"/>
        <c:axId val="326995752"/>
        <c:extLst/>
      </c:barChart>
      <c:catAx>
        <c:axId val="326994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5752"/>
        <c:crosses val="autoZero"/>
        <c:auto val="1"/>
        <c:lblAlgn val="ctr"/>
        <c:lblOffset val="100"/>
        <c:noMultiLvlLbl val="0"/>
      </c:catAx>
      <c:valAx>
        <c:axId val="32699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496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0</c:v>
                </c:pt>
                <c:pt idx="3">
                  <c:v>2</c:v>
                </c:pt>
                <c:pt idx="4">
                  <c:v>0</c:v>
                </c:pt>
                <c:pt idx="5">
                  <c:v>2</c:v>
                </c:pt>
              </c:numCache>
            </c:numRef>
          </c:val>
          <c:extLst xmlns:c15="http://schemas.microsoft.com/office/drawing/2012/chart">
            <c:ext xmlns:c16="http://schemas.microsoft.com/office/drawing/2014/chart" uri="{C3380CC4-5D6E-409C-BE32-E72D297353CC}">
              <c16:uniqueId val="{00000000-BA6E-471F-8988-B8AC1260AD11}"/>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1</c:v>
                </c:pt>
                <c:pt idx="2">
                  <c:v>0</c:v>
                </c:pt>
                <c:pt idx="3">
                  <c:v>1</c:v>
                </c:pt>
                <c:pt idx="4">
                  <c:v>0</c:v>
                </c:pt>
                <c:pt idx="5">
                  <c:v>2</c:v>
                </c:pt>
              </c:numCache>
            </c:numRef>
          </c:val>
          <c:extLst>
            <c:ext xmlns:c16="http://schemas.microsoft.com/office/drawing/2014/chart" uri="{C3380CC4-5D6E-409C-BE32-E72D297353CC}">
              <c16:uniqueId val="{00000001-BA6E-471F-8988-B8AC1260AD11}"/>
            </c:ext>
          </c:extLst>
        </c:ser>
        <c:dLbls>
          <c:showLegendKey val="0"/>
          <c:showVal val="0"/>
          <c:showCatName val="0"/>
          <c:showSerName val="0"/>
          <c:showPercent val="0"/>
          <c:showBubbleSize val="0"/>
        </c:dLbls>
        <c:gapWidth val="219"/>
        <c:overlap val="-27"/>
        <c:axId val="326996144"/>
        <c:axId val="326996536"/>
        <c:extLst/>
      </c:barChart>
      <c:catAx>
        <c:axId val="326996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536"/>
        <c:crosses val="autoZero"/>
        <c:auto val="1"/>
        <c:lblAlgn val="ctr"/>
        <c:lblOffset val="100"/>
        <c:noMultiLvlLbl val="0"/>
      </c:catAx>
      <c:valAx>
        <c:axId val="326996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14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3</c:v>
                </c:pt>
                <c:pt idx="2">
                  <c:v>0</c:v>
                </c:pt>
                <c:pt idx="3">
                  <c:v>2</c:v>
                </c:pt>
                <c:pt idx="4">
                  <c:v>0</c:v>
                </c:pt>
                <c:pt idx="5">
                  <c:v>5</c:v>
                </c:pt>
              </c:numCache>
            </c:numRef>
          </c:val>
          <c:extLst xmlns:c15="http://schemas.microsoft.com/office/drawing/2012/chart">
            <c:ext xmlns:c16="http://schemas.microsoft.com/office/drawing/2014/chart" uri="{C3380CC4-5D6E-409C-BE32-E72D297353CC}">
              <c16:uniqueId val="{00000000-ABD6-45D9-97CA-2A0F9E98CBB6}"/>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1</c:v>
                </c:pt>
                <c:pt idx="2">
                  <c:v>0</c:v>
                </c:pt>
                <c:pt idx="3">
                  <c:v>0</c:v>
                </c:pt>
                <c:pt idx="4">
                  <c:v>2</c:v>
                </c:pt>
                <c:pt idx="5">
                  <c:v>3</c:v>
                </c:pt>
              </c:numCache>
            </c:numRef>
          </c:val>
          <c:extLst>
            <c:ext xmlns:c16="http://schemas.microsoft.com/office/drawing/2014/chart" uri="{C3380CC4-5D6E-409C-BE32-E72D297353CC}">
              <c16:uniqueId val="{00000001-ABD6-45D9-97CA-2A0F9E98CBB6}"/>
            </c:ext>
          </c:extLst>
        </c:ser>
        <c:dLbls>
          <c:dLblPos val="outEnd"/>
          <c:showLegendKey val="0"/>
          <c:showVal val="1"/>
          <c:showCatName val="0"/>
          <c:showSerName val="0"/>
          <c:showPercent val="0"/>
          <c:showBubbleSize val="0"/>
        </c:dLbls>
        <c:gapWidth val="219"/>
        <c:overlap val="-27"/>
        <c:axId val="329779328"/>
        <c:axId val="329774232"/>
        <c:extLst/>
      </c:barChart>
      <c:catAx>
        <c:axId val="32977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232"/>
        <c:crosses val="autoZero"/>
        <c:auto val="1"/>
        <c:lblAlgn val="ctr"/>
        <c:lblOffset val="100"/>
        <c:noMultiLvlLbl val="0"/>
      </c:catAx>
      <c:valAx>
        <c:axId val="329774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932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1</c:v>
                </c:pt>
                <c:pt idx="2">
                  <c:v>0</c:v>
                </c:pt>
                <c:pt idx="3">
                  <c:v>0</c:v>
                </c:pt>
                <c:pt idx="4">
                  <c:v>0</c:v>
                </c:pt>
                <c:pt idx="5">
                  <c:v>1</c:v>
                </c:pt>
              </c:numCache>
            </c:numRef>
          </c:val>
          <c:extLst xmlns:c15="http://schemas.microsoft.com/office/drawing/2012/chart">
            <c:ext xmlns:c16="http://schemas.microsoft.com/office/drawing/2014/chart" uri="{C3380CC4-5D6E-409C-BE32-E72D297353CC}">
              <c16:uniqueId val="{00000000-B059-44D8-995E-42351DCE22D1}"/>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B059-44D8-995E-42351DCE22D1}"/>
            </c:ext>
          </c:extLst>
        </c:ser>
        <c:dLbls>
          <c:showLegendKey val="0"/>
          <c:showVal val="0"/>
          <c:showCatName val="0"/>
          <c:showSerName val="0"/>
          <c:showPercent val="0"/>
          <c:showBubbleSize val="0"/>
        </c:dLbls>
        <c:gapWidth val="219"/>
        <c:overlap val="-27"/>
        <c:axId val="329774624"/>
        <c:axId val="330488232"/>
        <c:extLst/>
      </c:barChart>
      <c:catAx>
        <c:axId val="329774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0488232"/>
        <c:crosses val="autoZero"/>
        <c:auto val="1"/>
        <c:lblAlgn val="ctr"/>
        <c:lblOffset val="100"/>
        <c:noMultiLvlLbl val="0"/>
      </c:catAx>
      <c:valAx>
        <c:axId val="330488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62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2A57-446F-B6A3-5D928FC143C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numCache>
            </c:numRef>
          </c:val>
          <c:smooth val="0"/>
          <c:extLst>
            <c:ext xmlns:c16="http://schemas.microsoft.com/office/drawing/2014/chart" uri="{C3380CC4-5D6E-409C-BE32-E72D297353CC}">
              <c16:uniqueId val="{00000001-2A57-446F-B6A3-5D928FC143C4}"/>
            </c:ext>
          </c:extLst>
        </c:ser>
        <c:dLbls>
          <c:showLegendKey val="0"/>
          <c:showVal val="0"/>
          <c:showCatName val="0"/>
          <c:showSerName val="0"/>
          <c:showPercent val="0"/>
          <c:showBubbleSize val="0"/>
        </c:dLbls>
        <c:marker val="1"/>
        <c:smooth val="0"/>
        <c:axId val="325636512"/>
        <c:axId val="325632984"/>
      </c:lineChart>
      <c:catAx>
        <c:axId val="32563651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2984"/>
        <c:crosses val="autoZero"/>
        <c:auto val="1"/>
        <c:lblAlgn val="ctr"/>
        <c:lblOffset val="100"/>
        <c:noMultiLvlLbl val="0"/>
      </c:catAx>
      <c:valAx>
        <c:axId val="3256329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6512"/>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DB83-44C3-BE3E-2AA13996F128}"/>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numCache>
            </c:numRef>
          </c:val>
          <c:smooth val="0"/>
          <c:extLst>
            <c:ext xmlns:c16="http://schemas.microsoft.com/office/drawing/2014/chart" uri="{C3380CC4-5D6E-409C-BE32-E72D297353CC}">
              <c16:uniqueId val="{00000001-DB83-44C3-BE3E-2AA13996F128}"/>
            </c:ext>
          </c:extLst>
        </c:ser>
        <c:dLbls>
          <c:showLegendKey val="0"/>
          <c:showVal val="0"/>
          <c:showCatName val="0"/>
          <c:showSerName val="0"/>
          <c:showPercent val="0"/>
          <c:showBubbleSize val="0"/>
        </c:dLbls>
        <c:marker val="1"/>
        <c:smooth val="0"/>
        <c:axId val="325631808"/>
        <c:axId val="325638864"/>
      </c:lineChart>
      <c:catAx>
        <c:axId val="32563180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8864"/>
        <c:crosses val="autoZero"/>
        <c:auto val="1"/>
        <c:lblAlgn val="ctr"/>
        <c:lblOffset val="100"/>
        <c:noMultiLvlLbl val="0"/>
      </c:catAx>
      <c:valAx>
        <c:axId val="3256388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180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W20</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6403-4D34-8F69-6EFF3C36AAAD}"/>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99.600599101347981</c:v>
                </c:pt>
                <c:pt idx="1">
                  <c:v>100</c:v>
                </c:pt>
                <c:pt idx="2">
                  <c:v>98.583569405099155</c:v>
                </c:pt>
                <c:pt idx="3">
                  <c:v>100</c:v>
                </c:pt>
              </c:numCache>
            </c:numRef>
          </c:val>
          <c:extLst>
            <c:ext xmlns:c16="http://schemas.microsoft.com/office/drawing/2014/chart" uri="{C3380CC4-5D6E-409C-BE32-E72D297353CC}">
              <c16:uniqueId val="{00000001-6403-4D34-8F69-6EFF3C36AAAD}"/>
            </c:ext>
          </c:extLst>
        </c:ser>
        <c:ser>
          <c:idx val="1"/>
          <c:order val="1"/>
          <c:tx>
            <c:strRef>
              <c:f>DR!$D$3</c:f>
              <c:strCache>
                <c:ptCount val="1"/>
                <c:pt idx="0">
                  <c:v>W21</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99.724391364262743</c:v>
                </c:pt>
                <c:pt idx="1">
                  <c:v>99.462365591397855</c:v>
                </c:pt>
                <c:pt idx="2">
                  <c:v>99.721448467966567</c:v>
                </c:pt>
                <c:pt idx="3">
                  <c:v>99.082568807339456</c:v>
                </c:pt>
              </c:numCache>
            </c:numRef>
          </c:val>
          <c:extLst>
            <c:ext xmlns:c16="http://schemas.microsoft.com/office/drawing/2014/chart" uri="{C3380CC4-5D6E-409C-BE32-E72D297353CC}">
              <c16:uniqueId val="{00000002-6403-4D34-8F69-6EFF3C36AAAD}"/>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403-4D34-8F69-6EFF3C36AAAD}"/>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6403-4D34-8F69-6EFF3C36AAAD}"/>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6403-4D34-8F69-6EFF3C36AAAD}"/>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Sheet1!$D$8:$BC$8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Sheet1!$D$9:$BC$9</c:f>
              <c:numCache>
                <c:formatCode>General</c:formatCode>
                <c:ptCount val="16"/>
                <c:pt idx="0">
                  <c:v>31</c:v>
                </c:pt>
                <c:pt idx="1">
                  <c:v>30</c:v>
                </c:pt>
                <c:pt idx="2">
                  <c:v>29</c:v>
                </c:pt>
                <c:pt idx="3">
                  <c:v>27</c:v>
                </c:pt>
                <c:pt idx="4">
                  <c:v>25</c:v>
                </c:pt>
                <c:pt idx="5">
                  <c:v>24</c:v>
                </c:pt>
                <c:pt idx="6">
                  <c:v>24</c:v>
                </c:pt>
                <c:pt idx="7">
                  <c:v>23</c:v>
                </c:pt>
                <c:pt idx="8">
                  <c:v>23</c:v>
                </c:pt>
                <c:pt idx="9">
                  <c:v>23</c:v>
                </c:pt>
                <c:pt idx="10">
                  <c:v>22</c:v>
                </c:pt>
                <c:pt idx="11">
                  <c:v>22</c:v>
                </c:pt>
                <c:pt idx="12">
                  <c:v>22</c:v>
                </c:pt>
                <c:pt idx="13">
                  <c:v>22</c:v>
                </c:pt>
                <c:pt idx="14">
                  <c:v>24</c:v>
                </c:pt>
                <c:pt idx="15">
                  <c:v>24</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Sheet1!$D$10:$BC$10</c:f>
              <c:numCache>
                <c:formatCode>General</c:formatCode>
                <c:ptCount val="16"/>
                <c:pt idx="0">
                  <c:v>6</c:v>
                </c:pt>
                <c:pt idx="1">
                  <c:v>6</c:v>
                </c:pt>
                <c:pt idx="2">
                  <c:v>6</c:v>
                </c:pt>
                <c:pt idx="3">
                  <c:v>4</c:v>
                </c:pt>
                <c:pt idx="4">
                  <c:v>4</c:v>
                </c:pt>
                <c:pt idx="5">
                  <c:v>4</c:v>
                </c:pt>
                <c:pt idx="6">
                  <c:v>2</c:v>
                </c:pt>
                <c:pt idx="7">
                  <c:v>2</c:v>
                </c:pt>
                <c:pt idx="8">
                  <c:v>2</c:v>
                </c:pt>
                <c:pt idx="9">
                  <c:v>1</c:v>
                </c:pt>
                <c:pt idx="10">
                  <c:v>1</c:v>
                </c:pt>
                <c:pt idx="11">
                  <c:v>0</c:v>
                </c:pt>
                <c:pt idx="12">
                  <c:v>0</c:v>
                </c:pt>
                <c:pt idx="13">
                  <c:v>0</c:v>
                </c:pt>
                <c:pt idx="14">
                  <c:v>2</c:v>
                </c:pt>
                <c:pt idx="15">
                  <c:v>2</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Sheet1!$D$11:$BC$11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Sheet1!$D$12:$BC$12</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Sheet1!$A$10:$A$25</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Sheet1!$B$10:$B$25</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14.25</c:v>
                </c:pt>
                <c:pt idx="1">
                  <c:v>13.75</c:v>
                </c:pt>
                <c:pt idx="2">
                  <c:v>15.25</c:v>
                </c:pt>
                <c:pt idx="3">
                  <c:v>15</c:v>
                </c:pt>
                <c:pt idx="4">
                  <c:v>14.5</c:v>
                </c:pt>
                <c:pt idx="5">
                  <c:v>12</c:v>
                </c:pt>
                <c:pt idx="6">
                  <c:v>11.25</c:v>
                </c:pt>
                <c:pt idx="7">
                  <c:v>11.5</c:v>
                </c:pt>
                <c:pt idx="8">
                  <c:v>11.5</c:v>
                </c:pt>
                <c:pt idx="9">
                  <c:v>11.5</c:v>
                </c:pt>
                <c:pt idx="10">
                  <c:v>12</c:v>
                </c:pt>
                <c:pt idx="11">
                  <c:v>12</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c:v>
                </c:pt>
                <c:pt idx="7">
                  <c:v>0.5</c:v>
                </c:pt>
                <c:pt idx="8">
                  <c:v>1.5</c:v>
                </c:pt>
                <c:pt idx="9">
                  <c:v>2</c:v>
                </c:pt>
                <c:pt idx="10">
                  <c:v>2</c:v>
                </c:pt>
                <c:pt idx="11">
                  <c:v>2</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7</c:v>
                </c:pt>
                <c:pt idx="2">
                  <c:v>0</c:v>
                </c:pt>
                <c:pt idx="3">
                  <c:v>3</c:v>
                </c:pt>
                <c:pt idx="4">
                  <c:v>0</c:v>
                </c:pt>
                <c:pt idx="5" formatCode="0">
                  <c:v>10</c:v>
                </c:pt>
              </c:numCache>
            </c:numRef>
          </c:val>
          <c:extLst>
            <c:ext xmlns:c16="http://schemas.microsoft.com/office/drawing/2014/chart" uri="{C3380CC4-5D6E-409C-BE32-E72D297353CC}">
              <c16:uniqueId val="{00000000-BE91-4065-A05F-F090439B047F}"/>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2</c:v>
                </c:pt>
                <c:pt idx="2">
                  <c:v>0</c:v>
                </c:pt>
                <c:pt idx="3">
                  <c:v>2</c:v>
                </c:pt>
                <c:pt idx="4">
                  <c:v>0</c:v>
                </c:pt>
                <c:pt idx="5" formatCode="0">
                  <c:v>4</c:v>
                </c:pt>
              </c:numCache>
            </c:numRef>
          </c:val>
          <c:extLst>
            <c:ext xmlns:c16="http://schemas.microsoft.com/office/drawing/2014/chart" uri="{C3380CC4-5D6E-409C-BE32-E72D297353CC}">
              <c16:uniqueId val="{00000001-BE91-4065-A05F-F090439B047F}"/>
            </c:ext>
          </c:extLst>
        </c:ser>
        <c:dLbls>
          <c:showLegendKey val="0"/>
          <c:showVal val="0"/>
          <c:showCatName val="0"/>
          <c:showSerName val="0"/>
          <c:showPercent val="0"/>
          <c:showBubbleSize val="0"/>
        </c:dLbls>
        <c:gapWidth val="150"/>
        <c:axId val="325637296"/>
        <c:axId val="325636120"/>
      </c:barChart>
      <c:catAx>
        <c:axId val="325637296"/>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25636120"/>
        <c:crosses val="autoZero"/>
        <c:auto val="1"/>
        <c:lblAlgn val="ctr"/>
        <c:lblOffset val="100"/>
        <c:noMultiLvlLbl val="0"/>
      </c:catAx>
      <c:valAx>
        <c:axId val="325636120"/>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25637296"/>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6.2771921017402976E-2</c:v>
                </c:pt>
                <c:pt idx="1">
                  <c:v>8.0284451117784483E-2</c:v>
                </c:pt>
                <c:pt idx="2">
                  <c:v>8.7261368511368634E-2</c:v>
                </c:pt>
                <c:pt idx="3">
                  <c:v>0.14842171717171712</c:v>
                </c:pt>
                <c:pt idx="4">
                  <c:v>0.25611645299145325</c:v>
                </c:pt>
                <c:pt idx="5">
                  <c:v>0.25157585470085497</c:v>
                </c:pt>
                <c:pt idx="6">
                  <c:v>0.13320707070707061</c:v>
                </c:pt>
                <c:pt idx="7">
                  <c:v>0.13420985772357746</c:v>
                </c:pt>
                <c:pt idx="8">
                  <c:v>4.2303771661569858E-2</c:v>
                </c:pt>
              </c:numCache>
            </c:numRef>
          </c:val>
          <c:extLst>
            <c:ext xmlns:c16="http://schemas.microsoft.com/office/drawing/2014/chart" uri="{C3380CC4-5D6E-409C-BE32-E72D297353CC}">
              <c16:uniqueId val="{00000000-9377-49BC-92D6-0CF7E5FF32AA}"/>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6.2418300653594772E-2</c:v>
                </c:pt>
                <c:pt idx="1">
                  <c:v>7.9020962586952459E-2</c:v>
                </c:pt>
                <c:pt idx="2">
                  <c:v>8.305889652539146E-2</c:v>
                </c:pt>
                <c:pt idx="3">
                  <c:v>0.1382902298850574</c:v>
                </c:pt>
                <c:pt idx="4">
                  <c:v>0.24574296042618005</c:v>
                </c:pt>
                <c:pt idx="5">
                  <c:v>0.25007387706855827</c:v>
                </c:pt>
                <c:pt idx="6">
                  <c:v>0.13827972709551653</c:v>
                </c:pt>
                <c:pt idx="7">
                  <c:v>0.13208022967101207</c:v>
                </c:pt>
                <c:pt idx="8">
                  <c:v>4.2429621325361273E-2</c:v>
                </c:pt>
              </c:numCache>
            </c:numRef>
          </c:val>
          <c:extLst>
            <c:ext xmlns:c16="http://schemas.microsoft.com/office/drawing/2014/chart" uri="{C3380CC4-5D6E-409C-BE32-E72D297353CC}">
              <c16:uniqueId val="{00000001-9377-49BC-92D6-0CF7E5FF32AA}"/>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7.9047619047619042</c:v>
                </c:pt>
                <c:pt idx="1">
                  <c:v>6.0989010989010977</c:v>
                </c:pt>
                <c:pt idx="2">
                  <c:v>6.1666666666666661</c:v>
                </c:pt>
                <c:pt idx="3">
                  <c:v>2.6428571428571428</c:v>
                </c:pt>
                <c:pt idx="4">
                  <c:v>3.0252100840336134</c:v>
                </c:pt>
                <c:pt idx="5">
                  <c:v>7.7857142857142856</c:v>
                </c:pt>
              </c:numCache>
            </c:numRef>
          </c:val>
          <c:extLst>
            <c:ext xmlns:c16="http://schemas.microsoft.com/office/drawing/2014/chart" uri="{C3380CC4-5D6E-409C-BE32-E72D297353CC}">
              <c16:uniqueId val="{00000000-444B-487D-B845-5EBBB4A15EA5}"/>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8.0952380952380949</c:v>
                </c:pt>
                <c:pt idx="1">
                  <c:v>6.4945054945054945</c:v>
                </c:pt>
                <c:pt idx="2">
                  <c:v>6.9285714285714288</c:v>
                </c:pt>
                <c:pt idx="3">
                  <c:v>2.6493506493506493</c:v>
                </c:pt>
                <c:pt idx="4">
                  <c:v>3.1680672268907561</c:v>
                </c:pt>
                <c:pt idx="5">
                  <c:v>7.9642857142857144</c:v>
                </c:pt>
              </c:numCache>
            </c:numRef>
          </c:val>
          <c:extLst>
            <c:ext xmlns:c16="http://schemas.microsoft.com/office/drawing/2014/chart" uri="{C3380CC4-5D6E-409C-BE32-E72D297353CC}">
              <c16:uniqueId val="{00000001-444B-487D-B845-5EBBB4A15EA5}"/>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1C9C-4F92-AC02-B21F91CC3F23}"/>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1C9C-4F92-AC02-B21F91CC3F23}"/>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1C9C-4F92-AC02-B21F91CC3F23}"/>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1C9C-4F92-AC02-B21F91CC3F23}"/>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1C9C-4F92-AC02-B21F91CC3F23}"/>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1C9C-4F92-AC02-B21F91CC3F23}"/>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1C9C-4F92-AC02-B21F91CC3F23}"/>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1C9C-4F92-AC02-B21F91CC3F23}"/>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45796</c:v>
                </c:pt>
                <c:pt idx="1">
                  <c:v>45797</c:v>
                </c:pt>
                <c:pt idx="2">
                  <c:v>45798</c:v>
                </c:pt>
                <c:pt idx="3">
                  <c:v>45799</c:v>
                </c:pt>
                <c:pt idx="4">
                  <c:v>45800</c:v>
                </c:pt>
                <c:pt idx="5">
                  <c:v>45801</c:v>
                </c:pt>
                <c:pt idx="6">
                  <c:v>45802</c:v>
                </c:pt>
                <c:pt idx="7">
                  <c:v>45803</c:v>
                </c:pt>
                <c:pt idx="8">
                  <c:v>45804</c:v>
                </c:pt>
                <c:pt idx="9">
                  <c:v>45805</c:v>
                </c:pt>
                <c:pt idx="10">
                  <c:v>45806</c:v>
                </c:pt>
                <c:pt idx="11">
                  <c:v>45807</c:v>
                </c:pt>
                <c:pt idx="12">
                  <c:v>45808</c:v>
                </c:pt>
                <c:pt idx="13">
                  <c:v>45809</c:v>
                </c:pt>
                <c:pt idx="14">
                  <c:v>45810</c:v>
                </c:pt>
                <c:pt idx="15">
                  <c:v>45811</c:v>
                </c:pt>
                <c:pt idx="16">
                  <c:v>45812</c:v>
                </c:pt>
                <c:pt idx="17">
                  <c:v>45813</c:v>
                </c:pt>
                <c:pt idx="18">
                  <c:v>45814</c:v>
                </c:pt>
                <c:pt idx="19">
                  <c:v>45815</c:v>
                </c:pt>
                <c:pt idx="20">
                  <c:v>45816</c:v>
                </c:pt>
                <c:pt idx="21">
                  <c:v>45817</c:v>
                </c:pt>
                <c:pt idx="22">
                  <c:v>45818</c:v>
                </c:pt>
                <c:pt idx="23">
                  <c:v>45819</c:v>
                </c:pt>
                <c:pt idx="24">
                  <c:v>45820</c:v>
                </c:pt>
                <c:pt idx="25">
                  <c:v>45821</c:v>
                </c:pt>
                <c:pt idx="26">
                  <c:v>45822</c:v>
                </c:pt>
                <c:pt idx="27">
                  <c:v>45823</c:v>
                </c:pt>
                <c:pt idx="28">
                  <c:v>45824</c:v>
                </c:pt>
                <c:pt idx="29">
                  <c:v>45825</c:v>
                </c:pt>
                <c:pt idx="30">
                  <c:v>45826</c:v>
                </c:pt>
                <c:pt idx="31">
                  <c:v>45827</c:v>
                </c:pt>
                <c:pt idx="32">
                  <c:v>45828</c:v>
                </c:pt>
                <c:pt idx="33">
                  <c:v>45829</c:v>
                </c:pt>
                <c:pt idx="34">
                  <c:v>45830</c:v>
                </c:pt>
                <c:pt idx="35">
                  <c:v>45831</c:v>
                </c:pt>
                <c:pt idx="36">
                  <c:v>45832</c:v>
                </c:pt>
                <c:pt idx="37">
                  <c:v>45833</c:v>
                </c:pt>
                <c:pt idx="38">
                  <c:v>45834</c:v>
                </c:pt>
                <c:pt idx="39">
                  <c:v>45835</c:v>
                </c:pt>
                <c:pt idx="40">
                  <c:v>45836</c:v>
                </c:pt>
                <c:pt idx="41">
                  <c:v>45837</c:v>
                </c:pt>
                <c:pt idx="42">
                  <c:v>45838</c:v>
                </c:pt>
              </c:numCache>
            </c:numRef>
          </c:cat>
          <c:val>
            <c:numRef>
              <c:f>Week!$B$36:$BD$36</c:f>
              <c:numCache>
                <c:formatCode>General</c:formatCode>
                <c:ptCount val="55"/>
                <c:pt idx="0">
                  <c:v>406</c:v>
                </c:pt>
                <c:pt idx="1">
                  <c:v>393</c:v>
                </c:pt>
                <c:pt idx="2">
                  <c:v>396</c:v>
                </c:pt>
                <c:pt idx="3">
                  <c:v>426</c:v>
                </c:pt>
                <c:pt idx="4">
                  <c:v>430</c:v>
                </c:pt>
                <c:pt idx="5">
                  <c:v>429</c:v>
                </c:pt>
                <c:pt idx="6">
                  <c:v>460</c:v>
                </c:pt>
                <c:pt idx="7">
                  <c:v>437</c:v>
                </c:pt>
                <c:pt idx="8">
                  <c:v>429</c:v>
                </c:pt>
                <c:pt idx="9">
                  <c:v>433</c:v>
                </c:pt>
                <c:pt idx="10">
                  <c:v>448</c:v>
                </c:pt>
                <c:pt idx="11">
                  <c:v>450</c:v>
                </c:pt>
                <c:pt idx="12">
                  <c:v>460</c:v>
                </c:pt>
                <c:pt idx="13">
                  <c:v>492</c:v>
                </c:pt>
                <c:pt idx="14">
                  <c:v>485</c:v>
                </c:pt>
                <c:pt idx="15">
                  <c:v>461</c:v>
                </c:pt>
                <c:pt idx="16">
                  <c:v>475</c:v>
                </c:pt>
                <c:pt idx="17">
                  <c:v>481</c:v>
                </c:pt>
                <c:pt idx="18">
                  <c:v>494</c:v>
                </c:pt>
                <c:pt idx="19">
                  <c:v>484</c:v>
                </c:pt>
                <c:pt idx="20">
                  <c:v>496</c:v>
                </c:pt>
                <c:pt idx="21">
                  <c:v>485</c:v>
                </c:pt>
                <c:pt idx="22">
                  <c:v>484</c:v>
                </c:pt>
                <c:pt idx="23">
                  <c:v>496</c:v>
                </c:pt>
                <c:pt idx="24">
                  <c:v>488</c:v>
                </c:pt>
                <c:pt idx="25">
                  <c:v>500</c:v>
                </c:pt>
                <c:pt idx="26">
                  <c:v>494</c:v>
                </c:pt>
                <c:pt idx="27">
                  <c:v>502</c:v>
                </c:pt>
                <c:pt idx="28">
                  <c:v>490</c:v>
                </c:pt>
                <c:pt idx="29">
                  <c:v>480</c:v>
                </c:pt>
                <c:pt idx="30">
                  <c:v>486</c:v>
                </c:pt>
                <c:pt idx="31">
                  <c:v>488</c:v>
                </c:pt>
                <c:pt idx="32">
                  <c:v>501</c:v>
                </c:pt>
                <c:pt idx="33">
                  <c:v>503</c:v>
                </c:pt>
                <c:pt idx="34">
                  <c:v>507</c:v>
                </c:pt>
                <c:pt idx="35">
                  <c:v>505</c:v>
                </c:pt>
                <c:pt idx="36">
                  <c:v>487</c:v>
                </c:pt>
                <c:pt idx="37">
                  <c:v>506</c:v>
                </c:pt>
                <c:pt idx="38">
                  <c:v>508</c:v>
                </c:pt>
                <c:pt idx="39">
                  <c:v>517</c:v>
                </c:pt>
                <c:pt idx="40">
                  <c:v>509</c:v>
                </c:pt>
                <c:pt idx="41">
                  <c:v>523</c:v>
                </c:pt>
                <c:pt idx="42">
                  <c:v>513</c:v>
                </c:pt>
              </c:numCache>
            </c:numRef>
          </c:val>
          <c:extLst>
            <c:ext xmlns:c16="http://schemas.microsoft.com/office/drawing/2014/chart" uri="{C3380CC4-5D6E-409C-BE32-E72D297353CC}">
              <c16:uniqueId val="{00000010-1C9C-4F92-AC02-B21F91CC3F23}"/>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5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5/25/2025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923295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86476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8168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EC045CA-2D68-7C12-0581-92AB9D30121E}"/>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D14FB83-120B-A087-E257-1B0077B8EA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5888521-461F-0D89-A8FF-34D232FEFF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99F3911-231A-C1D6-D24A-55C04CFDA53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70591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DF57EF7-137B-4437-FFBE-E18FF5D63A6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D34EBC3-06D2-3E82-996E-70CB89B354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090AF30-8AA2-FF2B-24AA-3D1ECE6B56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7C647E1-A398-89ED-55B9-2FD2BBCE335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32243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770010D-7ACF-1BB1-96C0-30DCA45789FA}"/>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F759C63-FB53-B60B-EC82-9BB49E5437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E3DB51F-4F1F-8CF2-53A6-7CF4EC369E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6EDF759-9809-2E15-3B5E-2054E9F3DF9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47996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2763928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B73323C-DF21-49BE-A89C-D45EDA8FEF0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3A3E02E0-C56A-1235-369A-2424B4F63E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CBDDF29-DC35-138A-12C6-7893157AF9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C22D819-C620-D97A-A726-315268F65DB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50651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915302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3604857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A0720E9-0DB4-5D46-1796-D8C243C8DA8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21B4200-7896-3846-5157-EFAF2C2C6F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0836876-6A0B-8613-1880-85974DBC97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AFE5461-7FF1-598B-ACC3-508156CC34E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57322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6663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1896454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1277685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E4C37AC-0831-38E1-534C-323C23BC196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F628CB4-9CD3-AD95-8A1A-6D97796249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082B314-BEB5-F8A1-7D77-458846CA76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5BACCCF-83CF-3229-D1AC-C582F2A05BE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05577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15C6D1E-D6FD-8D2D-4235-62366D1BDBD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80B6BCB-853F-3F9D-344A-23B2F7E23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EB8F982-A31C-7CB1-9B7A-29C8E5E9C0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AC0315F-EF69-0125-D01A-6B05E25B2A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8357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1330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402239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199015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2802553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258852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26301535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1722561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33</a:t>
            </a:fld>
            <a:endParaRPr lang="en-US"/>
          </a:p>
        </p:txBody>
      </p:sp>
    </p:spTree>
    <p:extLst>
      <p:ext uri="{BB962C8B-B14F-4D97-AF65-F5344CB8AC3E}">
        <p14:creationId xmlns:p14="http://schemas.microsoft.com/office/powerpoint/2010/main" val="923429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extLst>
      <p:ext uri="{BB962C8B-B14F-4D97-AF65-F5344CB8AC3E}">
        <p14:creationId xmlns:p14="http://schemas.microsoft.com/office/powerpoint/2010/main" val="979323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extLst>
      <p:ext uri="{BB962C8B-B14F-4D97-AF65-F5344CB8AC3E}">
        <p14:creationId xmlns:p14="http://schemas.microsoft.com/office/powerpoint/2010/main" val="25856084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37</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85517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38</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4137264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40</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01135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89179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2750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extLst>
      <p:ext uri="{BB962C8B-B14F-4D97-AF65-F5344CB8AC3E}">
        <p14:creationId xmlns:p14="http://schemas.microsoft.com/office/powerpoint/2010/main" val="5938917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extLst>
      <p:ext uri="{BB962C8B-B14F-4D97-AF65-F5344CB8AC3E}">
        <p14:creationId xmlns:p14="http://schemas.microsoft.com/office/powerpoint/2010/main" val="34527395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653104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2452485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374682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14351340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345067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51</a:t>
            </a:fld>
            <a:endParaRPr/>
          </a:p>
        </p:txBody>
      </p:sp>
    </p:spTree>
    <p:extLst>
      <p:ext uri="{BB962C8B-B14F-4D97-AF65-F5344CB8AC3E}">
        <p14:creationId xmlns:p14="http://schemas.microsoft.com/office/powerpoint/2010/main" val="11058214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52</a:t>
            </a:fld>
            <a:endParaRPr/>
          </a:p>
        </p:txBody>
      </p:sp>
    </p:spTree>
    <p:extLst>
      <p:ext uri="{BB962C8B-B14F-4D97-AF65-F5344CB8AC3E}">
        <p14:creationId xmlns:p14="http://schemas.microsoft.com/office/powerpoint/2010/main" val="4505458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188918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29235508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311424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15946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57</a:t>
            </a:fld>
            <a:endParaRPr sz="1200">
              <a:latin typeface="Calibri"/>
              <a:ea typeface="Calibri"/>
              <a:cs typeface="Calibri"/>
              <a:sym typeface="Calibri"/>
            </a:endParaRPr>
          </a:p>
        </p:txBody>
      </p:sp>
    </p:spTree>
    <p:extLst>
      <p:ext uri="{BB962C8B-B14F-4D97-AF65-F5344CB8AC3E}">
        <p14:creationId xmlns:p14="http://schemas.microsoft.com/office/powerpoint/2010/main" val="36053242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58</a:t>
            </a:fld>
            <a:endParaRPr sz="1200">
              <a:latin typeface="Calibri"/>
              <a:ea typeface="Calibri"/>
              <a:cs typeface="Calibri"/>
              <a:sym typeface="Calibri"/>
            </a:endParaRPr>
          </a:p>
        </p:txBody>
      </p:sp>
    </p:spTree>
    <p:extLst>
      <p:ext uri="{BB962C8B-B14F-4D97-AF65-F5344CB8AC3E}">
        <p14:creationId xmlns:p14="http://schemas.microsoft.com/office/powerpoint/2010/main" val="41372298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59</a:t>
            </a:fld>
            <a:endParaRPr sz="1200">
              <a:latin typeface="Calibri"/>
              <a:ea typeface="Calibri"/>
              <a:cs typeface="Calibri"/>
              <a:sym typeface="Calibri"/>
            </a:endParaRPr>
          </a:p>
        </p:txBody>
      </p:sp>
    </p:spTree>
    <p:extLst>
      <p:ext uri="{BB962C8B-B14F-4D97-AF65-F5344CB8AC3E}">
        <p14:creationId xmlns:p14="http://schemas.microsoft.com/office/powerpoint/2010/main" val="33923689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60</a:t>
            </a:fld>
            <a:endParaRPr sz="1200">
              <a:latin typeface="Calibri"/>
              <a:ea typeface="Calibri"/>
              <a:cs typeface="Calibri"/>
              <a:sym typeface="Calibri"/>
            </a:endParaRPr>
          </a:p>
        </p:txBody>
      </p:sp>
    </p:spTree>
    <p:extLst>
      <p:ext uri="{BB962C8B-B14F-4D97-AF65-F5344CB8AC3E}">
        <p14:creationId xmlns:p14="http://schemas.microsoft.com/office/powerpoint/2010/main" val="34012054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61</a:t>
            </a:fld>
            <a:endParaRPr sz="1200">
              <a:latin typeface="Calibri"/>
              <a:ea typeface="Calibri"/>
              <a:cs typeface="Calibri"/>
              <a:sym typeface="Calibri"/>
            </a:endParaRPr>
          </a:p>
        </p:txBody>
      </p:sp>
    </p:spTree>
    <p:extLst>
      <p:ext uri="{BB962C8B-B14F-4D97-AF65-F5344CB8AC3E}">
        <p14:creationId xmlns:p14="http://schemas.microsoft.com/office/powerpoint/2010/main" val="13373113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3611123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132674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502584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54164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ahoma" pitchFamily="34" charset="0"/>
                <a:ea typeface="Tahoma" pitchFamily="34" charset="0"/>
                <a:cs typeface="Tahoma" pitchFamily="34" charset="0"/>
              </a:defRPr>
            </a:lvl1pPr>
            <a:lvl2pPr>
              <a:lnSpc>
                <a:spcPct val="150000"/>
              </a:lnSpc>
              <a:buFont typeface="Wingdings" pitchFamily="2" charset="2"/>
              <a:buChar char="ü"/>
              <a:defRPr sz="2000">
                <a:latin typeface="Tahoma" pitchFamily="34" charset="0"/>
                <a:ea typeface="Tahoma" pitchFamily="34" charset="0"/>
                <a:cs typeface="Tahoma" pitchFamily="34" charset="0"/>
              </a:defRPr>
            </a:lvl2pPr>
            <a:lvl3pPr>
              <a:lnSpc>
                <a:spcPct val="150000"/>
              </a:lnSpc>
              <a:buFont typeface="Wingdings" pitchFamily="2" charset="2"/>
              <a:buChar char="ü"/>
              <a:defRPr sz="2000">
                <a:latin typeface="Tahoma" pitchFamily="34" charset="0"/>
                <a:ea typeface="Tahoma" pitchFamily="34" charset="0"/>
                <a:cs typeface="Tahoma" pitchFamily="34" charset="0"/>
              </a:defRPr>
            </a:lvl3pPr>
            <a:lvl4pPr>
              <a:lnSpc>
                <a:spcPct val="150000"/>
              </a:lnSpc>
              <a:buFont typeface="Wingdings" pitchFamily="2" charset="2"/>
              <a:buChar char="ü"/>
              <a:defRPr sz="2000">
                <a:latin typeface="Tahoma" pitchFamily="34" charset="0"/>
                <a:ea typeface="Tahoma" pitchFamily="34" charset="0"/>
                <a:cs typeface="Tahoma" pitchFamily="34" charset="0"/>
              </a:defRPr>
            </a:lvl4pPr>
            <a:lvl5pPr>
              <a:lnSpc>
                <a:spcPct val="150000"/>
              </a:lnSpc>
              <a:buFont typeface="Wingdings" pitchFamily="2" charset="2"/>
              <a:buChar char="ü"/>
              <a:defRPr sz="2000">
                <a:latin typeface="Tahoma" pitchFamily="34" charset="0"/>
                <a:ea typeface="Tahoma" pitchFamily="34" charset="0"/>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ahoma" pitchFamily="34" charset="0"/>
                <a:ea typeface="Tahoma" pitchFamily="34" charset="0"/>
                <a:cs typeface="Tahoma" pitchFamily="34"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40191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387442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3874420"/>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600798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07361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68591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37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1347910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690236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15412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5/25/2025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5/25/2025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427784588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24"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21</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19/05/2025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3651179665"/>
              </p:ext>
            </p:extLst>
          </p:nvPr>
        </p:nvGraphicFramePr>
        <p:xfrm>
          <a:off x="6329564" y="879323"/>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4192308433"/>
              </p:ext>
            </p:extLst>
          </p:nvPr>
        </p:nvGraphicFramePr>
        <p:xfrm>
          <a:off x="1680450" y="3616808"/>
          <a:ext cx="409765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576935378"/>
              </p:ext>
            </p:extLst>
          </p:nvPr>
        </p:nvGraphicFramePr>
        <p:xfrm>
          <a:off x="1680450" y="879323"/>
          <a:ext cx="4116705"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3376437697"/>
              </p:ext>
            </p:extLst>
          </p:nvPr>
        </p:nvGraphicFramePr>
        <p:xfrm>
          <a:off x="6335550" y="3625537"/>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886001278"/>
              </p:ext>
            </p:extLst>
          </p:nvPr>
        </p:nvGraphicFramePr>
        <p:xfrm>
          <a:off x="1295400" y="838200"/>
          <a:ext cx="96202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1486876366"/>
              </p:ext>
            </p:extLst>
          </p:nvPr>
        </p:nvGraphicFramePr>
        <p:xfrm>
          <a:off x="1293640" y="3754755"/>
          <a:ext cx="9609945" cy="27431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2		    DIV: 00</a:t>
            </a:r>
          </a:p>
        </p:txBody>
      </p:sp>
      <p:graphicFrame>
        <p:nvGraphicFramePr>
          <p:cNvPr id="3" name="Table 2">
            <a:extLst>
              <a:ext uri="{FF2B5EF4-FFF2-40B4-BE49-F238E27FC236}">
                <a16:creationId xmlns:a16="http://schemas.microsoft.com/office/drawing/2014/main" id="{B2C9F51D-11B1-05AF-482E-4EB7458CBE88}"/>
              </a:ext>
            </a:extLst>
          </p:cNvPr>
          <p:cNvGraphicFramePr>
            <a:graphicFrameLocks noGrp="1"/>
          </p:cNvGraphicFramePr>
          <p:nvPr>
            <p:extLst/>
          </p:nvPr>
        </p:nvGraphicFramePr>
        <p:xfrm>
          <a:off x="333918" y="1317213"/>
          <a:ext cx="11496959" cy="4916868"/>
        </p:xfrm>
        <a:graphic>
          <a:graphicData uri="http://schemas.openxmlformats.org/drawingml/2006/table">
            <a:tbl>
              <a:tblPr/>
              <a:tblGrid>
                <a:gridCol w="447960">
                  <a:extLst>
                    <a:ext uri="{9D8B030D-6E8A-4147-A177-3AD203B41FA5}">
                      <a16:colId xmlns:a16="http://schemas.microsoft.com/office/drawing/2014/main" val="3177334110"/>
                    </a:ext>
                  </a:extLst>
                </a:gridCol>
                <a:gridCol w="361122">
                  <a:extLst>
                    <a:ext uri="{9D8B030D-6E8A-4147-A177-3AD203B41FA5}">
                      <a16:colId xmlns:a16="http://schemas.microsoft.com/office/drawing/2014/main" val="4176402646"/>
                    </a:ext>
                  </a:extLst>
                </a:gridCol>
                <a:gridCol w="629478">
                  <a:extLst>
                    <a:ext uri="{9D8B030D-6E8A-4147-A177-3AD203B41FA5}">
                      <a16:colId xmlns:a16="http://schemas.microsoft.com/office/drawing/2014/main" val="1997874898"/>
                    </a:ext>
                  </a:extLst>
                </a:gridCol>
                <a:gridCol w="609600">
                  <a:extLst>
                    <a:ext uri="{9D8B030D-6E8A-4147-A177-3AD203B41FA5}">
                      <a16:colId xmlns:a16="http://schemas.microsoft.com/office/drawing/2014/main" val="824987781"/>
                    </a:ext>
                  </a:extLst>
                </a:gridCol>
                <a:gridCol w="838200">
                  <a:extLst>
                    <a:ext uri="{9D8B030D-6E8A-4147-A177-3AD203B41FA5}">
                      <a16:colId xmlns:a16="http://schemas.microsoft.com/office/drawing/2014/main" val="1804810850"/>
                    </a:ext>
                  </a:extLst>
                </a:gridCol>
                <a:gridCol w="762000">
                  <a:extLst>
                    <a:ext uri="{9D8B030D-6E8A-4147-A177-3AD203B41FA5}">
                      <a16:colId xmlns:a16="http://schemas.microsoft.com/office/drawing/2014/main" val="4192528318"/>
                    </a:ext>
                  </a:extLst>
                </a:gridCol>
                <a:gridCol w="1524000">
                  <a:extLst>
                    <a:ext uri="{9D8B030D-6E8A-4147-A177-3AD203B41FA5}">
                      <a16:colId xmlns:a16="http://schemas.microsoft.com/office/drawing/2014/main" val="803048295"/>
                    </a:ext>
                  </a:extLst>
                </a:gridCol>
                <a:gridCol w="1808922">
                  <a:extLst>
                    <a:ext uri="{9D8B030D-6E8A-4147-A177-3AD203B41FA5}">
                      <a16:colId xmlns:a16="http://schemas.microsoft.com/office/drawing/2014/main" val="1895407870"/>
                    </a:ext>
                  </a:extLst>
                </a:gridCol>
                <a:gridCol w="762000">
                  <a:extLst>
                    <a:ext uri="{9D8B030D-6E8A-4147-A177-3AD203B41FA5}">
                      <a16:colId xmlns:a16="http://schemas.microsoft.com/office/drawing/2014/main" val="3943976445"/>
                    </a:ext>
                  </a:extLst>
                </a:gridCol>
                <a:gridCol w="3753677">
                  <a:extLst>
                    <a:ext uri="{9D8B030D-6E8A-4147-A177-3AD203B41FA5}">
                      <a16:colId xmlns:a16="http://schemas.microsoft.com/office/drawing/2014/main" val="3026404304"/>
                    </a:ext>
                  </a:extLst>
                </a:gridCol>
              </a:tblGrid>
              <a:tr h="115556">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32619750"/>
                  </a:ext>
                </a:extLst>
              </a:tr>
              <a:tr h="1155560">
                <a:tc>
                  <a:txBody>
                    <a:bodyPr/>
                    <a:lstStyle/>
                    <a:p>
                      <a:pPr algn="l" fontAlgn="b"/>
                      <a:r>
                        <a:rPr lang="vi-VN" sz="1100" b="0" i="0" u="none" strike="noStrike" dirty="0">
                          <a:solidFill>
                            <a:srgbClr val="000000"/>
                          </a:solidFill>
                          <a:effectLst/>
                          <a:latin typeface="+mn-lt"/>
                        </a:rPr>
                        <a:t>A608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VN594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SGN-HKG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14:45 19/05/2025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A608 GTB ENG FOUND ENG 2 LP FUEL VALVE FAULT DURING PUSHBACK; START ENG FOUND ENG 2 FUEL VALVE FAULT. TSV ADVISED VIA VHF NIL HELP. CAPT DECIDED RETURN GATE BAY 92-TSN. T/S IN PROGRESS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FINAL ACTION: C/O RESET CB ; MASTER SWITCH ENG, C/O E.R.U IDLE TEST FOUND SATIS. A/C SERVICEABLE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100 MINS. TECH DELAY 50 MINS</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LP fuel valve trên A608 đã thực hiện ops test theo chương trình chủ động của KT vào tháng 03/2024 nil findings. Hiện các valve này đang được thực hiện kiểm tra theo tần suất 24MO để phát hiện sớm hỏng hóc (thay vì theo tần suất của AMP là 180MO/ 24000FH). Theo đánh giá của AIB thì ĐTC của valve này theo ww vẫn ở mức cao nên AIB chưa có ý định nghiên cứu giải pháp cải tiến. Theo dõi trend trên module SPM thì không thấy bất thường và không có cảnh báo trước. Sau khi reset thì msg biến mất, tuy nhiên khi tàu NS Vaeco vẫn yêu cầu tháo để theo dõi thêm. Khối tháo xuống có TSN 26k FH. Số lượng tháo lắp: 2023 (3); 2024 (5); 2025 (2). Ban KT sẽ làm việc thêm với AIB về cảnh báo SPM đối với thiết bị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404490"/>
                  </a:ext>
                </a:extLst>
              </a:tr>
              <a:tr h="693336">
                <a:tc>
                  <a:txBody>
                    <a:bodyPr/>
                    <a:lstStyle/>
                    <a:p>
                      <a:pPr algn="l" fontAlgn="b"/>
                      <a:r>
                        <a:rPr lang="vi-VN" sz="1100" b="0" i="0" u="none" strike="noStrike" dirty="0">
                          <a:solidFill>
                            <a:srgbClr val="000000"/>
                          </a:solidFill>
                          <a:effectLst/>
                          <a:latin typeface="+mn-lt"/>
                        </a:rPr>
                        <a:t>A872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19:31 21/05/2025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A/C RTG CAPT REPORT ANTI-ICE CAC INLET R INOP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APPLIED MEL 30-22-01A. EVENT CLOSE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ANTI-ICE CAC INLET R INOP</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75MIN, tech 15MIN</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Tàu thay khối heater Lip PN 491Z4996-1 để khắc phục hỏng hóc.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Khi tàu ở mặt đât, ADRs sẽ lấy OAT từ sensor trên khối Heater Lip này để tính V speed. Mỗi bên CAC inlet sẽ có 2 sensor. Khi khối này hỏng, tổ bay sẽ nhập OAT vào FMC để tính toán, nhưng không thành công, dẫn đến phải quay lại gate để deactive CIPS. Theo thông tin từ BOE, hệ thống không cho nhập OAT có thể do 1 sensor nhiệt của CAC inlet heater Lip vẫn còn hoạt động. Khi deactive cả CAC inet heater thì nhập OAT bình thường.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Theo FTD-30-15001 Hỏng hóc có thể do harness bị trà sát với các chi tiết xung quanh. Giải pháp là thực hiện 787-SB-30-0019 để lắp dây mới. SB released 2017 prior to L/N 446, đã hoàn thành SB cho các tàu bị ảnh hưởng năm 2019. Khi thay heat lip, tàu A872 đã được kiển tra harness và không có finding.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ĐTC: Khối heater lip chưa từng tháo lắp US, cần theo dõi thêm về ĐTC của khối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0107233"/>
                  </a:ext>
                </a:extLst>
              </a:tr>
            </a:tbl>
          </a:graphicData>
        </a:graphic>
      </p:graphicFrame>
    </p:spTree>
    <p:custDataLst>
      <p:tags r:id="rId1"/>
    </p:custDataLst>
    <p:extLst>
      <p:ext uri="{BB962C8B-B14F-4D97-AF65-F5344CB8AC3E}">
        <p14:creationId xmlns:p14="http://schemas.microsoft.com/office/powerpoint/2010/main" val="45312204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232883561"/>
              </p:ext>
            </p:extLst>
          </p:nvPr>
        </p:nvGraphicFramePr>
        <p:xfrm>
          <a:off x="375271" y="1079799"/>
          <a:ext cx="11463227" cy="977812"/>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1">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319580">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636172">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NIL</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223004" y="2308435"/>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8" name="Table 7"/>
          <p:cNvGraphicFramePr>
            <a:graphicFrameLocks noGrp="1"/>
          </p:cNvGraphicFramePr>
          <p:nvPr>
            <p:extLst>
              <p:ext uri="{D42A27DB-BD31-4B8C-83A1-F6EECF244321}">
                <p14:modId xmlns:p14="http://schemas.microsoft.com/office/powerpoint/2010/main" val="1023886330"/>
              </p:ext>
            </p:extLst>
          </p:nvPr>
        </p:nvGraphicFramePr>
        <p:xfrm>
          <a:off x="375271" y="2807629"/>
          <a:ext cx="11463227" cy="1026549"/>
        </p:xfrm>
        <a:graphic>
          <a:graphicData uri="http://schemas.openxmlformats.org/drawingml/2006/table">
            <a:tbl>
              <a:tblPr/>
              <a:tblGrid>
                <a:gridCol w="250837">
                  <a:extLst>
                    <a:ext uri="{9D8B030D-6E8A-4147-A177-3AD203B41FA5}">
                      <a16:colId xmlns:a16="http://schemas.microsoft.com/office/drawing/2014/main" val="3244228297"/>
                    </a:ext>
                  </a:extLst>
                </a:gridCol>
                <a:gridCol w="476589">
                  <a:extLst>
                    <a:ext uri="{9D8B030D-6E8A-4147-A177-3AD203B41FA5}">
                      <a16:colId xmlns:a16="http://schemas.microsoft.com/office/drawing/2014/main" val="2225707588"/>
                    </a:ext>
                  </a:extLst>
                </a:gridCol>
                <a:gridCol w="451506">
                  <a:extLst>
                    <a:ext uri="{9D8B030D-6E8A-4147-A177-3AD203B41FA5}">
                      <a16:colId xmlns:a16="http://schemas.microsoft.com/office/drawing/2014/main" val="1161931360"/>
                    </a:ext>
                  </a:extLst>
                </a:gridCol>
                <a:gridCol w="1216557">
                  <a:extLst>
                    <a:ext uri="{9D8B030D-6E8A-4147-A177-3AD203B41FA5}">
                      <a16:colId xmlns:a16="http://schemas.microsoft.com/office/drawing/2014/main" val="3981813867"/>
                    </a:ext>
                  </a:extLst>
                </a:gridCol>
                <a:gridCol w="451506">
                  <a:extLst>
                    <a:ext uri="{9D8B030D-6E8A-4147-A177-3AD203B41FA5}">
                      <a16:colId xmlns:a16="http://schemas.microsoft.com/office/drawing/2014/main" val="1574044073"/>
                    </a:ext>
                  </a:extLst>
                </a:gridCol>
                <a:gridCol w="739968">
                  <a:extLst>
                    <a:ext uri="{9D8B030D-6E8A-4147-A177-3AD203B41FA5}">
                      <a16:colId xmlns:a16="http://schemas.microsoft.com/office/drawing/2014/main" val="4180169579"/>
                    </a:ext>
                  </a:extLst>
                </a:gridCol>
                <a:gridCol w="815218">
                  <a:extLst>
                    <a:ext uri="{9D8B030D-6E8A-4147-A177-3AD203B41FA5}">
                      <a16:colId xmlns:a16="http://schemas.microsoft.com/office/drawing/2014/main" val="2405210718"/>
                    </a:ext>
                  </a:extLst>
                </a:gridCol>
                <a:gridCol w="953178">
                  <a:extLst>
                    <a:ext uri="{9D8B030D-6E8A-4147-A177-3AD203B41FA5}">
                      <a16:colId xmlns:a16="http://schemas.microsoft.com/office/drawing/2014/main" val="2983616961"/>
                    </a:ext>
                  </a:extLst>
                </a:gridCol>
                <a:gridCol w="3173081">
                  <a:extLst>
                    <a:ext uri="{9D8B030D-6E8A-4147-A177-3AD203B41FA5}">
                      <a16:colId xmlns:a16="http://schemas.microsoft.com/office/drawing/2014/main" val="365641038"/>
                    </a:ext>
                  </a:extLst>
                </a:gridCol>
                <a:gridCol w="2934787">
                  <a:extLst>
                    <a:ext uri="{9D8B030D-6E8A-4147-A177-3AD203B41FA5}">
                      <a16:colId xmlns:a16="http://schemas.microsoft.com/office/drawing/2014/main" val="3003986264"/>
                    </a:ext>
                  </a:extLst>
                </a:gridCol>
              </a:tblGrid>
              <a:tr h="31753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13825693"/>
                  </a:ext>
                </a:extLst>
              </a:tr>
              <a:tr h="317539">
                <a:tc>
                  <a:txBody>
                    <a:bodyPr/>
                    <a:lstStyle/>
                    <a:p>
                      <a:pPr algn="ctr" fontAlgn="ctr"/>
                      <a:r>
                        <a:rPr lang="en-150"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A614</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100" b="0" i="0" u="none" strike="noStrike">
                          <a:solidFill>
                            <a:srgbClr val="000000"/>
                          </a:solidFill>
                          <a:effectLst/>
                          <a:latin typeface="Times New Roman" panose="02020603050405020304" pitchFamily="18" charset="0"/>
                          <a:cs typeface="Times New Roman" panose="02020603050405020304" pitchFamily="18" charset="0"/>
                        </a:rPr>
                        <a:t>24/05/2025 23:02</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VN7253</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T/X FOUND MW #2 INNER SHOULDER WORN TO 0 mm</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ONE, CHECK SATIS.</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7677028"/>
                  </a:ext>
                </a:extLst>
              </a:tr>
              <a:tr h="317539">
                <a:tc>
                  <a:txBody>
                    <a:bodyPr/>
                    <a:lstStyle/>
                    <a:p>
                      <a:pPr algn="ctr" fontAlgn="ctr"/>
                      <a:r>
                        <a:rPr lang="en-150"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A611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100" b="0" i="0" u="none" strike="noStrike">
                          <a:solidFill>
                            <a:srgbClr val="000000"/>
                          </a:solidFill>
                          <a:effectLst/>
                          <a:latin typeface="Times New Roman" panose="02020603050405020304" pitchFamily="18" charset="0"/>
                          <a:cs typeface="Times New Roman" panose="02020603050405020304" pitchFamily="18" charset="0"/>
                        </a:rPr>
                        <a:t>25/05/2025 14:00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CGK</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cs typeface="Times New Roman" panose="02020603050405020304" pitchFamily="18" charset="0"/>
                        </a:rPr>
                        <a:t>120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VN630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CGK-SGN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T/X CHK FOUND MW#3 CUT OUT OF LIMIT</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RPLD MW#3, CHECK SATIS.</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9574836"/>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ext uri="{D42A27DB-BD31-4B8C-83A1-F6EECF244321}">
                <p14:modId xmlns:p14="http://schemas.microsoft.com/office/powerpoint/2010/main" val="653341229"/>
              </p:ext>
            </p:extLst>
          </p:nvPr>
        </p:nvGraphicFramePr>
        <p:xfrm>
          <a:off x="134289" y="1676401"/>
          <a:ext cx="11688715" cy="3309062"/>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523627">
                  <a:extLst>
                    <a:ext uri="{9D8B030D-6E8A-4147-A177-3AD203B41FA5}">
                      <a16:colId xmlns:a16="http://schemas.microsoft.com/office/drawing/2014/main" val="3375762913"/>
                    </a:ext>
                  </a:extLst>
                </a:gridCol>
                <a:gridCol w="15240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457200">
                  <a:extLst>
                    <a:ext uri="{9D8B030D-6E8A-4147-A177-3AD203B41FA5}">
                      <a16:colId xmlns:a16="http://schemas.microsoft.com/office/drawing/2014/main" val="3935706781"/>
                    </a:ext>
                  </a:extLst>
                </a:gridCol>
                <a:gridCol w="4203004">
                  <a:extLst>
                    <a:ext uri="{9D8B030D-6E8A-4147-A177-3AD203B41FA5}">
                      <a16:colId xmlns:a16="http://schemas.microsoft.com/office/drawing/2014/main" val="63803871"/>
                    </a:ext>
                  </a:extLst>
                </a:gridCol>
              </a:tblGrid>
              <a:tr h="122382">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2937164">
                <a:tc>
                  <a:txBody>
                    <a:bodyPr/>
                    <a:lstStyle/>
                    <a:p>
                      <a:pPr algn="l" fontAlgn="b"/>
                      <a:r>
                        <a:rPr lang="vi-VN" sz="1100" b="0" i="0" u="none" strike="noStrike" dirty="0">
                          <a:solidFill>
                            <a:srgbClr val="000000"/>
                          </a:solidFill>
                          <a:effectLst/>
                          <a:latin typeface="+mn-lt"/>
                        </a:rPr>
                        <a:t>A327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14:00 23/05/2025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18:00 23/05/2025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Capt</a:t>
                      </a:r>
                      <a:r>
                        <a:rPr lang="en-US" sz="1100" b="0" i="0" u="none" strike="noStrike" dirty="0">
                          <a:solidFill>
                            <a:srgbClr val="000000"/>
                          </a:solidFill>
                          <a:effectLst/>
                          <a:latin typeface="+mn-lt"/>
                        </a:rPr>
                        <a:t>’ report: A/c VIB when passing 3000FT for 10-20secs, during climb/VRS filled.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REF TSM 05-50-00-810-801-A AND AMM 27-24-00-200-001-A FUNCTION CHECK OF RUDDER SERVO CONTROL BEARINGS FOR EXCESSIVE PLAY AND CONDITION FOUND PLAYS WITHIN LIMIT</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FINAL ACTION EVENT </a:t>
                      </a:r>
                      <a:r>
                        <a:rPr lang="vi-VN" sz="1100" b="0" i="0" u="none" strike="noStrike">
                          <a:solidFill>
                            <a:srgbClr val="000000"/>
                          </a:solidFill>
                          <a:effectLst/>
                          <a:latin typeface="+mn-lt"/>
                        </a:rPr>
                        <a:t>CLOSED</a:t>
                      </a:r>
                      <a:r>
                        <a:rPr lang="en-US" sz="1100" b="0" i="0" u="none" strike="noStrike" smtClean="0">
                          <a:solidFill>
                            <a:srgbClr val="000000"/>
                          </a:solidFill>
                          <a:effectLst/>
                          <a:latin typeface="+mn-lt"/>
                        </a:rPr>
                        <a:t>.</a:t>
                      </a:r>
                      <a:endParaRPr lang="en-US"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A327 đã làm chống rung cả elev và rudder từ tháng 11/2022, tuy nhiên lần này theo kiểm tra của Vaeco thì nguyên nhân là do hỏng actuator. Ban KT đã làm việc với Vaeco xin lịch dừng để thay thế actuator.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3907768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ext uri="{D42A27DB-BD31-4B8C-83A1-F6EECF244321}">
                <p14:modId xmlns:p14="http://schemas.microsoft.com/office/powerpoint/2010/main" val="2358041811"/>
              </p:ext>
            </p:extLst>
          </p:nvPr>
        </p:nvGraphicFramePr>
        <p:xfrm>
          <a:off x="116182" y="1521019"/>
          <a:ext cx="11853157" cy="4215240"/>
        </p:xfrm>
        <a:graphic>
          <a:graphicData uri="http://schemas.openxmlformats.org/drawingml/2006/table">
            <a:tbl>
              <a:tblPr/>
              <a:tblGrid>
                <a:gridCol w="417218">
                  <a:extLst>
                    <a:ext uri="{9D8B030D-6E8A-4147-A177-3AD203B41FA5}">
                      <a16:colId xmlns:a16="http://schemas.microsoft.com/office/drawing/2014/main" val="3467514978"/>
                    </a:ext>
                  </a:extLst>
                </a:gridCol>
                <a:gridCol w="685800">
                  <a:extLst>
                    <a:ext uri="{9D8B030D-6E8A-4147-A177-3AD203B41FA5}">
                      <a16:colId xmlns:a16="http://schemas.microsoft.com/office/drawing/2014/main" val="3513956334"/>
                    </a:ext>
                  </a:extLst>
                </a:gridCol>
                <a:gridCol w="3810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vi-VN" sz="1100" b="0" i="0" u="none" strike="noStrike">
                          <a:solidFill>
                            <a:srgbClr val="000000"/>
                          </a:solidFill>
                          <a:effectLst/>
                          <a:latin typeface="+mn-lt"/>
                        </a:rPr>
                        <a:t>A323</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14:37 20/05/2025</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25</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VN1804</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HAN-DIN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MCC REQ: - C/O TSM 77-20-00-810-802-B TO RECTIFY DEFECT: ENG 2 SENSOR FAULT</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NOTE: REQ CHECK CONNECTOR, HARNESS, HARNESS CONNECTOR CAREFULLY.. SPARE FOR TS: EEC: 824972-11-026 AVAIL HARMESS : 30558-000 AVAIL EGT THERMOCOUPLE : 30404-000 AVAIL</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C/O </a:t>
                      </a:r>
                      <a:r>
                        <a:rPr lang="en-US" sz="1100" b="0" i="0" u="none" strike="noStrike" dirty="0" err="1">
                          <a:solidFill>
                            <a:srgbClr val="000000"/>
                          </a:solidFill>
                          <a:effectLst/>
                          <a:latin typeface="+mn-lt"/>
                        </a:rPr>
                        <a:t>rpl</a:t>
                      </a:r>
                      <a:r>
                        <a:rPr lang="en-US" sz="1100" b="0" i="0" u="none" strike="noStrike" dirty="0">
                          <a:solidFill>
                            <a:srgbClr val="000000"/>
                          </a:solidFill>
                          <a:effectLst/>
                          <a:latin typeface="+mn-lt"/>
                        </a:rPr>
                        <a:t> 02 thermal couple 4012KS1 and 4012KS3, C/O clean all Connector of EGT harness then FADEC test PASS, Eng#2 run up found Normal. EVENT CLOSED.</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77</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Động cơ V11700 có TSN/CSN = 41964/26703; TSO/CSO = 10444/6995, các thông số trên ADEM không có gì bất thường. Xác định báo giả, nguyên nhân do EGT Thermocouple bị hỏng gây lỗi tín hiệu. Hỏng hóc EGT Thermocouple là hỏng hóc hay gặp đối với động cơ V2500. NSX đã xác định lỗi do vật liệu có độ tin cậy kém gây lỏng chân khiến tín hiệu chập chờn. NSX đang nghiên cứu cải tiến vật liệu, dự kiến cuối Q2/2025 ra SB nâng cấp.</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515354">
                <a:tc>
                  <a:txBody>
                    <a:bodyPr/>
                    <a:lstStyle/>
                    <a:p>
                      <a:pPr algn="l" fontAlgn="b"/>
                      <a:r>
                        <a:rPr lang="vi-VN" sz="1100" b="0" i="0" u="none" strike="noStrike">
                          <a:solidFill>
                            <a:srgbClr val="000000"/>
                          </a:solidFill>
                          <a:effectLst/>
                          <a:latin typeface="+mn-lt"/>
                        </a:rPr>
                        <a:t>A393</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19:50 20/05/2025</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90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VN193</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HAN-DAD</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CAPT’ REPORT: WING A. ICE SYS FAULT.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EVENT CLOSED</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C/o maint deactivated vlv for applied MEL, A/c delay 90mins</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30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hóc liên quan đến anti ice valve. Ban KT đã ra SO yêu cầu thực hiện test hoạt động của valve trong EA check theo khuyến cáo của AIB. Ngoài ra ĐTC của anti ice valve rất cao. Tiếp tục theo dõi thêm</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223236"/>
                  </a:ext>
                </a:extLst>
              </a:tr>
              <a:tr h="515354">
                <a:tc>
                  <a:txBody>
                    <a:bodyPr/>
                    <a:lstStyle/>
                    <a:p>
                      <a:pPr algn="l" fontAlgn="b"/>
                      <a:r>
                        <a:rPr lang="vi-VN" sz="1100" b="0" i="0" u="none" strike="noStrike" dirty="0">
                          <a:solidFill>
                            <a:srgbClr val="000000"/>
                          </a:solidFill>
                          <a:effectLst/>
                          <a:latin typeface="+mn-lt"/>
                        </a:rPr>
                        <a:t>A327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14:00 23/05/2025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VN7152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HAN-DIN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Capt</a:t>
                      </a:r>
                      <a:r>
                        <a:rPr lang="en-US" sz="1100" b="0" i="0" u="none" strike="noStrike" dirty="0">
                          <a:solidFill>
                            <a:srgbClr val="000000"/>
                          </a:solidFill>
                          <a:effectLst/>
                          <a:latin typeface="+mn-lt"/>
                        </a:rPr>
                        <a:t>’ report: A/c VIB when passing 3000FT for 10-20secs, during climb/VRS filled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REF TSM 05-50-00-810-801-A AND AMM 27-24-00-200-001-A FUNCTION CHECK OF RUDDER SERVO CONTROL BEARINGS FOR EXCESSIVE PLAY AND CONDITION FOUND PLAYS WITHIN LIMIT</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FINAL ACTION EVENT CLOSED</a:t>
                      </a:r>
                      <a:r>
                        <a:rPr lang="en-US" sz="1100" b="0" i="0" u="none" strike="noStrike" dirty="0">
                          <a:solidFill>
                            <a:srgbClr val="000000"/>
                          </a:solidFill>
                          <a:effectLst/>
                          <a:latin typeface="+mn-lt"/>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A327 đã làm chống rung cả elev và rudder từ tháng 11/2022, tuy nhiên lần này theo kiểm tra của Vaeco thì nguyên nhân là do hỏng actuator. Ban KT đã làm việc với Vaeco xin lịch dừng để thay thế actuator.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51509"/>
                  </a:ext>
                </a:extLst>
              </a:tr>
            </a:tbl>
          </a:graphicData>
        </a:graphic>
      </p:graphicFrame>
    </p:spTree>
    <p:extLst>
      <p:ext uri="{BB962C8B-B14F-4D97-AF65-F5344CB8AC3E}">
        <p14:creationId xmlns:p14="http://schemas.microsoft.com/office/powerpoint/2010/main" val="1646102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741524E-6E54-E180-ECD9-56318631DC8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4958B1C8-259E-7178-22F0-94134EED7B8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17689959-71C3-EB2B-DC90-5CA99FB0131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91DB40-576C-29CD-0423-872316706D0A}"/>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01E39E60-5143-ABED-AC40-CBAB29E2570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41F671A-6859-144D-6005-257A69DDE8E8}"/>
              </a:ext>
            </a:extLst>
          </p:cNvPr>
          <p:cNvGraphicFramePr>
            <a:graphicFrameLocks noGrp="1"/>
          </p:cNvGraphicFramePr>
          <p:nvPr>
            <p:extLst/>
          </p:nvPr>
        </p:nvGraphicFramePr>
        <p:xfrm>
          <a:off x="134290" y="1514671"/>
          <a:ext cx="11688715" cy="5041507"/>
        </p:xfrm>
        <a:graphic>
          <a:graphicData uri="http://schemas.openxmlformats.org/drawingml/2006/table">
            <a:tbl>
              <a:tblPr/>
              <a:tblGrid>
                <a:gridCol w="399110">
                  <a:extLst>
                    <a:ext uri="{9D8B030D-6E8A-4147-A177-3AD203B41FA5}">
                      <a16:colId xmlns:a16="http://schemas.microsoft.com/office/drawing/2014/main" val="3467514978"/>
                    </a:ext>
                  </a:extLst>
                </a:gridCol>
                <a:gridCol w="685800">
                  <a:extLst>
                    <a:ext uri="{9D8B030D-6E8A-4147-A177-3AD203B41FA5}">
                      <a16:colId xmlns:a16="http://schemas.microsoft.com/office/drawing/2014/main" val="3513956334"/>
                    </a:ext>
                  </a:extLst>
                </a:gridCol>
                <a:gridCol w="3810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609600">
                  <a:extLst>
                    <a:ext uri="{9D8B030D-6E8A-4147-A177-3AD203B41FA5}">
                      <a16:colId xmlns:a16="http://schemas.microsoft.com/office/drawing/2014/main" val="673348196"/>
                    </a:ext>
                  </a:extLst>
                </a:gridCol>
                <a:gridCol w="762000">
                  <a:extLst>
                    <a:ext uri="{9D8B030D-6E8A-4147-A177-3AD203B41FA5}">
                      <a16:colId xmlns:a16="http://schemas.microsoft.com/office/drawing/2014/main" val="422459560"/>
                    </a:ext>
                  </a:extLst>
                </a:gridCol>
                <a:gridCol w="1143000">
                  <a:extLst>
                    <a:ext uri="{9D8B030D-6E8A-4147-A177-3AD203B41FA5}">
                      <a16:colId xmlns:a16="http://schemas.microsoft.com/office/drawing/2014/main" val="2573721533"/>
                    </a:ext>
                  </a:extLst>
                </a:gridCol>
                <a:gridCol w="2971800">
                  <a:extLst>
                    <a:ext uri="{9D8B030D-6E8A-4147-A177-3AD203B41FA5}">
                      <a16:colId xmlns:a16="http://schemas.microsoft.com/office/drawing/2014/main" val="1326284677"/>
                    </a:ext>
                  </a:extLst>
                </a:gridCol>
                <a:gridCol w="457200">
                  <a:extLst>
                    <a:ext uri="{9D8B030D-6E8A-4147-A177-3AD203B41FA5}">
                      <a16:colId xmlns:a16="http://schemas.microsoft.com/office/drawing/2014/main" val="3053691605"/>
                    </a:ext>
                  </a:extLst>
                </a:gridCol>
                <a:gridCol w="3593405">
                  <a:extLst>
                    <a:ext uri="{9D8B030D-6E8A-4147-A177-3AD203B41FA5}">
                      <a16:colId xmlns:a16="http://schemas.microsoft.com/office/drawing/2014/main" val="3407010750"/>
                    </a:ext>
                  </a:extLst>
                </a:gridCol>
              </a:tblGrid>
              <a:tr h="351588">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2781992">
                <a:tc>
                  <a:txBody>
                    <a:bodyPr/>
                    <a:lstStyle/>
                    <a:p>
                      <a:pPr algn="l" fontAlgn="b"/>
                      <a:r>
                        <a:rPr lang="vi-VN" sz="1100" b="0" i="0" u="none" strike="noStrike" dirty="0">
                          <a:solidFill>
                            <a:srgbClr val="000000"/>
                          </a:solidFill>
                          <a:effectLst/>
                          <a:latin typeface="+mn-lt"/>
                        </a:rPr>
                        <a:t>A393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12:37 21/05/2025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VN1382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AFTER BOARDING APPEAR MSG "AIR R WING LEAK" OCC BÁO A339 BAY THAY A393 VN1382 SGN-DLI NETD 11:30.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CHK LEAK CROSSBLEED VLV AND TIGHTEN THEN LEAK CHK AGAIN FOUND NO LEAK</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AFTER BOARDING APPEAR MSG "AIR R WING LEAK" EVENT CLOSED</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OCC BÁO A339 BAY THAY A393 VN1382 SGN-DLI NETD</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87 MINS, DELAY KT 16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36-00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Vaeco đã thực hiện TS theo WO 7396261 làm hot air leak check thì phát hiện leak ở crossbleed valve, sau khi tháo ra lắp lại thì lại không báo leak nữa.</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Trong EO check leak hàng năm có thực hiện nội dung hot air leak check, Vào thời điểm thực hiện 18/5 thì không có cảnh báo gì nên Vaeco không thực hiện kiểm tra cross bleed valve. Đến ngày 21/5 khi thực hiện lại hot air leak check thì có báo leak tại cross bleed valve thì Vaeco tháo ra lắp lại thì không báo leak nữa.  Điều này có thể giải thích là tại thời điểm 18/5 thì lực torque trên 2 đai siết vẫn đủ hoặc độ hở chưa lớn nên chưa báo leak, đến ngày 21/5 thì khe hở này đủ lớn dẫn đến khí nóng thoát ra ngoài gây ra báo leak. Sau khi tháo ra torque lại thì khí nóng không thoát ra ngoài được nữa nên không còn báo leak</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Ban KT đã yêu cầu Vaeco cập nhật EO check leak, yêu cầu kiểm tra kỹ và siết lại lực torque cross bleed valve kể cả trong trường hợp không báo leak</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1907927">
                <a:tc>
                  <a:txBody>
                    <a:bodyPr/>
                    <a:lstStyle/>
                    <a:p>
                      <a:pPr algn="l" fontAlgn="b"/>
                      <a:r>
                        <a:rPr lang="vi-VN" sz="1100" b="0" i="0" u="none" strike="noStrike">
                          <a:solidFill>
                            <a:srgbClr val="000000"/>
                          </a:solidFill>
                          <a:effectLst/>
                          <a:latin typeface="+mn-lt"/>
                        </a:rPr>
                        <a:t>A608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12:50 23/05/2025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VN1671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DAD-HAN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ENG#1 HP VLV INOP</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CAPT REPORT: ENG#1 PRESSURE INDICATION CHANGE CONTINUOUSLY DURING HP VLV OPENS</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C/O MAINT PROC IAW AMM 36-11-00-040-003A REV 01MAY2025. HP BLEED VLV</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IS SECURED IN CLOSED POSITION. CHECK SATIS</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ADD B1678;ENG#1 HP VLV INOP DUE TO PRESSURE INDICATION CHANGE</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CONTINUOUSLY DURING VLV OPENS; IS RAISED IAW MEL 36-11-07B (REV03/25).</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CAT C. EXP: 02/06/2025</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26 MINS ( TECH: 14; OPS: 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36-11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hóc liên quan đến HP valve hiện vẫn đang là ww issue và AIB vẫn đang nghiên cứu giải pháp để nâng cao ĐTC cho thiết bị này. Nguyên nhân chủ yếu là do hỏng micro sw hoặc do phần hệ thống bleed làm cho HP valve đóng mở liên tục. Hiện chưa có giải pháp để phát hiện sớm hỏng hóc. Tiếp tục theo dõi cập nhật giải pháp từ AIB dự kiến Q4 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1024101"/>
                  </a:ext>
                </a:extLst>
              </a:tr>
            </a:tbl>
          </a:graphicData>
        </a:graphic>
      </p:graphicFrame>
    </p:spTree>
    <p:extLst>
      <p:ext uri="{BB962C8B-B14F-4D97-AF65-F5344CB8AC3E}">
        <p14:creationId xmlns:p14="http://schemas.microsoft.com/office/powerpoint/2010/main" val="233987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7AB0E78-C25D-D375-2762-2A3C6A805F5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22CA597-5E20-9512-8242-6493560C15A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E1B28DD0-026F-DFD2-20D3-D976CF99676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C07555CC-05D0-9348-B2F6-9F000C0A9CBC}"/>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7213C0C-1AA3-8386-1950-6F5FEE61676B}"/>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B4E53E4F-3D95-D9C5-649D-359AB1278263}"/>
              </a:ext>
            </a:extLst>
          </p:cNvPr>
          <p:cNvGraphicFramePr>
            <a:graphicFrameLocks noGrp="1"/>
          </p:cNvGraphicFramePr>
          <p:nvPr>
            <p:extLst/>
          </p:nvPr>
        </p:nvGraphicFramePr>
        <p:xfrm>
          <a:off x="134290" y="1521020"/>
          <a:ext cx="11688715" cy="4871370"/>
        </p:xfrm>
        <a:graphic>
          <a:graphicData uri="http://schemas.openxmlformats.org/drawingml/2006/table">
            <a:tbl>
              <a:tblPr/>
              <a:tblGrid>
                <a:gridCol w="322910">
                  <a:extLst>
                    <a:ext uri="{9D8B030D-6E8A-4147-A177-3AD203B41FA5}">
                      <a16:colId xmlns:a16="http://schemas.microsoft.com/office/drawing/2014/main" val="3467514978"/>
                    </a:ext>
                  </a:extLst>
                </a:gridCol>
                <a:gridCol w="701873">
                  <a:extLst>
                    <a:ext uri="{9D8B030D-6E8A-4147-A177-3AD203B41FA5}">
                      <a16:colId xmlns:a16="http://schemas.microsoft.com/office/drawing/2014/main" val="3513956334"/>
                    </a:ext>
                  </a:extLst>
                </a:gridCol>
                <a:gridCol w="364927">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609600">
                  <a:extLst>
                    <a:ext uri="{9D8B030D-6E8A-4147-A177-3AD203B41FA5}">
                      <a16:colId xmlns:a16="http://schemas.microsoft.com/office/drawing/2014/main" val="673348196"/>
                    </a:ext>
                  </a:extLst>
                </a:gridCol>
                <a:gridCol w="762000">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2971800">
                  <a:extLst>
                    <a:ext uri="{9D8B030D-6E8A-4147-A177-3AD203B41FA5}">
                      <a16:colId xmlns:a16="http://schemas.microsoft.com/office/drawing/2014/main" val="1326284677"/>
                    </a:ext>
                  </a:extLst>
                </a:gridCol>
                <a:gridCol w="533400">
                  <a:extLst>
                    <a:ext uri="{9D8B030D-6E8A-4147-A177-3AD203B41FA5}">
                      <a16:colId xmlns:a16="http://schemas.microsoft.com/office/drawing/2014/main" val="3053691605"/>
                    </a:ext>
                  </a:extLst>
                </a:gridCol>
                <a:gridCol w="3288605">
                  <a:extLst>
                    <a:ext uri="{9D8B030D-6E8A-4147-A177-3AD203B41FA5}">
                      <a16:colId xmlns:a16="http://schemas.microsoft.com/office/drawing/2014/main" val="3407010750"/>
                    </a:ext>
                  </a:extLst>
                </a:gridCol>
              </a:tblGrid>
              <a:tr h="118910">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2378205">
                <a:tc>
                  <a:txBody>
                    <a:bodyPr/>
                    <a:lstStyle/>
                    <a:p>
                      <a:pPr algn="l" fontAlgn="b"/>
                      <a:r>
                        <a:rPr lang="vi-VN" sz="1100" b="0" i="0" u="none" strike="noStrike">
                          <a:solidFill>
                            <a:srgbClr val="000000"/>
                          </a:solidFill>
                          <a:effectLst/>
                          <a:latin typeface="+mn-lt"/>
                        </a:rPr>
                        <a:t>A621</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09:10 19/05/2025</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VCA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30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VN1200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VCA-HAN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ENG 1 STALL WARNING MSG ON PFR </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FINAL ACTION: C/O TSM 71-00-00-810-854-A TROUBLESHOOT THE ENGINE AFTER A SURGE</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A corrective action is not necessary if the only indication of the surge is that the stall detection flag was set and there were no reports from the flight crew or by ground observations, and the surge did not occur during an engine start</a:t>
                      </a:r>
                      <a:endParaRPr lang="en-US" sz="1100" b="0" i="0" u="none" strike="noStrike" dirty="0">
                        <a:solidFill>
                          <a:srgbClr val="000000"/>
                        </a:solidFill>
                        <a:effectLst/>
                        <a:latin typeface="+mn-lt"/>
                      </a:endParaRPr>
                    </a:p>
                    <a:p>
                      <a:pPr algn="l" fontAlgn="b"/>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FOUND SATIS. A/C SERVICEABLE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TROUBLESHOOT THE ENGINE AFTER A SURGE EVENT CLOSED</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TOTAL DELAY 40 MINS, TECH DELAY 30 MINS</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71-00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Động cơ số #1 tàu A621 ESN: P771710 có TSN/ CSN = 6818 FH/ 4462 FC, TSLSV/CSLSV = 1377 FH /791 FC Động cơ xuất hiện cảnh báo ECAM message ENG#1 Stall xảy ra tại Phase Taxi rồi tự biến mất, tổ bay kiểm tra tất cả các thông số động cơ vẫn bình thường và vẫn quyết định tiếp tục T/O. Đây là hỏng hóc lặp lại lần thứ 3 từ 10/5. Trước đó vào ngày 10/5, VAECO đã thực hiện kiểm tra theo TSM TASK 71-00-00-810-854-A (Troubleshoot the Engine After a Surge - Forward Thrust Event)  Không phát hiện bất thường, tàu đã được đưa vào khai thác sau khi kiểm tra. Đồng thời ban hành NTC về việc bật Engine Bleed On và Pack On khi tàu bay ở mặt đất theo khuyến cáo của PW và AIB. </a:t>
                      </a:r>
                    </a:p>
                    <a:p>
                      <a:pPr algn="l" fontAlgn="b"/>
                      <a:r>
                        <a:rPr lang="vi-VN" sz="1100" b="0" i="0" u="none" strike="noStrike" dirty="0">
                          <a:solidFill>
                            <a:srgbClr val="000000"/>
                          </a:solidFill>
                          <a:effectLst/>
                          <a:latin typeface="+mn-lt"/>
                        </a:rPr>
                        <a:t>Tuy nhiên, theo kết quả phân tích dữ liệu QAR và DFDR 2 chuyến bay xảy ra hỏng hóc ngày 18/5 và 19/5 từ AIB/PW cho thấy tổ bay chỉ thực hiện bật Engine Bleed On mà không bật PACK ON --&gt; Tổ bay không tuân thủ thực hiện theo nội dung của NTC, khả năng cao là nguyên nhân dẫn tới hỏng hóc lặp lại. Ngoài ra, ngay sau chuyến bay phát sinh hỏng hóc ngày 19/05 trong thời gian chờ đợi AIB/PW phận tích DFDR/QAR, VAECO đã thực hiện thay chủ động  các khối HPV, PRV và IPCV Valve để phòng ngừa chủ động theo kinh nghiệm tự hỏng hóc tương tự các động cơ khác trong quá khứ. KTMB đã phối hợp VAECO yêu cầu tổ bay tuân thủ tuyệt đối nội dung NTC để tránh xảy ra hỏng hóc lặp lại theo khuyến cáo của NSX PW/AIB. Tiếp tục theo dõi.</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7877463"/>
                  </a:ext>
                </a:extLst>
              </a:tr>
            </a:tbl>
          </a:graphicData>
        </a:graphic>
      </p:graphicFrame>
    </p:spTree>
    <p:extLst>
      <p:ext uri="{BB962C8B-B14F-4D97-AF65-F5344CB8AC3E}">
        <p14:creationId xmlns:p14="http://schemas.microsoft.com/office/powerpoint/2010/main" val="853082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4C13053-868F-9AC4-B9AB-09B6C79C0A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8207E85-C9F5-FDA1-4450-51E3AC5A1BE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8710F91-D7D7-9C0D-5BB5-4FCE7425AF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E69F8C8-33C5-A5EA-C8FF-8570185FAF3C}"/>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74B726A-6B42-8698-7626-47425BE4045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E32F6E0-8A82-CDF9-97C1-C38F463A5E47}"/>
              </a:ext>
            </a:extLst>
          </p:cNvPr>
          <p:cNvGraphicFramePr>
            <a:graphicFrameLocks noGrp="1"/>
          </p:cNvGraphicFramePr>
          <p:nvPr>
            <p:extLst/>
          </p:nvPr>
        </p:nvGraphicFramePr>
        <p:xfrm>
          <a:off x="134290" y="1521020"/>
          <a:ext cx="11688715" cy="2524410"/>
        </p:xfrm>
        <a:graphic>
          <a:graphicData uri="http://schemas.openxmlformats.org/drawingml/2006/table">
            <a:tbl>
              <a:tblPr/>
              <a:tblGrid>
                <a:gridCol w="322910">
                  <a:extLst>
                    <a:ext uri="{9D8B030D-6E8A-4147-A177-3AD203B41FA5}">
                      <a16:colId xmlns:a16="http://schemas.microsoft.com/office/drawing/2014/main" val="3467514978"/>
                    </a:ext>
                  </a:extLst>
                </a:gridCol>
                <a:gridCol w="701873">
                  <a:extLst>
                    <a:ext uri="{9D8B030D-6E8A-4147-A177-3AD203B41FA5}">
                      <a16:colId xmlns:a16="http://schemas.microsoft.com/office/drawing/2014/main" val="3513956334"/>
                    </a:ext>
                  </a:extLst>
                </a:gridCol>
                <a:gridCol w="364927">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609600">
                  <a:extLst>
                    <a:ext uri="{9D8B030D-6E8A-4147-A177-3AD203B41FA5}">
                      <a16:colId xmlns:a16="http://schemas.microsoft.com/office/drawing/2014/main" val="673348196"/>
                    </a:ext>
                  </a:extLst>
                </a:gridCol>
                <a:gridCol w="762000">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2971800">
                  <a:extLst>
                    <a:ext uri="{9D8B030D-6E8A-4147-A177-3AD203B41FA5}">
                      <a16:colId xmlns:a16="http://schemas.microsoft.com/office/drawing/2014/main" val="1326284677"/>
                    </a:ext>
                  </a:extLst>
                </a:gridCol>
                <a:gridCol w="533400">
                  <a:extLst>
                    <a:ext uri="{9D8B030D-6E8A-4147-A177-3AD203B41FA5}">
                      <a16:colId xmlns:a16="http://schemas.microsoft.com/office/drawing/2014/main" val="3053691605"/>
                    </a:ext>
                  </a:extLst>
                </a:gridCol>
                <a:gridCol w="3288605">
                  <a:extLst>
                    <a:ext uri="{9D8B030D-6E8A-4147-A177-3AD203B41FA5}">
                      <a16:colId xmlns:a16="http://schemas.microsoft.com/office/drawing/2014/main" val="3407010750"/>
                    </a:ext>
                  </a:extLst>
                </a:gridCol>
              </a:tblGrid>
              <a:tr h="118910">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336086">
                <a:tc>
                  <a:txBody>
                    <a:bodyPr/>
                    <a:lstStyle/>
                    <a:p>
                      <a:pPr algn="l" fontAlgn="b"/>
                      <a:r>
                        <a:rPr lang="vi-VN" sz="1100" b="0" i="0" u="none" strike="noStrike">
                          <a:solidFill>
                            <a:srgbClr val="000000"/>
                          </a:solidFill>
                          <a:effectLst/>
                          <a:latin typeface="+mn-lt"/>
                        </a:rPr>
                        <a:t>A608</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14:45 19/05/2025</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50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VN594</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SGN-HKG</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A608 GTB ENG FOUND ENG 2 LP FUEL VALVE FAULT</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DURING PUSHBACK; START ENG FOUND ENG 2 FUEL VALVE FAULT. TSV ADVISED VIA VHF NIL HELP. CAPT DECIDED RETURN GATE BAY 92-TSN. T/S IN PROGRESS</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FINAL ACTION: C/O RESET CB ; MASTER SWITCH ENG, C/O E.R.U IDLE TEST FOUND SATIS. A/C SERVICEABLE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100 MINS. TECH DELAY 50 MINS</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28-00</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LP fuel valve trên A608 đã thực hiện ops test theo chương trình chủ động của KT vào tháng 03/2024 nil findings. Hiện các valve này đang được thực hiện kiểm tra theo tần suất 24MO để phát hiện sớm hỏng hóc (thay vì theo tần suất của AMP là 180MO/ 24000FH). Theo đánh giá của AIB thì ĐTC của valve này theo ww vẫn ở mức cao nên AIB chưa có ý định nghiên cứu giải pháp cải tiến. Theo dõi trend trên module SPM thì không thấy bất thường và không có cảnh báo trước. Sau khi reset thì msg biến mất, tuy nhiên khi tàu NS Vaeco vẫn yêu cầu tháo để theo dõi thêm. Khối tháo xuống có TSN 26k FH. Số lượng tháo lắp: 2023 (3); 2024 (5); 2025 (2). Ban KT sẽ làm việc thêm với AIB về cảnh báo SPM đối với thiết bị này</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6180878"/>
                  </a:ext>
                </a:extLst>
              </a:tr>
            </a:tbl>
          </a:graphicData>
        </a:graphic>
      </p:graphicFrame>
    </p:spTree>
    <p:extLst>
      <p:ext uri="{BB962C8B-B14F-4D97-AF65-F5344CB8AC3E}">
        <p14:creationId xmlns:p14="http://schemas.microsoft.com/office/powerpoint/2010/main" val="3032772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914400" y="625206"/>
            <a:ext cx="10134600"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A320/A321</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990601" y="1295400"/>
            <a:ext cx="10515600" cy="2062103"/>
          </a:xfrm>
          <a:prstGeom prst="rect">
            <a:avLst/>
          </a:prstGeom>
        </p:spPr>
        <p:txBody>
          <a:bodyPr wrap="square">
            <a:spAutoFit/>
          </a:bodyPr>
          <a:lstStyle/>
          <a:p>
            <a:pPr algn="just">
              <a:buClrTx/>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smtClean="0">
                <a:solidFill>
                  <a:prstClr val="black"/>
                </a:solidFill>
                <a:latin typeface="Times New Roman" panose="02020603050405020304" pitchFamily="18" charset="0"/>
                <a:cs typeface="Times New Roman" panose="02020603050405020304" pitchFamily="18" charset="0"/>
              </a:rPr>
              <a:t>: </a:t>
            </a:r>
            <a:r>
              <a:rPr lang="vi-VN" sz="1600">
                <a:solidFill>
                  <a:prstClr val="black"/>
                </a:solidFill>
                <a:cs typeface="Times New Roman" panose="02020603050405020304" pitchFamily="18" charset="0"/>
              </a:rPr>
              <a:t>Trong tuần phát sinh 01 trường hợp GTB và 01 trường hợp AOG (A237 rung thân). Trong tuần cũng phát sinh lại hỏng hóc về Eng stall tà A621 (xảy ra 2 lần, 1 lần ngày 19/05, 1 lần ngày 18/05, trước đó xảy ra ngày 10/5), </a:t>
            </a:r>
            <a:r>
              <a:rPr lang="vi-VN" sz="1600">
                <a:solidFill>
                  <a:prstClr val="black"/>
                </a:solidFill>
                <a:cs typeface="Times New Roman" panose="02020603050405020304" pitchFamily="18" charset="0"/>
              </a:rPr>
              <a:t>cụ </a:t>
            </a:r>
            <a:r>
              <a:rPr lang="vi-VN" sz="1600" smtClean="0">
                <a:solidFill>
                  <a:prstClr val="black"/>
                </a:solidFill>
                <a:cs typeface="Times New Roman" panose="02020603050405020304" pitchFamily="18" charset="0"/>
              </a:rPr>
              <a:t>thể</a:t>
            </a:r>
            <a:r>
              <a:rPr lang="en-US" sz="1600" smtClean="0">
                <a:solidFill>
                  <a:prstClr val="black"/>
                </a:solidFill>
                <a:cs typeface="Times New Roman" panose="02020603050405020304" pitchFamily="18" charset="0"/>
              </a:rPr>
              <a:t>:</a:t>
            </a:r>
            <a:endParaRPr lang="en-US" sz="1600" smtClean="0">
              <a:solidFill>
                <a:prstClr val="black"/>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vi-VN" sz="1600" smtClean="0">
                <a:cs typeface="Times New Roman" panose="02020603050405020304" pitchFamily="18" charset="0"/>
              </a:rPr>
              <a:t>A608 </a:t>
            </a:r>
            <a:r>
              <a:rPr lang="vi-VN" sz="1600">
                <a:cs typeface="Times New Roman" panose="02020603050405020304" pitchFamily="18" charset="0"/>
              </a:rPr>
              <a:t>GTB eng found eng 2 LP fuel valve fault đã reset để bay tiếp, tàu sau đó thực hiện thay LP valve.</a:t>
            </a:r>
          </a:p>
          <a:p>
            <a:pPr marL="342900" indent="-342900">
              <a:buFont typeface="+mj-lt"/>
              <a:buAutoNum type="arabicPeriod"/>
            </a:pPr>
            <a:r>
              <a:rPr lang="vi-VN" sz="1600" smtClean="0">
                <a:cs typeface="Times New Roman" panose="02020603050405020304" pitchFamily="18" charset="0"/>
              </a:rPr>
              <a:t>A621 </a:t>
            </a:r>
            <a:r>
              <a:rPr lang="vi-VN" sz="1600">
                <a:cs typeface="Times New Roman" panose="02020603050405020304" pitchFamily="18" charset="0"/>
              </a:rPr>
              <a:t>ENG 1 STALL, VAECO thực hiện thay 03 valve IPV, RPV, HPV theo khuyến cáo kiểm tra từ NSX PW. Ngoài ra theo phân tích QAR từ AIB thì pack ở trạng thái OFF khi xảy ra hỏng hóc ở cả 2 chuyến bay ngày 18 và 19/05. Hiện đã có NTC về việc bật pack cho tổ bay lưu khi khai thác.</a:t>
            </a:r>
          </a:p>
          <a:p>
            <a:pPr marL="342900" indent="-342900">
              <a:buFont typeface="+mj-lt"/>
              <a:buAutoNum type="arabicPeriod"/>
            </a:pPr>
            <a:r>
              <a:rPr lang="vi-VN" sz="1600" smtClean="0">
                <a:cs typeface="Times New Roman" panose="02020603050405020304" pitchFamily="18" charset="0"/>
              </a:rPr>
              <a:t>A327 </a:t>
            </a:r>
            <a:r>
              <a:rPr lang="vi-VN" sz="1600">
                <a:cs typeface="Times New Roman" panose="02020603050405020304" pitchFamily="18" charset="0"/>
              </a:rPr>
              <a:t>AOG do phát sinh rung thân, sau khi kiểm tra rudder servo control giá trị vẫn trong giới hạn nên tàu tiếp tục khai thác (tàu thực hiện kiểm tra lần gần nhất từ </a:t>
            </a:r>
            <a:r>
              <a:rPr lang="vi-VN" sz="1600">
                <a:cs typeface="Times New Roman" panose="02020603050405020304" pitchFamily="18" charset="0"/>
              </a:rPr>
              <a:t>2022</a:t>
            </a:r>
            <a:r>
              <a:rPr lang="vi-VN" sz="1600" smtClean="0">
                <a:cs typeface="Times New Roman" panose="02020603050405020304" pitchFamily="18" charset="0"/>
              </a:rPr>
              <a:t>)</a:t>
            </a:r>
            <a:r>
              <a:rPr lang="en-US" sz="1600" smtClean="0">
                <a:cs typeface="Times New Roman" panose="02020603050405020304" pitchFamily="18" charset="0"/>
              </a:rPr>
              <a:t>.</a:t>
            </a:r>
            <a:endParaRPr lang="vi-VN" sz="1600">
              <a:cs typeface="Times New Roman" panose="02020603050405020304" pitchFamily="18" charset="0"/>
            </a:endParaRPr>
          </a:p>
        </p:txBody>
      </p:sp>
    </p:spTree>
    <p:extLst>
      <p:ext uri="{BB962C8B-B14F-4D97-AF65-F5344CB8AC3E}">
        <p14:creationId xmlns:p14="http://schemas.microsoft.com/office/powerpoint/2010/main" val="1013673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7FE84CF-C288-6575-9437-37C69E34001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B3B0293-D5D6-94F6-6720-993BBE47187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1EDB21AA-251A-9193-C671-BD2ED264FB32}"/>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43110990-FED5-8581-6170-AE507F7C4B38}"/>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sp>
        <p:nvSpPr>
          <p:cNvPr id="9" name="TextBox 8">
            <a:extLst>
              <a:ext uri="{FF2B5EF4-FFF2-40B4-BE49-F238E27FC236}">
                <a16:creationId xmlns:a16="http://schemas.microsoft.com/office/drawing/2014/main" id="{02D71CCA-0284-05E3-87F4-DE2B64BFC2A0}"/>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6D2B3142-11A7-9399-028B-F78AA96FF504}"/>
              </a:ext>
            </a:extLst>
          </p:cNvPr>
          <p:cNvGraphicFramePr>
            <a:graphicFrameLocks noGrp="1"/>
          </p:cNvGraphicFramePr>
          <p:nvPr>
            <p:extLst/>
          </p:nvPr>
        </p:nvGraphicFramePr>
        <p:xfrm>
          <a:off x="134290" y="1521020"/>
          <a:ext cx="11688715" cy="4205430"/>
        </p:xfrm>
        <a:graphic>
          <a:graphicData uri="http://schemas.openxmlformats.org/drawingml/2006/table">
            <a:tbl>
              <a:tblPr/>
              <a:tblGrid>
                <a:gridCol w="399110">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810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685800">
                  <a:extLst>
                    <a:ext uri="{9D8B030D-6E8A-4147-A177-3AD203B41FA5}">
                      <a16:colId xmlns:a16="http://schemas.microsoft.com/office/drawing/2014/main" val="673348196"/>
                    </a:ext>
                  </a:extLst>
                </a:gridCol>
                <a:gridCol w="762000">
                  <a:extLst>
                    <a:ext uri="{9D8B030D-6E8A-4147-A177-3AD203B41FA5}">
                      <a16:colId xmlns:a16="http://schemas.microsoft.com/office/drawing/2014/main" val="422459560"/>
                    </a:ext>
                  </a:extLst>
                </a:gridCol>
                <a:gridCol w="1752600">
                  <a:extLst>
                    <a:ext uri="{9D8B030D-6E8A-4147-A177-3AD203B41FA5}">
                      <a16:colId xmlns:a16="http://schemas.microsoft.com/office/drawing/2014/main" val="2573721533"/>
                    </a:ext>
                  </a:extLst>
                </a:gridCol>
                <a:gridCol w="2514600">
                  <a:extLst>
                    <a:ext uri="{9D8B030D-6E8A-4147-A177-3AD203B41FA5}">
                      <a16:colId xmlns:a16="http://schemas.microsoft.com/office/drawing/2014/main" val="1326284677"/>
                    </a:ext>
                  </a:extLst>
                </a:gridCol>
                <a:gridCol w="533400">
                  <a:extLst>
                    <a:ext uri="{9D8B030D-6E8A-4147-A177-3AD203B41FA5}">
                      <a16:colId xmlns:a16="http://schemas.microsoft.com/office/drawing/2014/main" val="3053691605"/>
                    </a:ext>
                  </a:extLst>
                </a:gridCol>
                <a:gridCol w="3212405">
                  <a:extLst>
                    <a:ext uri="{9D8B030D-6E8A-4147-A177-3AD203B41FA5}">
                      <a16:colId xmlns:a16="http://schemas.microsoft.com/office/drawing/2014/main" val="3407010750"/>
                    </a:ext>
                  </a:extLst>
                </a:gridCol>
              </a:tblGrid>
              <a:tr h="118910">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2378205">
                <a:tc>
                  <a:txBody>
                    <a:bodyPr/>
                    <a:lstStyle/>
                    <a:p>
                      <a:pPr algn="l" fontAlgn="b"/>
                      <a:r>
                        <a:rPr lang="vi-VN" sz="1100" b="0" i="0" u="none" strike="noStrike" dirty="0">
                          <a:solidFill>
                            <a:srgbClr val="000000"/>
                          </a:solidFill>
                          <a:effectLst/>
                          <a:latin typeface="+mn-lt"/>
                        </a:rPr>
                        <a:t>A888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18:55 22/05/2025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DURING BOARDING, A/C HAS MANY MSG:</a:t>
                      </a:r>
                      <a:br>
                        <a:rPr lang="en-US" sz="1100" b="0" i="0" u="none" strike="noStrike" dirty="0">
                          <a:solidFill>
                            <a:srgbClr val="000000"/>
                          </a:solidFill>
                          <a:effectLst/>
                          <a:latin typeface="+mn-lt"/>
                        </a:rPr>
                      </a:br>
                      <a:r>
                        <a:rPr lang="en-US" sz="1100" b="0" i="0" u="none" strike="noStrike" dirty="0">
                          <a:solidFill>
                            <a:srgbClr val="000000"/>
                          </a:solidFill>
                          <a:effectLst/>
                          <a:latin typeface="+mn-lt"/>
                        </a:rPr>
                        <a:t>- F/CTL L INR AILERON Y ACTUATOR</a:t>
                      </a:r>
                      <a:br>
                        <a:rPr lang="en-US" sz="1100" b="0" i="0" u="none" strike="noStrike" dirty="0">
                          <a:solidFill>
                            <a:srgbClr val="000000"/>
                          </a:solidFill>
                          <a:effectLst/>
                          <a:latin typeface="+mn-lt"/>
                        </a:rPr>
                      </a:br>
                      <a:r>
                        <a:rPr lang="en-US" sz="1100" b="0" i="0" u="none" strike="noStrike" dirty="0">
                          <a:solidFill>
                            <a:srgbClr val="000000"/>
                          </a:solidFill>
                          <a:effectLst/>
                          <a:latin typeface="+mn-lt"/>
                        </a:rPr>
                        <a:t>- ENG 2 CTL SYS</a:t>
                      </a:r>
                      <a:br>
                        <a:rPr lang="en-US" sz="1100" b="0" i="0" u="none" strike="noStrike" dirty="0">
                          <a:solidFill>
                            <a:srgbClr val="000000"/>
                          </a:solidFill>
                          <a:effectLst/>
                          <a:latin typeface="+mn-lt"/>
                        </a:rPr>
                      </a:br>
                      <a:r>
                        <a:rPr lang="en-US" sz="1100" b="0" i="0" u="none" strike="noStrike" dirty="0">
                          <a:solidFill>
                            <a:srgbClr val="000000"/>
                          </a:solidFill>
                          <a:effectLst/>
                          <a:latin typeface="+mn-lt"/>
                        </a:rPr>
                        <a:t>- AIR OVHT ON FUEL INERTING SYS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EVENT CLOSED</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ACTION:</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ADD B1410 RAISED FOR DM: F/CTL L INR AILERON Y ACTUATOR.</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ENG 2 CTL SYS TEST VSV. OK. DM GONE.</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RESET ASCU 1 THEN BITE TEST OK. DM GONE.</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55 MINS. TECH DELAY 20 MINS. A/C ARRIVAL LATE 15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hóc do FCRM, nguyên nhân do đứt gãy mối hàn bên trong bảng mạch , MOOG đã ban hành giải pháp tạm thời thực hiện nâng cấp FCRM-17 để bôi lớp keo lên các mối hàn để hạn chế việc đứt gãy mối hàn (theo on-attrition)</a:t>
                      </a:r>
                    </a:p>
                    <a:p>
                      <a:pPr algn="l" fontAlgn="b"/>
                      <a:r>
                        <a:rPr lang="vi-VN" sz="1100" b="0" i="0" u="none" strike="noStrike" dirty="0">
                          <a:solidFill>
                            <a:srgbClr val="000000"/>
                          </a:solidFill>
                          <a:effectLst/>
                          <a:latin typeface="+mn-lt"/>
                        </a:rPr>
                        <a:t>Hỏng hóc này có 2 phương án raise MEL</a:t>
                      </a:r>
                    </a:p>
                    <a:p>
                      <a:pPr algn="l" fontAlgn="b"/>
                      <a:r>
                        <a:rPr lang="vi-VN" sz="1100" b="0" i="0" u="none" strike="noStrike" dirty="0">
                          <a:solidFill>
                            <a:srgbClr val="000000"/>
                          </a:solidFill>
                          <a:effectLst/>
                          <a:latin typeface="+mn-lt"/>
                        </a:rPr>
                        <a:t>- Raise MEL without Collar được 3FC, raise MEL phương án này sẽ chỉ thao tác trên máy tính Cockpit, không gây delay chuyến bay nhưng phải thực hiện ở mỗi chuyến bay</a:t>
                      </a:r>
                    </a:p>
                    <a:p>
                      <a:pPr marL="171450" indent="-171450" algn="l" fontAlgn="b">
                        <a:buFontTx/>
                        <a:buChar char="-"/>
                      </a:pPr>
                      <a:r>
                        <a:rPr lang="vi-VN" sz="1100" b="0" i="0" u="none" strike="noStrike" dirty="0">
                          <a:solidFill>
                            <a:srgbClr val="000000"/>
                          </a:solidFill>
                          <a:effectLst/>
                          <a:latin typeface="+mn-lt"/>
                        </a:rPr>
                        <a:t>Raise MEL; with Collar được 10 ngày, Raise MEL phương án này sẽ gây delay do phải tiếp cận actuator dể lắp Collar. MOC/OCC yêu cầu phải thực hiện phương án raise MEL này.</a:t>
                      </a:r>
                      <a:endParaRPr lang="en-US" sz="1100" b="0" i="0" u="none" strike="noStrike" dirty="0">
                        <a:solidFill>
                          <a:srgbClr val="000000"/>
                        </a:solidFill>
                        <a:effectLst/>
                        <a:latin typeface="+mn-lt"/>
                      </a:endParaRPr>
                    </a:p>
                    <a:p>
                      <a:pPr marL="0" indent="0" algn="l" fontAlgn="b">
                        <a:buFontTx/>
                        <a:buNone/>
                      </a:pPr>
                      <a:endParaRPr lang="en-US" sz="1100" b="0" i="0" u="none" strike="noStrike" dirty="0">
                        <a:solidFill>
                          <a:srgbClr val="000000"/>
                        </a:solidFill>
                        <a:effectLst/>
                        <a:latin typeface="+mn-lt"/>
                      </a:endParaRPr>
                    </a:p>
                    <a:p>
                      <a:pPr algn="l" fontAlgn="b"/>
                      <a:r>
                        <a:rPr lang="en-US" sz="1100" b="0" i="0" u="none" strike="noStrike" dirty="0" err="1">
                          <a:solidFill>
                            <a:srgbClr val="000000"/>
                          </a:solidFill>
                          <a:effectLst/>
                          <a:latin typeface="+mn-lt"/>
                        </a:rPr>
                        <a:t>Với</a:t>
                      </a:r>
                      <a:r>
                        <a:rPr lang="en-US" sz="1100" b="0" i="0" u="none" strike="noStrike" dirty="0">
                          <a:solidFill>
                            <a:srgbClr val="000000"/>
                          </a:solidFill>
                          <a:effectLst/>
                          <a:latin typeface="+mn-lt"/>
                        </a:rPr>
                        <a:t> msg “ENG 2 CTL SYS”: </a:t>
                      </a:r>
                      <a:r>
                        <a:rPr lang="vi-VN" sz="1100" b="0" i="0" u="none" strike="noStrike" dirty="0">
                          <a:solidFill>
                            <a:srgbClr val="000000"/>
                          </a:solidFill>
                          <a:effectLst/>
                          <a:latin typeface="+mn-lt"/>
                        </a:rPr>
                        <a:t>nguyên nhân xảy ra cảnh báo do EEC phát hiện lỗi khi thực hiện bài test VSV System khi khởi động (lực HP Fuel để quay VSV Valve không đủ). Sau khi reset đã hết cảnh báo do thực hiện test thành không. Trong trường hợp động cơ bị lại lỗi này, nguyên nhân có thể do việc bôi trơn VSV chưa tốt và động cơ sẽ được bôi trơn VSV để phòng ngừa (refer TFU 73.20.00.045).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7877463"/>
                  </a:ext>
                </a:extLst>
              </a:tr>
            </a:tbl>
          </a:graphicData>
        </a:graphic>
      </p:graphicFrame>
    </p:spTree>
    <p:extLst>
      <p:ext uri="{BB962C8B-B14F-4D97-AF65-F5344CB8AC3E}">
        <p14:creationId xmlns:p14="http://schemas.microsoft.com/office/powerpoint/2010/main" val="1032722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769E4C71-1623-AD97-BDD1-E89AFE9C430C}"/>
              </a:ext>
            </a:extLst>
          </p:cNvPr>
          <p:cNvGraphicFramePr>
            <a:graphicFrameLocks noGrp="1"/>
          </p:cNvGraphicFramePr>
          <p:nvPr>
            <p:extLst/>
          </p:nvPr>
        </p:nvGraphicFramePr>
        <p:xfrm>
          <a:off x="257576" y="519000"/>
          <a:ext cx="11676849" cy="6338995"/>
        </p:xfrm>
        <a:graphic>
          <a:graphicData uri="http://schemas.openxmlformats.org/drawingml/2006/table">
            <a:tbl>
              <a:tblPr/>
              <a:tblGrid>
                <a:gridCol w="337157">
                  <a:extLst>
                    <a:ext uri="{9D8B030D-6E8A-4147-A177-3AD203B41FA5}">
                      <a16:colId xmlns:a16="http://schemas.microsoft.com/office/drawing/2014/main" val="4118226494"/>
                    </a:ext>
                  </a:extLst>
                </a:gridCol>
                <a:gridCol w="634380">
                  <a:extLst>
                    <a:ext uri="{9D8B030D-6E8A-4147-A177-3AD203B41FA5}">
                      <a16:colId xmlns:a16="http://schemas.microsoft.com/office/drawing/2014/main" val="919901434"/>
                    </a:ext>
                  </a:extLst>
                </a:gridCol>
                <a:gridCol w="654205">
                  <a:extLst>
                    <a:ext uri="{9D8B030D-6E8A-4147-A177-3AD203B41FA5}">
                      <a16:colId xmlns:a16="http://schemas.microsoft.com/office/drawing/2014/main" val="2754017733"/>
                    </a:ext>
                  </a:extLst>
                </a:gridCol>
                <a:gridCol w="1397619">
                  <a:extLst>
                    <a:ext uri="{9D8B030D-6E8A-4147-A177-3AD203B41FA5}">
                      <a16:colId xmlns:a16="http://schemas.microsoft.com/office/drawing/2014/main" val="323347294"/>
                    </a:ext>
                  </a:extLst>
                </a:gridCol>
                <a:gridCol w="1060605">
                  <a:extLst>
                    <a:ext uri="{9D8B030D-6E8A-4147-A177-3AD203B41FA5}">
                      <a16:colId xmlns:a16="http://schemas.microsoft.com/office/drawing/2014/main" val="398263788"/>
                    </a:ext>
                  </a:extLst>
                </a:gridCol>
                <a:gridCol w="1546303">
                  <a:extLst>
                    <a:ext uri="{9D8B030D-6E8A-4147-A177-3AD203B41FA5}">
                      <a16:colId xmlns:a16="http://schemas.microsoft.com/office/drawing/2014/main" val="952863136"/>
                    </a:ext>
                  </a:extLst>
                </a:gridCol>
                <a:gridCol w="6046580">
                  <a:extLst>
                    <a:ext uri="{9D8B030D-6E8A-4147-A177-3AD203B41FA5}">
                      <a16:colId xmlns:a16="http://schemas.microsoft.com/office/drawing/2014/main" val="120723797"/>
                    </a:ext>
                  </a:extLst>
                </a:gridCol>
              </a:tblGrid>
              <a:tr h="205853">
                <a:tc>
                  <a:txBody>
                    <a:bodyPr/>
                    <a:lstStyle/>
                    <a:p>
                      <a:pPr algn="ctr" fontAlgn="ctr"/>
                      <a:r>
                        <a:rPr lang="en-US" sz="1300" b="0" i="0" u="none" strike="noStrike">
                          <a:solidFill>
                            <a:srgbClr val="000000"/>
                          </a:solidFill>
                          <a:effectLst/>
                          <a:latin typeface="Calibri" panose="020F0502020204030204" pitchFamily="34" charset="0"/>
                        </a:rPr>
                        <a:t>No</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9442008"/>
                  </a:ext>
                </a:extLst>
              </a:tr>
              <a:tr h="205853">
                <a:tc>
                  <a:txBody>
                    <a:bodyPr/>
                    <a:lstStyle/>
                    <a:p>
                      <a:pPr algn="ctr" fontAlgn="ctr"/>
                      <a:r>
                        <a:rPr lang="en-US" sz="1300" b="0" i="0" u="none" strike="noStrike">
                          <a:solidFill>
                            <a:srgbClr val="000000"/>
                          </a:solidFill>
                          <a:effectLst/>
                          <a:latin typeface="Calibri" panose="020F0502020204030204" pitchFamily="34" charset="0"/>
                        </a:rPr>
                        <a:t>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000000"/>
                        </a:solidFill>
                        <a:effectLst/>
                        <a:latin typeface="Calibri" panose="020F0502020204030204" pitchFamily="34" charset="0"/>
                      </a:endParaRP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3208784"/>
                  </a:ext>
                </a:extLst>
              </a:tr>
              <a:tr h="205853">
                <a:tc>
                  <a:txBody>
                    <a:bodyPr/>
                    <a:lstStyle/>
                    <a:p>
                      <a:pPr algn="ctr" fontAlgn="ctr"/>
                      <a:r>
                        <a:rPr lang="en-US" sz="1300" b="0" i="0" u="none" strike="noStrike">
                          <a:solidFill>
                            <a:srgbClr val="000000"/>
                          </a:solidFill>
                          <a:effectLst/>
                          <a:latin typeface="Calibri" panose="020F0502020204030204" pitchFamily="34" charset="0"/>
                        </a:rPr>
                        <a:t>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SG" sz="1300" b="0" i="0" u="none" strike="noStrike">
                        <a:solidFill>
                          <a:srgbClr val="000000"/>
                        </a:solidFill>
                        <a:effectLst/>
                        <a:latin typeface="Calibri" panose="020F0502020204030204" pitchFamily="34" charset="0"/>
                      </a:endParaRP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5152025"/>
                  </a:ext>
                </a:extLst>
              </a:tr>
              <a:tr h="1221853">
                <a:tc>
                  <a:txBody>
                    <a:bodyPr/>
                    <a:lstStyle/>
                    <a:p>
                      <a:pPr algn="ctr" fontAlgn="ctr"/>
                      <a:r>
                        <a:rPr lang="en-US" sz="1300" b="0" i="0" u="none" strike="noStrike">
                          <a:solidFill>
                            <a:srgbClr val="000000"/>
                          </a:solidFill>
                          <a:effectLst/>
                          <a:latin typeface="Calibri" panose="020F0502020204030204" pitchFamily="34" charset="0"/>
                        </a:rPr>
                        <a:t>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 -&gt; Ref Afi A350-A-79-31-XX-09001-421A-A Low Oil Quantity Alert: no maint action require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RAISED CHILLER SYS INOP DURING CRUISE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B1410: "DM:FCTL L INR AILERON Y ACTUATOR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9830318"/>
                  </a:ext>
                </a:extLst>
              </a:tr>
              <a:tr h="815453">
                <a:tc>
                  <a:txBody>
                    <a:bodyPr/>
                    <a:lstStyle/>
                    <a:p>
                      <a:pPr algn="ctr" fontAlgn="ctr"/>
                      <a:r>
                        <a:rPr lang="en-US" sz="1300" b="0" i="0" u="none" strike="noStrike">
                          <a:solidFill>
                            <a:srgbClr val="000000"/>
                          </a:solidFill>
                          <a:effectLst/>
                          <a:latin typeface="Calibri" panose="020F0502020204030204" pitchFamily="34" charset="0"/>
                        </a:rPr>
                        <a:t>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 -&gt; Ref Afi A350-A-79-31-XX-09001-421A-A Low Oil Quantity Alert: no maint action require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3043604"/>
                  </a:ext>
                </a:extLst>
              </a:tr>
              <a:tr h="205853">
                <a:tc>
                  <a:txBody>
                    <a:bodyPr/>
                    <a:lstStyle/>
                    <a:p>
                      <a:pPr algn="ctr" fontAlgn="ctr"/>
                      <a:r>
                        <a:rPr lang="en-US" sz="1300" b="0" i="0" u="none" strike="noStrike">
                          <a:solidFill>
                            <a:srgbClr val="000000"/>
                          </a:solidFill>
                          <a:effectLst/>
                          <a:latin typeface="Calibri" panose="020F0502020204030204" pitchFamily="34" charset="0"/>
                        </a:rPr>
                        <a:t>5</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7459834"/>
                  </a:ext>
                </a:extLst>
              </a:tr>
              <a:tr h="205853">
                <a:tc>
                  <a:txBody>
                    <a:bodyPr/>
                    <a:lstStyle/>
                    <a:p>
                      <a:pPr algn="ctr" fontAlgn="ctr"/>
                      <a:r>
                        <a:rPr lang="en-US" sz="1300" b="0" i="0" u="none" strike="noStrike">
                          <a:solidFill>
                            <a:srgbClr val="000000"/>
                          </a:solidFill>
                          <a:effectLst/>
                          <a:latin typeface="Calibri" panose="020F0502020204030204" pitchFamily="34" charset="0"/>
                        </a:rPr>
                        <a:t>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81570626 PREVENTIVE RECOMMENDATION PACK 2 INTERNAL LEAKAGE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7271297"/>
                  </a:ext>
                </a:extLst>
              </a:tr>
              <a:tr h="612253">
                <a:tc>
                  <a:txBody>
                    <a:bodyPr/>
                    <a:lstStyle/>
                    <a:p>
                      <a:pPr algn="ctr" fontAlgn="ctr"/>
                      <a:r>
                        <a:rPr lang="en-US" sz="1300" b="0" i="0" u="none" strike="noStrike">
                          <a:solidFill>
                            <a:srgbClr val="000000"/>
                          </a:solidFill>
                          <a:effectLst/>
                          <a:latin typeface="Calibri" panose="020F0502020204030204" pitchFamily="34" charset="0"/>
                        </a:rPr>
                        <a:t>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ENGINE: #2/21368 ON AIRCRAFT VN-A892: P25 MEASUREMENT ERROR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C1203 RAISED GALLEY CHILLER SYS INOP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B1566 RAISED AIR PACK 2 REGUL REDUNANCY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5730338"/>
                  </a:ext>
                </a:extLst>
              </a:tr>
              <a:tr h="205853">
                <a:tc>
                  <a:txBody>
                    <a:bodyPr/>
                    <a:lstStyle/>
                    <a:p>
                      <a:pPr algn="ctr" fontAlgn="ctr"/>
                      <a:r>
                        <a:rPr lang="en-US" sz="1300" b="0" i="0" u="none" strike="noStrike">
                          <a:solidFill>
                            <a:srgbClr val="000000"/>
                          </a:solidFill>
                          <a:effectLst/>
                          <a:latin typeface="Calibri" panose="020F0502020204030204" pitchFamily="34" charset="0"/>
                        </a:rPr>
                        <a:t>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1324540"/>
                  </a:ext>
                </a:extLst>
              </a:tr>
              <a:tr h="205853">
                <a:tc>
                  <a:txBody>
                    <a:bodyPr/>
                    <a:lstStyle/>
                    <a:p>
                      <a:pPr algn="ctr" fontAlgn="ctr"/>
                      <a:r>
                        <a:rPr lang="en-US" sz="1300" b="0" i="0" u="none" strike="noStrike">
                          <a:solidFill>
                            <a:srgbClr val="000000"/>
                          </a:solidFill>
                          <a:effectLst/>
                          <a:latin typeface="Calibri" panose="020F0502020204030204" pitchFamily="34" charset="0"/>
                        </a:rPr>
                        <a:t>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164131"/>
                  </a:ext>
                </a:extLst>
              </a:tr>
              <a:tr h="205853">
                <a:tc>
                  <a:txBody>
                    <a:bodyPr/>
                    <a:lstStyle/>
                    <a:p>
                      <a:pPr algn="ctr" fontAlgn="ctr"/>
                      <a:r>
                        <a:rPr lang="en-US" sz="1300" b="0" i="0" u="none" strike="noStrike">
                          <a:solidFill>
                            <a:srgbClr val="000000"/>
                          </a:solidFill>
                          <a:effectLst/>
                          <a:latin typeface="Calibri" panose="020F0502020204030204" pitchFamily="34" charset="0"/>
                        </a:rPr>
                        <a:t>10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SG" sz="1300" b="0" i="0" u="none" strike="noStrike">
                        <a:solidFill>
                          <a:srgbClr val="000000"/>
                        </a:solidFill>
                        <a:effectLst/>
                        <a:latin typeface="Calibri" panose="020F0502020204030204" pitchFamily="34" charset="0"/>
                      </a:endParaRP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2863659"/>
                  </a:ext>
                </a:extLst>
              </a:tr>
              <a:tr h="205853">
                <a:tc>
                  <a:txBody>
                    <a:bodyPr/>
                    <a:lstStyle/>
                    <a:p>
                      <a:pPr algn="ctr" fontAlgn="ctr"/>
                      <a:r>
                        <a:rPr lang="en-US" sz="1300" b="0" i="0" u="none" strike="noStrike">
                          <a:solidFill>
                            <a:srgbClr val="000000"/>
                          </a:solidFill>
                          <a:effectLst/>
                          <a:latin typeface="Calibri" panose="020F0502020204030204" pitchFamily="34" charset="0"/>
                        </a:rPr>
                        <a:t>11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7204658"/>
                  </a:ext>
                </a:extLst>
              </a:tr>
              <a:tr h="1018653">
                <a:tc>
                  <a:txBody>
                    <a:bodyPr/>
                    <a:lstStyle/>
                    <a:p>
                      <a:pPr algn="ctr" fontAlgn="ctr"/>
                      <a:r>
                        <a:rPr lang="en-US" sz="1300" b="0" i="0" u="none" strike="noStrike">
                          <a:solidFill>
                            <a:srgbClr val="000000"/>
                          </a:solidFill>
                          <a:effectLst/>
                          <a:latin typeface="Calibri" panose="020F0502020204030204" pitchFamily="34" charset="0"/>
                        </a:rPr>
                        <a:t>12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FM: PROBE 3-N1 TURBINE SPEED,ENG2(4088KS32)</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AFT CARGO DOOR ACTUATOR LEAKAGES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5. TR 81592240: EDP Y2 Minimum Flow Orifice seems to be affected by contamination</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1991554"/>
                  </a:ext>
                </a:extLst>
              </a:tr>
              <a:tr h="612253">
                <a:tc>
                  <a:txBody>
                    <a:bodyPr/>
                    <a:lstStyle/>
                    <a:p>
                      <a:pPr algn="ctr" fontAlgn="ctr"/>
                      <a:r>
                        <a:rPr lang="en-US" sz="1300" b="0" i="0" u="none" strike="noStrike">
                          <a:solidFill>
                            <a:srgbClr val="000000"/>
                          </a:solidFill>
                          <a:effectLst/>
                          <a:latin typeface="Calibri" panose="020F0502020204030204" pitchFamily="34" charset="0"/>
                        </a:rPr>
                        <a:t>13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 giảm tần suất soi IPC blade root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C552 RAISED AIR CHILLER SYS AT ALL GALLEY INOP</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3137972"/>
                  </a:ext>
                </a:extLst>
              </a:tr>
              <a:tr h="205853">
                <a:tc>
                  <a:txBody>
                    <a:bodyPr/>
                    <a:lstStyle/>
                    <a:p>
                      <a:pPr algn="ctr" fontAlgn="ctr"/>
                      <a:r>
                        <a:rPr lang="en-US" sz="1300" b="0" i="0" u="none" strike="noStrike">
                          <a:solidFill>
                            <a:srgbClr val="000000"/>
                          </a:solidFill>
                          <a:effectLst/>
                          <a:latin typeface="Calibri" panose="020F0502020204030204" pitchFamily="34" charset="0"/>
                        </a:rPr>
                        <a:t>14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2567937"/>
                  </a:ext>
                </a:extLst>
              </a:tr>
            </a:tbl>
          </a:graphicData>
        </a:graphic>
      </p:graphicFrame>
    </p:spTree>
    <p:extLst>
      <p:ext uri="{BB962C8B-B14F-4D97-AF65-F5344CB8AC3E}">
        <p14:creationId xmlns:p14="http://schemas.microsoft.com/office/powerpoint/2010/main" val="136641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156966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NIL</a:t>
            </a:r>
          </a:p>
          <a:p>
            <a:pPr marL="609585" lvl="1" algn="just"/>
            <a:r>
              <a:rPr lang="en-US" sz="1600">
                <a:latin typeface="Times New Roman" panose="02020603050405020304" pitchFamily="18" charset="0"/>
                <a:cs typeface="Times New Roman" panose="02020603050405020304" pitchFamily="18" charset="0"/>
              </a:rPr>
              <a:t>+ Về tiến độ thực hiện AD 2025-0099 thay thế 09ea FCRM trước 30/05, đã thực hiện thay thế 02ea, KH thay 04 ea từ 26-28/05, 03ea trên các tàu BQ sẽ thay thế trước khi RTS.</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240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0FC424B-DC9D-62E1-A53D-83CE2CCCCFD5}"/>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AF1EF19-7163-0783-FF8C-38BD4263E69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ED29832-B4E5-CE18-C5B6-1FF1D092A3C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E9E82A5A-DEEC-A030-5520-D33586E9A540}"/>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sp>
        <p:nvSpPr>
          <p:cNvPr id="9" name="TextBox 8">
            <a:extLst>
              <a:ext uri="{FF2B5EF4-FFF2-40B4-BE49-F238E27FC236}">
                <a16:creationId xmlns:a16="http://schemas.microsoft.com/office/drawing/2014/main" id="{3877AFC4-E60F-6712-1013-24289839523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4572220E-53F5-0F01-C2F3-99C268BDF13A}"/>
              </a:ext>
            </a:extLst>
          </p:cNvPr>
          <p:cNvGraphicFramePr>
            <a:graphicFrameLocks noGrp="1"/>
          </p:cNvGraphicFramePr>
          <p:nvPr>
            <p:extLst/>
          </p:nvPr>
        </p:nvGraphicFramePr>
        <p:xfrm>
          <a:off x="134290" y="1514671"/>
          <a:ext cx="11688715" cy="3210993"/>
        </p:xfrm>
        <a:graphic>
          <a:graphicData uri="http://schemas.openxmlformats.org/drawingml/2006/table">
            <a:tbl>
              <a:tblPr/>
              <a:tblGrid>
                <a:gridCol w="399110">
                  <a:extLst>
                    <a:ext uri="{9D8B030D-6E8A-4147-A177-3AD203B41FA5}">
                      <a16:colId xmlns:a16="http://schemas.microsoft.com/office/drawing/2014/main" val="3467514978"/>
                    </a:ext>
                  </a:extLst>
                </a:gridCol>
                <a:gridCol w="685800">
                  <a:extLst>
                    <a:ext uri="{9D8B030D-6E8A-4147-A177-3AD203B41FA5}">
                      <a16:colId xmlns:a16="http://schemas.microsoft.com/office/drawing/2014/main" val="3513956334"/>
                    </a:ext>
                  </a:extLst>
                </a:gridCol>
                <a:gridCol w="3810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609600">
                  <a:extLst>
                    <a:ext uri="{9D8B030D-6E8A-4147-A177-3AD203B41FA5}">
                      <a16:colId xmlns:a16="http://schemas.microsoft.com/office/drawing/2014/main" val="673348196"/>
                    </a:ext>
                  </a:extLst>
                </a:gridCol>
                <a:gridCol w="762000">
                  <a:extLst>
                    <a:ext uri="{9D8B030D-6E8A-4147-A177-3AD203B41FA5}">
                      <a16:colId xmlns:a16="http://schemas.microsoft.com/office/drawing/2014/main" val="422459560"/>
                    </a:ext>
                  </a:extLst>
                </a:gridCol>
                <a:gridCol w="1143000">
                  <a:extLst>
                    <a:ext uri="{9D8B030D-6E8A-4147-A177-3AD203B41FA5}">
                      <a16:colId xmlns:a16="http://schemas.microsoft.com/office/drawing/2014/main" val="2573721533"/>
                    </a:ext>
                  </a:extLst>
                </a:gridCol>
                <a:gridCol w="2971800">
                  <a:extLst>
                    <a:ext uri="{9D8B030D-6E8A-4147-A177-3AD203B41FA5}">
                      <a16:colId xmlns:a16="http://schemas.microsoft.com/office/drawing/2014/main" val="1326284677"/>
                    </a:ext>
                  </a:extLst>
                </a:gridCol>
                <a:gridCol w="457200">
                  <a:extLst>
                    <a:ext uri="{9D8B030D-6E8A-4147-A177-3AD203B41FA5}">
                      <a16:colId xmlns:a16="http://schemas.microsoft.com/office/drawing/2014/main" val="3053691605"/>
                    </a:ext>
                  </a:extLst>
                </a:gridCol>
                <a:gridCol w="3593405">
                  <a:extLst>
                    <a:ext uri="{9D8B030D-6E8A-4147-A177-3AD203B41FA5}">
                      <a16:colId xmlns:a16="http://schemas.microsoft.com/office/drawing/2014/main" val="3407010750"/>
                    </a:ext>
                  </a:extLst>
                </a:gridCol>
              </a:tblGrid>
              <a:tr h="351588">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2781992">
                <a:tc>
                  <a:txBody>
                    <a:bodyPr/>
                    <a:lstStyle/>
                    <a:p>
                      <a:pPr algn="l" fontAlgn="b"/>
                      <a:r>
                        <a:rPr lang="vi-VN" sz="1100" b="0" i="0" u="none" strike="noStrike" dirty="0">
                          <a:solidFill>
                            <a:srgbClr val="000000"/>
                          </a:solidFill>
                          <a:effectLst/>
                          <a:latin typeface="+mn-lt"/>
                        </a:rPr>
                        <a:t>A872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19:31 21/05/2025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A/C RTG CAPT REPORT ANTI-ICE CAC INLET R INOP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APPLIED MEL 30-22-01A. EVENT CLOSE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ANTI-ICE CAC INLET R INOP</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Total delay 75MIN, tech 15MIN</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Tàu thay khối heater Lip PN 491Z4996-1 để khắc phục hỏng hóc.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Khi tàu ở mặt đât, ADRs sẽ lấy OAT từ sensor trên khối Heater Lip này để tính V speed. Mỗi bên CAC inlet sẽ có 2 sensor. Khi khối này hỏng, tổ bay sẽ nhập OAT vào FMC để tính toán, nhưng không thành công, dẫn đến phải quay lại gate để deactive CIPS. Theo thông tin từ BOE, hệ thống không cho nhập OAT có thể do 1 sensor nhiệt của CAC inlet heater Lip vẫn còn hoạt động. Khi deactive cả CAC inet heater thì nhập OAT bình thường.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Theo FTD-30-15001 Hỏng hóc có thể do harness bị trà sát với các chi tiết xung quanh. Giải pháp là thực hiện 787-SB-30-0019 để lắp dây mới. SB released 2017 prior to L/N 446, đã hoàn thành SB cho các tàu bị ảnh hưởng năm 2019. Khi thay heat lip, tàu A872 đã được kiển tra harness và không có finding.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ĐTC: Khối heater lip chưa từng tháo lắp US, cần theo dõi thêm về ĐTC của khối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bl>
          </a:graphicData>
        </a:graphic>
      </p:graphicFrame>
    </p:spTree>
    <p:extLst>
      <p:ext uri="{BB962C8B-B14F-4D97-AF65-F5344CB8AC3E}">
        <p14:creationId xmlns:p14="http://schemas.microsoft.com/office/powerpoint/2010/main" val="561023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56280" y="606663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3" name="Rectangle 2"/>
          <p:cNvSpPr/>
          <p:nvPr/>
        </p:nvSpPr>
        <p:spPr>
          <a:xfrm>
            <a:off x="385675" y="139747"/>
            <a:ext cx="5212261"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A872</a:t>
            </a:r>
            <a:r>
              <a:rPr lang="vi-VN" b="1" dirty="0">
                <a:latin typeface="Times New Roman" panose="02020603050405020304" pitchFamily="18" charset="0"/>
                <a:cs typeface="Times New Roman" panose="02020603050405020304" pitchFamily="18" charset="0"/>
              </a:rPr>
              <a:t> RTG due to </a:t>
            </a:r>
            <a:r>
              <a:rPr lang="fr-FR" b="1" dirty="0">
                <a:latin typeface="Times New Roman" panose="02020603050405020304" pitchFamily="18" charset="0"/>
                <a:cs typeface="Times New Roman" panose="02020603050405020304" pitchFamily="18" charset="0"/>
              </a:rPr>
              <a:t>ANTI-ICE CAC INLET R INOP</a:t>
            </a:r>
            <a:endParaRPr lang="en-US" b="1" dirty="0">
              <a:latin typeface="Times New Roman" panose="02020603050405020304" pitchFamily="18" charset="0"/>
              <a:cs typeface="Times New Roman" panose="02020603050405020304" pitchFamily="18" charset="0"/>
            </a:endParaRPr>
          </a:p>
        </p:txBody>
      </p:sp>
      <p:sp>
        <p:nvSpPr>
          <p:cNvPr id="18" name="Rectangle 17"/>
          <p:cNvSpPr/>
          <p:nvPr/>
        </p:nvSpPr>
        <p:spPr>
          <a:xfrm>
            <a:off x="385675" y="686405"/>
            <a:ext cx="8067661" cy="307777"/>
          </a:xfrm>
          <a:prstGeom prst="rect">
            <a:avLst/>
          </a:prstGeom>
        </p:spPr>
        <p:txBody>
          <a:bodyPr wrap="square">
            <a:spAutoFit/>
          </a:bodyPr>
          <a:lstStyle/>
          <a:p>
            <a:pPr marL="285750" indent="-285750">
              <a:buFontTx/>
              <a:buChar char="-"/>
            </a:pPr>
            <a:endParaRPr lang="en-US" sz="1400" dirty="0">
              <a:latin typeface="Times New Roman" panose="02020603050405020304" pitchFamily="18" charset="0"/>
              <a:cs typeface="Times New Roman" panose="02020603050405020304" pitchFamily="18" charset="0"/>
            </a:endParaRPr>
          </a:p>
        </p:txBody>
      </p:sp>
      <p:sp>
        <p:nvSpPr>
          <p:cNvPr id="8" name="Rectangle 7"/>
          <p:cNvSpPr/>
          <p:nvPr/>
        </p:nvSpPr>
        <p:spPr>
          <a:xfrm>
            <a:off x="385675" y="715228"/>
            <a:ext cx="6015125" cy="5047536"/>
          </a:xfrm>
          <a:prstGeom prst="rect">
            <a:avLst/>
          </a:prstGeom>
        </p:spPr>
        <p:txBody>
          <a:bodyPr wrap="square">
            <a:spAutoFit/>
          </a:bodyPr>
          <a:lstStyle/>
          <a:p>
            <a:pPr algn="just"/>
            <a:r>
              <a:rPr lang="vi-VN" sz="1400" dirty="0">
                <a:latin typeface="Times New Roman" panose="02020603050405020304" pitchFamily="18" charset="0"/>
                <a:cs typeface="Times New Roman" panose="02020603050405020304" pitchFamily="18" charset="0"/>
              </a:rPr>
              <a:t>Khi tàu ở mặt đât, ADRs sẽ lấy OAT từ sensor trên khối Heater Lip này để tính V speed. Khi khối này hỏng, tổ bay sẽ nhập OAT vào FMC để tính toán, nhưng không thành công, dẫn đến phải quay lại gate để deactive CIPS. </a:t>
            </a:r>
            <a:endParaRPr lang="en-US" sz="1400" dirty="0">
              <a:latin typeface="Times New Roman" panose="02020603050405020304" pitchFamily="18" charset="0"/>
              <a:cs typeface="Times New Roman" panose="02020603050405020304" pitchFamily="18" charset="0"/>
            </a:endParaRPr>
          </a:p>
          <a:p>
            <a:pPr algn="just"/>
            <a:endParaRPr lang="en-US" sz="1400" dirty="0">
              <a:latin typeface="Times New Roman" panose="02020603050405020304" pitchFamily="18" charset="0"/>
              <a:cs typeface="Times New Roman" panose="02020603050405020304" pitchFamily="18" charset="0"/>
            </a:endParaRPr>
          </a:p>
          <a:p>
            <a:pPr algn="just"/>
            <a:r>
              <a:rPr lang="vi-VN" sz="1400" dirty="0">
                <a:latin typeface="Times New Roman" panose="02020603050405020304" pitchFamily="18" charset="0"/>
                <a:cs typeface="Times New Roman" panose="02020603050405020304" pitchFamily="18" charset="0"/>
              </a:rPr>
              <a:t>Theo thông tin từ BOE, hệ thống không cho nhập OAT có thể do 1 sensor nhiệt của CAC inlet heater Lip vẫn còn hoạt động</a:t>
            </a:r>
            <a:r>
              <a:rPr lang="en-US" sz="1400" dirty="0">
                <a:latin typeface="Times New Roman" panose="02020603050405020304" pitchFamily="18" charset="0"/>
                <a:cs typeface="Times New Roman" panose="02020603050405020304" pitchFamily="18" charset="0"/>
              </a:rPr>
              <a:t> (m</a:t>
            </a:r>
            <a:r>
              <a:rPr lang="vi-VN" sz="1400" dirty="0">
                <a:latin typeface="Times New Roman" panose="02020603050405020304" pitchFamily="18" charset="0"/>
                <a:cs typeface="Times New Roman" panose="02020603050405020304" pitchFamily="18" charset="0"/>
              </a:rPr>
              <a:t>ỗi bên CAC inlet có 2 sensor</a:t>
            </a:r>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sử dụng trung bình của cặp cảm biến thấp hơn làm giá trị TAT cho máy bay khi ở dưới mặt đất</a:t>
            </a:r>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vận tốc CAS &lt; 50 knots). Khi deactive CAC in</a:t>
            </a:r>
            <a:r>
              <a:rPr lang="en-US" sz="1400" dirty="0">
                <a:latin typeface="Times New Roman" panose="02020603050405020304" pitchFamily="18" charset="0"/>
                <a:cs typeface="Times New Roman" panose="02020603050405020304" pitchFamily="18" charset="0"/>
              </a:rPr>
              <a:t>l</a:t>
            </a:r>
            <a:r>
              <a:rPr lang="vi-VN" sz="1400" dirty="0">
                <a:latin typeface="Times New Roman" panose="02020603050405020304" pitchFamily="18" charset="0"/>
                <a:cs typeface="Times New Roman" panose="02020603050405020304" pitchFamily="18" charset="0"/>
              </a:rPr>
              <a:t>et heater thì nhập OAT bình thường.</a:t>
            </a: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Ban KT </a:t>
            </a:r>
            <a:r>
              <a:rPr lang="en-US" sz="1400" dirty="0" err="1">
                <a:latin typeface="Times New Roman" panose="02020603050405020304" pitchFamily="18" charset="0"/>
                <a:cs typeface="Times New Roman" panose="02020603050405020304" pitchFamily="18" charset="0"/>
              </a:rPr>
              <a:t>vẫn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đang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việc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thêm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BOE </a:t>
            </a:r>
            <a:r>
              <a:rPr lang="en-US" sz="1400" dirty="0" err="1">
                <a:latin typeface="Times New Roman" panose="02020603050405020304" pitchFamily="18" charset="0"/>
                <a:cs typeface="Times New Roman" panose="02020603050405020304" pitchFamily="18" charset="0"/>
              </a:rPr>
              <a:t>về</a:t>
            </a:r>
            <a:r>
              <a:rPr lang="en-US" sz="1400" dirty="0">
                <a:latin typeface="Times New Roman" panose="02020603050405020304" pitchFamily="18" charset="0"/>
                <a:cs typeface="Times New Roman" panose="02020603050405020304" pitchFamily="18" charset="0"/>
              </a:rPr>
              <a:t> logic </a:t>
            </a:r>
            <a:r>
              <a:rPr lang="en-US" sz="1400" dirty="0" err="1">
                <a:latin typeface="Times New Roman" panose="02020603050405020304" pitchFamily="18" charset="0"/>
                <a:cs typeface="Times New Roman" panose="02020603050405020304" pitchFamily="18" charset="0"/>
              </a:rPr>
              <a:t>vẫn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nhận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tín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từ</a:t>
            </a:r>
            <a:r>
              <a:rPr lang="en-US" sz="1400" dirty="0">
                <a:latin typeface="Times New Roman" panose="02020603050405020304" pitchFamily="18" charset="0"/>
                <a:cs typeface="Times New Roman" panose="02020603050405020304" pitchFamily="18" charset="0"/>
              </a:rPr>
              <a:t> 1 sensor </a:t>
            </a:r>
            <a:r>
              <a:rPr lang="en-US" sz="1400" dirty="0" err="1">
                <a:latin typeface="Times New Roman" panose="02020603050405020304" pitchFamily="18" charset="0"/>
                <a:cs typeface="Times New Roman" panose="02020603050405020304" pitchFamily="18" charset="0"/>
              </a:rPr>
              <a:t>nhưng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lại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báo</a:t>
            </a:r>
            <a:r>
              <a:rPr lang="en-US" sz="1400" dirty="0">
                <a:latin typeface="Times New Roman" panose="02020603050405020304" pitchFamily="18" charset="0"/>
                <a:cs typeface="Times New Roman" panose="02020603050405020304" pitchFamily="18" charset="0"/>
              </a:rPr>
              <a:t> blank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không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thủ</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công</a:t>
            </a:r>
            <a:r>
              <a:rPr lang="en-US" sz="1400" dirty="0">
                <a:latin typeface="Times New Roman" panose="02020603050405020304" pitchFamily="18" charset="0"/>
                <a:cs typeface="Times New Roman" panose="02020603050405020304" pitchFamily="18" charset="0"/>
              </a:rPr>
              <a:t>.</a:t>
            </a:r>
            <a:endParaRPr lang="vi-VN" sz="1400" dirty="0">
              <a:latin typeface="Times New Roman" panose="02020603050405020304" pitchFamily="18" charset="0"/>
              <a:cs typeface="Times New Roman" panose="02020603050405020304" pitchFamily="18" charset="0"/>
            </a:endParaRPr>
          </a:p>
          <a:p>
            <a:pPr algn="just"/>
            <a:endParaRPr lang="en-US" sz="1400" dirty="0">
              <a:latin typeface="Times New Roman" panose="02020603050405020304" pitchFamily="18" charset="0"/>
              <a:cs typeface="Times New Roman" panose="02020603050405020304" pitchFamily="18" charset="0"/>
            </a:endParaRPr>
          </a:p>
          <a:p>
            <a:pPr algn="just"/>
            <a:r>
              <a:rPr lang="vi-VN" sz="1400" dirty="0">
                <a:latin typeface="Times New Roman" panose="02020603050405020304" pitchFamily="18" charset="0"/>
                <a:cs typeface="Times New Roman" panose="02020603050405020304" pitchFamily="18" charset="0"/>
              </a:rPr>
              <a:t>Tàu thay khối heater Lip PN 491Z4996-1 để khắc phục hỏng hóc. </a:t>
            </a:r>
            <a:endParaRPr lang="en-US" sz="1400" dirty="0">
              <a:latin typeface="Times New Roman" panose="02020603050405020304" pitchFamily="18" charset="0"/>
              <a:cs typeface="Times New Roman" panose="02020603050405020304" pitchFamily="18" charset="0"/>
            </a:endParaRPr>
          </a:p>
          <a:p>
            <a:pPr algn="just"/>
            <a:r>
              <a:rPr lang="vi-VN" sz="1400" dirty="0">
                <a:latin typeface="Times New Roman" panose="02020603050405020304" pitchFamily="18" charset="0"/>
                <a:cs typeface="Times New Roman" panose="02020603050405020304" pitchFamily="18" charset="0"/>
              </a:rPr>
              <a:t>ĐTC: Khối heater lip chưa từng tháo lắp US, cần theo dõi thêm về ĐTC của khối này.</a:t>
            </a:r>
          </a:p>
          <a:p>
            <a:pPr algn="just"/>
            <a:endParaRPr lang="en-US" sz="1400" dirty="0">
              <a:latin typeface="Times New Roman" panose="02020603050405020304" pitchFamily="18" charset="0"/>
              <a:cs typeface="Times New Roman" panose="02020603050405020304" pitchFamily="18" charset="0"/>
            </a:endParaRPr>
          </a:p>
          <a:p>
            <a:pPr algn="just"/>
            <a:r>
              <a:rPr lang="vi-VN" sz="1400" dirty="0">
                <a:latin typeface="Times New Roman" panose="02020603050405020304" pitchFamily="18" charset="0"/>
                <a:cs typeface="Times New Roman" panose="02020603050405020304" pitchFamily="18" charset="0"/>
              </a:rPr>
              <a:t>Theo FTD-30-15001 Hỏng hóc có thể do harness bị trà sát với các chi tiết xung quanh. Giải pháp là thực hiện 787-SB-30-0019 để lắp dây mới. SB released 2017 prior to L/N 446, đã hoàn thành SB cho các tàu bị ảnh hưởng năm 2019.</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Đối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tàu</a:t>
            </a:r>
            <a:r>
              <a:rPr lang="en-US" sz="1400" dirty="0">
                <a:latin typeface="Times New Roman" panose="02020603050405020304" pitchFamily="18" charset="0"/>
                <a:cs typeface="Times New Roman" panose="02020603050405020304" pitchFamily="18" charset="0"/>
              </a:rPr>
              <a:t> A872 </a:t>
            </a:r>
            <a:r>
              <a:rPr lang="en-US" sz="1400" dirty="0" err="1">
                <a:latin typeface="Times New Roman" panose="02020603050405020304" pitchFamily="18" charset="0"/>
                <a:cs typeface="Times New Roman" panose="02020603050405020304" pitchFamily="18" charset="0"/>
              </a:rPr>
              <a:t>đã</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thực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SB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production.</a:t>
            </a:r>
            <a:endParaRPr lang="vi-VN" sz="1400" dirty="0">
              <a:latin typeface="Times New Roman" panose="02020603050405020304" pitchFamily="18" charset="0"/>
              <a:cs typeface="Times New Roman" panose="02020603050405020304" pitchFamily="18" charset="0"/>
            </a:endParaRPr>
          </a:p>
          <a:p>
            <a:pPr algn="just"/>
            <a:r>
              <a:rPr lang="en-US" sz="1400" dirty="0" err="1">
                <a:latin typeface="Times New Roman" panose="02020603050405020304" pitchFamily="18" charset="0"/>
                <a:cs typeface="Times New Roman" panose="02020603050405020304" pitchFamily="18" charset="0"/>
              </a:rPr>
              <a:t>Tàu</a:t>
            </a:r>
            <a:r>
              <a:rPr lang="en-US" sz="1400" dirty="0">
                <a:latin typeface="Times New Roman" panose="02020603050405020304" pitchFamily="18" charset="0"/>
                <a:cs typeface="Times New Roman" panose="02020603050405020304" pitchFamily="18" charset="0"/>
              </a:rPr>
              <a:t> A872 </a:t>
            </a:r>
            <a:r>
              <a:rPr lang="en-US" sz="1400" dirty="0" err="1">
                <a:latin typeface="Times New Roman" panose="02020603050405020304" pitchFamily="18" charset="0"/>
                <a:cs typeface="Times New Roman" panose="02020603050405020304" pitchFamily="18" charset="0"/>
              </a:rPr>
              <a:t>cũng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đã</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được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tra</a:t>
            </a:r>
            <a:r>
              <a:rPr lang="en-US" sz="1400" dirty="0">
                <a:latin typeface="Times New Roman" panose="02020603050405020304" pitchFamily="18" charset="0"/>
                <a:cs typeface="Times New Roman" panose="02020603050405020304" pitchFamily="18" charset="0"/>
              </a:rPr>
              <a:t> harness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thay</a:t>
            </a:r>
            <a:r>
              <a:rPr lang="en-US" sz="1400" dirty="0">
                <a:latin typeface="Times New Roman" panose="02020603050405020304" pitchFamily="18" charset="0"/>
                <a:cs typeface="Times New Roman" panose="02020603050405020304" pitchFamily="18" charset="0"/>
              </a:rPr>
              <a:t> Heater Lip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không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finding.</a:t>
            </a:r>
          </a:p>
          <a:p>
            <a:pPr algn="just"/>
            <a:endParaRPr lang="vi-VN" sz="1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6871318" y="169068"/>
            <a:ext cx="5166516" cy="3932293"/>
          </a:xfrm>
          <a:prstGeom prst="rect">
            <a:avLst/>
          </a:prstGeom>
        </p:spPr>
      </p:pic>
      <p:pic>
        <p:nvPicPr>
          <p:cNvPr id="7" name="Picture 6"/>
          <p:cNvPicPr>
            <a:picLocks noChangeAspect="1"/>
          </p:cNvPicPr>
          <p:nvPr/>
        </p:nvPicPr>
        <p:blipFill>
          <a:blip r:embed="rId4"/>
          <a:stretch>
            <a:fillRect/>
          </a:stretch>
        </p:blipFill>
        <p:spPr>
          <a:xfrm>
            <a:off x="6871318" y="4382733"/>
            <a:ext cx="4945406" cy="2049031"/>
          </a:xfrm>
          <a:prstGeom prst="rect">
            <a:avLst/>
          </a:prstGeom>
        </p:spPr>
      </p:pic>
    </p:spTree>
    <p:extLst>
      <p:ext uri="{BB962C8B-B14F-4D97-AF65-F5344CB8AC3E}">
        <p14:creationId xmlns:p14="http://schemas.microsoft.com/office/powerpoint/2010/main" val="3098249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EBEB4673-C0FC-800C-FB5D-7CB8B191625C}"/>
              </a:ext>
            </a:extLst>
          </p:cNvPr>
          <p:cNvGraphicFramePr>
            <a:graphicFrameLocks noGrp="1"/>
          </p:cNvGraphicFramePr>
          <p:nvPr>
            <p:extLst/>
          </p:nvPr>
        </p:nvGraphicFramePr>
        <p:xfrm>
          <a:off x="197479" y="501463"/>
          <a:ext cx="11818830" cy="6302172"/>
        </p:xfrm>
        <a:graphic>
          <a:graphicData uri="http://schemas.openxmlformats.org/drawingml/2006/table">
            <a:tbl>
              <a:tblPr/>
              <a:tblGrid>
                <a:gridCol w="357604">
                  <a:extLst>
                    <a:ext uri="{9D8B030D-6E8A-4147-A177-3AD203B41FA5}">
                      <a16:colId xmlns:a16="http://schemas.microsoft.com/office/drawing/2014/main" val="3877944868"/>
                    </a:ext>
                  </a:extLst>
                </a:gridCol>
                <a:gridCol w="624468">
                  <a:extLst>
                    <a:ext uri="{9D8B030D-6E8A-4147-A177-3AD203B41FA5}">
                      <a16:colId xmlns:a16="http://schemas.microsoft.com/office/drawing/2014/main" val="3730204254"/>
                    </a:ext>
                  </a:extLst>
                </a:gridCol>
                <a:gridCol w="594732">
                  <a:extLst>
                    <a:ext uri="{9D8B030D-6E8A-4147-A177-3AD203B41FA5}">
                      <a16:colId xmlns:a16="http://schemas.microsoft.com/office/drawing/2014/main" val="4115947374"/>
                    </a:ext>
                  </a:extLst>
                </a:gridCol>
                <a:gridCol w="1288585">
                  <a:extLst>
                    <a:ext uri="{9D8B030D-6E8A-4147-A177-3AD203B41FA5}">
                      <a16:colId xmlns:a16="http://schemas.microsoft.com/office/drawing/2014/main" val="4139638527"/>
                    </a:ext>
                  </a:extLst>
                </a:gridCol>
                <a:gridCol w="1169639">
                  <a:extLst>
                    <a:ext uri="{9D8B030D-6E8A-4147-A177-3AD203B41FA5}">
                      <a16:colId xmlns:a16="http://schemas.microsoft.com/office/drawing/2014/main" val="2993121068"/>
                    </a:ext>
                  </a:extLst>
                </a:gridCol>
                <a:gridCol w="1476917">
                  <a:extLst>
                    <a:ext uri="{9D8B030D-6E8A-4147-A177-3AD203B41FA5}">
                      <a16:colId xmlns:a16="http://schemas.microsoft.com/office/drawing/2014/main" val="912476781"/>
                    </a:ext>
                  </a:extLst>
                </a:gridCol>
                <a:gridCol w="6306885">
                  <a:extLst>
                    <a:ext uri="{9D8B030D-6E8A-4147-A177-3AD203B41FA5}">
                      <a16:colId xmlns:a16="http://schemas.microsoft.com/office/drawing/2014/main" val="3109937157"/>
                    </a:ext>
                  </a:extLst>
                </a:gridCol>
              </a:tblGrid>
              <a:tr h="207931">
                <a:tc>
                  <a:txBody>
                    <a:bodyPr/>
                    <a:lstStyle/>
                    <a:p>
                      <a:pPr algn="ctr" fontAlgn="ctr"/>
                      <a:r>
                        <a:rPr lang="en-US" sz="1300" b="0" i="0" u="none" strike="noStrike">
                          <a:solidFill>
                            <a:srgbClr val="000000"/>
                          </a:solidFill>
                          <a:effectLst/>
                          <a:latin typeface="Calibri" panose="020F0502020204030204" pitchFamily="34" charset="0"/>
                        </a:rPr>
                        <a:t>No</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0436100"/>
                  </a:ext>
                </a:extLst>
              </a:tr>
              <a:tr h="207931">
                <a:tc>
                  <a:txBody>
                    <a:bodyPr/>
                    <a:lstStyle/>
                    <a:p>
                      <a:pPr algn="ctr" fontAlgn="ctr"/>
                      <a:r>
                        <a:rPr lang="en-US" sz="1300" b="0" i="0" u="none" strike="noStrike">
                          <a:solidFill>
                            <a:srgbClr val="000000"/>
                          </a:solidFill>
                          <a:effectLst/>
                          <a:latin typeface="Calibri" panose="020F0502020204030204" pitchFamily="34" charset="0"/>
                        </a:rPr>
                        <a:t>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1356342"/>
                  </a:ext>
                </a:extLst>
              </a:tr>
              <a:tr h="207931">
                <a:tc>
                  <a:txBody>
                    <a:bodyPr/>
                    <a:lstStyle/>
                    <a:p>
                      <a:pPr algn="ctr" fontAlgn="ctr"/>
                      <a:r>
                        <a:rPr lang="en-US" sz="1300" b="0" i="0" u="none" strike="noStrike">
                          <a:solidFill>
                            <a:srgbClr val="000000"/>
                          </a:solidFill>
                          <a:effectLst/>
                          <a:latin typeface="Calibri" panose="020F0502020204030204" pitchFamily="34" charset="0"/>
                        </a:rPr>
                        <a:t>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1300" b="0" i="0" u="none" strike="noStrike">
                          <a:solidFill>
                            <a:srgbClr val="000000"/>
                          </a:solidFill>
                          <a:effectLst/>
                          <a:latin typeface="Calibri" panose="020F0502020204030204" pitchFamily="34" charset="0"/>
                        </a:rPr>
                        <a:t>B1354 RAISED:IRU L INOP.</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1328122"/>
                  </a:ext>
                </a:extLst>
              </a:tr>
              <a:tr h="817531">
                <a:tc>
                  <a:txBody>
                    <a:bodyPr/>
                    <a:lstStyle/>
                    <a:p>
                      <a:pPr algn="ctr" fontAlgn="ctr"/>
                      <a:r>
                        <a:rPr lang="en-US" sz="1300" b="0" i="0" u="none" strike="noStrike">
                          <a:solidFill>
                            <a:srgbClr val="000000"/>
                          </a:solidFill>
                          <a:effectLst/>
                          <a:latin typeface="Calibri" panose="020F0502020204030204" pitchFamily="34" charset="0"/>
                        </a:rPr>
                        <a:t>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TAIL AIRFLOW SYS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B1714 "STS IRU R" RAISED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B1718 RAISED: LIQUID COOLING R PUMP 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21705"/>
                  </a:ext>
                </a:extLst>
              </a:tr>
              <a:tr h="248269">
                <a:tc>
                  <a:txBody>
                    <a:bodyPr/>
                    <a:lstStyle/>
                    <a:p>
                      <a:pPr algn="ctr" fontAlgn="ctr"/>
                      <a:r>
                        <a:rPr lang="en-US" sz="1300" b="0" i="0" u="none" strike="noStrike">
                          <a:solidFill>
                            <a:srgbClr val="000000"/>
                          </a:solidFill>
                          <a:effectLst/>
                          <a:latin typeface="Calibri" panose="020F0502020204030204" pitchFamily="34" charset="0"/>
                        </a:rPr>
                        <a:t>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B1264 AFT CARGO HANDLING SYSTEM IN/OUT IN CENTER LOADING PDU INOP</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5833381"/>
                  </a:ext>
                </a:extLst>
              </a:tr>
              <a:tr h="207931">
                <a:tc>
                  <a:txBody>
                    <a:bodyPr/>
                    <a:lstStyle/>
                    <a:p>
                      <a:pPr algn="ctr" fontAlgn="ctr"/>
                      <a:r>
                        <a:rPr lang="en-US" sz="1300" b="0" i="0" u="none" strike="noStrike">
                          <a:solidFill>
                            <a:srgbClr val="000000"/>
                          </a:solidFill>
                          <a:effectLst/>
                          <a:latin typeface="Calibri" panose="020F0502020204030204" pitchFamily="34" charset="0"/>
                        </a:rPr>
                        <a:t>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B914 FO GLARESHIELD MIC SWITCH INOP</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6072989"/>
                  </a:ext>
                </a:extLst>
              </a:tr>
              <a:tr h="411131">
                <a:tc>
                  <a:txBody>
                    <a:bodyPr/>
                    <a:lstStyle/>
                    <a:p>
                      <a:pPr algn="ctr" fontAlgn="ctr"/>
                      <a:r>
                        <a:rPr lang="en-US" sz="1300" b="0" i="0" u="none" strike="noStrike">
                          <a:solidFill>
                            <a:srgbClr val="000000"/>
                          </a:solidFill>
                          <a:effectLst/>
                          <a:latin typeface="Calibri" panose="020F0502020204030204" pitchFamily="34" charset="0"/>
                        </a:rPr>
                        <a:t>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5211037"/>
                  </a:ext>
                </a:extLst>
              </a:tr>
              <a:tr h="411131">
                <a:tc>
                  <a:txBody>
                    <a:bodyPr/>
                    <a:lstStyle/>
                    <a:p>
                      <a:pPr algn="ctr" fontAlgn="ctr"/>
                      <a:r>
                        <a:rPr lang="en-US" sz="1300" b="0" i="0" u="none" strike="noStrike">
                          <a:solidFill>
                            <a:srgbClr val="000000"/>
                          </a:solidFill>
                          <a:effectLst/>
                          <a:latin typeface="Calibri" panose="020F0502020204030204" pitchFamily="34" charset="0"/>
                        </a:rPr>
                        <a:t>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7041748"/>
                  </a:ext>
                </a:extLst>
              </a:tr>
              <a:tr h="207931">
                <a:tc>
                  <a:txBody>
                    <a:bodyPr/>
                    <a:lstStyle/>
                    <a:p>
                      <a:pPr algn="ctr" fontAlgn="ctr"/>
                      <a:r>
                        <a:rPr lang="en-US" sz="1300" b="0" i="0" u="none" strike="noStrike">
                          <a:solidFill>
                            <a:srgbClr val="000000"/>
                          </a:solidFill>
                          <a:effectLst/>
                          <a:latin typeface="Calibri" panose="020F0502020204030204" pitchFamily="34" charset="0"/>
                        </a:rPr>
                        <a:t>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2132495"/>
                  </a:ext>
                </a:extLst>
              </a:tr>
              <a:tr h="411131">
                <a:tc>
                  <a:txBody>
                    <a:bodyPr/>
                    <a:lstStyle/>
                    <a:p>
                      <a:pPr algn="ctr" fontAlgn="ctr"/>
                      <a:r>
                        <a:rPr lang="en-US" sz="1300" b="0" i="0" u="none" strike="noStrike">
                          <a:solidFill>
                            <a:srgbClr val="000000"/>
                          </a:solidFill>
                          <a:effectLst/>
                          <a:latin typeface="Calibri" panose="020F0502020204030204" pitchFamily="34" charset="0"/>
                        </a:rPr>
                        <a:t>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2096550"/>
                  </a:ext>
                </a:extLst>
              </a:tr>
              <a:tr h="207931">
                <a:tc>
                  <a:txBody>
                    <a:bodyPr/>
                    <a:lstStyle/>
                    <a:p>
                      <a:pPr algn="ctr" fontAlgn="ctr"/>
                      <a:r>
                        <a:rPr lang="en-US" sz="1300" b="0" i="0" u="none" strike="noStrike">
                          <a:solidFill>
                            <a:srgbClr val="000000"/>
                          </a:solidFill>
                          <a:effectLst/>
                          <a:latin typeface="Calibri" panose="020F0502020204030204" pitchFamily="34" charset="0"/>
                        </a:rPr>
                        <a:t>10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4583811"/>
                  </a:ext>
                </a:extLst>
              </a:tr>
              <a:tr h="248269">
                <a:tc>
                  <a:txBody>
                    <a:bodyPr/>
                    <a:lstStyle/>
                    <a:p>
                      <a:pPr algn="ctr" fontAlgn="ctr"/>
                      <a:r>
                        <a:rPr lang="en-US" sz="1300" b="0" i="0" u="none" strike="noStrike">
                          <a:solidFill>
                            <a:srgbClr val="000000"/>
                          </a:solidFill>
                          <a:effectLst/>
                          <a:latin typeface="Calibri" panose="020F0502020204030204" pitchFamily="34" charset="0"/>
                        </a:rPr>
                        <a:t>11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B2311 "PACK ACM L"; B2312 “ACM CPRSP OUTLET SNSR L”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3351174"/>
                  </a:ext>
                </a:extLst>
              </a:tr>
              <a:tr h="207931">
                <a:tc>
                  <a:txBody>
                    <a:bodyPr/>
                    <a:lstStyle/>
                    <a:p>
                      <a:pPr algn="ctr" fontAlgn="ctr"/>
                      <a:r>
                        <a:rPr lang="en-US" sz="1300" b="0" i="0" u="none" strike="noStrike">
                          <a:solidFill>
                            <a:srgbClr val="000000"/>
                          </a:solidFill>
                          <a:effectLst/>
                          <a:latin typeface="Calibri" panose="020F0502020204030204" pitchFamily="34" charset="0"/>
                        </a:rPr>
                        <a:t>12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8859523"/>
                  </a:ext>
                </a:extLst>
              </a:tr>
              <a:tr h="614331">
                <a:tc>
                  <a:txBody>
                    <a:bodyPr/>
                    <a:lstStyle/>
                    <a:p>
                      <a:pPr algn="ctr" fontAlgn="ctr"/>
                      <a:r>
                        <a:rPr lang="en-US" sz="1300" b="0" i="0" u="none" strike="noStrike">
                          <a:solidFill>
                            <a:srgbClr val="000000"/>
                          </a:solidFill>
                          <a:effectLst/>
                          <a:latin typeface="Calibri" panose="020F0502020204030204" pitchFamily="34" charset="0"/>
                        </a:rPr>
                        <a:t>13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B540 : 50 CYCS REPEATED INSPECTION INTERVAL ON ENG#1 S/N 958435 RF RDR# 01280724</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B543 WEATHER RADAR SYS R</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3743932"/>
                  </a:ext>
                </a:extLst>
              </a:tr>
              <a:tr h="248269">
                <a:tc>
                  <a:txBody>
                    <a:bodyPr/>
                    <a:lstStyle/>
                    <a:p>
                      <a:pPr algn="ctr" fontAlgn="ctr"/>
                      <a:r>
                        <a:rPr lang="en-US" sz="1300" b="0" i="0" u="none" strike="noStrike">
                          <a:solidFill>
                            <a:srgbClr val="000000"/>
                          </a:solidFill>
                          <a:effectLst/>
                          <a:latin typeface="Calibri" panose="020F0502020204030204" pitchFamily="34" charset="0"/>
                        </a:rPr>
                        <a:t>14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2618007"/>
                  </a:ext>
                </a:extLst>
              </a:tr>
              <a:tr h="817531">
                <a:tc>
                  <a:txBody>
                    <a:bodyPr/>
                    <a:lstStyle/>
                    <a:p>
                      <a:pPr algn="ctr" fontAlgn="ctr"/>
                      <a:r>
                        <a:rPr lang="en-US" sz="1300" b="0" i="0" u="none" strike="noStrike">
                          <a:solidFill>
                            <a:srgbClr val="000000"/>
                          </a:solidFill>
                          <a:effectLst/>
                          <a:latin typeface="Calibri" panose="020F0502020204030204" pitchFamily="34" charset="0"/>
                        </a:rPr>
                        <a:t>15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B058 "DATALINK RECORDER SYS AFT";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B059 "VOICE RECORDER SYS AFT"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B060 "FLIGHT RECORDER SYS AFT";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B062 RH VACUUM BLOWER INOP</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1034030"/>
                  </a:ext>
                </a:extLst>
              </a:tr>
              <a:tr h="207931">
                <a:tc>
                  <a:txBody>
                    <a:bodyPr/>
                    <a:lstStyle/>
                    <a:p>
                      <a:pPr algn="ctr" fontAlgn="ctr"/>
                      <a:r>
                        <a:rPr lang="en-US" sz="1300" b="0" i="0" u="none" strike="noStrike">
                          <a:solidFill>
                            <a:srgbClr val="000000"/>
                          </a:solidFill>
                          <a:effectLst/>
                          <a:latin typeface="Calibri" panose="020F0502020204030204" pitchFamily="34" charset="0"/>
                        </a:rPr>
                        <a:t>16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0209593"/>
                  </a:ext>
                </a:extLst>
              </a:tr>
              <a:tr h="411131">
                <a:tc>
                  <a:txBody>
                    <a:bodyPr/>
                    <a:lstStyle/>
                    <a:p>
                      <a:pPr algn="ctr" fontAlgn="ctr"/>
                      <a:r>
                        <a:rPr lang="en-US" sz="1300" b="0" i="0" u="none" strike="noStrike">
                          <a:solidFill>
                            <a:srgbClr val="000000"/>
                          </a:solidFill>
                          <a:effectLst/>
                          <a:latin typeface="Calibri" panose="020F0502020204030204" pitchFamily="34" charset="0"/>
                        </a:rPr>
                        <a:t>17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2043083"/>
                  </a:ext>
                </a:extLst>
              </a:tr>
            </a:tbl>
          </a:graphicData>
        </a:graphic>
      </p:graphicFrame>
    </p:spTree>
    <p:extLst>
      <p:ext uri="{BB962C8B-B14F-4D97-AF65-F5344CB8AC3E}">
        <p14:creationId xmlns:p14="http://schemas.microsoft.com/office/powerpoint/2010/main" val="2701523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3"/>
            <a:ext cx="11941351" cy="3293209"/>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tương đối tốt với 01 TH GTB.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A872 GTB VN257 HAN-SGN ngày 21/05 do </a:t>
            </a:r>
            <a:r>
              <a:rPr lang="fr-FR" sz="1600">
                <a:solidFill>
                  <a:prstClr val="black"/>
                </a:solidFill>
                <a:latin typeface="Times New Roman" panose="02020603050405020304" pitchFamily="18" charset="0"/>
                <a:cs typeface="Times New Roman" panose="02020603050405020304" pitchFamily="18" charset="0"/>
              </a:rPr>
              <a:t>ANTI-ICE CAC INLET R INOP -&gt; APPLIED MEL 30-22-01A</a:t>
            </a:r>
            <a:endParaRPr lang="en-US" sz="1600">
              <a:solidFill>
                <a:prstClr val="black"/>
              </a:solidFill>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Tàu thay khối heater Lip PN 491Z4996-1 để khắc phục hỏng hóc. </a:t>
            </a:r>
          </a:p>
          <a:p>
            <a:pPr marL="609585" lvl="1" algn="just"/>
            <a:r>
              <a:rPr lang="vi-VN" sz="1600">
                <a:solidFill>
                  <a:srgbClr val="FF0000"/>
                </a:solidFill>
                <a:latin typeface="Times New Roman" panose="02020603050405020304" pitchFamily="18" charset="0"/>
                <a:cs typeface="Times New Roman" panose="02020603050405020304" pitchFamily="18" charset="0"/>
              </a:rPr>
              <a:t>Khi tàu ở mặt đât, ADRs sẽ lấy OAT từ sensor trên khối Heater Lip này để tính V speed. Mỗi bên CAC inlet sẽ có 2 sensor. Khi khối này hỏng, tổ bay sẽ nhập OAT vào FMC để tính toán, nhưng không thành công, dẫn đến phải quay lại gate để deactive CIPS</a:t>
            </a:r>
            <a:r>
              <a:rPr lang="en-US" sz="1600">
                <a:solidFill>
                  <a:srgbClr val="FF0000"/>
                </a:solidFill>
                <a:latin typeface="Times New Roman" panose="02020603050405020304" pitchFamily="18" charset="0"/>
                <a:cs typeface="Times New Roman" panose="02020603050405020304" pitchFamily="18" charset="0"/>
              </a:rPr>
              <a:t> (</a:t>
            </a:r>
            <a:r>
              <a:rPr lang="fr-FR" sz="1600">
                <a:solidFill>
                  <a:srgbClr val="FF0000"/>
                </a:solidFill>
                <a:latin typeface="Times New Roman" panose="02020603050405020304" pitchFamily="18" charset="0"/>
                <a:cs typeface="Times New Roman" panose="02020603050405020304" pitchFamily="18" charset="0"/>
              </a:rPr>
              <a:t>CAC INLET ICE PROTECTION SYSTEM)</a:t>
            </a:r>
            <a:r>
              <a:rPr lang="vi-VN" sz="1600">
                <a:solidFill>
                  <a:srgbClr val="FF0000"/>
                </a:solidFill>
                <a:latin typeface="Times New Roman" panose="02020603050405020304" pitchFamily="18" charset="0"/>
                <a:cs typeface="Times New Roman" panose="02020603050405020304" pitchFamily="18" charset="0"/>
              </a:rPr>
              <a:t>. Theo thông tin từ BOE, hệ thống không cho nhập OAT có thể do 1 sensor nhiệt của CAC inlet heater Lip vẫn còn hoạt động. Khi deactive cả CAC inet heater thì nhập OAT bình thường.</a:t>
            </a:r>
          </a:p>
          <a:p>
            <a:pPr marL="609585" lvl="1" algn="just"/>
            <a:r>
              <a:rPr lang="vi-VN" sz="1600">
                <a:solidFill>
                  <a:srgbClr val="FF0000"/>
                </a:solidFill>
                <a:latin typeface="Times New Roman" panose="02020603050405020304" pitchFamily="18" charset="0"/>
                <a:cs typeface="Times New Roman" panose="02020603050405020304" pitchFamily="18" charset="0"/>
              </a:rPr>
              <a:t>Theo FTD-30-15001 Hỏng hóc có thể do harness bị trà sát với các chi tiết xung quanh. Giải pháp là thực hiện 787-SB-30-0019 để lắp dây mới. SB released 2017 prior to L/N 446, đã hoàn thành SB cho các tàu bị ảnh hưởng năm 2019. Khi thay heat lip, tàu A872 đã được kiển tra harness và không có finding.</a:t>
            </a:r>
          </a:p>
          <a:p>
            <a:pPr marL="609585" lvl="1" algn="just"/>
            <a:r>
              <a:rPr lang="vi-VN" sz="1600">
                <a:solidFill>
                  <a:srgbClr val="FF0000"/>
                </a:solidFill>
                <a:latin typeface="Times New Roman" panose="02020603050405020304" pitchFamily="18" charset="0"/>
                <a:cs typeface="Times New Roman" panose="02020603050405020304" pitchFamily="18" charset="0"/>
              </a:rPr>
              <a:t>ĐTC: Khối heater lip chưa từng tháo lắp US, cần theo dõi thêm về ĐTC của khối này.</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474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BB4C195-856E-A9AF-DFB3-D34E82729C2B}"/>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8E31888-4EBD-5752-52C7-0CAB95C5518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5FFEB76-F9F7-4824-0390-3146A72EB17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3715C7BC-5FEC-532F-53D3-EB4AF4E175B8}"/>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4BA90E7E-E6E4-0A3C-38F8-41132ECC3C5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6" name="Table 5">
            <a:extLst>
              <a:ext uri="{FF2B5EF4-FFF2-40B4-BE49-F238E27FC236}">
                <a16:creationId xmlns:a16="http://schemas.microsoft.com/office/drawing/2014/main" id="{1BCB0D66-4B2C-68AA-A851-777E2395608F}"/>
              </a:ext>
            </a:extLst>
          </p:cNvPr>
          <p:cNvGraphicFramePr>
            <a:graphicFrameLocks noGrp="1"/>
          </p:cNvGraphicFramePr>
          <p:nvPr>
            <p:extLst>
              <p:ext uri="{D42A27DB-BD31-4B8C-83A1-F6EECF244321}">
                <p14:modId xmlns:p14="http://schemas.microsoft.com/office/powerpoint/2010/main" val="1086004463"/>
              </p:ext>
            </p:extLst>
          </p:nvPr>
        </p:nvGraphicFramePr>
        <p:xfrm>
          <a:off x="134289" y="1521020"/>
          <a:ext cx="11688715" cy="5111706"/>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447427">
                  <a:extLst>
                    <a:ext uri="{9D8B030D-6E8A-4147-A177-3AD203B41FA5}">
                      <a16:colId xmlns:a16="http://schemas.microsoft.com/office/drawing/2014/main" val="3375762913"/>
                    </a:ext>
                  </a:extLst>
                </a:gridCol>
                <a:gridCol w="1295400">
                  <a:extLst>
                    <a:ext uri="{9D8B030D-6E8A-4147-A177-3AD203B41FA5}">
                      <a16:colId xmlns:a16="http://schemas.microsoft.com/office/drawing/2014/main" val="1905667060"/>
                    </a:ext>
                  </a:extLst>
                </a:gridCol>
                <a:gridCol w="39624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3364804">
                  <a:extLst>
                    <a:ext uri="{9D8B030D-6E8A-4147-A177-3AD203B41FA5}">
                      <a16:colId xmlns:a16="http://schemas.microsoft.com/office/drawing/2014/main" val="63803871"/>
                    </a:ext>
                  </a:extLst>
                </a:gridCol>
              </a:tblGrid>
              <a:tr h="35896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2293734">
                <a:tc>
                  <a:txBody>
                    <a:bodyPr/>
                    <a:lstStyle/>
                    <a:p>
                      <a:pPr algn="l" fontAlgn="b"/>
                      <a:r>
                        <a:rPr lang="vi-VN" sz="1100" b="0" i="0" u="none" strike="noStrike" dirty="0">
                          <a:solidFill>
                            <a:srgbClr val="000000"/>
                          </a:solidFill>
                          <a:effectLst/>
                          <a:latin typeface="+mn-lt"/>
                        </a:rPr>
                        <a:t>B218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17:23 22/05/2025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07:10 23/05/2025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AFTER 0V8070 VCA-VCS, FOUND HYD LEAK AT PRESS SWITCH OF ENG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16:35 CRS BÁO B218 BỊ CHẢY THUỶ LỰC ĐỘNG CƠ SỐ 2 SAU KHI ĐÁP Ở VCS</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- 17:00 CRS FOUND LEAK THUỶ LỰC Ở PRESS SWITCH ENG 2</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BÁO AOG (HỦY CHUYẾN VCS-SGN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KHÍ TÀI SWITCH VÀ PACKING CÓ ĐẦY ĐỦ Ở SGN.</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B1 MANG THEO KHÍ TÀI (SWITCH; PACKING) VÀ TOOL BAY THEO CHUYẾN 0V8051/SGN-VCS/ATD 05:29 NGÀY 23/05/2025</a:t>
                      </a:r>
                      <a:r>
                        <a:rPr lang="vi-VN" sz="1100" b="0" i="0" u="none" strike="noStrike">
                          <a:solidFill>
                            <a:srgbClr val="000000"/>
                          </a:solidFill>
                          <a:effectLst/>
                          <a:latin typeface="+mn-lt"/>
                        </a:rPr>
                        <a:t>. </a:t>
                      </a: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FINAL ACTION: C/O REPLACED ENG 2 PROPELLER BRAKE PRESS SWITCH SATIS. A/C SERVICEABLE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TIMELINE (LCT) EVENT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61-00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Trong quá trình kiểm tra Transit check tàu B218 phát hiện Leak thủy lực tại cụm Propeller Brake. Hỏng hóc được Khắc phục sau khi thay khối Pressure switch P/N: 1370-100. Từ 2015-nay có 08 vụ liên quan đến hỏng hóc này (2018: 1, 2019: 1; 2020: 2, 2021: 1, 2024: 2, 2025:1) trong đó 07 vụ khắc phục do thay khối Pressure switch. Khối Pressure Switch P/N: 1370-100 là vật tư tiêu hao, từ năm 2015-nay đã thay 12 khối này, trong đó tàu B218 có tần suất thay khối này thấp nhất khoảng 5 năm. Hiện ATR không có cải tiến nào liên quan đến khối này. Hiện tại trong kho đang duy trì 5 khối dự phòng. Tiếp tục theo dõi.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r h="2446074">
                <a:tc>
                  <a:txBody>
                    <a:bodyPr/>
                    <a:lstStyle/>
                    <a:p>
                      <a:pPr algn="l" fontAlgn="b"/>
                      <a:r>
                        <a:rPr lang="vi-VN" sz="1100" b="0" i="0" u="none" strike="noStrike">
                          <a:solidFill>
                            <a:srgbClr val="000000"/>
                          </a:solidFill>
                          <a:effectLst/>
                          <a:latin typeface="+mn-lt"/>
                        </a:rPr>
                        <a:t>B225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15:30 24/05/2025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19:10 24/05/2025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CAPT </a:t>
                      </a:r>
                      <a:r>
                        <a:rPr lang="en-US" sz="1100" b="0" i="0" u="none" strike="noStrike">
                          <a:solidFill>
                            <a:srgbClr val="000000"/>
                          </a:solidFill>
                          <a:effectLst/>
                          <a:latin typeface="+mn-lt"/>
                        </a:rPr>
                        <a:t>REPORT </a:t>
                      </a:r>
                      <a:r>
                        <a:rPr lang="en-US" sz="1100" b="0" i="0" u="none" strike="noStrike" smtClean="0">
                          <a:solidFill>
                            <a:srgbClr val="000000"/>
                          </a:solidFill>
                          <a:effectLst/>
                          <a:latin typeface="+mn-lt"/>
                        </a:rPr>
                        <a:t>IAS </a:t>
                      </a:r>
                      <a:r>
                        <a:rPr lang="en-US" sz="1100" b="0" i="0" u="none" strike="noStrike" dirty="0">
                          <a:solidFill>
                            <a:srgbClr val="000000"/>
                          </a:solidFill>
                          <a:effectLst/>
                          <a:latin typeface="+mn-lt"/>
                        </a:rPr>
                        <a:t>CAPT VS FO DEVIATE </a:t>
                      </a:r>
                      <a:r>
                        <a:rPr lang="en-US" sz="1100" b="0" i="0" u="none" strike="noStrike">
                          <a:solidFill>
                            <a:srgbClr val="000000"/>
                          </a:solidFill>
                          <a:effectLst/>
                          <a:latin typeface="+mn-lt"/>
                        </a:rPr>
                        <a:t>10 </a:t>
                      </a:r>
                      <a:r>
                        <a:rPr lang="en-US" sz="1100" b="0" i="0" u="none" strike="noStrike" smtClean="0">
                          <a:solidFill>
                            <a:srgbClr val="000000"/>
                          </a:solidFill>
                          <a:effectLst/>
                          <a:latin typeface="+mn-lt"/>
                        </a:rPr>
                        <a:t>KT; </a:t>
                      </a:r>
                      <a:r>
                        <a:rPr lang="en-US" sz="1100" b="0" i="0" u="none" strike="noStrike">
                          <a:solidFill>
                            <a:srgbClr val="000000"/>
                          </a:solidFill>
                          <a:effectLst/>
                          <a:latin typeface="+mn-lt"/>
                        </a:rPr>
                        <a:t>DADC </a:t>
                      </a:r>
                      <a:r>
                        <a:rPr lang="en-US" sz="1100" b="0" i="0" u="none" strike="noStrike" smtClean="0">
                          <a:solidFill>
                            <a:srgbClr val="000000"/>
                          </a:solidFill>
                          <a:effectLst/>
                          <a:latin typeface="+mn-lt"/>
                        </a:rPr>
                        <a:t>INVALID;. </a:t>
                      </a:r>
                      <a:r>
                        <a:rPr lang="en-US" sz="1100" b="0" i="0" u="none" strike="noStrike" dirty="0">
                          <a:solidFill>
                            <a:srgbClr val="000000"/>
                          </a:solidFill>
                          <a:effectLst/>
                          <a:latin typeface="+mn-lt"/>
                        </a:rPr>
                        <a:t>DEVIATE OUT </a:t>
                      </a:r>
                      <a:r>
                        <a:rPr lang="en-US" sz="1100" b="0" i="0" u="none" strike="noStrike">
                          <a:solidFill>
                            <a:srgbClr val="000000"/>
                          </a:solidFill>
                          <a:effectLst/>
                          <a:latin typeface="+mn-lt"/>
                        </a:rPr>
                        <a:t>OF </a:t>
                      </a:r>
                      <a:r>
                        <a:rPr lang="en-US" sz="1100" b="0" i="0" u="none" strike="noStrike" smtClean="0">
                          <a:solidFill>
                            <a:srgbClr val="000000"/>
                          </a:solidFill>
                          <a:effectLst/>
                          <a:latin typeface="+mn-lt"/>
                        </a:rPr>
                        <a:t>LIMIT</a:t>
                      </a:r>
                      <a:endParaRPr lang="en-US"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15:10 CAPT REPORT;IAS CAPT VS FO DEVIATE 10 KNOT; DADC INVALID. DEVIATE OUT OF LIMIT</a:t>
                      </a:r>
                      <a:r>
                        <a:rPr lang="vi-VN" sz="1100" b="0" i="0" u="none" strike="noStrike">
                          <a:solidFill>
                            <a:srgbClr val="000000"/>
                          </a:solidFill>
                          <a:effectLst/>
                          <a:latin typeface="+mn-lt"/>
                        </a:rPr>
                        <a:t/>
                      </a:r>
                      <a:br>
                        <a:rPr lang="vi-VN" sz="1100" b="0" i="0" u="none" strike="noStrike">
                          <a:solidFill>
                            <a:srgbClr val="000000"/>
                          </a:solidFill>
                          <a:effectLst/>
                          <a:latin typeface="+mn-lt"/>
                        </a:rPr>
                      </a:br>
                      <a:r>
                        <a:rPr lang="vi-VN" sz="1100" b="0" i="0" u="none" strike="noStrike" smtClean="0">
                          <a:solidFill>
                            <a:srgbClr val="000000"/>
                          </a:solidFill>
                          <a:effectLst/>
                          <a:latin typeface="+mn-lt"/>
                        </a:rPr>
                        <a:t>- </a:t>
                      </a:r>
                      <a:r>
                        <a:rPr lang="vi-VN" sz="1100" b="0" i="0" u="none" strike="noStrike" dirty="0">
                          <a:solidFill>
                            <a:srgbClr val="000000"/>
                          </a:solidFill>
                          <a:effectLst/>
                          <a:latin typeface="+mn-lt"/>
                        </a:rPr>
                        <a:t>17:00 TÀU KÉO VỀ TỚI XƯỞNG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TIẾN HÀNH SWAP ADC 1 VÀ 2 TEST VẪN LỆCH, NGHI NGỜ AIS INDICATOR F/O HỎNG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- 19:10 FINAL ACTION: C/O REPLACED F/O AIS INDICATOR AND PADC SYS TEST SATIS. A/C SERVICEABLE</a:t>
                      </a:r>
                      <a:r>
                        <a:rPr lang="en-US" sz="1100" b="0" i="0" u="none" strike="noStrike" dirty="0">
                          <a:solidFill>
                            <a:srgbClr val="000000"/>
                          </a:solidFill>
                          <a:effectLst/>
                          <a:latin typeface="+mn-lt"/>
                        </a:rPr>
                        <a:t>.</a:t>
                      </a:r>
                      <a:r>
                        <a:rPr lang="vi-VN" sz="1100" b="0" i="0" u="none" strike="noStrike" dirty="0">
                          <a:solidFill>
                            <a:srgbClr val="000000"/>
                          </a:solidFill>
                          <a:effectLst/>
                          <a:latin typeface="+mn-lt"/>
                        </a:rPr>
                        <a:t> TIME LINE (LOCAL TIME) EVENT </a:t>
                      </a:r>
                      <a:r>
                        <a:rPr lang="vi-VN" sz="1100" b="0" i="0" u="none" strike="noStrike">
                          <a:solidFill>
                            <a:srgbClr val="000000"/>
                          </a:solidFill>
                          <a:effectLst/>
                          <a:latin typeface="+mn-lt"/>
                        </a:rPr>
                        <a:t>CLOSED </a:t>
                      </a:r>
                      <a:endParaRPr lang="en-US" sz="1100" b="0" i="0" u="none" strike="noStrike" smtClean="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34-13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hóc liên quan đến Indicator Air Speed PN 7002860-909.</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IAS có độ tin cậy tốt, MTBUR từ 2015 12376 FH, cao hơn GMTBUR 4000 FH. Từ 2023-nay hỏng 04 lần (2023 0 lần, 2024 2 lần, 2025 2 lần bao gồm cả lần này).</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Các khối hỏng từ 2023 đến nay đều có TSN trên 20000 FH, theo SFR thì đều do hỏng tụ điện =&gt; đánh giá là do lão hoá linh kiện do đã khai thác được 15-16 năm.</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Giải pháp tạm thời: Có thể raise MEL 2 ngày.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2465424"/>
                  </a:ext>
                </a:extLst>
              </a:tr>
            </a:tbl>
          </a:graphicData>
        </a:graphic>
      </p:graphicFrame>
    </p:spTree>
    <p:extLst>
      <p:ext uri="{BB962C8B-B14F-4D97-AF65-F5344CB8AC3E}">
        <p14:creationId xmlns:p14="http://schemas.microsoft.com/office/powerpoint/2010/main" val="3374589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8F17B81-745E-43F9-95AF-359EADAF9C2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3D9386E-CB27-0FA5-A8B4-5F8374B3F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7" name="Rectangle 6">
            <a:extLst>
              <a:ext uri="{FF2B5EF4-FFF2-40B4-BE49-F238E27FC236}">
                <a16:creationId xmlns:a16="http://schemas.microsoft.com/office/drawing/2014/main" id="{795CC2F9-72E9-47BD-A040-3231760CEEDB}"/>
              </a:ext>
            </a:extLst>
          </p:cNvPr>
          <p:cNvSpPr/>
          <p:nvPr/>
        </p:nvSpPr>
        <p:spPr>
          <a:xfrm>
            <a:off x="588184" y="1182466"/>
            <a:ext cx="10668000" cy="156966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r>
              <a:rPr lang="vi-VN" sz="1600" smtClean="0">
                <a:solidFill>
                  <a:prstClr val="black"/>
                </a:solidFill>
                <a:latin typeface="Times New Roman" panose="02020603050405020304" pitchFamily="18" charset="0"/>
                <a:cs typeface="Times New Roman" panose="02020603050405020304" pitchFamily="18" charset="0"/>
              </a:rPr>
              <a:t>Tình </a:t>
            </a:r>
            <a:r>
              <a:rPr lang="vi-VN" sz="1600">
                <a:solidFill>
                  <a:prstClr val="black"/>
                </a:solidFill>
                <a:latin typeface="Times New Roman" panose="02020603050405020304" pitchFamily="18" charset="0"/>
                <a:cs typeface="Times New Roman" panose="02020603050405020304" pitchFamily="18" charset="0"/>
              </a:rPr>
              <a:t>hình kỹ thuật đội bay </a:t>
            </a:r>
            <a:r>
              <a:rPr lang="en-US" sz="1600" smtClean="0">
                <a:solidFill>
                  <a:prstClr val="black"/>
                </a:solidFill>
                <a:latin typeface="Times New Roman" panose="02020603050405020304" pitchFamily="18" charset="0"/>
                <a:cs typeface="Times New Roman" panose="02020603050405020304" pitchFamily="18" charset="0"/>
              </a:rPr>
              <a:t>ATR72 </a:t>
            </a:r>
            <a:r>
              <a:rPr lang="en-US" sz="1600">
                <a:solidFill>
                  <a:prstClr val="black"/>
                </a:solidFill>
                <a:latin typeface="Times New Roman" panose="02020603050405020304" pitchFamily="18" charset="0"/>
                <a:cs typeface="Times New Roman" panose="02020603050405020304" pitchFamily="18" charset="0"/>
              </a:rPr>
              <a:t>trong tuần </a:t>
            </a:r>
            <a:r>
              <a:rPr lang="en-US" sz="1600" smtClean="0">
                <a:solidFill>
                  <a:prstClr val="black"/>
                </a:solidFill>
                <a:latin typeface="Times New Roman" panose="02020603050405020304" pitchFamily="18" charset="0"/>
                <a:cs typeface="Times New Roman" panose="02020603050405020304" pitchFamily="18" charset="0"/>
              </a:rPr>
              <a:t>không tốt</a:t>
            </a:r>
            <a:r>
              <a:rPr lang="en-US" sz="1600" smtClean="0">
                <a:solidFill>
                  <a:prstClr val="black"/>
                </a:solidFill>
                <a:latin typeface="Times New Roman" panose="02020603050405020304" pitchFamily="18" charset="0"/>
                <a:cs typeface="Times New Roman" panose="02020603050405020304" pitchFamily="18" charset="0"/>
              </a:rPr>
              <a:t>, các hỏng hóc nổi cộm:</a:t>
            </a:r>
          </a:p>
          <a:p>
            <a:pPr marL="285750" indent="-285750" algn="just">
              <a:buClrTx/>
              <a:buFontTx/>
              <a:buChar char="-"/>
            </a:pPr>
            <a:r>
              <a:rPr lang="en-US" sz="1600" smtClean="0">
                <a:solidFill>
                  <a:prstClr val="black"/>
                </a:solidFill>
                <a:latin typeface="Times New Roman" panose="02020603050405020304" pitchFamily="18" charset="0"/>
                <a:cs typeface="Times New Roman" panose="02020603050405020304" pitchFamily="18" charset="0"/>
              </a:rPr>
              <a:t>B218/VCS/AOG </a:t>
            </a:r>
            <a:r>
              <a:rPr lang="en-US" sz="1600">
                <a:solidFill>
                  <a:prstClr val="black"/>
                </a:solidFill>
                <a:latin typeface="Times New Roman" panose="02020603050405020304" pitchFamily="18" charset="0"/>
                <a:cs typeface="Times New Roman" panose="02020603050405020304" pitchFamily="18" charset="0"/>
              </a:rPr>
              <a:t>do chảy dầu thủy lực động cơ số 2, đã phải điều người và khí tài từ SGN ra VCS để thay khối Pressure switch P/N</a:t>
            </a:r>
            <a:r>
              <a:rPr lang="en-US" sz="1600">
                <a:solidFill>
                  <a:prstClr val="black"/>
                </a:solidFill>
                <a:latin typeface="Times New Roman" panose="02020603050405020304" pitchFamily="18" charset="0"/>
                <a:cs typeface="Times New Roman" panose="02020603050405020304" pitchFamily="18" charset="0"/>
              </a:rPr>
              <a:t>: </a:t>
            </a:r>
            <a:r>
              <a:rPr lang="en-US" sz="1600" smtClean="0">
                <a:solidFill>
                  <a:prstClr val="black"/>
                </a:solidFill>
                <a:latin typeface="Times New Roman" panose="02020603050405020304" pitchFamily="18" charset="0"/>
                <a:cs typeface="Times New Roman" panose="02020603050405020304" pitchFamily="18" charset="0"/>
              </a:rPr>
              <a:t>1370-100. Tiếp tục theo dõi.</a:t>
            </a:r>
          </a:p>
          <a:p>
            <a:pPr marL="285750" indent="-285750" algn="just">
              <a:buClrTx/>
              <a:buFontTx/>
              <a:buChar char="-"/>
            </a:pPr>
            <a:r>
              <a:rPr lang="en-US" sz="1600" smtClean="0">
                <a:solidFill>
                  <a:prstClr val="black"/>
                </a:solidFill>
                <a:latin typeface="Times New Roman" panose="02020603050405020304" pitchFamily="18" charset="0"/>
                <a:cs typeface="Times New Roman" panose="02020603050405020304" pitchFamily="18" charset="0"/>
              </a:rPr>
              <a:t>B225/SGN/AOG do lệch hiển thị về IAS (Air Speed). Đã thực hiện swap ADC 1 và 2, test vẫn bị lệch. Sau đó, VAECO đã thay AIS indicator thì test tốt. Nguyên nhân đánh giá là do lão hóa tụ điện của khối có giờ khai thác cao. Giải pháp tạm thời: có thể raise MEL 2 ngày.</a:t>
            </a:r>
            <a:endParaRPr lang="en-SG" sz="1600">
              <a:solidFill>
                <a:srgbClr val="FF0000"/>
              </a:solidFill>
              <a:latin typeface="Times New Roman" panose="02020603050405020304" pitchFamily="18" charset="0"/>
              <a:cs typeface="Times New Roman" panose="02020603050405020304" pitchFamily="18" charset="0"/>
            </a:endParaRPr>
          </a:p>
        </p:txBody>
      </p:sp>
      <p:sp>
        <p:nvSpPr>
          <p:cNvPr id="8" name="Title 4">
            <a:extLst>
              <a:ext uri="{FF2B5EF4-FFF2-40B4-BE49-F238E27FC236}">
                <a16:creationId xmlns:a16="http://schemas.microsoft.com/office/drawing/2014/main" id="{F5FFEB76-F9F7-4824-0390-3146A72EB17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4BA90E7E-E6E4-0A3C-38F8-41132ECC3C5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Tree>
    <p:extLst>
      <p:ext uri="{BB962C8B-B14F-4D97-AF65-F5344CB8AC3E}">
        <p14:creationId xmlns:p14="http://schemas.microsoft.com/office/powerpoint/2010/main" val="3077373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W21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19/05/2025-25/05/20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21/2025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đội </a:t>
            </a:r>
            <a:r>
              <a:rPr lang="en-US" sz="1400" noProof="0">
                <a:solidFill>
                  <a:prstClr val="black"/>
                </a:solidFill>
                <a:latin typeface="Times New Roman" panose="02020603050405020304" pitchFamily="18" charset="0"/>
                <a:cs typeface="Times New Roman" panose="02020603050405020304" pitchFamily="18" charset="0"/>
              </a:rPr>
              <a:t>A321, A350 và B787</a:t>
            </a:r>
            <a:r>
              <a:rPr lang="en-US" sz="1400">
                <a:solidFill>
                  <a:prstClr val="black"/>
                </a:solidFill>
                <a:latin typeface="Times New Roman" panose="02020603050405020304" pitchFamily="18" charset="0"/>
                <a:cs typeface="Times New Roman" panose="02020603050405020304" pitchFamily="18" charset="0"/>
              </a:rPr>
              <a:t> đạt mục tiêu, riêng đội ATR72 không đạt mục tiêu</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99,72% cao hơn 0,09%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99,46% cao hơn 0,02%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99,72% </a:t>
            </a:r>
            <a:r>
              <a:rPr lang="en-US" sz="1400">
                <a:latin typeface="Times New Roman" panose="02020603050405020304" pitchFamily="18" charset="0"/>
                <a:cs typeface="Times New Roman" panose="02020603050405020304" pitchFamily="18" charset="0"/>
              </a:rPr>
              <a:t>cao hơn 0,36%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99,08% thấp hơn 0,57%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02 sự kiện liên quan tới AIS indicator tàu B225 và  propeller brake press switch tàu B218.</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nvGraphicFramePr>
        <p:xfrm>
          <a:off x="552666" y="901739"/>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662855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623288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34166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SSA 2024 đã ký với mức hỗ trợ SSA 2024 13.5k cho 2024/10k cho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PW đã cung cấp tổng cộng 17 slot.</a:t>
                      </a:r>
                      <a:endPar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họp telecon với PW ngày 03/05 về nội dung liên quan đến slot Induct, SSA 2024 CAP, Lease engine  PW cung cấp cho VNA thuê 01 ĐC từ tháng 6, đồng thời xem xét gia hạn CAP SSA khi vượt ng</a:t>
                      </a:r>
                      <a:r>
                        <a:rPr lang="vi-VN" sz="1300"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 cung cấp 14-16 slot induct.</a:t>
                      </a:r>
                      <a:endPar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 chức họp định kỳ hàng tháng với PW</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07/05 họp cấp cao với PW về các vấn đề pending. Tiếp tục follow tại cuộc họp hàng tháng.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support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 25/5: Ban KT đã chuẩn bị nội dung (slide) làm việc với RR ở IATA meeting để tiếp tục claim. </a:t>
                      </a:r>
                      <a:endPar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2624905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22</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615558372"/>
              </p:ext>
            </p:extLst>
          </p:nvPr>
        </p:nvGraphicFramePr>
        <p:xfrm>
          <a:off x="156782" y="536017"/>
          <a:ext cx="11878434" cy="592845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lựa chọn AMOSeTL của Swiss-AS</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vướng mắc khâu đàm phán/ký kết hợp đồng: Để tối </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 hiệu suất, cần tích hợp eTL vào cùng c</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sở hạ tầng với AMOS. Do vậy cần chờ Swiss-AS và VAECO thống nhất Change Request tr</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ớc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340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làm việc với 1 số nhà sản xuất (Teledyne, Collins...) về STC lắp WQAR. TAT dự kiến 3 tháng, chi phí dự kiến 40k</a:t>
                      </a: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60k USD/tàu. </a:t>
                      </a:r>
                      <a:r>
                        <a:rPr lang="en-US" sz="1300" u="none" strike="noStrike" kern="1200" baseline="0" smtClean="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làm tờ trình Phó TGĐKT </a:t>
                      </a:r>
                      <a:r>
                        <a:rPr lang="vi-VN" sz="1300" u="none" strike="noStrike" kern="1200" baseline="0" smtClean="0">
                          <a:solidFill>
                            <a:srgbClr val="FF0000"/>
                          </a:solidFill>
                          <a:effectLst/>
                          <a:latin typeface="+mn-lt"/>
                          <a:ea typeface="+mn-ea"/>
                          <a:cs typeface="Times New Roman" panose="02020603050405020304" pitchFamily="18" charset="0"/>
                          <a:sym typeface="Wingdings" panose="05000000000000000000" pitchFamily="2" charset="2"/>
                        </a:rPr>
                        <a:t>phê duyệt phương án LCNCC</a:t>
                      </a:r>
                      <a:r>
                        <a:rPr lang="en-US" sz="1300" u="none" strike="noStrike" kern="1200" baseline="0" smtClean="0">
                          <a:solidFill>
                            <a:srgbClr val="FF0000"/>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18570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A892,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KH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activation 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hoàn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thành</a:t>
                      </a:r>
                      <a:r>
                        <a:rPr lang="en-US" sz="1400" b="1" dirty="0">
                          <a:solidFill>
                            <a:srgbClr val="FF0000"/>
                          </a:solidFill>
                          <a:latin typeface="Times New Roman" panose="02020603050405020304" pitchFamily="18" charset="0"/>
                          <a:cs typeface="Times New Roman" panose="02020603050405020304" pitchFamily="18" charset="0"/>
                        </a:rPr>
                        <a:t> A893 </a:t>
                      </a:r>
                      <a:r>
                        <a:rPr lang="en-US" sz="1400" b="1" dirty="0" err="1">
                          <a:solidFill>
                            <a:srgbClr val="FF0000"/>
                          </a:solidFill>
                          <a:latin typeface="Times New Roman" panose="02020603050405020304" pitchFamily="18" charset="0"/>
                          <a:cs typeface="Times New Roman" panose="02020603050405020304" pitchFamily="18" charset="0"/>
                        </a:rPr>
                        <a:t>và</a:t>
                      </a:r>
                      <a:r>
                        <a:rPr lang="en-US" sz="1400" b="1" dirty="0">
                          <a:solidFill>
                            <a:srgbClr val="FF0000"/>
                          </a:solidFill>
                          <a:latin typeface="Times New Roman" panose="02020603050405020304" pitchFamily="18" charset="0"/>
                          <a:cs typeface="Times New Roman" panose="02020603050405020304" pitchFamily="18" charset="0"/>
                        </a:rPr>
                        <a:t> A899 – </a:t>
                      </a:r>
                      <a:r>
                        <a:rPr lang="en-US" sz="1400" b="1" dirty="0" err="1">
                          <a:solidFill>
                            <a:srgbClr val="FF0000"/>
                          </a:solidFill>
                          <a:latin typeface="Times New Roman" panose="02020603050405020304" pitchFamily="18" charset="0"/>
                          <a:cs typeface="Times New Roman" panose="02020603050405020304" pitchFamily="18" charset="0"/>
                        </a:rPr>
                        <a:t>sẵn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sàng</a:t>
                      </a:r>
                      <a:r>
                        <a:rPr lang="en-US" sz="1400" b="1" dirty="0">
                          <a:solidFill>
                            <a:srgbClr val="FF0000"/>
                          </a:solidFill>
                          <a:latin typeface="Times New Roman" panose="02020603050405020304" pitchFamily="18" charset="0"/>
                          <a:cs typeface="Times New Roman" panose="02020603050405020304" pitchFamily="18" charset="0"/>
                        </a:rPr>
                        <a:t> test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chờ</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xếp</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lịch</a:t>
                      </a:r>
                      <a:r>
                        <a:rPr lang="en-US" sz="1400" b="0" dirty="0">
                          <a:solidFill>
                            <a:schemeClr val="tx1"/>
                          </a:solidFill>
                          <a:latin typeface="Times New Roman" panose="02020603050405020304" pitchFamily="18" charset="0"/>
                          <a:cs typeface="Times New Roman" panose="02020603050405020304" pitchFamily="18" charset="0"/>
                        </a:rPr>
                        <a:t> A892 </a:t>
                      </a:r>
                      <a:r>
                        <a:rPr lang="en-US" sz="1400" b="0" dirty="0" err="1">
                          <a:solidFill>
                            <a:schemeClr val="tx1"/>
                          </a:solidFill>
                          <a:latin typeface="Times New Roman" panose="02020603050405020304" pitchFamily="18" charset="0"/>
                          <a:cs typeface="Times New Roman" panose="02020603050405020304" pitchFamily="18" charset="0"/>
                        </a:rPr>
                        <a:t>và</a:t>
                      </a:r>
                      <a:r>
                        <a:rPr lang="en-US" sz="1400" b="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Các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 (TAT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HON shop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kéo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dài</a:t>
                      </a:r>
                      <a:r>
                        <a:rPr lang="en-US" sz="1400" dirty="0">
                          <a:solidFill>
                            <a:schemeClr val="tx1"/>
                          </a:solidFill>
                          <a:latin typeface="Times New Roman" panose="02020603050405020304" pitchFamily="18" charset="0"/>
                          <a:cs typeface="Times New Roman" panose="02020603050405020304" pitchFamily="18" charset="0"/>
                        </a:rPr>
                        <a:t> 120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Đào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a:solidFill>
                            <a:schemeClr val="tx1"/>
                          </a:solidFill>
                          <a:latin typeface="Times New Roman" panose="02020603050405020304" pitchFamily="18" charset="0"/>
                          <a:cs typeface="Times New Roman" panose="02020603050405020304" pitchFamily="18" charset="0"/>
                        </a:rPr>
                        <a:t>Tài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endParaRPr lang="en-US" sz="1400" b="1"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118570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038974"/>
                  </a:ext>
                </a:extLst>
              </a:tr>
            </a:tbl>
          </a:graphicData>
        </a:graphic>
      </p:graphicFrame>
    </p:spTree>
    <p:extLst>
      <p:ext uri="{BB962C8B-B14F-4D97-AF65-F5344CB8AC3E}">
        <p14:creationId xmlns:p14="http://schemas.microsoft.com/office/powerpoint/2010/main" val="3876969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23</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228600" y="209484"/>
            <a:ext cx="11612516"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8567957"/>
              </p:ext>
            </p:extLst>
          </p:nvPr>
        </p:nvGraphicFramePr>
        <p:xfrm>
          <a:off x="228600" y="863485"/>
          <a:ext cx="11612515" cy="5642418"/>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1" dirty="0">
                          <a:solidFill>
                            <a:schemeClr val="tx1"/>
                          </a:solidFill>
                          <a:latin typeface="Times New Roman" panose="02020603050405020304" pitchFamily="18" charset="0"/>
                          <a:cs typeface="Times New Roman" panose="02020603050405020304" pitchFamily="18" charset="0"/>
                        </a:rPr>
                        <a:t>CĐCH </a:t>
                      </a:r>
                      <a:r>
                        <a:rPr lang="en-US" sz="1300" b="1" dirty="0" err="1">
                          <a:solidFill>
                            <a:schemeClr val="tx1"/>
                          </a:solidFill>
                          <a:latin typeface="Times New Roman" panose="02020603050405020304" pitchFamily="18" charset="0"/>
                          <a:cs typeface="Times New Roman" panose="02020603050405020304" pitchFamily="18" charset="0"/>
                        </a:rPr>
                        <a:t>ghế</a:t>
                      </a:r>
                      <a:r>
                        <a:rPr lang="en-US" sz="1300" b="1" dirty="0">
                          <a:solidFill>
                            <a:schemeClr val="tx1"/>
                          </a:solidFill>
                          <a:latin typeface="Times New Roman" panose="02020603050405020304" pitchFamily="18" charset="0"/>
                          <a:cs typeface="Times New Roman" panose="02020603050405020304" pitchFamily="18" charset="0"/>
                        </a:rPr>
                        <a:t> 23 </a:t>
                      </a:r>
                      <a:r>
                        <a:rPr lang="en-US" sz="1300" b="1" dirty="0" err="1">
                          <a:solidFill>
                            <a:schemeClr val="tx1"/>
                          </a:solidFill>
                          <a:latin typeface="Times New Roman" panose="02020603050405020304" pitchFamily="18" charset="0"/>
                          <a:cs typeface="Times New Roman" panose="02020603050405020304" pitchFamily="18" charset="0"/>
                        </a:rPr>
                        <a:t>tàu</a:t>
                      </a:r>
                      <a:r>
                        <a:rPr lang="en-US" sz="1300" b="1" dirty="0">
                          <a:solidFill>
                            <a:schemeClr val="tx1"/>
                          </a:solidFill>
                          <a:latin typeface="Times New Roman" panose="02020603050405020304" pitchFamily="18" charset="0"/>
                          <a:cs typeface="Times New Roman" panose="02020603050405020304" pitchFamily="18" charset="0"/>
                        </a:rPr>
                        <a:t> A321CEO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phát</a:t>
                      </a:r>
                      <a:r>
                        <a:rPr lang="en-US" sz="1300" dirty="0">
                          <a:solidFill>
                            <a:schemeClr val="tx1"/>
                          </a:solidFill>
                          <a:latin typeface="Times New Roman" panose="02020603050405020304" pitchFamily="18" charset="0"/>
                          <a:cs typeface="Times New Roman" panose="02020603050405020304" pitchFamily="18" charset="0"/>
                        </a:rPr>
                        <a:t> HSYC </a:t>
                      </a:r>
                      <a:r>
                        <a:rPr lang="en-US" sz="1300" dirty="0" err="1">
                          <a:solidFill>
                            <a:schemeClr val="tx1"/>
                          </a:solidFill>
                          <a:latin typeface="Times New Roman" panose="02020603050405020304" pitchFamily="18" charset="0"/>
                          <a:cs typeface="Times New Roman" panose="02020603050405020304" pitchFamily="18" charset="0"/>
                        </a:rPr>
                        <a:t>lần</a:t>
                      </a:r>
                      <a:r>
                        <a:rPr lang="en-US" sz="1300" dirty="0">
                          <a:solidFill>
                            <a:schemeClr val="tx1"/>
                          </a:solidFill>
                          <a:latin typeface="Times New Roman" panose="02020603050405020304" pitchFamily="18" charset="0"/>
                          <a:cs typeface="Times New Roman" panose="02020603050405020304" pitchFamily="18" charset="0"/>
                        </a:rPr>
                        <a:t> 1,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lần</a:t>
                      </a:r>
                      <a:r>
                        <a:rPr lang="en-US" sz="1300" dirty="0">
                          <a:solidFill>
                            <a:schemeClr val="tx1"/>
                          </a:solidFill>
                          <a:latin typeface="Times New Roman" panose="02020603050405020304" pitchFamily="18" charset="0"/>
                          <a:cs typeface="Times New Roman" panose="02020603050405020304" pitchFamily="18" charset="0"/>
                        </a:rPr>
                        <a:t> 2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nhận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bản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chào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lần</a:t>
                      </a:r>
                      <a:r>
                        <a:rPr lang="en-US" sz="13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Tổ</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hoàn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thành</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đánh</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giá</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bản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chào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lần</a:t>
                      </a:r>
                      <a:r>
                        <a:rPr lang="en-US" sz="1300" dirty="0">
                          <a:solidFill>
                            <a:schemeClr val="tx1"/>
                          </a:solidFill>
                          <a:latin typeface="Times New Roman" panose="02020603050405020304" pitchFamily="18" charset="0"/>
                          <a:cs typeface="Times New Roman" panose="02020603050405020304" pitchFamily="18" charset="0"/>
                        </a:rPr>
                        <a:t> 2 =&gt; </a:t>
                      </a:r>
                      <a:r>
                        <a:rPr lang="en-US" sz="1300" dirty="0" err="1">
                          <a:solidFill>
                            <a:schemeClr val="tx1"/>
                          </a:solidFill>
                          <a:latin typeface="Times New Roman" panose="02020603050405020304" pitchFamily="18" charset="0"/>
                          <a:cs typeface="Times New Roman" panose="02020603050405020304" pitchFamily="18" charset="0"/>
                        </a:rPr>
                        <a:t>tổ</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giải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trình</a:t>
                      </a:r>
                      <a:r>
                        <a:rPr lang="en-US" sz="1300" dirty="0">
                          <a:solidFill>
                            <a:schemeClr val="tx1"/>
                          </a:solidFill>
                          <a:latin typeface="Times New Roman" panose="02020603050405020304" pitchFamily="18" charset="0"/>
                          <a:cs typeface="Times New Roman" panose="02020603050405020304" pitchFamily="18" charset="0"/>
                        </a:rPr>
                        <a:t> ban </a:t>
                      </a:r>
                      <a:r>
                        <a:rPr lang="en-US" sz="1300" dirty="0" err="1">
                          <a:solidFill>
                            <a:schemeClr val="tx1"/>
                          </a:solidFill>
                          <a:latin typeface="Times New Roman" panose="02020603050405020304" pitchFamily="18" charset="0"/>
                          <a:cs typeface="Times New Roman" panose="02020603050405020304" pitchFamily="18" charset="0"/>
                        </a:rPr>
                        <a:t>kiểm</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toàn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nội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bộ</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trình</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kết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quả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lựa</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chọn</a:t>
                      </a:r>
                      <a:r>
                        <a:rPr lang="en-US" sz="1300" dirty="0">
                          <a:solidFill>
                            <a:schemeClr val="tx1"/>
                          </a:solidFill>
                          <a:latin typeface="Times New Roman" panose="02020603050405020304" pitchFamily="18" charset="0"/>
                          <a:cs typeface="Times New Roman" panose="02020603050405020304" pitchFamily="18" charset="0"/>
                        </a:rPr>
                        <a:t> NCC </a:t>
                      </a:r>
                      <a:r>
                        <a:rPr lang="en-US" sz="1300" dirty="0" err="1">
                          <a:solidFill>
                            <a:schemeClr val="tx1"/>
                          </a:solidFill>
                          <a:latin typeface="Times New Roman" panose="02020603050405020304" pitchFamily="18" charset="0"/>
                          <a:cs typeface="Times New Roman" panose="02020603050405020304" pitchFamily="18" charset="0"/>
                        </a:rPr>
                        <a:t>ghế</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STC =&gt; </a:t>
                      </a:r>
                      <a:r>
                        <a:rPr lang="en-US" sz="1300" dirty="0" err="1">
                          <a:solidFill>
                            <a:schemeClr val="tx1"/>
                          </a:solidFill>
                          <a:latin typeface="Times New Roman" panose="02020603050405020304" pitchFamily="18" charset="0"/>
                          <a:cs typeface="Times New Roman" panose="02020603050405020304" pitchFamily="18" charset="0"/>
                        </a:rPr>
                        <a:t>tiếp</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trình</a:t>
                      </a:r>
                      <a:r>
                        <a:rPr lang="en-US" sz="1300" dirty="0">
                          <a:solidFill>
                            <a:schemeClr val="tx1"/>
                          </a:solidFill>
                          <a:latin typeface="Times New Roman" panose="02020603050405020304" pitchFamily="18" charset="0"/>
                          <a:cs typeface="Times New Roman" panose="02020603050405020304" pitchFamily="18" charset="0"/>
                        </a:rPr>
                        <a:t> TGĐ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HĐQT </a:t>
                      </a:r>
                      <a:r>
                        <a:rPr lang="en-US" sz="1300" dirty="0" err="1">
                          <a:solidFill>
                            <a:schemeClr val="tx1"/>
                          </a:solidFill>
                          <a:latin typeface="Times New Roman" panose="02020603050405020304" pitchFamily="18" charset="0"/>
                          <a:cs typeface="Times New Roman" panose="02020603050405020304" pitchFamily="18" charset="0"/>
                        </a:rPr>
                        <a:t>vê</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duyệt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kết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quả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lựa</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chọn</a:t>
                      </a:r>
                      <a:r>
                        <a:rPr lang="en-US" sz="1300"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300" dirty="0">
                          <a:solidFill>
                            <a:schemeClr val="tx1"/>
                          </a:solidFill>
                          <a:latin typeface="Times New Roman" panose="02020603050405020304" pitchFamily="18" charset="0"/>
                          <a:cs typeface="Times New Roman" panose="02020603050405020304" pitchFamily="18" charset="0"/>
                        </a:rPr>
                        <a:t>Ban KT </a:t>
                      </a: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làm</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việc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với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đối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tác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họp</a:t>
                      </a:r>
                      <a:r>
                        <a:rPr lang="en-US" sz="1300" dirty="0">
                          <a:solidFill>
                            <a:schemeClr val="tx1"/>
                          </a:solidFill>
                          <a:latin typeface="Times New Roman" panose="02020603050405020304" pitchFamily="18" charset="0"/>
                          <a:cs typeface="Times New Roman" panose="02020603050405020304" pitchFamily="18" charset="0"/>
                        </a:rPr>
                        <a:t> pre-ICTM,  </a:t>
                      </a:r>
                      <a:r>
                        <a:rPr lang="en-US" sz="1300" dirty="0" err="1">
                          <a:solidFill>
                            <a:schemeClr val="tx1"/>
                          </a:solidFill>
                          <a:latin typeface="Times New Roman" panose="02020603050405020304" pitchFamily="18" charset="0"/>
                          <a:cs typeface="Times New Roman" panose="02020603050405020304" pitchFamily="18" charset="0"/>
                        </a:rPr>
                        <a:t>dự</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kiến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thông</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báo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kết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quả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chính</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thức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phát</a:t>
                      </a:r>
                      <a:r>
                        <a:rPr lang="en-US" sz="1300" dirty="0">
                          <a:solidFill>
                            <a:schemeClr val="tx1"/>
                          </a:solidFill>
                          <a:latin typeface="Times New Roman" panose="02020603050405020304" pitchFamily="18" charset="0"/>
                          <a:cs typeface="Times New Roman" panose="02020603050405020304" pitchFamily="18" charset="0"/>
                        </a:rPr>
                        <a:t> PO </a:t>
                      </a:r>
                      <a:r>
                        <a:rPr lang="en-US" sz="1300" dirty="0" err="1">
                          <a:solidFill>
                            <a:schemeClr val="tx1"/>
                          </a:solidFill>
                          <a:latin typeface="Times New Roman" panose="02020603050405020304" pitchFamily="18" charset="0"/>
                          <a:cs typeface="Times New Roman" panose="02020603050405020304" pitchFamily="18" charset="0"/>
                        </a:rPr>
                        <a:t>cuối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tháng</a:t>
                      </a:r>
                      <a:r>
                        <a:rPr lang="en-US" sz="1300" dirty="0">
                          <a:solidFill>
                            <a:schemeClr val="tx1"/>
                          </a:solidFill>
                          <a:latin typeface="Times New Roman" panose="02020603050405020304" pitchFamily="18" charset="0"/>
                          <a:cs typeface="Times New Roman" panose="02020603050405020304" pitchFamily="18" charset="0"/>
                        </a:rPr>
                        <a:t> 5/2025</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solidFill>
                            <a:schemeClr val="tx1"/>
                          </a:solidFill>
                          <a:latin typeface="Times New Roman" panose="02020603050405020304" pitchFamily="18" charset="0"/>
                          <a:cs typeface="Times New Roman" panose="02020603050405020304" pitchFamily="18" charset="0"/>
                        </a:rPr>
                        <a:t>Decal </a:t>
                      </a:r>
                      <a:r>
                        <a:rPr lang="en-US" sz="1300" b="0" dirty="0" err="1">
                          <a:solidFill>
                            <a:schemeClr val="tx1"/>
                          </a:solidFill>
                          <a:latin typeface="Times New Roman" panose="02020603050405020304" pitchFamily="18" charset="0"/>
                          <a:cs typeface="Times New Roman" panose="02020603050405020304" pitchFamily="18" charset="0"/>
                        </a:rPr>
                        <a:t>báo</a:t>
                      </a:r>
                      <a:r>
                        <a:rPr lang="en-US" sz="1300" b="0" dirty="0">
                          <a:solidFill>
                            <a:schemeClr val="tx1"/>
                          </a:solidFill>
                          <a:latin typeface="Times New Roman" panose="02020603050405020304" pitchFamily="18" charset="0"/>
                          <a:cs typeface="Times New Roman" panose="02020603050405020304" pitchFamily="18" charset="0"/>
                        </a:rPr>
                        <a:t> ND</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kern="1200" dirty="0" err="1">
                          <a:solidFill>
                            <a:schemeClr val="tx1"/>
                          </a:solidFill>
                          <a:latin typeface="Times New Roman" panose="02020603050405020304" pitchFamily="18" charset="0"/>
                          <a:ea typeface="+mn-ea"/>
                          <a:cs typeface="Times New Roman" panose="02020603050405020304" pitchFamily="18" charset="0"/>
                        </a:rPr>
                        <a:t>Đã</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có</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bản</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chào</a:t>
                      </a:r>
                      <a:r>
                        <a:rPr lang="en-US" sz="1300" kern="1200" dirty="0">
                          <a:solidFill>
                            <a:schemeClr val="tx1"/>
                          </a:solidFill>
                          <a:latin typeface="Times New Roman" panose="02020603050405020304" pitchFamily="18" charset="0"/>
                          <a:ea typeface="+mn-ea"/>
                          <a:cs typeface="Times New Roman" panose="02020603050405020304" pitchFamily="18" charset="0"/>
                        </a:rPr>
                        <a:t> chi </a:t>
                      </a:r>
                      <a:r>
                        <a:rPr lang="en-US" sz="1300" kern="1200" dirty="0" err="1">
                          <a:solidFill>
                            <a:schemeClr val="tx1"/>
                          </a:solidFill>
                          <a:latin typeface="Times New Roman" panose="02020603050405020304" pitchFamily="18" charset="0"/>
                          <a:ea typeface="+mn-ea"/>
                          <a:cs typeface="Times New Roman" panose="02020603050405020304" pitchFamily="18" charset="0"/>
                        </a:rPr>
                        <a:t>phí</a:t>
                      </a:r>
                      <a:r>
                        <a:rPr lang="en-US" sz="1300" kern="1200" dirty="0">
                          <a:solidFill>
                            <a:schemeClr val="tx1"/>
                          </a:solidFill>
                          <a:latin typeface="Times New Roman" panose="02020603050405020304" pitchFamily="18" charset="0"/>
                          <a:ea typeface="+mn-ea"/>
                          <a:cs typeface="Times New Roman" panose="02020603050405020304" pitchFamily="18" charset="0"/>
                        </a:rPr>
                        <a:t> SB &amp; </a:t>
                      </a:r>
                      <a:r>
                        <a:rPr lang="en-US" sz="1300" kern="1200" dirty="0" err="1">
                          <a:solidFill>
                            <a:schemeClr val="tx1"/>
                          </a:solidFill>
                          <a:latin typeface="Times New Roman" panose="02020603050405020304" pitchFamily="18" charset="0"/>
                          <a:ea typeface="+mn-ea"/>
                          <a:cs typeface="Times New Roman" panose="02020603050405020304" pitchFamily="18" charset="0"/>
                        </a:rPr>
                        <a:t>modkit</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cho</a:t>
                      </a:r>
                      <a:r>
                        <a:rPr lang="en-US" sz="1300" kern="1200" dirty="0">
                          <a:solidFill>
                            <a:schemeClr val="tx1"/>
                          </a:solidFill>
                          <a:latin typeface="Times New Roman" panose="02020603050405020304" pitchFamily="18" charset="0"/>
                          <a:ea typeface="+mn-ea"/>
                          <a:cs typeface="Times New Roman" panose="02020603050405020304" pitchFamily="18" charset="0"/>
                        </a:rPr>
                        <a:t> B787 =&gt; </a:t>
                      </a:r>
                      <a:r>
                        <a:rPr lang="en-US" sz="1300" b="1" kern="1200" dirty="0">
                          <a:solidFill>
                            <a:schemeClr val="tx1"/>
                          </a:solidFill>
                          <a:latin typeface="Times New Roman" panose="02020603050405020304" pitchFamily="18" charset="0"/>
                          <a:ea typeface="+mn-ea"/>
                          <a:cs typeface="Times New Roman" panose="02020603050405020304" pitchFamily="18" charset="0"/>
                        </a:rPr>
                        <a:t>ban KT </a:t>
                      </a:r>
                      <a:r>
                        <a:rPr lang="en-US" sz="1300" b="1" kern="1200" dirty="0" err="1">
                          <a:solidFill>
                            <a:schemeClr val="tx1"/>
                          </a:solidFill>
                          <a:latin typeface="Times New Roman" panose="02020603050405020304" pitchFamily="18" charset="0"/>
                          <a:ea typeface="+mn-ea"/>
                          <a:cs typeface="Times New Roman" panose="02020603050405020304" pitchFamily="18" charset="0"/>
                        </a:rPr>
                        <a:t>đã</a:t>
                      </a:r>
                      <a:r>
                        <a:rPr lang="en-US" sz="1300" b="1" kern="1200" dirty="0">
                          <a:solidFill>
                            <a:schemeClr val="tx1"/>
                          </a:solidFill>
                          <a:latin typeface="Times New Roman" panose="02020603050405020304" pitchFamily="18" charset="0"/>
                          <a:ea typeface="+mn-ea"/>
                          <a:cs typeface="Times New Roman" panose="02020603050405020304" pitchFamily="18" charset="0"/>
                        </a:rPr>
                        <a:t> </a:t>
                      </a:r>
                      <a:r>
                        <a:rPr lang="en-US" sz="1300" b="1" kern="1200" dirty="0" err="1">
                          <a:solidFill>
                            <a:schemeClr val="tx1"/>
                          </a:solidFill>
                          <a:latin typeface="Times New Roman" panose="02020603050405020304" pitchFamily="18" charset="0"/>
                          <a:ea typeface="+mn-ea"/>
                          <a:cs typeface="Times New Roman" panose="02020603050405020304" pitchFamily="18" charset="0"/>
                        </a:rPr>
                        <a:t>phát</a:t>
                      </a:r>
                      <a:r>
                        <a:rPr lang="en-US" sz="1300" b="1" kern="1200" dirty="0">
                          <a:solidFill>
                            <a:schemeClr val="tx1"/>
                          </a:solidFill>
                          <a:latin typeface="Times New Roman" panose="02020603050405020304" pitchFamily="18" charset="0"/>
                          <a:ea typeface="+mn-ea"/>
                          <a:cs typeface="Times New Roman" panose="02020603050405020304" pitchFamily="18" charset="0"/>
                        </a:rPr>
                        <a:t> PO </a:t>
                      </a:r>
                      <a:r>
                        <a:rPr lang="en-US" sz="1300" b="1" kern="1200" dirty="0" err="1">
                          <a:solidFill>
                            <a:schemeClr val="tx1"/>
                          </a:solidFill>
                          <a:latin typeface="Times New Roman" panose="02020603050405020304" pitchFamily="18" charset="0"/>
                          <a:ea typeface="+mn-ea"/>
                          <a:cs typeface="Times New Roman" panose="02020603050405020304" pitchFamily="18" charset="0"/>
                        </a:rPr>
                        <a:t>triển</a:t>
                      </a:r>
                      <a:r>
                        <a:rPr lang="en-US" sz="1300" b="1" kern="1200" dirty="0">
                          <a:solidFill>
                            <a:schemeClr val="tx1"/>
                          </a:solidFill>
                          <a:latin typeface="Times New Roman" panose="02020603050405020304" pitchFamily="18" charset="0"/>
                          <a:ea typeface="+mn-ea"/>
                          <a:cs typeface="Times New Roman" panose="02020603050405020304" pitchFamily="18" charset="0"/>
                        </a:rPr>
                        <a:t> </a:t>
                      </a:r>
                      <a:r>
                        <a:rPr lang="en-US" sz="1300" b="1" kern="1200" dirty="0" err="1">
                          <a:solidFill>
                            <a:schemeClr val="tx1"/>
                          </a:solidFill>
                          <a:latin typeface="Times New Roman" panose="02020603050405020304" pitchFamily="18" charset="0"/>
                          <a:ea typeface="+mn-ea"/>
                          <a:cs typeface="Times New Roman" panose="02020603050405020304" pitchFamily="18" charset="0"/>
                        </a:rPr>
                        <a:t>khai</a:t>
                      </a:r>
                      <a:r>
                        <a:rPr lang="en-US" sz="1300" b="1" kern="1200" dirty="0">
                          <a:solidFill>
                            <a:schemeClr val="tx1"/>
                          </a:solidFill>
                          <a:latin typeface="Times New Roman" panose="02020603050405020304" pitchFamily="18" charset="0"/>
                          <a:ea typeface="+mn-ea"/>
                          <a:cs typeface="Times New Roman" panose="02020603050405020304" pitchFamily="18" charset="0"/>
                        </a:rPr>
                        <a:t>, </a:t>
                      </a:r>
                      <a:r>
                        <a:rPr lang="en-US" sz="1300" b="1" kern="1200" dirty="0" err="1">
                          <a:solidFill>
                            <a:schemeClr val="tx1"/>
                          </a:solidFill>
                          <a:latin typeface="Times New Roman" panose="02020603050405020304" pitchFamily="18" charset="0"/>
                          <a:ea typeface="+mn-ea"/>
                          <a:cs typeface="Times New Roman" panose="02020603050405020304" pitchFamily="18" charset="0"/>
                        </a:rPr>
                        <a:t>dự</a:t>
                      </a:r>
                      <a:r>
                        <a:rPr lang="en-US" sz="1300" b="1" kern="1200" dirty="0">
                          <a:solidFill>
                            <a:schemeClr val="tx1"/>
                          </a:solidFill>
                          <a:latin typeface="Times New Roman" panose="02020603050405020304" pitchFamily="18" charset="0"/>
                          <a:ea typeface="+mn-ea"/>
                          <a:cs typeface="Times New Roman" panose="02020603050405020304" pitchFamily="18" charset="0"/>
                        </a:rPr>
                        <a:t> </a:t>
                      </a:r>
                      <a:r>
                        <a:rPr lang="en-US" sz="1300" b="1" kern="1200" dirty="0" err="1">
                          <a:solidFill>
                            <a:schemeClr val="tx1"/>
                          </a:solidFill>
                          <a:latin typeface="Times New Roman" panose="02020603050405020304" pitchFamily="18" charset="0"/>
                          <a:ea typeface="+mn-ea"/>
                          <a:cs typeface="Times New Roman" panose="02020603050405020304" pitchFamily="18" charset="0"/>
                        </a:rPr>
                        <a:t>kiến</a:t>
                      </a:r>
                      <a:r>
                        <a:rPr lang="en-US" sz="1300" b="1" kern="1200" dirty="0">
                          <a:solidFill>
                            <a:schemeClr val="tx1"/>
                          </a:solidFill>
                          <a:latin typeface="Times New Roman" panose="02020603050405020304" pitchFamily="18" charset="0"/>
                          <a:ea typeface="+mn-ea"/>
                          <a:cs typeface="Times New Roman" panose="02020603050405020304" pitchFamily="18" charset="0"/>
                        </a:rPr>
                        <a:t> </a:t>
                      </a:r>
                      <a:r>
                        <a:rPr lang="en-US" sz="1300" b="1" kern="1200" dirty="0" err="1">
                          <a:solidFill>
                            <a:schemeClr val="tx1"/>
                          </a:solidFill>
                          <a:latin typeface="Times New Roman" panose="02020603050405020304" pitchFamily="18" charset="0"/>
                          <a:ea typeface="+mn-ea"/>
                          <a:cs typeface="Times New Roman" panose="02020603050405020304" pitchFamily="18" charset="0"/>
                        </a:rPr>
                        <a:t>thực</a:t>
                      </a:r>
                      <a:r>
                        <a:rPr lang="en-US" sz="1300" b="1" kern="1200" dirty="0">
                          <a:solidFill>
                            <a:schemeClr val="tx1"/>
                          </a:solidFill>
                          <a:latin typeface="Times New Roman" panose="02020603050405020304" pitchFamily="18" charset="0"/>
                          <a:ea typeface="+mn-ea"/>
                          <a:cs typeface="Times New Roman" panose="02020603050405020304" pitchFamily="18" charset="0"/>
                        </a:rPr>
                        <a:t> </a:t>
                      </a:r>
                      <a:r>
                        <a:rPr lang="en-US" sz="1300" b="1" kern="1200" dirty="0" err="1">
                          <a:solidFill>
                            <a:schemeClr val="tx1"/>
                          </a:solidFill>
                          <a:latin typeface="Times New Roman" panose="02020603050405020304" pitchFamily="18" charset="0"/>
                          <a:ea typeface="+mn-ea"/>
                          <a:cs typeface="Times New Roman" panose="02020603050405020304" pitchFamily="18" charset="0"/>
                        </a:rPr>
                        <a:t>hiện</a:t>
                      </a:r>
                      <a:r>
                        <a:rPr lang="en-US" sz="1300" b="1" kern="1200" dirty="0">
                          <a:solidFill>
                            <a:schemeClr val="tx1"/>
                          </a:solidFill>
                          <a:latin typeface="Times New Roman" panose="02020603050405020304" pitchFamily="18" charset="0"/>
                          <a:ea typeface="+mn-ea"/>
                          <a:cs typeface="Times New Roman" panose="02020603050405020304" pitchFamily="18" charset="0"/>
                        </a:rPr>
                        <a:t> 15-19/5/2025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kern="1200" dirty="0">
                          <a:solidFill>
                            <a:schemeClr val="tx1"/>
                          </a:solidFill>
                          <a:latin typeface="Times New Roman" panose="02020603050405020304" pitchFamily="18" charset="0"/>
                          <a:ea typeface="+mn-ea"/>
                          <a:cs typeface="Times New Roman" panose="02020603050405020304" pitchFamily="18" charset="0"/>
                        </a:rPr>
                        <a:t>VAECO </a:t>
                      </a:r>
                      <a:r>
                        <a:rPr lang="en-US" sz="1300" kern="1200" dirty="0" err="1">
                          <a:solidFill>
                            <a:schemeClr val="tx1"/>
                          </a:solidFill>
                          <a:latin typeface="Times New Roman" panose="02020603050405020304" pitchFamily="18" charset="0"/>
                          <a:ea typeface="+mn-ea"/>
                          <a:cs typeface="Times New Roman" panose="02020603050405020304" pitchFamily="18" charset="0"/>
                        </a:rPr>
                        <a:t>sẽ</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thực</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hiện</a:t>
                      </a:r>
                      <a:r>
                        <a:rPr lang="en-US" sz="1300" kern="1200" dirty="0">
                          <a:solidFill>
                            <a:schemeClr val="tx1"/>
                          </a:solidFill>
                          <a:latin typeface="Times New Roman" panose="02020603050405020304" pitchFamily="18" charset="0"/>
                          <a:ea typeface="+mn-ea"/>
                          <a:cs typeface="Times New Roman" panose="02020603050405020304" pitchFamily="18" charset="0"/>
                        </a:rPr>
                        <a:t> </a:t>
                      </a:r>
                      <a:r>
                        <a:rPr lang="en-US" sz="1300" kern="1200" dirty="0" err="1">
                          <a:solidFill>
                            <a:schemeClr val="tx1"/>
                          </a:solidFill>
                          <a:latin typeface="Times New Roman" panose="02020603050405020304" pitchFamily="18" charset="0"/>
                          <a:ea typeface="+mn-ea"/>
                          <a:cs typeface="Times New Roman" panose="02020603050405020304" pitchFamily="18" charset="0"/>
                        </a:rPr>
                        <a:t>dán</a:t>
                      </a:r>
                      <a:r>
                        <a:rPr lang="en-US" sz="1300" kern="1200" dirty="0">
                          <a:solidFill>
                            <a:schemeClr val="tx1"/>
                          </a:solidFill>
                          <a:latin typeface="Times New Roman" panose="02020603050405020304" pitchFamily="18" charset="0"/>
                          <a:ea typeface="+mn-ea"/>
                          <a:cs typeface="Times New Roman" panose="02020603050405020304" pitchFamily="18" charset="0"/>
                        </a:rPr>
                        <a:t> decal</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Tiến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thành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nghiệm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5-6/2025.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sở</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xây</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hồ</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=&gt;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6/2025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bl>
          </a:graphicData>
        </a:graphic>
      </p:graphicFrame>
    </p:spTree>
    <p:extLst>
      <p:ext uri="{BB962C8B-B14F-4D97-AF65-F5344CB8AC3E}">
        <p14:creationId xmlns:p14="http://schemas.microsoft.com/office/powerpoint/2010/main" val="147003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1732479505"/>
              </p:ext>
            </p:extLst>
          </p:nvPr>
        </p:nvGraphicFramePr>
        <p:xfrm>
          <a:off x="2362200" y="3142104"/>
          <a:ext cx="8610600" cy="3276601"/>
        </p:xfrm>
        <a:graphic>
          <a:graphicData uri="http://schemas.openxmlformats.org/drawingml/2006/table">
            <a:tbl>
              <a:tblPr firstRow="1" firstCol="1" bandRow="1"/>
              <a:tblGrid>
                <a:gridCol w="608030">
                  <a:extLst>
                    <a:ext uri="{9D8B030D-6E8A-4147-A177-3AD203B41FA5}">
                      <a16:colId xmlns:a16="http://schemas.microsoft.com/office/drawing/2014/main" val="1531600724"/>
                    </a:ext>
                  </a:extLst>
                </a:gridCol>
                <a:gridCol w="1630726">
                  <a:extLst>
                    <a:ext uri="{9D8B030D-6E8A-4147-A177-3AD203B41FA5}">
                      <a16:colId xmlns:a16="http://schemas.microsoft.com/office/drawing/2014/main" val="2778344331"/>
                    </a:ext>
                  </a:extLst>
                </a:gridCol>
                <a:gridCol w="1377696">
                  <a:extLst>
                    <a:ext uri="{9D8B030D-6E8A-4147-A177-3AD203B41FA5}">
                      <a16:colId xmlns:a16="http://schemas.microsoft.com/office/drawing/2014/main" val="51065387"/>
                    </a:ext>
                  </a:extLst>
                </a:gridCol>
                <a:gridCol w="1205484">
                  <a:extLst>
                    <a:ext uri="{9D8B030D-6E8A-4147-A177-3AD203B41FA5}">
                      <a16:colId xmlns:a16="http://schemas.microsoft.com/office/drawing/2014/main" val="783667054"/>
                    </a:ext>
                  </a:extLst>
                </a:gridCol>
                <a:gridCol w="1291590">
                  <a:extLst>
                    <a:ext uri="{9D8B030D-6E8A-4147-A177-3AD203B41FA5}">
                      <a16:colId xmlns:a16="http://schemas.microsoft.com/office/drawing/2014/main" val="2213163783"/>
                    </a:ext>
                  </a:extLst>
                </a:gridCol>
                <a:gridCol w="2497074">
                  <a:extLst>
                    <a:ext uri="{9D8B030D-6E8A-4147-A177-3AD203B41FA5}">
                      <a16:colId xmlns:a16="http://schemas.microsoft.com/office/drawing/2014/main" val="3043656086"/>
                    </a:ext>
                  </a:extLst>
                </a:gridCol>
              </a:tblGrid>
              <a:tr h="857967">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p>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lnSpc>
                          <a:spcPct val="107000"/>
                        </a:lnSpc>
                        <a:spcAft>
                          <a:spcPts val="800"/>
                        </a:spcAft>
                      </a:pPr>
                      <a:r>
                        <a:rPr lang="en-GB" sz="1400" kern="100" smtClean="0">
                          <a:effectLst/>
                          <a:latin typeface="Times New Roman" panose="02020603050405020304" pitchFamily="18" charset="0"/>
                          <a:cs typeface="Times New Roman" panose="02020603050405020304" pitchFamily="18" charset="0"/>
                        </a:rPr>
                        <a:t>Đã hoàn thành 6Y Check + Engine change 29/04/2025</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9733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106523736"/>
              </p:ext>
            </p:extLst>
          </p:nvPr>
        </p:nvGraphicFramePr>
        <p:xfrm>
          <a:off x="169125" y="985152"/>
          <a:ext cx="11853749" cy="5634636"/>
        </p:xfrm>
        <a:graphic>
          <a:graphicData uri="http://schemas.openxmlformats.org/drawingml/2006/table">
            <a:tbl>
              <a:tblPr>
                <a:tableStyleId>{5C22544A-7EE6-4342-B048-85BDC9FD1C3A}</a:tableStyleId>
              </a:tblPr>
              <a:tblGrid>
                <a:gridCol w="421849">
                  <a:extLst>
                    <a:ext uri="{9D8B030D-6E8A-4147-A177-3AD203B41FA5}">
                      <a16:colId xmlns:a16="http://schemas.microsoft.com/office/drawing/2014/main" val="3304650821"/>
                    </a:ext>
                  </a:extLst>
                </a:gridCol>
                <a:gridCol w="1756074">
                  <a:extLst>
                    <a:ext uri="{9D8B030D-6E8A-4147-A177-3AD203B41FA5}">
                      <a16:colId xmlns:a16="http://schemas.microsoft.com/office/drawing/2014/main" val="1220325190"/>
                    </a:ext>
                  </a:extLst>
                </a:gridCol>
                <a:gridCol w="8633907">
                  <a:extLst>
                    <a:ext uri="{9D8B030D-6E8A-4147-A177-3AD203B41FA5}">
                      <a16:colId xmlns:a16="http://schemas.microsoft.com/office/drawing/2014/main" val="3909604654"/>
                    </a:ext>
                  </a:extLst>
                </a:gridCol>
                <a:gridCol w="1041919">
                  <a:extLst>
                    <a:ext uri="{9D8B030D-6E8A-4147-A177-3AD203B41FA5}">
                      <a16:colId xmlns:a16="http://schemas.microsoft.com/office/drawing/2014/main" val="1269662541"/>
                    </a:ext>
                  </a:extLst>
                </a:gridCol>
              </a:tblGrid>
              <a:tr h="141327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01 TÀU ATR72 CHO K6 THUÊ KHÔ VN-B220 MSN 890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300">
                          <a:latin typeface="Times New Roman" panose="02020603050405020304" pitchFamily="18" charset="0"/>
                          <a:cs typeface="Times New Roman" panose="02020603050405020304" pitchFamily="18" charset="0"/>
                        </a:rPr>
                        <a:t>VNA đang cho K6 thuê khô 01 tàu ATR72 MSN 890 VN-B220, hết hạn thuê vào ngày </a:t>
                      </a:r>
                      <a:r>
                        <a:rPr lang="en-US" sz="1300" b="1">
                          <a:latin typeface="Times New Roman" panose="02020603050405020304" pitchFamily="18" charset="0"/>
                          <a:cs typeface="Times New Roman" panose="02020603050405020304" pitchFamily="18" charset="0"/>
                        </a:rPr>
                        <a:t>25/06/2025</a:t>
                      </a:r>
                      <a:r>
                        <a:rPr lang="en-US" sz="1300">
                          <a:latin typeface="Times New Roman" panose="02020603050405020304" pitchFamily="18" charset="0"/>
                          <a:cs typeface="Times New Roman" panose="02020603050405020304" pitchFamily="18" charset="0"/>
                        </a:rPr>
                        <a:t>. K6 đang đề nghị VNA gia hạn thuê với t</a:t>
                      </a:r>
                      <a:r>
                        <a:rPr lang="vi-VN" sz="1300">
                          <a:latin typeface="Times New Roman" panose="02020603050405020304" pitchFamily="18" charset="0"/>
                          <a:cs typeface="Times New Roman" panose="02020603050405020304" pitchFamily="18" charset="0"/>
                        </a:rPr>
                        <a:t>hời hạn gian hạn (hoặc thuê mới) từ 26/06/2025 – 30/11/2025</a:t>
                      </a:r>
                      <a:r>
                        <a:rPr lang="en-US" sz="1300" smtClean="0">
                          <a:latin typeface="Times New Roman" panose="02020603050405020304" pitchFamily="18" charset="0"/>
                          <a:cs typeface="Times New Roman" panose="02020603050405020304" pitchFamily="18" charset="0"/>
                        </a:rPr>
                        <a:t>. VNA đang cho K6 thuê khô 01 tàu ATR72 MSN 890 VN-B220, hết hạn thuê vào ngày </a:t>
                      </a:r>
                      <a:r>
                        <a:rPr lang="en-US" sz="1300" b="1" smtClean="0">
                          <a:latin typeface="Times New Roman" panose="02020603050405020304" pitchFamily="18" charset="0"/>
                          <a:cs typeface="Times New Roman" panose="02020603050405020304" pitchFamily="18" charset="0"/>
                        </a:rPr>
                        <a:t>25/06/2025</a:t>
                      </a:r>
                      <a:r>
                        <a:rPr lang="en-US" sz="1300" smtClean="0">
                          <a:latin typeface="Times New Roman" panose="02020603050405020304" pitchFamily="18" charset="0"/>
                          <a:cs typeface="Times New Roman" panose="02020603050405020304" pitchFamily="18" charset="0"/>
                        </a:rPr>
                        <a:t>. K6 đang đề nghị VNA gia hạn thuê với t</a:t>
                      </a:r>
                      <a:r>
                        <a:rPr lang="vi-VN" sz="1300" smtClean="0">
                          <a:latin typeface="Times New Roman" panose="02020603050405020304" pitchFamily="18" charset="0"/>
                          <a:cs typeface="Times New Roman" panose="02020603050405020304" pitchFamily="18" charset="0"/>
                        </a:rPr>
                        <a:t>hời hạn gian hạn (hoặc thuê mới) từ 26/06/2025 – 30/11/2025</a:t>
                      </a:r>
                      <a:r>
                        <a:rPr lang="en-US" sz="1300" smtClean="0">
                          <a:latin typeface="Times New Roman" panose="02020603050405020304" pitchFamily="18" charset="0"/>
                          <a:cs typeface="Times New Roman" panose="02020603050405020304" pitchFamily="18" charset="0"/>
                        </a:rPr>
                        <a:t>. BĐT/TMTB đang hoàn thiện tờ trình gia hạn.</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968683"/>
                  </a:ext>
                </a:extLst>
              </a:tr>
              <a:tr h="422135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smtClean="0">
                          <a:latin typeface="Times New Roman" panose="02020603050405020304" pitchFamily="18" charset="0"/>
                          <a:cs typeface="Times New Roman" panose="02020603050405020304" pitchFamily="18" charset="0"/>
                        </a:rPr>
                        <a:t>03 tàu bay hết hạn thuê tháng 06,07,10 năm 2025 cần gia hạn duy trì khai thác AOC cho PA. </a:t>
                      </a:r>
                    </a:p>
                    <a:p>
                      <a:pPr marL="285750" lvl="0" indent="-285750" algn="just">
                        <a:buFontTx/>
                        <a:buChar char="-"/>
                      </a:pPr>
                      <a:r>
                        <a:rPr lang="en-US" sz="1300" smtClean="0">
                          <a:latin typeface="Times New Roman" panose="02020603050405020304" pitchFamily="18" charset="0"/>
                          <a:cs typeface="Times New Roman" panose="02020603050405020304" pitchFamily="18" charset="0"/>
                        </a:rPr>
                        <a:t>05 động cơ có hạn SV trong 2025 cần thay động cơ khác của VNA nếu tiếp tục khai thác</a:t>
                      </a:r>
                      <a:endParaRPr lang="en-US" sz="1200" dirty="0">
                        <a:latin typeface="Times New Roman" panose="02020603050405020304" pitchFamily="18" charset="0"/>
                        <a:cs typeface="Times New Roman" panose="02020603050405020304" pitchFamily="18" charset="0"/>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87746"/>
                  </a:ext>
                </a:extLst>
              </a:tr>
            </a:tbl>
          </a:graphicData>
        </a:graphic>
      </p:graphicFrame>
    </p:spTree>
    <p:extLst>
      <p:ext uri="{BB962C8B-B14F-4D97-AF65-F5344CB8AC3E}">
        <p14:creationId xmlns:p14="http://schemas.microsoft.com/office/powerpoint/2010/main" val="2840121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25</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228600" y="209484"/>
            <a:ext cx="11612516"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4113652968"/>
              </p:ext>
            </p:extLst>
          </p:nvPr>
        </p:nvGraphicFramePr>
        <p:xfrm>
          <a:off x="228600" y="863485"/>
          <a:ext cx="11612515" cy="3879373"/>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err="1">
                          <a:solidFill>
                            <a:schemeClr val="tx1"/>
                          </a:solidFill>
                          <a:latin typeface="Times New Roman" panose="02020603050405020304" pitchFamily="18" charset="0"/>
                          <a:cs typeface="Times New Roman" panose="02020603050405020304" pitchFamily="18" charset="0"/>
                        </a:rPr>
                        <a:t>Chuẩn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bị</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các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chuyến</a:t>
                      </a:r>
                      <a:r>
                        <a:rPr lang="en-US" sz="1300" b="0" dirty="0">
                          <a:solidFill>
                            <a:schemeClr val="tx1"/>
                          </a:solidFill>
                          <a:latin typeface="Times New Roman" panose="02020603050405020304" pitchFamily="18" charset="0"/>
                          <a:cs typeface="Times New Roman" panose="02020603050405020304" pitchFamily="18" charset="0"/>
                        </a:rPr>
                        <a:t> bay </a:t>
                      </a:r>
                      <a:r>
                        <a:rPr lang="en-US" sz="1300" b="0" dirty="0" err="1">
                          <a:solidFill>
                            <a:schemeClr val="tx1"/>
                          </a:solidFill>
                          <a:latin typeface="Times New Roman" panose="02020603050405020304" pitchFamily="18" charset="0"/>
                          <a:cs typeface="Times New Roman" panose="02020603050405020304" pitchFamily="18" charset="0"/>
                        </a:rPr>
                        <a:t>thuê</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chuyến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đặc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biêt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b="0" dirty="0" err="1">
                          <a:solidFill>
                            <a:schemeClr val="tx1"/>
                          </a:solidFill>
                          <a:latin typeface="Times New Roman" panose="02020603050405020304" pitchFamily="18" charset="0"/>
                          <a:cs typeface="Times New Roman" panose="02020603050405020304" pitchFamily="18" charset="0"/>
                        </a:rPr>
                        <a:t>Thuê</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chuyến</a:t>
                      </a:r>
                      <a:r>
                        <a:rPr lang="en-US" sz="1300" b="0" dirty="0">
                          <a:solidFill>
                            <a:schemeClr val="tx1"/>
                          </a:solidFill>
                          <a:latin typeface="Times New Roman" panose="02020603050405020304" pitchFamily="18" charset="0"/>
                          <a:cs typeface="Times New Roman" panose="02020603050405020304" pitchFamily="18" charset="0"/>
                        </a:rPr>
                        <a:t> A3 </a:t>
                      </a:r>
                      <a:r>
                        <a:rPr lang="en-US" sz="1300" b="0" dirty="0" err="1">
                          <a:solidFill>
                            <a:schemeClr val="tx1"/>
                          </a:solidFill>
                          <a:latin typeface="Times New Roman" panose="02020603050405020304" pitchFamily="18" charset="0"/>
                          <a:cs typeface="Times New Roman" panose="02020603050405020304" pitchFamily="18" charset="0"/>
                        </a:rPr>
                        <a:t>đi</a:t>
                      </a:r>
                      <a:r>
                        <a:rPr lang="en-US" sz="1300" b="0" dirty="0">
                          <a:solidFill>
                            <a:schemeClr val="tx1"/>
                          </a:solidFill>
                          <a:latin typeface="Times New Roman" panose="02020603050405020304" pitchFamily="18" charset="0"/>
                          <a:cs typeface="Times New Roman" panose="02020603050405020304" pitchFamily="18" charset="0"/>
                        </a:rPr>
                        <a:t> KUL </a:t>
                      </a:r>
                      <a:r>
                        <a:rPr lang="en-US" sz="1300" b="0" dirty="0" err="1">
                          <a:solidFill>
                            <a:schemeClr val="tx1"/>
                          </a:solidFill>
                          <a:latin typeface="Times New Roman" panose="02020603050405020304" pitchFamily="18" charset="0"/>
                          <a:cs typeface="Times New Roman" panose="02020603050405020304" pitchFamily="18" charset="0"/>
                        </a:rPr>
                        <a:t>từ</a:t>
                      </a:r>
                      <a:r>
                        <a:rPr lang="en-US" sz="1300" b="0" dirty="0">
                          <a:solidFill>
                            <a:schemeClr val="tx1"/>
                          </a:solidFill>
                          <a:latin typeface="Times New Roman" panose="02020603050405020304" pitchFamily="18" charset="0"/>
                          <a:cs typeface="Times New Roman" panose="02020603050405020304" pitchFamily="18" charset="0"/>
                        </a:rPr>
                        <a:t> 25-27/05: A878 CT; A877 DB</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dirty="0" err="1">
                          <a:solidFill>
                            <a:schemeClr val="tx1"/>
                          </a:solidFill>
                          <a:latin typeface="Times New Roman" panose="02020603050405020304" pitchFamily="18" charset="0"/>
                          <a:cs typeface="Times New Roman" panose="02020603050405020304" pitchFamily="18" charset="0"/>
                        </a:rPr>
                        <a:t>Thuê</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chuyến</a:t>
                      </a:r>
                      <a:r>
                        <a:rPr lang="en-US" sz="1300" b="0" dirty="0">
                          <a:solidFill>
                            <a:schemeClr val="tx1"/>
                          </a:solidFill>
                          <a:latin typeface="Times New Roman" panose="02020603050405020304" pitchFamily="18" charset="0"/>
                          <a:cs typeface="Times New Roman" panose="02020603050405020304" pitchFamily="18" charset="0"/>
                        </a:rPr>
                        <a:t> A3 bay EU (Estonia , </a:t>
                      </a:r>
                      <a:r>
                        <a:rPr lang="en-US" sz="1300" b="0" dirty="0" err="1">
                          <a:solidFill>
                            <a:schemeClr val="tx1"/>
                          </a:solidFill>
                          <a:latin typeface="Times New Roman" panose="02020603050405020304" pitchFamily="18" charset="0"/>
                          <a:cs typeface="Times New Roman" panose="02020603050405020304" pitchFamily="18" charset="0"/>
                        </a:rPr>
                        <a:t>Thụy</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điển</a:t>
                      </a:r>
                      <a:r>
                        <a:rPr lang="en-US" sz="1300" b="0" dirty="0">
                          <a:solidFill>
                            <a:schemeClr val="tx1"/>
                          </a:solidFill>
                          <a:latin typeface="Times New Roman" panose="02020603050405020304" pitchFamily="18" charset="0"/>
                          <a:cs typeface="Times New Roman" panose="02020603050405020304" pitchFamily="18" charset="0"/>
                        </a:rPr>
                        <a:t> , </a:t>
                      </a:r>
                      <a:r>
                        <a:rPr lang="en-US" sz="1300" b="0" dirty="0" err="1">
                          <a:solidFill>
                            <a:schemeClr val="tx1"/>
                          </a:solidFill>
                          <a:latin typeface="Times New Roman" panose="02020603050405020304" pitchFamily="18" charset="0"/>
                          <a:cs typeface="Times New Roman" panose="02020603050405020304" pitchFamily="18" charset="0"/>
                        </a:rPr>
                        <a:t>Pháp</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từ</a:t>
                      </a:r>
                      <a:r>
                        <a:rPr lang="en-US" sz="1300" b="0" dirty="0">
                          <a:solidFill>
                            <a:schemeClr val="tx1"/>
                          </a:solidFill>
                          <a:latin typeface="Times New Roman" panose="02020603050405020304" pitchFamily="18" charset="0"/>
                          <a:cs typeface="Times New Roman" panose="02020603050405020304" pitchFamily="18" charset="0"/>
                        </a:rPr>
                        <a:t>  04-14/6: A868 CT; A870/A871 DB</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err="1">
                          <a:solidFill>
                            <a:schemeClr val="tx1"/>
                          </a:solidFill>
                          <a:latin typeface="Times New Roman" panose="02020603050405020304" pitchFamily="18" charset="0"/>
                          <a:cs typeface="Times New Roman" panose="02020603050405020304" pitchFamily="18" charset="0"/>
                        </a:rPr>
                        <a:t>Chuẩn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bị</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khai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thác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cao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điểm</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hè</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Đã</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họp</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và</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thống</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nhất</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các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nội</a:t>
                      </a:r>
                      <a:r>
                        <a:rPr lang="en-US" sz="1300" b="0" kern="1200" dirty="0">
                          <a:solidFill>
                            <a:schemeClr val="tx1"/>
                          </a:solidFill>
                          <a:latin typeface="Times New Roman" panose="02020603050405020304" pitchFamily="18" charset="0"/>
                          <a:ea typeface="+mn-ea"/>
                          <a:cs typeface="Times New Roman" panose="02020603050405020304" pitchFamily="18" charset="0"/>
                        </a:rPr>
                        <a:t> dung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thực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hiện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với</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các</a:t>
                      </a:r>
                      <a:r>
                        <a:rPr lang="en-US" sz="1300" b="0" kern="1200" dirty="0">
                          <a:solidFill>
                            <a:schemeClr val="tx1"/>
                          </a:solidFill>
                          <a:latin typeface="Times New Roman" panose="02020603050405020304" pitchFamily="18" charset="0"/>
                          <a:ea typeface="+mn-ea"/>
                          <a:cs typeface="Times New Roman" panose="02020603050405020304" pitchFamily="18" charset="0"/>
                        </a:rPr>
                        <a:t> đ</a:t>
                      </a:r>
                      <a:r>
                        <a:rPr lang="vi-VN" sz="1300" b="0" kern="1200" dirty="0">
                          <a:solidFill>
                            <a:schemeClr val="tx1"/>
                          </a:solidFill>
                          <a:latin typeface="Times New Roman" panose="02020603050405020304" pitchFamily="18" charset="0"/>
                          <a:ea typeface="+mn-ea"/>
                          <a:cs typeface="Times New Roman" panose="02020603050405020304" pitchFamily="18" charset="0"/>
                        </a:rPr>
                        <a:t>ơ</a:t>
                      </a:r>
                      <a:r>
                        <a:rPr lang="en-US" sz="1300" b="0" kern="1200" dirty="0">
                          <a:solidFill>
                            <a:schemeClr val="tx1"/>
                          </a:solidFill>
                          <a:latin typeface="Times New Roman" panose="02020603050405020304" pitchFamily="18" charset="0"/>
                          <a:ea typeface="+mn-ea"/>
                          <a:cs typeface="Times New Roman" panose="02020603050405020304" pitchFamily="18" charset="0"/>
                        </a:rPr>
                        <a:t>n </a:t>
                      </a:r>
                      <a:r>
                        <a:rPr lang="en-US" sz="1300" b="0" kern="1200" dirty="0" err="1">
                          <a:solidFill>
                            <a:schemeClr val="tx1"/>
                          </a:solidFill>
                          <a:latin typeface="Times New Roman" panose="02020603050405020304" pitchFamily="18" charset="0"/>
                          <a:ea typeface="+mn-ea"/>
                          <a:cs typeface="Times New Roman" panose="02020603050405020304" pitchFamily="18" charset="0"/>
                        </a:rPr>
                        <a:t>vị</a:t>
                      </a:r>
                      <a:r>
                        <a:rPr lang="en-US" sz="1300" b="0" kern="1200" dirty="0">
                          <a:solidFill>
                            <a:schemeClr val="tx1"/>
                          </a:solidFill>
                          <a:latin typeface="Times New Roman" panose="02020603050405020304" pitchFamily="18" charset="0"/>
                          <a:ea typeface="+mn-ea"/>
                          <a:cs typeface="Times New Roman" panose="02020603050405020304" pitchFamily="18" charset="0"/>
                        </a:rPr>
                        <a:t> VAECO, QLVT</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Lập</a:t>
                      </a:r>
                      <a:r>
                        <a:rPr lang="en-US" sz="1300" b="0" kern="1200" dirty="0">
                          <a:solidFill>
                            <a:schemeClr val="tx1"/>
                          </a:solidFill>
                          <a:latin typeface="Times New Roman" panose="02020603050405020304" pitchFamily="18" charset="0"/>
                          <a:ea typeface="+mn-ea"/>
                          <a:cs typeface="Times New Roman" panose="02020603050405020304" pitchFamily="18" charset="0"/>
                        </a:rPr>
                        <a:t> KH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định</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kỳ</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và</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các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công</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việc</a:t>
                      </a:r>
                      <a:r>
                        <a:rPr lang="en-US" sz="1300" b="0" kern="1200" dirty="0">
                          <a:solidFill>
                            <a:schemeClr val="tx1"/>
                          </a:solidFill>
                          <a:latin typeface="Times New Roman" panose="02020603050405020304" pitchFamily="18" charset="0"/>
                          <a:ea typeface="+mn-ea"/>
                          <a:cs typeface="Times New Roman" panose="02020603050405020304" pitchFamily="18" charset="0"/>
                        </a:rPr>
                        <a:t> KTCB,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đảm</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bảo</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nguồn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lực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khai</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thác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cao</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điểm</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hè</a:t>
                      </a:r>
                      <a:r>
                        <a:rPr lang="en-US" sz="1300" b="0" kern="1200" dirty="0">
                          <a:solidFill>
                            <a:schemeClr val="tx1"/>
                          </a:solidFill>
                          <a:latin typeface="Times New Roman" panose="02020603050405020304" pitchFamily="18" charset="0"/>
                          <a:ea typeface="+mn-ea"/>
                          <a:cs typeface="Times New Roman" panose="02020603050405020304" pitchFamily="18" charset="0"/>
                        </a:rPr>
                        <a:t>.</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khai</a:t>
                      </a:r>
                      <a:r>
                        <a:rPr lang="en-US" sz="1300" b="0" kern="1200" dirty="0">
                          <a:solidFill>
                            <a:schemeClr val="tx1"/>
                          </a:solidFill>
                          <a:latin typeface="Times New Roman" panose="02020603050405020304" pitchFamily="18" charset="0"/>
                          <a:ea typeface="+mn-ea"/>
                          <a:cs typeface="Times New Roman" panose="02020603050405020304" pitchFamily="18" charset="0"/>
                        </a:rPr>
                        <a:t> RTS 03 </a:t>
                      </a:r>
                      <a:r>
                        <a:rPr lang="en-US" sz="1300" b="0" kern="1200" dirty="0" err="1">
                          <a:solidFill>
                            <a:schemeClr val="tx1"/>
                          </a:solidFill>
                          <a:latin typeface="Times New Roman" panose="02020603050405020304" pitchFamily="18" charset="0"/>
                          <a:ea typeface="+mn-ea"/>
                          <a:cs typeface="Times New Roman" panose="02020603050405020304" pitchFamily="18" charset="0"/>
                        </a:rPr>
                        <a:t>tàu</a:t>
                      </a:r>
                      <a:r>
                        <a:rPr lang="en-US" sz="1300" b="0" kern="1200" dirty="0">
                          <a:solidFill>
                            <a:schemeClr val="tx1"/>
                          </a:solidFill>
                          <a:latin typeface="Times New Roman" panose="02020603050405020304" pitchFamily="18" charset="0"/>
                          <a:ea typeface="+mn-ea"/>
                          <a:cs typeface="Times New Roman" panose="02020603050405020304" pitchFamily="18" charset="0"/>
                        </a:rPr>
                        <a:t> A350 (</a:t>
                      </a:r>
                      <a:r>
                        <a:rPr lang="pt-BR" sz="1300" b="0" kern="1200" dirty="0">
                          <a:solidFill>
                            <a:schemeClr val="tx1"/>
                          </a:solidFill>
                          <a:latin typeface="Times New Roman" panose="02020603050405020304" pitchFamily="18" charset="0"/>
                          <a:ea typeface="+mn-ea"/>
                          <a:cs typeface="Times New Roman" panose="02020603050405020304" pitchFamily="18" charset="0"/>
                        </a:rPr>
                        <a:t>A887:10/6, A886: 30/06, A895: T7/25)</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và</a:t>
                      </a:r>
                      <a:r>
                        <a:rPr lang="en-US" sz="1300" b="0" kern="1200" dirty="0">
                          <a:solidFill>
                            <a:schemeClr val="tx1"/>
                          </a:solidFill>
                          <a:latin typeface="Times New Roman" panose="02020603050405020304" pitchFamily="18" charset="0"/>
                          <a:ea typeface="+mn-ea"/>
                          <a:cs typeface="Times New Roman" panose="02020603050405020304" pitchFamily="18" charset="0"/>
                        </a:rPr>
                        <a:t> 03 </a:t>
                      </a:r>
                      <a:r>
                        <a:rPr lang="en-US" sz="1300" b="0" kern="1200" dirty="0" err="1">
                          <a:solidFill>
                            <a:schemeClr val="tx1"/>
                          </a:solidFill>
                          <a:latin typeface="Times New Roman" panose="02020603050405020304" pitchFamily="18" charset="0"/>
                          <a:ea typeface="+mn-ea"/>
                          <a:cs typeface="Times New Roman" panose="02020603050405020304" pitchFamily="18" charset="0"/>
                        </a:rPr>
                        <a:t>tàu</a:t>
                      </a:r>
                      <a:r>
                        <a:rPr lang="en-US" sz="1300" b="0" kern="1200" dirty="0">
                          <a:solidFill>
                            <a:schemeClr val="tx1"/>
                          </a:solidFill>
                          <a:latin typeface="Times New Roman" panose="02020603050405020304" pitchFamily="18" charset="0"/>
                          <a:ea typeface="+mn-ea"/>
                          <a:cs typeface="Times New Roman" panose="02020603050405020304" pitchFamily="18" charset="0"/>
                        </a:rPr>
                        <a:t> A321NEO (A625</a:t>
                      </a:r>
                      <a:r>
                        <a:rPr lang="en-US" sz="1300" b="0" kern="1200">
                          <a:solidFill>
                            <a:schemeClr val="tx1"/>
                          </a:solidFill>
                          <a:latin typeface="Times New Roman" panose="02020603050405020304" pitchFamily="18" charset="0"/>
                          <a:ea typeface="+mn-ea"/>
                          <a:cs typeface="Times New Roman" panose="02020603050405020304" pitchFamily="18" charset="0"/>
                        </a:rPr>
                        <a:t>: </a:t>
                      </a:r>
                      <a:r>
                        <a:rPr lang="en-US" sz="1300" b="0" kern="1200" smtClean="0">
                          <a:solidFill>
                            <a:schemeClr val="tx1"/>
                          </a:solidFill>
                          <a:latin typeface="Times New Roman" panose="02020603050405020304" pitchFamily="18" charset="0"/>
                          <a:ea typeface="+mn-ea"/>
                          <a:cs typeface="Times New Roman" panose="02020603050405020304" pitchFamily="18" charset="0"/>
                        </a:rPr>
                        <a:t>31/5, </a:t>
                      </a:r>
                      <a:r>
                        <a:rPr lang="en-US" sz="1300" b="0" kern="1200" dirty="0">
                          <a:solidFill>
                            <a:schemeClr val="tx1"/>
                          </a:solidFill>
                          <a:latin typeface="Times New Roman" panose="02020603050405020304" pitchFamily="18" charset="0"/>
                          <a:ea typeface="+mn-ea"/>
                          <a:cs typeface="Times New Roman" panose="02020603050405020304" pitchFamily="18" charset="0"/>
                        </a:rPr>
                        <a:t>A501 </a:t>
                      </a:r>
                      <a:r>
                        <a:rPr lang="en-US" sz="1300" b="0" kern="1200" dirty="0" err="1">
                          <a:solidFill>
                            <a:schemeClr val="tx1"/>
                          </a:solidFill>
                          <a:latin typeface="Times New Roman" panose="02020603050405020304" pitchFamily="18" charset="0"/>
                          <a:ea typeface="+mn-ea"/>
                          <a:cs typeface="Times New Roman" panose="02020603050405020304" pitchFamily="18" charset="0"/>
                        </a:rPr>
                        <a:t>giữa</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tháng</a:t>
                      </a:r>
                      <a:r>
                        <a:rPr lang="en-US" sz="1300" b="0" kern="1200" dirty="0">
                          <a:solidFill>
                            <a:schemeClr val="tx1"/>
                          </a:solidFill>
                          <a:latin typeface="Times New Roman" panose="02020603050405020304" pitchFamily="18" charset="0"/>
                          <a:ea typeface="+mn-ea"/>
                          <a:cs typeface="Times New Roman" panose="02020603050405020304" pitchFamily="18" charset="0"/>
                        </a:rPr>
                        <a:t> 6, A508 </a:t>
                      </a:r>
                      <a:r>
                        <a:rPr lang="en-US" sz="1300" b="0" kern="1200" dirty="0" err="1">
                          <a:solidFill>
                            <a:schemeClr val="tx1"/>
                          </a:solidFill>
                          <a:latin typeface="Times New Roman" panose="02020603050405020304" pitchFamily="18" charset="0"/>
                          <a:ea typeface="+mn-ea"/>
                          <a:cs typeface="Times New Roman" panose="02020603050405020304" pitchFamily="18" charset="0"/>
                        </a:rPr>
                        <a:t>trong</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tháng</a:t>
                      </a:r>
                      <a:r>
                        <a:rPr lang="en-US" sz="1300" b="0" kern="1200" dirty="0">
                          <a:solidFill>
                            <a:schemeClr val="tx1"/>
                          </a:solidFill>
                          <a:latin typeface="Times New Roman" panose="02020603050405020304" pitchFamily="18" charset="0"/>
                          <a:ea typeface="+mn-ea"/>
                          <a:cs typeface="Times New Roman" panose="02020603050405020304" pitchFamily="18" charset="0"/>
                        </a:rPr>
                        <a:t> 7)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đúng</a:t>
                      </a:r>
                      <a:r>
                        <a:rPr lang="en-US" sz="1300" b="0" kern="1200" dirty="0">
                          <a:solidFill>
                            <a:schemeClr val="tx1"/>
                          </a:solidFill>
                          <a:latin typeface="Times New Roman" panose="02020603050405020304" pitchFamily="18" charset="0"/>
                          <a:ea typeface="+mn-ea"/>
                          <a:cs typeface="Times New Roman" panose="02020603050405020304" pitchFamily="18" charset="0"/>
                        </a:rPr>
                        <a:t> KH.</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bảo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chuyến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bay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lệ</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Nga</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Phối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hợp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vị</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đảm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tình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danh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mục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FAK.</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bl>
          </a:graphicData>
        </a:graphic>
      </p:graphicFrame>
    </p:spTree>
    <p:extLst>
      <p:ext uri="{BB962C8B-B14F-4D97-AF65-F5344CB8AC3E}">
        <p14:creationId xmlns:p14="http://schemas.microsoft.com/office/powerpoint/2010/main" val="140075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2117721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27</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FLEET T5-T8/2025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2514600" y="592815"/>
          <a:ext cx="9677400" cy="626518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52400" y="592815"/>
            <a:ext cx="2133600" cy="5693866"/>
          </a:xfrm>
          <a:prstGeom prst="rect">
            <a:avLst/>
          </a:prstGeom>
          <a:noFill/>
          <a:ln>
            <a:solidFill>
              <a:schemeClr val="accent1"/>
            </a:solidFill>
          </a:ln>
        </p:spPr>
        <p:txBody>
          <a:bodyPr wrap="square" rtlCol="0">
            <a:spAutoFit/>
          </a:bodyPr>
          <a:lstStyle/>
          <a:p>
            <a:r>
              <a:rPr lang="en-US" sz="1300" b="1">
                <a:latin typeface="Times New Roman" panose="02020603050405020304" pitchFamily="18" charset="0"/>
                <a:cs typeface="Times New Roman" panose="02020603050405020304" pitchFamily="18" charset="0"/>
              </a:rPr>
              <a:t>Rủi </a:t>
            </a:r>
            <a:r>
              <a:rPr lang="en-US" sz="1300" b="1" dirty="0" err="1">
                <a:latin typeface="Times New Roman" panose="02020603050405020304" pitchFamily="18" charset="0"/>
                <a:cs typeface="Times New Roman" panose="02020603050405020304" pitchFamily="18" charset="0"/>
              </a:rPr>
              <a:t>ro</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nhận</a:t>
            </a:r>
            <a:r>
              <a:rPr lang="en-US" sz="1300" b="1" dirty="0">
                <a:latin typeface="Times New Roman" panose="02020603050405020304" pitchFamily="18" charset="0"/>
                <a:cs typeface="Times New Roman" panose="02020603050405020304" pitchFamily="18" charset="0"/>
              </a:rPr>
              <a:t> </a:t>
            </a:r>
            <a:r>
              <a:rPr lang="en-US" sz="1300" b="1" err="1">
                <a:latin typeface="Times New Roman" panose="02020603050405020304" pitchFamily="18" charset="0"/>
                <a:cs typeface="Times New Roman" panose="02020603050405020304" pitchFamily="18" charset="0"/>
              </a:rPr>
              <a:t>diện</a:t>
            </a:r>
            <a:r>
              <a:rPr lang="en-US" sz="130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A321CEO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kiến</a:t>
            </a:r>
            <a:r>
              <a:rPr lang="en-US" sz="1300" dirty="0">
                <a:solidFill>
                  <a:prstClr val="black"/>
                </a:solidFill>
                <a:latin typeface="Times New Roman" panose="02020603050405020304" pitchFamily="18" charset="0"/>
                <a:cs typeface="Times New Roman" panose="02020603050405020304" pitchFamily="18" charset="0"/>
              </a:rPr>
              <a:t> Q3-Q4/2025 </a:t>
            </a:r>
            <a:r>
              <a:rPr lang="en-US" sz="1300" dirty="0" err="1">
                <a:solidFill>
                  <a:prstClr val="black"/>
                </a:solidFill>
                <a:latin typeface="Times New Roman" panose="02020603050405020304" pitchFamily="18" charset="0"/>
                <a:cs typeface="Times New Roman" panose="02020603050405020304" pitchFamily="18" charset="0"/>
              </a:rPr>
              <a:t>trả</a:t>
            </a:r>
            <a:r>
              <a:rPr lang="en-US" sz="1300" dirty="0">
                <a:solidFill>
                  <a:prstClr val="black"/>
                </a:solidFill>
                <a:latin typeface="Times New Roman" panose="02020603050405020304" pitchFamily="18" charset="0"/>
                <a:cs typeface="Times New Roman" panose="02020603050405020304" pitchFamily="18" charset="0"/>
              </a:rPr>
              <a:t>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thuê</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duy</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trì</a:t>
            </a:r>
            <a:r>
              <a:rPr lang="en-US" sz="1300" dirty="0">
                <a:solidFill>
                  <a:prstClr val="black"/>
                </a:solidFill>
                <a:latin typeface="Times New Roman" panose="02020603050405020304" pitchFamily="18" charset="0"/>
                <a:cs typeface="Times New Roman" panose="02020603050405020304" pitchFamily="18" charset="0"/>
              </a:rPr>
              <a:t> 9-10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phòng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trong</a:t>
            </a:r>
            <a:r>
              <a:rPr lang="en-US" sz="1300" dirty="0">
                <a:solidFill>
                  <a:prstClr val="black"/>
                </a:solidFill>
                <a:latin typeface="Times New Roman" panose="02020603050405020304" pitchFamily="18" charset="0"/>
                <a:cs typeface="Times New Roman" panose="02020603050405020304" pitchFamily="18" charset="0"/>
              </a:rPr>
              <a:t> </a:t>
            </a:r>
            <a:r>
              <a:rPr lang="en-US" sz="1300">
                <a:solidFill>
                  <a:prstClr val="black"/>
                </a:solidFill>
                <a:latin typeface="Times New Roman" panose="02020603050405020304" pitchFamily="18" charset="0"/>
                <a:cs typeface="Times New Roman" panose="02020603050405020304" pitchFamily="18" charset="0"/>
              </a:rPr>
              <a:t>2026.</a:t>
            </a:r>
          </a:p>
          <a:p>
            <a:pPr defTabSz="914377">
              <a:defRPr/>
            </a:pPr>
            <a:endParaRPr lang="en-US" sz="1300" dirty="0">
              <a:solidFill>
                <a:prstClr val="black"/>
              </a:solidFill>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A321NEO </a:t>
            </a:r>
            <a:r>
              <a:rPr lang="en-US" sz="1300" dirty="0">
                <a:latin typeface="Times New Roman" panose="02020603050405020304" pitchFamily="18" charset="0"/>
                <a:cs typeface="Times New Roman" panose="02020603050405020304" pitchFamily="18" charset="0"/>
              </a:rPr>
              <a:t>: </a:t>
            </a:r>
            <a:r>
              <a:rPr lang="vi-VN" sz="1300" dirty="0">
                <a:solidFill>
                  <a:prstClr val="black"/>
                </a:solidFill>
                <a:cs typeface="Times New Roman" panose="02020603050405020304" pitchFamily="18" charset="0"/>
              </a:rPr>
              <a:t>Rủi ro động cơ đi shop về muộn (thực tế đã bị shop delay nhiều lần) và rủi ro tháo động cơ </a:t>
            </a:r>
            <a:r>
              <a:rPr lang="vi-VN" sz="1300" dirty="0">
                <a:cs typeface="Times New Roman" panose="02020603050405020304" pitchFamily="18" charset="0"/>
              </a:rPr>
              <a:t>ngoài KH do Vibration, Oil </a:t>
            </a:r>
            <a:r>
              <a:rPr lang="vi-VN" sz="1300">
                <a:cs typeface="Times New Roman" panose="02020603050405020304" pitchFamily="18" charset="0"/>
              </a:rPr>
              <a:t>Leak…</a:t>
            </a:r>
            <a:endParaRPr lang="en-US" sz="1300">
              <a:cs typeface="Times New Roman" panose="02020603050405020304" pitchFamily="18" charset="0"/>
            </a:endParaRPr>
          </a:p>
          <a:p>
            <a:pPr defTabSz="914377">
              <a:defRPr/>
            </a:pPr>
            <a:endParaRPr lang="en-US" sz="1300" dirty="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B787 </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tế</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phải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bổ</a:t>
            </a:r>
            <a:r>
              <a:rPr lang="en-US" sz="1300" dirty="0">
                <a:latin typeface="Times New Roman" panose="02020603050405020304" pitchFamily="18" charset="0"/>
                <a:cs typeface="Times New Roman" panose="02020603050405020304" pitchFamily="18" charset="0"/>
              </a:rPr>
              <a:t> sung 01 ĐC </a:t>
            </a:r>
            <a:r>
              <a:rPr lang="en-US" sz="1300" dirty="0" err="1">
                <a:latin typeface="Times New Roman" panose="02020603050405020304" pitchFamily="18" charset="0"/>
                <a:cs typeface="Times New Roman" panose="02020603050405020304" pitchFamily="18" charset="0"/>
              </a:rPr>
              <a:t>vào</a:t>
            </a:r>
            <a:r>
              <a:rPr lang="en-US" sz="1300" dirty="0">
                <a:latin typeface="Times New Roman" panose="02020603050405020304" pitchFamily="18" charset="0"/>
                <a:cs typeface="Times New Roman" panose="02020603050405020304" pitchFamily="18" charset="0"/>
              </a:rPr>
              <a:t> T4/2025 </a:t>
            </a:r>
            <a:r>
              <a:rPr lang="en-US" sz="1300" dirty="0" err="1">
                <a:latin typeface="Times New Roman" panose="02020603050405020304" pitchFamily="18" charset="0"/>
                <a:cs typeface="Times New Roman" panose="02020603050405020304" pitchFamily="18" charset="0"/>
              </a:rPr>
              <a:t>để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thác</a:t>
            </a:r>
            <a:r>
              <a:rPr lang="en-US" sz="1300" dirty="0">
                <a:latin typeface="Times New Roman" panose="02020603050405020304" pitchFamily="18" charset="0"/>
                <a:cs typeface="Times New Roman" panose="02020603050405020304" pitchFamily="18" charset="0"/>
              </a:rPr>
              <a:t> A868.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ĐCDP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tại</a:t>
            </a:r>
            <a:r>
              <a:rPr lang="en-US" sz="1300" dirty="0">
                <a:latin typeface="Times New Roman" panose="02020603050405020304" pitchFamily="18" charset="0"/>
                <a:cs typeface="Times New Roman" panose="02020603050405020304" pitchFamily="18" charset="0"/>
              </a:rPr>
              <a:t> 10 (ĐC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06)</a:t>
            </a:r>
          </a:p>
          <a:p>
            <a:endParaRPr lang="en-US" sz="1300" dirty="0">
              <a:latin typeface="Times New Roman" panose="02020603050405020304" pitchFamily="18" charset="0"/>
              <a:cs typeface="Times New Roman" panose="02020603050405020304" pitchFamily="18" charset="0"/>
            </a:endParaRPr>
          </a:p>
          <a:p>
            <a:pPr marL="0" lvl="1"/>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A350: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đi</a:t>
            </a:r>
            <a:r>
              <a:rPr lang="en-US" sz="1300" dirty="0">
                <a:solidFill>
                  <a:prstClr val="black"/>
                </a:solidFill>
                <a:latin typeface="Times New Roman" panose="02020603050405020304" pitchFamily="18" charset="0"/>
                <a:cs typeface="Times New Roman" panose="02020603050405020304" pitchFamily="18" charset="0"/>
              </a:rPr>
              <a:t> shop </a:t>
            </a:r>
            <a:r>
              <a:rPr lang="en-US" sz="1300" dirty="0" err="1">
                <a:solidFill>
                  <a:prstClr val="black"/>
                </a:solidFill>
                <a:latin typeface="Times New Roman" panose="02020603050405020304" pitchFamily="18" charset="0"/>
                <a:cs typeface="Times New Roman" panose="02020603050405020304" pitchFamily="18" charset="0"/>
              </a:rPr>
              <a:t>về</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muộn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do RR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xuyên</a:t>
            </a:r>
            <a:r>
              <a:rPr lang="en-US" sz="1300" dirty="0">
                <a:solidFill>
                  <a:prstClr val="black"/>
                </a:solidFill>
                <a:latin typeface="Times New Roman" panose="02020603050405020304" pitchFamily="18" charset="0"/>
                <a:cs typeface="Times New Roman" panose="02020603050405020304" pitchFamily="18" charset="0"/>
              </a:rPr>
              <a:t> extend TAT) </a:t>
            </a:r>
            <a:r>
              <a:rPr lang="en-US" sz="1300" dirty="0" err="1">
                <a:solidFill>
                  <a:prstClr val="black"/>
                </a:solidFill>
                <a:latin typeface="Times New Roman" panose="02020603050405020304" pitchFamily="18" charset="0"/>
                <a:cs typeface="Times New Roman" panose="02020603050405020304" pitchFamily="18" charset="0"/>
              </a:rPr>
              <a:t>tháo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c</a:t>
            </a:r>
            <a:r>
              <a:rPr lang="vi-VN" sz="1300" dirty="0">
                <a:solidFill>
                  <a:prstClr val="black"/>
                </a:solidFill>
                <a:cs typeface="Times New Roman" panose="02020603050405020304" pitchFamily="18" charset="0"/>
              </a:rPr>
              <a:t>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ngoài</a:t>
            </a:r>
            <a:r>
              <a:rPr lang="en-US" sz="1300" dirty="0">
                <a:solidFill>
                  <a:prstClr val="black"/>
                </a:solidFill>
                <a:latin typeface="Times New Roman" panose="02020603050405020304" pitchFamily="18" charset="0"/>
                <a:cs typeface="Times New Roman" panose="02020603050405020304" pitchFamily="18" charset="0"/>
              </a:rPr>
              <a:t> KH do High oil consumption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A893), HPT Blade (2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100FC), IPC Blade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soi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 </a:t>
            </a:r>
            <a:r>
              <a:rPr lang="en-US" sz="1300">
                <a:solidFill>
                  <a:prstClr val="black"/>
                </a:solidFill>
                <a:latin typeface="Times New Roman" panose="02020603050405020304" pitchFamily="18" charset="0"/>
                <a:cs typeface="Times New Roman" panose="02020603050405020304" pitchFamily="18" charset="0"/>
              </a:rPr>
              <a:t>2025)/ </a:t>
            </a:r>
            <a:endParaRPr lang="en-US" sz="13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189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19/05/2025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06/06/2025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28/05)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16/06/2025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23/06/2025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22/06)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03/07/2025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12/07/2025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27/07)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T6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16/06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26/06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V12483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A396#1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29/05-09/06/2025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Swap sang A392#2,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27-31/05/2025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V12483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25-27/06/2025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06-08/07/2025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69873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16-18/08/2025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29-31/08/2025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521537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23260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62128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1718072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29</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29</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7"/>
          <a:ext cx="5855025" cy="346741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70184"/>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Hiện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có</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phòng</a:t>
            </a:r>
            <a:r>
              <a:rPr lang="en-US" sz="1467" dirty="0">
                <a:solidFill>
                  <a:srgbClr val="ED000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Repetitive inspection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958435 - </a:t>
            </a:r>
            <a:r>
              <a:rPr lang="en-US" sz="1467" dirty="0" err="1">
                <a:solidFill>
                  <a:srgbClr val="FF0000"/>
                </a:solidFill>
                <a:latin typeface="Times New Roman" panose="02020603050405020304" pitchFamily="18" charset="0"/>
                <a:cs typeface="Times New Roman" panose="02020603050405020304" pitchFamily="18" charset="0"/>
              </a:rPr>
              <a:t>đã</a:t>
            </a:r>
            <a:r>
              <a:rPr lang="en-US" sz="1467" dirty="0">
                <a:solidFill>
                  <a:srgbClr val="FF0000"/>
                </a:solidFill>
                <a:latin typeface="Times New Roman" panose="02020603050405020304" pitchFamily="18" charset="0"/>
                <a:cs typeface="Times New Roman" panose="02020603050405020304" pitchFamily="18" charset="0"/>
              </a:rPr>
              <a:t> soi </a:t>
            </a:r>
            <a:r>
              <a:rPr lang="en-US" sz="1467" dirty="0" err="1">
                <a:solidFill>
                  <a:srgbClr val="FF0000"/>
                </a:solidFill>
                <a:latin typeface="Times New Roman" panose="02020603050405020304" pitchFamily="18" charset="0"/>
                <a:cs typeface="Times New Roman" panose="02020603050405020304" pitchFamily="18" charset="0"/>
              </a:rPr>
              <a:t>lại</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ngày</a:t>
            </a:r>
            <a:r>
              <a:rPr lang="en-US" sz="1467" dirty="0">
                <a:solidFill>
                  <a:srgbClr val="FF0000"/>
                </a:solidFill>
                <a:latin typeface="Times New Roman" panose="02020603050405020304" pitchFamily="18" charset="0"/>
                <a:cs typeface="Times New Roman" panose="02020603050405020304" pitchFamily="18" charset="0"/>
              </a:rPr>
              <a:t> 23/05 </a:t>
            </a:r>
            <a:r>
              <a:rPr lang="en-US" sz="1467" dirty="0" err="1">
                <a:solidFill>
                  <a:srgbClr val="FF0000"/>
                </a:solidFill>
                <a:latin typeface="Times New Roman" panose="02020603050405020304" pitchFamily="18" charset="0"/>
                <a:cs typeface="Times New Roman" panose="02020603050405020304" pitchFamily="18" charset="0"/>
              </a:rPr>
              <a:t>vẫn</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giữ</a:t>
            </a:r>
            <a:r>
              <a:rPr lang="en-US" sz="1467" dirty="0">
                <a:solidFill>
                  <a:srgbClr val="FF0000"/>
                </a:solidFill>
                <a:latin typeface="Times New Roman" panose="02020603050405020304" pitchFamily="18" charset="0"/>
                <a:cs typeface="Times New Roman" panose="02020603050405020304" pitchFamily="18" charset="0"/>
              </a:rPr>
              <a:t> 50 </a:t>
            </a:r>
            <a:r>
              <a:rPr lang="en-US" sz="1467" dirty="0" err="1">
                <a:solidFill>
                  <a:srgbClr val="FF0000"/>
                </a:solidFill>
                <a:latin typeface="Times New Roman" panose="02020603050405020304" pitchFamily="18" charset="0"/>
                <a:cs typeface="Times New Roman" panose="02020603050405020304" pitchFamily="18" charset="0"/>
              </a:rPr>
              <a:t>cyc</a:t>
            </a:r>
            <a:r>
              <a:rPr lang="en-US" sz="1467" dirty="0">
                <a:solidFill>
                  <a:srgbClr val="FF0000"/>
                </a:solidFill>
                <a:latin typeface="Times New Roman" panose="02020603050405020304" pitchFamily="18" charset="0"/>
                <a:cs typeface="Times New Roman" panose="02020603050405020304" pitchFamily="18" charset="0"/>
              </a:rPr>
              <a:t> – </a:t>
            </a:r>
            <a:r>
              <a:rPr lang="en-US" sz="1467" dirty="0" err="1">
                <a:solidFill>
                  <a:srgbClr val="FF0000"/>
                </a:solidFill>
                <a:latin typeface="Times New Roman" panose="02020603050405020304" pitchFamily="18" charset="0"/>
                <a:cs typeface="Times New Roman" panose="02020603050405020304" pitchFamily="18" charset="0"/>
              </a:rPr>
              <a:t>chờ</a:t>
            </a:r>
            <a:r>
              <a:rPr lang="en-US" sz="1467" dirty="0">
                <a:solidFill>
                  <a:srgbClr val="FF0000"/>
                </a:solidFill>
                <a:latin typeface="Times New Roman" panose="02020603050405020304" pitchFamily="18" charset="0"/>
                <a:cs typeface="Times New Roman" panose="02020603050405020304" pitchFamily="18" charset="0"/>
              </a:rPr>
              <a:t> 958398 </a:t>
            </a:r>
            <a:r>
              <a:rPr lang="en-US" sz="1467" dirty="0" err="1">
                <a:solidFill>
                  <a:srgbClr val="FF0000"/>
                </a:solidFill>
                <a:latin typeface="Times New Roman" panose="02020603050405020304" pitchFamily="18" charset="0"/>
                <a:cs typeface="Times New Roman" panose="02020603050405020304" pitchFamily="18" charset="0"/>
              </a:rPr>
              <a:t>về</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để</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thay</a:t>
            </a:r>
            <a:r>
              <a:rPr lang="en-US" sz="1467" dirty="0">
                <a:solidFill>
                  <a:srgbClr val="FF00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Remove in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or </a:t>
            </a:r>
            <a:r>
              <a:rPr lang="en-US" sz="1467" dirty="0" err="1">
                <a:solidFill>
                  <a:srgbClr val="ED0000"/>
                </a:solidFill>
                <a:latin typeface="Times New Roman" panose="02020603050405020304" pitchFamily="18" charset="0"/>
                <a:cs typeface="Times New Roman" panose="02020603050405020304" pitchFamily="18" charset="0"/>
              </a:rPr>
              <a:t>reinspect</a:t>
            </a:r>
            <a:r>
              <a:rPr lang="en-US" sz="1467" dirty="0">
                <a:solidFill>
                  <a:srgbClr val="ED0000"/>
                </a:solidFill>
                <a:latin typeface="Times New Roman" panose="02020603050405020304" pitchFamily="18" charset="0"/>
                <a:cs typeface="Times New Roman" panose="02020603050405020304" pitchFamily="18" charset="0"/>
              </a:rPr>
              <a:t>: </a:t>
            </a:r>
            <a:r>
              <a:rPr lang="vi-VN" sz="1467" dirty="0">
                <a:solidFill>
                  <a:schemeClr val="tx1"/>
                </a:solidFill>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soi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18/05 </a:t>
            </a:r>
            <a:r>
              <a:rPr lang="en-US" sz="1467" dirty="0" err="1">
                <a:solidFill>
                  <a:schemeClr val="tx1"/>
                </a:solidFill>
                <a:latin typeface="Times New Roman" panose="02020603050405020304" pitchFamily="18" charset="0"/>
                <a:cs typeface="Times New Roman" panose="02020603050405020304" pitchFamily="18" charset="0"/>
              </a:rPr>
              <a:t>vẫn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nguyên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endParaRPr lang="en-US" sz="1467" b="1"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Rủi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ro</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và</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việc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 2H 2025:</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02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50 cycle A873 (958435)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A863 (958170); 01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100 cycle A862 (956600) </a:t>
            </a:r>
            <a:r>
              <a:rPr lang="en-US" sz="1467" dirty="0" err="1">
                <a:solidFill>
                  <a:schemeClr val="tx1"/>
                </a:solidFill>
                <a:latin typeface="Times New Roman" panose="02020603050405020304" pitchFamily="18" charset="0"/>
                <a:cs typeface="Times New Roman" panose="02020603050405020304" pitchFamily="18" charset="0"/>
              </a:rPr>
              <a:t>đều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Các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lượt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tháng</a:t>
            </a:r>
            <a:r>
              <a:rPr lang="en-US" sz="1467" dirty="0">
                <a:solidFill>
                  <a:schemeClr val="tx1"/>
                </a:solidFill>
                <a:latin typeface="Times New Roman" panose="02020603050405020304" pitchFamily="18" charset="0"/>
                <a:cs typeface="Times New Roman" panose="02020603050405020304" pitchFamily="18" charset="0"/>
              </a:rPr>
              <a:t> 6, 7.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958266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trả</a:t>
            </a:r>
            <a:r>
              <a:rPr lang="en-US" sz="1467" dirty="0">
                <a:solidFill>
                  <a:schemeClr val="tx1"/>
                </a:solidFill>
                <a:latin typeface="Times New Roman" panose="02020603050405020304" pitchFamily="18" charset="0"/>
                <a:cs typeface="Times New Roman" panose="02020603050405020304" pitchFamily="18" charset="0"/>
              </a:rPr>
              <a:t> T9/2025 –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dõi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 spare. </a:t>
            </a:r>
          </a:p>
          <a:p>
            <a:pPr marL="838190" lvl="1" indent="-380990" defTabSz="1219170">
              <a:buFont typeface="Wingdings" panose="05000000000000000000" pitchFamily="2" charset="2"/>
              <a:buChar char="§"/>
              <a:defRPr/>
            </a:pPr>
            <a:endParaRPr lang="en-US" sz="1467" b="1"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159828" cy="3467418"/>
        </p:xfrm>
        <a:graphic>
          <a:graphicData uri="http://schemas.openxmlformats.org/drawingml/2006/table">
            <a:tbl>
              <a:tblPr firstRow="1" bandRow="1">
                <a:tableStyleId>{7DF18680-E054-41AD-8BC1-D1AEF772440D}</a:tableStyleId>
              </a:tblPr>
              <a:tblGrid>
                <a:gridCol w="691693">
                  <a:extLst>
                    <a:ext uri="{9D8B030D-6E8A-4147-A177-3AD203B41FA5}">
                      <a16:colId xmlns:a16="http://schemas.microsoft.com/office/drawing/2014/main" val="1598605427"/>
                    </a:ext>
                  </a:extLst>
                </a:gridCol>
                <a:gridCol w="680554">
                  <a:extLst>
                    <a:ext uri="{9D8B030D-6E8A-4147-A177-3AD203B41FA5}">
                      <a16:colId xmlns:a16="http://schemas.microsoft.com/office/drawing/2014/main" val="3845954792"/>
                    </a:ext>
                  </a:extLst>
                </a:gridCol>
                <a:gridCol w="939777">
                  <a:extLst>
                    <a:ext uri="{9D8B030D-6E8A-4147-A177-3AD203B41FA5}">
                      <a16:colId xmlns:a16="http://schemas.microsoft.com/office/drawing/2014/main" val="3803391337"/>
                    </a:ext>
                  </a:extLst>
                </a:gridCol>
                <a:gridCol w="1665007">
                  <a:extLst>
                    <a:ext uri="{9D8B030D-6E8A-4147-A177-3AD203B41FA5}">
                      <a16:colId xmlns:a16="http://schemas.microsoft.com/office/drawing/2014/main" val="2148822928"/>
                    </a:ext>
                  </a:extLst>
                </a:gridCol>
                <a:gridCol w="978496">
                  <a:extLst>
                    <a:ext uri="{9D8B030D-6E8A-4147-A177-3AD203B41FA5}">
                      <a16:colId xmlns:a16="http://schemas.microsoft.com/office/drawing/2014/main" val="1106888684"/>
                    </a:ext>
                  </a:extLst>
                </a:gridCol>
                <a:gridCol w="1204301">
                  <a:extLst>
                    <a:ext uri="{9D8B030D-6E8A-4147-A177-3AD203B41FA5}">
                      <a16:colId xmlns:a16="http://schemas.microsoft.com/office/drawing/2014/main" val="558551088"/>
                    </a:ext>
                  </a:extLst>
                </a:gridCol>
              </a:tblGrid>
              <a:tr h="44303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11977">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25139">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17283">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25/08/2025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10189">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19/06/2025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A863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30/05/2025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02/06/2025</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A873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rgbClr val="D80000"/>
                          </a:solidFill>
                          <a:effectLst/>
                          <a:latin typeface="+mn-lt"/>
                          <a:cs typeface="Times New Roman" panose="02020603050405020304" pitchFamily="18" charset="0"/>
                        </a:rPr>
                        <a:t>20/07/2025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47915">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03940">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1" u="none" strike="noStrike" dirty="0">
                          <a:solidFill>
                            <a:srgbClr val="D80000"/>
                          </a:solidFill>
                          <a:effectLst/>
                          <a:latin typeface="+mn-lt"/>
                          <a:cs typeface="Times New Roman" panose="02020603050405020304" pitchFamily="18" charset="0"/>
                        </a:rPr>
                        <a:t>30/08/2025</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1839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2895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05/05/2025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807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30</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30</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A321NEO</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391124" y="3613759"/>
            <a:ext cx="5167083"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95702" y="5296383"/>
          <a:ext cx="5765457" cy="1219200"/>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0">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a:latin typeface="Times New Roman" panose="02020603050405020304" pitchFamily="18" charset="0"/>
                          <a:cs typeface="Times New Roman" panose="02020603050405020304" pitchFamily="18" charset="0"/>
                        </a:rPr>
                        <a:t>A625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28/05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(P771077 &amp; P772905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A619 </a:t>
                      </a:r>
                      <a:r>
                        <a:rPr lang="en-US" sz="1200" dirty="0" err="1">
                          <a:latin typeface="Times New Roman" panose="02020603050405020304" pitchFamily="18" charset="0"/>
                          <a:cs typeface="Times New Roman" panose="02020603050405020304" pitchFamily="18" charset="0"/>
                        </a:rPr>
                        <a:t>giữ</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giờ</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13 AOG</a:t>
                      </a:r>
                    </a:p>
                  </a:txBody>
                  <a:tcPr marL="121920" marR="121920" marT="60960" marB="60960" anchor="ctr"/>
                </a:tc>
                <a:extLst>
                  <a:ext uri="{0D108BD9-81ED-4DB2-BD59-A6C34878D82A}">
                    <a16:rowId xmlns:a16="http://schemas.microsoft.com/office/drawing/2014/main" val="83465224"/>
                  </a:ext>
                </a:extLst>
              </a:tr>
              <a:tr h="0">
                <a:tc>
                  <a:txBody>
                    <a:bodyPr/>
                    <a:lstStyle/>
                    <a:p>
                      <a:r>
                        <a:rPr lang="en-US" sz="1200" b="1">
                          <a:latin typeface="Times New Roman" panose="02020603050405020304" pitchFamily="18" charset="0"/>
                          <a:cs typeface="Times New Roman" panose="02020603050405020304" pitchFamily="18" charset="0"/>
                        </a:rPr>
                        <a:t>A501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03/06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(P771391 &amp;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đầu</a:t>
                      </a:r>
                      <a:r>
                        <a:rPr lang="en-US" sz="1200" dirty="0">
                          <a:latin typeface="Times New Roman" panose="02020603050405020304" pitchFamily="18" charset="0"/>
                          <a:cs typeface="Times New Roman" panose="02020603050405020304" pitchFamily="18" charset="0"/>
                        </a:rPr>
                        <a:t> T6),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12 AOG</a:t>
                      </a: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07/07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(P771387 &amp; P771041),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a16="http://schemas.microsoft.com/office/drawing/2014/main" val="17643425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314175" y="4835863"/>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RTS</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4075424"/>
          <a:ext cx="5909514" cy="266699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3027304"/>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1.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3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RTS trong </a:t>
            </a:r>
            <a:r>
              <a:rPr lang="en-US" sz="1467" dirty="0" err="1">
                <a:solidFill>
                  <a:schemeClr val="tx1"/>
                </a:solidFill>
                <a:latin typeface="Times New Roman" panose="02020603050405020304" pitchFamily="18" charset="0"/>
                <a:cs typeface="Times New Roman" panose="02020603050405020304" pitchFamily="18" charset="0"/>
              </a:rPr>
              <a:t>giai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đoạn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điểm</a:t>
            </a:r>
            <a:r>
              <a:rPr lang="en-US" sz="1467">
                <a:solidFill>
                  <a:schemeClr val="tx1"/>
                </a:solidFill>
                <a:latin typeface="Times New Roman" panose="02020603050405020304" pitchFamily="18" charset="0"/>
                <a:cs typeface="Times New Roman" panose="02020603050405020304" pitchFamily="18" charset="0"/>
              </a:rPr>
              <a:t> (A625, A501, A508</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thuộc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vào</a:t>
            </a:r>
            <a:r>
              <a:rPr lang="en-US" sz="1467" dirty="0">
                <a:solidFill>
                  <a:schemeClr val="tx1"/>
                </a:solidFill>
                <a:latin typeface="Times New Roman" panose="02020603050405020304" pitchFamily="18" charset="0"/>
                <a:cs typeface="Times New Roman" panose="02020603050405020304" pitchFamily="18" charset="0"/>
              </a:rPr>
              <a:t> 4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a:t>
            </a:r>
            <a:r>
              <a:rPr lang="en-US" sz="1467" dirty="0">
                <a:solidFill>
                  <a:schemeClr val="tx1"/>
                </a:solidFill>
                <a:latin typeface="Times New Roman" panose="02020603050405020304" pitchFamily="18" charset="0"/>
                <a:cs typeface="Times New Roman" panose="02020603050405020304" pitchFamily="18" charset="0"/>
              </a:rPr>
              <a:t> shop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(P771077, P771391, P771387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P771041),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ro</a:t>
            </a:r>
            <a:r>
              <a:rPr lang="en-US" sz="1467">
                <a:solidFill>
                  <a:schemeClr val="tx1"/>
                </a:solidFill>
                <a:latin typeface="Times New Roman" panose="02020603050405020304" pitchFamily="18" charset="0"/>
                <a:cs typeface="Times New Roman" panose="02020603050405020304" pitchFamily="18" charset="0"/>
              </a:rPr>
              <a:t> delay. </a:t>
            </a: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của</a:t>
            </a:r>
            <a:r>
              <a:rPr lang="en-US" sz="1467" dirty="0">
                <a:solidFill>
                  <a:schemeClr val="tx1"/>
                </a:solidFill>
                <a:latin typeface="Times New Roman" panose="02020603050405020304" pitchFamily="18" charset="0"/>
                <a:cs typeface="Times New Roman" panose="02020603050405020304" pitchFamily="18" charset="0"/>
              </a:rPr>
              <a:t> PW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muộn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cũng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ảnh</a:t>
            </a:r>
            <a:r>
              <a:rPr lang="en-US" sz="1467" dirty="0">
                <a:solidFill>
                  <a:schemeClr val="tx1"/>
                </a:solidFill>
                <a:latin typeface="Times New Roman" panose="02020603050405020304" pitchFamily="18" charset="0"/>
                <a:cs typeface="Times New Roman" panose="02020603050405020304" pitchFamily="18" charset="0"/>
              </a:rPr>
              <a:t> h</a:t>
            </a:r>
            <a:r>
              <a:rPr lang="vi-VN" sz="1467" dirty="0">
                <a:solidFill>
                  <a:schemeClr val="tx1"/>
                </a:solidFill>
                <a:latin typeface="Times New Roman" panose="02020603050405020304" pitchFamily="18" charset="0"/>
                <a:cs typeface="Times New Roman" panose="02020603050405020304" pitchFamily="18" charset="0"/>
              </a:rPr>
              <a:t>ư</a:t>
            </a:r>
            <a:r>
              <a:rPr lang="en-US" sz="1467" dirty="0" err="1">
                <a:solidFill>
                  <a:schemeClr val="tx1"/>
                </a:solidFill>
                <a:latin typeface="Times New Roman" panose="02020603050405020304" pitchFamily="18" charset="0"/>
                <a:cs typeface="Times New Roman" panose="02020603050405020304" pitchFamily="18" charset="0"/>
              </a:rPr>
              <a:t>ởng</a:t>
            </a:r>
            <a:r>
              <a:rPr lang="en-US" sz="1467" dirty="0">
                <a:solidFill>
                  <a:schemeClr val="tx1"/>
                </a:solidFill>
                <a:latin typeface="Times New Roman" panose="02020603050405020304" pitchFamily="18" charset="0"/>
                <a:cs typeface="Times New Roman" panose="02020603050405020304" pitchFamily="18" charset="0"/>
              </a:rPr>
              <a:t> RTS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A625</a:t>
            </a:r>
          </a:p>
          <a:p>
            <a:pPr algn="just" defTabSz="357188">
              <a:defRPr/>
            </a:pP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b="1" dirty="0">
                <a:solidFill>
                  <a:srgbClr val="FF0000"/>
                </a:solidFill>
                <a:latin typeface="Times New Roman" panose="02020603050405020304" pitchFamily="18" charset="0"/>
                <a:cs typeface="Times New Roman" panose="02020603050405020304" pitchFamily="18" charset="0"/>
              </a:rPr>
              <a:t>2.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a:t>
            </a: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(A619#2 P772905 675FH/337FC);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Oil leak #3DFS (all fleet);</a:t>
            </a:r>
          </a:p>
          <a:p>
            <a:pPr marL="342900" indent="-342900" algn="just" defTabSz="1219170">
              <a:buFont typeface="+mj-lt"/>
              <a:buAutoNum type="arabicPeriod"/>
              <a:defRPr/>
            </a:pPr>
            <a:endParaRPr lang="en-US" sz="1467" b="1" dirty="0">
              <a:solidFill>
                <a:schemeClr val="tx1"/>
              </a:solidFill>
              <a:latin typeface="Times New Roman" panose="02020603050405020304" pitchFamily="18" charset="0"/>
              <a:cs typeface="Times New Roman" panose="02020603050405020304" pitchFamily="18" charset="0"/>
            </a:endParaRPr>
          </a:p>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3.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liên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quan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đến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giữ</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giờ</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P771710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lắp</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lên</a:t>
            </a:r>
            <a:r>
              <a:rPr lang="en-US" sz="1467" dirty="0">
                <a:solidFill>
                  <a:schemeClr val="tx1"/>
                </a:solidFill>
                <a:latin typeface="Times New Roman" panose="02020603050405020304" pitchFamily="18" charset="0"/>
                <a:cs typeface="Times New Roman" panose="02020603050405020304" pitchFamily="18" charset="0"/>
              </a:rPr>
              <a:t> A621 </a:t>
            </a:r>
            <a:r>
              <a:rPr lang="en-US" sz="1467" dirty="0" err="1">
                <a:solidFill>
                  <a:schemeClr val="tx1"/>
                </a:solidFill>
                <a:latin typeface="Times New Roman" panose="02020603050405020304" pitchFamily="18" charset="0"/>
                <a:cs typeface="Times New Roman" panose="02020603050405020304" pitchFamily="18" charset="0"/>
              </a:rPr>
              <a:t>sớm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ngoài</a:t>
            </a:r>
            <a:r>
              <a:rPr lang="en-US" sz="1467" dirty="0">
                <a:solidFill>
                  <a:schemeClr val="tx1"/>
                </a:solidFill>
                <a:latin typeface="Times New Roman" panose="02020603050405020304" pitchFamily="18" charset="0"/>
                <a:cs typeface="Times New Roman" panose="02020603050405020304" pitchFamily="18" charset="0"/>
              </a:rPr>
              <a:t> KH) do </a:t>
            </a:r>
            <a:r>
              <a:rPr lang="en-US" sz="1467" dirty="0" err="1">
                <a:solidFill>
                  <a:schemeClr val="tx1"/>
                </a:solidFill>
                <a:latin typeface="Times New Roman" panose="02020603050405020304" pitchFamily="18" charset="0"/>
                <a:cs typeface="Times New Roman" panose="02020603050405020304" pitchFamily="18" charset="0"/>
              </a:rPr>
              <a:t>vậy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bay qua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P772905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giờ</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đủ</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thời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gian</a:t>
            </a:r>
            <a:r>
              <a:rPr lang="en-US" sz="1467" dirty="0">
                <a:solidFill>
                  <a:schemeClr val="tx1"/>
                </a:solidFill>
                <a:latin typeface="Times New Roman" panose="02020603050405020304" pitchFamily="18" charset="0"/>
                <a:cs typeface="Times New Roman" panose="02020603050405020304" pitchFamily="18" charset="0"/>
              </a:rPr>
              <a:t> 20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bay qua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73504" y="708743"/>
          <a:ext cx="5787655" cy="3959607"/>
        </p:xfrm>
        <a:graphic>
          <a:graphicData uri="http://schemas.openxmlformats.org/drawingml/2006/table">
            <a:tbl>
              <a:tblPr firstRow="1" bandRow="1">
                <a:tableStyleId>{5C22544A-7EE6-4342-B048-85BDC9FD1C3A}</a:tableStyleId>
              </a:tblPr>
              <a:tblGrid>
                <a:gridCol w="777205">
                  <a:extLst>
                    <a:ext uri="{9D8B030D-6E8A-4147-A177-3AD203B41FA5}">
                      <a16:colId xmlns:a16="http://schemas.microsoft.com/office/drawing/2014/main" val="3123040184"/>
                    </a:ext>
                  </a:extLst>
                </a:gridCol>
                <a:gridCol w="872790">
                  <a:extLst>
                    <a:ext uri="{9D8B030D-6E8A-4147-A177-3AD203B41FA5}">
                      <a16:colId xmlns:a16="http://schemas.microsoft.com/office/drawing/2014/main" val="2204338324"/>
                    </a:ext>
                  </a:extLst>
                </a:gridCol>
                <a:gridCol w="941900">
                  <a:extLst>
                    <a:ext uri="{9D8B030D-6E8A-4147-A177-3AD203B41FA5}">
                      <a16:colId xmlns:a16="http://schemas.microsoft.com/office/drawing/2014/main" val="1128924154"/>
                    </a:ext>
                  </a:extLst>
                </a:gridCol>
                <a:gridCol w="914400">
                  <a:extLst>
                    <a:ext uri="{9D8B030D-6E8A-4147-A177-3AD203B41FA5}">
                      <a16:colId xmlns:a16="http://schemas.microsoft.com/office/drawing/2014/main" val="2627377997"/>
                    </a:ext>
                  </a:extLst>
                </a:gridCol>
                <a:gridCol w="2281360">
                  <a:extLst>
                    <a:ext uri="{9D8B030D-6E8A-4147-A177-3AD203B41FA5}">
                      <a16:colId xmlns:a16="http://schemas.microsoft.com/office/drawing/2014/main" val="1687818387"/>
                    </a:ext>
                  </a:extLst>
                </a:gridCol>
              </a:tblGrid>
              <a:tr h="276104">
                <a:tc>
                  <a:txBody>
                    <a:bodyPr/>
                    <a:lstStyle/>
                    <a:p>
                      <a:pPr algn="l" rtl="0" fontAlgn="ctr"/>
                      <a:r>
                        <a:rPr lang="vi-VN" sz="1100" b="1" u="none" strike="noStrike">
                          <a:solidFill>
                            <a:srgbClr val="FFFFFF"/>
                          </a:solidFill>
                          <a:effectLst/>
                        </a:rPr>
                        <a:t>Động cơ</a:t>
                      </a:r>
                      <a:endParaRPr lang="vi-VN" sz="1100" b="1" i="0" u="none" strike="noStrike">
                        <a:solidFill>
                          <a:srgbClr val="FFFFFF"/>
                        </a:solidFill>
                        <a:effectLst/>
                        <a:latin typeface="Times New Roman" panose="02020603050405020304" pitchFamily="18" charset="0"/>
                      </a:endParaRPr>
                    </a:p>
                  </a:txBody>
                  <a:tcPr marL="47527" marR="5281" marT="5281" marB="0" anchor="ctr"/>
                </a:tc>
                <a:tc>
                  <a:txBody>
                    <a:bodyPr/>
                    <a:lstStyle/>
                    <a:p>
                      <a:pPr algn="ctr" rtl="0" fontAlgn="ctr"/>
                      <a:r>
                        <a:rPr lang="en-GB" sz="1100" b="1" u="none" strike="noStrike">
                          <a:solidFill>
                            <a:srgbClr val="FFFFFF"/>
                          </a:solidFill>
                          <a:effectLst/>
                        </a:rPr>
                        <a:t>Induction</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Dự kiến về</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KH Sử dụng</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Remark</a:t>
                      </a:r>
                      <a:endParaRPr lang="en-GB" sz="1100" b="1" i="0" u="none" strike="noStrike">
                        <a:solidFill>
                          <a:srgbClr val="FFFFFF"/>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673130687"/>
                  </a:ext>
                </a:extLst>
              </a:tr>
              <a:tr h="279634">
                <a:tc>
                  <a:txBody>
                    <a:bodyPr/>
                    <a:lstStyle/>
                    <a:p>
                      <a:pPr algn="ctr" rtl="0" fontAlgn="ctr"/>
                      <a:r>
                        <a:rPr lang="en-GB" sz="1100" b="0" u="none" strike="noStrike" dirty="0">
                          <a:solidFill>
                            <a:srgbClr val="000000"/>
                          </a:solidFill>
                          <a:effectLst/>
                        </a:rPr>
                        <a:t>P770903</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18/07/2024</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12/05/2025</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000000"/>
                          </a:solidFill>
                          <a:effectLst/>
                        </a:rPr>
                        <a:t>A619#2 </a:t>
                      </a:r>
                      <a:r>
                        <a:rPr lang="en-GB" sz="1100" b="0" u="none" strike="noStrike" dirty="0" err="1">
                          <a:solidFill>
                            <a:srgbClr val="000000"/>
                          </a:solidFill>
                          <a:effectLst/>
                        </a:rPr>
                        <a:t>gi</a:t>
                      </a:r>
                      <a:r>
                        <a:rPr lang="en-US" sz="1100" b="0" u="none" strike="noStrike" dirty="0">
                          <a:solidFill>
                            <a:srgbClr val="000000"/>
                          </a:solidFill>
                          <a:effectLst/>
                        </a:rPr>
                        <a:t>ữ </a:t>
                      </a:r>
                      <a:r>
                        <a:rPr lang="en-US" sz="1100" b="0" u="none" strike="noStrike" dirty="0" err="1">
                          <a:solidFill>
                            <a:srgbClr val="000000"/>
                          </a:solidFill>
                          <a:effectLst/>
                        </a:rPr>
                        <a:t>giờ</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err="1">
                          <a:solidFill>
                            <a:srgbClr val="000000"/>
                          </a:solidFill>
                          <a:effectLst/>
                        </a:rPr>
                        <a:t>Giữ</a:t>
                      </a:r>
                      <a:r>
                        <a:rPr lang="en-GB" sz="1100" b="0" u="none" strike="noStrike" dirty="0">
                          <a:solidFill>
                            <a:srgbClr val="000000"/>
                          </a:solidFill>
                          <a:effectLst/>
                        </a:rPr>
                        <a:t> </a:t>
                      </a:r>
                      <a:r>
                        <a:rPr lang="en-GB" sz="1100" b="0" u="none" strike="noStrike" dirty="0" err="1">
                          <a:solidFill>
                            <a:srgbClr val="000000"/>
                          </a:solidFill>
                          <a:effectLst/>
                        </a:rPr>
                        <a:t>giờ</a:t>
                      </a:r>
                      <a:r>
                        <a:rPr lang="en-GB" sz="1100" b="0" u="none" strike="noStrike" dirty="0">
                          <a:solidFill>
                            <a:srgbClr val="000000"/>
                          </a:solidFill>
                          <a:effectLst/>
                        </a:rPr>
                        <a:t> bay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r>
                        <a:rPr lang="en-GB" sz="1100" b="0" u="none" strike="noStrike" dirty="0" err="1">
                          <a:solidFill>
                            <a:srgbClr val="000000"/>
                          </a:solidFill>
                          <a:effectLst/>
                        </a:rPr>
                        <a:t>hè</a:t>
                      </a:r>
                      <a:endParaRPr lang="en-GB" sz="1100" b="0" i="0" u="none" strike="noStrike" dirty="0">
                        <a:solidFill>
                          <a:srgbClr val="00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054869524"/>
                  </a:ext>
                </a:extLst>
              </a:tr>
              <a:tr h="279634">
                <a:tc>
                  <a:txBody>
                    <a:bodyPr/>
                    <a:lstStyle/>
                    <a:p>
                      <a:pPr algn="ctr" rtl="0" fontAlgn="ctr"/>
                      <a:r>
                        <a:rPr lang="en-GB" sz="1100" b="0" u="none" strike="noStrike" dirty="0">
                          <a:solidFill>
                            <a:srgbClr val="000000"/>
                          </a:solidFill>
                          <a:effectLst/>
                        </a:rPr>
                        <a:t>P771077</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24/10/2024</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28/05/2025</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a:solidFill>
                            <a:srgbClr val="000000"/>
                          </a:solidFill>
                          <a:effectLst/>
                        </a:rPr>
                        <a:t>RTS A625</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US" sz="1100" b="0" u="none" strike="noStrike" dirty="0" err="1">
                          <a:solidFill>
                            <a:srgbClr val="000000"/>
                          </a:solidFill>
                          <a:effectLst/>
                        </a:rPr>
                        <a:t>Kết</a:t>
                      </a:r>
                      <a:r>
                        <a:rPr lang="en-US" sz="1100" b="0" u="none" strike="noStrike" dirty="0">
                          <a:solidFill>
                            <a:srgbClr val="000000"/>
                          </a:solidFill>
                          <a:effectLst/>
                        </a:rPr>
                        <a:t> </a:t>
                      </a:r>
                      <a:r>
                        <a:rPr lang="en-US" sz="1100" b="0" u="none" strike="noStrike" dirty="0" err="1">
                          <a:solidFill>
                            <a:srgbClr val="000000"/>
                          </a:solidFill>
                          <a:effectLst/>
                        </a:rPr>
                        <a:t>hợp</a:t>
                      </a:r>
                      <a:r>
                        <a:rPr lang="en-US" sz="1100" b="0" u="none" strike="noStrike" dirty="0">
                          <a:solidFill>
                            <a:srgbClr val="000000"/>
                          </a:solidFill>
                          <a:effectLst/>
                        </a:rPr>
                        <a:t> </a:t>
                      </a:r>
                      <a:r>
                        <a:rPr lang="en-US" sz="1100" b="0" u="none" strike="noStrike" dirty="0" err="1">
                          <a:solidFill>
                            <a:srgbClr val="000000"/>
                          </a:solidFill>
                          <a:effectLst/>
                        </a:rPr>
                        <a:t>với</a:t>
                      </a:r>
                      <a:r>
                        <a:rPr lang="en-US" sz="1100" b="0" u="none" strike="noStrike" dirty="0">
                          <a:solidFill>
                            <a:srgbClr val="000000"/>
                          </a:solidFill>
                          <a:effectLst/>
                        </a:rPr>
                        <a:t> </a:t>
                      </a:r>
                      <a:r>
                        <a:rPr lang="en-US" sz="1100" b="0" u="none" strike="noStrike" dirty="0" err="1">
                          <a:solidFill>
                            <a:srgbClr val="000000"/>
                          </a:solidFill>
                          <a:effectLst/>
                        </a:rPr>
                        <a:t>động</a:t>
                      </a:r>
                      <a:r>
                        <a:rPr lang="en-US" sz="1100" b="0" u="none" strike="noStrike" dirty="0">
                          <a:solidFill>
                            <a:srgbClr val="000000"/>
                          </a:solidFill>
                          <a:effectLst/>
                        </a:rPr>
                        <a:t> c</a:t>
                      </a:r>
                      <a:r>
                        <a:rPr lang="vi-VN" sz="1100" b="0" u="none" strike="noStrike" dirty="0">
                          <a:solidFill>
                            <a:srgbClr val="000000"/>
                          </a:solidFill>
                          <a:effectLst/>
                        </a:rPr>
                        <a:t>ơ</a:t>
                      </a:r>
                      <a:r>
                        <a:rPr lang="en-US" sz="1100" b="0" u="none" strike="noStrike" dirty="0">
                          <a:solidFill>
                            <a:srgbClr val="000000"/>
                          </a:solidFill>
                          <a:effectLst/>
                        </a:rPr>
                        <a:t> </a:t>
                      </a:r>
                      <a:r>
                        <a:rPr lang="en-US" sz="1100" b="0" u="none" strike="noStrike" dirty="0" err="1">
                          <a:solidFill>
                            <a:srgbClr val="000000"/>
                          </a:solidFill>
                          <a:effectLst/>
                        </a:rPr>
                        <a:t>tháo</a:t>
                      </a:r>
                      <a:r>
                        <a:rPr lang="en-US" sz="1100" b="0" u="none" strike="noStrike" dirty="0">
                          <a:solidFill>
                            <a:srgbClr val="000000"/>
                          </a:solidFill>
                          <a:effectLst/>
                        </a:rPr>
                        <a:t> </a:t>
                      </a:r>
                      <a:r>
                        <a:rPr lang="en-US" sz="1100" b="0" u="none" strike="noStrike" err="1">
                          <a:solidFill>
                            <a:srgbClr val="000000"/>
                          </a:solidFill>
                          <a:effectLst/>
                        </a:rPr>
                        <a:t>từ</a:t>
                      </a:r>
                      <a:r>
                        <a:rPr lang="en-US" sz="1100" b="0" u="none" strike="noStrike">
                          <a:solidFill>
                            <a:srgbClr val="000000"/>
                          </a:solidFill>
                          <a:effectLst/>
                        </a:rPr>
                        <a:t> A619</a:t>
                      </a:r>
                    </a:p>
                  </a:txBody>
                  <a:tcPr marL="5281" marR="5281" marT="5281" marB="0" anchor="ctr"/>
                </a:tc>
                <a:extLst>
                  <a:ext uri="{0D108BD9-81ED-4DB2-BD59-A6C34878D82A}">
                    <a16:rowId xmlns:a16="http://schemas.microsoft.com/office/drawing/2014/main" val="943020117"/>
                  </a:ext>
                </a:extLst>
              </a:tr>
              <a:tr h="279634">
                <a:tc>
                  <a:txBody>
                    <a:bodyPr/>
                    <a:lstStyle/>
                    <a:p>
                      <a:pPr algn="ctr" rtl="0" fontAlgn="ctr"/>
                      <a:r>
                        <a:rPr lang="en-GB" sz="1100" b="0" u="none" strike="noStrike">
                          <a:solidFill>
                            <a:schemeClr val="tx1"/>
                          </a:solidFill>
                          <a:effectLst/>
                        </a:rPr>
                        <a:t>P771391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11/10/2024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03/06/2025</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RTS A501</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US" sz="1100" b="0" u="none" strike="noStrike" dirty="0" err="1">
                          <a:solidFill>
                            <a:schemeClr val="tx1"/>
                          </a:solidFill>
                          <a:effectLst/>
                        </a:rPr>
                        <a:t>Kết</a:t>
                      </a:r>
                      <a:r>
                        <a:rPr lang="en-US" sz="1100" b="0" u="none" strike="noStrike" dirty="0">
                          <a:solidFill>
                            <a:schemeClr val="tx1"/>
                          </a:solidFill>
                          <a:effectLst/>
                        </a:rPr>
                        <a:t> </a:t>
                      </a:r>
                      <a:r>
                        <a:rPr lang="en-US" sz="1100" b="0" u="none" strike="noStrike" dirty="0" err="1">
                          <a:solidFill>
                            <a:schemeClr val="tx1"/>
                          </a:solidFill>
                          <a:effectLst/>
                        </a:rPr>
                        <a:t>hợp</a:t>
                      </a:r>
                      <a:r>
                        <a:rPr lang="en-US" sz="1100" b="0" u="none" strike="noStrike" dirty="0">
                          <a:solidFill>
                            <a:schemeClr val="tx1"/>
                          </a:solidFill>
                          <a:effectLst/>
                        </a:rPr>
                        <a:t> </a:t>
                      </a:r>
                      <a:r>
                        <a:rPr lang="en-US" sz="1100" b="0" u="none" strike="noStrike" dirty="0" err="1">
                          <a:solidFill>
                            <a:schemeClr val="tx1"/>
                          </a:solidFill>
                          <a:effectLst/>
                        </a:rPr>
                        <a:t>với</a:t>
                      </a:r>
                      <a:r>
                        <a:rPr lang="en-US" sz="1100" b="0" u="none" strike="noStrike" dirty="0">
                          <a:solidFill>
                            <a:schemeClr val="tx1"/>
                          </a:solidFill>
                          <a:effectLst/>
                        </a:rPr>
                        <a:t> </a:t>
                      </a:r>
                      <a:r>
                        <a:rPr lang="en-US" sz="1100" b="0" u="none" strike="noStrike" dirty="0" err="1">
                          <a:solidFill>
                            <a:schemeClr val="tx1"/>
                          </a:solidFill>
                          <a:effectLst/>
                        </a:rPr>
                        <a:t>động</a:t>
                      </a:r>
                      <a:r>
                        <a:rPr lang="en-US"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a:t>
                      </a:r>
                      <a:r>
                        <a:rPr lang="en-US" sz="1100" b="0" u="none" strike="noStrike" dirty="0" err="1">
                          <a:solidFill>
                            <a:schemeClr val="tx1"/>
                          </a:solidFill>
                          <a:effectLst/>
                        </a:rPr>
                        <a:t>thuê</a:t>
                      </a:r>
                      <a:r>
                        <a:rPr lang="en-US" sz="1100" b="0" u="none" strike="noStrike" dirty="0">
                          <a:solidFill>
                            <a:schemeClr val="tx1"/>
                          </a:solidFill>
                          <a:effectLst/>
                        </a:rPr>
                        <a:t> </a:t>
                      </a:r>
                      <a:r>
                        <a:rPr lang="en-US" sz="1100" b="0" u="none" strike="noStrike" dirty="0" err="1">
                          <a:solidFill>
                            <a:schemeClr val="tx1"/>
                          </a:solidFill>
                          <a:effectLst/>
                        </a:rPr>
                        <a:t>mới</a:t>
                      </a:r>
                      <a:r>
                        <a:rPr lang="en-US" sz="1100" b="0" u="none" strike="noStrike" dirty="0">
                          <a:solidFill>
                            <a:schemeClr val="tx1"/>
                          </a:solidFill>
                          <a:effectLst/>
                        </a:rPr>
                        <a:t> PWEL</a:t>
                      </a:r>
                      <a:endParaRPr lang="vi-VN"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2417907554"/>
                  </a:ext>
                </a:extLst>
              </a:tr>
              <a:tr h="397760">
                <a:tc>
                  <a:txBody>
                    <a:bodyPr/>
                    <a:lstStyle/>
                    <a:p>
                      <a:pPr algn="ctr" rtl="0" fontAlgn="ctr"/>
                      <a:r>
                        <a:rPr lang="en-GB" sz="1100" b="0" u="none" strike="noStrike">
                          <a:solidFill>
                            <a:schemeClr val="tx1"/>
                          </a:solidFill>
                          <a:effectLst/>
                        </a:rPr>
                        <a:t>P771387</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05/11/2024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23/06/2025</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RTS A508</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Delay 25 </a:t>
                      </a:r>
                      <a:r>
                        <a:rPr lang="en-GB" sz="1100" b="0" u="none" strike="noStrike" dirty="0" err="1">
                          <a:solidFill>
                            <a:schemeClr val="tx1"/>
                          </a:solidFill>
                          <a:effectLst/>
                        </a:rPr>
                        <a:t>ngày</a:t>
                      </a:r>
                      <a:r>
                        <a:rPr lang="en-GB" sz="1100" b="0" u="none" strike="noStrike" dirty="0">
                          <a:solidFill>
                            <a:schemeClr val="tx1"/>
                          </a:solidFill>
                          <a:effectLst/>
                        </a:rPr>
                        <a:t>, KH </a:t>
                      </a:r>
                      <a:r>
                        <a:rPr lang="en-GB" sz="1100" b="0" u="none" strike="noStrike" err="1">
                          <a:solidFill>
                            <a:schemeClr val="tx1"/>
                          </a:solidFill>
                          <a:effectLst/>
                        </a:rPr>
                        <a:t>Cũ</a:t>
                      </a:r>
                      <a:r>
                        <a:rPr lang="en-GB" sz="1100" b="0" u="none" strike="noStrike">
                          <a:solidFill>
                            <a:schemeClr val="tx1"/>
                          </a:solidFill>
                          <a:effectLst/>
                        </a:rPr>
                        <a:t> 26/5 do thiếu PTVT: </a:t>
                      </a:r>
                      <a:r>
                        <a:rPr lang="en-US" sz="1100" b="0" u="none" strike="noStrike">
                          <a:solidFill>
                            <a:schemeClr val="tx1"/>
                          </a:solidFill>
                          <a:effectLst/>
                        </a:rPr>
                        <a:t>IBR6, Manifold Assy...</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35326823"/>
                  </a:ext>
                </a:extLst>
              </a:tr>
              <a:tr h="1135751">
                <a:tc>
                  <a:txBody>
                    <a:bodyPr/>
                    <a:lstStyle/>
                    <a:p>
                      <a:pPr algn="ctr" rtl="0" fontAlgn="ctr"/>
                      <a:r>
                        <a:rPr lang="en-GB" sz="1100" b="0" u="none" strike="noStrike">
                          <a:solidFill>
                            <a:schemeClr val="tx1"/>
                          </a:solidFill>
                          <a:effectLst/>
                        </a:rPr>
                        <a:t>P771041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19/03/2025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07/07/2025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RTS A508</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+25 </a:t>
                      </a:r>
                      <a:r>
                        <a:rPr lang="en-GB" sz="1100" b="0" u="none" strike="noStrike" dirty="0" err="1">
                          <a:solidFill>
                            <a:schemeClr val="tx1"/>
                          </a:solidFill>
                          <a:effectLst/>
                        </a:rPr>
                        <a:t>ngày</a:t>
                      </a:r>
                      <a:r>
                        <a:rPr lang="en-GB" sz="1100" b="0" u="none" strike="noStrike" dirty="0">
                          <a:solidFill>
                            <a:schemeClr val="tx1"/>
                          </a:solidFill>
                          <a:effectLst/>
                        </a:rPr>
                        <a:t>, KH </a:t>
                      </a:r>
                      <a:r>
                        <a:rPr lang="en-GB" sz="1100" b="0" u="none" strike="noStrike" dirty="0" err="1">
                          <a:solidFill>
                            <a:schemeClr val="tx1"/>
                          </a:solidFill>
                          <a:effectLst/>
                        </a:rPr>
                        <a:t>Cũ</a:t>
                      </a:r>
                      <a:r>
                        <a:rPr lang="en-GB" sz="1100" b="0" u="none" strike="noStrike" dirty="0">
                          <a:solidFill>
                            <a:schemeClr val="tx1"/>
                          </a:solidFill>
                          <a:effectLst/>
                        </a:rPr>
                        <a:t> 12/6 =&gt; </a:t>
                      </a:r>
                      <a:r>
                        <a:rPr lang="en-GB" sz="1100" b="0" u="none" strike="noStrike" dirty="0" err="1">
                          <a:solidFill>
                            <a:schemeClr val="tx1"/>
                          </a:solidFill>
                          <a:effectLst/>
                        </a:rPr>
                        <a:t>tăng</a:t>
                      </a:r>
                      <a:r>
                        <a:rPr lang="en-GB" sz="1100" b="0" u="none" strike="noStrike" dirty="0">
                          <a:solidFill>
                            <a:schemeClr val="tx1"/>
                          </a:solidFill>
                          <a:effectLst/>
                        </a:rPr>
                        <a:t> AOG do A508 </a:t>
                      </a:r>
                      <a:r>
                        <a:rPr lang="en-GB" sz="1100" b="0" u="none" strike="noStrike" dirty="0" err="1">
                          <a:solidFill>
                            <a:schemeClr val="tx1"/>
                          </a:solidFill>
                          <a:effectLst/>
                        </a:rPr>
                        <a:t>có</a:t>
                      </a:r>
                      <a:r>
                        <a:rPr lang="en-GB" sz="1100" b="0" u="none" strike="noStrike" dirty="0">
                          <a:solidFill>
                            <a:schemeClr val="tx1"/>
                          </a:solidFill>
                          <a:effectLst/>
                        </a:rPr>
                        <a:t> </a:t>
                      </a:r>
                      <a:r>
                        <a:rPr lang="en-GB" sz="1100" b="0" u="none" strike="noStrike" dirty="0" err="1">
                          <a:solidFill>
                            <a:schemeClr val="tx1"/>
                          </a:solidFill>
                          <a:effectLst/>
                        </a:rPr>
                        <a:t>động</a:t>
                      </a:r>
                      <a:r>
                        <a:rPr lang="en-GB"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a:t>
                      </a:r>
                      <a:r>
                        <a:rPr lang="en-US" sz="1100" b="0" u="none" strike="noStrike" dirty="0" err="1">
                          <a:solidFill>
                            <a:schemeClr val="tx1"/>
                          </a:solidFill>
                          <a:effectLst/>
                        </a:rPr>
                        <a:t>muộn</a:t>
                      </a:r>
                      <a:r>
                        <a:rPr lang="en-US" sz="1100" b="0" u="none" strike="noStrike" dirty="0">
                          <a:solidFill>
                            <a:schemeClr val="tx1"/>
                          </a:solidFill>
                          <a:effectLst/>
                        </a:rPr>
                        <a:t>  </a:t>
                      </a:r>
                      <a:r>
                        <a:rPr lang="en-US" sz="1100" b="0" u="none" strike="noStrike">
                          <a:solidFill>
                            <a:schemeClr val="tx1"/>
                          </a:solidFill>
                          <a:effectLst/>
                        </a:rPr>
                        <a:t>25 ngày do trong quá trình kiểm tra phát sinh hỏng hóc module HPT </a:t>
                      </a:r>
                      <a:r>
                        <a:rPr lang="en-US" sz="1100" b="0" u="none" strike="noStrike">
                          <a:solidFill>
                            <a:schemeClr val="tx1"/>
                          </a:solidFill>
                          <a:effectLst/>
                          <a:sym typeface="Wingdings" panose="05000000000000000000" pitchFamily="2" charset="2"/>
                        </a:rPr>
                        <a:t> </a:t>
                      </a:r>
                      <a:r>
                        <a:rPr lang="en-US" sz="1100" b="0" u="none" strike="noStrike">
                          <a:solidFill>
                            <a:schemeClr val="tx1"/>
                          </a:solidFill>
                          <a:effectLst/>
                        </a:rPr>
                        <a:t>Tăng mức WSC, phát sinh thay 02 LLP thuộc HPT module so với ban đầu</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236595682"/>
                  </a:ext>
                </a:extLst>
              </a:tr>
              <a:tr h="1048198">
                <a:tc>
                  <a:txBody>
                    <a:bodyPr/>
                    <a:lstStyle/>
                    <a:p>
                      <a:pPr algn="ctr" rtl="0" fontAlgn="ctr"/>
                      <a:r>
                        <a:rPr lang="en-GB" sz="1100" b="0" u="none" strike="noStrike">
                          <a:solidFill>
                            <a:schemeClr val="tx1"/>
                          </a:solidFill>
                          <a:effectLst/>
                        </a:rPr>
                        <a:t>P771423</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15/04/2025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23/07/2025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US" sz="1100" b="0" u="none" strike="noStrike" dirty="0">
                          <a:solidFill>
                            <a:schemeClr val="tx1"/>
                          </a:solidFill>
                          <a:effectLst/>
                        </a:rPr>
                        <a:t>S</a:t>
                      </a:r>
                      <a:r>
                        <a:rPr lang="en-GB" sz="1100" b="0" u="none" strike="noStrike" dirty="0">
                          <a:solidFill>
                            <a:schemeClr val="tx1"/>
                          </a:solidFill>
                          <a:effectLst/>
                        </a:rPr>
                        <a:t>pare</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vi-VN" sz="1100" b="0" u="none" strike="noStrike" dirty="0">
                          <a:solidFill>
                            <a:schemeClr val="tx1"/>
                          </a:solidFill>
                          <a:effectLst/>
                        </a:rPr>
                        <a:t>+19 ngày so với KH, </a:t>
                      </a:r>
                      <a:r>
                        <a:rPr lang="en-US" sz="1100" b="0" u="none" strike="noStrike" dirty="0" err="1">
                          <a:solidFill>
                            <a:schemeClr val="tx1"/>
                          </a:solidFill>
                          <a:effectLst/>
                        </a:rPr>
                        <a:t>không</a:t>
                      </a:r>
                      <a:r>
                        <a:rPr lang="en-US" sz="1100" b="0" u="none" strike="noStrike" dirty="0">
                          <a:solidFill>
                            <a:schemeClr val="tx1"/>
                          </a:solidFill>
                          <a:effectLst/>
                        </a:rPr>
                        <a:t> </a:t>
                      </a:r>
                      <a:r>
                        <a:rPr lang="en-US" sz="1100" b="0" u="none" strike="noStrike" dirty="0" err="1">
                          <a:solidFill>
                            <a:schemeClr val="tx1"/>
                          </a:solidFill>
                          <a:effectLst/>
                        </a:rPr>
                        <a:t>ảnh</a:t>
                      </a:r>
                      <a:r>
                        <a:rPr lang="en-US" sz="1100" b="0" u="none" strike="noStrike" dirty="0">
                          <a:solidFill>
                            <a:schemeClr val="tx1"/>
                          </a:solidFill>
                          <a:effectLst/>
                        </a:rPr>
                        <a:t> h</a:t>
                      </a:r>
                      <a:r>
                        <a:rPr lang="vi-VN" sz="1100" b="0" u="none" strike="noStrike" dirty="0">
                          <a:solidFill>
                            <a:schemeClr val="tx1"/>
                          </a:solidFill>
                          <a:effectLst/>
                        </a:rPr>
                        <a:t>ư</a:t>
                      </a:r>
                      <a:r>
                        <a:rPr lang="en-US" sz="1100" b="0" u="none" strike="noStrike" dirty="0" err="1">
                          <a:solidFill>
                            <a:schemeClr val="tx1"/>
                          </a:solidFill>
                          <a:effectLst/>
                        </a:rPr>
                        <a:t>ởng</a:t>
                      </a:r>
                      <a:r>
                        <a:rPr lang="en-US" sz="1100" b="0" u="none" strike="noStrike" dirty="0">
                          <a:solidFill>
                            <a:schemeClr val="tx1"/>
                          </a:solidFill>
                          <a:effectLst/>
                        </a:rPr>
                        <a:t> do </a:t>
                      </a:r>
                      <a:r>
                        <a:rPr lang="en-US" sz="1100" b="0" u="none" strike="noStrike" dirty="0" err="1">
                          <a:solidFill>
                            <a:schemeClr val="tx1"/>
                          </a:solidFill>
                          <a:effectLst/>
                        </a:rPr>
                        <a:t>thiếu</a:t>
                      </a:r>
                      <a:r>
                        <a:rPr lang="en-US" sz="1100" b="0" u="none" strike="noStrike" dirty="0">
                          <a:solidFill>
                            <a:schemeClr val="tx1"/>
                          </a:solidFill>
                          <a:effectLst/>
                        </a:rPr>
                        <a:t> 1 </a:t>
                      </a:r>
                      <a:r>
                        <a:rPr lang="en-US" sz="1100" b="0" u="none" strike="noStrike" dirty="0" err="1">
                          <a:solidFill>
                            <a:schemeClr val="tx1"/>
                          </a:solidFill>
                          <a:effectLst/>
                        </a:rPr>
                        <a:t>động</a:t>
                      </a:r>
                      <a:r>
                        <a:rPr lang="en-US"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do </a:t>
                      </a:r>
                      <a:r>
                        <a:rPr lang="en-US" sz="1100" b="0" u="none" strike="noStrike" dirty="0" err="1">
                          <a:solidFill>
                            <a:schemeClr val="tx1"/>
                          </a:solidFill>
                          <a:effectLst/>
                        </a:rPr>
                        <a:t>trong</a:t>
                      </a:r>
                      <a:r>
                        <a:rPr lang="en-US" sz="1100" b="0" u="none" strike="noStrike" dirty="0">
                          <a:solidFill>
                            <a:schemeClr val="tx1"/>
                          </a:solidFill>
                          <a:effectLst/>
                        </a:rPr>
                        <a:t> </a:t>
                      </a:r>
                      <a:r>
                        <a:rPr lang="en-US" sz="1100" b="0" u="none" strike="noStrike" dirty="0" err="1">
                          <a:solidFill>
                            <a:schemeClr val="tx1"/>
                          </a:solidFill>
                          <a:effectLst/>
                        </a:rPr>
                        <a:t>quá</a:t>
                      </a:r>
                      <a:r>
                        <a:rPr lang="en-US" sz="1100" b="0" u="none" strike="noStrike" dirty="0">
                          <a:solidFill>
                            <a:schemeClr val="tx1"/>
                          </a:solidFill>
                          <a:effectLst/>
                        </a:rPr>
                        <a:t> </a:t>
                      </a:r>
                      <a:r>
                        <a:rPr lang="en-US" sz="1100" b="0" u="none" strike="noStrike" dirty="0" err="1">
                          <a:solidFill>
                            <a:schemeClr val="tx1"/>
                          </a:solidFill>
                          <a:effectLst/>
                        </a:rPr>
                        <a:t>trình</a:t>
                      </a:r>
                      <a:r>
                        <a:rPr lang="en-US" sz="1100" b="0" u="none" strike="noStrike" dirty="0">
                          <a:solidFill>
                            <a:schemeClr val="tx1"/>
                          </a:solidFill>
                          <a:effectLst/>
                        </a:rPr>
                        <a:t> </a:t>
                      </a:r>
                      <a:r>
                        <a:rPr lang="en-US" sz="1100" b="0" u="none" strike="noStrike" dirty="0" err="1">
                          <a:solidFill>
                            <a:schemeClr val="tx1"/>
                          </a:solidFill>
                          <a:effectLst/>
                        </a:rPr>
                        <a:t>kiểm</a:t>
                      </a:r>
                      <a:r>
                        <a:rPr lang="en-US" sz="1100" b="0" u="none" strike="noStrike" dirty="0">
                          <a:solidFill>
                            <a:schemeClr val="tx1"/>
                          </a:solidFill>
                          <a:effectLst/>
                        </a:rPr>
                        <a:t> </a:t>
                      </a:r>
                      <a:r>
                        <a:rPr lang="en-US" sz="1100" b="0" u="none" strike="noStrike" dirty="0" err="1">
                          <a:solidFill>
                            <a:schemeClr val="tx1"/>
                          </a:solidFill>
                          <a:effectLst/>
                        </a:rPr>
                        <a:t>tra</a:t>
                      </a:r>
                      <a:r>
                        <a:rPr lang="en-US" sz="1100" b="0" u="none" strike="noStrike" dirty="0">
                          <a:solidFill>
                            <a:schemeClr val="tx1"/>
                          </a:solidFill>
                          <a:effectLst/>
                        </a:rPr>
                        <a:t> </a:t>
                      </a:r>
                      <a:r>
                        <a:rPr lang="en-US" sz="1100" b="0" u="none" strike="noStrike" dirty="0" err="1">
                          <a:solidFill>
                            <a:schemeClr val="tx1"/>
                          </a:solidFill>
                          <a:effectLst/>
                        </a:rPr>
                        <a:t>phát</a:t>
                      </a:r>
                      <a:r>
                        <a:rPr lang="en-US" sz="1100" b="0" u="none" strike="noStrike" dirty="0">
                          <a:solidFill>
                            <a:schemeClr val="tx1"/>
                          </a:solidFill>
                          <a:effectLst/>
                        </a:rPr>
                        <a:t> </a:t>
                      </a:r>
                      <a:r>
                        <a:rPr lang="en-US" sz="1100" b="0" u="none" strike="noStrike" dirty="0" err="1">
                          <a:solidFill>
                            <a:schemeClr val="tx1"/>
                          </a:solidFill>
                          <a:effectLst/>
                        </a:rPr>
                        <a:t>sinh</a:t>
                      </a:r>
                      <a:r>
                        <a:rPr lang="en-US" sz="1100" b="0" u="none" strike="noStrike" dirty="0">
                          <a:solidFill>
                            <a:schemeClr val="tx1"/>
                          </a:solidFill>
                          <a:effectLst/>
                        </a:rPr>
                        <a:t> </a:t>
                      </a:r>
                      <a:r>
                        <a:rPr lang="en-US" sz="1100" b="0" u="none" strike="noStrike" dirty="0" err="1">
                          <a:solidFill>
                            <a:schemeClr val="tx1"/>
                          </a:solidFill>
                          <a:effectLst/>
                        </a:rPr>
                        <a:t>hỏng</a:t>
                      </a:r>
                      <a:r>
                        <a:rPr lang="en-US" sz="1100" b="0" u="none" strike="noStrike" dirty="0">
                          <a:solidFill>
                            <a:schemeClr val="tx1"/>
                          </a:solidFill>
                          <a:effectLst/>
                        </a:rPr>
                        <a:t> </a:t>
                      </a:r>
                      <a:r>
                        <a:rPr lang="en-US" sz="1100" b="0" u="none" strike="noStrike" dirty="0" err="1">
                          <a:solidFill>
                            <a:schemeClr val="tx1"/>
                          </a:solidFill>
                          <a:effectLst/>
                        </a:rPr>
                        <a:t>hóc</a:t>
                      </a:r>
                      <a:r>
                        <a:rPr lang="en-US" sz="1100" b="0" u="none" strike="noStrike" dirty="0">
                          <a:solidFill>
                            <a:schemeClr val="tx1"/>
                          </a:solidFill>
                          <a:effectLst/>
                        </a:rPr>
                        <a:t>  HPT module </a:t>
                      </a:r>
                      <a:r>
                        <a:rPr lang="en-US" sz="1100" b="0" u="none" strike="noStrike" dirty="0">
                          <a:solidFill>
                            <a:schemeClr val="tx1"/>
                          </a:solidFill>
                          <a:effectLst/>
                          <a:sym typeface="Wingdings" panose="05000000000000000000" pitchFamily="2" charset="2"/>
                        </a:rPr>
                        <a:t> </a:t>
                      </a:r>
                      <a:r>
                        <a:rPr lang="en-US" sz="1100" b="0" u="none" strike="noStrike" dirty="0" err="1">
                          <a:solidFill>
                            <a:schemeClr val="tx1"/>
                          </a:solidFill>
                          <a:effectLst/>
                        </a:rPr>
                        <a:t>Tăng</a:t>
                      </a:r>
                      <a:r>
                        <a:rPr lang="en-US" sz="1100" b="0" u="none" strike="noStrike" dirty="0">
                          <a:solidFill>
                            <a:schemeClr val="tx1"/>
                          </a:solidFill>
                          <a:effectLst/>
                        </a:rPr>
                        <a:t> </a:t>
                      </a:r>
                      <a:r>
                        <a:rPr lang="en-US" sz="1100" b="0" u="none" strike="noStrike" dirty="0" err="1">
                          <a:solidFill>
                            <a:schemeClr val="tx1"/>
                          </a:solidFill>
                          <a:effectLst/>
                        </a:rPr>
                        <a:t>mức</a:t>
                      </a:r>
                      <a:r>
                        <a:rPr lang="en-US" sz="1100" b="0" u="none" strike="noStrike" dirty="0">
                          <a:solidFill>
                            <a:schemeClr val="tx1"/>
                          </a:solidFill>
                          <a:effectLst/>
                        </a:rPr>
                        <a:t> </a:t>
                      </a:r>
                      <a:r>
                        <a:rPr lang="en-US" sz="1100" b="0" u="none" strike="noStrike" dirty="0" err="1">
                          <a:solidFill>
                            <a:schemeClr val="tx1"/>
                          </a:solidFill>
                          <a:effectLst/>
                        </a:rPr>
                        <a:t>wsc</a:t>
                      </a:r>
                      <a:r>
                        <a:rPr lang="en-US" sz="1100" b="0" u="none" strike="noStrike" dirty="0">
                          <a:solidFill>
                            <a:schemeClr val="tx1"/>
                          </a:solidFill>
                          <a:effectLst/>
                        </a:rPr>
                        <a:t> </a:t>
                      </a:r>
                      <a:r>
                        <a:rPr lang="en-US" sz="1100" b="0" u="none" strike="noStrike" dirty="0" err="1">
                          <a:solidFill>
                            <a:schemeClr val="tx1"/>
                          </a:solidFill>
                          <a:effectLst/>
                        </a:rPr>
                        <a:t>cho</a:t>
                      </a:r>
                      <a:r>
                        <a:rPr lang="en-US" sz="1100" b="0" u="none" strike="noStrike" dirty="0">
                          <a:solidFill>
                            <a:schemeClr val="tx1"/>
                          </a:solidFill>
                          <a:effectLst/>
                        </a:rPr>
                        <a:t> 1 </a:t>
                      </a:r>
                      <a:r>
                        <a:rPr lang="en-US" sz="1100" b="0" u="none" strike="noStrike" dirty="0" err="1">
                          <a:solidFill>
                            <a:schemeClr val="tx1"/>
                          </a:solidFill>
                          <a:effectLst/>
                        </a:rPr>
                        <a:t>số</a:t>
                      </a:r>
                      <a:r>
                        <a:rPr lang="en-US" sz="1100" b="0" u="none" strike="noStrike" dirty="0">
                          <a:solidFill>
                            <a:schemeClr val="tx1"/>
                          </a:solidFill>
                          <a:effectLst/>
                        </a:rPr>
                        <a:t> module so </a:t>
                      </a:r>
                      <a:r>
                        <a:rPr lang="en-US" sz="1100" b="0" u="none" strike="noStrike" dirty="0" err="1">
                          <a:solidFill>
                            <a:schemeClr val="tx1"/>
                          </a:solidFill>
                          <a:effectLst/>
                        </a:rPr>
                        <a:t>với</a:t>
                      </a:r>
                      <a:r>
                        <a:rPr lang="en-US" sz="1100" b="0" u="none" strike="noStrike" dirty="0">
                          <a:solidFill>
                            <a:schemeClr val="tx1"/>
                          </a:solidFill>
                          <a:effectLst/>
                        </a:rPr>
                        <a:t> ban </a:t>
                      </a:r>
                      <a:r>
                        <a:rPr lang="en-US" sz="1100" b="0" u="none" strike="noStrike" dirty="0" err="1">
                          <a:solidFill>
                            <a:schemeClr val="tx1"/>
                          </a:solidFill>
                          <a:effectLst/>
                        </a:rPr>
                        <a:t>đầu</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871960572"/>
                  </a:ext>
                </a:extLst>
              </a:tr>
              <a:tr h="201965">
                <a:tc>
                  <a:txBody>
                    <a:bodyPr/>
                    <a:lstStyle/>
                    <a:p>
                      <a:pPr algn="ctr" rtl="0" fontAlgn="ctr"/>
                      <a:r>
                        <a:rPr lang="en-GB" sz="1100" b="0" u="none" strike="noStrike">
                          <a:solidFill>
                            <a:srgbClr val="000000"/>
                          </a:solidFill>
                          <a:effectLst/>
                        </a:rPr>
                        <a:t>P771373</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20/02/2025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08/09/2025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RTS</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fontAlgn="ctr"/>
                      <a:r>
                        <a:rPr lang="en-GB" sz="1100" b="0" u="none" strike="noStrike" dirty="0">
                          <a:solidFill>
                            <a:srgbClr val="000000"/>
                          </a:solidFill>
                          <a:effectLst/>
                        </a:rPr>
                        <a:t>Sau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endParaRPr lang="en-GB" sz="1100" b="0" i="0" u="none" strike="noStrike" dirty="0">
                        <a:solidFill>
                          <a:srgbClr val="000000"/>
                        </a:solidFill>
                        <a:effectLst/>
                        <a:latin typeface="Arial" panose="020B0604020202020204" pitchFamily="34" charset="0"/>
                      </a:endParaRPr>
                    </a:p>
                  </a:txBody>
                  <a:tcPr marL="5281" marR="5281" marT="5281" marB="0" anchor="ctr"/>
                </a:tc>
                <a:extLst>
                  <a:ext uri="{0D108BD9-81ED-4DB2-BD59-A6C34878D82A}">
                    <a16:rowId xmlns:a16="http://schemas.microsoft.com/office/drawing/2014/main" val="3042752024"/>
                  </a:ext>
                </a:extLst>
              </a:tr>
            </a:tbl>
          </a:graphicData>
        </a:graphic>
      </p:graphicFrame>
    </p:spTree>
    <p:extLst>
      <p:ext uri="{BB962C8B-B14F-4D97-AF65-F5344CB8AC3E}">
        <p14:creationId xmlns:p14="http://schemas.microsoft.com/office/powerpoint/2010/main" val="3968172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31</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31</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3"/>
          <a:ext cx="5787655" cy="4169691"/>
        </p:xfrm>
        <a:graphic>
          <a:graphicData uri="http://schemas.openxmlformats.org/drawingml/2006/table">
            <a:tbl>
              <a:tblPr firstRow="1" bandRow="1">
                <a:tableStyleId>{5C22544A-7EE6-4342-B048-85BDC9FD1C3A}</a:tableStyleId>
              </a:tblPr>
              <a:tblGrid>
                <a:gridCol w="914143">
                  <a:extLst>
                    <a:ext uri="{9D8B030D-6E8A-4147-A177-3AD203B41FA5}">
                      <a16:colId xmlns:a16="http://schemas.microsoft.com/office/drawing/2014/main" val="1930757539"/>
                    </a:ext>
                  </a:extLst>
                </a:gridCol>
                <a:gridCol w="806458">
                  <a:extLst>
                    <a:ext uri="{9D8B030D-6E8A-4147-A177-3AD203B41FA5}">
                      <a16:colId xmlns:a16="http://schemas.microsoft.com/office/drawing/2014/main" val="1674463010"/>
                    </a:ext>
                  </a:extLst>
                </a:gridCol>
                <a:gridCol w="680821">
                  <a:extLst>
                    <a:ext uri="{9D8B030D-6E8A-4147-A177-3AD203B41FA5}">
                      <a16:colId xmlns:a16="http://schemas.microsoft.com/office/drawing/2014/main" val="1549944897"/>
                    </a:ext>
                  </a:extLst>
                </a:gridCol>
                <a:gridCol w="1333472">
                  <a:extLst>
                    <a:ext uri="{9D8B030D-6E8A-4147-A177-3AD203B41FA5}">
                      <a16:colId xmlns:a16="http://schemas.microsoft.com/office/drawing/2014/main" val="3687717734"/>
                    </a:ext>
                  </a:extLst>
                </a:gridCol>
                <a:gridCol w="2052761">
                  <a:extLst>
                    <a:ext uri="{9D8B030D-6E8A-4147-A177-3AD203B41FA5}">
                      <a16:colId xmlns:a16="http://schemas.microsoft.com/office/drawing/2014/main" val="4100307886"/>
                    </a:ext>
                  </a:extLst>
                </a:gridCol>
              </a:tblGrid>
              <a:tr h="308955">
                <a:tc>
                  <a:txBody>
                    <a:bodyPr/>
                    <a:lstStyle/>
                    <a:p>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Kế</a:t>
                      </a:r>
                      <a:r>
                        <a:rPr lang="en-US" sz="1100" dirty="0"/>
                        <a:t> </a:t>
                      </a:r>
                      <a:r>
                        <a:rPr lang="en-US" sz="1100" dirty="0" err="1"/>
                        <a:t>hoạch</a:t>
                      </a:r>
                      <a:r>
                        <a:rPr lang="en-US" sz="1100" dirty="0"/>
                        <a:t> </a:t>
                      </a:r>
                      <a:r>
                        <a:rPr lang="en-US" sz="1100" dirty="0" err="1"/>
                        <a:t>sử</a:t>
                      </a:r>
                      <a:r>
                        <a:rPr lang="en-US" sz="1100" dirty="0"/>
                        <a:t> </a:t>
                      </a:r>
                      <a:r>
                        <a:rPr lang="en-US" sz="1100" dirty="0" err="1"/>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536606">
                <a:tc>
                  <a:txBody>
                    <a:bodyPr/>
                    <a:lstStyle/>
                    <a:p>
                      <a:pPr algn="ctr" fontAlgn="ctr"/>
                      <a:r>
                        <a:rPr lang="en-GB" sz="1100" b="0" u="none" strike="noStrike" dirty="0">
                          <a:solidFill>
                            <a:schemeClr val="tx1"/>
                          </a:solidFill>
                          <a:effectLst/>
                        </a:rPr>
                        <a:t>21201</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HAESL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110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a:solidFill>
                            <a:srgbClr val="FF0000"/>
                          </a:solidFill>
                          <a:effectLst/>
                        </a:rPr>
                        <a:t>29/05/2025</a:t>
                      </a:r>
                      <a:endParaRPr lang="en-GB" sz="1100" b="1" u="none" strike="noStrike" dirty="0">
                        <a:solidFill>
                          <a:srgbClr val="FF0000"/>
                        </a:solidFill>
                        <a:effectLst/>
                      </a:endParaRPr>
                    </a:p>
                    <a:p>
                      <a:pPr algn="ctr" fontAlgn="ctr"/>
                      <a:r>
                        <a:rPr lang="en-GB" sz="1100" b="0" i="0" u="none" strike="noStrike">
                          <a:solidFill>
                            <a:srgbClr val="FF0000"/>
                          </a:solidFill>
                          <a:effectLst/>
                          <a:latin typeface="Times New Roman" panose="02020603050405020304" pitchFamily="18" charset="0"/>
                        </a:rPr>
                        <a:t>Delay do vận chuyển</a:t>
                      </a:r>
                      <a:endParaRPr lang="en-GB" sz="1100" b="0" i="0" u="none" strike="noStrike" dirty="0">
                        <a:solidFill>
                          <a:srgbClr val="FF0000"/>
                        </a:solidFill>
                        <a:effectLst/>
                        <a:latin typeface="Times New Roman" panose="02020603050405020304" pitchFamily="18" charset="0"/>
                      </a:endParaRPr>
                    </a:p>
                  </a:txBody>
                  <a:tcPr marL="0" marR="0" marT="0" marB="0" anchor="ctr"/>
                </a:tc>
                <a:tc>
                  <a:txBody>
                    <a:bodyPr/>
                    <a:lstStyle/>
                    <a:p>
                      <a:r>
                        <a:rPr lang="en-US" sz="1100" b="0">
                          <a:solidFill>
                            <a:schemeClr val="tx1"/>
                          </a:solidFill>
                        </a:rPr>
                        <a:t>A893#2 (thay đ/c high oil consumption) &gt; Lắp động c</a:t>
                      </a:r>
                      <a:r>
                        <a:rPr lang="vi-VN" sz="1100" b="0">
                          <a:solidFill>
                            <a:schemeClr val="tx1"/>
                          </a:solidFill>
                        </a:rPr>
                        <a:t>ơ</a:t>
                      </a:r>
                      <a:r>
                        <a:rPr lang="en-US" sz="1100" b="0">
                          <a:solidFill>
                            <a:schemeClr val="tx1"/>
                          </a:solidFill>
                        </a:rPr>
                        <a:t> HOC cho A887#2. </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357737">
                <a:tc>
                  <a:txBody>
                    <a:bodyPr/>
                    <a:lstStyle/>
                    <a:p>
                      <a:pPr algn="ctr" fontAlgn="ctr"/>
                      <a:r>
                        <a:rPr lang="en-GB" sz="1100" b="0" u="none" strike="noStrike" dirty="0">
                          <a:solidFill>
                            <a:schemeClr val="tx1"/>
                          </a:solidFill>
                          <a:effectLst/>
                        </a:rPr>
                        <a:t>21584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SAESL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16/06/2025</a:t>
                      </a:r>
                    </a:p>
                    <a:p>
                      <a:pPr algn="ctr" fontAlgn="ctr"/>
                      <a:r>
                        <a:rPr lang="en-GB" sz="1100" b="0" u="none" strike="noStrike" dirty="0">
                          <a:solidFill>
                            <a:schemeClr val="tx1"/>
                          </a:solidFill>
                          <a:effectLst/>
                        </a:rPr>
                        <a:t>(+15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A886#1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308955">
                <a:tc>
                  <a:txBody>
                    <a:bodyPr/>
                    <a:lstStyle/>
                    <a:p>
                      <a:pPr algn="ctr" fontAlgn="ctr"/>
                      <a:r>
                        <a:rPr lang="en-GB" sz="1100" b="0" u="none" strike="noStrike">
                          <a:solidFill>
                            <a:schemeClr val="tx1"/>
                          </a:solidFill>
                          <a:effectLst/>
                        </a:rPr>
                        <a:t>21040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HAESL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17/06/2025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rPr>
                        <a:t>A9886#2 </a:t>
                      </a:r>
                      <a:r>
                        <a:rPr lang="en-US" sz="1100" b="0" dirty="0">
                          <a:solidFill>
                            <a:schemeClr val="tx1"/>
                          </a:solidFill>
                        </a:rPr>
                        <a:t>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308955">
                <a:tc>
                  <a:txBody>
                    <a:bodyPr/>
                    <a:lstStyle/>
                    <a:p>
                      <a:pPr algn="ctr" fontAlgn="ctr"/>
                      <a:r>
                        <a:rPr lang="en-GB" sz="1100" b="0" u="none" strike="noStrike">
                          <a:solidFill>
                            <a:schemeClr val="tx1"/>
                          </a:solidFill>
                          <a:effectLst/>
                        </a:rPr>
                        <a:t>21136</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75</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05/07/2025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rPr>
                        <a:t>A890#2 21418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357737">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228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23/07/2025</a:t>
                      </a:r>
                    </a:p>
                    <a:p>
                      <a:pPr algn="ctr" fontAlgn="ctr"/>
                      <a:r>
                        <a:rPr lang="en-GB" sz="1100" b="0" u="none" strike="noStrike" dirty="0">
                          <a:solidFill>
                            <a:schemeClr val="tx1"/>
                          </a:solidFill>
                          <a:effectLst/>
                        </a:rPr>
                        <a:t>+42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A895#1 RTS</a:t>
                      </a:r>
                      <a:endParaRPr lang="en-US" sz="1100" b="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r h="308955">
                <a:tc>
                  <a:txBody>
                    <a:bodyPr/>
                    <a:lstStyle/>
                    <a:p>
                      <a:pPr algn="ctr" fontAlgn="ctr"/>
                      <a:r>
                        <a:rPr lang="en-GB" sz="1100" b="0" u="none" strike="noStrike">
                          <a:solidFill>
                            <a:schemeClr val="tx1"/>
                          </a:solidFill>
                          <a:effectLst/>
                        </a:rPr>
                        <a:t>21414</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27/07/2025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A895#2 RTS</a:t>
                      </a:r>
                      <a:endParaRPr lang="en-US" sz="1100" b="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357737">
                <a:tc>
                  <a:txBody>
                    <a:bodyPr/>
                    <a:lstStyle/>
                    <a:p>
                      <a:pPr algn="ctr" fontAlgn="ctr"/>
                      <a:r>
                        <a:rPr lang="en-GB" sz="1100" b="0" u="none" strike="noStrike">
                          <a:solidFill>
                            <a:schemeClr val="tx1"/>
                          </a:solidFill>
                          <a:effectLst/>
                        </a:rPr>
                        <a:t>21137</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N3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207</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29/07/2025</a:t>
                      </a:r>
                    </a:p>
                    <a:p>
                      <a:pPr algn="ctr" fontAlgn="ctr"/>
                      <a:r>
                        <a:rPr lang="en-GB" sz="1100" b="0" u="none" strike="noStrike" dirty="0">
                          <a:solidFill>
                            <a:schemeClr val="tx1"/>
                          </a:solidFill>
                          <a:effectLst/>
                        </a:rPr>
                        <a:t>+28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A898#2 21268 LPT Expire</a:t>
                      </a:r>
                      <a:endParaRPr lang="en-US" sz="1100" b="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r h="308955">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08/08/2025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A894#2 21346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45775366"/>
                  </a:ext>
                </a:extLst>
              </a:tr>
              <a:tr h="308955">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430177177"/>
                  </a:ext>
                </a:extLst>
              </a:tr>
              <a:tr h="308955">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287308911"/>
                  </a:ext>
                </a:extLst>
              </a:tr>
              <a:tr h="308955">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A887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10/04/2026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343947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chờ</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sửa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391124" y="3613759"/>
            <a:ext cx="5167083"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269613" y="5562355"/>
          <a:ext cx="5765457" cy="115824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Trống</a:t>
                      </a:r>
                      <a:r>
                        <a:rPr lang="en-GB" sz="1100" dirty="0">
                          <a:latin typeface="Times New Roman" panose="02020603050405020304" pitchFamily="18" charset="0"/>
                          <a:cs typeface="Times New Roman" panose="02020603050405020304" pitchFamily="18" charset="0"/>
                        </a:rPr>
                        <a:t> 2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100">
                          <a:latin typeface="Times New Roman" panose="02020603050405020304" pitchFamily="18" charset="0"/>
                          <a:cs typeface="Times New Roman" panose="02020603050405020304" pitchFamily="18" charset="0"/>
                        </a:rPr>
                        <a:t>A887</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1 động c</a:t>
                      </a:r>
                      <a:r>
                        <a:rPr lang="vi-VN" sz="1100">
                          <a:latin typeface="Times New Roman" panose="02020603050405020304" pitchFamily="18" charset="0"/>
                          <a:cs typeface="Times New Roman" panose="02020603050405020304" pitchFamily="18" charset="0"/>
                        </a:rPr>
                        <a:t>ơ</a:t>
                      </a:r>
                      <a:r>
                        <a:rPr lang="en-US" sz="1100">
                          <a:latin typeface="Times New Roman" panose="02020603050405020304" pitchFamily="18" charset="0"/>
                          <a:cs typeface="Times New Roman" panose="02020603050405020304" pitchFamily="18" charset="0"/>
                        </a:rPr>
                        <a:t> mới lắp; </a:t>
                      </a:r>
                      <a:r>
                        <a:rPr lang="en-US" sz="1100" dirty="0">
                          <a:latin typeface="Times New Roman" panose="02020603050405020304" pitchFamily="18" charset="0"/>
                          <a:cs typeface="Times New Roman" panose="02020603050405020304" pitchFamily="18" charset="0"/>
                        </a:rPr>
                        <a:t>1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hạn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kiểm</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tra</a:t>
                      </a:r>
                      <a:r>
                        <a:rPr lang="en-US" sz="1100" dirty="0">
                          <a:latin typeface="Times New Roman" panose="02020603050405020304" pitchFamily="18" charset="0"/>
                          <a:cs typeface="Times New Roman" panose="02020603050405020304" pitchFamily="18" charset="0"/>
                        </a:rPr>
                        <a:t> LPT</a:t>
                      </a:r>
                    </a:p>
                  </a:txBody>
                  <a:tcPr marL="121920" marR="121920" marT="60960" marB="60960" anchor="ctr"/>
                </a:tc>
                <a:extLst>
                  <a:ext uri="{0D108BD9-81ED-4DB2-BD59-A6C34878D82A}">
                    <a16:rowId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286909" y="5146857"/>
            <a:ext cx="6705299" cy="369332"/>
          </a:xfrm>
          <a:prstGeom prst="rect">
            <a:avLst/>
          </a:prstGeom>
          <a:noFill/>
        </p:spPr>
        <p:txBody>
          <a:bodyPr wrap="square" rtlCol="0">
            <a:spAutoFit/>
          </a:bodyPr>
          <a:lstStyle/>
          <a:p>
            <a:pPr algn="ctr" defTabSz="1219170">
              <a:defRPr/>
            </a:pPr>
            <a:r>
              <a:rPr lang="en-US" b="1" dirty="0">
                <a:solidFill>
                  <a:srgbClr val="002060"/>
                </a:solidFill>
                <a:latin typeface="Times New Roman" panose="02020603050405020304" pitchFamily="18" charset="0"/>
                <a:cs typeface="Times New Roman" panose="02020603050405020304" pitchFamily="18" charset="0"/>
              </a:rPr>
              <a:t>Các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AOG </a:t>
            </a:r>
            <a:r>
              <a:rPr lang="en-US" b="1">
                <a:solidFill>
                  <a:srgbClr val="002060"/>
                </a:solidFill>
                <a:latin typeface="Times New Roman" panose="02020603050405020304" pitchFamily="18" charset="0"/>
                <a:cs typeface="Times New Roman" panose="02020603050405020304" pitchFamily="18" charset="0"/>
              </a:rPr>
              <a:t>(03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4075424"/>
          <a:ext cx="5909514" cy="266699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3027304"/>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3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đang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thêm</a:t>
            </a:r>
            <a:r>
              <a:rPr lang="en-US" sz="1467" dirty="0">
                <a:solidFill>
                  <a:schemeClr val="tx1"/>
                </a:solidFill>
                <a:latin typeface="Times New Roman" panose="02020603050405020304" pitchFamily="18" charset="0"/>
                <a:cs typeface="Times New Roman" panose="02020603050405020304" pitchFamily="18" charset="0"/>
              </a:rPr>
              <a:t> 5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trong T5 – </a:t>
            </a:r>
            <a:r>
              <a:rPr lang="en-US" sz="1467">
                <a:solidFill>
                  <a:schemeClr val="tx1"/>
                </a:solidFill>
                <a:latin typeface="Times New Roman" panose="02020603050405020304" pitchFamily="18" charset="0"/>
                <a:cs typeface="Times New Roman" panose="02020603050405020304" pitchFamily="18" charset="0"/>
              </a:rPr>
              <a:t>T7 (21201, 21584</a:t>
            </a:r>
            <a:r>
              <a:rPr lang="en-US" sz="1467" dirty="0">
                <a:solidFill>
                  <a:schemeClr val="tx1"/>
                </a:solidFill>
                <a:latin typeface="Times New Roman" panose="02020603050405020304" pitchFamily="18" charset="0"/>
                <a:cs typeface="Times New Roman" panose="02020603050405020304" pitchFamily="18" charset="0"/>
              </a:rPr>
              <a:t>, 21040, 21136, 21137),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bị</a:t>
            </a:r>
            <a:r>
              <a:rPr lang="en-US" sz="1467" dirty="0">
                <a:solidFill>
                  <a:schemeClr val="tx1"/>
                </a:solidFill>
                <a:latin typeface="Times New Roman" panose="02020603050405020304" pitchFamily="18" charset="0"/>
                <a:cs typeface="Times New Roman" panose="02020603050405020304" pitchFamily="18" charset="0"/>
              </a:rPr>
              <a:t> extend TAT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T4-T5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5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bị</a:t>
            </a:r>
            <a:r>
              <a:rPr lang="en-US" sz="1467" dirty="0">
                <a:solidFill>
                  <a:schemeClr val="tx1"/>
                </a:solidFill>
                <a:latin typeface="Times New Roman" panose="02020603050405020304" pitchFamily="18" charset="0"/>
                <a:cs typeface="Times New Roman" panose="02020603050405020304" pitchFamily="18" charset="0"/>
              </a:rPr>
              <a:t> delay. </a:t>
            </a:r>
          </a:p>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p>
          <a:p>
            <a:pPr marL="742950" lvl="1" indent="-285750" defTabSz="1219170">
              <a:buFont typeface="Arial" panose="020B0604020202020204" pitchFamily="34" charset="0"/>
              <a:buChar char="•"/>
              <a:defRPr/>
            </a:pP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(A889#1 21088 100FC); </a:t>
            </a:r>
          </a:p>
          <a:p>
            <a:pPr marL="742950" lvl="1" indent="-285750" defTabSz="1219170">
              <a:buFont typeface="Arial" panose="020B0604020202020204" pitchFamily="34" charset="0"/>
              <a:buChar char="•"/>
              <a:defRPr/>
            </a:pPr>
            <a:r>
              <a:rPr lang="en-US" sz="1467" dirty="0">
                <a:solidFill>
                  <a:schemeClr val="tx1"/>
                </a:solidFill>
                <a:latin typeface="Times New Roman" panose="02020603050405020304" pitchFamily="18" charset="0"/>
                <a:cs typeface="Times New Roman" panose="02020603050405020304" pitchFamily="18" charset="0"/>
              </a:rPr>
              <a:t>Crack IPC (A898#2 21268 100FC, A889#1 21088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2300FC trong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p>
          <a:p>
            <a:pPr marL="742950" lvl="1" indent="-285750" defTabSz="1219170">
              <a:buFont typeface="Arial" panose="020B0604020202020204" pitchFamily="34" charset="0"/>
              <a:buChar char="•"/>
              <a:defRPr/>
            </a:pPr>
            <a:r>
              <a:rPr lang="en-US" sz="1467" dirty="0">
                <a:solidFill>
                  <a:schemeClr val="tx1"/>
                </a:solidFill>
                <a:latin typeface="Times New Roman" panose="02020603050405020304" pitchFamily="18" charset="0"/>
                <a:cs typeface="Times New Roman" panose="02020603050405020304" pitchFamily="18" charset="0"/>
              </a:rPr>
              <a:t>Oil leak (A893#2 21369); Oil Hiding (A889#2 21034, A888#1 21052)</a:t>
            </a:r>
          </a:p>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liên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quan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đến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giữ</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giờ</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a:solidFill>
                  <a:schemeClr val="tx1"/>
                </a:solidFill>
                <a:latin typeface="Times New Roman" panose="02020603050405020304" pitchFamily="18" charset="0"/>
                <a:cs typeface="Times New Roman" panose="02020603050405020304" pitchFamily="18" charset="0"/>
              </a:rPr>
              <a:t>A894#2 21346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10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A890#2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30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không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đổi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phương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án</a:t>
            </a:r>
            <a:r>
              <a:rPr lang="en-US" sz="1467" dirty="0">
                <a:solidFill>
                  <a:schemeClr val="tx1"/>
                </a:solidFill>
                <a:latin typeface="Times New Roman" panose="02020603050405020304" pitchFamily="18" charset="0"/>
                <a:cs typeface="Times New Roman" panose="02020603050405020304" pitchFamily="18" charset="0"/>
              </a:rPr>
              <a:t>.</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840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32</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85569"/>
          <a:ext cx="6207275" cy="2267231"/>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455001">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11-12/07/2025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02-03/07/2025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15-16/07/2025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137730"/>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49952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5" y="3956340"/>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5799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25/06/2025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800" y="3935919"/>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9" y="3499526"/>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04451" y="5783712"/>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a:t>
            </a:r>
            <a:r>
              <a:rPr lang="en-US" sz="1600">
                <a:solidFill>
                  <a:schemeClr val="tx1"/>
                </a:solidFill>
                <a:latin typeface="Times New Roman" panose="02020603050405020304" pitchFamily="18" charset="0"/>
                <a:cs typeface="Times New Roman" panose="02020603050405020304" pitchFamily="18" charset="0"/>
              </a:rPr>
              <a:t>. </a:t>
            </a:r>
          </a:p>
          <a:p>
            <a:pPr marL="380990" indent="-380990" defTabSz="1219170">
              <a:lnSpc>
                <a:spcPct val="125000"/>
              </a:lnSpc>
              <a:buFont typeface="Arial" panose="020B0604020202020204" pitchFamily="34" charset="0"/>
              <a:buChar char="•"/>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endParaRPr lang="en-US" sz="1600">
              <a:solidFill>
                <a:schemeClr val="tx1"/>
              </a:solidFill>
              <a:latin typeface="Times New Roman" panose="02020603050405020304" pitchFamily="18" charset="0"/>
              <a:cs typeface="Times New Roman" panose="02020603050405020304" pitchFamily="18" charset="0"/>
            </a:endParaRP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Ban ĐTMS đang triển khai thủ tục gia hạn cho K6 thuê tàu B220 từ T7/2025 đến T11/2025.</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105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3784811"/>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06563">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A332</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19-Jul-25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A613</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A895</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4394409"/>
            <a:ext cx="11567481" cy="1754326"/>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a:t>
            </a:r>
          </a:p>
          <a:p>
            <a:pPr marL="152385" defTabSz="1219170">
              <a:defRPr/>
            </a:pP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Đối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với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03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 Shop Lufthansa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báo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P-00194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sẽ</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hoàn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thiện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vào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16/06,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A350 BQDB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phương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581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19/05/2025 – 25/05/2025: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A323, A606.</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A621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Air Intake Actuator).</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02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A323, A606.</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extLst/>
          </p:nvPr>
        </p:nvGraphicFramePr>
        <p:xfrm>
          <a:off x="61186" y="1787549"/>
          <a:ext cx="12054615" cy="484185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32093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A323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24/05.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downtime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16/06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HĐ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đàm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BAD SMELL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24/05.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downtime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427382"/>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344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35</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47649" y="914400"/>
            <a:ext cx="11068012" cy="67056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a:solidFill>
                  <a:srgbClr val="FF0000"/>
                </a:solidFill>
                <a:cs typeface="Times New Roman" panose="02020603050405020304" pitchFamily="18" charset="0"/>
                <a:sym typeface="Wingdings" panose="05000000000000000000" pitchFamily="2" charset="2"/>
              </a:rPr>
              <a:t>    1. </a:t>
            </a:r>
            <a:r>
              <a:rPr lang="en-US" sz="1500" b="1" dirty="0" smtClean="0">
                <a:solidFill>
                  <a:srgbClr val="FF0000"/>
                </a:solidFill>
                <a:cs typeface="Times New Roman" panose="02020603050405020304" pitchFamily="18" charset="0"/>
                <a:sym typeface="Wingdings" panose="05000000000000000000" pitchFamily="2" charset="2"/>
              </a:rPr>
              <a:t>A625_ </a:t>
            </a:r>
            <a:r>
              <a:rPr lang="en-US" sz="1500" b="1" dirty="0">
                <a:solidFill>
                  <a:srgbClr val="FF0000"/>
                </a:solidFill>
                <a:cs typeface="Times New Roman" panose="02020603050405020304" pitchFamily="18" charset="0"/>
                <a:sym typeface="Wingdings" panose="05000000000000000000" pitchFamily="2" charset="2"/>
              </a:rPr>
              <a:t>INSTALL </a:t>
            </a:r>
            <a:r>
              <a:rPr lang="en-US" sz="1500" b="1" dirty="0" smtClean="0">
                <a:solidFill>
                  <a:srgbClr val="FF0000"/>
                </a:solidFill>
                <a:cs typeface="Times New Roman" panose="02020603050405020304" pitchFamily="18" charset="0"/>
                <a:sym typeface="Wingdings" panose="05000000000000000000" pitchFamily="2" charset="2"/>
              </a:rPr>
              <a:t>ENG1,2+EA04-EA05+RTS_19/05-28/05</a:t>
            </a:r>
            <a:r>
              <a:rPr lang="en-US" sz="1500" b="1" dirty="0">
                <a:solidFill>
                  <a:srgbClr val="FF0000"/>
                </a:solidFill>
                <a:cs typeface="Times New Roman" panose="02020603050405020304" pitchFamily="18" charset="0"/>
                <a:sym typeface="Wingdings" panose="05000000000000000000" pitchFamily="2" charset="2"/>
              </a:rPr>
              <a:t>, ADJ </a:t>
            </a:r>
            <a:r>
              <a:rPr lang="en-US" sz="1500" b="1" dirty="0" smtClean="0">
                <a:solidFill>
                  <a:srgbClr val="FF0000"/>
                </a:solidFill>
                <a:cs typeface="Times New Roman" panose="02020603050405020304" pitchFamily="18" charset="0"/>
                <a:sym typeface="Wingdings" panose="05000000000000000000" pitchFamily="2" charset="2"/>
              </a:rPr>
              <a:t>02/06: Est 31/5</a:t>
            </a:r>
          </a:p>
          <a:p>
            <a:pPr marL="12700" indent="0" algn="just">
              <a:lnSpc>
                <a:spcPct val="100000"/>
              </a:lnSpc>
              <a:spcBef>
                <a:spcPts val="600"/>
              </a:spcBef>
              <a:buSzPts val="1100"/>
              <a:buNone/>
            </a:pPr>
            <a:r>
              <a:rPr lang="es-ES" sz="1500" dirty="0" smtClean="0">
                <a:cs typeface="Times New Roman" panose="02020603050405020304" pitchFamily="18" charset="0"/>
                <a:sym typeface="Wingdings" panose="05000000000000000000" pitchFamily="2" charset="2"/>
              </a:rPr>
              <a:t>    - </a:t>
            </a:r>
            <a:r>
              <a:rPr lang="en-US" sz="1500" dirty="0" smtClean="0">
                <a:cs typeface="Times New Roman" panose="02020603050405020304" pitchFamily="18" charset="0"/>
                <a:sym typeface="Wingdings" panose="05000000000000000000" pitchFamily="2" charset="2"/>
              </a:rPr>
              <a:t>ENG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avail 26/5, </a:t>
            </a:r>
            <a:r>
              <a:rPr lang="en-US" sz="1500" dirty="0" err="1" smtClean="0">
                <a:cs typeface="Times New Roman" panose="02020603050405020304" pitchFamily="18" charset="0"/>
                <a:sym typeface="Wingdings" panose="05000000000000000000" pitchFamily="2" charset="2"/>
              </a:rPr>
              <a:t>sớm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hơn</a:t>
            </a:r>
            <a:r>
              <a:rPr lang="en-US" sz="1500" dirty="0" smtClean="0">
                <a:cs typeface="Times New Roman" panose="02020603050405020304" pitchFamily="18" charset="0"/>
                <a:sym typeface="Wingdings" panose="05000000000000000000" pitchFamily="2" charset="2"/>
              </a:rPr>
              <a:t> 2 </a:t>
            </a:r>
            <a:r>
              <a:rPr lang="en-US" sz="1500" dirty="0" err="1" smtClean="0">
                <a:cs typeface="Times New Roman" panose="02020603050405020304" pitchFamily="18" charset="0"/>
                <a:sym typeface="Wingdings" panose="05000000000000000000" pitchFamily="2" charset="2"/>
              </a:rPr>
              <a:t>ngày</a:t>
            </a:r>
            <a:r>
              <a:rPr lang="en-US" sz="1500" dirty="0" smtClean="0">
                <a:cs typeface="Times New Roman" panose="02020603050405020304" pitchFamily="18" charset="0"/>
                <a:sym typeface="Wingdings" panose="05000000000000000000" pitchFamily="2" charset="2"/>
              </a:rPr>
              <a:t> so </a:t>
            </a:r>
            <a:r>
              <a:rPr lang="en-US" sz="1500" dirty="0" err="1" smtClean="0">
                <a:cs typeface="Times New Roman" panose="02020603050405020304" pitchFamily="18" charset="0"/>
                <a:sym typeface="Wingdings" panose="05000000000000000000" pitchFamily="2" charset="2"/>
              </a:rPr>
              <a:t>với</a:t>
            </a:r>
            <a:r>
              <a:rPr lang="en-US" sz="1500" dirty="0" smtClean="0">
                <a:cs typeface="Times New Roman" panose="02020603050405020304" pitchFamily="18" charset="0"/>
                <a:sym typeface="Wingdings" panose="05000000000000000000" pitchFamily="2" charset="2"/>
              </a:rPr>
              <a:t> KH = &gt;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thê</a:t>
            </a:r>
            <a:r>
              <a:rPr lang="en-US" sz="1500" dirty="0" smtClean="0">
                <a:cs typeface="Times New Roman" panose="02020603050405020304" pitchFamily="18" charset="0"/>
                <a:sym typeface="Wingdings" panose="05000000000000000000" pitchFamily="2" charset="2"/>
              </a:rPr>
              <a:t>̉ release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vào</a:t>
            </a:r>
            <a:r>
              <a:rPr lang="en-US" sz="1500" dirty="0" smtClean="0">
                <a:cs typeface="Times New Roman" panose="02020603050405020304" pitchFamily="18" charset="0"/>
                <a:sym typeface="Wingdings" panose="05000000000000000000" pitchFamily="2" charset="2"/>
              </a:rPr>
              <a:t> 31/5, </a:t>
            </a:r>
            <a:r>
              <a:rPr lang="en-US" sz="1500" dirty="0" err="1" smtClean="0">
                <a:cs typeface="Times New Roman" panose="02020603050405020304" pitchFamily="18" charset="0"/>
                <a:sym typeface="Wingdings" panose="05000000000000000000" pitchFamily="2" charset="2"/>
              </a:rPr>
              <a:t>hạn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ảnh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hưởng</a:t>
            </a:r>
            <a:r>
              <a:rPr lang="en-US" sz="1500" dirty="0" smtClean="0">
                <a:cs typeface="Times New Roman" panose="02020603050405020304" pitchFamily="18" charset="0"/>
                <a:sym typeface="Wingdings" panose="05000000000000000000" pitchFamily="2" charset="2"/>
              </a:rPr>
              <a:t> do ENG A392 </a:t>
            </a:r>
            <a:r>
              <a:rPr lang="en-US" sz="1500" dirty="0" err="1" smtClean="0">
                <a:cs typeface="Times New Roman" panose="02020603050405020304" pitchFamily="18" charset="0"/>
                <a:sym typeface="Wingdings" panose="05000000000000000000" pitchFamily="2" charset="2"/>
              </a:rPr>
              <a:t>vê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muộn</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bay </a:t>
            </a:r>
            <a:r>
              <a:rPr lang="en-US" sz="1500" dirty="0" err="1" smtClean="0">
                <a:cs typeface="Times New Roman" panose="02020603050405020304" pitchFamily="18" charset="0"/>
                <a:sym typeface="Wingdings" panose="05000000000000000000" pitchFamily="2" charset="2"/>
              </a:rPr>
              <a:t>thư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sau</a:t>
            </a:r>
            <a:r>
              <a:rPr lang="en-US" sz="1500" dirty="0" smtClean="0">
                <a:cs typeface="Times New Roman" panose="02020603050405020304" pitchFamily="18" charset="0"/>
                <a:sym typeface="Wingdings" panose="05000000000000000000" pitchFamily="2" charset="2"/>
              </a:rPr>
              <a:t> Check do </a:t>
            </a:r>
            <a:r>
              <a:rPr lang="en-US" sz="1500" dirty="0" err="1" smtClean="0">
                <a:cs typeface="Times New Roman" panose="02020603050405020304" pitchFamily="18" charset="0"/>
                <a:sym typeface="Wingdings" panose="05000000000000000000" pitchFamily="2" charset="2"/>
              </a:rPr>
              <a:t>thay</a:t>
            </a:r>
            <a:r>
              <a:rPr lang="en-US" sz="1500" dirty="0" smtClean="0">
                <a:cs typeface="Times New Roman" panose="02020603050405020304" pitchFamily="18" charset="0"/>
                <a:sym typeface="Wingdings" panose="05000000000000000000" pitchFamily="2" charset="2"/>
              </a:rPr>
              <a:t> 02 ENG.</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MPL </a:t>
            </a:r>
            <a:r>
              <a:rPr lang="en-US" sz="1500" dirty="0" err="1" smtClean="0">
                <a:cs typeface="Times New Roman" panose="02020603050405020304" pitchFamily="18" charset="0"/>
                <a:sym typeface="Wingdings" panose="05000000000000000000" pitchFamily="2" charset="2"/>
              </a:rPr>
              <a:t>còn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thiếu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Rob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A508.</a:t>
            </a:r>
          </a:p>
          <a:p>
            <a:pPr marL="12700" indent="0" algn="just">
              <a:lnSpc>
                <a:spcPct val="100000"/>
              </a:lnSpc>
              <a:spcBef>
                <a:spcPts val="600"/>
              </a:spcBef>
              <a:buSzPts val="1100"/>
              <a:buNone/>
            </a:pPr>
            <a:r>
              <a:rPr lang="es-ES" sz="1500" b="1" dirty="0" smtClean="0">
                <a:solidFill>
                  <a:srgbClr val="FF0000"/>
                </a:solidFill>
                <a:cs typeface="Times New Roman" panose="02020603050405020304" pitchFamily="18" charset="0"/>
                <a:sym typeface="Wingdings" panose="05000000000000000000" pitchFamily="2" charset="2"/>
              </a:rPr>
              <a:t>    2. </a:t>
            </a:r>
            <a:r>
              <a:rPr lang="en-US" sz="1500" b="1" dirty="0" smtClean="0">
                <a:solidFill>
                  <a:srgbClr val="FF0000"/>
                </a:solidFill>
                <a:cs typeface="Times New Roman" panose="02020603050405020304" pitchFamily="18" charset="0"/>
                <a:sym typeface="Wingdings" panose="05000000000000000000" pitchFamily="2" charset="2"/>
              </a:rPr>
              <a:t>A358_SGN_PAINTING_21/5-01/6: On sked</a:t>
            </a:r>
          </a:p>
          <a:p>
            <a:pPr marL="12700" indent="0">
              <a:lnSpc>
                <a:spcPct val="120000"/>
              </a:lnSpc>
              <a:buSzPts val="1100"/>
              <a:buNone/>
            </a:pPr>
            <a:r>
              <a:rPr lang="en-US" sz="1500" b="1" dirty="0">
                <a:cs typeface="Times New Roman" panose="02020603050405020304" pitchFamily="18" charset="0"/>
              </a:rPr>
              <a:t>II. A350:</a:t>
            </a:r>
            <a:r>
              <a:rPr lang="es-ES" sz="1500" i="1" dirty="0">
                <a:cs typeface="Times New Roman" panose="02020603050405020304" pitchFamily="18" charset="0"/>
                <a:sym typeface="Wingdings" panose="05000000000000000000" pitchFamily="2" charset="2"/>
              </a:rPr>
              <a:t> </a:t>
            </a:r>
          </a:p>
          <a:p>
            <a:pPr marL="12700" indent="0" algn="just">
              <a:buSzPts val="1100"/>
              <a:buNone/>
            </a:pPr>
            <a:r>
              <a:rPr lang="en-US" sz="1500" b="1" dirty="0">
                <a:solidFill>
                  <a:srgbClr val="FF0000"/>
                </a:solidFill>
                <a:cs typeface="Times New Roman" panose="02020603050405020304" pitchFamily="18" charset="0"/>
                <a:sym typeface="Wingdings" panose="05000000000000000000" pitchFamily="2" charset="2"/>
              </a:rPr>
              <a:t>1. A899_HAN_ Y06, Y03, C01, A01,  A12_06-28/05: Est 27/05</a:t>
            </a:r>
          </a:p>
          <a:p>
            <a:pPr marL="12700" indent="0" algn="just">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a:cs typeface="Times New Roman" panose="02020603050405020304" pitchFamily="18" charset="0"/>
                <a:sym typeface="Wingdings" panose="05000000000000000000" pitchFamily="2" charset="2"/>
              </a:rPr>
              <a:t>Tàu</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dư</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kiến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được</a:t>
            </a:r>
            <a:r>
              <a:rPr lang="en-US" sz="1500" dirty="0">
                <a:cs typeface="Times New Roman" panose="02020603050405020304" pitchFamily="18" charset="0"/>
                <a:sym typeface="Wingdings" panose="05000000000000000000" pitchFamily="2" charset="2"/>
              </a:rPr>
              <a:t> release </a:t>
            </a:r>
            <a:r>
              <a:rPr lang="en-US" sz="1500" dirty="0" err="1" smtClean="0">
                <a:cs typeface="Times New Roman" panose="02020603050405020304" pitchFamily="18" charset="0"/>
                <a:sym typeface="Wingdings" panose="05000000000000000000" pitchFamily="2" charset="2"/>
              </a:rPr>
              <a:t>sớm</a:t>
            </a:r>
            <a:r>
              <a:rPr lang="en-US" sz="1500" dirty="0" smtClean="0">
                <a:cs typeface="Times New Roman" panose="02020603050405020304" pitchFamily="18" charset="0"/>
                <a:sym typeface="Wingdings" panose="05000000000000000000" pitchFamily="2" charset="2"/>
              </a:rPr>
              <a:t> 1 </a:t>
            </a:r>
            <a:r>
              <a:rPr lang="en-US" sz="1500" dirty="0" err="1">
                <a:cs typeface="Times New Roman" panose="02020603050405020304" pitchFamily="18" charset="0"/>
                <a:sym typeface="Wingdings" panose="05000000000000000000" pitchFamily="2" charset="2"/>
              </a:rPr>
              <a:t>ngày</a:t>
            </a:r>
            <a:r>
              <a:rPr lang="en-US" sz="1500" dirty="0">
                <a:cs typeface="Times New Roman" panose="02020603050405020304" pitchFamily="18" charset="0"/>
                <a:sym typeface="Wingdings" panose="05000000000000000000" pitchFamily="2" charset="2"/>
              </a:rPr>
              <a:t> so </a:t>
            </a:r>
            <a:r>
              <a:rPr lang="en-US" sz="1500" dirty="0" err="1">
                <a:cs typeface="Times New Roman" panose="02020603050405020304" pitchFamily="18" charset="0"/>
                <a:sym typeface="Wingdings" panose="05000000000000000000" pitchFamily="2" charset="2"/>
              </a:rPr>
              <a:t>với</a:t>
            </a:r>
            <a:r>
              <a:rPr lang="en-US" sz="1500" dirty="0">
                <a:cs typeface="Times New Roman" panose="02020603050405020304" pitchFamily="18" charset="0"/>
                <a:sym typeface="Wingdings" panose="05000000000000000000" pitchFamily="2" charset="2"/>
              </a:rPr>
              <a:t> KH.</a:t>
            </a:r>
          </a:p>
          <a:p>
            <a:pPr marL="12700" indent="0" algn="just">
              <a:buSzPts val="1100"/>
              <a:buNone/>
            </a:pPr>
            <a:r>
              <a:rPr lang="es-ES" sz="1500" b="1" dirty="0">
                <a:cs typeface="Times New Roman" panose="02020603050405020304" pitchFamily="18" charset="0"/>
                <a:sym typeface="Wingdings" panose="05000000000000000000" pitchFamily="2" charset="2"/>
              </a:rPr>
              <a:t>  </a:t>
            </a:r>
            <a:r>
              <a:rPr lang="es-ES" sz="1500" b="1" dirty="0" smtClean="0">
                <a:cs typeface="Times New Roman" panose="02020603050405020304" pitchFamily="18" charset="0"/>
                <a:sym typeface="Wingdings" panose="05000000000000000000" pitchFamily="2" charset="2"/>
              </a:rPr>
              <a:t>   </a:t>
            </a:r>
            <a:r>
              <a:rPr lang="es-ES" sz="1500" b="1" dirty="0">
                <a:cs typeface="Times New Roman" panose="02020603050405020304" pitchFamily="18" charset="0"/>
                <a:sym typeface="Wingdings" panose="05000000000000000000" pitchFamily="2" charset="2"/>
              </a:rPr>
              <a:t>- </a:t>
            </a:r>
            <a:r>
              <a:rPr lang="vi-VN" sz="1500" dirty="0">
                <a:cs typeface="Times New Roman" panose="02020603050405020304" pitchFamily="18" charset="0"/>
                <a:sym typeface="Wingdings" panose="05000000000000000000" pitchFamily="2" charset="2"/>
              </a:rPr>
              <a:t>02 Bush Loosen At R</a:t>
            </a:r>
            <a:r>
              <a:rPr lang="en-US" sz="1500" dirty="0">
                <a:cs typeface="Times New Roman" panose="02020603050405020304" pitchFamily="18" charset="0"/>
                <a:sym typeface="Wingdings" panose="05000000000000000000" pitchFamily="2" charset="2"/>
              </a:rPr>
              <a:t>H</a:t>
            </a:r>
            <a:r>
              <a:rPr lang="vi-VN" sz="1500" dirty="0">
                <a:cs typeface="Times New Roman" panose="02020603050405020304" pitchFamily="18" charset="0"/>
                <a:sym typeface="Wingdings" panose="05000000000000000000" pitchFamily="2" charset="2"/>
              </a:rPr>
              <a:t> Fwd N</a:t>
            </a:r>
            <a:r>
              <a:rPr lang="en-US" sz="1500" dirty="0">
                <a:cs typeface="Times New Roman" panose="02020603050405020304" pitchFamily="18" charset="0"/>
                <a:sym typeface="Wingdings" panose="05000000000000000000" pitchFamily="2" charset="2"/>
              </a:rPr>
              <a:t>LG</a:t>
            </a:r>
            <a:r>
              <a:rPr lang="vi-VN" sz="1500" dirty="0">
                <a:cs typeface="Times New Roman" panose="02020603050405020304" pitchFamily="18" charset="0"/>
                <a:sym typeface="Wingdings" panose="05000000000000000000" pitchFamily="2" charset="2"/>
              </a:rPr>
              <a:t> Door.</a:t>
            </a:r>
            <a:r>
              <a:rPr lang="en-US" sz="1500" dirty="0">
                <a:cs typeface="Times New Roman" panose="02020603050405020304" pitchFamily="18" charset="0"/>
                <a:sym typeface="Wingdings" panose="05000000000000000000" pitchFamily="2" charset="2"/>
              </a:rPr>
              <a:t> Airbus </a:t>
            </a:r>
            <a:r>
              <a:rPr lang="en-US" sz="1500" dirty="0" err="1">
                <a:cs typeface="Times New Roman" panose="02020603050405020304" pitchFamily="18" charset="0"/>
                <a:sym typeface="Wingdings" panose="05000000000000000000" pitchFamily="2" charset="2"/>
              </a:rPr>
              <a:t>hẹn</a:t>
            </a:r>
            <a:r>
              <a:rPr lang="en-US" sz="1500" dirty="0">
                <a:cs typeface="Times New Roman" panose="02020603050405020304" pitchFamily="18" charset="0"/>
                <a:sym typeface="Wingdings" panose="05000000000000000000" pitchFamily="2" charset="2"/>
              </a:rPr>
              <a:t> 26/5 </a:t>
            </a:r>
            <a:r>
              <a:rPr lang="en-US" sz="1500" dirty="0" err="1">
                <a:cs typeface="Times New Roman" panose="02020603050405020304" pitchFamily="18" charset="0"/>
                <a:sym typeface="Wingdings" panose="05000000000000000000" pitchFamily="2" charset="2"/>
              </a:rPr>
              <a:t>phản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hồi</a:t>
            </a:r>
            <a:r>
              <a:rPr lang="en-US" sz="1500" dirty="0">
                <a:cs typeface="Times New Roman" panose="02020603050405020304" pitchFamily="18" charset="0"/>
                <a:sym typeface="Wingdings" panose="05000000000000000000" pitchFamily="2" charset="2"/>
              </a:rPr>
              <a:t> RDAF.</a:t>
            </a: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n-US" sz="1500" dirty="0">
                <a:cs typeface="Times New Roman" panose="02020603050405020304" pitchFamily="18" charset="0"/>
                <a:sym typeface="Wingdings" panose="05000000000000000000" pitchFamily="2" charset="2"/>
              </a:rPr>
              <a:t>Detached Between 2 Halves Of The THS Center Pivot Fitting </a:t>
            </a:r>
            <a:r>
              <a:rPr lang="en-US" sz="1500" dirty="0" err="1">
                <a:cs typeface="Times New Roman" panose="02020603050405020304" pitchFamily="18" charset="0"/>
                <a:sym typeface="Wingdings" panose="05000000000000000000" pitchFamily="2" charset="2"/>
              </a:rPr>
              <a:t>Assy</a:t>
            </a:r>
            <a:r>
              <a:rPr lang="en-US" sz="1500" dirty="0">
                <a:cs typeface="Times New Roman" panose="02020603050405020304" pitchFamily="18" charset="0"/>
                <a:sym typeface="Wingdings" panose="05000000000000000000" pitchFamily="2" charset="2"/>
              </a:rPr>
              <a:t>- LH &amp;RH. Airbus </a:t>
            </a:r>
            <a:r>
              <a:rPr lang="en-US" sz="1500" dirty="0" err="1">
                <a:cs typeface="Times New Roman" panose="02020603050405020304" pitchFamily="18" charset="0"/>
                <a:sym typeface="Wingdings" panose="05000000000000000000" pitchFamily="2" charset="2"/>
              </a:rPr>
              <a:t>hẹn</a:t>
            </a:r>
            <a:r>
              <a:rPr lang="en-US" sz="1500" dirty="0">
                <a:cs typeface="Times New Roman" panose="02020603050405020304" pitchFamily="18" charset="0"/>
                <a:sym typeface="Wingdings" panose="05000000000000000000" pitchFamily="2" charset="2"/>
              </a:rPr>
              <a:t> 26/5 </a:t>
            </a:r>
            <a:r>
              <a:rPr lang="en-US" sz="1500" dirty="0" err="1">
                <a:cs typeface="Times New Roman" panose="02020603050405020304" pitchFamily="18" charset="0"/>
                <a:sym typeface="Wingdings" panose="05000000000000000000" pitchFamily="2" charset="2"/>
              </a:rPr>
              <a:t>phản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hồi</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vê</a:t>
            </a: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RDAF</a:t>
            </a:r>
            <a:r>
              <a:rPr lang="en-US" sz="1500" dirty="0">
                <a:cs typeface="Times New Roman" panose="02020603050405020304" pitchFamily="18" charset="0"/>
                <a:sym typeface="Wingdings" panose="05000000000000000000" pitchFamily="2" charset="2"/>
              </a:rPr>
              <a:t>.</a:t>
            </a:r>
          </a:p>
          <a:p>
            <a:pPr marL="12700" indent="0" algn="just">
              <a:buSzPts val="1100"/>
              <a:buNone/>
            </a:pPr>
            <a:r>
              <a:rPr lang="en-US" sz="1500" b="1" dirty="0">
                <a:solidFill>
                  <a:srgbClr val="FF0000"/>
                </a:solidFill>
                <a:cs typeface="Times New Roman" panose="02020603050405020304" pitchFamily="18" charset="0"/>
                <a:sym typeface="Wingdings" panose="05000000000000000000" pitchFamily="2" charset="2"/>
              </a:rPr>
              <a:t>2. A887_HAN_ A03-A06, C01, Y03, INSTALL ENG 1,2 +RTS_25/05-10/06: </a:t>
            </a:r>
            <a:r>
              <a:rPr lang="en-US" sz="1500" b="1" dirty="0" smtClean="0">
                <a:solidFill>
                  <a:srgbClr val="FF0000"/>
                </a:solidFill>
                <a:cs typeface="Times New Roman" panose="02020603050405020304" pitchFamily="18" charset="0"/>
                <a:sym typeface="Wingdings" panose="05000000000000000000" pitchFamily="2" charset="2"/>
              </a:rPr>
              <a:t>On sked</a:t>
            </a:r>
            <a:endParaRPr lang="en-US" sz="15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a:cs typeface="Times New Roman" panose="02020603050405020304" pitchFamily="18" charset="0"/>
                <a:sym typeface="Wingdings" panose="05000000000000000000" pitchFamily="2" charset="2"/>
              </a:rPr>
              <a:t>01 ENG </a:t>
            </a:r>
            <a:r>
              <a:rPr lang="es-ES" sz="1500" dirty="0" err="1">
                <a:cs typeface="Times New Roman" panose="02020603050405020304" pitchFamily="18" charset="0"/>
                <a:sym typeface="Wingdings" panose="05000000000000000000" pitchFamily="2" charset="2"/>
              </a:rPr>
              <a:t>được</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tháo</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sửa</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tư</a:t>
            </a:r>
            <a:r>
              <a:rPr lang="es-ES" sz="1500" dirty="0">
                <a:cs typeface="Times New Roman" panose="02020603050405020304" pitchFamily="18" charset="0"/>
                <a:sym typeface="Wingdings" panose="05000000000000000000" pitchFamily="2" charset="2"/>
              </a:rPr>
              <a:t>̀ A899 và 01 ENG </a:t>
            </a:r>
            <a:r>
              <a:rPr lang="es-ES" sz="1500" dirty="0" err="1">
                <a:cs typeface="Times New Roman" panose="02020603050405020304" pitchFamily="18" charset="0"/>
                <a:sym typeface="Wingdings" panose="05000000000000000000" pitchFamily="2" charset="2"/>
              </a:rPr>
              <a:t>tháo</a:t>
            </a:r>
            <a:r>
              <a:rPr lang="es-ES" sz="1500" dirty="0">
                <a:cs typeface="Times New Roman" panose="02020603050405020304" pitchFamily="18" charset="0"/>
                <a:sym typeface="Wingdings" panose="05000000000000000000" pitchFamily="2" charset="2"/>
              </a:rPr>
              <a:t> Full </a:t>
            </a:r>
            <a:r>
              <a:rPr lang="es-ES" sz="1500" dirty="0" err="1">
                <a:cs typeface="Times New Roman" panose="02020603050405020304" pitchFamily="18" charset="0"/>
                <a:sym typeface="Wingdings" panose="05000000000000000000" pitchFamily="2" charset="2"/>
              </a:rPr>
              <a:t>tư</a:t>
            </a:r>
            <a:r>
              <a:rPr lang="es-ES" sz="1500" dirty="0">
                <a:cs typeface="Times New Roman" panose="02020603050405020304" pitchFamily="18" charset="0"/>
                <a:sym typeface="Wingdings" panose="05000000000000000000" pitchFamily="2" charset="2"/>
              </a:rPr>
              <a:t>̀ A893,</a:t>
            </a: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err="1">
                <a:cs typeface="Times New Roman" panose="02020603050405020304" pitchFamily="18" charset="0"/>
                <a:sym typeface="Wingdings" panose="05000000000000000000" pitchFamily="2" charset="2"/>
              </a:rPr>
              <a:t>Tàu</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cần</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được</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bay</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thư</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sau</a:t>
            </a:r>
            <a:r>
              <a:rPr lang="es-ES" sz="1500" dirty="0">
                <a:cs typeface="Times New Roman" panose="02020603050405020304" pitchFamily="18" charset="0"/>
                <a:sym typeface="Wingdings" panose="05000000000000000000" pitchFamily="2" charset="2"/>
              </a:rPr>
              <a:t> RTS và </a:t>
            </a:r>
            <a:r>
              <a:rPr lang="es-ES" sz="1500" dirty="0" err="1">
                <a:cs typeface="Times New Roman" panose="02020603050405020304" pitchFamily="18" charset="0"/>
                <a:sym typeface="Wingdings" panose="05000000000000000000" pitchFamily="2" charset="2"/>
              </a:rPr>
              <a:t>gia</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hạn</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CofA</a:t>
            </a:r>
            <a:r>
              <a:rPr lang="es-ES" sz="1500" dirty="0">
                <a:cs typeface="Times New Roman" panose="02020603050405020304" pitchFamily="18" charset="0"/>
                <a:sym typeface="Wingdings" panose="05000000000000000000" pitchFamily="2" charset="2"/>
              </a:rPr>
              <a:t>.</a:t>
            </a: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err="1" smtClean="0">
                <a:cs typeface="Times New Roman" panose="02020603050405020304" pitchFamily="18" charset="0"/>
                <a:sym typeface="Wingdings" panose="05000000000000000000" pitchFamily="2" charset="2"/>
              </a:rPr>
              <a:t>Cần</a:t>
            </a:r>
            <a:r>
              <a:rPr lang="es-ES" sz="1500" dirty="0" smtClean="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co</a:t>
            </a:r>
            <a:r>
              <a:rPr lang="es-ES" sz="1500" dirty="0">
                <a:cs typeface="Times New Roman" panose="02020603050405020304" pitchFamily="18" charset="0"/>
                <a:sym typeface="Wingdings" panose="05000000000000000000" pitchFamily="2" charset="2"/>
              </a:rPr>
              <a:t>́ RDAF </a:t>
            </a:r>
            <a:r>
              <a:rPr lang="es-ES" sz="1500" dirty="0" err="1">
                <a:cs typeface="Times New Roman" panose="02020603050405020304" pitchFamily="18" charset="0"/>
                <a:sym typeface="Wingdings" panose="05000000000000000000" pitchFamily="2" charset="2"/>
              </a:rPr>
              <a:t>cho</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sai</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lệch</a:t>
            </a:r>
            <a:r>
              <a:rPr lang="es-ES" sz="1500" dirty="0">
                <a:cs typeface="Times New Roman" panose="02020603050405020304" pitchFamily="18" charset="0"/>
                <a:sym typeface="Wingdings" panose="05000000000000000000" pitchFamily="2" charset="2"/>
              </a:rPr>
              <a:t> BQDB.</a:t>
            </a:r>
            <a:endParaRPr lang="en-US" sz="1500" dirty="0" smtClean="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908734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36</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a:t>
            </a:r>
            <a:r>
              <a:rPr lang="en-US" sz="2400" b="1" dirty="0" smtClean="0">
                <a:solidFill>
                  <a:srgbClr val="FFC000"/>
                </a:solidFill>
                <a:latin typeface="Times New Roman" panose="02020603050405020304" pitchFamily="18" charset="0"/>
                <a:cs typeface="Times New Roman" panose="02020603050405020304" pitchFamily="18" charset="0"/>
              </a:rPr>
              <a:t>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6096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s-ES" sz="1400" b="1" dirty="0" smtClean="0">
                <a:cs typeface="Times New Roman" panose="02020603050405020304" pitchFamily="18" charset="0"/>
                <a:sym typeface="Wingdings" panose="05000000000000000000" pitchFamily="2" charset="2"/>
              </a:rPr>
              <a:t>III. B787:</a:t>
            </a:r>
          </a:p>
          <a:p>
            <a:pPr marL="12700" indent="0" algn="just">
              <a:spcBef>
                <a:spcPts val="0"/>
              </a:spcBef>
              <a:buSzPts val="1100"/>
              <a:buNone/>
            </a:pPr>
            <a:r>
              <a:rPr lang="en-US" sz="1400" b="1" dirty="0" smtClean="0">
                <a:solidFill>
                  <a:srgbClr val="FF0000"/>
                </a:solidFill>
                <a:cs typeface="Times New Roman" panose="02020603050405020304" pitchFamily="18" charset="0"/>
                <a:sym typeface="Wingdings" panose="05000000000000000000" pitchFamily="2" charset="2"/>
              </a:rPr>
              <a:t> 1. A862_SGN_A08+ Clean HX_17/5-20/5: </a:t>
            </a:r>
            <a:r>
              <a:rPr lang="en-US" sz="1400" b="1" dirty="0" err="1" smtClean="0">
                <a:solidFill>
                  <a:srgbClr val="FF0000"/>
                </a:solidFill>
                <a:cs typeface="Times New Roman" panose="02020603050405020304" pitchFamily="18" charset="0"/>
                <a:sym typeface="Wingdings" panose="05000000000000000000" pitchFamily="2" charset="2"/>
              </a:rPr>
              <a:t>Chơ</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cung</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ứng</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vật</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tư</a:t>
            </a:r>
            <a:r>
              <a:rPr lang="en-US" sz="1400" b="1" dirty="0" smtClean="0">
                <a:solidFill>
                  <a:srgbClr val="FF0000"/>
                </a:solidFill>
                <a:cs typeface="Times New Roman" panose="02020603050405020304" pitchFamily="18" charset="0"/>
                <a:sym typeface="Wingdings" panose="05000000000000000000" pitchFamily="2" charset="2"/>
              </a:rPr>
              <a:t> Wiper + IRU.</a:t>
            </a:r>
          </a:p>
          <a:p>
            <a:pPr marL="298450" indent="-285750" algn="just">
              <a:lnSpc>
                <a:spcPct val="150000"/>
              </a:lnSpc>
              <a:spcBef>
                <a:spcPts val="0"/>
              </a:spcBef>
              <a:buSzPts val="1100"/>
              <a:buFontTx/>
              <a:buChar char="-"/>
            </a:pPr>
            <a:r>
              <a:rPr lang="fr-FR" sz="1400" dirty="0" smtClean="0">
                <a:cs typeface="Times New Roman" panose="02020603050405020304" pitchFamily="18" charset="0"/>
                <a:sym typeface="Wingdings" panose="05000000000000000000" pitchFamily="2" charset="2"/>
              </a:rPr>
              <a:t>1 IRU, PN: HG2100BC02 (Rob A863) ; </a:t>
            </a:r>
            <a:r>
              <a:rPr lang="pt-BR" sz="1400" dirty="0" smtClean="0">
                <a:cs typeface="Times New Roman" panose="02020603050405020304" pitchFamily="18" charset="0"/>
                <a:sym typeface="Wingdings" panose="05000000000000000000" pitchFamily="2" charset="2"/>
              </a:rPr>
              <a:t>Wiper Motor Converter, PN: 7001746H05(Rob A868)  </a:t>
            </a:r>
            <a:r>
              <a:rPr lang="fr-FR" sz="1400" dirty="0" err="1" smtClean="0">
                <a:cs typeface="Times New Roman" panose="02020603050405020304" pitchFamily="18" charset="0"/>
                <a:sym typeface="Wingdings" panose="05000000000000000000" pitchFamily="2" charset="2"/>
              </a:rPr>
              <a:t>Chưa</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co</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dư</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kiến</a:t>
            </a:r>
            <a:r>
              <a:rPr lang="fr-FR" sz="1400" dirty="0" smtClean="0">
                <a:cs typeface="Times New Roman" panose="02020603050405020304" pitchFamily="18" charset="0"/>
                <a:sym typeface="Wingdings" panose="05000000000000000000" pitchFamily="2" charset="2"/>
              </a:rPr>
              <a:t> </a:t>
            </a:r>
          </a:p>
          <a:p>
            <a:pPr marL="12700" indent="0" algn="just">
              <a:lnSpc>
                <a:spcPct val="150000"/>
              </a:lnSpc>
              <a:spcBef>
                <a:spcPts val="0"/>
              </a:spcBef>
              <a:buSzPts val="1100"/>
              <a:buNone/>
            </a:pPr>
            <a:r>
              <a:rPr lang="fr-FR" sz="1400" dirty="0" smtClean="0">
                <a:cs typeface="Times New Roman" panose="02020603050405020304" pitchFamily="18" charset="0"/>
                <a:sym typeface="Wingdings" panose="05000000000000000000" pitchFamily="2" charset="2"/>
              </a:rPr>
              <a:t> = &gt; </a:t>
            </a:r>
            <a:r>
              <a:rPr lang="fr-FR" sz="1400" dirty="0" err="1" smtClean="0">
                <a:cs typeface="Times New Roman" panose="02020603050405020304" pitchFamily="18" charset="0"/>
                <a:sym typeface="Wingdings" panose="05000000000000000000" pitchFamily="2" charset="2"/>
              </a:rPr>
              <a:t>Cần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co</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tàu</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gối</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đầu</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đê</a:t>
            </a:r>
            <a:r>
              <a:rPr lang="fr-FR" sz="1400" dirty="0" smtClean="0">
                <a:cs typeface="Times New Roman" panose="02020603050405020304" pitchFamily="18" charset="0"/>
                <a:sym typeface="Wingdings" panose="05000000000000000000" pitchFamily="2" charset="2"/>
              </a:rPr>
              <a:t>̉ Rob 2 </a:t>
            </a:r>
            <a:r>
              <a:rPr lang="fr-FR" sz="1400" dirty="0" err="1" smtClean="0">
                <a:cs typeface="Times New Roman" panose="02020603050405020304" pitchFamily="18" charset="0"/>
                <a:sym typeface="Wingdings" panose="05000000000000000000" pitchFamily="2" charset="2"/>
              </a:rPr>
              <a:t>vật</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tư</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trên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Hiện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tại</a:t>
            </a:r>
            <a:r>
              <a:rPr lang="fr-FR" sz="1400" dirty="0" smtClean="0">
                <a:cs typeface="Times New Roman" panose="02020603050405020304" pitchFamily="18" charset="0"/>
                <a:sym typeface="Wingdings" panose="05000000000000000000" pitchFamily="2" charset="2"/>
              </a:rPr>
              <a:t> A869 </a:t>
            </a:r>
            <a:r>
              <a:rPr lang="fr-FR" sz="1400" dirty="0" err="1" smtClean="0">
                <a:cs typeface="Times New Roman" panose="02020603050405020304" pitchFamily="18" charset="0"/>
                <a:sym typeface="Wingdings" panose="05000000000000000000" pitchFamily="2" charset="2"/>
              </a:rPr>
              <a:t>dư</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kiến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dừng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tư</a:t>
            </a:r>
            <a:r>
              <a:rPr lang="fr-FR" sz="1400" dirty="0" smtClean="0">
                <a:cs typeface="Times New Roman" panose="02020603050405020304" pitchFamily="18" charset="0"/>
                <a:sym typeface="Wingdings" panose="05000000000000000000" pitchFamily="2" charset="2"/>
              </a:rPr>
              <a:t>̀ 21h00 </a:t>
            </a:r>
            <a:r>
              <a:rPr lang="fr-FR" sz="1400" dirty="0" err="1" smtClean="0">
                <a:cs typeface="Times New Roman" panose="02020603050405020304" pitchFamily="18" charset="0"/>
                <a:sym typeface="Wingdings" panose="05000000000000000000" pitchFamily="2" charset="2"/>
              </a:rPr>
              <a:t>co</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thê</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ảnh</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hưởng</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tiến</a:t>
            </a:r>
            <a:r>
              <a:rPr lang="fr-FR" sz="1400" dirty="0" smtClean="0">
                <a:cs typeface="Times New Roman" panose="02020603050405020304" pitchFamily="18" charset="0"/>
                <a:sym typeface="Wingdings" panose="05000000000000000000" pitchFamily="2" charset="2"/>
              </a:rPr>
              <a:t> </a:t>
            </a:r>
            <a:r>
              <a:rPr lang="fr-FR" sz="1400" dirty="0" err="1" smtClean="0">
                <a:cs typeface="Times New Roman" panose="02020603050405020304" pitchFamily="18" charset="0"/>
                <a:sym typeface="Wingdings" panose="05000000000000000000" pitchFamily="2" charset="2"/>
              </a:rPr>
              <a:t>đô</a:t>
            </a:r>
            <a:r>
              <a:rPr lang="fr-FR" sz="1400" dirty="0" smtClean="0">
                <a:cs typeface="Times New Roman" panose="02020603050405020304" pitchFamily="18" charset="0"/>
                <a:sym typeface="Wingdings" panose="05000000000000000000" pitchFamily="2" charset="2"/>
              </a:rPr>
              <a:t>̣ ra Check </a:t>
            </a:r>
            <a:r>
              <a:rPr lang="fr-FR" sz="1400" dirty="0" err="1" smtClean="0">
                <a:cs typeface="Times New Roman" panose="02020603050405020304" pitchFamily="18" charset="0"/>
                <a:sym typeface="Wingdings" panose="05000000000000000000" pitchFamily="2" charset="2"/>
              </a:rPr>
              <a:t>của</a:t>
            </a:r>
            <a:r>
              <a:rPr lang="fr-FR" sz="1400" dirty="0" smtClean="0">
                <a:cs typeface="Times New Roman" panose="02020603050405020304" pitchFamily="18" charset="0"/>
                <a:sym typeface="Wingdings" panose="05000000000000000000" pitchFamily="2" charset="2"/>
              </a:rPr>
              <a:t> A862</a:t>
            </a:r>
          </a:p>
          <a:p>
            <a:pPr marL="12700" indent="0" algn="just">
              <a:lnSpc>
                <a:spcPct val="150000"/>
              </a:lnSpc>
              <a:spcBef>
                <a:spcPts val="0"/>
              </a:spcBef>
              <a:buSzPts val="1100"/>
              <a:buNone/>
            </a:pPr>
            <a:endParaRPr lang="fr-FR" sz="1400" dirty="0" smtClean="0">
              <a:cs typeface="Times New Roman" panose="02020603050405020304" pitchFamily="18" charset="0"/>
              <a:sym typeface="Wingdings" panose="05000000000000000000" pitchFamily="2" charset="2"/>
            </a:endParaRPr>
          </a:p>
          <a:p>
            <a:pPr marL="12700" indent="0" algn="just">
              <a:buSzPts val="1100"/>
              <a:buNone/>
            </a:pPr>
            <a:r>
              <a:rPr lang="es-ES" sz="1400" b="1" dirty="0">
                <a:sym typeface="Wingdings" panose="05000000000000000000" pitchFamily="2" charset="2"/>
              </a:rPr>
              <a:t>IV. ATR72:</a:t>
            </a:r>
          </a:p>
          <a:p>
            <a:pPr marL="12700" indent="0" algn="just">
              <a:buSzPts val="1100"/>
              <a:buNone/>
            </a:pPr>
            <a:r>
              <a:rPr lang="en-US" sz="1400" b="1" dirty="0">
                <a:solidFill>
                  <a:srgbClr val="FF0000"/>
                </a:solidFill>
                <a:sym typeface="Wingdings" panose="05000000000000000000" pitchFamily="2" charset="2"/>
              </a:rPr>
              <a:t>1. B219_SGN_Y01, Y02, Y04, Y08, RPL LH LDG_12/05-09/06: Est 15/6</a:t>
            </a:r>
          </a:p>
          <a:p>
            <a:pPr marL="12700" indent="0" algn="just">
              <a:buSzPts val="1100"/>
              <a:buNone/>
            </a:pPr>
            <a:r>
              <a:rPr lang="en-US" sz="1400" dirty="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 Dự kiến LH MLG cho B219 </a:t>
            </a:r>
            <a:r>
              <a:rPr lang="en-US" sz="1400" dirty="0" smtClean="0">
                <a:cs typeface="Times New Roman" panose="02020603050405020304" pitchFamily="18" charset="0"/>
                <a:sym typeface="Wingdings" panose="05000000000000000000" pitchFamily="2" charset="2"/>
              </a:rPr>
              <a:t>Avail </a:t>
            </a:r>
            <a:r>
              <a:rPr lang="vi-VN" sz="1400" dirty="0">
                <a:cs typeface="Times New Roman" panose="02020603050405020304" pitchFamily="18" charset="0"/>
                <a:sym typeface="Wingdings" panose="05000000000000000000" pitchFamily="2" charset="2"/>
              </a:rPr>
              <a:t>13/6.</a:t>
            </a:r>
          </a:p>
          <a:p>
            <a:pPr marL="12700" indent="0" algn="just">
              <a:buSzPts val="1100"/>
              <a:buNone/>
            </a:pPr>
            <a:r>
              <a:rPr lang="vi-VN" sz="1400" dirty="0">
                <a:cs typeface="Times New Roman" panose="02020603050405020304" pitchFamily="18" charset="0"/>
                <a:sym typeface="Wingdings" panose="05000000000000000000" pitchFamily="2" charset="2"/>
              </a:rPr>
              <a:t>  - ACM PN: 2205120-4SR1, QLVT VNA chưa có dự kiến.</a:t>
            </a:r>
          </a:p>
          <a:p>
            <a:pPr marL="12700" indent="0" algn="just">
              <a:buSzPts val="1100"/>
              <a:buNone/>
            </a:pPr>
            <a:r>
              <a:rPr lang="vi-VN" sz="1400" dirty="0">
                <a:cs typeface="Times New Roman" panose="02020603050405020304" pitchFamily="18" charset="0"/>
                <a:sym typeface="Wingdings" panose="05000000000000000000" pitchFamily="2" charset="2"/>
              </a:rPr>
              <a:t>  - Tàu có nhiều hỏng hóc lớn về cấu trúc: </a:t>
            </a:r>
          </a:p>
          <a:p>
            <a:pPr marL="12700" indent="0" algn="just">
              <a:buSzPts val="1100"/>
              <a:buNone/>
            </a:pPr>
            <a:r>
              <a:rPr lang="vi-VN" sz="1400" dirty="0">
                <a:cs typeface="Times New Roman" panose="02020603050405020304" pitchFamily="18" charset="0"/>
                <a:sym typeface="Wingdings" panose="05000000000000000000" pitchFamily="2" charset="2"/>
              </a:rPr>
              <a:t>       + Node 5-DOUBLER REPLACEMENT; </a:t>
            </a:r>
          </a:p>
          <a:p>
            <a:pPr marL="12700" indent="0" algn="just">
              <a:buSzPts val="1100"/>
              <a:buNone/>
            </a:pPr>
            <a:r>
              <a:rPr lang="vi-VN" sz="1400" dirty="0">
                <a:cs typeface="Times New Roman" panose="02020603050405020304" pitchFamily="18" charset="0"/>
                <a:sym typeface="Wingdings" panose="05000000000000000000" pitchFamily="2" charset="2"/>
              </a:rPr>
              <a:t>       + FRAME 24, 28 UPPER SEGMENT REPLACEMENT; </a:t>
            </a:r>
          </a:p>
          <a:p>
            <a:pPr marL="12700" indent="0" algn="just">
              <a:buSzPts val="1100"/>
              <a:buNone/>
            </a:pPr>
            <a:r>
              <a:rPr lang="vi-VN" sz="1400" dirty="0">
                <a:cs typeface="Times New Roman" panose="02020603050405020304" pitchFamily="18" charset="0"/>
                <a:sym typeface="Wingdings" panose="05000000000000000000" pitchFamily="2" charset="2"/>
              </a:rPr>
              <a:t>       + FRAME 44 LOWER SEGMENT REPLACEMENT; </a:t>
            </a:r>
          </a:p>
          <a:p>
            <a:pPr marL="12700" indent="0" algn="just">
              <a:buSzPts val="1100"/>
              <a:buNone/>
            </a:pPr>
            <a:r>
              <a:rPr lang="vi-VN" sz="1400" dirty="0">
                <a:cs typeface="Times New Roman" panose="02020603050405020304" pitchFamily="18" charset="0"/>
                <a:sym typeface="Wingdings" panose="05000000000000000000" pitchFamily="2" charset="2"/>
              </a:rPr>
              <a:t>       + SIGN OF CORROSION AT LOWER FR 45</a:t>
            </a:r>
          </a:p>
          <a:p>
            <a:pPr marL="12700" indent="0" algn="just">
              <a:buSzPts val="1100"/>
              <a:buNone/>
            </a:pPr>
            <a:r>
              <a:rPr lang="vi-VN" sz="1400" dirty="0">
                <a:cs typeface="Times New Roman" panose="02020603050405020304" pitchFamily="18" charset="0"/>
                <a:sym typeface="Wingdings" panose="05000000000000000000" pitchFamily="2" charset="2"/>
              </a:rPr>
              <a:t>      + CORROSION AT FITTING BTW RIB 21 - 22 RH WING TRAILING EDGE</a:t>
            </a:r>
          </a:p>
          <a:p>
            <a:pPr marL="12700" indent="0" algn="just">
              <a:buSzPts val="1100"/>
              <a:buNone/>
            </a:pPr>
            <a:r>
              <a:rPr lang="vi-VN" sz="1400" dirty="0">
                <a:cs typeface="Times New Roman" panose="02020603050405020304" pitchFamily="18" charset="0"/>
                <a:sym typeface="Wingdings" panose="05000000000000000000" pitchFamily="2" charset="2"/>
              </a:rPr>
              <a:t> = &gt; Đ/n CƯVT VAECO push vật tư về sớm để triển khai sửa chữa tránh kéo dài sâu, đồng thời các đơn vị đánh giá, phản hồi về thời gian dự kiến sữa chữa hỏng hóc.</a:t>
            </a:r>
            <a:endParaRPr lang="x-none" sz="1400" dirty="0">
              <a:cs typeface="Times New Roman" panose="02020603050405020304" pitchFamily="18" charset="0"/>
            </a:endParaRPr>
          </a:p>
          <a:p>
            <a:pPr marL="12700" indent="0" algn="just">
              <a:lnSpc>
                <a:spcPct val="150000"/>
              </a:lnSpc>
              <a:buSzPts val="1100"/>
              <a:buNone/>
            </a:pPr>
            <a:endParaRPr lang="fr-FR" sz="1400" dirty="0" smtClean="0">
              <a:cs typeface="Times New Roman" panose="02020603050405020304" pitchFamily="18" charset="0"/>
              <a:sym typeface="Wingdings" panose="05000000000000000000" pitchFamily="2" charset="2"/>
            </a:endParaRPr>
          </a:p>
          <a:p>
            <a:pPr marL="12700" indent="0" algn="just">
              <a:lnSpc>
                <a:spcPct val="150000"/>
              </a:lnSpc>
              <a:buSzPts val="1100"/>
              <a:buNone/>
            </a:pPr>
            <a:endParaRPr lang="fr-FR" sz="14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802651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C362A37E-90E9-21B9-6C93-61F1A16B2FDB}"/>
              </a:ext>
            </a:extLst>
          </p:cNvPr>
          <p:cNvGraphicFramePr>
            <a:graphicFrameLocks noGrp="1"/>
          </p:cNvGraphicFramePr>
          <p:nvPr>
            <p:extLst/>
          </p:nvPr>
        </p:nvGraphicFramePr>
        <p:xfrm>
          <a:off x="369436" y="1143000"/>
          <a:ext cx="11517763" cy="5457457"/>
        </p:xfrm>
        <a:graphic>
          <a:graphicData uri="http://schemas.openxmlformats.org/drawingml/2006/table">
            <a:tbl>
              <a:tblPr/>
              <a:tblGrid>
                <a:gridCol w="337612">
                  <a:extLst>
                    <a:ext uri="{9D8B030D-6E8A-4147-A177-3AD203B41FA5}">
                      <a16:colId xmlns:a16="http://schemas.microsoft.com/office/drawing/2014/main" val="2993793235"/>
                    </a:ext>
                  </a:extLst>
                </a:gridCol>
                <a:gridCol w="2285374">
                  <a:extLst>
                    <a:ext uri="{9D8B030D-6E8A-4147-A177-3AD203B41FA5}">
                      <a16:colId xmlns:a16="http://schemas.microsoft.com/office/drawing/2014/main" val="203789857"/>
                    </a:ext>
                  </a:extLst>
                </a:gridCol>
                <a:gridCol w="584329">
                  <a:extLst>
                    <a:ext uri="{9D8B030D-6E8A-4147-A177-3AD203B41FA5}">
                      <a16:colId xmlns:a16="http://schemas.microsoft.com/office/drawing/2014/main" val="1329796524"/>
                    </a:ext>
                  </a:extLst>
                </a:gridCol>
                <a:gridCol w="519403">
                  <a:extLst>
                    <a:ext uri="{9D8B030D-6E8A-4147-A177-3AD203B41FA5}">
                      <a16:colId xmlns:a16="http://schemas.microsoft.com/office/drawing/2014/main" val="211155496"/>
                    </a:ext>
                  </a:extLst>
                </a:gridCol>
                <a:gridCol w="493432">
                  <a:extLst>
                    <a:ext uri="{9D8B030D-6E8A-4147-A177-3AD203B41FA5}">
                      <a16:colId xmlns:a16="http://schemas.microsoft.com/office/drawing/2014/main" val="2125035804"/>
                    </a:ext>
                  </a:extLst>
                </a:gridCol>
                <a:gridCol w="532388">
                  <a:extLst>
                    <a:ext uri="{9D8B030D-6E8A-4147-A177-3AD203B41FA5}">
                      <a16:colId xmlns:a16="http://schemas.microsoft.com/office/drawing/2014/main" val="3824387934"/>
                    </a:ext>
                  </a:extLst>
                </a:gridCol>
                <a:gridCol w="519403">
                  <a:extLst>
                    <a:ext uri="{9D8B030D-6E8A-4147-A177-3AD203B41FA5}">
                      <a16:colId xmlns:a16="http://schemas.microsoft.com/office/drawing/2014/main" val="520841072"/>
                    </a:ext>
                  </a:extLst>
                </a:gridCol>
                <a:gridCol w="532388">
                  <a:extLst>
                    <a:ext uri="{9D8B030D-6E8A-4147-A177-3AD203B41FA5}">
                      <a16:colId xmlns:a16="http://schemas.microsoft.com/office/drawing/2014/main" val="2726171524"/>
                    </a:ext>
                  </a:extLst>
                </a:gridCol>
                <a:gridCol w="532388">
                  <a:extLst>
                    <a:ext uri="{9D8B030D-6E8A-4147-A177-3AD203B41FA5}">
                      <a16:colId xmlns:a16="http://schemas.microsoft.com/office/drawing/2014/main" val="2397339520"/>
                    </a:ext>
                  </a:extLst>
                </a:gridCol>
                <a:gridCol w="532388">
                  <a:extLst>
                    <a:ext uri="{9D8B030D-6E8A-4147-A177-3AD203B41FA5}">
                      <a16:colId xmlns:a16="http://schemas.microsoft.com/office/drawing/2014/main" val="2868339263"/>
                    </a:ext>
                  </a:extLst>
                </a:gridCol>
                <a:gridCol w="4648658">
                  <a:extLst>
                    <a:ext uri="{9D8B030D-6E8A-4147-A177-3AD203B41FA5}">
                      <a16:colId xmlns:a16="http://schemas.microsoft.com/office/drawing/2014/main" val="2102207617"/>
                    </a:ext>
                  </a:extLst>
                </a:gridCol>
              </a:tblGrid>
              <a:tr h="487325">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25/05)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23579083"/>
                  </a:ext>
                </a:extLst>
              </a:tr>
              <a:tr h="590697">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151131629"/>
                  </a:ext>
                </a:extLst>
              </a:tr>
              <a:tr h="1207978">
                <a:tc>
                  <a:txBody>
                    <a:bodyPr/>
                    <a:lstStyle/>
                    <a:p>
                      <a:pPr algn="ctr" fontAlgn="ctr"/>
                      <a:r>
                        <a:rPr lang="en-US" sz="1200" b="1" i="0" u="none" strike="noStrike">
                          <a:solidFill>
                            <a:srgbClr val="000000"/>
                          </a:solidFill>
                          <a:effectLst/>
                          <a:latin typeface="Times New Roman" panose="02020603050405020304" pitchFamily="18" charset="0"/>
                        </a:rPr>
                        <a:t>1</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dirty="0">
                          <a:solidFill>
                            <a:srgbClr val="000000"/>
                          </a:solidFill>
                          <a:effectLst/>
                          <a:latin typeface="Times New Roman" panose="02020603050405020304" pitchFamily="18" charset="0"/>
                        </a:rPr>
                        <a:t>A321 NEO AOG</a:t>
                      </a:r>
                      <a:br>
                        <a:rPr lang="pt-BR" sz="1200" b="1" i="0" u="none" strike="noStrike" dirty="0">
                          <a:solidFill>
                            <a:srgbClr val="000000"/>
                          </a:solidFill>
                          <a:effectLst/>
                          <a:latin typeface="Times New Roman" panose="02020603050405020304" pitchFamily="18" charset="0"/>
                        </a:rPr>
                      </a:br>
                      <a:r>
                        <a:rPr lang="pt-BR" sz="1200" b="1" i="0" u="none" strike="noStrike" dirty="0">
                          <a:solidFill>
                            <a:srgbClr val="000000"/>
                          </a:solidFill>
                          <a:effectLst/>
                          <a:latin typeface="Times New Roman" panose="02020603050405020304" pitchFamily="18" charset="0"/>
                        </a:rPr>
                        <a:t> do thiếu ENG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Times New Roman" panose="02020603050405020304" pitchFamily="18" charset="0"/>
                        </a:rPr>
                        <a:t>10.50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FF0000"/>
                          </a:solidFill>
                          <a:effectLst/>
                          <a:latin typeface="Times New Roman" panose="02020603050405020304" pitchFamily="18" charset="0"/>
                        </a:rPr>
                        <a:t>- 07/2025: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thêm</a:t>
                      </a:r>
                      <a:r>
                        <a:rPr lang="en-US" sz="1200" b="0" i="0" u="none" strike="noStrike" dirty="0">
                          <a:solidFill>
                            <a:srgbClr val="FF0000"/>
                          </a:solidFill>
                          <a:effectLst/>
                          <a:latin typeface="Times New Roman" panose="02020603050405020304" pitchFamily="18" charset="0"/>
                        </a:rPr>
                        <a:t> 1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t>
                      </a:r>
                      <a:r>
                        <a:rPr lang="en-US" sz="1200" b="0" i="0" u="none" strike="noStrike" dirty="0" err="1">
                          <a:solidFill>
                            <a:srgbClr val="FF0000"/>
                          </a:solidFill>
                          <a:effectLst/>
                          <a:latin typeface="Times New Roman" panose="02020603050405020304" pitchFamily="18" charset="0"/>
                        </a:rPr>
                        <a:t>thuê</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thêm</a:t>
                      </a:r>
                      <a:r>
                        <a:rPr lang="en-US" sz="1200" b="0" i="0" u="none" strike="noStrike" dirty="0">
                          <a:solidFill>
                            <a:srgbClr val="FF0000"/>
                          </a:solidFill>
                          <a:effectLst/>
                          <a:latin typeface="Times New Roman" panose="02020603050405020304" pitchFamily="18" charset="0"/>
                        </a:rPr>
                        <a:t> 2 ENG </a:t>
                      </a:r>
                      <a:r>
                        <a:rPr lang="en-US" sz="1200" b="0" i="0" u="none" strike="noStrike" dirty="0" err="1">
                          <a:solidFill>
                            <a:srgbClr val="FF0000"/>
                          </a:solidFill>
                          <a:effectLst/>
                          <a:latin typeface="Times New Roman" panose="02020603050405020304" pitchFamily="18" charset="0"/>
                        </a:rPr>
                        <a:t>dự</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kiến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về</a:t>
                      </a:r>
                      <a:r>
                        <a:rPr lang="en-US" sz="1200" b="0" i="0" u="none" strike="noStrike" dirty="0">
                          <a:solidFill>
                            <a:srgbClr val="FF0000"/>
                          </a:solidFill>
                          <a:effectLst/>
                          <a:latin typeface="Times New Roman" panose="02020603050405020304" pitchFamily="18" charset="0"/>
                        </a:rPr>
                        <a:t> 20/06 .</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- 08-11/2025: </a:t>
                      </a:r>
                      <a:r>
                        <a:rPr lang="en-US" sz="1200" b="0" i="0" u="none" strike="noStrike" dirty="0" err="1">
                          <a:solidFill>
                            <a:srgbClr val="FF0000"/>
                          </a:solidFill>
                          <a:effectLst/>
                          <a:latin typeface="Times New Roman" panose="02020603050405020304" pitchFamily="18" charset="0"/>
                        </a:rPr>
                        <a:t>giảm</a:t>
                      </a:r>
                      <a:r>
                        <a:rPr lang="en-US" sz="1200" b="0" i="0" u="none" strike="noStrike" dirty="0">
                          <a:solidFill>
                            <a:srgbClr val="FF0000"/>
                          </a:solidFill>
                          <a:effectLst/>
                          <a:latin typeface="Times New Roman" panose="02020603050405020304" pitchFamily="18" charset="0"/>
                        </a:rPr>
                        <a:t> 1-1.5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dừng</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Thuê</a:t>
                      </a:r>
                      <a:r>
                        <a:rPr lang="en-US" sz="1200" b="0" i="0" u="none" strike="noStrike" dirty="0">
                          <a:solidFill>
                            <a:srgbClr val="000000"/>
                          </a:solidFill>
                          <a:effectLst/>
                          <a:latin typeface="Times New Roman" panose="02020603050405020304" pitchFamily="18" charset="0"/>
                        </a:rPr>
                        <a:t> 3 ENG NEO:</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+ 1 PW ENG </a:t>
                      </a:r>
                      <a:r>
                        <a:rPr lang="en-US" sz="1200" b="0" i="0" u="none" strike="noStrike" dirty="0" err="1">
                          <a:solidFill>
                            <a:srgbClr val="000000"/>
                          </a:solidFill>
                          <a:effectLst/>
                          <a:latin typeface="Times New Roman" panose="02020603050405020304" pitchFamily="18" charset="0"/>
                        </a:rPr>
                        <a:t>dự</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kiến</a:t>
                      </a:r>
                      <a:r>
                        <a:rPr lang="en-US" sz="1200" b="0" i="0" u="none" strike="noStrike" dirty="0">
                          <a:solidFill>
                            <a:srgbClr val="000000"/>
                          </a:solidFill>
                          <a:effectLst/>
                          <a:latin typeface="Times New Roman" panose="02020603050405020304" pitchFamily="18" charset="0"/>
                        </a:rPr>
                        <a:t> 31/05</a:t>
                      </a:r>
                      <a:r>
                        <a:rPr lang="en-US" sz="1200" b="0" i="0" u="none" strike="noStrike" dirty="0">
                          <a:solidFill>
                            <a:srgbClr val="FF0000"/>
                          </a:solidFill>
                          <a:effectLst/>
                          <a:latin typeface="Times New Roman" panose="02020603050405020304" pitchFamily="18" charset="0"/>
                        </a:rPr>
                        <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+ 2 ENG BBAM, </a:t>
                      </a:r>
                      <a:r>
                        <a:rPr lang="en-US" sz="1200" b="0" i="0" u="none" strike="noStrike" dirty="0" err="1">
                          <a:solidFill>
                            <a:srgbClr val="FF0000"/>
                          </a:solidFill>
                          <a:effectLst/>
                          <a:latin typeface="Times New Roman" panose="02020603050405020304" pitchFamily="18" charset="0"/>
                        </a:rPr>
                        <a:t>dự</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kiến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về</a:t>
                      </a:r>
                      <a:r>
                        <a:rPr lang="en-US" sz="1200" b="0" i="0" u="none" strike="noStrike" dirty="0">
                          <a:solidFill>
                            <a:srgbClr val="FF0000"/>
                          </a:solidFill>
                          <a:effectLst/>
                          <a:latin typeface="Times New Roman" panose="02020603050405020304" pitchFamily="18" charset="0"/>
                        </a:rPr>
                        <a:t> 20/06</a:t>
                      </a:r>
                      <a:endParaRPr lang="en-US" sz="1200" b="0" i="0" u="none" strike="noStrike" dirty="0">
                        <a:solidFill>
                          <a:srgbClr val="000000"/>
                        </a:solidFill>
                        <a:effectLst/>
                        <a:latin typeface="Times New Roman" panose="02020603050405020304" pitchFamily="18" charset="0"/>
                      </a:endParaRP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1600107"/>
                  </a:ext>
                </a:extLst>
              </a:tr>
              <a:tr h="685800">
                <a:tc>
                  <a:txBody>
                    <a:bodyPr/>
                    <a:lstStyle/>
                    <a:p>
                      <a:pPr algn="ctr" fontAlgn="ctr"/>
                      <a:r>
                        <a:rPr lang="en-US" sz="1200" b="1" i="0" u="none" strike="noStrike">
                          <a:solidFill>
                            <a:srgbClr val="000000"/>
                          </a:solidFill>
                          <a:effectLst/>
                          <a:latin typeface="Times New Roman" panose="02020603050405020304" pitchFamily="18" charset="0"/>
                        </a:rPr>
                        <a:t>1'</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A321 NEO AOG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 do thiếu ENG (updated 18/05)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nn-NO" sz="1200" b="0" i="0" u="none" strike="noStrike" dirty="0">
                          <a:solidFill>
                            <a:srgbClr val="000000"/>
                          </a:solidFill>
                          <a:effectLst/>
                          <a:latin typeface="Times New Roman" panose="02020603050405020304" pitchFamily="18" charset="0"/>
                        </a:rPr>
                        <a:t>Thuê 1 ENG NEO về trước 05/06</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08317158"/>
                  </a:ext>
                </a:extLst>
              </a:tr>
              <a:tr h="685800">
                <a:tc>
                  <a:txBody>
                    <a:bodyPr/>
                    <a:lstStyle/>
                    <a:p>
                      <a:pPr algn="ctr" fontAlgn="ctr"/>
                      <a:r>
                        <a:rPr lang="en-US" sz="1200" b="1" i="0" u="none" strike="noStrike">
                          <a:solidFill>
                            <a:srgbClr val="000000"/>
                          </a:solidFill>
                          <a:effectLst/>
                          <a:latin typeface="Times New Roman" panose="02020603050405020304" pitchFamily="18" charset="0"/>
                        </a:rPr>
                        <a:t>2</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205739962"/>
                  </a:ext>
                </a:extLst>
              </a:tr>
              <a:tr h="685800">
                <a:tc>
                  <a:txBody>
                    <a:bodyPr/>
                    <a:lstStyle/>
                    <a:p>
                      <a:pPr algn="ctr" fontAlgn="ctr"/>
                      <a:r>
                        <a:rPr lang="en-US" sz="1200" b="1" i="0" u="none" strike="noStrike">
                          <a:solidFill>
                            <a:srgbClr val="000000"/>
                          </a:solidFill>
                          <a:effectLst/>
                          <a:latin typeface="Times New Roman" panose="02020603050405020304" pitchFamily="18" charset="0"/>
                        </a:rPr>
                        <a:t>3</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0.90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6430605"/>
                  </a:ext>
                </a:extLst>
              </a:tr>
              <a:tr h="685800">
                <a:tc>
                  <a:txBody>
                    <a:bodyPr/>
                    <a:lstStyle/>
                    <a:p>
                      <a:pPr algn="ctr" fontAlgn="ctr"/>
                      <a:r>
                        <a:rPr lang="en-US" sz="1200" b="1" i="0" u="none" strike="noStrike">
                          <a:solidFill>
                            <a:srgbClr val="000000"/>
                          </a:solidFill>
                          <a:effectLst/>
                          <a:latin typeface="Times New Roman" panose="02020603050405020304" pitchFamily="18" charset="0"/>
                        </a:rPr>
                        <a:t>4</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17.10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12.80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11.15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13.70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25150478"/>
                  </a:ext>
                </a:extLst>
              </a:tr>
              <a:tr h="428257">
                <a:tc>
                  <a:txBody>
                    <a:bodyPr/>
                    <a:lstStyle/>
                    <a:p>
                      <a:pPr algn="ctr" fontAlgn="ctr"/>
                      <a:r>
                        <a:rPr lang="en-US" sz="1200" b="1" i="0" u="none" strike="noStrike">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Phát sinh dừng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-0.75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FF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3928771"/>
                  </a:ext>
                </a:extLst>
              </a:tr>
            </a:tbl>
          </a:graphicData>
        </a:graphic>
      </p:graphicFrame>
    </p:spTree>
    <p:extLst>
      <p:ext uri="{BB962C8B-B14F-4D97-AF65-F5344CB8AC3E}">
        <p14:creationId xmlns:p14="http://schemas.microsoft.com/office/powerpoint/2010/main" val="755610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DDFF08A9-8AC8-8EF1-D698-3E3D5CF27C9F}"/>
              </a:ext>
            </a:extLst>
          </p:cNvPr>
          <p:cNvGraphicFramePr>
            <a:graphicFrameLocks noGrp="1"/>
          </p:cNvGraphicFramePr>
          <p:nvPr>
            <p:extLst/>
          </p:nvPr>
        </p:nvGraphicFramePr>
        <p:xfrm>
          <a:off x="381000" y="838200"/>
          <a:ext cx="11506199" cy="5638799"/>
        </p:xfrm>
        <a:graphic>
          <a:graphicData uri="http://schemas.openxmlformats.org/drawingml/2006/table">
            <a:tbl>
              <a:tblPr/>
              <a:tblGrid>
                <a:gridCol w="365090">
                  <a:extLst>
                    <a:ext uri="{9D8B030D-6E8A-4147-A177-3AD203B41FA5}">
                      <a16:colId xmlns:a16="http://schemas.microsoft.com/office/drawing/2014/main" val="3089920004"/>
                    </a:ext>
                  </a:extLst>
                </a:gridCol>
                <a:gridCol w="2496740">
                  <a:extLst>
                    <a:ext uri="{9D8B030D-6E8A-4147-A177-3AD203B41FA5}">
                      <a16:colId xmlns:a16="http://schemas.microsoft.com/office/drawing/2014/main" val="4154312610"/>
                    </a:ext>
                  </a:extLst>
                </a:gridCol>
                <a:gridCol w="529968">
                  <a:extLst>
                    <a:ext uri="{9D8B030D-6E8A-4147-A177-3AD203B41FA5}">
                      <a16:colId xmlns:a16="http://schemas.microsoft.com/office/drawing/2014/main" val="444455375"/>
                    </a:ext>
                  </a:extLst>
                </a:gridCol>
                <a:gridCol w="482859">
                  <a:extLst>
                    <a:ext uri="{9D8B030D-6E8A-4147-A177-3AD203B41FA5}">
                      <a16:colId xmlns:a16="http://schemas.microsoft.com/office/drawing/2014/main" val="4122484993"/>
                    </a:ext>
                  </a:extLst>
                </a:gridCol>
                <a:gridCol w="447530">
                  <a:extLst>
                    <a:ext uri="{9D8B030D-6E8A-4147-A177-3AD203B41FA5}">
                      <a16:colId xmlns:a16="http://schemas.microsoft.com/office/drawing/2014/main" val="925175407"/>
                    </a:ext>
                  </a:extLst>
                </a:gridCol>
                <a:gridCol w="506414">
                  <a:extLst>
                    <a:ext uri="{9D8B030D-6E8A-4147-A177-3AD203B41FA5}">
                      <a16:colId xmlns:a16="http://schemas.microsoft.com/office/drawing/2014/main" val="1168475993"/>
                    </a:ext>
                  </a:extLst>
                </a:gridCol>
                <a:gridCol w="482859">
                  <a:extLst>
                    <a:ext uri="{9D8B030D-6E8A-4147-A177-3AD203B41FA5}">
                      <a16:colId xmlns:a16="http://schemas.microsoft.com/office/drawing/2014/main" val="1890326553"/>
                    </a:ext>
                  </a:extLst>
                </a:gridCol>
                <a:gridCol w="482859">
                  <a:extLst>
                    <a:ext uri="{9D8B030D-6E8A-4147-A177-3AD203B41FA5}">
                      <a16:colId xmlns:a16="http://schemas.microsoft.com/office/drawing/2014/main" val="1533364308"/>
                    </a:ext>
                  </a:extLst>
                </a:gridCol>
                <a:gridCol w="506414">
                  <a:extLst>
                    <a:ext uri="{9D8B030D-6E8A-4147-A177-3AD203B41FA5}">
                      <a16:colId xmlns:a16="http://schemas.microsoft.com/office/drawing/2014/main" val="433561530"/>
                    </a:ext>
                  </a:extLst>
                </a:gridCol>
                <a:gridCol w="482859">
                  <a:extLst>
                    <a:ext uri="{9D8B030D-6E8A-4147-A177-3AD203B41FA5}">
                      <a16:colId xmlns:a16="http://schemas.microsoft.com/office/drawing/2014/main" val="4039037600"/>
                    </a:ext>
                  </a:extLst>
                </a:gridCol>
                <a:gridCol w="4722607">
                  <a:extLst>
                    <a:ext uri="{9D8B030D-6E8A-4147-A177-3AD203B41FA5}">
                      <a16:colId xmlns:a16="http://schemas.microsoft.com/office/drawing/2014/main" val="1688789406"/>
                    </a:ext>
                  </a:extLst>
                </a:gridCol>
              </a:tblGrid>
              <a:tr h="377444">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25/05)</a:t>
                      </a:r>
                    </a:p>
                  </a:txBody>
                  <a:tcPr marL="6458" marR="6458" marT="645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19005944"/>
                  </a:ext>
                </a:extLst>
              </a:tr>
              <a:tr h="356858">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Sep-25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159272614"/>
                  </a:ext>
                </a:extLst>
              </a:tr>
              <a:tr h="448359">
                <a:tc>
                  <a:txBody>
                    <a:bodyPr/>
                    <a:lstStyle/>
                    <a:p>
                      <a:pPr algn="ctr" fontAlgn="ctr"/>
                      <a:r>
                        <a:rPr lang="en-US" sz="1200" b="0" i="0" u="none" strike="noStrike">
                          <a:solidFill>
                            <a:srgbClr val="000000"/>
                          </a:solidFill>
                          <a:effectLst/>
                          <a:latin typeface="Times New Roman" panose="02020603050405020304" pitchFamily="18" charset="0"/>
                        </a:rPr>
                        <a:t>1</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FF0000"/>
                          </a:solidFill>
                          <a:effectLst/>
                          <a:latin typeface="Times New Roman" panose="02020603050405020304" pitchFamily="18" charset="0"/>
                        </a:rPr>
                        <a:t>- 07/2025: tăng 0.5 tàu do ENG về muộn  =&gt; A895 RTS muộn</a:t>
                      </a:r>
                      <a:r>
                        <a:rPr lang="en-US" sz="1200" b="0" i="0" u="none" strike="noStrike">
                          <a:solidFill>
                            <a:srgbClr val="000000"/>
                          </a:solidFill>
                          <a:effectLst/>
                          <a:latin typeface="Times New Roman" panose="02020603050405020304" pitchFamily="18" charset="0"/>
                        </a:rPr>
                        <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- 06/2025: tăng 0.5 tàu do ENG về muộn</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828091"/>
                  </a:ext>
                </a:extLst>
              </a:tr>
              <a:tr h="448359">
                <a:tc>
                  <a:txBody>
                    <a:bodyPr/>
                    <a:lstStyle/>
                    <a:p>
                      <a:pPr algn="ctr" fontAlgn="ctr"/>
                      <a:r>
                        <a:rPr lang="en-US" sz="1200" b="0" i="0" u="none" strike="noStrike">
                          <a:solidFill>
                            <a:srgbClr val="000000"/>
                          </a:solidFill>
                          <a:effectLst/>
                          <a:latin typeface="Times New Roman" panose="02020603050405020304" pitchFamily="18" charset="0"/>
                        </a:rPr>
                        <a:t>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dirty="0">
                          <a:solidFill>
                            <a:srgbClr val="000000"/>
                          </a:solidFill>
                          <a:effectLst/>
                          <a:latin typeface="Times New Roman" panose="02020603050405020304" pitchFamily="18" charset="0"/>
                        </a:rPr>
                        <a:t>A350 </a:t>
                      </a:r>
                      <a:r>
                        <a:rPr lang="en-US" sz="1200" b="1" i="0" u="none" strike="noStrike" dirty="0" err="1">
                          <a:solidFill>
                            <a:srgbClr val="000000"/>
                          </a:solidFill>
                          <a:effectLst/>
                          <a:latin typeface="Times New Roman" panose="02020603050405020304" pitchFamily="18" charset="0"/>
                        </a:rPr>
                        <a:t>dừng</a:t>
                      </a:r>
                      <a:r>
                        <a:rPr lang="en-US" sz="1200" b="1" i="0" u="none" strike="noStrike" dirty="0">
                          <a:solidFill>
                            <a:srgbClr val="000000"/>
                          </a:solidFill>
                          <a:effectLst/>
                          <a:latin typeface="Times New Roman" panose="02020603050405020304" pitchFamily="18" charset="0"/>
                        </a:rPr>
                        <a:t> BD</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07/2025: tăng 0.2 tàu do bổ sung thay ENG A890 (không giữ được giờ do ENG 21584 về 16/06 muộn 14 ngày so với KH cũ 02/06)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781862648"/>
                  </a:ext>
                </a:extLst>
              </a:tr>
              <a:tr h="457509">
                <a:tc>
                  <a:txBody>
                    <a:bodyPr/>
                    <a:lstStyle/>
                    <a:p>
                      <a:pPr algn="ctr" fontAlgn="ctr"/>
                      <a:r>
                        <a:rPr lang="en-US" sz="1200" b="0" i="0" u="none" strike="noStrike">
                          <a:solidFill>
                            <a:srgbClr val="000000"/>
                          </a:solidFill>
                          <a:effectLst/>
                          <a:latin typeface="Times New Roman" panose="02020603050405020304" pitchFamily="18" charset="0"/>
                        </a:rPr>
                        <a:t>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1163080"/>
                  </a:ext>
                </a:extLst>
              </a:tr>
              <a:tr h="457509">
                <a:tc>
                  <a:txBody>
                    <a:bodyPr/>
                    <a:lstStyle/>
                    <a:p>
                      <a:pPr algn="ctr" fontAlgn="ctr"/>
                      <a:r>
                        <a:rPr lang="en-US" sz="1200" b="0" i="0" u="none" strike="noStrike">
                          <a:solidFill>
                            <a:srgbClr val="000000"/>
                          </a:solidFill>
                          <a:effectLst/>
                          <a:latin typeface="Times New Roman" panose="02020603050405020304" pitchFamily="18" charset="0"/>
                        </a:rPr>
                        <a:t>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dirty="0">
                          <a:solidFill>
                            <a:srgbClr val="000000"/>
                          </a:solidFill>
                          <a:effectLst/>
                          <a:latin typeface="Times New Roman" panose="02020603050405020304" pitchFamily="18" charset="0"/>
                        </a:rPr>
                        <a:t>A350 </a:t>
                      </a:r>
                      <a:r>
                        <a:rPr lang="en-US" sz="1200" b="1" i="0" u="none" strike="noStrike" dirty="0" err="1">
                          <a:solidFill>
                            <a:srgbClr val="000000"/>
                          </a:solidFill>
                          <a:effectLst/>
                          <a:latin typeface="Times New Roman" panose="02020603050405020304" pitchFamily="18" charset="0"/>
                        </a:rPr>
                        <a:t>thực</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tế</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có</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thể</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khai</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thác</a:t>
                      </a:r>
                      <a:r>
                        <a:rPr lang="en-US" sz="1200" b="1" i="0" u="none" strike="noStrike" dirty="0">
                          <a:solidFill>
                            <a:srgbClr val="000000"/>
                          </a:solidFill>
                          <a:effectLst/>
                          <a:latin typeface="Times New Roman" panose="02020603050405020304" pitchFamily="18" charset="0"/>
                        </a:rPr>
                        <a:t/>
                      </a:r>
                      <a:br>
                        <a:rPr lang="en-US" sz="1200" b="1" i="0" u="none" strike="noStrike" dirty="0">
                          <a:solidFill>
                            <a:srgbClr val="000000"/>
                          </a:solidFill>
                          <a:effectLst/>
                          <a:latin typeface="Times New Roman" panose="02020603050405020304" pitchFamily="18" charset="0"/>
                        </a:rPr>
                      </a:br>
                      <a:r>
                        <a:rPr lang="en-US" sz="1200" b="1" i="0" u="none" strike="noStrike" dirty="0">
                          <a:solidFill>
                            <a:srgbClr val="000000"/>
                          </a:solidFill>
                          <a:effectLst/>
                          <a:latin typeface="Times New Roman" panose="02020603050405020304" pitchFamily="18" charset="0"/>
                        </a:rPr>
                        <a:t>(4) = 14 - (3)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86448547"/>
                  </a:ext>
                </a:extLst>
              </a:tr>
              <a:tr h="457509">
                <a:tc>
                  <a:txBody>
                    <a:bodyPr/>
                    <a:lstStyle/>
                    <a:p>
                      <a:pPr algn="ctr" fontAlgn="ctr"/>
                      <a:r>
                        <a:rPr lang="en-US" sz="1200" b="0" i="0" u="none" strike="noStrike">
                          <a:solidFill>
                            <a:srgbClr val="000000"/>
                          </a:solidFill>
                          <a:effectLst/>
                          <a:latin typeface="Times New Roman" panose="02020603050405020304" pitchFamily="18" charset="0"/>
                        </a:rPr>
                        <a:t>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9331169"/>
                  </a:ext>
                </a:extLst>
              </a:tr>
              <a:tr h="1262725">
                <a:tc>
                  <a:txBody>
                    <a:bodyPr/>
                    <a:lstStyle/>
                    <a:p>
                      <a:pPr algn="ctr" fontAlgn="ctr"/>
                      <a:r>
                        <a:rPr lang="en-US" sz="1200" b="0" i="0" u="none" strike="noStrike">
                          <a:solidFill>
                            <a:srgbClr val="000000"/>
                          </a:solidFill>
                          <a:effectLst/>
                          <a:latin typeface="Times New Roman" panose="02020603050405020304" pitchFamily="18" charset="0"/>
                        </a:rPr>
                        <a:t>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- 06/2025: tăng 0.2 tàu do ảnh hưởng thay ENG A871 AOG và bổ sung thay ENG A863 &amp; A873</a:t>
                      </a:r>
                      <a:br>
                        <a:rPr lang="vi-VN" sz="1200" b="0" i="0" u="none" strike="noStrike">
                          <a:solidFill>
                            <a:srgbClr val="00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- 07/2023: tăng 0.2 tàu do bổ sung thay ENG A873 (giới hạn CY để ko phát sinh tăng WS SV)</a:t>
                      </a:r>
                      <a:r>
                        <a:rPr lang="vi-VN" sz="1200" b="0" i="0" u="none" strike="noStrike">
                          <a:solidFill>
                            <a:srgbClr val="000000"/>
                          </a:solidFill>
                          <a:effectLst/>
                          <a:latin typeface="Times New Roman" panose="02020603050405020304" pitchFamily="18" charset="0"/>
                        </a:rPr>
                        <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- 08/2025: tăng 0.2 tàu do A870 Y3 (due: 04/06) xin NN lùi sau cao điểm hè</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6341254"/>
                  </a:ext>
                </a:extLst>
              </a:tr>
              <a:tr h="457509">
                <a:tc>
                  <a:txBody>
                    <a:bodyPr/>
                    <a:lstStyle/>
                    <a:p>
                      <a:pPr algn="ctr" fontAlgn="ctr"/>
                      <a:r>
                        <a:rPr lang="en-US" sz="1200" b="0" i="0" u="none" strike="noStrike">
                          <a:solidFill>
                            <a:srgbClr val="000000"/>
                          </a:solidFill>
                          <a:effectLst/>
                          <a:latin typeface="Times New Roman" panose="02020603050405020304" pitchFamily="18" charset="0"/>
                        </a:rPr>
                        <a:t>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8180723"/>
                  </a:ext>
                </a:extLst>
              </a:tr>
              <a:tr h="457509">
                <a:tc>
                  <a:txBody>
                    <a:bodyPr/>
                    <a:lstStyle/>
                    <a:p>
                      <a:pPr algn="ctr" fontAlgn="ctr"/>
                      <a:r>
                        <a:rPr lang="en-US" sz="1200" b="0" i="0" u="none" strike="noStrike">
                          <a:solidFill>
                            <a:srgbClr val="000000"/>
                          </a:solidFill>
                          <a:effectLst/>
                          <a:latin typeface="Times New Roman" panose="02020603050405020304" pitchFamily="18" charset="0"/>
                        </a:rPr>
                        <a:t>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248699129"/>
                  </a:ext>
                </a:extLst>
              </a:tr>
              <a:tr h="457509">
                <a:tc>
                  <a:txBody>
                    <a:bodyPr/>
                    <a:lstStyle/>
                    <a:p>
                      <a:pPr algn="ctr" fontAlgn="ctr"/>
                      <a:r>
                        <a:rPr lang="en-US" sz="1200" b="0" i="0" u="none" strike="noStrike">
                          <a:solidFill>
                            <a:srgbClr val="000000"/>
                          </a:solidFill>
                          <a:effectLst/>
                          <a:latin typeface="Times New Roman" panose="02020603050405020304" pitchFamily="18" charset="0"/>
                        </a:rPr>
                        <a:t>9</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5.8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1.9</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7551193"/>
                  </a:ext>
                </a:extLst>
              </a:tr>
            </a:tbl>
          </a:graphicData>
        </a:graphic>
      </p:graphicFrame>
    </p:spTree>
    <p:extLst>
      <p:ext uri="{BB962C8B-B14F-4D97-AF65-F5344CB8AC3E}">
        <p14:creationId xmlns:p14="http://schemas.microsoft.com/office/powerpoint/2010/main" val="4071624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39</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21</a:t>
            </a:r>
            <a:endParaRPr lang="vi-VN" sz="2700" dirty="0"/>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12a,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12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06</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06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13ea,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10ea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 – T10/2025)</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033</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111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78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21: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10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19ea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soát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màn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A895 RTS</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21: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243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8%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20),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91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152ADD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20).</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00.</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09,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08,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950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40</a:t>
            </a:fld>
            <a:endParaRPr lang="en-US"/>
          </a:p>
        </p:txBody>
      </p:sp>
      <p:sp>
        <p:nvSpPr>
          <p:cNvPr id="5" name="Title 4"/>
          <p:cNvSpPr>
            <a:spLocks noGrp="1"/>
          </p:cNvSpPr>
          <p:nvPr>
            <p:ph type="title"/>
          </p:nvPr>
        </p:nvSpPr>
        <p:spPr>
          <a:xfrm>
            <a:off x="201769" y="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03965099"/>
              </p:ext>
            </p:extLst>
          </p:nvPr>
        </p:nvGraphicFramePr>
        <p:xfrm>
          <a:off x="3999462" y="642908"/>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996253330"/>
              </p:ext>
            </p:extLst>
          </p:nvPr>
        </p:nvGraphicFramePr>
        <p:xfrm>
          <a:off x="801331" y="3124200"/>
          <a:ext cx="10515600" cy="2691864"/>
        </p:xfrm>
        <a:graphic>
          <a:graphicData uri="http://schemas.openxmlformats.org/drawingml/2006/table">
            <a:tbl>
              <a:tblPr/>
              <a:tblGrid>
                <a:gridCol w="244779">
                  <a:extLst>
                    <a:ext uri="{9D8B030D-6E8A-4147-A177-3AD203B41FA5}">
                      <a16:colId xmlns:a16="http://schemas.microsoft.com/office/drawing/2014/main" val="482919260"/>
                    </a:ext>
                  </a:extLst>
                </a:gridCol>
                <a:gridCol w="1565101">
                  <a:extLst>
                    <a:ext uri="{9D8B030D-6E8A-4147-A177-3AD203B41FA5}">
                      <a16:colId xmlns:a16="http://schemas.microsoft.com/office/drawing/2014/main" val="1015663832"/>
                    </a:ext>
                  </a:extLst>
                </a:gridCol>
                <a:gridCol w="504392">
                  <a:extLst>
                    <a:ext uri="{9D8B030D-6E8A-4147-A177-3AD203B41FA5}">
                      <a16:colId xmlns:a16="http://schemas.microsoft.com/office/drawing/2014/main" val="1420480754"/>
                    </a:ext>
                  </a:extLst>
                </a:gridCol>
                <a:gridCol w="430217">
                  <a:extLst>
                    <a:ext uri="{9D8B030D-6E8A-4147-A177-3AD203B41FA5}">
                      <a16:colId xmlns:a16="http://schemas.microsoft.com/office/drawing/2014/main" val="2351047967"/>
                    </a:ext>
                  </a:extLst>
                </a:gridCol>
                <a:gridCol w="4363987">
                  <a:extLst>
                    <a:ext uri="{9D8B030D-6E8A-4147-A177-3AD203B41FA5}">
                      <a16:colId xmlns:a16="http://schemas.microsoft.com/office/drawing/2014/main" val="1587253891"/>
                    </a:ext>
                  </a:extLst>
                </a:gridCol>
                <a:gridCol w="608238">
                  <a:extLst>
                    <a:ext uri="{9D8B030D-6E8A-4147-A177-3AD203B41FA5}">
                      <a16:colId xmlns:a16="http://schemas.microsoft.com/office/drawing/2014/main" val="373931117"/>
                    </a:ext>
                  </a:extLst>
                </a:gridCol>
                <a:gridCol w="793677">
                  <a:extLst>
                    <a:ext uri="{9D8B030D-6E8A-4147-A177-3AD203B41FA5}">
                      <a16:colId xmlns:a16="http://schemas.microsoft.com/office/drawing/2014/main" val="3115730381"/>
                    </a:ext>
                  </a:extLst>
                </a:gridCol>
                <a:gridCol w="1582409">
                  <a:extLst>
                    <a:ext uri="{9D8B030D-6E8A-4147-A177-3AD203B41FA5}">
                      <a16:colId xmlns:a16="http://schemas.microsoft.com/office/drawing/2014/main" val="1867004408"/>
                    </a:ext>
                  </a:extLst>
                </a:gridCol>
                <a:gridCol w="422800">
                  <a:extLst>
                    <a:ext uri="{9D8B030D-6E8A-4147-A177-3AD203B41FA5}">
                      <a16:colId xmlns:a16="http://schemas.microsoft.com/office/drawing/2014/main" val="62296606"/>
                    </a:ext>
                  </a:extLst>
                </a:gridCol>
              </a:tblGrid>
              <a:tr h="160407">
                <a:tc gridSpan="9">
                  <a:txBody>
                    <a:bodyPr/>
                    <a:lstStyle/>
                    <a:p>
                      <a:pPr algn="ctr" fontAlgn="ctr"/>
                      <a:r>
                        <a:rPr lang="vi-VN" sz="1400" b="1" i="0" u="none" strike="noStrike">
                          <a:solidFill>
                            <a:srgbClr val="000000"/>
                          </a:solidFill>
                          <a:effectLst/>
                          <a:latin typeface="Times New Roman" panose="02020603050405020304" pitchFamily="18" charset="0"/>
                        </a:rPr>
                        <a:t>BẢNG TỔNG HỢP VÀ THEO DÕI NHÂN NHƯỢNG - VIETNAM AIRLINES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3392149"/>
                  </a:ext>
                </a:extLst>
              </a:tr>
              <a:tr h="160407">
                <a:tc>
                  <a:txBody>
                    <a:bodyPr/>
                    <a:lstStyle/>
                    <a:p>
                      <a:pPr algn="ctr" fontAlgn="ctr"/>
                      <a:r>
                        <a:rPr lang="en-US" sz="1400" b="1" i="0" u="none" strike="noStrike">
                          <a:solidFill>
                            <a:srgbClr val="000000"/>
                          </a:solidFill>
                          <a:effectLst/>
                          <a:latin typeface="Times New Roman" panose="02020603050405020304" pitchFamily="18" charset="0"/>
                        </a:rPr>
                        <a:t>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Concession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Type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Reg</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Description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Issued By</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Issued Date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ADD/CHK/Task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Status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7178268"/>
                  </a:ext>
                </a:extLst>
              </a:tr>
              <a:tr h="294080">
                <a:tc>
                  <a:txBody>
                    <a:bodyPr/>
                    <a:lstStyle/>
                    <a:p>
                      <a:pPr algn="ctr" fontAlgn="ctr"/>
                      <a:r>
                        <a:rPr lang="en-150" sz="1200" b="0" i="0" u="none" strike="noStrike">
                          <a:solidFill>
                            <a:srgbClr val="000000"/>
                          </a:solidFill>
                          <a:effectLst/>
                          <a:latin typeface="Times New Roman" panose="02020603050405020304" pitchFamily="18" charset="0"/>
                        </a:rPr>
                        <a:t>1</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864-05/25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A864</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Due to LACK OF RESOURCES, schedule of group  tasks check A05 for VN-A864 needs to be extended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20-May-2025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OPEN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6253709"/>
                  </a:ext>
                </a:extLst>
              </a:tr>
              <a:tr h="294080">
                <a:tc>
                  <a:txBody>
                    <a:bodyPr/>
                    <a:lstStyle/>
                    <a:p>
                      <a:pPr algn="ctr" fontAlgn="ctr"/>
                      <a:r>
                        <a:rPr lang="en-150" sz="1200" b="0" i="0" u="none" strike="noStrike">
                          <a:solidFill>
                            <a:srgbClr val="000000"/>
                          </a:solidFill>
                          <a:effectLst/>
                          <a:latin typeface="Times New Roman" panose="02020603050405020304" pitchFamily="18" charset="0"/>
                        </a:rPr>
                        <a:t>2</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866-06/25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A866</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Due to LACK OF RESOURCES, schedule of group tasks check A09 for VN-A866 needs to be extended.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20-May-2025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OPEN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8138154"/>
                  </a:ext>
                </a:extLst>
              </a:tr>
              <a:tr h="441121">
                <a:tc>
                  <a:txBody>
                    <a:bodyPr/>
                    <a:lstStyle/>
                    <a:p>
                      <a:pPr algn="ctr" fontAlgn="ctr"/>
                      <a:r>
                        <a:rPr lang="en-150" sz="1200" b="0" i="0" u="none" strike="noStrike">
                          <a:solidFill>
                            <a:srgbClr val="000000"/>
                          </a:solidFill>
                          <a:effectLst/>
                          <a:latin typeface="Times New Roman" panose="02020603050405020304" pitchFamily="18" charset="0"/>
                        </a:rPr>
                        <a:t>3</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 335-02/25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A335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EXTEND SCHEDULE OF GROUP AMP TASKS DUE TO MAINTENANCE SCHEDULE TO MEET FLIGHT SCHEDULE. LIST TASK ATTACHED EXCEPT ALI,CMR, AD/CN, FAL, SEM, LLP</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19-May-2025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OPEN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4821710"/>
                  </a:ext>
                </a:extLst>
              </a:tr>
              <a:tr h="294080">
                <a:tc>
                  <a:txBody>
                    <a:bodyPr/>
                    <a:lstStyle/>
                    <a:p>
                      <a:pPr algn="ctr" fontAlgn="ctr"/>
                      <a:r>
                        <a:rPr lang="en-150" sz="1200" b="0" i="0" u="none" strike="noStrike">
                          <a:solidFill>
                            <a:srgbClr val="000000"/>
                          </a:solidFill>
                          <a:effectLst/>
                          <a:latin typeface="Times New Roman" panose="02020603050405020304" pitchFamily="18" charset="0"/>
                        </a:rPr>
                        <a:t>4</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VN-A358 HVN 21May25-1</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A358</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B1739 SEAL OF FIX FAIRING #3 LH WING DAMAGED IS RAISED REF CDL 27-15 (REV 08JAN-2025) DEADLINE 39662:35FH</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21-May-2025</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B1739</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200" b="0" i="0" u="none" strike="noStrike">
                          <a:solidFill>
                            <a:srgbClr val="000000"/>
                          </a:solidFill>
                          <a:effectLst/>
                          <a:latin typeface="Times New Roman" panose="02020603050405020304" pitchFamily="18" charset="0"/>
                        </a:rPr>
                        <a:t> </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2270926"/>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195:55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799:05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784:55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528:15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846:15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189:10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extLst/>
          </p:nvPr>
        </p:nvGraphicFramePr>
        <p:xfrm>
          <a:off x="1059507" y="833241"/>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65611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8" y="1143000"/>
          <a:ext cx="10521106" cy="22659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35371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983673" y="1295400"/>
          <a:ext cx="10549845" cy="5105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363445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i="0" u="none" strike="noStrike" cap="none">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A625: HAN - INSTALL ENG1,2+EA04-EA05+RTS(19/05-28/05, ADJ 02/06): Vật tư cung ứng đủ</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A358: SGN - PAINTING (21/05-31/05): chưa có phát sinh</a:t>
            </a: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a:t>
            </a:r>
            <a:endParaRPr sz="1500" b="1" i="0" u="none" strike="noStrike" cap="none">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A335 hỏng Anti Ice Valve PN 326975: dự kiến 30/5 (STEA cấp)</a:t>
            </a:r>
            <a:endParaRPr sz="1500" b="1">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A339 hỏng BTMU PN 35-1H5-1002: dự kiến 28/5 (STEA cấp)</a:t>
            </a: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không có vướng mắc vật tư</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513600" y="3553801"/>
            <a:ext cx="11164800" cy="2201060"/>
          </a:xfrm>
          <a:prstGeom prst="rect">
            <a:avLst/>
          </a:prstGeom>
          <a:noFill/>
          <a:ln>
            <a:noFill/>
          </a:ln>
        </p:spPr>
      </p:pic>
    </p:spTree>
    <p:extLst>
      <p:ext uri="{BB962C8B-B14F-4D97-AF65-F5344CB8AC3E}">
        <p14:creationId xmlns:p14="http://schemas.microsoft.com/office/powerpoint/2010/main" val="193014033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50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115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30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48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09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46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11 overdue orders / total 21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13575" y="2097275"/>
            <a:ext cx="9231525" cy="4550075"/>
          </a:xfrm>
          <a:prstGeom prst="rect">
            <a:avLst/>
          </a:prstGeom>
          <a:noFill/>
          <a:ln>
            <a:noFill/>
          </a:ln>
        </p:spPr>
      </p:pic>
    </p:spTree>
    <p:extLst>
      <p:ext uri="{BB962C8B-B14F-4D97-AF65-F5344CB8AC3E}">
        <p14:creationId xmlns:p14="http://schemas.microsoft.com/office/powerpoint/2010/main" val="13050256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6" name="Google Shape;17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graphicFrame>
        <p:nvGraphicFramePr>
          <p:cNvPr id="177" name="Google Shape;177;g31ccdae391d_0_271"/>
          <p:cNvGraphicFramePr/>
          <p:nvPr/>
        </p:nvGraphicFramePr>
        <p:xfrm>
          <a:off x="489114" y="611396"/>
          <a:ext cx="11570675" cy="519031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 1ea 25/5 nh</a:t>
                      </a:r>
                      <a:r>
                        <a:rPr lang="en-US" sz="1600">
                          <a:solidFill>
                            <a:schemeClr val="dk1"/>
                          </a:solidFill>
                          <a:latin typeface="Times New Roman"/>
                          <a:ea typeface="Times New Roman"/>
                          <a:cs typeface="Times New Roman"/>
                          <a:sym typeface="Times New Roman"/>
                        </a:rPr>
                        <a:t>ập kho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đang giục sửa chữa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sửa chữa tại HAN BASE</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a:solidFill>
                            <a:schemeClr val="dk1"/>
                          </a:solidFill>
                          <a:latin typeface="Times New Roman"/>
                          <a:ea typeface="Times New Roman"/>
                          <a:cs typeface="Times New Roman"/>
                          <a:sym typeface="Times New Roman"/>
                        </a:rPr>
                        <a:t>Sửa tại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sửa chữa tại HAN BASE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9</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LH</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745-4000-515</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1ea, Ban QLVT đang tìm thuê cho A363</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10 </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RH</a:t>
                      </a:r>
                      <a:endParaRPr sz="1600">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745-4000-516</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a:t>
                      </a:r>
                      <a:r>
                        <a:rPr lang="en-US" sz="1600">
                          <a:solidFill>
                            <a:schemeClr val="dk1"/>
                          </a:solidFill>
                          <a:latin typeface="Times New Roman"/>
                          <a:ea typeface="Times New Roman"/>
                          <a:cs typeface="Times New Roman"/>
                          <a:sym typeface="Times New Roman"/>
                        </a:rPr>
                        <a:t>, đang giục sửa chữa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324775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graphicFrame>
        <p:nvGraphicFramePr>
          <p:cNvPr id="185" name="Google Shape;185;g31ccdae391d_0_278"/>
          <p:cNvGraphicFramePr/>
          <p:nvPr/>
        </p:nvGraphicFramePr>
        <p:xfrm>
          <a:off x="558675" y="462325"/>
          <a:ext cx="10287000" cy="6309871"/>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đang push Honeywell cấp AOG nhưng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1ea 25/5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2310946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2" name="Google Shape;19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graphicFrame>
        <p:nvGraphicFramePr>
          <p:cNvPr id="193" name="Google Shape;19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218287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26</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49</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15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17</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11</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32</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257425" y="1762724"/>
            <a:ext cx="7686675" cy="4671426"/>
          </a:xfrm>
          <a:prstGeom prst="rect">
            <a:avLst/>
          </a:prstGeom>
          <a:noFill/>
          <a:ln>
            <a:noFill/>
          </a:ln>
        </p:spPr>
      </p:pic>
    </p:spTree>
    <p:extLst>
      <p:ext uri="{BB962C8B-B14F-4D97-AF65-F5344CB8AC3E}">
        <p14:creationId xmlns:p14="http://schemas.microsoft.com/office/powerpoint/2010/main" val="293434927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graphicFrame>
        <p:nvGraphicFramePr>
          <p:cNvPr id="211" name="Google Shape;211;g31ccdae391d_0_308"/>
          <p:cNvGraphicFramePr/>
          <p:nvPr>
            <p:extLst/>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EDD 10Jul.</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chưa có EDD.</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dirty="0">
                          <a:solidFill>
                            <a:schemeClr val="dk1"/>
                          </a:solidFill>
                          <a:latin typeface="Times New Roman"/>
                          <a:ea typeface="Times New Roman"/>
                          <a:cs typeface="Times New Roman"/>
                          <a:sym typeface="Times New Roman"/>
                        </a:rPr>
                        <a:t>01ea in stock, 01 </a:t>
                      </a:r>
                      <a:r>
                        <a:rPr lang="en-US" sz="1200" dirty="0" err="1">
                          <a:solidFill>
                            <a:schemeClr val="dk1"/>
                          </a:solidFill>
                          <a:latin typeface="Times New Roman"/>
                          <a:ea typeface="Times New Roman"/>
                          <a:cs typeface="Times New Roman"/>
                          <a:sym typeface="Times New Roman"/>
                        </a:rPr>
                        <a:t>giao</a:t>
                      </a:r>
                      <a:r>
                        <a:rPr lang="en-US" sz="1200" dirty="0">
                          <a:solidFill>
                            <a:schemeClr val="dk1"/>
                          </a:solidFill>
                          <a:latin typeface="Times New Roman"/>
                          <a:ea typeface="Times New Roman"/>
                          <a:cs typeface="Times New Roman"/>
                          <a:sym typeface="Times New Roman"/>
                        </a:rPr>
                        <a:t> SGN </a:t>
                      </a:r>
                      <a:r>
                        <a:rPr lang="en-US" sz="1200" dirty="0" smtClean="0">
                          <a:solidFill>
                            <a:schemeClr val="dk1"/>
                          </a:solidFill>
                          <a:latin typeface="Times New Roman"/>
                          <a:ea typeface="Times New Roman"/>
                          <a:cs typeface="Times New Roman"/>
                          <a:sym typeface="Times New Roman"/>
                        </a:rPr>
                        <a:t>27/05.</a:t>
                      </a:r>
                      <a:endParaRPr sz="1200" dirty="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774322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dirty="0">
                <a:solidFill>
                  <a:schemeClr val="dk1"/>
                </a:solidFill>
                <a:latin typeface="Times New Roman"/>
                <a:ea typeface="Times New Roman"/>
                <a:cs typeface="Times New Roman"/>
                <a:sym typeface="Times New Roman"/>
              </a:rPr>
              <a:t>PTVT </a:t>
            </a:r>
            <a:r>
              <a:rPr lang="en-US" sz="1600" b="0" i="0" u="none" strike="noStrike" cap="none" dirty="0" err="1">
                <a:solidFill>
                  <a:schemeClr val="dk1"/>
                </a:solidFill>
                <a:latin typeface="Times New Roman"/>
                <a:ea typeface="Times New Roman"/>
                <a:cs typeface="Times New Roman"/>
                <a:sym typeface="Times New Roman"/>
              </a:rPr>
              <a:t>thay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VFSG, GPM, NSG, CAC, GWIV.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A864 - </a:t>
            </a:r>
            <a:r>
              <a:rPr lang="en-US" sz="1600" dirty="0" smtClean="0">
                <a:solidFill>
                  <a:schemeClr val="dk1"/>
                </a:solidFill>
                <a:latin typeface="Times New Roman"/>
                <a:ea typeface="Times New Roman"/>
                <a:cs typeface="Times New Roman"/>
                <a:sym typeface="Times New Roman"/>
              </a:rPr>
              <a:t>AFT </a:t>
            </a:r>
            <a:r>
              <a:rPr lang="en-US" sz="1600" dirty="0">
                <a:solidFill>
                  <a:schemeClr val="dk1"/>
                </a:solidFill>
                <a:latin typeface="Times New Roman"/>
                <a:ea typeface="Times New Roman"/>
                <a:cs typeface="Times New Roman"/>
                <a:sym typeface="Times New Roman"/>
              </a:rPr>
              <a:t>CARGO HANDLING SYSTEM IN/OUT IN CENTER LOADING PDU INOP: Joystick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đnag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thiếu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giấy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tờ</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chờ</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bổ</a:t>
            </a:r>
            <a:r>
              <a:rPr lang="en-US" sz="1600" dirty="0">
                <a:solidFill>
                  <a:schemeClr val="dk1"/>
                </a:solidFill>
                <a:latin typeface="Times New Roman"/>
                <a:ea typeface="Times New Roman"/>
                <a:cs typeface="Times New Roman"/>
                <a:sym typeface="Times New Roman"/>
              </a:rPr>
              <a:t> sung.</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777975" y="2789988"/>
            <a:ext cx="10610850" cy="3019425"/>
          </a:xfrm>
          <a:prstGeom prst="rect">
            <a:avLst/>
          </a:prstGeom>
          <a:noFill/>
          <a:ln>
            <a:noFill/>
          </a:ln>
        </p:spPr>
      </p:pic>
    </p:spTree>
    <p:extLst>
      <p:ext uri="{BB962C8B-B14F-4D97-AF65-F5344CB8AC3E}">
        <p14:creationId xmlns:p14="http://schemas.microsoft.com/office/powerpoint/2010/main" val="43317129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45</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90</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12</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14</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33</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76</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814648" y="2162729"/>
            <a:ext cx="6329350" cy="4338094"/>
          </a:xfrm>
          <a:prstGeom prst="rect">
            <a:avLst/>
          </a:prstGeom>
          <a:noFill/>
          <a:ln>
            <a:noFill/>
          </a:ln>
        </p:spPr>
      </p:pic>
    </p:spTree>
    <p:extLst>
      <p:ext uri="{BB962C8B-B14F-4D97-AF65-F5344CB8AC3E}">
        <p14:creationId xmlns:p14="http://schemas.microsoft.com/office/powerpoint/2010/main" val="11416929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238" name="Google Shape;238;g31ccdae391d_0_332"/>
          <p:cNvGraphicFramePr/>
          <p:nvPr>
            <p:extLst/>
          </p:nvPr>
        </p:nvGraphicFramePr>
        <p:xfrm>
          <a:off x="474783" y="301869"/>
          <a:ext cx="11561850" cy="5946144"/>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72474">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2474">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67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6e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 (dùng cho thay thế AD hạn 30/05).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56386">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07</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 của tàu BQ.</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+ 01ea giao HAN 27/05.</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+ 02ea EDD 05Jun</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+ 09ea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1677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07</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1677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Nhiều tàu A350 có mssg VCRU và controller.</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VCRU chưa có lịch ship.</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58956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Safran dự kiến cuối tháng 4 mới có PMSD cho sửa chữa. Mặc dù đã rob 20ea oven từ 02 tàu bảo quản A886 và A887 nhưng vẫn còn 03 hỏng hóc cho tàu A889.</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Từ đầu năm 2025 yêu cầu 31ea, trong đó đã thay 28ea và có 04 TH NFF.</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+ 0</a:t>
                      </a:r>
                      <a:r>
                        <a:rPr lang="en-US" sz="1300" dirty="0">
                          <a:solidFill>
                            <a:schemeClr val="dk1"/>
                          </a:solidFill>
                          <a:latin typeface="Times New Roman"/>
                          <a:ea typeface="Times New Roman"/>
                          <a:cs typeface="Times New Roman"/>
                          <a:sym typeface="Times New Roman"/>
                        </a:rPr>
                        <a:t>5</a:t>
                      </a:r>
                      <a:r>
                        <a:rPr lang="en-US" sz="1300" u="none" strike="noStrike" cap="none" dirty="0">
                          <a:solidFill>
                            <a:schemeClr val="dk1"/>
                          </a:solidFill>
                          <a:latin typeface="Times New Roman"/>
                          <a:ea typeface="Times New Roman"/>
                          <a:cs typeface="Times New Roman"/>
                          <a:sym typeface="Times New Roman"/>
                        </a:rPr>
                        <a:t>ea in stock</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giữ</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lại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dùng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 </a:t>
                      </a:r>
                      <a:r>
                        <a:rPr lang="en-US" sz="1300" dirty="0" err="1">
                          <a:solidFill>
                            <a:schemeClr val="dk1"/>
                          </a:solidFill>
                          <a:latin typeface="Times New Roman"/>
                          <a:ea typeface="Times New Roman"/>
                          <a:cs typeface="Times New Roman"/>
                          <a:sym typeface="Times New Roman"/>
                        </a:rPr>
                        <a:t>phá</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hàng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20, do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kế</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hoạch</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nên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oven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ưu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lắp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198084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 vẫn chưa giảm.</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A888, A892, A898 - CHILLER SYS INOP: đặt hàng VCRU, chưa có EDD (nguồn cung từ Honeywell rất chậm, Airbus cũng đã có thư về việc cung ứng hàng khó khăn cho VCRU).</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85813" y="3133725"/>
            <a:ext cx="10620375" cy="1352550"/>
          </a:xfrm>
          <a:prstGeom prst="rect">
            <a:avLst/>
          </a:prstGeom>
          <a:noFill/>
          <a:ln>
            <a:noFill/>
          </a:ln>
        </p:spPr>
      </p:pic>
    </p:spTree>
    <p:extLst>
      <p:ext uri="{BB962C8B-B14F-4D97-AF65-F5344CB8AC3E}">
        <p14:creationId xmlns:p14="http://schemas.microsoft.com/office/powerpoint/2010/main" val="317369083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255" name="Google Shape;255;g31ccdae391d_0_347"/>
          <p:cNvGraphicFramePr/>
          <p:nvPr/>
        </p:nvGraphicFramePr>
        <p:xfrm>
          <a:off x="439614" y="221847"/>
          <a:ext cx="11611325" cy="667137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3704780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263" name="Google Shape;26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03ea in stock + 01ea FAK Nga. Dự kiến tuần 22 có 02 ea về.</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04ea in stock. Dự kiến tuần 22 VSTEA xuất xưởng thêm 2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02ea in stock. trong tuần 22 dự kiến sẽ có thêm 06ea.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0079233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b="1" i="0" u="none" strike="noStrike" cap="none">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03ea (thuê dài hạn) &amp; 03 động cơ thuê ngắn hạn + </a:t>
            </a:r>
            <a:r>
              <a:rPr lang="en-US" sz="1500">
                <a:solidFill>
                  <a:schemeClr val="dk1"/>
                </a:solidFill>
                <a:highlight>
                  <a:schemeClr val="lt1"/>
                </a:highlight>
                <a:latin typeface="Times New Roman"/>
                <a:ea typeface="Times New Roman"/>
                <a:cs typeface="Times New Roman"/>
                <a:sym typeface="Times New Roman"/>
              </a:rPr>
              <a:t>01 động cơ new (giao HAN 22/01).</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NIL</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 0</a:t>
            </a:r>
            <a:r>
              <a:rPr lang="en-US" sz="1500">
                <a:solidFill>
                  <a:schemeClr val="dk1"/>
                </a:solidFill>
                <a:highlight>
                  <a:schemeClr val="lt1"/>
                </a:highlight>
                <a:latin typeface="Times New Roman"/>
                <a:ea typeface="Times New Roman"/>
                <a:cs typeface="Times New Roman"/>
                <a:sym typeface="Times New Roman"/>
              </a:rPr>
              <a:t>7</a:t>
            </a:r>
            <a:r>
              <a:rPr lang="en-US" sz="1500" b="0" i="0" u="none" strike="noStrike" cap="none">
                <a:solidFill>
                  <a:schemeClr val="dk1"/>
                </a:solidFill>
                <a:highlight>
                  <a:schemeClr val="lt1"/>
                </a:highlight>
                <a:latin typeface="Times New Roman"/>
                <a:ea typeface="Times New Roman"/>
                <a:cs typeface="Times New Roman"/>
                <a:sym typeface="Times New Roman"/>
              </a:rPr>
              <a:t>ea (0</a:t>
            </a:r>
            <a:r>
              <a:rPr lang="en-US" sz="1500">
                <a:solidFill>
                  <a:schemeClr val="dk1"/>
                </a:solidFill>
                <a:highlight>
                  <a:schemeClr val="lt1"/>
                </a:highlight>
                <a:latin typeface="Times New Roman"/>
                <a:ea typeface="Times New Roman"/>
                <a:cs typeface="Times New Roman"/>
                <a:sym typeface="Times New Roman"/>
              </a:rPr>
              <a:t>3</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21043 và 21317, 21048 sửa tại N3 và 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21201 sửa tại HAESL v</a:t>
            </a:r>
            <a:r>
              <a:rPr lang="en-US" sz="1500">
                <a:solidFill>
                  <a:schemeClr val="dk1"/>
                </a:solidFill>
                <a:highlight>
                  <a:schemeClr val="lt1"/>
                </a:highlight>
                <a:latin typeface="Times New Roman"/>
                <a:ea typeface="Times New Roman"/>
                <a:cs typeface="Times New Roman"/>
                <a:sym typeface="Times New Roman"/>
              </a:rPr>
              <a:t>à 03 tại SEASL 21584, 21414 và 21604</a:t>
            </a:r>
            <a:r>
              <a:rPr lang="en-US" sz="1500" b="0" i="0" u="none" strike="noStrike" cap="none">
                <a:solidFill>
                  <a:schemeClr val="dk1"/>
                </a:solidFill>
                <a:highlight>
                  <a:schemeClr val="lt1"/>
                </a:highlight>
                <a:latin typeface="Times New Roman"/>
                <a:ea typeface="Times New Roman"/>
                <a:cs typeface="Times New Roman"/>
                <a:sym typeface="Times New Roman"/>
              </a:rPr>
              <a:t>)</a:t>
            </a:r>
            <a:r>
              <a:rPr lang="en-US" sz="1500">
                <a:solidFill>
                  <a:schemeClr val="dk1"/>
                </a:solidFill>
                <a:highlight>
                  <a:schemeClr val="lt1"/>
                </a:highlight>
                <a:latin typeface="Times New Roman"/>
                <a:ea typeface="Times New Roman"/>
                <a:cs typeface="Times New Roman"/>
                <a:sym typeface="Times New Roman"/>
              </a:rPr>
              <a:t>. </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highlight>
                  <a:schemeClr val="lt1"/>
                </a:highlight>
                <a:latin typeface="Times New Roman"/>
                <a:ea typeface="Times New Roman"/>
                <a:cs typeface="Times New Roman"/>
                <a:sym typeface="Times New Roman"/>
              </a:rPr>
              <a:t>02 ENG cho A887 phá BQ: 01ea (sửa trong SGN) đã giao HAN ngày 20/05 + 01ea giao HAN ngày 30/05.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a:t>
            </a:r>
            <a:r>
              <a:rPr lang="en-US" sz="1500">
                <a:solidFill>
                  <a:schemeClr val="dk1"/>
                </a:solidFill>
                <a:highlight>
                  <a:schemeClr val="lt1"/>
                </a:highlight>
                <a:latin typeface="Times New Roman"/>
                <a:ea typeface="Times New Roman"/>
                <a:cs typeface="Times New Roman"/>
                <a:sym typeface="Times New Roman"/>
              </a:rPr>
              <a:t>10</a:t>
            </a:r>
            <a:r>
              <a:rPr lang="en-US" sz="1500" b="0" i="0" u="none" strike="noStrike" cap="none">
                <a:solidFill>
                  <a:schemeClr val="dk1"/>
                </a:solidFill>
                <a:highlight>
                  <a:schemeClr val="lt1"/>
                </a:highlight>
                <a:latin typeface="Times New Roman"/>
                <a:ea typeface="Times New Roman"/>
                <a:cs typeface="Times New Roman"/>
                <a:sym typeface="Times New Roman"/>
              </a:rPr>
              <a:t>ea (2 sở hữu, 2 dài hạn và </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 ngắn hạn) đã ký thêm </a:t>
            </a:r>
            <a:r>
              <a:rPr lang="en-US" sz="1500">
                <a:solidFill>
                  <a:schemeClr val="dk1"/>
                </a:solidFill>
                <a:highlight>
                  <a:schemeClr val="lt1"/>
                </a:highlight>
                <a:latin typeface="Times New Roman"/>
                <a:ea typeface="Times New Roman"/>
                <a:cs typeface="Times New Roman"/>
                <a:sym typeface="Times New Roman"/>
              </a:rPr>
              <a:t>01</a:t>
            </a:r>
            <a:r>
              <a:rPr lang="en-US" sz="1500" b="0" i="0" u="none" strike="noStrike" cap="none">
                <a:solidFill>
                  <a:schemeClr val="dk1"/>
                </a:solidFill>
                <a:highlight>
                  <a:schemeClr val="lt1"/>
                </a:highlight>
                <a:latin typeface="Times New Roman"/>
                <a:ea typeface="Times New Roman"/>
                <a:cs typeface="Times New Roman"/>
                <a:sym typeface="Times New Roman"/>
              </a:rPr>
              <a:t> hđ thuê đc M</a:t>
            </a:r>
            <a:r>
              <a:rPr lang="en-US" sz="1500">
                <a:solidFill>
                  <a:schemeClr val="dk1"/>
                </a:solidFill>
                <a:highlight>
                  <a:schemeClr val="lt1"/>
                </a:highlight>
                <a:latin typeface="Times New Roman"/>
                <a:ea typeface="Times New Roman"/>
                <a:cs typeface="Times New Roman"/>
                <a:sym typeface="Times New Roman"/>
              </a:rPr>
              <a:t>ar/2025 </a:t>
            </a:r>
            <a:r>
              <a:rPr lang="en-US" sz="1500" b="0" i="0" u="none" strike="noStrike" cap="none">
                <a:solidFill>
                  <a:schemeClr val="dk1"/>
                </a:solidFill>
                <a:highlight>
                  <a:schemeClr val="lt1"/>
                </a:highlight>
                <a:latin typeface="Times New Roman"/>
                <a:ea typeface="Times New Roman"/>
                <a:cs typeface="Times New Roman"/>
                <a:sym typeface="Times New Roman"/>
              </a:rPr>
              <a:t>với Aercap.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KLM shop:  9565</a:t>
            </a:r>
            <a:r>
              <a:rPr lang="en-US" sz="1500">
                <a:solidFill>
                  <a:schemeClr val="dk1"/>
                </a:solidFill>
                <a:highlight>
                  <a:schemeClr val="lt1"/>
                </a:highlight>
                <a:latin typeface="Times New Roman"/>
                <a:ea typeface="Times New Roman"/>
                <a:cs typeface="Times New Roman"/>
                <a:sym typeface="Times New Roman"/>
              </a:rPr>
              <a:t>69</a:t>
            </a:r>
            <a:r>
              <a:rPr lang="en-US" sz="1500" b="0" i="0" u="none" strike="noStrike" cap="none">
                <a:solidFill>
                  <a:schemeClr val="dk1"/>
                </a:solidFill>
                <a:highlight>
                  <a:schemeClr val="lt1"/>
                </a:highlight>
                <a:latin typeface="Times New Roman"/>
                <a:ea typeface="Times New Roman"/>
                <a:cs typeface="Times New Roman"/>
                <a:sym typeface="Times New Roman"/>
              </a:rPr>
              <a:t>, 956599 và 956947, 956534. trong </a:t>
            </a:r>
            <a:r>
              <a:rPr lang="en-US" sz="1500">
                <a:solidFill>
                  <a:schemeClr val="dk1"/>
                </a:solidFill>
                <a:highlight>
                  <a:schemeClr val="lt1"/>
                </a:highlight>
                <a:latin typeface="Times New Roman"/>
                <a:ea typeface="Times New Roman"/>
                <a:cs typeface="Times New Roman"/>
                <a:sym typeface="Times New Roman"/>
              </a:rPr>
              <a:t>đó động cơ 956569 dự kiến giao 15/6/2025 và chuyển về SGN 25/7/2025.</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GE shop: 958398 (delay in GEEVES) d</a:t>
            </a:r>
            <a:r>
              <a:rPr lang="en-US" sz="1500">
                <a:solidFill>
                  <a:schemeClr val="dk1"/>
                </a:solidFill>
                <a:highlight>
                  <a:schemeClr val="lt1"/>
                </a:highlight>
                <a:latin typeface="Times New Roman"/>
                <a:ea typeface="Times New Roman"/>
                <a:cs typeface="Times New Roman"/>
                <a:sym typeface="Times New Roman"/>
              </a:rPr>
              <a:t>ự kiến giao cuối tháng 6/2025.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a:highlight>
                  <a:schemeClr val="lt1"/>
                </a:highlight>
                <a:latin typeface="Times New Roman"/>
                <a:ea typeface="Times New Roman"/>
                <a:cs typeface="Times New Roman"/>
                <a:sym typeface="Times New Roman"/>
              </a:rPr>
              <a:t>Thuê </a:t>
            </a:r>
            <a:r>
              <a:rPr lang="en-US" sz="1500" b="0" i="0" u="none" strike="noStrike" cap="none">
                <a:solidFill>
                  <a:srgbClr val="000000"/>
                </a:solidFill>
                <a:highlight>
                  <a:schemeClr val="lt1"/>
                </a:highlight>
                <a:latin typeface="Times New Roman"/>
                <a:ea typeface="Times New Roman"/>
                <a:cs typeface="Times New Roman"/>
                <a:sym typeface="Times New Roman"/>
              </a:rPr>
              <a:t>động cơ đáp ứng KH sửa 2024-2025: B787 có 04 dự phòng và đang thuê 0</a:t>
            </a:r>
            <a:r>
              <a:rPr lang="en-US" sz="1500">
                <a:highlight>
                  <a:schemeClr val="lt1"/>
                </a:highlight>
                <a:latin typeface="Times New Roman"/>
                <a:ea typeface="Times New Roman"/>
                <a:cs typeface="Times New Roman"/>
                <a:sym typeface="Times New Roman"/>
              </a:rPr>
              <a:t>6</a:t>
            </a:r>
            <a:r>
              <a:rPr lang="en-US" sz="1500" b="0" i="0" u="none" strike="noStrike" cap="none">
                <a:solidFill>
                  <a:srgbClr val="000000"/>
                </a:solidFill>
                <a:highlight>
                  <a:schemeClr val="lt1"/>
                </a:highlight>
                <a:latin typeface="Times New Roman"/>
                <a:ea typeface="Times New Roman"/>
                <a:cs typeface="Times New Roman"/>
                <a:sym typeface="Times New Roman"/>
              </a:rPr>
              <a:t> của Aercap (956933; 958266 và 958934 958966 và 956626, 956980)</a:t>
            </a:r>
            <a:r>
              <a:rPr lang="en-US" sz="1500">
                <a:highlight>
                  <a:schemeClr val="lt1"/>
                </a:highlight>
                <a:latin typeface="Times New Roman"/>
                <a:ea typeface="Times New Roman"/>
                <a:cs typeface="Times New Roman"/>
                <a:sym typeface="Times New Roman"/>
              </a:rPr>
              <a:t> trong đó 956980 mới thuê do 01 đc trên A868 phải tháo đầu tháng 4/2025</a:t>
            </a:r>
            <a:r>
              <a:rPr lang="en-US" sz="1500" b="0" i="0" u="none" strike="noStrike" cap="none">
                <a:solidFill>
                  <a:srgbClr val="000000"/>
                </a:solidFill>
                <a:highlight>
                  <a:schemeClr val="lt1"/>
                </a:highlight>
                <a:latin typeface="Times New Roman"/>
                <a:ea typeface="Times New Roman"/>
                <a:cs typeface="Times New Roman"/>
                <a:sym typeface="Times New Roman"/>
              </a:rPr>
              <a:t>  </a:t>
            </a:r>
            <a:endParaRPr sz="15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443599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02ea V16049, V15876</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ea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2619190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459225" y="1378813"/>
            <a:ext cx="11732774" cy="3711475"/>
          </a:xfrm>
          <a:prstGeom prst="rect">
            <a:avLst/>
          </a:prstGeom>
          <a:noFill/>
          <a:ln>
            <a:noFill/>
          </a:ln>
        </p:spPr>
      </p:pic>
    </p:spTree>
    <p:extLst>
      <p:ext uri="{BB962C8B-B14F-4D97-AF65-F5344CB8AC3E}">
        <p14:creationId xmlns:p14="http://schemas.microsoft.com/office/powerpoint/2010/main" val="179561279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rgbClr val="FF0000"/>
                </a:solidFill>
                <a:latin typeface="Times New Roman"/>
                <a:ea typeface="Times New Roman"/>
                <a:cs typeface="Times New Roman"/>
                <a:sym typeface="Times New Roman"/>
              </a:rPr>
              <a:t>- Đội bay A321 Neo:</a:t>
            </a:r>
            <a:endParaRPr sz="1500" b="1" i="0" u="none" strike="noStrike" cap="none" dirty="0">
              <a:solidFill>
                <a:srgbClr val="FF0000"/>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05ea (2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SLB), 2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của</a:t>
            </a:r>
            <a:r>
              <a:rPr lang="en-US" sz="1500" b="0" i="0" u="none" strike="noStrike" cap="none" dirty="0">
                <a:solidFill>
                  <a:schemeClr val="dk1"/>
                </a:solidFill>
                <a:latin typeface="Times New Roman"/>
                <a:ea typeface="Times New Roman"/>
                <a:cs typeface="Times New Roman"/>
                <a:sym typeface="Times New Roman"/>
              </a:rPr>
              <a:t> PW).</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trong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NIL.</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7</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5 </a:t>
            </a:r>
            <a:r>
              <a:rPr lang="en-US" sz="1500" dirty="0" err="1">
                <a:solidFill>
                  <a:schemeClr val="dk1"/>
                </a:solidFill>
                <a:latin typeface="Times New Roman"/>
                <a:ea typeface="Times New Roman"/>
                <a:cs typeface="Times New Roman"/>
                <a:sym typeface="Times New Roman"/>
              </a:rPr>
              <a:t>t</a:t>
            </a:r>
            <a:r>
              <a:rPr lang="en-US" sz="1500" b="0" i="0" u="none" strike="noStrike" cap="none" dirty="0" err="1">
                <a:solidFill>
                  <a:schemeClr val="dk1"/>
                </a:solidFill>
                <a:latin typeface="Times New Roman"/>
                <a:ea typeface="Times New Roman"/>
                <a:cs typeface="Times New Roman"/>
                <a:sym typeface="Times New Roman"/>
              </a:rPr>
              <a:t>ại</a:t>
            </a:r>
            <a:r>
              <a:rPr lang="en-US" sz="1500" b="0" i="0" u="none" strike="noStrike" cap="none" dirty="0">
                <a:solidFill>
                  <a:schemeClr val="dk1"/>
                </a:solidFill>
                <a:latin typeface="Times New Roman"/>
                <a:ea typeface="Times New Roman"/>
                <a:cs typeface="Times New Roman"/>
                <a:sym typeface="Times New Roman"/>
              </a:rPr>
              <a:t> ESA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1</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IHI</a:t>
            </a:r>
            <a:r>
              <a:rPr lang="en-US" sz="1500" dirty="0">
                <a:solidFill>
                  <a:schemeClr val="dk1"/>
                </a:solidFill>
                <a:latin typeface="Times New Roman"/>
                <a:ea typeface="Times New Roman"/>
                <a:cs typeface="Times New Roman"/>
                <a:sym typeface="Times New Roman"/>
              </a:rPr>
              <a:t>, 01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MTU-H</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 </a:t>
            </a:r>
            <a:r>
              <a:rPr lang="en-US" sz="1500" dirty="0" err="1">
                <a:solidFill>
                  <a:schemeClr val="dk1"/>
                </a:solidFill>
                <a:latin typeface="Times New Roman"/>
                <a:ea typeface="Times New Roman"/>
                <a:cs typeface="Times New Roman"/>
                <a:sym typeface="Times New Roman"/>
              </a:rPr>
              <a:t>Đã</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yêu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cầu</a:t>
            </a:r>
            <a:r>
              <a:rPr lang="en-US" sz="1500" dirty="0">
                <a:solidFill>
                  <a:schemeClr val="dk1"/>
                </a:solidFill>
                <a:latin typeface="Times New Roman"/>
                <a:ea typeface="Times New Roman"/>
                <a:cs typeface="Times New Roman"/>
                <a:sym typeface="Times New Roman"/>
              </a:rPr>
              <a:t> shop </a:t>
            </a:r>
            <a:r>
              <a:rPr lang="en-US" sz="1500" dirty="0" err="1">
                <a:solidFill>
                  <a:schemeClr val="dk1"/>
                </a:solidFill>
                <a:latin typeface="Times New Roman"/>
                <a:ea typeface="Times New Roman"/>
                <a:cs typeface="Times New Roman"/>
                <a:sym typeface="Times New Roman"/>
              </a:rPr>
              <a:t>cấp</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được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thêm</a:t>
            </a:r>
            <a:r>
              <a:rPr lang="en-US" sz="1500" dirty="0">
                <a:solidFill>
                  <a:schemeClr val="dk1"/>
                </a:solidFill>
                <a:latin typeface="Times New Roman"/>
                <a:ea typeface="Times New Roman"/>
                <a:cs typeface="Times New Roman"/>
                <a:sym typeface="Times New Roman"/>
              </a:rPr>
              <a:t> 2 slot </a:t>
            </a:r>
            <a:r>
              <a:rPr lang="en-US" sz="1500" dirty="0" err="1">
                <a:solidFill>
                  <a:schemeClr val="dk1"/>
                </a:solidFill>
                <a:latin typeface="Times New Roman"/>
                <a:ea typeface="Times New Roman"/>
                <a:cs typeface="Times New Roman"/>
                <a:sym typeface="Times New Roman"/>
              </a:rPr>
              <a:t>sửa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chữa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vào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tháng</a:t>
            </a:r>
            <a:r>
              <a:rPr lang="en-US" sz="1500" dirty="0">
                <a:solidFill>
                  <a:schemeClr val="dk1"/>
                </a:solidFill>
                <a:latin typeface="Times New Roman"/>
                <a:ea typeface="Times New Roman"/>
                <a:cs typeface="Times New Roman"/>
                <a:sym typeface="Times New Roman"/>
              </a:rPr>
              <a:t> 6</a:t>
            </a:r>
            <a:endParaRPr sz="1500" b="0" i="0" u="none" strike="noStrike" cap="none" dirty="0">
              <a:solidFill>
                <a:schemeClr val="dk1"/>
              </a:solidFill>
              <a:latin typeface="Times New Roman"/>
              <a:ea typeface="Times New Roman"/>
              <a:cs typeface="Times New Roman"/>
              <a:sym typeface="Times New Roman"/>
            </a:endParaRPr>
          </a:p>
          <a:p>
            <a:pPr marL="0" lvl="0" indent="0"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phán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thuê</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thêm</a:t>
            </a:r>
            <a:r>
              <a:rPr lang="en-US" sz="1500" dirty="0">
                <a:solidFill>
                  <a:schemeClr val="dk1"/>
                </a:solidFill>
                <a:latin typeface="Times New Roman"/>
                <a:ea typeface="Times New Roman"/>
                <a:cs typeface="Times New Roman"/>
                <a:sym typeface="Times New Roman"/>
              </a:rPr>
              <a:t> 2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phán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thuê</a:t>
            </a:r>
            <a:r>
              <a:rPr lang="en-US" sz="1500" dirty="0">
                <a:solidFill>
                  <a:schemeClr val="dk1"/>
                </a:solidFill>
                <a:latin typeface="Times New Roman"/>
                <a:ea typeface="Times New Roman"/>
                <a:cs typeface="Times New Roman"/>
                <a:sym typeface="Times New Roman"/>
              </a:rPr>
              <a:t> 2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BBAM</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PWEL </a:t>
            </a:r>
            <a:r>
              <a:rPr lang="en-US" sz="1500" dirty="0" err="1">
                <a:solidFill>
                  <a:schemeClr val="dk1"/>
                </a:solidFill>
                <a:latin typeface="Times New Roman"/>
                <a:ea typeface="Times New Roman"/>
                <a:cs typeface="Times New Roman"/>
                <a:sym typeface="Times New Roman"/>
              </a:rPr>
              <a:t>đã</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kí</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hợp</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đồng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chờ</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vận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chuyển</a:t>
            </a:r>
            <a:r>
              <a:rPr lang="en-US" sz="1500" dirty="0">
                <a:solidFill>
                  <a:schemeClr val="dk1"/>
                </a:solidFill>
                <a:latin typeface="Times New Roman"/>
                <a:ea typeface="Times New Roman"/>
                <a:cs typeface="Times New Roman"/>
                <a:sym typeface="Times New Roman"/>
              </a:rPr>
              <a:t/>
            </a:r>
            <a:br>
              <a:rPr lang="en-US" sz="1500" dirty="0">
                <a:solidFill>
                  <a:schemeClr val="dk1"/>
                </a:solidFill>
                <a:latin typeface="Times New Roman"/>
                <a:ea typeface="Times New Roman"/>
                <a:cs typeface="Times New Roman"/>
                <a:sym typeface="Times New Roman"/>
              </a:rPr>
            </a:b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TAT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r>
              <a:rPr lang="en-US" sz="1500" b="0" i="0" u="none" strike="noStrike" cap="none" dirty="0" err="1">
                <a:solidFill>
                  <a:schemeClr val="dk1"/>
                </a:solidFill>
                <a:latin typeface="Times New Roman"/>
                <a:ea typeface="Times New Roman"/>
                <a:cs typeface="Times New Roman"/>
                <a:sym typeface="Times New Roman"/>
              </a:rPr>
              <a:t>kéo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do shop </a:t>
            </a:r>
            <a:r>
              <a:rPr lang="en-US" sz="1500" b="0" i="0" u="none" strike="noStrike" cap="none" dirty="0" err="1">
                <a:solidFill>
                  <a:schemeClr val="dk1"/>
                </a:solidFill>
                <a:latin typeface="Times New Roman"/>
                <a:ea typeface="Times New Roman"/>
                <a:cs typeface="Times New Roman"/>
                <a:sym typeface="Times New Roman"/>
              </a:rPr>
              <a:t>quá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cung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đợi</a:t>
            </a:r>
            <a:r>
              <a:rPr lang="en-US" sz="1500" b="0" i="0" u="none" strike="noStrike" cap="none" dirty="0">
                <a:solidFill>
                  <a:schemeClr val="dk1"/>
                </a:solidFill>
                <a:latin typeface="Times New Roman"/>
                <a:ea typeface="Times New Roman"/>
                <a:cs typeface="Times New Roman"/>
                <a:sym typeface="Times New Roman"/>
              </a:rPr>
              <a:t> slot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đến</a:t>
            </a:r>
            <a:r>
              <a:rPr lang="en-US" sz="1500" b="0" i="0" u="none" strike="noStrike" cap="none" dirty="0">
                <a:solidFill>
                  <a:schemeClr val="dk1"/>
                </a:solidFill>
                <a:latin typeface="Times New Roman"/>
                <a:ea typeface="Times New Roman"/>
                <a:cs typeface="Times New Roman"/>
                <a:sym typeface="Times New Roman"/>
              </a:rPr>
              <a:t> 200 </a:t>
            </a:r>
            <a:r>
              <a:rPr lang="en-US" sz="1500" b="0" i="0" u="none" strike="noStrike" cap="none" dirty="0" err="1">
                <a:solidFill>
                  <a:schemeClr val="dk1"/>
                </a:solidFill>
                <a:latin typeface="Times New Roman"/>
                <a:ea typeface="Times New Roman"/>
                <a:cs typeface="Times New Roman"/>
                <a:sym typeface="Times New Roman"/>
              </a:rPr>
              <a:t>ngày</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A321 NEO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đây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không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lắp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nhiều</a:t>
            </a:r>
            <a:r>
              <a:rPr lang="en-US" sz="1500" b="0" i="0" u="none" strike="noStrike" cap="none" dirty="0">
                <a:solidFill>
                  <a:schemeClr val="dk1"/>
                </a:solidFill>
                <a:latin typeface="Times New Roman"/>
                <a:ea typeface="Times New Roman"/>
                <a:cs typeface="Times New Roman"/>
                <a:sym typeface="Times New Roman"/>
              </a:rPr>
              <a:t> LRUs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thời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cao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nghỉ</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lễ</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hụt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phụ</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vật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liệu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tăng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lỗi</a:t>
            </a:r>
            <a:r>
              <a:rPr lang="en-US" sz="1500" b="0" i="0" u="none" strike="noStrike" cap="none" dirty="0">
                <a:solidFill>
                  <a:schemeClr val="dk1"/>
                </a:solidFill>
                <a:latin typeface="Times New Roman"/>
                <a:ea typeface="Times New Roman"/>
                <a:cs typeface="Times New Roman"/>
                <a:sym typeface="Times New Roman"/>
              </a:rPr>
              <a:t> Rejection trong </a:t>
            </a:r>
            <a:r>
              <a:rPr lang="en-US" sz="1500" b="0" i="0" u="none" strike="noStrike" cap="none" dirty="0" err="1">
                <a:solidFill>
                  <a:schemeClr val="dk1"/>
                </a:solidFill>
                <a:latin typeface="Times New Roman"/>
                <a:ea typeface="Times New Roman"/>
                <a:cs typeface="Times New Roman"/>
                <a:sym typeface="Times New Roman"/>
              </a:rPr>
              <a:t>kiểm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sau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thử</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nghiệm</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PTVT </a:t>
            </a:r>
            <a:r>
              <a:rPr lang="en-US" sz="1500" dirty="0" err="1">
                <a:solidFill>
                  <a:schemeClr val="dk1"/>
                </a:solidFill>
                <a:latin typeface="Times New Roman"/>
                <a:ea typeface="Times New Roman"/>
                <a:cs typeface="Times New Roman"/>
                <a:sym typeface="Times New Roman"/>
              </a:rPr>
              <a:t>thiếu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hụt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đặc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biệt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là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khác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khối</a:t>
            </a:r>
            <a:r>
              <a:rPr lang="en-US" sz="1500" dirty="0">
                <a:solidFill>
                  <a:schemeClr val="dk1"/>
                </a:solidFill>
                <a:latin typeface="Times New Roman"/>
                <a:ea typeface="Times New Roman"/>
                <a:cs typeface="Times New Roman"/>
                <a:sym typeface="Times New Roman"/>
              </a:rPr>
              <a:t> AP51</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Thúc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đẩy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Tổ</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chức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họp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tìm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pháp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Ban KT, VAECO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danh</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mục</a:t>
            </a:r>
            <a:r>
              <a:rPr lang="en-US" sz="1500" b="0" i="0" u="none" strike="noStrike" cap="none" dirty="0">
                <a:solidFill>
                  <a:schemeClr val="dk1"/>
                </a:solidFill>
                <a:latin typeface="Times New Roman"/>
                <a:ea typeface="Times New Roman"/>
                <a:cs typeface="Times New Roman"/>
                <a:sym typeface="Times New Roman"/>
              </a:rPr>
              <a:t> MPL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gửi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746613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03" name="Google Shape;303;g31ccdae391d_0_389"/>
          <p:cNvPicPr preferRelativeResize="0"/>
          <p:nvPr/>
        </p:nvPicPr>
        <p:blipFill>
          <a:blip r:embed="rId3">
            <a:alphaModFix/>
          </a:blip>
          <a:stretch>
            <a:fillRect/>
          </a:stretch>
        </p:blipFill>
        <p:spPr>
          <a:xfrm>
            <a:off x="238675" y="2396175"/>
            <a:ext cx="11464898" cy="2558400"/>
          </a:xfrm>
          <a:prstGeom prst="rect">
            <a:avLst/>
          </a:prstGeom>
          <a:noFill/>
          <a:ln>
            <a:noFill/>
          </a:ln>
        </p:spPr>
      </p:pic>
    </p:spTree>
    <p:extLst>
      <p:ext uri="{BB962C8B-B14F-4D97-AF65-F5344CB8AC3E}">
        <p14:creationId xmlns:p14="http://schemas.microsoft.com/office/powerpoint/2010/main" val="409344859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311" name="Google Shape;311;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A350: </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+ 02 ENG cho A887 phá BQ: 01ea (sửa trong SGN) đã giao HAN ngày 20/05 + 01ea giao HAN ngày 30/05.</a:t>
            </a:r>
            <a:endParaRPr sz="160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B787: </a:t>
            </a:r>
            <a:r>
              <a:rPr lang="en-US" sz="1600">
                <a:solidFill>
                  <a:schemeClr val="dk1"/>
                </a:solidFill>
                <a:latin typeface="Times New Roman"/>
                <a:ea typeface="Times New Roman"/>
                <a:cs typeface="Times New Roman"/>
                <a:sym typeface="Times New Roman"/>
              </a:rPr>
              <a:t>NIL stock</a:t>
            </a:r>
            <a:r>
              <a:rPr lang="en-US" sz="1600" i="0" u="none" strike="noStrike" cap="none">
                <a:solidFill>
                  <a:schemeClr val="dk1"/>
                </a:solidFill>
                <a:latin typeface="Times New Roman"/>
                <a:ea typeface="Times New Roman"/>
                <a:cs typeface="Times New Roman"/>
                <a:sym typeface="Times New Roman"/>
              </a:rPr>
              <a:t>.</a:t>
            </a:r>
            <a:endParaRPr sz="1600" i="0" u="none" strike="noStrike" cap="none">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ENG 958398 (GE shop) dự kiến giao 02/6/2025 và chuyển về SGN 10-12/6/2025.</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Động cơ 956569 dự kiến giao 15/6/2025 và chuyển về SGN 25/7/2025.</a:t>
            </a:r>
            <a:endParaRPr sz="160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A321 CEO </a:t>
            </a:r>
            <a:r>
              <a:rPr lang="en-US" sz="16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Động cơ về trong tháng </a:t>
            </a:r>
            <a:r>
              <a:rPr lang="en-US" sz="1600">
                <a:solidFill>
                  <a:schemeClr val="dk1"/>
                </a:solidFill>
                <a:latin typeface="Times New Roman"/>
                <a:ea typeface="Times New Roman"/>
                <a:cs typeface="Times New Roman"/>
                <a:sym typeface="Times New Roman"/>
              </a:rPr>
              <a:t>6</a:t>
            </a:r>
            <a:r>
              <a:rPr lang="en-US" sz="1600" b="0" i="0" u="none" strike="noStrike" cap="none">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V16692 (6/6), V16558 (11/6), V16799 (23/6).</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A321 NEO</a:t>
            </a: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P771077 dự kiến về HAN  26/05.</a:t>
            </a:r>
            <a:endParaRPr sz="160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P771391 dự kiến về HAN 30/05.</a:t>
            </a:r>
            <a:endParaRPr sz="160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P771387 dự kiến về HAN 23/06.</a:t>
            </a:r>
            <a:endParaRPr sz="160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Đông cơ thuê PWEL  P771076 dự kiến về HAN 28/05.</a:t>
            </a:r>
            <a:endParaRPr sz="160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thuê BBAM dự kiến về cuối tháng 6</a:t>
            </a:r>
            <a:r>
              <a:rPr lang="en-US" sz="1600">
                <a:solidFill>
                  <a:srgbClr val="FF0000"/>
                </a:solidFill>
                <a:latin typeface="Times New Roman"/>
                <a:ea typeface="Times New Roman"/>
                <a:cs typeface="Times New Roman"/>
                <a:sym typeface="Times New Roman"/>
              </a:rPr>
              <a:t>.</a:t>
            </a:r>
            <a:endParaRPr sz="1600">
              <a:solidFill>
                <a:srgbClr val="FF0000"/>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ATR:</a:t>
            </a:r>
            <a:r>
              <a:rPr lang="en-US" sz="1600" b="0" i="0" u="none" strike="noStrike" cap="none">
                <a:solidFill>
                  <a:schemeClr val="dk1"/>
                </a:solidFill>
                <a:latin typeface="Times New Roman"/>
                <a:ea typeface="Times New Roman"/>
                <a:cs typeface="Times New Roman"/>
                <a:sym typeface="Times New Roman"/>
              </a:rPr>
              <a:t> 01 stock (ED0</a:t>
            </a:r>
            <a:r>
              <a:rPr lang="en-US" sz="1600">
                <a:solidFill>
                  <a:schemeClr val="dk1"/>
                </a:solidFill>
                <a:latin typeface="Times New Roman"/>
                <a:ea typeface="Times New Roman"/>
                <a:cs typeface="Times New Roman"/>
                <a:sym typeface="Times New Roman"/>
              </a:rPr>
              <a:t>235</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a:solidFill>
                  <a:schemeClr val="dk1"/>
                </a:solidFill>
                <a:latin typeface="Times New Roman"/>
                <a:ea typeface="Times New Roman"/>
                <a:cs typeface="Times New Roman"/>
                <a:sym typeface="Times New Roman"/>
              </a:rPr>
              <a:t>ED0239 sửa chữa tại StandardAero: EST SGN 20/06.</a:t>
            </a:r>
            <a:endParaRPr sz="160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331424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319" name="Google Shape;319;g31ccdae391d_0_403"/>
          <p:cNvSpPr txBox="1"/>
          <p:nvPr/>
        </p:nvSpPr>
        <p:spPr>
          <a:xfrm>
            <a:off x="6460950" y="859975"/>
            <a:ext cx="5320800" cy="3444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a:t>
            </a:r>
            <a:r>
              <a:rPr lang="en-US">
                <a:solidFill>
                  <a:schemeClr val="dk1"/>
                </a:solidFill>
                <a:latin typeface="Times New Roman"/>
                <a:ea typeface="Times New Roman"/>
                <a:cs typeface="Times New Roman"/>
                <a:sym typeface="Times New Roman"/>
              </a:rPr>
              <a:t>00 </a:t>
            </a:r>
            <a:r>
              <a:rPr lang="en-US" sz="1400" b="0" i="0" u="none" strike="noStrike" cap="none">
                <a:solidFill>
                  <a:schemeClr val="dk1"/>
                </a:solidFill>
                <a:latin typeface="Times New Roman"/>
                <a:ea typeface="Times New Roman"/>
                <a:cs typeface="Times New Roman"/>
                <a:sym typeface="Times New Roman"/>
              </a:rPr>
              <a:t>APU</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a:solidFill>
                  <a:schemeClr val="dk1"/>
                </a:solidFill>
                <a:latin typeface="Times New Roman"/>
                <a:ea typeface="Times New Roman"/>
                <a:cs typeface="Times New Roman"/>
                <a:sym typeface="Times New Roman"/>
              </a:rPr>
              <a:t>+ Th</a:t>
            </a:r>
            <a:r>
              <a:rPr lang="en-US">
                <a:solidFill>
                  <a:schemeClr val="dk1"/>
                </a:solidFill>
                <a:latin typeface="Times New Roman"/>
                <a:ea typeface="Times New Roman"/>
                <a:cs typeface="Times New Roman"/>
                <a:sym typeface="Times New Roman"/>
              </a:rPr>
              <a:t>áng 5: dk về 01 APU (P-2973 dự kiến release 28/05)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+03 APU đang sửa chữa: P-00113, P-00391 chưa có ngày release, P-00194 dk 16/06 release.</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a:t>
            </a:r>
            <a:r>
              <a:rPr lang="en-US" sz="1400" b="0" i="0" u="none" strike="noStrike" cap="none">
                <a:solidFill>
                  <a:schemeClr val="dk1"/>
                </a:solidFill>
                <a:latin typeface="Times New Roman"/>
                <a:ea typeface="Times New Roman"/>
                <a:cs typeface="Times New Roman"/>
                <a:sym typeface="Times New Roman"/>
              </a:rPr>
              <a:t> APU SGN</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(PWC-Z926122) DK 10June sửa xong.</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20" name="Google Shape;320;g31ccdae391d_0_403"/>
          <p:cNvPicPr preferRelativeResize="0"/>
          <p:nvPr/>
        </p:nvPicPr>
        <p:blipFill>
          <a:blip r:embed="rId3">
            <a:alphaModFix/>
          </a:blip>
          <a:stretch>
            <a:fillRect/>
          </a:stretch>
        </p:blipFill>
        <p:spPr>
          <a:xfrm>
            <a:off x="275950" y="495300"/>
            <a:ext cx="6156149" cy="4581495"/>
          </a:xfrm>
          <a:prstGeom prst="rect">
            <a:avLst/>
          </a:prstGeom>
          <a:noFill/>
          <a:ln>
            <a:noFill/>
          </a:ln>
        </p:spPr>
      </p:pic>
    </p:spTree>
    <p:extLst>
      <p:ext uri="{BB962C8B-B14F-4D97-AF65-F5344CB8AC3E}">
        <p14:creationId xmlns:p14="http://schemas.microsoft.com/office/powerpoint/2010/main" val="10869442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338eea6c084_0_0"/>
          <p:cNvSpPr txBox="1">
            <a:spLocks noGrp="1"/>
          </p:cNvSpPr>
          <p:nvPr>
            <p:ph type="title"/>
          </p:nvPr>
        </p:nvSpPr>
        <p:spPr>
          <a:xfrm>
            <a:off x="4489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BAY NGA</a:t>
            </a:r>
            <a:endParaRPr sz="2800">
              <a:solidFill>
                <a:srgbClr val="FFC000"/>
              </a:solidFill>
              <a:latin typeface="Times New Roman"/>
              <a:ea typeface="Times New Roman"/>
              <a:cs typeface="Times New Roman"/>
              <a:sym typeface="Times New Roman"/>
            </a:endParaRPr>
          </a:p>
        </p:txBody>
      </p:sp>
      <p:sp>
        <p:nvSpPr>
          <p:cNvPr id="327" name="Google Shape;32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328" name="Google Shape;328;g338eea6c084_0_0"/>
          <p:cNvSpPr/>
          <p:nvPr/>
        </p:nvSpPr>
        <p:spPr>
          <a:xfrm>
            <a:off x="609900" y="1156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15000"/>
              </a:lnSpc>
              <a:spcBef>
                <a:spcPts val="0"/>
              </a:spcBef>
              <a:spcAft>
                <a:spcPts val="0"/>
              </a:spcAft>
              <a:buClr>
                <a:schemeClr val="dk1"/>
              </a:buClr>
              <a:buSzPts val="2000"/>
              <a:buFont typeface="Times New Roman"/>
              <a:buAutoNum type="arabicPeriod"/>
            </a:pPr>
            <a:r>
              <a:rPr lang="en-US" sz="2000" b="1" dirty="0">
                <a:solidFill>
                  <a:schemeClr val="dk1"/>
                </a:solidFill>
                <a:latin typeface="Times New Roman"/>
                <a:ea typeface="Times New Roman"/>
                <a:cs typeface="Times New Roman"/>
                <a:sym typeface="Times New Roman"/>
              </a:rPr>
              <a:t>NHIÊN 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công</a:t>
            </a:r>
            <a:r>
              <a:rPr lang="en-US" sz="1600" dirty="0">
                <a:solidFill>
                  <a:schemeClr val="dk1"/>
                </a:solidFill>
                <a:latin typeface="Times New Roman"/>
                <a:ea typeface="Times New Roman"/>
                <a:cs typeface="Times New Roman"/>
                <a:sym typeface="Times New Roman"/>
              </a:rPr>
              <a:t> ty </a:t>
            </a:r>
            <a:r>
              <a:rPr lang="en-US" sz="1600" dirty="0" err="1">
                <a:solidFill>
                  <a:schemeClr val="dk1"/>
                </a:solidFill>
                <a:latin typeface="Times New Roman"/>
                <a:ea typeface="Times New Roman"/>
                <a:cs typeface="Times New Roman"/>
                <a:sym typeface="Times New Roman"/>
              </a:rPr>
              <a:t>Skypec</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2.   PTVT </a:t>
            </a:r>
            <a:r>
              <a:rPr lang="en-US" sz="2000" b="1" dirty="0">
                <a:solidFill>
                  <a:schemeClr val="dk1"/>
                </a:solidFill>
                <a:latin typeface="Times New Roman"/>
                <a:ea typeface="Times New Roman"/>
                <a:cs typeface="Times New Roman"/>
                <a:sym typeface="Times New Roman"/>
              </a:rPr>
              <a:t>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54 item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02 item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22.</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07 item lead time </a:t>
            </a:r>
            <a:r>
              <a:rPr lang="en-US" sz="1600" dirty="0" err="1">
                <a:solidFill>
                  <a:schemeClr val="dk1"/>
                </a:solidFill>
                <a:latin typeface="Times New Roman"/>
                <a:ea typeface="Times New Roman"/>
                <a:cs typeface="Times New Roman"/>
                <a:sym typeface="Times New Roman"/>
              </a:rPr>
              <a:t>dài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470071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75688</TotalTime>
  <Words>14247</Words>
  <Application>Microsoft Office PowerPoint</Application>
  <PresentationFormat>Widescreen</PresentationFormat>
  <Paragraphs>2513</Paragraphs>
  <Slides>66</Slides>
  <Notes>59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66</vt:i4>
      </vt:variant>
    </vt:vector>
  </HeadingPairs>
  <TitlesOfParts>
    <vt:vector size="78" baseType="lpstr">
      <vt:lpstr>MS PGothic</vt:lpstr>
      <vt:lpstr>Arial</vt:lpstr>
      <vt:lpstr>Calibri</vt:lpstr>
      <vt:lpstr>Cambria</vt:lpstr>
      <vt:lpstr>Montserrat</vt:lpstr>
      <vt:lpstr>Montserrat SemiBold</vt:lpstr>
      <vt:lpstr>Symbol</vt:lpstr>
      <vt:lpstr>Tahoma</vt:lpstr>
      <vt:lpstr>Times New Roman</vt:lpstr>
      <vt:lpstr>Wingdings</vt:lpstr>
      <vt:lpstr>16-9 MASTER TEMPLATE</vt:lpstr>
      <vt:lpstr>1_16-9 MASTER TEMPLATE</vt:lpstr>
      <vt:lpstr>BÁO CÁO KỸ THUẬT (Tuần 21: 19/05/2025 – 25/05/2025)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PowerPoint Presentation</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PowerPoint Presentation</vt:lpstr>
      <vt:lpstr>TÌNH TRẠNG KỸ THUẬT ĐỘI BAY – ATR72</vt:lpstr>
      <vt:lpstr>TÌNH TRẠNG KỸ THUẬT ĐỘI BAY – ATR72</vt:lpstr>
      <vt:lpstr>DISPATCH RELIABILITY W21 (19/05/2025-25/05/2025)</vt:lpstr>
      <vt:lpstr>CÁC CÔNG VIỆC TRỌNG ĐIỂM TRONG TUẦN</vt:lpstr>
      <vt:lpstr>CÁC CÔNG VIỆC TRỌNG ĐIỂM TRONG TUẦN</vt:lpstr>
      <vt:lpstr>CÁC CÔNG VIỆC TRỌNG ĐIỂM</vt:lpstr>
      <vt:lpstr>CÁC CÔNG VIỆC TRỌNG ĐIỂM TRONG TUẦN</vt:lpstr>
      <vt:lpstr>CÁC CÔNG VIỆC TRỌNG ĐIỂM</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11917</cp:revision>
  <cp:lastPrinted>2019-03-27T09:25:07Z</cp:lastPrinted>
  <dcterms:created xsi:type="dcterms:W3CDTF">2018-12-27T04:50:36Z</dcterms:created>
  <dcterms:modified xsi:type="dcterms:W3CDTF">2025-05-25T13:57:15Z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