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charts/chart7.xml" ContentType="application/vnd.openxmlformats-officedocument.drawingml.chart+xml"/>
  <Override PartName="/ppt/theme/themeOverride7.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6.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7.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5.xml" ContentType="application/vnd.openxmlformats-officedocument.drawingml.chart+xml"/>
  <Override PartName="/ppt/theme/themeOverride8.xml" ContentType="application/vnd.openxmlformats-officedocument.themeOverride+xml"/>
  <Override PartName="/ppt/notesSlides/notesSlide33.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9.xml" ContentType="application/vnd.openxmlformats-officedocument.themeOverride+xml"/>
  <Override PartName="/ppt/notesSlides/notesSlide34.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0.xml" ContentType="application/vnd.openxmlformats-officedocument.themeOverride+xml"/>
  <Override PartName="/ppt/notesSlides/notesSlide35.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1.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676" r:id="rId5"/>
    <p:sldMasterId id="2147483686" r:id="rId6"/>
  </p:sldMasterIdLst>
  <p:notesMasterIdLst>
    <p:notesMasterId r:id="rId75"/>
  </p:notesMasterIdLst>
  <p:sldIdLst>
    <p:sldId id="11486" r:id="rId7"/>
    <p:sldId id="11487" r:id="rId8"/>
    <p:sldId id="11488" r:id="rId9"/>
    <p:sldId id="11808" r:id="rId10"/>
    <p:sldId id="11493" r:id="rId11"/>
    <p:sldId id="12108" r:id="rId12"/>
    <p:sldId id="12061" r:id="rId13"/>
    <p:sldId id="12109" r:id="rId14"/>
    <p:sldId id="12059" r:id="rId15"/>
    <p:sldId id="12062" r:id="rId16"/>
    <p:sldId id="12110" r:id="rId17"/>
    <p:sldId id="12111" r:id="rId18"/>
    <p:sldId id="12060" r:id="rId19"/>
    <p:sldId id="12063" r:id="rId20"/>
    <p:sldId id="12112" r:id="rId21"/>
    <p:sldId id="11869" r:id="rId22"/>
    <p:sldId id="12113" r:id="rId23"/>
    <p:sldId id="11983" r:id="rId24"/>
    <p:sldId id="12091" r:id="rId25"/>
    <p:sldId id="12058" r:id="rId26"/>
    <p:sldId id="12092" r:id="rId27"/>
    <p:sldId id="12093" r:id="rId28"/>
    <p:sldId id="11922" r:id="rId29"/>
    <p:sldId id="12094" r:id="rId30"/>
    <p:sldId id="12095" r:id="rId31"/>
    <p:sldId id="12096" r:id="rId32"/>
    <p:sldId id="12097" r:id="rId33"/>
    <p:sldId id="12098" r:id="rId34"/>
    <p:sldId id="12099" r:id="rId35"/>
    <p:sldId id="12100" r:id="rId36"/>
    <p:sldId id="12101" r:id="rId37"/>
    <p:sldId id="12102" r:id="rId38"/>
    <p:sldId id="12103" r:id="rId39"/>
    <p:sldId id="12104" r:id="rId40"/>
    <p:sldId id="12105" r:id="rId41"/>
    <p:sldId id="12106" r:id="rId42"/>
    <p:sldId id="12107" r:id="rId43"/>
    <p:sldId id="12114" r:id="rId44"/>
    <p:sldId id="12115" r:id="rId45"/>
    <p:sldId id="12088" r:id="rId46"/>
    <p:sldId id="12089" r:id="rId47"/>
    <p:sldId id="12090" r:id="rId48"/>
    <p:sldId id="11545" r:id="rId49"/>
    <p:sldId id="12064" r:id="rId50"/>
    <p:sldId id="12065" r:id="rId51"/>
    <p:sldId id="12066" r:id="rId52"/>
    <p:sldId id="12067" r:id="rId53"/>
    <p:sldId id="12068" r:id="rId54"/>
    <p:sldId id="12069" r:id="rId55"/>
    <p:sldId id="12070" r:id="rId56"/>
    <p:sldId id="12071" r:id="rId57"/>
    <p:sldId id="12072" r:id="rId58"/>
    <p:sldId id="12073" r:id="rId59"/>
    <p:sldId id="12074" r:id="rId60"/>
    <p:sldId id="12075" r:id="rId61"/>
    <p:sldId id="12076" r:id="rId62"/>
    <p:sldId id="12077" r:id="rId63"/>
    <p:sldId id="12078" r:id="rId64"/>
    <p:sldId id="12079" r:id="rId65"/>
    <p:sldId id="12080" r:id="rId66"/>
    <p:sldId id="12081" r:id="rId67"/>
    <p:sldId id="12082" r:id="rId68"/>
    <p:sldId id="12083" r:id="rId69"/>
    <p:sldId id="12084" r:id="rId70"/>
    <p:sldId id="12085" r:id="rId71"/>
    <p:sldId id="12086" r:id="rId72"/>
    <p:sldId id="12087" r:id="rId73"/>
    <p:sldId id="11888" r:id="rId7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15" autoAdjust="0"/>
    <p:restoredTop sz="95337" autoAdjust="0"/>
  </p:normalViewPr>
  <p:slideViewPr>
    <p:cSldViewPr>
      <p:cViewPr varScale="1">
        <p:scale>
          <a:sx n="74" d="100"/>
          <a:sy n="74" d="100"/>
        </p:scale>
        <p:origin x="366" y="5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commentAuthors" Target="commentAuthors.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B&#225;o%20c&#225;o%20tu&#7847;n\2025\W15\W15%20(08.03-13.04.2025).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D:\P.MOC\B&#225;o%20c&#225;o%20tu&#7847;n\2025\W15\W15%20(08.03-13.04.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B&#225;o%20c&#225;o%20tu&#7847;n\2025\W15\W15%20(08.03-13.04.2025).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D:\P.MOC\B&#225;o%20c&#225;o%20tu&#7847;n\2025\W15\W15%20(08.03-13.04.2025).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oleObject" Target="file:///D:\P.MOC\B&#225;o%20c&#225;o%20tu&#7847;n\2025\W15\W15%20(08.03-13.04.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P.MOC\B&#225;o%20c&#225;o%20tu&#7847;n\2025\W15\W15%20(08.03-13.04.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2" Type="http://schemas.openxmlformats.org/officeDocument/2006/relationships/oleObject" Target="file:///C:\Users\longtrankhac\Downloads\DR-W15.xlsx" TargetMode="External"/><Relationship Id="rId1" Type="http://schemas.openxmlformats.org/officeDocument/2006/relationships/themeOverride" Target="../theme/themeOverrid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2" Type="http://schemas.openxmlformats.org/officeDocument/2006/relationships/oleObject" Target="file:///D:\P.MOC\B&#225;o%20c&#225;o%20tu&#7847;n\2025\W15\W15%20(08.03-13.04.2025).xlsx" TargetMode="External"/><Relationship Id="rId1" Type="http://schemas.openxmlformats.org/officeDocument/2006/relationships/themeOverride" Target="../theme/themeOverride8.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2</c:v>
                </c:pt>
                <c:pt idx="2">
                  <c:v>0</c:v>
                </c:pt>
                <c:pt idx="3">
                  <c:v>0</c:v>
                </c:pt>
                <c:pt idx="4">
                  <c:v>1</c:v>
                </c:pt>
                <c:pt idx="5">
                  <c:v>3</c:v>
                </c:pt>
              </c:numCache>
            </c:numRef>
          </c:val>
          <c:extLst xmlns:c15="http://schemas.microsoft.com/office/drawing/2012/chart">
            <c:ext xmlns:c16="http://schemas.microsoft.com/office/drawing/2014/chart" uri="{C3380CC4-5D6E-409C-BE32-E72D297353CC}">
              <c16:uniqueId val="{00000000-E8E3-49A3-ACC6-D72CBBE12272}"/>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0</c:v>
                </c:pt>
                <c:pt idx="2">
                  <c:v>0</c:v>
                </c:pt>
                <c:pt idx="3">
                  <c:v>1</c:v>
                </c:pt>
                <c:pt idx="4">
                  <c:v>0</c:v>
                </c:pt>
                <c:pt idx="5">
                  <c:v>1</c:v>
                </c:pt>
              </c:numCache>
            </c:numRef>
          </c:val>
          <c:extLst>
            <c:ext xmlns:c16="http://schemas.microsoft.com/office/drawing/2014/chart" uri="{C3380CC4-5D6E-409C-BE32-E72D297353CC}">
              <c16:uniqueId val="{00000001-E8E3-49A3-ACC6-D72CBBE12272}"/>
            </c:ext>
          </c:extLst>
        </c:ser>
        <c:dLbls>
          <c:dLblPos val="outEnd"/>
          <c:showLegendKey val="0"/>
          <c:showVal val="1"/>
          <c:showCatName val="0"/>
          <c:showSerName val="0"/>
          <c:showPercent val="0"/>
          <c:showBubbleSize val="0"/>
        </c:dLbls>
        <c:gapWidth val="219"/>
        <c:overlap val="-27"/>
        <c:axId val="390129192"/>
        <c:axId val="390127232"/>
        <c:extLst/>
      </c:barChart>
      <c:catAx>
        <c:axId val="390129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7232"/>
        <c:crosses val="autoZero"/>
        <c:auto val="1"/>
        <c:lblAlgn val="ctr"/>
        <c:lblOffset val="100"/>
        <c:noMultiLvlLbl val="0"/>
      </c:catAx>
      <c:valAx>
        <c:axId val="390127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192"/>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1</c:v>
                </c:pt>
                <c:pt idx="3">
                  <c:v>1</c:v>
                </c:pt>
                <c:pt idx="4">
                  <c:v>1</c:v>
                </c:pt>
                <c:pt idx="5">
                  <c:v>3</c:v>
                </c:pt>
              </c:numCache>
            </c:numRef>
          </c:val>
          <c:extLst xmlns:c15="http://schemas.microsoft.com/office/drawing/2012/chart">
            <c:ext xmlns:c16="http://schemas.microsoft.com/office/drawing/2014/chart" uri="{C3380CC4-5D6E-409C-BE32-E72D297353CC}">
              <c16:uniqueId val="{00000000-79B5-4E56-9077-34F5650E5ED1}"/>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79B5-4E56-9077-34F5650E5ED1}"/>
            </c:ext>
          </c:extLst>
        </c:ser>
        <c:dLbls>
          <c:showLegendKey val="0"/>
          <c:showVal val="0"/>
          <c:showCatName val="0"/>
          <c:showSerName val="0"/>
          <c:showPercent val="0"/>
          <c:showBubbleSize val="0"/>
        </c:dLbls>
        <c:gapWidth val="219"/>
        <c:overlap val="-27"/>
        <c:axId val="390115080"/>
        <c:axId val="390117432"/>
        <c:extLst/>
      </c:barChart>
      <c:catAx>
        <c:axId val="390115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7432"/>
        <c:crosses val="autoZero"/>
        <c:auto val="1"/>
        <c:lblAlgn val="ctr"/>
        <c:lblOffset val="100"/>
        <c:noMultiLvlLbl val="0"/>
      </c:catAx>
      <c:valAx>
        <c:axId val="390117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508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E6DB-4057-AD27-5921FCD50E16}"/>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1</c:v>
                </c:pt>
                <c:pt idx="3">
                  <c:v>0</c:v>
                </c:pt>
                <c:pt idx="4">
                  <c:v>0</c:v>
                </c:pt>
                <c:pt idx="5">
                  <c:v>1</c:v>
                </c:pt>
              </c:numCache>
            </c:numRef>
          </c:val>
          <c:extLst>
            <c:ext xmlns:c16="http://schemas.microsoft.com/office/drawing/2014/chart" uri="{C3380CC4-5D6E-409C-BE32-E72D297353CC}">
              <c16:uniqueId val="{00000001-E6DB-4057-AD27-5921FCD50E16}"/>
            </c:ext>
          </c:extLst>
        </c:ser>
        <c:dLbls>
          <c:showLegendKey val="0"/>
          <c:showVal val="0"/>
          <c:showCatName val="0"/>
          <c:showSerName val="0"/>
          <c:showPercent val="0"/>
          <c:showBubbleSize val="0"/>
        </c:dLbls>
        <c:gapWidth val="219"/>
        <c:overlap val="-27"/>
        <c:axId val="390129976"/>
        <c:axId val="334184144"/>
        <c:extLst/>
      </c:barChart>
      <c:catAx>
        <c:axId val="390129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4184144"/>
        <c:crosses val="autoZero"/>
        <c:auto val="1"/>
        <c:lblAlgn val="ctr"/>
        <c:lblOffset val="100"/>
        <c:noMultiLvlLbl val="0"/>
      </c:catAx>
      <c:valAx>
        <c:axId val="33418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976"/>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7</c:v>
                </c:pt>
                <c:pt idx="2">
                  <c:v>3</c:v>
                </c:pt>
                <c:pt idx="3">
                  <c:v>2</c:v>
                </c:pt>
                <c:pt idx="4">
                  <c:v>0</c:v>
                </c:pt>
                <c:pt idx="5">
                  <c:v>12</c:v>
                </c:pt>
              </c:numCache>
            </c:numRef>
          </c:val>
          <c:extLst xmlns:c15="http://schemas.microsoft.com/office/drawing/2012/chart">
            <c:ext xmlns:c16="http://schemas.microsoft.com/office/drawing/2014/chart" uri="{C3380CC4-5D6E-409C-BE32-E72D297353CC}">
              <c16:uniqueId val="{00000000-C057-4A7D-B07F-D77D1713CB37}"/>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1</c:v>
                </c:pt>
                <c:pt idx="2">
                  <c:v>1</c:v>
                </c:pt>
                <c:pt idx="3">
                  <c:v>1</c:v>
                </c:pt>
                <c:pt idx="4">
                  <c:v>0</c:v>
                </c:pt>
                <c:pt idx="5">
                  <c:v>3</c:v>
                </c:pt>
              </c:numCache>
            </c:numRef>
          </c:val>
          <c:extLst>
            <c:ext xmlns:c16="http://schemas.microsoft.com/office/drawing/2014/chart" uri="{C3380CC4-5D6E-409C-BE32-E72D297353CC}">
              <c16:uniqueId val="{00000001-C057-4A7D-B07F-D77D1713CB37}"/>
            </c:ext>
          </c:extLst>
        </c:ser>
        <c:dLbls>
          <c:dLblPos val="outEnd"/>
          <c:showLegendKey val="0"/>
          <c:showVal val="1"/>
          <c:showCatName val="0"/>
          <c:showSerName val="0"/>
          <c:showPercent val="0"/>
          <c:showBubbleSize val="0"/>
        </c:dLbls>
        <c:gapWidth val="219"/>
        <c:overlap val="-27"/>
        <c:axId val="390114688"/>
        <c:axId val="390116256"/>
        <c:extLst/>
      </c:barChart>
      <c:catAx>
        <c:axId val="390114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6256"/>
        <c:crosses val="autoZero"/>
        <c:auto val="1"/>
        <c:lblAlgn val="ctr"/>
        <c:lblOffset val="100"/>
        <c:noMultiLvlLbl val="0"/>
      </c:catAx>
      <c:valAx>
        <c:axId val="390116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468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C990-46E1-A882-219CF77B2C9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numCache>
            </c:numRef>
          </c:val>
          <c:smooth val="0"/>
          <c:extLst>
            <c:ext xmlns:c16="http://schemas.microsoft.com/office/drawing/2014/chart" uri="{C3380CC4-5D6E-409C-BE32-E72D297353CC}">
              <c16:uniqueId val="{00000001-C990-46E1-A882-219CF77B2C93}"/>
            </c:ext>
          </c:extLst>
        </c:ser>
        <c:dLbls>
          <c:showLegendKey val="0"/>
          <c:showVal val="0"/>
          <c:showCatName val="0"/>
          <c:showSerName val="0"/>
          <c:showPercent val="0"/>
          <c:showBubbleSize val="0"/>
        </c:dLbls>
        <c:marker val="1"/>
        <c:smooth val="0"/>
        <c:axId val="329146888"/>
        <c:axId val="329145712"/>
      </c:lineChart>
      <c:catAx>
        <c:axId val="3291468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5712"/>
        <c:crosses val="autoZero"/>
        <c:auto val="1"/>
        <c:lblAlgn val="ctr"/>
        <c:lblOffset val="100"/>
        <c:noMultiLvlLbl val="0"/>
      </c:catAx>
      <c:valAx>
        <c:axId val="3291457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6C0B-4129-8188-7C075AABF188}"/>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numCache>
            </c:numRef>
          </c:val>
          <c:smooth val="0"/>
          <c:extLst>
            <c:ext xmlns:c16="http://schemas.microsoft.com/office/drawing/2014/chart" uri="{C3380CC4-5D6E-409C-BE32-E72D297353CC}">
              <c16:uniqueId val="{00000001-6C0B-4129-8188-7C075AABF188}"/>
            </c:ext>
          </c:extLst>
        </c:ser>
        <c:dLbls>
          <c:showLegendKey val="0"/>
          <c:showVal val="0"/>
          <c:showCatName val="0"/>
          <c:showSerName val="0"/>
          <c:showPercent val="0"/>
          <c:showBubbleSize val="0"/>
        </c:dLbls>
        <c:marker val="1"/>
        <c:smooth val="0"/>
        <c:axId val="329146496"/>
        <c:axId val="329144928"/>
      </c:lineChart>
      <c:catAx>
        <c:axId val="3291464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4928"/>
        <c:crosses val="autoZero"/>
        <c:auto val="1"/>
        <c:lblAlgn val="ctr"/>
        <c:lblOffset val="100"/>
        <c:noMultiLvlLbl val="0"/>
      </c:catAx>
      <c:valAx>
        <c:axId val="32914492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496"/>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W14</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E731-4BAF-B7B1-77D74E2A1CC4}"/>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99.671187833949858</c:v>
                </c:pt>
                <c:pt idx="1">
                  <c:v>98.265895953757223</c:v>
                </c:pt>
                <c:pt idx="2">
                  <c:v>99.496221662468514</c:v>
                </c:pt>
                <c:pt idx="3">
                  <c:v>100</c:v>
                </c:pt>
              </c:numCache>
            </c:numRef>
          </c:val>
          <c:extLst>
            <c:ext xmlns:c16="http://schemas.microsoft.com/office/drawing/2014/chart" uri="{C3380CC4-5D6E-409C-BE32-E72D297353CC}">
              <c16:uniqueId val="{00000001-E731-4BAF-B7B1-77D74E2A1CC4}"/>
            </c:ext>
          </c:extLst>
        </c:ser>
        <c:ser>
          <c:idx val="1"/>
          <c:order val="1"/>
          <c:tx>
            <c:strRef>
              <c:f>DR!$D$3</c:f>
              <c:strCache>
                <c:ptCount val="1"/>
                <c:pt idx="0">
                  <c:v>W15</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99.943117178612056</c:v>
                </c:pt>
                <c:pt idx="1">
                  <c:v>99.328859060402678</c:v>
                </c:pt>
                <c:pt idx="2">
                  <c:v>99.668874172185426</c:v>
                </c:pt>
                <c:pt idx="3">
                  <c:v>100</c:v>
                </c:pt>
              </c:numCache>
            </c:numRef>
          </c:val>
          <c:extLst>
            <c:ext xmlns:c16="http://schemas.microsoft.com/office/drawing/2014/chart" uri="{C3380CC4-5D6E-409C-BE32-E72D297353CC}">
              <c16:uniqueId val="{00000002-E731-4BAF-B7B1-77D74E2A1CC4}"/>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731-4BAF-B7B1-77D74E2A1CC4}"/>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E731-4BAF-B7B1-77D74E2A1CC4}"/>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0.00</c:formatCode>
                      <c:ptCount val="4"/>
                    </c:numCache>
                  </c:numRef>
                </c:val>
                <c:extLst>
                  <c:ext xmlns:c16="http://schemas.microsoft.com/office/drawing/2014/chart" uri="{C3380CC4-5D6E-409C-BE32-E72D297353CC}">
                    <c16:uniqueId val="{00000005-E731-4BAF-B7B1-77D74E2A1CC4}"/>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3</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29.25</c:v>
                </c:pt>
                <c:pt idx="4">
                  <c:v>26.25</c:v>
                </c:pt>
                <c:pt idx="5">
                  <c:v>22.75</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Sheet1!$D$8:$AU$8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Sheet1!$D$9:$AU$9</c:f>
              <c:numCache>
                <c:formatCode>General</c:formatCode>
                <c:ptCount val="12"/>
                <c:pt idx="0">
                  <c:v>30</c:v>
                </c:pt>
                <c:pt idx="1">
                  <c:v>29</c:v>
                </c:pt>
                <c:pt idx="2">
                  <c:v>29</c:v>
                </c:pt>
                <c:pt idx="3">
                  <c:v>29</c:v>
                </c:pt>
                <c:pt idx="4">
                  <c:v>27</c:v>
                </c:pt>
                <c:pt idx="5">
                  <c:v>26</c:v>
                </c:pt>
                <c:pt idx="6">
                  <c:v>27</c:v>
                </c:pt>
                <c:pt idx="7">
                  <c:v>25</c:v>
                </c:pt>
                <c:pt idx="8">
                  <c:v>24</c:v>
                </c:pt>
                <c:pt idx="9">
                  <c:v>23</c:v>
                </c:pt>
                <c:pt idx="10">
                  <c:v>22</c:v>
                </c:pt>
                <c:pt idx="11">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Sheet1!$D$10:$AU$10</c:f>
              <c:numCache>
                <c:formatCode>General</c:formatCode>
                <c:ptCount val="12"/>
                <c:pt idx="0">
                  <c:v>7</c:v>
                </c:pt>
                <c:pt idx="1">
                  <c:v>7</c:v>
                </c:pt>
                <c:pt idx="2">
                  <c:v>7</c:v>
                </c:pt>
                <c:pt idx="3">
                  <c:v>6</c:v>
                </c:pt>
                <c:pt idx="4">
                  <c:v>6</c:v>
                </c:pt>
                <c:pt idx="5">
                  <c:v>6</c:v>
                </c:pt>
                <c:pt idx="6">
                  <c:v>6</c:v>
                </c:pt>
                <c:pt idx="7">
                  <c:v>6</c:v>
                </c:pt>
                <c:pt idx="8">
                  <c:v>5</c:v>
                </c:pt>
                <c:pt idx="9">
                  <c:v>4</c:v>
                </c:pt>
                <c:pt idx="10">
                  <c:v>4</c:v>
                </c:pt>
                <c:pt idx="11">
                  <c:v>3</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Sheet1!$D$11:$AU$11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Sheet1!$D$12:$AU$12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tốt + giữ giờ</c:v>
                </c:pt>
              </c:strCache>
            </c:strRef>
          </c:tx>
          <c:spPr>
            <a:ln w="31750" cap="rnd">
              <a:solidFill>
                <a:srgbClr val="FF0000"/>
              </a:solidFill>
              <a:round/>
            </a:ln>
            <a:effectLst/>
          </c:spPr>
          <c:marker>
            <c:symbol val="circle"/>
            <c:size val="27"/>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10266573533147068"/>
          <c:y val="0.71905697169733995"/>
          <c:w val="0.24463220726441454"/>
          <c:h val="7.8271204498086958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Sheet1!$B$2:$B$13</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3</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3"/>
          <c:order val="0"/>
          <c:tx>
            <c:strRef>
              <c:f>Sheet1!$B$1</c:f>
              <c:strCache>
                <c:ptCount val="1"/>
                <c:pt idx="0">
                  <c:v>KB Thực tế</c:v>
                </c:pt>
              </c:strCache>
            </c:strRef>
          </c:tx>
          <c:spPr>
            <a:ln w="28575" cap="rnd">
              <a:solidFill>
                <a:srgbClr val="0070C0"/>
              </a:solidFill>
              <a:round/>
            </a:ln>
            <a:effectLst/>
          </c:spPr>
          <c:marker>
            <c:symbol val="circle"/>
            <c:size val="25"/>
            <c:spPr>
              <a:solidFill>
                <a:srgbClr val="0070C0"/>
              </a:solidFill>
              <a:ln w="9525">
                <a:solidFill>
                  <a:srgbClr val="0070C0"/>
                </a:solidFill>
              </a:ln>
              <a:effectLst/>
            </c:spPr>
          </c:marker>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Sheet1!$B$10:$B$33</c:f>
              <c:numCache>
                <c:formatCode>General</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0-2B09-4F42-BD33-DCEFBD805B05}"/>
            </c:ext>
          </c:extLst>
        </c:ser>
        <c:ser>
          <c:idx val="4"/>
          <c:order val="1"/>
          <c:tx>
            <c:strRef>
              <c:f>Sheet1!$C$1</c:f>
              <c:strCache>
                <c:ptCount val="1"/>
                <c:pt idx="0">
                  <c:v>KB Gốc</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c:v>
                </c:pt>
                <c:pt idx="4">
                  <c:v>3</c:v>
                </c:pt>
                <c:pt idx="5">
                  <c:v>2</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1-2B09-4F42-BD33-DCEFBD805B05}"/>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2950888"/>
        <c:crosses val="autoZero"/>
        <c:auto val="1"/>
        <c:lblAlgn val="ctr"/>
        <c:lblOffset val="100"/>
        <c:noMultiLvlLbl val="0"/>
      </c:catAx>
      <c:valAx>
        <c:axId val="322950888"/>
        <c:scaling>
          <c:orientation val="minMax"/>
          <c:max val="4"/>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2954024"/>
        <c:crosses val="autoZero"/>
        <c:crossBetween val="between"/>
        <c:majorUnit val="1"/>
      </c:valAx>
      <c:spPr>
        <a:noFill/>
        <a:ln>
          <a:noFill/>
        </a:ln>
        <a:effectLst/>
      </c:spPr>
    </c:plotArea>
    <c:legend>
      <c:legendPos val="b"/>
      <c:layout>
        <c:manualLayout>
          <c:xMode val="edge"/>
          <c:yMode val="edge"/>
          <c:x val="0.40262546331705595"/>
          <c:y val="5.7621807879554947E-2"/>
          <c:w val="0.22456151431567511"/>
          <c:h val="0.11274844113498629"/>
        </c:manualLayout>
      </c:layout>
      <c:overlay val="0"/>
      <c:spPr>
        <a:solidFill>
          <a:schemeClr val="bg1"/>
        </a:solidFill>
        <a:ln>
          <a:solidFill>
            <a:srgbClr val="00FF00"/>
          </a:solid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sz="1400" b="1">
          <a:latin typeface="Times New Roman" panose="02020603050405020304" pitchFamily="18" charset="0"/>
          <a:cs typeface="Times New Roman" panose="02020603050405020304" pitchFamily="18" charset="0"/>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0</c:v>
                </c:pt>
                <c:pt idx="2">
                  <c:v>0</c:v>
                </c:pt>
                <c:pt idx="3">
                  <c:v>3</c:v>
                </c:pt>
                <c:pt idx="4">
                  <c:v>0</c:v>
                </c:pt>
                <c:pt idx="5" formatCode="0">
                  <c:v>3</c:v>
                </c:pt>
              </c:numCache>
            </c:numRef>
          </c:val>
          <c:extLst>
            <c:ext xmlns:c16="http://schemas.microsoft.com/office/drawing/2014/chart" uri="{C3380CC4-5D6E-409C-BE32-E72D297353CC}">
              <c16:uniqueId val="{00000000-5598-4794-838F-25C0095302C4}"/>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0</c:v>
                </c:pt>
                <c:pt idx="2">
                  <c:v>0</c:v>
                </c:pt>
                <c:pt idx="3">
                  <c:v>0</c:v>
                </c:pt>
                <c:pt idx="4">
                  <c:v>0</c:v>
                </c:pt>
                <c:pt idx="5" formatCode="0">
                  <c:v>0</c:v>
                </c:pt>
              </c:numCache>
            </c:numRef>
          </c:val>
          <c:extLst>
            <c:ext xmlns:c16="http://schemas.microsoft.com/office/drawing/2014/chart" uri="{C3380CC4-5D6E-409C-BE32-E72D297353CC}">
              <c16:uniqueId val="{00000001-5598-4794-838F-25C0095302C4}"/>
            </c:ext>
          </c:extLst>
        </c:ser>
        <c:dLbls>
          <c:showLegendKey val="0"/>
          <c:showVal val="0"/>
          <c:showCatName val="0"/>
          <c:showSerName val="0"/>
          <c:showPercent val="0"/>
          <c:showBubbleSize val="0"/>
        </c:dLbls>
        <c:gapWidth val="150"/>
        <c:axId val="390115864"/>
        <c:axId val="390116648"/>
      </c:barChart>
      <c:catAx>
        <c:axId val="39011586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90116648"/>
        <c:crosses val="autoZero"/>
        <c:auto val="1"/>
        <c:lblAlgn val="ctr"/>
        <c:lblOffset val="100"/>
        <c:noMultiLvlLbl val="0"/>
      </c:catAx>
      <c:valAx>
        <c:axId val="39011664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9011586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6.3991588419405318E-2</c:v>
                </c:pt>
                <c:pt idx="1">
                  <c:v>7.9706697382478583E-2</c:v>
                </c:pt>
                <c:pt idx="2">
                  <c:v>9.9016853932584289E-2</c:v>
                </c:pt>
                <c:pt idx="3">
                  <c:v>0.17991780045351469</c:v>
                </c:pt>
                <c:pt idx="4">
                  <c:v>0.2575757575757579</c:v>
                </c:pt>
                <c:pt idx="5">
                  <c:v>0.28454106280193253</c:v>
                </c:pt>
                <c:pt idx="6">
                  <c:v>0.13506155303030298</c:v>
                </c:pt>
                <c:pt idx="7">
                  <c:v>0.13363425925925942</c:v>
                </c:pt>
                <c:pt idx="8">
                  <c:v>4.2198448448448486E-2</c:v>
                </c:pt>
              </c:numCache>
            </c:numRef>
          </c:val>
          <c:extLst>
            <c:ext xmlns:c16="http://schemas.microsoft.com/office/drawing/2014/chart" uri="{C3380CC4-5D6E-409C-BE32-E72D297353CC}">
              <c16:uniqueId val="{00000000-90F6-4077-A3E2-B4B82444FCBE}"/>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6.2728435672514626E-2</c:v>
                </c:pt>
                <c:pt idx="1">
                  <c:v>8.0914987319213136E-2</c:v>
                </c:pt>
                <c:pt idx="2">
                  <c:v>9.25658317276815E-2</c:v>
                </c:pt>
                <c:pt idx="3">
                  <c:v>0.1687216553287981</c:v>
                </c:pt>
                <c:pt idx="4">
                  <c:v>0.27560074955908309</c:v>
                </c:pt>
                <c:pt idx="5">
                  <c:v>0.22491744366744382</c:v>
                </c:pt>
                <c:pt idx="6">
                  <c:v>0.14493464052287583</c:v>
                </c:pt>
                <c:pt idx="7">
                  <c:v>0.13497023809523825</c:v>
                </c:pt>
                <c:pt idx="8">
                  <c:v>4.2518939393939421E-2</c:v>
                </c:pt>
              </c:numCache>
            </c:numRef>
          </c:val>
          <c:extLst>
            <c:ext xmlns:c16="http://schemas.microsoft.com/office/drawing/2014/chart" uri="{C3380CC4-5D6E-409C-BE32-E72D297353CC}">
              <c16:uniqueId val="{00000001-90F6-4077-A3E2-B4B82444FCBE}"/>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6.7619047619047619</c:v>
                </c:pt>
                <c:pt idx="1">
                  <c:v>6.0952380952380949</c:v>
                </c:pt>
                <c:pt idx="2">
                  <c:v>5.0857142857142863</c:v>
                </c:pt>
                <c:pt idx="3">
                  <c:v>2.6984126984126986</c:v>
                </c:pt>
                <c:pt idx="4">
                  <c:v>3.1517857142857144</c:v>
                </c:pt>
                <c:pt idx="5">
                  <c:v>7.9285714285714288</c:v>
                </c:pt>
              </c:numCache>
            </c:numRef>
          </c:val>
          <c:extLst>
            <c:ext xmlns:c16="http://schemas.microsoft.com/office/drawing/2014/chart" uri="{C3380CC4-5D6E-409C-BE32-E72D297353CC}">
              <c16:uniqueId val="{00000000-B443-4315-811D-DB48E0B1949D}"/>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7.238095238095239</c:v>
                </c:pt>
                <c:pt idx="1">
                  <c:v>6.0939849624060143</c:v>
                </c:pt>
                <c:pt idx="2">
                  <c:v>4.9428571428571431</c:v>
                </c:pt>
                <c:pt idx="3">
                  <c:v>2.5</c:v>
                </c:pt>
                <c:pt idx="4">
                  <c:v>3.0924369747899161</c:v>
                </c:pt>
                <c:pt idx="5">
                  <c:v>7.8571428571428568</c:v>
                </c:pt>
              </c:numCache>
            </c:numRef>
          </c:val>
          <c:extLst>
            <c:ext xmlns:c16="http://schemas.microsoft.com/office/drawing/2014/chart" uri="{C3380CC4-5D6E-409C-BE32-E72D297353CC}">
              <c16:uniqueId val="{00000001-B443-4315-811D-DB48E0B1949D}"/>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2E31-4117-BC4B-824BCBBB5B9F}"/>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2E31-4117-BC4B-824BCBBB5B9F}"/>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2E31-4117-BC4B-824BCBBB5B9F}"/>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2E31-4117-BC4B-824BCBBB5B9F}"/>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2E31-4117-BC4B-824BCBBB5B9F}"/>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2E31-4117-BC4B-824BCBBB5B9F}"/>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2E31-4117-BC4B-824BCBBB5B9F}"/>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2E31-4117-BC4B-824BCBBB5B9F}"/>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45754</c:v>
                </c:pt>
                <c:pt idx="1">
                  <c:v>45755</c:v>
                </c:pt>
                <c:pt idx="2">
                  <c:v>45756</c:v>
                </c:pt>
                <c:pt idx="3">
                  <c:v>45757</c:v>
                </c:pt>
                <c:pt idx="4">
                  <c:v>45758</c:v>
                </c:pt>
                <c:pt idx="5">
                  <c:v>45759</c:v>
                </c:pt>
                <c:pt idx="6">
                  <c:v>45760</c:v>
                </c:pt>
                <c:pt idx="7">
                  <c:v>45761</c:v>
                </c:pt>
                <c:pt idx="8">
                  <c:v>45762</c:v>
                </c:pt>
                <c:pt idx="9">
                  <c:v>45763</c:v>
                </c:pt>
                <c:pt idx="10">
                  <c:v>45764</c:v>
                </c:pt>
                <c:pt idx="11">
                  <c:v>45765</c:v>
                </c:pt>
                <c:pt idx="12">
                  <c:v>45766</c:v>
                </c:pt>
                <c:pt idx="13">
                  <c:v>45767</c:v>
                </c:pt>
                <c:pt idx="14">
                  <c:v>45768</c:v>
                </c:pt>
                <c:pt idx="15">
                  <c:v>45769</c:v>
                </c:pt>
                <c:pt idx="16">
                  <c:v>45770</c:v>
                </c:pt>
                <c:pt idx="17">
                  <c:v>45771</c:v>
                </c:pt>
                <c:pt idx="18">
                  <c:v>45772</c:v>
                </c:pt>
                <c:pt idx="19">
                  <c:v>45773</c:v>
                </c:pt>
                <c:pt idx="20">
                  <c:v>45774</c:v>
                </c:pt>
                <c:pt idx="21">
                  <c:v>45775</c:v>
                </c:pt>
                <c:pt idx="22">
                  <c:v>45776</c:v>
                </c:pt>
                <c:pt idx="23">
                  <c:v>45777</c:v>
                </c:pt>
                <c:pt idx="24">
                  <c:v>45778</c:v>
                </c:pt>
                <c:pt idx="25">
                  <c:v>45779</c:v>
                </c:pt>
                <c:pt idx="26">
                  <c:v>45780</c:v>
                </c:pt>
                <c:pt idx="27">
                  <c:v>45781</c:v>
                </c:pt>
                <c:pt idx="28">
                  <c:v>45782</c:v>
                </c:pt>
                <c:pt idx="29">
                  <c:v>45783</c:v>
                </c:pt>
                <c:pt idx="30">
                  <c:v>45784</c:v>
                </c:pt>
                <c:pt idx="31">
                  <c:v>45785</c:v>
                </c:pt>
                <c:pt idx="32">
                  <c:v>45786</c:v>
                </c:pt>
                <c:pt idx="33">
                  <c:v>45787</c:v>
                </c:pt>
                <c:pt idx="34">
                  <c:v>45788</c:v>
                </c:pt>
                <c:pt idx="35">
                  <c:v>45789</c:v>
                </c:pt>
                <c:pt idx="36">
                  <c:v>45790</c:v>
                </c:pt>
                <c:pt idx="37">
                  <c:v>45791</c:v>
                </c:pt>
                <c:pt idx="38">
                  <c:v>45792</c:v>
                </c:pt>
                <c:pt idx="39">
                  <c:v>45793</c:v>
                </c:pt>
                <c:pt idx="40">
                  <c:v>45794</c:v>
                </c:pt>
                <c:pt idx="41">
                  <c:v>45795</c:v>
                </c:pt>
                <c:pt idx="42">
                  <c:v>45796</c:v>
                </c:pt>
                <c:pt idx="43">
                  <c:v>45797</c:v>
                </c:pt>
                <c:pt idx="44">
                  <c:v>45798</c:v>
                </c:pt>
                <c:pt idx="45">
                  <c:v>45799</c:v>
                </c:pt>
                <c:pt idx="46">
                  <c:v>45800</c:v>
                </c:pt>
                <c:pt idx="47">
                  <c:v>45801</c:v>
                </c:pt>
                <c:pt idx="48">
                  <c:v>45802</c:v>
                </c:pt>
                <c:pt idx="49">
                  <c:v>45803</c:v>
                </c:pt>
                <c:pt idx="50">
                  <c:v>45804</c:v>
                </c:pt>
                <c:pt idx="51">
                  <c:v>45805</c:v>
                </c:pt>
                <c:pt idx="52">
                  <c:v>45806</c:v>
                </c:pt>
                <c:pt idx="53">
                  <c:v>45807</c:v>
                </c:pt>
                <c:pt idx="54">
                  <c:v>45808</c:v>
                </c:pt>
              </c:numCache>
            </c:numRef>
          </c:cat>
          <c:val>
            <c:numRef>
              <c:f>Week!$B$36:$BD$36</c:f>
              <c:numCache>
                <c:formatCode>General</c:formatCode>
                <c:ptCount val="55"/>
                <c:pt idx="0">
                  <c:v>433</c:v>
                </c:pt>
                <c:pt idx="1">
                  <c:v>399</c:v>
                </c:pt>
                <c:pt idx="2">
                  <c:v>387</c:v>
                </c:pt>
                <c:pt idx="3">
                  <c:v>396</c:v>
                </c:pt>
                <c:pt idx="4">
                  <c:v>413</c:v>
                </c:pt>
                <c:pt idx="5">
                  <c:v>389</c:v>
                </c:pt>
                <c:pt idx="6">
                  <c:v>415</c:v>
                </c:pt>
                <c:pt idx="7">
                  <c:v>388</c:v>
                </c:pt>
                <c:pt idx="8">
                  <c:v>383</c:v>
                </c:pt>
                <c:pt idx="9">
                  <c:v>400</c:v>
                </c:pt>
                <c:pt idx="10">
                  <c:v>400</c:v>
                </c:pt>
                <c:pt idx="11">
                  <c:v>406</c:v>
                </c:pt>
                <c:pt idx="12">
                  <c:v>401</c:v>
                </c:pt>
                <c:pt idx="13">
                  <c:v>436</c:v>
                </c:pt>
                <c:pt idx="14">
                  <c:v>409</c:v>
                </c:pt>
                <c:pt idx="15">
                  <c:v>397</c:v>
                </c:pt>
                <c:pt idx="16">
                  <c:v>404</c:v>
                </c:pt>
                <c:pt idx="17">
                  <c:v>405</c:v>
                </c:pt>
                <c:pt idx="18">
                  <c:v>435</c:v>
                </c:pt>
                <c:pt idx="19">
                  <c:v>443</c:v>
                </c:pt>
                <c:pt idx="20">
                  <c:v>444</c:v>
                </c:pt>
                <c:pt idx="21">
                  <c:v>432</c:v>
                </c:pt>
                <c:pt idx="22">
                  <c:v>447</c:v>
                </c:pt>
                <c:pt idx="23">
                  <c:v>455</c:v>
                </c:pt>
                <c:pt idx="24">
                  <c:v>445</c:v>
                </c:pt>
                <c:pt idx="25">
                  <c:v>445</c:v>
                </c:pt>
                <c:pt idx="26">
                  <c:v>470</c:v>
                </c:pt>
                <c:pt idx="27">
                  <c:v>455</c:v>
                </c:pt>
                <c:pt idx="28">
                  <c:v>447</c:v>
                </c:pt>
                <c:pt idx="29">
                  <c:v>399</c:v>
                </c:pt>
                <c:pt idx="30">
                  <c:v>388</c:v>
                </c:pt>
                <c:pt idx="31">
                  <c:v>382</c:v>
                </c:pt>
                <c:pt idx="32">
                  <c:v>408</c:v>
                </c:pt>
                <c:pt idx="33">
                  <c:v>400</c:v>
                </c:pt>
                <c:pt idx="34">
                  <c:v>409</c:v>
                </c:pt>
                <c:pt idx="35">
                  <c:v>408</c:v>
                </c:pt>
                <c:pt idx="36">
                  <c:v>384</c:v>
                </c:pt>
                <c:pt idx="37">
                  <c:v>390</c:v>
                </c:pt>
                <c:pt idx="38">
                  <c:v>397</c:v>
                </c:pt>
                <c:pt idx="39">
                  <c:v>408</c:v>
                </c:pt>
                <c:pt idx="40">
                  <c:v>399</c:v>
                </c:pt>
                <c:pt idx="41">
                  <c:v>413</c:v>
                </c:pt>
                <c:pt idx="42">
                  <c:v>406</c:v>
                </c:pt>
                <c:pt idx="43">
                  <c:v>391</c:v>
                </c:pt>
                <c:pt idx="44">
                  <c:v>394</c:v>
                </c:pt>
                <c:pt idx="45">
                  <c:v>445</c:v>
                </c:pt>
                <c:pt idx="46">
                  <c:v>451</c:v>
                </c:pt>
                <c:pt idx="47">
                  <c:v>447</c:v>
                </c:pt>
                <c:pt idx="48">
                  <c:v>462</c:v>
                </c:pt>
                <c:pt idx="49">
                  <c:v>454</c:v>
                </c:pt>
                <c:pt idx="50">
                  <c:v>442</c:v>
                </c:pt>
                <c:pt idx="51">
                  <c:v>441</c:v>
                </c:pt>
                <c:pt idx="52">
                  <c:v>450</c:v>
                </c:pt>
                <c:pt idx="53">
                  <c:v>462</c:v>
                </c:pt>
                <c:pt idx="54">
                  <c:v>463</c:v>
                </c:pt>
              </c:numCache>
            </c:numRef>
          </c:val>
          <c:extLst>
            <c:ext xmlns:c16="http://schemas.microsoft.com/office/drawing/2014/chart" uri="{C3380CC4-5D6E-409C-BE32-E72D297353CC}">
              <c16:uniqueId val="{00000010-2E31-4117-BC4B-824BCBBB5B9F}"/>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0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0.07993</cdr:x>
      <cdr:y>0.62258</cdr:y>
    </cdr:from>
    <cdr:to>
      <cdr:x>0.3832</cdr:x>
      <cdr:y>0.8279</cdr:y>
    </cdr:to>
    <cdr:sp macro="" textlink="">
      <cdr:nvSpPr>
        <cdr:cNvPr id="2" name="TextBox 1">
          <a:extLst xmlns:a="http://schemas.openxmlformats.org/drawingml/2006/main">
            <a:ext uri="{FF2B5EF4-FFF2-40B4-BE49-F238E27FC236}">
              <a16:creationId xmlns:a16="http://schemas.microsoft.com/office/drawing/2014/main" id="{CD939C01-4FDE-4466-9481-5A3B05BD383C}"/>
            </a:ext>
          </a:extLst>
        </cdr:cNvPr>
        <cdr:cNvSpPr txBox="1"/>
      </cdr:nvSpPr>
      <cdr:spPr>
        <a:xfrm xmlns:a="http://schemas.openxmlformats.org/drawingml/2006/main">
          <a:off x="923828" y="2846436"/>
          <a:ext cx="3505182" cy="938719"/>
        </a:xfrm>
        <a:prstGeom xmlns:a="http://schemas.openxmlformats.org/drawingml/2006/main" prst="rect">
          <a:avLst/>
        </a:prstGeom>
        <a:solidFill xmlns:a="http://schemas.openxmlformats.org/drawingml/2006/main">
          <a:srgbClr val="FFFFCC"/>
        </a:solidFill>
        <a:ln xmlns:a="http://schemas.openxmlformats.org/drawingml/2006/main">
          <a:solidFill>
            <a:srgbClr val="FFC000"/>
          </a:solidFill>
        </a:ln>
      </cdr:spPr>
      <cdr:txBody>
        <a:bodyPr xmlns:a="http://schemas.openxmlformats.org/drawingml/2006/main" vertOverflow="clip" wrap="square" rtlCol="0">
          <a:spAutoFit/>
        </a:bodyPr>
        <a:lstStyle xmlns:a="http://schemas.openxmlformats.org/drawingml/2006/main"/>
        <a:p xmlns:a="http://schemas.openxmlformats.org/drawingml/2006/main">
          <a:r>
            <a:rPr lang="en-US" sz="1100" b="1">
              <a:solidFill>
                <a:srgbClr val="FF0000"/>
              </a:solidFill>
              <a:latin typeface="Times New Roman" panose="02020603050405020304" pitchFamily="18" charset="0"/>
              <a:cs typeface="Times New Roman" panose="02020603050405020304" pitchFamily="18" charset="0"/>
            </a:rPr>
            <a:t>Update thay đổi:</a:t>
          </a:r>
        </a:p>
        <a:p xmlns:a="http://schemas.openxmlformats.org/drawingml/2006/main">
          <a:pPr marL="171450" indent="-171450">
            <a:buFontTx/>
            <a:buChar char="-"/>
          </a:pPr>
          <a:r>
            <a:rPr lang="en-US" sz="1100" b="1">
              <a:solidFill>
                <a:schemeClr val="tx1"/>
              </a:solidFill>
              <a:latin typeface="Times New Roman" panose="02020603050405020304" pitchFamily="18" charset="0"/>
              <a:cs typeface="Times New Roman" panose="02020603050405020304" pitchFamily="18" charset="0"/>
            </a:rPr>
            <a:t>Update 07/04: </a:t>
          </a:r>
          <a:r>
            <a:rPr lang="en-US" sz="1100">
              <a:solidFill>
                <a:schemeClr val="tx1"/>
              </a:solidFill>
              <a:latin typeface="Times New Roman" panose="02020603050405020304" pitchFamily="18" charset="0"/>
              <a:cs typeface="Times New Roman" panose="02020603050405020304" pitchFamily="18" charset="0"/>
            </a:rPr>
            <a:t>21137 và 21043 (shop N3) delay 1 tuần làm tăng 1 tuần AOG vào T6). .</a:t>
          </a:r>
        </a:p>
        <a:p xmlns:a="http://schemas.openxmlformats.org/drawingml/2006/main">
          <a:pPr marL="171450" indent="-171450">
            <a:buFontTx/>
            <a:buChar char="-"/>
          </a:pPr>
          <a:r>
            <a:rPr lang="en-US" sz="1100" b="1">
              <a:solidFill>
                <a:schemeClr val="tx1"/>
              </a:solidFill>
              <a:latin typeface="Times New Roman" panose="02020603050405020304" pitchFamily="18" charset="0"/>
              <a:cs typeface="Times New Roman" panose="02020603050405020304" pitchFamily="18" charset="0"/>
            </a:rPr>
            <a:t>Update 13/04: </a:t>
          </a:r>
          <a:r>
            <a:rPr lang="en-US" sz="1100">
              <a:solidFill>
                <a:schemeClr val="tx1"/>
              </a:solidFill>
              <a:latin typeface="Times New Roman" panose="02020603050405020304" pitchFamily="18" charset="0"/>
              <a:cs typeface="Times New Roman" panose="02020603050405020304" pitchFamily="18" charset="0"/>
            </a:rPr>
            <a:t>21043 delay thêm 1 tuần làm tăng 0.25 AOG vào T6. </a:t>
          </a:r>
          <a:endParaRPr lang="en-US" sz="1100" b="1" dirty="0">
            <a:solidFill>
              <a:schemeClr val="tx1"/>
            </a:solidFill>
            <a:latin typeface="Times New Roman" panose="02020603050405020304" pitchFamily="18" charset="0"/>
            <a:cs typeface="Times New Roman" panose="020206030504050203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4/13/2025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477263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57985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020726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9613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8</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9</a:t>
            </a:fld>
            <a:endParaRPr/>
          </a:p>
        </p:txBody>
      </p:sp>
    </p:spTree>
    <p:extLst>
      <p:ext uri="{BB962C8B-B14F-4D97-AF65-F5344CB8AC3E}">
        <p14:creationId xmlns:p14="http://schemas.microsoft.com/office/powerpoint/2010/main" val="977118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79331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505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29311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1834667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1786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98551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654004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3776337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3738869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3204377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141950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26886328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26942855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22253131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extLst>
      <p:ext uri="{BB962C8B-B14F-4D97-AF65-F5344CB8AC3E}">
        <p14:creationId xmlns:p14="http://schemas.microsoft.com/office/powerpoint/2010/main" val="27116605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42200038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39</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44713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40</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2878400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42</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08107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24524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9662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915338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6623712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2542231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664139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971049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244741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720745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079448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2500588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776577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0998162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6169830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377730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9298956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800318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0056390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307385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0440778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7211463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2001357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3355191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4103788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ahoma" pitchFamily="34" charset="0"/>
                <a:ea typeface="Tahoma" pitchFamily="34" charset="0"/>
                <a:cs typeface="Tahoma" pitchFamily="34" charset="0"/>
              </a:defRPr>
            </a:lvl1pPr>
            <a:lvl2pPr>
              <a:lnSpc>
                <a:spcPct val="150000"/>
              </a:lnSpc>
              <a:buFont typeface="Wingdings" pitchFamily="2" charset="2"/>
              <a:buChar char="ü"/>
              <a:defRPr sz="2000">
                <a:latin typeface="Tahoma" pitchFamily="34" charset="0"/>
                <a:ea typeface="Tahoma" pitchFamily="34" charset="0"/>
                <a:cs typeface="Tahoma" pitchFamily="34" charset="0"/>
              </a:defRPr>
            </a:lvl2pPr>
            <a:lvl3pPr>
              <a:lnSpc>
                <a:spcPct val="150000"/>
              </a:lnSpc>
              <a:buFont typeface="Wingdings" pitchFamily="2" charset="2"/>
              <a:buChar char="ü"/>
              <a:defRPr sz="2000">
                <a:latin typeface="Tahoma" pitchFamily="34" charset="0"/>
                <a:ea typeface="Tahoma" pitchFamily="34" charset="0"/>
                <a:cs typeface="Tahoma" pitchFamily="34" charset="0"/>
              </a:defRPr>
            </a:lvl3pPr>
            <a:lvl4pPr>
              <a:lnSpc>
                <a:spcPct val="150000"/>
              </a:lnSpc>
              <a:buFont typeface="Wingdings" pitchFamily="2" charset="2"/>
              <a:buChar char="ü"/>
              <a:defRPr sz="2000">
                <a:latin typeface="Tahoma" pitchFamily="34" charset="0"/>
                <a:ea typeface="Tahoma" pitchFamily="34" charset="0"/>
                <a:cs typeface="Tahoma" pitchFamily="34" charset="0"/>
              </a:defRPr>
            </a:lvl4pPr>
            <a:lvl5pPr>
              <a:lnSpc>
                <a:spcPct val="150000"/>
              </a:lnSpc>
              <a:buFont typeface="Wingdings" pitchFamily="2" charset="2"/>
              <a:buChar char="ü"/>
              <a:defRPr sz="2000">
                <a:latin typeface="Tahoma" pitchFamily="34" charset="0"/>
                <a:ea typeface="Tahoma" pitchFamily="34" charset="0"/>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ahoma" pitchFamily="34" charset="0"/>
                <a:ea typeface="Tahoma" pitchFamily="34" charset="0"/>
                <a:cs typeface="Tahoma" pitchFamily="34"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200325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387442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3874420"/>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597956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791575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852778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83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2163949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539305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vi"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042949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204791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616846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9313599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8610340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8913542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3181027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654754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115481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8453783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944814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4588850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69441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4/13/2025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4/13/2025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252532598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715609474"/>
      </p:ext>
    </p:extLst>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9.xml"/><Relationship Id="rId4" Type="http://schemas.openxmlformats.org/officeDocument/2006/relationships/chart" Target="../charts/chart16.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9.xml"/><Relationship Id="rId4" Type="http://schemas.openxmlformats.org/officeDocument/2006/relationships/chart" Target="../charts/chart17.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chart" Target="../charts/chart18.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08/04/2025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13</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398150995"/>
              </p:ext>
            </p:extLst>
          </p:nvPr>
        </p:nvGraphicFramePr>
        <p:xfrm>
          <a:off x="1219200" y="856462"/>
          <a:ext cx="4876800" cy="26487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151056343"/>
              </p:ext>
            </p:extLst>
          </p:nvPr>
        </p:nvGraphicFramePr>
        <p:xfrm>
          <a:off x="1219200" y="3733800"/>
          <a:ext cx="4876800" cy="2667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3536264075"/>
              </p:ext>
            </p:extLst>
          </p:nvPr>
        </p:nvGraphicFramePr>
        <p:xfrm>
          <a:off x="6629400" y="3733800"/>
          <a:ext cx="4419600" cy="2667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1129033703"/>
              </p:ext>
            </p:extLst>
          </p:nvPr>
        </p:nvGraphicFramePr>
        <p:xfrm>
          <a:off x="6647644" y="856462"/>
          <a:ext cx="4401355" cy="264873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4282591585"/>
              </p:ext>
            </p:extLst>
          </p:nvPr>
        </p:nvGraphicFramePr>
        <p:xfrm>
          <a:off x="1294350" y="3810000"/>
          <a:ext cx="9830850" cy="28498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28637653"/>
              </p:ext>
            </p:extLst>
          </p:nvPr>
        </p:nvGraphicFramePr>
        <p:xfrm>
          <a:off x="1319034" y="990600"/>
          <a:ext cx="9806165" cy="271864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381000" y="485872"/>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81000" y="1307068"/>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8" name="Table 7"/>
          <p:cNvGraphicFramePr>
            <a:graphicFrameLocks noGrp="1"/>
          </p:cNvGraphicFramePr>
          <p:nvPr>
            <p:extLst>
              <p:ext uri="{D42A27DB-BD31-4B8C-83A1-F6EECF244321}">
                <p14:modId xmlns:p14="http://schemas.microsoft.com/office/powerpoint/2010/main" val="1000839222"/>
              </p:ext>
            </p:extLst>
          </p:nvPr>
        </p:nvGraphicFramePr>
        <p:xfrm>
          <a:off x="381000" y="1881458"/>
          <a:ext cx="11400881" cy="1992796"/>
        </p:xfrm>
        <a:graphic>
          <a:graphicData uri="http://schemas.openxmlformats.org/drawingml/2006/table">
            <a:tbl>
              <a:tblPr/>
              <a:tblGrid>
                <a:gridCol w="369661">
                  <a:extLst>
                    <a:ext uri="{9D8B030D-6E8A-4147-A177-3AD203B41FA5}">
                      <a16:colId xmlns:a16="http://schemas.microsoft.com/office/drawing/2014/main" val="4038289466"/>
                    </a:ext>
                  </a:extLst>
                </a:gridCol>
                <a:gridCol w="468539">
                  <a:extLst>
                    <a:ext uri="{9D8B030D-6E8A-4147-A177-3AD203B41FA5}">
                      <a16:colId xmlns:a16="http://schemas.microsoft.com/office/drawing/2014/main" val="3957843482"/>
                    </a:ext>
                  </a:extLst>
                </a:gridCol>
                <a:gridCol w="457200">
                  <a:extLst>
                    <a:ext uri="{9D8B030D-6E8A-4147-A177-3AD203B41FA5}">
                      <a16:colId xmlns:a16="http://schemas.microsoft.com/office/drawing/2014/main" val="1490174247"/>
                    </a:ext>
                  </a:extLst>
                </a:gridCol>
                <a:gridCol w="685800">
                  <a:extLst>
                    <a:ext uri="{9D8B030D-6E8A-4147-A177-3AD203B41FA5}">
                      <a16:colId xmlns:a16="http://schemas.microsoft.com/office/drawing/2014/main" val="3566870774"/>
                    </a:ext>
                  </a:extLst>
                </a:gridCol>
                <a:gridCol w="762000">
                  <a:extLst>
                    <a:ext uri="{9D8B030D-6E8A-4147-A177-3AD203B41FA5}">
                      <a16:colId xmlns:a16="http://schemas.microsoft.com/office/drawing/2014/main" val="3134608598"/>
                    </a:ext>
                  </a:extLst>
                </a:gridCol>
                <a:gridCol w="533400">
                  <a:extLst>
                    <a:ext uri="{9D8B030D-6E8A-4147-A177-3AD203B41FA5}">
                      <a16:colId xmlns:a16="http://schemas.microsoft.com/office/drawing/2014/main" val="1407986645"/>
                    </a:ext>
                  </a:extLst>
                </a:gridCol>
                <a:gridCol w="1752600">
                  <a:extLst>
                    <a:ext uri="{9D8B030D-6E8A-4147-A177-3AD203B41FA5}">
                      <a16:colId xmlns:a16="http://schemas.microsoft.com/office/drawing/2014/main" val="2827963411"/>
                    </a:ext>
                  </a:extLst>
                </a:gridCol>
                <a:gridCol w="1774342">
                  <a:extLst>
                    <a:ext uri="{9D8B030D-6E8A-4147-A177-3AD203B41FA5}">
                      <a16:colId xmlns:a16="http://schemas.microsoft.com/office/drawing/2014/main" val="246680535"/>
                    </a:ext>
                  </a:extLst>
                </a:gridCol>
                <a:gridCol w="361609">
                  <a:extLst>
                    <a:ext uri="{9D8B030D-6E8A-4147-A177-3AD203B41FA5}">
                      <a16:colId xmlns:a16="http://schemas.microsoft.com/office/drawing/2014/main" val="1804046833"/>
                    </a:ext>
                  </a:extLst>
                </a:gridCol>
                <a:gridCol w="4235730">
                  <a:extLst>
                    <a:ext uri="{9D8B030D-6E8A-4147-A177-3AD203B41FA5}">
                      <a16:colId xmlns:a16="http://schemas.microsoft.com/office/drawing/2014/main" val="2477666348"/>
                    </a:ext>
                  </a:extLst>
                </a:gridCol>
              </a:tblGrid>
              <a:tr h="95416">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1490870">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A899</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SGN</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VN607</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SGN-BKK</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19:00 13/04/2025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ATB</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AFTER TAKE OFF APPEAR MSG ENG 1 STALL. CAPT DECIDED AIR TURN BACK</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p>
                      <a:pPr algn="l" fontAlgn="ctr"/>
                      <a:r>
                        <a:rPr lang="en-US" sz="1200" b="0" i="0" u="none" strike="noStrike" smtClean="0">
                          <a:solidFill>
                            <a:srgbClr val="FF0000"/>
                          </a:solidFill>
                          <a:effectLst/>
                          <a:latin typeface="Times New Roman" panose="02020603050405020304" pitchFamily="18" charset="0"/>
                          <a:cs typeface="Times New Roman" panose="02020603050405020304" pitchFamily="18" charset="0"/>
                        </a:rPr>
                        <a:t>T/S in progress, </a:t>
                      </a:r>
                      <a:r>
                        <a:rPr lang="vi-VN" sz="1200" b="0" i="0" u="none" strike="noStrike" smtClean="0">
                          <a:solidFill>
                            <a:srgbClr val="FF0000"/>
                          </a:solidFill>
                          <a:effectLst/>
                          <a:latin typeface="+mn-lt"/>
                          <a:cs typeface="Times New Roman" panose="02020603050405020304" pitchFamily="18" charset="0"/>
                        </a:rPr>
                        <a:t>kiểm tra và soi động cơ số 1</a:t>
                      </a:r>
                      <a:endParaRPr lang="en-US" sz="12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72</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Đ</a:t>
                      </a: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ộng cơ A899#1 số hiệu 21316 có TSN/CSN = 20848FH/ 5227FC, mới đi shop Quickturn thay LPT Disc về và lắp lên tàu từ ngày 03/03, bay được 591FH/ 92FC. </a:t>
                      </a:r>
                    </a:p>
                    <a:p>
                      <a:pPr algn="l" fontAlgn="t"/>
                      <a:endParaRPr lang="vi-VN" sz="1200" b="0" i="0" u="none" strike="noStrike" smtClean="0">
                        <a:solidFill>
                          <a:srgbClr val="000000"/>
                        </a:solidFill>
                        <a:effectLst/>
                        <a:latin typeface="Times New Roman" panose="02020603050405020304" pitchFamily="18" charset="0"/>
                        <a:cs typeface="Times New Roman" panose="02020603050405020304" pitchFamily="18" charset="0"/>
                      </a:endParaRPr>
                    </a:p>
                    <a:p>
                      <a:pPr algn="l" fontAlgn="t"/>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 28/3 động cơ có event liên quan đến Engine Oil Level tuy nhiên nếu do thiếu oil thì động cơ sẽ phải đi kèm các cảnh báo về Oil trước (Pressure, Temp, Quantity). Rà soát sơ bộ các thông số EHM trending bình thường, động cơ không có soi giảm tần suất, chưa có alert gì từ RR. KTMB đang theo dõi và cập nhật thêm thông tin sau.</a:t>
                      </a:r>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4762513"/>
                  </a:ext>
                </a:extLst>
              </a:tr>
            </a:tbl>
          </a:graphicData>
        </a:graphic>
      </p:graphicFrame>
    </p:spTree>
    <p:custDataLst>
      <p:tags r:id="rId1"/>
    </p:custDataLst>
    <p:extLst>
      <p:ext uri="{BB962C8B-B14F-4D97-AF65-F5344CB8AC3E}">
        <p14:creationId xmlns:p14="http://schemas.microsoft.com/office/powerpoint/2010/main" val="3826261073"/>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3014747894"/>
              </p:ext>
            </p:extLst>
          </p:nvPr>
        </p:nvGraphicFramePr>
        <p:xfrm>
          <a:off x="375271" y="1079799"/>
          <a:ext cx="11463227" cy="1189365"/>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1">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1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8-Apr-2025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VN1823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SGN-PQC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DURING T/X CHECK FOUND : INNER SHOULDER OF MW 1 WORN LESS THAN 1,5 MM AND ENG1 ATTRITION LINING GOUGED AT 8H POSITION WITHIN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RPLD MW#1 AND ADD B1825 RAISED: "ENG1 ATTRITION LINING GOUGED AT 8H POSITION WITHIN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375272" y="2459699"/>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8" name="Table 7"/>
          <p:cNvGraphicFramePr>
            <a:graphicFrameLocks noGrp="1"/>
          </p:cNvGraphicFramePr>
          <p:nvPr>
            <p:extLst>
              <p:ext uri="{D42A27DB-BD31-4B8C-83A1-F6EECF244321}">
                <p14:modId xmlns:p14="http://schemas.microsoft.com/office/powerpoint/2010/main" val="2631451607"/>
              </p:ext>
            </p:extLst>
          </p:nvPr>
        </p:nvGraphicFramePr>
        <p:xfrm>
          <a:off x="375272" y="2902891"/>
          <a:ext cx="11463226" cy="1620964"/>
        </p:xfrm>
        <a:graphic>
          <a:graphicData uri="http://schemas.openxmlformats.org/drawingml/2006/table">
            <a:tbl>
              <a:tblPr/>
              <a:tblGrid>
                <a:gridCol w="580907">
                  <a:extLst>
                    <a:ext uri="{9D8B030D-6E8A-4147-A177-3AD203B41FA5}">
                      <a16:colId xmlns:a16="http://schemas.microsoft.com/office/drawing/2014/main" val="3674468684"/>
                    </a:ext>
                  </a:extLst>
                </a:gridCol>
                <a:gridCol w="348544">
                  <a:extLst>
                    <a:ext uri="{9D8B030D-6E8A-4147-A177-3AD203B41FA5}">
                      <a16:colId xmlns:a16="http://schemas.microsoft.com/office/drawing/2014/main" val="2661305286"/>
                    </a:ext>
                  </a:extLst>
                </a:gridCol>
                <a:gridCol w="1097269">
                  <a:extLst>
                    <a:ext uri="{9D8B030D-6E8A-4147-A177-3AD203B41FA5}">
                      <a16:colId xmlns:a16="http://schemas.microsoft.com/office/drawing/2014/main" val="2048303182"/>
                    </a:ext>
                  </a:extLst>
                </a:gridCol>
                <a:gridCol w="593816">
                  <a:extLst>
                    <a:ext uri="{9D8B030D-6E8A-4147-A177-3AD203B41FA5}">
                      <a16:colId xmlns:a16="http://schemas.microsoft.com/office/drawing/2014/main" val="2906750635"/>
                    </a:ext>
                  </a:extLst>
                </a:gridCol>
                <a:gridCol w="645452">
                  <a:extLst>
                    <a:ext uri="{9D8B030D-6E8A-4147-A177-3AD203B41FA5}">
                      <a16:colId xmlns:a16="http://schemas.microsoft.com/office/drawing/2014/main" val="756422633"/>
                    </a:ext>
                  </a:extLst>
                </a:gridCol>
                <a:gridCol w="619634">
                  <a:extLst>
                    <a:ext uri="{9D8B030D-6E8A-4147-A177-3AD203B41FA5}">
                      <a16:colId xmlns:a16="http://schemas.microsoft.com/office/drawing/2014/main" val="1916856600"/>
                    </a:ext>
                  </a:extLst>
                </a:gridCol>
                <a:gridCol w="567997">
                  <a:extLst>
                    <a:ext uri="{9D8B030D-6E8A-4147-A177-3AD203B41FA5}">
                      <a16:colId xmlns:a16="http://schemas.microsoft.com/office/drawing/2014/main" val="1098231851"/>
                    </a:ext>
                  </a:extLst>
                </a:gridCol>
                <a:gridCol w="2723807">
                  <a:extLst>
                    <a:ext uri="{9D8B030D-6E8A-4147-A177-3AD203B41FA5}">
                      <a16:colId xmlns:a16="http://schemas.microsoft.com/office/drawing/2014/main" val="244507178"/>
                    </a:ext>
                  </a:extLst>
                </a:gridCol>
                <a:gridCol w="4285800">
                  <a:extLst>
                    <a:ext uri="{9D8B030D-6E8A-4147-A177-3AD203B41FA5}">
                      <a16:colId xmlns:a16="http://schemas.microsoft.com/office/drawing/2014/main" val="278955444"/>
                    </a:ext>
                  </a:extLst>
                </a:gridCol>
              </a:tblGrid>
              <a:tr h="32493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2737485"/>
                  </a:ext>
                </a:extLst>
              </a:tr>
              <a:tr h="430895">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13/04/2025 07:30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VN112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TX CHK FOUND MW#2 INNER SHOULDER CORD EXPOSED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REPLACED NEW MW#2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222249"/>
                  </a:ext>
                </a:extLst>
              </a:tr>
              <a:tr h="430895">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08/04/2025 07:00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VN1823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SGN-PQC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DURING T/X CHECK FOUND : INNER SHOULDER OF MW 1 WORN LESS THAN 1,5 MM AND ENG1 ATTRITION LINING GOUGED AT 8H POSITION WITHIN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C/O RPLD MW#1 AND ADD B1825 RAISED: "ENG1 ATTRITION LINING GOUGED AT 8H POSITION WITHIN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8375436"/>
                  </a:ext>
                </a:extLst>
              </a:tr>
            </a:tbl>
          </a:graphicData>
        </a:graphic>
      </p:graphicFrame>
    </p:spTree>
    <p:extLst>
      <p:ext uri="{BB962C8B-B14F-4D97-AF65-F5344CB8AC3E}">
        <p14:creationId xmlns:p14="http://schemas.microsoft.com/office/powerpoint/2010/main" val="5508815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01</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228FEEC-27EA-4FD7-8C2E-36747C3F6F40}"/>
              </a:ext>
            </a:extLst>
          </p:cNvPr>
          <p:cNvGraphicFramePr>
            <a:graphicFrameLocks noGrp="1"/>
          </p:cNvGraphicFramePr>
          <p:nvPr>
            <p:extLst>
              <p:ext uri="{D42A27DB-BD31-4B8C-83A1-F6EECF244321}">
                <p14:modId xmlns:p14="http://schemas.microsoft.com/office/powerpoint/2010/main" val="635218134"/>
              </p:ext>
            </p:extLst>
          </p:nvPr>
        </p:nvGraphicFramePr>
        <p:xfrm>
          <a:off x="304799" y="1933279"/>
          <a:ext cx="11518207" cy="2207520"/>
        </p:xfrm>
        <a:graphic>
          <a:graphicData uri="http://schemas.openxmlformats.org/drawingml/2006/table">
            <a:tbl>
              <a:tblPr/>
              <a:tblGrid>
                <a:gridCol w="533401">
                  <a:extLst>
                    <a:ext uri="{9D8B030D-6E8A-4147-A177-3AD203B41FA5}">
                      <a16:colId xmlns:a16="http://schemas.microsoft.com/office/drawing/2014/main" val="3899203313"/>
                    </a:ext>
                  </a:extLst>
                </a:gridCol>
                <a:gridCol w="800809">
                  <a:extLst>
                    <a:ext uri="{9D8B030D-6E8A-4147-A177-3AD203B41FA5}">
                      <a16:colId xmlns:a16="http://schemas.microsoft.com/office/drawing/2014/main" val="3570207692"/>
                    </a:ext>
                  </a:extLst>
                </a:gridCol>
                <a:gridCol w="418391">
                  <a:extLst>
                    <a:ext uri="{9D8B030D-6E8A-4147-A177-3AD203B41FA5}">
                      <a16:colId xmlns:a16="http://schemas.microsoft.com/office/drawing/2014/main" val="3758148986"/>
                    </a:ext>
                  </a:extLst>
                </a:gridCol>
                <a:gridCol w="537319">
                  <a:extLst>
                    <a:ext uri="{9D8B030D-6E8A-4147-A177-3AD203B41FA5}">
                      <a16:colId xmlns:a16="http://schemas.microsoft.com/office/drawing/2014/main" val="4003055133"/>
                    </a:ext>
                  </a:extLst>
                </a:gridCol>
                <a:gridCol w="700224">
                  <a:extLst>
                    <a:ext uri="{9D8B030D-6E8A-4147-A177-3AD203B41FA5}">
                      <a16:colId xmlns:a16="http://schemas.microsoft.com/office/drawing/2014/main" val="2123969415"/>
                    </a:ext>
                  </a:extLst>
                </a:gridCol>
                <a:gridCol w="577212">
                  <a:extLst>
                    <a:ext uri="{9D8B030D-6E8A-4147-A177-3AD203B41FA5}">
                      <a16:colId xmlns:a16="http://schemas.microsoft.com/office/drawing/2014/main" val="4125409330"/>
                    </a:ext>
                  </a:extLst>
                </a:gridCol>
                <a:gridCol w="3062045">
                  <a:extLst>
                    <a:ext uri="{9D8B030D-6E8A-4147-A177-3AD203B41FA5}">
                      <a16:colId xmlns:a16="http://schemas.microsoft.com/office/drawing/2014/main" val="3828858692"/>
                    </a:ext>
                  </a:extLst>
                </a:gridCol>
                <a:gridCol w="2059524">
                  <a:extLst>
                    <a:ext uri="{9D8B030D-6E8A-4147-A177-3AD203B41FA5}">
                      <a16:colId xmlns:a16="http://schemas.microsoft.com/office/drawing/2014/main" val="1636178052"/>
                    </a:ext>
                  </a:extLst>
                </a:gridCol>
                <a:gridCol w="455076">
                  <a:extLst>
                    <a:ext uri="{9D8B030D-6E8A-4147-A177-3AD203B41FA5}">
                      <a16:colId xmlns:a16="http://schemas.microsoft.com/office/drawing/2014/main" val="3410869614"/>
                    </a:ext>
                  </a:extLst>
                </a:gridCol>
                <a:gridCol w="2374206">
                  <a:extLst>
                    <a:ext uri="{9D8B030D-6E8A-4147-A177-3AD203B41FA5}">
                      <a16:colId xmlns:a16="http://schemas.microsoft.com/office/drawing/2014/main" val="1885206330"/>
                    </a:ext>
                  </a:extLst>
                </a:gridCol>
              </a:tblGrid>
              <a:tr h="259218">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59549489"/>
                  </a:ext>
                </a:extLst>
              </a:tr>
              <a:tr h="777653">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A602</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13:30 12/04/2025</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60</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VN132</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T/X AND AFTER CLOSE THE DOOR, CAPT INFORM “A/C HAVE CAPT AND FO HAND MIKE INOP" , A/C CAN'T CALL VHF WITH ATC , CAPT REFUSED TO FLY . A/C CHANGED”</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RAISED ADD FOR 2 HAND MIKE INOP AND VHF 1 INOP , OPS TEST SATIS , A/C SERVICEABLE</a:t>
                      </a:r>
                      <a:r>
                        <a:rPr lang="en-US" sz="1200" b="0" i="0" u="none" strike="noStrike">
                          <a:solidFill>
                            <a:srgbClr val="000000"/>
                          </a:solidFill>
                          <a:effectLst/>
                          <a:latin typeface="Times New Roman" panose="02020603050405020304" pitchFamily="18" charset="0"/>
                          <a:cs typeface="Times New Roman" panose="02020603050405020304" pitchFamily="18" charset="0"/>
                        </a:rPr>
                        <a:t/>
                      </a:r>
                      <a:br>
                        <a:rPr lang="en-US" sz="1200" b="0" i="0" u="none" strike="noStrike">
                          <a:solidFill>
                            <a:srgbClr val="000000"/>
                          </a:solidFill>
                          <a:effectLst/>
                          <a:latin typeface="Times New Roman" panose="02020603050405020304" pitchFamily="18" charset="0"/>
                          <a:cs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23-00</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VHF Transceiver PN 822-1287-121. Hỏng hóc được khắc phục sau khi thay part. Transceiver có ĐTC cao (MTBUR/GMTBUR: 77,985/30000), hiện không có vấn đề kỹ thuật liên quan. Part tháo xuống có TSN/CSN: 26642/17024. Hỏng hóc có thể do aging, theo dõi thêm.</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1462209"/>
                  </a:ext>
                </a:extLst>
              </a:tr>
            </a:tbl>
          </a:graphicData>
        </a:graphic>
      </p:graphicFrame>
    </p:spTree>
    <p:extLst>
      <p:ext uri="{BB962C8B-B14F-4D97-AF65-F5344CB8AC3E}">
        <p14:creationId xmlns:p14="http://schemas.microsoft.com/office/powerpoint/2010/main" val="30945569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8" name="Title 4"/>
          <p:cNvSpPr txBox="1">
            <a:spLocks/>
          </p:cNvSpPr>
          <p:nvPr/>
        </p:nvSpPr>
        <p:spPr>
          <a:xfrm>
            <a:off x="970208" y="609600"/>
            <a:ext cx="11811000" cy="533400"/>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400" b="1" dirty="0">
                <a:ln w="0"/>
                <a:solidFill>
                  <a:schemeClr val="accent4"/>
                </a:solidFill>
                <a:cs typeface="Times New Roman" panose="02020603050405020304" pitchFamily="18" charset="0"/>
              </a:rPr>
              <a:t>TÌNH TRẠNG KỸ THUẬT ĐỘI </a:t>
            </a:r>
            <a:r>
              <a:rPr lang="en-US" sz="2400" b="1">
                <a:ln w="0"/>
                <a:solidFill>
                  <a:schemeClr val="accent4"/>
                </a:solidFill>
                <a:cs typeface="Times New Roman" panose="02020603050405020304" pitchFamily="18" charset="0"/>
              </a:rPr>
              <a:t>BAY </a:t>
            </a:r>
            <a:r>
              <a:rPr lang="en-US" sz="2400" b="1" smtClean="0">
                <a:ln w="0"/>
                <a:solidFill>
                  <a:schemeClr val="accent4"/>
                </a:solidFill>
                <a:cs typeface="Times New Roman" panose="02020603050405020304" pitchFamily="18" charset="0"/>
              </a:rPr>
              <a:t>A320/A321</a:t>
            </a:r>
            <a:endParaRPr lang="en-US" sz="2400" b="1" dirty="0">
              <a:ln w="0"/>
              <a:solidFill>
                <a:schemeClr val="accent4"/>
              </a:solidFill>
              <a:cs typeface="Times New Roman" panose="02020603050405020304" pitchFamily="18" charset="0"/>
            </a:endParaRPr>
          </a:p>
          <a:p>
            <a:pPr>
              <a:defRPr/>
            </a:pPr>
            <a:endParaRPr lang="en-US" sz="2400" b="1" dirty="0">
              <a:ln w="0"/>
              <a:solidFill>
                <a:schemeClr val="accent4"/>
              </a:solidFill>
              <a:cs typeface="Times New Roman" panose="02020603050405020304" pitchFamily="18" charset="0"/>
            </a:endParaRPr>
          </a:p>
        </p:txBody>
      </p:sp>
      <p:sp>
        <p:nvSpPr>
          <p:cNvPr id="11" name="Text 2"/>
          <p:cNvSpPr/>
          <p:nvPr/>
        </p:nvSpPr>
        <p:spPr>
          <a:xfrm>
            <a:off x="970208" y="1295400"/>
            <a:ext cx="9220200" cy="762000"/>
          </a:xfrm>
          <a:prstGeom prst="rect">
            <a:avLst/>
          </a:prstGeom>
          <a:noFill/>
          <a:ln/>
        </p:spPr>
        <p:txBody>
          <a:bodyPr wrap="square" lIns="0" tIns="0" rIns="0" bIns="0" rtlCol="0" anchor="t"/>
          <a:lstStyle/>
          <a:p>
            <a:pPr marL="285739" indent="-285739">
              <a:lnSpc>
                <a:spcPts val="2125"/>
              </a:lnSpc>
              <a:buSzPct val="100000"/>
              <a:buFontTx/>
              <a:buChar char="•"/>
            </a:pPr>
            <a:r>
              <a:rPr lang="en-US" sz="1600">
                <a:latin typeface="Times New Roman" panose="02020603050405020304" pitchFamily="18" charset="0"/>
                <a:ea typeface="Open Sans" pitchFamily="34" charset="-122"/>
                <a:cs typeface="Times New Roman" panose="02020603050405020304" pitchFamily="18" charset="0"/>
              </a:rPr>
              <a:t>Đ</a:t>
            </a:r>
            <a:r>
              <a:rPr lang="vi-VN" sz="1600" smtClean="0">
                <a:latin typeface="Times New Roman" panose="02020603050405020304" pitchFamily="18" charset="0"/>
                <a:ea typeface="Open Sans" pitchFamily="34" charset="-122"/>
                <a:cs typeface="Times New Roman" panose="02020603050405020304" pitchFamily="18" charset="0"/>
              </a:rPr>
              <a:t>ội </a:t>
            </a:r>
            <a:r>
              <a:rPr lang="vi-VN" sz="1600">
                <a:latin typeface="Times New Roman" panose="02020603050405020304" pitchFamily="18" charset="0"/>
                <a:ea typeface="Open Sans" pitchFamily="34" charset="-122"/>
                <a:cs typeface="Times New Roman" panose="02020603050405020304" pitchFamily="18" charset="0"/>
              </a:rPr>
              <a:t>tàu A321 không phát sinh trường hợp AOG nào, có một số trường hợp Delay nhưng đã khắc phục </a:t>
            </a:r>
            <a:r>
              <a:rPr lang="vi-VN" sz="1600" smtClean="0">
                <a:latin typeface="Times New Roman" panose="02020603050405020304" pitchFamily="18" charset="0"/>
                <a:ea typeface="Open Sans" pitchFamily="34" charset="-122"/>
                <a:cs typeface="Times New Roman" panose="02020603050405020304" pitchFamily="18" charset="0"/>
              </a:rPr>
              <a:t>xong</a:t>
            </a:r>
            <a:endParaRPr lang="en-US" sz="16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979541475"/>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457200" y="167918"/>
            <a:ext cx="1089659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609599" y="1002007"/>
            <a:ext cx="10744201"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1B1DB1B3-7BC8-4C90-A3B8-93E80EA4BD65}"/>
              </a:ext>
            </a:extLst>
          </p:cNvPr>
          <p:cNvSpPr txBox="1"/>
          <p:nvPr/>
        </p:nvSpPr>
        <p:spPr>
          <a:xfrm>
            <a:off x="609600" y="1676400"/>
            <a:ext cx="10744200"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Tàu A899 SGN-BKK ATB </a:t>
            </a:r>
            <a:r>
              <a:rPr lang="en-US" smtClean="0">
                <a:latin typeface="Times New Roman" panose="02020603050405020304" pitchFamily="18" charset="0"/>
                <a:cs typeface="Times New Roman" panose="02020603050405020304" pitchFamily="18" charset="0"/>
              </a:rPr>
              <a:t>và Delay do </a:t>
            </a:r>
            <a:r>
              <a:rPr lang="en-US">
                <a:latin typeface="Times New Roman" panose="02020603050405020304" pitchFamily="18" charset="0"/>
                <a:cs typeface="Times New Roman" panose="02020603050405020304" pitchFamily="18" charset="0"/>
              </a:rPr>
              <a:t>có msg ENG 1 STALL. Hỏng hóc đang làm T/S. KTMB đang theo dõi và cập nhật thêm thông tin sau.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2980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1132482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6" name="Table 5">
            <a:extLst>
              <a:ext uri="{FF2B5EF4-FFF2-40B4-BE49-F238E27FC236}">
                <a16:creationId xmlns:a16="http://schemas.microsoft.com/office/drawing/2014/main" id="{1E4D4516-B056-EFA3-CA73-0C4F8D6D3399}"/>
              </a:ext>
            </a:extLst>
          </p:cNvPr>
          <p:cNvGraphicFramePr>
            <a:graphicFrameLocks noGrp="1"/>
          </p:cNvGraphicFramePr>
          <p:nvPr>
            <p:extLst>
              <p:ext uri="{D42A27DB-BD31-4B8C-83A1-F6EECF244321}">
                <p14:modId xmlns:p14="http://schemas.microsoft.com/office/powerpoint/2010/main" val="205804378"/>
              </p:ext>
            </p:extLst>
          </p:nvPr>
        </p:nvGraphicFramePr>
        <p:xfrm>
          <a:off x="137222" y="761999"/>
          <a:ext cx="11445177" cy="5980423"/>
        </p:xfrm>
        <a:graphic>
          <a:graphicData uri="http://schemas.openxmlformats.org/drawingml/2006/table">
            <a:tbl>
              <a:tblPr/>
              <a:tblGrid>
                <a:gridCol w="294843">
                  <a:extLst>
                    <a:ext uri="{9D8B030D-6E8A-4147-A177-3AD203B41FA5}">
                      <a16:colId xmlns:a16="http://schemas.microsoft.com/office/drawing/2014/main" val="1675189508"/>
                    </a:ext>
                  </a:extLst>
                </a:gridCol>
                <a:gridCol w="608192">
                  <a:extLst>
                    <a:ext uri="{9D8B030D-6E8A-4147-A177-3AD203B41FA5}">
                      <a16:colId xmlns:a16="http://schemas.microsoft.com/office/drawing/2014/main" val="1389278060"/>
                    </a:ext>
                  </a:extLst>
                </a:gridCol>
                <a:gridCol w="530962">
                  <a:extLst>
                    <a:ext uri="{9D8B030D-6E8A-4147-A177-3AD203B41FA5}">
                      <a16:colId xmlns:a16="http://schemas.microsoft.com/office/drawing/2014/main" val="2363016767"/>
                    </a:ext>
                  </a:extLst>
                </a:gridCol>
                <a:gridCol w="1264655">
                  <a:extLst>
                    <a:ext uri="{9D8B030D-6E8A-4147-A177-3AD203B41FA5}">
                      <a16:colId xmlns:a16="http://schemas.microsoft.com/office/drawing/2014/main" val="3501170063"/>
                    </a:ext>
                  </a:extLst>
                </a:gridCol>
                <a:gridCol w="1255000">
                  <a:extLst>
                    <a:ext uri="{9D8B030D-6E8A-4147-A177-3AD203B41FA5}">
                      <a16:colId xmlns:a16="http://schemas.microsoft.com/office/drawing/2014/main" val="1988726129"/>
                    </a:ext>
                  </a:extLst>
                </a:gridCol>
                <a:gridCol w="1583231">
                  <a:extLst>
                    <a:ext uri="{9D8B030D-6E8A-4147-A177-3AD203B41FA5}">
                      <a16:colId xmlns:a16="http://schemas.microsoft.com/office/drawing/2014/main" val="1751812963"/>
                    </a:ext>
                  </a:extLst>
                </a:gridCol>
                <a:gridCol w="5908294">
                  <a:extLst>
                    <a:ext uri="{9D8B030D-6E8A-4147-A177-3AD203B41FA5}">
                      <a16:colId xmlns:a16="http://schemas.microsoft.com/office/drawing/2014/main" val="1259919376"/>
                    </a:ext>
                  </a:extLst>
                </a:gridCol>
              </a:tblGrid>
              <a:tr h="2079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1521391"/>
                  </a:ext>
                </a:extLst>
              </a:tr>
              <a:tr h="63798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A886</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ADD B1372 RAISED DM AIR REDUNDANCY LOSS ON FUEL INERTING</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2. ADD B1379 RAISED PACK 1 REGULATION REDUNDANCY</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3. ADD B1381 RAISED F/CTL R OUT R AILERON G ACTUATOR</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7781983"/>
                  </a:ext>
                </a:extLst>
              </a:tr>
              <a:tr h="2126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A887</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1. ADD B1246 RAISED AIR PACK 2 REGUL REDUNDANCY</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150839"/>
                  </a:ext>
                </a:extLst>
              </a:tr>
              <a:tr h="2126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A888</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Eng 2 21682  giảm tần suất soi heatshield 2400FH/400FC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1259207"/>
                  </a:ext>
                </a:extLst>
              </a:tr>
              <a:tr h="2126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A889</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Eng 1 21088 giảm tần suất soi HPT blade 800FH/100FC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1004256"/>
                  </a:ext>
                </a:extLst>
              </a:tr>
              <a:tr h="42532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TR 81489576: PREVENTIVE RECOMMENDATION PACK 2 INTERNAL LEAKAGE</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2. ADD B1508 RAISED APU INOP</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6323221"/>
                  </a:ext>
                </a:extLst>
              </a:tr>
              <a:tr h="2079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A891</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3477283"/>
                  </a:ext>
                </a:extLst>
              </a:tr>
              <a:tr h="42532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A892</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Đang định kỳ</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1. ADD B1455 RAISED THE DROOP-NOSE END-FILLING PANEL AT R/H MISSING</a:t>
                      </a:r>
                      <a:br>
                        <a:rPr lang="en-SG" sz="1100" b="0" i="0" u="none" strike="noStrike">
                          <a:solidFill>
                            <a:srgbClr val="000000"/>
                          </a:solidFill>
                          <a:effectLst/>
                          <a:latin typeface="Times New Roman" panose="02020603050405020304" pitchFamily="18" charset="0"/>
                          <a:cs typeface="Times New Roman" panose="02020603050405020304" pitchFamily="18" charset="0"/>
                        </a:rPr>
                      </a:br>
                      <a:r>
                        <a:rPr lang="en-SG" sz="1100" b="0" i="0" u="none" strike="noStrike">
                          <a:solidFill>
                            <a:srgbClr val="000000"/>
                          </a:solidFill>
                          <a:effectLst/>
                          <a:latin typeface="Times New Roman" panose="02020603050405020304" pitchFamily="18" charset="0"/>
                          <a:cs typeface="Times New Roman" panose="02020603050405020304" pitchFamily="18" charset="0"/>
                        </a:rPr>
                        <a:t>2. ENGINE: #2/21368 ON AIRCRAFT VN-A892: P25 MEASUREMENT ERROR</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692077"/>
                  </a:ext>
                </a:extLst>
              </a:tr>
              <a:tr h="42532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A893</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1. Không chọn chuyên cơ do động cơ số 2 S/N 21369 tiêu hao dầu nhờn cao, Rolls-Royce chưa đưa ra được giải pháp khắc phục.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5392307"/>
                  </a:ext>
                </a:extLst>
              </a:tr>
              <a:tr h="2126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A894</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Eng 2 21425 giảm tần suất soi HPT blade 800FH/100FC ( giảm 600FH/75FC)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8656750"/>
                  </a:ext>
                </a:extLst>
              </a:tr>
              <a:tr h="42532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A895</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1. ADD B995 RAISED ENGINE #1 SN 21604 HAVE LOW LIFE TIME </a:t>
                      </a:r>
                      <a:br>
                        <a:rPr lang="en-SG" sz="1100" b="0" i="0" u="none" strike="noStrike">
                          <a:solidFill>
                            <a:srgbClr val="000000"/>
                          </a:solidFill>
                          <a:effectLst/>
                          <a:latin typeface="Times New Roman" panose="02020603050405020304" pitchFamily="18" charset="0"/>
                          <a:cs typeface="Times New Roman" panose="02020603050405020304" pitchFamily="18" charset="0"/>
                        </a:rPr>
                      </a:br>
                      <a:r>
                        <a:rPr lang="en-SG" sz="1100" b="0" i="0" u="none" strike="noStrike">
                          <a:solidFill>
                            <a:srgbClr val="000000"/>
                          </a:solidFill>
                          <a:effectLst/>
                          <a:latin typeface="Times New Roman" panose="02020603050405020304" pitchFamily="18" charset="0"/>
                          <a:cs typeface="Times New Roman" panose="02020603050405020304" pitchFamily="18" charset="0"/>
                        </a:rPr>
                        <a:t>2. ADD B996 RAISED ENGINE #2 SN 21414 HAVE LOW LIFE TIME</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288803"/>
                  </a:ext>
                </a:extLst>
              </a:tr>
              <a:tr h="31918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A896</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TR 81416394: PREVENTIVE RECOMMENDATION PACK 1 INTERNAL LEAKAGE</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7624940"/>
                  </a:ext>
                </a:extLst>
              </a:tr>
              <a:tr h="41246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A897</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Eng 2 21214 giảm tần suất soi heatshield 2400FH/400FC</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2. A897 có logo Skyteam</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2966805"/>
                  </a:ext>
                </a:extLst>
              </a:tr>
              <a:tr h="143498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A898</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 Eng 1 21214 giảm tần suất soi heatshield 2400FH/400FC. Eng 2 21268 giảm tần suất soi HPT blade 800FH/100FC</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2. CABIN tồn đọng hỏng hóc MID SCS CHILLER, cân nhắc chọn tầu VIP chỉ bay nội địa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3. ADD B1134 RAISED FOR REPAIR OF DENT L/H DROOP NOSE WITHIN 350FC OR 150 DAYS WHICHEVER COME FIRST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4. ADD B1137 RAISED BRAKE FAN #8 INOP</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5. CAPT OXYGEN CYLINDER (11HT1) PRESSURE IS LOW NEAR LIMIT (&lt;1200 PSI)</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278132"/>
                  </a:ext>
                </a:extLst>
              </a:tr>
              <a:tr h="2079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A899</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2575" marR="2575" marT="25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4916966"/>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609601" y="609600"/>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609601" y="1371600"/>
            <a:ext cx="10820400" cy="861774"/>
          </a:xfrm>
          <a:prstGeom prst="rect">
            <a:avLst/>
          </a:prstGeom>
        </p:spPr>
        <p:txBody>
          <a:bodyPr wrap="square">
            <a:spAutoFit/>
          </a:bodyPr>
          <a:lstStyle/>
          <a:p>
            <a:pPr algn="just">
              <a:buClrTx/>
              <a:buFontTx/>
              <a:buNone/>
            </a:pPr>
            <a:r>
              <a:rPr lang="en-US" sz="1200" b="1">
                <a:solidFill>
                  <a:prstClr val="black"/>
                </a:solidFill>
                <a:latin typeface="Times New Roman" panose="02020603050405020304" pitchFamily="18" charset="0"/>
                <a:cs typeface="Times New Roman" panose="02020603050405020304" pitchFamily="18" charset="0"/>
              </a:rPr>
              <a:t>Nhận xét: </a:t>
            </a:r>
          </a:p>
          <a:p>
            <a:pPr marL="285750" indent="-285750" algn="just">
              <a:buClrTx/>
              <a:buFontTx/>
              <a:buChar char="-"/>
            </a:pPr>
            <a:r>
              <a:rPr lang="vi-VN" sz="1200">
                <a:solidFill>
                  <a:prstClr val="black"/>
                </a:solidFill>
                <a:cs typeface="Times New Roman" panose="02020603050405020304" pitchFamily="18" charset="0"/>
              </a:rPr>
              <a:t>Tình hình kỹ thuật đội bay A3</a:t>
            </a:r>
            <a:r>
              <a:rPr lang="en-US" sz="1200">
                <a:solidFill>
                  <a:prstClr val="black"/>
                </a:solidFill>
                <a:latin typeface="Times New Roman" panose="02020603050405020304" pitchFamily="18" charset="0"/>
                <a:cs typeface="Times New Roman" panose="02020603050405020304" pitchFamily="18" charset="0"/>
              </a:rPr>
              <a:t>50 </a:t>
            </a:r>
            <a:r>
              <a:rPr lang="en-US" sz="1200" smtClean="0">
                <a:solidFill>
                  <a:prstClr val="black"/>
                </a:solidFill>
                <a:latin typeface="Times New Roman" panose="02020603050405020304" pitchFamily="18" charset="0"/>
                <a:cs typeface="Times New Roman" panose="02020603050405020304" pitchFamily="18" charset="0"/>
              </a:rPr>
              <a:t>trong tuần: tàu A899 ATB do báo msg </a:t>
            </a:r>
            <a:r>
              <a:rPr lang="en-US" sz="1200">
                <a:latin typeface="Times New Roman" panose="02020603050405020304" pitchFamily="18" charset="0"/>
                <a:cs typeface="Times New Roman" panose="02020603050405020304" pitchFamily="18" charset="0"/>
              </a:rPr>
              <a:t>ENG 1 STALL, tàu đang làm T/S. KTMB đang theo dõi và cập nhật thêm thông </a:t>
            </a:r>
            <a:r>
              <a:rPr lang="en-US" sz="1200" smtClean="0">
                <a:latin typeface="Times New Roman" panose="02020603050405020304" pitchFamily="18" charset="0"/>
                <a:cs typeface="Times New Roman" panose="02020603050405020304" pitchFamily="18" charset="0"/>
              </a:rPr>
              <a:t>tin</a:t>
            </a:r>
            <a:endParaRPr lang="en-US" sz="1200">
              <a:solidFill>
                <a:prstClr val="black"/>
              </a:solidFill>
              <a:latin typeface="Times New Roman" panose="02020603050405020304" pitchFamily="18" charset="0"/>
              <a:cs typeface="Times New Roman" panose="02020603050405020304" pitchFamily="18" charset="0"/>
            </a:endParaRPr>
          </a:p>
          <a:p>
            <a:pPr marL="285750" indent="-285750" algn="just">
              <a:buClrTx/>
              <a:buFontTx/>
              <a:buChar char="-"/>
            </a:pPr>
            <a:r>
              <a:rPr lang="en-US" sz="1200">
                <a:solidFill>
                  <a:prstClr val="black"/>
                </a:solidFill>
                <a:latin typeface="Times New Roman" panose="02020603050405020304" pitchFamily="18" charset="0"/>
                <a:cs typeface="Times New Roman" panose="02020603050405020304" pitchFamily="18" charset="0"/>
              </a:rPr>
              <a:t>Hỏng hóc nổi cộm: </a:t>
            </a:r>
          </a:p>
          <a:p>
            <a:pPr lvl="1" algn="just"/>
            <a:r>
              <a:rPr lang="en-US" sz="1200">
                <a:latin typeface="Times New Roman" panose="02020603050405020304" pitchFamily="18" charset="0"/>
                <a:cs typeface="Times New Roman" panose="02020603050405020304" pitchFamily="18" charset="0"/>
              </a:rPr>
              <a:t>+ A890 ADD </a:t>
            </a:r>
            <a:r>
              <a:rPr lang="en-US" sz="1400">
                <a:latin typeface="Times New Roman" panose="02020603050405020304" pitchFamily="18" charset="0"/>
                <a:cs typeface="Times New Roman" panose="02020603050405020304" pitchFamily="18" charset="0"/>
              </a:rPr>
              <a:t>B1508</a:t>
            </a:r>
            <a:r>
              <a:rPr lang="en-US" sz="1200">
                <a:latin typeface="Times New Roman" panose="02020603050405020304" pitchFamily="18" charset="0"/>
                <a:cs typeface="Times New Roman" panose="02020603050405020304" pitchFamily="18" charset="0"/>
              </a:rPr>
              <a:t>: "APU INOP" cần thay APU tuy nhiên dự kiến 25/05 có APU.</a:t>
            </a:r>
            <a:endParaRPr lang="en-US" sz="12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130C61D1-F425-C7FC-4F91-76E0FD4C2304}"/>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9" name="TextBox 8">
            <a:extLst>
              <a:ext uri="{FF2B5EF4-FFF2-40B4-BE49-F238E27FC236}">
                <a16:creationId xmlns:a16="http://schemas.microsoft.com/office/drawing/2014/main" id="{D48FB457-A375-1917-6C38-EA994CBDA891}"/>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6" name="Table 5">
            <a:extLst>
              <a:ext uri="{FF2B5EF4-FFF2-40B4-BE49-F238E27FC236}">
                <a16:creationId xmlns:a16="http://schemas.microsoft.com/office/drawing/2014/main" id="{FDDF8E42-32FB-4FE3-B814-B75CC670E072}"/>
              </a:ext>
            </a:extLst>
          </p:cNvPr>
          <p:cNvGraphicFramePr>
            <a:graphicFrameLocks noGrp="1"/>
          </p:cNvGraphicFramePr>
          <p:nvPr>
            <p:extLst>
              <p:ext uri="{D42A27DB-BD31-4B8C-83A1-F6EECF244321}">
                <p14:modId xmlns:p14="http://schemas.microsoft.com/office/powerpoint/2010/main" val="595439835"/>
              </p:ext>
            </p:extLst>
          </p:nvPr>
        </p:nvGraphicFramePr>
        <p:xfrm>
          <a:off x="228600" y="1782515"/>
          <a:ext cx="11612514" cy="4735888"/>
        </p:xfrm>
        <a:graphic>
          <a:graphicData uri="http://schemas.openxmlformats.org/drawingml/2006/table">
            <a:tbl>
              <a:tblPr/>
              <a:tblGrid>
                <a:gridCol w="457200">
                  <a:extLst>
                    <a:ext uri="{9D8B030D-6E8A-4147-A177-3AD203B41FA5}">
                      <a16:colId xmlns:a16="http://schemas.microsoft.com/office/drawing/2014/main" val="225319774"/>
                    </a:ext>
                  </a:extLst>
                </a:gridCol>
                <a:gridCol w="735129">
                  <a:extLst>
                    <a:ext uri="{9D8B030D-6E8A-4147-A177-3AD203B41FA5}">
                      <a16:colId xmlns:a16="http://schemas.microsoft.com/office/drawing/2014/main" val="1697082092"/>
                    </a:ext>
                  </a:extLst>
                </a:gridCol>
                <a:gridCol w="712671">
                  <a:extLst>
                    <a:ext uri="{9D8B030D-6E8A-4147-A177-3AD203B41FA5}">
                      <a16:colId xmlns:a16="http://schemas.microsoft.com/office/drawing/2014/main" val="714801078"/>
                    </a:ext>
                  </a:extLst>
                </a:gridCol>
                <a:gridCol w="479658">
                  <a:extLst>
                    <a:ext uri="{9D8B030D-6E8A-4147-A177-3AD203B41FA5}">
                      <a16:colId xmlns:a16="http://schemas.microsoft.com/office/drawing/2014/main" val="1984638998"/>
                    </a:ext>
                  </a:extLst>
                </a:gridCol>
                <a:gridCol w="1730142">
                  <a:extLst>
                    <a:ext uri="{9D8B030D-6E8A-4147-A177-3AD203B41FA5}">
                      <a16:colId xmlns:a16="http://schemas.microsoft.com/office/drawing/2014/main" val="233002889"/>
                    </a:ext>
                  </a:extLst>
                </a:gridCol>
                <a:gridCol w="1828800">
                  <a:extLst>
                    <a:ext uri="{9D8B030D-6E8A-4147-A177-3AD203B41FA5}">
                      <a16:colId xmlns:a16="http://schemas.microsoft.com/office/drawing/2014/main" val="643159386"/>
                    </a:ext>
                  </a:extLst>
                </a:gridCol>
                <a:gridCol w="609600">
                  <a:extLst>
                    <a:ext uri="{9D8B030D-6E8A-4147-A177-3AD203B41FA5}">
                      <a16:colId xmlns:a16="http://schemas.microsoft.com/office/drawing/2014/main" val="3477632342"/>
                    </a:ext>
                  </a:extLst>
                </a:gridCol>
                <a:gridCol w="4484291">
                  <a:extLst>
                    <a:ext uri="{9D8B030D-6E8A-4147-A177-3AD203B41FA5}">
                      <a16:colId xmlns:a16="http://schemas.microsoft.com/office/drawing/2014/main" val="1568992867"/>
                    </a:ext>
                  </a:extLst>
                </a:gridCol>
                <a:gridCol w="575023">
                  <a:extLst>
                    <a:ext uri="{9D8B030D-6E8A-4147-A177-3AD203B41FA5}">
                      <a16:colId xmlns:a16="http://schemas.microsoft.com/office/drawing/2014/main" val="3910698595"/>
                    </a:ext>
                  </a:extLst>
                </a:gridCol>
              </a:tblGrid>
              <a:tr h="114883">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AOG TIME</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32926900"/>
                  </a:ext>
                </a:extLst>
              </a:tr>
              <a:tr h="2986951">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A873</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15:00 08/04/2025</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18:45 08/04/2025</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C/O </a:t>
                      </a:r>
                      <a:r>
                        <a:rPr lang="en-US" sz="1200" b="0" i="0" u="none" strike="noStrike">
                          <a:solidFill>
                            <a:srgbClr val="000000"/>
                          </a:solidFill>
                          <a:effectLst/>
                          <a:latin typeface="Times New Roman" panose="02020603050405020304" pitchFamily="18" charset="0"/>
                          <a:cs typeface="Times New Roman" panose="02020603050405020304" pitchFamily="18" charset="0"/>
                        </a:rPr>
                        <a:t>WO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7281928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FOUND 2 BOLT AT FUEL NOZZLE OF ENG #1 CRACK </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REPLACED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FUEL NOZZLE 20 (ENG # 1</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ENG RUN </a:t>
                      </a:r>
                      <a:r>
                        <a:rPr lang="en-US" sz="1200" b="0" i="0" u="none" strike="noStrike">
                          <a:solidFill>
                            <a:srgbClr val="000000"/>
                          </a:solidFill>
                          <a:effectLst/>
                          <a:latin typeface="Times New Roman" panose="02020603050405020304" pitchFamily="18" charset="0"/>
                          <a:cs typeface="Times New Roman" panose="02020603050405020304" pitchFamily="18" charset="0"/>
                        </a:rPr>
                        <a:t>UP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CHECK NO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LEAK</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AC </a:t>
                      </a:r>
                      <a:r>
                        <a:rPr lang="en-US" sz="1200" b="0" i="0" u="none" strike="noStrike">
                          <a:solidFill>
                            <a:srgbClr val="000000"/>
                          </a:solidFill>
                          <a:effectLst/>
                          <a:latin typeface="Times New Roman" panose="02020603050405020304" pitchFamily="18" charset="0"/>
                          <a:cs typeface="Times New Roman" panose="02020603050405020304" pitchFamily="18" charset="0"/>
                        </a:rPr>
                        <a:t>SERVICEABLE </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72</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ESN: 958435</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Position: #1</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Location: A873</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Owner: ALC</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Lastest Movement: 17/10/2019</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TSN: 12,266.25</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CSN: 5,080</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Trong </a:t>
                      </a:r>
                      <a:r>
                        <a:rPr lang="vi-VN" sz="1200" b="0" i="0" u="none" strike="noStrike">
                          <a:solidFill>
                            <a:srgbClr val="000000"/>
                          </a:solidFill>
                          <a:effectLst/>
                          <a:latin typeface="Times New Roman" panose="02020603050405020304" pitchFamily="18" charset="0"/>
                          <a:cs typeface="Times New Roman" panose="02020603050405020304" pitchFamily="18" charset="0"/>
                        </a:rPr>
                        <a:t>quá trình triển khai kiểm tra động cơ do có cảnh báo hot air leakage từ chương trình theo dõi động cơ từ xa Prognos của KLM, VAECO phát hiện Fuel nozzle #20 bị gãy 02 bolt phải khoan phá phần còn lại của bolt và thay thế dẫn đến AOG tàu bay để khắc phục. Fuel nozzle này gốc của 958435 chưa tháo gửi đi sửa chữa, cả động cơ và Fuel nozzle đều cao giờ. Hiện đang rà soát lịch sử bảo dưỡng, thực hiện mod tại vị trí quanh Fuel nozzle theo khuyến cáo của GE để cung cấp thêm thông tin  cho GE điều tra nguyên nhân gãy bolt</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Theo </a:t>
                      </a:r>
                      <a:r>
                        <a:rPr lang="vi-VN" sz="1200" b="0" i="0" u="none" strike="noStrike">
                          <a:solidFill>
                            <a:srgbClr val="000000"/>
                          </a:solidFill>
                          <a:effectLst/>
                          <a:latin typeface="Times New Roman" panose="02020603050405020304" pitchFamily="18" charset="0"/>
                          <a:cs typeface="Times New Roman" panose="02020603050405020304" pitchFamily="18" charset="0"/>
                        </a:rPr>
                        <a:t>GE, trên thế giới có 03 event gãy bolt tương tự, trong đó có 01 event xác định được gãy bolt do bolt trước đó đã được tháo lắp gây crack. Hiện GE đang yêu cầu cung cấp thông tin các nội dung bảo dưỡng trước đó của Fuel Nozzle trên 958435 để đánh giá thêm. </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VNA/VAECO </a:t>
                      </a:r>
                      <a:r>
                        <a:rPr lang="vi-VN" sz="1200" b="0" i="0" u="none" strike="noStrike">
                          <a:solidFill>
                            <a:srgbClr val="000000"/>
                          </a:solidFill>
                          <a:effectLst/>
                          <a:latin typeface="Times New Roman" panose="02020603050405020304" pitchFamily="18" charset="0"/>
                          <a:cs typeface="Times New Roman" panose="02020603050405020304" pitchFamily="18" charset="0"/>
                        </a:rPr>
                        <a:t>cũng trao đổi với GE về yêu cầu thực hiện preventive action như kiểm tra tình trạng hoặc thay thế bolt gắn Fuel nozzle trên các động cơ/Fuel nozzle cao giờ… nhưng GE trả lời không cần làm gì thêm “While GE is conducting investigation no additional field actions / inspections of fuel nozzle bolts are recommended as of now.”</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3.75</a:t>
                      </a:r>
                    </a:p>
                  </a:txBody>
                  <a:tcPr marL="5744" marR="5744" marT="57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7652510"/>
                  </a:ext>
                </a:extLst>
              </a:tr>
            </a:tbl>
          </a:graphicData>
        </a:graphic>
      </p:graphicFrame>
    </p:spTree>
    <p:extLst>
      <p:ext uri="{BB962C8B-B14F-4D97-AF65-F5344CB8AC3E}">
        <p14:creationId xmlns:p14="http://schemas.microsoft.com/office/powerpoint/2010/main" val="2785826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130C61D1-F425-C7FC-4F91-76E0FD4C2304}"/>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9" name="TextBox 8">
            <a:extLst>
              <a:ext uri="{FF2B5EF4-FFF2-40B4-BE49-F238E27FC236}">
                <a16:creationId xmlns:a16="http://schemas.microsoft.com/office/drawing/2014/main" id="{D48FB457-A375-1917-6C38-EA994CBDA891}"/>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3FCD666F-EE87-46FC-9099-BCCFAD2A2D16}"/>
              </a:ext>
            </a:extLst>
          </p:cNvPr>
          <p:cNvGraphicFramePr>
            <a:graphicFrameLocks noGrp="1"/>
          </p:cNvGraphicFramePr>
          <p:nvPr>
            <p:extLst>
              <p:ext uri="{D42A27DB-BD31-4B8C-83A1-F6EECF244321}">
                <p14:modId xmlns:p14="http://schemas.microsoft.com/office/powerpoint/2010/main" val="2249635943"/>
              </p:ext>
            </p:extLst>
          </p:nvPr>
        </p:nvGraphicFramePr>
        <p:xfrm>
          <a:off x="228600" y="1600199"/>
          <a:ext cx="11612513" cy="4775998"/>
        </p:xfrm>
        <a:graphic>
          <a:graphicData uri="http://schemas.openxmlformats.org/drawingml/2006/table">
            <a:tbl>
              <a:tblPr/>
              <a:tblGrid>
                <a:gridCol w="457200">
                  <a:extLst>
                    <a:ext uri="{9D8B030D-6E8A-4147-A177-3AD203B41FA5}">
                      <a16:colId xmlns:a16="http://schemas.microsoft.com/office/drawing/2014/main" val="2919766977"/>
                    </a:ext>
                  </a:extLst>
                </a:gridCol>
                <a:gridCol w="887934">
                  <a:extLst>
                    <a:ext uri="{9D8B030D-6E8A-4147-A177-3AD203B41FA5}">
                      <a16:colId xmlns:a16="http://schemas.microsoft.com/office/drawing/2014/main" val="3403662561"/>
                    </a:ext>
                  </a:extLst>
                </a:gridCol>
                <a:gridCol w="343438">
                  <a:extLst>
                    <a:ext uri="{9D8B030D-6E8A-4147-A177-3AD203B41FA5}">
                      <a16:colId xmlns:a16="http://schemas.microsoft.com/office/drawing/2014/main" val="2140782060"/>
                    </a:ext>
                  </a:extLst>
                </a:gridCol>
                <a:gridCol w="620097">
                  <a:extLst>
                    <a:ext uri="{9D8B030D-6E8A-4147-A177-3AD203B41FA5}">
                      <a16:colId xmlns:a16="http://schemas.microsoft.com/office/drawing/2014/main" val="2978358212"/>
                    </a:ext>
                  </a:extLst>
                </a:gridCol>
                <a:gridCol w="705956">
                  <a:extLst>
                    <a:ext uri="{9D8B030D-6E8A-4147-A177-3AD203B41FA5}">
                      <a16:colId xmlns:a16="http://schemas.microsoft.com/office/drawing/2014/main" val="2062682887"/>
                    </a:ext>
                  </a:extLst>
                </a:gridCol>
                <a:gridCol w="581938">
                  <a:extLst>
                    <a:ext uri="{9D8B030D-6E8A-4147-A177-3AD203B41FA5}">
                      <a16:colId xmlns:a16="http://schemas.microsoft.com/office/drawing/2014/main" val="3126928310"/>
                    </a:ext>
                  </a:extLst>
                </a:gridCol>
                <a:gridCol w="1432637">
                  <a:extLst>
                    <a:ext uri="{9D8B030D-6E8A-4147-A177-3AD203B41FA5}">
                      <a16:colId xmlns:a16="http://schemas.microsoft.com/office/drawing/2014/main" val="964420185"/>
                    </a:ext>
                  </a:extLst>
                </a:gridCol>
                <a:gridCol w="2286000">
                  <a:extLst>
                    <a:ext uri="{9D8B030D-6E8A-4147-A177-3AD203B41FA5}">
                      <a16:colId xmlns:a16="http://schemas.microsoft.com/office/drawing/2014/main" val="1555097362"/>
                    </a:ext>
                  </a:extLst>
                </a:gridCol>
                <a:gridCol w="457200">
                  <a:extLst>
                    <a:ext uri="{9D8B030D-6E8A-4147-A177-3AD203B41FA5}">
                      <a16:colId xmlns:a16="http://schemas.microsoft.com/office/drawing/2014/main" val="2975140416"/>
                    </a:ext>
                  </a:extLst>
                </a:gridCol>
                <a:gridCol w="3840113">
                  <a:extLst>
                    <a:ext uri="{9D8B030D-6E8A-4147-A177-3AD203B41FA5}">
                      <a16:colId xmlns:a16="http://schemas.microsoft.com/office/drawing/2014/main" val="3273702609"/>
                    </a:ext>
                  </a:extLst>
                </a:gridCol>
              </a:tblGrid>
              <a:tr h="337671">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632600756"/>
                  </a:ext>
                </a:extLst>
              </a:tr>
              <a:tr h="4220878">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A879</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23:15 09/04/2025</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SGN</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VN306</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SGN-NRT</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TRANSIT CHECK FOUND BRK #3 STUCKED AND HARNESS OF BRK #3 DAMAGED</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RPLD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BRAKE #3 &amp; 4 AND MW #3 &amp; 4. SATIS AND RPLD HARNESS OF BRK #3 (ROB FROM A868). OPS TEST SATIS. </a:t>
                      </a:r>
                      <a:r>
                        <a:rPr lang="en-US" sz="1200" b="0" i="0" u="none" strike="noStrike">
                          <a:solidFill>
                            <a:srgbClr val="000000"/>
                          </a:solidFill>
                          <a:effectLst/>
                          <a:latin typeface="Times New Roman" panose="02020603050405020304" pitchFamily="18" charset="0"/>
                          <a:cs typeface="Times New Roman" panose="02020603050405020304" pitchFamily="18" charset="0"/>
                        </a:rPr>
                        <a:t>A/C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32</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Kiểm tra phát hiện bó dây bị chafing và đã thay bó dây. Mặc dù bị kẹt nhưng lốp không có dấu hiệu bị mài mòn; cầu trì nhiệt của lốp bị chảy dẫn đến xả áp suất lốp: Phanh bị kẹt thời gian ngắn trước khi dừng hẳn. BOE cho rằng, nêu tín hiệu tốc độ bánh được xác định là không hợp lệ, hệ thống sẽ hiểu là tốc độ bằng 0, khi đó hệ thống sẽ nhả phanh. Vì vậy, Boeing đánh giá khả năng dây điện của ARDC bị cọ xát gây ra hiện tượng kẹt phanh là rất thấp, cần phân tích thêm CPL để có kết luận hiện tượng kẹt lần này. </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Ngày 21/2 tàu A865 bị GTB và phát hiện dây bị chafing, khi đó VAE mới chú ý đến hỏng hóc này và phát hiện thêm một số tàu có hiện tượng chafing bó dây khi thực hiện thay lốp/phanh </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Ban KT đã ban hành SO S0109125 để kiểm tra và sửa chữa cho fleet theo hướng dẫn của BOE để ngăn ngừa hong hóc</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Khuyến</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cáo</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VAECO khi thay phanh cần lưu ý kiểm tra ARDC harness</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9820701"/>
                  </a:ext>
                </a:extLst>
              </a:tr>
            </a:tbl>
          </a:graphicData>
        </a:graphic>
      </p:graphicFrame>
    </p:spTree>
    <p:extLst>
      <p:ext uri="{BB962C8B-B14F-4D97-AF65-F5344CB8AC3E}">
        <p14:creationId xmlns:p14="http://schemas.microsoft.com/office/powerpoint/2010/main" val="11617237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6" name="Table 5">
            <a:extLst>
              <a:ext uri="{FF2B5EF4-FFF2-40B4-BE49-F238E27FC236}">
                <a16:creationId xmlns:a16="http://schemas.microsoft.com/office/drawing/2014/main" id="{267FA4A7-5FF0-BF0F-DF32-120A87FCDAE7}"/>
              </a:ext>
            </a:extLst>
          </p:cNvPr>
          <p:cNvGraphicFramePr>
            <a:graphicFrameLocks noGrp="1"/>
          </p:cNvGraphicFramePr>
          <p:nvPr>
            <p:extLst>
              <p:ext uri="{D42A27DB-BD31-4B8C-83A1-F6EECF244321}">
                <p14:modId xmlns:p14="http://schemas.microsoft.com/office/powerpoint/2010/main" val="2702771716"/>
              </p:ext>
            </p:extLst>
          </p:nvPr>
        </p:nvGraphicFramePr>
        <p:xfrm>
          <a:off x="381000" y="609600"/>
          <a:ext cx="11201400" cy="6019800"/>
        </p:xfrm>
        <a:graphic>
          <a:graphicData uri="http://schemas.openxmlformats.org/drawingml/2006/table">
            <a:tbl>
              <a:tblPr/>
              <a:tblGrid>
                <a:gridCol w="438804">
                  <a:extLst>
                    <a:ext uri="{9D8B030D-6E8A-4147-A177-3AD203B41FA5}">
                      <a16:colId xmlns:a16="http://schemas.microsoft.com/office/drawing/2014/main" val="2246947910"/>
                    </a:ext>
                  </a:extLst>
                </a:gridCol>
                <a:gridCol w="587912">
                  <a:extLst>
                    <a:ext uri="{9D8B030D-6E8A-4147-A177-3AD203B41FA5}">
                      <a16:colId xmlns:a16="http://schemas.microsoft.com/office/drawing/2014/main" val="2503592355"/>
                    </a:ext>
                  </a:extLst>
                </a:gridCol>
                <a:gridCol w="616361">
                  <a:extLst>
                    <a:ext uri="{9D8B030D-6E8A-4147-A177-3AD203B41FA5}">
                      <a16:colId xmlns:a16="http://schemas.microsoft.com/office/drawing/2014/main" val="1216635058"/>
                    </a:ext>
                  </a:extLst>
                </a:gridCol>
                <a:gridCol w="1365475">
                  <a:extLst>
                    <a:ext uri="{9D8B030D-6E8A-4147-A177-3AD203B41FA5}">
                      <a16:colId xmlns:a16="http://schemas.microsoft.com/office/drawing/2014/main" val="3387005784"/>
                    </a:ext>
                  </a:extLst>
                </a:gridCol>
                <a:gridCol w="1137896">
                  <a:extLst>
                    <a:ext uri="{9D8B030D-6E8A-4147-A177-3AD203B41FA5}">
                      <a16:colId xmlns:a16="http://schemas.microsoft.com/office/drawing/2014/main" val="4142739856"/>
                    </a:ext>
                  </a:extLst>
                </a:gridCol>
                <a:gridCol w="1602536">
                  <a:extLst>
                    <a:ext uri="{9D8B030D-6E8A-4147-A177-3AD203B41FA5}">
                      <a16:colId xmlns:a16="http://schemas.microsoft.com/office/drawing/2014/main" val="3535891767"/>
                    </a:ext>
                  </a:extLst>
                </a:gridCol>
                <a:gridCol w="5452416">
                  <a:extLst>
                    <a:ext uri="{9D8B030D-6E8A-4147-A177-3AD203B41FA5}">
                      <a16:colId xmlns:a16="http://schemas.microsoft.com/office/drawing/2014/main" val="1286334583"/>
                    </a:ext>
                  </a:extLst>
                </a:gridCol>
              </a:tblGrid>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676791"/>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A861</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1725619"/>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A862</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107034"/>
                  </a:ext>
                </a:extLst>
              </a:tr>
              <a:tr h="50359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A863</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 1 (958170) HPT 1B có hỏng hóc (giảm tần suất 50FC)</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B1668 RAISED: STS MSG: TAIL AIRFLOW SYS</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373517"/>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A864</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B1248: "STS MSG: NITROGEN GENERATION SYSTEM"</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4952900"/>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A865</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499113"/>
                  </a:ext>
                </a:extLst>
              </a:tr>
              <a:tr h="67105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A866</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100 FC HPTS1B missing material theo Departure Recommendation 01643368 Revision 0.0</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B1342 THE FLT DECK SPEAKER AT CAPT POS IS INOP</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8851"/>
                  </a:ext>
                </a:extLst>
              </a:tr>
              <a:tr h="50359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1 HPT STG 2 CRACK, giảm tần suất soi 250 FC theo DR Recommendation 01379322 Revision 0.0</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7008916"/>
                  </a:ext>
                </a:extLst>
              </a:tr>
              <a:tr h="33552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A868</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Đang định kỳ</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B1121 RAISED : REMOVE ENG#1 (SN: 956769) IN 25 CYCLES,DL: 6280 FC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528384"/>
                  </a:ext>
                </a:extLst>
              </a:tr>
              <a:tr h="50359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A869</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1 giảm tần suất soi 250 FC (HPT S2 blade cracks) và soi giảm tần suất 250 FC (fuel nozzle cup missing materials)</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0457564"/>
                  </a:ext>
                </a:extLst>
              </a:tr>
              <a:tr h="67105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A870</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B1374 TAIL AIRFLOW SYS</a:t>
                      </a:r>
                      <a:br>
                        <a:rPr lang="en-SG" sz="1100" b="0" i="0" u="none" strike="noStrike">
                          <a:solidFill>
                            <a:srgbClr val="000000"/>
                          </a:solidFill>
                          <a:effectLst/>
                          <a:latin typeface="Times New Roman" panose="02020603050405020304" pitchFamily="18" charset="0"/>
                          <a:cs typeface="Times New Roman" panose="02020603050405020304" pitchFamily="18" charset="0"/>
                        </a:rPr>
                      </a:br>
                      <a:r>
                        <a:rPr lang="en-SG" sz="1100" b="0" i="0" u="none" strike="noStrike">
                          <a:solidFill>
                            <a:srgbClr val="000000"/>
                          </a:solidFill>
                          <a:effectLst/>
                          <a:latin typeface="Times New Roman" panose="02020603050405020304" pitchFamily="18" charset="0"/>
                          <a:cs typeface="Times New Roman" panose="02020603050405020304" pitchFamily="18" charset="0"/>
                        </a:rPr>
                        <a:t>B1401 AT THE EARLIEST CONVENIENCE ON OR  100 FLIGHT CYCLES FINAL TORQUE MUST BE REAPPLIED TO ALL 4 WINDOWS</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4515954"/>
                  </a:ext>
                </a:extLst>
              </a:tr>
              <a:tr h="33552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A871</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 1 (956913) HPT 1B có hỏng hóc (giảm tần suất 50FC)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0220309"/>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A872</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9000683"/>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156366"/>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A874</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1935628"/>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237197"/>
                  </a:ext>
                </a:extLst>
              </a:tr>
              <a:tr h="1992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A878</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947499"/>
                  </a:ext>
                </a:extLst>
              </a:tr>
              <a:tr h="50359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1 HPT blage stg 1 cracked giảm tần suất soi 250 FC; Động cơ số 2 HPT blage stg 1 cracked giảm tần suất soi 100 FCGE DR 01664320 Revision 0.0</a:t>
                      </a:r>
                    </a:p>
                  </a:txBody>
                  <a:tcPr marL="3860" marR="3860" marT="38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575704"/>
                  </a:ext>
                </a:extLst>
              </a:tr>
            </a:tbl>
          </a:graphicData>
        </a:graphic>
      </p:graphicFrame>
    </p:spTree>
    <p:extLst>
      <p:ext uri="{BB962C8B-B14F-4D97-AF65-F5344CB8AC3E}">
        <p14:creationId xmlns:p14="http://schemas.microsoft.com/office/powerpoint/2010/main" val="41393852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584200" y="497091"/>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609600" y="995585"/>
            <a:ext cx="10896600" cy="5047536"/>
          </a:xfrm>
          <a:prstGeom prst="rect">
            <a:avLst/>
          </a:prstGeom>
        </p:spPr>
        <p:txBody>
          <a:bodyPr wrap="square">
            <a:spAutoFit/>
          </a:bodyPr>
          <a:lstStyle/>
          <a:p>
            <a:pPr algn="just">
              <a:buClrTx/>
              <a:buFontTx/>
              <a:buNone/>
            </a:pPr>
            <a:r>
              <a:rPr lang="en-US" sz="1400" b="1" err="1">
                <a:latin typeface="Times New Roman" panose="02020603050405020304" pitchFamily="18" charset="0"/>
                <a:cs typeface="Times New Roman" panose="02020603050405020304" pitchFamily="18" charset="0"/>
              </a:rPr>
              <a:t>Nhận</a:t>
            </a:r>
            <a:r>
              <a:rPr lang="en-US" sz="1400" b="1">
                <a:latin typeface="Times New Roman" panose="02020603050405020304" pitchFamily="18" charset="0"/>
                <a:cs typeface="Times New Roman" panose="02020603050405020304" pitchFamily="18" charset="0"/>
              </a:rPr>
              <a:t> </a:t>
            </a:r>
            <a:r>
              <a:rPr lang="en-US" sz="1400" b="1" err="1">
                <a:latin typeface="Times New Roman" panose="02020603050405020304" pitchFamily="18" charset="0"/>
                <a:cs typeface="Times New Roman" panose="02020603050405020304" pitchFamily="18" charset="0"/>
              </a:rPr>
              <a:t>xét</a:t>
            </a:r>
            <a:r>
              <a:rPr lang="en-US" sz="1400" b="1">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latin typeface="Times New Roman" panose="02020603050405020304" pitchFamily="18" charset="0"/>
                <a:cs typeface="Times New Roman" panose="02020603050405020304" pitchFamily="18" charset="0"/>
              </a:rPr>
              <a:t>Tình hình kỹ thuật đội bay </a:t>
            </a:r>
            <a:r>
              <a:rPr lang="en-US" sz="1400">
                <a:latin typeface="Times New Roman" panose="02020603050405020304" pitchFamily="18" charset="0"/>
                <a:cs typeface="Times New Roman" panose="02020603050405020304" pitchFamily="18" charset="0"/>
              </a:rPr>
              <a:t>B787 trong tuần tốt. </a:t>
            </a:r>
          </a:p>
          <a:p>
            <a:pPr marL="285750" indent="-285750" algn="just">
              <a:buClrTx/>
              <a:buFontTx/>
              <a:buChar char="-"/>
            </a:pPr>
            <a:r>
              <a:rPr lang="en-US" sz="1400">
                <a:latin typeface="Times New Roman" panose="02020603050405020304" pitchFamily="18" charset="0"/>
                <a:cs typeface="Times New Roman" panose="02020603050405020304" pitchFamily="18" charset="0"/>
              </a:rPr>
              <a:t>Hỏng hóc nổi cộm: </a:t>
            </a:r>
          </a:p>
          <a:p>
            <a:pPr lvl="1" algn="just"/>
            <a:r>
              <a:rPr lang="en-SG" sz="1400">
                <a:latin typeface="Times New Roman" panose="02020603050405020304" pitchFamily="18" charset="0"/>
                <a:cs typeface="Times New Roman" panose="02020603050405020304" pitchFamily="18" charset="0"/>
              </a:rPr>
              <a:t>+ A873 AOG ngày 08/04 do FOUND 02 BOLT AT FUEL NOZZLE OF ENG #1 CRACK -&gt; REPLACED FUEL NOZZLE 20 (ENG # 1).</a:t>
            </a:r>
          </a:p>
          <a:p>
            <a:pPr lvl="1" algn="just"/>
            <a:r>
              <a:rPr lang="vi-VN" sz="1400">
                <a:latin typeface="Times New Roman" panose="02020603050405020304" pitchFamily="18" charset="0"/>
                <a:cs typeface="Times New Roman" panose="02020603050405020304" pitchFamily="18" charset="0"/>
              </a:rPr>
              <a:t>ESN: 958435 Position: #1 Location: A873 Owner: ALC Lastest Movement: 17/10/2019 TSN: 12,266.25 CSN: 5,080 Trong quá trình triển khai kiểm tra động cơ do có cảnh báo hot air leakage từ chương trình theo dõi động cơ từ xa Prognos của KLM, VAECO phát hiện Fuel nozzle #20 bị gãy 02 bolt phải khoan phá phần còn lại của bolt và thay thế dẫn đến AOG tàu bay để khắc phục. Fuel nozzle này gốc của 958435 chưa tháo gửi đi sửa chữa, cả động cơ và Fuel nozzle đều cao giờ. VAECO thực hiện SB73-0093 thay bracket có tháo lắp các bolt này tuy nhiên thời điểm làm SB từ 2021. Kiểm tra với GE trên thế giới có 03 event gãy bolt tương tự, trong đó có 01 event xác định được gãy bolt do bolt trước đó đã được tháo lắp gây crack. Hiện GE đang yêu cầu cung cấp thông tin các nội dung bảo dưỡng trước đó của Fuel Nozzle trên 958435 để đánh giá thêm. VNA/VAECO đã trao đổi với GE về yêu cầu thực hiện preventive action như kiểm tra tình trạng hoặc thay thế bolt gắn Fuel nozzle trên các động cơ/Fuel nozzle cao giờ… nhưng GE trả lời không cần làm gì thêm “While GE is conducting investigation no additional field actions / inspections of fuel nozzle bolts are recommended as of now.”</a:t>
            </a:r>
            <a:endParaRPr lang="en-US" sz="1400">
              <a:latin typeface="Times New Roman" panose="02020603050405020304" pitchFamily="18" charset="0"/>
              <a:cs typeface="Times New Roman" panose="02020603050405020304" pitchFamily="18" charset="0"/>
            </a:endParaRPr>
          </a:p>
          <a:p>
            <a:pPr lvl="1" algn="just"/>
            <a:endParaRPr lang="en-US" sz="1400">
              <a:latin typeface="Times New Roman" panose="02020603050405020304" pitchFamily="18" charset="0"/>
              <a:cs typeface="Times New Roman" panose="02020603050405020304" pitchFamily="18" charset="0"/>
            </a:endParaRPr>
          </a:p>
          <a:p>
            <a:pPr lvl="1" algn="just"/>
            <a:r>
              <a:rPr lang="en-US" sz="1400">
                <a:latin typeface="Times New Roman" panose="02020603050405020304" pitchFamily="18" charset="0"/>
                <a:cs typeface="Times New Roman" panose="02020603050405020304" pitchFamily="18" charset="0"/>
              </a:rPr>
              <a:t>+ A879 delay ngày 09/04 do </a:t>
            </a:r>
            <a:r>
              <a:rPr lang="en-SG" sz="1400">
                <a:latin typeface="Times New Roman" panose="02020603050405020304" pitchFamily="18" charset="0"/>
                <a:cs typeface="Times New Roman" panose="02020603050405020304" pitchFamily="18" charset="0"/>
              </a:rPr>
              <a:t>BRK #3 &amp; 4 STUCKED AND HARNESS OF BRK #3 DAMAGED -&gt; RPLD BRAKE #3 &amp; 4 AND MW #3 &amp; 4</a:t>
            </a:r>
          </a:p>
          <a:p>
            <a:pPr lvl="1" algn="just"/>
            <a:r>
              <a:rPr lang="vi-VN" sz="1400">
                <a:latin typeface="Times New Roman" panose="02020603050405020304" pitchFamily="18" charset="0"/>
                <a:cs typeface="Times New Roman" panose="02020603050405020304" pitchFamily="18" charset="0"/>
              </a:rPr>
              <a:t>Kiểm tra phát hiện bó dây bị chafing và đã thay bó dây. Mặc dù bị kẹt nhưng lốp không có dấu hiệu bị mài mòn; cầu trì nhiệt của lốp bị chảy dẫn đến xả áp suất lốp: Phanh bị kẹt thời gian ngắn trước khi dừng hẳn.</a:t>
            </a:r>
          </a:p>
          <a:p>
            <a:pPr lvl="1" algn="just"/>
            <a:r>
              <a:rPr lang="vi-VN" sz="1400">
                <a:latin typeface="Times New Roman" panose="02020603050405020304" pitchFamily="18" charset="0"/>
                <a:cs typeface="Times New Roman" panose="02020603050405020304" pitchFamily="18" charset="0"/>
              </a:rPr>
              <a:t>BOE cho rằng, nêu tín hiệu tốc độ bánh được xác định là không hợp lệ, hệ thống sẽ hiểu là tốc độ bằng 0, khi đó hệ thống sẽ nhả phanh. Vì vậy, Boeing đánh giá khả năng dây điện của ARDC bị cọ xát gây ra hiện tượng kẹt phanh là rất thấp, cần phân tích thêm CPL để có kết luận hiện tượng kẹt lần này.</a:t>
            </a:r>
          </a:p>
          <a:p>
            <a:pPr lvl="1" algn="just"/>
            <a:r>
              <a:rPr lang="vi-VN" sz="1400">
                <a:latin typeface="Times New Roman" panose="02020603050405020304" pitchFamily="18" charset="0"/>
                <a:cs typeface="Times New Roman" panose="02020603050405020304" pitchFamily="18" charset="0"/>
              </a:rPr>
              <a:t>Ngày 21/2 tàu A865 bị GTB và phát hiện dây bị chafing, khi đó VAE mới chú ý đến hỏng hóc này và phát hiện thêm một số tàu có hiện tượng chafing bó dây khi thực hiện thay lốp/phanh</a:t>
            </a:r>
          </a:p>
          <a:p>
            <a:pPr lvl="1" algn="just"/>
            <a:r>
              <a:rPr lang="vi-VN" sz="1400">
                <a:latin typeface="Times New Roman" panose="02020603050405020304" pitchFamily="18" charset="0"/>
                <a:cs typeface="Times New Roman" panose="02020603050405020304" pitchFamily="18" charset="0"/>
              </a:rPr>
              <a:t>Ban KT đã ban hành SO S0109125 để kiểm tra và sửa chữa cho fleet theo hướng dẫn của BOE để ngăn ngừa hong hóc</a:t>
            </a:r>
            <a:endParaRPr lang="en-SG" sz="1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67EFEE8-7A57-C8BE-9EB9-D2B348474B51}"/>
              </a:ext>
            </a:extLst>
          </p:cNvPr>
          <p:cNvSpPr txBox="1"/>
          <p:nvPr/>
        </p:nvSpPr>
        <p:spPr>
          <a:xfrm>
            <a:off x="76199" y="1135253"/>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 None-tech</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792301F0-8542-2D8A-C66A-326C6F3CDFAE}"/>
              </a:ext>
            </a:extLst>
          </p:cNvPr>
          <p:cNvSpPr txBox="1"/>
          <p:nvPr/>
        </p:nvSpPr>
        <p:spPr>
          <a:xfrm>
            <a:off x="76200" y="69372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NONE-TECH</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6" name="Table 5">
            <a:extLst>
              <a:ext uri="{FF2B5EF4-FFF2-40B4-BE49-F238E27FC236}">
                <a16:creationId xmlns:a16="http://schemas.microsoft.com/office/drawing/2014/main" id="{F2B7994E-E42C-495B-98D0-CAC3687DEDEC}"/>
              </a:ext>
            </a:extLst>
          </p:cNvPr>
          <p:cNvGraphicFramePr>
            <a:graphicFrameLocks noGrp="1"/>
          </p:cNvGraphicFramePr>
          <p:nvPr>
            <p:extLst>
              <p:ext uri="{D42A27DB-BD31-4B8C-83A1-F6EECF244321}">
                <p14:modId xmlns:p14="http://schemas.microsoft.com/office/powerpoint/2010/main" val="4132268736"/>
              </p:ext>
            </p:extLst>
          </p:nvPr>
        </p:nvGraphicFramePr>
        <p:xfrm>
          <a:off x="152399" y="1828800"/>
          <a:ext cx="11612515" cy="3822195"/>
        </p:xfrm>
        <a:graphic>
          <a:graphicData uri="http://schemas.openxmlformats.org/drawingml/2006/table">
            <a:tbl>
              <a:tblPr/>
              <a:tblGrid>
                <a:gridCol w="533401">
                  <a:extLst>
                    <a:ext uri="{9D8B030D-6E8A-4147-A177-3AD203B41FA5}">
                      <a16:colId xmlns:a16="http://schemas.microsoft.com/office/drawing/2014/main" val="547745125"/>
                    </a:ext>
                  </a:extLst>
                </a:gridCol>
                <a:gridCol w="811733">
                  <a:extLst>
                    <a:ext uri="{9D8B030D-6E8A-4147-A177-3AD203B41FA5}">
                      <a16:colId xmlns:a16="http://schemas.microsoft.com/office/drawing/2014/main" val="1807929960"/>
                    </a:ext>
                  </a:extLst>
                </a:gridCol>
                <a:gridCol w="343438">
                  <a:extLst>
                    <a:ext uri="{9D8B030D-6E8A-4147-A177-3AD203B41FA5}">
                      <a16:colId xmlns:a16="http://schemas.microsoft.com/office/drawing/2014/main" val="1863596153"/>
                    </a:ext>
                  </a:extLst>
                </a:gridCol>
                <a:gridCol w="620097">
                  <a:extLst>
                    <a:ext uri="{9D8B030D-6E8A-4147-A177-3AD203B41FA5}">
                      <a16:colId xmlns:a16="http://schemas.microsoft.com/office/drawing/2014/main" val="1073499178"/>
                    </a:ext>
                  </a:extLst>
                </a:gridCol>
                <a:gridCol w="705958">
                  <a:extLst>
                    <a:ext uri="{9D8B030D-6E8A-4147-A177-3AD203B41FA5}">
                      <a16:colId xmlns:a16="http://schemas.microsoft.com/office/drawing/2014/main" val="1895241458"/>
                    </a:ext>
                  </a:extLst>
                </a:gridCol>
                <a:gridCol w="581938">
                  <a:extLst>
                    <a:ext uri="{9D8B030D-6E8A-4147-A177-3AD203B41FA5}">
                      <a16:colId xmlns:a16="http://schemas.microsoft.com/office/drawing/2014/main" val="117125363"/>
                    </a:ext>
                  </a:extLst>
                </a:gridCol>
                <a:gridCol w="1889836">
                  <a:extLst>
                    <a:ext uri="{9D8B030D-6E8A-4147-A177-3AD203B41FA5}">
                      <a16:colId xmlns:a16="http://schemas.microsoft.com/office/drawing/2014/main" val="2760141334"/>
                    </a:ext>
                  </a:extLst>
                </a:gridCol>
                <a:gridCol w="1905000">
                  <a:extLst>
                    <a:ext uri="{9D8B030D-6E8A-4147-A177-3AD203B41FA5}">
                      <a16:colId xmlns:a16="http://schemas.microsoft.com/office/drawing/2014/main" val="2775705988"/>
                    </a:ext>
                  </a:extLst>
                </a:gridCol>
                <a:gridCol w="609600">
                  <a:extLst>
                    <a:ext uri="{9D8B030D-6E8A-4147-A177-3AD203B41FA5}">
                      <a16:colId xmlns:a16="http://schemas.microsoft.com/office/drawing/2014/main" val="1051942811"/>
                    </a:ext>
                  </a:extLst>
                </a:gridCol>
                <a:gridCol w="3611514">
                  <a:extLst>
                    <a:ext uri="{9D8B030D-6E8A-4147-A177-3AD203B41FA5}">
                      <a16:colId xmlns:a16="http://schemas.microsoft.com/office/drawing/2014/main" val="1084639348"/>
                    </a:ext>
                  </a:extLst>
                </a:gridCol>
              </a:tblGrid>
              <a:tr h="466725">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44628628"/>
                  </a:ext>
                </a:extLst>
              </a:tr>
              <a:tr h="3267075">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B221</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 12/04/2025</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VCA</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70</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OV8075</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VCA-PQC</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CAPT INFROM : PITCH DISCONNECT AFTER LANDING AND THEN AT PARKING RECONNECT FLT CONTROL NORMAL BY CAPT</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CRS </a:t>
                      </a:r>
                      <a:r>
                        <a:rPr lang="en-US" sz="1200" b="0" i="0" u="none" strike="noStrike">
                          <a:solidFill>
                            <a:srgbClr val="000000"/>
                          </a:solidFill>
                          <a:effectLst/>
                          <a:latin typeface="Times New Roman" panose="02020603050405020304" pitchFamily="18" charset="0"/>
                          <a:cs typeface="Times New Roman" panose="02020603050405020304" pitchFamily="18" charset="0"/>
                        </a:rPr>
                        <a:t>NOTE ACKNOWLESS AND REQUEST MONITOR NEXT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FLTGHT.</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22-00</a:t>
                      </a: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1" i="0" u="none" strike="noStrike" dirty="0">
                          <a:solidFill>
                            <a:srgbClr val="FF0000"/>
                          </a:solidFill>
                          <a:effectLst/>
                          <a:latin typeface="Times New Roman" panose="02020603050405020304" pitchFamily="18" charset="0"/>
                          <a:cs typeface="Times New Roman" panose="02020603050405020304" pitchFamily="18" charset="0"/>
                        </a:rPr>
                        <a:t>Không tính delay do kỹ thuật: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S</a:t>
                      </a: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au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khi tàu bay vừa mới hạ cánh với 3 càng tiếp đất, tàu bay đang ở tốc độ 90-80kt thì xuất hiện PITCH DISCONECT. Do hiện tượng này bị On-ground nên tổ bay đã có thể tự RE-CONNECT lại theo FCOM được và</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kiểm</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tra</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 hệ thống hoạt động bình thường. Nhưng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tổ</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bay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phải ghi sổ techlog nên bị delay là do quy trình phối hợp giữa tổ bay thợ máy VAECO để trả lời sổ techlog cho chuyến bay kế tiếp.</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PITCH DISCONNECT là hệ thống failed-Safe khi có chênh lệch tải (lực tác động) giữa 2 bên LH và RH Elevator để tránh bị phá hủy cơ cấu vận hành của Elevator.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480" marR="6480" marT="64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0339611"/>
                  </a:ext>
                </a:extLst>
              </a:tr>
            </a:tbl>
          </a:graphicData>
        </a:graphic>
      </p:graphicFrame>
    </p:spTree>
    <p:extLst>
      <p:ext uri="{BB962C8B-B14F-4D97-AF65-F5344CB8AC3E}">
        <p14:creationId xmlns:p14="http://schemas.microsoft.com/office/powerpoint/2010/main" val="8311081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ATR72</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0" y="1195640"/>
            <a:ext cx="10972799" cy="584775"/>
          </a:xfrm>
          <a:prstGeom prst="rect">
            <a:avLst/>
          </a:prstGeom>
        </p:spPr>
        <p:txBody>
          <a:bodyPr wrap="square">
            <a:spAutoFit/>
          </a:bodyPr>
          <a:lstStyle/>
          <a:p>
            <a:pPr algn="just"/>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trạng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kỹ</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thuật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bay ATR72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tuần</a:t>
            </a:r>
            <a:r>
              <a:rPr lang="en-US" sz="1600">
                <a:solidFill>
                  <a:prstClr val="black"/>
                </a:solidFill>
                <a:latin typeface="Times New Roman" panose="02020603050405020304" pitchFamily="18" charset="0"/>
                <a:cs typeface="Times New Roman" panose="02020603050405020304" pitchFamily="18" charset="0"/>
              </a:rPr>
              <a:t> </a:t>
            </a:r>
            <a:r>
              <a:rPr lang="en-US" sz="1600" smtClean="0">
                <a:solidFill>
                  <a:prstClr val="black"/>
                </a:solidFill>
                <a:latin typeface="Times New Roman" panose="02020603050405020304" pitchFamily="18" charset="0"/>
                <a:cs typeface="Times New Roman" panose="02020603050405020304" pitchFamily="18" charset="0"/>
              </a:rPr>
              <a:t>tốt, ngoại trừ </a:t>
            </a:r>
            <a:r>
              <a:rPr lang="en-US" sz="1600">
                <a:solidFill>
                  <a:srgbClr val="000000"/>
                </a:solidFill>
                <a:latin typeface="Times New Roman" panose="02020603050405020304" pitchFamily="18" charset="0"/>
                <a:cs typeface="Times New Roman" panose="02020603050405020304" pitchFamily="18" charset="0"/>
              </a:rPr>
              <a:t>B221 </a:t>
            </a:r>
            <a:r>
              <a:rPr lang="en-US" sz="1600">
                <a:solidFill>
                  <a:srgbClr val="000000"/>
                </a:solidFill>
                <a:latin typeface="Times New Roman" panose="02020603050405020304" pitchFamily="18" charset="0"/>
                <a:cs typeface="Times New Roman" panose="02020603050405020304" pitchFamily="18" charset="0"/>
              </a:rPr>
              <a:t>tàu bay đang ở tốc độ 90-80kt thì xuất hiện </a:t>
            </a:r>
            <a:r>
              <a:rPr lang="en-US" sz="1600">
                <a:solidFill>
                  <a:srgbClr val="000000"/>
                </a:solidFill>
                <a:latin typeface="Times New Roman" panose="02020603050405020304" pitchFamily="18" charset="0"/>
                <a:cs typeface="Times New Roman" panose="02020603050405020304" pitchFamily="18" charset="0"/>
              </a:rPr>
              <a:t>PITCH </a:t>
            </a:r>
            <a:r>
              <a:rPr lang="en-US" sz="1600" smtClean="0">
                <a:solidFill>
                  <a:srgbClr val="000000"/>
                </a:solidFill>
                <a:latin typeface="Times New Roman" panose="02020603050405020304" pitchFamily="18" charset="0"/>
                <a:cs typeface="Times New Roman" panose="02020603050405020304" pitchFamily="18" charset="0"/>
              </a:rPr>
              <a:t>DISCONECT </a:t>
            </a:r>
            <a:r>
              <a:rPr lang="en-US" sz="1600">
                <a:solidFill>
                  <a:srgbClr val="000000"/>
                </a:solidFill>
                <a:latin typeface="Times New Roman" panose="02020603050405020304" pitchFamily="18" charset="0"/>
                <a:cs typeface="Times New Roman" panose="02020603050405020304" pitchFamily="18" charset="0"/>
              </a:rPr>
              <a:t>delay </a:t>
            </a:r>
            <a:r>
              <a:rPr lang="en-US" sz="1600">
                <a:solidFill>
                  <a:srgbClr val="000000"/>
                </a:solidFill>
                <a:latin typeface="Times New Roman" panose="02020603050405020304" pitchFamily="18" charset="0"/>
                <a:cs typeface="Times New Roman" panose="02020603050405020304" pitchFamily="18" charset="0"/>
              </a:rPr>
              <a:t>70 phút do </a:t>
            </a:r>
            <a:r>
              <a:rPr lang="vi-VN" sz="1600">
                <a:solidFill>
                  <a:srgbClr val="000000"/>
                </a:solidFill>
                <a:cs typeface="Times New Roman" panose="02020603050405020304" pitchFamily="18" charset="0"/>
              </a:rPr>
              <a:t>quy trình phối hợp giữa tổ bay thợ máy VAECO để trả lời sổ techlog cho chuyến bay kế </a:t>
            </a:r>
            <a:r>
              <a:rPr lang="vi-VN" sz="1600" smtClean="0">
                <a:solidFill>
                  <a:srgbClr val="000000"/>
                </a:solidFill>
                <a:cs typeface="Times New Roman" panose="02020603050405020304" pitchFamily="18" charset="0"/>
              </a:rPr>
              <a:t>tiếp</a:t>
            </a:r>
            <a:r>
              <a:rPr lang="en-US" sz="1600" smtClean="0">
                <a:solidFill>
                  <a:srgbClr val="000000"/>
                </a:solidFill>
                <a:cs typeface="Times New Roman" panose="02020603050405020304" pitchFamily="18" charset="0"/>
              </a:rPr>
              <a:t> </a:t>
            </a:r>
            <a:r>
              <a:rPr lang="vi-VN" sz="1600" smtClean="0">
                <a:solidFill>
                  <a:srgbClr val="000000"/>
                </a:solidFill>
                <a:cs typeface="Times New Roman" panose="02020603050405020304" pitchFamily="18" charset="0"/>
              </a:rPr>
              <a:t>.</a:t>
            </a:r>
            <a:r>
              <a:rPr lang="en-US" sz="1600" smtClean="0">
                <a:solidFill>
                  <a:prstClr val="black"/>
                </a:solidFill>
                <a:latin typeface="Times New Roman" panose="02020603050405020304" pitchFamily="18" charset="0"/>
                <a:cs typeface="Times New Roman" panose="02020603050405020304" pitchFamily="18" charset="0"/>
              </a:rPr>
              <a:t> </a:t>
            </a: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0728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W15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08/04/2025-13/04/20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384995"/>
          </a:xfrm>
          <a:prstGeom prst="rect">
            <a:avLst/>
          </a:prstGeom>
          <a:noFill/>
        </p:spPr>
        <p:txBody>
          <a:bodyPr wrap="square" rtlCol="0">
            <a:spAutoFit/>
          </a:bodyPr>
          <a:lstStyle/>
          <a:p>
            <a:pPr lvl="0">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15/2025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a:t>
            </a:r>
            <a:r>
              <a:rPr lang="en-US" sz="1400" smtClean="0">
                <a:solidFill>
                  <a:prstClr val="black"/>
                </a:solidFill>
                <a:latin typeface="Times New Roman" panose="02020603050405020304" pitchFamily="18" charset="0"/>
                <a:cs typeface="Times New Roman" panose="02020603050405020304" pitchFamily="18" charset="0"/>
              </a:rPr>
              <a:t>cậy các </a:t>
            </a:r>
            <a:r>
              <a:rPr lang="en-US" sz="1400">
                <a:solidFill>
                  <a:prstClr val="black"/>
                </a:solidFill>
                <a:latin typeface="Times New Roman" panose="02020603050405020304" pitchFamily="18" charset="0"/>
                <a:cs typeface="Times New Roman" panose="02020603050405020304" pitchFamily="18" charset="0"/>
              </a:rPr>
              <a:t>đội A321, B787, ATR72 đạt mục tiêu, riêng đội A350 không đạt mục tiêu</a:t>
            </a:r>
            <a:r>
              <a:rPr lang="en-US" sz="1400" smtClean="0">
                <a:solidFill>
                  <a:prstClr val="black"/>
                </a:solidFill>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99,94% cao hơn 0,31%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endParaRPr lang="vi-VN" sz="14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a:t>
            </a:r>
            <a:r>
              <a:rPr lang="en-US" sz="1400" smtClean="0">
                <a:solidFill>
                  <a:prstClr val="black"/>
                </a:solidFill>
                <a:latin typeface="Times New Roman" panose="02020603050405020304" pitchFamily="18" charset="0"/>
                <a:cs typeface="Times New Roman" panose="02020603050405020304" pitchFamily="18" charset="0"/>
              </a:rPr>
              <a:t>99.33% thấp hơn 0,11%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a:t>
            </a:r>
            <a:r>
              <a:rPr lang="en-US" sz="1400">
                <a:solidFill>
                  <a:prstClr val="black"/>
                </a:solidFill>
                <a:latin typeface="Times New Roman" panose="02020603050405020304" pitchFamily="18" charset="0"/>
                <a:cs typeface="Times New Roman" panose="02020603050405020304" pitchFamily="18" charset="0"/>
              </a:rPr>
              <a:t>tiêu (A899 ATB do cảnh báo ENG </a:t>
            </a:r>
            <a:r>
              <a:rPr lang="en-US" sz="1400">
                <a:solidFill>
                  <a:prstClr val="black"/>
                </a:solidFill>
                <a:latin typeface="Times New Roman" panose="02020603050405020304" pitchFamily="18" charset="0"/>
                <a:cs typeface="Times New Roman" panose="02020603050405020304" pitchFamily="18" charset="0"/>
              </a:rPr>
              <a:t>1 </a:t>
            </a:r>
            <a:r>
              <a:rPr lang="en-US" sz="1400" smtClean="0">
                <a:solidFill>
                  <a:prstClr val="black"/>
                </a:solidFill>
                <a:latin typeface="Times New Roman" panose="02020603050405020304" pitchFamily="18" charset="0"/>
                <a:cs typeface="Times New Roman" panose="02020603050405020304" pitchFamily="18" charset="0"/>
              </a:rPr>
              <a:t>STALL)</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99,67% </a:t>
            </a:r>
            <a:r>
              <a:rPr lang="en-US" sz="1400">
                <a:latin typeface="Times New Roman" panose="02020603050405020304" pitchFamily="18" charset="0"/>
                <a:cs typeface="Times New Roman" panose="02020603050405020304" pitchFamily="18" charset="0"/>
              </a:rPr>
              <a:t>cao hơn 0,31%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100% cao hơn 0,35%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extLst>
              <p:ext uri="{D42A27DB-BD31-4B8C-83A1-F6EECF244321}">
                <p14:modId xmlns:p14="http://schemas.microsoft.com/office/powerpoint/2010/main" val="2597452095"/>
              </p:ext>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1758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smtClean="0">
                          <a:solidFill>
                            <a:srgbClr val="00B050"/>
                          </a:solidFill>
                          <a:effectLst/>
                          <a:latin typeface="Times New Roman" panose="02020603050405020304" pitchFamily="18" charset="0"/>
                        </a:rPr>
                        <a:t>1</a:t>
                      </a:r>
                      <a:endParaRPr lang="en-US" sz="12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extLst>
              <p:ext uri="{D42A27DB-BD31-4B8C-83A1-F6EECF244321}">
                <p14:modId xmlns:p14="http://schemas.microsoft.com/office/powerpoint/2010/main" val="3787833769"/>
              </p:ext>
            </p:extLst>
          </p:nvPr>
        </p:nvGraphicFramePr>
        <p:xfrm>
          <a:off x="410141" y="980970"/>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3773089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3" y="76200"/>
            <a:ext cx="11878434" cy="508000"/>
          </a:xfrm>
        </p:spPr>
        <p:txBody>
          <a:bodyPr>
            <a:noAutofit/>
          </a:bodyPr>
          <a:lstStyle/>
          <a:p>
            <a:pPr algn="ctr">
              <a:spcBef>
                <a:spcPct val="0"/>
              </a:spcBef>
              <a:defRPr/>
            </a:pPr>
            <a:r>
              <a:rPr lang="en-US" altLang="en-US" dirty="0">
                <a:ln w="0"/>
                <a:solidFill>
                  <a:schemeClr val="accent4"/>
                </a:solidFill>
                <a:latin typeface="Times New Roman" panose="02020603050405020304" pitchFamily="18" charset="0"/>
                <a:cs typeface="Times New Roman" panose="02020603050405020304" pitchFamily="18" charset="0"/>
              </a:rPr>
              <a:t>CÁC </a:t>
            </a:r>
            <a:r>
              <a:rPr lang="en-US" altLang="en-US">
                <a:ln w="0"/>
                <a:solidFill>
                  <a:schemeClr val="accent4"/>
                </a:solidFill>
                <a:latin typeface="Times New Roman" panose="02020603050405020304" pitchFamily="18" charset="0"/>
                <a:cs typeface="Times New Roman" panose="02020603050405020304" pitchFamily="18" charset="0"/>
              </a:rPr>
              <a:t>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400675102"/>
              </p:ext>
            </p:extLst>
          </p:nvPr>
        </p:nvGraphicFramePr>
        <p:xfrm>
          <a:off x="156783" y="751119"/>
          <a:ext cx="11878434" cy="586866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GTF.</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14/04: H</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ọp telecon giữa VNA và </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PW</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dưới sự chị đạo của EVP về </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Slot sửa chữa động cơ 2025, SSA 2024, PSA A320NEO</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GE9X</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26 - 28/03/2025: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Ngày 15/04 SVP RR sẽ sang làm việc với CEO VNA. KT sẽ chuẩn bị sẵn các nội dung làm việc liên quan đến hỗ trợ slot shop visit, spare, TAT… để đàm phán nếu cần thiết.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6519286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18</a:t>
            </a:fld>
            <a:endParaRPr>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CAAB8563-2E25-F9E3-A86A-938A82C20087}"/>
              </a:ext>
            </a:extLst>
          </p:cNvPr>
          <p:cNvSpPr txBox="1">
            <a:spLocks/>
          </p:cNvSpPr>
          <p:nvPr/>
        </p:nvSpPr>
        <p:spPr>
          <a:xfrm>
            <a:off x="242551" y="137824"/>
            <a:ext cx="11864482"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lgn="ctr">
              <a:spcBef>
                <a:spcPct val="0"/>
              </a:spcBef>
              <a:defRPr/>
            </a:pPr>
            <a:r>
              <a:rPr lang="en-US" altLang="en-US">
                <a:ln w="0"/>
                <a:solidFill>
                  <a:schemeClr val="accent4"/>
                </a:solidFill>
                <a:latin typeface="Times New Roman" panose="02020603050405020304" pitchFamily="18" charset="0"/>
                <a:cs typeface="Times New Roman" panose="02020603050405020304" pitchFamily="18" charset="0"/>
              </a:rPr>
              <a:t>CÁC 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242618454"/>
              </p:ext>
            </p:extLst>
          </p:nvPr>
        </p:nvGraphicFramePr>
        <p:xfrm>
          <a:off x="242551" y="840929"/>
          <a:ext cx="11878434" cy="5832198"/>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7530">
                  <a:extLst>
                    <a:ext uri="{9D8B030D-6E8A-4147-A177-3AD203B41FA5}">
                      <a16:colId xmlns:a16="http://schemas.microsoft.com/office/drawing/2014/main" val="426833219"/>
                    </a:ext>
                  </a:extLst>
                </a:gridCol>
                <a:gridCol w="1515234">
                  <a:extLst>
                    <a:ext uri="{9D8B030D-6E8A-4147-A177-3AD203B41FA5}">
                      <a16:colId xmlns:a16="http://schemas.microsoft.com/office/drawing/2014/main"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075667">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Decal 30 </a:t>
                      </a:r>
                      <a:r>
                        <a:rPr lang="en-US" sz="1400" b="0" dirty="0" err="1">
                          <a:solidFill>
                            <a:schemeClr val="tx1"/>
                          </a:solidFill>
                          <a:latin typeface="Times New Roman" panose="02020603050405020304" pitchFamily="18" charset="0"/>
                          <a:cs typeface="Times New Roman" panose="02020603050405020304" pitchFamily="18" charset="0"/>
                        </a:rPr>
                        <a:t>năm</a:t>
                      </a:r>
                      <a:r>
                        <a:rPr lang="en-US" sz="1400" b="0" dirty="0">
                          <a:solidFill>
                            <a:schemeClr val="tx1"/>
                          </a:solidFill>
                          <a:latin typeface="Times New Roman" panose="02020603050405020304" pitchFamily="18" charset="0"/>
                          <a:cs typeface="Times New Roman" panose="02020603050405020304" pitchFamily="18" charset="0"/>
                        </a:rPr>
                        <a:t> 787-9</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30000"/>
                        </a:lnSpc>
                        <a:spcBef>
                          <a:spcPts val="0"/>
                        </a:spcBef>
                        <a:spcAft>
                          <a:spcPts val="0"/>
                        </a:spcAft>
                        <a:buClrTx/>
                        <a:buSzTx/>
                        <a:buFontTx/>
                        <a:buNone/>
                        <a:tabLst/>
                        <a:defRPr/>
                      </a:pP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30000"/>
                        </a:lnSpc>
                        <a:spcBef>
                          <a:spcPts val="0"/>
                        </a:spcBef>
                        <a:spcAft>
                          <a:spcPts val="0"/>
                        </a:spcAft>
                        <a:buClrTx/>
                        <a:buSzTx/>
                        <a:buFontTx/>
                        <a:buNone/>
                        <a:tabLst/>
                        <a:defRPr/>
                      </a:pP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30000"/>
                        </a:lnSpc>
                        <a:spcBef>
                          <a:spcPts val="0"/>
                        </a:spcBef>
                        <a:spcAft>
                          <a:spcPts val="0"/>
                        </a:spcAft>
                        <a:buClrTx/>
                        <a:buSzTx/>
                        <a:buFontTx/>
                        <a:buNone/>
                        <a:tabLst/>
                        <a:defRPr/>
                      </a:pP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30000"/>
                        </a:lnSpc>
                        <a:spcBef>
                          <a:spcPts val="0"/>
                        </a:spcBef>
                        <a:spcAft>
                          <a:spcPts val="0"/>
                        </a:spcAft>
                        <a:buClrTx/>
                        <a:buSzTx/>
                        <a:buFontTx/>
                        <a:buNone/>
                        <a:tabLst/>
                        <a:defRPr/>
                      </a:pP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endParaRPr lang="en-US" sz="1400" kern="1200" smtClean="0">
                        <a:solidFill>
                          <a:schemeClr val="tx1"/>
                        </a:solidFill>
                        <a:latin typeface="Times New Roman" panose="02020603050405020304" pitchFamily="18" charset="0"/>
                        <a:ea typeface="+mn-ea"/>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endParaRPr lang="en-US" sz="1400" kern="1200" dirty="0">
                        <a:solidFill>
                          <a:schemeClr val="tx1"/>
                        </a:solidFill>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30000"/>
                        </a:lnSpc>
                        <a:spcBef>
                          <a:spcPts val="0"/>
                        </a:spcBef>
                        <a:spcAft>
                          <a:spcPts val="0"/>
                        </a:spcAft>
                        <a:buClrTx/>
                        <a:buSzTx/>
                        <a:buFontTx/>
                        <a:buNone/>
                        <a:tabLst/>
                        <a:defRPr/>
                      </a:pPr>
                      <a:endParaRPr lang="en-US" sz="1400" kern="1200" dirty="0">
                        <a:solidFill>
                          <a:srgbClr val="FF0000"/>
                        </a:solidFill>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Hoàn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thành</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247144">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Tài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liệu</a:t>
                      </a:r>
                      <a:r>
                        <a:rPr lang="en-US" sz="1300" dirty="0">
                          <a:solidFill>
                            <a:schemeClr val="tx1"/>
                          </a:solidFill>
                          <a:latin typeface="Times New Roman" panose="02020603050405020304" pitchFamily="18" charset="0"/>
                          <a:cs typeface="Times New Roman" panose="02020603050405020304" pitchFamily="18" charset="0"/>
                        </a:rPr>
                        <a:t> TSM </a:t>
                      </a:r>
                      <a:r>
                        <a:rPr lang="en-US" sz="1300" dirty="0" err="1">
                          <a:solidFill>
                            <a:schemeClr val="tx1"/>
                          </a:solidFill>
                          <a:latin typeface="Times New Roman" panose="02020603050405020304" pitchFamily="18" charset="0"/>
                          <a:cs typeface="Times New Roman" panose="02020603050405020304" pitchFamily="18" charset="0"/>
                        </a:rPr>
                        <a:t>hệ</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thống</a:t>
                      </a:r>
                      <a:r>
                        <a:rPr lang="en-US" sz="1300" dirty="0">
                          <a:solidFill>
                            <a:schemeClr val="tx1"/>
                          </a:solidFill>
                          <a:latin typeface="Times New Roman" panose="02020603050405020304" pitchFamily="18" charset="0"/>
                          <a:cs typeface="Times New Roman" panose="02020603050405020304" pitchFamily="18" charset="0"/>
                        </a:rPr>
                        <a:t> IFC: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giao</a:t>
                      </a:r>
                      <a:r>
                        <a:rPr lang="en-US" sz="1300" b="1" dirty="0">
                          <a:solidFill>
                            <a:schemeClr val="tx1"/>
                          </a:solidFill>
                          <a:latin typeface="Times New Roman" panose="02020603050405020304" pitchFamily="18" charset="0"/>
                          <a:cs typeface="Times New Roman" panose="02020603050405020304" pitchFamily="18" charset="0"/>
                        </a:rPr>
                        <a:t> 6/3/2025 </a:t>
                      </a:r>
                      <a:r>
                        <a:rPr lang="en-US" sz="1300" b="1" dirty="0" err="1">
                          <a:solidFill>
                            <a:schemeClr val="tx1"/>
                          </a:solidFill>
                          <a:latin typeface="Times New Roman" panose="02020603050405020304" pitchFamily="18" charset="0"/>
                          <a:cs typeface="Times New Roman" panose="02020603050405020304" pitchFamily="18" charset="0"/>
                        </a:rPr>
                        <a:t>và</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triển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khai</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cho</a:t>
                      </a:r>
                      <a:r>
                        <a:rPr lang="en-US" sz="1300" b="1" dirty="0">
                          <a:solidFill>
                            <a:schemeClr val="tx1"/>
                          </a:solidFill>
                          <a:latin typeface="Times New Roman" panose="02020603050405020304" pitchFamily="18" charset="0"/>
                          <a:cs typeface="Times New Roman" panose="02020603050405020304" pitchFamily="18" charset="0"/>
                        </a:rPr>
                        <a:t> VAECO</a:t>
                      </a:r>
                    </a:p>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Vật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tư</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dự</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phòng</a:t>
                      </a:r>
                      <a:r>
                        <a:rPr lang="en-US" sz="1300"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giao</a:t>
                      </a:r>
                      <a:r>
                        <a:rPr lang="en-US" sz="1300" b="1" dirty="0">
                          <a:solidFill>
                            <a:schemeClr val="tx1"/>
                          </a:solidFill>
                          <a:latin typeface="Times New Roman" panose="02020603050405020304" pitchFamily="18" charset="0"/>
                          <a:cs typeface="Times New Roman" panose="02020603050405020304" pitchFamily="18" charset="0"/>
                        </a:rPr>
                        <a:t> KFRU, MODMAN, KANDU,  FMA 01ea; 03 WAP </a:t>
                      </a:r>
                      <a:r>
                        <a:rPr lang="en-US" sz="1300" b="1" dirty="0" err="1">
                          <a:solidFill>
                            <a:schemeClr val="tx1"/>
                          </a:solidFill>
                          <a:latin typeface="Times New Roman" panose="02020603050405020304" pitchFamily="18" charset="0"/>
                          <a:cs typeface="Times New Roman" panose="02020603050405020304" pitchFamily="18" charset="0"/>
                        </a:rPr>
                        <a:t>dự</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kiến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giao</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cuối</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tháng</a:t>
                      </a:r>
                      <a:r>
                        <a:rPr lang="en-US" sz="1300" b="1" dirty="0">
                          <a:solidFill>
                            <a:schemeClr val="tx1"/>
                          </a:solidFill>
                          <a:latin typeface="Times New Roman" panose="02020603050405020304" pitchFamily="18" charset="0"/>
                          <a:cs typeface="Times New Roman" panose="02020603050405020304" pitchFamily="18" charset="0"/>
                        </a:rPr>
                        <a:t> 4/2024</a:t>
                      </a:r>
                    </a:p>
                    <a:p>
                      <a:pPr marL="176213" lvl="1" indent="-176213">
                        <a:lnSpc>
                          <a:spcPct val="130000"/>
                        </a:lnSpc>
                        <a:buFontTx/>
                        <a:buChar char="-"/>
                      </a:pPr>
                      <a:r>
                        <a:rPr lang="en-US" sz="1300" dirty="0">
                          <a:solidFill>
                            <a:schemeClr val="tx1"/>
                          </a:solidFill>
                          <a:latin typeface="Times New Roman" panose="02020603050405020304" pitchFamily="18" charset="0"/>
                          <a:cs typeface="Times New Roman" panose="02020603050405020304" pitchFamily="18" charset="0"/>
                        </a:rPr>
                        <a:t> MPS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FSAT: </a:t>
                      </a:r>
                      <a:r>
                        <a:rPr lang="en-US" sz="1300" b="1" dirty="0">
                          <a:solidFill>
                            <a:schemeClr val="tx1"/>
                          </a:solidFill>
                          <a:latin typeface="Times New Roman" panose="02020603050405020304" pitchFamily="18" charset="0"/>
                          <a:cs typeface="Times New Roman" panose="02020603050405020304" pitchFamily="18" charset="0"/>
                        </a:rPr>
                        <a:t>MPS </a:t>
                      </a:r>
                      <a:r>
                        <a:rPr lang="en-US" sz="1300" b="1" dirty="0" err="1">
                          <a:solidFill>
                            <a:schemeClr val="tx1"/>
                          </a:solidFill>
                          <a:latin typeface="Times New Roman" panose="02020603050405020304" pitchFamily="18" charset="0"/>
                          <a:cs typeface="Times New Roman" panose="02020603050405020304" pitchFamily="18" charset="0"/>
                        </a:rPr>
                        <a:t>và</a:t>
                      </a:r>
                      <a:r>
                        <a:rPr lang="en-US" sz="1300" b="1" dirty="0">
                          <a:solidFill>
                            <a:schemeClr val="tx1"/>
                          </a:solidFill>
                          <a:latin typeface="Times New Roman" panose="02020603050405020304" pitchFamily="18" charset="0"/>
                          <a:cs typeface="Times New Roman" panose="02020603050405020304" pitchFamily="18" charset="0"/>
                        </a:rPr>
                        <a:t> mod kit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giao</a:t>
                      </a:r>
                      <a:r>
                        <a:rPr lang="en-US" sz="1300" b="1" dirty="0">
                          <a:solidFill>
                            <a:schemeClr val="tx1"/>
                          </a:solidFill>
                          <a:latin typeface="Times New Roman" panose="02020603050405020304" pitchFamily="18" charset="0"/>
                          <a:cs typeface="Times New Roman" panose="02020603050405020304" pitchFamily="18" charset="0"/>
                        </a:rPr>
                        <a:t>, SB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ban </a:t>
                      </a:r>
                      <a:r>
                        <a:rPr lang="en-US" sz="1300" b="1" dirty="0" err="1">
                          <a:solidFill>
                            <a:schemeClr val="tx1"/>
                          </a:solidFill>
                          <a:latin typeface="Times New Roman" panose="02020603050405020304" pitchFamily="18" charset="0"/>
                          <a:cs typeface="Times New Roman" panose="02020603050405020304" pitchFamily="18" charset="0"/>
                        </a:rPr>
                        <a:t>hành</a:t>
                      </a:r>
                      <a:r>
                        <a:rPr lang="en-US" sz="1300" b="1" dirty="0">
                          <a:solidFill>
                            <a:schemeClr val="tx1"/>
                          </a:solidFill>
                          <a:latin typeface="Times New Roman" panose="02020603050405020304" pitchFamily="18" charset="0"/>
                          <a:cs typeface="Times New Roman" panose="02020603050405020304" pitchFamily="18" charset="0"/>
                        </a:rPr>
                        <a:t> – </a:t>
                      </a:r>
                      <a:r>
                        <a:rPr lang="en-US" sz="1300" b="1" dirty="0" err="1">
                          <a:solidFill>
                            <a:schemeClr val="tx1"/>
                          </a:solidFill>
                          <a:latin typeface="Times New Roman" panose="02020603050405020304" pitchFamily="18" charset="0"/>
                          <a:cs typeface="Times New Roman" panose="02020603050405020304" pitchFamily="18" charset="0"/>
                        </a:rPr>
                        <a:t>làm</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việc</a:t>
                      </a:r>
                      <a:r>
                        <a:rPr lang="en-US" sz="1300" b="1" dirty="0">
                          <a:solidFill>
                            <a:schemeClr val="tx1"/>
                          </a:solidFill>
                          <a:latin typeface="Times New Roman" panose="02020603050405020304" pitchFamily="18" charset="0"/>
                          <a:cs typeface="Times New Roman" panose="02020603050405020304" pitchFamily="18" charset="0"/>
                        </a:rPr>
                        <a:t> MOC </a:t>
                      </a:r>
                      <a:r>
                        <a:rPr lang="en-US" sz="1300" b="1" dirty="0" err="1">
                          <a:solidFill>
                            <a:schemeClr val="tx1"/>
                          </a:solidFill>
                          <a:latin typeface="Times New Roman" panose="02020603050405020304" pitchFamily="18" charset="0"/>
                          <a:cs typeface="Times New Roman" panose="02020603050405020304" pitchFamily="18" charset="0"/>
                        </a:rPr>
                        <a:t>xếp</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lịch</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thực</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hiện</a:t>
                      </a:r>
                      <a:r>
                        <a:rPr lang="en-US" sz="1300" b="1"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gửi</a:t>
                      </a:r>
                      <a:r>
                        <a:rPr lang="en-US" sz="1300" dirty="0">
                          <a:solidFill>
                            <a:schemeClr val="tx1"/>
                          </a:solidFill>
                          <a:latin typeface="Times New Roman" panose="02020603050405020304" pitchFamily="18" charset="0"/>
                          <a:cs typeface="Times New Roman" panose="02020603050405020304" pitchFamily="18" charset="0"/>
                        </a:rPr>
                        <a:t> 02 shipset </a:t>
                      </a:r>
                      <a:r>
                        <a:rPr lang="en-US" sz="1300" dirty="0" err="1">
                          <a:solidFill>
                            <a:schemeClr val="tx1"/>
                          </a:solidFill>
                          <a:latin typeface="Times New Roman" panose="02020603050405020304" pitchFamily="18" charset="0"/>
                          <a:cs typeface="Times New Roman" panose="02020603050405020304" pitchFamily="18" charset="0"/>
                        </a:rPr>
                        <a:t>tàu</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bảo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quản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nâng</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cấp</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firmwarre</a:t>
                      </a:r>
                      <a:r>
                        <a:rPr lang="en-US" sz="1300" dirty="0">
                          <a:solidFill>
                            <a:schemeClr val="tx1"/>
                          </a:solidFill>
                          <a:latin typeface="Times New Roman" panose="02020603050405020304" pitchFamily="18" charset="0"/>
                          <a:cs typeface="Times New Roman" panose="02020603050405020304" pitchFamily="18" charset="0"/>
                        </a:rPr>
                        <a:t>, TAT 60-70 </a:t>
                      </a:r>
                      <a:r>
                        <a:rPr lang="en-US" sz="1300" dirty="0" err="1">
                          <a:solidFill>
                            <a:schemeClr val="tx1"/>
                          </a:solidFill>
                          <a:latin typeface="Times New Roman" panose="02020603050405020304" pitchFamily="18" charset="0"/>
                          <a:cs typeface="Times New Roman" panose="02020603050405020304" pitchFamily="18" charset="0"/>
                        </a:rPr>
                        <a:t>ngày</a:t>
                      </a:r>
                      <a:r>
                        <a:rPr lang="en-US" sz="1300" dirty="0">
                          <a:solidFill>
                            <a:schemeClr val="tx1"/>
                          </a:solidFill>
                          <a:latin typeface="Times New Roman" panose="02020603050405020304" pitchFamily="18" charset="0"/>
                          <a:cs typeface="Times New Roman" panose="02020603050405020304" pitchFamily="18" charset="0"/>
                        </a:rPr>
                        <a:t> =&gt;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về</a:t>
                      </a:r>
                      <a:r>
                        <a:rPr lang="en-US" sz="1300" b="1" dirty="0">
                          <a:solidFill>
                            <a:schemeClr val="tx1"/>
                          </a:solidFill>
                          <a:latin typeface="Times New Roman" panose="02020603050405020304" pitchFamily="18" charset="0"/>
                          <a:cs typeface="Times New Roman" panose="02020603050405020304" pitchFamily="18" charset="0"/>
                        </a:rPr>
                        <a:t> 02 KANDU, 02 FMA, 01 MODMAN; </a:t>
                      </a:r>
                      <a:r>
                        <a:rPr lang="en-US" sz="1300" b="1" dirty="0" err="1">
                          <a:solidFill>
                            <a:schemeClr val="tx1"/>
                          </a:solidFill>
                          <a:latin typeface="Times New Roman" panose="02020603050405020304" pitchFamily="18" charset="0"/>
                          <a:cs typeface="Times New Roman" panose="02020603050405020304" pitchFamily="18" charset="0"/>
                        </a:rPr>
                        <a:t>tiếp</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tục</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giục</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về</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sớm</a:t>
                      </a:r>
                      <a:r>
                        <a:rPr lang="en-US" sz="1300" b="1" dirty="0">
                          <a:solidFill>
                            <a:schemeClr val="tx1"/>
                          </a:solidFill>
                          <a:latin typeface="Times New Roman" panose="02020603050405020304" pitchFamily="18" charset="0"/>
                          <a:cs typeface="Times New Roman" panose="02020603050405020304" pitchFamily="18" charset="0"/>
                        </a:rPr>
                        <a:t> 02 KRFU + 01 MODMAN</a:t>
                      </a:r>
                    </a:p>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Đào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tạo</a:t>
                      </a:r>
                      <a:r>
                        <a:rPr lang="en-US" sz="1300" dirty="0">
                          <a:solidFill>
                            <a:schemeClr val="tx1"/>
                          </a:solidFill>
                          <a:latin typeface="Times New Roman" panose="02020603050405020304" pitchFamily="18" charset="0"/>
                          <a:cs typeface="Times New Roman" panose="02020603050405020304" pitchFamily="18" charset="0"/>
                        </a:rPr>
                        <a:t> IFC VAECO 19-20/2/2025: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thực</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hiện</a:t>
                      </a:r>
                      <a:endParaRPr lang="en-US" sz="1300" b="1"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300" dirty="0">
                          <a:solidFill>
                            <a:schemeClr val="tx1"/>
                          </a:solidFill>
                          <a:latin typeface="Times New Roman" panose="02020603050405020304" pitchFamily="18" charset="0"/>
                          <a:cs typeface="Times New Roman" panose="02020603050405020304" pitchFamily="18" charset="0"/>
                        </a:rPr>
                        <a:t>FSAT </a:t>
                      </a:r>
                      <a:r>
                        <a:rPr lang="en-US" sz="1300" dirty="0" err="1">
                          <a:solidFill>
                            <a:schemeClr val="tx1"/>
                          </a:solidFill>
                          <a:latin typeface="Times New Roman" panose="02020603050405020304" pitchFamily="18" charset="0"/>
                          <a:cs typeface="Times New Roman" panose="02020603050405020304" pitchFamily="18" charset="0"/>
                        </a:rPr>
                        <a:t>từ</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ngày</a:t>
                      </a:r>
                      <a:r>
                        <a:rPr lang="en-US" sz="1300" dirty="0">
                          <a:solidFill>
                            <a:schemeClr val="tx1"/>
                          </a:solidFill>
                          <a:latin typeface="Times New Roman" panose="02020603050405020304" pitchFamily="18" charset="0"/>
                          <a:cs typeface="Times New Roman" panose="02020603050405020304" pitchFamily="18" charset="0"/>
                        </a:rPr>
                        <a:t> 4-7/3/2025: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thực</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hiện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kiểm</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tra</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tại</a:t>
                      </a:r>
                      <a:r>
                        <a:rPr lang="en-US" sz="1300" b="1" dirty="0">
                          <a:solidFill>
                            <a:schemeClr val="tx1"/>
                          </a:solidFill>
                          <a:latin typeface="Times New Roman" panose="02020603050405020304" pitchFamily="18" charset="0"/>
                          <a:cs typeface="Times New Roman" panose="02020603050405020304" pitchFamily="18" charset="0"/>
                        </a:rPr>
                        <a:t> LAB =&gt;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có</a:t>
                      </a:r>
                      <a:r>
                        <a:rPr lang="en-US" sz="1300" b="1" dirty="0">
                          <a:solidFill>
                            <a:schemeClr val="tx1"/>
                          </a:solidFill>
                          <a:latin typeface="Times New Roman" panose="02020603050405020304" pitchFamily="18" charset="0"/>
                          <a:cs typeface="Times New Roman" panose="02020603050405020304" pitchFamily="18" charset="0"/>
                        </a:rPr>
                        <a:t> SW</a:t>
                      </a:r>
                    </a:p>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Nâng</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cấp</a:t>
                      </a:r>
                      <a:r>
                        <a:rPr lang="en-US" sz="1300" dirty="0">
                          <a:solidFill>
                            <a:schemeClr val="tx1"/>
                          </a:solidFill>
                          <a:latin typeface="Times New Roman" panose="02020603050405020304" pitchFamily="18" charset="0"/>
                          <a:cs typeface="Times New Roman" panose="02020603050405020304" pitchFamily="18" charset="0"/>
                        </a:rPr>
                        <a:t> SW on-wing 02 </a:t>
                      </a:r>
                      <a:r>
                        <a:rPr lang="en-US" sz="1300" dirty="0" err="1">
                          <a:solidFill>
                            <a:schemeClr val="tx1"/>
                          </a:solidFill>
                          <a:latin typeface="Times New Roman" panose="02020603050405020304" pitchFamily="18" charset="0"/>
                          <a:cs typeface="Times New Roman" panose="02020603050405020304" pitchFamily="18" charset="0"/>
                        </a:rPr>
                        <a:t>tàu</a:t>
                      </a:r>
                      <a:r>
                        <a:rPr lang="en-US" sz="1300" dirty="0">
                          <a:solidFill>
                            <a:schemeClr val="tx1"/>
                          </a:solidFill>
                          <a:latin typeface="Times New Roman" panose="02020603050405020304" pitchFamily="18" charset="0"/>
                          <a:cs typeface="Times New Roman" panose="02020603050405020304" pitchFamily="18" charset="0"/>
                        </a:rPr>
                        <a:t>: </a:t>
                      </a:r>
                      <a:r>
                        <a:rPr lang="en-US" sz="1300" b="1" dirty="0">
                          <a:solidFill>
                            <a:schemeClr val="tx1"/>
                          </a:solidFill>
                          <a:latin typeface="Times New Roman" panose="02020603050405020304" pitchFamily="18" charset="0"/>
                          <a:cs typeface="Times New Roman" panose="02020603050405020304" pitchFamily="18" charset="0"/>
                        </a:rPr>
                        <a:t>A892 &amp; A899 </a:t>
                      </a:r>
                      <a:r>
                        <a:rPr lang="en-US" sz="1300" b="1" dirty="0" err="1">
                          <a:solidFill>
                            <a:schemeClr val="tx1"/>
                          </a:solidFill>
                          <a:latin typeface="Times New Roman" panose="02020603050405020304" pitchFamily="18" charset="0"/>
                          <a:cs typeface="Times New Roman" panose="02020603050405020304" pitchFamily="18" charset="0"/>
                        </a:rPr>
                        <a:t>ngày</a:t>
                      </a:r>
                      <a:r>
                        <a:rPr lang="en-US" sz="1300" b="1" dirty="0">
                          <a:solidFill>
                            <a:schemeClr val="tx1"/>
                          </a:solidFill>
                          <a:latin typeface="Times New Roman" panose="02020603050405020304" pitchFamily="18" charset="0"/>
                          <a:cs typeface="Times New Roman" panose="02020603050405020304" pitchFamily="18" charset="0"/>
                        </a:rPr>
                        <a:t> 7-11/4/2025 =&gt; </a:t>
                      </a:r>
                      <a:r>
                        <a:rPr lang="en-US" sz="1300" b="1" dirty="0" err="1">
                          <a:solidFill>
                            <a:schemeClr val="tx1"/>
                          </a:solidFill>
                          <a:latin typeface="Times New Roman" panose="02020603050405020304" pitchFamily="18" charset="0"/>
                          <a:cs typeface="Times New Roman" panose="02020603050405020304" pitchFamily="18" charset="0"/>
                        </a:rPr>
                        <a:t>đã</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hoàn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thành</a:t>
                      </a:r>
                      <a:endParaRPr lang="en-US" sz="1300" b="1"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300" b="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 MPS </a:t>
                      </a:r>
                      <a:r>
                        <a:rPr lang="en-US" sz="1300" b="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cài</a:t>
                      </a:r>
                      <a:r>
                        <a:rPr lang="en-US" sz="1300" b="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đặt</a:t>
                      </a:r>
                      <a:r>
                        <a:rPr lang="en-US" sz="1300" b="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activation SW: </a:t>
                      </a:r>
                      <a:r>
                        <a:rPr lang="en-US" sz="1300" b="1"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1"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cuối</a:t>
                      </a:r>
                      <a:r>
                        <a:rPr lang="en-US" sz="1300" b="1"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1"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4-5/2025</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507751">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CĐCH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16</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8" name="TextBox 7">
            <a:extLst>
              <a:ext uri="{FF2B5EF4-FFF2-40B4-BE49-F238E27FC236}">
                <a16:creationId xmlns:a16="http://schemas.microsoft.com/office/drawing/2014/main" id="{2AD25EED-6A15-7F23-3D69-723883A55487}"/>
              </a:ext>
            </a:extLst>
          </p:cNvPr>
          <p:cNvSpPr txBox="1"/>
          <p:nvPr/>
        </p:nvSpPr>
        <p:spPr>
          <a:xfrm>
            <a:off x="1752600" y="1080569"/>
            <a:ext cx="4114800" cy="877548"/>
          </a:xfrm>
          <a:prstGeom prst="rect">
            <a:avLst/>
          </a:prstGeom>
          <a:noFill/>
        </p:spPr>
        <p:txBody>
          <a:bodyPr wrap="square" rtlCol="0">
            <a:spAutoFit/>
          </a:bodyPr>
          <a:lstStyle/>
          <a:p>
            <a:pPr marL="0" marR="0" lvl="1" algn="l" defTabSz="914400" rtl="0" eaLnBrk="1" fontAlgn="auto" latinLnBrk="0" hangingPunct="1">
              <a:lnSpc>
                <a:spcPct val="130000"/>
              </a:lnSpc>
              <a:spcBef>
                <a:spcPts val="0"/>
              </a:spcBef>
              <a:spcAft>
                <a:spcPts val="0"/>
              </a:spcAft>
              <a:buClrTx/>
              <a:buSzTx/>
              <a:tabLst/>
              <a:defRPr/>
            </a:pPr>
            <a:r>
              <a:rPr lang="en-US" sz="1400" kern="1200" smtClean="0">
                <a:solidFill>
                  <a:schemeClr val="tx1"/>
                </a:solidFill>
                <a:latin typeface="Times New Roman" panose="02020603050405020304" pitchFamily="18" charset="0"/>
                <a:ea typeface="+mn-ea"/>
                <a:cs typeface="Times New Roman" panose="02020603050405020304" pitchFamily="18" charset="0"/>
              </a:rPr>
              <a:t>-  </a:t>
            </a:r>
            <a:r>
              <a:rPr lang="en-US" sz="1300" kern="1200" smtClean="0">
                <a:solidFill>
                  <a:schemeClr val="tx1"/>
                </a:solidFill>
                <a:latin typeface="Times New Roman" panose="02020603050405020304" pitchFamily="18" charset="0"/>
                <a:cs typeface="Times New Roman" panose="02020603050405020304" pitchFamily="18" charset="0"/>
              </a:rPr>
              <a:t>Đã </a:t>
            </a:r>
            <a:r>
              <a:rPr lang="en-US" sz="1300" kern="1200" dirty="0" err="1">
                <a:solidFill>
                  <a:schemeClr val="tx1"/>
                </a:solidFill>
                <a:latin typeface="Times New Roman" panose="02020603050405020304" pitchFamily="18" charset="0"/>
                <a:cs typeface="Times New Roman" panose="02020603050405020304" pitchFamily="18" charset="0"/>
              </a:rPr>
              <a:t>phối</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hợp</a:t>
            </a:r>
            <a:r>
              <a:rPr lang="en-US" sz="1300" kern="1200" dirty="0">
                <a:solidFill>
                  <a:schemeClr val="tx1"/>
                </a:solidFill>
                <a:latin typeface="Times New Roman" panose="02020603050405020304" pitchFamily="18" charset="0"/>
                <a:cs typeface="Times New Roman" panose="02020603050405020304" pitchFamily="18" charset="0"/>
              </a:rPr>
              <a:t> VAECO </a:t>
            </a:r>
            <a:r>
              <a:rPr lang="en-US" sz="1300" kern="1200" dirty="0" err="1">
                <a:solidFill>
                  <a:schemeClr val="tx1"/>
                </a:solidFill>
                <a:latin typeface="Times New Roman" panose="02020603050405020304" pitchFamily="18" charset="0"/>
                <a:cs typeface="Times New Roman" panose="02020603050405020304" pitchFamily="18" charset="0"/>
              </a:rPr>
              <a:t>và</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đối</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tác</a:t>
            </a:r>
            <a:r>
              <a:rPr lang="en-US" sz="1300" kern="1200" dirty="0">
                <a:solidFill>
                  <a:schemeClr val="tx1"/>
                </a:solidFill>
                <a:latin typeface="Times New Roman" panose="02020603050405020304" pitchFamily="18" charset="0"/>
                <a:cs typeface="Times New Roman" panose="02020603050405020304" pitchFamily="18" charset="0"/>
              </a:rPr>
              <a:t> GP </a:t>
            </a:r>
            <a:r>
              <a:rPr lang="en-US" sz="1300" kern="1200" dirty="0" err="1">
                <a:solidFill>
                  <a:schemeClr val="tx1"/>
                </a:solidFill>
                <a:latin typeface="Times New Roman" panose="02020603050405020304" pitchFamily="18" charset="0"/>
                <a:cs typeface="Times New Roman" panose="02020603050405020304" pitchFamily="18" charset="0"/>
              </a:rPr>
              <a:t>hoàn</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thành</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dán</a:t>
            </a:r>
            <a:r>
              <a:rPr lang="en-US" sz="1300" kern="1200" dirty="0">
                <a:solidFill>
                  <a:schemeClr val="tx1"/>
                </a:solidFill>
                <a:latin typeface="Times New Roman" panose="02020603050405020304" pitchFamily="18" charset="0"/>
                <a:cs typeface="Times New Roman" panose="02020603050405020304" pitchFamily="18" charset="0"/>
              </a:rPr>
              <a:t> decal </a:t>
            </a:r>
            <a:r>
              <a:rPr lang="en-US" sz="1300" kern="1200" dirty="0" err="1">
                <a:solidFill>
                  <a:schemeClr val="tx1"/>
                </a:solidFill>
                <a:latin typeface="Times New Roman" panose="02020603050405020304" pitchFamily="18" charset="0"/>
                <a:cs typeface="Times New Roman" panose="02020603050405020304" pitchFamily="18" charset="0"/>
              </a:rPr>
              <a:t>tàu</a:t>
            </a:r>
            <a:r>
              <a:rPr lang="en-US" sz="1300" kern="1200" dirty="0">
                <a:solidFill>
                  <a:schemeClr val="tx1"/>
                </a:solidFill>
                <a:latin typeface="Times New Roman" panose="02020603050405020304" pitchFamily="18" charset="0"/>
                <a:cs typeface="Times New Roman" panose="02020603050405020304" pitchFamily="18" charset="0"/>
              </a:rPr>
              <a:t> A868 </a:t>
            </a:r>
            <a:r>
              <a:rPr lang="en-US" sz="1300" kern="1200" dirty="0" err="1">
                <a:solidFill>
                  <a:schemeClr val="tx1"/>
                </a:solidFill>
                <a:latin typeface="Times New Roman" panose="02020603050405020304" pitchFamily="18" charset="0"/>
                <a:cs typeface="Times New Roman" panose="02020603050405020304" pitchFamily="18" charset="0"/>
              </a:rPr>
              <a:t>từ</a:t>
            </a:r>
            <a:r>
              <a:rPr lang="en-US" sz="1300" kern="1200" dirty="0">
                <a:solidFill>
                  <a:schemeClr val="tx1"/>
                </a:solidFill>
                <a:latin typeface="Times New Roman" panose="02020603050405020304" pitchFamily="18" charset="0"/>
                <a:cs typeface="Times New Roman" panose="02020603050405020304" pitchFamily="18" charset="0"/>
              </a:rPr>
              <a:t> 8-12/4/2025. </a:t>
            </a:r>
            <a:r>
              <a:rPr lang="en-US" sz="1300" kern="1200" dirty="0" err="1">
                <a:solidFill>
                  <a:schemeClr val="tx1"/>
                </a:solidFill>
                <a:latin typeface="Times New Roman" panose="02020603050405020304" pitchFamily="18" charset="0"/>
                <a:cs typeface="Times New Roman" panose="02020603050405020304" pitchFamily="18" charset="0"/>
              </a:rPr>
              <a:t>Sớm</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trước</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kế</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hoạch</a:t>
            </a:r>
            <a:r>
              <a:rPr lang="en-US" sz="1300" kern="1200" dirty="0">
                <a:solidFill>
                  <a:schemeClr val="tx1"/>
                </a:solidFill>
                <a:latin typeface="Times New Roman" panose="02020603050405020304" pitchFamily="18" charset="0"/>
                <a:cs typeface="Times New Roman" panose="02020603050405020304" pitchFamily="18" charset="0"/>
              </a:rPr>
              <a:t> 01 </a:t>
            </a:r>
            <a:r>
              <a:rPr lang="en-US" sz="1300" kern="1200" dirty="0" err="1">
                <a:solidFill>
                  <a:schemeClr val="tx1"/>
                </a:solidFill>
                <a:latin typeface="Times New Roman" panose="02020603050405020304" pitchFamily="18" charset="0"/>
                <a:cs typeface="Times New Roman" panose="02020603050405020304" pitchFamily="18" charset="0"/>
              </a:rPr>
              <a:t>ngày</a:t>
            </a:r>
            <a:r>
              <a:rPr lang="en-US" sz="1300" dirty="0">
                <a:latin typeface="Times New Roman" panose="02020603050405020304" pitchFamily="18" charset="0"/>
                <a:cs typeface="Times New Roman" panose="02020603050405020304" pitchFamily="18" charset="0"/>
              </a:rPr>
              <a:t> </a:t>
            </a:r>
            <a:r>
              <a:rPr lang="en-US" sz="1300" kern="1200" dirty="0">
                <a:solidFill>
                  <a:schemeClr val="tx1"/>
                </a:solidFill>
                <a:latin typeface="Times New Roman" panose="02020603050405020304" pitchFamily="18" charset="0"/>
                <a:cs typeface="Times New Roman" panose="02020603050405020304" pitchFamily="18" charset="0"/>
              </a:rPr>
              <a:t>(</a:t>
            </a:r>
            <a:r>
              <a:rPr lang="en-US" sz="1300" kern="1200" dirty="0" err="1">
                <a:solidFill>
                  <a:schemeClr val="tx1"/>
                </a:solidFill>
                <a:latin typeface="Times New Roman" panose="02020603050405020304" pitchFamily="18" charset="0"/>
                <a:cs typeface="Times New Roman" panose="02020603050405020304" pitchFamily="18" charset="0"/>
              </a:rPr>
              <a:t>tàu</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tiếp</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tục</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làm</a:t>
            </a:r>
            <a:r>
              <a:rPr lang="en-US" sz="1300" kern="1200" dirty="0">
                <a:solidFill>
                  <a:schemeClr val="tx1"/>
                </a:solidFill>
                <a:latin typeface="Times New Roman" panose="02020603050405020304" pitchFamily="18" charset="0"/>
                <a:cs typeface="Times New Roman" panose="02020603050405020304" pitchFamily="18" charset="0"/>
              </a:rPr>
              <a:t> check </a:t>
            </a:r>
            <a:r>
              <a:rPr lang="en-US" sz="1300" kern="1200" dirty="0" err="1">
                <a:solidFill>
                  <a:schemeClr val="tx1"/>
                </a:solidFill>
                <a:latin typeface="Times New Roman" panose="02020603050405020304" pitchFamily="18" charset="0"/>
                <a:cs typeface="Times New Roman" panose="02020603050405020304" pitchFamily="18" charset="0"/>
              </a:rPr>
              <a:t>đến</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hết</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dirty="0" err="1">
                <a:solidFill>
                  <a:schemeClr val="tx1"/>
                </a:solidFill>
                <a:latin typeface="Times New Roman" panose="02020603050405020304" pitchFamily="18" charset="0"/>
                <a:cs typeface="Times New Roman" panose="02020603050405020304" pitchFamily="18" charset="0"/>
              </a:rPr>
              <a:t>ngày</a:t>
            </a:r>
            <a:r>
              <a:rPr lang="en-US" sz="1300" kern="1200" dirty="0">
                <a:solidFill>
                  <a:schemeClr val="tx1"/>
                </a:solidFill>
                <a:latin typeface="Times New Roman" panose="02020603050405020304" pitchFamily="18" charset="0"/>
                <a:cs typeface="Times New Roman" panose="02020603050405020304" pitchFamily="18" charset="0"/>
              </a:rPr>
              <a:t> </a:t>
            </a:r>
            <a:r>
              <a:rPr lang="en-US" sz="1300" kern="1200">
                <a:solidFill>
                  <a:schemeClr val="tx1"/>
                </a:solidFill>
                <a:latin typeface="Times New Roman" panose="02020603050405020304" pitchFamily="18" charset="0"/>
                <a:cs typeface="Times New Roman" panose="02020603050405020304" pitchFamily="18" charset="0"/>
              </a:rPr>
              <a:t>16/4/2025</a:t>
            </a:r>
            <a:r>
              <a:rPr lang="en-US" sz="1300" kern="1200" smtClean="0">
                <a:solidFill>
                  <a:schemeClr val="tx1"/>
                </a:solidFill>
                <a:latin typeface="Times New Roman" panose="02020603050405020304" pitchFamily="18" charset="0"/>
                <a:cs typeface="Times New Roman" panose="02020603050405020304" pitchFamily="18" charset="0"/>
              </a:rPr>
              <a:t>)</a:t>
            </a:r>
            <a:endParaRPr lang="vi-VN" sz="1300" b="1" dirty="0">
              <a:solidFill>
                <a:srgbClr val="D2A43B"/>
              </a:solidFill>
              <a:latin typeface="Montserrat" pitchFamily="2" charset="77"/>
            </a:endParaRPr>
          </a:p>
        </p:txBody>
      </p:sp>
      <p:pic>
        <p:nvPicPr>
          <p:cNvPr id="10" name="Picture 9">
            <a:extLst>
              <a:ext uri="{FF2B5EF4-FFF2-40B4-BE49-F238E27FC236}">
                <a16:creationId xmlns:a16="http://schemas.microsoft.com/office/drawing/2014/main" id="{B9939880-1C84-8815-03D5-1B8835FB795B}"/>
              </a:ext>
            </a:extLst>
          </p:cNvPr>
          <p:cNvPicPr>
            <a:picLocks noChangeAspect="1"/>
          </p:cNvPicPr>
          <p:nvPr/>
        </p:nvPicPr>
        <p:blipFill>
          <a:blip r:embed="rId3"/>
          <a:srcRect t="30001" b="11110"/>
          <a:stretch/>
        </p:blipFill>
        <p:spPr>
          <a:xfrm>
            <a:off x="6019800" y="1080569"/>
            <a:ext cx="4419600" cy="1951990"/>
          </a:xfrm>
          <a:prstGeom prst="rect">
            <a:avLst/>
          </a:prstGeom>
        </p:spPr>
      </p:pic>
    </p:spTree>
    <p:extLst>
      <p:ext uri="{BB962C8B-B14F-4D97-AF65-F5344CB8AC3E}">
        <p14:creationId xmlns:p14="http://schemas.microsoft.com/office/powerpoint/2010/main" val="3698340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19</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756231370"/>
              </p:ext>
            </p:extLst>
          </p:nvPr>
        </p:nvGraphicFramePr>
        <p:xfrm>
          <a:off x="156783" y="606960"/>
          <a:ext cx="11878434" cy="523747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smtClean="0">
                          <a:latin typeface="Times New Roman" panose="02020603050405020304" pitchFamily="18" charset="0"/>
                          <a:cs typeface="Times New Roman" panose="02020603050405020304" pitchFamily="18" charset="0"/>
                        </a:rPr>
                        <a:t>GIA HẠN THUÊ 10 TÀU VALC </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Thủ tục bán tàu của VALC chậm nên VNA và VALC đã đồng ý và ký kết gia hạn hợp đồng thuê tiếp 10 tàu bay A321CEO 3 tháng đến hết 30/06/2025.</a:t>
                      </a:r>
                    </a:p>
                    <a:p>
                      <a:pPr algn="just">
                        <a:lnSpc>
                          <a:spcPct val="150000"/>
                        </a:lnSpc>
                      </a:pPr>
                      <a:r>
                        <a:rPr lang="en-US" sz="1300" smtClean="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p>
                      <a:pPr algn="just">
                        <a:lnSpc>
                          <a:spcPct val="150000"/>
                        </a:lnSpc>
                      </a:pPr>
                      <a:r>
                        <a:rPr lang="en-US" sz="1300" smtClean="0">
                          <a:latin typeface="Times New Roman" panose="02020603050405020304" pitchFamily="18" charset="0"/>
                          <a:cs typeface="Times New Roman" panose="02020603050405020304" pitchFamily="18" charset="0"/>
                        </a:rPr>
                        <a:t>Hiện tại VNA đang chờ kết quả bán tàu từ VALC, tiếp theo sẽ cần triển khai đàm phán hợp đồng thuê trong tr</a:t>
                      </a:r>
                      <a:r>
                        <a:rPr lang="vi-VN" sz="1300" smtClean="0">
                          <a:latin typeface="Times New Roman" panose="02020603050405020304" pitchFamily="18" charset="0"/>
                          <a:cs typeface="Times New Roman" panose="02020603050405020304" pitchFamily="18" charset="0"/>
                        </a:rPr>
                        <a:t>ư</a:t>
                      </a:r>
                      <a:r>
                        <a:rPr lang="en-US" sz="1300" smtClean="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kern="1200" smtClean="0">
                          <a:solidFill>
                            <a:schemeClr val="tx1"/>
                          </a:solidFill>
                          <a:effectLst/>
                          <a:latin typeface="Times New Roman" panose="02020603050405020304" pitchFamily="18" charset="0"/>
                          <a:ea typeface="+mn-ea"/>
                          <a:cs typeface="Times New Roman" panose="02020603050405020304" pitchFamily="18" charset="0"/>
                        </a:rPr>
                        <a:t>Đang triển khai</a:t>
                      </a:r>
                    </a:p>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50000"/>
                        </a:lnSpc>
                      </a:pPr>
                      <a:r>
                        <a:rPr lang="en-US" sz="1300" b="0" smtClean="0">
                          <a:latin typeface="Times New Roman" panose="02020603050405020304" pitchFamily="18" charset="0"/>
                          <a:cs typeface="Times New Roman" panose="02020603050405020304" pitchFamily="18" charset="0"/>
                        </a:rPr>
                        <a:t>DỰ ÁN TÀU BAY THÂN HẸP</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smtClean="0">
                          <a:latin typeface="Times New Roman" panose="02020603050405020304" pitchFamily="18" charset="0"/>
                          <a:cs typeface="Times New Roman" panose="02020603050405020304" pitchFamily="18" charset="0"/>
                        </a:rPr>
                        <a:t>Tổ thuê mua tàu bay vẫn tiếp tục chủ trì phối hợp với các </a:t>
                      </a:r>
                      <a:r>
                        <a:rPr lang="en-US" sz="1300" smtClean="0">
                          <a:latin typeface="Times New Roman" panose="02020603050405020304" pitchFamily="18" charset="0"/>
                          <a:cs typeface="Times New Roman" panose="02020603050405020304" pitchFamily="18" charset="0"/>
                        </a:rPr>
                        <a:t>CQĐV</a:t>
                      </a:r>
                      <a:r>
                        <a:rPr lang="vi-VN" sz="1300" smtClean="0">
                          <a:latin typeface="Times New Roman" panose="02020603050405020304" pitchFamily="18" charset="0"/>
                          <a:cs typeface="Times New Roman" panose="02020603050405020304" pitchFamily="18" charset="0"/>
                        </a:rPr>
                        <a:t> chuyên môn làm việc với Boeing để có số liệu cuối cùng tính toán hiệu quả khả thi dự án đầu tư báo cáo cấp có thẩm quyền. </a:t>
                      </a:r>
                      <a:r>
                        <a:rPr lang="en-US" sz="1300" smtClean="0">
                          <a:latin typeface="Times New Roman" panose="02020603050405020304" pitchFamily="18" charset="0"/>
                          <a:cs typeface="Times New Roman" panose="02020603050405020304" pitchFamily="18" charset="0"/>
                        </a:rPr>
                        <a:t>VNA đã </a:t>
                      </a:r>
                      <a:r>
                        <a:rPr lang="vi-VN" sz="1300" smtClean="0">
                          <a:latin typeface="Times New Roman" panose="02020603050405020304" pitchFamily="18" charset="0"/>
                          <a:cs typeface="Times New Roman" panose="02020603050405020304" pitchFamily="18" charset="0"/>
                        </a:rPr>
                        <a:t>tổ chức cuộc hội thảo với Boeing vào 1/4 và 2/4 để đánh giá các vấn đề</a:t>
                      </a:r>
                      <a:r>
                        <a:rPr lang="en-US" sz="1300" smtClean="0">
                          <a:latin typeface="Times New Roman" panose="02020603050405020304" pitchFamily="18" charset="0"/>
                          <a:cs typeface="Times New Roman" panose="02020603050405020304" pitchFamily="18" charset="0"/>
                        </a:rPr>
                        <a:t> </a:t>
                      </a:r>
                      <a:r>
                        <a:rPr lang="vi-VN" sz="1300" smtClean="0">
                          <a:latin typeface="Times New Roman" panose="02020603050405020304" pitchFamily="18" charset="0"/>
                          <a:cs typeface="Times New Roman" panose="02020603050405020304" pitchFamily="18" charset="0"/>
                        </a:rPr>
                        <a:t>khi khai thác 737 </a:t>
                      </a:r>
                      <a:r>
                        <a:rPr lang="en-US" sz="1300" smtClean="0">
                          <a:latin typeface="Times New Roman" panose="02020603050405020304" pitchFamily="18" charset="0"/>
                          <a:cs typeface="Times New Roman" panose="02020603050405020304" pitchFamily="18" charset="0"/>
                        </a:rPr>
                        <a:t>M</a:t>
                      </a:r>
                      <a:r>
                        <a:rPr lang="vi-VN" sz="1300" smtClean="0">
                          <a:latin typeface="Times New Roman" panose="02020603050405020304" pitchFamily="18" charset="0"/>
                          <a:cs typeface="Times New Roman" panose="02020603050405020304" pitchFamily="18" charset="0"/>
                        </a:rPr>
                        <a:t>ax.</a:t>
                      </a:r>
                      <a:r>
                        <a:rPr lang="en-US" sz="1300" smtClean="0">
                          <a:latin typeface="Times New Roman" panose="02020603050405020304" pitchFamily="18" charset="0"/>
                          <a:cs typeface="Times New Roman" panose="02020603050405020304" pitchFamily="18" charset="0"/>
                        </a:rPr>
                        <a:t>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kern="1200" smtClean="0">
                          <a:solidFill>
                            <a:schemeClr val="tx1"/>
                          </a:solidFill>
                          <a:effectLst/>
                          <a:latin typeface="Times New Roman" panose="02020603050405020304" pitchFamily="18" charset="0"/>
                          <a:ea typeface="+mn-ea"/>
                          <a:cs typeface="Times New Roman" panose="02020603050405020304" pitchFamily="18" charset="0"/>
                        </a:rPr>
                        <a:t>Đang triển khai</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smtClean="0">
                          <a:latin typeface="Times New Roman" panose="02020603050405020304" pitchFamily="18" charset="0"/>
                          <a:cs typeface="Times New Roman" panose="02020603050405020304" pitchFamily="18" charset="0"/>
                        </a:rPr>
                        <a:t>TÀU ATR72 CHO K6 THUÊ KHÔ VN-B220 MSN 890</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VNA đang cho K6 thuê khô 01 tàu ATR72 MSN 890 VN-B220, hết hạn thuê vào ngày 25/06/2025. K6 đang đề nghị VNA:</a:t>
                      </a:r>
                    </a:p>
                    <a:p>
                      <a:pPr marL="285750" indent="-285750" algn="just">
                        <a:lnSpc>
                          <a:spcPct val="150000"/>
                        </a:lnSpc>
                        <a:buFontTx/>
                        <a:buChar char="-"/>
                      </a:pPr>
                      <a:r>
                        <a:rPr lang="en-US" sz="1300" smtClean="0">
                          <a:latin typeface="Times New Roman" panose="02020603050405020304" pitchFamily="18" charset="0"/>
                          <a:cs typeface="Times New Roman" panose="02020603050405020304" pitchFamily="18" charset="0"/>
                        </a:rPr>
                        <a:t>Gia hạn thuê với t</a:t>
                      </a:r>
                      <a:r>
                        <a:rPr lang="vi-VN" sz="1300" smtClean="0">
                          <a:latin typeface="Times New Roman" panose="02020603050405020304" pitchFamily="18" charset="0"/>
                          <a:cs typeface="Times New Roman" panose="02020603050405020304" pitchFamily="18" charset="0"/>
                        </a:rPr>
                        <a:t>hời hạn gian hạn (hoặc thuê mới) từ 26/06/2025 – 30/11/2025; </a:t>
                      </a:r>
                      <a:endParaRPr lang="en-US" sz="1300" smtClean="0">
                        <a:latin typeface="Times New Roman" panose="02020603050405020304" pitchFamily="18" charset="0"/>
                        <a:cs typeface="Times New Roman" panose="02020603050405020304" pitchFamily="18" charset="0"/>
                      </a:endParaRPr>
                    </a:p>
                    <a:p>
                      <a:pPr marL="285750" indent="-285750" algn="just">
                        <a:lnSpc>
                          <a:spcPct val="150000"/>
                        </a:lnSpc>
                        <a:buFontTx/>
                        <a:buChar char="-"/>
                      </a:pPr>
                      <a:r>
                        <a:rPr lang="vi-VN" sz="1300" smtClean="0">
                          <a:latin typeface="Times New Roman" panose="02020603050405020304" pitchFamily="18" charset="0"/>
                          <a:cs typeface="Times New Roman" panose="02020603050405020304" pitchFamily="18" charset="0"/>
                        </a:rPr>
                        <a:t>Điều kiện khai thác tàu bay: Đảm bảo tàu bay khai thác liên tục trong thời gian gia hạn hoặc cho thuê mới. Điều kiện trả As-is, serviceable theo điều kiện HĐ hiện tại. Trường hợp gia hạn tàu VN-B220, K6 đề nghị xem xét đẩy sớm lịch bảo dưỡng thân (</a:t>
                      </a:r>
                      <a:r>
                        <a:rPr lang="en-US" sz="1300" smtClean="0">
                          <a:latin typeface="Times New Roman" panose="02020603050405020304" pitchFamily="18" charset="0"/>
                          <a:cs typeface="Times New Roman" panose="02020603050405020304" pitchFamily="18" charset="0"/>
                        </a:rPr>
                        <a:t>4</a:t>
                      </a:r>
                      <a:r>
                        <a:rPr lang="vi-VN" sz="1300" smtClean="0">
                          <a:latin typeface="Times New Roman" panose="02020603050405020304" pitchFamily="18" charset="0"/>
                          <a:cs typeface="Times New Roman" panose="02020603050405020304" pitchFamily="18" charset="0"/>
                        </a:rPr>
                        <a:t>Y/8Y) từ giữa T5/2025 và kết hợp việc thay mới ĐC (nếu được) để đảm bảo lịch khai thác tàu bay trong thời gian gia hạn</a:t>
                      </a:r>
                      <a:r>
                        <a:rPr lang="en-US" sz="1300" smtClean="0">
                          <a:latin typeface="Times New Roman" panose="02020603050405020304" pitchFamily="18" charset="0"/>
                          <a:cs typeface="Times New Roman" panose="02020603050405020304" pitchFamily="18" charset="0"/>
                        </a:rPr>
                        <a:t>. BKT VNA đã kiểm tra và trả lời nguồn lực VNA chỉ có thể bố trí có slot (4Y/8Y) từ 21/06 đến 11/07.</a:t>
                      </a:r>
                    </a:p>
                    <a:p>
                      <a:pPr algn="just">
                        <a:lnSpc>
                          <a:spcPct val="150000"/>
                        </a:lnSpc>
                      </a:pP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9565452"/>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56783" y="0"/>
            <a:ext cx="11878434"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lgn="ctr">
              <a:spcBef>
                <a:spcPct val="0"/>
              </a:spcBef>
              <a:defRPr/>
            </a:pPr>
            <a:r>
              <a:rPr lang="en-US" altLang="en-US">
                <a:ln w="0"/>
                <a:solidFill>
                  <a:schemeClr val="accent4"/>
                </a:solidFill>
                <a:latin typeface="Times New Roman" panose="02020603050405020304" pitchFamily="18" charset="0"/>
                <a:cs typeface="Times New Roman" panose="02020603050405020304" pitchFamily="18" charset="0"/>
              </a:rPr>
              <a:t>CÁC 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263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043370318"/>
              </p:ext>
            </p:extLst>
          </p:nvPr>
        </p:nvGraphicFramePr>
        <p:xfrm>
          <a:off x="156783" y="606960"/>
          <a:ext cx="11878434" cy="5870040"/>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996537">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873503">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smtClean="0">
                          <a:latin typeface="Times New Roman" panose="02020603050405020304" pitchFamily="18" charset="0"/>
                          <a:cs typeface="Times New Roman" panose="02020603050405020304" pitchFamily="18" charset="0"/>
                        </a:rPr>
                        <a:t>03 TÀU BAY A321 CEO CHO PA THUÊ KHÔ</a:t>
                      </a:r>
                      <a:r>
                        <a:rPr lang="vi-VN" sz="1400" b="0" smtClean="0">
                          <a:latin typeface="+mn-lt"/>
                          <a:cs typeface="Times New Roman" panose="02020603050405020304" pitchFamily="18" charset="0"/>
                        </a:rPr>
                        <a:t> </a:t>
                      </a:r>
                      <a:r>
                        <a:rPr lang="en-US" sz="1400" b="0" smtClean="0">
                          <a:latin typeface="Times New Roman" panose="02020603050405020304" pitchFamily="18" charset="0"/>
                          <a:cs typeface="Times New Roman" panose="02020603050405020304" pitchFamily="18" charset="0"/>
                        </a:rPr>
                        <a:t>VN-A354, VN-A359 và VN-A363</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smtClean="0">
                          <a:latin typeface="Times New Roman" panose="02020603050405020304" pitchFamily="18" charset="0"/>
                          <a:cs typeface="Times New Roman" panose="02020603050405020304" pitchFamily="18" charset="0"/>
                        </a:rPr>
                        <a:t>03 tàu bay hết hạn thuê tháng 06,07,10 năm 2025 cần gia hạn duy trì khai thác AOC cho PA</a:t>
                      </a:r>
                    </a:p>
                    <a:p>
                      <a:pPr marL="285750" lvl="0" indent="-285750" algn="just">
                        <a:buFontTx/>
                        <a:buChar char="-"/>
                      </a:pPr>
                      <a:r>
                        <a:rPr lang="en-US" sz="1300" smtClean="0">
                          <a:latin typeface="Times New Roman" panose="02020603050405020304" pitchFamily="18" charset="0"/>
                          <a:cs typeface="Times New Roman" panose="02020603050405020304" pitchFamily="18" charset="0"/>
                        </a:rPr>
                        <a:t>05 động cơ có hạn SV trong 2025 cần thay động cơ khác của VNA nếu tiếp tục khai thác</a:t>
                      </a:r>
                    </a:p>
                    <a:p>
                      <a:pPr marL="285750" indent="-285750" algn="just">
                        <a:buFontTx/>
                        <a:buChar char="-"/>
                      </a:pPr>
                      <a:r>
                        <a:rPr lang="en-US" sz="1300" smtClean="0">
                          <a:latin typeface="Times New Roman" panose="02020603050405020304" pitchFamily="18" charset="0"/>
                          <a:cs typeface="Times New Roman" panose="02020603050405020304" pitchFamily="18" charset="0"/>
                        </a:rPr>
                        <a:t>VNA đã phê duyệt swap động c</a:t>
                      </a:r>
                      <a:r>
                        <a:rPr lang="vi-VN" sz="1300" smtClean="0">
                          <a:latin typeface="Times New Roman" panose="02020603050405020304" pitchFamily="18" charset="0"/>
                          <a:cs typeface="Times New Roman" panose="02020603050405020304" pitchFamily="18" charset="0"/>
                        </a:rPr>
                        <a:t>ơ</a:t>
                      </a:r>
                      <a:r>
                        <a:rPr lang="en-US" sz="1300" smtClean="0">
                          <a:latin typeface="Times New Roman" panose="02020603050405020304" pitchFamily="18" charset="0"/>
                          <a:cs typeface="Times New Roman" panose="02020603050405020304" pitchFamily="18" charset="0"/>
                        </a:rPr>
                        <a:t> và APU. APU lắp trên A363 là thiết bị tàu thuê ACG đã swap bằng APU khác sở hữu của VNA</a:t>
                      </a:r>
                    </a:p>
                    <a:p>
                      <a:r>
                        <a:rPr lang="en-US" sz="1300" smtClean="0">
                          <a:latin typeface="Times New Roman" panose="02020603050405020304" pitchFamily="18" charset="0"/>
                          <a:cs typeface="Times New Roman" panose="02020603050405020304" pitchFamily="18" charset="0"/>
                        </a:rPr>
                        <a:t>Kế hoạch thực hiện thay/tráo đổi ENG/APU: </a:t>
                      </a:r>
                    </a:p>
                    <a:p>
                      <a:r>
                        <a:rPr lang="en-US" sz="1300" smtClean="0">
                          <a:latin typeface="Times New Roman" panose="02020603050405020304" pitchFamily="18" charset="0"/>
                          <a:cs typeface="Times New Roman" panose="02020603050405020304" pitchFamily="18" charset="0"/>
                        </a:rPr>
                        <a:t>    - MSN 3198 VN-A354: Engine #2 V11752 replaced by V16456 (sẽ thay trong 6Y CHK tại SGN)</a:t>
                      </a:r>
                    </a:p>
                    <a:p>
                      <a:r>
                        <a:rPr lang="en-US" sz="1300" smtClean="0">
                          <a:latin typeface="Times New Roman" panose="02020603050405020304" pitchFamily="18" charset="0"/>
                          <a:cs typeface="Times New Roman" panose="02020603050405020304" pitchFamily="18" charset="0"/>
                        </a:rPr>
                        <a:t>    - MSN 4136 VN-A363: Engine #2 V11696 replaced by V16037 (đã thực hiện).  APU P-7845 replaced by P-4708 (đã thực hiện)</a:t>
                      </a:r>
                    </a:p>
                    <a:p>
                      <a:pPr marL="12700" lvl="0" algn="just">
                        <a:spcBef>
                          <a:spcPts val="1000"/>
                        </a:spcBef>
                        <a:buClr>
                          <a:schemeClr val="dk1"/>
                        </a:buClr>
                        <a:buSzPts val="1100"/>
                      </a:pPr>
                      <a:endParaRPr lang="en-US" sz="14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56783" y="0"/>
            <a:ext cx="11878434"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marL="0" marR="0" lvl="0" indent="0" algn="ctr" defTabSz="914400" rtl="0" eaLnBrk="1" fontAlgn="auto" latinLnBrk="0" hangingPunct="1">
              <a:lnSpc>
                <a:spcPct val="90000"/>
              </a:lnSpc>
              <a:spcBef>
                <a:spcPct val="0"/>
              </a:spcBef>
              <a:spcAft>
                <a:spcPts val="0"/>
              </a:spcAft>
              <a:buClr>
                <a:srgbClr val="DEA610"/>
              </a:buClr>
              <a:buSzPts val="2100"/>
              <a:buFont typeface="Montserrat"/>
              <a:buNone/>
              <a:tabLst/>
              <a:defRPr/>
            </a:pPr>
            <a:r>
              <a:rPr kumimoji="0" lang="en-US" altLang="en-US" sz="2800" b="1" i="0" u="none" strike="noStrike" kern="1200" cap="none" spc="0" normalizeH="0" baseline="0" noProof="0">
                <a:ln w="0"/>
                <a:solidFill>
                  <a:srgbClr val="FFC000"/>
                </a:solidFill>
                <a:effectLst/>
                <a:uLnTx/>
                <a:uFillTx/>
                <a:latin typeface="Times New Roman" panose="02020603050405020304" pitchFamily="18" charset="0"/>
                <a:cs typeface="Times New Roman" panose="02020603050405020304" pitchFamily="18" charset="0"/>
                <a:sym typeface="Montserrat"/>
              </a:rPr>
              <a:t>CÁC CÔNG VIỆC TRỌNG ĐIỂM</a:t>
            </a:r>
            <a:endParaRPr kumimoji="0" lang="en-US" altLang="en-US" sz="2800" b="1" i="0" u="none" strike="noStrike" kern="1200" cap="none" spc="0" normalizeH="0" baseline="0" noProof="0" dirty="0">
              <a:ln w="0"/>
              <a:solidFill>
                <a:srgbClr val="FFC000"/>
              </a:solidFill>
              <a:effectLst/>
              <a:uLnTx/>
              <a:uFillTx/>
              <a:latin typeface="Times New Roman" panose="02020603050405020304" pitchFamily="18" charset="0"/>
              <a:cs typeface="Times New Roman" panose="02020603050405020304" pitchFamily="18" charset="0"/>
              <a:sym typeface="Montserrat"/>
            </a:endParaRPr>
          </a:p>
        </p:txBody>
      </p:sp>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4161429291"/>
              </p:ext>
            </p:extLst>
          </p:nvPr>
        </p:nvGraphicFramePr>
        <p:xfrm>
          <a:off x="1752599" y="3169623"/>
          <a:ext cx="8763002" cy="3307376"/>
        </p:xfrm>
        <a:graphic>
          <a:graphicData uri="http://schemas.openxmlformats.org/drawingml/2006/table">
            <a:tbl>
              <a:tblPr firstRow="1" firstCol="1" bandRow="1"/>
              <a:tblGrid>
                <a:gridCol w="533401">
                  <a:extLst>
                    <a:ext uri="{9D8B030D-6E8A-4147-A177-3AD203B41FA5}">
                      <a16:colId xmlns:a16="http://schemas.microsoft.com/office/drawing/2014/main" val="1531600724"/>
                    </a:ext>
                  </a:extLst>
                </a:gridCol>
                <a:gridCol w="928503">
                  <a:extLst>
                    <a:ext uri="{9D8B030D-6E8A-4147-A177-3AD203B41FA5}">
                      <a16:colId xmlns:a16="http://schemas.microsoft.com/office/drawing/2014/main" val="2778344331"/>
                    </a:ext>
                  </a:extLst>
                </a:gridCol>
                <a:gridCol w="936642">
                  <a:extLst>
                    <a:ext uri="{9D8B030D-6E8A-4147-A177-3AD203B41FA5}">
                      <a16:colId xmlns:a16="http://schemas.microsoft.com/office/drawing/2014/main" val="51065387"/>
                    </a:ext>
                  </a:extLst>
                </a:gridCol>
                <a:gridCol w="924883">
                  <a:extLst>
                    <a:ext uri="{9D8B030D-6E8A-4147-A177-3AD203B41FA5}">
                      <a16:colId xmlns:a16="http://schemas.microsoft.com/office/drawing/2014/main" val="783667054"/>
                    </a:ext>
                  </a:extLst>
                </a:gridCol>
                <a:gridCol w="791372">
                  <a:extLst>
                    <a:ext uri="{9D8B030D-6E8A-4147-A177-3AD203B41FA5}">
                      <a16:colId xmlns:a16="http://schemas.microsoft.com/office/drawing/2014/main" val="2213163783"/>
                    </a:ext>
                  </a:extLst>
                </a:gridCol>
                <a:gridCol w="1367998">
                  <a:extLst>
                    <a:ext uri="{9D8B030D-6E8A-4147-A177-3AD203B41FA5}">
                      <a16:colId xmlns:a16="http://schemas.microsoft.com/office/drawing/2014/main" val="3043656086"/>
                    </a:ext>
                  </a:extLst>
                </a:gridCol>
                <a:gridCol w="1408278">
                  <a:extLst>
                    <a:ext uri="{9D8B030D-6E8A-4147-A177-3AD203B41FA5}">
                      <a16:colId xmlns:a16="http://schemas.microsoft.com/office/drawing/2014/main" val="2131793250"/>
                    </a:ext>
                  </a:extLst>
                </a:gridCol>
                <a:gridCol w="1871925">
                  <a:extLst>
                    <a:ext uri="{9D8B030D-6E8A-4147-A177-3AD203B41FA5}">
                      <a16:colId xmlns:a16="http://schemas.microsoft.com/office/drawing/2014/main" val="1805902935"/>
                    </a:ext>
                  </a:extLst>
                </a:gridCol>
              </a:tblGrid>
              <a:tr h="93777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endParaRPr lang="en-GB" sz="1300" b="0" kern="100" smtClean="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ĐC lắp trên 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Lịch sửa chữa ĐC </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16/03-10/04/2025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V15894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16/10/2028</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V11752</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05/03/2025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377786"/>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V11694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V16049</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051290"/>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V16563</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07/11/2025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V11696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20/10/2025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814873"/>
                  </a:ext>
                </a:extLst>
              </a:tr>
            </a:tbl>
          </a:graphicData>
        </a:graphic>
      </p:graphicFrame>
    </p:spTree>
    <p:extLst>
      <p:ext uri="{BB962C8B-B14F-4D97-AF65-F5344CB8AC3E}">
        <p14:creationId xmlns:p14="http://schemas.microsoft.com/office/powerpoint/2010/main" val="28401213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281463820"/>
              </p:ext>
            </p:extLst>
          </p:nvPr>
        </p:nvGraphicFramePr>
        <p:xfrm>
          <a:off x="156783" y="1143000"/>
          <a:ext cx="11878434" cy="173730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7229147">
                  <a:extLst>
                    <a:ext uri="{9D8B030D-6E8A-4147-A177-3AD203B41FA5}">
                      <a16:colId xmlns:a16="http://schemas.microsoft.com/office/drawing/2014/main" val="426833219"/>
                    </a:ext>
                  </a:extLst>
                </a:gridCol>
                <a:gridCol w="3043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11-Mar: Đã có phê duyệt KQLCNCC (AMOSeTL của SwissAS). Đang đàm phán ký kết hợp đồng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 toàn Tổ triển khai; Đề nghị CAAV triển khai phase 1 trong quy trình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Nâng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họp nhiều phiên với Boeing và Airbus. Hiện chờ OCC xác nhận payload tăng đ</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theo từng tháng để KHPT tính toán hiệu quả..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 A350 (2 tàu cuối thuộc standard 2018  là A898, A899): đánh giá là khó thực hiện khi bay đi Mỹ do hiện nay đã phải nạp full tank 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56783" y="304800"/>
            <a:ext cx="11863508"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lgn="ctr">
              <a:spcBef>
                <a:spcPct val="0"/>
              </a:spcBef>
              <a:defRPr/>
            </a:pPr>
            <a:r>
              <a:rPr lang="en-US" altLang="en-US">
                <a:ln w="0"/>
                <a:solidFill>
                  <a:schemeClr val="accent4"/>
                </a:solidFill>
                <a:latin typeface="Times New Roman" panose="02020603050405020304" pitchFamily="18" charset="0"/>
                <a:cs typeface="Times New Roman" panose="02020603050405020304" pitchFamily="18" charset="0"/>
              </a:rPr>
              <a:t>CÁC 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1088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6702264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extLst/>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err="1">
                <a:solidFill>
                  <a:srgbClr val="FF0000"/>
                </a:solidFill>
                <a:latin typeface="Times New Roman" panose="02020603050405020304" pitchFamily="18" charset="0"/>
                <a:cs typeface="Times New Roman" panose="02020603050405020304" pitchFamily="18" charset="0"/>
              </a:rPr>
              <a:t>Thực</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tế</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đã</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phải</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bổ</a:t>
            </a:r>
            <a:r>
              <a:rPr lang="en-US" sz="1333" dirty="0">
                <a:solidFill>
                  <a:srgbClr val="FF0000"/>
                </a:solidFill>
                <a:latin typeface="Times New Roman" panose="02020603050405020304" pitchFamily="18" charset="0"/>
                <a:cs typeface="Times New Roman" panose="02020603050405020304" pitchFamily="18" charset="0"/>
              </a:rPr>
              <a:t> sung 01 ĐC </a:t>
            </a:r>
            <a:r>
              <a:rPr lang="en-US" sz="1333" dirty="0" err="1">
                <a:solidFill>
                  <a:srgbClr val="FF0000"/>
                </a:solidFill>
                <a:latin typeface="Times New Roman" panose="02020603050405020304" pitchFamily="18" charset="0"/>
                <a:cs typeface="Times New Roman" panose="02020603050405020304" pitchFamily="18" charset="0"/>
              </a:rPr>
              <a:t>vào</a:t>
            </a:r>
            <a:r>
              <a:rPr lang="en-US" sz="1333" dirty="0">
                <a:solidFill>
                  <a:srgbClr val="FF0000"/>
                </a:solidFill>
                <a:latin typeface="Times New Roman" panose="02020603050405020304" pitchFamily="18" charset="0"/>
                <a:cs typeface="Times New Roman" panose="02020603050405020304" pitchFamily="18" charset="0"/>
              </a:rPr>
              <a:t> T4/2025 </a:t>
            </a:r>
            <a:r>
              <a:rPr lang="en-US" sz="1333" dirty="0" err="1">
                <a:solidFill>
                  <a:srgbClr val="FF0000"/>
                </a:solidFill>
                <a:latin typeface="Times New Roman" panose="02020603050405020304" pitchFamily="18" charset="0"/>
                <a:cs typeface="Times New Roman" panose="02020603050405020304" pitchFamily="18" charset="0"/>
              </a:rPr>
              <a:t>để</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khai</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thác</a:t>
            </a:r>
            <a:r>
              <a:rPr lang="en-US" sz="1333" dirty="0">
                <a:solidFill>
                  <a:srgbClr val="FF0000"/>
                </a:solidFill>
                <a:latin typeface="Times New Roman" panose="02020603050405020304" pitchFamily="18" charset="0"/>
                <a:cs typeface="Times New Roman" panose="02020603050405020304" pitchFamily="18" charset="0"/>
              </a:rPr>
              <a:t> A868. </a:t>
            </a:r>
            <a:r>
              <a:rPr lang="en-US" sz="1333" dirty="0" err="1">
                <a:solidFill>
                  <a:srgbClr val="FF0000"/>
                </a:solidFill>
                <a:latin typeface="Times New Roman" panose="02020603050405020304" pitchFamily="18" charset="0"/>
                <a:cs typeface="Times New Roman" panose="02020603050405020304" pitchFamily="18" charset="0"/>
              </a:rPr>
              <a:t>Số</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lượng</a:t>
            </a:r>
            <a:r>
              <a:rPr lang="en-US" sz="1333" dirty="0">
                <a:solidFill>
                  <a:srgbClr val="FF0000"/>
                </a:solidFill>
                <a:latin typeface="Times New Roman" panose="02020603050405020304" pitchFamily="18" charset="0"/>
                <a:cs typeface="Times New Roman" panose="02020603050405020304" pitchFamily="18" charset="0"/>
              </a:rPr>
              <a:t> ĐCDP </a:t>
            </a:r>
            <a:r>
              <a:rPr lang="en-US" sz="1333" dirty="0" err="1">
                <a:solidFill>
                  <a:srgbClr val="FF0000"/>
                </a:solidFill>
                <a:latin typeface="Times New Roman" panose="02020603050405020304" pitchFamily="18" charset="0"/>
                <a:cs typeface="Times New Roman" panose="02020603050405020304" pitchFamily="18" charset="0"/>
              </a:rPr>
              <a:t>hiện</a:t>
            </a:r>
            <a:r>
              <a:rPr lang="en-US" sz="1333" dirty="0">
                <a:solidFill>
                  <a:srgbClr val="FF0000"/>
                </a:solidFill>
                <a:latin typeface="Times New Roman" panose="02020603050405020304" pitchFamily="18" charset="0"/>
                <a:cs typeface="Times New Roman" panose="02020603050405020304" pitchFamily="18" charset="0"/>
              </a:rPr>
              <a:t> </a:t>
            </a:r>
            <a:r>
              <a:rPr lang="en-US" sz="1333" dirty="0" err="1">
                <a:solidFill>
                  <a:srgbClr val="FF0000"/>
                </a:solidFill>
                <a:latin typeface="Times New Roman" panose="02020603050405020304" pitchFamily="18" charset="0"/>
                <a:cs typeface="Times New Roman" panose="02020603050405020304" pitchFamily="18" charset="0"/>
              </a:rPr>
              <a:t>tại</a:t>
            </a:r>
            <a:r>
              <a:rPr lang="en-US" sz="1333" dirty="0">
                <a:solidFill>
                  <a:srgbClr val="FF0000"/>
                </a:solidFill>
                <a:latin typeface="Times New Roman" panose="02020603050405020304" pitchFamily="18" charset="0"/>
                <a:cs typeface="Times New Roman" panose="02020603050405020304" pitchFamily="18" charset="0"/>
              </a:rPr>
              <a:t> 10 (ĐC </a:t>
            </a:r>
            <a:r>
              <a:rPr lang="en-US" sz="1333" dirty="0" err="1">
                <a:solidFill>
                  <a:srgbClr val="FF0000"/>
                </a:solidFill>
                <a:latin typeface="Times New Roman" panose="02020603050405020304" pitchFamily="18" charset="0"/>
                <a:cs typeface="Times New Roman" panose="02020603050405020304" pitchFamily="18" charset="0"/>
              </a:rPr>
              <a:t>thuê</a:t>
            </a:r>
            <a:r>
              <a:rPr lang="en-US" sz="1333" dirty="0">
                <a:solidFill>
                  <a:srgbClr val="FF0000"/>
                </a:solidFill>
                <a:latin typeface="Times New Roman" panose="02020603050405020304" pitchFamily="18" charset="0"/>
                <a:cs typeface="Times New Roman" panose="02020603050405020304" pitchFamily="18" charset="0"/>
              </a:rPr>
              <a:t> 06)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8539526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24</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T4-T6/2025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extLst/>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Thực</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tế</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đã</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phải</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bổ</a:t>
            </a:r>
            <a:r>
              <a:rPr lang="en-US" sz="1200" dirty="0">
                <a:solidFill>
                  <a:srgbClr val="FF0000"/>
                </a:solidFill>
                <a:latin typeface="Times New Roman" panose="02020603050405020304" pitchFamily="18" charset="0"/>
                <a:cs typeface="Times New Roman" panose="02020603050405020304" pitchFamily="18" charset="0"/>
              </a:rPr>
              <a:t> sung 01 ĐC </a:t>
            </a:r>
            <a:r>
              <a:rPr lang="en-US" sz="1200" dirty="0" err="1">
                <a:solidFill>
                  <a:srgbClr val="FF0000"/>
                </a:solidFill>
                <a:latin typeface="Times New Roman" panose="02020603050405020304" pitchFamily="18" charset="0"/>
                <a:cs typeface="Times New Roman" panose="02020603050405020304" pitchFamily="18" charset="0"/>
              </a:rPr>
              <a:t>vào</a:t>
            </a:r>
            <a:r>
              <a:rPr lang="en-US" sz="1200" dirty="0">
                <a:solidFill>
                  <a:srgbClr val="FF0000"/>
                </a:solidFill>
                <a:latin typeface="Times New Roman" panose="02020603050405020304" pitchFamily="18" charset="0"/>
                <a:cs typeface="Times New Roman" panose="02020603050405020304" pitchFamily="18" charset="0"/>
              </a:rPr>
              <a:t> T4/2025 </a:t>
            </a:r>
            <a:r>
              <a:rPr lang="en-US" sz="1200" dirty="0" err="1">
                <a:solidFill>
                  <a:srgbClr val="FF0000"/>
                </a:solidFill>
                <a:latin typeface="Times New Roman" panose="02020603050405020304" pitchFamily="18" charset="0"/>
                <a:cs typeface="Times New Roman" panose="02020603050405020304" pitchFamily="18" charset="0"/>
              </a:rPr>
              <a:t>để</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khai</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thác</a:t>
            </a:r>
            <a:r>
              <a:rPr lang="en-US" sz="1200" dirty="0">
                <a:solidFill>
                  <a:srgbClr val="FF0000"/>
                </a:solidFill>
                <a:latin typeface="Times New Roman" panose="02020603050405020304" pitchFamily="18" charset="0"/>
                <a:cs typeface="Times New Roman" panose="02020603050405020304" pitchFamily="18" charset="0"/>
              </a:rPr>
              <a:t> A868. </a:t>
            </a:r>
            <a:r>
              <a:rPr lang="en-US" sz="1200" dirty="0" err="1">
                <a:solidFill>
                  <a:srgbClr val="FF0000"/>
                </a:solidFill>
                <a:latin typeface="Times New Roman" panose="02020603050405020304" pitchFamily="18" charset="0"/>
                <a:cs typeface="Times New Roman" panose="02020603050405020304" pitchFamily="18" charset="0"/>
              </a:rPr>
              <a:t>Số</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lượng</a:t>
            </a:r>
            <a:r>
              <a:rPr lang="en-US" sz="1200" dirty="0">
                <a:solidFill>
                  <a:srgbClr val="FF0000"/>
                </a:solidFill>
                <a:latin typeface="Times New Roman" panose="02020603050405020304" pitchFamily="18" charset="0"/>
                <a:cs typeface="Times New Roman" panose="02020603050405020304" pitchFamily="18" charset="0"/>
              </a:rPr>
              <a:t> ĐCDP </a:t>
            </a:r>
            <a:r>
              <a:rPr lang="en-US" sz="1200" dirty="0" err="1">
                <a:solidFill>
                  <a:srgbClr val="FF0000"/>
                </a:solidFill>
                <a:latin typeface="Times New Roman" panose="02020603050405020304" pitchFamily="18" charset="0"/>
                <a:cs typeface="Times New Roman" panose="02020603050405020304" pitchFamily="18" charset="0"/>
              </a:rPr>
              <a:t>hiện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tại</a:t>
            </a:r>
            <a:r>
              <a:rPr lang="en-US" sz="1200" dirty="0">
                <a:solidFill>
                  <a:srgbClr val="FF0000"/>
                </a:solidFill>
                <a:latin typeface="Times New Roman" panose="02020603050405020304" pitchFamily="18" charset="0"/>
                <a:cs typeface="Times New Roman" panose="02020603050405020304" pitchFamily="18" charset="0"/>
              </a:rPr>
              <a:t> 10 (ĐC </a:t>
            </a:r>
            <a:r>
              <a:rPr lang="en-US" sz="1200" dirty="0" err="1">
                <a:solidFill>
                  <a:srgbClr val="FF0000"/>
                </a:solidFill>
                <a:latin typeface="Times New Roman" panose="02020603050405020304" pitchFamily="18" charset="0"/>
                <a:cs typeface="Times New Roman" panose="02020603050405020304" pitchFamily="18" charset="0"/>
              </a:rPr>
              <a:t>thuê</a:t>
            </a:r>
            <a:r>
              <a:rPr lang="en-US" sz="1200" dirty="0">
                <a:solidFill>
                  <a:srgbClr val="FF0000"/>
                </a:solidFill>
                <a:latin typeface="Times New Roman" panose="02020603050405020304" pitchFamily="18" charset="0"/>
                <a:cs typeface="Times New Roman" panose="02020603050405020304" pitchFamily="18" charset="0"/>
              </a:rPr>
              <a:t> 06)</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Rủi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tháo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c</a:t>
            </a:r>
            <a:r>
              <a:rPr lang="vi-VN" sz="1200" dirty="0">
                <a:solidFill>
                  <a:prstClr val="black"/>
                </a:solidFill>
                <a:latin typeface="Times New Roman" panose="02020603050405020304" pitchFamily="18" charset="0"/>
                <a:cs typeface="Times New Roman" panose="02020603050405020304" pitchFamily="18" charset="0"/>
              </a:rPr>
              <a:t>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ngoài</a:t>
            </a:r>
            <a:r>
              <a:rPr lang="en-US" sz="1200" dirty="0">
                <a:solidFill>
                  <a:prstClr val="black"/>
                </a:solidFill>
                <a:latin typeface="Times New Roman" panose="02020603050405020304" pitchFamily="18" charset="0"/>
                <a:cs typeface="Times New Roman" panose="02020603050405020304" pitchFamily="18" charset="0"/>
              </a:rPr>
              <a:t> KH do High oil consumption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A893), HPT Blade (2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100FC), IPC Blade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soi </a:t>
            </a:r>
            <a:r>
              <a:rPr lang="en-US" sz="1200" dirty="0" err="1">
                <a:solidFill>
                  <a:prstClr val="black"/>
                </a:solidFill>
                <a:latin typeface="Times New Roman" panose="02020603050405020304" pitchFamily="18" charset="0"/>
                <a:cs typeface="Times New Roman" panose="02020603050405020304" pitchFamily="18" charset="0"/>
              </a:rPr>
              <a:t>năm</a:t>
            </a:r>
            <a:r>
              <a:rPr lang="en-US" sz="1200" dirty="0">
                <a:solidFill>
                  <a:prstClr val="black"/>
                </a:solidFill>
                <a:latin typeface="Times New Roman" panose="02020603050405020304" pitchFamily="18" charset="0"/>
                <a:cs typeface="Times New Roman" panose="02020603050405020304" pitchFamily="18" charset="0"/>
              </a:rPr>
              <a:t> 2025)</a:t>
            </a:r>
            <a:endParaRPr lang="en-US" sz="1200" dirty="0">
              <a:latin typeface="Times New Roman" panose="02020603050405020304" pitchFamily="18" charset="0"/>
              <a:cs typeface="Times New Roman" panose="02020603050405020304" pitchFamily="18" charset="0"/>
            </a:endParaRP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25828756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dirty="0" err="1"/>
              <a:t>trên</a:t>
            </a:r>
            <a:r>
              <a:rPr lang="en-US" sz="1400" dirty="0"/>
              <a:t> A619</a:t>
            </a:r>
            <a:r>
              <a:rPr lang="vi-VN" sz="1400" dirty="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T7.</a:t>
            </a:r>
            <a:endParaRPr lang="en-US" sz="1400" dirty="0"/>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extLst/>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31789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extLst>
              <p:ext uri="{D42A27DB-BD31-4B8C-83A1-F6EECF244321}">
                <p14:modId xmlns:p14="http://schemas.microsoft.com/office/powerpoint/2010/main" val="1296457535"/>
              </p:ext>
            </p:extLst>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57768">
                  <a:extLst>
                    <a:ext uri="{9D8B030D-6E8A-4147-A177-3AD203B41FA5}">
                      <a16:colId xmlns:a16="http://schemas.microsoft.com/office/drawing/2014/main" val="3807119371"/>
                    </a:ext>
                  </a:extLst>
                </a:gridCol>
                <a:gridCol w="3571340">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22/04/2025</a:t>
                      </a:r>
                      <a:endParaRPr lang="en-GB" sz="1100" dirty="0">
                        <a:solidFill>
                          <a:schemeClr val="tx1"/>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rgbClr val="FF0000"/>
                          </a:solidFill>
                          <a:effectLst/>
                          <a:latin typeface="Times New Roman" panose="02020603050405020304" pitchFamily="18" charset="0"/>
                          <a:ea typeface="+mn-ea"/>
                          <a:cs typeface="Times New Roman" panose="02020603050405020304" pitchFamily="18" charset="0"/>
                        </a:rPr>
                        <a:t>02/05/2025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Delay 10 ngày so với KH. Động cơ đã test xong và gửi sang Collins để lắp QEC từ 30/03..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23/05/2025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2614763"/>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1877321"/>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6751762"/>
                  </a:ext>
                </a:extLst>
              </a:tr>
              <a:tr h="52361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P771079</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22/12/2025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518812"/>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99718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T4/25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extLst/>
          </p:nvPr>
        </p:nvGraphicFramePr>
        <p:xfrm>
          <a:off x="163789" y="1032931"/>
          <a:ext cx="11864421" cy="5393270"/>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614315">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099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a:t>
                      </a:r>
                      <a:r>
                        <a:rPr lang="en-US" sz="1200" b="0" i="0" u="none" strike="noStrike" kern="1200">
                          <a:solidFill>
                            <a:schemeClr val="tx1"/>
                          </a:solidFill>
                          <a:effectLst/>
                          <a:latin typeface="Calibri" panose="020F0502020204030204" pitchFamily="34" charset="0"/>
                          <a:ea typeface="+mn-ea"/>
                          <a:cs typeface="+mn-cs"/>
                          <a:sym typeface="Arial"/>
                        </a:rPr>
                        <a:t>94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53099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1022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53099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22-Apr-25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530995">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02-May-25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53099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53099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9-May-25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53099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53099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r h="530995">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P771177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9115696"/>
                  </a:ext>
                </a:extLst>
              </a:tr>
            </a:tbl>
          </a:graphicData>
        </a:graphic>
      </p:graphicFrame>
    </p:spTree>
    <p:extLst>
      <p:ext uri="{BB962C8B-B14F-4D97-AF65-F5344CB8AC3E}">
        <p14:creationId xmlns:p14="http://schemas.microsoft.com/office/powerpoint/2010/main" val="30599918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02/05/2025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09/05/2025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02/05)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19/05/2025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08/04/2025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04/04)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10/06/2025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14/05/2025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extLst/>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12-15/04/2025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15-17/05/2025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21-23/05/2025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19-21/06/2025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98339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712602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29</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29</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extLst/>
          </p:nvPr>
        </p:nvGraphicFramePr>
        <p:xfrm>
          <a:off x="6867117" y="491751"/>
          <a:ext cx="5236309" cy="354684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4038600"/>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956533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kiến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cuối</a:t>
            </a:r>
            <a:r>
              <a:rPr lang="en-US" sz="1467" dirty="0">
                <a:solidFill>
                  <a:schemeClr val="tx1"/>
                </a:solidFill>
                <a:latin typeface="Times New Roman" panose="02020603050405020304" pitchFamily="18" charset="0"/>
                <a:cs typeface="Times New Roman" panose="02020603050405020304" pitchFamily="18" charset="0"/>
              </a:rPr>
              <a:t> T4 </a:t>
            </a:r>
            <a:r>
              <a:rPr lang="en-US" sz="1467" dirty="0" err="1">
                <a:solidFill>
                  <a:schemeClr val="tx1"/>
                </a:solidFill>
                <a:latin typeface="Times New Roman" panose="02020603050405020304" pitchFamily="18" charset="0"/>
                <a:cs typeface="Times New Roman" panose="02020603050405020304" pitchFamily="18" charset="0"/>
              </a:rPr>
              <a:t>nhận</a:t>
            </a:r>
            <a:r>
              <a:rPr lang="en-US" sz="1467" dirty="0">
                <a:solidFill>
                  <a:schemeClr val="tx1"/>
                </a:solidFill>
                <a:latin typeface="Times New Roman" panose="02020603050405020304" pitchFamily="18" charset="0"/>
                <a:cs typeface="Times New Roman" panose="02020603050405020304" pitchFamily="18" charset="0"/>
              </a:rPr>
              <a:t> ở VN.</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956</a:t>
            </a:r>
            <a:r>
              <a:rPr lang="en-US" sz="1467" dirty="0">
                <a:solidFill>
                  <a:schemeClr val="tx1"/>
                </a:solidFill>
                <a:latin typeface="Times New Roman" panose="02020603050405020304" pitchFamily="18" charset="0"/>
                <a:cs typeface="Times New Roman" panose="02020603050405020304" pitchFamily="18" charset="0"/>
              </a:rPr>
              <a:t>769</a:t>
            </a:r>
            <a:r>
              <a:rPr lang="vi-VN" sz="1467" dirty="0">
                <a:solidFill>
                  <a:schemeClr val="tx1"/>
                </a:solidFill>
                <a:latin typeface="Times New Roman" panose="02020603050405020304" pitchFamily="18" charset="0"/>
                <a:cs typeface="Times New Roman" panose="02020603050405020304" pitchFamily="18" charset="0"/>
              </a:rPr>
              <a:t> (A86</a:t>
            </a:r>
            <a:r>
              <a:rPr lang="en-US" sz="1467" dirty="0">
                <a:solidFill>
                  <a:schemeClr val="tx1"/>
                </a:solidFill>
                <a:latin typeface="Times New Roman" panose="02020603050405020304" pitchFamily="18" charset="0"/>
                <a:cs typeface="Times New Roman" panose="02020603050405020304" pitchFamily="18" charset="0"/>
              </a:rPr>
              <a:t>8</a:t>
            </a:r>
            <a:r>
              <a:rPr lang="vi-VN" sz="1467" dirty="0">
                <a:solidFill>
                  <a:schemeClr val="tx1"/>
                </a:solidFill>
                <a:latin typeface="Times New Roman" panose="02020603050405020304" pitchFamily="18" charset="0"/>
                <a:cs typeface="Times New Roman" panose="02020603050405020304" pitchFamily="18" charset="0"/>
              </a:rPr>
              <a:t>) – </a:t>
            </a:r>
            <a:r>
              <a:rPr lang="en-US" sz="1467" dirty="0">
                <a:solidFill>
                  <a:schemeClr val="tx1"/>
                </a:solidFill>
                <a:latin typeface="Times New Roman" panose="02020603050405020304" pitchFamily="18" charset="0"/>
                <a:cs typeface="Times New Roman" panose="02020603050405020304" pitchFamily="18" charset="0"/>
              </a:rPr>
              <a:t>Remove in 25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07/04. ENG CHANGE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08 – 16/04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ĐC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956890.</a:t>
            </a:r>
          </a:p>
          <a:p>
            <a:pPr marL="548640" indent="-182880">
              <a:buFont typeface="Wingdings" panose="05000000000000000000" pitchFamily="2" charset="2"/>
              <a:buChar char="§"/>
              <a:defRPr/>
            </a:pPr>
            <a:r>
              <a:rPr lang="vi-VN" sz="1467" b="1" dirty="0">
                <a:solidFill>
                  <a:srgbClr val="ED0000"/>
                </a:solidFill>
                <a:latin typeface="Times New Roman" panose="02020603050405020304" pitchFamily="18" charset="0"/>
                <a:cs typeface="Times New Roman" panose="02020603050405020304" pitchFamily="18" charset="0"/>
              </a:rPr>
              <a:t>Remove in </a:t>
            </a:r>
            <a:r>
              <a:rPr lang="en-US" sz="1467" b="1" dirty="0">
                <a:solidFill>
                  <a:srgbClr val="ED0000"/>
                </a:solidFill>
                <a:latin typeface="Times New Roman" panose="02020603050405020304" pitchFamily="18" charset="0"/>
                <a:cs typeface="Times New Roman" panose="02020603050405020304" pitchFamily="18" charset="0"/>
              </a:rPr>
              <a:t>25</a:t>
            </a:r>
            <a:r>
              <a:rPr lang="vi-VN" sz="1467" b="1" dirty="0">
                <a:solidFill>
                  <a:srgbClr val="ED0000"/>
                </a:solidFill>
                <a:latin typeface="Times New Roman" panose="02020603050405020304" pitchFamily="18" charset="0"/>
                <a:cs typeface="Times New Roman" panose="02020603050405020304" pitchFamily="18" charset="0"/>
              </a:rPr>
              <a:t> cyc or reinspect</a:t>
            </a:r>
            <a:r>
              <a:rPr lang="en-US" sz="1467" b="1" dirty="0">
                <a:solidFill>
                  <a:srgbClr val="ED0000"/>
                </a:solidFill>
                <a:latin typeface="Times New Roman" panose="02020603050405020304" pitchFamily="18" charset="0"/>
                <a:cs typeface="Times New Roman" panose="02020603050405020304" pitchFamily="18" charset="0"/>
              </a:rPr>
              <a:t>: </a:t>
            </a:r>
            <a:r>
              <a:rPr lang="vi-VN" sz="1467" b="1" dirty="0">
                <a:solidFill>
                  <a:srgbClr val="ED0000"/>
                </a:solidFill>
                <a:latin typeface="Times New Roman" panose="02020603050405020304" pitchFamily="18" charset="0"/>
                <a:cs typeface="Times New Roman" panose="02020603050405020304" pitchFamily="18" charset="0"/>
              </a:rPr>
              <a:t>956913 (A871)</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vừa</a:t>
            </a:r>
            <a:r>
              <a:rPr lang="en-US" sz="1467" b="1" dirty="0">
                <a:solidFill>
                  <a:srgbClr val="ED0000"/>
                </a:solidFill>
                <a:latin typeface="Times New Roman" panose="02020603050405020304" pitchFamily="18" charset="0"/>
                <a:cs typeface="Times New Roman" panose="02020603050405020304" pitchFamily="18" charset="0"/>
              </a:rPr>
              <a:t> soi </a:t>
            </a:r>
            <a:r>
              <a:rPr lang="en-US" sz="1467" b="1" dirty="0" err="1">
                <a:solidFill>
                  <a:srgbClr val="ED0000"/>
                </a:solidFill>
                <a:latin typeface="Times New Roman" panose="02020603050405020304" pitchFamily="18" charset="0"/>
                <a:cs typeface="Times New Roman" panose="02020603050405020304" pitchFamily="18" charset="0"/>
              </a:rPr>
              <a:t>lại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err="1">
                <a:solidFill>
                  <a:srgbClr val="ED0000"/>
                </a:solidFill>
                <a:latin typeface="Times New Roman" panose="02020603050405020304" pitchFamily="18" charset="0"/>
                <a:cs typeface="Times New Roman" panose="02020603050405020304" pitchFamily="18" charset="0"/>
              </a:rPr>
              <a:t>ngày</a:t>
            </a:r>
            <a:r>
              <a:rPr lang="en-US" sz="1467" b="1">
                <a:solidFill>
                  <a:srgbClr val="ED0000"/>
                </a:solidFill>
                <a:latin typeface="Times New Roman" panose="02020603050405020304" pitchFamily="18" charset="0"/>
                <a:cs typeface="Times New Roman" panose="02020603050405020304" pitchFamily="18" charset="0"/>
              </a:rPr>
              <a:t> </a:t>
            </a:r>
            <a:r>
              <a:rPr lang="en-US" sz="1467" b="1" smtClean="0">
                <a:solidFill>
                  <a:srgbClr val="ED0000"/>
                </a:solidFill>
                <a:latin typeface="Times New Roman" panose="02020603050405020304" pitchFamily="18" charset="0"/>
                <a:cs typeface="Times New Roman" panose="02020603050405020304" pitchFamily="18" charset="0"/>
              </a:rPr>
              <a:t>11/4 </a:t>
            </a:r>
            <a:r>
              <a:rPr lang="en-US" sz="1467" b="1" dirty="0" err="1">
                <a:solidFill>
                  <a:srgbClr val="ED0000"/>
                </a:solidFill>
                <a:latin typeface="Times New Roman" panose="02020603050405020304" pitchFamily="18" charset="0"/>
                <a:cs typeface="Times New Roman" panose="02020603050405020304" pitchFamily="18" charset="0"/>
              </a:rPr>
              <a:t>tiếp</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tục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được</a:t>
            </a:r>
            <a:r>
              <a:rPr lang="en-US" sz="1467" b="1" dirty="0">
                <a:solidFill>
                  <a:srgbClr val="ED0000"/>
                </a:solidFill>
                <a:latin typeface="Times New Roman" panose="02020603050405020304" pitchFamily="18" charset="0"/>
                <a:cs typeface="Times New Roman" panose="02020603050405020304" pitchFamily="18" charset="0"/>
              </a:rPr>
              <a:t> GE </a:t>
            </a:r>
            <a:r>
              <a:rPr lang="en-US" sz="1467" b="1" dirty="0" err="1">
                <a:solidFill>
                  <a:srgbClr val="ED0000"/>
                </a:solidFill>
                <a:latin typeface="Times New Roman" panose="02020603050405020304" pitchFamily="18" charset="0"/>
                <a:cs typeface="Times New Roman" panose="02020603050405020304" pitchFamily="18" charset="0"/>
              </a:rPr>
              <a:t>cho</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khai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thác</a:t>
            </a:r>
            <a:r>
              <a:rPr lang="en-US" sz="1467" b="1" dirty="0">
                <a:solidFill>
                  <a:srgbClr val="ED0000"/>
                </a:solidFill>
                <a:latin typeface="Times New Roman" panose="02020603050405020304" pitchFamily="18" charset="0"/>
                <a:cs typeface="Times New Roman" panose="02020603050405020304" pitchFamily="18" charset="0"/>
              </a:rPr>
              <a:t> 25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và</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được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đánh</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giá</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lại</a:t>
            </a:r>
            <a:r>
              <a:rPr lang="en-US" sz="1467" b="1" dirty="0">
                <a:solidFill>
                  <a:srgbClr val="ED00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vi-VN" sz="1467" dirty="0">
                <a:solidFill>
                  <a:schemeClr val="tx1"/>
                </a:solidFill>
                <a:latin typeface="Times New Roman" panose="02020603050405020304" pitchFamily="18" charset="0"/>
                <a:cs typeface="Times New Roman" panose="02020603050405020304" pitchFamily="18" charset="0"/>
              </a:rPr>
              <a:t>958170 (A863)</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3</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a:solidFill>
                  <a:srgbClr val="ED0000"/>
                </a:solidFill>
                <a:latin typeface="Times New Roman" panose="02020603050405020304" pitchFamily="18" charset="0"/>
                <a:cs typeface="Times New Roman" panose="02020603050405020304" pitchFamily="18" charset="0"/>
              </a:rPr>
              <a:t>bao </a:t>
            </a:r>
            <a:r>
              <a:rPr lang="en-US" sz="1467" dirty="0" err="1">
                <a:solidFill>
                  <a:srgbClr val="ED0000"/>
                </a:solidFill>
                <a:latin typeface="Times New Roman" panose="02020603050405020304" pitchFamily="18" charset="0"/>
                <a:cs typeface="Times New Roman" panose="02020603050405020304" pitchFamily="18" charset="0"/>
              </a:rPr>
              <a:t>gồm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thuê</a:t>
            </a:r>
            <a:r>
              <a:rPr lang="en-US" sz="1467" dirty="0">
                <a:solidFill>
                  <a:srgbClr val="ED0000"/>
                </a:solidFill>
                <a:latin typeface="Times New Roman" panose="02020603050405020304" pitchFamily="18" charset="0"/>
                <a:cs typeface="Times New Roman" panose="02020603050405020304" pitchFamily="18" charset="0"/>
              </a:rPr>
              <a:t> 958266</a:t>
            </a:r>
            <a:r>
              <a:rPr lang="en-US" sz="1467" dirty="0">
                <a:solidFill>
                  <a:schemeClr val="tx1"/>
                </a:solidFill>
                <a:latin typeface="Times New Roman" panose="02020603050405020304" pitchFamily="18" charset="0"/>
                <a:cs typeface="Times New Roman" panose="02020603050405020304" pitchFamily="18" charset="0"/>
              </a:rPr>
              <a:t>)</a:t>
            </a:r>
            <a:r>
              <a:rPr lang="vi-VN" sz="1467" dirty="0">
                <a:solidFill>
                  <a:schemeClr val="tx1"/>
                </a:solidFill>
                <a:latin typeface="Times New Roman" panose="02020603050405020304" pitchFamily="18" charset="0"/>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1</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tàu</a:t>
            </a:r>
            <a:r>
              <a:rPr lang="en-US" sz="1467" b="1" dirty="0">
                <a:solidFill>
                  <a:srgbClr val="388600"/>
                </a:solidFill>
                <a:latin typeface="Times New Roman" panose="02020603050405020304" pitchFamily="18" charset="0"/>
                <a:cs typeface="Times New Roman" panose="02020603050405020304" pitchFamily="18" charset="0"/>
              </a:rPr>
              <a:t> A870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lắp</a:t>
            </a:r>
            <a:r>
              <a:rPr lang="en-US" sz="1467" b="1" dirty="0">
                <a:solidFill>
                  <a:srgbClr val="388600"/>
                </a:solidFill>
                <a:latin typeface="Times New Roman" panose="02020603050405020304" pitchFamily="18" charset="0"/>
                <a:cs typeface="Times New Roman" panose="02020603050405020304" pitchFamily="18" charset="0"/>
              </a:rPr>
              <a:t> 02 </a:t>
            </a:r>
            <a:r>
              <a:rPr lang="en-US" sz="1467" b="1" dirty="0" err="1">
                <a:solidFill>
                  <a:srgbClr val="388600"/>
                </a:solidFill>
                <a:latin typeface="Times New Roman" panose="02020603050405020304" pitchFamily="18" charset="0"/>
                <a:cs typeface="Times New Roman" panose="02020603050405020304" pitchFamily="18" charset="0"/>
              </a:rPr>
              <a:t>động</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cơ</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gốc</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để</a:t>
            </a:r>
            <a:r>
              <a:rPr lang="en-US" sz="1467" b="1"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A864/956577 </a:t>
            </a:r>
            <a:r>
              <a:rPr lang="en-US" sz="1467" dirty="0" err="1">
                <a:solidFill>
                  <a:srgbClr val="388600"/>
                </a:solidFill>
                <a:latin typeface="Times New Roman" panose="02020603050405020304" pitchFamily="18" charset="0"/>
                <a:cs typeface="Times New Roman" panose="02020603050405020304" pitchFamily="18" charset="0"/>
              </a:rPr>
              <a:t>từ</a:t>
            </a:r>
            <a:r>
              <a:rPr lang="en-US" sz="1467" dirty="0">
                <a:solidFill>
                  <a:srgbClr val="388600"/>
                </a:solidFill>
                <a:latin typeface="Times New Roman" panose="02020603050405020304" pitchFamily="18" charset="0"/>
                <a:cs typeface="Times New Roman" panose="02020603050405020304" pitchFamily="18" charset="0"/>
              </a:rPr>
              <a:t> </a:t>
            </a:r>
            <a:r>
              <a:rPr lang="en-US" sz="1467" b="1" dirty="0">
                <a:solidFill>
                  <a:srgbClr val="388600"/>
                </a:solidFill>
                <a:latin typeface="Times New Roman" panose="02020603050405020304" pitchFamily="18" charset="0"/>
                <a:cs typeface="Times New Roman" panose="02020603050405020304" pitchFamily="18" charset="0"/>
              </a:rPr>
              <a:t>14/03 - 04/04/2025</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sử</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dụng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956556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ENG SWAP 956697 </a:t>
            </a:r>
            <a:r>
              <a:rPr lang="en-US" sz="1467" dirty="0" err="1">
                <a:solidFill>
                  <a:srgbClr val="388600"/>
                </a:solidFill>
                <a:latin typeface="Times New Roman" panose="02020603050405020304" pitchFamily="18" charset="0"/>
                <a:cs typeface="Times New Roman" panose="02020603050405020304" pitchFamily="18" charset="0"/>
              </a:rPr>
              <a:t>với</a:t>
            </a:r>
            <a:r>
              <a:rPr lang="en-US" sz="1467" dirty="0">
                <a:solidFill>
                  <a:srgbClr val="388600"/>
                </a:solidFill>
                <a:latin typeface="Times New Roman" panose="02020603050405020304" pitchFamily="18" charset="0"/>
                <a:cs typeface="Times New Roman" panose="02020603050405020304" pitchFamily="18" charset="0"/>
              </a:rPr>
              <a:t> A867. A864 </a:t>
            </a:r>
            <a:r>
              <a:rPr lang="en-US" sz="1467" dirty="0" err="1">
                <a:solidFill>
                  <a:srgbClr val="388600"/>
                </a:solidFill>
                <a:latin typeface="Times New Roman" panose="02020603050405020304" pitchFamily="18" charset="0"/>
                <a:cs typeface="Times New Roman" panose="02020603050405020304" pitchFamily="18" charset="0"/>
              </a:rPr>
              <a:t>đã</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thay</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cả</a:t>
            </a:r>
            <a:r>
              <a:rPr lang="en-US" sz="1467" dirty="0">
                <a:solidFill>
                  <a:srgbClr val="388600"/>
                </a:solidFill>
                <a:latin typeface="Times New Roman" panose="02020603050405020304" pitchFamily="18" charset="0"/>
                <a:cs typeface="Times New Roman" panose="02020603050405020304" pitchFamily="18" charset="0"/>
              </a:rPr>
              <a:t> 2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accent6">
                    <a:lumMod val="75000"/>
                  </a:schemeClr>
                </a:solidFill>
                <a:latin typeface="Times New Roman" panose="02020603050405020304" pitchFamily="18" charset="0"/>
                <a:cs typeface="Times New Roman" panose="02020603050405020304" pitchFamily="18" charset="0"/>
              </a:rPr>
              <a:t> A864 </a:t>
            </a:r>
            <a:r>
              <a:rPr lang="en-US" sz="1467" dirty="0" err="1">
                <a:solidFill>
                  <a:schemeClr val="accent6">
                    <a:lumMod val="75000"/>
                  </a:schemeClr>
                </a:solidFill>
                <a:latin typeface="Times New Roman" panose="02020603050405020304" pitchFamily="18" charset="0"/>
                <a:cs typeface="Times New Roman" panose="02020603050405020304" pitchFamily="18" charset="0"/>
              </a:rPr>
              <a:t>trong</a:t>
            </a:r>
            <a:r>
              <a:rPr lang="en-US" sz="1467" dirty="0">
                <a:solidFill>
                  <a:schemeClr val="accent6">
                    <a:lumMod val="75000"/>
                  </a:schemeClr>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extLst/>
          </p:nvPr>
        </p:nvGraphicFramePr>
        <p:xfrm>
          <a:off x="88573" y="483330"/>
          <a:ext cx="6778543" cy="3555271"/>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924170">
                  <a:extLst>
                    <a:ext uri="{9D8B030D-6E8A-4147-A177-3AD203B41FA5}">
                      <a16:colId xmlns:a16="http://schemas.microsoft.com/office/drawing/2014/main" val="3803391337"/>
                    </a:ext>
                  </a:extLst>
                </a:gridCol>
                <a:gridCol w="1722414">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2487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03288">
                <a:tc>
                  <a:txBody>
                    <a:bodyPr/>
                    <a:lstStyle/>
                    <a:p>
                      <a:pPr algn="ctr" fontAlgn="ctr"/>
                      <a:r>
                        <a:rPr lang="en-US" sz="1200" b="0" u="none" strike="noStrike" dirty="0">
                          <a:solidFill>
                            <a:srgbClr val="C00000"/>
                          </a:solidFill>
                          <a:effectLst/>
                          <a:latin typeface="+mn-lt"/>
                        </a:rPr>
                        <a:t>956577</a:t>
                      </a:r>
                      <a:endParaRPr lang="en-US" sz="1200" b="0" i="0" u="none" strike="noStrike" dirty="0">
                        <a:solidFill>
                          <a:srgbClr val="C00000"/>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C00000"/>
                          </a:solidFill>
                          <a:effectLst/>
                          <a:latin typeface="+mn-lt"/>
                        </a:rPr>
                        <a:t>KLM</a:t>
                      </a:r>
                      <a:endParaRPr lang="en-US" sz="1200" b="0" i="0" u="none" strike="noStrike" dirty="0">
                        <a:solidFill>
                          <a:srgbClr val="C00000"/>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rgbClr val="C00000"/>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rgbClr val="C00000"/>
                          </a:solidFill>
                          <a:effectLst/>
                          <a:latin typeface="+mn-lt"/>
                        </a:rPr>
                        <a:t>Induction 24/06/2025</a:t>
                      </a:r>
                      <a:endParaRPr lang="en-US" sz="1200" u="none" strike="noStrike" dirty="0">
                        <a:solidFill>
                          <a:srgbClr val="C00000"/>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rgbClr val="C0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C0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15910">
                <a:tc>
                  <a:txBody>
                    <a:bodyPr/>
                    <a:lstStyle/>
                    <a:p>
                      <a:pPr algn="ctr" fontAlgn="ctr"/>
                      <a:r>
                        <a:rPr lang="en-US" sz="1200" b="0" i="0" u="none" strike="noStrike" dirty="0">
                          <a:solidFill>
                            <a:srgbClr val="C00000"/>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rgbClr val="C0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rgbClr val="C00000"/>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rgbClr val="C00000"/>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rgbClr val="C0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C0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396015">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23/04/2025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30/04/2025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rgbClr val="C00000"/>
                          </a:solidFill>
                          <a:effectLst/>
                          <a:latin typeface="+mn-lt"/>
                          <a:cs typeface="Times New Roman" panose="02020603050405020304" pitchFamily="18" charset="0"/>
                        </a:rPr>
                        <a:t>A871 (</a:t>
                      </a:r>
                      <a:r>
                        <a:rPr lang="en-US" sz="1200" b="0" i="0" u="none" strike="noStrike" dirty="0" err="1">
                          <a:solidFill>
                            <a:srgbClr val="C00000"/>
                          </a:solidFill>
                          <a:effectLst/>
                          <a:latin typeface="+mn-lt"/>
                          <a:cs typeface="Times New Roman" panose="02020603050405020304" pitchFamily="18" charset="0"/>
                        </a:rPr>
                        <a:t>dự</a:t>
                      </a:r>
                      <a:r>
                        <a:rPr lang="en-US" sz="1200" b="0" i="0" u="none" strike="noStrike" dirty="0">
                          <a:solidFill>
                            <a:srgbClr val="C00000"/>
                          </a:solidFill>
                          <a:effectLst/>
                          <a:latin typeface="+mn-lt"/>
                          <a:cs typeface="Times New Roman" panose="02020603050405020304" pitchFamily="18" charset="0"/>
                        </a:rPr>
                        <a:t> </a:t>
                      </a:r>
                      <a:r>
                        <a:rPr lang="en-US" sz="1200" b="0" i="0" u="none" strike="noStrike" dirty="0" err="1">
                          <a:solidFill>
                            <a:srgbClr val="C00000"/>
                          </a:solidFill>
                          <a:effectLst/>
                          <a:latin typeface="+mn-lt"/>
                          <a:cs typeface="Times New Roman" panose="02020603050405020304" pitchFamily="18" charset="0"/>
                        </a:rPr>
                        <a:t>kiến</a:t>
                      </a:r>
                      <a:r>
                        <a:rPr lang="en-US" sz="1200" b="0" i="0" u="none" strike="noStrike" dirty="0">
                          <a:solidFill>
                            <a:srgbClr val="C00000"/>
                          </a:solidFill>
                          <a:effectLst/>
                          <a:latin typeface="+mn-lt"/>
                          <a:cs typeface="Times New Roman" panose="02020603050405020304" pitchFamily="18" charset="0"/>
                        </a:rPr>
                        <a:t>)</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393375">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28/05/2025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04/06/2025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dirty="0">
                        <a:solidFill>
                          <a:srgbClr val="BA0000"/>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2487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19/06/2025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2487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Ngày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sửa</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xong</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có</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thể</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thay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đổi</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37753">
                <a:tc>
                  <a:txBody>
                    <a:bodyPr/>
                    <a:lstStyle/>
                    <a:p>
                      <a:pPr algn="ctr" fontAlgn="ctr"/>
                      <a:r>
                        <a:rPr lang="en-US" sz="1200" b="0" i="0" u="none" strike="noStrike" dirty="0">
                          <a:solidFill>
                            <a:srgbClr val="BA0000"/>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rgbClr val="BA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rgbClr val="BA0000"/>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rgbClr val="BA0000"/>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rgbClr val="BA0000"/>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405292">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09446">
                <a:tc>
                  <a:txBody>
                    <a:bodyPr/>
                    <a:lstStyle/>
                    <a:p>
                      <a:pPr algn="ctr" fontAlgn="ctr"/>
                      <a:r>
                        <a:rPr lang="en-US" sz="1200" b="0" i="0" u="none" strike="noStrike" dirty="0">
                          <a:solidFill>
                            <a:srgbClr val="BA0000"/>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rgbClr val="BA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rgbClr val="BA0000"/>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BA0000"/>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rgbClr val="BA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19567">
                <a:tc>
                  <a:txBody>
                    <a:bodyPr/>
                    <a:lstStyle/>
                    <a:p>
                      <a:pPr algn="ctr" fontAlgn="ctr"/>
                      <a:r>
                        <a:rPr lang="en-US" sz="1200" b="0" i="0" u="none" strike="noStrike" dirty="0">
                          <a:solidFill>
                            <a:srgbClr val="C00000"/>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C00000"/>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C00000"/>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C00000"/>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C00000"/>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C0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C0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80184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30</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30</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1" y="108819"/>
            <a:ext cx="11795396"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extLst/>
          </p:nvPr>
        </p:nvGraphicFramePr>
        <p:xfrm>
          <a:off x="59590" y="875397"/>
          <a:ext cx="5905159" cy="3543300"/>
        </p:xfrm>
        <a:graphic>
          <a:graphicData uri="http://schemas.openxmlformats.org/drawingml/2006/table">
            <a:tbl>
              <a:tblPr firstRow="1" bandRow="1">
                <a:tableStyleId>{5C22544A-7EE6-4342-B048-85BDC9FD1C3A}</a:tableStyleId>
              </a:tblPr>
              <a:tblGrid>
                <a:gridCol w="854810">
                  <a:extLst>
                    <a:ext uri="{9D8B030D-6E8A-4147-A177-3AD203B41FA5}">
                      <a16:colId xmlns:a16="http://schemas.microsoft.com/office/drawing/2014/main" val="1930757539"/>
                    </a:ext>
                  </a:extLst>
                </a:gridCol>
                <a:gridCol w="762000">
                  <a:extLst>
                    <a:ext uri="{9D8B030D-6E8A-4147-A177-3AD203B41FA5}">
                      <a16:colId xmlns:a16="http://schemas.microsoft.com/office/drawing/2014/main" val="1674463010"/>
                    </a:ext>
                  </a:extLst>
                </a:gridCol>
                <a:gridCol w="838200">
                  <a:extLst>
                    <a:ext uri="{9D8B030D-6E8A-4147-A177-3AD203B41FA5}">
                      <a16:colId xmlns:a16="http://schemas.microsoft.com/office/drawing/2014/main" val="1549944897"/>
                    </a:ext>
                  </a:extLst>
                </a:gridCol>
                <a:gridCol w="1905000">
                  <a:extLst>
                    <a:ext uri="{9D8B030D-6E8A-4147-A177-3AD203B41FA5}">
                      <a16:colId xmlns:a16="http://schemas.microsoft.com/office/drawing/2014/main" val="3687717734"/>
                    </a:ext>
                  </a:extLst>
                </a:gridCol>
                <a:gridCol w="1545149">
                  <a:extLst>
                    <a:ext uri="{9D8B030D-6E8A-4147-A177-3AD203B41FA5}">
                      <a16:colId xmlns:a16="http://schemas.microsoft.com/office/drawing/2014/main" val="4100307886"/>
                    </a:ext>
                  </a:extLst>
                </a:gridCol>
              </a:tblGrid>
              <a:tr h="17030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Induct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63976">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08/04/</a:t>
                      </a:r>
                      <a:r>
                        <a:rPr lang="vi-VN" sz="1200" b="0">
                          <a:solidFill>
                            <a:schemeClr val="tx1"/>
                          </a:solidFill>
                          <a:latin typeface="Times New Roman" panose="02020603050405020304" pitchFamily="18" charset="0"/>
                          <a:cs typeface="Times New Roman" panose="02020603050405020304" pitchFamily="18" charset="0"/>
                        </a:rPr>
                        <a:t>25</a:t>
                      </a:r>
                      <a:endParaRPr lang="en-US" sz="1200" b="0">
                        <a:solidFill>
                          <a:schemeClr val="tx1"/>
                        </a:solidFill>
                        <a:latin typeface="Times New Roman" panose="02020603050405020304" pitchFamily="18" charset="0"/>
                        <a:cs typeface="Times New Roman" panose="02020603050405020304" pitchFamily="18" charset="0"/>
                      </a:endParaRPr>
                    </a:p>
                    <a:p>
                      <a:r>
                        <a:rPr lang="en-US" sz="1100" b="0" i="0">
                          <a:solidFill>
                            <a:schemeClr val="tx1"/>
                          </a:solidFill>
                          <a:latin typeface="Times New Roman" panose="02020603050405020304" pitchFamily="18" charset="0"/>
                          <a:cs typeface="Times New Roman" panose="02020603050405020304" pitchFamily="18" charset="0"/>
                        </a:rPr>
                        <a:t>(Delay 37 ngày vs KH gốc)</a:t>
                      </a:r>
                      <a:endParaRPr lang="en-US" sz="1100" b="0" i="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a:t>
                      </a:r>
                      <a:r>
                        <a:rPr lang="en-US" sz="1200" b="0">
                          <a:solidFill>
                            <a:schemeClr val="tx1"/>
                          </a:solidFill>
                          <a:latin typeface="Times New Roman" panose="02020603050405020304" pitchFamily="18" charset="0"/>
                          <a:cs typeface="Times New Roman" panose="02020603050405020304" pitchFamily="18" charset="0"/>
                        </a:rPr>
                        <a:t>8/04/</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259718">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14/06/25</a:t>
                      </a:r>
                    </a:p>
                    <a:p>
                      <a:r>
                        <a:rPr lang="en-US" sz="1050" b="1">
                          <a:solidFill>
                            <a:srgbClr val="FF0000"/>
                          </a:solidFill>
                          <a:latin typeface="Times New Roman" panose="02020603050405020304" pitchFamily="18" charset="0"/>
                          <a:cs typeface="Times New Roman" panose="02020603050405020304" pitchFamily="18" charset="0"/>
                        </a:rPr>
                        <a:t>(+14 ngày so với KH gốc)</a:t>
                      </a:r>
                      <a:endParaRPr lang="en-US" sz="105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24/06/25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63976">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Times New Roman" panose="02020603050405020304" pitchFamily="18" charset="0"/>
                          <a:cs typeface="Times New Roman" panose="02020603050405020304" pitchFamily="18" charset="0"/>
                        </a:rPr>
                        <a:t>(+7 ngày so với KH gốc)</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70307">
                <a:tc>
                  <a:txBody>
                    <a:bodyPr/>
                    <a:lstStyle/>
                    <a:p>
                      <a:r>
                        <a:rPr lang="en-US" sz="1200" b="1" dirty="0">
                          <a:latin typeface="Times New Roman" panose="02020603050405020304" pitchFamily="18" charset="0"/>
                          <a:cs typeface="Times New Roman" panose="02020603050405020304" pitchFamily="18" charset="0"/>
                        </a:rPr>
                        <a:t>21422</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06/04/25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15/04/25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170307">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170307">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170307">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val="3135666374"/>
                  </a:ext>
                </a:extLst>
              </a:tr>
              <a:tr h="170307">
                <a:tc>
                  <a:txBody>
                    <a:bodyPr/>
                    <a:lstStyle/>
                    <a:p>
                      <a:r>
                        <a:rPr lang="en-US" sz="1200" b="1">
                          <a:latin typeface="Times New Roman" panose="02020603050405020304" pitchFamily="18" charset="0"/>
                          <a:cs typeface="Times New Roman" panose="02020603050405020304" pitchFamily="18" charset="0"/>
                        </a:rPr>
                        <a:t>21414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19/03/25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170307">
                <a:tc>
                  <a:txBody>
                    <a:bodyPr/>
                    <a:lstStyle/>
                    <a:p>
                      <a:r>
                        <a:rPr lang="en-US" sz="1200" b="1">
                          <a:latin typeface="Times New Roman" panose="02020603050405020304" pitchFamily="18" charset="0"/>
                          <a:cs typeface="Times New Roman" panose="02020603050405020304" pitchFamily="18" charset="0"/>
                        </a:rPr>
                        <a:t>21604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31/03/25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06/08/25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extLst/>
          </p:nvPr>
        </p:nvGraphicFramePr>
        <p:xfrm>
          <a:off x="37732" y="4998423"/>
          <a:ext cx="5879459" cy="18288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8525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17828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30/09/2025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17828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T8/2025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17828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17828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1927641313"/>
                  </a:ext>
                </a:extLst>
              </a:tr>
              <a:tr h="17828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Times New Roman" panose="02020603050405020304" pitchFamily="18" charset="0"/>
                          <a:cs typeface="Times New Roman" panose="02020603050405020304" pitchFamily="18" charset="0"/>
                        </a:rPr>
                        <a:t>Đã đến shop</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(09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228600" y="4532436"/>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a:solidFill>
                  <a:srgbClr val="002060"/>
                </a:solidFill>
                <a:latin typeface="Times New Roman" panose="02020603050405020304" pitchFamily="18" charset="0"/>
                <a:cs typeface="Times New Roman" panose="02020603050405020304" pitchFamily="18" charset="0"/>
              </a:rPr>
              <a:t>(05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553200" y="3471758"/>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extLst/>
          </p:nvPr>
        </p:nvGraphicFramePr>
        <p:xfrm>
          <a:off x="6274810" y="3962400"/>
          <a:ext cx="5808956" cy="2590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extLst/>
          </p:nvPr>
        </p:nvGraphicFramePr>
        <p:xfrm>
          <a:off x="6229534" y="907137"/>
          <a:ext cx="5625452" cy="26212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 (21024) đang đ</a:t>
                      </a:r>
                      <a:r>
                        <a:rPr lang="vi-VN" sz="1200">
                          <a:latin typeface="Times New Roman" panose="02020603050405020304" pitchFamily="18" charset="0"/>
                          <a:cs typeface="Times New Roman" panose="02020603050405020304" pitchFamily="18" charset="0"/>
                        </a:rPr>
                        <a:t>ư</a:t>
                      </a:r>
                      <a:r>
                        <a:rPr lang="en-US" sz="1200">
                          <a:latin typeface="Times New Roman" panose="02020603050405020304" pitchFamily="18" charset="0"/>
                          <a:cs typeface="Times New Roman" panose="02020603050405020304" pitchFamily="18" charset="0"/>
                        </a:rPr>
                        <a:t>ợc thay bằng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đi shop về (21422)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tháo do crack IPC 21268 (đã tiến hành soi lại theo SB revision mới và có thể bay tiếp ít nhất 100FC, sẽ thay bằng 21047 đi shop về tuy nhiên sẽ chờ FAA cấp AMOC để tiếp tục khai thác (tối đa 240FC đến hạn LPT). </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4270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E9C07DA6-E964-4FA0-BC5D-1A4F09D3658F}"/>
              </a:ext>
            </a:extLst>
          </p:cNvPr>
          <p:cNvSpPr/>
          <p:nvPr/>
        </p:nvSpPr>
        <p:spPr>
          <a:xfrm>
            <a:off x="308820" y="5734017"/>
            <a:ext cx="11553478" cy="1092607"/>
          </a:xfrm>
          <a:prstGeom prst="rect">
            <a:avLst/>
          </a:prstGeom>
          <a:solidFill>
            <a:srgbClr val="FFFF00"/>
          </a:solidFill>
          <a:ln>
            <a:solidFill>
              <a:schemeClr val="accent1"/>
            </a:solidFill>
          </a:ln>
        </p:spPr>
        <p:txBody>
          <a:bodyPr wrap="square">
            <a:spAutoFit/>
          </a:bodyPr>
          <a:lstStyle/>
          <a:p>
            <a:pPr algn="ctr"/>
            <a:r>
              <a:rPr lang="en-US" sz="1300" b="1" dirty="0">
                <a:latin typeface="Times New Roman" panose="02020603050405020304" pitchFamily="18" charset="0"/>
                <a:cs typeface="Times New Roman" panose="02020603050405020304" pitchFamily="18" charset="0"/>
              </a:rPr>
              <a:t>PH</a:t>
            </a:r>
            <a:r>
              <a:rPr lang="vi-VN" sz="1300" b="1" dirty="0">
                <a:latin typeface="Times New Roman" panose="02020603050405020304" pitchFamily="18" charset="0"/>
                <a:cs typeface="Times New Roman" panose="02020603050405020304" pitchFamily="18" charset="0"/>
              </a:rPr>
              <a:t>Ư</a:t>
            </a:r>
            <a:r>
              <a:rPr lang="en-US" sz="1300" b="1" dirty="0">
                <a:latin typeface="Times New Roman" panose="02020603050405020304" pitchFamily="18" charset="0"/>
                <a:cs typeface="Times New Roman" panose="02020603050405020304" pitchFamily="18" charset="0"/>
              </a:rPr>
              <a:t>ƠNG ÁN GIỮ GIỜ</a:t>
            </a:r>
          </a:p>
          <a:p>
            <a:pPr lvl="0"/>
            <a:r>
              <a:rPr lang="en-US"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Với</a:t>
            </a:r>
            <a:r>
              <a:rPr lang="en-GB" sz="1300" dirty="0">
                <a:latin typeface="Times New Roman" panose="02020603050405020304" pitchFamily="18" charset="0"/>
                <a:cs typeface="Times New Roman" panose="02020603050405020304" pitchFamily="18" charset="0"/>
              </a:rPr>
              <a:t> 21346 (</a:t>
            </a:r>
            <a:r>
              <a:rPr lang="en-GB" sz="1300" dirty="0" err="1">
                <a:latin typeface="Times New Roman" panose="02020603050405020304" pitchFamily="18" charset="0"/>
                <a:cs typeface="Times New Roman" panose="02020603050405020304" pitchFamily="18" charset="0"/>
              </a:rPr>
              <a:t>hết</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hạn</a:t>
            </a:r>
            <a:r>
              <a:rPr lang="en-GB" sz="1300" dirty="0">
                <a:latin typeface="Times New Roman" panose="02020603050405020304" pitchFamily="18" charset="0"/>
                <a:cs typeface="Times New Roman" panose="02020603050405020304" pitchFamily="18" charset="0"/>
              </a:rPr>
              <a:t> 14/06): </a:t>
            </a:r>
            <a:r>
              <a:rPr lang="en-GB" sz="1300" dirty="0" err="1">
                <a:latin typeface="Times New Roman" panose="02020603050405020304" pitchFamily="18" charset="0"/>
                <a:cs typeface="Times New Roman" panose="02020603050405020304" pitchFamily="18" charset="0"/>
              </a:rPr>
              <a:t>chờ</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động</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cơ</a:t>
            </a:r>
            <a:r>
              <a:rPr lang="en-GB" sz="1300" dirty="0">
                <a:latin typeface="Times New Roman" panose="02020603050405020304" pitchFamily="18" charset="0"/>
                <a:cs typeface="Times New Roman" panose="02020603050405020304" pitchFamily="18" charset="0"/>
              </a:rPr>
              <a:t> 21269 </a:t>
            </a:r>
            <a:r>
              <a:rPr lang="en-GB" sz="1300" dirty="0" err="1">
                <a:latin typeface="Times New Roman" panose="02020603050405020304" pitchFamily="18" charset="0"/>
                <a:cs typeface="Times New Roman" panose="02020603050405020304" pitchFamily="18" charset="0"/>
              </a:rPr>
              <a:t>đi</a:t>
            </a:r>
            <a:r>
              <a:rPr lang="en-GB" sz="1300" dirty="0">
                <a:latin typeface="Times New Roman" panose="02020603050405020304" pitchFamily="18" charset="0"/>
                <a:cs typeface="Times New Roman" panose="02020603050405020304" pitchFamily="18" charset="0"/>
              </a:rPr>
              <a:t> shop </a:t>
            </a:r>
            <a:r>
              <a:rPr lang="en-GB" sz="1300" dirty="0" err="1">
                <a:latin typeface="Times New Roman" panose="02020603050405020304" pitchFamily="18" charset="0"/>
                <a:cs typeface="Times New Roman" panose="02020603050405020304" pitchFamily="18" charset="0"/>
              </a:rPr>
              <a:t>về</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ngày</a:t>
            </a:r>
            <a:r>
              <a:rPr lang="en-GB" sz="1300" dirty="0">
                <a:latin typeface="Times New Roman" panose="02020603050405020304" pitchFamily="18" charset="0"/>
                <a:cs typeface="Times New Roman" panose="02020603050405020304" pitchFamily="18" charset="0"/>
              </a:rPr>
              <a:t> 24/03 </a:t>
            </a:r>
            <a:r>
              <a:rPr lang="en-GB" sz="1300" dirty="0" err="1">
                <a:latin typeface="Times New Roman" panose="02020603050405020304" pitchFamily="18" charset="0"/>
                <a:cs typeface="Times New Roman" panose="02020603050405020304" pitchFamily="18" charset="0"/>
              </a:rPr>
              <a:t>sẽ</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tháo</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động</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cơ</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này</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xuống</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giữ</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giờ</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đến</a:t>
            </a:r>
            <a:r>
              <a:rPr lang="en-GB" sz="1300" dirty="0">
                <a:latin typeface="Times New Roman" panose="02020603050405020304" pitchFamily="18" charset="0"/>
                <a:cs typeface="Times New Roman" panose="02020603050405020304" pitchFamily="18" charset="0"/>
              </a:rPr>
              <a:t> 10/5 </a:t>
            </a:r>
            <a:r>
              <a:rPr lang="en-GB" sz="1300" dirty="0" err="1">
                <a:latin typeface="Times New Roman" panose="02020603050405020304" pitchFamily="18" charset="0"/>
                <a:cs typeface="Times New Roman" panose="02020603050405020304" pitchFamily="18" charset="0"/>
              </a:rPr>
              <a:t>lắp</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lại</a:t>
            </a:r>
            <a:r>
              <a:rPr lang="en-GB" sz="1300" dirty="0">
                <a:latin typeface="Times New Roman" panose="02020603050405020304" pitchFamily="18" charset="0"/>
                <a:cs typeface="Times New Roman" panose="02020603050405020304" pitchFamily="18" charset="0"/>
              </a:rPr>
              <a:t> A899 (</a:t>
            </a:r>
            <a:r>
              <a:rPr lang="en-GB" sz="1300" dirty="0" err="1">
                <a:latin typeface="Times New Roman" panose="02020603050405020304" pitchFamily="18" charset="0"/>
                <a:cs typeface="Times New Roman" panose="02020603050405020304" pitchFamily="18" charset="0"/>
              </a:rPr>
              <a:t>tàu</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đang</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dừng</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làm</a:t>
            </a:r>
            <a:r>
              <a:rPr lang="en-GB" sz="1300" dirty="0">
                <a:latin typeface="Times New Roman" panose="02020603050405020304" pitchFamily="18" charset="0"/>
                <a:cs typeface="Times New Roman" panose="02020603050405020304" pitchFamily="18" charset="0"/>
              </a:rPr>
              <a:t> 6Y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sau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lắp</a:t>
            </a:r>
            <a:r>
              <a:rPr lang="en-US" sz="1300" dirty="0">
                <a:latin typeface="Times New Roman" panose="02020603050405020304" pitchFamily="18" charset="0"/>
                <a:cs typeface="Times New Roman" panose="02020603050405020304" pitchFamily="18" charset="0"/>
              </a:rPr>
              <a:t> A899 </a:t>
            </a:r>
            <a:r>
              <a:rPr lang="en-US" sz="1300" dirty="0" err="1">
                <a:latin typeface="Times New Roman" panose="02020603050405020304" pitchFamily="18" charset="0"/>
                <a:cs typeface="Times New Roman" panose="02020603050405020304" pitchFamily="18" charset="0"/>
              </a:rPr>
              <a:t>giữ</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thêm</a:t>
            </a:r>
            <a:r>
              <a:rPr lang="en-US" sz="1300" dirty="0">
                <a:latin typeface="Times New Roman" panose="02020603050405020304" pitchFamily="18" charset="0"/>
                <a:cs typeface="Times New Roman" panose="02020603050405020304" pitchFamily="18" charset="0"/>
              </a:rPr>
              <a:t> 10 </a:t>
            </a:r>
            <a:r>
              <a:rPr lang="en-US" sz="1300" dirty="0" err="1">
                <a:latin typeface="Times New Roman" panose="02020603050405020304" pitchFamily="18" charset="0"/>
                <a:cs typeface="Times New Roman" panose="02020603050405020304" pitchFamily="18" charset="0"/>
              </a:rPr>
              <a:t>ngày</a:t>
            </a:r>
            <a:r>
              <a:rPr lang="en-US" sz="1300" dirty="0">
                <a:latin typeface="Times New Roman" panose="02020603050405020304" pitchFamily="18" charset="0"/>
                <a:cs typeface="Times New Roman" panose="02020603050405020304" pitchFamily="18" charset="0"/>
              </a:rPr>
              <a:t>. </a:t>
            </a:r>
          </a:p>
          <a:p>
            <a:pPr lvl="0"/>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Với</a:t>
            </a:r>
            <a:r>
              <a:rPr lang="en-GB" sz="1300" dirty="0">
                <a:latin typeface="Times New Roman" panose="02020603050405020304" pitchFamily="18" charset="0"/>
                <a:cs typeface="Times New Roman" panose="02020603050405020304" pitchFamily="18" charset="0"/>
              </a:rPr>
              <a:t> 21418 (</a:t>
            </a:r>
            <a:r>
              <a:rPr lang="en-GB" sz="1300" dirty="0" err="1">
                <a:latin typeface="Times New Roman" panose="02020603050405020304" pitchFamily="18" charset="0"/>
                <a:cs typeface="Times New Roman" panose="02020603050405020304" pitchFamily="18" charset="0"/>
              </a:rPr>
              <a:t>hết</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hạn</a:t>
            </a:r>
            <a:r>
              <a:rPr lang="en-GB" sz="1300" dirty="0">
                <a:latin typeface="Times New Roman" panose="02020603050405020304" pitchFamily="18" charset="0"/>
                <a:cs typeface="Times New Roman" panose="02020603050405020304" pitchFamily="18" charset="0"/>
              </a:rPr>
              <a:t> 07/07): </a:t>
            </a:r>
            <a:r>
              <a:rPr lang="en-GB" sz="1300" dirty="0" err="1">
                <a:latin typeface="Times New Roman" panose="02020603050405020304" pitchFamily="18" charset="0"/>
                <a:cs typeface="Times New Roman" panose="02020603050405020304" pitchFamily="18" charset="0"/>
              </a:rPr>
              <a:t>Lắp</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trên</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tàu</a:t>
            </a:r>
            <a:r>
              <a:rPr lang="en-GB" sz="1300" dirty="0">
                <a:latin typeface="Times New Roman" panose="02020603050405020304" pitchFamily="18" charset="0"/>
                <a:cs typeface="Times New Roman" panose="02020603050405020304" pitchFamily="18" charset="0"/>
              </a:rPr>
              <a:t> A891 </a:t>
            </a:r>
            <a:r>
              <a:rPr lang="en-GB" sz="1300" dirty="0" err="1">
                <a:latin typeface="Times New Roman" panose="02020603050405020304" pitchFamily="18" charset="0"/>
                <a:cs typeface="Times New Roman" panose="02020603050405020304" pitchFamily="18" charset="0"/>
              </a:rPr>
              <a:t>làm</a:t>
            </a:r>
            <a:r>
              <a:rPr lang="en-GB" sz="1300" dirty="0">
                <a:latin typeface="Times New Roman" panose="02020603050405020304" pitchFamily="18" charset="0"/>
                <a:cs typeface="Times New Roman" panose="02020603050405020304" pitchFamily="18" charset="0"/>
              </a:rPr>
              <a:t> check </a:t>
            </a:r>
            <a:r>
              <a:rPr lang="en-GB" sz="1300" dirty="0" err="1">
                <a:latin typeface="Times New Roman" panose="02020603050405020304" pitchFamily="18" charset="0"/>
                <a:cs typeface="Times New Roman" panose="02020603050405020304" pitchFamily="18" charset="0"/>
              </a:rPr>
              <a:t>từ</a:t>
            </a:r>
            <a:r>
              <a:rPr lang="en-GB" sz="1300" dirty="0">
                <a:latin typeface="Times New Roman" panose="02020603050405020304" pitchFamily="18" charset="0"/>
                <a:cs typeface="Times New Roman" panose="02020603050405020304" pitchFamily="18" charset="0"/>
              </a:rPr>
              <a:t> 10/3 – 19/3; </a:t>
            </a:r>
            <a:r>
              <a:rPr lang="en-GB" sz="1300" dirty="0" err="1">
                <a:latin typeface="Times New Roman" panose="02020603050405020304" pitchFamily="18" charset="0"/>
                <a:cs typeface="Times New Roman" panose="02020603050405020304" pitchFamily="18" charset="0"/>
              </a:rPr>
              <a:t>từ</a:t>
            </a:r>
            <a:r>
              <a:rPr lang="en-GB" sz="1300" dirty="0">
                <a:latin typeface="Times New Roman" panose="02020603050405020304" pitchFamily="18" charset="0"/>
                <a:cs typeface="Times New Roman" panose="02020603050405020304" pitchFamily="18" charset="0"/>
              </a:rPr>
              <a:t> 16/04 – 10/05: </a:t>
            </a:r>
            <a:r>
              <a:rPr lang="en-GB" sz="1300" dirty="0" err="1">
                <a:latin typeface="Times New Roman" panose="02020603050405020304" pitchFamily="18" charset="0"/>
                <a:cs typeface="Times New Roman" panose="02020603050405020304" pitchFamily="18" charset="0"/>
              </a:rPr>
              <a:t>lắp</a:t>
            </a:r>
            <a:r>
              <a:rPr lang="en-GB" sz="1300" dirty="0">
                <a:latin typeface="Times New Roman" panose="02020603050405020304" pitchFamily="18" charset="0"/>
                <a:cs typeface="Times New Roman" panose="02020603050405020304" pitchFamily="18" charset="0"/>
              </a:rPr>
              <a:t> sang </a:t>
            </a:r>
            <a:r>
              <a:rPr lang="en-GB" sz="1300" dirty="0" err="1">
                <a:latin typeface="Times New Roman" panose="02020603050405020304" pitchFamily="18" charset="0"/>
                <a:cs typeface="Times New Roman" panose="02020603050405020304" pitchFamily="18" charset="0"/>
              </a:rPr>
              <a:t>tàu</a:t>
            </a:r>
            <a:r>
              <a:rPr lang="en-GB" sz="1300" dirty="0">
                <a:latin typeface="Times New Roman" panose="02020603050405020304" pitchFamily="18" charset="0"/>
                <a:cs typeface="Times New Roman" panose="02020603050405020304" pitchFamily="18" charset="0"/>
              </a:rPr>
              <a:t> A899 (</a:t>
            </a:r>
            <a:r>
              <a:rPr lang="en-GB" sz="1300" dirty="0" err="1">
                <a:latin typeface="Times New Roman" panose="02020603050405020304" pitchFamily="18" charset="0"/>
                <a:cs typeface="Times New Roman" panose="02020603050405020304" pitchFamily="18" charset="0"/>
              </a:rPr>
              <a:t>làm</a:t>
            </a:r>
            <a:r>
              <a:rPr lang="en-GB" sz="1300" dirty="0">
                <a:latin typeface="Times New Roman" panose="02020603050405020304" pitchFamily="18" charset="0"/>
                <a:cs typeface="Times New Roman" panose="02020603050405020304" pitchFamily="18" charset="0"/>
              </a:rPr>
              <a:t> 6Y) </a:t>
            </a:r>
            <a:r>
              <a:rPr lang="en-GB" sz="1300" dirty="0" err="1">
                <a:latin typeface="Times New Roman" panose="02020603050405020304" pitchFamily="18" charset="0"/>
                <a:cs typeface="Times New Roman" panose="02020603050405020304" pitchFamily="18" charset="0"/>
              </a:rPr>
              <a:t>giữ</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thêm</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được</a:t>
            </a:r>
            <a:r>
              <a:rPr lang="en-GB" sz="1300" dirty="0">
                <a:latin typeface="Times New Roman" panose="02020603050405020304" pitchFamily="18" charset="0"/>
                <a:cs typeface="Times New Roman" panose="02020603050405020304" pitchFamily="18" charset="0"/>
              </a:rPr>
              <a:t> 25 </a:t>
            </a:r>
            <a:r>
              <a:rPr lang="en-GB" sz="1300" dirty="0" err="1">
                <a:latin typeface="Times New Roman" panose="02020603050405020304" pitchFamily="18" charset="0"/>
                <a:cs typeface="Times New Roman" panose="02020603050405020304" pitchFamily="18" charset="0"/>
              </a:rPr>
              <a:t>ngày</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sau</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đó</a:t>
            </a:r>
            <a:r>
              <a:rPr lang="en-GB" sz="1300" dirty="0">
                <a:latin typeface="Times New Roman" panose="02020603050405020304" pitchFamily="18" charset="0"/>
                <a:cs typeface="Times New Roman" panose="02020603050405020304" pitchFamily="18" charset="0"/>
              </a:rPr>
              <a:t> A899 </a:t>
            </a:r>
            <a:r>
              <a:rPr lang="en-GB" sz="1300" dirty="0" err="1">
                <a:latin typeface="Times New Roman" panose="02020603050405020304" pitchFamily="18" charset="0"/>
                <a:cs typeface="Times New Roman" panose="02020603050405020304" pitchFamily="18" charset="0"/>
              </a:rPr>
              <a:t>chủ</a:t>
            </a:r>
            <a:r>
              <a:rPr lang="en-GB" sz="1300" dirty="0">
                <a:latin typeface="Times New Roman" panose="02020603050405020304" pitchFamily="18" charset="0"/>
                <a:cs typeface="Times New Roman" panose="02020603050405020304" pitchFamily="18" charset="0"/>
              </a:rPr>
              <a:t> </a:t>
            </a:r>
            <a:r>
              <a:rPr lang="en-GB" sz="1300" dirty="0" err="1">
                <a:latin typeface="Times New Roman" panose="02020603050405020304" pitchFamily="18" charset="0"/>
                <a:cs typeface="Times New Roman" panose="02020603050405020304" pitchFamily="18" charset="0"/>
              </a:rPr>
              <a:t>động</a:t>
            </a:r>
            <a:r>
              <a:rPr lang="en-GB" sz="1300" dirty="0">
                <a:latin typeface="Times New Roman" panose="02020603050405020304" pitchFamily="18" charset="0"/>
                <a:cs typeface="Times New Roman" panose="02020603050405020304" pitchFamily="18" charset="0"/>
              </a:rPr>
              <a:t> d</a:t>
            </a:r>
            <a:r>
              <a:rPr lang="en-US" sz="1300" dirty="0" err="1">
                <a:latin typeface="Times New Roman" panose="02020603050405020304" pitchFamily="18" charset="0"/>
                <a:cs typeface="Times New Roman" panose="02020603050405020304" pitchFamily="18" charset="0"/>
              </a:rPr>
              <a:t>ừng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thêm</a:t>
            </a:r>
            <a:r>
              <a:rPr lang="en-US" sz="1300" dirty="0">
                <a:latin typeface="Times New Roman" panose="02020603050405020304" pitchFamily="18" charset="0"/>
                <a:cs typeface="Times New Roman" panose="02020603050405020304" pitchFamily="18" charset="0"/>
              </a:rPr>
              <a:t> 10 </a:t>
            </a:r>
            <a:r>
              <a:rPr lang="en-US" sz="1300" dirty="0" err="1">
                <a:latin typeface="Times New Roman" panose="02020603050405020304" pitchFamily="18" charset="0"/>
                <a:cs typeface="Times New Roman" panose="02020603050405020304" pitchFamily="18" charset="0"/>
              </a:rPr>
              <a:t>ngày</a:t>
            </a:r>
            <a:r>
              <a:rPr lang="en-US" sz="1300" dirty="0">
                <a:latin typeface="Times New Roman" panose="02020603050405020304" pitchFamily="18" charset="0"/>
                <a:cs typeface="Times New Roman" panose="02020603050405020304" pitchFamily="18" charset="0"/>
              </a:rPr>
              <a:t>. </a:t>
            </a:r>
          </a:p>
        </p:txBody>
      </p:sp>
      <p:graphicFrame>
        <p:nvGraphicFramePr>
          <p:cNvPr id="5" name="Chart 4">
            <a:extLst>
              <a:ext uri="{FF2B5EF4-FFF2-40B4-BE49-F238E27FC236}">
                <a16:creationId xmlns:a16="http://schemas.microsoft.com/office/drawing/2014/main" id="{282059E6-27E7-472C-AEAC-06C1F6F9B2A2}"/>
              </a:ext>
            </a:extLst>
          </p:cNvPr>
          <p:cNvGraphicFramePr/>
          <p:nvPr>
            <p:extLst>
              <p:ext uri="{D42A27DB-BD31-4B8C-83A1-F6EECF244321}">
                <p14:modId xmlns:p14="http://schemas.microsoft.com/office/powerpoint/2010/main" val="2473284653"/>
              </p:ext>
            </p:extLst>
          </p:nvPr>
        </p:nvGraphicFramePr>
        <p:xfrm>
          <a:off x="295373" y="990600"/>
          <a:ext cx="11557960" cy="457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57593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32</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761999" y="5619078"/>
            <a:ext cx="10922823" cy="70788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extLst>
              <p:ext uri="{D42A27DB-BD31-4B8C-83A1-F6EECF244321}">
                <p14:modId xmlns:p14="http://schemas.microsoft.com/office/powerpoint/2010/main" val="1315857302"/>
              </p:ext>
            </p:extLst>
          </p:nvPr>
        </p:nvGraphicFramePr>
        <p:xfrm>
          <a:off x="761999" y="1103406"/>
          <a:ext cx="11091334"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711200" y="301368"/>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0944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661114" y="577539"/>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extLst>
              <p:ext uri="{D42A27DB-BD31-4B8C-83A1-F6EECF244321}">
                <p14:modId xmlns:p14="http://schemas.microsoft.com/office/powerpoint/2010/main" val="876023256"/>
              </p:ext>
            </p:extLst>
          </p:nvPr>
        </p:nvGraphicFramePr>
        <p:xfrm>
          <a:off x="685799" y="1134199"/>
          <a:ext cx="11065934" cy="3340178"/>
        </p:xfrm>
        <a:graphic>
          <a:graphicData uri="http://schemas.openxmlformats.org/drawingml/2006/table">
            <a:tbl>
              <a:tblPr firstRow="1" bandRow="1">
                <a:tableStyleId>{5C22544A-7EE6-4342-B048-85BDC9FD1C3A}</a:tableStyleId>
              </a:tblPr>
              <a:tblGrid>
                <a:gridCol w="514815">
                  <a:extLst>
                    <a:ext uri="{9D8B030D-6E8A-4147-A177-3AD203B41FA5}">
                      <a16:colId xmlns:a16="http://schemas.microsoft.com/office/drawing/2014/main" val="1598605427"/>
                    </a:ext>
                  </a:extLst>
                </a:gridCol>
                <a:gridCol w="1108188">
                  <a:extLst>
                    <a:ext uri="{9D8B030D-6E8A-4147-A177-3AD203B41FA5}">
                      <a16:colId xmlns:a16="http://schemas.microsoft.com/office/drawing/2014/main" val="3845954792"/>
                    </a:ext>
                  </a:extLst>
                </a:gridCol>
                <a:gridCol w="1254139">
                  <a:extLst>
                    <a:ext uri="{9D8B030D-6E8A-4147-A177-3AD203B41FA5}">
                      <a16:colId xmlns:a16="http://schemas.microsoft.com/office/drawing/2014/main" val="2148822928"/>
                    </a:ext>
                  </a:extLst>
                </a:gridCol>
                <a:gridCol w="1991868">
                  <a:extLst>
                    <a:ext uri="{9D8B030D-6E8A-4147-A177-3AD203B41FA5}">
                      <a16:colId xmlns:a16="http://schemas.microsoft.com/office/drawing/2014/main" val="2136763095"/>
                    </a:ext>
                  </a:extLst>
                </a:gridCol>
                <a:gridCol w="2065642">
                  <a:extLst>
                    <a:ext uri="{9D8B030D-6E8A-4147-A177-3AD203B41FA5}">
                      <a16:colId xmlns:a16="http://schemas.microsoft.com/office/drawing/2014/main" val="1185879436"/>
                    </a:ext>
                  </a:extLst>
                </a:gridCol>
                <a:gridCol w="1918095">
                  <a:extLst>
                    <a:ext uri="{9D8B030D-6E8A-4147-A177-3AD203B41FA5}">
                      <a16:colId xmlns:a16="http://schemas.microsoft.com/office/drawing/2014/main" val="3807119371"/>
                    </a:ext>
                  </a:extLst>
                </a:gridCol>
                <a:gridCol w="2213187">
                  <a:extLst>
                    <a:ext uri="{9D8B030D-6E8A-4147-A177-3AD203B41FA5}">
                      <a16:colId xmlns:a16="http://schemas.microsoft.com/office/drawing/2014/main" val="3735753066"/>
                    </a:ext>
                  </a:extLst>
                </a:gridCol>
              </a:tblGrid>
              <a:tr h="609998">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546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09/05/2025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7979002"/>
                  </a:ext>
                </a:extLst>
              </a:tr>
              <a:tr h="53546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7893171"/>
                  </a:ext>
                </a:extLst>
              </a:tr>
              <a:tr h="53546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4517888"/>
                  </a:ext>
                </a:extLst>
              </a:tr>
              <a:tr h="496410">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6132875"/>
                  </a:ext>
                </a:extLst>
              </a:tr>
              <a:tr h="496410">
                <a:tc>
                  <a:txBody>
                    <a:bodyPr/>
                    <a:lstStyle/>
                    <a:p>
                      <a:pPr algn="ctr"/>
                      <a:r>
                        <a:rPr lang="en-GB" sz="1500">
                          <a:latin typeface="Times New Roman" panose="02020603050405020304" pitchFamily="18" charset="0"/>
                          <a:cs typeface="Times New Roman" panose="02020603050405020304" pitchFamily="18" charset="0"/>
                        </a:rPr>
                        <a:t>5</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5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0655896"/>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661114" y="70540"/>
            <a:ext cx="1109061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685799" y="4557765"/>
            <a:ext cx="659056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685800" y="5093398"/>
            <a:ext cx="10887261" cy="1692771"/>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ED0214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39 FC) dự kiến gửi đi Shop trong T4/2025.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224828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09599" y="565752"/>
            <a:ext cx="11049001"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08/04/2025 – 13/04/2025: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A890, A602, A605.</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03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extLst>
              <p:ext uri="{D42A27DB-BD31-4B8C-83A1-F6EECF244321}">
                <p14:modId xmlns:p14="http://schemas.microsoft.com/office/powerpoint/2010/main" val="1200539640"/>
              </p:ext>
            </p:extLst>
          </p:nvPr>
        </p:nvGraphicFramePr>
        <p:xfrm>
          <a:off x="609599" y="1787548"/>
          <a:ext cx="11049001" cy="4841852"/>
        </p:xfrm>
        <a:graphic>
          <a:graphicData uri="http://schemas.openxmlformats.org/drawingml/2006/table">
            <a:tbl>
              <a:tblPr firstRow="1" firstCol="1" bandRow="1">
                <a:tableStyleId>{5C22544A-7EE6-4342-B048-85BDC9FD1C3A}</a:tableStyleId>
              </a:tblPr>
              <a:tblGrid>
                <a:gridCol w="582753">
                  <a:extLst>
                    <a:ext uri="{9D8B030D-6E8A-4147-A177-3AD203B41FA5}">
                      <a16:colId xmlns:a16="http://schemas.microsoft.com/office/drawing/2014/main" val="1827702162"/>
                    </a:ext>
                  </a:extLst>
                </a:gridCol>
                <a:gridCol w="1572534">
                  <a:extLst>
                    <a:ext uri="{9D8B030D-6E8A-4147-A177-3AD203B41FA5}">
                      <a16:colId xmlns:a16="http://schemas.microsoft.com/office/drawing/2014/main" val="2395768341"/>
                    </a:ext>
                  </a:extLst>
                </a:gridCol>
                <a:gridCol w="3678574">
                  <a:extLst>
                    <a:ext uri="{9D8B030D-6E8A-4147-A177-3AD203B41FA5}">
                      <a16:colId xmlns:a16="http://schemas.microsoft.com/office/drawing/2014/main" val="4155011410"/>
                    </a:ext>
                  </a:extLst>
                </a:gridCol>
                <a:gridCol w="5215140">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10/04. KH T/S SGN 12/04.</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GEN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09/04. KH T/S SGN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12/04.</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08/04. NSX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nhiều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mạt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loại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21/05.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457200" y="11054"/>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285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extLst>
              <p:ext uri="{D42A27DB-BD31-4B8C-83A1-F6EECF244321}">
                <p14:modId xmlns:p14="http://schemas.microsoft.com/office/powerpoint/2010/main" val="845735059"/>
              </p:ext>
            </p:extLst>
          </p:nvPr>
        </p:nvGraphicFramePr>
        <p:xfrm>
          <a:off x="548320" y="708583"/>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22730">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05-May-25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21-May-25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A890</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09-Jun-25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28169" y="5334000"/>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508019" y="1"/>
            <a:ext cx="11209848"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0594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sp>
        <p:nvSpPr>
          <p:cNvPr id="5" name="Shape 1">
            <a:extLst>
              <a:ext uri="{FF2B5EF4-FFF2-40B4-BE49-F238E27FC236}">
                <a16:creationId xmlns:a16="http://schemas.microsoft.com/office/drawing/2014/main" id="{061872D6-EDBD-4190-BDFB-9DA18AF9597A}"/>
              </a:ext>
            </a:extLst>
          </p:cNvPr>
          <p:cNvSpPr/>
          <p:nvPr/>
        </p:nvSpPr>
        <p:spPr>
          <a:xfrm>
            <a:off x="6086475" y="1197273"/>
            <a:ext cx="19050" cy="3491309"/>
          </a:xfrm>
          <a:prstGeom prst="roundRect">
            <a:avLst>
              <a:gd name="adj" fmla="val 335246"/>
            </a:avLst>
          </a:prstGeom>
          <a:solidFill>
            <a:srgbClr val="C7C7D0"/>
          </a:solidFill>
          <a:ln/>
        </p:spPr>
      </p:sp>
      <p:sp>
        <p:nvSpPr>
          <p:cNvPr id="6" name="Shape 2">
            <a:extLst>
              <a:ext uri="{FF2B5EF4-FFF2-40B4-BE49-F238E27FC236}">
                <a16:creationId xmlns:a16="http://schemas.microsoft.com/office/drawing/2014/main" id="{850974DE-B662-424D-8AF2-8D84D170B0DC}"/>
              </a:ext>
            </a:extLst>
          </p:cNvPr>
          <p:cNvSpPr/>
          <p:nvPr/>
        </p:nvSpPr>
        <p:spPr>
          <a:xfrm>
            <a:off x="5487889" y="1529854"/>
            <a:ext cx="456108" cy="19050"/>
          </a:xfrm>
          <a:prstGeom prst="roundRect">
            <a:avLst>
              <a:gd name="adj" fmla="val 335246"/>
            </a:avLst>
          </a:prstGeom>
          <a:solidFill>
            <a:srgbClr val="C7C7D0"/>
          </a:solidFill>
          <a:ln/>
        </p:spPr>
      </p:sp>
      <p:sp>
        <p:nvSpPr>
          <p:cNvPr id="7" name="Shape 3">
            <a:extLst>
              <a:ext uri="{FF2B5EF4-FFF2-40B4-BE49-F238E27FC236}">
                <a16:creationId xmlns:a16="http://schemas.microsoft.com/office/drawing/2014/main" id="{0023C905-2C69-4151-93FD-2F8F9DCE45DF}"/>
              </a:ext>
            </a:extLst>
          </p:cNvPr>
          <p:cNvSpPr/>
          <p:nvPr/>
        </p:nvSpPr>
        <p:spPr>
          <a:xfrm>
            <a:off x="5924947" y="1368326"/>
            <a:ext cx="342107" cy="342106"/>
          </a:xfrm>
          <a:prstGeom prst="roundRect">
            <a:avLst>
              <a:gd name="adj" fmla="val 18668"/>
            </a:avLst>
          </a:prstGeom>
          <a:solidFill>
            <a:srgbClr val="E1E1EA"/>
          </a:solidFill>
          <a:ln w="7620">
            <a:solidFill>
              <a:srgbClr val="C7C7D0"/>
            </a:solidFill>
            <a:prstDash val="solid"/>
          </a:ln>
        </p:spPr>
      </p:sp>
      <p:sp>
        <p:nvSpPr>
          <p:cNvPr id="8" name="Text 4">
            <a:extLst>
              <a:ext uri="{FF2B5EF4-FFF2-40B4-BE49-F238E27FC236}">
                <a16:creationId xmlns:a16="http://schemas.microsoft.com/office/drawing/2014/main" id="{C63EDA10-789F-4C9B-B334-2657D8327253}"/>
              </a:ext>
            </a:extLst>
          </p:cNvPr>
          <p:cNvSpPr/>
          <p:nvPr/>
        </p:nvSpPr>
        <p:spPr>
          <a:xfrm>
            <a:off x="5981998" y="1396851"/>
            <a:ext cx="228005" cy="285056"/>
          </a:xfrm>
          <a:prstGeom prst="rect">
            <a:avLst/>
          </a:prstGeom>
          <a:noFill/>
          <a:ln/>
        </p:spPr>
        <p:txBody>
          <a:bodyPr wrap="none" lIns="0" tIns="0" rIns="0" bIns="0" rtlCol="0" anchor="t"/>
          <a:lstStyle/>
          <a:p>
            <a:pPr algn="ctr">
              <a:lnSpc>
                <a:spcPts val="1792"/>
              </a:lnSpc>
            </a:pPr>
            <a:r>
              <a:rPr lang="en-US" sz="1792" dirty="0">
                <a:solidFill>
                  <a:srgbClr val="3C3939"/>
                </a:solidFill>
                <a:latin typeface="Raleway" pitchFamily="34" charset="0"/>
                <a:ea typeface="Raleway" pitchFamily="34" charset="-122"/>
                <a:cs typeface="Raleway" pitchFamily="34" charset="-120"/>
              </a:rPr>
              <a:t>1</a:t>
            </a:r>
            <a:endParaRPr lang="en-US" sz="1792" dirty="0"/>
          </a:p>
        </p:txBody>
      </p:sp>
      <p:sp>
        <p:nvSpPr>
          <p:cNvPr id="9" name="Text 5">
            <a:extLst>
              <a:ext uri="{FF2B5EF4-FFF2-40B4-BE49-F238E27FC236}">
                <a16:creationId xmlns:a16="http://schemas.microsoft.com/office/drawing/2014/main" id="{FA2D386E-7349-4B87-BA8C-1DCAB4439E86}"/>
              </a:ext>
            </a:extLst>
          </p:cNvPr>
          <p:cNvSpPr/>
          <p:nvPr/>
        </p:nvSpPr>
        <p:spPr>
          <a:xfrm>
            <a:off x="3435152" y="1349276"/>
            <a:ext cx="1900634" cy="237629"/>
          </a:xfrm>
          <a:prstGeom prst="rect">
            <a:avLst/>
          </a:prstGeom>
          <a:noFill/>
          <a:ln/>
        </p:spPr>
        <p:txBody>
          <a:bodyPr wrap="none" lIns="0" tIns="0" rIns="0" bIns="0" rtlCol="0" anchor="t"/>
          <a:lstStyle/>
          <a:p>
            <a:pPr algn="r">
              <a:lnSpc>
                <a:spcPts val="1833"/>
              </a:lnSpc>
            </a:pPr>
            <a:r>
              <a:rPr lang="en-US" sz="1458" b="1"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19/03/2025</a:t>
            </a:r>
          </a:p>
        </p:txBody>
      </p:sp>
      <p:sp>
        <p:nvSpPr>
          <p:cNvPr id="10" name="Text 6">
            <a:extLst>
              <a:ext uri="{FF2B5EF4-FFF2-40B4-BE49-F238E27FC236}">
                <a16:creationId xmlns:a16="http://schemas.microsoft.com/office/drawing/2014/main" id="{DC32CDD7-14B9-47CD-B8BB-0A297D217475}"/>
              </a:ext>
            </a:extLst>
          </p:cNvPr>
          <p:cNvSpPr/>
          <p:nvPr/>
        </p:nvSpPr>
        <p:spPr>
          <a:xfrm>
            <a:off x="532110" y="1678087"/>
            <a:ext cx="4803676" cy="486569"/>
          </a:xfrm>
          <a:prstGeom prst="rect">
            <a:avLst/>
          </a:prstGeom>
          <a:noFill/>
          <a:ln/>
        </p:spPr>
        <p:txBody>
          <a:bodyPr wrap="square" lIns="0" tIns="0" rIns="0" bIns="0" rtlCol="0" anchor="t"/>
          <a:lstStyle/>
          <a:p>
            <a:pPr algn="r">
              <a:lnSpc>
                <a:spcPts val="1875"/>
              </a:lnSpc>
            </a:pPr>
            <a:r>
              <a:rPr lang="en-US" sz="1300"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Chuyến bay VN8055 (SGN-VCS) gặp hiện tượng "bounce" khi hạ cánh. Tổ bay không ghi nhận sự cố vào sổ Techlog</a:t>
            </a:r>
            <a:r>
              <a:rPr lang="en-US" sz="1167" dirty="0">
                <a:solidFill>
                  <a:srgbClr val="3C3939"/>
                </a:solidFill>
                <a:latin typeface="Times New Roman" panose="02020603050405020304" pitchFamily="18" charset="0"/>
                <a:ea typeface="Roboto" pitchFamily="34" charset="-122"/>
                <a:cs typeface="Times New Roman" panose="02020603050405020304" pitchFamily="18" charset="0"/>
              </a:rPr>
              <a:t>.</a:t>
            </a:r>
            <a:endParaRPr lang="en-US" sz="1167" dirty="0">
              <a:latin typeface="Times New Roman" panose="02020603050405020304" pitchFamily="18" charset="0"/>
              <a:cs typeface="Times New Roman" panose="02020603050405020304" pitchFamily="18" charset="0"/>
            </a:endParaRPr>
          </a:p>
        </p:txBody>
      </p:sp>
      <p:sp>
        <p:nvSpPr>
          <p:cNvPr id="11" name="Shape 7">
            <a:extLst>
              <a:ext uri="{FF2B5EF4-FFF2-40B4-BE49-F238E27FC236}">
                <a16:creationId xmlns:a16="http://schemas.microsoft.com/office/drawing/2014/main" id="{6D7D1787-5B2C-40A6-A770-C50AB8B758F4}"/>
              </a:ext>
            </a:extLst>
          </p:cNvPr>
          <p:cNvSpPr/>
          <p:nvPr/>
        </p:nvSpPr>
        <p:spPr>
          <a:xfrm>
            <a:off x="6248004" y="2290068"/>
            <a:ext cx="456108" cy="19050"/>
          </a:xfrm>
          <a:prstGeom prst="roundRect">
            <a:avLst>
              <a:gd name="adj" fmla="val 335246"/>
            </a:avLst>
          </a:prstGeom>
          <a:solidFill>
            <a:srgbClr val="C7C7D0"/>
          </a:solidFill>
          <a:ln/>
        </p:spPr>
      </p:sp>
      <p:sp>
        <p:nvSpPr>
          <p:cNvPr id="12" name="Shape 8">
            <a:extLst>
              <a:ext uri="{FF2B5EF4-FFF2-40B4-BE49-F238E27FC236}">
                <a16:creationId xmlns:a16="http://schemas.microsoft.com/office/drawing/2014/main" id="{4019A32C-1BDF-4521-BB46-E0C248CC9CDB}"/>
              </a:ext>
            </a:extLst>
          </p:cNvPr>
          <p:cNvSpPr/>
          <p:nvPr/>
        </p:nvSpPr>
        <p:spPr>
          <a:xfrm>
            <a:off x="5924947" y="2128540"/>
            <a:ext cx="342107" cy="342106"/>
          </a:xfrm>
          <a:prstGeom prst="roundRect">
            <a:avLst>
              <a:gd name="adj" fmla="val 18668"/>
            </a:avLst>
          </a:prstGeom>
          <a:solidFill>
            <a:srgbClr val="E1E1EA"/>
          </a:solidFill>
          <a:ln w="7620">
            <a:solidFill>
              <a:srgbClr val="C7C7D0"/>
            </a:solidFill>
            <a:prstDash val="solid"/>
          </a:ln>
        </p:spPr>
      </p:sp>
      <p:sp>
        <p:nvSpPr>
          <p:cNvPr id="13" name="Text 9">
            <a:extLst>
              <a:ext uri="{FF2B5EF4-FFF2-40B4-BE49-F238E27FC236}">
                <a16:creationId xmlns:a16="http://schemas.microsoft.com/office/drawing/2014/main" id="{B03B1B52-141D-40C8-8107-C4384B581399}"/>
              </a:ext>
            </a:extLst>
          </p:cNvPr>
          <p:cNvSpPr/>
          <p:nvPr/>
        </p:nvSpPr>
        <p:spPr>
          <a:xfrm>
            <a:off x="5981998" y="2157065"/>
            <a:ext cx="228005" cy="285056"/>
          </a:xfrm>
          <a:prstGeom prst="rect">
            <a:avLst/>
          </a:prstGeom>
          <a:noFill/>
          <a:ln/>
        </p:spPr>
        <p:txBody>
          <a:bodyPr wrap="none" lIns="0" tIns="0" rIns="0" bIns="0" rtlCol="0" anchor="t"/>
          <a:lstStyle/>
          <a:p>
            <a:pPr algn="ctr">
              <a:lnSpc>
                <a:spcPts val="1792"/>
              </a:lnSpc>
            </a:pPr>
            <a:r>
              <a:rPr lang="en-US" sz="1792" dirty="0">
                <a:solidFill>
                  <a:srgbClr val="3C3939"/>
                </a:solidFill>
                <a:latin typeface="Raleway" pitchFamily="34" charset="0"/>
                <a:ea typeface="Raleway" pitchFamily="34" charset="-122"/>
                <a:cs typeface="Raleway" pitchFamily="34" charset="-120"/>
              </a:rPr>
              <a:t>2</a:t>
            </a:r>
            <a:endParaRPr lang="en-US" sz="1792" dirty="0"/>
          </a:p>
        </p:txBody>
      </p:sp>
      <p:sp>
        <p:nvSpPr>
          <p:cNvPr id="14" name="Text 10">
            <a:extLst>
              <a:ext uri="{FF2B5EF4-FFF2-40B4-BE49-F238E27FC236}">
                <a16:creationId xmlns:a16="http://schemas.microsoft.com/office/drawing/2014/main" id="{42E2F1BB-A132-4DD5-8A9F-B6CC5AB16698}"/>
              </a:ext>
            </a:extLst>
          </p:cNvPr>
          <p:cNvSpPr/>
          <p:nvPr/>
        </p:nvSpPr>
        <p:spPr>
          <a:xfrm>
            <a:off x="6856215" y="2109491"/>
            <a:ext cx="1900634" cy="237629"/>
          </a:xfrm>
          <a:prstGeom prst="rect">
            <a:avLst/>
          </a:prstGeom>
          <a:noFill/>
          <a:ln/>
        </p:spPr>
        <p:txBody>
          <a:bodyPr wrap="none" lIns="0" tIns="0" rIns="0" bIns="0" rtlCol="0" anchor="t"/>
          <a:lstStyle/>
          <a:p>
            <a:pPr>
              <a:lnSpc>
                <a:spcPts val="1833"/>
              </a:lnSpc>
            </a:pPr>
            <a:r>
              <a:rPr lang="en-US" sz="1458" b="1"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23/03/2025</a:t>
            </a:r>
          </a:p>
        </p:txBody>
      </p:sp>
      <p:sp>
        <p:nvSpPr>
          <p:cNvPr id="15" name="Text 11">
            <a:extLst>
              <a:ext uri="{FF2B5EF4-FFF2-40B4-BE49-F238E27FC236}">
                <a16:creationId xmlns:a16="http://schemas.microsoft.com/office/drawing/2014/main" id="{407E2B0C-C3A2-4DC6-AA6A-929DF52726F9}"/>
              </a:ext>
            </a:extLst>
          </p:cNvPr>
          <p:cNvSpPr/>
          <p:nvPr/>
        </p:nvSpPr>
        <p:spPr>
          <a:xfrm>
            <a:off x="6856215" y="2438301"/>
            <a:ext cx="4803676" cy="486569"/>
          </a:xfrm>
          <a:prstGeom prst="rect">
            <a:avLst/>
          </a:prstGeom>
          <a:noFill/>
          <a:ln/>
        </p:spPr>
        <p:txBody>
          <a:bodyPr wrap="square" lIns="0" tIns="0" rIns="0" bIns="0" rtlCol="0" anchor="t"/>
          <a:lstStyle/>
          <a:p>
            <a:pPr>
              <a:lnSpc>
                <a:spcPts val="1875"/>
              </a:lnSpc>
            </a:pPr>
            <a:r>
              <a:rPr lang="en-US" sz="1300"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VAECO gửi QAR cho SQD phân tích sự cố "ATPCS" và phát hiện tàu bay bị Hard landing với VRTG = 2.821.</a:t>
            </a:r>
          </a:p>
        </p:txBody>
      </p:sp>
      <p:sp>
        <p:nvSpPr>
          <p:cNvPr id="16" name="Shape 12">
            <a:extLst>
              <a:ext uri="{FF2B5EF4-FFF2-40B4-BE49-F238E27FC236}">
                <a16:creationId xmlns:a16="http://schemas.microsoft.com/office/drawing/2014/main" id="{7BA4CB51-B047-4B52-B942-EC5577C7A095}"/>
              </a:ext>
            </a:extLst>
          </p:cNvPr>
          <p:cNvSpPr/>
          <p:nvPr/>
        </p:nvSpPr>
        <p:spPr>
          <a:xfrm>
            <a:off x="5487889" y="2974281"/>
            <a:ext cx="456108" cy="19050"/>
          </a:xfrm>
          <a:prstGeom prst="roundRect">
            <a:avLst>
              <a:gd name="adj" fmla="val 335246"/>
            </a:avLst>
          </a:prstGeom>
          <a:solidFill>
            <a:srgbClr val="C7C7D0"/>
          </a:solidFill>
          <a:ln/>
        </p:spPr>
      </p:sp>
      <p:sp>
        <p:nvSpPr>
          <p:cNvPr id="17" name="Shape 13">
            <a:extLst>
              <a:ext uri="{FF2B5EF4-FFF2-40B4-BE49-F238E27FC236}">
                <a16:creationId xmlns:a16="http://schemas.microsoft.com/office/drawing/2014/main" id="{0093C4BB-CD03-41EB-8291-C530AD49AD36}"/>
              </a:ext>
            </a:extLst>
          </p:cNvPr>
          <p:cNvSpPr/>
          <p:nvPr/>
        </p:nvSpPr>
        <p:spPr>
          <a:xfrm>
            <a:off x="5924947" y="2812753"/>
            <a:ext cx="342107" cy="342106"/>
          </a:xfrm>
          <a:prstGeom prst="roundRect">
            <a:avLst>
              <a:gd name="adj" fmla="val 18668"/>
            </a:avLst>
          </a:prstGeom>
          <a:solidFill>
            <a:srgbClr val="E1E1EA"/>
          </a:solidFill>
          <a:ln w="7620">
            <a:solidFill>
              <a:srgbClr val="C7C7D0"/>
            </a:solidFill>
            <a:prstDash val="solid"/>
          </a:ln>
        </p:spPr>
      </p:sp>
      <p:sp>
        <p:nvSpPr>
          <p:cNvPr id="18" name="Text 14">
            <a:extLst>
              <a:ext uri="{FF2B5EF4-FFF2-40B4-BE49-F238E27FC236}">
                <a16:creationId xmlns:a16="http://schemas.microsoft.com/office/drawing/2014/main" id="{C9F7D59D-A549-4432-94F2-E6A176F7C222}"/>
              </a:ext>
            </a:extLst>
          </p:cNvPr>
          <p:cNvSpPr/>
          <p:nvPr/>
        </p:nvSpPr>
        <p:spPr>
          <a:xfrm>
            <a:off x="5981998" y="2841278"/>
            <a:ext cx="228005" cy="285056"/>
          </a:xfrm>
          <a:prstGeom prst="rect">
            <a:avLst/>
          </a:prstGeom>
          <a:noFill/>
          <a:ln/>
        </p:spPr>
        <p:txBody>
          <a:bodyPr wrap="none" lIns="0" tIns="0" rIns="0" bIns="0" rtlCol="0" anchor="t"/>
          <a:lstStyle/>
          <a:p>
            <a:pPr algn="ctr">
              <a:lnSpc>
                <a:spcPts val="1792"/>
              </a:lnSpc>
            </a:pPr>
            <a:r>
              <a:rPr lang="en-US" sz="1792" dirty="0">
                <a:solidFill>
                  <a:srgbClr val="3C3939"/>
                </a:solidFill>
                <a:latin typeface="Raleway" pitchFamily="34" charset="0"/>
                <a:ea typeface="Raleway" pitchFamily="34" charset="-122"/>
                <a:cs typeface="Raleway" pitchFamily="34" charset="-120"/>
              </a:rPr>
              <a:t>3</a:t>
            </a:r>
            <a:endParaRPr lang="en-US" sz="1792" dirty="0"/>
          </a:p>
        </p:txBody>
      </p:sp>
      <p:sp>
        <p:nvSpPr>
          <p:cNvPr id="19" name="Text 15">
            <a:extLst>
              <a:ext uri="{FF2B5EF4-FFF2-40B4-BE49-F238E27FC236}">
                <a16:creationId xmlns:a16="http://schemas.microsoft.com/office/drawing/2014/main" id="{7D03F097-ED98-4A94-87AB-FB10E46457EC}"/>
              </a:ext>
            </a:extLst>
          </p:cNvPr>
          <p:cNvSpPr/>
          <p:nvPr/>
        </p:nvSpPr>
        <p:spPr>
          <a:xfrm>
            <a:off x="3435152" y="2793703"/>
            <a:ext cx="1900634" cy="237629"/>
          </a:xfrm>
          <a:prstGeom prst="rect">
            <a:avLst/>
          </a:prstGeom>
          <a:noFill/>
          <a:ln/>
        </p:spPr>
        <p:txBody>
          <a:bodyPr wrap="none" lIns="0" tIns="0" rIns="0" bIns="0" rtlCol="0" anchor="t"/>
          <a:lstStyle/>
          <a:p>
            <a:pPr algn="r">
              <a:lnSpc>
                <a:spcPts val="1833"/>
              </a:lnSpc>
            </a:pPr>
            <a:r>
              <a:rPr lang="en-US" sz="1458" b="1"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24-25/03/2025</a:t>
            </a:r>
            <a:endParaRPr lang="en-US" sz="1458"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0" name="Text 16">
            <a:extLst>
              <a:ext uri="{FF2B5EF4-FFF2-40B4-BE49-F238E27FC236}">
                <a16:creationId xmlns:a16="http://schemas.microsoft.com/office/drawing/2014/main" id="{9D195421-D8F4-4914-A618-F0373D909445}"/>
              </a:ext>
            </a:extLst>
          </p:cNvPr>
          <p:cNvSpPr/>
          <p:nvPr/>
        </p:nvSpPr>
        <p:spPr>
          <a:xfrm>
            <a:off x="532110" y="3122514"/>
            <a:ext cx="4803676" cy="1000621"/>
          </a:xfrm>
          <a:prstGeom prst="rect">
            <a:avLst/>
          </a:prstGeom>
          <a:noFill/>
          <a:ln/>
        </p:spPr>
        <p:txBody>
          <a:bodyPr wrap="square" lIns="0" tIns="0" rIns="0" bIns="0" rtlCol="0" anchor="t"/>
          <a:lstStyle/>
          <a:p>
            <a:pPr algn="r">
              <a:lnSpc>
                <a:spcPts val="1875"/>
              </a:lnSpc>
            </a:pPr>
            <a:r>
              <a:rPr lang="en-US" sz="1300"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VAECO kiểm tra quy trình Hard landing và làm việc với ATR. ATR phản hồi bộ càng bên trái LH-MLG và Side brace bị quá giới hạn thiết kế, dẫn đến tàu bay </a:t>
            </a:r>
            <a:r>
              <a:rPr lang="en-US" sz="1300">
                <a:solidFill>
                  <a:srgbClr val="3C3939"/>
                </a:solidFill>
                <a:latin typeface="Times New Roman" panose="02020603050405020304" pitchFamily="18" charset="0"/>
                <a:ea typeface="Cambria" panose="02040503050406030204" pitchFamily="18" charset="0"/>
                <a:cs typeface="Times New Roman" panose="02020603050405020304" pitchFamily="18" charset="0"/>
              </a:rPr>
              <a:t>bị AOG chờ phân tích (kinh nghiệm ATR cho thấy khả năng phải hủy LH MLG)</a:t>
            </a:r>
            <a:endParaRPr lang="en-US" sz="13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1" name="Shape 17">
            <a:extLst>
              <a:ext uri="{FF2B5EF4-FFF2-40B4-BE49-F238E27FC236}">
                <a16:creationId xmlns:a16="http://schemas.microsoft.com/office/drawing/2014/main" id="{EA83B19E-20FB-43A2-97FB-F85E98B3A530}"/>
              </a:ext>
            </a:extLst>
          </p:cNvPr>
          <p:cNvSpPr/>
          <p:nvPr/>
        </p:nvSpPr>
        <p:spPr>
          <a:xfrm>
            <a:off x="6248004" y="3731618"/>
            <a:ext cx="456108" cy="19050"/>
          </a:xfrm>
          <a:prstGeom prst="roundRect">
            <a:avLst>
              <a:gd name="adj" fmla="val 335246"/>
            </a:avLst>
          </a:prstGeom>
          <a:solidFill>
            <a:srgbClr val="C7C7D0"/>
          </a:solidFill>
          <a:ln/>
        </p:spPr>
      </p:sp>
      <p:sp>
        <p:nvSpPr>
          <p:cNvPr id="22" name="Shape 18">
            <a:extLst>
              <a:ext uri="{FF2B5EF4-FFF2-40B4-BE49-F238E27FC236}">
                <a16:creationId xmlns:a16="http://schemas.microsoft.com/office/drawing/2014/main" id="{36A6921C-9270-4C75-B5AB-8F4CAD92C6FB}"/>
              </a:ext>
            </a:extLst>
          </p:cNvPr>
          <p:cNvSpPr/>
          <p:nvPr/>
        </p:nvSpPr>
        <p:spPr>
          <a:xfrm>
            <a:off x="5924947" y="3570090"/>
            <a:ext cx="342107" cy="342106"/>
          </a:xfrm>
          <a:prstGeom prst="roundRect">
            <a:avLst>
              <a:gd name="adj" fmla="val 18668"/>
            </a:avLst>
          </a:prstGeom>
          <a:solidFill>
            <a:srgbClr val="E1E1EA"/>
          </a:solidFill>
          <a:ln w="7620">
            <a:solidFill>
              <a:srgbClr val="C7C7D0"/>
            </a:solidFill>
            <a:prstDash val="solid"/>
          </a:ln>
        </p:spPr>
      </p:sp>
      <p:sp>
        <p:nvSpPr>
          <p:cNvPr id="23" name="Text 19">
            <a:extLst>
              <a:ext uri="{FF2B5EF4-FFF2-40B4-BE49-F238E27FC236}">
                <a16:creationId xmlns:a16="http://schemas.microsoft.com/office/drawing/2014/main" id="{CF9389D3-D141-4365-BB16-F345033F03E1}"/>
              </a:ext>
            </a:extLst>
          </p:cNvPr>
          <p:cNvSpPr/>
          <p:nvPr/>
        </p:nvSpPr>
        <p:spPr>
          <a:xfrm>
            <a:off x="5981998" y="3598615"/>
            <a:ext cx="228005" cy="285056"/>
          </a:xfrm>
          <a:prstGeom prst="rect">
            <a:avLst/>
          </a:prstGeom>
          <a:noFill/>
          <a:ln/>
        </p:spPr>
        <p:txBody>
          <a:bodyPr wrap="none" lIns="0" tIns="0" rIns="0" bIns="0" rtlCol="0" anchor="t"/>
          <a:lstStyle/>
          <a:p>
            <a:pPr algn="ctr">
              <a:lnSpc>
                <a:spcPts val="1792"/>
              </a:lnSpc>
            </a:pPr>
            <a:r>
              <a:rPr lang="en-US" sz="1792" dirty="0">
                <a:solidFill>
                  <a:srgbClr val="3C3939"/>
                </a:solidFill>
                <a:latin typeface="Raleway" pitchFamily="34" charset="0"/>
                <a:ea typeface="Raleway" pitchFamily="34" charset="-122"/>
                <a:cs typeface="Raleway" pitchFamily="34" charset="-120"/>
              </a:rPr>
              <a:t>4</a:t>
            </a:r>
            <a:endParaRPr lang="en-US" sz="1792" dirty="0"/>
          </a:p>
        </p:txBody>
      </p:sp>
      <p:sp>
        <p:nvSpPr>
          <p:cNvPr id="24" name="Text 20">
            <a:extLst>
              <a:ext uri="{FF2B5EF4-FFF2-40B4-BE49-F238E27FC236}">
                <a16:creationId xmlns:a16="http://schemas.microsoft.com/office/drawing/2014/main" id="{0034EEE1-6FF1-4A92-8CC6-3E29EA218766}"/>
              </a:ext>
            </a:extLst>
          </p:cNvPr>
          <p:cNvSpPr/>
          <p:nvPr/>
        </p:nvSpPr>
        <p:spPr>
          <a:xfrm>
            <a:off x="6856215" y="3551040"/>
            <a:ext cx="1900634" cy="237629"/>
          </a:xfrm>
          <a:prstGeom prst="rect">
            <a:avLst/>
          </a:prstGeom>
          <a:noFill/>
          <a:ln/>
        </p:spPr>
        <p:txBody>
          <a:bodyPr wrap="none" lIns="0" tIns="0" rIns="0" bIns="0" rtlCol="0" anchor="t"/>
          <a:lstStyle/>
          <a:p>
            <a:pPr>
              <a:lnSpc>
                <a:spcPts val="1833"/>
              </a:lnSpc>
            </a:pPr>
            <a:r>
              <a:rPr lang="en-US" sz="1458" b="1"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04/03/2025</a:t>
            </a:r>
            <a:endParaRPr lang="en-US" sz="1458"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5" name="Text 21">
            <a:extLst>
              <a:ext uri="{FF2B5EF4-FFF2-40B4-BE49-F238E27FC236}">
                <a16:creationId xmlns:a16="http://schemas.microsoft.com/office/drawing/2014/main" id="{0E1927EA-B111-4032-9024-2A757179DFA8}"/>
              </a:ext>
            </a:extLst>
          </p:cNvPr>
          <p:cNvSpPr/>
          <p:nvPr/>
        </p:nvSpPr>
        <p:spPr>
          <a:xfrm>
            <a:off x="6856215" y="3879851"/>
            <a:ext cx="4803676" cy="243284"/>
          </a:xfrm>
          <a:prstGeom prst="rect">
            <a:avLst/>
          </a:prstGeom>
          <a:noFill/>
          <a:ln/>
        </p:spPr>
        <p:txBody>
          <a:bodyPr wrap="none" lIns="0" tIns="0" rIns="0" bIns="0" rtlCol="0" anchor="t"/>
          <a:lstStyle/>
          <a:p>
            <a:pPr>
              <a:lnSpc>
                <a:spcPts val="1875"/>
              </a:lnSpc>
            </a:pPr>
            <a:r>
              <a:rPr lang="en-US" sz="1300" dirty="0">
                <a:solidFill>
                  <a:srgbClr val="3C3939"/>
                </a:solidFill>
                <a:latin typeface="Times New Roman" panose="02020603050405020304" pitchFamily="18" charset="0"/>
                <a:ea typeface="Cambria" panose="02040503050406030204" pitchFamily="18" charset="0"/>
                <a:cs typeface="Times New Roman" panose="02020603050405020304" pitchFamily="18" charset="0"/>
              </a:rPr>
              <a:t>Triển khai swap càng từ B218 để đưa B223 vào khai thác.</a:t>
            </a:r>
          </a:p>
        </p:txBody>
      </p:sp>
      <p:sp>
        <p:nvSpPr>
          <p:cNvPr id="26" name="Text 23">
            <a:extLst>
              <a:ext uri="{FF2B5EF4-FFF2-40B4-BE49-F238E27FC236}">
                <a16:creationId xmlns:a16="http://schemas.microsoft.com/office/drawing/2014/main" id="{C97F9FB0-0E40-4FA1-8DEB-A98F7EB2EEBB}"/>
              </a:ext>
            </a:extLst>
          </p:cNvPr>
          <p:cNvSpPr/>
          <p:nvPr/>
        </p:nvSpPr>
        <p:spPr>
          <a:xfrm>
            <a:off x="1140223" y="4506206"/>
            <a:ext cx="4627695" cy="1921372"/>
          </a:xfrm>
          <a:prstGeom prst="rect">
            <a:avLst/>
          </a:prstGeom>
          <a:noFill/>
          <a:ln/>
        </p:spPr>
        <p:txBody>
          <a:bodyPr wrap="square" lIns="0" tIns="0" rIns="0" bIns="0" rtlCol="0" anchor="t"/>
          <a:lstStyle/>
          <a:p>
            <a:pPr marL="171450" indent="-171450">
              <a:lnSpc>
                <a:spcPts val="1875"/>
              </a:lnSpc>
              <a:spcBef>
                <a:spcPts val="600"/>
              </a:spcBef>
              <a:buFont typeface="Arial" panose="020B0604020202020204" pitchFamily="34" charset="0"/>
              <a:buChar char="•"/>
            </a:pPr>
            <a:r>
              <a:rPr lang="en-US" sz="130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Mượn </a:t>
            </a:r>
            <a:r>
              <a:rPr lang="en-US" sz="13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càng từ Cebu (bị từ chối</a:t>
            </a:r>
            <a:r>
              <a:rPr lang="en-US" sz="130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a:t>
            </a:r>
          </a:p>
          <a:p>
            <a:pPr marL="171450" indent="-171450">
              <a:lnSpc>
                <a:spcPts val="1875"/>
              </a:lnSpc>
              <a:spcBef>
                <a:spcPts val="600"/>
              </a:spcBef>
              <a:buFont typeface="Arial" panose="020B0604020202020204" pitchFamily="34" charset="0"/>
              <a:buChar char="•"/>
            </a:pPr>
            <a:r>
              <a:rPr lang="en-US" sz="1300">
                <a:solidFill>
                  <a:srgbClr val="FF0000"/>
                </a:solidFill>
                <a:latin typeface="Times New Roman" panose="02020603050405020304" pitchFamily="18" charset="0"/>
                <a:ea typeface="Cambria" panose="02040503050406030204" pitchFamily="18" charset="0"/>
                <a:cs typeface="Times New Roman" panose="02020603050405020304" pitchFamily="18" charset="0"/>
              </a:rPr>
              <a:t>Tìm </a:t>
            </a:r>
            <a:r>
              <a:rPr lang="en-US" sz="13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mua càng từ spare-wing nhưng hồ sơ chưa đáp ứng yêu cầu, thiếu chứng chỉ và hồ sơ BTB của các thiết bị </a:t>
            </a:r>
            <a:r>
              <a:rPr lang="en-US" sz="1300">
                <a:solidFill>
                  <a:srgbClr val="FF0000"/>
                </a:solidFill>
                <a:latin typeface="Times New Roman" panose="02020603050405020304" pitchFamily="18" charset="0"/>
                <a:ea typeface="Cambria" panose="02040503050406030204" pitchFamily="18" charset="0"/>
                <a:cs typeface="Times New Roman" panose="02020603050405020304" pitchFamily="18" charset="0"/>
              </a:rPr>
              <a:t>LLP.</a:t>
            </a:r>
          </a:p>
          <a:p>
            <a:pPr marL="171450" indent="-171450">
              <a:lnSpc>
                <a:spcPts val="1875"/>
              </a:lnSpc>
              <a:spcBef>
                <a:spcPts val="600"/>
              </a:spcBef>
              <a:buFont typeface="Arial" panose="020B0604020202020204" pitchFamily="34" charset="0"/>
              <a:buChar char="•"/>
            </a:pPr>
            <a:r>
              <a:rPr lang="en-US" sz="1300">
                <a:solidFill>
                  <a:srgbClr val="0070C0"/>
                </a:solidFill>
                <a:latin typeface="Times New Roman" panose="02020603050405020304" pitchFamily="18" charset="0"/>
                <a:ea typeface="Cambria" panose="02040503050406030204" pitchFamily="18" charset="0"/>
                <a:cs typeface="Times New Roman" panose="02020603050405020304" pitchFamily="18" charset="0"/>
              </a:rPr>
              <a:t>Thời gian cung ứng spare-wing (T5) vs thời gian thuê (T5/T6) và thời gian đặt sản xuất (T12) </a:t>
            </a:r>
            <a:r>
              <a:rPr lang="en-US" sz="1300">
                <a:solidFill>
                  <a:srgbClr val="0070C0"/>
                </a:solidFill>
                <a:latin typeface="Times New Roman" panose="02020603050405020304" pitchFamily="18" charset="0"/>
                <a:ea typeface="Cambria" panose="02040503050406030204" pitchFamily="18" charset="0"/>
                <a:cs typeface="Times New Roman" panose="02020603050405020304" pitchFamily="18" charset="0"/>
                <a:sym typeface="Symbol" panose="05050102010706020507" pitchFamily="18" charset="2"/>
              </a:rPr>
              <a:t> </a:t>
            </a:r>
            <a:r>
              <a:rPr lang="en-US" sz="130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Xem xét thuê tr</a:t>
            </a:r>
            <a:r>
              <a:rPr lang="vi-VN" sz="1300">
                <a:solidFill>
                  <a:srgbClr val="0070C0"/>
                </a:solidFill>
                <a:latin typeface="Times New Roman" panose="02020603050405020304" pitchFamily="18" charset="0"/>
                <a:ea typeface="Cambria" panose="02040503050406030204" pitchFamily="18" charset="0"/>
                <a:cs typeface="Times New Roman" panose="02020603050405020304" pitchFamily="18" charset="0"/>
              </a:rPr>
              <a:t>ư</a:t>
            </a:r>
            <a:r>
              <a:rPr lang="en-US" sz="1300">
                <a:solidFill>
                  <a:srgbClr val="0070C0"/>
                </a:solidFill>
                <a:latin typeface="Times New Roman" panose="02020603050405020304" pitchFamily="18" charset="0"/>
                <a:ea typeface="Cambria" panose="02040503050406030204" pitchFamily="18" charset="0"/>
                <a:cs typeface="Times New Roman" panose="02020603050405020304" pitchFamily="18" charset="0"/>
              </a:rPr>
              <a:t>ớc mua sau</a:t>
            </a:r>
          </a:p>
          <a:p>
            <a:pPr marL="171450" indent="-171450">
              <a:lnSpc>
                <a:spcPts val="1875"/>
              </a:lnSpc>
              <a:spcBef>
                <a:spcPts val="600"/>
              </a:spcBef>
              <a:buFont typeface="Arial" panose="020B0604020202020204" pitchFamily="34" charset="0"/>
              <a:buChar char="•"/>
            </a:pPr>
            <a:r>
              <a:rPr lang="en-US" sz="1300">
                <a:solidFill>
                  <a:srgbClr val="0070C0"/>
                </a:solidFill>
                <a:latin typeface="Times New Roman" panose="02020603050405020304" pitchFamily="18" charset="0"/>
                <a:ea typeface="Cambria" panose="02040503050406030204" pitchFamily="18" charset="0"/>
                <a:cs typeface="Times New Roman" panose="02020603050405020304" pitchFamily="18" charset="0"/>
              </a:rPr>
              <a:t>Xem xét B219 check Y8 gối đầu B218</a:t>
            </a:r>
            <a:endParaRPr lang="en-US" sz="1300"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C3DC7085-5789-4BE4-BCF1-1AE8C42B0EA3}"/>
              </a:ext>
            </a:extLst>
          </p:cNvPr>
          <p:cNvSpPr txBox="1"/>
          <p:nvPr/>
        </p:nvSpPr>
        <p:spPr>
          <a:xfrm>
            <a:off x="762000" y="168860"/>
            <a:ext cx="10514769" cy="400110"/>
          </a:xfrm>
          <a:prstGeom prst="rect">
            <a:avLst/>
          </a:prstGeom>
          <a:noFill/>
        </p:spPr>
        <p:txBody>
          <a:bodyPr wrap="square" rtlCol="0">
            <a:spAutoFit/>
          </a:bodyPr>
          <a:lstStyle/>
          <a:p>
            <a:pPr algn="just"/>
            <a:r>
              <a:rPr lang="en-US" sz="2000" b="1">
                <a:solidFill>
                  <a:srgbClr val="DEA610"/>
                </a:solidFill>
                <a:latin typeface="Times New Roman" panose="02020603050405020304" pitchFamily="18" charset="0"/>
                <a:cs typeface="Times New Roman" panose="02020603050405020304" pitchFamily="18" charset="0"/>
              </a:rPr>
              <a:t>ATR – B223 – VN8055 Hard landing</a:t>
            </a:r>
          </a:p>
        </p:txBody>
      </p:sp>
      <p:grpSp>
        <p:nvGrpSpPr>
          <p:cNvPr id="28" name="Group 27">
            <a:extLst>
              <a:ext uri="{FF2B5EF4-FFF2-40B4-BE49-F238E27FC236}">
                <a16:creationId xmlns:a16="http://schemas.microsoft.com/office/drawing/2014/main" id="{0DE9D381-FDA7-4F35-827E-8F38603AF518}"/>
              </a:ext>
            </a:extLst>
          </p:cNvPr>
          <p:cNvGrpSpPr/>
          <p:nvPr/>
        </p:nvGrpSpPr>
        <p:grpSpPr>
          <a:xfrm>
            <a:off x="795408" y="288234"/>
            <a:ext cx="11197675" cy="678753"/>
            <a:chOff x="976560" y="323070"/>
            <a:chExt cx="10755065" cy="678753"/>
          </a:xfrm>
        </p:grpSpPr>
        <p:cxnSp>
          <p:nvCxnSpPr>
            <p:cNvPr id="29" name="Straight Connector 28">
              <a:extLst>
                <a:ext uri="{FF2B5EF4-FFF2-40B4-BE49-F238E27FC236}">
                  <a16:creationId xmlns:a16="http://schemas.microsoft.com/office/drawing/2014/main" id="{9276E410-754E-4972-BEBA-BA1417191C0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33F3CF49-A5C0-48AD-BF5F-89AAB003E9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31" name="Picture 30">
            <a:extLst>
              <a:ext uri="{FF2B5EF4-FFF2-40B4-BE49-F238E27FC236}">
                <a16:creationId xmlns:a16="http://schemas.microsoft.com/office/drawing/2014/main" id="{4D14CFDE-ED58-461B-B149-F06869F8E6C2}"/>
              </a:ext>
            </a:extLst>
          </p:cNvPr>
          <p:cNvPicPr>
            <a:picLocks noChangeAspect="1"/>
          </p:cNvPicPr>
          <p:nvPr/>
        </p:nvPicPr>
        <p:blipFill>
          <a:blip r:embed="rId3"/>
          <a:stretch>
            <a:fillRect/>
          </a:stretch>
        </p:blipFill>
        <p:spPr>
          <a:xfrm flipH="1">
            <a:off x="435303" y="4344632"/>
            <a:ext cx="535325" cy="499909"/>
          </a:xfrm>
          <a:prstGeom prst="rect">
            <a:avLst/>
          </a:prstGeom>
        </p:spPr>
      </p:pic>
      <p:grpSp>
        <p:nvGrpSpPr>
          <p:cNvPr id="32" name="Group 31">
            <a:extLst>
              <a:ext uri="{FF2B5EF4-FFF2-40B4-BE49-F238E27FC236}">
                <a16:creationId xmlns:a16="http://schemas.microsoft.com/office/drawing/2014/main" id="{7781A7C7-1988-4223-8D6B-3913365838E9}"/>
              </a:ext>
            </a:extLst>
          </p:cNvPr>
          <p:cNvGrpSpPr/>
          <p:nvPr/>
        </p:nvGrpSpPr>
        <p:grpSpPr>
          <a:xfrm>
            <a:off x="6788481" y="4303757"/>
            <a:ext cx="4871410" cy="2326270"/>
            <a:chOff x="6856214" y="4388111"/>
            <a:chExt cx="4871410" cy="2326270"/>
          </a:xfrm>
        </p:grpSpPr>
        <p:sp>
          <p:nvSpPr>
            <p:cNvPr id="33" name="Freeform: Shape 32">
              <a:extLst>
                <a:ext uri="{FF2B5EF4-FFF2-40B4-BE49-F238E27FC236}">
                  <a16:creationId xmlns:a16="http://schemas.microsoft.com/office/drawing/2014/main" id="{93E31A21-6332-404E-A8D8-2851F986B55C}"/>
                </a:ext>
              </a:extLst>
            </p:cNvPr>
            <p:cNvSpPr/>
            <p:nvPr/>
          </p:nvSpPr>
          <p:spPr>
            <a:xfrm>
              <a:off x="6856214" y="4388111"/>
              <a:ext cx="4803676" cy="2274301"/>
            </a:xfrm>
            <a:custGeom>
              <a:avLst/>
              <a:gdLst>
                <a:gd name="connsiteX0" fmla="*/ 0 w 4125952"/>
                <a:gd name="connsiteY0" fmla="*/ 0 h 2448659"/>
                <a:gd name="connsiteX1" fmla="*/ 4125952 w 4125952"/>
                <a:gd name="connsiteY1" fmla="*/ 0 h 2448659"/>
                <a:gd name="connsiteX2" fmla="*/ 4125952 w 4125952"/>
                <a:gd name="connsiteY2" fmla="*/ 2338195 h 2448659"/>
                <a:gd name="connsiteX3" fmla="*/ 4099931 w 4125952"/>
                <a:gd name="connsiteY3" fmla="*/ 2338931 h 2448659"/>
                <a:gd name="connsiteX4" fmla="*/ 3917051 w 4125952"/>
                <a:gd name="connsiteY4" fmla="*/ 2338931 h 2448659"/>
                <a:gd name="connsiteX5" fmla="*/ 3898763 w 4125952"/>
                <a:gd name="connsiteY5" fmla="*/ 2345027 h 2448659"/>
                <a:gd name="connsiteX6" fmla="*/ 3849995 w 4125952"/>
                <a:gd name="connsiteY6" fmla="*/ 2351123 h 2448659"/>
                <a:gd name="connsiteX7" fmla="*/ 3831707 w 4125952"/>
                <a:gd name="connsiteY7" fmla="*/ 2357219 h 2448659"/>
                <a:gd name="connsiteX8" fmla="*/ 3807323 w 4125952"/>
                <a:gd name="connsiteY8" fmla="*/ 2363315 h 2448659"/>
                <a:gd name="connsiteX9" fmla="*/ 3789035 w 4125952"/>
                <a:gd name="connsiteY9" fmla="*/ 2369411 h 2448659"/>
                <a:gd name="connsiteX10" fmla="*/ 3746363 w 4125952"/>
                <a:gd name="connsiteY10" fmla="*/ 2381603 h 2448659"/>
                <a:gd name="connsiteX11" fmla="*/ 3728075 w 4125952"/>
                <a:gd name="connsiteY11" fmla="*/ 2393795 h 2448659"/>
                <a:gd name="connsiteX12" fmla="*/ 3709787 w 4125952"/>
                <a:gd name="connsiteY12" fmla="*/ 2399891 h 2448659"/>
                <a:gd name="connsiteX13" fmla="*/ 3691499 w 4125952"/>
                <a:gd name="connsiteY13" fmla="*/ 2418179 h 2448659"/>
                <a:gd name="connsiteX14" fmla="*/ 3673211 w 4125952"/>
                <a:gd name="connsiteY14" fmla="*/ 2424275 h 2448659"/>
                <a:gd name="connsiteX15" fmla="*/ 3661019 w 4125952"/>
                <a:gd name="connsiteY15" fmla="*/ 2442563 h 2448659"/>
                <a:gd name="connsiteX16" fmla="*/ 3545195 w 4125952"/>
                <a:gd name="connsiteY16" fmla="*/ 2448659 h 2448659"/>
                <a:gd name="connsiteX17" fmla="*/ 3502523 w 4125952"/>
                <a:gd name="connsiteY17" fmla="*/ 2436467 h 2448659"/>
                <a:gd name="connsiteX18" fmla="*/ 3478139 w 4125952"/>
                <a:gd name="connsiteY18" fmla="*/ 2424275 h 2448659"/>
                <a:gd name="connsiteX19" fmla="*/ 3441563 w 4125952"/>
                <a:gd name="connsiteY19" fmla="*/ 2412083 h 2448659"/>
                <a:gd name="connsiteX20" fmla="*/ 3423275 w 4125952"/>
                <a:gd name="connsiteY20" fmla="*/ 2393795 h 2448659"/>
                <a:gd name="connsiteX21" fmla="*/ 3398891 w 4125952"/>
                <a:gd name="connsiteY21" fmla="*/ 2387699 h 2448659"/>
                <a:gd name="connsiteX22" fmla="*/ 3380603 w 4125952"/>
                <a:gd name="connsiteY22" fmla="*/ 2381603 h 2448659"/>
                <a:gd name="connsiteX23" fmla="*/ 3344027 w 4125952"/>
                <a:gd name="connsiteY23" fmla="*/ 2369411 h 2448659"/>
                <a:gd name="connsiteX24" fmla="*/ 3319643 w 4125952"/>
                <a:gd name="connsiteY24" fmla="*/ 2363315 h 2448659"/>
                <a:gd name="connsiteX25" fmla="*/ 3283067 w 4125952"/>
                <a:gd name="connsiteY25" fmla="*/ 2351123 h 2448659"/>
                <a:gd name="connsiteX26" fmla="*/ 3234299 w 4125952"/>
                <a:gd name="connsiteY26" fmla="*/ 2332835 h 2448659"/>
                <a:gd name="connsiteX27" fmla="*/ 3075803 w 4125952"/>
                <a:gd name="connsiteY27" fmla="*/ 2320643 h 2448659"/>
                <a:gd name="connsiteX28" fmla="*/ 3057515 w 4125952"/>
                <a:gd name="connsiteY28" fmla="*/ 2314547 h 2448659"/>
                <a:gd name="connsiteX29" fmla="*/ 3033131 w 4125952"/>
                <a:gd name="connsiteY29" fmla="*/ 2308451 h 2448659"/>
                <a:gd name="connsiteX30" fmla="*/ 3002651 w 4125952"/>
                <a:gd name="connsiteY30" fmla="*/ 2302355 h 2448659"/>
                <a:gd name="connsiteX31" fmla="*/ 2941691 w 4125952"/>
                <a:gd name="connsiteY31" fmla="*/ 2277971 h 2448659"/>
                <a:gd name="connsiteX32" fmla="*/ 2856347 w 4125952"/>
                <a:gd name="connsiteY32" fmla="*/ 2259683 h 2448659"/>
                <a:gd name="connsiteX33" fmla="*/ 2838059 w 4125952"/>
                <a:gd name="connsiteY33" fmla="*/ 2265779 h 2448659"/>
                <a:gd name="connsiteX34" fmla="*/ 2801483 w 4125952"/>
                <a:gd name="connsiteY34" fmla="*/ 2277971 h 2448659"/>
                <a:gd name="connsiteX35" fmla="*/ 2685659 w 4125952"/>
                <a:gd name="connsiteY35" fmla="*/ 2284067 h 2448659"/>
                <a:gd name="connsiteX36" fmla="*/ 2649083 w 4125952"/>
                <a:gd name="connsiteY36" fmla="*/ 2277971 h 2448659"/>
                <a:gd name="connsiteX37" fmla="*/ 2484491 w 4125952"/>
                <a:gd name="connsiteY37" fmla="*/ 2271875 h 2448659"/>
                <a:gd name="connsiteX38" fmla="*/ 2435723 w 4125952"/>
                <a:gd name="connsiteY38" fmla="*/ 2284067 h 2448659"/>
                <a:gd name="connsiteX39" fmla="*/ 2350379 w 4125952"/>
                <a:gd name="connsiteY39" fmla="*/ 2302355 h 2448659"/>
                <a:gd name="connsiteX40" fmla="*/ 2143115 w 4125952"/>
                <a:gd name="connsiteY40" fmla="*/ 2320643 h 2448659"/>
                <a:gd name="connsiteX41" fmla="*/ 2039483 w 4125952"/>
                <a:gd name="connsiteY41" fmla="*/ 2308451 h 2448659"/>
                <a:gd name="connsiteX42" fmla="*/ 2015099 w 4125952"/>
                <a:gd name="connsiteY42" fmla="*/ 2302355 h 2448659"/>
                <a:gd name="connsiteX43" fmla="*/ 1874891 w 4125952"/>
                <a:gd name="connsiteY43" fmla="*/ 2296259 h 2448659"/>
                <a:gd name="connsiteX44" fmla="*/ 1856603 w 4125952"/>
                <a:gd name="connsiteY44" fmla="*/ 2302355 h 2448659"/>
                <a:gd name="connsiteX45" fmla="*/ 1832219 w 4125952"/>
                <a:gd name="connsiteY45" fmla="*/ 2314547 h 2448659"/>
                <a:gd name="connsiteX46" fmla="*/ 1716395 w 4125952"/>
                <a:gd name="connsiteY46" fmla="*/ 2320643 h 2448659"/>
                <a:gd name="connsiteX47" fmla="*/ 1673723 w 4125952"/>
                <a:gd name="connsiteY47" fmla="*/ 2308451 h 2448659"/>
                <a:gd name="connsiteX48" fmla="*/ 1655435 w 4125952"/>
                <a:gd name="connsiteY48" fmla="*/ 2302355 h 2448659"/>
                <a:gd name="connsiteX49" fmla="*/ 1624955 w 4125952"/>
                <a:gd name="connsiteY49" fmla="*/ 2296259 h 2448659"/>
                <a:gd name="connsiteX50" fmla="*/ 1600571 w 4125952"/>
                <a:gd name="connsiteY50" fmla="*/ 2290163 h 2448659"/>
                <a:gd name="connsiteX51" fmla="*/ 1533515 w 4125952"/>
                <a:gd name="connsiteY51" fmla="*/ 2284067 h 2448659"/>
                <a:gd name="connsiteX52" fmla="*/ 1509131 w 4125952"/>
                <a:gd name="connsiteY52" fmla="*/ 2290163 h 2448659"/>
                <a:gd name="connsiteX53" fmla="*/ 1472555 w 4125952"/>
                <a:gd name="connsiteY53" fmla="*/ 2320643 h 2448659"/>
                <a:gd name="connsiteX54" fmla="*/ 1454267 w 4125952"/>
                <a:gd name="connsiteY54" fmla="*/ 2332835 h 2448659"/>
                <a:gd name="connsiteX55" fmla="*/ 1405499 w 4125952"/>
                <a:gd name="connsiteY55" fmla="*/ 2369411 h 2448659"/>
                <a:gd name="connsiteX56" fmla="*/ 1247003 w 4125952"/>
                <a:gd name="connsiteY56" fmla="*/ 2375507 h 2448659"/>
                <a:gd name="connsiteX57" fmla="*/ 1222619 w 4125952"/>
                <a:gd name="connsiteY57" fmla="*/ 2369411 h 2448659"/>
                <a:gd name="connsiteX58" fmla="*/ 1155563 w 4125952"/>
                <a:gd name="connsiteY58" fmla="*/ 2351123 h 2448659"/>
                <a:gd name="connsiteX59" fmla="*/ 1082411 w 4125952"/>
                <a:gd name="connsiteY59" fmla="*/ 2320643 h 2448659"/>
                <a:gd name="connsiteX60" fmla="*/ 1033643 w 4125952"/>
                <a:gd name="connsiteY60" fmla="*/ 2296259 h 2448659"/>
                <a:gd name="connsiteX61" fmla="*/ 1015355 w 4125952"/>
                <a:gd name="connsiteY61" fmla="*/ 2290163 h 2448659"/>
                <a:gd name="connsiteX62" fmla="*/ 960491 w 4125952"/>
                <a:gd name="connsiteY62" fmla="*/ 2284067 h 2448659"/>
                <a:gd name="connsiteX63" fmla="*/ 942203 w 4125952"/>
                <a:gd name="connsiteY63" fmla="*/ 2290163 h 2448659"/>
                <a:gd name="connsiteX64" fmla="*/ 850763 w 4125952"/>
                <a:gd name="connsiteY64" fmla="*/ 2296259 h 2448659"/>
                <a:gd name="connsiteX65" fmla="*/ 820283 w 4125952"/>
                <a:gd name="connsiteY65" fmla="*/ 2284067 h 2448659"/>
                <a:gd name="connsiteX66" fmla="*/ 759323 w 4125952"/>
                <a:gd name="connsiteY66" fmla="*/ 2259683 h 2448659"/>
                <a:gd name="connsiteX67" fmla="*/ 741035 w 4125952"/>
                <a:gd name="connsiteY67" fmla="*/ 2253587 h 2448659"/>
                <a:gd name="connsiteX68" fmla="*/ 698363 w 4125952"/>
                <a:gd name="connsiteY68" fmla="*/ 2247491 h 2448659"/>
                <a:gd name="connsiteX69" fmla="*/ 643499 w 4125952"/>
                <a:gd name="connsiteY69" fmla="*/ 2290163 h 2448659"/>
                <a:gd name="connsiteX70" fmla="*/ 613019 w 4125952"/>
                <a:gd name="connsiteY70" fmla="*/ 2314547 h 2448659"/>
                <a:gd name="connsiteX71" fmla="*/ 545963 w 4125952"/>
                <a:gd name="connsiteY71" fmla="*/ 2369411 h 2448659"/>
                <a:gd name="connsiteX72" fmla="*/ 491099 w 4125952"/>
                <a:gd name="connsiteY72" fmla="*/ 2375507 h 2448659"/>
                <a:gd name="connsiteX73" fmla="*/ 436235 w 4125952"/>
                <a:gd name="connsiteY73" fmla="*/ 2351123 h 2448659"/>
                <a:gd name="connsiteX74" fmla="*/ 417947 w 4125952"/>
                <a:gd name="connsiteY74" fmla="*/ 2345027 h 2448659"/>
                <a:gd name="connsiteX75" fmla="*/ 369179 w 4125952"/>
                <a:gd name="connsiteY75" fmla="*/ 2308451 h 2448659"/>
                <a:gd name="connsiteX76" fmla="*/ 332603 w 4125952"/>
                <a:gd name="connsiteY76" fmla="*/ 2314547 h 2448659"/>
                <a:gd name="connsiteX77" fmla="*/ 314315 w 4125952"/>
                <a:gd name="connsiteY77" fmla="*/ 2296259 h 2448659"/>
                <a:gd name="connsiteX78" fmla="*/ 277739 w 4125952"/>
                <a:gd name="connsiteY78" fmla="*/ 2259683 h 2448659"/>
                <a:gd name="connsiteX79" fmla="*/ 259451 w 4125952"/>
                <a:gd name="connsiteY79" fmla="*/ 2253587 h 2448659"/>
                <a:gd name="connsiteX80" fmla="*/ 222875 w 4125952"/>
                <a:gd name="connsiteY80" fmla="*/ 2229203 h 2448659"/>
                <a:gd name="connsiteX81" fmla="*/ 9515 w 4125952"/>
                <a:gd name="connsiteY81" fmla="*/ 2223107 h 2448659"/>
                <a:gd name="connsiteX82" fmla="*/ 0 w 4125952"/>
                <a:gd name="connsiteY82" fmla="*/ 2228523 h 2448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125952" h="2448659">
                  <a:moveTo>
                    <a:pt x="0" y="0"/>
                  </a:moveTo>
                  <a:lnTo>
                    <a:pt x="4125952" y="0"/>
                  </a:lnTo>
                  <a:lnTo>
                    <a:pt x="4125952" y="2338195"/>
                  </a:lnTo>
                  <a:lnTo>
                    <a:pt x="4099931" y="2338931"/>
                  </a:lnTo>
                  <a:cubicBezTo>
                    <a:pt x="4013081" y="2334983"/>
                    <a:pt x="3986930" y="2326226"/>
                    <a:pt x="3917051" y="2338931"/>
                  </a:cubicBezTo>
                  <a:cubicBezTo>
                    <a:pt x="3910729" y="2340080"/>
                    <a:pt x="3904859" y="2342995"/>
                    <a:pt x="3898763" y="2345027"/>
                  </a:cubicBezTo>
                  <a:cubicBezTo>
                    <a:pt x="3882507" y="2347059"/>
                    <a:pt x="3866113" y="2348192"/>
                    <a:pt x="3849995" y="2351123"/>
                  </a:cubicBezTo>
                  <a:cubicBezTo>
                    <a:pt x="3843673" y="2352272"/>
                    <a:pt x="3837886" y="2355454"/>
                    <a:pt x="3831707" y="2357219"/>
                  </a:cubicBezTo>
                  <a:cubicBezTo>
                    <a:pt x="3823651" y="2359521"/>
                    <a:pt x="3815379" y="2361013"/>
                    <a:pt x="3807323" y="2363315"/>
                  </a:cubicBezTo>
                  <a:cubicBezTo>
                    <a:pt x="3801144" y="2365080"/>
                    <a:pt x="3795214" y="2367646"/>
                    <a:pt x="3789035" y="2369411"/>
                  </a:cubicBezTo>
                  <a:cubicBezTo>
                    <a:pt x="3779920" y="2372015"/>
                    <a:pt x="3756107" y="2376731"/>
                    <a:pt x="3746363" y="2381603"/>
                  </a:cubicBezTo>
                  <a:cubicBezTo>
                    <a:pt x="3739810" y="2384880"/>
                    <a:pt x="3734628" y="2390518"/>
                    <a:pt x="3728075" y="2393795"/>
                  </a:cubicBezTo>
                  <a:cubicBezTo>
                    <a:pt x="3722328" y="2396669"/>
                    <a:pt x="3715134" y="2396327"/>
                    <a:pt x="3709787" y="2399891"/>
                  </a:cubicBezTo>
                  <a:cubicBezTo>
                    <a:pt x="3702614" y="2404673"/>
                    <a:pt x="3697595" y="2412083"/>
                    <a:pt x="3691499" y="2418179"/>
                  </a:cubicBezTo>
                  <a:cubicBezTo>
                    <a:pt x="3685403" y="2420211"/>
                    <a:pt x="3678229" y="2420261"/>
                    <a:pt x="3673211" y="2424275"/>
                  </a:cubicBezTo>
                  <a:cubicBezTo>
                    <a:pt x="3667490" y="2428852"/>
                    <a:pt x="3668216" y="2441192"/>
                    <a:pt x="3661019" y="2442563"/>
                  </a:cubicBezTo>
                  <a:cubicBezTo>
                    <a:pt x="3623040" y="2449797"/>
                    <a:pt x="3583803" y="2446627"/>
                    <a:pt x="3545195" y="2448659"/>
                  </a:cubicBezTo>
                  <a:cubicBezTo>
                    <a:pt x="3532821" y="2445566"/>
                    <a:pt x="3514767" y="2441714"/>
                    <a:pt x="3502523" y="2436467"/>
                  </a:cubicBezTo>
                  <a:cubicBezTo>
                    <a:pt x="3494170" y="2432887"/>
                    <a:pt x="3486267" y="2428339"/>
                    <a:pt x="3478139" y="2424275"/>
                  </a:cubicBezTo>
                  <a:cubicBezTo>
                    <a:pt x="3466644" y="2418528"/>
                    <a:pt x="3452797" y="2418324"/>
                    <a:pt x="3441563" y="2412083"/>
                  </a:cubicBezTo>
                  <a:cubicBezTo>
                    <a:pt x="3434027" y="2407896"/>
                    <a:pt x="3429371" y="2399891"/>
                    <a:pt x="3423275" y="2393795"/>
                  </a:cubicBezTo>
                  <a:lnTo>
                    <a:pt x="3398891" y="2387699"/>
                  </a:lnTo>
                  <a:cubicBezTo>
                    <a:pt x="3392657" y="2386141"/>
                    <a:pt x="3386699" y="2383635"/>
                    <a:pt x="3380603" y="2381603"/>
                  </a:cubicBezTo>
                  <a:cubicBezTo>
                    <a:pt x="3368411" y="2377539"/>
                    <a:pt x="3356337" y="2373104"/>
                    <a:pt x="3344027" y="2369411"/>
                  </a:cubicBezTo>
                  <a:cubicBezTo>
                    <a:pt x="3336002" y="2367004"/>
                    <a:pt x="3327771" y="2365347"/>
                    <a:pt x="3319643" y="2363315"/>
                  </a:cubicBezTo>
                  <a:cubicBezTo>
                    <a:pt x="3307175" y="2360198"/>
                    <a:pt x="3295466" y="2354504"/>
                    <a:pt x="3283067" y="2351123"/>
                  </a:cubicBezTo>
                  <a:cubicBezTo>
                    <a:pt x="3238449" y="2338955"/>
                    <a:pt x="3266125" y="2354052"/>
                    <a:pt x="3234299" y="2332835"/>
                  </a:cubicBezTo>
                  <a:cubicBezTo>
                    <a:pt x="3181467" y="2328771"/>
                    <a:pt x="3128510" y="2326095"/>
                    <a:pt x="3075803" y="2320643"/>
                  </a:cubicBezTo>
                  <a:cubicBezTo>
                    <a:pt x="3069411" y="2319982"/>
                    <a:pt x="3063694" y="2316312"/>
                    <a:pt x="3057515" y="2314547"/>
                  </a:cubicBezTo>
                  <a:cubicBezTo>
                    <a:pt x="3049459" y="2312245"/>
                    <a:pt x="3041310" y="2310268"/>
                    <a:pt x="3033131" y="2308451"/>
                  </a:cubicBezTo>
                  <a:cubicBezTo>
                    <a:pt x="3023017" y="2306203"/>
                    <a:pt x="3012811" y="2304387"/>
                    <a:pt x="3002651" y="2302355"/>
                  </a:cubicBezTo>
                  <a:cubicBezTo>
                    <a:pt x="2977542" y="2297333"/>
                    <a:pt x="2963366" y="2288808"/>
                    <a:pt x="2941691" y="2277971"/>
                  </a:cubicBezTo>
                  <a:cubicBezTo>
                    <a:pt x="2926501" y="2270376"/>
                    <a:pt x="2875837" y="2262931"/>
                    <a:pt x="2856347" y="2259683"/>
                  </a:cubicBezTo>
                  <a:lnTo>
                    <a:pt x="2838059" y="2265779"/>
                  </a:lnTo>
                  <a:lnTo>
                    <a:pt x="2801483" y="2277971"/>
                  </a:lnTo>
                  <a:cubicBezTo>
                    <a:pt x="2762875" y="2280003"/>
                    <a:pt x="2724320" y="2284067"/>
                    <a:pt x="2685659" y="2284067"/>
                  </a:cubicBezTo>
                  <a:cubicBezTo>
                    <a:pt x="2673299" y="2284067"/>
                    <a:pt x="2661421" y="2278719"/>
                    <a:pt x="2649083" y="2277971"/>
                  </a:cubicBezTo>
                  <a:cubicBezTo>
                    <a:pt x="2594282" y="2274650"/>
                    <a:pt x="2539355" y="2273907"/>
                    <a:pt x="2484491" y="2271875"/>
                  </a:cubicBezTo>
                  <a:lnTo>
                    <a:pt x="2435723" y="2284067"/>
                  </a:lnTo>
                  <a:cubicBezTo>
                    <a:pt x="2407498" y="2291123"/>
                    <a:pt x="2378908" y="2296649"/>
                    <a:pt x="2350379" y="2302355"/>
                  </a:cubicBezTo>
                  <a:cubicBezTo>
                    <a:pt x="2281608" y="2316109"/>
                    <a:pt x="2215052" y="2315505"/>
                    <a:pt x="2143115" y="2320643"/>
                  </a:cubicBezTo>
                  <a:cubicBezTo>
                    <a:pt x="2110420" y="2317374"/>
                    <a:pt x="2072424" y="2314440"/>
                    <a:pt x="2039483" y="2308451"/>
                  </a:cubicBezTo>
                  <a:cubicBezTo>
                    <a:pt x="2031240" y="2306952"/>
                    <a:pt x="2023454" y="2302974"/>
                    <a:pt x="2015099" y="2302355"/>
                  </a:cubicBezTo>
                  <a:cubicBezTo>
                    <a:pt x="1968447" y="2298899"/>
                    <a:pt x="1921627" y="2298291"/>
                    <a:pt x="1874891" y="2296259"/>
                  </a:cubicBezTo>
                  <a:cubicBezTo>
                    <a:pt x="1868795" y="2298291"/>
                    <a:pt x="1862509" y="2299824"/>
                    <a:pt x="1856603" y="2302355"/>
                  </a:cubicBezTo>
                  <a:cubicBezTo>
                    <a:pt x="1848250" y="2305935"/>
                    <a:pt x="1841230" y="2313372"/>
                    <a:pt x="1832219" y="2314547"/>
                  </a:cubicBezTo>
                  <a:cubicBezTo>
                    <a:pt x="1793882" y="2319547"/>
                    <a:pt x="1755003" y="2318611"/>
                    <a:pt x="1716395" y="2320643"/>
                  </a:cubicBezTo>
                  <a:cubicBezTo>
                    <a:pt x="1672547" y="2306027"/>
                    <a:pt x="1727304" y="2323760"/>
                    <a:pt x="1673723" y="2308451"/>
                  </a:cubicBezTo>
                  <a:cubicBezTo>
                    <a:pt x="1667544" y="2306686"/>
                    <a:pt x="1661669" y="2303913"/>
                    <a:pt x="1655435" y="2302355"/>
                  </a:cubicBezTo>
                  <a:cubicBezTo>
                    <a:pt x="1645383" y="2299842"/>
                    <a:pt x="1635069" y="2298507"/>
                    <a:pt x="1624955" y="2296259"/>
                  </a:cubicBezTo>
                  <a:cubicBezTo>
                    <a:pt x="1616776" y="2294442"/>
                    <a:pt x="1608876" y="2291270"/>
                    <a:pt x="1600571" y="2290163"/>
                  </a:cubicBezTo>
                  <a:cubicBezTo>
                    <a:pt x="1578324" y="2287197"/>
                    <a:pt x="1555867" y="2286099"/>
                    <a:pt x="1533515" y="2284067"/>
                  </a:cubicBezTo>
                  <a:cubicBezTo>
                    <a:pt x="1525387" y="2286099"/>
                    <a:pt x="1516832" y="2286863"/>
                    <a:pt x="1509131" y="2290163"/>
                  </a:cubicBezTo>
                  <a:cubicBezTo>
                    <a:pt x="1490435" y="2298176"/>
                    <a:pt x="1488064" y="2307719"/>
                    <a:pt x="1472555" y="2320643"/>
                  </a:cubicBezTo>
                  <a:cubicBezTo>
                    <a:pt x="1466927" y="2325333"/>
                    <a:pt x="1459895" y="2328145"/>
                    <a:pt x="1454267" y="2332835"/>
                  </a:cubicBezTo>
                  <a:cubicBezTo>
                    <a:pt x="1439717" y="2344960"/>
                    <a:pt x="1426719" y="2366673"/>
                    <a:pt x="1405499" y="2369411"/>
                  </a:cubicBezTo>
                  <a:cubicBezTo>
                    <a:pt x="1353063" y="2376177"/>
                    <a:pt x="1299835" y="2373475"/>
                    <a:pt x="1247003" y="2375507"/>
                  </a:cubicBezTo>
                  <a:cubicBezTo>
                    <a:pt x="1238875" y="2373475"/>
                    <a:pt x="1230798" y="2371228"/>
                    <a:pt x="1222619" y="2369411"/>
                  </a:cubicBezTo>
                  <a:cubicBezTo>
                    <a:pt x="1190648" y="2362306"/>
                    <a:pt x="1188187" y="2364717"/>
                    <a:pt x="1155563" y="2351123"/>
                  </a:cubicBezTo>
                  <a:cubicBezTo>
                    <a:pt x="1059422" y="2311064"/>
                    <a:pt x="1177240" y="2352253"/>
                    <a:pt x="1082411" y="2320643"/>
                  </a:cubicBezTo>
                  <a:cubicBezTo>
                    <a:pt x="1065169" y="2314896"/>
                    <a:pt x="1050189" y="2303780"/>
                    <a:pt x="1033643" y="2296259"/>
                  </a:cubicBezTo>
                  <a:cubicBezTo>
                    <a:pt x="1027793" y="2293600"/>
                    <a:pt x="1021451" y="2292195"/>
                    <a:pt x="1015355" y="2290163"/>
                  </a:cubicBezTo>
                  <a:cubicBezTo>
                    <a:pt x="997067" y="2288131"/>
                    <a:pt x="978892" y="2284067"/>
                    <a:pt x="960491" y="2284067"/>
                  </a:cubicBezTo>
                  <a:cubicBezTo>
                    <a:pt x="954065" y="2284067"/>
                    <a:pt x="948589" y="2289453"/>
                    <a:pt x="942203" y="2290163"/>
                  </a:cubicBezTo>
                  <a:cubicBezTo>
                    <a:pt x="911842" y="2293536"/>
                    <a:pt x="881243" y="2294227"/>
                    <a:pt x="850763" y="2296259"/>
                  </a:cubicBezTo>
                  <a:lnTo>
                    <a:pt x="820283" y="2284067"/>
                  </a:lnTo>
                  <a:cubicBezTo>
                    <a:pt x="799963" y="2275939"/>
                    <a:pt x="779750" y="2267539"/>
                    <a:pt x="759323" y="2259683"/>
                  </a:cubicBezTo>
                  <a:cubicBezTo>
                    <a:pt x="753326" y="2257376"/>
                    <a:pt x="747336" y="2254847"/>
                    <a:pt x="741035" y="2253587"/>
                  </a:cubicBezTo>
                  <a:cubicBezTo>
                    <a:pt x="726946" y="2250769"/>
                    <a:pt x="712587" y="2249523"/>
                    <a:pt x="698363" y="2247491"/>
                  </a:cubicBezTo>
                  <a:cubicBezTo>
                    <a:pt x="661298" y="2259846"/>
                    <a:pt x="691111" y="2246879"/>
                    <a:pt x="643499" y="2290163"/>
                  </a:cubicBezTo>
                  <a:cubicBezTo>
                    <a:pt x="633872" y="2298915"/>
                    <a:pt x="622811" y="2305979"/>
                    <a:pt x="613019" y="2314547"/>
                  </a:cubicBezTo>
                  <a:cubicBezTo>
                    <a:pt x="588794" y="2335744"/>
                    <a:pt x="581754" y="2354674"/>
                    <a:pt x="545963" y="2369411"/>
                  </a:cubicBezTo>
                  <a:cubicBezTo>
                    <a:pt x="528948" y="2376417"/>
                    <a:pt x="509387" y="2373475"/>
                    <a:pt x="491099" y="2375507"/>
                  </a:cubicBezTo>
                  <a:cubicBezTo>
                    <a:pt x="444567" y="2363874"/>
                    <a:pt x="488965" y="2377488"/>
                    <a:pt x="436235" y="2351123"/>
                  </a:cubicBezTo>
                  <a:cubicBezTo>
                    <a:pt x="430488" y="2348249"/>
                    <a:pt x="423176" y="2348762"/>
                    <a:pt x="417947" y="2345027"/>
                  </a:cubicBezTo>
                  <a:cubicBezTo>
                    <a:pt x="401360" y="2333179"/>
                    <a:pt x="392600" y="2310793"/>
                    <a:pt x="369179" y="2308451"/>
                  </a:cubicBezTo>
                  <a:cubicBezTo>
                    <a:pt x="356880" y="2307221"/>
                    <a:pt x="344795" y="2312515"/>
                    <a:pt x="332603" y="2314547"/>
                  </a:cubicBezTo>
                  <a:lnTo>
                    <a:pt x="314315" y="2296259"/>
                  </a:lnTo>
                  <a:lnTo>
                    <a:pt x="277739" y="2259683"/>
                  </a:lnTo>
                  <a:lnTo>
                    <a:pt x="259451" y="2253587"/>
                  </a:lnTo>
                  <a:cubicBezTo>
                    <a:pt x="245550" y="2248953"/>
                    <a:pt x="237420" y="2230977"/>
                    <a:pt x="222875" y="2229203"/>
                  </a:cubicBezTo>
                  <a:cubicBezTo>
                    <a:pt x="152249" y="2220590"/>
                    <a:pt x="80635" y="2225139"/>
                    <a:pt x="9515" y="2223107"/>
                  </a:cubicBezTo>
                  <a:lnTo>
                    <a:pt x="0" y="2228523"/>
                  </a:lnTo>
                  <a:close/>
                </a:path>
              </a:pathLst>
            </a:cu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000" dirty="0">
                <a:solidFill>
                  <a:srgbClr val="203864"/>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34" name="Freeform: Shape 33">
              <a:extLst>
                <a:ext uri="{FF2B5EF4-FFF2-40B4-BE49-F238E27FC236}">
                  <a16:creationId xmlns:a16="http://schemas.microsoft.com/office/drawing/2014/main" id="{BB936D3D-98A4-4187-8745-AA0708ADCCEC}"/>
                </a:ext>
              </a:extLst>
            </p:cNvPr>
            <p:cNvSpPr/>
            <p:nvPr/>
          </p:nvSpPr>
          <p:spPr>
            <a:xfrm>
              <a:off x="6923948" y="4440080"/>
              <a:ext cx="4803676" cy="2274301"/>
            </a:xfrm>
            <a:custGeom>
              <a:avLst/>
              <a:gdLst>
                <a:gd name="connsiteX0" fmla="*/ 0 w 4125952"/>
                <a:gd name="connsiteY0" fmla="*/ 0 h 2448659"/>
                <a:gd name="connsiteX1" fmla="*/ 4125952 w 4125952"/>
                <a:gd name="connsiteY1" fmla="*/ 0 h 2448659"/>
                <a:gd name="connsiteX2" fmla="*/ 4125952 w 4125952"/>
                <a:gd name="connsiteY2" fmla="*/ 2338195 h 2448659"/>
                <a:gd name="connsiteX3" fmla="*/ 4099931 w 4125952"/>
                <a:gd name="connsiteY3" fmla="*/ 2338931 h 2448659"/>
                <a:gd name="connsiteX4" fmla="*/ 3917051 w 4125952"/>
                <a:gd name="connsiteY4" fmla="*/ 2338931 h 2448659"/>
                <a:gd name="connsiteX5" fmla="*/ 3898763 w 4125952"/>
                <a:gd name="connsiteY5" fmla="*/ 2345027 h 2448659"/>
                <a:gd name="connsiteX6" fmla="*/ 3849995 w 4125952"/>
                <a:gd name="connsiteY6" fmla="*/ 2351123 h 2448659"/>
                <a:gd name="connsiteX7" fmla="*/ 3831707 w 4125952"/>
                <a:gd name="connsiteY7" fmla="*/ 2357219 h 2448659"/>
                <a:gd name="connsiteX8" fmla="*/ 3807323 w 4125952"/>
                <a:gd name="connsiteY8" fmla="*/ 2363315 h 2448659"/>
                <a:gd name="connsiteX9" fmla="*/ 3789035 w 4125952"/>
                <a:gd name="connsiteY9" fmla="*/ 2369411 h 2448659"/>
                <a:gd name="connsiteX10" fmla="*/ 3746363 w 4125952"/>
                <a:gd name="connsiteY10" fmla="*/ 2381603 h 2448659"/>
                <a:gd name="connsiteX11" fmla="*/ 3728075 w 4125952"/>
                <a:gd name="connsiteY11" fmla="*/ 2393795 h 2448659"/>
                <a:gd name="connsiteX12" fmla="*/ 3709787 w 4125952"/>
                <a:gd name="connsiteY12" fmla="*/ 2399891 h 2448659"/>
                <a:gd name="connsiteX13" fmla="*/ 3691499 w 4125952"/>
                <a:gd name="connsiteY13" fmla="*/ 2418179 h 2448659"/>
                <a:gd name="connsiteX14" fmla="*/ 3673211 w 4125952"/>
                <a:gd name="connsiteY14" fmla="*/ 2424275 h 2448659"/>
                <a:gd name="connsiteX15" fmla="*/ 3661019 w 4125952"/>
                <a:gd name="connsiteY15" fmla="*/ 2442563 h 2448659"/>
                <a:gd name="connsiteX16" fmla="*/ 3545195 w 4125952"/>
                <a:gd name="connsiteY16" fmla="*/ 2448659 h 2448659"/>
                <a:gd name="connsiteX17" fmla="*/ 3502523 w 4125952"/>
                <a:gd name="connsiteY17" fmla="*/ 2436467 h 2448659"/>
                <a:gd name="connsiteX18" fmla="*/ 3478139 w 4125952"/>
                <a:gd name="connsiteY18" fmla="*/ 2424275 h 2448659"/>
                <a:gd name="connsiteX19" fmla="*/ 3441563 w 4125952"/>
                <a:gd name="connsiteY19" fmla="*/ 2412083 h 2448659"/>
                <a:gd name="connsiteX20" fmla="*/ 3423275 w 4125952"/>
                <a:gd name="connsiteY20" fmla="*/ 2393795 h 2448659"/>
                <a:gd name="connsiteX21" fmla="*/ 3398891 w 4125952"/>
                <a:gd name="connsiteY21" fmla="*/ 2387699 h 2448659"/>
                <a:gd name="connsiteX22" fmla="*/ 3380603 w 4125952"/>
                <a:gd name="connsiteY22" fmla="*/ 2381603 h 2448659"/>
                <a:gd name="connsiteX23" fmla="*/ 3344027 w 4125952"/>
                <a:gd name="connsiteY23" fmla="*/ 2369411 h 2448659"/>
                <a:gd name="connsiteX24" fmla="*/ 3319643 w 4125952"/>
                <a:gd name="connsiteY24" fmla="*/ 2363315 h 2448659"/>
                <a:gd name="connsiteX25" fmla="*/ 3283067 w 4125952"/>
                <a:gd name="connsiteY25" fmla="*/ 2351123 h 2448659"/>
                <a:gd name="connsiteX26" fmla="*/ 3234299 w 4125952"/>
                <a:gd name="connsiteY26" fmla="*/ 2332835 h 2448659"/>
                <a:gd name="connsiteX27" fmla="*/ 3075803 w 4125952"/>
                <a:gd name="connsiteY27" fmla="*/ 2320643 h 2448659"/>
                <a:gd name="connsiteX28" fmla="*/ 3057515 w 4125952"/>
                <a:gd name="connsiteY28" fmla="*/ 2314547 h 2448659"/>
                <a:gd name="connsiteX29" fmla="*/ 3033131 w 4125952"/>
                <a:gd name="connsiteY29" fmla="*/ 2308451 h 2448659"/>
                <a:gd name="connsiteX30" fmla="*/ 3002651 w 4125952"/>
                <a:gd name="connsiteY30" fmla="*/ 2302355 h 2448659"/>
                <a:gd name="connsiteX31" fmla="*/ 2941691 w 4125952"/>
                <a:gd name="connsiteY31" fmla="*/ 2277971 h 2448659"/>
                <a:gd name="connsiteX32" fmla="*/ 2856347 w 4125952"/>
                <a:gd name="connsiteY32" fmla="*/ 2259683 h 2448659"/>
                <a:gd name="connsiteX33" fmla="*/ 2838059 w 4125952"/>
                <a:gd name="connsiteY33" fmla="*/ 2265779 h 2448659"/>
                <a:gd name="connsiteX34" fmla="*/ 2801483 w 4125952"/>
                <a:gd name="connsiteY34" fmla="*/ 2277971 h 2448659"/>
                <a:gd name="connsiteX35" fmla="*/ 2685659 w 4125952"/>
                <a:gd name="connsiteY35" fmla="*/ 2284067 h 2448659"/>
                <a:gd name="connsiteX36" fmla="*/ 2649083 w 4125952"/>
                <a:gd name="connsiteY36" fmla="*/ 2277971 h 2448659"/>
                <a:gd name="connsiteX37" fmla="*/ 2484491 w 4125952"/>
                <a:gd name="connsiteY37" fmla="*/ 2271875 h 2448659"/>
                <a:gd name="connsiteX38" fmla="*/ 2435723 w 4125952"/>
                <a:gd name="connsiteY38" fmla="*/ 2284067 h 2448659"/>
                <a:gd name="connsiteX39" fmla="*/ 2350379 w 4125952"/>
                <a:gd name="connsiteY39" fmla="*/ 2302355 h 2448659"/>
                <a:gd name="connsiteX40" fmla="*/ 2143115 w 4125952"/>
                <a:gd name="connsiteY40" fmla="*/ 2320643 h 2448659"/>
                <a:gd name="connsiteX41" fmla="*/ 2039483 w 4125952"/>
                <a:gd name="connsiteY41" fmla="*/ 2308451 h 2448659"/>
                <a:gd name="connsiteX42" fmla="*/ 2015099 w 4125952"/>
                <a:gd name="connsiteY42" fmla="*/ 2302355 h 2448659"/>
                <a:gd name="connsiteX43" fmla="*/ 1874891 w 4125952"/>
                <a:gd name="connsiteY43" fmla="*/ 2296259 h 2448659"/>
                <a:gd name="connsiteX44" fmla="*/ 1856603 w 4125952"/>
                <a:gd name="connsiteY44" fmla="*/ 2302355 h 2448659"/>
                <a:gd name="connsiteX45" fmla="*/ 1832219 w 4125952"/>
                <a:gd name="connsiteY45" fmla="*/ 2314547 h 2448659"/>
                <a:gd name="connsiteX46" fmla="*/ 1716395 w 4125952"/>
                <a:gd name="connsiteY46" fmla="*/ 2320643 h 2448659"/>
                <a:gd name="connsiteX47" fmla="*/ 1673723 w 4125952"/>
                <a:gd name="connsiteY47" fmla="*/ 2308451 h 2448659"/>
                <a:gd name="connsiteX48" fmla="*/ 1655435 w 4125952"/>
                <a:gd name="connsiteY48" fmla="*/ 2302355 h 2448659"/>
                <a:gd name="connsiteX49" fmla="*/ 1624955 w 4125952"/>
                <a:gd name="connsiteY49" fmla="*/ 2296259 h 2448659"/>
                <a:gd name="connsiteX50" fmla="*/ 1600571 w 4125952"/>
                <a:gd name="connsiteY50" fmla="*/ 2290163 h 2448659"/>
                <a:gd name="connsiteX51" fmla="*/ 1533515 w 4125952"/>
                <a:gd name="connsiteY51" fmla="*/ 2284067 h 2448659"/>
                <a:gd name="connsiteX52" fmla="*/ 1509131 w 4125952"/>
                <a:gd name="connsiteY52" fmla="*/ 2290163 h 2448659"/>
                <a:gd name="connsiteX53" fmla="*/ 1472555 w 4125952"/>
                <a:gd name="connsiteY53" fmla="*/ 2320643 h 2448659"/>
                <a:gd name="connsiteX54" fmla="*/ 1454267 w 4125952"/>
                <a:gd name="connsiteY54" fmla="*/ 2332835 h 2448659"/>
                <a:gd name="connsiteX55" fmla="*/ 1405499 w 4125952"/>
                <a:gd name="connsiteY55" fmla="*/ 2369411 h 2448659"/>
                <a:gd name="connsiteX56" fmla="*/ 1247003 w 4125952"/>
                <a:gd name="connsiteY56" fmla="*/ 2375507 h 2448659"/>
                <a:gd name="connsiteX57" fmla="*/ 1222619 w 4125952"/>
                <a:gd name="connsiteY57" fmla="*/ 2369411 h 2448659"/>
                <a:gd name="connsiteX58" fmla="*/ 1155563 w 4125952"/>
                <a:gd name="connsiteY58" fmla="*/ 2351123 h 2448659"/>
                <a:gd name="connsiteX59" fmla="*/ 1082411 w 4125952"/>
                <a:gd name="connsiteY59" fmla="*/ 2320643 h 2448659"/>
                <a:gd name="connsiteX60" fmla="*/ 1033643 w 4125952"/>
                <a:gd name="connsiteY60" fmla="*/ 2296259 h 2448659"/>
                <a:gd name="connsiteX61" fmla="*/ 1015355 w 4125952"/>
                <a:gd name="connsiteY61" fmla="*/ 2290163 h 2448659"/>
                <a:gd name="connsiteX62" fmla="*/ 960491 w 4125952"/>
                <a:gd name="connsiteY62" fmla="*/ 2284067 h 2448659"/>
                <a:gd name="connsiteX63" fmla="*/ 942203 w 4125952"/>
                <a:gd name="connsiteY63" fmla="*/ 2290163 h 2448659"/>
                <a:gd name="connsiteX64" fmla="*/ 850763 w 4125952"/>
                <a:gd name="connsiteY64" fmla="*/ 2296259 h 2448659"/>
                <a:gd name="connsiteX65" fmla="*/ 820283 w 4125952"/>
                <a:gd name="connsiteY65" fmla="*/ 2284067 h 2448659"/>
                <a:gd name="connsiteX66" fmla="*/ 759323 w 4125952"/>
                <a:gd name="connsiteY66" fmla="*/ 2259683 h 2448659"/>
                <a:gd name="connsiteX67" fmla="*/ 741035 w 4125952"/>
                <a:gd name="connsiteY67" fmla="*/ 2253587 h 2448659"/>
                <a:gd name="connsiteX68" fmla="*/ 698363 w 4125952"/>
                <a:gd name="connsiteY68" fmla="*/ 2247491 h 2448659"/>
                <a:gd name="connsiteX69" fmla="*/ 643499 w 4125952"/>
                <a:gd name="connsiteY69" fmla="*/ 2290163 h 2448659"/>
                <a:gd name="connsiteX70" fmla="*/ 613019 w 4125952"/>
                <a:gd name="connsiteY70" fmla="*/ 2314547 h 2448659"/>
                <a:gd name="connsiteX71" fmla="*/ 545963 w 4125952"/>
                <a:gd name="connsiteY71" fmla="*/ 2369411 h 2448659"/>
                <a:gd name="connsiteX72" fmla="*/ 491099 w 4125952"/>
                <a:gd name="connsiteY72" fmla="*/ 2375507 h 2448659"/>
                <a:gd name="connsiteX73" fmla="*/ 436235 w 4125952"/>
                <a:gd name="connsiteY73" fmla="*/ 2351123 h 2448659"/>
                <a:gd name="connsiteX74" fmla="*/ 417947 w 4125952"/>
                <a:gd name="connsiteY74" fmla="*/ 2345027 h 2448659"/>
                <a:gd name="connsiteX75" fmla="*/ 369179 w 4125952"/>
                <a:gd name="connsiteY75" fmla="*/ 2308451 h 2448659"/>
                <a:gd name="connsiteX76" fmla="*/ 332603 w 4125952"/>
                <a:gd name="connsiteY76" fmla="*/ 2314547 h 2448659"/>
                <a:gd name="connsiteX77" fmla="*/ 314315 w 4125952"/>
                <a:gd name="connsiteY77" fmla="*/ 2296259 h 2448659"/>
                <a:gd name="connsiteX78" fmla="*/ 277739 w 4125952"/>
                <a:gd name="connsiteY78" fmla="*/ 2259683 h 2448659"/>
                <a:gd name="connsiteX79" fmla="*/ 259451 w 4125952"/>
                <a:gd name="connsiteY79" fmla="*/ 2253587 h 2448659"/>
                <a:gd name="connsiteX80" fmla="*/ 222875 w 4125952"/>
                <a:gd name="connsiteY80" fmla="*/ 2229203 h 2448659"/>
                <a:gd name="connsiteX81" fmla="*/ 9515 w 4125952"/>
                <a:gd name="connsiteY81" fmla="*/ 2223107 h 2448659"/>
                <a:gd name="connsiteX82" fmla="*/ 0 w 4125952"/>
                <a:gd name="connsiteY82" fmla="*/ 2228523 h 2448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125952" h="2448659">
                  <a:moveTo>
                    <a:pt x="0" y="0"/>
                  </a:moveTo>
                  <a:lnTo>
                    <a:pt x="4125952" y="0"/>
                  </a:lnTo>
                  <a:lnTo>
                    <a:pt x="4125952" y="2338195"/>
                  </a:lnTo>
                  <a:lnTo>
                    <a:pt x="4099931" y="2338931"/>
                  </a:lnTo>
                  <a:cubicBezTo>
                    <a:pt x="4013081" y="2334983"/>
                    <a:pt x="3986930" y="2326226"/>
                    <a:pt x="3917051" y="2338931"/>
                  </a:cubicBezTo>
                  <a:cubicBezTo>
                    <a:pt x="3910729" y="2340080"/>
                    <a:pt x="3904859" y="2342995"/>
                    <a:pt x="3898763" y="2345027"/>
                  </a:cubicBezTo>
                  <a:cubicBezTo>
                    <a:pt x="3882507" y="2347059"/>
                    <a:pt x="3866113" y="2348192"/>
                    <a:pt x="3849995" y="2351123"/>
                  </a:cubicBezTo>
                  <a:cubicBezTo>
                    <a:pt x="3843673" y="2352272"/>
                    <a:pt x="3837886" y="2355454"/>
                    <a:pt x="3831707" y="2357219"/>
                  </a:cubicBezTo>
                  <a:cubicBezTo>
                    <a:pt x="3823651" y="2359521"/>
                    <a:pt x="3815379" y="2361013"/>
                    <a:pt x="3807323" y="2363315"/>
                  </a:cubicBezTo>
                  <a:cubicBezTo>
                    <a:pt x="3801144" y="2365080"/>
                    <a:pt x="3795214" y="2367646"/>
                    <a:pt x="3789035" y="2369411"/>
                  </a:cubicBezTo>
                  <a:cubicBezTo>
                    <a:pt x="3779920" y="2372015"/>
                    <a:pt x="3756107" y="2376731"/>
                    <a:pt x="3746363" y="2381603"/>
                  </a:cubicBezTo>
                  <a:cubicBezTo>
                    <a:pt x="3739810" y="2384880"/>
                    <a:pt x="3734628" y="2390518"/>
                    <a:pt x="3728075" y="2393795"/>
                  </a:cubicBezTo>
                  <a:cubicBezTo>
                    <a:pt x="3722328" y="2396669"/>
                    <a:pt x="3715134" y="2396327"/>
                    <a:pt x="3709787" y="2399891"/>
                  </a:cubicBezTo>
                  <a:cubicBezTo>
                    <a:pt x="3702614" y="2404673"/>
                    <a:pt x="3697595" y="2412083"/>
                    <a:pt x="3691499" y="2418179"/>
                  </a:cubicBezTo>
                  <a:cubicBezTo>
                    <a:pt x="3685403" y="2420211"/>
                    <a:pt x="3678229" y="2420261"/>
                    <a:pt x="3673211" y="2424275"/>
                  </a:cubicBezTo>
                  <a:cubicBezTo>
                    <a:pt x="3667490" y="2428852"/>
                    <a:pt x="3668216" y="2441192"/>
                    <a:pt x="3661019" y="2442563"/>
                  </a:cubicBezTo>
                  <a:cubicBezTo>
                    <a:pt x="3623040" y="2449797"/>
                    <a:pt x="3583803" y="2446627"/>
                    <a:pt x="3545195" y="2448659"/>
                  </a:cubicBezTo>
                  <a:cubicBezTo>
                    <a:pt x="3532821" y="2445566"/>
                    <a:pt x="3514767" y="2441714"/>
                    <a:pt x="3502523" y="2436467"/>
                  </a:cubicBezTo>
                  <a:cubicBezTo>
                    <a:pt x="3494170" y="2432887"/>
                    <a:pt x="3486267" y="2428339"/>
                    <a:pt x="3478139" y="2424275"/>
                  </a:cubicBezTo>
                  <a:cubicBezTo>
                    <a:pt x="3466644" y="2418528"/>
                    <a:pt x="3452797" y="2418324"/>
                    <a:pt x="3441563" y="2412083"/>
                  </a:cubicBezTo>
                  <a:cubicBezTo>
                    <a:pt x="3434027" y="2407896"/>
                    <a:pt x="3429371" y="2399891"/>
                    <a:pt x="3423275" y="2393795"/>
                  </a:cubicBezTo>
                  <a:lnTo>
                    <a:pt x="3398891" y="2387699"/>
                  </a:lnTo>
                  <a:cubicBezTo>
                    <a:pt x="3392657" y="2386141"/>
                    <a:pt x="3386699" y="2383635"/>
                    <a:pt x="3380603" y="2381603"/>
                  </a:cubicBezTo>
                  <a:cubicBezTo>
                    <a:pt x="3368411" y="2377539"/>
                    <a:pt x="3356337" y="2373104"/>
                    <a:pt x="3344027" y="2369411"/>
                  </a:cubicBezTo>
                  <a:cubicBezTo>
                    <a:pt x="3336002" y="2367004"/>
                    <a:pt x="3327771" y="2365347"/>
                    <a:pt x="3319643" y="2363315"/>
                  </a:cubicBezTo>
                  <a:cubicBezTo>
                    <a:pt x="3307175" y="2360198"/>
                    <a:pt x="3295466" y="2354504"/>
                    <a:pt x="3283067" y="2351123"/>
                  </a:cubicBezTo>
                  <a:cubicBezTo>
                    <a:pt x="3238449" y="2338955"/>
                    <a:pt x="3266125" y="2354052"/>
                    <a:pt x="3234299" y="2332835"/>
                  </a:cubicBezTo>
                  <a:cubicBezTo>
                    <a:pt x="3181467" y="2328771"/>
                    <a:pt x="3128510" y="2326095"/>
                    <a:pt x="3075803" y="2320643"/>
                  </a:cubicBezTo>
                  <a:cubicBezTo>
                    <a:pt x="3069411" y="2319982"/>
                    <a:pt x="3063694" y="2316312"/>
                    <a:pt x="3057515" y="2314547"/>
                  </a:cubicBezTo>
                  <a:cubicBezTo>
                    <a:pt x="3049459" y="2312245"/>
                    <a:pt x="3041310" y="2310268"/>
                    <a:pt x="3033131" y="2308451"/>
                  </a:cubicBezTo>
                  <a:cubicBezTo>
                    <a:pt x="3023017" y="2306203"/>
                    <a:pt x="3012811" y="2304387"/>
                    <a:pt x="3002651" y="2302355"/>
                  </a:cubicBezTo>
                  <a:cubicBezTo>
                    <a:pt x="2977542" y="2297333"/>
                    <a:pt x="2963366" y="2288808"/>
                    <a:pt x="2941691" y="2277971"/>
                  </a:cubicBezTo>
                  <a:cubicBezTo>
                    <a:pt x="2926501" y="2270376"/>
                    <a:pt x="2875837" y="2262931"/>
                    <a:pt x="2856347" y="2259683"/>
                  </a:cubicBezTo>
                  <a:lnTo>
                    <a:pt x="2838059" y="2265779"/>
                  </a:lnTo>
                  <a:lnTo>
                    <a:pt x="2801483" y="2277971"/>
                  </a:lnTo>
                  <a:cubicBezTo>
                    <a:pt x="2762875" y="2280003"/>
                    <a:pt x="2724320" y="2284067"/>
                    <a:pt x="2685659" y="2284067"/>
                  </a:cubicBezTo>
                  <a:cubicBezTo>
                    <a:pt x="2673299" y="2284067"/>
                    <a:pt x="2661421" y="2278719"/>
                    <a:pt x="2649083" y="2277971"/>
                  </a:cubicBezTo>
                  <a:cubicBezTo>
                    <a:pt x="2594282" y="2274650"/>
                    <a:pt x="2539355" y="2273907"/>
                    <a:pt x="2484491" y="2271875"/>
                  </a:cubicBezTo>
                  <a:lnTo>
                    <a:pt x="2435723" y="2284067"/>
                  </a:lnTo>
                  <a:cubicBezTo>
                    <a:pt x="2407498" y="2291123"/>
                    <a:pt x="2378908" y="2296649"/>
                    <a:pt x="2350379" y="2302355"/>
                  </a:cubicBezTo>
                  <a:cubicBezTo>
                    <a:pt x="2281608" y="2316109"/>
                    <a:pt x="2215052" y="2315505"/>
                    <a:pt x="2143115" y="2320643"/>
                  </a:cubicBezTo>
                  <a:cubicBezTo>
                    <a:pt x="2110420" y="2317374"/>
                    <a:pt x="2072424" y="2314440"/>
                    <a:pt x="2039483" y="2308451"/>
                  </a:cubicBezTo>
                  <a:cubicBezTo>
                    <a:pt x="2031240" y="2306952"/>
                    <a:pt x="2023454" y="2302974"/>
                    <a:pt x="2015099" y="2302355"/>
                  </a:cubicBezTo>
                  <a:cubicBezTo>
                    <a:pt x="1968447" y="2298899"/>
                    <a:pt x="1921627" y="2298291"/>
                    <a:pt x="1874891" y="2296259"/>
                  </a:cubicBezTo>
                  <a:cubicBezTo>
                    <a:pt x="1868795" y="2298291"/>
                    <a:pt x="1862509" y="2299824"/>
                    <a:pt x="1856603" y="2302355"/>
                  </a:cubicBezTo>
                  <a:cubicBezTo>
                    <a:pt x="1848250" y="2305935"/>
                    <a:pt x="1841230" y="2313372"/>
                    <a:pt x="1832219" y="2314547"/>
                  </a:cubicBezTo>
                  <a:cubicBezTo>
                    <a:pt x="1793882" y="2319547"/>
                    <a:pt x="1755003" y="2318611"/>
                    <a:pt x="1716395" y="2320643"/>
                  </a:cubicBezTo>
                  <a:cubicBezTo>
                    <a:pt x="1672547" y="2306027"/>
                    <a:pt x="1727304" y="2323760"/>
                    <a:pt x="1673723" y="2308451"/>
                  </a:cubicBezTo>
                  <a:cubicBezTo>
                    <a:pt x="1667544" y="2306686"/>
                    <a:pt x="1661669" y="2303913"/>
                    <a:pt x="1655435" y="2302355"/>
                  </a:cubicBezTo>
                  <a:cubicBezTo>
                    <a:pt x="1645383" y="2299842"/>
                    <a:pt x="1635069" y="2298507"/>
                    <a:pt x="1624955" y="2296259"/>
                  </a:cubicBezTo>
                  <a:cubicBezTo>
                    <a:pt x="1616776" y="2294442"/>
                    <a:pt x="1608876" y="2291270"/>
                    <a:pt x="1600571" y="2290163"/>
                  </a:cubicBezTo>
                  <a:cubicBezTo>
                    <a:pt x="1578324" y="2287197"/>
                    <a:pt x="1555867" y="2286099"/>
                    <a:pt x="1533515" y="2284067"/>
                  </a:cubicBezTo>
                  <a:cubicBezTo>
                    <a:pt x="1525387" y="2286099"/>
                    <a:pt x="1516832" y="2286863"/>
                    <a:pt x="1509131" y="2290163"/>
                  </a:cubicBezTo>
                  <a:cubicBezTo>
                    <a:pt x="1490435" y="2298176"/>
                    <a:pt x="1488064" y="2307719"/>
                    <a:pt x="1472555" y="2320643"/>
                  </a:cubicBezTo>
                  <a:cubicBezTo>
                    <a:pt x="1466927" y="2325333"/>
                    <a:pt x="1459895" y="2328145"/>
                    <a:pt x="1454267" y="2332835"/>
                  </a:cubicBezTo>
                  <a:cubicBezTo>
                    <a:pt x="1439717" y="2344960"/>
                    <a:pt x="1426719" y="2366673"/>
                    <a:pt x="1405499" y="2369411"/>
                  </a:cubicBezTo>
                  <a:cubicBezTo>
                    <a:pt x="1353063" y="2376177"/>
                    <a:pt x="1299835" y="2373475"/>
                    <a:pt x="1247003" y="2375507"/>
                  </a:cubicBezTo>
                  <a:cubicBezTo>
                    <a:pt x="1238875" y="2373475"/>
                    <a:pt x="1230798" y="2371228"/>
                    <a:pt x="1222619" y="2369411"/>
                  </a:cubicBezTo>
                  <a:cubicBezTo>
                    <a:pt x="1190648" y="2362306"/>
                    <a:pt x="1188187" y="2364717"/>
                    <a:pt x="1155563" y="2351123"/>
                  </a:cubicBezTo>
                  <a:cubicBezTo>
                    <a:pt x="1059422" y="2311064"/>
                    <a:pt x="1177240" y="2352253"/>
                    <a:pt x="1082411" y="2320643"/>
                  </a:cubicBezTo>
                  <a:cubicBezTo>
                    <a:pt x="1065169" y="2314896"/>
                    <a:pt x="1050189" y="2303780"/>
                    <a:pt x="1033643" y="2296259"/>
                  </a:cubicBezTo>
                  <a:cubicBezTo>
                    <a:pt x="1027793" y="2293600"/>
                    <a:pt x="1021451" y="2292195"/>
                    <a:pt x="1015355" y="2290163"/>
                  </a:cubicBezTo>
                  <a:cubicBezTo>
                    <a:pt x="997067" y="2288131"/>
                    <a:pt x="978892" y="2284067"/>
                    <a:pt x="960491" y="2284067"/>
                  </a:cubicBezTo>
                  <a:cubicBezTo>
                    <a:pt x="954065" y="2284067"/>
                    <a:pt x="948589" y="2289453"/>
                    <a:pt x="942203" y="2290163"/>
                  </a:cubicBezTo>
                  <a:cubicBezTo>
                    <a:pt x="911842" y="2293536"/>
                    <a:pt x="881243" y="2294227"/>
                    <a:pt x="850763" y="2296259"/>
                  </a:cubicBezTo>
                  <a:lnTo>
                    <a:pt x="820283" y="2284067"/>
                  </a:lnTo>
                  <a:cubicBezTo>
                    <a:pt x="799963" y="2275939"/>
                    <a:pt x="779750" y="2267539"/>
                    <a:pt x="759323" y="2259683"/>
                  </a:cubicBezTo>
                  <a:cubicBezTo>
                    <a:pt x="753326" y="2257376"/>
                    <a:pt x="747336" y="2254847"/>
                    <a:pt x="741035" y="2253587"/>
                  </a:cubicBezTo>
                  <a:cubicBezTo>
                    <a:pt x="726946" y="2250769"/>
                    <a:pt x="712587" y="2249523"/>
                    <a:pt x="698363" y="2247491"/>
                  </a:cubicBezTo>
                  <a:cubicBezTo>
                    <a:pt x="661298" y="2259846"/>
                    <a:pt x="691111" y="2246879"/>
                    <a:pt x="643499" y="2290163"/>
                  </a:cubicBezTo>
                  <a:cubicBezTo>
                    <a:pt x="633872" y="2298915"/>
                    <a:pt x="622811" y="2305979"/>
                    <a:pt x="613019" y="2314547"/>
                  </a:cubicBezTo>
                  <a:cubicBezTo>
                    <a:pt x="588794" y="2335744"/>
                    <a:pt x="581754" y="2354674"/>
                    <a:pt x="545963" y="2369411"/>
                  </a:cubicBezTo>
                  <a:cubicBezTo>
                    <a:pt x="528948" y="2376417"/>
                    <a:pt x="509387" y="2373475"/>
                    <a:pt x="491099" y="2375507"/>
                  </a:cubicBezTo>
                  <a:cubicBezTo>
                    <a:pt x="444567" y="2363874"/>
                    <a:pt x="488965" y="2377488"/>
                    <a:pt x="436235" y="2351123"/>
                  </a:cubicBezTo>
                  <a:cubicBezTo>
                    <a:pt x="430488" y="2348249"/>
                    <a:pt x="423176" y="2348762"/>
                    <a:pt x="417947" y="2345027"/>
                  </a:cubicBezTo>
                  <a:cubicBezTo>
                    <a:pt x="401360" y="2333179"/>
                    <a:pt x="392600" y="2310793"/>
                    <a:pt x="369179" y="2308451"/>
                  </a:cubicBezTo>
                  <a:cubicBezTo>
                    <a:pt x="356880" y="2307221"/>
                    <a:pt x="344795" y="2312515"/>
                    <a:pt x="332603" y="2314547"/>
                  </a:cubicBezTo>
                  <a:lnTo>
                    <a:pt x="314315" y="2296259"/>
                  </a:lnTo>
                  <a:lnTo>
                    <a:pt x="277739" y="2259683"/>
                  </a:lnTo>
                  <a:lnTo>
                    <a:pt x="259451" y="2253587"/>
                  </a:lnTo>
                  <a:cubicBezTo>
                    <a:pt x="245550" y="2248953"/>
                    <a:pt x="237420" y="2230977"/>
                    <a:pt x="222875" y="2229203"/>
                  </a:cubicBezTo>
                  <a:cubicBezTo>
                    <a:pt x="152249" y="2220590"/>
                    <a:pt x="80635" y="2225139"/>
                    <a:pt x="9515" y="2223107"/>
                  </a:cubicBezTo>
                  <a:lnTo>
                    <a:pt x="0" y="2228523"/>
                  </a:lnTo>
                  <a:close/>
                </a:path>
              </a:pathLst>
            </a:cu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LH-MLG , PN D23189000-24, SN MN275</a:t>
              </a:r>
            </a:p>
            <a:p>
              <a:endPar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endParaRPr>
            </a:p>
            <a:p>
              <a:pPr marL="225425" indent="-225425">
                <a:buAutoNum type="arabicPeriod"/>
              </a:pP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LDG logbook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và</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manufactured cert @ delivery.</a:t>
              </a:r>
            </a:p>
            <a:p>
              <a:pPr marL="225425" indent="-225425">
                <a:buAutoNum type="arabicPeriod"/>
              </a:pP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Hồ</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ơ</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shop OVH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lần</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1:</a:t>
              </a:r>
            </a:p>
            <a:p>
              <a:pPr marL="463550" lvl="1" indent="-180975">
                <a:buFontTx/>
                <a:buChar char="-"/>
              </a:pP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có</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NIS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từ</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lúc</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CSN=0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đến</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tháo</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OVH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lần</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1.</a:t>
              </a:r>
            </a:p>
            <a:p>
              <a:pPr marL="463550" lvl="1" indent="-180975">
                <a:buFontTx/>
                <a:buChar char="-"/>
              </a:pP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Có</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09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thiết</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bị</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LLP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bị</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thay</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trong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quá</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trình</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OVH,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có</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5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thiết</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bị</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thay</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mới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(new)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và</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4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thiết</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bị</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cũ</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(used part).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Các</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thiết</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bị</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này</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đều</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có</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chứng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chỉ</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và</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hồ</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ơ</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BTB </a:t>
              </a:r>
            </a:p>
            <a:p>
              <a:pPr marL="225425" indent="-225425">
                <a:buAutoNum type="arabicPeriod"/>
              </a:pP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Hồ</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ơ</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shop OVH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lần</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2:</a:t>
              </a:r>
            </a:p>
            <a:p>
              <a:pPr marL="463550" lvl="1" indent="-180975">
                <a:buFontTx/>
                <a:buChar char="-"/>
              </a:pP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Sai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số</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MSN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tàu</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bay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tại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thời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điểm</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delivery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trong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hồ</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ơ</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shop</a:t>
              </a:r>
            </a:p>
            <a:p>
              <a:pPr marL="463550" lvl="1" indent="-180975">
                <a:buFontTx/>
                <a:buChar char="-"/>
              </a:pP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1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thiết</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bị</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Pin đ</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ư</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ợc</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thay</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mới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nh</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ư</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ng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có</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chứng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chỉ</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a:t>
              </a:r>
            </a:p>
            <a:p>
              <a:pPr marL="463550" lvl="1" indent="-180975">
                <a:buFontTx/>
                <a:buChar char="-"/>
              </a:pP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Có</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NIS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nh</a:t>
              </a:r>
              <a:r>
                <a:rPr lang="vi-VN"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ư</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ng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đúng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tin: NIS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chỉ</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rõ</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quãng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thời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gian</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khai</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thác</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không</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nêu</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rõ</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P/N , S/N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của</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của</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bộ</a:t>
              </a:r>
              <a:r>
                <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rPr>
                <a:t> </a:t>
              </a:r>
              <a:r>
                <a:rPr lang="en-US" sz="1100" dirty="0" err="1">
                  <a:solidFill>
                    <a:srgbClr val="203864"/>
                  </a:solidFill>
                  <a:latin typeface="Times New Roman" panose="02020603050405020304" pitchFamily="18" charset="0"/>
                  <a:ea typeface="Cambria" panose="02040503050406030204" pitchFamily="18" charset="0"/>
                  <a:cs typeface="Times New Roman" panose="02020603050405020304" pitchFamily="18" charset="0"/>
                </a:rPr>
                <a:t>càng</a:t>
              </a:r>
              <a:endParaRPr lang="en-US" sz="1100" dirty="0">
                <a:solidFill>
                  <a:srgbClr val="203864"/>
                </a:solidFill>
                <a:latin typeface="Times New Roman" panose="02020603050405020304" pitchFamily="18" charset="0"/>
                <a:ea typeface="Cambria" panose="02040503050406030204" pitchFamily="18" charset="0"/>
                <a:cs typeface="Times New Roman" panose="02020603050405020304" pitchFamily="18" charset="0"/>
              </a:endParaRPr>
            </a:p>
          </p:txBody>
        </p:sp>
      </p:grpSp>
    </p:spTree>
    <p:extLst>
      <p:ext uri="{BB962C8B-B14F-4D97-AF65-F5344CB8AC3E}">
        <p14:creationId xmlns:p14="http://schemas.microsoft.com/office/powerpoint/2010/main" val="38309165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37</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838200" y="717498"/>
            <a:ext cx="9826782" cy="18733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400" b="1" dirty="0">
                <a:cs typeface="Times New Roman" panose="02020603050405020304" pitchFamily="18" charset="0"/>
              </a:rPr>
              <a:t>BQDB: </a:t>
            </a:r>
            <a:r>
              <a:rPr lang="pt-BR" sz="1400" b="1" dirty="0">
                <a:cs typeface="Times New Roman" panose="02020603050405020304" pitchFamily="18" charset="0"/>
              </a:rPr>
              <a:t>HAN (A501/03/05/06/08/10/11/16, A620/22/23/24/25, A886/887/895/898) /</a:t>
            </a:r>
            <a:r>
              <a:rPr lang="pt-BR" sz="1400" b="1" dirty="0">
                <a:solidFill>
                  <a:schemeClr val="accent1">
                    <a:lumMod val="75000"/>
                  </a:schemeClr>
                </a:solidFill>
                <a:cs typeface="Times New Roman" panose="02020603050405020304" pitchFamily="18" charset="0"/>
              </a:rPr>
              <a:t> SGN (A617, A509).</a:t>
            </a:r>
            <a:endParaRPr lang="en-US" sz="1400" b="1" dirty="0">
              <a:cs typeface="Times New Roman" panose="02020603050405020304" pitchFamily="18" charset="0"/>
            </a:endParaRPr>
          </a:p>
          <a:p>
            <a:pPr marL="12700" indent="0" algn="just">
              <a:buSzPts val="1100"/>
              <a:buFont typeface="Arial" panose="020B0604020202020204" pitchFamily="34" charset="0"/>
              <a:buNone/>
            </a:pPr>
            <a:r>
              <a:rPr lang="en-US" sz="1400" b="1" dirty="0">
                <a:cs typeface="Times New Roman" panose="02020603050405020304" pitchFamily="18" charset="0"/>
              </a:rPr>
              <a:t>BDĐK: A321: </a:t>
            </a:r>
            <a:r>
              <a:rPr lang="en-US" sz="1400" b="1" dirty="0" smtClean="0">
                <a:cs typeface="Times New Roman" panose="02020603050405020304" pitchFamily="18" charset="0"/>
              </a:rPr>
              <a:t>A604;</a:t>
            </a:r>
            <a:endParaRPr lang="en-US" sz="1400" b="1" dirty="0">
              <a:cs typeface="Times New Roman" panose="02020603050405020304" pitchFamily="18" charset="0"/>
            </a:endParaRPr>
          </a:p>
          <a:p>
            <a:pPr marL="12700" indent="0" algn="just">
              <a:buSzPts val="1100"/>
              <a:buFont typeface="Arial" panose="020B0604020202020204" pitchFamily="34" charset="0"/>
              <a:buNone/>
            </a:pPr>
            <a:r>
              <a:rPr lang="en-US" sz="1400" b="1" dirty="0">
                <a:solidFill>
                  <a:schemeClr val="accent1"/>
                </a:solidFill>
                <a:cs typeface="Times New Roman" panose="02020603050405020304" pitchFamily="18" charset="0"/>
              </a:rPr>
              <a:t>              </a:t>
            </a:r>
            <a:r>
              <a:rPr lang="en-US" sz="1400" b="1" dirty="0">
                <a:cs typeface="Times New Roman" panose="02020603050405020304" pitchFamily="18" charset="0"/>
              </a:rPr>
              <a:t>A350: A892;</a:t>
            </a:r>
          </a:p>
          <a:p>
            <a:pPr marL="12700" indent="0" algn="just">
              <a:buSzPts val="1100"/>
              <a:buFont typeface="Arial" panose="020B0604020202020204" pitchFamily="34" charset="0"/>
              <a:buNone/>
            </a:pPr>
            <a:r>
              <a:rPr lang="en-US" sz="1400" b="1" dirty="0">
                <a:cs typeface="Times New Roman" panose="02020603050405020304" pitchFamily="18" charset="0"/>
              </a:rPr>
              <a:t>              ATR72: </a:t>
            </a:r>
            <a:r>
              <a:rPr lang="en-US" sz="1400" b="1" dirty="0" smtClean="0">
                <a:cs typeface="Times New Roman" panose="02020603050405020304" pitchFamily="18" charset="0"/>
              </a:rPr>
              <a:t>B218;</a:t>
            </a:r>
            <a:endParaRPr lang="en-US" sz="1400" b="1" dirty="0">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400" b="1" dirty="0">
                <a:cs typeface="Times New Roman" panose="02020603050405020304" pitchFamily="18" charset="0"/>
              </a:rPr>
              <a:t>              B787: </a:t>
            </a:r>
            <a:r>
              <a:rPr lang="en-US" sz="1400" b="1" dirty="0" smtClean="0">
                <a:cs typeface="Times New Roman" panose="02020603050405020304" pitchFamily="18" charset="0"/>
              </a:rPr>
              <a:t>A868;</a:t>
            </a:r>
            <a:endParaRPr lang="en-US" sz="14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838201" y="2590800"/>
            <a:ext cx="10458410" cy="42672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400" b="1" dirty="0">
                <a:cs typeface="Times New Roman" panose="02020603050405020304" pitchFamily="18" charset="0"/>
              </a:rPr>
              <a:t>I. A321: </a:t>
            </a:r>
          </a:p>
          <a:p>
            <a:pPr marL="12700" indent="0" algn="just">
              <a:lnSpc>
                <a:spcPct val="100000"/>
              </a:lnSpc>
              <a:buSzPts val="1100"/>
              <a:buNone/>
            </a:pPr>
            <a:r>
              <a:rPr lang="es-ES" sz="1400" b="1" dirty="0">
                <a:solidFill>
                  <a:srgbClr val="FF0000"/>
                </a:solidFill>
                <a:cs typeface="Times New Roman" panose="02020603050405020304" pitchFamily="18" charset="0"/>
                <a:sym typeface="Wingdings" panose="05000000000000000000" pitchFamily="2" charset="2"/>
              </a:rPr>
              <a:t>    1. </a:t>
            </a:r>
            <a:r>
              <a:rPr lang="en-US" sz="1400" b="1" dirty="0" smtClean="0">
                <a:solidFill>
                  <a:srgbClr val="FF0000"/>
                </a:solidFill>
                <a:cs typeface="Times New Roman" panose="02020603050405020304" pitchFamily="18" charset="0"/>
                <a:sym typeface="Wingdings" panose="05000000000000000000" pitchFamily="2" charset="2"/>
              </a:rPr>
              <a:t>A604_HAN_EC06+EC01+C02+C03+Y06+Y12+EA08-EA09_13/04-13/05: </a:t>
            </a:r>
            <a:r>
              <a:rPr lang="en-US" sz="1400" b="1" dirty="0">
                <a:solidFill>
                  <a:srgbClr val="FF0000"/>
                </a:solidFill>
                <a:cs typeface="Times New Roman" panose="02020603050405020304" pitchFamily="18" charset="0"/>
                <a:sym typeface="Wingdings" panose="05000000000000000000" pitchFamily="2" charset="2"/>
              </a:rPr>
              <a:t>On sked</a:t>
            </a:r>
          </a:p>
          <a:p>
            <a:pPr marL="12700" indent="0" algn="just">
              <a:lnSpc>
                <a:spcPct val="100000"/>
              </a:lnSpc>
              <a:spcBef>
                <a:spcPts val="600"/>
              </a:spcBef>
              <a:buSzPts val="1100"/>
              <a:buNone/>
            </a:pPr>
            <a:r>
              <a:rPr lang="en-US" sz="1400" dirty="0">
                <a:solidFill>
                  <a:srgbClr val="FF0000"/>
                </a:solidFill>
                <a:cs typeface="Times New Roman" panose="02020603050405020304" pitchFamily="18" charset="0"/>
                <a:sym typeface="Wingdings" panose="05000000000000000000" pitchFamily="2" charset="2"/>
              </a:rPr>
              <a:t>      </a:t>
            </a:r>
            <a:r>
              <a:rPr lang="en-US" sz="1400" dirty="0">
                <a:cs typeface="Times New Roman" panose="02020603050405020304" pitchFamily="18" charset="0"/>
                <a:sym typeface="Wingdings" panose="05000000000000000000" pitchFamily="2" charset="2"/>
              </a:rPr>
              <a:t>-</a:t>
            </a:r>
            <a:r>
              <a:rPr lang="en-US" sz="1400" dirty="0">
                <a:solidFill>
                  <a:srgbClr val="FF0000"/>
                </a:solidFill>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Tàu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mới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vào</a:t>
            </a:r>
            <a:r>
              <a:rPr lang="en-US" sz="1400" dirty="0" smtClean="0">
                <a:cs typeface="Times New Roman" panose="02020603050405020304" pitchFamily="18" charset="0"/>
                <a:sym typeface="Wingdings" panose="05000000000000000000" pitchFamily="2" charset="2"/>
              </a:rPr>
              <a:t> Check,</a:t>
            </a:r>
          </a:p>
          <a:p>
            <a:pPr marL="12700" indent="0" algn="just">
              <a:lnSpc>
                <a:spcPct val="100000"/>
              </a:lnSpc>
              <a:spcBef>
                <a:spcPts val="600"/>
              </a:spcBef>
              <a:buSzPts val="1100"/>
              <a:buNone/>
            </a:pPr>
            <a:r>
              <a:rPr lang="en-US" sz="1400" dirty="0" smtClean="0">
                <a:cs typeface="Times New Roman" panose="02020603050405020304" pitchFamily="18" charset="0"/>
                <a:sym typeface="Wingdings" panose="05000000000000000000" pitchFamily="2" charset="2"/>
              </a:rPr>
              <a:t>      -   Check </a:t>
            </a:r>
            <a:r>
              <a:rPr lang="en-US" sz="1400" dirty="0" err="1" smtClean="0">
                <a:cs typeface="Times New Roman" panose="02020603050405020304" pitchFamily="18" charset="0"/>
                <a:sym typeface="Wingdings" panose="05000000000000000000" pitchFamily="2" charset="2"/>
              </a:rPr>
              <a:t>được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theo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trình</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giảm</a:t>
            </a:r>
            <a:r>
              <a:rPr lang="en-US" sz="1400" dirty="0" smtClean="0">
                <a:cs typeface="Times New Roman" panose="02020603050405020304" pitchFamily="18" charset="0"/>
                <a:sym typeface="Wingdings" panose="05000000000000000000" pitchFamily="2" charset="2"/>
              </a:rPr>
              <a:t> TAT, </a:t>
            </a:r>
            <a:r>
              <a:rPr lang="en-US" sz="1400" dirty="0" err="1" smtClean="0">
                <a:cs typeface="Times New Roman" panose="02020603050405020304" pitchFamily="18" charset="0"/>
                <a:sym typeface="Wingdings" panose="05000000000000000000" pitchFamily="2" charset="2"/>
              </a:rPr>
              <a:t>cần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chê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việc</a:t>
            </a:r>
            <a:r>
              <a:rPr lang="en-US" sz="1400" dirty="0" smtClean="0">
                <a:cs typeface="Times New Roman" panose="02020603050405020304" pitchFamily="18" charset="0"/>
                <a:sym typeface="Wingdings" panose="05000000000000000000" pitchFamily="2" charset="2"/>
              </a:rPr>
              <a:t> Rob/ Swap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bảo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đô</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theo</a:t>
            </a:r>
            <a:r>
              <a:rPr lang="en-US" sz="1400" dirty="0" smtClean="0">
                <a:cs typeface="Times New Roman" panose="02020603050405020304" pitchFamily="18" charset="0"/>
                <a:sym typeface="Wingdings" panose="05000000000000000000" pitchFamily="2" charset="2"/>
              </a:rPr>
              <a:t> KH.</a:t>
            </a:r>
            <a:r>
              <a:rPr lang="es-ES" sz="1400" dirty="0" smtClean="0">
                <a:cs typeface="Times New Roman" panose="02020603050405020304" pitchFamily="18" charset="0"/>
                <a:sym typeface="Wingdings" panose="05000000000000000000" pitchFamily="2" charset="2"/>
              </a:rPr>
              <a:t>   </a:t>
            </a:r>
            <a:endParaRPr lang="es-ES" sz="1400" dirty="0">
              <a:cs typeface="Times New Roman" panose="02020603050405020304" pitchFamily="18" charset="0"/>
              <a:sym typeface="Wingdings" panose="05000000000000000000" pitchFamily="2" charset="2"/>
            </a:endParaRPr>
          </a:p>
          <a:p>
            <a:pPr marL="12700" indent="0" algn="just">
              <a:buSzPts val="1100"/>
              <a:buNone/>
            </a:pPr>
            <a:r>
              <a:rPr lang="es-ES" sz="1400" b="1" dirty="0">
                <a:solidFill>
                  <a:srgbClr val="FF0000"/>
                </a:solidFill>
                <a:cs typeface="Times New Roman" panose="02020603050405020304" pitchFamily="18" charset="0"/>
                <a:sym typeface="Wingdings" panose="05000000000000000000" pitchFamily="2" charset="2"/>
              </a:rPr>
              <a:t> </a:t>
            </a:r>
            <a:r>
              <a:rPr lang="es-ES" sz="1400" b="1" dirty="0" smtClean="0">
                <a:cs typeface="Times New Roman" panose="02020603050405020304" pitchFamily="18" charset="0"/>
                <a:sym typeface="Wingdings" panose="05000000000000000000" pitchFamily="2" charset="2"/>
              </a:rPr>
              <a:t>II. </a:t>
            </a:r>
            <a:r>
              <a:rPr lang="es-ES" sz="1400" b="1" dirty="0">
                <a:cs typeface="Times New Roman" panose="02020603050405020304" pitchFamily="18" charset="0"/>
                <a:sym typeface="Wingdings" panose="05000000000000000000" pitchFamily="2" charset="2"/>
              </a:rPr>
              <a:t>ATR72:</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1. B218_SGN_Y02+Y04+Y08+SWAP LH LDG WITH B223_03-25/04: </a:t>
            </a:r>
            <a:r>
              <a:rPr lang="en-US" sz="1400" b="1" dirty="0" smtClean="0">
                <a:solidFill>
                  <a:srgbClr val="FF0000"/>
                </a:solidFill>
                <a:cs typeface="Times New Roman" panose="02020603050405020304" pitchFamily="18" charset="0"/>
                <a:sym typeface="Wingdings" panose="05000000000000000000" pitchFamily="2" charset="2"/>
              </a:rPr>
              <a:t>Ext 01/5 do </a:t>
            </a:r>
            <a:r>
              <a:rPr lang="en-US" sz="1400" b="1" dirty="0" err="1" smtClean="0">
                <a:solidFill>
                  <a:srgbClr val="FF0000"/>
                </a:solidFill>
                <a:cs typeface="Times New Roman" panose="02020603050405020304" pitchFamily="18" charset="0"/>
                <a:sym typeface="Wingdings" panose="05000000000000000000" pitchFamily="2" charset="2"/>
              </a:rPr>
              <a:t>hỏng</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hóc</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cấu</a:t>
            </a:r>
            <a:r>
              <a:rPr lang="en-US" sz="1400" b="1" dirty="0" smtClean="0">
                <a:solidFill>
                  <a:srgbClr val="FF0000"/>
                </a:solidFill>
                <a:cs typeface="Times New Roman" panose="02020603050405020304" pitchFamily="18" charset="0"/>
                <a:sym typeface="Wingdings" panose="05000000000000000000" pitchFamily="2" charset="2"/>
              </a:rPr>
              <a:t> </a:t>
            </a:r>
            <a:r>
              <a:rPr lang="en-US" sz="1400" b="1" dirty="0" err="1" smtClean="0">
                <a:solidFill>
                  <a:srgbClr val="FF0000"/>
                </a:solidFill>
                <a:cs typeface="Times New Roman" panose="02020603050405020304" pitchFamily="18" charset="0"/>
                <a:sym typeface="Wingdings" panose="05000000000000000000" pitchFamily="2" charset="2"/>
              </a:rPr>
              <a:t>trúc</a:t>
            </a:r>
            <a:r>
              <a:rPr lang="en-US" sz="1400" b="1" dirty="0" smtClean="0">
                <a:solidFill>
                  <a:srgbClr val="FF0000"/>
                </a:solidFill>
                <a:cs typeface="Times New Roman" panose="02020603050405020304" pitchFamily="18" charset="0"/>
                <a:sym typeface="Wingdings" panose="05000000000000000000" pitchFamily="2" charset="2"/>
              </a:rPr>
              <a:t>.</a:t>
            </a:r>
            <a:endParaRPr lang="en-US" sz="1400" b="1" dirty="0">
              <a:solidFill>
                <a:srgbClr val="FF0000"/>
              </a:solidFill>
              <a:cs typeface="Times New Roman" panose="02020603050405020304" pitchFamily="18" charset="0"/>
              <a:sym typeface="Wingdings" panose="05000000000000000000" pitchFamily="2" charset="2"/>
            </a:endParaRPr>
          </a:p>
          <a:p>
            <a:pPr marL="298450" indent="-285750" algn="just">
              <a:buSzPts val="1100"/>
              <a:buFontTx/>
              <a:buChar char="-"/>
            </a:pPr>
            <a:r>
              <a:rPr lang="en-US" sz="1400" dirty="0" err="1">
                <a:cs typeface="Times New Roman" panose="02020603050405020304" pitchFamily="18" charset="0"/>
                <a:sym typeface="Wingdings" panose="05000000000000000000" pitchFamily="2" charset="2"/>
              </a:rPr>
              <a:t>Tàu</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vào</a:t>
            </a:r>
            <a:r>
              <a:rPr lang="en-US" sz="1400" dirty="0">
                <a:cs typeface="Times New Roman" panose="02020603050405020304" pitchFamily="18" charset="0"/>
                <a:sym typeface="Wingdings" panose="05000000000000000000" pitchFamily="2" charset="2"/>
              </a:rPr>
              <a:t> Check </a:t>
            </a:r>
            <a:r>
              <a:rPr lang="en-US" sz="1400" dirty="0" err="1">
                <a:cs typeface="Times New Roman" panose="02020603050405020304" pitchFamily="18" charset="0"/>
                <a:sym typeface="Wingdings" panose="05000000000000000000" pitchFamily="2" charset="2"/>
              </a:rPr>
              <a:t>sớm</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hơn</a:t>
            </a:r>
            <a:r>
              <a:rPr lang="en-US" sz="1400" dirty="0">
                <a:cs typeface="Times New Roman" panose="02020603050405020304" pitchFamily="18" charset="0"/>
                <a:sym typeface="Wingdings" panose="05000000000000000000" pitchFamily="2" charset="2"/>
              </a:rPr>
              <a:t> 2 </a:t>
            </a:r>
            <a:r>
              <a:rPr lang="en-US" sz="1400" dirty="0" err="1">
                <a:cs typeface="Times New Roman" panose="02020603050405020304" pitchFamily="18" charset="0"/>
                <a:sym typeface="Wingdings" panose="05000000000000000000" pitchFamily="2" charset="2"/>
              </a:rPr>
              <a:t>tháng</a:t>
            </a:r>
            <a:r>
              <a:rPr lang="en-US" sz="1400" dirty="0">
                <a:cs typeface="Times New Roman" panose="02020603050405020304" pitchFamily="18" charset="0"/>
                <a:sym typeface="Wingdings" panose="05000000000000000000" pitchFamily="2" charset="2"/>
              </a:rPr>
              <a:t> so </a:t>
            </a:r>
            <a:r>
              <a:rPr lang="en-US" sz="1400" dirty="0" err="1">
                <a:cs typeface="Times New Roman" panose="02020603050405020304" pitchFamily="18" charset="0"/>
                <a:sym typeface="Wingdings" panose="05000000000000000000" pitchFamily="2" charset="2"/>
              </a:rPr>
              <a:t>với</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dư</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kiến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đê</a:t>
            </a:r>
            <a:r>
              <a:rPr lang="en-US" sz="1400" dirty="0">
                <a:cs typeface="Times New Roman" panose="02020603050405020304" pitchFamily="18" charset="0"/>
                <a:sym typeface="Wingdings" panose="05000000000000000000" pitchFamily="2" charset="2"/>
              </a:rPr>
              <a:t>̉ Swap LH-MLG </a:t>
            </a:r>
            <a:r>
              <a:rPr lang="en-US" sz="1400" dirty="0" err="1">
                <a:cs typeface="Times New Roman" panose="02020603050405020304" pitchFamily="18" charset="0"/>
                <a:sym typeface="Wingdings" panose="05000000000000000000" pitchFamily="2" charset="2"/>
              </a:rPr>
              <a:t>cho</a:t>
            </a:r>
            <a:r>
              <a:rPr lang="en-US" sz="1400" dirty="0">
                <a:cs typeface="Times New Roman" panose="02020603050405020304" pitchFamily="18" charset="0"/>
                <a:sym typeface="Wingdings" panose="05000000000000000000" pitchFamily="2" charset="2"/>
              </a:rPr>
              <a:t> B223 </a:t>
            </a:r>
            <a:r>
              <a:rPr lang="en-US" sz="1400" dirty="0" err="1">
                <a:cs typeface="Times New Roman" panose="02020603050405020304" pitchFamily="18" charset="0"/>
                <a:sym typeface="Wingdings" panose="05000000000000000000" pitchFamily="2" charset="2"/>
              </a:rPr>
              <a:t>khai</a:t>
            </a:r>
            <a:r>
              <a:rPr lang="en-US" sz="1400" dirty="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tận</a:t>
            </a:r>
            <a:r>
              <a:rPr lang="en-US" sz="1400" dirty="0" smtClean="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dụng</a:t>
            </a:r>
            <a:r>
              <a:rPr lang="en-US" sz="1400" dirty="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dừng</a:t>
            </a:r>
            <a:r>
              <a:rPr lang="en-US" sz="1400" dirty="0" smtClean="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tàu</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triển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khai</a:t>
            </a:r>
            <a:r>
              <a:rPr lang="en-US" sz="1400" dirty="0">
                <a:cs typeface="Times New Roman" panose="02020603050405020304" pitchFamily="18" charset="0"/>
                <a:sym typeface="Wingdings" panose="05000000000000000000" pitchFamily="2" charset="2"/>
              </a:rPr>
              <a:t> Check </a:t>
            </a:r>
            <a:r>
              <a:rPr lang="en-US" sz="1400" dirty="0" smtClean="0">
                <a:cs typeface="Times New Roman" panose="02020603050405020304" pitchFamily="18" charset="0"/>
                <a:sym typeface="Wingdings" panose="05000000000000000000" pitchFamily="2" charset="2"/>
              </a:rPr>
              <a:t>Y08.</a:t>
            </a:r>
            <a:endParaRPr lang="en-US" sz="1400" dirty="0">
              <a:cs typeface="Times New Roman" panose="02020603050405020304" pitchFamily="18" charset="0"/>
              <a:sym typeface="Wingdings" panose="05000000000000000000" pitchFamily="2" charset="2"/>
            </a:endParaRPr>
          </a:p>
          <a:p>
            <a:pPr marL="298450" indent="-285750" algn="just">
              <a:buSzPts val="1100"/>
              <a:buFontTx/>
              <a:buChar char="-"/>
            </a:pPr>
            <a:r>
              <a:rPr lang="en-US" sz="1400" dirty="0" smtClean="0">
                <a:cs typeface="Times New Roman" panose="02020603050405020304" pitchFamily="18" charset="0"/>
                <a:sym typeface="Wingdings" panose="05000000000000000000" pitchFamily="2" charset="2"/>
              </a:rPr>
              <a:t>Theo KH </a:t>
            </a:r>
            <a:r>
              <a:rPr lang="en-US" sz="1400" dirty="0" err="1" smtClean="0">
                <a:cs typeface="Times New Roman" panose="02020603050405020304" pitchFamily="18" charset="0"/>
                <a:sym typeface="Wingdings" panose="05000000000000000000" pitchFamily="2" charset="2"/>
              </a:rPr>
              <a:t>hiện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tại</a:t>
            </a:r>
            <a:r>
              <a:rPr lang="en-US" sz="1400" dirty="0" smtClean="0">
                <a:cs typeface="Times New Roman" panose="02020603050405020304" pitchFamily="18" charset="0"/>
                <a:sym typeface="Wingdings" panose="05000000000000000000" pitchFamily="2" charset="2"/>
              </a:rPr>
              <a:t>, </a:t>
            </a:r>
            <a:r>
              <a:rPr lang="en-US" sz="1400" dirty="0">
                <a:cs typeface="Times New Roman" panose="02020603050405020304" pitchFamily="18" charset="0"/>
                <a:sym typeface="Wingdings" panose="05000000000000000000" pitchFamily="2" charset="2"/>
              </a:rPr>
              <a:t>LH MLG </a:t>
            </a:r>
            <a:r>
              <a:rPr lang="en-US" sz="1400" dirty="0" err="1">
                <a:cs typeface="Times New Roman" panose="02020603050405020304" pitchFamily="18" charset="0"/>
                <a:sym typeface="Wingdings" panose="05000000000000000000" pitchFamily="2" charset="2"/>
              </a:rPr>
              <a:t>cho</a:t>
            </a:r>
            <a:r>
              <a:rPr lang="en-US" sz="1400" dirty="0">
                <a:cs typeface="Times New Roman" panose="02020603050405020304" pitchFamily="18" charset="0"/>
                <a:sym typeface="Wingdings" panose="05000000000000000000" pitchFamily="2" charset="2"/>
              </a:rPr>
              <a:t> B218 </a:t>
            </a:r>
            <a:r>
              <a:rPr lang="en-US" sz="1400" dirty="0" err="1" smtClean="0">
                <a:cs typeface="Times New Roman" panose="02020603050405020304" pitchFamily="18" charset="0"/>
                <a:sym typeface="Wingdings" panose="05000000000000000000" pitchFamily="2" charset="2"/>
              </a:rPr>
              <a:t>dư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kiến</a:t>
            </a:r>
            <a:r>
              <a:rPr lang="en-US" sz="1400" dirty="0" smtClean="0">
                <a:cs typeface="Times New Roman" panose="02020603050405020304" pitchFamily="18" charset="0"/>
                <a:sym typeface="Wingdings" panose="05000000000000000000" pitchFamily="2" charset="2"/>
              </a:rPr>
              <a:t> </a:t>
            </a:r>
            <a:r>
              <a:rPr lang="en-US" sz="1400" dirty="0">
                <a:cs typeface="Times New Roman" panose="02020603050405020304" pitchFamily="18" charset="0"/>
                <a:sym typeface="Wingdings" panose="05000000000000000000" pitchFamily="2" charset="2"/>
              </a:rPr>
              <a:t>avail </a:t>
            </a:r>
            <a:r>
              <a:rPr lang="en-US" sz="1400" dirty="0" err="1">
                <a:cs typeface="Times New Roman" panose="02020603050405020304" pitchFamily="18" charset="0"/>
                <a:sym typeface="Wingdings" panose="05000000000000000000" pitchFamily="2" charset="2"/>
              </a:rPr>
              <a:t>tại</a:t>
            </a:r>
            <a:r>
              <a:rPr lang="en-US" sz="1400" dirty="0">
                <a:cs typeface="Times New Roman" panose="02020603050405020304" pitchFamily="18" charset="0"/>
                <a:sym typeface="Wingdings" panose="05000000000000000000" pitchFamily="2" charset="2"/>
              </a:rPr>
              <a:t> SGN </a:t>
            </a:r>
            <a:r>
              <a:rPr lang="en-US" sz="1400" dirty="0" smtClean="0">
                <a:cs typeface="Times New Roman" panose="02020603050405020304" pitchFamily="18" charset="0"/>
                <a:sym typeface="Wingdings" panose="05000000000000000000" pitchFamily="2" charset="2"/>
              </a:rPr>
              <a:t>T6/2025, </a:t>
            </a:r>
            <a:r>
              <a:rPr lang="en-US" sz="1400" dirty="0" err="1" smtClean="0">
                <a:cs typeface="Times New Roman" panose="02020603050405020304" pitchFamily="18" charset="0"/>
                <a:sym typeface="Wingdings" panose="05000000000000000000" pitchFamily="2" charset="2"/>
              </a:rPr>
              <a:t>xem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xét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gối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đầu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tiếp</a:t>
            </a:r>
            <a:r>
              <a:rPr lang="en-US" sz="1400" dirty="0" smtClean="0">
                <a:cs typeface="Times New Roman" panose="02020603050405020304" pitchFamily="18" charset="0"/>
                <a:sym typeface="Wingdings" panose="05000000000000000000" pitchFamily="2" charset="2"/>
              </a:rPr>
              <a:t> 1 </a:t>
            </a:r>
            <a:r>
              <a:rPr lang="en-US" sz="1400" dirty="0" err="1" smtClean="0">
                <a:cs typeface="Times New Roman" panose="02020603050405020304" pitchFamily="18" charset="0"/>
                <a:sym typeface="Wingdings" panose="05000000000000000000" pitchFamily="2" charset="2"/>
              </a:rPr>
              <a:t>sô</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tàu</a:t>
            </a:r>
            <a:r>
              <a:rPr lang="en-US" sz="1400" dirty="0" smtClean="0">
                <a:cs typeface="Times New Roman" panose="02020603050405020304" pitchFamily="18" charset="0"/>
                <a:sym typeface="Wingdings" panose="05000000000000000000" pitchFamily="2" charset="2"/>
              </a:rPr>
              <a:t> có Y08 </a:t>
            </a:r>
            <a:r>
              <a:rPr lang="en-US" sz="1400" dirty="0" err="1" smtClean="0">
                <a:cs typeface="Times New Roman" panose="02020603050405020304" pitchFamily="18" charset="0"/>
                <a:sym typeface="Wingdings" panose="05000000000000000000" pitchFamily="2" charset="2"/>
              </a:rPr>
              <a:t>vào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cuối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năm</a:t>
            </a:r>
            <a:r>
              <a:rPr lang="en-US" sz="1400" dirty="0" smtClean="0">
                <a:cs typeface="Times New Roman" panose="02020603050405020304" pitchFamily="18" charset="0"/>
                <a:sym typeface="Wingdings" panose="05000000000000000000" pitchFamily="2" charset="2"/>
              </a:rPr>
              <a:t>: B221, B223, B225 (</a:t>
            </a:r>
            <a:r>
              <a:rPr lang="en-US" sz="1400" dirty="0" err="1" smtClean="0">
                <a:cs typeface="Times New Roman" panose="02020603050405020304" pitchFamily="18" charset="0"/>
                <a:sym typeface="Wingdings" panose="05000000000000000000" pitchFamily="2" charset="2"/>
              </a:rPr>
              <a:t>Kê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hoạch</a:t>
            </a:r>
            <a:r>
              <a:rPr lang="en-US" sz="1400" dirty="0" smtClean="0">
                <a:cs typeface="Times New Roman" panose="02020603050405020304" pitchFamily="18" charset="0"/>
                <a:sym typeface="Wingdings" panose="05000000000000000000" pitchFamily="2" charset="2"/>
              </a:rPr>
              <a:t> T9-T11).</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Hiện</a:t>
            </a:r>
            <a:r>
              <a:rPr lang="es-ES" sz="1400" dirty="0" smtClean="0">
                <a:cs typeface="Times New Roman" panose="02020603050405020304" pitchFamily="18" charset="0"/>
                <a:sym typeface="Wingdings" panose="05000000000000000000" pitchFamily="2" charset="2"/>
              </a:rPr>
              <a:t> VASCO </a:t>
            </a:r>
            <a:r>
              <a:rPr lang="es-ES" sz="1400" dirty="0" err="1" smtClean="0">
                <a:cs typeface="Times New Roman" panose="02020603050405020304" pitchFamily="18" charset="0"/>
                <a:sym typeface="Wingdings" panose="05000000000000000000" pitchFamily="2" charset="2"/>
              </a:rPr>
              <a:t>đang</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đê</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nghi</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tráo</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lại</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càng</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cho</a:t>
            </a:r>
            <a:r>
              <a:rPr lang="es-ES" sz="1400" dirty="0" smtClean="0">
                <a:cs typeface="Times New Roman" panose="02020603050405020304" pitchFamily="18" charset="0"/>
                <a:sym typeface="Wingdings" panose="05000000000000000000" pitchFamily="2" charset="2"/>
              </a:rPr>
              <a:t> B218 </a:t>
            </a:r>
            <a:r>
              <a:rPr lang="es-ES" sz="1400" dirty="0" err="1" smtClean="0">
                <a:cs typeface="Times New Roman" panose="02020603050405020304" pitchFamily="18" charset="0"/>
                <a:sym typeface="Wingdings" panose="05000000000000000000" pitchFamily="2" charset="2"/>
              </a:rPr>
              <a:t>khai</a:t>
            </a:r>
            <a:r>
              <a:rPr lang="es-ES" sz="1400" dirty="0" smtClean="0">
                <a:cs typeface="Times New Roman" panose="02020603050405020304" pitchFamily="18" charset="0"/>
                <a:sym typeface="Wingdings" panose="05000000000000000000" pitchFamily="2" charset="2"/>
              </a:rPr>
              <a:t> </a:t>
            </a:r>
            <a:r>
              <a:rPr lang="es-ES" sz="1400" dirty="0" err="1" smtClean="0">
                <a:cs typeface="Times New Roman" panose="02020603050405020304" pitchFamily="18" charset="0"/>
                <a:sym typeface="Wingdings" panose="05000000000000000000" pitchFamily="2" charset="2"/>
              </a:rPr>
              <a:t>thác</a:t>
            </a:r>
            <a:r>
              <a:rPr lang="es-ES" sz="1400" dirty="0" smtClean="0">
                <a:cs typeface="Times New Roman" panose="02020603050405020304" pitchFamily="18" charset="0"/>
                <a:sym typeface="Wingdings" panose="05000000000000000000" pitchFamily="2" charset="2"/>
              </a:rPr>
              <a:t>,</a:t>
            </a:r>
          </a:p>
          <a:p>
            <a:pPr marL="298450" indent="-285750" algn="just">
              <a:buSzPts val="1100"/>
              <a:buFontTx/>
              <a:buChar char="-"/>
            </a:pPr>
            <a:r>
              <a:rPr lang="vi-VN" sz="1400" dirty="0">
                <a:cs typeface="Times New Roman" panose="02020603050405020304" pitchFamily="18" charset="0"/>
                <a:sym typeface="Wingdings" panose="05000000000000000000" pitchFamily="2" charset="2"/>
              </a:rPr>
              <a:t>B218 có hỏng hóc cấu trúc từ Node 5, Floor beam tại các Fr13, Fr17, crack Fr24 segment, Fr36, Fr37,38,39,41,44, </a:t>
            </a:r>
            <a:r>
              <a:rPr lang="vi-VN" sz="1400" dirty="0" smtClean="0">
                <a:cs typeface="Times New Roman" panose="02020603050405020304" pitchFamily="18" charset="0"/>
                <a:sym typeface="Wingdings" panose="05000000000000000000" pitchFamily="2" charset="2"/>
              </a:rPr>
              <a:t>ảnh </a:t>
            </a:r>
            <a:r>
              <a:rPr lang="vi-VN" sz="1400" dirty="0">
                <a:cs typeface="Times New Roman" panose="02020603050405020304" pitchFamily="18" charset="0"/>
                <a:sym typeface="Wingdings" panose="05000000000000000000" pitchFamily="2" charset="2"/>
              </a:rPr>
              <a:t>hưởng </a:t>
            </a:r>
            <a:r>
              <a:rPr lang="vi-VN" sz="1400" dirty="0" smtClean="0">
                <a:cs typeface="Times New Roman" panose="02020603050405020304" pitchFamily="18" charset="0"/>
                <a:sym typeface="Wingdings" panose="05000000000000000000" pitchFamily="2" charset="2"/>
              </a:rPr>
              <a:t>TAT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thời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tàu</a:t>
            </a:r>
            <a:r>
              <a:rPr lang="en-US" sz="1400" dirty="0" smtClean="0">
                <a:cs typeface="Times New Roman" panose="02020603050405020304" pitchFamily="18" charset="0"/>
                <a:sym typeface="Wingdings" panose="05000000000000000000" pitchFamily="2" charset="2"/>
              </a:rPr>
              <a:t> có </a:t>
            </a:r>
            <a:r>
              <a:rPr lang="en-US" sz="1400" dirty="0" err="1" smtClean="0">
                <a:cs typeface="Times New Roman" panose="02020603050405020304" pitchFamily="18" charset="0"/>
                <a:sym typeface="Wingdings" panose="05000000000000000000" pitchFamily="2" charset="2"/>
              </a:rPr>
              <a:t>nhiều</a:t>
            </a:r>
            <a:r>
              <a:rPr lang="en-US" sz="1400" dirty="0" smtClean="0">
                <a:cs typeface="Times New Roman" panose="02020603050405020304" pitchFamily="18" charset="0"/>
                <a:sym typeface="Wingdings" panose="05000000000000000000" pitchFamily="2" charset="2"/>
              </a:rPr>
              <a:t> vị trí bị </a:t>
            </a:r>
            <a:r>
              <a:rPr lang="en-US" sz="1400" dirty="0" err="1" smtClean="0">
                <a:cs typeface="Times New Roman" panose="02020603050405020304" pitchFamily="18" charset="0"/>
                <a:sym typeface="Wingdings" panose="05000000000000000000" pitchFamily="2" charset="2"/>
              </a:rPr>
              <a:t>hỏng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sơn</a:t>
            </a:r>
            <a:r>
              <a:rPr lang="en-US" sz="1400" dirty="0" smtClean="0">
                <a:cs typeface="Times New Roman" panose="02020603050405020304" pitchFamily="18" charset="0"/>
                <a:sym typeface="Wingdings" panose="05000000000000000000" pitchFamily="2" charset="2"/>
              </a:rPr>
              <a:t>, VASCO </a:t>
            </a:r>
            <a:r>
              <a:rPr lang="en-US" sz="1400" dirty="0" err="1" smtClean="0">
                <a:cs typeface="Times New Roman" panose="02020603050405020304" pitchFamily="18" charset="0"/>
                <a:sym typeface="Wingdings" panose="05000000000000000000" pitchFamily="2" charset="2"/>
              </a:rPr>
              <a:t>đang</a:t>
            </a:r>
            <a:r>
              <a:rPr lang="en-US" sz="1400" dirty="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theo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phương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sơn</a:t>
            </a:r>
            <a:r>
              <a:rPr lang="en-US" sz="1400" dirty="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cục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bô</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theo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từng</a:t>
            </a:r>
            <a:r>
              <a:rPr lang="en-US" sz="1400" dirty="0" smtClean="0">
                <a:cs typeface="Times New Roman" panose="02020603050405020304" pitchFamily="18" charset="0"/>
                <a:sym typeface="Wingdings" panose="05000000000000000000" pitchFamily="2" charset="2"/>
              </a:rPr>
              <a:t> vị trí.</a:t>
            </a:r>
            <a:endParaRPr lang="es-ES" sz="1400" dirty="0" smtClean="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413818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buSzPts val="1100"/>
              <a:buNone/>
            </a:pPr>
            <a:r>
              <a:rPr lang="en-US" sz="1400" b="1" dirty="0" smtClean="0">
                <a:cs typeface="Times New Roman" panose="02020603050405020304" pitchFamily="18" charset="0"/>
              </a:rPr>
              <a:t>III. </a:t>
            </a:r>
            <a:r>
              <a:rPr lang="en-US" sz="1400" b="1" dirty="0">
                <a:cs typeface="Times New Roman" panose="02020603050405020304" pitchFamily="18" charset="0"/>
              </a:rPr>
              <a:t>A350:</a:t>
            </a:r>
            <a:r>
              <a:rPr lang="es-ES" sz="1400" i="1" dirty="0">
                <a:cs typeface="Times New Roman" panose="02020603050405020304" pitchFamily="18" charset="0"/>
                <a:sym typeface="Wingdings" panose="05000000000000000000" pitchFamily="2" charset="2"/>
              </a:rPr>
              <a:t> </a:t>
            </a:r>
          </a:p>
          <a:p>
            <a:pPr marL="355600" indent="-342900" algn="just">
              <a:buSzPts val="1100"/>
              <a:buAutoNum type="arabicPeriod"/>
            </a:pPr>
            <a:r>
              <a:rPr lang="en-US" sz="1400" b="1" dirty="0" smtClean="0">
                <a:solidFill>
                  <a:srgbClr val="FF0000"/>
                </a:solidFill>
                <a:cs typeface="Times New Roman" panose="02020603050405020304" pitchFamily="18" charset="0"/>
                <a:sym typeface="Wingdings" panose="05000000000000000000" pitchFamily="2" charset="2"/>
              </a:rPr>
              <a:t>A892_HAN_C01+C02+C04+MOD </a:t>
            </a:r>
            <a:r>
              <a:rPr lang="en-US" sz="1400" b="1" dirty="0">
                <a:solidFill>
                  <a:srgbClr val="FF0000"/>
                </a:solidFill>
                <a:cs typeface="Times New Roman" panose="02020603050405020304" pitchFamily="18" charset="0"/>
                <a:sym typeface="Wingdings" panose="05000000000000000000" pitchFamily="2" charset="2"/>
              </a:rPr>
              <a:t>ATENNA_02/4-17/04</a:t>
            </a:r>
            <a:r>
              <a:rPr lang="en-US" sz="1400" b="1" dirty="0" smtClean="0">
                <a:solidFill>
                  <a:srgbClr val="FF0000"/>
                </a:solidFill>
                <a:cs typeface="Times New Roman" panose="02020603050405020304" pitchFamily="18" charset="0"/>
                <a:sym typeface="Wingdings" panose="05000000000000000000" pitchFamily="2" charset="2"/>
              </a:rPr>
              <a:t>:</a:t>
            </a: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PI </a:t>
            </a:r>
            <a:r>
              <a:rPr lang="vi-VN" sz="1400" dirty="0">
                <a:cs typeface="Times New Roman" panose="02020603050405020304" pitchFamily="18" charset="0"/>
                <a:sym typeface="Wingdings" panose="05000000000000000000" pitchFamily="2" charset="2"/>
              </a:rPr>
              <a:t>Task = &gt; Upper/Lower </a:t>
            </a:r>
            <a:r>
              <a:rPr lang="vi-VN" sz="1400" dirty="0" smtClean="0">
                <a:cs typeface="Times New Roman" panose="02020603050405020304" pitchFamily="18" charset="0"/>
                <a:sym typeface="Wingdings" panose="05000000000000000000" pitchFamily="2" charset="2"/>
              </a:rPr>
              <a:t>Srewjack Fitting Pin</a:t>
            </a: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Left THS </a:t>
            </a:r>
            <a:r>
              <a:rPr lang="en-US" sz="1400" dirty="0" smtClean="0">
                <a:cs typeface="Times New Roman" panose="02020603050405020304" pitchFamily="18" charset="0"/>
                <a:sym typeface="Wingdings" panose="05000000000000000000" pitchFamily="2" charset="2"/>
              </a:rPr>
              <a:t>rotated</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 Anti-Rotation Device Broken(Upper) / Deformed( Lower)= &gt; Hiện Bolt vị </a:t>
            </a:r>
            <a:r>
              <a:rPr lang="vi-VN" sz="1400" dirty="0" smtClean="0">
                <a:cs typeface="Times New Roman" panose="02020603050405020304" pitchFamily="18" charset="0"/>
                <a:sym typeface="Wingdings" panose="05000000000000000000" pitchFamily="2" charset="2"/>
              </a:rPr>
              <a:t>trí </a:t>
            </a:r>
            <a:r>
              <a:rPr lang="vi-VN" sz="1400" dirty="0">
                <a:cs typeface="Times New Roman" panose="02020603050405020304" pitchFamily="18" charset="0"/>
                <a:sym typeface="Wingdings" panose="05000000000000000000" pitchFamily="2" charset="2"/>
              </a:rPr>
              <a:t>340 bị kẹt, </a:t>
            </a:r>
            <a:r>
              <a:rPr lang="en-US" sz="1400" dirty="0">
                <a:cs typeface="Times New Roman" panose="02020603050405020304" pitchFamily="18" charset="0"/>
                <a:sym typeface="Wingdings" panose="05000000000000000000" pitchFamily="2" charset="2"/>
              </a:rPr>
              <a:t>đ</a:t>
            </a:r>
            <a:r>
              <a:rPr lang="vi-VN" sz="1400" dirty="0" smtClean="0">
                <a:cs typeface="Times New Roman" panose="02020603050405020304" pitchFamily="18" charset="0"/>
                <a:sym typeface="Wingdings" panose="05000000000000000000" pitchFamily="2" charset="2"/>
              </a:rPr>
              <a:t>ây </a:t>
            </a:r>
            <a:r>
              <a:rPr lang="vi-VN" sz="1400" dirty="0">
                <a:cs typeface="Times New Roman" panose="02020603050405020304" pitchFamily="18" charset="0"/>
                <a:sym typeface="Wingdings" panose="05000000000000000000" pitchFamily="2" charset="2"/>
              </a:rPr>
              <a:t>là hỏng hóc lần đầu ở vị trí </a:t>
            </a:r>
            <a:r>
              <a:rPr lang="vi-VN" sz="1400" dirty="0" smtClean="0">
                <a:cs typeface="Times New Roman" panose="02020603050405020304" pitchFamily="18" charset="0"/>
                <a:sym typeface="Wingdings" panose="05000000000000000000" pitchFamily="2" charset="2"/>
              </a:rPr>
              <a:t>này: </a:t>
            </a:r>
            <a:endParaRPr lang="vi-VN" sz="1400" dirty="0">
              <a:cs typeface="Times New Roman" panose="02020603050405020304" pitchFamily="18" charset="0"/>
              <a:sym typeface="Wingdings" panose="05000000000000000000" pitchFamily="2" charset="2"/>
            </a:endParaRPr>
          </a:p>
          <a:p>
            <a:pPr marL="12700" indent="0" algn="just">
              <a:buSzPts val="1100"/>
              <a:buNone/>
            </a:pPr>
            <a:r>
              <a:rPr lang="vi-VN" sz="1400" dirty="0">
                <a:cs typeface="Times New Roman" panose="02020603050405020304" pitchFamily="18" charset="0"/>
                <a:sym typeface="Wingdings" panose="05000000000000000000" pitchFamily="2" charset="2"/>
              </a:rPr>
              <a:t> + Tối 09/4, Airbus phản hồi phương án thực hiện. </a:t>
            </a:r>
          </a:p>
          <a:p>
            <a:pPr marL="12700" indent="0" algn="just">
              <a:buSzPts val="1100"/>
              <a:buNone/>
            </a:pPr>
            <a:r>
              <a:rPr lang="vi-VN" sz="1400" dirty="0">
                <a:cs typeface="Times New Roman" panose="02020603050405020304" pitchFamily="18" charset="0"/>
                <a:sym typeface="Wingdings" panose="05000000000000000000" pitchFamily="2" charset="2"/>
              </a:rPr>
              <a:t> + 10/4, VAECO triển khai kiểm tra theo hướng dẫn của Airbus, các vị trí khác đều thực hiện được, tuy nhiên </a:t>
            </a:r>
            <a:r>
              <a:rPr lang="vi-VN" sz="1400" dirty="0" smtClean="0">
                <a:cs typeface="Times New Roman" panose="02020603050405020304" pitchFamily="18" charset="0"/>
                <a:sym typeface="Wingdings" panose="05000000000000000000" pitchFamily="2" charset="2"/>
              </a:rPr>
              <a:t>B</a:t>
            </a:r>
            <a:r>
              <a:rPr lang="en-US" sz="1400" dirty="0" err="1" smtClean="0">
                <a:cs typeface="Times New Roman" panose="02020603050405020304" pitchFamily="18" charset="0"/>
                <a:sym typeface="Wingdings" panose="05000000000000000000" pitchFamily="2" charset="2"/>
              </a:rPr>
              <a:t>olt</a:t>
            </a:r>
            <a:r>
              <a:rPr lang="en-US" sz="1400" dirty="0" smtClean="0">
                <a:cs typeface="Times New Roman" panose="02020603050405020304" pitchFamily="18" charset="0"/>
                <a:sym typeface="Wingdings" panose="05000000000000000000" pitchFamily="2" charset="2"/>
              </a:rPr>
              <a:t> </a:t>
            </a:r>
            <a:r>
              <a:rPr lang="en-US" sz="1400" dirty="0">
                <a:cs typeface="Times New Roman" panose="02020603050405020304" pitchFamily="18" charset="0"/>
                <a:sym typeface="Wingdings" panose="05000000000000000000" pitchFamily="2" charset="2"/>
              </a:rPr>
              <a:t>i</a:t>
            </a:r>
            <a:r>
              <a:rPr lang="vi-VN" sz="1400" dirty="0" smtClean="0">
                <a:cs typeface="Times New Roman" panose="02020603050405020304" pitchFamily="18" charset="0"/>
                <a:sym typeface="Wingdings" panose="05000000000000000000" pitchFamily="2" charset="2"/>
              </a:rPr>
              <a:t>tem 340 </a:t>
            </a:r>
            <a:r>
              <a:rPr lang="vi-VN" sz="1400" dirty="0">
                <a:cs typeface="Times New Roman" panose="02020603050405020304" pitchFamily="18" charset="0"/>
                <a:sym typeface="Wingdings" panose="05000000000000000000" pitchFamily="2" charset="2"/>
              </a:rPr>
              <a:t>bị kẹt và rất khó để xoay hoặc tháo ra = &gt; VAECO đề xuất phương án sử dụng với </a:t>
            </a:r>
            <a:r>
              <a:rPr lang="en-US" sz="1400" dirty="0" smtClean="0">
                <a:cs typeface="Times New Roman" panose="02020603050405020304" pitchFamily="18" charset="0"/>
                <a:sym typeface="Wingdings" panose="05000000000000000000" pitchFamily="2" charset="2"/>
              </a:rPr>
              <a:t>Bolt </a:t>
            </a:r>
            <a:r>
              <a:rPr lang="vi-VN" sz="1400" dirty="0" smtClean="0">
                <a:cs typeface="Times New Roman" panose="02020603050405020304" pitchFamily="18" charset="0"/>
                <a:sym typeface="Wingdings" panose="05000000000000000000" pitchFamily="2" charset="2"/>
              </a:rPr>
              <a:t>hiện </a:t>
            </a:r>
            <a:r>
              <a:rPr lang="vi-VN" sz="1400" dirty="0">
                <a:cs typeface="Times New Roman" panose="02020603050405020304" pitchFamily="18" charset="0"/>
                <a:sym typeface="Wingdings" panose="05000000000000000000" pitchFamily="2" charset="2"/>
              </a:rPr>
              <a:t>tại. Airbus không đồng ý, đề nghị phải </a:t>
            </a:r>
            <a:r>
              <a:rPr lang="vi-VN" sz="1400" dirty="0" smtClean="0">
                <a:cs typeface="Times New Roman" panose="02020603050405020304" pitchFamily="18" charset="0"/>
                <a:sym typeface="Wingdings" panose="05000000000000000000" pitchFamily="2" charset="2"/>
              </a:rPr>
              <a:t>tháo</a:t>
            </a:r>
            <a:r>
              <a:rPr lang="en-US" sz="1400" dirty="0" smtClean="0">
                <a:cs typeface="Times New Roman" panose="02020603050405020304" pitchFamily="18" charset="0"/>
                <a:sym typeface="Wingdings" panose="05000000000000000000" pitchFamily="2" charset="2"/>
              </a:rPr>
              <a:t> Bolt</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ra để đánh giá. Hiện VAECO đang đặt hàng Vật tư Bush, Fitting, </a:t>
            </a:r>
            <a:r>
              <a:rPr lang="vi-VN" sz="1400" dirty="0" smtClean="0">
                <a:cs typeface="Times New Roman" panose="02020603050405020304" pitchFamily="18" charset="0"/>
                <a:sym typeface="Wingdings" panose="05000000000000000000" pitchFamily="2" charset="2"/>
              </a:rPr>
              <a:t>Bolt. </a:t>
            </a:r>
            <a:endParaRPr lang="en-US" sz="1400" dirty="0" smtClean="0">
              <a:cs typeface="Times New Roman" panose="02020603050405020304" pitchFamily="18" charset="0"/>
              <a:sym typeface="Wingdings" panose="05000000000000000000" pitchFamily="2" charset="2"/>
            </a:endParaRPr>
          </a:p>
          <a:p>
            <a:pPr marL="12700" indent="0" algn="just">
              <a:buSzPts val="1100"/>
              <a:buNone/>
            </a:pPr>
            <a:r>
              <a:rPr lang="en-US" sz="1400" dirty="0" smtClean="0">
                <a:cs typeface="Times New Roman" panose="02020603050405020304" pitchFamily="18" charset="0"/>
                <a:sym typeface="Wingdings" panose="05000000000000000000" pitchFamily="2" charset="2"/>
              </a:rPr>
              <a:t> + 12/4, VAECO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xong</a:t>
            </a:r>
            <a:r>
              <a:rPr lang="en-US" sz="1400" dirty="0" smtClean="0">
                <a:cs typeface="Times New Roman" panose="02020603050405020304" pitchFamily="18" charset="0"/>
                <a:sym typeface="Wingdings" panose="05000000000000000000" pitchFamily="2" charset="2"/>
              </a:rPr>
              <a:t> Bolt vị trí 340</a:t>
            </a:r>
            <a:r>
              <a:rPr lang="en-US" sz="1400" smtClean="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+ 13/4, VAECO </a:t>
            </a:r>
            <a:r>
              <a:rPr lang="en-US" sz="1400" dirty="0" err="1" smtClean="0">
                <a:cs typeface="Times New Roman" panose="02020603050405020304" pitchFamily="18" charset="0"/>
                <a:sym typeface="Wingdings" panose="05000000000000000000" pitchFamily="2" charset="2"/>
              </a:rPr>
              <a:t>đang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làm</a:t>
            </a:r>
            <a:r>
              <a:rPr lang="en-US" sz="1400" dirty="0" smtClean="0">
                <a:cs typeface="Times New Roman" panose="02020603050405020304" pitchFamily="18" charset="0"/>
                <a:sym typeface="Wingdings" panose="05000000000000000000" pitchFamily="2" charset="2"/>
              </a:rPr>
              <a:t> Ca 2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NDT </a:t>
            </a:r>
            <a:r>
              <a:rPr lang="en-US" sz="1400" dirty="0" err="1" smtClean="0">
                <a:cs typeface="Times New Roman" panose="02020603050405020304" pitchFamily="18" charset="0"/>
                <a:sym typeface="Wingdings" panose="05000000000000000000" pitchFamily="2" charset="2"/>
              </a:rPr>
              <a:t>kiểm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thêm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thêm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các</a:t>
            </a:r>
            <a:r>
              <a:rPr lang="en-US" sz="1400" dirty="0" smtClean="0">
                <a:cs typeface="Times New Roman" panose="02020603050405020304" pitchFamily="18" charset="0"/>
                <a:sym typeface="Wingdings" panose="05000000000000000000" pitchFamily="2" charset="2"/>
              </a:rPr>
              <a:t> vị trí </a:t>
            </a:r>
            <a:r>
              <a:rPr lang="en-US" sz="1400" dirty="0" err="1" smtClean="0">
                <a:cs typeface="Times New Roman" panose="02020603050405020304" pitchFamily="18" charset="0"/>
                <a:sym typeface="Wingdings" panose="05000000000000000000" pitchFamily="2" charset="2"/>
              </a:rPr>
              <a:t>theo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yêu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cầu</a:t>
            </a:r>
            <a:r>
              <a:rPr lang="en-US" sz="1400" dirty="0" smtClean="0">
                <a:cs typeface="Times New Roman" panose="02020603050405020304" pitchFamily="18" charset="0"/>
                <a:sym typeface="Wingdings" panose="05000000000000000000" pitchFamily="2" charset="2"/>
              </a:rPr>
              <a:t>.</a:t>
            </a:r>
          </a:p>
          <a:p>
            <a:pPr marL="12700" indent="0" algn="just">
              <a:buSzPts val="1100"/>
              <a:buNone/>
            </a:pPr>
            <a:r>
              <a:rPr lang="en-US" sz="1400" dirty="0" smtClean="0">
                <a:cs typeface="Times New Roman" panose="02020603050405020304" pitchFamily="18" charset="0"/>
                <a:sym typeface="Wingdings" panose="05000000000000000000" pitchFamily="2" charset="2"/>
              </a:rPr>
              <a:t> + </a:t>
            </a:r>
            <a:r>
              <a:rPr lang="en-US" sz="1400" dirty="0" err="1" smtClean="0">
                <a:cs typeface="Times New Roman" panose="02020603050405020304" pitchFamily="18" charset="0"/>
                <a:sym typeface="Wingdings" panose="05000000000000000000" pitchFamily="2" charset="2"/>
              </a:rPr>
              <a:t>Hiện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a:cs typeface="Times New Roman" panose="02020603050405020304" pitchFamily="18" charset="0"/>
                <a:sym typeface="Wingdings" panose="05000000000000000000" pitchFamily="2" charset="2"/>
              </a:rPr>
              <a:t> BUSH PN: V5518493020200, V5518493120000, </a:t>
            </a:r>
            <a:r>
              <a:rPr lang="en-US" sz="1400" dirty="0" smtClean="0">
                <a:cs typeface="Times New Roman" panose="02020603050405020304" pitchFamily="18" charset="0"/>
                <a:sym typeface="Wingdings" panose="05000000000000000000" pitchFamily="2" charset="2"/>
              </a:rPr>
              <a:t>V5518495520000 </a:t>
            </a:r>
            <a:r>
              <a:rPr lang="en-US" sz="1400" dirty="0" err="1" smtClean="0">
                <a:cs typeface="Times New Roman" panose="02020603050405020304" pitchFamily="18" charset="0"/>
                <a:sym typeface="Wingdings" panose="05000000000000000000" pitchFamily="2" charset="2"/>
              </a:rPr>
              <a:t>chưa</a:t>
            </a:r>
            <a:r>
              <a:rPr lang="en-US" sz="1400" dirty="0" smtClean="0">
                <a:cs typeface="Times New Roman" panose="02020603050405020304" pitchFamily="18" charset="0"/>
                <a:sym typeface="Wingdings" panose="05000000000000000000" pitchFamily="2" charset="2"/>
              </a:rPr>
              <a:t> có </a:t>
            </a:r>
            <a:r>
              <a:rPr lang="en-US" sz="1400" dirty="0" err="1" smtClean="0">
                <a:cs typeface="Times New Roman" panose="02020603050405020304" pitchFamily="18" charset="0"/>
                <a:sym typeface="Wingdings" panose="05000000000000000000" pitchFamily="2" charset="2"/>
              </a:rPr>
              <a:t>dư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kiến</a:t>
            </a:r>
            <a:r>
              <a:rPr lang="en-US" sz="1400" dirty="0" smtClean="0">
                <a:cs typeface="Times New Roman" panose="02020603050405020304" pitchFamily="18" charset="0"/>
                <a:sym typeface="Wingdings" panose="05000000000000000000" pitchFamily="2" charset="2"/>
              </a:rPr>
              <a:t>. VAECO </a:t>
            </a:r>
            <a:r>
              <a:rPr lang="en-US" sz="1400" dirty="0" err="1" smtClean="0">
                <a:cs typeface="Times New Roman" panose="02020603050405020304" pitchFamily="18" charset="0"/>
                <a:sym typeface="Wingdings" panose="05000000000000000000" pitchFamily="2" charset="2"/>
              </a:rPr>
              <a:t>đang</a:t>
            </a:r>
            <a:r>
              <a:rPr lang="en-US" sz="1400" dirty="0" smtClean="0">
                <a:cs typeface="Times New Roman" panose="02020603050405020304" pitchFamily="18" charset="0"/>
                <a:sym typeface="Wingdings" panose="05000000000000000000" pitchFamily="2" charset="2"/>
              </a:rPr>
              <a:t> đ/n Airbus </a:t>
            </a:r>
            <a:r>
              <a:rPr lang="en-US" sz="1400" dirty="0" err="1" smtClean="0">
                <a:cs typeface="Times New Roman" panose="02020603050405020304" pitchFamily="18" charset="0"/>
                <a:sym typeface="Wingdings" panose="05000000000000000000" pitchFamily="2" charset="2"/>
              </a:rPr>
              <a:t>phương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cho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dụng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lại</a:t>
            </a:r>
            <a:r>
              <a:rPr lang="en-US" sz="1400" dirty="0" smtClean="0">
                <a:cs typeface="Times New Roman" panose="02020603050405020304" pitchFamily="18" charset="0"/>
                <a:sym typeface="Wingdings" panose="05000000000000000000" pitchFamily="2" charset="2"/>
              </a:rPr>
              <a:t> Bush ban </a:t>
            </a:r>
            <a:r>
              <a:rPr lang="en-US" sz="1400" dirty="0" err="1" smtClean="0">
                <a:cs typeface="Times New Roman" panose="02020603050405020304" pitchFamily="18" charset="0"/>
                <a:sym typeface="Wingdings" panose="05000000000000000000" pitchFamily="2" charset="2"/>
              </a:rPr>
              <a:t>đầu</a:t>
            </a:r>
            <a:r>
              <a:rPr lang="en-US" sz="1400" dirty="0" smtClean="0">
                <a:cs typeface="Times New Roman" panose="02020603050405020304" pitchFamily="18" charset="0"/>
                <a:sym typeface="Wingdings" panose="05000000000000000000" pitchFamily="2" charset="2"/>
              </a:rPr>
              <a:t>. </a:t>
            </a:r>
          </a:p>
          <a:p>
            <a:pPr marL="12700" indent="0" algn="just">
              <a:buSzPts val="1100"/>
              <a:buNone/>
            </a:pP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 &gt; Đ/ CƯVT push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sớm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thời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xin</a:t>
            </a:r>
            <a:r>
              <a:rPr lang="en-US" sz="1400" dirty="0" smtClean="0">
                <a:cs typeface="Times New Roman" panose="02020603050405020304" pitchFamily="18" charset="0"/>
                <a:sym typeface="Wingdings" panose="05000000000000000000" pitchFamily="2" charset="2"/>
              </a:rPr>
              <a:t> p/a </a:t>
            </a:r>
            <a:r>
              <a:rPr lang="en-US" sz="1400" dirty="0" err="1" smtClean="0">
                <a:cs typeface="Times New Roman" panose="02020603050405020304" pitchFamily="18" charset="0"/>
                <a:sym typeface="Wingdings" panose="05000000000000000000" pitchFamily="2" charset="2"/>
              </a:rPr>
              <a:t>Sản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xuất</a:t>
            </a:r>
            <a:r>
              <a:rPr lang="en-US" sz="1400" dirty="0" smtClean="0">
                <a:cs typeface="Times New Roman" panose="02020603050405020304" pitchFamily="18" charset="0"/>
                <a:sym typeface="Wingdings" panose="05000000000000000000" pitchFamily="2" charset="2"/>
              </a:rPr>
              <a:t> Local </a:t>
            </a:r>
            <a:r>
              <a:rPr lang="en-US" sz="1400" dirty="0" err="1" smtClean="0">
                <a:cs typeface="Times New Roman" panose="02020603050405020304" pitchFamily="18" charset="0"/>
                <a:sym typeface="Wingdings" panose="05000000000000000000" pitchFamily="2" charset="2"/>
              </a:rPr>
              <a:t>nếu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kịp</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Cần</a:t>
            </a:r>
            <a:r>
              <a:rPr lang="en-US" sz="1400" dirty="0" smtClean="0">
                <a:cs typeface="Times New Roman" panose="02020603050405020304" pitchFamily="18" charset="0"/>
                <a:sym typeface="Wingdings" panose="05000000000000000000" pitchFamily="2" charset="2"/>
              </a:rPr>
              <a:t> có </a:t>
            </a:r>
            <a:r>
              <a:rPr lang="en-US" sz="1400" dirty="0" err="1" smtClean="0">
                <a:cs typeface="Times New Roman" panose="02020603050405020304" pitchFamily="18" charset="0"/>
                <a:sym typeface="Wingdings" panose="05000000000000000000" pitchFamily="2" charset="2"/>
              </a:rPr>
              <a:t>muộn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nhất</a:t>
            </a:r>
            <a:r>
              <a:rPr lang="en-US" sz="1400" dirty="0" smtClean="0">
                <a:cs typeface="Times New Roman" panose="02020603050405020304" pitchFamily="18" charset="0"/>
                <a:sym typeface="Wingdings" panose="05000000000000000000" pitchFamily="2" charset="2"/>
              </a:rPr>
              <a:t> 15/4 </a:t>
            </a:r>
            <a:r>
              <a:rPr lang="en-US" sz="1400" dirty="0" err="1" smtClean="0">
                <a:cs typeface="Times New Roman" panose="02020603050405020304" pitchFamily="18" charset="0"/>
                <a:sym typeface="Wingdings" panose="05000000000000000000" pitchFamily="2" charset="2"/>
              </a:rPr>
              <a:t>nếu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phải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thay</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tránh</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ảnh</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đô</a:t>
            </a:r>
            <a:r>
              <a:rPr lang="en-US" sz="1400" dirty="0" smtClean="0">
                <a:cs typeface="Times New Roman" panose="02020603050405020304" pitchFamily="18" charset="0"/>
                <a:sym typeface="Wingdings" panose="05000000000000000000" pitchFamily="2" charset="2"/>
              </a:rPr>
              <a:t>̣). </a:t>
            </a:r>
            <a:endParaRPr lang="en-US" sz="1400" dirty="0">
              <a:cs typeface="Times New Roman" panose="02020603050405020304" pitchFamily="18" charset="0"/>
              <a:sym typeface="Wingdings" panose="05000000000000000000" pitchFamily="2" charset="2"/>
            </a:endParaRP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Card </a:t>
            </a:r>
            <a:r>
              <a:rPr lang="vi-VN" sz="1400" dirty="0">
                <a:cs typeface="Times New Roman" panose="02020603050405020304" pitchFamily="18" charset="0"/>
                <a:sym typeface="Wingdings" panose="05000000000000000000" pitchFamily="2" charset="2"/>
              </a:rPr>
              <a:t>6523049: EQUIPMENT/FURNISHING - PASSENGER </a:t>
            </a:r>
            <a:r>
              <a:rPr lang="vi-VN" sz="1400" dirty="0" smtClean="0">
                <a:cs typeface="Times New Roman" panose="02020603050405020304" pitchFamily="18" charset="0"/>
                <a:sym typeface="Wingdings" panose="05000000000000000000" pitchFamily="2" charset="2"/>
              </a:rPr>
              <a:t>COMT</a:t>
            </a:r>
            <a:r>
              <a:rPr lang="vi-VN" sz="1400" dirty="0">
                <a:cs typeface="Times New Roman" panose="02020603050405020304" pitchFamily="18" charset="0"/>
                <a:sym typeface="Wingdings" panose="05000000000000000000" pitchFamily="2" charset="2"/>
              </a:rPr>
              <a:t>, Khi thực hiện step 3.12, không thể tháo Contact </a:t>
            </a:r>
            <a:r>
              <a:rPr lang="vi-VN" sz="1400" dirty="0" smtClean="0">
                <a:cs typeface="Times New Roman" panose="02020603050405020304" pitchFamily="18" charset="0"/>
                <a:sym typeface="Wingdings" panose="05000000000000000000" pitchFamily="2" charset="2"/>
              </a:rPr>
              <a:t>Pin</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Contact 800CT20 </a:t>
            </a:r>
            <a:r>
              <a:rPr lang="en-US" sz="1400" dirty="0" err="1" smtClean="0">
                <a:cs typeface="Times New Roman" panose="02020603050405020304" pitchFamily="18" charset="0"/>
                <a:sym typeface="Wingdings" panose="05000000000000000000" pitchFamily="2" charset="2"/>
              </a:rPr>
              <a:t>được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lắp</a:t>
            </a:r>
            <a:r>
              <a:rPr lang="en-US" sz="1400" dirty="0" smtClean="0">
                <a:cs typeface="Times New Roman" panose="02020603050405020304" pitchFamily="18" charset="0"/>
                <a:sym typeface="Wingdings" panose="05000000000000000000" pitchFamily="2" charset="2"/>
              </a:rPr>
              <a:t> ở FIN: 310NG120, </a:t>
            </a:r>
            <a:r>
              <a:rPr lang="en-US" sz="1400" dirty="0" err="1" smtClean="0">
                <a:cs typeface="Times New Roman" panose="02020603050405020304" pitchFamily="18" charset="0"/>
                <a:sym typeface="Wingdings" panose="05000000000000000000" pitchFamily="2" charset="2"/>
              </a:rPr>
              <a:t>không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phải</a:t>
            </a:r>
            <a:r>
              <a:rPr lang="en-US" sz="1400" dirty="0" smtClean="0">
                <a:cs typeface="Times New Roman" panose="02020603050405020304" pitchFamily="18" charset="0"/>
                <a:sym typeface="Wingdings" panose="05000000000000000000" pitchFamily="2" charset="2"/>
              </a:rPr>
              <a:t> Connector fin: 304NG120-A. Do </a:t>
            </a:r>
            <a:r>
              <a:rPr lang="en-US" sz="1400" dirty="0" err="1" smtClean="0">
                <a:cs typeface="Times New Roman" panose="02020603050405020304" pitchFamily="18" charset="0"/>
                <a:sym typeface="Wingdings" panose="05000000000000000000" pitchFamily="2" charset="2"/>
              </a:rPr>
              <a:t>đo</a:t>
            </a:r>
            <a:r>
              <a:rPr lang="en-US" sz="1400" dirty="0" smtClean="0">
                <a:cs typeface="Times New Roman" panose="02020603050405020304" pitchFamily="18" charset="0"/>
                <a:sym typeface="Wingdings" panose="05000000000000000000" pitchFamily="2" charset="2"/>
              </a:rPr>
              <a:t>́ Tool 800-P7 </a:t>
            </a:r>
            <a:r>
              <a:rPr lang="en-US" sz="1400" dirty="0" err="1" smtClean="0">
                <a:cs typeface="Times New Roman" panose="02020603050405020304" pitchFamily="18" charset="0"/>
                <a:sym typeface="Wingdings" panose="05000000000000000000" pitchFamily="2" charset="2"/>
              </a:rPr>
              <a:t>không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dùng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được</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&gt; Đ/n NSX revise </a:t>
            </a:r>
            <a:r>
              <a:rPr lang="en-US" sz="1400" dirty="0" err="1" smtClean="0">
                <a:cs typeface="Times New Roman" panose="02020603050405020304" pitchFamily="18" charset="0"/>
                <a:sym typeface="Wingdings" panose="05000000000000000000" pitchFamily="2" charset="2"/>
              </a:rPr>
              <a:t>lại</a:t>
            </a:r>
            <a:r>
              <a:rPr lang="en-US" sz="1400" dirty="0" smtClean="0">
                <a:cs typeface="Times New Roman" panose="02020603050405020304" pitchFamily="18" charset="0"/>
                <a:sym typeface="Wingdings" panose="05000000000000000000" pitchFamily="2" charset="2"/>
              </a:rPr>
              <a:t> SB </a:t>
            </a:r>
            <a:r>
              <a:rPr lang="en-US" sz="1400" dirty="0" err="1" smtClean="0">
                <a:cs typeface="Times New Roman" panose="02020603050405020304" pitchFamily="18" charset="0"/>
                <a:sym typeface="Wingdings" panose="05000000000000000000" pitchFamily="2" charset="2"/>
              </a:rPr>
              <a:t>va</a:t>
            </a:r>
            <a:r>
              <a:rPr lang="en-US" sz="1400" dirty="0" smtClean="0">
                <a:cs typeface="Times New Roman" panose="02020603050405020304" pitchFamily="18" charset="0"/>
                <a:sym typeface="Wingdings" panose="05000000000000000000" pitchFamily="2" charset="2"/>
              </a:rPr>
              <a:t>̀ defer EO sang check </a:t>
            </a:r>
            <a:r>
              <a:rPr lang="en-US" sz="1400" dirty="0" err="1" smtClean="0">
                <a:cs typeface="Times New Roman" panose="02020603050405020304" pitchFamily="18" charset="0"/>
                <a:sym typeface="Wingdings" panose="05000000000000000000" pitchFamily="2" charset="2"/>
              </a:rPr>
              <a:t>khác</a:t>
            </a:r>
            <a:r>
              <a:rPr lang="en-US" sz="1400" dirty="0" smtClean="0">
                <a:cs typeface="Times New Roman" panose="02020603050405020304" pitchFamily="18" charset="0"/>
                <a:sym typeface="Wingdings" panose="05000000000000000000" pitchFamily="2" charset="2"/>
              </a:rPr>
              <a:t>.</a:t>
            </a:r>
          </a:p>
          <a:p>
            <a:pPr marL="12700" indent="0" algn="just">
              <a:buSzPts val="1100"/>
              <a:buFont typeface="Arial" panose="020B0604020202020204" pitchFamily="34" charset="0"/>
              <a:buNone/>
            </a:pPr>
            <a:r>
              <a:rPr lang="es-ES" sz="1400" b="1" smtClean="0">
                <a:cs typeface="Times New Roman" panose="02020603050405020304" pitchFamily="18" charset="0"/>
                <a:sym typeface="Wingdings" panose="05000000000000000000" pitchFamily="2" charset="2"/>
              </a:rPr>
              <a:t>IV</a:t>
            </a:r>
            <a:r>
              <a:rPr lang="es-ES" sz="1400" b="1" dirty="0" smtClean="0">
                <a:cs typeface="Times New Roman" panose="02020603050405020304" pitchFamily="18" charset="0"/>
                <a:sym typeface="Wingdings" panose="05000000000000000000" pitchFamily="2" charset="2"/>
              </a:rPr>
              <a:t>. B787:</a:t>
            </a:r>
          </a:p>
          <a:p>
            <a:pPr marL="12700" indent="0" algn="just">
              <a:buSzPts val="1100"/>
              <a:buNone/>
            </a:pPr>
            <a:r>
              <a:rPr lang="en-US" sz="1400" b="1" dirty="0" smtClean="0">
                <a:solidFill>
                  <a:srgbClr val="FF0000"/>
                </a:solidFill>
                <a:cs typeface="Times New Roman" panose="02020603050405020304" pitchFamily="18" charset="0"/>
                <a:sym typeface="Wingdings" panose="05000000000000000000" pitchFamily="2" charset="2"/>
              </a:rPr>
              <a:t>1. A868_SGN_ A08, ENGCHG, DECAL 30Y_08-16/4 : On sked</a:t>
            </a: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h</a:t>
            </a:r>
            <a:r>
              <a:rPr lang="en-US" sz="1400" dirty="0" err="1" smtClean="0">
                <a:cs typeface="Times New Roman" panose="02020603050405020304" pitchFamily="18" charset="0"/>
                <a:sym typeface="Wingdings" panose="05000000000000000000" pitchFamily="2" charset="2"/>
              </a:rPr>
              <a:t>oàn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việc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dán</a:t>
            </a:r>
            <a:r>
              <a:rPr lang="en-US" sz="1400" dirty="0" smtClean="0">
                <a:cs typeface="Times New Roman" panose="02020603050405020304" pitchFamily="18" charset="0"/>
                <a:sym typeface="Wingdings" panose="05000000000000000000" pitchFamily="2" charset="2"/>
              </a:rPr>
              <a:t> Decal 30Y, </a:t>
            </a:r>
            <a:r>
              <a:rPr lang="en-US" sz="1400" dirty="0" err="1" smtClean="0">
                <a:cs typeface="Times New Roman" panose="02020603050405020304" pitchFamily="18" charset="0"/>
                <a:sym typeface="Wingdings" panose="05000000000000000000" pitchFamily="2" charset="2"/>
              </a:rPr>
              <a:t>sớm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hơn</a:t>
            </a:r>
            <a:r>
              <a:rPr lang="en-US" sz="1400" dirty="0" smtClean="0">
                <a:cs typeface="Times New Roman" panose="02020603050405020304" pitchFamily="18" charset="0"/>
                <a:sym typeface="Wingdings" panose="05000000000000000000" pitchFamily="2" charset="2"/>
              </a:rPr>
              <a:t> KH 1 </a:t>
            </a:r>
            <a:r>
              <a:rPr lang="en-US" sz="1400" dirty="0" err="1" smtClean="0">
                <a:cs typeface="Times New Roman" panose="02020603050405020304" pitchFamily="18" charset="0"/>
                <a:sym typeface="Wingdings" panose="05000000000000000000" pitchFamily="2" charset="2"/>
              </a:rPr>
              <a:t>ngày</a:t>
            </a:r>
            <a:r>
              <a:rPr lang="en-US" sz="1400" dirty="0" smtClean="0">
                <a:cs typeface="Times New Roman" panose="02020603050405020304" pitchFamily="18" charset="0"/>
                <a:sym typeface="Wingdings" panose="05000000000000000000" pitchFamily="2" charset="2"/>
              </a:rPr>
              <a:t>.</a:t>
            </a:r>
            <a:endParaRPr lang="en-US" sz="1400" dirty="0">
              <a:cs typeface="Times New Roman" panose="02020603050405020304" pitchFamily="18" charset="0"/>
              <a:sym typeface="Wingdings" panose="05000000000000000000" pitchFamily="2" charset="2"/>
            </a:endParaRPr>
          </a:p>
          <a:p>
            <a:pPr marL="12700" indent="0" algn="just">
              <a:buSzPts val="1100"/>
              <a:buNone/>
            </a:pP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Một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sô</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còn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thiếu</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đ/n QLVT có p/a </a:t>
            </a:r>
            <a:r>
              <a:rPr lang="en-US" sz="1400" dirty="0" err="1" smtClean="0">
                <a:cs typeface="Times New Roman" panose="02020603050405020304" pitchFamily="18" charset="0"/>
                <a:sym typeface="Wingdings" panose="05000000000000000000" pitchFamily="2" charset="2"/>
              </a:rPr>
              <a:t>cung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ứng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trước</a:t>
            </a:r>
            <a:r>
              <a:rPr lang="en-US" sz="1400" dirty="0" smtClean="0">
                <a:cs typeface="Times New Roman" panose="02020603050405020304" pitchFamily="18" charset="0"/>
                <a:sym typeface="Wingdings" panose="05000000000000000000" pitchFamily="2" charset="2"/>
              </a:rPr>
              <a:t> 15/4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bảo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tiến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đô</a:t>
            </a:r>
            <a:r>
              <a:rPr lang="en-US" sz="1400" dirty="0" smtClean="0">
                <a:cs typeface="Times New Roman" panose="02020603050405020304" pitchFamily="18" charset="0"/>
                <a:sym typeface="Wingdings" panose="05000000000000000000" pitchFamily="2" charset="2"/>
              </a:rPr>
              <a:t>̣: </a:t>
            </a:r>
          </a:p>
          <a:p>
            <a:pPr marL="12700" indent="0" algn="just">
              <a:buSzPts val="1100"/>
              <a:buNone/>
            </a:pPr>
            <a:r>
              <a:rPr lang="en-US" sz="1400" dirty="0" smtClean="0">
                <a:cs typeface="Times New Roman" panose="02020603050405020304" pitchFamily="18" charset="0"/>
                <a:sym typeface="Wingdings" panose="05000000000000000000" pitchFamily="2" charset="2"/>
              </a:rPr>
              <a:t>     + </a:t>
            </a:r>
            <a:r>
              <a:rPr lang="vi-VN" sz="1400" dirty="0">
                <a:cs typeface="Times New Roman" panose="02020603050405020304" pitchFamily="18" charset="0"/>
                <a:sym typeface="Wingdings" panose="05000000000000000000" pitchFamily="2" charset="2"/>
              </a:rPr>
              <a:t>Sensor PN 5914842-33 chưa có Est (xem xét check và Rob VFSG trong kho</a:t>
            </a:r>
            <a:r>
              <a:rPr lang="vi-VN" sz="1400" dirty="0" smtClean="0">
                <a:cs typeface="Times New Roman" panose="02020603050405020304" pitchFamily="18" charset="0"/>
                <a:sym typeface="Wingdings" panose="05000000000000000000" pitchFamily="2" charset="2"/>
              </a:rPr>
              <a:t>).</a:t>
            </a:r>
            <a:endParaRPr lang="en-US" sz="1400" dirty="0" smtClean="0">
              <a:cs typeface="Times New Roman" panose="02020603050405020304" pitchFamily="18" charset="0"/>
              <a:sym typeface="Wingdings" panose="05000000000000000000" pitchFamily="2" charset="2"/>
            </a:endParaRPr>
          </a:p>
          <a:p>
            <a:pPr marL="12700" indent="0" algn="just">
              <a:buSzPts val="1100"/>
              <a:buNone/>
            </a:pPr>
            <a:r>
              <a:rPr lang="en-US" sz="1400" dirty="0">
                <a:cs typeface="Times New Roman" panose="02020603050405020304" pitchFamily="18" charset="0"/>
                <a:sym typeface="Wingdings" panose="05000000000000000000" pitchFamily="2" charset="2"/>
              </a:rPr>
              <a:t>     + </a:t>
            </a:r>
            <a:r>
              <a:rPr lang="en-US" sz="1400" dirty="0" smtClean="0">
                <a:cs typeface="Times New Roman" panose="02020603050405020304" pitchFamily="18" charset="0"/>
                <a:sym typeface="Wingdings" panose="05000000000000000000" pitchFamily="2" charset="2"/>
              </a:rPr>
              <a:t>Mode Control </a:t>
            </a:r>
            <a:r>
              <a:rPr lang="en-US" sz="1400" dirty="0" err="1" smtClean="0">
                <a:cs typeface="Times New Roman" panose="02020603050405020304" pitchFamily="18" charset="0"/>
                <a:sym typeface="Wingdings" panose="05000000000000000000" pitchFamily="2" charset="2"/>
              </a:rPr>
              <a:t>Pannel</a:t>
            </a:r>
            <a:r>
              <a:rPr lang="en-US" sz="1400" dirty="0" smtClean="0">
                <a:cs typeface="Times New Roman" panose="02020603050405020304" pitchFamily="18" charset="0"/>
                <a:sym typeface="Wingdings" panose="05000000000000000000" pitchFamily="2" charset="2"/>
              </a:rPr>
              <a:t> PN: 4091640-903 </a:t>
            </a:r>
            <a:r>
              <a:rPr lang="en-US" sz="1400" dirty="0" err="1" smtClean="0">
                <a:cs typeface="Times New Roman" panose="02020603050405020304" pitchFamily="18" charset="0"/>
                <a:sym typeface="Wingdings" panose="05000000000000000000" pitchFamily="2" charset="2"/>
              </a:rPr>
              <a:t>chưa</a:t>
            </a:r>
            <a:r>
              <a:rPr lang="en-US" sz="1400" dirty="0" smtClean="0">
                <a:cs typeface="Times New Roman" panose="02020603050405020304" pitchFamily="18" charset="0"/>
                <a:sym typeface="Wingdings" panose="05000000000000000000" pitchFamily="2" charset="2"/>
              </a:rPr>
              <a:t> có </a:t>
            </a:r>
            <a:r>
              <a:rPr lang="en-US" sz="1400" dirty="0" err="1" smtClean="0">
                <a:cs typeface="Times New Roman" panose="02020603050405020304" pitchFamily="18" charset="0"/>
                <a:sym typeface="Wingdings" panose="05000000000000000000" pitchFamily="2" charset="2"/>
              </a:rPr>
              <a:t>dư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kiến</a:t>
            </a:r>
            <a:r>
              <a:rPr lang="en-US" sz="1400" dirty="0" smtClean="0">
                <a:cs typeface="Times New Roman" panose="02020603050405020304" pitchFamily="18" charset="0"/>
                <a:sym typeface="Wingdings" panose="05000000000000000000" pitchFamily="2" charset="2"/>
              </a:rPr>
              <a:t> (VNA) = &gt; </a:t>
            </a:r>
            <a:r>
              <a:rPr lang="en-US" sz="1400" dirty="0" err="1" smtClean="0">
                <a:cs typeface="Times New Roman" panose="02020603050405020304" pitchFamily="18" charset="0"/>
                <a:sym typeface="Wingdings" panose="05000000000000000000" pitchFamily="2" charset="2"/>
              </a:rPr>
              <a:t>Xem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xét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gối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đầu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nếu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không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kịp</a:t>
            </a:r>
            <a:r>
              <a:rPr lang="en-US" sz="1400" dirty="0" smtClean="0">
                <a:cs typeface="Times New Roman" panose="02020603050405020304" pitchFamily="18" charset="0"/>
                <a:sym typeface="Wingdings" panose="05000000000000000000" pitchFamily="2" charset="2"/>
              </a:rPr>
              <a:t>.</a:t>
            </a:r>
            <a:endParaRPr lang="en-US" sz="1400" dirty="0">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14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sz="1400" dirty="0"/>
          </a:p>
        </p:txBody>
      </p:sp>
    </p:spTree>
    <p:extLst>
      <p:ext uri="{BB962C8B-B14F-4D97-AF65-F5344CB8AC3E}">
        <p14:creationId xmlns:p14="http://schemas.microsoft.com/office/powerpoint/2010/main" val="299792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228600" y="53340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BA944809-9208-B9AB-C1C3-7FEEEAC0DE8C}"/>
              </a:ext>
            </a:extLst>
          </p:cNvPr>
          <p:cNvGraphicFramePr>
            <a:graphicFrameLocks noGrp="1"/>
          </p:cNvGraphicFramePr>
          <p:nvPr>
            <p:extLst/>
          </p:nvPr>
        </p:nvGraphicFramePr>
        <p:xfrm>
          <a:off x="369434" y="1295400"/>
          <a:ext cx="11517767" cy="5181598"/>
        </p:xfrm>
        <a:graphic>
          <a:graphicData uri="http://schemas.openxmlformats.org/drawingml/2006/table">
            <a:tbl>
              <a:tblPr/>
              <a:tblGrid>
                <a:gridCol w="385408">
                  <a:extLst>
                    <a:ext uri="{9D8B030D-6E8A-4147-A177-3AD203B41FA5}">
                      <a16:colId xmlns:a16="http://schemas.microsoft.com/office/drawing/2014/main" val="4129878116"/>
                    </a:ext>
                  </a:extLst>
                </a:gridCol>
                <a:gridCol w="2608914">
                  <a:extLst>
                    <a:ext uri="{9D8B030D-6E8A-4147-A177-3AD203B41FA5}">
                      <a16:colId xmlns:a16="http://schemas.microsoft.com/office/drawing/2014/main" val="3661173833"/>
                    </a:ext>
                  </a:extLst>
                </a:gridCol>
                <a:gridCol w="607759">
                  <a:extLst>
                    <a:ext uri="{9D8B030D-6E8A-4147-A177-3AD203B41FA5}">
                      <a16:colId xmlns:a16="http://schemas.microsoft.com/office/drawing/2014/main" val="4064084773"/>
                    </a:ext>
                  </a:extLst>
                </a:gridCol>
                <a:gridCol w="667052">
                  <a:extLst>
                    <a:ext uri="{9D8B030D-6E8A-4147-A177-3AD203B41FA5}">
                      <a16:colId xmlns:a16="http://schemas.microsoft.com/office/drawing/2014/main" val="3209647350"/>
                    </a:ext>
                  </a:extLst>
                </a:gridCol>
                <a:gridCol w="592935">
                  <a:extLst>
                    <a:ext uri="{9D8B030D-6E8A-4147-A177-3AD203B41FA5}">
                      <a16:colId xmlns:a16="http://schemas.microsoft.com/office/drawing/2014/main" val="135708276"/>
                    </a:ext>
                  </a:extLst>
                </a:gridCol>
                <a:gridCol w="563289">
                  <a:extLst>
                    <a:ext uri="{9D8B030D-6E8A-4147-A177-3AD203B41FA5}">
                      <a16:colId xmlns:a16="http://schemas.microsoft.com/office/drawing/2014/main" val="1952683704"/>
                    </a:ext>
                  </a:extLst>
                </a:gridCol>
                <a:gridCol w="607759">
                  <a:extLst>
                    <a:ext uri="{9D8B030D-6E8A-4147-A177-3AD203B41FA5}">
                      <a16:colId xmlns:a16="http://schemas.microsoft.com/office/drawing/2014/main" val="3748714421"/>
                    </a:ext>
                  </a:extLst>
                </a:gridCol>
                <a:gridCol w="592935">
                  <a:extLst>
                    <a:ext uri="{9D8B030D-6E8A-4147-A177-3AD203B41FA5}">
                      <a16:colId xmlns:a16="http://schemas.microsoft.com/office/drawing/2014/main" val="268413980"/>
                    </a:ext>
                  </a:extLst>
                </a:gridCol>
                <a:gridCol w="607759">
                  <a:extLst>
                    <a:ext uri="{9D8B030D-6E8A-4147-A177-3AD203B41FA5}">
                      <a16:colId xmlns:a16="http://schemas.microsoft.com/office/drawing/2014/main" val="1087461461"/>
                    </a:ext>
                  </a:extLst>
                </a:gridCol>
                <a:gridCol w="607759">
                  <a:extLst>
                    <a:ext uri="{9D8B030D-6E8A-4147-A177-3AD203B41FA5}">
                      <a16:colId xmlns:a16="http://schemas.microsoft.com/office/drawing/2014/main" val="1890291675"/>
                    </a:ext>
                  </a:extLst>
                </a:gridCol>
                <a:gridCol w="607759">
                  <a:extLst>
                    <a:ext uri="{9D8B030D-6E8A-4147-A177-3AD203B41FA5}">
                      <a16:colId xmlns:a16="http://schemas.microsoft.com/office/drawing/2014/main" val="3381782568"/>
                    </a:ext>
                  </a:extLst>
                </a:gridCol>
                <a:gridCol w="3068439">
                  <a:extLst>
                    <a:ext uri="{9D8B030D-6E8A-4147-A177-3AD203B41FA5}">
                      <a16:colId xmlns:a16="http://schemas.microsoft.com/office/drawing/2014/main" val="1905121216"/>
                    </a:ext>
                  </a:extLst>
                </a:gridCol>
              </a:tblGrid>
              <a:tr h="454285">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FLEET A321 (CẬP </a:t>
                      </a:r>
                      <a:r>
                        <a:rPr lang="en-US" sz="1600" b="1" i="0" u="none" strike="noStrike">
                          <a:solidFill>
                            <a:srgbClr val="000000"/>
                          </a:solidFill>
                          <a:effectLst/>
                          <a:latin typeface="Times New Roman" panose="02020603050405020304" pitchFamily="18" charset="0"/>
                        </a:rPr>
                        <a:t>NHẬT 13/04</a:t>
                      </a:r>
                      <a:r>
                        <a:rPr lang="en-US" sz="1600" b="1" i="0" u="none" strike="noStrike" dirty="0">
                          <a:solidFill>
                            <a:srgbClr val="000000"/>
                          </a:solidFill>
                          <a:effectLst/>
                          <a:latin typeface="Times New Roman" panose="02020603050405020304" pitchFamily="18"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4934069"/>
                  </a:ext>
                </a:extLst>
              </a:tr>
              <a:tr h="550648">
                <a:tc>
                  <a:txBody>
                    <a:bodyPr/>
                    <a:lstStyle/>
                    <a:p>
                      <a:pPr algn="ctr" fontAlgn="ctr"/>
                      <a:r>
                        <a:rPr lang="en-US" sz="13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dirty="0">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322931991"/>
                  </a:ext>
                </a:extLst>
              </a:tr>
              <a:tr h="847998">
                <a:tc>
                  <a:txBody>
                    <a:bodyPr/>
                    <a:lstStyle/>
                    <a:p>
                      <a:pPr algn="ctr" fontAlgn="ctr"/>
                      <a:r>
                        <a:rPr lang="en-US" sz="13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300" b="1" i="0" u="none" strike="noStrike">
                          <a:solidFill>
                            <a:srgbClr val="000000"/>
                          </a:solidFill>
                          <a:effectLst/>
                          <a:latin typeface="Times New Roman" panose="02020603050405020304" pitchFamily="18" charset="0"/>
                        </a:rPr>
                        <a:t>A321 NEO AOG</a:t>
                      </a:r>
                      <a:br>
                        <a:rPr lang="pt-BR" sz="1300" b="1" i="0" u="none" strike="noStrike">
                          <a:solidFill>
                            <a:srgbClr val="000000"/>
                          </a:solidFill>
                          <a:effectLst/>
                          <a:latin typeface="Times New Roman" panose="02020603050405020304" pitchFamily="18" charset="0"/>
                        </a:rPr>
                      </a:br>
                      <a:r>
                        <a:rPr lang="pt-BR" sz="13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FF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13.25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a:solidFill>
                            <a:srgbClr val="FF0000"/>
                          </a:solidFill>
                          <a:effectLst/>
                          <a:latin typeface="Times New Roman" panose="02020603050405020304" pitchFamily="18" charset="0"/>
                        </a:rPr>
                        <a:t>- 04/2025</a:t>
                      </a:r>
                      <a:r>
                        <a:rPr lang="en-US" sz="1300" b="0" i="0" u="none" strike="noStrike" dirty="0">
                          <a:solidFill>
                            <a:srgbClr val="FF0000"/>
                          </a:solidFill>
                          <a:effectLst/>
                          <a:latin typeface="Times New Roman" panose="02020603050405020304" pitchFamily="18" charset="0"/>
                        </a:rPr>
                        <a:t>: </a:t>
                      </a:r>
                      <a:r>
                        <a:rPr lang="en-US" sz="1300" b="0" i="0" u="none" strike="noStrike" dirty="0" err="1">
                          <a:solidFill>
                            <a:srgbClr val="FF0000"/>
                          </a:solidFill>
                          <a:effectLst/>
                          <a:latin typeface="Times New Roman" panose="02020603050405020304" pitchFamily="18" charset="0"/>
                        </a:rPr>
                        <a:t>tăng</a:t>
                      </a:r>
                      <a:r>
                        <a:rPr lang="en-US" sz="1300" b="0" i="0" u="none" strike="noStrike" dirty="0">
                          <a:solidFill>
                            <a:srgbClr val="FF0000"/>
                          </a:solidFill>
                          <a:effectLst/>
                          <a:latin typeface="Times New Roman" panose="02020603050405020304" pitchFamily="18" charset="0"/>
                        </a:rPr>
                        <a:t> 0.5 </a:t>
                      </a:r>
                      <a:r>
                        <a:rPr lang="en-US" sz="1300" b="0" i="0" u="none" strike="noStrike" dirty="0" err="1">
                          <a:solidFill>
                            <a:srgbClr val="FF0000"/>
                          </a:solidFill>
                          <a:effectLst/>
                          <a:latin typeface="Times New Roman" panose="02020603050405020304" pitchFamily="18" charset="0"/>
                        </a:rPr>
                        <a:t>tàu</a:t>
                      </a:r>
                      <a:r>
                        <a:rPr lang="en-US" sz="1300" b="0" i="0" u="none" strike="noStrike" dirty="0">
                          <a:solidFill>
                            <a:srgbClr val="FF0000"/>
                          </a:solidFill>
                          <a:effectLst/>
                          <a:latin typeface="Times New Roman" panose="02020603050405020304" pitchFamily="18" charset="0"/>
                        </a:rPr>
                        <a:t> do ENG </a:t>
                      </a:r>
                      <a:r>
                        <a:rPr lang="en-US" sz="1300" b="0" i="0" u="none" strike="noStrike" dirty="0" err="1">
                          <a:solidFill>
                            <a:srgbClr val="FF0000"/>
                          </a:solidFill>
                          <a:effectLst/>
                          <a:latin typeface="Times New Roman" panose="02020603050405020304" pitchFamily="18" charset="0"/>
                        </a:rPr>
                        <a:t>về</a:t>
                      </a:r>
                      <a:r>
                        <a:rPr lang="en-US" sz="1300" b="0" i="0" u="none" strike="noStrike" dirty="0">
                          <a:solidFill>
                            <a:srgbClr val="FF0000"/>
                          </a:solidFill>
                          <a:effectLst/>
                          <a:latin typeface="Times New Roman" panose="02020603050405020304" pitchFamily="18" charset="0"/>
                        </a:rPr>
                        <a:t> </a:t>
                      </a:r>
                      <a:r>
                        <a:rPr lang="en-US" sz="1300" b="0" i="0" u="none" strike="noStrike" dirty="0" err="1">
                          <a:solidFill>
                            <a:srgbClr val="FF0000"/>
                          </a:solidFill>
                          <a:effectLst/>
                          <a:latin typeface="Times New Roman" panose="02020603050405020304" pitchFamily="18" charset="0"/>
                        </a:rPr>
                        <a:t>muộn</a:t>
                      </a:r>
                      <a:r>
                        <a:rPr lang="en-US" sz="1300" b="0" i="0" u="none" strike="noStrike" dirty="0">
                          <a:solidFill>
                            <a:srgbClr val="FF0000"/>
                          </a:solidFill>
                          <a:effectLst/>
                          <a:latin typeface="Times New Roman" panose="02020603050405020304" pitchFamily="18" charset="0"/>
                        </a:rPr>
                        <a:t/>
                      </a:r>
                      <a:br>
                        <a:rPr lang="en-US" sz="1300" b="0" i="0" u="none" strike="noStrike" dirty="0">
                          <a:solidFill>
                            <a:srgbClr val="FF0000"/>
                          </a:solidFill>
                          <a:effectLst/>
                          <a:latin typeface="Times New Roman" panose="02020603050405020304" pitchFamily="18" charset="0"/>
                        </a:rPr>
                      </a:br>
                      <a:r>
                        <a:rPr lang="en-US" sz="1300" b="0" i="0" u="none" strike="noStrike" dirty="0">
                          <a:solidFill>
                            <a:schemeClr val="tx1"/>
                          </a:solidFill>
                          <a:effectLst/>
                          <a:latin typeface="Times New Roman" panose="02020603050405020304" pitchFamily="18" charset="0"/>
                        </a:rPr>
                        <a:t>- 05/2025: </a:t>
                      </a:r>
                      <a:r>
                        <a:rPr lang="en-US" sz="1300" b="0" i="0" u="none" strike="noStrike" dirty="0" err="1">
                          <a:solidFill>
                            <a:schemeClr val="tx1"/>
                          </a:solidFill>
                          <a:effectLst/>
                          <a:latin typeface="Times New Roman" panose="02020603050405020304" pitchFamily="18" charset="0"/>
                        </a:rPr>
                        <a:t>tăng</a:t>
                      </a:r>
                      <a:r>
                        <a:rPr lang="en-US" sz="1300" b="0" i="0" u="none" strike="noStrike" dirty="0">
                          <a:solidFill>
                            <a:schemeClr val="tx1"/>
                          </a:solidFill>
                          <a:effectLst/>
                          <a:latin typeface="Times New Roman" panose="02020603050405020304" pitchFamily="18" charset="0"/>
                        </a:rPr>
                        <a:t> 0.25 </a:t>
                      </a:r>
                      <a:r>
                        <a:rPr lang="en-US" sz="1300" b="0" i="0" u="none" strike="noStrike" dirty="0" err="1">
                          <a:solidFill>
                            <a:schemeClr val="tx1"/>
                          </a:solidFill>
                          <a:effectLst/>
                          <a:latin typeface="Times New Roman" panose="02020603050405020304" pitchFamily="18" charset="0"/>
                        </a:rPr>
                        <a:t>tàu</a:t>
                      </a:r>
                      <a:r>
                        <a:rPr lang="en-US" sz="1300" b="0" i="0" u="none" strike="noStrike" dirty="0">
                          <a:solidFill>
                            <a:schemeClr val="tx1"/>
                          </a:solidFill>
                          <a:effectLst/>
                          <a:latin typeface="Times New Roman" panose="02020603050405020304" pitchFamily="18" charset="0"/>
                        </a:rPr>
                        <a:t> do ENG </a:t>
                      </a:r>
                      <a:r>
                        <a:rPr lang="en-US" sz="1300" b="0" i="0" u="none" strike="noStrike" dirty="0" err="1">
                          <a:solidFill>
                            <a:schemeClr val="tx1"/>
                          </a:solidFill>
                          <a:effectLst/>
                          <a:latin typeface="Times New Roman" panose="02020603050405020304" pitchFamily="18" charset="0"/>
                        </a:rPr>
                        <a:t>về</a:t>
                      </a:r>
                      <a:r>
                        <a:rPr lang="en-US" sz="1300" b="0" i="0" u="none" strike="noStrike" dirty="0">
                          <a:solidFill>
                            <a:schemeClr val="tx1"/>
                          </a:solidFill>
                          <a:effectLst/>
                          <a:latin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rPr>
                        <a:t>muộn</a:t>
                      </a:r>
                      <a:endParaRPr lang="en-US" sz="1300" b="0" i="0" u="none" strike="noStrike" dirty="0">
                        <a:solidFill>
                          <a:schemeClr val="tx1"/>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0958090"/>
                  </a:ext>
                </a:extLst>
              </a:tr>
              <a:tr h="770907">
                <a:tc>
                  <a:txBody>
                    <a:bodyPr/>
                    <a:lstStyle/>
                    <a:p>
                      <a:pPr algn="ctr" fontAlgn="ctr"/>
                      <a:r>
                        <a:rPr lang="en-US" sz="13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3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3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40573388"/>
                  </a:ext>
                </a:extLst>
              </a:tr>
              <a:tr h="839738">
                <a:tc>
                  <a:txBody>
                    <a:bodyPr/>
                    <a:lstStyle/>
                    <a:p>
                      <a:pPr algn="ctr" fontAlgn="ctr"/>
                      <a:r>
                        <a:rPr lang="en-US" sz="13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FF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0.30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FF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5647381"/>
                  </a:ext>
                </a:extLst>
              </a:tr>
              <a:tr h="859011">
                <a:tc>
                  <a:txBody>
                    <a:bodyPr/>
                    <a:lstStyle/>
                    <a:p>
                      <a:pPr algn="ctr" fontAlgn="ctr"/>
                      <a:r>
                        <a:rPr lang="en-US" sz="13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1" i="0" u="none" strike="noStrike">
                          <a:solidFill>
                            <a:srgbClr val="000000"/>
                          </a:solidFill>
                          <a:effectLst/>
                          <a:latin typeface="Times New Roman" panose="02020603050405020304" pitchFamily="18" charset="0"/>
                        </a:rPr>
                        <a:t>Tổng số tàu A321 Dừng</a:t>
                      </a:r>
                      <a:br>
                        <a:rPr lang="en-US" sz="1300" b="1" i="0" u="none" strike="noStrike">
                          <a:solidFill>
                            <a:srgbClr val="000000"/>
                          </a:solidFill>
                          <a:effectLst/>
                          <a:latin typeface="Times New Roman" panose="02020603050405020304" pitchFamily="18" charset="0"/>
                        </a:rPr>
                      </a:br>
                      <a:r>
                        <a:rPr lang="en-US" sz="1300" b="1" i="0" u="none" strike="noStrike">
                          <a:solidFill>
                            <a:srgbClr val="000000"/>
                          </a:solidFill>
                          <a:effectLst/>
                          <a:latin typeface="Times New Roman" panose="02020603050405020304" pitchFamily="18" charset="0"/>
                        </a:rPr>
                        <a:t>(Do thiếu ENG + BD)</a:t>
                      </a:r>
                      <a:br>
                        <a:rPr lang="en-US" sz="1300" b="1" i="0" u="none" strike="noStrike">
                          <a:solidFill>
                            <a:srgbClr val="000000"/>
                          </a:solidFill>
                          <a:effectLst/>
                          <a:latin typeface="Times New Roman" panose="02020603050405020304" pitchFamily="18" charset="0"/>
                        </a:rPr>
                      </a:br>
                      <a:r>
                        <a:rPr lang="en-US" sz="13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16.60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16.35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3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92876371"/>
                  </a:ext>
                </a:extLst>
              </a:tr>
              <a:tr h="859011">
                <a:tc>
                  <a:txBody>
                    <a:bodyPr/>
                    <a:lstStyle/>
                    <a:p>
                      <a:pPr algn="ctr" fontAlgn="ctr"/>
                      <a:r>
                        <a:rPr lang="en-US" sz="13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5040394"/>
                  </a:ext>
                </a:extLst>
              </a:tr>
            </a:tbl>
          </a:graphicData>
        </a:graphic>
      </p:graphicFrame>
    </p:spTree>
    <p:extLst>
      <p:ext uri="{BB962C8B-B14F-4D97-AF65-F5344CB8AC3E}">
        <p14:creationId xmlns:p14="http://schemas.microsoft.com/office/powerpoint/2010/main" val="2343763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92B9A58F-EBFE-5D3D-70A5-09FB32C66EF2}"/>
              </a:ext>
            </a:extLst>
          </p:cNvPr>
          <p:cNvGraphicFramePr>
            <a:graphicFrameLocks noGrp="1"/>
          </p:cNvGraphicFramePr>
          <p:nvPr/>
        </p:nvGraphicFramePr>
        <p:xfrm>
          <a:off x="152400" y="685800"/>
          <a:ext cx="11887197" cy="5642425"/>
        </p:xfrm>
        <a:graphic>
          <a:graphicData uri="http://schemas.openxmlformats.org/drawingml/2006/table">
            <a:tbl>
              <a:tblPr/>
              <a:tblGrid>
                <a:gridCol w="375640">
                  <a:extLst>
                    <a:ext uri="{9D8B030D-6E8A-4147-A177-3AD203B41FA5}">
                      <a16:colId xmlns:a16="http://schemas.microsoft.com/office/drawing/2014/main" val="1903307640"/>
                    </a:ext>
                  </a:extLst>
                </a:gridCol>
                <a:gridCol w="2568895">
                  <a:extLst>
                    <a:ext uri="{9D8B030D-6E8A-4147-A177-3AD203B41FA5}">
                      <a16:colId xmlns:a16="http://schemas.microsoft.com/office/drawing/2014/main" val="2248339607"/>
                    </a:ext>
                  </a:extLst>
                </a:gridCol>
                <a:gridCol w="496815">
                  <a:extLst>
                    <a:ext uri="{9D8B030D-6E8A-4147-A177-3AD203B41FA5}">
                      <a16:colId xmlns:a16="http://schemas.microsoft.com/office/drawing/2014/main" val="1058090152"/>
                    </a:ext>
                  </a:extLst>
                </a:gridCol>
                <a:gridCol w="545283">
                  <a:extLst>
                    <a:ext uri="{9D8B030D-6E8A-4147-A177-3AD203B41FA5}">
                      <a16:colId xmlns:a16="http://schemas.microsoft.com/office/drawing/2014/main" val="1014846744"/>
                    </a:ext>
                  </a:extLst>
                </a:gridCol>
                <a:gridCol w="496815">
                  <a:extLst>
                    <a:ext uri="{9D8B030D-6E8A-4147-A177-3AD203B41FA5}">
                      <a16:colId xmlns:a16="http://schemas.microsoft.com/office/drawing/2014/main" val="4267629727"/>
                    </a:ext>
                  </a:extLst>
                </a:gridCol>
                <a:gridCol w="460462">
                  <a:extLst>
                    <a:ext uri="{9D8B030D-6E8A-4147-A177-3AD203B41FA5}">
                      <a16:colId xmlns:a16="http://schemas.microsoft.com/office/drawing/2014/main" val="1785292468"/>
                    </a:ext>
                  </a:extLst>
                </a:gridCol>
                <a:gridCol w="521049">
                  <a:extLst>
                    <a:ext uri="{9D8B030D-6E8A-4147-A177-3AD203B41FA5}">
                      <a16:colId xmlns:a16="http://schemas.microsoft.com/office/drawing/2014/main" val="3212664607"/>
                    </a:ext>
                  </a:extLst>
                </a:gridCol>
                <a:gridCol w="496815">
                  <a:extLst>
                    <a:ext uri="{9D8B030D-6E8A-4147-A177-3AD203B41FA5}">
                      <a16:colId xmlns:a16="http://schemas.microsoft.com/office/drawing/2014/main" val="1948791772"/>
                    </a:ext>
                  </a:extLst>
                </a:gridCol>
                <a:gridCol w="496815">
                  <a:extLst>
                    <a:ext uri="{9D8B030D-6E8A-4147-A177-3AD203B41FA5}">
                      <a16:colId xmlns:a16="http://schemas.microsoft.com/office/drawing/2014/main" val="3822502996"/>
                    </a:ext>
                  </a:extLst>
                </a:gridCol>
                <a:gridCol w="521049">
                  <a:extLst>
                    <a:ext uri="{9D8B030D-6E8A-4147-A177-3AD203B41FA5}">
                      <a16:colId xmlns:a16="http://schemas.microsoft.com/office/drawing/2014/main" val="3083738210"/>
                    </a:ext>
                  </a:extLst>
                </a:gridCol>
                <a:gridCol w="496815">
                  <a:extLst>
                    <a:ext uri="{9D8B030D-6E8A-4147-A177-3AD203B41FA5}">
                      <a16:colId xmlns:a16="http://schemas.microsoft.com/office/drawing/2014/main" val="1840828774"/>
                    </a:ext>
                  </a:extLst>
                </a:gridCol>
                <a:gridCol w="4410744">
                  <a:extLst>
                    <a:ext uri="{9D8B030D-6E8A-4147-A177-3AD203B41FA5}">
                      <a16:colId xmlns:a16="http://schemas.microsoft.com/office/drawing/2014/main" val="1292110500"/>
                    </a:ext>
                  </a:extLst>
                </a:gridCol>
              </a:tblGrid>
              <a:tr h="400503">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A350/B787 (CẬP NHẬT 07/04)</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9926967"/>
                  </a:ext>
                </a:extLst>
              </a:tr>
              <a:tr h="306615">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962234859"/>
                  </a:ext>
                </a:extLst>
              </a:tr>
              <a:tr h="1273628">
                <a:tc>
                  <a:txBody>
                    <a:bodyPr/>
                    <a:lstStyle/>
                    <a:p>
                      <a:pPr algn="ctr" fontAlgn="ctr"/>
                      <a:r>
                        <a:rPr lang="en-US" sz="1200" b="0"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KB tốt giữ giờ 03 động cơ tháo trong cao điểm hè:  - 21346 (A891): Cần giữ giờ 63 ngày (đã lên phương án giữ giờ 50 ngày bao gồm offwing 23 ngày và 27 ngày swap ENG với A899 Y6);</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- 21418 (A890): Cần giữ giờ 38 ngày (đã lên phương án giữ giờ 30 ngày bao bồm dừng Đkỳ 10 ngày và 20 ngày swap ENG với A899 Y6)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- 21317 (A897): Cần giữ giờ 12 ngày.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6136671"/>
                  </a:ext>
                </a:extLst>
              </a:tr>
              <a:tr h="422576">
                <a:tc>
                  <a:txBody>
                    <a:bodyPr/>
                    <a:lstStyle/>
                    <a:p>
                      <a:pPr algn="ctr" fontAlgn="ctr"/>
                      <a:r>
                        <a:rPr lang="en-US" sz="1200" b="0"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FF0000"/>
                          </a:solidFill>
                          <a:effectLst/>
                          <a:latin typeface="Times New Roman" panose="02020603050405020304" pitchFamily="18" charset="0"/>
                        </a:rPr>
                        <a:t>05/2025: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0.2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A899 Y6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dây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chuyền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A892 C4 do VIP), A891 &amp; A896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1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do </a:t>
                      </a:r>
                      <a:r>
                        <a:rPr lang="en-US" sz="1200" b="0" i="0" u="none" strike="noStrike" dirty="0" err="1">
                          <a:solidFill>
                            <a:srgbClr val="FF0000"/>
                          </a:solidFill>
                          <a:effectLst/>
                          <a:latin typeface="Times New Roman" panose="02020603050405020304" pitchFamily="18" charset="0"/>
                        </a:rPr>
                        <a:t>kết</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hợp</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làm</a:t>
                      </a:r>
                      <a:r>
                        <a:rPr lang="en-US" sz="1200" b="0" i="0" u="none" strike="noStrike" dirty="0">
                          <a:solidFill>
                            <a:srgbClr val="FF0000"/>
                          </a:solidFill>
                          <a:effectLst/>
                          <a:latin typeface="Times New Roman" panose="02020603050405020304" pitchFamily="18" charset="0"/>
                        </a:rPr>
                        <a:t> MOD IFC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9707572"/>
                  </a:ext>
                </a:extLst>
              </a:tr>
              <a:tr h="393095">
                <a:tc>
                  <a:txBody>
                    <a:bodyPr/>
                    <a:lstStyle/>
                    <a:p>
                      <a:pPr algn="ctr" fontAlgn="ctr"/>
                      <a:r>
                        <a:rPr lang="en-US" sz="1200" b="0"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860199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07965469"/>
                  </a:ext>
                </a:extLst>
              </a:tr>
              <a:tr h="393095">
                <a:tc>
                  <a:txBody>
                    <a:bodyPr/>
                    <a:lstStyle/>
                    <a:p>
                      <a:pPr algn="ctr" fontAlgn="ctr"/>
                      <a:r>
                        <a:rPr lang="en-US" sz="1200" b="0"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FF0000"/>
                          </a:solidFill>
                          <a:effectLst/>
                          <a:latin typeface="Times New Roman" panose="02020603050405020304" pitchFamily="18" charset="0"/>
                        </a:rPr>
                        <a:t>- Rủi ro phát sinh tàu AOG do ENG (A863/A861 có giới hạn BSI 50CY).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1849099"/>
                  </a:ext>
                </a:extLst>
              </a:tr>
              <a:tr h="487438">
                <a:tc>
                  <a:txBody>
                    <a:bodyPr/>
                    <a:lstStyle/>
                    <a:p>
                      <a:pPr algn="ctr" fontAlgn="ctr"/>
                      <a:r>
                        <a:rPr lang="en-US" sz="1200" b="0" i="0" u="none" strike="noStrike">
                          <a:solidFill>
                            <a:srgbClr val="000000"/>
                          </a:solidFill>
                          <a:effectLst/>
                          <a:latin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FF0000"/>
                          </a:solidFill>
                          <a:effectLst/>
                          <a:latin typeface="Times New Roman" panose="02020603050405020304" pitchFamily="18" charset="0"/>
                        </a:rPr>
                        <a:t>- 04/2025: tăng 0.2 tàu A871 hết hạn NN A01 ngày 11/04 =&gt; overlap với A868 thay ENG + A08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2788071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4633735"/>
                  </a:ext>
                </a:extLst>
              </a:tr>
              <a:tr h="393095">
                <a:tc>
                  <a:txBody>
                    <a:bodyPr/>
                    <a:lstStyle/>
                    <a:p>
                      <a:pPr algn="ctr" fontAlgn="ctr"/>
                      <a:r>
                        <a:rPr lang="en-US" sz="1200" b="0" i="0" u="none" strike="noStrike">
                          <a:solidFill>
                            <a:srgbClr val="000000"/>
                          </a:solidFill>
                          <a:effectLst/>
                          <a:latin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2016084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872893"/>
                  </a:ext>
                </a:extLst>
              </a:tr>
              <a:tr h="393095">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888228785"/>
                  </a:ext>
                </a:extLst>
              </a:tr>
            </a:tbl>
          </a:graphicData>
        </a:graphic>
      </p:graphicFrame>
    </p:spTree>
    <p:extLst>
      <p:ext uri="{BB962C8B-B14F-4D97-AF65-F5344CB8AC3E}">
        <p14:creationId xmlns:p14="http://schemas.microsoft.com/office/powerpoint/2010/main" val="1087217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41</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15</a:t>
            </a:r>
            <a:endParaRPr lang="vi-VN" sz="2700" dirty="0"/>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09a,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09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04</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05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11ea,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08ea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05ea,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05ea,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027</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137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80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15: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05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35ea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kiểm soát</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76711" y="442857"/>
            <a:ext cx="11662887" cy="31641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15: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219 (</a:t>
            </a:r>
            <a:r>
              <a:rPr lang="en-US" sz="1400" dirty="0" err="1">
                <a:latin typeface="Times New Roman" panose="02020603050405020304" pitchFamily="18" charset="0"/>
                <a:cs typeface="Times New Roman" panose="02020603050405020304" pitchFamily="18" charset="0"/>
              </a:rPr>
              <a:t>bằng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14),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92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127ADD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13%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14).</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Hỏng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15</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00,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00,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00.</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08,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05,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2790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42</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Table 5">
            <a:extLst>
              <a:ext uri="{FF2B5EF4-FFF2-40B4-BE49-F238E27FC236}">
                <a16:creationId xmlns:a16="http://schemas.microsoft.com/office/drawing/2014/main" id="{26462B1B-98EB-BF7D-FE1D-D12E870A5ADF}"/>
              </a:ext>
            </a:extLst>
          </p:cNvPr>
          <p:cNvGraphicFramePr>
            <a:graphicFrameLocks noGrp="1"/>
          </p:cNvGraphicFramePr>
          <p:nvPr>
            <p:extLst>
              <p:ext uri="{D42A27DB-BD31-4B8C-83A1-F6EECF244321}">
                <p14:modId xmlns:p14="http://schemas.microsoft.com/office/powerpoint/2010/main" val="377457543"/>
              </p:ext>
            </p:extLst>
          </p:nvPr>
        </p:nvGraphicFramePr>
        <p:xfrm>
          <a:off x="552411" y="3810000"/>
          <a:ext cx="10744200" cy="1013918"/>
        </p:xfrm>
        <a:graphic>
          <a:graphicData uri="http://schemas.openxmlformats.org/drawingml/2006/table">
            <a:tbl>
              <a:tblPr/>
              <a:tblGrid>
                <a:gridCol w="197641">
                  <a:extLst>
                    <a:ext uri="{9D8B030D-6E8A-4147-A177-3AD203B41FA5}">
                      <a16:colId xmlns:a16="http://schemas.microsoft.com/office/drawing/2014/main" val="4233291189"/>
                    </a:ext>
                  </a:extLst>
                </a:gridCol>
                <a:gridCol w="1257721">
                  <a:extLst>
                    <a:ext uri="{9D8B030D-6E8A-4147-A177-3AD203B41FA5}">
                      <a16:colId xmlns:a16="http://schemas.microsoft.com/office/drawing/2014/main" val="1851441935"/>
                    </a:ext>
                  </a:extLst>
                </a:gridCol>
                <a:gridCol w="401273">
                  <a:extLst>
                    <a:ext uri="{9D8B030D-6E8A-4147-A177-3AD203B41FA5}">
                      <a16:colId xmlns:a16="http://schemas.microsoft.com/office/drawing/2014/main" val="4049386686"/>
                    </a:ext>
                  </a:extLst>
                </a:gridCol>
                <a:gridCol w="347371">
                  <a:extLst>
                    <a:ext uri="{9D8B030D-6E8A-4147-A177-3AD203B41FA5}">
                      <a16:colId xmlns:a16="http://schemas.microsoft.com/office/drawing/2014/main" val="3091872846"/>
                    </a:ext>
                  </a:extLst>
                </a:gridCol>
                <a:gridCol w="4425394">
                  <a:extLst>
                    <a:ext uri="{9D8B030D-6E8A-4147-A177-3AD203B41FA5}">
                      <a16:colId xmlns:a16="http://schemas.microsoft.com/office/drawing/2014/main" val="2782008459"/>
                    </a:ext>
                  </a:extLst>
                </a:gridCol>
                <a:gridCol w="762000">
                  <a:extLst>
                    <a:ext uri="{9D8B030D-6E8A-4147-A177-3AD203B41FA5}">
                      <a16:colId xmlns:a16="http://schemas.microsoft.com/office/drawing/2014/main" val="4039382669"/>
                    </a:ext>
                  </a:extLst>
                </a:gridCol>
                <a:gridCol w="990600">
                  <a:extLst>
                    <a:ext uri="{9D8B030D-6E8A-4147-A177-3AD203B41FA5}">
                      <a16:colId xmlns:a16="http://schemas.microsoft.com/office/drawing/2014/main" val="2031735630"/>
                    </a:ext>
                  </a:extLst>
                </a:gridCol>
                <a:gridCol w="1828800">
                  <a:extLst>
                    <a:ext uri="{9D8B030D-6E8A-4147-A177-3AD203B41FA5}">
                      <a16:colId xmlns:a16="http://schemas.microsoft.com/office/drawing/2014/main" val="3967621043"/>
                    </a:ext>
                  </a:extLst>
                </a:gridCol>
                <a:gridCol w="533400">
                  <a:extLst>
                    <a:ext uri="{9D8B030D-6E8A-4147-A177-3AD203B41FA5}">
                      <a16:colId xmlns:a16="http://schemas.microsoft.com/office/drawing/2014/main" val="2601573140"/>
                    </a:ext>
                  </a:extLst>
                </a:gridCol>
              </a:tblGrid>
              <a:tr h="258558">
                <a:tc gridSpan="9">
                  <a:txBody>
                    <a:bodyPr/>
                    <a:lstStyle/>
                    <a:p>
                      <a:pPr algn="ctr" fontAlgn="ctr"/>
                      <a:r>
                        <a:rPr lang="vi-VN" sz="1200" b="1" i="0" u="none" strike="noStrike">
                          <a:solidFill>
                            <a:srgbClr val="000000"/>
                          </a:solidFill>
                          <a:effectLst/>
                          <a:latin typeface="Times New Roman" panose="02020603050405020304" pitchFamily="18" charset="0"/>
                        </a:rPr>
                        <a:t>BẢNG TỔNG HỢP VÀ THEO DÕI NHÂN NHƯỢNG - VIETNAM AIRLINES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2136572"/>
                  </a:ext>
                </a:extLst>
              </a:tr>
              <a:tr h="258558">
                <a:tc>
                  <a:txBody>
                    <a:bodyPr/>
                    <a:lstStyle/>
                    <a:p>
                      <a:pPr algn="ctr" fontAlgn="ctr"/>
                      <a:r>
                        <a:rPr lang="en-US" sz="1200" b="1" i="0" u="none" strike="noStrike">
                          <a:solidFill>
                            <a:srgbClr val="000000"/>
                          </a:solidFill>
                          <a:effectLst/>
                          <a:latin typeface="Times New Roman" panose="02020603050405020304" pitchFamily="18" charset="0"/>
                        </a:rPr>
                        <a:t>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Concession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Type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Description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By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ADD/CHK/Task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Status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2364888"/>
                  </a:ext>
                </a:extLst>
              </a:tr>
              <a:tr h="496802">
                <a:tc>
                  <a:txBody>
                    <a:bodyPr/>
                    <a:lstStyle/>
                    <a:p>
                      <a:pPr algn="ctr" fontAlgn="ctr"/>
                      <a:r>
                        <a:rPr lang="en-US" sz="1100" b="0" i="0" u="none" strike="noStrike" smtClean="0">
                          <a:solidFill>
                            <a:srgbClr val="000000"/>
                          </a:solidFill>
                          <a:effectLst/>
                          <a:latin typeface="Times New Roman" panose="02020603050405020304" pitchFamily="18" charset="0"/>
                        </a:rPr>
                        <a:t>nil</a:t>
                      </a: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a:solidFill>
                          <a:srgbClr val="000000"/>
                        </a:solidFill>
                        <a:effectLst/>
                        <a:latin typeface="Times New Roman" panose="02020603050405020304" pitchFamily="18" charset="0"/>
                      </a:endParaRP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3414388"/>
                  </a:ext>
                </a:extLst>
              </a:tr>
            </a:tbl>
          </a:graphicData>
        </a:graphic>
      </p:graphicFrame>
      <p:graphicFrame>
        <p:nvGraphicFramePr>
          <p:cNvPr id="8" name="Chart 7">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585681981"/>
              </p:ext>
            </p:extLst>
          </p:nvPr>
        </p:nvGraphicFramePr>
        <p:xfrm>
          <a:off x="4343400" y="1226131"/>
          <a:ext cx="4004481" cy="23803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748:00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785:20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228:50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384:20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198:25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295:40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nvGraphicFramePr>
        <p:xfrm>
          <a:off x="1059507" y="1066800"/>
          <a:ext cx="10370492" cy="25333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42380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nvGraphicFramePr>
        <p:xfrm>
          <a:off x="925418" y="1143000"/>
          <a:ext cx="10521106" cy="22402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6399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p:cNvGraphicFramePr>
            <a:graphicFrameLocks/>
          </p:cNvGraphicFramePr>
          <p:nvPr/>
        </p:nvGraphicFramePr>
        <p:xfrm>
          <a:off x="761999" y="1371600"/>
          <a:ext cx="11064875" cy="5105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41596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913578" y="569557"/>
            <a:ext cx="10726803"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Tàu AOG: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hình tàu check: A604: EC06+EC01+C02+C03+Y06+Y12+EA08-EA09 (13/04-13/05): chưa có phát sinh vật tư</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ảnh hưởng khai thác: Không có vướng mắc vật tư</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B defect hết hạn trong 10 ngày: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1001498" y="1892725"/>
            <a:ext cx="8943426" cy="1253225"/>
          </a:xfrm>
          <a:prstGeom prst="rect">
            <a:avLst/>
          </a:prstGeom>
          <a:noFill/>
          <a:ln>
            <a:noFill/>
          </a:ln>
        </p:spPr>
      </p:pic>
      <p:pic>
        <p:nvPicPr>
          <p:cNvPr id="160" name="Google Shape;160;g31ccdae391d_0_248"/>
          <p:cNvPicPr preferRelativeResize="0"/>
          <p:nvPr/>
        </p:nvPicPr>
        <p:blipFill>
          <a:blip r:embed="rId4">
            <a:alphaModFix/>
          </a:blip>
          <a:stretch>
            <a:fillRect/>
          </a:stretch>
        </p:blipFill>
        <p:spPr>
          <a:xfrm>
            <a:off x="913578" y="3843500"/>
            <a:ext cx="11038674" cy="2095460"/>
          </a:xfrm>
          <a:prstGeom prst="rect">
            <a:avLst/>
          </a:prstGeom>
          <a:noFill/>
          <a:ln>
            <a:noFill/>
          </a:ln>
        </p:spPr>
      </p:pic>
    </p:spTree>
    <p:extLst>
      <p:ext uri="{BB962C8B-B14F-4D97-AF65-F5344CB8AC3E}">
        <p14:creationId xmlns:p14="http://schemas.microsoft.com/office/powerpoint/2010/main" val="2741046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4b80f439b0_0_3"/>
          <p:cNvSpPr txBox="1">
            <a:spLocks noGrp="1"/>
          </p:cNvSpPr>
          <p:nvPr>
            <p:ph type="title"/>
          </p:nvPr>
        </p:nvSpPr>
        <p:spPr>
          <a:xfrm>
            <a:off x="1206152" y="630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7" name="Google Shape;167;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68" name="Google Shape;168;g34b80f439b0_0_3"/>
          <p:cNvSpPr/>
          <p:nvPr/>
        </p:nvSpPr>
        <p:spPr>
          <a:xfrm>
            <a:off x="1142999" y="858119"/>
            <a:ext cx="10792507"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38 đơn hàng quá hạn trong tổng số 52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16 overdue PX / total 34 PX</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cho Defect: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10 overdue PR / total  19 PR</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cho Hardtime/Softtime: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25 overdue PR / total 50 PR</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69" name="Google Shape;169;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70" name="Google Shape;170;g34b80f439b0_0_3"/>
          <p:cNvPicPr preferRelativeResize="0"/>
          <p:nvPr/>
        </p:nvPicPr>
        <p:blipFill>
          <a:blip r:embed="rId3">
            <a:alphaModFix/>
          </a:blip>
          <a:stretch>
            <a:fillRect/>
          </a:stretch>
        </p:blipFill>
        <p:spPr>
          <a:xfrm>
            <a:off x="1287125" y="2077239"/>
            <a:ext cx="7477126" cy="4420833"/>
          </a:xfrm>
          <a:prstGeom prst="rect">
            <a:avLst/>
          </a:prstGeom>
          <a:noFill/>
          <a:ln>
            <a:noFill/>
          </a:ln>
        </p:spPr>
      </p:pic>
    </p:spTree>
    <p:extLst>
      <p:ext uri="{BB962C8B-B14F-4D97-AF65-F5344CB8AC3E}">
        <p14:creationId xmlns:p14="http://schemas.microsoft.com/office/powerpoint/2010/main" val="6360181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1ccdae391d_0_271"/>
          <p:cNvSpPr txBox="1">
            <a:spLocks noGrp="1"/>
          </p:cNvSpPr>
          <p:nvPr>
            <p:ph type="title"/>
          </p:nvPr>
        </p:nvSpPr>
        <p:spPr>
          <a:xfrm>
            <a:off x="618105" y="474136"/>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7" name="Google Shape;177;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78" name="Google Shape;178;g31ccdae391d_0_271"/>
          <p:cNvGraphicFramePr/>
          <p:nvPr>
            <p:extLst>
              <p:ext uri="{D42A27DB-BD31-4B8C-83A1-F6EECF244321}">
                <p14:modId xmlns:p14="http://schemas.microsoft.com/office/powerpoint/2010/main" val="1096794915"/>
              </p:ext>
            </p:extLst>
          </p:nvPr>
        </p:nvGraphicFramePr>
        <p:xfrm>
          <a:off x="621325" y="1219200"/>
          <a:ext cx="10986225" cy="4203202"/>
        </p:xfrm>
        <a:graphic>
          <a:graphicData uri="http://schemas.openxmlformats.org/drawingml/2006/table">
            <a:tbl>
              <a:tblPr>
                <a:noFill/>
              </a:tblPr>
              <a:tblGrid>
                <a:gridCol w="703832">
                  <a:extLst>
                    <a:ext uri="{9D8B030D-6E8A-4147-A177-3AD203B41FA5}">
                      <a16:colId xmlns:a16="http://schemas.microsoft.com/office/drawing/2014/main" val="20000"/>
                    </a:ext>
                  </a:extLst>
                </a:gridCol>
                <a:gridCol w="1847824">
                  <a:extLst>
                    <a:ext uri="{9D8B030D-6E8A-4147-A177-3AD203B41FA5}">
                      <a16:colId xmlns:a16="http://schemas.microsoft.com/office/drawing/2014/main" val="20001"/>
                    </a:ext>
                  </a:extLst>
                </a:gridCol>
                <a:gridCol w="1220615">
                  <a:extLst>
                    <a:ext uri="{9D8B030D-6E8A-4147-A177-3AD203B41FA5}">
                      <a16:colId xmlns:a16="http://schemas.microsoft.com/office/drawing/2014/main" val="20002"/>
                    </a:ext>
                  </a:extLst>
                </a:gridCol>
                <a:gridCol w="4913533">
                  <a:extLst>
                    <a:ext uri="{9D8B030D-6E8A-4147-A177-3AD203B41FA5}">
                      <a16:colId xmlns:a16="http://schemas.microsoft.com/office/drawing/2014/main" val="20003"/>
                    </a:ext>
                  </a:extLst>
                </a:gridCol>
                <a:gridCol w="2300421">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1ea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3ea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8409575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5" name="Google Shape;185;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6" name="Google Shape;186;g31ccdae391d_0_278"/>
          <p:cNvGraphicFramePr/>
          <p:nvPr>
            <p:extLst>
              <p:ext uri="{D42A27DB-BD31-4B8C-83A1-F6EECF244321}">
                <p14:modId xmlns:p14="http://schemas.microsoft.com/office/powerpoint/2010/main" val="200582749"/>
              </p:ext>
            </p:extLst>
          </p:nvPr>
        </p:nvGraphicFramePr>
        <p:xfrm>
          <a:off x="1030310" y="527361"/>
          <a:ext cx="10287000" cy="6002220"/>
        </p:xfrm>
        <a:graphic>
          <a:graphicData uri="http://schemas.openxmlformats.org/drawingml/2006/table">
            <a:tbl>
              <a:tblPr>
                <a:noFill/>
              </a:tblPr>
              <a:tblGrid>
                <a:gridCol w="5484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4709375">
                  <a:extLst>
                    <a:ext uri="{9D8B030D-6E8A-4147-A177-3AD203B41FA5}">
                      <a16:colId xmlns:a16="http://schemas.microsoft.com/office/drawing/2014/main" val="20004"/>
                    </a:ext>
                  </a:extLst>
                </a:gridCol>
              </a:tblGrid>
              <a:tr h="362874">
                <a:tc>
                  <a:txBody>
                    <a:bodyPr/>
                    <a:lstStyle/>
                    <a:p>
                      <a:pPr marL="0" marR="0" lvl="0" indent="0" algn="l" rtl="0">
                        <a:spcBef>
                          <a:spcPts val="0"/>
                        </a:spcBef>
                        <a:spcAft>
                          <a:spcPts val="0"/>
                        </a:spcAft>
                        <a:buClr>
                          <a:schemeClr val="dk1"/>
                        </a:buClr>
                        <a:buSzPts val="1100"/>
                        <a:buFont typeface="Arial"/>
                        <a:buNone/>
                      </a:pPr>
                      <a:r>
                        <a:rPr lang="en-US" sz="1200" u="none" strike="noStrike" cap="none">
                          <a:solidFill>
                            <a:schemeClr val="dk1"/>
                          </a:solidFill>
                          <a:latin typeface="Times New Roman"/>
                          <a:ea typeface="Times New Roman"/>
                          <a:cs typeface="Times New Roman"/>
                          <a:sym typeface="Times New Roman"/>
                        </a:rPr>
                        <a:t>it</a:t>
                      </a:r>
                      <a:endParaRPr sz="12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200" u="none" strike="noStrike" cap="none">
                          <a:solidFill>
                            <a:schemeClr val="dk1"/>
                          </a:solidFill>
                          <a:latin typeface="Times New Roman"/>
                          <a:ea typeface="Times New Roman"/>
                          <a:cs typeface="Times New Roman"/>
                          <a:sym typeface="Times New Roman"/>
                        </a:rPr>
                        <a:t>Part number</a:t>
                      </a:r>
                      <a:endParaRPr sz="12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200" u="none" strike="noStrike" cap="none">
                          <a:solidFill>
                            <a:schemeClr val="dk1"/>
                          </a:solidFill>
                          <a:latin typeface="Times New Roman"/>
                          <a:ea typeface="Times New Roman"/>
                          <a:cs typeface="Times New Roman"/>
                          <a:sym typeface="Times New Roman"/>
                        </a:rPr>
                        <a:t>Description</a:t>
                      </a:r>
                      <a:endParaRPr sz="12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solidFill>
                            <a:schemeClr val="dk1"/>
                          </a:solidFill>
                          <a:latin typeface="Times New Roman"/>
                          <a:ea typeface="Times New Roman"/>
                          <a:cs typeface="Times New Roman"/>
                          <a:sym typeface="Times New Roman"/>
                        </a:rPr>
                        <a:t>MBK level</a:t>
                      </a:r>
                      <a:endParaRPr sz="12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200" u="none" strike="noStrike" cap="none">
                          <a:solidFill>
                            <a:schemeClr val="dk1"/>
                          </a:solidFill>
                          <a:latin typeface="Times New Roman"/>
                          <a:ea typeface="Times New Roman"/>
                          <a:cs typeface="Times New Roman"/>
                          <a:sym typeface="Times New Roman"/>
                        </a:rPr>
                        <a:t>status</a:t>
                      </a:r>
                      <a:endParaRPr sz="1200" u="none" strike="noStrike" cap="none"/>
                    </a:p>
                  </a:txBody>
                  <a:tcPr marL="91425" marR="91425" marT="91425" marB="91425"/>
                </a:tc>
                <a:extLst>
                  <a:ext uri="{0D108BD9-81ED-4DB2-BD59-A6C34878D82A}">
                    <a16:rowId xmlns:a16="http://schemas.microsoft.com/office/drawing/2014/main" val="10000"/>
                  </a:ext>
                </a:extLst>
              </a:tr>
              <a:tr h="55154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106-1-1100-02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ACTUATOR-APU</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NIL,</a:t>
                      </a:r>
                      <a:r>
                        <a:rPr lang="en-US" sz="1200">
                          <a:solidFill>
                            <a:schemeClr val="dk1"/>
                          </a:solidFill>
                          <a:latin typeface="Times New Roman"/>
                          <a:ea typeface="Times New Roman"/>
                          <a:cs typeface="Times New Roman"/>
                          <a:sym typeface="Times New Roman"/>
                        </a:rPr>
                        <a:t> đang đặt mua nhưng Airbus không có stock, đã upgrade AOG nhưng Airbus dự kiến tháng 7/2025</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160494-1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OIL COOLER</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 </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2ea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2704506-2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MOTOR STARTER</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1ea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4</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3291238-2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VALVE-SURGE CONTROL</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 </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NIL</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5</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3291432-1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LOAD CONTROL VALVE</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1</a:t>
                      </a:r>
                      <a:r>
                        <a:rPr lang="en-US" sz="1200" u="none" strike="noStrike" cap="none">
                          <a:latin typeface="Times New Roman"/>
                          <a:ea typeface="Times New Roman"/>
                          <a:cs typeface="Times New Roman"/>
                          <a:sym typeface="Times New Roman"/>
                        </a:rPr>
                        <a:t>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6</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3616140-10</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FAN ASSY-OIL COOLING</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 </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solidFill>
                            <a:schemeClr val="dk1"/>
                          </a:solidFill>
                          <a:latin typeface="Times New Roman"/>
                          <a:ea typeface="Times New Roman"/>
                          <a:cs typeface="Times New Roman"/>
                          <a:sym typeface="Times New Roman"/>
                        </a:rPr>
                        <a:t>stock </a:t>
                      </a:r>
                      <a:r>
                        <a:rPr lang="en-US" sz="1200">
                          <a:solidFill>
                            <a:schemeClr val="dk1"/>
                          </a:solidFill>
                          <a:latin typeface="Times New Roman"/>
                          <a:ea typeface="Times New Roman"/>
                          <a:cs typeface="Times New Roman"/>
                          <a:sym typeface="Times New Roman"/>
                        </a:rPr>
                        <a:t>1ea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7</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3876287-1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DATA MEMORY MODULE</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solidFill>
                            <a:schemeClr val="dk1"/>
                          </a:solidFill>
                          <a:latin typeface="Times New Roman"/>
                          <a:ea typeface="Times New Roman"/>
                          <a:cs typeface="Times New Roman"/>
                          <a:sym typeface="Times New Roman"/>
                        </a:rPr>
                        <a:t>stock 1ea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8</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3886188-3</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IGV ACTUATOR APU131-9A</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solidFill>
                            <a:schemeClr val="dk1"/>
                          </a:solidFill>
                          <a:latin typeface="Times New Roman"/>
                          <a:ea typeface="Times New Roman"/>
                          <a:cs typeface="Times New Roman"/>
                          <a:sym typeface="Times New Roman"/>
                        </a:rPr>
                        <a:t>stock </a:t>
                      </a:r>
                      <a:r>
                        <a:rPr lang="en-US" sz="1200">
                          <a:solidFill>
                            <a:schemeClr val="dk1"/>
                          </a:solidFill>
                          <a:latin typeface="Times New Roman"/>
                          <a:ea typeface="Times New Roman"/>
                          <a:cs typeface="Times New Roman"/>
                          <a:sym typeface="Times New Roman"/>
                        </a:rPr>
                        <a:t>NIL</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9</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3888058-5</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EXCITER</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solidFill>
                            <a:schemeClr val="dk1"/>
                          </a:solidFill>
                          <a:latin typeface="Times New Roman"/>
                          <a:ea typeface="Times New Roman"/>
                          <a:cs typeface="Times New Roman"/>
                          <a:sym typeface="Times New Roman"/>
                        </a:rPr>
                        <a:t>stock </a:t>
                      </a:r>
                      <a:r>
                        <a:rPr lang="en-US" sz="1200">
                          <a:solidFill>
                            <a:schemeClr val="dk1"/>
                          </a:solidFill>
                          <a:latin typeface="Times New Roman"/>
                          <a:ea typeface="Times New Roman"/>
                          <a:cs typeface="Times New Roman"/>
                          <a:sym typeface="Times New Roman"/>
                        </a:rPr>
                        <a:t>1ea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10</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3888394-221205</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ECB</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solidFill>
                            <a:schemeClr val="dk1"/>
                          </a:solidFill>
                          <a:latin typeface="Times New Roman"/>
                          <a:ea typeface="Times New Roman"/>
                          <a:cs typeface="Times New Roman"/>
                          <a:sym typeface="Times New Roman"/>
                        </a:rPr>
                        <a:t>stock </a:t>
                      </a:r>
                      <a:r>
                        <a:rPr lang="en-US" sz="1200">
                          <a:solidFill>
                            <a:schemeClr val="dk1"/>
                          </a:solidFill>
                          <a:latin typeface="Times New Roman"/>
                          <a:ea typeface="Times New Roman"/>
                          <a:cs typeface="Times New Roman"/>
                          <a:sym typeface="Times New Roman"/>
                        </a:rPr>
                        <a:t>1</a:t>
                      </a:r>
                      <a:r>
                        <a:rPr lang="en-US" sz="1200" u="none" strike="noStrike" cap="none">
                          <a:solidFill>
                            <a:schemeClr val="dk1"/>
                          </a:solidFill>
                          <a:latin typeface="Times New Roman"/>
                          <a:ea typeface="Times New Roman"/>
                          <a:cs typeface="Times New Roman"/>
                          <a:sym typeface="Times New Roman"/>
                        </a:rPr>
                        <a:t>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4131020-4</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LUBE MODULE</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 </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2ea, 2RO có TAT tại Honeywell dài</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12</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441921-5</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CONTROL FUEL UNIT</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1</a:t>
                      </a:r>
                      <a:r>
                        <a:rPr lang="en-US" sz="1200" u="none" strike="noStrike" cap="none">
                          <a:latin typeface="Times New Roman"/>
                          <a:ea typeface="Times New Roman"/>
                          <a:cs typeface="Times New Roman"/>
                          <a:sym typeface="Times New Roman"/>
                        </a:rPr>
                        <a:t>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13</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BA03604</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GENERATOR-APU</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2ea</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9115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14</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3860864-1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CLUTCH ASSY</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200" u="none" strike="noStrike" cap="none">
                          <a:latin typeface="Times New Roman"/>
                          <a:ea typeface="Times New Roman"/>
                          <a:cs typeface="Times New Roman"/>
                          <a:sym typeface="Times New Roman"/>
                        </a:rPr>
                        <a:t>stock NIL, </a:t>
                      </a:r>
                      <a:r>
                        <a:rPr lang="en-US" sz="1200">
                          <a:solidFill>
                            <a:schemeClr val="dk1"/>
                          </a:solidFill>
                          <a:latin typeface="Times New Roman"/>
                          <a:ea typeface="Times New Roman"/>
                          <a:cs typeface="Times New Roman"/>
                          <a:sym typeface="Times New Roman"/>
                        </a:rPr>
                        <a:t>đang đặt mua nhưng honeywell không có stock</a:t>
                      </a:r>
                      <a:endParaRPr sz="12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49653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1ccdae391d_0_285"/>
          <p:cNvSpPr txBox="1">
            <a:spLocks noGrp="1"/>
          </p:cNvSpPr>
          <p:nvPr>
            <p:ph type="title"/>
          </p:nvPr>
        </p:nvSpPr>
        <p:spPr>
          <a:xfrm>
            <a:off x="696531" y="17501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3" name="Google Shape;193;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94" name="Google Shape;194;g31ccdae391d_0_285"/>
          <p:cNvGraphicFramePr/>
          <p:nvPr>
            <p:extLst>
              <p:ext uri="{D42A27DB-BD31-4B8C-83A1-F6EECF244321}">
                <p14:modId xmlns:p14="http://schemas.microsoft.com/office/powerpoint/2010/main" val="4207698693"/>
              </p:ext>
            </p:extLst>
          </p:nvPr>
        </p:nvGraphicFramePr>
        <p:xfrm>
          <a:off x="685799" y="1066800"/>
          <a:ext cx="10921751" cy="4566929"/>
        </p:xfrm>
        <a:graphic>
          <a:graphicData uri="http://schemas.openxmlformats.org/drawingml/2006/table">
            <a:tbl>
              <a:tblPr>
                <a:noFill/>
              </a:tblPr>
              <a:tblGrid>
                <a:gridCol w="699702">
                  <a:extLst>
                    <a:ext uri="{9D8B030D-6E8A-4147-A177-3AD203B41FA5}">
                      <a16:colId xmlns:a16="http://schemas.microsoft.com/office/drawing/2014/main" val="20000"/>
                    </a:ext>
                  </a:extLst>
                </a:gridCol>
                <a:gridCol w="1361859">
                  <a:extLst>
                    <a:ext uri="{9D8B030D-6E8A-4147-A177-3AD203B41FA5}">
                      <a16:colId xmlns:a16="http://schemas.microsoft.com/office/drawing/2014/main" val="20001"/>
                    </a:ext>
                  </a:extLst>
                </a:gridCol>
                <a:gridCol w="1192756">
                  <a:extLst>
                    <a:ext uri="{9D8B030D-6E8A-4147-A177-3AD203B41FA5}">
                      <a16:colId xmlns:a16="http://schemas.microsoft.com/office/drawing/2014/main" val="20002"/>
                    </a:ext>
                  </a:extLst>
                </a:gridCol>
                <a:gridCol w="3833717">
                  <a:extLst>
                    <a:ext uri="{9D8B030D-6E8A-4147-A177-3AD203B41FA5}">
                      <a16:colId xmlns:a16="http://schemas.microsoft.com/office/drawing/2014/main" val="20003"/>
                    </a:ext>
                  </a:extLst>
                </a:gridCol>
                <a:gridCol w="3833717">
                  <a:extLst>
                    <a:ext uri="{9D8B030D-6E8A-4147-A177-3AD203B41FA5}">
                      <a16:colId xmlns:a16="http://schemas.microsoft.com/office/drawing/2014/main" val="20004"/>
                    </a:ext>
                  </a:extLst>
                </a:gridCol>
              </a:tblGrid>
              <a:tr h="254678">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9270">
                <a:tc>
                  <a:txBody>
                    <a:bodyPr/>
                    <a:lstStyle/>
                    <a:p>
                      <a:pPr marL="0" marR="0" lvl="0" indent="0" algn="ctr" rtl="0">
                        <a:lnSpc>
                          <a:spcPct val="100000"/>
                        </a:lnSpc>
                        <a:spcBef>
                          <a:spcPts val="0"/>
                        </a:spcBef>
                        <a:spcAft>
                          <a:spcPts val="0"/>
                        </a:spcAft>
                        <a:buClr>
                          <a:srgbClr val="000000"/>
                        </a:buClr>
                        <a:buSzPts val="1150"/>
                        <a:buFont typeface="Arial"/>
                        <a:buNone/>
                      </a:pPr>
                      <a:r>
                        <a:rPr lang="en-US" sz="1200" b="1" i="0" u="none" strike="noStrike" cap="none">
                          <a:solidFill>
                            <a:srgbClr val="000000"/>
                          </a:solidFill>
                          <a:latin typeface="Times New Roman"/>
                          <a:ea typeface="Times New Roman"/>
                          <a:cs typeface="Times New Roman"/>
                          <a:sym typeface="Times New Roman"/>
                        </a:rPr>
                        <a:t>STT</a:t>
                      </a:r>
                      <a:endParaRPr sz="12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200" b="1" i="0" u="none" strike="noStrike" cap="none">
                          <a:solidFill>
                            <a:srgbClr val="000000"/>
                          </a:solidFill>
                          <a:latin typeface="Times New Roman"/>
                          <a:ea typeface="Times New Roman"/>
                          <a:cs typeface="Times New Roman"/>
                          <a:sym typeface="Times New Roman"/>
                        </a:rPr>
                        <a:t>Tên thiết bị</a:t>
                      </a:r>
                      <a:endParaRPr sz="12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200" b="1" i="0" u="none" strike="noStrike" cap="none">
                          <a:solidFill>
                            <a:srgbClr val="000000"/>
                          </a:solidFill>
                          <a:latin typeface="Times New Roman"/>
                          <a:ea typeface="Times New Roman"/>
                          <a:cs typeface="Times New Roman"/>
                          <a:sym typeface="Times New Roman"/>
                        </a:rPr>
                        <a:t>P/N</a:t>
                      </a:r>
                      <a:endParaRPr sz="12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200" b="1" i="0" u="none" strike="noStrike" cap="none">
                          <a:solidFill>
                            <a:srgbClr val="000000"/>
                          </a:solidFill>
                          <a:latin typeface="Times New Roman"/>
                          <a:ea typeface="Times New Roman"/>
                          <a:cs typeface="Times New Roman"/>
                          <a:sym typeface="Times New Roman"/>
                        </a:rPr>
                        <a:t>Hỏng hóc</a:t>
                      </a:r>
                      <a:endParaRPr sz="12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200" b="1" u="none" strike="noStrike" cap="none">
                          <a:latin typeface="Times New Roman"/>
                          <a:ea typeface="Times New Roman"/>
                          <a:cs typeface="Times New Roman"/>
                          <a:sym typeface="Times New Roman"/>
                        </a:rPr>
                        <a:t>Tình trạng</a:t>
                      </a:r>
                      <a:endParaRPr sz="12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85887">
                <a:tc>
                  <a:txBody>
                    <a:bodyPr/>
                    <a:lstStyle/>
                    <a:p>
                      <a:pPr marL="0" marR="0" lvl="0" indent="0" algn="ctr" rtl="0">
                        <a:lnSpc>
                          <a:spcPct val="100000"/>
                        </a:lnSpc>
                        <a:spcBef>
                          <a:spcPts val="0"/>
                        </a:spcBef>
                        <a:spcAft>
                          <a:spcPts val="0"/>
                        </a:spcAft>
                        <a:buClr>
                          <a:srgbClr val="000000"/>
                        </a:buClr>
                        <a:buSzPts val="1150"/>
                        <a:buFont typeface="Arial"/>
                        <a:buNone/>
                      </a:pPr>
                      <a:r>
                        <a:rPr lang="en-US" sz="1200" b="0" i="0" u="none" strike="noStrike" cap="none">
                          <a:solidFill>
                            <a:srgbClr val="000000"/>
                          </a:solidFill>
                          <a:latin typeface="Times New Roman"/>
                          <a:ea typeface="Times New Roman"/>
                          <a:cs typeface="Times New Roman"/>
                          <a:sym typeface="Times New Roman"/>
                        </a:rPr>
                        <a:t>1</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Rotating mech MLG</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4133801011</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2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200" u="none" strike="noStrike" cap="none">
                          <a:latin typeface="Times New Roman"/>
                          <a:ea typeface="Times New Roman"/>
                          <a:cs typeface="Times New Roman"/>
                          <a:sym typeface="Times New Roman"/>
                        </a:rPr>
                        <a:t>Stock </a:t>
                      </a:r>
                      <a:r>
                        <a:rPr lang="en-US" sz="1200">
                          <a:latin typeface="Times New Roman"/>
                          <a:ea typeface="Times New Roman"/>
                          <a:cs typeface="Times New Roman"/>
                          <a:sym typeface="Times New Roman"/>
                        </a:rPr>
                        <a:t>NIL</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88259">
                <a:tc>
                  <a:txBody>
                    <a:bodyPr/>
                    <a:lstStyle/>
                    <a:p>
                      <a:pPr marL="0" marR="0" lvl="0" indent="0" algn="ctr" rtl="0">
                        <a:lnSpc>
                          <a:spcPct val="100000"/>
                        </a:lnSpc>
                        <a:spcBef>
                          <a:spcPts val="0"/>
                        </a:spcBef>
                        <a:spcAft>
                          <a:spcPts val="0"/>
                        </a:spcAft>
                        <a:buClr>
                          <a:srgbClr val="000000"/>
                        </a:buClr>
                        <a:buSzPts val="1150"/>
                        <a:buFont typeface="Arial"/>
                        <a:buNone/>
                      </a:pPr>
                      <a:r>
                        <a:rPr lang="en-US" sz="1200" b="0" i="0" u="none" strike="noStrike" cap="none">
                          <a:solidFill>
                            <a:srgbClr val="000000"/>
                          </a:solidFill>
                          <a:latin typeface="Times New Roman"/>
                          <a:ea typeface="Times New Roman"/>
                          <a:cs typeface="Times New Roman"/>
                          <a:sym typeface="Times New Roman"/>
                        </a:rPr>
                        <a:t>2</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Các thiết bị IFE của Panasonic:</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LCD</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VSEB</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RD-AV9844-01</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RD-KA3303-05</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 Phối hợp với Panasonic để đổi PTVT, rút ngắn TAT</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 Đề nghị Ban KT xem xét phương án tìm PN thay thế</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918835">
                <a:tc>
                  <a:txBody>
                    <a:bodyPr/>
                    <a:lstStyle/>
                    <a:p>
                      <a:pPr marL="0" marR="0" lvl="0" indent="0" algn="ctr"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3</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Jetpipe</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745-1107-503</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2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200" u="none" strike="noStrike" cap="none">
                          <a:latin typeface="Times New Roman"/>
                          <a:ea typeface="Times New Roman"/>
                          <a:cs typeface="Times New Roman"/>
                          <a:sym typeface="Times New Roman"/>
                        </a:rPr>
                        <a:t>Disbond: TAT nhanh (&lt;30 ngày), chi phí sửa thấp (8k - 10k USD)</a:t>
                      </a:r>
                      <a:endParaRPr sz="12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200" u="none" strike="noStrike" cap="none">
                          <a:latin typeface="Times New Roman"/>
                          <a:ea typeface="Times New Roman"/>
                          <a:cs typeface="Times New Roman"/>
                          <a:sym typeface="Times New Roman"/>
                        </a:rPr>
                        <a:t>Crack 1 vị trí: TAT khoảng 40-50 ngày, chi phí sửa khoảng 20k USD</a:t>
                      </a:r>
                      <a:endParaRPr sz="120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200" u="none" strike="noStrike" cap="none">
                          <a:latin typeface="Times New Roman"/>
                          <a:ea typeface="Times New Roman"/>
                          <a:cs typeface="Times New Roman"/>
                          <a:sym typeface="Times New Roman"/>
                        </a:rPr>
                        <a:t>Crack 2 vị trí trở lên: TAT dài 60-80 ngày, chi phí sửa &gt;40kUSD </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200" u="none" strike="noStrike" cap="none">
                          <a:latin typeface="Times New Roman"/>
                          <a:ea typeface="Times New Roman"/>
                          <a:cs typeface="Times New Roman"/>
                          <a:sym typeface="Times New Roman"/>
                        </a:rPr>
                        <a:t>Tình trạng kho: stock </a:t>
                      </a:r>
                      <a:r>
                        <a:rPr lang="en-US" sz="1200">
                          <a:latin typeface="Times New Roman"/>
                          <a:ea typeface="Times New Roman"/>
                          <a:cs typeface="Times New Roman"/>
                          <a:sym typeface="Times New Roman"/>
                        </a:rPr>
                        <a:t>1ea</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200" b="0" i="0" u="none" strike="noStrike" cap="none">
                          <a:solidFill>
                            <a:srgbClr val="000000"/>
                          </a:solidFill>
                          <a:latin typeface="Times New Roman"/>
                          <a:ea typeface="Times New Roman"/>
                          <a:cs typeface="Times New Roman"/>
                          <a:sym typeface="Times New Roman"/>
                        </a:rPr>
                        <a:t>- </a:t>
                      </a:r>
                      <a:r>
                        <a:rPr lang="en-US" sz="120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2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 </a:t>
                      </a:r>
                      <a:r>
                        <a:rPr lang="en-US" sz="1200" b="0" i="0" u="none" strike="noStrike" cap="none">
                          <a:solidFill>
                            <a:srgbClr val="000000"/>
                          </a:solidFill>
                          <a:latin typeface="Times New Roman"/>
                          <a:ea typeface="Times New Roman"/>
                          <a:cs typeface="Times New Roman"/>
                          <a:sym typeface="Times New Roman"/>
                        </a:rPr>
                        <a:t>Ban QLVT tiếp tục làm việc với</a:t>
                      </a:r>
                      <a:r>
                        <a:rPr lang="en-US" sz="1200" u="none" strike="noStrike" cap="none">
                          <a:latin typeface="Times New Roman"/>
                          <a:ea typeface="Times New Roman"/>
                          <a:cs typeface="Times New Roman"/>
                          <a:sym typeface="Times New Roman"/>
                        </a:rPr>
                        <a:t> cơ sở sửa chữa để rút ngắn TAT</a:t>
                      </a:r>
                      <a:r>
                        <a:rPr lang="en-US" sz="1200" b="0" i="0" u="none" strike="noStrike" cap="none">
                          <a:solidFill>
                            <a:srgbClr val="000000"/>
                          </a:solidFill>
                          <a:latin typeface="Times New Roman"/>
                          <a:ea typeface="Times New Roman"/>
                          <a:cs typeface="Times New Roman"/>
                          <a:sym typeface="Times New Roman"/>
                        </a:rPr>
                        <a:t/>
                      </a:r>
                      <a:br>
                        <a:rPr lang="en-US" sz="1200" b="0" i="0" u="none" strike="noStrike" cap="none">
                          <a:solidFill>
                            <a:srgbClr val="000000"/>
                          </a:solidFill>
                          <a:latin typeface="Times New Roman"/>
                          <a:ea typeface="Times New Roman"/>
                          <a:cs typeface="Times New Roman"/>
                          <a:sym typeface="Times New Roman"/>
                        </a:rPr>
                      </a:br>
                      <a:r>
                        <a:rPr lang="en-US" sz="120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20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20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2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775651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1" name="Google Shape;191;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92" name="Google Shape;192;g31ccdae391d_0_299"/>
          <p:cNvSpPr/>
          <p:nvPr/>
        </p:nvSpPr>
        <p:spPr>
          <a:xfrm>
            <a:off x="913579" y="742682"/>
            <a:ext cx="10440221"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24 đơn hàng quá hạn trong tổng số 49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11 LO / total 19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13 EO / total 30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93" name="Google Shape;193;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94" name="Google Shape;194;g31ccdae391d_0_299"/>
          <p:cNvPicPr preferRelativeResize="0"/>
          <p:nvPr/>
        </p:nvPicPr>
        <p:blipFill>
          <a:blip r:embed="rId3">
            <a:alphaModFix/>
          </a:blip>
          <a:stretch>
            <a:fillRect/>
          </a:stretch>
        </p:blipFill>
        <p:spPr>
          <a:xfrm>
            <a:off x="2028825" y="1756875"/>
            <a:ext cx="7821701" cy="4753476"/>
          </a:xfrm>
          <a:prstGeom prst="rect">
            <a:avLst/>
          </a:prstGeom>
          <a:noFill/>
          <a:ln>
            <a:noFill/>
          </a:ln>
        </p:spPr>
      </p:pic>
    </p:spTree>
    <p:extLst>
      <p:ext uri="{BB962C8B-B14F-4D97-AF65-F5344CB8AC3E}">
        <p14:creationId xmlns:p14="http://schemas.microsoft.com/office/powerpoint/2010/main" val="4181026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1" name="Google Shape;201;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2" name="Google Shape;202;g31ccdae391d_0_308"/>
          <p:cNvGraphicFramePr/>
          <p:nvPr>
            <p:extLst>
              <p:ext uri="{D42A27DB-BD31-4B8C-83A1-F6EECF244321}">
                <p14:modId xmlns:p14="http://schemas.microsoft.com/office/powerpoint/2010/main" val="1934135113"/>
              </p:ext>
            </p:extLst>
          </p:nvPr>
        </p:nvGraphicFramePr>
        <p:xfrm>
          <a:off x="1066800" y="787650"/>
          <a:ext cx="10287000" cy="4360600"/>
        </p:xfrm>
        <a:graphic>
          <a:graphicData uri="http://schemas.openxmlformats.org/drawingml/2006/table">
            <a:tbl>
              <a:tblPr>
                <a:noFill/>
              </a:tblPr>
              <a:tblGrid>
                <a:gridCol w="693019">
                  <a:extLst>
                    <a:ext uri="{9D8B030D-6E8A-4147-A177-3AD203B41FA5}">
                      <a16:colId xmlns:a16="http://schemas.microsoft.com/office/drawing/2014/main" val="20000"/>
                    </a:ext>
                  </a:extLst>
                </a:gridCol>
                <a:gridCol w="1403493">
                  <a:extLst>
                    <a:ext uri="{9D8B030D-6E8A-4147-A177-3AD203B41FA5}">
                      <a16:colId xmlns:a16="http://schemas.microsoft.com/office/drawing/2014/main" val="20001"/>
                    </a:ext>
                  </a:extLst>
                </a:gridCol>
                <a:gridCol w="1606800">
                  <a:extLst>
                    <a:ext uri="{9D8B030D-6E8A-4147-A177-3AD203B41FA5}">
                      <a16:colId xmlns:a16="http://schemas.microsoft.com/office/drawing/2014/main" val="20002"/>
                    </a:ext>
                  </a:extLst>
                </a:gridCol>
                <a:gridCol w="3291844">
                  <a:extLst>
                    <a:ext uri="{9D8B030D-6E8A-4147-A177-3AD203B41FA5}">
                      <a16:colId xmlns:a16="http://schemas.microsoft.com/office/drawing/2014/main" val="20003"/>
                    </a:ext>
                  </a:extLst>
                </a:gridCol>
                <a:gridCol w="3291844">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05/2025.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chưa có EDD.</a:t>
                      </a: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dirty="0" smtClean="0">
                          <a:solidFill>
                            <a:schemeClr val="dk1"/>
                          </a:solidFill>
                          <a:latin typeface="Times New Roman"/>
                          <a:ea typeface="Times New Roman"/>
                          <a:cs typeface="Times New Roman"/>
                          <a:sym typeface="Times New Roman"/>
                        </a:rPr>
                        <a:t>NIL</a:t>
                      </a:r>
                      <a:r>
                        <a:rPr lang="en-US" sz="1200" baseline="0" dirty="0" smtClean="0">
                          <a:solidFill>
                            <a:schemeClr val="dk1"/>
                          </a:solidFill>
                          <a:latin typeface="Times New Roman"/>
                          <a:ea typeface="Times New Roman"/>
                          <a:cs typeface="Times New Roman"/>
                          <a:sym typeface="Times New Roman"/>
                        </a:rPr>
                        <a:t> stock, 01ea </a:t>
                      </a:r>
                      <a:r>
                        <a:rPr lang="en-US" sz="1200" baseline="0" dirty="0" err="1" smtClean="0">
                          <a:solidFill>
                            <a:schemeClr val="dk1"/>
                          </a:solidFill>
                          <a:latin typeface="Times New Roman"/>
                          <a:ea typeface="Times New Roman"/>
                          <a:cs typeface="Times New Roman"/>
                          <a:sym typeface="Times New Roman"/>
                        </a:rPr>
                        <a:t>về</a:t>
                      </a:r>
                      <a:r>
                        <a:rPr lang="en-US" sz="1200" baseline="0" dirty="0" smtClean="0">
                          <a:solidFill>
                            <a:schemeClr val="dk1"/>
                          </a:solidFill>
                          <a:latin typeface="Times New Roman"/>
                          <a:ea typeface="Times New Roman"/>
                          <a:cs typeface="Times New Roman"/>
                          <a:sym typeface="Times New Roman"/>
                        </a:rPr>
                        <a:t> SGN </a:t>
                      </a:r>
                      <a:r>
                        <a:rPr lang="en-US" sz="1200" baseline="0" dirty="0" err="1" smtClean="0">
                          <a:solidFill>
                            <a:schemeClr val="dk1"/>
                          </a:solidFill>
                          <a:latin typeface="Times New Roman"/>
                          <a:ea typeface="Times New Roman"/>
                          <a:cs typeface="Times New Roman"/>
                          <a:sym typeface="Times New Roman"/>
                        </a:rPr>
                        <a:t>đêm</a:t>
                      </a:r>
                      <a:r>
                        <a:rPr lang="en-US" sz="1200" baseline="0" dirty="0" smtClean="0">
                          <a:solidFill>
                            <a:schemeClr val="dk1"/>
                          </a:solidFill>
                          <a:latin typeface="Times New Roman"/>
                          <a:ea typeface="Times New Roman"/>
                          <a:cs typeface="Times New Roman"/>
                          <a:sym typeface="Times New Roman"/>
                        </a:rPr>
                        <a:t> 15/04 (</a:t>
                      </a:r>
                      <a:r>
                        <a:rPr lang="en-US" sz="1200" baseline="0" dirty="0" err="1" smtClean="0">
                          <a:solidFill>
                            <a:schemeClr val="dk1"/>
                          </a:solidFill>
                          <a:latin typeface="Times New Roman"/>
                          <a:ea typeface="Times New Roman"/>
                          <a:cs typeface="Times New Roman"/>
                          <a:sym typeface="Times New Roman"/>
                        </a:rPr>
                        <a:t>dùng</a:t>
                      </a:r>
                      <a:r>
                        <a:rPr lang="en-US" sz="1200" baseline="0" dirty="0" smtClean="0">
                          <a:solidFill>
                            <a:schemeClr val="dk1"/>
                          </a:solidFill>
                          <a:latin typeface="Times New Roman"/>
                          <a:ea typeface="Times New Roman"/>
                          <a:cs typeface="Times New Roman"/>
                          <a:sym typeface="Times New Roman"/>
                        </a:rPr>
                        <a:t> </a:t>
                      </a:r>
                      <a:r>
                        <a:rPr lang="en-US" sz="1200" baseline="0" dirty="0" err="1" smtClean="0">
                          <a:solidFill>
                            <a:schemeClr val="dk1"/>
                          </a:solidFill>
                          <a:latin typeface="Times New Roman"/>
                          <a:ea typeface="Times New Roman"/>
                          <a:cs typeface="Times New Roman"/>
                          <a:sym typeface="Times New Roman"/>
                        </a:rPr>
                        <a:t>cho</a:t>
                      </a:r>
                      <a:r>
                        <a:rPr lang="en-US" sz="1200" baseline="0" dirty="0" smtClean="0">
                          <a:solidFill>
                            <a:schemeClr val="dk1"/>
                          </a:solidFill>
                          <a:latin typeface="Times New Roman"/>
                          <a:ea typeface="Times New Roman"/>
                          <a:cs typeface="Times New Roman"/>
                          <a:sym typeface="Times New Roman"/>
                        </a:rPr>
                        <a:t> A879)</a:t>
                      </a:r>
                      <a:r>
                        <a:rPr lang="en-US" sz="1200" dirty="0" smtClean="0">
                          <a:solidFill>
                            <a:schemeClr val="dk1"/>
                          </a:solidFill>
                          <a:latin typeface="Times New Roman"/>
                          <a:ea typeface="Times New Roman"/>
                          <a:cs typeface="Times New Roman"/>
                          <a:sym typeface="Times New Roman"/>
                        </a:rPr>
                        <a:t>.</a:t>
                      </a:r>
                      <a:endParaRPr sz="1200" dirty="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không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spcBef>
                          <a:spcPts val="0"/>
                        </a:spcBef>
                        <a:spcAft>
                          <a:spcPts val="0"/>
                        </a:spcAft>
                        <a:buNone/>
                      </a:pPr>
                      <a:r>
                        <a:rPr lang="en-US" sz="1300" dirty="0">
                          <a:latin typeface="Times New Roman"/>
                          <a:ea typeface="Times New Roman"/>
                          <a:cs typeface="Times New Roman"/>
                          <a:sym typeface="Times New Roman"/>
                        </a:rPr>
                        <a:t>-Card led: </a:t>
                      </a:r>
                      <a:endParaRPr sz="1300" u="none" strike="noStrike" cap="none" dirty="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02ea in stock.</a:t>
                      </a:r>
                      <a:endParaRPr sz="13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+ 01ea PO  EDD 27/05/2025.</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0546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1ccdae391d_0_315"/>
          <p:cNvSpPr txBox="1">
            <a:spLocks noGrp="1"/>
          </p:cNvSpPr>
          <p:nvPr>
            <p:ph type="title"/>
          </p:nvPr>
        </p:nvSpPr>
        <p:spPr>
          <a:xfrm>
            <a:off x="1066800" y="211507"/>
            <a:ext cx="102870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9" name="Google Shape;209;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0" name="Google Shape;210;g31ccdae391d_0_315"/>
          <p:cNvSpPr/>
          <p:nvPr/>
        </p:nvSpPr>
        <p:spPr>
          <a:xfrm>
            <a:off x="1066800" y="569557"/>
            <a:ext cx="1059899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PTVT thay nhiều: VFSG, GPM, NSG, CAC, Pump Pack, FMU, GWIV, Tailcone light (hỏng hóc rất nhiều sub card led).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A871 - LAV 1A-1R CAN`T FLUSH /INTERMITENT: đặt hàng Bundle assy (Vaeco cung ứng), EDD tuần 16.</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A879 - ELEC GEN SYS L2: đặt hàng VFSG, dự kiến giao SGN đêm 15/04</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pic>
        <p:nvPicPr>
          <p:cNvPr id="211" name="Google Shape;211;g31ccdae391d_0_315"/>
          <p:cNvPicPr preferRelativeResize="0"/>
          <p:nvPr/>
        </p:nvPicPr>
        <p:blipFill>
          <a:blip r:embed="rId3">
            <a:alphaModFix/>
          </a:blip>
          <a:stretch>
            <a:fillRect/>
          </a:stretch>
        </p:blipFill>
        <p:spPr>
          <a:xfrm>
            <a:off x="1295400" y="2743200"/>
            <a:ext cx="9906000" cy="1981200"/>
          </a:xfrm>
          <a:prstGeom prst="rect">
            <a:avLst/>
          </a:prstGeom>
          <a:noFill/>
          <a:ln>
            <a:noFill/>
          </a:ln>
        </p:spPr>
      </p:pic>
    </p:spTree>
    <p:extLst>
      <p:ext uri="{BB962C8B-B14F-4D97-AF65-F5344CB8AC3E}">
        <p14:creationId xmlns:p14="http://schemas.microsoft.com/office/powerpoint/2010/main" val="16706175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23"/>
          <p:cNvSpPr txBox="1">
            <a:spLocks noGrp="1"/>
          </p:cNvSpPr>
          <p:nvPr>
            <p:ph type="title"/>
          </p:nvPr>
        </p:nvSpPr>
        <p:spPr>
          <a:xfrm>
            <a:off x="1371599" y="65867"/>
            <a:ext cx="9753601"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8" name="Google Shape;218;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9" name="Google Shape;219;g31ccdae391d_0_323"/>
          <p:cNvSpPr/>
          <p:nvPr/>
        </p:nvSpPr>
        <p:spPr>
          <a:xfrm>
            <a:off x="1371599" y="858119"/>
            <a:ext cx="9982201"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38 đơn hàng quá hạn trong tổng số 52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06 overdue LO / total 06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32 overdue EO / total  46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20" name="Google Shape;220;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21" name="Google Shape;221;g31ccdae391d_0_323"/>
          <p:cNvPicPr preferRelativeResize="0"/>
          <p:nvPr/>
        </p:nvPicPr>
        <p:blipFill>
          <a:blip r:embed="rId3">
            <a:alphaModFix/>
          </a:blip>
          <a:stretch>
            <a:fillRect/>
          </a:stretch>
        </p:blipFill>
        <p:spPr>
          <a:xfrm>
            <a:off x="2357450" y="2095900"/>
            <a:ext cx="6538000" cy="4481125"/>
          </a:xfrm>
          <a:prstGeom prst="rect">
            <a:avLst/>
          </a:prstGeom>
          <a:noFill/>
          <a:ln>
            <a:noFill/>
          </a:ln>
        </p:spPr>
      </p:pic>
    </p:spTree>
    <p:extLst>
      <p:ext uri="{BB962C8B-B14F-4D97-AF65-F5344CB8AC3E}">
        <p14:creationId xmlns:p14="http://schemas.microsoft.com/office/powerpoint/2010/main" val="34312457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8" name="Google Shape;228;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29" name="Google Shape;229;g31ccdae391d_0_332"/>
          <p:cNvGraphicFramePr/>
          <p:nvPr>
            <p:extLst>
              <p:ext uri="{D42A27DB-BD31-4B8C-83A1-F6EECF244321}">
                <p14:modId xmlns:p14="http://schemas.microsoft.com/office/powerpoint/2010/main" val="53750647"/>
              </p:ext>
            </p:extLst>
          </p:nvPr>
        </p:nvGraphicFramePr>
        <p:xfrm>
          <a:off x="928471" y="457200"/>
          <a:ext cx="10666199" cy="6103163"/>
        </p:xfrm>
        <a:graphic>
          <a:graphicData uri="http://schemas.openxmlformats.org/drawingml/2006/table">
            <a:tbl>
              <a:tblPr>
                <a:noFill/>
              </a:tblPr>
              <a:tblGrid>
                <a:gridCol w="718561">
                  <a:extLst>
                    <a:ext uri="{9D8B030D-6E8A-4147-A177-3AD203B41FA5}">
                      <a16:colId xmlns:a16="http://schemas.microsoft.com/office/drawing/2014/main" val="20000"/>
                    </a:ext>
                  </a:extLst>
                </a:gridCol>
                <a:gridCol w="1645363">
                  <a:extLst>
                    <a:ext uri="{9D8B030D-6E8A-4147-A177-3AD203B41FA5}">
                      <a16:colId xmlns:a16="http://schemas.microsoft.com/office/drawing/2014/main" val="20001"/>
                    </a:ext>
                  </a:extLst>
                </a:gridCol>
                <a:gridCol w="1475893">
                  <a:extLst>
                    <a:ext uri="{9D8B030D-6E8A-4147-A177-3AD203B41FA5}">
                      <a16:colId xmlns:a16="http://schemas.microsoft.com/office/drawing/2014/main" val="20002"/>
                    </a:ext>
                  </a:extLst>
                </a:gridCol>
                <a:gridCol w="3413191">
                  <a:extLst>
                    <a:ext uri="{9D8B030D-6E8A-4147-A177-3AD203B41FA5}">
                      <a16:colId xmlns:a16="http://schemas.microsoft.com/office/drawing/2014/main" val="20003"/>
                    </a:ext>
                  </a:extLst>
                </a:gridCol>
                <a:gridCol w="3413191">
                  <a:extLst>
                    <a:ext uri="{9D8B030D-6E8A-4147-A177-3AD203B41FA5}">
                      <a16:colId xmlns:a16="http://schemas.microsoft.com/office/drawing/2014/main" val="20004"/>
                    </a:ext>
                  </a:extLst>
                </a:gridCol>
              </a:tblGrid>
              <a:tr h="278319">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8319">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36436">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4e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79043">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06</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- 02ea in stock (02ea </a:t>
                      </a:r>
                      <a:r>
                        <a:rPr lang="en-US" sz="1300" dirty="0" err="1" smtClean="0">
                          <a:solidFill>
                            <a:schemeClr val="dk1"/>
                          </a:solidFill>
                          <a:latin typeface="Times New Roman"/>
                          <a:ea typeface="Times New Roman"/>
                          <a:cs typeface="Times New Roman"/>
                          <a:sym typeface="Times New Roman"/>
                        </a:rPr>
                        <a:t>dùng</a:t>
                      </a:r>
                      <a:r>
                        <a:rPr lang="en-US" sz="1300" baseline="0" dirty="0" smtClean="0">
                          <a:solidFill>
                            <a:schemeClr val="dk1"/>
                          </a:solidFill>
                          <a:latin typeface="Times New Roman"/>
                          <a:ea typeface="Times New Roman"/>
                          <a:cs typeface="Times New Roman"/>
                          <a:sym typeface="Times New Roman"/>
                        </a:rPr>
                        <a:t> </a:t>
                      </a:r>
                      <a:r>
                        <a:rPr lang="en-US" sz="1300" dirty="0" err="1" smtClean="0">
                          <a:solidFill>
                            <a:schemeClr val="dk1"/>
                          </a:solidFill>
                          <a:latin typeface="Times New Roman"/>
                          <a:ea typeface="Times New Roman"/>
                          <a:cs typeface="Times New Roman"/>
                          <a:sym typeface="Times New Roman"/>
                        </a:rPr>
                        <a:t>cho</a:t>
                      </a:r>
                      <a:r>
                        <a:rPr lang="en-US" sz="1300" dirty="0" smtClean="0">
                          <a:solidFill>
                            <a:schemeClr val="dk1"/>
                          </a:solidFill>
                          <a:latin typeface="Times New Roman"/>
                          <a:ea typeface="Times New Roman"/>
                          <a:cs typeface="Times New Roman"/>
                          <a:sym typeface="Times New Roman"/>
                        </a:rPr>
                        <a:t> A898)</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a:t>
                      </a:r>
                      <a:r>
                        <a:rPr lang="en-US" sz="1300" u="none" strike="noStrike" cap="none" dirty="0">
                          <a:solidFill>
                            <a:schemeClr val="dk1"/>
                          </a:solidFill>
                          <a:latin typeface="Times New Roman"/>
                          <a:ea typeface="Times New Roman"/>
                          <a:cs typeface="Times New Roman"/>
                          <a:sym typeface="Times New Roman"/>
                        </a:rPr>
                        <a:t>1</a:t>
                      </a:r>
                      <a:r>
                        <a:rPr lang="en-US" sz="1300" dirty="0">
                          <a:solidFill>
                            <a:schemeClr val="dk1"/>
                          </a:solidFill>
                          <a:latin typeface="Times New Roman"/>
                          <a:ea typeface="Times New Roman"/>
                          <a:cs typeface="Times New Roman"/>
                          <a:sym typeface="Times New Roman"/>
                        </a:rPr>
                        <a:t>0</a:t>
                      </a:r>
                      <a:r>
                        <a:rPr lang="en-US" sz="1300" u="none" strike="noStrike" cap="none" dirty="0">
                          <a:solidFill>
                            <a:schemeClr val="dk1"/>
                          </a:solidFill>
                          <a:latin typeface="Times New Roman"/>
                          <a:ea typeface="Times New Roman"/>
                          <a:cs typeface="Times New Roman"/>
                          <a:sym typeface="Times New Roman"/>
                        </a:rPr>
                        <a:t>RO, trong </a:t>
                      </a:r>
                      <a:r>
                        <a:rPr lang="en-US" sz="1300" u="none" strike="noStrike" cap="none" dirty="0" err="1">
                          <a:solidFill>
                            <a:schemeClr val="dk1"/>
                          </a:solidFill>
                          <a:latin typeface="Times New Roman"/>
                          <a:ea typeface="Times New Roman"/>
                          <a:cs typeface="Times New Roman"/>
                          <a:sym typeface="Times New Roman"/>
                        </a:rPr>
                        <a:t>đó</a:t>
                      </a:r>
                      <a:r>
                        <a:rPr lang="en-US" sz="1300" u="none" strike="noStrike" cap="none" dirty="0">
                          <a:solidFill>
                            <a:schemeClr val="dk1"/>
                          </a:solidFill>
                          <a:latin typeface="Times New Roman"/>
                          <a:ea typeface="Times New Roman"/>
                          <a:cs typeface="Times New Roman"/>
                          <a:sym typeface="Times New Roman"/>
                        </a:rPr>
                        <a:t>: </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solidFill>
                            <a:schemeClr val="dk1"/>
                          </a:solidFill>
                          <a:latin typeface="Times New Roman"/>
                          <a:ea typeface="Times New Roman"/>
                          <a:cs typeface="Times New Roman"/>
                          <a:sym typeface="Times New Roman"/>
                        </a:rPr>
                        <a:t>+ 03ea EDD 18/06.</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solidFill>
                            <a:schemeClr val="dk1"/>
                          </a:solidFill>
                          <a:latin typeface="Times New Roman"/>
                          <a:ea typeface="Times New Roman"/>
                          <a:cs typeface="Times New Roman"/>
                          <a:sym typeface="Times New Roman"/>
                        </a:rPr>
                        <a:t>+ 07ea EDD NIL.</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3643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09</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3643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Nhiều tàu A350 có mssg VCRU và controller.</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Vẫn chưa lịch ship của VCRU và controller</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56801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Safran dự kiến cuối tháng 4 mới có PMSD cho sửa chữa. Mặc dù đã rob 20ea oven từ 02 tàu bảo quản A886 và A887 nhưng vẫn còn 03 hỏng hóc cho 02 tàu khai thác.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Trong năm 2025 yêu cầu 28ea, trong đó đã thay 25ea và có 04 TH NFF.</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01ea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HAN </a:t>
                      </a:r>
                      <a:r>
                        <a:rPr lang="en-US" sz="1300" dirty="0" err="1">
                          <a:solidFill>
                            <a:schemeClr val="dk1"/>
                          </a:solidFill>
                          <a:latin typeface="Times New Roman"/>
                          <a:ea typeface="Times New Roman"/>
                          <a:cs typeface="Times New Roman"/>
                          <a:sym typeface="Times New Roman"/>
                        </a:rPr>
                        <a:t>ytong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16, </a:t>
                      </a: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để</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oven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16 (</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yêu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đổi</a:t>
                      </a:r>
                      <a:r>
                        <a:rPr lang="en-US" sz="1300" dirty="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733687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1ccdae391d_0_339"/>
          <p:cNvSpPr txBox="1">
            <a:spLocks noGrp="1"/>
          </p:cNvSpPr>
          <p:nvPr>
            <p:ph type="title"/>
          </p:nvPr>
        </p:nvSpPr>
        <p:spPr>
          <a:xfrm>
            <a:off x="949478" y="252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6" name="Google Shape;236;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37" name="Google Shape;237;g31ccdae391d_0_339"/>
          <p:cNvSpPr/>
          <p:nvPr/>
        </p:nvSpPr>
        <p:spPr>
          <a:xfrm>
            <a:off x="762000" y="1139100"/>
            <a:ext cx="10916400"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    Một số thiết bị pooling của OEM Honeywell liên quan hệ thống Chiller (VCRU, Motor Controler) TAT vẫn rất dài.</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hệ thống flight control vẫn nhiều, vẫn chưa giảm.</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A888 - CHILLER SYS INOP DURING CRUISE: đặt hàng VCRU, chưa có EDD.</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A890 - APU INOP: APU EDD 25/05</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A897 - SEAL OF RH INBOARD AI-LERON DAMAGED:  đặt hàng Seal (Vaeco cung ứng), chờ Airbus cập nhật kế hoạch.</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38" name="Google Shape;238;g31ccdae391d_0_339"/>
          <p:cNvPicPr preferRelativeResize="0"/>
          <p:nvPr/>
        </p:nvPicPr>
        <p:blipFill>
          <a:blip r:embed="rId3">
            <a:alphaModFix/>
          </a:blip>
          <a:stretch>
            <a:fillRect/>
          </a:stretch>
        </p:blipFill>
        <p:spPr>
          <a:xfrm>
            <a:off x="978455" y="3658577"/>
            <a:ext cx="10375346" cy="1952625"/>
          </a:xfrm>
          <a:prstGeom prst="rect">
            <a:avLst/>
          </a:prstGeom>
          <a:noFill/>
          <a:ln>
            <a:noFill/>
          </a:ln>
        </p:spPr>
      </p:pic>
    </p:spTree>
    <p:extLst>
      <p:ext uri="{BB962C8B-B14F-4D97-AF65-F5344CB8AC3E}">
        <p14:creationId xmlns:p14="http://schemas.microsoft.com/office/powerpoint/2010/main" val="2474777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47"/>
          <p:cNvSpPr txBox="1">
            <a:spLocks noGrp="1"/>
          </p:cNvSpPr>
          <p:nvPr>
            <p:ph type="title"/>
          </p:nvPr>
        </p:nvSpPr>
        <p:spPr>
          <a:xfrm>
            <a:off x="914400" y="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5" name="Google Shape;245;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46" name="Google Shape;246;g31ccdae391d_0_347"/>
          <p:cNvGraphicFramePr/>
          <p:nvPr>
            <p:extLst>
              <p:ext uri="{D42A27DB-BD31-4B8C-83A1-F6EECF244321}">
                <p14:modId xmlns:p14="http://schemas.microsoft.com/office/powerpoint/2010/main" val="2187106900"/>
              </p:ext>
            </p:extLst>
          </p:nvPr>
        </p:nvGraphicFramePr>
        <p:xfrm>
          <a:off x="914401" y="519111"/>
          <a:ext cx="10439400" cy="5543014"/>
        </p:xfrm>
        <a:graphic>
          <a:graphicData uri="http://schemas.openxmlformats.org/drawingml/2006/table">
            <a:tbl>
              <a:tblPr>
                <a:noFill/>
              </a:tblPr>
              <a:tblGrid>
                <a:gridCol w="493298">
                  <a:extLst>
                    <a:ext uri="{9D8B030D-6E8A-4147-A177-3AD203B41FA5}">
                      <a16:colId xmlns:a16="http://schemas.microsoft.com/office/drawing/2014/main" val="20000"/>
                    </a:ext>
                  </a:extLst>
                </a:gridCol>
                <a:gridCol w="1595760">
                  <a:extLst>
                    <a:ext uri="{9D8B030D-6E8A-4147-A177-3AD203B41FA5}">
                      <a16:colId xmlns:a16="http://schemas.microsoft.com/office/drawing/2014/main" val="20001"/>
                    </a:ext>
                  </a:extLst>
                </a:gridCol>
                <a:gridCol w="1394413">
                  <a:extLst>
                    <a:ext uri="{9D8B030D-6E8A-4147-A177-3AD203B41FA5}">
                      <a16:colId xmlns:a16="http://schemas.microsoft.com/office/drawing/2014/main" val="20002"/>
                    </a:ext>
                  </a:extLst>
                </a:gridCol>
                <a:gridCol w="2248935">
                  <a:extLst>
                    <a:ext uri="{9D8B030D-6E8A-4147-A177-3AD203B41FA5}">
                      <a16:colId xmlns:a16="http://schemas.microsoft.com/office/drawing/2014/main" val="20003"/>
                    </a:ext>
                  </a:extLst>
                </a:gridCol>
                <a:gridCol w="4706994">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18819">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r>
                        <a:rPr lang="en-US" sz="1400" u="none" strike="noStrike" cap="none" smtClean="0">
                          <a:solidFill>
                            <a:schemeClr val="dk1"/>
                          </a:solidFill>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858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815585-7</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7109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816332-5-401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487378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1ccdae391d_0_354"/>
          <p:cNvSpPr txBox="1">
            <a:spLocks noGrp="1"/>
          </p:cNvSpPr>
          <p:nvPr>
            <p:ph type="title"/>
          </p:nvPr>
        </p:nvSpPr>
        <p:spPr>
          <a:xfrm>
            <a:off x="687600" y="15240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3" name="Google Shape;253;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54" name="Google Shape;254;g31ccdae391d_0_354"/>
          <p:cNvGraphicFramePr/>
          <p:nvPr>
            <p:extLst>
              <p:ext uri="{D42A27DB-BD31-4B8C-83A1-F6EECF244321}">
                <p14:modId xmlns:p14="http://schemas.microsoft.com/office/powerpoint/2010/main" val="338217518"/>
              </p:ext>
            </p:extLst>
          </p:nvPr>
        </p:nvGraphicFramePr>
        <p:xfrm>
          <a:off x="838200" y="718223"/>
          <a:ext cx="10515602" cy="5388600"/>
        </p:xfrm>
        <a:graphic>
          <a:graphicData uri="http://schemas.openxmlformats.org/drawingml/2006/table">
            <a:tbl>
              <a:tblPr>
                <a:noFill/>
              </a:tblPr>
              <a:tblGrid>
                <a:gridCol w="673682">
                  <a:extLst>
                    <a:ext uri="{9D8B030D-6E8A-4147-A177-3AD203B41FA5}">
                      <a16:colId xmlns:a16="http://schemas.microsoft.com/office/drawing/2014/main" val="20000"/>
                    </a:ext>
                  </a:extLst>
                </a:gridCol>
                <a:gridCol w="1122796">
                  <a:extLst>
                    <a:ext uri="{9D8B030D-6E8A-4147-A177-3AD203B41FA5}">
                      <a16:colId xmlns:a16="http://schemas.microsoft.com/office/drawing/2014/main" val="20001"/>
                    </a:ext>
                  </a:extLst>
                </a:gridCol>
                <a:gridCol w="1336822">
                  <a:extLst>
                    <a:ext uri="{9D8B030D-6E8A-4147-A177-3AD203B41FA5}">
                      <a16:colId xmlns:a16="http://schemas.microsoft.com/office/drawing/2014/main" val="20002"/>
                    </a:ext>
                  </a:extLst>
                </a:gridCol>
                <a:gridCol w="3691151">
                  <a:extLst>
                    <a:ext uri="{9D8B030D-6E8A-4147-A177-3AD203B41FA5}">
                      <a16:colId xmlns:a16="http://schemas.microsoft.com/office/drawing/2014/main" val="20003"/>
                    </a:ext>
                  </a:extLst>
                </a:gridCol>
                <a:gridCol w="3691151">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03ea in stock. dự kiến 01ea về trong tuần 16.</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04ea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02ea in stock. trong tuần 16 sẽ có thêm 05ea.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570738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1" name="Google Shape;261;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62" name="Google Shape;262;g31ccdae391d_0_361"/>
          <p:cNvSpPr/>
          <p:nvPr/>
        </p:nvSpPr>
        <p:spPr>
          <a:xfrm>
            <a:off x="883354" y="990600"/>
            <a:ext cx="10668521" cy="567574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03ea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&amp;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new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22/01).</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NIL</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09ea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21317, 21048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 &amp; 21201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SEASL 21584, 21414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21604).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smtClean="0">
                <a:ln>
                  <a:noFill/>
                </a:ln>
                <a:solidFill>
                  <a:srgbClr val="000000"/>
                </a:solidFill>
                <a:effectLst/>
                <a:highlight>
                  <a:srgbClr val="FFFFFF"/>
                </a:highlight>
                <a:uLnTx/>
                <a:uFillTx/>
                <a:latin typeface="Times New Roman"/>
                <a:ea typeface="Times New Roman"/>
                <a:cs typeface="Times New Roman"/>
                <a:sym typeface="Times New Roman"/>
              </a:rPr>
              <a:t>xong</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4/2025 (21422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core engine stand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swap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stand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SIN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HKG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HKG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15Apr2025.</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20Apr2025.</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10ea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Mar/2025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KLM shop:  956533, 956599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956947, 956534 (inducted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4/2025).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956533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smtClean="0">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SGN 23Apr.</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GE shop: 958398 (delay in GEEVES).</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01ea ENG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A868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SGN 03/04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VAECO SGN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03Apr2025.</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đáp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KH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2024-2025: B787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(956933; 958266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958934 958966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956626, 956980)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956980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mới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do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trên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A868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đầu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4/2025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6633907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68"/>
          <p:cNvSpPr txBox="1">
            <a:spLocks noGrp="1"/>
          </p:cNvSpPr>
          <p:nvPr>
            <p:ph type="title"/>
          </p:nvPr>
        </p:nvSpPr>
        <p:spPr>
          <a:xfrm>
            <a:off x="990856" y="1524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9" name="Google Shape;269;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0" name="Google Shape;270;g31ccdae391d_0_368"/>
          <p:cNvSpPr/>
          <p:nvPr/>
        </p:nvSpPr>
        <p:spPr>
          <a:xfrm>
            <a:off x="990856" y="659682"/>
            <a:ext cx="10593216" cy="415154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Ceo:</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13 (3 sở hữu, 10 thuê ngắn hạn)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02ea V17951 (HAN), V15851 (HAN)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US chờ chuyển đi: NIL</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đang sửa tại shop: 10ea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Danh mục missing part list của động cơ sửa chữa về</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việc sửa chữa động cơ tại shop</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Làm việc với Ban KT về KH động cơ về, tháo trả.</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0921779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75"/>
          <p:cNvSpPr txBox="1">
            <a:spLocks noGrp="1"/>
          </p:cNvSpPr>
          <p:nvPr>
            <p:ph type="title"/>
          </p:nvPr>
        </p:nvSpPr>
        <p:spPr>
          <a:xfrm>
            <a:off x="761652" y="17535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8" name="Google Shape;278;g31ccdae391d_0_375"/>
          <p:cNvSpPr/>
          <p:nvPr/>
        </p:nvSpPr>
        <p:spPr>
          <a:xfrm>
            <a:off x="760579" y="533400"/>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79" name="Google Shape;279;g31ccdae391d_0_375"/>
          <p:cNvPicPr preferRelativeResize="0"/>
          <p:nvPr/>
        </p:nvPicPr>
        <p:blipFill>
          <a:blip r:embed="rId3">
            <a:alphaModFix/>
          </a:blip>
          <a:stretch>
            <a:fillRect/>
          </a:stretch>
        </p:blipFill>
        <p:spPr>
          <a:xfrm>
            <a:off x="760579" y="1371600"/>
            <a:ext cx="10894122" cy="3519175"/>
          </a:xfrm>
          <a:prstGeom prst="rect">
            <a:avLst/>
          </a:prstGeom>
          <a:noFill/>
          <a:ln>
            <a:noFill/>
          </a:ln>
        </p:spPr>
      </p:pic>
    </p:spTree>
    <p:extLst>
      <p:ext uri="{BB962C8B-B14F-4D97-AF65-F5344CB8AC3E}">
        <p14:creationId xmlns:p14="http://schemas.microsoft.com/office/powerpoint/2010/main" val="6647694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6" name="Google Shape;286;g31ccdae391d_0_383"/>
          <p:cNvSpPr/>
          <p:nvPr/>
        </p:nvSpPr>
        <p:spPr>
          <a:xfrm>
            <a:off x="1066801" y="798600"/>
            <a:ext cx="10287000" cy="46878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smtClean="0">
                <a:ln>
                  <a:noFill/>
                </a:ln>
                <a:solidFill>
                  <a:srgbClr val="FF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A321 Neo:</a:t>
            </a: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05ea (2 sở hữu (đang SLB), 2 dài hạn và 01 thuê ngắn hạn thuê của PW).</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sửa chữa: có 8 động cơ đang sửa (05ại ESA và 02 tại IHI, 01 tại MTU-H)</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Đang đàm phán với đối tác sửa đổi hợp đồng thuê sau khi trình kí LOI (Willis và ELFC)</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Trong đó: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P771130: Hiện đang được Collins lắp QEC (Lịch ready + 2 tuần)</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TAT tại shop kéo dài, hiện do shop quá tải các động cơ tháo cung phải đợi slot lên đến 200 ngày.</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động cơ sửa chữa tại shop.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Tổ chức họp và tìm giải pháp với Ban KT, VAECO với danh mục MPL đc tháo khi gửi đi sửa.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6841729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3" name="Google Shape;293;g31ccdae391d_0_389"/>
          <p:cNvSpPr/>
          <p:nvPr/>
        </p:nvSpPr>
        <p:spPr>
          <a:xfrm>
            <a:off x="882125" y="685800"/>
            <a:ext cx="10591800" cy="25146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smtClean="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06:  03 ENG sở hữu, 03 ENG thuê ngắn hạn: (ED0321) (ED0036) (ED0715).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ED0238 đang sửa tại shop PWC tại SING.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ED0239, ED0217,ED0233 đang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ED0214 gửi đi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 Khó khăn:</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shop vẫn đang gặp trình trạng thiếu part, dẫn đến TAT bị kéo dài tại cả 02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Tiếp tục theo sát các động cơ đang sửa chữa tại PWC và StandardAero.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94" name="Google Shape;294;g31ccdae391d_0_389"/>
          <p:cNvPicPr preferRelativeResize="0"/>
          <p:nvPr/>
        </p:nvPicPr>
        <p:blipFill>
          <a:blip r:embed="rId3">
            <a:alphaModFix/>
          </a:blip>
          <a:stretch>
            <a:fillRect/>
          </a:stretch>
        </p:blipFill>
        <p:spPr>
          <a:xfrm>
            <a:off x="882125" y="3377100"/>
            <a:ext cx="10591800" cy="3150550"/>
          </a:xfrm>
          <a:prstGeom prst="rect">
            <a:avLst/>
          </a:prstGeom>
          <a:noFill/>
          <a:ln>
            <a:noFill/>
          </a:ln>
        </p:spPr>
      </p:pic>
    </p:spTree>
    <p:extLst>
      <p:ext uri="{BB962C8B-B14F-4D97-AF65-F5344CB8AC3E}">
        <p14:creationId xmlns:p14="http://schemas.microsoft.com/office/powerpoint/2010/main" val="22736909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1" name="Google Shape;301;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2" name="Google Shape;302;g31ccdae391d_0_396"/>
          <p:cNvSpPr/>
          <p:nvPr/>
        </p:nvSpPr>
        <p:spPr>
          <a:xfrm>
            <a:off x="913579" y="533400"/>
            <a:ext cx="10440222" cy="636133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21422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HAESL)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15/04.</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21047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20/04.</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956533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23/04.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4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V12505, V16456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còn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03ea: V16338 (09/05), V17403 (14/05), V16692 (19/05).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P770904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22/04.</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P771130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02/05.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stock (ED0235).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+ED0239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release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23/04/2025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+ED0217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induct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19/03/2025.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induct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26/03/2025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+ED0214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+ED0238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induct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24/01/2025.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1203573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403"/>
          <p:cNvSpPr txBox="1">
            <a:spLocks noGrp="1"/>
          </p:cNvSpPr>
          <p:nvPr>
            <p:ph type="title"/>
          </p:nvPr>
        </p:nvSpPr>
        <p:spPr>
          <a:xfrm>
            <a:off x="685800" y="30480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9" name="Google Shape;309;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0" name="Google Shape;310;g31ccdae391d_0_403"/>
          <p:cNvSpPr txBox="1"/>
          <p:nvPr/>
        </p:nvSpPr>
        <p:spPr>
          <a:xfrm>
            <a:off x="7543800" y="914400"/>
            <a:ext cx="3886200" cy="4436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STK: 01 APU SN: P-7845 SGN</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Tháng 4: dk 00 ea về.</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0</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 APU đang vận chuyển đi shop Lufth sửa chữa.</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+02 APU đang sửa chữa DK 21/05/2025 và 09/06/2025 sửa xong.</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 APU (PWC-Z926122) fail final test phải đổi WSC chưa có dk về.</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+01 APU ( PWC-Z925500) đang sửa tại shop PW Poland gặp tình trạng kho khăn trong chuỗi cung ứng nên dk EDD 30/04/2025.</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11" name="Google Shape;311;g31ccdae391d_0_403"/>
          <p:cNvPicPr preferRelativeResize="0"/>
          <p:nvPr/>
        </p:nvPicPr>
        <p:blipFill>
          <a:blip r:embed="rId3">
            <a:alphaModFix/>
          </a:blip>
          <a:stretch>
            <a:fillRect/>
          </a:stretch>
        </p:blipFill>
        <p:spPr>
          <a:xfrm>
            <a:off x="818125" y="1066800"/>
            <a:ext cx="6725675" cy="5571350"/>
          </a:xfrm>
          <a:prstGeom prst="rect">
            <a:avLst/>
          </a:prstGeom>
          <a:noFill/>
          <a:ln>
            <a:noFill/>
          </a:ln>
        </p:spPr>
      </p:pic>
    </p:spTree>
    <p:extLst>
      <p:ext uri="{BB962C8B-B14F-4D97-AF65-F5344CB8AC3E}">
        <p14:creationId xmlns:p14="http://schemas.microsoft.com/office/powerpoint/2010/main" val="20892953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38eea6c084_0_0"/>
          <p:cNvSpPr txBox="1">
            <a:spLocks noGrp="1"/>
          </p:cNvSpPr>
          <p:nvPr>
            <p:ph type="title"/>
          </p:nvPr>
        </p:nvSpPr>
        <p:spPr>
          <a:xfrm>
            <a:off x="838200" y="374388"/>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18" name="Google Shape;318;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9" name="Google Shape;319;g338eea6c084_0_0"/>
          <p:cNvSpPr/>
          <p:nvPr/>
        </p:nvSpPr>
        <p:spPr>
          <a:xfrm>
            <a:off x="685800" y="622038"/>
            <a:ext cx="10880338" cy="5617587"/>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101600" marR="0" lvl="0" algn="just" defTabSz="914400" rtl="0" eaLnBrk="1" fontAlgn="auto" latinLnBrk="0" hangingPunct="1">
              <a:lnSpc>
                <a:spcPct val="115000"/>
              </a:lnSpc>
              <a:spcBef>
                <a:spcPts val="0"/>
              </a:spcBef>
              <a:spcAft>
                <a:spcPts val="0"/>
              </a:spcAft>
              <a:buClr>
                <a:srgbClr val="000000"/>
              </a:buClr>
              <a:buSzPts val="2000"/>
              <a:tabLst/>
              <a:defRPr/>
            </a:pPr>
            <a:r>
              <a:rPr kumimoji="0" lang="en-US" sz="2000" b="1"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1.   NHIÊN </a:t>
            </a: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LIỆU:</a:t>
            </a:r>
            <a:endParaRPr kumimoji="0"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tổ</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chức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lựa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chọn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cấp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nhiên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liệu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hoàn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thành</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21/04.</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101600" marR="0" lvl="0" algn="just" defTabSz="914400" rtl="0" eaLnBrk="1" fontAlgn="auto" latinLnBrk="0" hangingPunct="1">
              <a:lnSpc>
                <a:spcPct val="115000"/>
              </a:lnSpc>
              <a:spcBef>
                <a:spcPts val="0"/>
              </a:spcBef>
              <a:spcAft>
                <a:spcPts val="0"/>
              </a:spcAft>
              <a:buClr>
                <a:srgbClr val="000000"/>
              </a:buClr>
              <a:buSzPts val="2000"/>
              <a:tabLst/>
              <a:defRPr/>
            </a:pPr>
            <a:r>
              <a:rPr kumimoji="0" lang="en-US" sz="2000" b="1"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2.   PTVT </a:t>
            </a: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DỰ PHÒNG FAK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TGĐ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duyệt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mua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63 item (5.18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triệu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USD)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24ea in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10ea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4.</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13ea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xác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lịch</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tiếp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tuần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16.</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15ea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xin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duyệt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mua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cũ</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thông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tin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kiểm</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tra</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P.TGĐ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xem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xét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15000"/>
              </a:lnSpc>
              <a:spcBef>
                <a:spcPts val="0"/>
              </a:spcBef>
              <a:spcAft>
                <a:spcPts val="0"/>
              </a:spcAft>
              <a:buClr>
                <a:srgbClr val="000000"/>
              </a:buClr>
              <a:buSzPts val="2000"/>
              <a:buFont typeface="Times New Roman"/>
              <a:buChar char="-"/>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01ea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xem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xết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mua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cũ</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hay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mua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mod,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bổ</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mod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Pooling.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101600" marR="0" lvl="0" algn="just" defTabSz="914400" rtl="0" eaLnBrk="1" fontAlgn="auto" latinLnBrk="0" hangingPunct="1">
              <a:lnSpc>
                <a:spcPct val="115000"/>
              </a:lnSpc>
              <a:spcBef>
                <a:spcPts val="0"/>
              </a:spcBef>
              <a:spcAft>
                <a:spcPts val="0"/>
              </a:spcAft>
              <a:buClr>
                <a:srgbClr val="000000"/>
              </a:buClr>
              <a:buSzPts val="2000"/>
              <a:tabLst/>
              <a:defRPr/>
            </a:pPr>
            <a:r>
              <a:rPr kumimoji="0" lang="en-US" sz="2000" b="1"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3.   VẬN </a:t>
            </a: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CHUYỂN, THUÊ KHO Ở NGA</a:t>
            </a:r>
            <a:endParaRPr kumimoji="0"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hệ</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phương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án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một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vướng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mắc</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thông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tin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cụ</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thể</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case by case (HS Code, product description, commercial invoice and purpose of use information in order to take action).</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Submit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thông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tin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Airlines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xin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approval.</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Nếu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thì</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cũng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từ</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Còn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từ</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châu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Âu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Mỹ</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nay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được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Nga</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--&gt;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khác</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      Thuê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tác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ở Nga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chấp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thủ</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khẩu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Nga,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vi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phạm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cam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kết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xuất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khẩu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OEM.</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3182785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74939</TotalTime>
  <Words>11748</Words>
  <Application>Microsoft Office PowerPoint</Application>
  <PresentationFormat>Widescreen</PresentationFormat>
  <Paragraphs>2452</Paragraphs>
  <Slides>68</Slides>
  <Notes>57</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68</vt:i4>
      </vt:variant>
    </vt:vector>
  </HeadingPairs>
  <TitlesOfParts>
    <vt:vector size="84" baseType="lpstr">
      <vt:lpstr>MS PGothic</vt:lpstr>
      <vt:lpstr>Arial</vt:lpstr>
      <vt:lpstr>Calibri</vt:lpstr>
      <vt:lpstr>Cambria</vt:lpstr>
      <vt:lpstr>Montserrat</vt:lpstr>
      <vt:lpstr>Montserrat SemiBold</vt:lpstr>
      <vt:lpstr>Open Sans</vt:lpstr>
      <vt:lpstr>Raleway</vt:lpstr>
      <vt:lpstr>Roboto</vt:lpstr>
      <vt:lpstr>Symbol</vt:lpstr>
      <vt:lpstr>Tahoma</vt:lpstr>
      <vt:lpstr>Times New Roman</vt:lpstr>
      <vt:lpstr>Wingdings</vt:lpstr>
      <vt:lpstr>16-9 MASTER TEMPLATE</vt:lpstr>
      <vt:lpstr>1_16-9 MASTER TEMPLATE</vt:lpstr>
      <vt:lpstr>Office Theme</vt:lpstr>
      <vt:lpstr>BÁO CÁO KỸ THUẬT (Tuần 15: 08/04/2025 – 13/04/2025)</vt:lpstr>
      <vt:lpstr>TỔNG HỢP AOG, DELAY VÀ GTB/ATB/DIV</vt:lpstr>
      <vt:lpstr>ATB/GTB COMPARISON</vt:lpstr>
      <vt:lpstr>CÁC SỰ KIỆN ATB/GTB/DIV</vt:lpstr>
      <vt:lpstr>PowerPoint Presentation</vt:lpstr>
      <vt:lpstr>TÌNH TRẠNG KỸ THUẬT ĐỘI BAY – A320/A321</vt:lpstr>
      <vt:lpstr>PowerPoint Presentation</vt:lpstr>
      <vt:lpstr>TÌNH TRẠNG KỸ THUẬT ĐỘI BAY – A350</vt:lpstr>
      <vt:lpstr>PowerPoint Presentation</vt:lpstr>
      <vt:lpstr>PowerPoint Presentation</vt:lpstr>
      <vt:lpstr>TÌNH TRẠNG KỸ THUẬT ĐỘI BAY – B787</vt:lpstr>
      <vt:lpstr>TÌNH TRẠNG KỸ THUẬT ĐỘI BAY – B787</vt:lpstr>
      <vt:lpstr>PowerPoint Presentation</vt:lpstr>
      <vt:lpstr>PowerPoint Presentation</vt:lpstr>
      <vt:lpstr>TÌNH TRẠNG KỸ THUẬT ĐỘI BAY – ATR72</vt:lpstr>
      <vt:lpstr>PowerPoint Presentation</vt:lpstr>
      <vt:lpstr>DISPATCH RELIABILITY W15 (08/04/2025-13/04/2025)</vt:lpstr>
      <vt:lpstr>CÁC CÔNG VIỆC TRỌNG ĐIỂM</vt:lpstr>
      <vt:lpstr>PowerPoint Presentation</vt:lpstr>
      <vt:lpstr>PowerPoint Presentation</vt:lpstr>
      <vt:lpstr>PowerPoint Presentation</vt:lpstr>
      <vt:lpstr>PowerPoint Presentation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BQDB VÀ ĐANG TRONG BẢO DƯỠNG (BDĐK)</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11748</cp:revision>
  <cp:lastPrinted>2019-03-27T09:25:07Z</cp:lastPrinted>
  <dcterms:created xsi:type="dcterms:W3CDTF">2018-12-27T04:50:36Z</dcterms:created>
  <dcterms:modified xsi:type="dcterms:W3CDTF">2025-04-13T14:06:34Z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