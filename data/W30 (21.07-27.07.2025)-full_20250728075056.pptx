
<file path=[Content_Types].xml><?xml version="1.0" encoding="utf-8"?>
<Types xmlns="http://schemas.openxmlformats.org/package/2006/content-types">
  <Default Extension="png" ContentType="image/png"/>
  <Default Extension="bin" ContentType="image/unknown"/>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xml" ContentType="application/vnd.openxmlformats-officedocument.presentationml.tags+xml"/>
  <Override PartName="/ppt/notesSlides/notesSlide23.xml" ContentType="application/vnd.openxmlformats-officedocument.presentationml.notesSlide+xml"/>
  <Override PartName="/ppt/charts/chart7.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4.xml" ContentType="application/vnd.openxmlformats-officedocument.drawingml.chart+xml"/>
  <Override PartName="/ppt/theme/themeOverride7.xml" ContentType="application/vnd.openxmlformats-officedocument.themeOverride+xml"/>
  <Override PartName="/ppt/notesSlides/notesSlide37.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8.xml" ContentType="application/vnd.openxmlformats-officedocument.themeOverride+xml"/>
  <Override PartName="/ppt/notesSlides/notesSlide38.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9.xml" ContentType="application/vnd.openxmlformats-officedocument.themeOverride+xml"/>
  <Override PartName="/ppt/notesSlides/notesSlide39.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10.xml" ContentType="application/vnd.openxmlformats-officedocument.themeOverr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675" r:id="rId5"/>
  </p:sldMasterIdLst>
  <p:notesMasterIdLst>
    <p:notesMasterId r:id="rId71"/>
  </p:notesMasterIdLst>
  <p:sldIdLst>
    <p:sldId id="11486" r:id="rId6"/>
    <p:sldId id="11487" r:id="rId7"/>
    <p:sldId id="11488" r:id="rId8"/>
    <p:sldId id="12883" r:id="rId9"/>
    <p:sldId id="11493" r:id="rId10"/>
    <p:sldId id="12884" r:id="rId11"/>
    <p:sldId id="12885" r:id="rId12"/>
    <p:sldId id="12886" r:id="rId13"/>
    <p:sldId id="12887" r:id="rId14"/>
    <p:sldId id="12888" r:id="rId15"/>
    <p:sldId id="12573" r:id="rId16"/>
    <p:sldId id="12889" r:id="rId17"/>
    <p:sldId id="12890" r:id="rId18"/>
    <p:sldId id="12907" r:id="rId19"/>
    <p:sldId id="12855" r:id="rId20"/>
    <p:sldId id="12891" r:id="rId21"/>
    <p:sldId id="12892" r:id="rId22"/>
    <p:sldId id="12893" r:id="rId23"/>
    <p:sldId id="12908" r:id="rId24"/>
    <p:sldId id="12858" r:id="rId25"/>
    <p:sldId id="12894" r:id="rId26"/>
    <p:sldId id="12612" r:id="rId27"/>
    <p:sldId id="12895" r:id="rId28"/>
    <p:sldId id="12909" r:id="rId29"/>
    <p:sldId id="12910" r:id="rId30"/>
    <p:sldId id="12911" r:id="rId31"/>
    <p:sldId id="12912" r:id="rId32"/>
    <p:sldId id="12913" r:id="rId33"/>
    <p:sldId id="12585" r:id="rId34"/>
    <p:sldId id="12896" r:id="rId35"/>
    <p:sldId id="12897" r:id="rId36"/>
    <p:sldId id="12898" r:id="rId37"/>
    <p:sldId id="12899" r:id="rId38"/>
    <p:sldId id="12900" r:id="rId39"/>
    <p:sldId id="12901" r:id="rId40"/>
    <p:sldId id="12902" r:id="rId41"/>
    <p:sldId id="12903" r:id="rId42"/>
    <p:sldId id="12586" r:id="rId43"/>
    <p:sldId id="12914" r:id="rId44"/>
    <p:sldId id="12905" r:id="rId45"/>
    <p:sldId id="12906" r:id="rId46"/>
    <p:sldId id="12904" r:id="rId47"/>
    <p:sldId id="11545" r:id="rId48"/>
    <p:sldId id="12862" r:id="rId49"/>
    <p:sldId id="12863" r:id="rId50"/>
    <p:sldId id="12864" r:id="rId51"/>
    <p:sldId id="12865" r:id="rId52"/>
    <p:sldId id="12866" r:id="rId53"/>
    <p:sldId id="12867" r:id="rId54"/>
    <p:sldId id="12868" r:id="rId55"/>
    <p:sldId id="12869" r:id="rId56"/>
    <p:sldId id="12870" r:id="rId57"/>
    <p:sldId id="12871" r:id="rId58"/>
    <p:sldId id="12872" r:id="rId59"/>
    <p:sldId id="12873" r:id="rId60"/>
    <p:sldId id="12874" r:id="rId61"/>
    <p:sldId id="12875" r:id="rId62"/>
    <p:sldId id="12876" r:id="rId63"/>
    <p:sldId id="12877" r:id="rId64"/>
    <p:sldId id="12878" r:id="rId65"/>
    <p:sldId id="12879" r:id="rId66"/>
    <p:sldId id="12880" r:id="rId67"/>
    <p:sldId id="12881" r:id="rId68"/>
    <p:sldId id="12882" r:id="rId69"/>
    <p:sldId id="11888" r:id="rId7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5F6E"/>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374" autoAdjust="0"/>
  </p:normalViewPr>
  <p:slideViewPr>
    <p:cSldViewPr>
      <p:cViewPr varScale="1">
        <p:scale>
          <a:sx n="74" d="100"/>
          <a:sy n="74" d="100"/>
        </p:scale>
        <p:origin x="492" y="54"/>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P.MOC\B&#225;o%20c&#225;o%20tu&#7847;n\2025\W30\W30%20(21.07-27.07.2025).xlsx"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file:///D:\P.MOC\B&#225;o%20c&#225;o%20tu&#7847;n\2025\W30\W30%20(21.07-27.07.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P.MOC\B&#225;o%20c&#225;o%20tu&#7847;n\2025\W30\W30%20(21.07-27.07.2025).xlsx" TargetMode="External"/></Relationships>
</file>

<file path=ppt/charts/_rels/chart4.xml.rels><?xml version="1.0" encoding="UTF-8" standalone="yes"?>
<Relationships xmlns="http://schemas.openxmlformats.org/package/2006/relationships"><Relationship Id="rId2" Type="http://schemas.openxmlformats.org/officeDocument/2006/relationships/oleObject" Target="file:///D:\P.MOC\B&#225;o%20c&#225;o%20tu&#7847;n\2025\W30\W30%20(21.07-27.07.2025).xlsx"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oleObject" Target="file:///D:\P.MOC\B&#225;o%20c&#225;o%20tu&#7847;n\2025\W30\W30%20(21.07-27.07.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P.MOC\B&#225;o%20c&#225;o%20tu&#7847;n\2025\W30\W30%20(21.07-27.07.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30\DR-W30.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2" Type="http://schemas.openxmlformats.org/officeDocument/2006/relationships/oleObject" Target="file:///D:\P.MOC\B&#225;o%20c&#225;o%20tu&#7847;n\2025\W30\W30%20(21.07-27.07.2025).xlsx" TargetMode="External"/><Relationship Id="rId1" Type="http://schemas.openxmlformats.org/officeDocument/2006/relationships/themeOverride" Target="../theme/themeOverride7.xm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2025\L&#7883;ch%20bay%20h&#224;ng%20tu&#7847;n%20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2025\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2025\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2</c:v>
                </c:pt>
                <c:pt idx="2">
                  <c:v>2</c:v>
                </c:pt>
                <c:pt idx="3">
                  <c:v>0</c:v>
                </c:pt>
                <c:pt idx="4">
                  <c:v>0</c:v>
                </c:pt>
                <c:pt idx="5">
                  <c:v>4</c:v>
                </c:pt>
              </c:numCache>
            </c:numRef>
          </c:val>
          <c:extLst xmlns:c15="http://schemas.microsoft.com/office/drawing/2012/chart">
            <c:ext xmlns:c16="http://schemas.microsoft.com/office/drawing/2014/chart" uri="{C3380CC4-5D6E-409C-BE32-E72D297353CC}">
              <c16:uniqueId val="{00000000-D217-4FE1-9C5D-103CD96ACAEF}"/>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0</c:v>
                </c:pt>
                <c:pt idx="2">
                  <c:v>0</c:v>
                </c:pt>
                <c:pt idx="3">
                  <c:v>0</c:v>
                </c:pt>
                <c:pt idx="4">
                  <c:v>1</c:v>
                </c:pt>
                <c:pt idx="5">
                  <c:v>1</c:v>
                </c:pt>
              </c:numCache>
            </c:numRef>
          </c:val>
          <c:extLst>
            <c:ext xmlns:c16="http://schemas.microsoft.com/office/drawing/2014/chart" uri="{C3380CC4-5D6E-409C-BE32-E72D297353CC}">
              <c16:uniqueId val="{00000001-D217-4FE1-9C5D-103CD96ACAEF}"/>
            </c:ext>
          </c:extLst>
        </c:ser>
        <c:dLbls>
          <c:dLblPos val="outEnd"/>
          <c:showLegendKey val="0"/>
          <c:showVal val="1"/>
          <c:showCatName val="0"/>
          <c:showSerName val="0"/>
          <c:showPercent val="0"/>
          <c:showBubbleSize val="0"/>
        </c:dLbls>
        <c:gapWidth val="219"/>
        <c:overlap val="-27"/>
        <c:axId val="313881072"/>
        <c:axId val="379423472"/>
        <c:extLst/>
      </c:barChart>
      <c:catAx>
        <c:axId val="313881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79423472"/>
        <c:crosses val="autoZero"/>
        <c:auto val="1"/>
        <c:lblAlgn val="ctr"/>
        <c:lblOffset val="100"/>
        <c:noMultiLvlLbl val="0"/>
      </c:catAx>
      <c:valAx>
        <c:axId val="379423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881072"/>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6</c:v>
                </c:pt>
                <c:pt idx="2">
                  <c:v>1</c:v>
                </c:pt>
                <c:pt idx="3">
                  <c:v>2</c:v>
                </c:pt>
                <c:pt idx="4">
                  <c:v>2</c:v>
                </c:pt>
                <c:pt idx="5">
                  <c:v>11</c:v>
                </c:pt>
              </c:numCache>
            </c:numRef>
          </c:val>
          <c:extLst xmlns:c15="http://schemas.microsoft.com/office/drawing/2012/chart">
            <c:ext xmlns:c16="http://schemas.microsoft.com/office/drawing/2014/chart" uri="{C3380CC4-5D6E-409C-BE32-E72D297353CC}">
              <c16:uniqueId val="{00000000-2A17-4A1C-B3C0-2CB513CBD222}"/>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9</c:v>
                </c:pt>
                <c:pt idx="2">
                  <c:v>1</c:v>
                </c:pt>
                <c:pt idx="3">
                  <c:v>1</c:v>
                </c:pt>
                <c:pt idx="4">
                  <c:v>1</c:v>
                </c:pt>
                <c:pt idx="5">
                  <c:v>12</c:v>
                </c:pt>
              </c:numCache>
            </c:numRef>
          </c:val>
          <c:extLst>
            <c:ext xmlns:c16="http://schemas.microsoft.com/office/drawing/2014/chart" uri="{C3380CC4-5D6E-409C-BE32-E72D297353CC}">
              <c16:uniqueId val="{00000001-2A17-4A1C-B3C0-2CB513CBD222}"/>
            </c:ext>
          </c:extLst>
        </c:ser>
        <c:dLbls>
          <c:dLblPos val="outEnd"/>
          <c:showLegendKey val="0"/>
          <c:showVal val="1"/>
          <c:showCatName val="0"/>
          <c:showSerName val="0"/>
          <c:showPercent val="0"/>
          <c:showBubbleSize val="0"/>
        </c:dLbls>
        <c:gapWidth val="219"/>
        <c:overlap val="-27"/>
        <c:axId val="390760432"/>
        <c:axId val="390762392"/>
        <c:extLst/>
      </c:barChart>
      <c:catAx>
        <c:axId val="390760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762392"/>
        <c:crosses val="autoZero"/>
        <c:auto val="1"/>
        <c:lblAlgn val="ctr"/>
        <c:lblOffset val="100"/>
        <c:noMultiLvlLbl val="0"/>
      </c:catAx>
      <c:valAx>
        <c:axId val="390762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760432"/>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1</c:v>
                </c:pt>
                <c:pt idx="5">
                  <c:v>1</c:v>
                </c:pt>
              </c:numCache>
            </c:numRef>
          </c:val>
          <c:extLst xmlns:c15="http://schemas.microsoft.com/office/drawing/2012/chart">
            <c:ext xmlns:c16="http://schemas.microsoft.com/office/drawing/2014/chart" uri="{C3380CC4-5D6E-409C-BE32-E72D297353CC}">
              <c16:uniqueId val="{00000000-9DD8-493B-A374-11F9D95628AE}"/>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9DD8-493B-A374-11F9D95628AE}"/>
            </c:ext>
          </c:extLst>
        </c:ser>
        <c:dLbls>
          <c:showLegendKey val="0"/>
          <c:showVal val="0"/>
          <c:showCatName val="0"/>
          <c:showSerName val="0"/>
          <c:showPercent val="0"/>
          <c:showBubbleSize val="0"/>
        </c:dLbls>
        <c:gapWidth val="219"/>
        <c:overlap val="-27"/>
        <c:axId val="379421120"/>
        <c:axId val="379421512"/>
        <c:extLst/>
      </c:barChart>
      <c:catAx>
        <c:axId val="379421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79421512"/>
        <c:crosses val="autoZero"/>
        <c:auto val="1"/>
        <c:lblAlgn val="ctr"/>
        <c:lblOffset val="100"/>
        <c:noMultiLvlLbl val="0"/>
      </c:catAx>
      <c:valAx>
        <c:axId val="379421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79421120"/>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1</c:v>
                </c:pt>
                <c:pt idx="2">
                  <c:v>1</c:v>
                </c:pt>
                <c:pt idx="3">
                  <c:v>0</c:v>
                </c:pt>
                <c:pt idx="4">
                  <c:v>0</c:v>
                </c:pt>
                <c:pt idx="5">
                  <c:v>2</c:v>
                </c:pt>
              </c:numCache>
            </c:numRef>
          </c:val>
          <c:extLst xmlns:c15="http://schemas.microsoft.com/office/drawing/2012/chart">
            <c:ext xmlns:c16="http://schemas.microsoft.com/office/drawing/2014/chart" uri="{C3380CC4-5D6E-409C-BE32-E72D297353CC}">
              <c16:uniqueId val="{00000000-BB37-4765-83B5-6EE8CD59EEC5}"/>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1</c:v>
                </c:pt>
                <c:pt idx="3">
                  <c:v>0</c:v>
                </c:pt>
                <c:pt idx="4">
                  <c:v>0</c:v>
                </c:pt>
                <c:pt idx="5">
                  <c:v>1</c:v>
                </c:pt>
              </c:numCache>
            </c:numRef>
          </c:val>
          <c:extLst>
            <c:ext xmlns:c16="http://schemas.microsoft.com/office/drawing/2014/chart" uri="{C3380CC4-5D6E-409C-BE32-E72D297353CC}">
              <c16:uniqueId val="{00000001-BB37-4765-83B5-6EE8CD59EEC5}"/>
            </c:ext>
          </c:extLst>
        </c:ser>
        <c:dLbls>
          <c:showLegendKey val="0"/>
          <c:showVal val="0"/>
          <c:showCatName val="0"/>
          <c:showSerName val="0"/>
          <c:showPercent val="0"/>
          <c:showBubbleSize val="0"/>
        </c:dLbls>
        <c:gapWidth val="219"/>
        <c:overlap val="-27"/>
        <c:axId val="313882640"/>
        <c:axId val="313886168"/>
        <c:extLst/>
      </c:barChart>
      <c:catAx>
        <c:axId val="313882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886168"/>
        <c:crosses val="autoZero"/>
        <c:auto val="1"/>
        <c:lblAlgn val="ctr"/>
        <c:lblOffset val="100"/>
        <c:noMultiLvlLbl val="0"/>
      </c:catAx>
      <c:valAx>
        <c:axId val="313886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882640"/>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4247-4FFF-B542-4AB1AC867FAD}"/>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pt idx="20">
                  <c:v>0</c:v>
                </c:pt>
                <c:pt idx="21">
                  <c:v>0</c:v>
                </c:pt>
                <c:pt idx="22">
                  <c:v>0</c:v>
                </c:pt>
                <c:pt idx="23">
                  <c:v>0</c:v>
                </c:pt>
                <c:pt idx="24">
                  <c:v>0</c:v>
                </c:pt>
                <c:pt idx="25">
                  <c:v>0</c:v>
                </c:pt>
                <c:pt idx="26">
                  <c:v>0</c:v>
                </c:pt>
                <c:pt idx="27">
                  <c:v>0</c:v>
                </c:pt>
                <c:pt idx="28">
                  <c:v>1</c:v>
                </c:pt>
                <c:pt idx="29">
                  <c:v>0</c:v>
                </c:pt>
              </c:numCache>
            </c:numRef>
          </c:val>
          <c:smooth val="0"/>
          <c:extLst>
            <c:ext xmlns:c16="http://schemas.microsoft.com/office/drawing/2014/chart" uri="{C3380CC4-5D6E-409C-BE32-E72D297353CC}">
              <c16:uniqueId val="{00000001-4247-4FFF-B542-4AB1AC867FAD}"/>
            </c:ext>
          </c:extLst>
        </c:ser>
        <c:dLbls>
          <c:showLegendKey val="0"/>
          <c:showVal val="0"/>
          <c:showCatName val="0"/>
          <c:showSerName val="0"/>
          <c:showPercent val="0"/>
          <c:showBubbleSize val="0"/>
        </c:dLbls>
        <c:marker val="1"/>
        <c:smooth val="0"/>
        <c:axId val="382763448"/>
        <c:axId val="382760312"/>
      </c:lineChart>
      <c:catAx>
        <c:axId val="3827634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60312"/>
        <c:crosses val="autoZero"/>
        <c:auto val="1"/>
        <c:lblAlgn val="ctr"/>
        <c:lblOffset val="100"/>
        <c:noMultiLvlLbl val="0"/>
      </c:catAx>
      <c:valAx>
        <c:axId val="38276031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63448"/>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71FF-4ACB-AAA6-5DFAD64711F9}"/>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pt idx="20">
                  <c:v>2</c:v>
                </c:pt>
                <c:pt idx="21">
                  <c:v>2</c:v>
                </c:pt>
                <c:pt idx="22">
                  <c:v>3</c:v>
                </c:pt>
                <c:pt idx="23">
                  <c:v>5</c:v>
                </c:pt>
                <c:pt idx="24">
                  <c:v>2</c:v>
                </c:pt>
                <c:pt idx="25">
                  <c:v>1</c:v>
                </c:pt>
                <c:pt idx="26">
                  <c:v>1</c:v>
                </c:pt>
                <c:pt idx="27">
                  <c:v>1</c:v>
                </c:pt>
                <c:pt idx="28">
                  <c:v>2</c:v>
                </c:pt>
                <c:pt idx="29">
                  <c:v>1</c:v>
                </c:pt>
              </c:numCache>
            </c:numRef>
          </c:val>
          <c:smooth val="0"/>
          <c:extLst>
            <c:ext xmlns:c16="http://schemas.microsoft.com/office/drawing/2014/chart" uri="{C3380CC4-5D6E-409C-BE32-E72D297353CC}">
              <c16:uniqueId val="{00000001-71FF-4ACB-AAA6-5DFAD64711F9}"/>
            </c:ext>
          </c:extLst>
        </c:ser>
        <c:dLbls>
          <c:showLegendKey val="0"/>
          <c:showVal val="0"/>
          <c:showCatName val="0"/>
          <c:showSerName val="0"/>
          <c:showPercent val="0"/>
          <c:showBubbleSize val="0"/>
        </c:dLbls>
        <c:marker val="1"/>
        <c:smooth val="0"/>
        <c:axId val="382756000"/>
        <c:axId val="382756784"/>
      </c:lineChart>
      <c:catAx>
        <c:axId val="382756000"/>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56784"/>
        <c:crosses val="autoZero"/>
        <c:auto val="1"/>
        <c:lblAlgn val="ctr"/>
        <c:lblOffset val="100"/>
        <c:noMultiLvlLbl val="0"/>
      </c:catAx>
      <c:valAx>
        <c:axId val="3827567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560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W29</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F922-4470-AE31-2B40F380E219}"/>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99.779249448123622</c:v>
                </c:pt>
                <c:pt idx="1">
                  <c:v>99.616858237547888</c:v>
                </c:pt>
                <c:pt idx="2">
                  <c:v>99.753086419753089</c:v>
                </c:pt>
                <c:pt idx="3">
                  <c:v>98.98989898989899</c:v>
                </c:pt>
              </c:numCache>
            </c:numRef>
          </c:val>
          <c:extLst>
            <c:ext xmlns:c16="http://schemas.microsoft.com/office/drawing/2014/chart" uri="{C3380CC4-5D6E-409C-BE32-E72D297353CC}">
              <c16:uniqueId val="{00000001-F922-4470-AE31-2B40F380E219}"/>
            </c:ext>
          </c:extLst>
        </c:ser>
        <c:ser>
          <c:idx val="1"/>
          <c:order val="1"/>
          <c:tx>
            <c:strRef>
              <c:f>DR!$D$3</c:f>
              <c:strCache>
                <c:ptCount val="1"/>
                <c:pt idx="0">
                  <c:v>W30</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99.667405764966745</c:v>
                </c:pt>
                <c:pt idx="1">
                  <c:v>99.598393574297191</c:v>
                </c:pt>
                <c:pt idx="2">
                  <c:v>99.717514124293785</c:v>
                </c:pt>
                <c:pt idx="3">
                  <c:v>99.545454545454547</c:v>
                </c:pt>
              </c:numCache>
            </c:numRef>
          </c:val>
          <c:extLst>
            <c:ext xmlns:c16="http://schemas.microsoft.com/office/drawing/2014/chart" uri="{C3380CC4-5D6E-409C-BE32-E72D297353CC}">
              <c16:uniqueId val="{00000002-F922-4470-AE31-2B40F380E219}"/>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922-4470-AE31-2B40F380E219}"/>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F922-4470-AE31-2B40F380E219}"/>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F922-4470-AE31-2B40F380E219}"/>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Sheet1!$D$8:$BG$8</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Sheet1!$D$9:$BG$9</c:f>
              <c:numCache>
                <c:formatCode>General</c:formatCode>
                <c:ptCount val="16"/>
                <c:pt idx="0">
                  <c:v>24</c:v>
                </c:pt>
                <c:pt idx="1">
                  <c:v>22</c:v>
                </c:pt>
                <c:pt idx="2">
                  <c:v>20</c:v>
                </c:pt>
                <c:pt idx="3">
                  <c:v>21</c:v>
                </c:pt>
                <c:pt idx="4">
                  <c:v>22</c:v>
                </c:pt>
                <c:pt idx="5">
                  <c:v>23</c:v>
                </c:pt>
                <c:pt idx="6">
                  <c:v>23</c:v>
                </c:pt>
                <c:pt idx="7">
                  <c:v>23</c:v>
                </c:pt>
                <c:pt idx="8">
                  <c:v>22</c:v>
                </c:pt>
                <c:pt idx="9">
                  <c:v>21</c:v>
                </c:pt>
                <c:pt idx="10">
                  <c:v>21</c:v>
                </c:pt>
                <c:pt idx="11">
                  <c:v>21</c:v>
                </c:pt>
                <c:pt idx="12">
                  <c:v>21</c:v>
                </c:pt>
                <c:pt idx="13">
                  <c:v>21</c:v>
                </c:pt>
                <c:pt idx="14">
                  <c:v>21</c:v>
                </c:pt>
                <c:pt idx="15">
                  <c:v>21</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Sheet1!$D$10:$BG$10</c:f>
              <c:numCache>
                <c:formatCode>General</c:formatCode>
                <c:ptCount val="16"/>
                <c:pt idx="0">
                  <c:v>2</c:v>
                </c:pt>
                <c:pt idx="1">
                  <c:v>2</c:v>
                </c:pt>
                <c:pt idx="2">
                  <c:v>2</c:v>
                </c:pt>
                <c:pt idx="3">
                  <c:v>2</c:v>
                </c:pt>
                <c:pt idx="4">
                  <c:v>3</c:v>
                </c:pt>
                <c:pt idx="5">
                  <c:v>3</c:v>
                </c:pt>
                <c:pt idx="6">
                  <c:v>3</c:v>
                </c:pt>
                <c:pt idx="7">
                  <c:v>3</c:v>
                </c:pt>
                <c:pt idx="8">
                  <c:v>2</c:v>
                </c:pt>
                <c:pt idx="9">
                  <c:v>2</c:v>
                </c:pt>
                <c:pt idx="10">
                  <c:v>3</c:v>
                </c:pt>
                <c:pt idx="11">
                  <c:v>4</c:v>
                </c:pt>
                <c:pt idx="12">
                  <c:v>4</c:v>
                </c:pt>
                <c:pt idx="13">
                  <c:v>4</c:v>
                </c:pt>
                <c:pt idx="14">
                  <c:v>4</c:v>
                </c:pt>
                <c:pt idx="15">
                  <c:v>4</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Sheet1!$D$11:$BG$11</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Sheet1!$D$12:$BG$12</c:f>
              <c:numCache>
                <c:formatCode>General</c:formatCode>
                <c:ptCount val="16"/>
                <c:pt idx="0">
                  <c:v>0</c:v>
                </c:pt>
                <c:pt idx="1">
                  <c:v>1</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1940978800"/>
        <c:axId val="-1940985872"/>
      </c:lineChart>
      <c:catAx>
        <c:axId val="-19409788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1940985872"/>
        <c:crosses val="autoZero"/>
        <c:auto val="1"/>
        <c:lblAlgn val="ctr"/>
        <c:lblOffset val="100"/>
        <c:tickMarkSkip val="1"/>
        <c:noMultiLvlLbl val="0"/>
      </c:catAx>
      <c:valAx>
        <c:axId val="-194098587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1940978800"/>
        <c:crosses val="autoZero"/>
        <c:crossBetween val="between"/>
      </c:valAx>
      <c:spPr>
        <a:noFill/>
        <a:ln>
          <a:noFill/>
        </a:ln>
        <a:effectLst/>
      </c:spPr>
    </c:plotArea>
    <c:legend>
      <c:legendPos val="b"/>
      <c:layout>
        <c:manualLayout>
          <c:xMode val="edge"/>
          <c:yMode val="edge"/>
          <c:x val="0.64490601981203965"/>
          <c:y val="0.45304720402554688"/>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188228338235609E-2"/>
          <c:y val="7.642113830338218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Sheet1!$C$22:$C$33</c:f>
              <c:numCache>
                <c:formatCode>General</c:formatCode>
                <c:ptCount val="12"/>
                <c:pt idx="0">
                  <c:v>14.25</c:v>
                </c:pt>
                <c:pt idx="1">
                  <c:v>13.75</c:v>
                </c:pt>
                <c:pt idx="2">
                  <c:v>15.25</c:v>
                </c:pt>
                <c:pt idx="3">
                  <c:v>15</c:v>
                </c:pt>
                <c:pt idx="4">
                  <c:v>14.5</c:v>
                </c:pt>
                <c:pt idx="5">
                  <c:v>12.25</c:v>
                </c:pt>
                <c:pt idx="6">
                  <c:v>10.75</c:v>
                </c:pt>
                <c:pt idx="7">
                  <c:v>11.75</c:v>
                </c:pt>
                <c:pt idx="8">
                  <c:v>11</c:v>
                </c:pt>
                <c:pt idx="9">
                  <c:v>11</c:v>
                </c:pt>
                <c:pt idx="10">
                  <c:v>11</c:v>
                </c:pt>
                <c:pt idx="11">
                  <c:v>11</c:v>
                </c:pt>
              </c:numCache>
            </c:numRef>
          </c:val>
          <c:smooth val="0"/>
          <c:extLst>
            <c:ext xmlns:c16="http://schemas.microsoft.com/office/drawing/2014/chart" uri="{C3380CC4-5D6E-409C-BE32-E72D297353CC}">
              <c16:uniqueId val="{00000001-6D6A-460E-8E11-3C956E9EF4D8}"/>
            </c:ext>
          </c:extLst>
        </c:ser>
        <c:ser>
          <c:idx val="0"/>
          <c:order val="1"/>
          <c:tx>
            <c:strRef>
              <c:f>Sheet1!#REF!</c:f>
              <c:strCache>
                <c:ptCount val="1"/>
                <c:pt idx="0">
                  <c:v>#REF!</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Pt>
            <c:idx val="5"/>
            <c:marker>
              <c:symbol val="circle"/>
              <c:size val="25"/>
              <c:spPr>
                <a:noFill/>
                <a:ln w="9525">
                  <a:noFill/>
                </a:ln>
                <a:effectLst/>
              </c:spPr>
            </c:marker>
            <c:bubble3D val="0"/>
            <c:spPr>
              <a:ln w="28575" cap="rnd">
                <a:noFill/>
                <a:round/>
              </a:ln>
              <a:effectLst/>
            </c:spPr>
            <c:extLst>
              <c:ext xmlns:c16="http://schemas.microsoft.com/office/drawing/2014/chart" uri="{C3380CC4-5D6E-409C-BE32-E72D297353CC}">
                <c16:uniqueId val="{00000002-BADC-4A39-B3FA-08B2A3E82B11}"/>
              </c:ext>
            </c:extLst>
          </c:dPt>
          <c:dLbls>
            <c:dLbl>
              <c:idx val="5"/>
              <c:delete val="1"/>
              <c:extLst>
                <c:ext xmlns:c15="http://schemas.microsoft.com/office/drawing/2012/chart" uri="{CE6537A1-D6FC-4f65-9D91-7224C49458BB}"/>
                <c:ext xmlns:c16="http://schemas.microsoft.com/office/drawing/2014/chart" uri="{C3380CC4-5D6E-409C-BE32-E72D297353CC}">
                  <c16:uniqueId val="{00000002-BADC-4A39-B3FA-08B2A3E82B1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Sheet1!#REF!</c:f>
              <c:numCache>
                <c:formatCode>General</c:formatCode>
                <c:ptCount val="1"/>
                <c:pt idx="0">
                  <c:v>1</c:v>
                </c:pt>
              </c:numCache>
            </c:numRef>
          </c:val>
          <c:smooth val="0"/>
          <c:extLst>
            <c:ext xmlns:c16="http://schemas.microsoft.com/office/drawing/2014/chart" uri="{C3380CC4-5D6E-409C-BE32-E72D297353CC}">
              <c16:uniqueId val="{00000001-BADC-4A39-B3FA-08B2A3E82B11}"/>
            </c:ext>
          </c:extLst>
        </c:ser>
        <c:dLbls>
          <c:dLblPos val="ctr"/>
          <c:showLegendKey val="0"/>
          <c:showVal val="1"/>
          <c:showCatName val="0"/>
          <c:showSerName val="0"/>
          <c:showPercent val="0"/>
          <c:showBubbleSize val="0"/>
        </c:dLbls>
        <c:marker val="1"/>
        <c:smooth val="0"/>
        <c:axId val="-1940979888"/>
        <c:axId val="-1940977712"/>
      </c:lineChart>
      <c:catAx>
        <c:axId val="-1940979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940977712"/>
        <c:crosses val="autoZero"/>
        <c:auto val="1"/>
        <c:lblAlgn val="ctr"/>
        <c:lblOffset val="100"/>
        <c:noMultiLvlLbl val="0"/>
      </c:catAx>
      <c:valAx>
        <c:axId val="-1940977712"/>
        <c:scaling>
          <c:orientation val="minMax"/>
          <c:max val="16"/>
          <c:min val="9"/>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940979888"/>
        <c:crosses val="autoZero"/>
        <c:crossBetween val="between"/>
        <c:majorUnit val="1"/>
      </c:valAx>
      <c:spPr>
        <a:noFill/>
        <a:ln>
          <a:noFill/>
        </a:ln>
        <a:effectLst/>
      </c:spPr>
    </c:plotArea>
    <c:legend>
      <c:legendPos val="r"/>
      <c:legendEntry>
        <c:idx val="1"/>
        <c:delete val="1"/>
      </c:legendEntry>
      <c:layout>
        <c:manualLayout>
          <c:xMode val="edge"/>
          <c:yMode val="edge"/>
          <c:x val="0.6014428597681637"/>
          <c:y val="0.17217252125015778"/>
          <c:w val="0.29325237236090818"/>
          <c:h val="0.137457945796320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Sheet1!$A$18:$A$37</c:f>
              <c:strCache>
                <c:ptCount val="20"/>
                <c:pt idx="0">
                  <c:v>Jul-W1</c:v>
                </c:pt>
                <c:pt idx="1">
                  <c:v>Jul-W2</c:v>
                </c:pt>
                <c:pt idx="2">
                  <c:v>Jul-W3</c:v>
                </c:pt>
                <c:pt idx="3">
                  <c:v>Jul-W4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pt idx="16">
                  <c:v>Nov-W1</c:v>
                </c:pt>
                <c:pt idx="17">
                  <c:v>Nov-W2</c:v>
                </c:pt>
                <c:pt idx="18">
                  <c:v>Nov-W3</c:v>
                </c:pt>
                <c:pt idx="19">
                  <c:v>Novv-W4</c:v>
                </c:pt>
              </c:strCache>
            </c:strRef>
          </c:cat>
          <c:val>
            <c:numRef>
              <c:f>Sheet1!$B$18:$B$37</c:f>
              <c:numCache>
                <c:formatCode>General</c:formatCode>
                <c:ptCount val="20"/>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pt idx="16">
                  <c:v>17</c:v>
                </c:pt>
                <c:pt idx="17">
                  <c:v>17</c:v>
                </c:pt>
                <c:pt idx="18">
                  <c:v>17</c:v>
                </c:pt>
                <c:pt idx="19">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1940984240"/>
        <c:axId val="-1940982608"/>
      </c:lineChart>
      <c:catAx>
        <c:axId val="-1940984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1940982608"/>
        <c:crosses val="autoZero"/>
        <c:auto val="1"/>
        <c:lblAlgn val="ctr"/>
        <c:lblOffset val="100"/>
        <c:noMultiLvlLbl val="0"/>
      </c:catAx>
      <c:valAx>
        <c:axId val="-194098260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940984240"/>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1.25</c:v>
                </c:pt>
                <c:pt idx="7">
                  <c:v>2</c:v>
                </c:pt>
                <c:pt idx="8">
                  <c:v>2</c:v>
                </c:pt>
                <c:pt idx="9">
                  <c:v>2</c:v>
                </c:pt>
                <c:pt idx="10">
                  <c:v>2</c:v>
                </c:pt>
                <c:pt idx="11">
                  <c:v>1</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1832174480"/>
        <c:axId val="-1832163600"/>
      </c:lineChart>
      <c:catAx>
        <c:axId val="-1832174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832163600"/>
        <c:crosses val="autoZero"/>
        <c:auto val="1"/>
        <c:lblAlgn val="ctr"/>
        <c:lblOffset val="100"/>
        <c:noMultiLvlLbl val="0"/>
      </c:catAx>
      <c:valAx>
        <c:axId val="-1832163600"/>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83217448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1832167408"/>
        <c:axId val="-1832163056"/>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4</c:v>
                </c:pt>
                <c:pt idx="7">
                  <c:v>4</c:v>
                </c:pt>
                <c:pt idx="8">
                  <c:v>4</c:v>
                </c:pt>
                <c:pt idx="9">
                  <c:v>4</c:v>
                </c:pt>
                <c:pt idx="10">
                  <c:v>5</c:v>
                </c:pt>
                <c:pt idx="11">
                  <c:v>6</c:v>
                </c:pt>
              </c:numCache>
            </c:numRef>
          </c:val>
          <c:smooth val="0"/>
          <c:extLs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1832167408"/>
        <c:axId val="-1832163056"/>
      </c:lineChart>
      <c:catAx>
        <c:axId val="-1832167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832163056"/>
        <c:crosses val="autoZero"/>
        <c:auto val="1"/>
        <c:lblAlgn val="ctr"/>
        <c:lblOffset val="100"/>
        <c:noMultiLvlLbl val="0"/>
      </c:catAx>
      <c:valAx>
        <c:axId val="-1832163056"/>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832167408"/>
        <c:crosses val="autoZero"/>
        <c:crossBetween val="between"/>
      </c:valAx>
      <c:spPr>
        <a:noFill/>
        <a:ln>
          <a:noFill/>
        </a:ln>
        <a:effectLst/>
      </c:spPr>
    </c:plotArea>
    <c:legend>
      <c:legendPos val="r"/>
      <c:legendEntry>
        <c:idx val="0"/>
        <c:delete val="1"/>
      </c:legendEntry>
      <c:layout>
        <c:manualLayout>
          <c:xMode val="edge"/>
          <c:yMode val="edge"/>
          <c:x val="0.63481189410812311"/>
          <c:y val="0.51480903090419827"/>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Sheet1!$D$8:$BG$8</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Sheet1!$D$9:$BG$9</c:f>
              <c:numCache>
                <c:formatCode>General</c:formatCode>
                <c:ptCount val="16"/>
                <c:pt idx="0">
                  <c:v>24</c:v>
                </c:pt>
                <c:pt idx="1">
                  <c:v>22</c:v>
                </c:pt>
                <c:pt idx="2">
                  <c:v>20</c:v>
                </c:pt>
                <c:pt idx="3">
                  <c:v>20</c:v>
                </c:pt>
                <c:pt idx="4">
                  <c:v>20</c:v>
                </c:pt>
                <c:pt idx="5">
                  <c:v>20</c:v>
                </c:pt>
                <c:pt idx="6">
                  <c:v>22</c:v>
                </c:pt>
                <c:pt idx="7">
                  <c:v>22</c:v>
                </c:pt>
                <c:pt idx="8">
                  <c:v>21</c:v>
                </c:pt>
                <c:pt idx="9">
                  <c:v>21</c:v>
                </c:pt>
                <c:pt idx="10">
                  <c:v>22</c:v>
                </c:pt>
                <c:pt idx="11">
                  <c:v>22</c:v>
                </c:pt>
                <c:pt idx="12">
                  <c:v>22</c:v>
                </c:pt>
                <c:pt idx="13">
                  <c:v>22</c:v>
                </c:pt>
                <c:pt idx="14">
                  <c:v>22</c:v>
                </c:pt>
                <c:pt idx="15">
                  <c:v>22</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Sheet1!$D$10:$BG$10</c:f>
              <c:numCache>
                <c:formatCode>General</c:formatCode>
                <c:ptCount val="16"/>
                <c:pt idx="0">
                  <c:v>2</c:v>
                </c:pt>
                <c:pt idx="1">
                  <c:v>2</c:v>
                </c:pt>
                <c:pt idx="2">
                  <c:v>2</c:v>
                </c:pt>
                <c:pt idx="3">
                  <c:v>2</c:v>
                </c:pt>
                <c:pt idx="4">
                  <c:v>3</c:v>
                </c:pt>
                <c:pt idx="5">
                  <c:v>3</c:v>
                </c:pt>
                <c:pt idx="6">
                  <c:v>3</c:v>
                </c:pt>
                <c:pt idx="7">
                  <c:v>3</c:v>
                </c:pt>
                <c:pt idx="8">
                  <c:v>2</c:v>
                </c:pt>
                <c:pt idx="9">
                  <c:v>2</c:v>
                </c:pt>
                <c:pt idx="10">
                  <c:v>3</c:v>
                </c:pt>
                <c:pt idx="11">
                  <c:v>4</c:v>
                </c:pt>
                <c:pt idx="12">
                  <c:v>4</c:v>
                </c:pt>
                <c:pt idx="13">
                  <c:v>4</c:v>
                </c:pt>
                <c:pt idx="14">
                  <c:v>4</c:v>
                </c:pt>
                <c:pt idx="15">
                  <c:v>4</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Sheet1!$D$11:$BG$11</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Sheet1!$D$12:$BG$12</c:f>
              <c:numCache>
                <c:formatCode>General</c:formatCode>
                <c:ptCount val="16"/>
                <c:pt idx="0">
                  <c:v>0</c:v>
                </c:pt>
                <c:pt idx="1">
                  <c:v>1</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1940978800"/>
        <c:axId val="-1940985872"/>
      </c:lineChart>
      <c:catAx>
        <c:axId val="-19409788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1940985872"/>
        <c:crosses val="autoZero"/>
        <c:auto val="1"/>
        <c:lblAlgn val="ctr"/>
        <c:lblOffset val="100"/>
        <c:tickMarkSkip val="1"/>
        <c:noMultiLvlLbl val="0"/>
      </c:catAx>
      <c:valAx>
        <c:axId val="-194098587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1940978800"/>
        <c:crosses val="autoZero"/>
        <c:crossBetween val="between"/>
      </c:valAx>
      <c:spPr>
        <a:noFill/>
        <a:ln>
          <a:noFill/>
        </a:ln>
        <a:effectLst/>
      </c:spPr>
    </c:plotArea>
    <c:legend>
      <c:legendPos val="b"/>
      <c:layout>
        <c:manualLayout>
          <c:xMode val="edge"/>
          <c:yMode val="edge"/>
          <c:x val="0.64490601981203965"/>
          <c:y val="0.45304720402554688"/>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2</c:v>
                </c:pt>
                <c:pt idx="2">
                  <c:v>1</c:v>
                </c:pt>
                <c:pt idx="3">
                  <c:v>2</c:v>
                </c:pt>
                <c:pt idx="4">
                  <c:v>0</c:v>
                </c:pt>
                <c:pt idx="5" formatCode="0">
                  <c:v>5</c:v>
                </c:pt>
              </c:numCache>
            </c:numRef>
          </c:val>
          <c:extLst>
            <c:ext xmlns:c16="http://schemas.microsoft.com/office/drawing/2014/chart" uri="{C3380CC4-5D6E-409C-BE32-E72D297353CC}">
              <c16:uniqueId val="{00000000-340D-4349-A7F8-0C4B9B4DC34D}"/>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1</c:v>
                </c:pt>
                <c:pt idx="1">
                  <c:v>1</c:v>
                </c:pt>
                <c:pt idx="2">
                  <c:v>0</c:v>
                </c:pt>
                <c:pt idx="3">
                  <c:v>0</c:v>
                </c:pt>
                <c:pt idx="4">
                  <c:v>0</c:v>
                </c:pt>
                <c:pt idx="5" formatCode="0">
                  <c:v>2</c:v>
                </c:pt>
              </c:numCache>
            </c:numRef>
          </c:val>
          <c:extLst>
            <c:ext xmlns:c16="http://schemas.microsoft.com/office/drawing/2014/chart" uri="{C3380CC4-5D6E-409C-BE32-E72D297353CC}">
              <c16:uniqueId val="{00000001-340D-4349-A7F8-0C4B9B4DC34D}"/>
            </c:ext>
          </c:extLst>
        </c:ser>
        <c:dLbls>
          <c:showLegendKey val="0"/>
          <c:showVal val="0"/>
          <c:showCatName val="0"/>
          <c:showSerName val="0"/>
          <c:showPercent val="0"/>
          <c:showBubbleSize val="0"/>
        </c:dLbls>
        <c:gapWidth val="150"/>
        <c:axId val="313883032"/>
        <c:axId val="313886952"/>
      </c:barChart>
      <c:catAx>
        <c:axId val="313883032"/>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3886952"/>
        <c:crosses val="autoZero"/>
        <c:auto val="1"/>
        <c:lblAlgn val="ctr"/>
        <c:lblOffset val="100"/>
        <c:noMultiLvlLbl val="0"/>
      </c:catAx>
      <c:valAx>
        <c:axId val="313886952"/>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3883032"/>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6.3326719576719592E-2</c:v>
                </c:pt>
                <c:pt idx="1">
                  <c:v>7.7730082417582474E-2</c:v>
                </c:pt>
                <c:pt idx="2">
                  <c:v>8.4320615796519532E-2</c:v>
                </c:pt>
                <c:pt idx="3">
                  <c:v>0.15483539094650217</c:v>
                </c:pt>
                <c:pt idx="4">
                  <c:v>0.29091183574879248</c:v>
                </c:pt>
                <c:pt idx="5">
                  <c:v>0.24794337606837633</c:v>
                </c:pt>
                <c:pt idx="6">
                  <c:v>0.1387768817204301</c:v>
                </c:pt>
                <c:pt idx="7">
                  <c:v>0.13917392205638485</c:v>
                </c:pt>
                <c:pt idx="8">
                  <c:v>4.3929110105580753E-2</c:v>
                </c:pt>
              </c:numCache>
            </c:numRef>
          </c:val>
          <c:extLst>
            <c:ext xmlns:c16="http://schemas.microsoft.com/office/drawing/2014/chart" uri="{C3380CC4-5D6E-409C-BE32-E72D297353CC}">
              <c16:uniqueId val="{00000000-93BC-47E8-9DA7-DB5FE7D9825A}"/>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6.3410399728997299E-2</c:v>
                </c:pt>
                <c:pt idx="1">
                  <c:v>7.7003642987249599E-2</c:v>
                </c:pt>
                <c:pt idx="2">
                  <c:v>8.7798897479954285E-2</c:v>
                </c:pt>
                <c:pt idx="3">
                  <c:v>0.13443660394265242</c:v>
                </c:pt>
                <c:pt idx="4">
                  <c:v>0.28742283950617309</c:v>
                </c:pt>
                <c:pt idx="5">
                  <c:v>0.25136316872428005</c:v>
                </c:pt>
                <c:pt idx="6">
                  <c:v>0.12709708470847086</c:v>
                </c:pt>
                <c:pt idx="7">
                  <c:v>0.13722130847953234</c:v>
                </c:pt>
                <c:pt idx="8">
                  <c:v>4.4253472222222257E-2</c:v>
                </c:pt>
              </c:numCache>
            </c:numRef>
          </c:val>
          <c:extLst>
            <c:ext xmlns:c16="http://schemas.microsoft.com/office/drawing/2014/chart" uri="{C3380CC4-5D6E-409C-BE32-E72D297353CC}">
              <c16:uniqueId val="{00000001-93BC-47E8-9DA7-DB5FE7D9825A}"/>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8</c:v>
                </c:pt>
                <c:pt idx="1">
                  <c:v>6.6666666666666661</c:v>
                </c:pt>
                <c:pt idx="2">
                  <c:v>5.9285714285714297</c:v>
                </c:pt>
                <c:pt idx="3">
                  <c:v>2.7032967032967035</c:v>
                </c:pt>
                <c:pt idx="4">
                  <c:v>3.1875</c:v>
                </c:pt>
                <c:pt idx="5">
                  <c:v>7.8928571428571432</c:v>
                </c:pt>
              </c:numCache>
            </c:numRef>
          </c:val>
          <c:extLst>
            <c:ext xmlns:c16="http://schemas.microsoft.com/office/drawing/2014/chart" uri="{C3380CC4-5D6E-409C-BE32-E72D297353CC}">
              <c16:uniqueId val="{00000000-9E62-41C1-88CF-D6A08EC2F979}"/>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7.8095238095238102</c:v>
                </c:pt>
                <c:pt idx="1">
                  <c:v>6.7032967032967035</c:v>
                </c:pt>
                <c:pt idx="2">
                  <c:v>5.5428571428571436</c:v>
                </c:pt>
                <c:pt idx="3">
                  <c:v>2.9450549450549453</c:v>
                </c:pt>
                <c:pt idx="4">
                  <c:v>3.2605042016806727</c:v>
                </c:pt>
                <c:pt idx="5">
                  <c:v>7.1428571428571432</c:v>
                </c:pt>
              </c:numCache>
            </c:numRef>
          </c:val>
          <c:extLst>
            <c:ext xmlns:c16="http://schemas.microsoft.com/office/drawing/2014/chart" uri="{C3380CC4-5D6E-409C-BE32-E72D297353CC}">
              <c16:uniqueId val="{00000001-9E62-41C1-88CF-D6A08EC2F979}"/>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784B-4C8E-94F8-6EC2E8951E48}"/>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784B-4C8E-94F8-6EC2E8951E48}"/>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784B-4C8E-94F8-6EC2E8951E48}"/>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784B-4C8E-94F8-6EC2E8951E48}"/>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784B-4C8E-94F8-6EC2E8951E48}"/>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784B-4C8E-94F8-6EC2E8951E48}"/>
              </c:ext>
            </c:extLst>
          </c:dPt>
          <c:dPt>
            <c:idx val="6"/>
            <c:invertIfNegative val="0"/>
            <c:bubble3D val="0"/>
            <c:spPr>
              <a:solidFill>
                <a:srgbClr val="FFC000"/>
              </a:solidFill>
              <a:ln w="9525" cap="flat" cmpd="sng" algn="ctr">
                <a:solidFill>
                  <a:srgbClr val="0070C0"/>
                </a:solidFill>
                <a:round/>
              </a:ln>
              <a:effectLst/>
            </c:spPr>
            <c:extLst>
              <c:ext xmlns:c16="http://schemas.microsoft.com/office/drawing/2014/chart" uri="{C3380CC4-5D6E-409C-BE32-E72D297353CC}">
                <c16:uniqueId val="{0000000D-784B-4C8E-94F8-6EC2E8951E48}"/>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784B-4C8E-94F8-6EC2E8951E48}"/>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Week!$B$35:$BY$35</c:f>
              <c:numCache>
                <c:formatCode>d\-mmm</c:formatCode>
                <c:ptCount val="76"/>
                <c:pt idx="0">
                  <c:v>45859</c:v>
                </c:pt>
                <c:pt idx="1">
                  <c:v>45860</c:v>
                </c:pt>
                <c:pt idx="2">
                  <c:v>45861</c:v>
                </c:pt>
                <c:pt idx="3">
                  <c:v>45862</c:v>
                </c:pt>
                <c:pt idx="4">
                  <c:v>45863</c:v>
                </c:pt>
                <c:pt idx="5">
                  <c:v>45864</c:v>
                </c:pt>
                <c:pt idx="6">
                  <c:v>45865</c:v>
                </c:pt>
                <c:pt idx="7">
                  <c:v>45866</c:v>
                </c:pt>
                <c:pt idx="8">
                  <c:v>45867</c:v>
                </c:pt>
                <c:pt idx="9">
                  <c:v>45868</c:v>
                </c:pt>
                <c:pt idx="10">
                  <c:v>45869</c:v>
                </c:pt>
                <c:pt idx="11">
                  <c:v>45870</c:v>
                </c:pt>
                <c:pt idx="12">
                  <c:v>45871</c:v>
                </c:pt>
                <c:pt idx="13">
                  <c:v>45872</c:v>
                </c:pt>
                <c:pt idx="14">
                  <c:v>45873</c:v>
                </c:pt>
                <c:pt idx="15">
                  <c:v>45874</c:v>
                </c:pt>
                <c:pt idx="16">
                  <c:v>45875</c:v>
                </c:pt>
                <c:pt idx="17">
                  <c:v>45876</c:v>
                </c:pt>
                <c:pt idx="18">
                  <c:v>45877</c:v>
                </c:pt>
                <c:pt idx="19">
                  <c:v>45878</c:v>
                </c:pt>
                <c:pt idx="20">
                  <c:v>45879</c:v>
                </c:pt>
                <c:pt idx="21">
                  <c:v>45880</c:v>
                </c:pt>
                <c:pt idx="22">
                  <c:v>45881</c:v>
                </c:pt>
                <c:pt idx="23">
                  <c:v>45882</c:v>
                </c:pt>
                <c:pt idx="24">
                  <c:v>45883</c:v>
                </c:pt>
                <c:pt idx="25">
                  <c:v>45884</c:v>
                </c:pt>
                <c:pt idx="26">
                  <c:v>45885</c:v>
                </c:pt>
                <c:pt idx="27">
                  <c:v>45886</c:v>
                </c:pt>
                <c:pt idx="28">
                  <c:v>45887</c:v>
                </c:pt>
                <c:pt idx="29">
                  <c:v>45888</c:v>
                </c:pt>
                <c:pt idx="30">
                  <c:v>45889</c:v>
                </c:pt>
                <c:pt idx="31">
                  <c:v>45890</c:v>
                </c:pt>
                <c:pt idx="32">
                  <c:v>45891</c:v>
                </c:pt>
                <c:pt idx="33">
                  <c:v>45892</c:v>
                </c:pt>
                <c:pt idx="34">
                  <c:v>45893</c:v>
                </c:pt>
                <c:pt idx="35">
                  <c:v>45894</c:v>
                </c:pt>
                <c:pt idx="36">
                  <c:v>45895</c:v>
                </c:pt>
                <c:pt idx="37">
                  <c:v>45896</c:v>
                </c:pt>
                <c:pt idx="38">
                  <c:v>45897</c:v>
                </c:pt>
                <c:pt idx="39">
                  <c:v>45898</c:v>
                </c:pt>
                <c:pt idx="40">
                  <c:v>45899</c:v>
                </c:pt>
                <c:pt idx="41">
                  <c:v>45900</c:v>
                </c:pt>
              </c:numCache>
            </c:numRef>
          </c:cat>
          <c:val>
            <c:numRef>
              <c:f>Week!$B$36:$BY$36</c:f>
              <c:numCache>
                <c:formatCode>General</c:formatCode>
                <c:ptCount val="76"/>
                <c:pt idx="0">
                  <c:v>513</c:v>
                </c:pt>
                <c:pt idx="1">
                  <c:v>490</c:v>
                </c:pt>
                <c:pt idx="2">
                  <c:v>491</c:v>
                </c:pt>
                <c:pt idx="3">
                  <c:v>501</c:v>
                </c:pt>
                <c:pt idx="4">
                  <c:v>511</c:v>
                </c:pt>
                <c:pt idx="5">
                  <c:v>509</c:v>
                </c:pt>
                <c:pt idx="6">
                  <c:v>514</c:v>
                </c:pt>
                <c:pt idx="7">
                  <c:v>499</c:v>
                </c:pt>
                <c:pt idx="8">
                  <c:v>503</c:v>
                </c:pt>
                <c:pt idx="9">
                  <c:v>507</c:v>
                </c:pt>
                <c:pt idx="10">
                  <c:v>506</c:v>
                </c:pt>
                <c:pt idx="11">
                  <c:v>516</c:v>
                </c:pt>
                <c:pt idx="12">
                  <c:v>512</c:v>
                </c:pt>
                <c:pt idx="13">
                  <c:v>525</c:v>
                </c:pt>
                <c:pt idx="14">
                  <c:v>487</c:v>
                </c:pt>
                <c:pt idx="15">
                  <c:v>486</c:v>
                </c:pt>
                <c:pt idx="16">
                  <c:v>489</c:v>
                </c:pt>
                <c:pt idx="17">
                  <c:v>487</c:v>
                </c:pt>
                <c:pt idx="18">
                  <c:v>504</c:v>
                </c:pt>
                <c:pt idx="19">
                  <c:v>494</c:v>
                </c:pt>
                <c:pt idx="20">
                  <c:v>514</c:v>
                </c:pt>
                <c:pt idx="21">
                  <c:v>489</c:v>
                </c:pt>
                <c:pt idx="22">
                  <c:v>478</c:v>
                </c:pt>
                <c:pt idx="23">
                  <c:v>490</c:v>
                </c:pt>
                <c:pt idx="24">
                  <c:v>483</c:v>
                </c:pt>
                <c:pt idx="25">
                  <c:v>506</c:v>
                </c:pt>
                <c:pt idx="26">
                  <c:v>499</c:v>
                </c:pt>
                <c:pt idx="27">
                  <c:v>499</c:v>
                </c:pt>
                <c:pt idx="28">
                  <c:v>447</c:v>
                </c:pt>
                <c:pt idx="29">
                  <c:v>437</c:v>
                </c:pt>
                <c:pt idx="30">
                  <c:v>437</c:v>
                </c:pt>
                <c:pt idx="31">
                  <c:v>444</c:v>
                </c:pt>
                <c:pt idx="32">
                  <c:v>457</c:v>
                </c:pt>
                <c:pt idx="33">
                  <c:v>461</c:v>
                </c:pt>
                <c:pt idx="34">
                  <c:v>465</c:v>
                </c:pt>
                <c:pt idx="35">
                  <c:v>453</c:v>
                </c:pt>
                <c:pt idx="36">
                  <c:v>462</c:v>
                </c:pt>
                <c:pt idx="37">
                  <c:v>458</c:v>
                </c:pt>
                <c:pt idx="38">
                  <c:v>473</c:v>
                </c:pt>
                <c:pt idx="39">
                  <c:v>489</c:v>
                </c:pt>
                <c:pt idx="40">
                  <c:v>502</c:v>
                </c:pt>
                <c:pt idx="41">
                  <c:v>479</c:v>
                </c:pt>
              </c:numCache>
            </c:numRef>
          </c:val>
          <c:extLst>
            <c:ext xmlns:c16="http://schemas.microsoft.com/office/drawing/2014/chart" uri="{C3380CC4-5D6E-409C-BE32-E72D297353CC}">
              <c16:uniqueId val="{00000010-784B-4C8E-94F8-6EC2E8951E48}"/>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50"/>
          <c:min val="40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7/27/2025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748462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1849B01-8F94-9D9B-D094-573F91E2217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37A8B88E-FE4A-6C0F-C3FC-DB630C060D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27430AA-9774-BCB3-30E8-456E33F77C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B9B58AD-6E35-1A34-06C9-7A923DC4DD9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0001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8E98D7D5-8080-14D6-1F34-C155BF6C58CA}"/>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418F8BF1-C024-3DF0-9EE9-F08CE803AE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0AF296F5-895A-D5FF-C9CB-00F88C9BEB3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DE25D54D-F8D8-F892-9695-8AC829EBF11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31325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3821735-317F-7486-1F91-889E48722F7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206C006-E3C5-2093-9621-DE3E0D836B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B010B86-F4CD-F706-DD39-715EF101D09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198EC3D-2BB7-DD90-50D9-FA857632FF5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86749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C2DF52D-8959-E0ED-534D-A3BB90409D7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DC67B397-C3A8-4755-1FD1-E312C5D8B9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00C34B86-5713-03AD-33A1-A41ACBE625B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9648C27-CE56-0DE3-969F-999E51841AA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11148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297B7FF-9485-9003-B4DD-94E0A1CD634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AE5139-9228-406C-E46B-AB920DD563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99B6F9B-E5E2-1B09-3473-2FC1FC24090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D5D0129-35C9-8E7B-8FA6-F4A6CB0113A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997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4702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DBB6745-44D5-651B-4F09-9B810353BD1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FBD03FB4-278D-F304-CAA3-838D62F0D8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C24AD3D-85C8-3FE9-243F-967CF61BC5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119786A6-A3A6-9111-7489-A897AF2DE86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3075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01f5ae314a_0_5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g301f5ae314a_0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5080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13</a:t>
            </a:fld>
            <a:endParaRPr/>
          </a:p>
        </p:txBody>
      </p:sp>
    </p:spTree>
    <p:extLst>
      <p:ext uri="{BB962C8B-B14F-4D97-AF65-F5344CB8AC3E}">
        <p14:creationId xmlns:p14="http://schemas.microsoft.com/office/powerpoint/2010/main" val="2589382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977118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16EF0736-B4D1-1209-1540-F93325373C2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71E17CC-6749-0EA1-8570-285F562FD1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E47C3A5-F3D5-80A2-DB30-507A7B3E36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F393642-B568-028A-2CA4-1DB2EE8361A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6687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D0E5BE6-8FB2-60AE-135A-A75CB382ABC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95D12B7-DFA0-CB8F-994B-FC335F4D1D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59F1DB2-21D1-6208-75C8-72EE00A3C7B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6E3EEB68-6800-E5EA-7B63-D73931B9C95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9369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12743197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18</a:t>
            </a:fld>
            <a:endParaRPr/>
          </a:p>
        </p:txBody>
      </p:sp>
    </p:spTree>
    <p:extLst>
      <p:ext uri="{BB962C8B-B14F-4D97-AF65-F5344CB8AC3E}">
        <p14:creationId xmlns:p14="http://schemas.microsoft.com/office/powerpoint/2010/main" val="1901705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19390159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07ED5419-F250-1981-ABC6-FEBBDBCC252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E901FB2-89E8-85B4-9EA0-987FC2D3F0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D2CF2BB-0C8E-A742-7160-91F58AEEEF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1D6DD79-FEB7-5633-D8D1-04D5FFEAF8B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636135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4182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857766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39738963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1102407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4251519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11870327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85494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42390075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29</a:t>
            </a:fld>
            <a:endParaRPr/>
          </a:p>
        </p:txBody>
      </p:sp>
    </p:spTree>
    <p:extLst>
      <p:ext uri="{BB962C8B-B14F-4D97-AF65-F5344CB8AC3E}">
        <p14:creationId xmlns:p14="http://schemas.microsoft.com/office/powerpoint/2010/main" val="8000810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17838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37</a:t>
            </a:fld>
            <a:endParaRPr/>
          </a:p>
        </p:txBody>
      </p:sp>
    </p:spTree>
    <p:extLst>
      <p:ext uri="{BB962C8B-B14F-4D97-AF65-F5344CB8AC3E}">
        <p14:creationId xmlns:p14="http://schemas.microsoft.com/office/powerpoint/2010/main" val="2403725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647862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39</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48086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40</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6384023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42</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563263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36822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3783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46</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5289026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338094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4944492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845505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47427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4534682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52</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725846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53</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6887142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9434561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9465774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5168674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9274285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9350101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4217805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9596268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929260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7839913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1549338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D2A43B"/>
              </a:solidFill>
              <a:effectLst/>
              <a:uLnTx/>
              <a:uFillTx/>
              <a:latin typeface="Montserrat"/>
              <a:sym typeface="Montserrat"/>
            </a:endParaRPr>
          </a:p>
        </p:txBody>
      </p:sp>
    </p:spTree>
    <p:extLst>
      <p:ext uri="{BB962C8B-B14F-4D97-AF65-F5344CB8AC3E}">
        <p14:creationId xmlns:p14="http://schemas.microsoft.com/office/powerpoint/2010/main" val="1293502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953769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222806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5486054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694226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670636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3137287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40034306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7854911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04557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4677246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494126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7/27/2025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984431308"/>
      </p:ext>
    </p:extLst>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chart" Target="../charts/chart15.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30</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21/07/2025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27</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07</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3632909513"/>
              </p:ext>
            </p:extLst>
          </p:nvPr>
        </p:nvGraphicFramePr>
        <p:xfrm>
          <a:off x="1328670" y="1005678"/>
          <a:ext cx="4691130" cy="280432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295868535"/>
              </p:ext>
            </p:extLst>
          </p:nvPr>
        </p:nvGraphicFramePr>
        <p:xfrm>
          <a:off x="6477000" y="1005678"/>
          <a:ext cx="4724400" cy="28043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2519951765"/>
              </p:ext>
            </p:extLst>
          </p:nvPr>
        </p:nvGraphicFramePr>
        <p:xfrm>
          <a:off x="6477000" y="4120613"/>
          <a:ext cx="4724400" cy="242743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3879178850"/>
              </p:ext>
            </p:extLst>
          </p:nvPr>
        </p:nvGraphicFramePr>
        <p:xfrm>
          <a:off x="1320084" y="4120613"/>
          <a:ext cx="4699716" cy="242743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3709633067"/>
              </p:ext>
            </p:extLst>
          </p:nvPr>
        </p:nvGraphicFramePr>
        <p:xfrm>
          <a:off x="1294350" y="1066800"/>
          <a:ext cx="10002261" cy="25245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17553926"/>
              </p:ext>
            </p:extLst>
          </p:nvPr>
        </p:nvGraphicFramePr>
        <p:xfrm>
          <a:off x="1294350" y="3924301"/>
          <a:ext cx="10002261" cy="25527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lang="en-US" b="1" dirty="0">
                <a:solidFill>
                  <a:srgbClr val="FF0000"/>
                </a:solidFill>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a:extLst>
              <a:ext uri="{FF2B5EF4-FFF2-40B4-BE49-F238E27FC236}">
                <a16:creationId xmlns:a16="http://schemas.microsoft.com/office/drawing/2014/main" id="{EF045C3F-C571-552E-A142-F0F148F2AE40}"/>
              </a:ext>
            </a:extLst>
          </p:cNvPr>
          <p:cNvGraphicFramePr>
            <a:graphicFrameLocks noGrp="1"/>
          </p:cNvGraphicFramePr>
          <p:nvPr>
            <p:extLst>
              <p:ext uri="{D42A27DB-BD31-4B8C-83A1-F6EECF244321}">
                <p14:modId xmlns:p14="http://schemas.microsoft.com/office/powerpoint/2010/main" val="674612047"/>
              </p:ext>
            </p:extLst>
          </p:nvPr>
        </p:nvGraphicFramePr>
        <p:xfrm>
          <a:off x="333918" y="1066800"/>
          <a:ext cx="11477081" cy="5682186"/>
        </p:xfrm>
        <a:graphic>
          <a:graphicData uri="http://schemas.openxmlformats.org/drawingml/2006/table">
            <a:tbl>
              <a:tblPr/>
              <a:tblGrid>
                <a:gridCol w="428082">
                  <a:extLst>
                    <a:ext uri="{9D8B030D-6E8A-4147-A177-3AD203B41FA5}">
                      <a16:colId xmlns:a16="http://schemas.microsoft.com/office/drawing/2014/main" val="2366791199"/>
                    </a:ext>
                  </a:extLst>
                </a:gridCol>
                <a:gridCol w="304800">
                  <a:extLst>
                    <a:ext uri="{9D8B030D-6E8A-4147-A177-3AD203B41FA5}">
                      <a16:colId xmlns:a16="http://schemas.microsoft.com/office/drawing/2014/main" val="380038728"/>
                    </a:ext>
                  </a:extLst>
                </a:gridCol>
                <a:gridCol w="685800">
                  <a:extLst>
                    <a:ext uri="{9D8B030D-6E8A-4147-A177-3AD203B41FA5}">
                      <a16:colId xmlns:a16="http://schemas.microsoft.com/office/drawing/2014/main" val="1816131003"/>
                    </a:ext>
                  </a:extLst>
                </a:gridCol>
                <a:gridCol w="762000">
                  <a:extLst>
                    <a:ext uri="{9D8B030D-6E8A-4147-A177-3AD203B41FA5}">
                      <a16:colId xmlns:a16="http://schemas.microsoft.com/office/drawing/2014/main" val="2452487512"/>
                    </a:ext>
                  </a:extLst>
                </a:gridCol>
                <a:gridCol w="762000">
                  <a:extLst>
                    <a:ext uri="{9D8B030D-6E8A-4147-A177-3AD203B41FA5}">
                      <a16:colId xmlns:a16="http://schemas.microsoft.com/office/drawing/2014/main" val="4125799252"/>
                    </a:ext>
                  </a:extLst>
                </a:gridCol>
                <a:gridCol w="609600">
                  <a:extLst>
                    <a:ext uri="{9D8B030D-6E8A-4147-A177-3AD203B41FA5}">
                      <a16:colId xmlns:a16="http://schemas.microsoft.com/office/drawing/2014/main" val="355767024"/>
                    </a:ext>
                  </a:extLst>
                </a:gridCol>
                <a:gridCol w="1828800">
                  <a:extLst>
                    <a:ext uri="{9D8B030D-6E8A-4147-A177-3AD203B41FA5}">
                      <a16:colId xmlns:a16="http://schemas.microsoft.com/office/drawing/2014/main" val="17026393"/>
                    </a:ext>
                  </a:extLst>
                </a:gridCol>
                <a:gridCol w="1828800">
                  <a:extLst>
                    <a:ext uri="{9D8B030D-6E8A-4147-A177-3AD203B41FA5}">
                      <a16:colId xmlns:a16="http://schemas.microsoft.com/office/drawing/2014/main" val="2734111180"/>
                    </a:ext>
                  </a:extLst>
                </a:gridCol>
                <a:gridCol w="381000">
                  <a:extLst>
                    <a:ext uri="{9D8B030D-6E8A-4147-A177-3AD203B41FA5}">
                      <a16:colId xmlns:a16="http://schemas.microsoft.com/office/drawing/2014/main" val="2067814126"/>
                    </a:ext>
                  </a:extLst>
                </a:gridCol>
                <a:gridCol w="3886199">
                  <a:extLst>
                    <a:ext uri="{9D8B030D-6E8A-4147-A177-3AD203B41FA5}">
                      <a16:colId xmlns:a16="http://schemas.microsoft.com/office/drawing/2014/main" val="3875828855"/>
                    </a:ext>
                  </a:extLst>
                </a:gridCol>
              </a:tblGrid>
              <a:tr h="228600">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DATE</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1"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3381" marR="3381" marT="33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01666051"/>
                  </a:ext>
                </a:extLst>
              </a:tr>
              <a:tr h="1372776">
                <a:tc>
                  <a:txBody>
                    <a:bodyPr/>
                    <a:lstStyle/>
                    <a:p>
                      <a:pPr algn="ctr" fontAlgn="b"/>
                      <a:r>
                        <a:rPr lang="en-US" sz="1200" b="0" i="0" u="none" strike="noStrike" dirty="0">
                          <a:solidFill>
                            <a:srgbClr val="000000"/>
                          </a:solidFill>
                          <a:effectLst/>
                          <a:latin typeface="Times New Roman" panose="02020603050405020304" pitchFamily="18" charset="0"/>
                          <a:cs typeface="Times New Roman" panose="02020603050405020304" pitchFamily="18" charset="0"/>
                        </a:rPr>
                        <a:t>A886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KIX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VN335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KIX-HAN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08:30 26/07/2025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OGTB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TAXI APPEAR MSG ENG#1 STATOR A-ICE </a:t>
                      </a:r>
                      <a:r>
                        <a:rPr lang="en-US" sz="1200" b="0" i="0" u="none" strike="noStrike">
                          <a:solidFill>
                            <a:srgbClr val="000000"/>
                          </a:solidFill>
                          <a:effectLst/>
                          <a:latin typeface="Times New Roman" panose="02020603050405020304" pitchFamily="18" charset="0"/>
                          <a:cs typeface="Times New Roman" panose="02020603050405020304" pitchFamily="18" charset="0"/>
                        </a:rPr>
                        <a:t>VLV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CLOSED.</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TSV A350 SUPPORT CREWS VIA VIBER, C/O RESET AND ERU OK. HOWEVER AFTER CAPT POWER ENG 30-40%, A/C COULD NOT MOVE. CAPT </a:t>
                      </a:r>
                      <a:r>
                        <a:rPr lang="en-US" sz="1200" b="0" i="0" u="none" strike="noStrike">
                          <a:solidFill>
                            <a:srgbClr val="000000"/>
                          </a:solidFill>
                          <a:effectLst/>
                          <a:latin typeface="Times New Roman" panose="02020603050405020304" pitchFamily="18" charset="0"/>
                          <a:cs typeface="Times New Roman" panose="02020603050405020304" pitchFamily="18" charset="0"/>
                        </a:rPr>
                        <a:t>DICIDE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GTB.</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LOCAL </a:t>
                      </a:r>
                      <a:r>
                        <a:rPr lang="en-US" sz="1200" b="0" i="0" u="none" strike="noStrike">
                          <a:solidFill>
                            <a:srgbClr val="000000"/>
                          </a:solidFill>
                          <a:effectLst/>
                          <a:latin typeface="Times New Roman" panose="02020603050405020304" pitchFamily="18" charset="0"/>
                          <a:cs typeface="Times New Roman" panose="02020603050405020304" pitchFamily="18" charset="0"/>
                        </a:rPr>
                        <a:t>TECH CHECK A/C ALL NORMAL. ADD MORE </a:t>
                      </a:r>
                      <a:r>
                        <a:rPr lang="en-US" sz="1200" b="0" i="0" u="none" strike="noStrike" smtClean="0">
                          <a:solidFill>
                            <a:srgbClr val="000000"/>
                          </a:solidFill>
                          <a:effectLst/>
                          <a:latin typeface="Times New Roman" panose="02020603050405020304" pitchFamily="18" charset="0"/>
                          <a:cs typeface="Times New Roman" panose="02020603050405020304" pitchFamily="18" charset="0"/>
                        </a:rPr>
                        <a:t>FUEL</a:t>
                      </a:r>
                      <a:endParaRPr lang="en-US"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Times New Roman" panose="02020603050405020304" pitchFamily="18" charset="0"/>
                          <a:cs typeface="Times New Roman" panose="02020603050405020304" pitchFamily="18" charset="0"/>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200" b="0" i="0" u="none" strike="noStrike" dirty="0">
                          <a:solidFill>
                            <a:srgbClr val="000000"/>
                          </a:solidFill>
                          <a:effectLst/>
                          <a:latin typeface="Times New Roman" panose="02020603050405020304" pitchFamily="18" charset="0"/>
                          <a:cs typeface="Times New Roman" panose="02020603050405020304" pitchFamily="18" charset="0"/>
                        </a:rPr>
                        <a:t>Động cơ A886 có SN 21584, có TSN/CSN = 19070/4283, TSLSV/CSLSV = 287/91.</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VAECO đã hỗ trợ Captain reset động cơ và clear được lỗi. Tuy nhiên sau đó tàu có hiện tượng không di chuyển được dù đã tăng lực đẩy động cơ (mức 30 - 40%), Captain quyết định GTB. Thợ máy sau đí kiểm tra và không phát hiện bất thường, nạp thêm dầu và tiếp tục chuyến bay. Do vị trí đỗ nổ động cơ có dốc, nghi ngờ tàu mất đà nên không di chuyển được, như vậy msg không phải nguyên nhân chính dẫn đến GTB.</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Đánh giá:</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Đây là trường hợp báo giả, message đã clear sau khi reset. Hỏng hóc xảy ra giống với mô tả của TFU 75.11.00.002, với nguyên nhân do lực đẩy thay đổi đột ngột trong quá trình Bite-test hệ thống Engine Stator Section (ESS) Anti-Ice, diễn ra sau khi nổ máy động cơ.</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Để phòng ngừa cảnh báo, FCOM yêu cầu: ENG THRUST LEVER (LAST ENG STARTED): KEEP IDLE FOR 30 SECOND. Nguyên nhân phổ biến nhất đối với hỏng hóc này là do phi công chưa tuân thủ quy trình. Ban KT đã đề nghị VAECO và SQD phối hợp cung cấp SAR và QAR data để gửi NSX xác nhận lại nguyên nhân</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Giải pháp:</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1. NSX đã ban hành phần mềm EEC Software 6.1.1: đã nâng cấp toàn đội bay. Theo thông tin từ Airbus, phần mềm này giúp hạn chế nhưng không ngăn chặn hoàn toàn được vấn đề, cảnh báo vẫn xuất hiện lại nếu phi công thay đổi ga quá đột ngột </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2. EEC Software 16.2 bao gồm chức năng hạn chế báo giả dự kiến ban hành cuối năm 2025. VNA sẽ tiến hành nâng cấp khi phần mềm được ban hành.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3399248"/>
                  </a:ext>
                </a:extLst>
              </a:tr>
            </a:tbl>
          </a:graphicData>
        </a:graphic>
      </p:graphicFrame>
    </p:spTree>
    <p:custDataLst>
      <p:tags r:id="rId1"/>
    </p:custDataLst>
    <p:extLst>
      <p:ext uri="{BB962C8B-B14F-4D97-AF65-F5344CB8AC3E}">
        <p14:creationId xmlns:p14="http://schemas.microsoft.com/office/powerpoint/2010/main" val="1849833308"/>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380213" y="295296"/>
            <a:ext cx="11407695" cy="3969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2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2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5" name="TextBox 4">
            <a:extLst>
              <a:ext uri="{FF2B5EF4-FFF2-40B4-BE49-F238E27FC236}">
                <a16:creationId xmlns:a16="http://schemas.microsoft.com/office/drawing/2014/main" id="{92DF34E4-5EAF-DD7F-DEE2-26E7FBD9CDA2}"/>
              </a:ext>
            </a:extLst>
          </p:cNvPr>
          <p:cNvSpPr txBox="1"/>
          <p:nvPr/>
        </p:nvSpPr>
        <p:spPr>
          <a:xfrm>
            <a:off x="404091" y="2251507"/>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10" name="Table 9"/>
          <p:cNvGraphicFramePr>
            <a:graphicFrameLocks noGrp="1"/>
          </p:cNvGraphicFramePr>
          <p:nvPr>
            <p:extLst>
              <p:ext uri="{D42A27DB-BD31-4B8C-83A1-F6EECF244321}">
                <p14:modId xmlns:p14="http://schemas.microsoft.com/office/powerpoint/2010/main" val="487139660"/>
              </p:ext>
            </p:extLst>
          </p:nvPr>
        </p:nvGraphicFramePr>
        <p:xfrm>
          <a:off x="404091" y="1121945"/>
          <a:ext cx="11383816" cy="699904"/>
        </p:xfrm>
        <a:graphic>
          <a:graphicData uri="http://schemas.openxmlformats.org/drawingml/2006/table">
            <a:tbl>
              <a:tblPr/>
              <a:tblGrid>
                <a:gridCol w="417031">
                  <a:extLst>
                    <a:ext uri="{9D8B030D-6E8A-4147-A177-3AD203B41FA5}">
                      <a16:colId xmlns:a16="http://schemas.microsoft.com/office/drawing/2014/main" val="20000"/>
                    </a:ext>
                  </a:extLst>
                </a:gridCol>
                <a:gridCol w="518471">
                  <a:extLst>
                    <a:ext uri="{9D8B030D-6E8A-4147-A177-3AD203B41FA5}">
                      <a16:colId xmlns:a16="http://schemas.microsoft.com/office/drawing/2014/main" val="20001"/>
                    </a:ext>
                  </a:extLst>
                </a:gridCol>
                <a:gridCol w="371947">
                  <a:extLst>
                    <a:ext uri="{9D8B030D-6E8A-4147-A177-3AD203B41FA5}">
                      <a16:colId xmlns:a16="http://schemas.microsoft.com/office/drawing/2014/main" val="20002"/>
                    </a:ext>
                  </a:extLst>
                </a:gridCol>
                <a:gridCol w="1127111">
                  <a:extLst>
                    <a:ext uri="{9D8B030D-6E8A-4147-A177-3AD203B41FA5}">
                      <a16:colId xmlns:a16="http://schemas.microsoft.com/office/drawing/2014/main" val="20003"/>
                    </a:ext>
                  </a:extLst>
                </a:gridCol>
                <a:gridCol w="383217">
                  <a:extLst>
                    <a:ext uri="{9D8B030D-6E8A-4147-A177-3AD203B41FA5}">
                      <a16:colId xmlns:a16="http://schemas.microsoft.com/office/drawing/2014/main" val="20004"/>
                    </a:ext>
                  </a:extLst>
                </a:gridCol>
                <a:gridCol w="935501">
                  <a:extLst>
                    <a:ext uri="{9D8B030D-6E8A-4147-A177-3AD203B41FA5}">
                      <a16:colId xmlns:a16="http://schemas.microsoft.com/office/drawing/2014/main" val="20005"/>
                    </a:ext>
                  </a:extLst>
                </a:gridCol>
                <a:gridCol w="642453">
                  <a:extLst>
                    <a:ext uri="{9D8B030D-6E8A-4147-A177-3AD203B41FA5}">
                      <a16:colId xmlns:a16="http://schemas.microsoft.com/office/drawing/2014/main" val="20006"/>
                    </a:ext>
                  </a:extLst>
                </a:gridCol>
                <a:gridCol w="755164">
                  <a:extLst>
                    <a:ext uri="{9D8B030D-6E8A-4147-A177-3AD203B41FA5}">
                      <a16:colId xmlns:a16="http://schemas.microsoft.com/office/drawing/2014/main" val="20007"/>
                    </a:ext>
                  </a:extLst>
                </a:gridCol>
                <a:gridCol w="2773903">
                  <a:extLst>
                    <a:ext uri="{9D8B030D-6E8A-4147-A177-3AD203B41FA5}">
                      <a16:colId xmlns:a16="http://schemas.microsoft.com/office/drawing/2014/main" val="20008"/>
                    </a:ext>
                  </a:extLst>
                </a:gridCol>
                <a:gridCol w="3459018">
                  <a:extLst>
                    <a:ext uri="{9D8B030D-6E8A-4147-A177-3AD203B41FA5}">
                      <a16:colId xmlns:a16="http://schemas.microsoft.com/office/drawing/2014/main" val="20009"/>
                    </a:ext>
                  </a:extLst>
                </a:gridCol>
              </a:tblGrid>
              <a:tr h="228143">
                <a:tc>
                  <a:txBody>
                    <a:bodyPr/>
                    <a:lstStyle/>
                    <a:p>
                      <a:pPr algn="ctr" fontAlgn="ctr"/>
                      <a:r>
                        <a:rPr lang="en-US" sz="1000" b="1" i="0" u="none" strike="noStrike" dirty="0">
                          <a:solidFill>
                            <a:srgbClr val="000000"/>
                          </a:solidFill>
                          <a:effectLst/>
                          <a:latin typeface="Times New Roman" panose="02020603050405020304" pitchFamily="18" charset="0"/>
                        </a:rPr>
                        <a:t>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FLEET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A/C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DATE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STA</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MINUTES</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FLIGHT 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ROUTINE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DESC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dirty="0">
                          <a:solidFill>
                            <a:srgbClr val="000000"/>
                          </a:solidFill>
                          <a:effectLst/>
                          <a:latin typeface="Times New Roman" panose="02020603050405020304" pitchFamily="18" charset="0"/>
                        </a:rPr>
                        <a:t>DELAY ACTION</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388857">
                <a:tc>
                  <a:txBody>
                    <a:bodyPr/>
                    <a:lstStyle/>
                    <a:p>
                      <a:pPr algn="ctr" fontAlgn="ctr"/>
                      <a:r>
                        <a:rPr lang="en-US" sz="10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A622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23/7/25 06:30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VN7231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AFTER BOARDING, CAPT REPORTED: PARKING BRAKE CONTROL VALVE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PARKING BRAKE CTRL VLV RPLD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910836614"/>
              </p:ext>
            </p:extLst>
          </p:nvPr>
        </p:nvGraphicFramePr>
        <p:xfrm>
          <a:off x="404091" y="2694959"/>
          <a:ext cx="11383817" cy="2649554"/>
        </p:xfrm>
        <a:graphic>
          <a:graphicData uri="http://schemas.openxmlformats.org/drawingml/2006/table">
            <a:tbl>
              <a:tblPr/>
              <a:tblGrid>
                <a:gridCol w="249099">
                  <a:extLst>
                    <a:ext uri="{9D8B030D-6E8A-4147-A177-3AD203B41FA5}">
                      <a16:colId xmlns:a16="http://schemas.microsoft.com/office/drawing/2014/main" val="1307524450"/>
                    </a:ext>
                  </a:extLst>
                </a:gridCol>
                <a:gridCol w="473288">
                  <a:extLst>
                    <a:ext uri="{9D8B030D-6E8A-4147-A177-3AD203B41FA5}">
                      <a16:colId xmlns:a16="http://schemas.microsoft.com/office/drawing/2014/main" val="4088859418"/>
                    </a:ext>
                  </a:extLst>
                </a:gridCol>
                <a:gridCol w="448378">
                  <a:extLst>
                    <a:ext uri="{9D8B030D-6E8A-4147-A177-3AD203B41FA5}">
                      <a16:colId xmlns:a16="http://schemas.microsoft.com/office/drawing/2014/main" val="1749740493"/>
                    </a:ext>
                  </a:extLst>
                </a:gridCol>
                <a:gridCol w="1208129">
                  <a:extLst>
                    <a:ext uri="{9D8B030D-6E8A-4147-A177-3AD203B41FA5}">
                      <a16:colId xmlns:a16="http://schemas.microsoft.com/office/drawing/2014/main" val="1542231867"/>
                    </a:ext>
                  </a:extLst>
                </a:gridCol>
                <a:gridCol w="448378">
                  <a:extLst>
                    <a:ext uri="{9D8B030D-6E8A-4147-A177-3AD203B41FA5}">
                      <a16:colId xmlns:a16="http://schemas.microsoft.com/office/drawing/2014/main" val="2662129742"/>
                    </a:ext>
                  </a:extLst>
                </a:gridCol>
                <a:gridCol w="734842">
                  <a:extLst>
                    <a:ext uri="{9D8B030D-6E8A-4147-A177-3AD203B41FA5}">
                      <a16:colId xmlns:a16="http://schemas.microsoft.com/office/drawing/2014/main" val="2222610826"/>
                    </a:ext>
                  </a:extLst>
                </a:gridCol>
                <a:gridCol w="809571">
                  <a:extLst>
                    <a:ext uri="{9D8B030D-6E8A-4147-A177-3AD203B41FA5}">
                      <a16:colId xmlns:a16="http://schemas.microsoft.com/office/drawing/2014/main" val="3172529667"/>
                    </a:ext>
                  </a:extLst>
                </a:gridCol>
                <a:gridCol w="703235">
                  <a:extLst>
                    <a:ext uri="{9D8B030D-6E8A-4147-A177-3AD203B41FA5}">
                      <a16:colId xmlns:a16="http://schemas.microsoft.com/office/drawing/2014/main" val="1499666745"/>
                    </a:ext>
                  </a:extLst>
                </a:gridCol>
                <a:gridCol w="2819400">
                  <a:extLst>
                    <a:ext uri="{9D8B030D-6E8A-4147-A177-3AD203B41FA5}">
                      <a16:colId xmlns:a16="http://schemas.microsoft.com/office/drawing/2014/main" val="254540477"/>
                    </a:ext>
                  </a:extLst>
                </a:gridCol>
                <a:gridCol w="3489497">
                  <a:extLst>
                    <a:ext uri="{9D8B030D-6E8A-4147-A177-3AD203B41FA5}">
                      <a16:colId xmlns:a16="http://schemas.microsoft.com/office/drawing/2014/main" val="2271363113"/>
                    </a:ext>
                  </a:extLst>
                </a:gridCol>
              </a:tblGrid>
              <a:tr h="304726">
                <a:tc>
                  <a:txBody>
                    <a:bodyPr/>
                    <a:lstStyle/>
                    <a:p>
                      <a:pPr algn="l" fontAlgn="t"/>
                      <a:r>
                        <a:rPr lang="en-US" sz="105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A/C</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STA</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830022682"/>
                  </a:ext>
                </a:extLst>
              </a:tr>
              <a:tr h="47510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25/07/2025 18:12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VN607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SGN-BKK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T/X CHECK FOUND M/W #3 INNER SHOWER CORD EXPOSED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C/O REPLACED MW #3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0282906"/>
                  </a:ext>
                </a:extLst>
              </a:tr>
              <a:tr h="421393">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25/07/2025 14:29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VN931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HAN-LPQ</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VN1236/VN931 PQC-HAN-LPQ (TRANSIT): FOUND M/W #4 INNER SHOWER CORD EXPOSED, REMAINING SHOULDER GROOVE DEPTH IS 0.8 MM.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C/O REPLACED M/W #4 -&gt;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819986"/>
                  </a:ext>
                </a:extLst>
              </a:tr>
              <a:tr h="475106">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3</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A393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21/07/2025 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VN1278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SGN-THD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TRANSIT CHECK FOUND MW #1 CENTER WORN TO 0 MM.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MW #1 REPLACED. CHECK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7873544"/>
                  </a:ext>
                </a:extLst>
              </a:tr>
              <a:tr h="631354">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4</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A862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21/07/2025 16:28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VN7069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HAN-CXR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VN56/VN7069 LHR-HAN-CXR (TRANSIT): FOUND M/W #6 HAS A FOREIGN OBJECT IN 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C/O REPLACED M/W #6  -&gt;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135121"/>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1AD57216-81AD-066B-1D9E-E0596E6D349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5DE47B-E104-F047-DF06-09D7663C3F5C}"/>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9B2BE76-CD13-92E2-7476-83EAF3143B32}"/>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1C8A335D-94DE-936B-5240-000D28556205}"/>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15</a:t>
            </a:r>
          </a:p>
        </p:txBody>
      </p:sp>
      <p:sp>
        <p:nvSpPr>
          <p:cNvPr id="9" name="TextBox 8">
            <a:extLst>
              <a:ext uri="{FF2B5EF4-FFF2-40B4-BE49-F238E27FC236}">
                <a16:creationId xmlns:a16="http://schemas.microsoft.com/office/drawing/2014/main" id="{6405E8BF-B88F-518A-E76C-815B80998D18}"/>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15 (6 non tech)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00</a:t>
            </a:r>
          </a:p>
        </p:txBody>
      </p:sp>
      <p:graphicFrame>
        <p:nvGraphicFramePr>
          <p:cNvPr id="4" name="Table 3">
            <a:extLst>
              <a:ext uri="{FF2B5EF4-FFF2-40B4-BE49-F238E27FC236}">
                <a16:creationId xmlns:a16="http://schemas.microsoft.com/office/drawing/2014/main" id="{C8C9B999-EB52-735A-8AAF-365F0E37AD43}"/>
              </a:ext>
            </a:extLst>
          </p:cNvPr>
          <p:cNvGraphicFramePr>
            <a:graphicFrameLocks noGrp="1"/>
          </p:cNvGraphicFramePr>
          <p:nvPr>
            <p:extLst>
              <p:ext uri="{D42A27DB-BD31-4B8C-83A1-F6EECF244321}">
                <p14:modId xmlns:p14="http://schemas.microsoft.com/office/powerpoint/2010/main" val="2260569311"/>
              </p:ext>
            </p:extLst>
          </p:nvPr>
        </p:nvGraphicFramePr>
        <p:xfrm>
          <a:off x="135773" y="1656567"/>
          <a:ext cx="11705341" cy="4779545"/>
        </p:xfrm>
        <a:graphic>
          <a:graphicData uri="http://schemas.openxmlformats.org/drawingml/2006/table">
            <a:tbl>
              <a:tblPr/>
              <a:tblGrid>
                <a:gridCol w="339537">
                  <a:extLst>
                    <a:ext uri="{9D8B030D-6E8A-4147-A177-3AD203B41FA5}">
                      <a16:colId xmlns:a16="http://schemas.microsoft.com/office/drawing/2014/main" val="2284300101"/>
                    </a:ext>
                  </a:extLst>
                </a:gridCol>
                <a:gridCol w="554370">
                  <a:extLst>
                    <a:ext uri="{9D8B030D-6E8A-4147-A177-3AD203B41FA5}">
                      <a16:colId xmlns:a16="http://schemas.microsoft.com/office/drawing/2014/main" val="3376405456"/>
                    </a:ext>
                  </a:extLst>
                </a:gridCol>
                <a:gridCol w="360030">
                  <a:extLst>
                    <a:ext uri="{9D8B030D-6E8A-4147-A177-3AD203B41FA5}">
                      <a16:colId xmlns:a16="http://schemas.microsoft.com/office/drawing/2014/main" val="2653704242"/>
                    </a:ext>
                  </a:extLst>
                </a:gridCol>
                <a:gridCol w="491597">
                  <a:extLst>
                    <a:ext uri="{9D8B030D-6E8A-4147-A177-3AD203B41FA5}">
                      <a16:colId xmlns:a16="http://schemas.microsoft.com/office/drawing/2014/main" val="3369821226"/>
                    </a:ext>
                  </a:extLst>
                </a:gridCol>
                <a:gridCol w="465072">
                  <a:extLst>
                    <a:ext uri="{9D8B030D-6E8A-4147-A177-3AD203B41FA5}">
                      <a16:colId xmlns:a16="http://schemas.microsoft.com/office/drawing/2014/main" val="775914175"/>
                    </a:ext>
                  </a:extLst>
                </a:gridCol>
                <a:gridCol w="380514">
                  <a:extLst>
                    <a:ext uri="{9D8B030D-6E8A-4147-A177-3AD203B41FA5}">
                      <a16:colId xmlns:a16="http://schemas.microsoft.com/office/drawing/2014/main" val="1357391052"/>
                    </a:ext>
                  </a:extLst>
                </a:gridCol>
                <a:gridCol w="2585081">
                  <a:extLst>
                    <a:ext uri="{9D8B030D-6E8A-4147-A177-3AD203B41FA5}">
                      <a16:colId xmlns:a16="http://schemas.microsoft.com/office/drawing/2014/main" val="1399571794"/>
                    </a:ext>
                  </a:extLst>
                </a:gridCol>
                <a:gridCol w="3158871">
                  <a:extLst>
                    <a:ext uri="{9D8B030D-6E8A-4147-A177-3AD203B41FA5}">
                      <a16:colId xmlns:a16="http://schemas.microsoft.com/office/drawing/2014/main" val="386609919"/>
                    </a:ext>
                  </a:extLst>
                </a:gridCol>
                <a:gridCol w="520755">
                  <a:extLst>
                    <a:ext uri="{9D8B030D-6E8A-4147-A177-3AD203B41FA5}">
                      <a16:colId xmlns:a16="http://schemas.microsoft.com/office/drawing/2014/main" val="1685409337"/>
                    </a:ext>
                  </a:extLst>
                </a:gridCol>
                <a:gridCol w="2849514">
                  <a:extLst>
                    <a:ext uri="{9D8B030D-6E8A-4147-A177-3AD203B41FA5}">
                      <a16:colId xmlns:a16="http://schemas.microsoft.com/office/drawing/2014/main" val="2020567769"/>
                    </a:ext>
                  </a:extLst>
                </a:gridCol>
              </a:tblGrid>
              <a:tr h="547362">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736212">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15:35 26/07/2025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BMV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VN1910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BMV-DAD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AFTER START ENG FOUND ENG 1 FADEC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RESET ENG 1 FADEC SATIS. A/C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73-22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Động cơ V15963 có TSN/CSN = 30504/21383; TSO/CSO = 4036/2963. Các thông số động cơ trên ADEM không có gì bất thường. Hỏng hóc được khắc phục sau khi reset FADEC.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1958923">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10:00 26/07/2025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VN641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SGN-DPS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BLUE HYD SERVICE PANEL DAMAGED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REMOVED BLUE HYD SERVICE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PANEL.</a:t>
                      </a:r>
                      <a:r>
                        <a:rPr lang="en-US" sz="1100" b="0" i="0" u="none" strike="noStrike" baseline="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APPLIED </a:t>
                      </a:r>
                      <a:r>
                        <a:rPr lang="en-US" sz="1100" b="0" i="0" u="none" strike="noStrike">
                          <a:solidFill>
                            <a:srgbClr val="000000"/>
                          </a:solidFill>
                          <a:effectLst/>
                          <a:latin typeface="Times New Roman" panose="02020603050405020304" pitchFamily="18" charset="0"/>
                          <a:cs typeface="Times New Roman" panose="02020603050405020304" pitchFamily="18" charset="0"/>
                        </a:rPr>
                        <a:t>HST, C/O RAISED ADD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52-21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Hiện đã có EO kiểm tra các cửa service panel tần suất hàng năm. AIB cũng đưa ra SB nâng cấp để khắc phục hiện tượng rơi panel nhưng chi phí cao 13.400 USD nên đánh giá hiện tại chưa cần thực hiện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1425535">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05:30 26/07/2025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VN1201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HAN-VCA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T/X </a:t>
                      </a:r>
                      <a:r>
                        <a:rPr lang="en-US" sz="1100" b="0" i="0" u="none" strike="noStrike">
                          <a:solidFill>
                            <a:srgbClr val="000000"/>
                          </a:solidFill>
                          <a:effectLst/>
                          <a:latin typeface="Times New Roman" panose="02020603050405020304" pitchFamily="18" charset="0"/>
                          <a:cs typeface="Times New Roman" panose="02020603050405020304" pitchFamily="18" charset="0"/>
                        </a:rPr>
                        <a:t>Capt report BRAKES ALTN BRK FAULT BRAKES N/WS MINOR FAULT&lt;/p&gt;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Replaced </a:t>
                      </a:r>
                      <a:r>
                        <a:rPr lang="en-US" sz="1100" b="0" i="0" u="none" strike="noStrike">
                          <a:solidFill>
                            <a:srgbClr val="000000"/>
                          </a:solidFill>
                          <a:effectLst/>
                          <a:latin typeface="Times New Roman" panose="02020603050405020304" pitchFamily="18" charset="0"/>
                          <a:cs typeface="Times New Roman" panose="02020603050405020304" pitchFamily="18" charset="0"/>
                        </a:rPr>
                        <a:t>transducer 101GG, REF AMM: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32-44-19-00/400, </a:t>
                      </a:r>
                      <a:r>
                        <a:rPr lang="en-US" sz="1100" b="0" i="0" u="none" strike="noStrike">
                          <a:solidFill>
                            <a:srgbClr val="000000"/>
                          </a:solidFill>
                          <a:effectLst/>
                          <a:latin typeface="Times New Roman" panose="02020603050405020304" pitchFamily="18" charset="0"/>
                          <a:cs typeface="Times New Roman" panose="02020603050405020304" pitchFamily="18" charset="0"/>
                        </a:rPr>
                        <a:t>test all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32-43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transducer 101GG đã được nhận diện tuy nhiên hiện tại chưa có biện pháp khắc phục do hoạt động trong môi trường nhiệt độ cao, rung lắc mạnh. AIB cũng chưa có giải pháp nâng cấp.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bl>
          </a:graphicData>
        </a:graphic>
      </p:graphicFrame>
    </p:spTree>
    <p:extLst>
      <p:ext uri="{BB962C8B-B14F-4D97-AF65-F5344CB8AC3E}">
        <p14:creationId xmlns:p14="http://schemas.microsoft.com/office/powerpoint/2010/main" val="2528999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A84CAD81-BF9D-A36F-45A9-ACF8A013EA8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264FAD8-8963-12C9-AA01-976F247BC22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A3AD3DF5-F10E-4F5F-A15E-A7A1D3BE931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7761B1D1-8EEF-DF3B-7845-AD5E9F33A87C}"/>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15</a:t>
            </a:r>
          </a:p>
        </p:txBody>
      </p:sp>
      <p:sp>
        <p:nvSpPr>
          <p:cNvPr id="9" name="TextBox 8">
            <a:extLst>
              <a:ext uri="{FF2B5EF4-FFF2-40B4-BE49-F238E27FC236}">
                <a16:creationId xmlns:a16="http://schemas.microsoft.com/office/drawing/2014/main" id="{EF8A3B99-446A-572D-2ABB-5F1A1E4F87E4}"/>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15	 (6 non tech)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00</a:t>
            </a:r>
          </a:p>
        </p:txBody>
      </p:sp>
      <p:graphicFrame>
        <p:nvGraphicFramePr>
          <p:cNvPr id="4" name="Table 3">
            <a:extLst>
              <a:ext uri="{FF2B5EF4-FFF2-40B4-BE49-F238E27FC236}">
                <a16:creationId xmlns:a16="http://schemas.microsoft.com/office/drawing/2014/main" id="{B68A3FAC-3F97-9EE5-2D74-C2C7ADD5CA99}"/>
              </a:ext>
            </a:extLst>
          </p:cNvPr>
          <p:cNvGraphicFramePr>
            <a:graphicFrameLocks noGrp="1"/>
          </p:cNvGraphicFramePr>
          <p:nvPr>
            <p:extLst>
              <p:ext uri="{D42A27DB-BD31-4B8C-83A1-F6EECF244321}">
                <p14:modId xmlns:p14="http://schemas.microsoft.com/office/powerpoint/2010/main" val="286470592"/>
              </p:ext>
            </p:extLst>
          </p:nvPr>
        </p:nvGraphicFramePr>
        <p:xfrm>
          <a:off x="117663" y="1521021"/>
          <a:ext cx="11705341" cy="5085080"/>
        </p:xfrm>
        <a:graphic>
          <a:graphicData uri="http://schemas.openxmlformats.org/drawingml/2006/table">
            <a:tbl>
              <a:tblPr/>
              <a:tblGrid>
                <a:gridCol w="339537">
                  <a:extLst>
                    <a:ext uri="{9D8B030D-6E8A-4147-A177-3AD203B41FA5}">
                      <a16:colId xmlns:a16="http://schemas.microsoft.com/office/drawing/2014/main" val="2284300101"/>
                    </a:ext>
                  </a:extLst>
                </a:gridCol>
                <a:gridCol w="554370">
                  <a:extLst>
                    <a:ext uri="{9D8B030D-6E8A-4147-A177-3AD203B41FA5}">
                      <a16:colId xmlns:a16="http://schemas.microsoft.com/office/drawing/2014/main" val="3376405456"/>
                    </a:ext>
                  </a:extLst>
                </a:gridCol>
                <a:gridCol w="360030">
                  <a:extLst>
                    <a:ext uri="{9D8B030D-6E8A-4147-A177-3AD203B41FA5}">
                      <a16:colId xmlns:a16="http://schemas.microsoft.com/office/drawing/2014/main" val="2653704242"/>
                    </a:ext>
                  </a:extLst>
                </a:gridCol>
                <a:gridCol w="491597">
                  <a:extLst>
                    <a:ext uri="{9D8B030D-6E8A-4147-A177-3AD203B41FA5}">
                      <a16:colId xmlns:a16="http://schemas.microsoft.com/office/drawing/2014/main" val="3369821226"/>
                    </a:ext>
                  </a:extLst>
                </a:gridCol>
                <a:gridCol w="465072">
                  <a:extLst>
                    <a:ext uri="{9D8B030D-6E8A-4147-A177-3AD203B41FA5}">
                      <a16:colId xmlns:a16="http://schemas.microsoft.com/office/drawing/2014/main" val="775914175"/>
                    </a:ext>
                  </a:extLst>
                </a:gridCol>
                <a:gridCol w="380514">
                  <a:extLst>
                    <a:ext uri="{9D8B030D-6E8A-4147-A177-3AD203B41FA5}">
                      <a16:colId xmlns:a16="http://schemas.microsoft.com/office/drawing/2014/main" val="1357391052"/>
                    </a:ext>
                  </a:extLst>
                </a:gridCol>
                <a:gridCol w="2585081">
                  <a:extLst>
                    <a:ext uri="{9D8B030D-6E8A-4147-A177-3AD203B41FA5}">
                      <a16:colId xmlns:a16="http://schemas.microsoft.com/office/drawing/2014/main" val="1399571794"/>
                    </a:ext>
                  </a:extLst>
                </a:gridCol>
                <a:gridCol w="3158871">
                  <a:extLst>
                    <a:ext uri="{9D8B030D-6E8A-4147-A177-3AD203B41FA5}">
                      <a16:colId xmlns:a16="http://schemas.microsoft.com/office/drawing/2014/main" val="386609919"/>
                    </a:ext>
                  </a:extLst>
                </a:gridCol>
                <a:gridCol w="235556">
                  <a:extLst>
                    <a:ext uri="{9D8B030D-6E8A-4147-A177-3AD203B41FA5}">
                      <a16:colId xmlns:a16="http://schemas.microsoft.com/office/drawing/2014/main" val="1685409337"/>
                    </a:ext>
                  </a:extLst>
                </a:gridCol>
                <a:gridCol w="3134713">
                  <a:extLst>
                    <a:ext uri="{9D8B030D-6E8A-4147-A177-3AD203B41FA5}">
                      <a16:colId xmlns:a16="http://schemas.microsoft.com/office/drawing/2014/main" val="2020567769"/>
                    </a:ext>
                  </a:extLst>
                </a:gridCol>
              </a:tblGrid>
              <a:tr h="656746">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2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1173746">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18:12 25/07/2025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VN607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SGN-BKK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T/X CHECK FOUND M/W #3 INNER SHOWER CORD EXPOSED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REPLACED MW #3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Không tính delay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1080029">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14:29 25/07/2025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VN931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HAN-LPQ</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a:solidFill>
                            <a:srgbClr val="000000"/>
                          </a:solidFill>
                          <a:effectLst/>
                          <a:latin typeface="Times New Roman" panose="02020603050405020304" pitchFamily="18" charset="0"/>
                          <a:cs typeface="Times New Roman" panose="02020603050405020304" pitchFamily="18" charset="0"/>
                        </a:rPr>
                        <a:t>VN1236/VN931 PQC-HAN-LPQ (TRANSIT): FOUND M/W #4 INNER SHOWER CORD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EXPOSED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REPLACED M/W #4 -&gt;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Không tính delay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2097072">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11:30 23/07/2025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VN631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SGN-CGK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BLADE 11TH OF ENG 2 BE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BENDED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CHECK </a:t>
                      </a:r>
                      <a:r>
                        <a:rPr lang="en-US" sz="1100" b="0" i="0" u="none" strike="noStrike">
                          <a:solidFill>
                            <a:srgbClr val="000000"/>
                          </a:solidFill>
                          <a:effectLst/>
                          <a:latin typeface="Times New Roman" panose="02020603050405020304" pitchFamily="18" charset="0"/>
                          <a:cs typeface="Times New Roman" panose="02020603050405020304" pitchFamily="18" charset="0"/>
                        </a:rPr>
                        <a:t>FOUND DAMAGE WITHIN LIMIT, RAISED ADD DO THE TAP TEST IN 10 FC. A/C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SERVICEABLE</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71-00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V16402 có TSN/CSN = 33537.60/19447; TSO/CSO = 11469.03/8009. Động cơ đi shop gần nhất năm 2021. Vết móp của Fan Blade là vết cũ đã được shop phát hiện và đánh giá trong giới hạn. Tình trạng động cơ không có gì bất thường.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bl>
          </a:graphicData>
        </a:graphic>
      </p:graphicFrame>
    </p:spTree>
    <p:extLst>
      <p:ext uri="{BB962C8B-B14F-4D97-AF65-F5344CB8AC3E}">
        <p14:creationId xmlns:p14="http://schemas.microsoft.com/office/powerpoint/2010/main" val="1570130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7180AAA-DB59-6E1B-1DBD-C9E21CA19F1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8F3B1F9D-597A-4434-9865-4659C3BE8EC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475CDC5F-5ECC-CC81-1B1D-2B6ABD930BB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E7089080-AF5C-6B89-82C3-9FF4F300BA7C}"/>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15</a:t>
            </a:r>
          </a:p>
        </p:txBody>
      </p:sp>
      <p:sp>
        <p:nvSpPr>
          <p:cNvPr id="9" name="TextBox 8">
            <a:extLst>
              <a:ext uri="{FF2B5EF4-FFF2-40B4-BE49-F238E27FC236}">
                <a16:creationId xmlns:a16="http://schemas.microsoft.com/office/drawing/2014/main" id="{45DA8BE1-4D69-BFA1-56FF-7A5ECA04C750}"/>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15	 (6 non tech)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00</a:t>
            </a:r>
          </a:p>
        </p:txBody>
      </p:sp>
      <p:graphicFrame>
        <p:nvGraphicFramePr>
          <p:cNvPr id="4" name="Table 3">
            <a:extLst>
              <a:ext uri="{FF2B5EF4-FFF2-40B4-BE49-F238E27FC236}">
                <a16:creationId xmlns:a16="http://schemas.microsoft.com/office/drawing/2014/main" id="{61494941-067F-3C93-282D-201A9BF6C26C}"/>
              </a:ext>
            </a:extLst>
          </p:cNvPr>
          <p:cNvGraphicFramePr>
            <a:graphicFrameLocks noGrp="1"/>
          </p:cNvGraphicFramePr>
          <p:nvPr>
            <p:extLst>
              <p:ext uri="{D42A27DB-BD31-4B8C-83A1-F6EECF244321}">
                <p14:modId xmlns:p14="http://schemas.microsoft.com/office/powerpoint/2010/main" val="1348334008"/>
              </p:ext>
            </p:extLst>
          </p:nvPr>
        </p:nvGraphicFramePr>
        <p:xfrm>
          <a:off x="117663" y="1521021"/>
          <a:ext cx="11705341" cy="5312114"/>
        </p:xfrm>
        <a:graphic>
          <a:graphicData uri="http://schemas.openxmlformats.org/drawingml/2006/table">
            <a:tbl>
              <a:tblPr/>
              <a:tblGrid>
                <a:gridCol w="339537">
                  <a:extLst>
                    <a:ext uri="{9D8B030D-6E8A-4147-A177-3AD203B41FA5}">
                      <a16:colId xmlns:a16="http://schemas.microsoft.com/office/drawing/2014/main" val="2284300101"/>
                    </a:ext>
                  </a:extLst>
                </a:gridCol>
                <a:gridCol w="554370">
                  <a:extLst>
                    <a:ext uri="{9D8B030D-6E8A-4147-A177-3AD203B41FA5}">
                      <a16:colId xmlns:a16="http://schemas.microsoft.com/office/drawing/2014/main" val="3376405456"/>
                    </a:ext>
                  </a:extLst>
                </a:gridCol>
                <a:gridCol w="360030">
                  <a:extLst>
                    <a:ext uri="{9D8B030D-6E8A-4147-A177-3AD203B41FA5}">
                      <a16:colId xmlns:a16="http://schemas.microsoft.com/office/drawing/2014/main" val="2653704242"/>
                    </a:ext>
                  </a:extLst>
                </a:gridCol>
                <a:gridCol w="491597">
                  <a:extLst>
                    <a:ext uri="{9D8B030D-6E8A-4147-A177-3AD203B41FA5}">
                      <a16:colId xmlns:a16="http://schemas.microsoft.com/office/drawing/2014/main" val="3369821226"/>
                    </a:ext>
                  </a:extLst>
                </a:gridCol>
                <a:gridCol w="465072">
                  <a:extLst>
                    <a:ext uri="{9D8B030D-6E8A-4147-A177-3AD203B41FA5}">
                      <a16:colId xmlns:a16="http://schemas.microsoft.com/office/drawing/2014/main" val="775914175"/>
                    </a:ext>
                  </a:extLst>
                </a:gridCol>
                <a:gridCol w="380514">
                  <a:extLst>
                    <a:ext uri="{9D8B030D-6E8A-4147-A177-3AD203B41FA5}">
                      <a16:colId xmlns:a16="http://schemas.microsoft.com/office/drawing/2014/main" val="1357391052"/>
                    </a:ext>
                  </a:extLst>
                </a:gridCol>
                <a:gridCol w="2585081">
                  <a:extLst>
                    <a:ext uri="{9D8B030D-6E8A-4147-A177-3AD203B41FA5}">
                      <a16:colId xmlns:a16="http://schemas.microsoft.com/office/drawing/2014/main" val="1399571794"/>
                    </a:ext>
                  </a:extLst>
                </a:gridCol>
                <a:gridCol w="3158871">
                  <a:extLst>
                    <a:ext uri="{9D8B030D-6E8A-4147-A177-3AD203B41FA5}">
                      <a16:colId xmlns:a16="http://schemas.microsoft.com/office/drawing/2014/main" val="386609919"/>
                    </a:ext>
                  </a:extLst>
                </a:gridCol>
                <a:gridCol w="235556">
                  <a:extLst>
                    <a:ext uri="{9D8B030D-6E8A-4147-A177-3AD203B41FA5}">
                      <a16:colId xmlns:a16="http://schemas.microsoft.com/office/drawing/2014/main" val="1685409337"/>
                    </a:ext>
                  </a:extLst>
                </a:gridCol>
                <a:gridCol w="3134713">
                  <a:extLst>
                    <a:ext uri="{9D8B030D-6E8A-4147-A177-3AD203B41FA5}">
                      <a16:colId xmlns:a16="http://schemas.microsoft.com/office/drawing/2014/main" val="2020567769"/>
                    </a:ext>
                  </a:extLst>
                </a:gridCol>
              </a:tblGrid>
              <a:tr h="73297">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1254527">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00:02 23/07/2025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VN7087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CAPT WIPER STUCK AT MIDDLE POS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REF </a:t>
                      </a:r>
                      <a:r>
                        <a:rPr lang="en-US" sz="1100" b="0" i="0" u="none" strike="noStrike">
                          <a:solidFill>
                            <a:srgbClr val="000000"/>
                          </a:solidFill>
                          <a:effectLst/>
                          <a:latin typeface="Times New Roman" panose="02020603050405020304" pitchFamily="18" charset="0"/>
                          <a:cs typeface="Times New Roman" panose="02020603050405020304" pitchFamily="18" charset="0"/>
                        </a:rPr>
                        <a:t>AMM 30-45-52-04 (REV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MAY2025), </a:t>
                      </a:r>
                      <a:r>
                        <a:rPr lang="en-US" sz="1100" b="0" i="0" u="none" strike="noStrike">
                          <a:solidFill>
                            <a:srgbClr val="000000"/>
                          </a:solidFill>
                          <a:effectLst/>
                          <a:latin typeface="Times New Roman" panose="02020603050405020304" pitchFamily="18" charset="0"/>
                          <a:cs typeface="Times New Roman" panose="02020603050405020304" pitchFamily="18" charset="0"/>
                        </a:rPr>
                        <a:t>C/O ADJUST CAPT WIPER ARM NOT OBSTURST  WINDSHIELD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Không tính delay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1207457">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22:30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PNH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VN922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PNH-HAN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HST OF  BLUE PANEL HYD ACCESS DOOR DAMAGE.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CRS </a:t>
                      </a:r>
                      <a:r>
                        <a:rPr lang="en-US" sz="1100" b="0" i="0" u="none" strike="noStrike">
                          <a:solidFill>
                            <a:srgbClr val="000000"/>
                          </a:solidFill>
                          <a:effectLst/>
                          <a:latin typeface="Times New Roman" panose="02020603050405020304" pitchFamily="18" charset="0"/>
                          <a:cs typeface="Times New Roman" panose="02020603050405020304" pitchFamily="18" charset="0"/>
                        </a:rPr>
                        <a:t>OF K6 C/O RE-APPLIED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HST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Non tech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2344497">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20:00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VN1278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SGN-THD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TRANSIT CHECK FOUND MW #1 CENTER WORN TO 0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MM</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MW </a:t>
                      </a:r>
                      <a:r>
                        <a:rPr lang="en-US" sz="1100" b="0" i="0" u="none" strike="noStrike">
                          <a:solidFill>
                            <a:srgbClr val="000000"/>
                          </a:solidFill>
                          <a:effectLst/>
                          <a:latin typeface="Times New Roman" panose="02020603050405020304" pitchFamily="18" charset="0"/>
                          <a:cs typeface="Times New Roman" panose="02020603050405020304" pitchFamily="18" charset="0"/>
                        </a:rPr>
                        <a:t>#1 REPLACED. CHECK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a:t>
                      </a: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tính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delay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bl>
          </a:graphicData>
        </a:graphic>
      </p:graphicFrame>
    </p:spTree>
    <p:extLst>
      <p:ext uri="{BB962C8B-B14F-4D97-AF65-F5344CB8AC3E}">
        <p14:creationId xmlns:p14="http://schemas.microsoft.com/office/powerpoint/2010/main" val="809707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4B04B6D-C0DF-33E9-33F7-1943154DEC1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52AACF6-C1B5-20C7-8BA1-3AF103069616}"/>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3E6351F-93BE-7A2F-1BA7-92372701A57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F37600D0-14C2-ABE1-AB67-FB62C7571CDC}"/>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15</a:t>
            </a:r>
          </a:p>
        </p:txBody>
      </p:sp>
      <p:sp>
        <p:nvSpPr>
          <p:cNvPr id="9" name="TextBox 8">
            <a:extLst>
              <a:ext uri="{FF2B5EF4-FFF2-40B4-BE49-F238E27FC236}">
                <a16:creationId xmlns:a16="http://schemas.microsoft.com/office/drawing/2014/main" id="{D79F32CE-C8E5-E455-F7E4-7EC452F62EE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15	 (6 non tech)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00</a:t>
            </a:r>
          </a:p>
        </p:txBody>
      </p:sp>
      <p:graphicFrame>
        <p:nvGraphicFramePr>
          <p:cNvPr id="4" name="Table 3">
            <a:extLst>
              <a:ext uri="{FF2B5EF4-FFF2-40B4-BE49-F238E27FC236}">
                <a16:creationId xmlns:a16="http://schemas.microsoft.com/office/drawing/2014/main" id="{82B34795-3F43-78B6-A20D-0E6C6C8964F6}"/>
              </a:ext>
            </a:extLst>
          </p:cNvPr>
          <p:cNvGraphicFramePr>
            <a:graphicFrameLocks noGrp="1"/>
          </p:cNvGraphicFramePr>
          <p:nvPr>
            <p:extLst>
              <p:ext uri="{D42A27DB-BD31-4B8C-83A1-F6EECF244321}">
                <p14:modId xmlns:p14="http://schemas.microsoft.com/office/powerpoint/2010/main" val="508146502"/>
              </p:ext>
            </p:extLst>
          </p:nvPr>
        </p:nvGraphicFramePr>
        <p:xfrm>
          <a:off x="117663" y="1521021"/>
          <a:ext cx="11705341" cy="5038075"/>
        </p:xfrm>
        <a:graphic>
          <a:graphicData uri="http://schemas.openxmlformats.org/drawingml/2006/table">
            <a:tbl>
              <a:tblPr/>
              <a:tblGrid>
                <a:gridCol w="339537">
                  <a:extLst>
                    <a:ext uri="{9D8B030D-6E8A-4147-A177-3AD203B41FA5}">
                      <a16:colId xmlns:a16="http://schemas.microsoft.com/office/drawing/2014/main" val="2284300101"/>
                    </a:ext>
                  </a:extLst>
                </a:gridCol>
                <a:gridCol w="554370">
                  <a:extLst>
                    <a:ext uri="{9D8B030D-6E8A-4147-A177-3AD203B41FA5}">
                      <a16:colId xmlns:a16="http://schemas.microsoft.com/office/drawing/2014/main" val="3376405456"/>
                    </a:ext>
                  </a:extLst>
                </a:gridCol>
                <a:gridCol w="360030">
                  <a:extLst>
                    <a:ext uri="{9D8B030D-6E8A-4147-A177-3AD203B41FA5}">
                      <a16:colId xmlns:a16="http://schemas.microsoft.com/office/drawing/2014/main" val="2653704242"/>
                    </a:ext>
                  </a:extLst>
                </a:gridCol>
                <a:gridCol w="491597">
                  <a:extLst>
                    <a:ext uri="{9D8B030D-6E8A-4147-A177-3AD203B41FA5}">
                      <a16:colId xmlns:a16="http://schemas.microsoft.com/office/drawing/2014/main" val="3369821226"/>
                    </a:ext>
                  </a:extLst>
                </a:gridCol>
                <a:gridCol w="465072">
                  <a:extLst>
                    <a:ext uri="{9D8B030D-6E8A-4147-A177-3AD203B41FA5}">
                      <a16:colId xmlns:a16="http://schemas.microsoft.com/office/drawing/2014/main" val="775914175"/>
                    </a:ext>
                  </a:extLst>
                </a:gridCol>
                <a:gridCol w="380514">
                  <a:extLst>
                    <a:ext uri="{9D8B030D-6E8A-4147-A177-3AD203B41FA5}">
                      <a16:colId xmlns:a16="http://schemas.microsoft.com/office/drawing/2014/main" val="1357391052"/>
                    </a:ext>
                  </a:extLst>
                </a:gridCol>
                <a:gridCol w="2585081">
                  <a:extLst>
                    <a:ext uri="{9D8B030D-6E8A-4147-A177-3AD203B41FA5}">
                      <a16:colId xmlns:a16="http://schemas.microsoft.com/office/drawing/2014/main" val="1399571794"/>
                    </a:ext>
                  </a:extLst>
                </a:gridCol>
                <a:gridCol w="3158871">
                  <a:extLst>
                    <a:ext uri="{9D8B030D-6E8A-4147-A177-3AD203B41FA5}">
                      <a16:colId xmlns:a16="http://schemas.microsoft.com/office/drawing/2014/main" val="386609919"/>
                    </a:ext>
                  </a:extLst>
                </a:gridCol>
                <a:gridCol w="235556">
                  <a:extLst>
                    <a:ext uri="{9D8B030D-6E8A-4147-A177-3AD203B41FA5}">
                      <a16:colId xmlns:a16="http://schemas.microsoft.com/office/drawing/2014/main" val="1685409337"/>
                    </a:ext>
                  </a:extLst>
                </a:gridCol>
                <a:gridCol w="3134713">
                  <a:extLst>
                    <a:ext uri="{9D8B030D-6E8A-4147-A177-3AD203B41FA5}">
                      <a16:colId xmlns:a16="http://schemas.microsoft.com/office/drawing/2014/main" val="2020567769"/>
                    </a:ext>
                  </a:extLst>
                </a:gridCol>
              </a:tblGrid>
              <a:tr h="71472">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1478546">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14:50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a:solidFill>
                            <a:srgbClr val="000000"/>
                          </a:solidFill>
                          <a:effectLst/>
                          <a:latin typeface="Times New Roman" panose="02020603050405020304" pitchFamily="18" charset="0"/>
                          <a:cs typeface="Times New Roman" panose="02020603050405020304" pitchFamily="18" charset="0"/>
                        </a:rPr>
                        <a:t>T/X CHK , FOUND &amp;#160;HINGE OF LH LANDING LT BROKEN</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RPLD NEW LH LADING LIGHT,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CHK</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Landing light PN 727-1213-03. Hỏng hóc được khắc phục sau khi thay part. PN 727-1213-03 đã là part mới nhất tu nhiên vẫn chưa nâng cao được ĐTC. Hỏng hóc chủ yếu của part thường liên quan đến bộ phận bản lề khiến đèn bị kẹt ở vị trí mở/đóng.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1830612">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11:14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HAN-UIH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VN1540/VN7621 </a:t>
                      </a:r>
                      <a:r>
                        <a:rPr lang="en-US" sz="1100" b="0" i="0" u="none" strike="noStrike">
                          <a:solidFill>
                            <a:srgbClr val="000000"/>
                          </a:solidFill>
                          <a:effectLst/>
                          <a:latin typeface="Times New Roman" panose="02020603050405020304" pitchFamily="18" charset="0"/>
                          <a:cs typeface="Times New Roman" panose="02020603050405020304" pitchFamily="18" charset="0"/>
                        </a:rPr>
                        <a:t>HUI-HAN-UIH (TRANSIT): APPEAR MSG “Y RESERVOIR LOW LEVEL</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a:solidFill>
                            <a:srgbClr val="000000"/>
                          </a:solidFill>
                          <a:effectLst/>
                          <a:latin typeface="Times New Roman" panose="02020603050405020304" pitchFamily="18" charset="0"/>
                          <a:cs typeface="Times New Roman" panose="02020603050405020304" pitchFamily="18" charset="0"/>
                        </a:rPr>
                        <a:t>ENG 2 PUMP FAULT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a:solidFill>
                            <a:srgbClr val="000000"/>
                          </a:solidFill>
                          <a:effectLst/>
                          <a:latin typeface="Times New Roman" panose="02020603050405020304" pitchFamily="18" charset="0"/>
                          <a:cs typeface="Times New Roman" panose="02020603050405020304" pitchFamily="18" charset="0"/>
                        </a:rPr>
                        <a:t>ELEC PUMP FAULT IF PUSH</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TSM 29-13-00-810-801-A, CONFIRMED FALSE ECAM ALERT, RAISE ADD B2762 FOR HYD Y RSVR LO LVL FALSE ALERT AND  03 CONSEQUENCE ADD B2703,2704,2705 FOR PB FAULT LIGHT OF Y ELEC PUMP/ENG2 PUMP,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PTU</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Hỏng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hóc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low level switch. Sau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thế</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thì</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còn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các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cảnh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bảo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Hiện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AIB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có</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topic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nào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ĐTC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của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thiết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bị</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này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Tiếp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tục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theo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dõi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thêm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122328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09:43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VN112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DAD-SGN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FOUND MSG : ENG #2 FAIL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RESET FWC 1 AND 2. AFTER RESET, MSG IS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CLEARED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31-53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1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FWC PN 350E053022323, hỏng hóc được khắc phục sau khi thực hiện reset. PN 350E053022323 đang là part mới nhất, được nâng cấp để giảm các cảnh báo giả. Hiện không có thông tin về ISI, TFU liên quan đến vấn đề ĐTC của part này. Theo dõi thêm.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bl>
          </a:graphicData>
        </a:graphic>
      </p:graphicFrame>
    </p:spTree>
    <p:extLst>
      <p:ext uri="{BB962C8B-B14F-4D97-AF65-F5344CB8AC3E}">
        <p14:creationId xmlns:p14="http://schemas.microsoft.com/office/powerpoint/2010/main" val="3623639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7343A715-E860-5DBC-D74A-DB94EE124BF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0A382C9-35A1-0AC5-3312-68B54A6080C2}"/>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4FC13C3C-7043-8C0A-CC6B-DEB07104CD2C}"/>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492B68F5-5F83-2C49-6FF9-7EEBC0F76B6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15</a:t>
            </a:r>
          </a:p>
        </p:txBody>
      </p:sp>
      <p:sp>
        <p:nvSpPr>
          <p:cNvPr id="9" name="TextBox 8">
            <a:extLst>
              <a:ext uri="{FF2B5EF4-FFF2-40B4-BE49-F238E27FC236}">
                <a16:creationId xmlns:a16="http://schemas.microsoft.com/office/drawing/2014/main" id="{0FC2511A-34C2-1B08-9947-3C336CE5455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15	 (6 non tech)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00</a:t>
            </a:r>
          </a:p>
        </p:txBody>
      </p:sp>
      <p:graphicFrame>
        <p:nvGraphicFramePr>
          <p:cNvPr id="4" name="Table 3">
            <a:extLst>
              <a:ext uri="{FF2B5EF4-FFF2-40B4-BE49-F238E27FC236}">
                <a16:creationId xmlns:a16="http://schemas.microsoft.com/office/drawing/2014/main" id="{76A48A69-9B6E-2242-F38B-5D5B5B1E6BE7}"/>
              </a:ext>
            </a:extLst>
          </p:cNvPr>
          <p:cNvGraphicFramePr>
            <a:graphicFrameLocks noGrp="1"/>
          </p:cNvGraphicFramePr>
          <p:nvPr>
            <p:extLst>
              <p:ext uri="{D42A27DB-BD31-4B8C-83A1-F6EECF244321}">
                <p14:modId xmlns:p14="http://schemas.microsoft.com/office/powerpoint/2010/main" val="2585526734"/>
              </p:ext>
            </p:extLst>
          </p:nvPr>
        </p:nvGraphicFramePr>
        <p:xfrm>
          <a:off x="117663" y="1521021"/>
          <a:ext cx="11705341" cy="5036263"/>
        </p:xfrm>
        <a:graphic>
          <a:graphicData uri="http://schemas.openxmlformats.org/drawingml/2006/table">
            <a:tbl>
              <a:tblPr/>
              <a:tblGrid>
                <a:gridCol w="339537">
                  <a:extLst>
                    <a:ext uri="{9D8B030D-6E8A-4147-A177-3AD203B41FA5}">
                      <a16:colId xmlns:a16="http://schemas.microsoft.com/office/drawing/2014/main" val="2284300101"/>
                    </a:ext>
                  </a:extLst>
                </a:gridCol>
                <a:gridCol w="554370">
                  <a:extLst>
                    <a:ext uri="{9D8B030D-6E8A-4147-A177-3AD203B41FA5}">
                      <a16:colId xmlns:a16="http://schemas.microsoft.com/office/drawing/2014/main" val="3376405456"/>
                    </a:ext>
                  </a:extLst>
                </a:gridCol>
                <a:gridCol w="360030">
                  <a:extLst>
                    <a:ext uri="{9D8B030D-6E8A-4147-A177-3AD203B41FA5}">
                      <a16:colId xmlns:a16="http://schemas.microsoft.com/office/drawing/2014/main" val="2653704242"/>
                    </a:ext>
                  </a:extLst>
                </a:gridCol>
                <a:gridCol w="491597">
                  <a:extLst>
                    <a:ext uri="{9D8B030D-6E8A-4147-A177-3AD203B41FA5}">
                      <a16:colId xmlns:a16="http://schemas.microsoft.com/office/drawing/2014/main" val="3369821226"/>
                    </a:ext>
                  </a:extLst>
                </a:gridCol>
                <a:gridCol w="465072">
                  <a:extLst>
                    <a:ext uri="{9D8B030D-6E8A-4147-A177-3AD203B41FA5}">
                      <a16:colId xmlns:a16="http://schemas.microsoft.com/office/drawing/2014/main" val="775914175"/>
                    </a:ext>
                  </a:extLst>
                </a:gridCol>
                <a:gridCol w="380514">
                  <a:extLst>
                    <a:ext uri="{9D8B030D-6E8A-4147-A177-3AD203B41FA5}">
                      <a16:colId xmlns:a16="http://schemas.microsoft.com/office/drawing/2014/main" val="1357391052"/>
                    </a:ext>
                  </a:extLst>
                </a:gridCol>
                <a:gridCol w="2585081">
                  <a:extLst>
                    <a:ext uri="{9D8B030D-6E8A-4147-A177-3AD203B41FA5}">
                      <a16:colId xmlns:a16="http://schemas.microsoft.com/office/drawing/2014/main" val="1399571794"/>
                    </a:ext>
                  </a:extLst>
                </a:gridCol>
                <a:gridCol w="3158871">
                  <a:extLst>
                    <a:ext uri="{9D8B030D-6E8A-4147-A177-3AD203B41FA5}">
                      <a16:colId xmlns:a16="http://schemas.microsoft.com/office/drawing/2014/main" val="386609919"/>
                    </a:ext>
                  </a:extLst>
                </a:gridCol>
                <a:gridCol w="235556">
                  <a:extLst>
                    <a:ext uri="{9D8B030D-6E8A-4147-A177-3AD203B41FA5}">
                      <a16:colId xmlns:a16="http://schemas.microsoft.com/office/drawing/2014/main" val="1685409337"/>
                    </a:ext>
                  </a:extLst>
                </a:gridCol>
                <a:gridCol w="3134713">
                  <a:extLst>
                    <a:ext uri="{9D8B030D-6E8A-4147-A177-3AD203B41FA5}">
                      <a16:colId xmlns:a16="http://schemas.microsoft.com/office/drawing/2014/main" val="2020567769"/>
                    </a:ext>
                  </a:extLst>
                </a:gridCol>
              </a:tblGrid>
              <a:tr h="231579">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1830612">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16:40 26/07/2025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VN570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SGN-TPE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TCAS TA/RA KNOB ON TCAS CONTROL UNIT IS MISSING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vi-VN" sz="1100" b="0" i="0" u="none" strike="noStrike">
                          <a:solidFill>
                            <a:srgbClr val="000000"/>
                          </a:solidFill>
                          <a:effectLst/>
                          <a:latin typeface="Times New Roman" panose="02020603050405020304" pitchFamily="18" charset="0"/>
                          <a:cs typeface="Times New Roman" panose="02020603050405020304" pitchFamily="18" charset="0"/>
                        </a:rPr>
                        <a:t>REPLACED TCAS CONTROL UNIT SATIS. A/C SERVICEABLE&lt;/p&gt; TCAS TA/RA KNOB ON TCAS CONTROL UNIT IS MISSING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34-52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nút vặn CONTROL UNIT-ATC,TCAS PN C12404AB02. Hỏng hóc được khắc phục sau khi thay part do không tìm được nút. Part có ĐTC tốt MTBUR/GMTBUR: 20,781/12000. Hiện không có TFU, ISI về ĐTC nút vặn của part, Thales cũng không ghi nhận hiện tượng này trên thế giới. Hỏng hóc có thể xảy ra do thao tác người dùng,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147673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A622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07:55 23/07/2025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VN7231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PARKING BRAKE CONTROL VALVE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RPL PARKING BRAKE CONTROL VALVE 102GG, OPS AND FUNCT TEST FOUND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Hỏng hóc liên quan đến PBCV đã được nhận diện, nguyên nhân chủ yếu là do 1 hoặc 2 motor bên trong bị hỏng làm áp suất thuỷ lực apply lên phanh bị chậm. Hiện AIB đang nghiêm cứu giải pháp nâng cấp. Tiếp tục theo dõi thêm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1223284">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A325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04:00 23/07/2025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MNL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VN646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MNL-HAN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CAPT INFORM "REPORT 15 SHOW VRTA IS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1.77</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CHECK </a:t>
                      </a:r>
                      <a:r>
                        <a:rPr lang="en-US" sz="1100" b="0" i="0" u="none" strike="noStrike">
                          <a:solidFill>
                            <a:srgbClr val="000000"/>
                          </a:solidFill>
                          <a:effectLst/>
                          <a:latin typeface="Times New Roman" panose="02020603050405020304" pitchFamily="18" charset="0"/>
                          <a:cs typeface="Times New Roman" panose="02020603050405020304" pitchFamily="18" charset="0"/>
                        </a:rPr>
                        <a:t>ALL VALUES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INLIMIT</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Non tech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bl>
          </a:graphicData>
        </a:graphic>
      </p:graphicFrame>
    </p:spTree>
    <p:extLst>
      <p:ext uri="{BB962C8B-B14F-4D97-AF65-F5344CB8AC3E}">
        <p14:creationId xmlns:p14="http://schemas.microsoft.com/office/powerpoint/2010/main" val="1185809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990600" y="152400"/>
            <a:ext cx="10481849"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pic>
        <p:nvPicPr>
          <p:cNvPr id="6" name="Picture 5">
            <a:extLst>
              <a:ext uri="{FF2B5EF4-FFF2-40B4-BE49-F238E27FC236}">
                <a16:creationId xmlns:a16="http://schemas.microsoft.com/office/drawing/2014/main" id="{080C0838-9051-64A0-0A76-F05871117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3561" y="1066800"/>
            <a:ext cx="4627692" cy="2971800"/>
          </a:xfrm>
          <a:prstGeom prst="rect">
            <a:avLst/>
          </a:prstGeom>
        </p:spPr>
      </p:pic>
      <p:sp>
        <p:nvSpPr>
          <p:cNvPr id="4" name="Rectangle 3">
            <a:extLst>
              <a:ext uri="{FF2B5EF4-FFF2-40B4-BE49-F238E27FC236}">
                <a16:creationId xmlns:a16="http://schemas.microsoft.com/office/drawing/2014/main" id="{F9BC0898-399F-EB51-D932-4907C5E9DAD2}"/>
              </a:ext>
            </a:extLst>
          </p:cNvPr>
          <p:cNvSpPr/>
          <p:nvPr/>
        </p:nvSpPr>
        <p:spPr>
          <a:xfrm>
            <a:off x="609600" y="984542"/>
            <a:ext cx="5867400" cy="2831544"/>
          </a:xfrm>
          <a:prstGeom prst="rect">
            <a:avLst/>
          </a:prstGeom>
        </p:spPr>
        <p:txBody>
          <a:bodyPr wrap="square">
            <a:spAutoFit/>
          </a:bodyPr>
          <a:lstStyle/>
          <a:p>
            <a:pPr algn="just">
              <a:buClrTx/>
              <a:buFontTx/>
              <a:buNone/>
            </a:pPr>
            <a:r>
              <a:rPr lang="en-US" sz="1600" b="1" dirty="0">
                <a:solidFill>
                  <a:prstClr val="black"/>
                </a:solidFill>
                <a:latin typeface="Times New Roman" panose="02020603050405020304" pitchFamily="18" charset="0"/>
                <a:cs typeface="Times New Roman" panose="02020603050405020304" pitchFamily="18" charset="0"/>
              </a:rPr>
              <a:t>A321: </a:t>
            </a:r>
          </a:p>
          <a:p>
            <a:pPr algn="just"/>
            <a:r>
              <a:rPr lang="en-US">
                <a:latin typeface="Times New Roman" panose="02020603050405020304" pitchFamily="18" charset="0"/>
                <a:cs typeface="Times New Roman" panose="02020603050405020304" pitchFamily="18" charset="0"/>
              </a:rPr>
              <a:t>Tình trạng kỹ thuật đội bay A321 trong tuần có phát sinh một trường hợp A618 phải thay động cơ ngoài kế hoạch hiện đã khắc phục xong</a:t>
            </a:r>
          </a:p>
          <a:p>
            <a:pPr marL="285750"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Ngoài ra trong tuần cũng xuất hiện 02 trường hợp liên quan đến hingle của panel 197FB (Blue Hydraulic Access Door) bỉ hỏng dẫn đến phải tháo hẳn panel và dán HST (A396, A397). Hỏng hóc đã có chương trình kiểm tra hàng năm tuy nhiên cần khắc phục sớm tránh AOG/Delay khi bay đến các sân bay quốc tế do HST có rủi ro bị </a:t>
            </a:r>
            <a:r>
              <a:rPr lang="en-US" smtClean="0">
                <a:latin typeface="Times New Roman" panose="02020603050405020304" pitchFamily="18" charset="0"/>
                <a:cs typeface="Times New Roman" panose="02020603050405020304" pitchFamily="18" charset="0"/>
              </a:rPr>
              <a:t>bung.</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15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781B61D-6BE9-4DF7-A2B8-D1187903C81A}"/>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A5F70F2-0599-4D29-0646-FC1134E217B0}"/>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873DC72-16F1-E226-9FA5-C0C970BA04A6}"/>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A350</a:t>
            </a:r>
          </a:p>
        </p:txBody>
      </p:sp>
      <p:sp>
        <p:nvSpPr>
          <p:cNvPr id="4" name="TextBox 3">
            <a:extLst>
              <a:ext uri="{FF2B5EF4-FFF2-40B4-BE49-F238E27FC236}">
                <a16:creationId xmlns:a16="http://schemas.microsoft.com/office/drawing/2014/main" id="{786AEEC8-8E48-B08A-E5ED-540FFDEE7644}"/>
              </a:ext>
            </a:extLst>
          </p:cNvPr>
          <p:cNvSpPr txBox="1"/>
          <p:nvPr/>
        </p:nvSpPr>
        <p:spPr>
          <a:xfrm>
            <a:off x="165098"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98F09E07-0161-2EFF-55BC-827D68473881}"/>
              </a:ext>
            </a:extLst>
          </p:cNvPr>
          <p:cNvSpPr txBox="1"/>
          <p:nvPr/>
        </p:nvSpPr>
        <p:spPr>
          <a:xfrm>
            <a:off x="165098" y="730561"/>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non tech)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5" name="Table 4">
            <a:extLst>
              <a:ext uri="{FF2B5EF4-FFF2-40B4-BE49-F238E27FC236}">
                <a16:creationId xmlns:a16="http://schemas.microsoft.com/office/drawing/2014/main" id="{763C26AC-F441-7537-19DA-CA12FC8EC7A9}"/>
              </a:ext>
            </a:extLst>
          </p:cNvPr>
          <p:cNvGraphicFramePr>
            <a:graphicFrameLocks noGrp="1"/>
          </p:cNvGraphicFramePr>
          <p:nvPr>
            <p:extLst>
              <p:ext uri="{D42A27DB-BD31-4B8C-83A1-F6EECF244321}">
                <p14:modId xmlns:p14="http://schemas.microsoft.com/office/powerpoint/2010/main" val="548071418"/>
              </p:ext>
            </p:extLst>
          </p:nvPr>
        </p:nvGraphicFramePr>
        <p:xfrm>
          <a:off x="134289" y="1447801"/>
          <a:ext cx="11625213" cy="4715683"/>
        </p:xfrm>
        <a:graphic>
          <a:graphicData uri="http://schemas.openxmlformats.org/drawingml/2006/table">
            <a:tbl>
              <a:tblPr/>
              <a:tblGrid>
                <a:gridCol w="322911">
                  <a:extLst>
                    <a:ext uri="{9D8B030D-6E8A-4147-A177-3AD203B41FA5}">
                      <a16:colId xmlns:a16="http://schemas.microsoft.com/office/drawing/2014/main" val="2739692636"/>
                    </a:ext>
                  </a:extLst>
                </a:gridCol>
                <a:gridCol w="564877">
                  <a:extLst>
                    <a:ext uri="{9D8B030D-6E8A-4147-A177-3AD203B41FA5}">
                      <a16:colId xmlns:a16="http://schemas.microsoft.com/office/drawing/2014/main" val="3341851503"/>
                    </a:ext>
                  </a:extLst>
                </a:gridCol>
                <a:gridCol w="227945">
                  <a:extLst>
                    <a:ext uri="{9D8B030D-6E8A-4147-A177-3AD203B41FA5}">
                      <a16:colId xmlns:a16="http://schemas.microsoft.com/office/drawing/2014/main" val="1317429446"/>
                    </a:ext>
                  </a:extLst>
                </a:gridCol>
                <a:gridCol w="617853">
                  <a:extLst>
                    <a:ext uri="{9D8B030D-6E8A-4147-A177-3AD203B41FA5}">
                      <a16:colId xmlns:a16="http://schemas.microsoft.com/office/drawing/2014/main" val="3735092681"/>
                    </a:ext>
                  </a:extLst>
                </a:gridCol>
                <a:gridCol w="461888">
                  <a:extLst>
                    <a:ext uri="{9D8B030D-6E8A-4147-A177-3AD203B41FA5}">
                      <a16:colId xmlns:a16="http://schemas.microsoft.com/office/drawing/2014/main" val="58077959"/>
                    </a:ext>
                  </a:extLst>
                </a:gridCol>
                <a:gridCol w="377909">
                  <a:extLst>
                    <a:ext uri="{9D8B030D-6E8A-4147-A177-3AD203B41FA5}">
                      <a16:colId xmlns:a16="http://schemas.microsoft.com/office/drawing/2014/main" val="2308665628"/>
                    </a:ext>
                  </a:extLst>
                </a:gridCol>
                <a:gridCol w="1864328">
                  <a:extLst>
                    <a:ext uri="{9D8B030D-6E8A-4147-A177-3AD203B41FA5}">
                      <a16:colId xmlns:a16="http://schemas.microsoft.com/office/drawing/2014/main" val="3614108611"/>
                    </a:ext>
                  </a:extLst>
                </a:gridCol>
                <a:gridCol w="1676400">
                  <a:extLst>
                    <a:ext uri="{9D8B030D-6E8A-4147-A177-3AD203B41FA5}">
                      <a16:colId xmlns:a16="http://schemas.microsoft.com/office/drawing/2014/main" val="1197103076"/>
                    </a:ext>
                  </a:extLst>
                </a:gridCol>
                <a:gridCol w="533400">
                  <a:extLst>
                    <a:ext uri="{9D8B030D-6E8A-4147-A177-3AD203B41FA5}">
                      <a16:colId xmlns:a16="http://schemas.microsoft.com/office/drawing/2014/main" val="134315133"/>
                    </a:ext>
                  </a:extLst>
                </a:gridCol>
                <a:gridCol w="4977702">
                  <a:extLst>
                    <a:ext uri="{9D8B030D-6E8A-4147-A177-3AD203B41FA5}">
                      <a16:colId xmlns:a16="http://schemas.microsoft.com/office/drawing/2014/main" val="931530744"/>
                    </a:ext>
                  </a:extLst>
                </a:gridCol>
              </a:tblGrid>
              <a:tr h="85256">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24271864"/>
                  </a:ext>
                </a:extLst>
              </a:tr>
              <a:tr h="3456766">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08:30 26/07/2025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KIX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KIX-HAN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TAXI APPEAR MSG ENG#1 STATOR A-ICE VLV </a:t>
                      </a:r>
                      <a:r>
                        <a:rPr lang="en-US" sz="1100" b="0" i="0" u="none" strike="noStrike">
                          <a:solidFill>
                            <a:srgbClr val="000000"/>
                          </a:solidFill>
                          <a:effectLst/>
                          <a:latin typeface="Times New Roman" panose="02020603050405020304" pitchFamily="18" charset="0"/>
                          <a:cs typeface="Times New Roman" panose="02020603050405020304" pitchFamily="18" charset="0"/>
                        </a:rPr>
                        <a:t>CLOSED</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TSV A350 SUPPORT CREWS VIA VIBER, C/O RESET AND ERU OK. HOWEVER AFTER CAPT POWER ENG 30-40%, A/C COULD NOT MOVE. CAPT DICIDE </a:t>
                      </a:r>
                      <a:r>
                        <a:rPr lang="en-US" sz="1100" b="0" i="0" u="none" strike="noStrike">
                          <a:solidFill>
                            <a:srgbClr val="000000"/>
                          </a:solidFill>
                          <a:effectLst/>
                          <a:latin typeface="Times New Roman" panose="02020603050405020304" pitchFamily="18" charset="0"/>
                          <a:cs typeface="Times New Roman" panose="02020603050405020304" pitchFamily="18" charset="0"/>
                        </a:rPr>
                        <a:t>GTB</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LOCAL </a:t>
                      </a:r>
                      <a:r>
                        <a:rPr lang="en-US" sz="1100" b="0" i="0" u="none" strike="noStrike">
                          <a:solidFill>
                            <a:srgbClr val="000000"/>
                          </a:solidFill>
                          <a:effectLst/>
                          <a:latin typeface="Times New Roman" panose="02020603050405020304" pitchFamily="18" charset="0"/>
                          <a:cs typeface="Times New Roman" panose="02020603050405020304" pitchFamily="18" charset="0"/>
                        </a:rPr>
                        <a:t>TECH CHECK A/C ALL NORMAL. ADD MORE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FUEL</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A886 có SN 21584, có TSN/CSN = 19070/4283, TSLSV/CSLSV = 287/91.</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VAECO đã hỗ trợ Captain reset động cơ và clear được lỗi. Tuy nhiên sau đó tàu có hiện tượng không di chuyển được dù đã tăng lực đẩy động cơ (mức 30 - 40%), Captain quyết định GTB. Thợ máy sau đí kiểm tra và không phát hiện bất thường, nạp thêm dầu và tiếp tục chuyến bay. Do vị trí đỗ nổ động cơ có dốc, nghi ngờ tàu mất đà nên không di chuyển được, như vậy msg không phải nguyên nhân chính dẫn đến GTB.</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Đánh giá:</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Đây là trường hợp báo giả, message đã clear sau khi reset. Hỏng hóc xảy ra giống với mô tả của TFU 75.11.00.002, với nguyên nhân do lực đẩy thay đổi đột ngột trong quá trình Bite-test hệ thống Engine Stator Section (ESS) Anti-Ice, diễn ra sau khi nổ máy động cơ.</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Để phòng ngừa cảnh báo, FCOM yêu cầu: ENG THRUST LEVER (LAST ENG STARTED): KEEP IDLE FOR 30 SECOND. Nguyên nhân phổ biến nhất đối với hỏng hóc này là do phi công chưa tuân thủ quy trình. Ban KT đã đề nghị VAECO và SQD phối hợp cung cấp SAR và QAR data để gửi NSX xác nhận lại nguyên nhân</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Giải pháp:</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1. NSX đã ban hành phần mềm EEC Software 6.1.1: đã nâng cấp toàn đội bay. Theo thông tin từ Airbus, phần mềm này giúp hạn chế nhưng không ngăn chặn hoàn toàn được vấn đề, cảnh báo vẫn xuất hiện lại nếu phi công thay đổi ga quá đột ngột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2. EEC Software 16.2 bao gồm chức năng hạn chế báo giả dự kiến ban hành cuối năm 2025. VNA sẽ tiến hành nâng cấp khi phần mềm được ban hành.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7950337"/>
                  </a:ext>
                </a:extLst>
              </a:tr>
              <a:tr h="562995">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10:43 25/07/2025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DURING </a:t>
                      </a:r>
                      <a:r>
                        <a:rPr lang="en-US" sz="1100" b="0" i="0" u="none" strike="noStrike">
                          <a:solidFill>
                            <a:srgbClr val="000000"/>
                          </a:solidFill>
                          <a:effectLst/>
                          <a:latin typeface="Times New Roman" panose="02020603050405020304" pitchFamily="18" charset="0"/>
                          <a:cs typeface="Times New Roman" panose="02020603050405020304" pitchFamily="18" charset="0"/>
                        </a:rPr>
                        <a:t>RPL MW # 3 FOUND 2 RIVETS ON CLIPS OF ROTOR SLOTS BRK # 3 MISSING&lt;/p&gt;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REPLACED BRAKE #</a:t>
                      </a:r>
                      <a:r>
                        <a:rPr lang="en-US" sz="1100" b="0" i="0" u="none" strike="noStrike">
                          <a:solidFill>
                            <a:srgbClr val="000000"/>
                          </a:solidFill>
                          <a:effectLst/>
                          <a:latin typeface="Times New Roman" panose="02020603050405020304" pitchFamily="18" charset="0"/>
                          <a:cs typeface="Times New Roman" panose="02020603050405020304" pitchFamily="18" charset="0"/>
                        </a:rPr>
                        <a:t>3 </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None tech-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phát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sinh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thay</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wheel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2435144"/>
                  </a:ext>
                </a:extLst>
              </a:tr>
            </a:tbl>
          </a:graphicData>
        </a:graphic>
      </p:graphicFrame>
    </p:spTree>
    <p:extLst>
      <p:ext uri="{BB962C8B-B14F-4D97-AF65-F5344CB8AC3E}">
        <p14:creationId xmlns:p14="http://schemas.microsoft.com/office/powerpoint/2010/main" val="2214479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2" name="Google Shape;82;p7"/>
          <p:cNvSpPr txBox="1"/>
          <p:nvPr/>
        </p:nvSpPr>
        <p:spPr>
          <a:xfrm>
            <a:off x="0" y="1"/>
            <a:ext cx="12076853" cy="523180"/>
          </a:xfrm>
          <a:prstGeom prst="rect">
            <a:avLst/>
          </a:prstGeom>
          <a:noFill/>
          <a:ln>
            <a:noFill/>
          </a:ln>
        </p:spPr>
        <p:txBody>
          <a:bodyPr spcFirstLastPara="1" wrap="square" lIns="91433" tIns="45700" rIns="91433" bIns="45700" anchor="t" anchorCtr="0">
            <a:spAutoFit/>
          </a:bodyPr>
          <a:lstStyle/>
          <a:p>
            <a:pPr lvl="0"/>
            <a:r>
              <a:rPr lang="en-US" sz="2800" b="1" dirty="0">
                <a:solidFill>
                  <a:srgbClr val="DEA610"/>
                </a:solidFill>
                <a:latin typeface="Montserrat SemiBold"/>
                <a:ea typeface="Montserrat SemiBold"/>
                <a:cs typeface="Montserrat SemiBold"/>
                <a:sym typeface="Montserrat SemiBold"/>
              </a:rPr>
              <a:t>A886 – ENGINE STATOR ANTI-ICE VALVE FAULT</a:t>
            </a:r>
          </a:p>
        </p:txBody>
      </p:sp>
      <p:sp>
        <p:nvSpPr>
          <p:cNvPr id="101" name="Google Shape;101;p7"/>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12</a:t>
            </a:fld>
            <a:endParaRPr/>
          </a:p>
        </p:txBody>
      </p:sp>
      <p:sp>
        <p:nvSpPr>
          <p:cNvPr id="29" name="TextBox 28">
            <a:extLst>
              <a:ext uri="{FF2B5EF4-FFF2-40B4-BE49-F238E27FC236}">
                <a16:creationId xmlns:a16="http://schemas.microsoft.com/office/drawing/2014/main" id="{E6C5A45C-4CC4-4CCC-B342-0C68B40ACA34}"/>
              </a:ext>
            </a:extLst>
          </p:cNvPr>
          <p:cNvSpPr txBox="1"/>
          <p:nvPr/>
        </p:nvSpPr>
        <p:spPr>
          <a:xfrm>
            <a:off x="163790" y="556796"/>
            <a:ext cx="11864421" cy="1446935"/>
          </a:xfrm>
          <a:prstGeom prst="rect">
            <a:avLst/>
          </a:prstGeom>
          <a:solidFill>
            <a:srgbClr val="FFFFCC"/>
          </a:solidFill>
          <a:ln>
            <a:solidFill>
              <a:srgbClr val="5B9BD5"/>
            </a:solidFill>
          </a:ln>
        </p:spPr>
        <p:txBody>
          <a:bodyPr wrap="square" rtlCol="0">
            <a:spAutoFit/>
          </a:bodyPr>
          <a:lstStyle/>
          <a:p>
            <a:pPr defTabSz="1219170">
              <a:defRPr/>
            </a:pPr>
            <a:r>
              <a:rPr lang="en-US" sz="1467" b="1" dirty="0">
                <a:ln w="0"/>
                <a:solidFill>
                  <a:srgbClr val="0070C0"/>
                </a:solidFill>
                <a:latin typeface="Times New Roman" panose="02020603050405020304" pitchFamily="18" charset="0"/>
                <a:cs typeface="Times New Roman" panose="02020603050405020304" pitchFamily="18" charset="0"/>
              </a:rPr>
              <a:t>Event:</a:t>
            </a:r>
          </a:p>
          <a:p>
            <a:pPr marL="380990" indent="-380990">
              <a:buFontTx/>
              <a:buChar char="-"/>
            </a:pPr>
            <a:r>
              <a:rPr lang="en-US" sz="1467" dirty="0">
                <a:ln w="0"/>
                <a:solidFill>
                  <a:prstClr val="black"/>
                </a:solidFill>
                <a:latin typeface="Times New Roman" panose="02020603050405020304" pitchFamily="18" charset="0"/>
                <a:cs typeface="Times New Roman" panose="02020603050405020304" pitchFamily="18" charset="0"/>
              </a:rPr>
              <a:t>A886 26/07: (GTB/DELAY) GTB DUE TO DURING TAXI APPEAR MSG ENG#1 STATOR A-ICE VLV CLOSED.</a:t>
            </a:r>
          </a:p>
          <a:p>
            <a:pPr marL="380990" indent="-380990">
              <a:buFontTx/>
              <a:buChar char="-"/>
            </a:pPr>
            <a:r>
              <a:rPr lang="en-US" sz="1467" dirty="0">
                <a:ln w="0"/>
                <a:solidFill>
                  <a:prstClr val="black"/>
                </a:solidFill>
                <a:latin typeface="Times New Roman" panose="02020603050405020304" pitchFamily="18" charset="0"/>
                <a:cs typeface="Times New Roman" panose="02020603050405020304" pitchFamily="18" charset="0"/>
              </a:rPr>
              <a:t>VAECO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hỗ</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trợ</a:t>
            </a:r>
            <a:r>
              <a:rPr lang="en-US" sz="1467" dirty="0">
                <a:ln w="0"/>
                <a:solidFill>
                  <a:prstClr val="black"/>
                </a:solidFill>
                <a:latin typeface="Times New Roman" panose="02020603050405020304" pitchFamily="18" charset="0"/>
                <a:cs typeface="Times New Roman" panose="02020603050405020304" pitchFamily="18" charset="0"/>
              </a:rPr>
              <a:t> Captain reset </a:t>
            </a:r>
            <a:r>
              <a:rPr lang="en-US" sz="1467" dirty="0" err="1">
                <a:ln w="0"/>
                <a:solidFill>
                  <a:prstClr val="black"/>
                </a:solidFill>
                <a:latin typeface="Times New Roman" panose="02020603050405020304" pitchFamily="18" charset="0"/>
                <a:cs typeface="Times New Roman" panose="02020603050405020304" pitchFamily="18" charset="0"/>
              </a:rPr>
              <a:t>động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cơ</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và</a:t>
            </a:r>
            <a:r>
              <a:rPr lang="en-US" sz="1467" dirty="0">
                <a:ln w="0"/>
                <a:solidFill>
                  <a:prstClr val="black"/>
                </a:solidFill>
                <a:latin typeface="Times New Roman" panose="02020603050405020304" pitchFamily="18" charset="0"/>
                <a:cs typeface="Times New Roman" panose="02020603050405020304" pitchFamily="18" charset="0"/>
              </a:rPr>
              <a:t> clear </a:t>
            </a:r>
            <a:r>
              <a:rPr lang="en-US" sz="1467" dirty="0" err="1">
                <a:ln w="0"/>
                <a:solidFill>
                  <a:prstClr val="black"/>
                </a:solidFill>
                <a:latin typeface="Times New Roman" panose="02020603050405020304" pitchFamily="18" charset="0"/>
                <a:cs typeface="Times New Roman" panose="02020603050405020304" pitchFamily="18" charset="0"/>
              </a:rPr>
              <a:t>được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lỗi</a:t>
            </a:r>
            <a:r>
              <a:rPr lang="en-US" sz="1467" dirty="0">
                <a:ln w="0"/>
                <a:solidFill>
                  <a:prstClr val="black"/>
                </a:solidFill>
                <a:latin typeface="Times New Roman" panose="02020603050405020304" pitchFamily="18" charset="0"/>
                <a:cs typeface="Times New Roman" panose="02020603050405020304" pitchFamily="18" charset="0"/>
              </a:rPr>
              <a:t>. T</a:t>
            </a:r>
            <a:r>
              <a:rPr lang="en-US" sz="1467" dirty="0" err="1">
                <a:ln w="0"/>
                <a:solidFill>
                  <a:prstClr val="black"/>
                </a:solidFill>
                <a:latin typeface="Times New Roman" panose="02020603050405020304" pitchFamily="18" charset="0"/>
                <a:cs typeface="Times New Roman" panose="02020603050405020304" pitchFamily="18" charset="0"/>
              </a:rPr>
              <a:t>uy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nhiên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sau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đó</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tàu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có</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tượng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không</a:t>
            </a:r>
            <a:r>
              <a:rPr lang="en-US" sz="1467" dirty="0">
                <a:ln w="0"/>
                <a:solidFill>
                  <a:prstClr val="black"/>
                </a:solidFill>
                <a:latin typeface="Times New Roman" panose="02020603050405020304" pitchFamily="18" charset="0"/>
                <a:cs typeface="Times New Roman" panose="02020603050405020304" pitchFamily="18" charset="0"/>
              </a:rPr>
              <a:t> di </a:t>
            </a:r>
            <a:r>
              <a:rPr lang="en-US" sz="1467" dirty="0" err="1">
                <a:ln w="0"/>
                <a:solidFill>
                  <a:prstClr val="black"/>
                </a:solidFill>
                <a:latin typeface="Times New Roman" panose="02020603050405020304" pitchFamily="18" charset="0"/>
                <a:cs typeface="Times New Roman" panose="02020603050405020304" pitchFamily="18" charset="0"/>
              </a:rPr>
              <a:t>chuyển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được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dù</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tăng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lực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đẩy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động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cơ</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mức</a:t>
            </a:r>
            <a:r>
              <a:rPr lang="en-US" sz="1467" dirty="0">
                <a:ln w="0"/>
                <a:solidFill>
                  <a:prstClr val="black"/>
                </a:solidFill>
                <a:latin typeface="Times New Roman" panose="02020603050405020304" pitchFamily="18" charset="0"/>
                <a:cs typeface="Times New Roman" panose="02020603050405020304" pitchFamily="18" charset="0"/>
              </a:rPr>
              <a:t> 30 - 40%), Captain </a:t>
            </a:r>
            <a:r>
              <a:rPr lang="en-US" sz="1467" dirty="0" err="1">
                <a:ln w="0"/>
                <a:solidFill>
                  <a:prstClr val="black"/>
                </a:solidFill>
                <a:latin typeface="Times New Roman" panose="02020603050405020304" pitchFamily="18" charset="0"/>
                <a:cs typeface="Times New Roman" panose="02020603050405020304" pitchFamily="18" charset="0"/>
              </a:rPr>
              <a:t>quyết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định</a:t>
            </a:r>
            <a:r>
              <a:rPr lang="en-US" sz="1467" dirty="0">
                <a:ln w="0"/>
                <a:solidFill>
                  <a:prstClr val="black"/>
                </a:solidFill>
                <a:latin typeface="Times New Roman" panose="02020603050405020304" pitchFamily="18" charset="0"/>
                <a:cs typeface="Times New Roman" panose="02020603050405020304" pitchFamily="18" charset="0"/>
              </a:rPr>
              <a:t> GTB </a:t>
            </a:r>
            <a:r>
              <a:rPr lang="en-US" sz="1467" dirty="0" err="1">
                <a:ln w="0"/>
                <a:solidFill>
                  <a:prstClr val="black"/>
                </a:solidFill>
                <a:latin typeface="Times New Roman" panose="02020603050405020304" pitchFamily="18" charset="0"/>
                <a:cs typeface="Times New Roman" panose="02020603050405020304" pitchFamily="18" charset="0"/>
              </a:rPr>
              <a:t>sau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đó</a:t>
            </a:r>
            <a:r>
              <a:rPr lang="en-US" sz="1467" dirty="0">
                <a:ln w="0"/>
                <a:solidFill>
                  <a:prstClr val="black"/>
                </a:solidFill>
                <a:latin typeface="Times New Roman" panose="02020603050405020304" pitchFamily="18" charset="0"/>
                <a:cs typeface="Times New Roman" panose="02020603050405020304" pitchFamily="18" charset="0"/>
              </a:rPr>
              <a:t>.</a:t>
            </a:r>
          </a:p>
          <a:p>
            <a:pPr marL="380990" indent="-380990">
              <a:buFontTx/>
              <a:buChar char="-"/>
            </a:pPr>
            <a:r>
              <a:rPr lang="en-US" sz="1467" dirty="0" err="1">
                <a:ln w="0"/>
                <a:solidFill>
                  <a:prstClr val="black"/>
                </a:solidFill>
                <a:latin typeface="Times New Roman" panose="02020603050405020304" pitchFamily="18" charset="0"/>
                <a:cs typeface="Times New Roman" panose="02020603050405020304" pitchFamily="18" charset="0"/>
              </a:rPr>
              <a:t>Thợ</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máy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kiểm</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tra</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và</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không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phát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bất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thường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nạp</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thêm</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dầu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và</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tiếp</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tục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chuyến</a:t>
            </a:r>
            <a:r>
              <a:rPr lang="en-US" sz="1467" dirty="0">
                <a:ln w="0"/>
                <a:solidFill>
                  <a:prstClr val="black"/>
                </a:solidFill>
                <a:latin typeface="Times New Roman" panose="02020603050405020304" pitchFamily="18" charset="0"/>
                <a:cs typeface="Times New Roman" panose="02020603050405020304" pitchFamily="18" charset="0"/>
              </a:rPr>
              <a:t> bay. </a:t>
            </a:r>
            <a:r>
              <a:rPr lang="en-US" sz="1467" dirty="0">
                <a:ln w="0"/>
                <a:solidFill>
                  <a:srgbClr val="FF0000"/>
                </a:solidFill>
                <a:latin typeface="Times New Roman" panose="02020603050405020304" pitchFamily="18" charset="0"/>
                <a:cs typeface="Times New Roman" panose="02020603050405020304" pitchFamily="18" charset="0"/>
              </a:rPr>
              <a:t>Do </a:t>
            </a:r>
            <a:r>
              <a:rPr lang="en-US" sz="1467" dirty="0" err="1">
                <a:ln w="0"/>
                <a:solidFill>
                  <a:srgbClr val="FF0000"/>
                </a:solidFill>
                <a:latin typeface="Times New Roman" panose="02020603050405020304" pitchFamily="18" charset="0"/>
                <a:cs typeface="Times New Roman" panose="02020603050405020304" pitchFamily="18" charset="0"/>
              </a:rPr>
              <a:t>vị</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trí</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đỗ</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nổ</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động</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cơ</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có</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dốc</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nghi</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ngờ</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tàu</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mất</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đà</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nên</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không</a:t>
            </a:r>
            <a:r>
              <a:rPr lang="en-US" sz="1467" dirty="0">
                <a:ln w="0"/>
                <a:solidFill>
                  <a:srgbClr val="FF0000"/>
                </a:solidFill>
                <a:latin typeface="Times New Roman" panose="02020603050405020304" pitchFamily="18" charset="0"/>
                <a:cs typeface="Times New Roman" panose="02020603050405020304" pitchFamily="18" charset="0"/>
              </a:rPr>
              <a:t> di </a:t>
            </a:r>
            <a:r>
              <a:rPr lang="en-US" sz="1467" dirty="0" err="1">
                <a:ln w="0"/>
                <a:solidFill>
                  <a:srgbClr val="FF0000"/>
                </a:solidFill>
                <a:latin typeface="Times New Roman" panose="02020603050405020304" pitchFamily="18" charset="0"/>
                <a:cs typeface="Times New Roman" panose="02020603050405020304" pitchFamily="18" charset="0"/>
              </a:rPr>
              <a:t>chuyển</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được</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như</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vậy</a:t>
            </a:r>
            <a:r>
              <a:rPr lang="en-US" sz="1467" dirty="0">
                <a:ln w="0"/>
                <a:solidFill>
                  <a:srgbClr val="FF0000"/>
                </a:solidFill>
                <a:latin typeface="Times New Roman" panose="02020603050405020304" pitchFamily="18" charset="0"/>
                <a:cs typeface="Times New Roman" panose="02020603050405020304" pitchFamily="18" charset="0"/>
              </a:rPr>
              <a:t> MSG </a:t>
            </a:r>
            <a:r>
              <a:rPr lang="en-US" sz="1467" dirty="0" err="1">
                <a:ln w="0"/>
                <a:solidFill>
                  <a:srgbClr val="FF0000"/>
                </a:solidFill>
                <a:latin typeface="Times New Roman" panose="02020603050405020304" pitchFamily="18" charset="0"/>
                <a:cs typeface="Times New Roman" panose="02020603050405020304" pitchFamily="18" charset="0"/>
              </a:rPr>
              <a:t>không</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phải</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nguyên</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nhân</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chính</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dẫn</a:t>
            </a:r>
            <a:r>
              <a:rPr lang="en-US" sz="1467" dirty="0">
                <a:ln w="0"/>
                <a:solidFill>
                  <a:srgbClr val="FF0000"/>
                </a:solidFill>
                <a:latin typeface="Times New Roman" panose="02020603050405020304" pitchFamily="18" charset="0"/>
                <a:cs typeface="Times New Roman" panose="02020603050405020304" pitchFamily="18" charset="0"/>
              </a:rPr>
              <a:t> </a:t>
            </a:r>
            <a:r>
              <a:rPr lang="en-US" sz="1467" dirty="0" err="1">
                <a:ln w="0"/>
                <a:solidFill>
                  <a:srgbClr val="FF0000"/>
                </a:solidFill>
                <a:latin typeface="Times New Roman" panose="02020603050405020304" pitchFamily="18" charset="0"/>
                <a:cs typeface="Times New Roman" panose="02020603050405020304" pitchFamily="18" charset="0"/>
              </a:rPr>
              <a:t>đến</a:t>
            </a:r>
            <a:r>
              <a:rPr lang="en-US" sz="1467" dirty="0">
                <a:ln w="0"/>
                <a:solidFill>
                  <a:srgbClr val="FF0000"/>
                </a:solidFill>
                <a:latin typeface="Times New Roman" panose="02020603050405020304" pitchFamily="18" charset="0"/>
                <a:cs typeface="Times New Roman" panose="02020603050405020304" pitchFamily="18" charset="0"/>
              </a:rPr>
              <a:t> GTB.</a:t>
            </a:r>
          </a:p>
        </p:txBody>
      </p:sp>
      <p:sp>
        <p:nvSpPr>
          <p:cNvPr id="30" name="TextBox 29">
            <a:extLst>
              <a:ext uri="{FF2B5EF4-FFF2-40B4-BE49-F238E27FC236}">
                <a16:creationId xmlns:a16="http://schemas.microsoft.com/office/drawing/2014/main" id="{86BFD5BE-BF49-49F3-BB21-892440DA5733}"/>
              </a:ext>
            </a:extLst>
          </p:cNvPr>
          <p:cNvSpPr txBox="1"/>
          <p:nvPr/>
        </p:nvSpPr>
        <p:spPr>
          <a:xfrm>
            <a:off x="163789" y="2261499"/>
            <a:ext cx="6562131" cy="2350002"/>
          </a:xfrm>
          <a:prstGeom prst="rect">
            <a:avLst/>
          </a:prstGeom>
          <a:solidFill>
            <a:srgbClr val="5B9BD5">
              <a:lumMod val="20000"/>
              <a:lumOff val="80000"/>
            </a:srgbClr>
          </a:solidFill>
          <a:ln>
            <a:solidFill>
              <a:srgbClr val="5B9BD5"/>
            </a:solidFill>
          </a:ln>
        </p:spPr>
        <p:txBody>
          <a:bodyPr wrap="square" rtlCol="0">
            <a:spAutoFit/>
          </a:bodyPr>
          <a:lstStyle/>
          <a:p>
            <a:pPr defTabSz="1219170">
              <a:defRPr/>
            </a:pPr>
            <a:r>
              <a:rPr lang="en-US" sz="1467" b="1" dirty="0" err="1">
                <a:ln w="0"/>
                <a:solidFill>
                  <a:srgbClr val="0070C0"/>
                </a:solidFill>
                <a:latin typeface="Times New Roman" panose="02020603050405020304" pitchFamily="18" charset="0"/>
                <a:cs typeface="Times New Roman" panose="02020603050405020304" pitchFamily="18" charset="0"/>
              </a:rPr>
              <a:t>Đánh</a:t>
            </a:r>
            <a:r>
              <a:rPr lang="en-US" sz="1467" b="1" dirty="0">
                <a:ln w="0"/>
                <a:solidFill>
                  <a:srgbClr val="0070C0"/>
                </a:solidFill>
                <a:latin typeface="Times New Roman" panose="02020603050405020304" pitchFamily="18" charset="0"/>
                <a:cs typeface="Times New Roman" panose="02020603050405020304" pitchFamily="18" charset="0"/>
              </a:rPr>
              <a:t> </a:t>
            </a:r>
            <a:r>
              <a:rPr lang="en-US" sz="1467" b="1" dirty="0" err="1">
                <a:ln w="0"/>
                <a:solidFill>
                  <a:srgbClr val="0070C0"/>
                </a:solidFill>
                <a:latin typeface="Times New Roman" panose="02020603050405020304" pitchFamily="18" charset="0"/>
                <a:cs typeface="Times New Roman" panose="02020603050405020304" pitchFamily="18" charset="0"/>
              </a:rPr>
              <a:t>giá</a:t>
            </a:r>
            <a:r>
              <a:rPr lang="en-US" sz="1467" b="1" dirty="0">
                <a:ln w="0"/>
                <a:solidFill>
                  <a:srgbClr val="0070C0"/>
                </a:solidFill>
                <a:latin typeface="Times New Roman" panose="02020603050405020304" pitchFamily="18" charset="0"/>
                <a:cs typeface="Times New Roman" panose="02020603050405020304" pitchFamily="18" charset="0"/>
              </a:rPr>
              <a:t>:</a:t>
            </a:r>
          </a:p>
          <a:p>
            <a:pPr marL="380990" indent="-380990">
              <a:buFontTx/>
              <a:buChar char="-"/>
            </a:pPr>
            <a:r>
              <a:rPr lang="en-US" sz="1467" dirty="0" err="1">
                <a:ln w="0"/>
                <a:latin typeface="Times New Roman" panose="02020603050405020304" pitchFamily="18" charset="0"/>
                <a:cs typeface="Times New Roman" panose="02020603050405020304" pitchFamily="18" charset="0"/>
              </a:rPr>
              <a:t>Đây</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là</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trường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hợp</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báo</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giả</a:t>
            </a:r>
            <a:r>
              <a:rPr lang="en-US" sz="1467" dirty="0">
                <a:ln w="0"/>
                <a:latin typeface="Times New Roman" panose="02020603050405020304" pitchFamily="18" charset="0"/>
                <a:cs typeface="Times New Roman" panose="02020603050405020304" pitchFamily="18" charset="0"/>
              </a:rPr>
              <a:t>, message </a:t>
            </a:r>
            <a:r>
              <a:rPr lang="en-US" sz="1467" dirty="0" err="1">
                <a:ln w="0"/>
                <a:latin typeface="Times New Roman" panose="02020603050405020304" pitchFamily="18" charset="0"/>
                <a:cs typeface="Times New Roman" panose="02020603050405020304" pitchFamily="18" charset="0"/>
              </a:rPr>
              <a:t>đã</a:t>
            </a:r>
            <a:r>
              <a:rPr lang="en-US" sz="1467" dirty="0">
                <a:ln w="0"/>
                <a:latin typeface="Times New Roman" panose="02020603050405020304" pitchFamily="18" charset="0"/>
                <a:cs typeface="Times New Roman" panose="02020603050405020304" pitchFamily="18" charset="0"/>
              </a:rPr>
              <a:t> clear </a:t>
            </a:r>
            <a:r>
              <a:rPr lang="en-US" sz="1467" dirty="0" err="1">
                <a:ln w="0"/>
                <a:latin typeface="Times New Roman" panose="02020603050405020304" pitchFamily="18" charset="0"/>
                <a:cs typeface="Times New Roman" panose="02020603050405020304" pitchFamily="18" charset="0"/>
              </a:rPr>
              <a:t>sau</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khi</a:t>
            </a:r>
            <a:r>
              <a:rPr lang="en-US" sz="1467" dirty="0">
                <a:ln w="0"/>
                <a:latin typeface="Times New Roman" panose="02020603050405020304" pitchFamily="18" charset="0"/>
                <a:cs typeface="Times New Roman" panose="02020603050405020304" pitchFamily="18" charset="0"/>
              </a:rPr>
              <a:t> reset.</a:t>
            </a:r>
          </a:p>
          <a:p>
            <a:pPr marL="380990" indent="-380990">
              <a:buFontTx/>
              <a:buChar char="-"/>
            </a:pPr>
            <a:r>
              <a:rPr lang="en-US" sz="1467" dirty="0" err="1">
                <a:ln w="0"/>
                <a:latin typeface="Times New Roman" panose="02020603050405020304" pitchFamily="18" charset="0"/>
                <a:cs typeface="Times New Roman" panose="02020603050405020304" pitchFamily="18" charset="0"/>
              </a:rPr>
              <a:t>Hỏng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hóc</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xảy</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ra</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giống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với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mô</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tả</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của</a:t>
            </a:r>
            <a:r>
              <a:rPr lang="en-US" sz="1467" dirty="0">
                <a:ln w="0"/>
                <a:latin typeface="Times New Roman" panose="02020603050405020304" pitchFamily="18" charset="0"/>
                <a:cs typeface="Times New Roman" panose="02020603050405020304" pitchFamily="18" charset="0"/>
              </a:rPr>
              <a:t> TFU 75.11.00.002, </a:t>
            </a:r>
            <a:r>
              <a:rPr lang="en-US" sz="1467" dirty="0" err="1">
                <a:ln w="0"/>
                <a:latin typeface="Times New Roman" panose="02020603050405020304" pitchFamily="18" charset="0"/>
                <a:cs typeface="Times New Roman" panose="02020603050405020304" pitchFamily="18" charset="0"/>
              </a:rPr>
              <a:t>với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nguyên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nhân</a:t>
            </a:r>
            <a:r>
              <a:rPr lang="en-US" sz="1467" dirty="0">
                <a:ln w="0"/>
                <a:latin typeface="Times New Roman" panose="02020603050405020304" pitchFamily="18" charset="0"/>
                <a:cs typeface="Times New Roman" panose="02020603050405020304" pitchFamily="18" charset="0"/>
              </a:rPr>
              <a:t> do </a:t>
            </a:r>
            <a:r>
              <a:rPr lang="en-US" sz="1467" dirty="0" err="1">
                <a:ln w="0"/>
                <a:latin typeface="Times New Roman" panose="02020603050405020304" pitchFamily="18" charset="0"/>
                <a:cs typeface="Times New Roman" panose="02020603050405020304" pitchFamily="18" charset="0"/>
              </a:rPr>
              <a:t>lực</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đẩy</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thay</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đổi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đột</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ngột</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trong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quá</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trình</a:t>
            </a:r>
            <a:r>
              <a:rPr lang="en-US" sz="1467" dirty="0">
                <a:ln w="0"/>
                <a:latin typeface="Times New Roman" panose="02020603050405020304" pitchFamily="18" charset="0"/>
                <a:cs typeface="Times New Roman" panose="02020603050405020304" pitchFamily="18" charset="0"/>
              </a:rPr>
              <a:t> Bite-test </a:t>
            </a:r>
            <a:r>
              <a:rPr lang="en-US" sz="1467" dirty="0" err="1">
                <a:ln w="0"/>
                <a:latin typeface="Times New Roman" panose="02020603050405020304" pitchFamily="18" charset="0"/>
                <a:cs typeface="Times New Roman" panose="02020603050405020304" pitchFamily="18" charset="0"/>
              </a:rPr>
              <a:t>hệ</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thống</a:t>
            </a:r>
            <a:r>
              <a:rPr lang="en-US" sz="1467" dirty="0">
                <a:ln w="0"/>
                <a:latin typeface="Times New Roman" panose="02020603050405020304" pitchFamily="18" charset="0"/>
                <a:cs typeface="Times New Roman" panose="02020603050405020304" pitchFamily="18" charset="0"/>
              </a:rPr>
              <a:t> Engine Stator Section (ESS) Anti-Ice, </a:t>
            </a:r>
            <a:r>
              <a:rPr lang="en-US" sz="1467" dirty="0" err="1">
                <a:ln w="0"/>
                <a:latin typeface="Times New Roman" panose="02020603050405020304" pitchFamily="18" charset="0"/>
                <a:cs typeface="Times New Roman" panose="02020603050405020304" pitchFamily="18" charset="0"/>
              </a:rPr>
              <a:t>diễn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ra</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sau</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khi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nổ</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máy</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động</a:t>
            </a:r>
            <a:r>
              <a:rPr lang="en-US" sz="1467" dirty="0">
                <a:ln w="0"/>
                <a:latin typeface="Times New Roman" panose="02020603050405020304" pitchFamily="18" charset="0"/>
                <a:cs typeface="Times New Roman" panose="02020603050405020304" pitchFamily="18" charset="0"/>
              </a:rPr>
              <a:t> c</a:t>
            </a:r>
            <a:r>
              <a:rPr lang="vi-VN" sz="1467" dirty="0">
                <a:ln w="0"/>
                <a:latin typeface="Times New Roman" panose="02020603050405020304" pitchFamily="18" charset="0"/>
                <a:cs typeface="Times New Roman" panose="02020603050405020304" pitchFamily="18" charset="0"/>
              </a:rPr>
              <a:t>ơ</a:t>
            </a:r>
            <a:r>
              <a:rPr lang="en-US" sz="1467" dirty="0">
                <a:ln w="0"/>
                <a:latin typeface="Times New Roman" panose="02020603050405020304" pitchFamily="18" charset="0"/>
                <a:cs typeface="Times New Roman" panose="02020603050405020304" pitchFamily="18" charset="0"/>
              </a:rPr>
              <a:t>.</a:t>
            </a:r>
          </a:p>
          <a:p>
            <a:pPr marL="380990" indent="-380990">
              <a:buFontTx/>
              <a:buChar char="-"/>
            </a:pPr>
            <a:r>
              <a:rPr lang="en-US" sz="1467" dirty="0" err="1">
                <a:ln w="0"/>
                <a:latin typeface="Times New Roman" panose="02020603050405020304" pitchFamily="18" charset="0"/>
                <a:cs typeface="Times New Roman" panose="02020603050405020304" pitchFamily="18" charset="0"/>
              </a:rPr>
              <a:t>Để</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phòng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ngừa</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cảnh</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báo</a:t>
            </a:r>
            <a:r>
              <a:rPr lang="en-US" sz="1467" dirty="0">
                <a:ln w="0"/>
                <a:latin typeface="Times New Roman" panose="02020603050405020304" pitchFamily="18" charset="0"/>
                <a:cs typeface="Times New Roman" panose="02020603050405020304" pitchFamily="18" charset="0"/>
              </a:rPr>
              <a:t>, FCOM </a:t>
            </a:r>
            <a:r>
              <a:rPr lang="en-US" sz="1467" dirty="0" err="1">
                <a:ln w="0"/>
                <a:latin typeface="Times New Roman" panose="02020603050405020304" pitchFamily="18" charset="0"/>
                <a:cs typeface="Times New Roman" panose="02020603050405020304" pitchFamily="18" charset="0"/>
              </a:rPr>
              <a:t>yêu</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cầu</a:t>
            </a:r>
            <a:r>
              <a:rPr lang="en-US" sz="1467" dirty="0">
                <a:ln w="0"/>
                <a:latin typeface="Times New Roman" panose="02020603050405020304" pitchFamily="18" charset="0"/>
                <a:cs typeface="Times New Roman" panose="02020603050405020304" pitchFamily="18" charset="0"/>
              </a:rPr>
              <a:t>: </a:t>
            </a:r>
            <a:r>
              <a:rPr lang="en-US" sz="1467" dirty="0">
                <a:solidFill>
                  <a:srgbClr val="FF0000"/>
                </a:solidFill>
              </a:rPr>
              <a:t>ENG THRUST LEVER (LAST ENG STARTED): KEEP IDLE FOR 30 SECOND.</a:t>
            </a:r>
            <a:r>
              <a:rPr lang="en-US" sz="1467" dirty="0">
                <a:ln w="0"/>
                <a:latin typeface="Times New Roman" panose="02020603050405020304" pitchFamily="18" charset="0"/>
                <a:cs typeface="Times New Roman" panose="02020603050405020304" pitchFamily="18" charset="0"/>
              </a:rPr>
              <a:t> </a:t>
            </a:r>
          </a:p>
          <a:p>
            <a:pPr marL="380990" indent="-380990">
              <a:buFontTx/>
              <a:buChar char="-"/>
            </a:pPr>
            <a:r>
              <a:rPr lang="en-US" sz="1467" dirty="0">
                <a:ln w="0"/>
                <a:latin typeface="Times New Roman" panose="02020603050405020304" pitchFamily="18" charset="0"/>
                <a:cs typeface="Times New Roman" panose="02020603050405020304" pitchFamily="18" charset="0"/>
              </a:rPr>
              <a:t>Nguyên </a:t>
            </a:r>
            <a:r>
              <a:rPr lang="en-US" sz="1467" dirty="0" err="1">
                <a:ln w="0"/>
                <a:latin typeface="Times New Roman" panose="02020603050405020304" pitchFamily="18" charset="0"/>
                <a:cs typeface="Times New Roman" panose="02020603050405020304" pitchFamily="18" charset="0"/>
              </a:rPr>
              <a:t>nhân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phổ</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biến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nhất</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đối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với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hỏng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hóc</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này</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là</a:t>
            </a:r>
            <a:r>
              <a:rPr lang="en-US" sz="1467" dirty="0">
                <a:ln w="0"/>
                <a:latin typeface="Times New Roman" panose="02020603050405020304" pitchFamily="18" charset="0"/>
                <a:cs typeface="Times New Roman" panose="02020603050405020304" pitchFamily="18" charset="0"/>
              </a:rPr>
              <a:t> do phi </a:t>
            </a:r>
            <a:r>
              <a:rPr lang="en-US" sz="1467" dirty="0" err="1">
                <a:ln w="0"/>
                <a:latin typeface="Times New Roman" panose="02020603050405020304" pitchFamily="18" charset="0"/>
                <a:cs typeface="Times New Roman" panose="02020603050405020304" pitchFamily="18" charset="0"/>
              </a:rPr>
              <a:t>công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chưa</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tuân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thủ</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quy</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trình</a:t>
            </a:r>
            <a:r>
              <a:rPr lang="en-US" sz="1467" dirty="0">
                <a:ln w="0"/>
                <a:latin typeface="Times New Roman" panose="02020603050405020304" pitchFamily="18" charset="0"/>
                <a:cs typeface="Times New Roman" panose="02020603050405020304" pitchFamily="18" charset="0"/>
              </a:rPr>
              <a:t>, Ban KT </a:t>
            </a:r>
            <a:r>
              <a:rPr lang="en-US" sz="1467" dirty="0" err="1">
                <a:ln w="0"/>
                <a:latin typeface="Times New Roman" panose="02020603050405020304" pitchFamily="18" charset="0"/>
                <a:cs typeface="Times New Roman" panose="02020603050405020304" pitchFamily="18" charset="0"/>
              </a:rPr>
              <a:t>đã</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đề</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nghị</a:t>
            </a:r>
            <a:r>
              <a:rPr lang="en-US" sz="1467" dirty="0">
                <a:ln w="0"/>
                <a:latin typeface="Times New Roman" panose="02020603050405020304" pitchFamily="18" charset="0"/>
                <a:cs typeface="Times New Roman" panose="02020603050405020304" pitchFamily="18" charset="0"/>
              </a:rPr>
              <a:t> VAECO </a:t>
            </a:r>
            <a:r>
              <a:rPr lang="en-US" sz="1467" dirty="0" err="1">
                <a:ln w="0"/>
                <a:latin typeface="Times New Roman" panose="02020603050405020304" pitchFamily="18" charset="0"/>
                <a:cs typeface="Times New Roman" panose="02020603050405020304" pitchFamily="18" charset="0"/>
              </a:rPr>
              <a:t>và</a:t>
            </a:r>
            <a:r>
              <a:rPr lang="en-US" sz="1467" dirty="0">
                <a:ln w="0"/>
                <a:latin typeface="Times New Roman" panose="02020603050405020304" pitchFamily="18" charset="0"/>
                <a:cs typeface="Times New Roman" panose="02020603050405020304" pitchFamily="18" charset="0"/>
              </a:rPr>
              <a:t> SQD </a:t>
            </a:r>
            <a:r>
              <a:rPr lang="en-US" sz="1467" dirty="0" err="1">
                <a:ln w="0"/>
                <a:latin typeface="Times New Roman" panose="02020603050405020304" pitchFamily="18" charset="0"/>
                <a:cs typeface="Times New Roman" panose="02020603050405020304" pitchFamily="18" charset="0"/>
              </a:rPr>
              <a:t>phối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hợp</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cung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cấp</a:t>
            </a:r>
            <a:r>
              <a:rPr lang="en-US" sz="1467" dirty="0">
                <a:ln w="0"/>
                <a:latin typeface="Times New Roman" panose="02020603050405020304" pitchFamily="18" charset="0"/>
                <a:cs typeface="Times New Roman" panose="02020603050405020304" pitchFamily="18" charset="0"/>
              </a:rPr>
              <a:t> SAR </a:t>
            </a:r>
            <a:r>
              <a:rPr lang="en-US" sz="1467" dirty="0" err="1">
                <a:ln w="0"/>
                <a:latin typeface="Times New Roman" panose="02020603050405020304" pitchFamily="18" charset="0"/>
                <a:cs typeface="Times New Roman" panose="02020603050405020304" pitchFamily="18" charset="0"/>
              </a:rPr>
              <a:t>và</a:t>
            </a:r>
            <a:r>
              <a:rPr lang="en-US" sz="1467" dirty="0">
                <a:ln w="0"/>
                <a:latin typeface="Times New Roman" panose="02020603050405020304" pitchFamily="18" charset="0"/>
                <a:cs typeface="Times New Roman" panose="02020603050405020304" pitchFamily="18" charset="0"/>
              </a:rPr>
              <a:t> QAR data </a:t>
            </a:r>
            <a:r>
              <a:rPr lang="en-US" sz="1467" dirty="0" err="1">
                <a:ln w="0"/>
                <a:latin typeface="Times New Roman" panose="02020603050405020304" pitchFamily="18" charset="0"/>
                <a:cs typeface="Times New Roman" panose="02020603050405020304" pitchFamily="18" charset="0"/>
              </a:rPr>
              <a:t>để</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gửi</a:t>
            </a:r>
            <a:r>
              <a:rPr lang="en-US" sz="1467" dirty="0">
                <a:ln w="0"/>
                <a:latin typeface="Times New Roman" panose="02020603050405020304" pitchFamily="18" charset="0"/>
                <a:cs typeface="Times New Roman" panose="02020603050405020304" pitchFamily="18" charset="0"/>
              </a:rPr>
              <a:t> NSX </a:t>
            </a:r>
            <a:r>
              <a:rPr lang="en-US" sz="1467" dirty="0" err="1">
                <a:ln w="0"/>
                <a:latin typeface="Times New Roman" panose="02020603050405020304" pitchFamily="18" charset="0"/>
                <a:cs typeface="Times New Roman" panose="02020603050405020304" pitchFamily="18" charset="0"/>
              </a:rPr>
              <a:t>xác</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nhận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lại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nguyên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nhân</a:t>
            </a:r>
            <a:endParaRPr lang="en-US" sz="1467" dirty="0">
              <a:ln w="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30D39934-F2D9-44BB-9E24-A1989C8B15A8}"/>
              </a:ext>
            </a:extLst>
          </p:cNvPr>
          <p:cNvSpPr txBox="1"/>
          <p:nvPr/>
        </p:nvSpPr>
        <p:spPr>
          <a:xfrm>
            <a:off x="163789" y="4869013"/>
            <a:ext cx="6562131" cy="1672702"/>
          </a:xfrm>
          <a:prstGeom prst="rect">
            <a:avLst/>
          </a:prstGeom>
          <a:solidFill>
            <a:srgbClr val="ED7D31">
              <a:lumMod val="40000"/>
              <a:lumOff val="60000"/>
            </a:srgbClr>
          </a:solidFill>
          <a:ln>
            <a:solidFill>
              <a:srgbClr val="5B9BD5"/>
            </a:solidFill>
          </a:ln>
        </p:spPr>
        <p:txBody>
          <a:bodyPr wrap="square" rtlCol="0">
            <a:spAutoFit/>
          </a:bodyPr>
          <a:lstStyle/>
          <a:p>
            <a:pPr defTabSz="1219170">
              <a:defRPr/>
            </a:pPr>
            <a:r>
              <a:rPr lang="en-US" sz="1467" b="1" dirty="0" err="1">
                <a:ln w="0"/>
                <a:solidFill>
                  <a:srgbClr val="0070C0"/>
                </a:solidFill>
                <a:latin typeface="Times New Roman" panose="02020603050405020304" pitchFamily="18" charset="0"/>
                <a:cs typeface="Times New Roman" panose="02020603050405020304" pitchFamily="18" charset="0"/>
              </a:rPr>
              <a:t>Giải</a:t>
            </a:r>
            <a:r>
              <a:rPr lang="en-US" sz="1467" b="1" dirty="0">
                <a:ln w="0"/>
                <a:solidFill>
                  <a:srgbClr val="0070C0"/>
                </a:solidFill>
                <a:latin typeface="Times New Roman" panose="02020603050405020304" pitchFamily="18" charset="0"/>
                <a:cs typeface="Times New Roman" panose="02020603050405020304" pitchFamily="18" charset="0"/>
              </a:rPr>
              <a:t> </a:t>
            </a:r>
            <a:r>
              <a:rPr lang="en-US" sz="1467" b="1" dirty="0" err="1">
                <a:ln w="0"/>
                <a:solidFill>
                  <a:srgbClr val="0070C0"/>
                </a:solidFill>
                <a:latin typeface="Times New Roman" panose="02020603050405020304" pitchFamily="18" charset="0"/>
                <a:cs typeface="Times New Roman" panose="02020603050405020304" pitchFamily="18" charset="0"/>
              </a:rPr>
              <a:t>pháp</a:t>
            </a:r>
            <a:r>
              <a:rPr lang="en-US" sz="1467" b="1" dirty="0">
                <a:ln w="0"/>
                <a:solidFill>
                  <a:srgbClr val="0070C0"/>
                </a:solidFill>
                <a:latin typeface="Times New Roman" panose="02020603050405020304" pitchFamily="18" charset="0"/>
                <a:cs typeface="Times New Roman" panose="02020603050405020304" pitchFamily="18" charset="0"/>
              </a:rPr>
              <a:t>:</a:t>
            </a:r>
          </a:p>
          <a:p>
            <a:pPr marL="380990" indent="-380990">
              <a:buFontTx/>
              <a:buChar char="-"/>
            </a:pPr>
            <a:r>
              <a:rPr lang="en-US" sz="1467" dirty="0">
                <a:ln w="0"/>
                <a:latin typeface="Times New Roman" panose="02020603050405020304" pitchFamily="18" charset="0"/>
                <a:cs typeface="Times New Roman" panose="02020603050405020304" pitchFamily="18" charset="0"/>
              </a:rPr>
              <a:t>NSX </a:t>
            </a:r>
            <a:r>
              <a:rPr lang="en-US" sz="1467" dirty="0" err="1">
                <a:ln w="0"/>
                <a:latin typeface="Times New Roman" panose="02020603050405020304" pitchFamily="18" charset="0"/>
                <a:cs typeface="Times New Roman" panose="02020603050405020304" pitchFamily="18" charset="0"/>
              </a:rPr>
              <a:t>đã</a:t>
            </a:r>
            <a:r>
              <a:rPr lang="en-US" sz="1467" dirty="0">
                <a:ln w="0"/>
                <a:latin typeface="Times New Roman" panose="02020603050405020304" pitchFamily="18" charset="0"/>
                <a:cs typeface="Times New Roman" panose="02020603050405020304" pitchFamily="18" charset="0"/>
              </a:rPr>
              <a:t> ban </a:t>
            </a:r>
            <a:r>
              <a:rPr lang="en-US" sz="1467" dirty="0" err="1">
                <a:ln w="0"/>
                <a:latin typeface="Times New Roman" panose="02020603050405020304" pitchFamily="18" charset="0"/>
                <a:cs typeface="Times New Roman" panose="02020603050405020304" pitchFamily="18" charset="0"/>
              </a:rPr>
              <a:t>hành</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phần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mềm</a:t>
            </a:r>
            <a:r>
              <a:rPr lang="en-US" sz="1467" dirty="0">
                <a:ln w="0"/>
                <a:latin typeface="Times New Roman" panose="02020603050405020304" pitchFamily="18" charset="0"/>
                <a:cs typeface="Times New Roman" panose="02020603050405020304" pitchFamily="18" charset="0"/>
              </a:rPr>
              <a:t> EEC Software 6.1.1: </a:t>
            </a:r>
            <a:r>
              <a:rPr lang="en-US" sz="1467" dirty="0" err="1">
                <a:ln w="0"/>
                <a:latin typeface="Times New Roman" panose="02020603050405020304" pitchFamily="18" charset="0"/>
                <a:cs typeface="Times New Roman" panose="02020603050405020304" pitchFamily="18" charset="0"/>
              </a:rPr>
              <a:t>đã</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nâng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cấp</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toàn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đội</a:t>
            </a:r>
            <a:r>
              <a:rPr lang="en-US" sz="1467" dirty="0">
                <a:ln w="0"/>
                <a:latin typeface="Times New Roman" panose="02020603050405020304" pitchFamily="18" charset="0"/>
                <a:cs typeface="Times New Roman" panose="02020603050405020304" pitchFamily="18" charset="0"/>
              </a:rPr>
              <a:t> bay. </a:t>
            </a:r>
            <a:r>
              <a:rPr lang="en-US" sz="1467" dirty="0">
                <a:ln w="0"/>
                <a:latin typeface="Times New Roman" panose="02020603050405020304" pitchFamily="18" charset="0"/>
                <a:cs typeface="Times New Roman" panose="02020603050405020304" pitchFamily="18" charset="0"/>
                <a:sym typeface="Wingdings" panose="05000000000000000000" pitchFamily="2" charset="2"/>
              </a:rPr>
              <a:t></a:t>
            </a:r>
            <a:r>
              <a:rPr lang="en-US" sz="1467" dirty="0">
                <a:ln w="0"/>
                <a:latin typeface="Times New Roman" panose="02020603050405020304" pitchFamily="18" charset="0"/>
                <a:cs typeface="Times New Roman" panose="02020603050405020304" pitchFamily="18" charset="0"/>
              </a:rPr>
              <a:t>Theo </a:t>
            </a:r>
            <a:r>
              <a:rPr lang="en-US" sz="1467" dirty="0" err="1">
                <a:ln w="0"/>
                <a:latin typeface="Times New Roman" panose="02020603050405020304" pitchFamily="18" charset="0"/>
                <a:cs typeface="Times New Roman" panose="02020603050405020304" pitchFamily="18" charset="0"/>
              </a:rPr>
              <a:t>thông</a:t>
            </a:r>
            <a:r>
              <a:rPr lang="en-US" sz="1467" dirty="0">
                <a:ln w="0"/>
                <a:latin typeface="Times New Roman" panose="02020603050405020304" pitchFamily="18" charset="0"/>
                <a:cs typeface="Times New Roman" panose="02020603050405020304" pitchFamily="18" charset="0"/>
              </a:rPr>
              <a:t> tin </a:t>
            </a:r>
            <a:r>
              <a:rPr lang="en-US" sz="1467" dirty="0" err="1">
                <a:ln w="0"/>
                <a:latin typeface="Times New Roman" panose="02020603050405020304" pitchFamily="18" charset="0"/>
                <a:cs typeface="Times New Roman" panose="02020603050405020304" pitchFamily="18" charset="0"/>
              </a:rPr>
              <a:t>từ</a:t>
            </a:r>
            <a:r>
              <a:rPr lang="en-US" sz="1467" dirty="0">
                <a:ln w="0"/>
                <a:latin typeface="Times New Roman" panose="02020603050405020304" pitchFamily="18" charset="0"/>
                <a:cs typeface="Times New Roman" panose="02020603050405020304" pitchFamily="18" charset="0"/>
              </a:rPr>
              <a:t> Airbus, </a:t>
            </a:r>
            <a:r>
              <a:rPr lang="en-US" sz="1467" dirty="0" err="1">
                <a:ln w="0"/>
                <a:latin typeface="Times New Roman" panose="02020603050405020304" pitchFamily="18" charset="0"/>
                <a:cs typeface="Times New Roman" panose="02020603050405020304" pitchFamily="18" charset="0"/>
              </a:rPr>
              <a:t>phần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mềm</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này</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giúp</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hạn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chế</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nh</a:t>
            </a:r>
            <a:r>
              <a:rPr lang="vi-VN" sz="1467" dirty="0">
                <a:ln w="0"/>
                <a:latin typeface="Times New Roman" panose="02020603050405020304" pitchFamily="18" charset="0"/>
                <a:cs typeface="Times New Roman" panose="02020603050405020304" pitchFamily="18" charset="0"/>
              </a:rPr>
              <a:t>ư</a:t>
            </a:r>
            <a:r>
              <a:rPr lang="en-US" sz="1467" dirty="0">
                <a:ln w="0"/>
                <a:latin typeface="Times New Roman" panose="02020603050405020304" pitchFamily="18" charset="0"/>
                <a:cs typeface="Times New Roman" panose="02020603050405020304" pitchFamily="18" charset="0"/>
              </a:rPr>
              <a:t>ng </a:t>
            </a:r>
            <a:r>
              <a:rPr lang="en-US" sz="1467" dirty="0" err="1">
                <a:ln w="0"/>
                <a:latin typeface="Times New Roman" panose="02020603050405020304" pitchFamily="18" charset="0"/>
                <a:cs typeface="Times New Roman" panose="02020603050405020304" pitchFamily="18" charset="0"/>
              </a:rPr>
              <a:t>không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ngăn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chặn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hoàn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toàn</a:t>
            </a:r>
            <a:r>
              <a:rPr lang="en-US" sz="1467" dirty="0">
                <a:ln w="0"/>
                <a:latin typeface="Times New Roman" panose="02020603050405020304" pitchFamily="18" charset="0"/>
                <a:cs typeface="Times New Roman" panose="02020603050405020304" pitchFamily="18" charset="0"/>
              </a:rPr>
              <a:t> đ</a:t>
            </a:r>
            <a:r>
              <a:rPr lang="vi-VN" sz="1467" dirty="0">
                <a:ln w="0"/>
                <a:latin typeface="Times New Roman" panose="02020603050405020304" pitchFamily="18" charset="0"/>
                <a:cs typeface="Times New Roman" panose="02020603050405020304" pitchFamily="18" charset="0"/>
              </a:rPr>
              <a:t>ư</a:t>
            </a:r>
            <a:r>
              <a:rPr lang="en-US" sz="1467" dirty="0" err="1">
                <a:ln w="0"/>
                <a:latin typeface="Times New Roman" panose="02020603050405020304" pitchFamily="18" charset="0"/>
                <a:cs typeface="Times New Roman" panose="02020603050405020304" pitchFamily="18" charset="0"/>
              </a:rPr>
              <a:t>ợc</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vấn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đề</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cảnh</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báo</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vẫn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xuất</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hiện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lại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nếu</a:t>
            </a:r>
            <a:r>
              <a:rPr lang="en-US" sz="1467" dirty="0">
                <a:ln w="0"/>
                <a:latin typeface="Times New Roman" panose="02020603050405020304" pitchFamily="18" charset="0"/>
                <a:cs typeface="Times New Roman" panose="02020603050405020304" pitchFamily="18" charset="0"/>
              </a:rPr>
              <a:t> phi </a:t>
            </a:r>
            <a:r>
              <a:rPr lang="en-US" sz="1467" dirty="0" err="1">
                <a:ln w="0"/>
                <a:latin typeface="Times New Roman" panose="02020603050405020304" pitchFamily="18" charset="0"/>
                <a:cs typeface="Times New Roman" panose="02020603050405020304" pitchFamily="18" charset="0"/>
              </a:rPr>
              <a:t>công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thay</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đổi</a:t>
            </a:r>
            <a:r>
              <a:rPr lang="en-US" sz="1467" dirty="0">
                <a:ln w="0"/>
                <a:latin typeface="Times New Roman" panose="02020603050405020304" pitchFamily="18" charset="0"/>
                <a:cs typeface="Times New Roman" panose="02020603050405020304" pitchFamily="18" charset="0"/>
              </a:rPr>
              <a:t> ga </a:t>
            </a:r>
            <a:r>
              <a:rPr lang="en-US" sz="1467" dirty="0" err="1">
                <a:ln w="0"/>
                <a:latin typeface="Times New Roman" panose="02020603050405020304" pitchFamily="18" charset="0"/>
                <a:cs typeface="Times New Roman" panose="02020603050405020304" pitchFamily="18" charset="0"/>
              </a:rPr>
              <a:t>quá</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đột</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ngột</a:t>
            </a:r>
            <a:r>
              <a:rPr lang="en-US" sz="1467" dirty="0">
                <a:ln w="0"/>
                <a:latin typeface="Times New Roman" panose="02020603050405020304" pitchFamily="18" charset="0"/>
                <a:cs typeface="Times New Roman" panose="02020603050405020304" pitchFamily="18" charset="0"/>
              </a:rPr>
              <a:t>.</a:t>
            </a:r>
          </a:p>
          <a:p>
            <a:pPr marL="380990" indent="-380990">
              <a:buFontTx/>
              <a:buChar char="-"/>
            </a:pPr>
            <a:r>
              <a:rPr lang="en-US" sz="1467" dirty="0">
                <a:ln w="0"/>
                <a:latin typeface="Times New Roman" panose="02020603050405020304" pitchFamily="18" charset="0"/>
                <a:cs typeface="Times New Roman" panose="02020603050405020304" pitchFamily="18" charset="0"/>
              </a:rPr>
              <a:t>EEC Software 16.2 bao </a:t>
            </a:r>
            <a:r>
              <a:rPr lang="en-US" sz="1467" dirty="0" err="1">
                <a:ln w="0"/>
                <a:latin typeface="Times New Roman" panose="02020603050405020304" pitchFamily="18" charset="0"/>
                <a:cs typeface="Times New Roman" panose="02020603050405020304" pitchFamily="18" charset="0"/>
              </a:rPr>
              <a:t>gồm</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chức</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năng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hạn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chế</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báo</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giả</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dự</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kiến</a:t>
            </a:r>
            <a:r>
              <a:rPr lang="en-US" sz="1467" dirty="0">
                <a:ln w="0"/>
                <a:latin typeface="Times New Roman" panose="02020603050405020304" pitchFamily="18" charset="0"/>
                <a:cs typeface="Times New Roman" panose="02020603050405020304" pitchFamily="18" charset="0"/>
              </a:rPr>
              <a:t> ban </a:t>
            </a:r>
            <a:r>
              <a:rPr lang="en-US" sz="1467" dirty="0" err="1">
                <a:ln w="0"/>
                <a:latin typeface="Times New Roman" panose="02020603050405020304" pitchFamily="18" charset="0"/>
                <a:cs typeface="Times New Roman" panose="02020603050405020304" pitchFamily="18" charset="0"/>
              </a:rPr>
              <a:t>hành</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cuối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năm</a:t>
            </a:r>
            <a:r>
              <a:rPr lang="en-US" sz="1467" dirty="0">
                <a:ln w="0"/>
                <a:latin typeface="Times New Roman" panose="02020603050405020304" pitchFamily="18" charset="0"/>
                <a:cs typeface="Times New Roman" panose="02020603050405020304" pitchFamily="18" charset="0"/>
              </a:rPr>
              <a:t> 2025. VNA </a:t>
            </a:r>
            <a:r>
              <a:rPr lang="en-US" sz="1467" dirty="0" err="1">
                <a:ln w="0"/>
                <a:latin typeface="Times New Roman" panose="02020603050405020304" pitchFamily="18" charset="0"/>
                <a:cs typeface="Times New Roman" panose="02020603050405020304" pitchFamily="18" charset="0"/>
              </a:rPr>
              <a:t>sẽ</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tiến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hành</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nâng</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cấp</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khi</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phần</a:t>
            </a:r>
            <a:r>
              <a:rPr lang="en-US" sz="1467" dirty="0">
                <a:ln w="0"/>
                <a:latin typeface="Times New Roman" panose="02020603050405020304" pitchFamily="18" charset="0"/>
                <a:cs typeface="Times New Roman" panose="02020603050405020304" pitchFamily="18" charset="0"/>
              </a:rPr>
              <a:t> </a:t>
            </a:r>
            <a:r>
              <a:rPr lang="en-US" sz="1467" dirty="0" err="1">
                <a:ln w="0"/>
                <a:latin typeface="Times New Roman" panose="02020603050405020304" pitchFamily="18" charset="0"/>
                <a:cs typeface="Times New Roman" panose="02020603050405020304" pitchFamily="18" charset="0"/>
              </a:rPr>
              <a:t>mềm</a:t>
            </a:r>
            <a:r>
              <a:rPr lang="en-US" sz="1467" dirty="0">
                <a:ln w="0"/>
                <a:latin typeface="Times New Roman" panose="02020603050405020304" pitchFamily="18" charset="0"/>
                <a:cs typeface="Times New Roman" panose="02020603050405020304" pitchFamily="18" charset="0"/>
              </a:rPr>
              <a:t> đ</a:t>
            </a:r>
            <a:r>
              <a:rPr lang="vi-VN" sz="1467" dirty="0">
                <a:ln w="0"/>
                <a:latin typeface="Times New Roman" panose="02020603050405020304" pitchFamily="18" charset="0"/>
                <a:cs typeface="Times New Roman" panose="02020603050405020304" pitchFamily="18" charset="0"/>
              </a:rPr>
              <a:t>ư</a:t>
            </a:r>
            <a:r>
              <a:rPr lang="en-US" sz="1467" dirty="0" err="1">
                <a:ln w="0"/>
                <a:latin typeface="Times New Roman" panose="02020603050405020304" pitchFamily="18" charset="0"/>
                <a:cs typeface="Times New Roman" panose="02020603050405020304" pitchFamily="18" charset="0"/>
              </a:rPr>
              <a:t>ợc</a:t>
            </a:r>
            <a:r>
              <a:rPr lang="en-US" sz="1467" dirty="0">
                <a:ln w="0"/>
                <a:latin typeface="Times New Roman" panose="02020603050405020304" pitchFamily="18" charset="0"/>
                <a:cs typeface="Times New Roman" panose="02020603050405020304" pitchFamily="18" charset="0"/>
              </a:rPr>
              <a:t> ban </a:t>
            </a:r>
            <a:r>
              <a:rPr lang="en-US" sz="1467" dirty="0" err="1">
                <a:ln w="0"/>
                <a:latin typeface="Times New Roman" panose="02020603050405020304" pitchFamily="18" charset="0"/>
                <a:cs typeface="Times New Roman" panose="02020603050405020304" pitchFamily="18" charset="0"/>
              </a:rPr>
              <a:t>hành</a:t>
            </a:r>
            <a:r>
              <a:rPr lang="en-US" sz="1467" dirty="0">
                <a:ln w="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1B6F9953-E7B2-CD70-5616-9A176F3282B5}"/>
              </a:ext>
            </a:extLst>
          </p:cNvPr>
          <p:cNvPicPr>
            <a:picLocks noChangeAspect="1"/>
          </p:cNvPicPr>
          <p:nvPr/>
        </p:nvPicPr>
        <p:blipFill>
          <a:blip r:embed="rId3"/>
          <a:stretch>
            <a:fillRect/>
          </a:stretch>
        </p:blipFill>
        <p:spPr>
          <a:xfrm>
            <a:off x="6942251" y="2148648"/>
            <a:ext cx="5085960" cy="322592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3F0EEBBC-B49E-454D-2B1A-0F7F1C64F26B}"/>
              </a:ext>
            </a:extLst>
          </p:cNvPr>
          <p:cNvPicPr>
            <a:picLocks noChangeAspect="1"/>
          </p:cNvPicPr>
          <p:nvPr/>
        </p:nvPicPr>
        <p:blipFill>
          <a:blip r:embed="rId4"/>
          <a:srcRect t="41532"/>
          <a:stretch>
            <a:fillRect/>
          </a:stretch>
        </p:blipFill>
        <p:spPr>
          <a:xfrm>
            <a:off x="6942251" y="5499967"/>
            <a:ext cx="5085960" cy="1072077"/>
          </a:xfrm>
          <a:prstGeom prst="rect">
            <a:avLst/>
          </a:prstGeom>
        </p:spPr>
      </p:pic>
    </p:spTree>
    <p:extLst>
      <p:ext uri="{BB962C8B-B14F-4D97-AF65-F5344CB8AC3E}">
        <p14:creationId xmlns:p14="http://schemas.microsoft.com/office/powerpoint/2010/main" val="3608325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70B7CDBA-4BC4-A364-A70A-2A3184BC1EB1}"/>
              </a:ext>
            </a:extLst>
          </p:cNvPr>
          <p:cNvGraphicFramePr>
            <a:graphicFrameLocks noGrp="1"/>
          </p:cNvGraphicFramePr>
          <p:nvPr>
            <p:extLst>
              <p:ext uri="{D42A27DB-BD31-4B8C-83A1-F6EECF244321}">
                <p14:modId xmlns:p14="http://schemas.microsoft.com/office/powerpoint/2010/main" val="1782005892"/>
              </p:ext>
            </p:extLst>
          </p:nvPr>
        </p:nvGraphicFramePr>
        <p:xfrm>
          <a:off x="116179" y="516205"/>
          <a:ext cx="11818246" cy="6332035"/>
        </p:xfrm>
        <a:graphic>
          <a:graphicData uri="http://schemas.openxmlformats.org/drawingml/2006/table">
            <a:tbl>
              <a:tblPr/>
              <a:tblGrid>
                <a:gridCol w="498377">
                  <a:extLst>
                    <a:ext uri="{9D8B030D-6E8A-4147-A177-3AD203B41FA5}">
                      <a16:colId xmlns:a16="http://schemas.microsoft.com/office/drawing/2014/main" val="2115570281"/>
                    </a:ext>
                  </a:extLst>
                </a:gridCol>
                <a:gridCol w="594732">
                  <a:extLst>
                    <a:ext uri="{9D8B030D-6E8A-4147-A177-3AD203B41FA5}">
                      <a16:colId xmlns:a16="http://schemas.microsoft.com/office/drawing/2014/main" val="2123336346"/>
                    </a:ext>
                  </a:extLst>
                </a:gridCol>
                <a:gridCol w="902009">
                  <a:extLst>
                    <a:ext uri="{9D8B030D-6E8A-4147-A177-3AD203B41FA5}">
                      <a16:colId xmlns:a16="http://schemas.microsoft.com/office/drawing/2014/main" val="459803383"/>
                    </a:ext>
                  </a:extLst>
                </a:gridCol>
                <a:gridCol w="971396">
                  <a:extLst>
                    <a:ext uri="{9D8B030D-6E8A-4147-A177-3AD203B41FA5}">
                      <a16:colId xmlns:a16="http://schemas.microsoft.com/office/drawing/2014/main" val="2291110999"/>
                    </a:ext>
                  </a:extLst>
                </a:gridCol>
                <a:gridCol w="1516565">
                  <a:extLst>
                    <a:ext uri="{9D8B030D-6E8A-4147-A177-3AD203B41FA5}">
                      <a16:colId xmlns:a16="http://schemas.microsoft.com/office/drawing/2014/main" val="1420547339"/>
                    </a:ext>
                  </a:extLst>
                </a:gridCol>
                <a:gridCol w="7335167">
                  <a:extLst>
                    <a:ext uri="{9D8B030D-6E8A-4147-A177-3AD203B41FA5}">
                      <a16:colId xmlns:a16="http://schemas.microsoft.com/office/drawing/2014/main" val="3231290271"/>
                    </a:ext>
                  </a:extLst>
                </a:gridCol>
              </a:tblGrid>
              <a:tr h="2053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Tình trạng</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Tình trạng KT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Times New Roman" panose="02020603050405020304" pitchFamily="18" charset="0"/>
                          <a:cs typeface="Times New Roman" panose="02020603050405020304" pitchFamily="18" charset="0"/>
                        </a:rPr>
                        <a:t>Điều kiện chuyên cơ</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Ghi chú</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2131246"/>
                  </a:ext>
                </a:extLst>
              </a:tr>
              <a:tr h="6117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A886</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Times New Roman" panose="02020603050405020304" pitchFamily="18" charset="0"/>
                          <a:cs typeface="Times New Roman" panose="02020603050405020304" pitchFamily="18" charset="0"/>
                        </a:rPr>
                        <a:t>1.  ADD C1456 RAISED SUPPLEMENTAL COOLING SYSTEM INOP</a:t>
                      </a:r>
                      <a:br>
                        <a:rPr lang="en-SG" sz="1300" b="0" i="0" u="none" strike="noStrike">
                          <a:solidFill>
                            <a:srgbClr val="000000"/>
                          </a:solidFill>
                          <a:effectLst/>
                          <a:latin typeface="Times New Roman" panose="02020603050405020304" pitchFamily="18" charset="0"/>
                          <a:cs typeface="Times New Roman" panose="02020603050405020304" pitchFamily="18" charset="0"/>
                        </a:rPr>
                      </a:br>
                      <a:r>
                        <a:rPr lang="en-SG" sz="1300" b="0" i="0" u="none" strike="noStrike">
                          <a:solidFill>
                            <a:srgbClr val="000000"/>
                          </a:solidFill>
                          <a:effectLst/>
                          <a:latin typeface="Times New Roman" panose="02020603050405020304" pitchFamily="18" charset="0"/>
                          <a:cs typeface="Times New Roman" panose="02020603050405020304" pitchFamily="18" charset="0"/>
                        </a:rPr>
                        <a:t>2. ADD B1390 RAISED LH BELLY FAIRING TO FLAP TRUNNION SEAL (ON PANEL 097FL)</a:t>
                      </a:r>
                      <a:br>
                        <a:rPr lang="en-SG" sz="1300" b="0" i="0" u="none" strike="noStrike">
                          <a:solidFill>
                            <a:srgbClr val="000000"/>
                          </a:solidFill>
                          <a:effectLst/>
                          <a:latin typeface="Times New Roman" panose="02020603050405020304" pitchFamily="18" charset="0"/>
                          <a:cs typeface="Times New Roman" panose="02020603050405020304" pitchFamily="18" charset="0"/>
                        </a:rPr>
                      </a:br>
                      <a:r>
                        <a:rPr lang="en-SG" sz="1300" b="0" i="0" u="none" strike="noStrike">
                          <a:solidFill>
                            <a:srgbClr val="000000"/>
                          </a:solidFill>
                          <a:effectLst/>
                          <a:latin typeface="Times New Roman" panose="02020603050405020304" pitchFamily="18" charset="0"/>
                          <a:cs typeface="Times New Roman" panose="02020603050405020304" pitchFamily="18" charset="0"/>
                        </a:rPr>
                        <a:t>3. ADD B1405 RAISED SATCOM INOP</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8070943"/>
                  </a:ext>
                </a:extLst>
              </a:tr>
              <a:tr h="8149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A887</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Times New Roman" panose="02020603050405020304" pitchFamily="18" charset="0"/>
                          <a:cs typeface="Times New Roman" panose="02020603050405020304" pitchFamily="18" charset="0"/>
                        </a:rPr>
                        <a:t>1. Không chọn chuyên cơ do động cơ số 2 S/N 21369 tiêu hao dầu nhờn cao</a:t>
                      </a:r>
                      <a:br>
                        <a:rPr lang="vi-VN" sz="1300" b="0" i="0" u="none" strike="noStrike">
                          <a:solidFill>
                            <a:srgbClr val="000000"/>
                          </a:solidFill>
                          <a:effectLst/>
                          <a:latin typeface="Times New Roman" panose="02020603050405020304" pitchFamily="18" charset="0"/>
                          <a:cs typeface="Times New Roman" panose="02020603050405020304" pitchFamily="18" charset="0"/>
                        </a:rPr>
                      </a:br>
                      <a:r>
                        <a:rPr lang="vi-VN" sz="1300" b="0" i="0" u="none" strike="noStrike">
                          <a:solidFill>
                            <a:srgbClr val="000000"/>
                          </a:solidFill>
                          <a:effectLst/>
                          <a:latin typeface="Times New Roman" panose="02020603050405020304" pitchFamily="18" charset="0"/>
                          <a:cs typeface="Times New Roman" panose="02020603050405020304" pitchFamily="18" charset="0"/>
                        </a:rPr>
                        <a:t>2. ADD C1270 RAISED CHILLER SYS INOP</a:t>
                      </a:r>
                      <a:br>
                        <a:rPr lang="vi-VN" sz="1300" b="0" i="0" u="none" strike="noStrike">
                          <a:solidFill>
                            <a:srgbClr val="000000"/>
                          </a:solidFill>
                          <a:effectLst/>
                          <a:latin typeface="Times New Roman" panose="02020603050405020304" pitchFamily="18" charset="0"/>
                          <a:cs typeface="Times New Roman" panose="02020603050405020304" pitchFamily="18" charset="0"/>
                        </a:rPr>
                      </a:br>
                      <a:r>
                        <a:rPr lang="vi-VN" sz="1300" b="0" i="0" u="none" strike="noStrike">
                          <a:solidFill>
                            <a:srgbClr val="000000"/>
                          </a:solidFill>
                          <a:effectLst/>
                          <a:latin typeface="Times New Roman" panose="02020603050405020304" pitchFamily="18" charset="0"/>
                          <a:cs typeface="Times New Roman" panose="02020603050405020304" pitchFamily="18" charset="0"/>
                        </a:rPr>
                        <a:t>4. ADD B1300: F/CTL LOWER AILERON G ACTUATOR</a:t>
                      </a:r>
                      <a:br>
                        <a:rPr lang="vi-VN" sz="1300" b="0" i="0" u="none" strike="noStrike">
                          <a:solidFill>
                            <a:srgbClr val="000000"/>
                          </a:solidFill>
                          <a:effectLst/>
                          <a:latin typeface="Times New Roman" panose="02020603050405020304" pitchFamily="18" charset="0"/>
                          <a:cs typeface="Times New Roman" panose="02020603050405020304" pitchFamily="18" charset="0"/>
                        </a:rPr>
                      </a:br>
                      <a:r>
                        <a:rPr lang="vi-VN" sz="1300" b="0" i="0" u="none" strike="noStrike">
                          <a:solidFill>
                            <a:srgbClr val="000000"/>
                          </a:solidFill>
                          <a:effectLst/>
                          <a:latin typeface="Times New Roman" panose="02020603050405020304" pitchFamily="18" charset="0"/>
                          <a:cs typeface="Times New Roman" panose="02020603050405020304" pitchFamily="18" charset="0"/>
                        </a:rPr>
                        <a:t>6. ADD B1302 RAISED DM F/CTL ONE GYRO/ ACCLMTR</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6377885"/>
                  </a:ext>
                </a:extLst>
              </a:tr>
              <a:tr h="6117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A888</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1. Eng 2 21682  giảm tần suất soi heatshield 2400FH/400FC,  giảm tần suất soi HPT blade 2000FH/250FC</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2. FM: ENG1 LOW OIL LEVEL. FC: 7321F7FB/7321F3WV intm appeare during take off phasse </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3. ADD C1236 RAISED CHILLER SYS INOP</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7279573"/>
                  </a:ext>
                </a:extLst>
              </a:tr>
              <a:tr h="6117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A889</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1. Eng 1 21088 giảm tần suất soi HPT blade 800FH/100FC</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2. FM: ENG2 LOW OIL LEVEL. FC: 7321FAZT/7321FEJ9 intm appeare during take off phasse</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3. ADD B1299 "ELC C/B MONITORING"</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2611420"/>
                  </a:ext>
                </a:extLst>
              </a:tr>
              <a:tr h="4085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A890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1. ADD B1558 RAISED ICE INDICATION LGT ON BOTH SIDE INOP</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2. ADD B1575 RAISED FOR ELEC DRIVE 2B DISCONNECTED</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5597701"/>
                  </a:ext>
                </a:extLst>
              </a:tr>
              <a:tr h="2053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A891</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 </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6828221"/>
                  </a:ext>
                </a:extLst>
              </a:tr>
              <a:tr h="4085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A892</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Times New Roman" panose="02020603050405020304" pitchFamily="18" charset="0"/>
                          <a:cs typeface="Times New Roman" panose="02020603050405020304" pitchFamily="18" charset="0"/>
                        </a:rPr>
                        <a:t>1. ADD C1203 RAISED CHILLER SYS INOP </a:t>
                      </a:r>
                      <a:br>
                        <a:rPr lang="en-SG" sz="1300" b="0" i="0" u="none" strike="noStrike">
                          <a:solidFill>
                            <a:srgbClr val="000000"/>
                          </a:solidFill>
                          <a:effectLst/>
                          <a:latin typeface="Times New Roman" panose="02020603050405020304" pitchFamily="18" charset="0"/>
                          <a:cs typeface="Times New Roman" panose="02020603050405020304" pitchFamily="18" charset="0"/>
                        </a:rPr>
                      </a:br>
                      <a:r>
                        <a:rPr lang="en-SG" sz="1300" b="0" i="0" u="none" strike="noStrike">
                          <a:solidFill>
                            <a:srgbClr val="000000"/>
                          </a:solidFill>
                          <a:effectLst/>
                          <a:latin typeface="Times New Roman" panose="02020603050405020304" pitchFamily="18" charset="0"/>
                          <a:cs typeface="Times New Roman" panose="02020603050405020304" pitchFamily="18" charset="0"/>
                        </a:rPr>
                        <a:t>2. ADD B1624 DM ENG 2 SINGLE FIRE LOOP</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1536614"/>
                  </a:ext>
                </a:extLst>
              </a:tr>
              <a:tr h="4085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A893</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Times New Roman" panose="02020603050405020304" pitchFamily="18" charset="0"/>
                          <a:cs typeface="Times New Roman" panose="02020603050405020304" pitchFamily="18" charset="0"/>
                        </a:rPr>
                        <a:t>1. ADD C1191 RAISED CHILLER AT AFT CREWREST INOP</a:t>
                      </a:r>
                      <a:br>
                        <a:rPr lang="en-SG" sz="1300" b="0" i="0" u="none" strike="noStrike">
                          <a:solidFill>
                            <a:srgbClr val="000000"/>
                          </a:solidFill>
                          <a:effectLst/>
                          <a:latin typeface="Times New Roman" panose="02020603050405020304" pitchFamily="18" charset="0"/>
                          <a:cs typeface="Times New Roman" panose="02020603050405020304" pitchFamily="18" charset="0"/>
                        </a:rPr>
                      </a:br>
                      <a:r>
                        <a:rPr lang="en-SG" sz="1300" b="0" i="0" u="none" strike="noStrike">
                          <a:solidFill>
                            <a:srgbClr val="000000"/>
                          </a:solidFill>
                          <a:effectLst/>
                          <a:latin typeface="Times New Roman" panose="02020603050405020304" pitchFamily="18" charset="0"/>
                          <a:cs typeface="Times New Roman" panose="02020603050405020304" pitchFamily="18" charset="0"/>
                        </a:rPr>
                        <a:t>2. ADD B1464 RAISED " BULK CARGO HEATER "</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5658923"/>
                  </a:ext>
                </a:extLst>
              </a:tr>
              <a:tr h="2053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A894</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1. Eng 1 21317  giảm tần suất soi IPC blade root 100FC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8929999"/>
                  </a:ext>
                </a:extLst>
              </a:tr>
              <a:tr h="2053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A895</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 </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2531660"/>
                  </a:ext>
                </a:extLst>
              </a:tr>
              <a:tr h="6117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A896</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1. C855 RAISED CHILLER SYSTEM INOP</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2. ADD B1089 RAISED ELEC C/B MONITORING</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4. ADD B1091 ENG#2 SINGLE IGN(IGNITER PLUG 2</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8540548"/>
                  </a:ext>
                </a:extLst>
              </a:tr>
              <a:tr h="4085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A897</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1. Eng 2 21214 giảm tần suất soi heatshield 2400FH/400FC</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5. TR 81623152: HIGH TEMPERATURE GREEN RESERVOIR -&gt; 25/07: REPLACED BYPASS VALVE </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8875589"/>
                  </a:ext>
                </a:extLst>
              </a:tr>
              <a:tr h="408589">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A898</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1. Eng 2 21268 soi HPT blade 200FH/25FC, giảm tần suất soi IPC blade root 100FCC</a:t>
                      </a:r>
                      <a:br>
                        <a:rPr lang="en-US" sz="1300" b="0" i="0" u="none" strike="noStrike">
                          <a:solidFill>
                            <a:srgbClr val="000000"/>
                          </a:solidFill>
                          <a:effectLst/>
                          <a:latin typeface="Times New Roman" panose="02020603050405020304" pitchFamily="18" charset="0"/>
                          <a:cs typeface="Times New Roman" panose="02020603050405020304" pitchFamily="18" charset="0"/>
                        </a:rPr>
                      </a:br>
                      <a:r>
                        <a:rPr lang="en-US" sz="1300" b="0" i="0" u="none" strike="noStrike">
                          <a:solidFill>
                            <a:srgbClr val="000000"/>
                          </a:solidFill>
                          <a:effectLst/>
                          <a:latin typeface="Times New Roman" panose="02020603050405020304" pitchFamily="18" charset="0"/>
                          <a:cs typeface="Times New Roman" panose="02020603050405020304" pitchFamily="18" charset="0"/>
                        </a:rPr>
                        <a:t>2. ADD B1208 RAISED AFT GALLEY HEATER FAULT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0630044"/>
                  </a:ext>
                </a:extLst>
              </a:tr>
              <a:tr h="205389">
                <a:tc>
                  <a:txBody>
                    <a:bodyPr/>
                    <a:lstStyle/>
                    <a:p>
                      <a:pPr algn="ctr" fontAlgn="ctr"/>
                      <a:r>
                        <a:rPr lang="en-US" sz="1300" b="0" i="0" u="none" strike="noStrike">
                          <a:solidFill>
                            <a:srgbClr val="000000"/>
                          </a:solidFill>
                          <a:effectLst/>
                          <a:latin typeface="Calibri" panose="020F0502020204030204" pitchFamily="34" charset="0"/>
                        </a:rPr>
                        <a:t>A350</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SG" sz="1300" b="0" i="0" u="none" strike="noStrike">
                        <a:solidFill>
                          <a:srgbClr val="000000"/>
                        </a:solidFill>
                        <a:effectLst/>
                        <a:latin typeface="Calibri" panose="020F0502020204030204" pitchFamily="34" charset="0"/>
                      </a:endParaRPr>
                    </a:p>
                  </a:txBody>
                  <a:tcPr marL="2189" marR="2189" marT="2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1439694"/>
                  </a:ext>
                </a:extLst>
              </a:tr>
            </a:tbl>
          </a:graphicData>
        </a:graphic>
      </p:graphicFrame>
    </p:spTree>
    <p:extLst>
      <p:ext uri="{BB962C8B-B14F-4D97-AF65-F5344CB8AC3E}">
        <p14:creationId xmlns:p14="http://schemas.microsoft.com/office/powerpoint/2010/main" val="2872558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376707" y="685800"/>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381000" y="1366177"/>
            <a:ext cx="10820400" cy="1384995"/>
          </a:xfrm>
          <a:prstGeom prst="rect">
            <a:avLst/>
          </a:prstGeom>
        </p:spPr>
        <p:txBody>
          <a:bodyPr wrap="square">
            <a:spAutoFit/>
          </a:bodyPr>
          <a:lstStyle/>
          <a:p>
            <a:pPr algn="just">
              <a:buClrTx/>
              <a:buFontTx/>
              <a:buNone/>
            </a:pPr>
            <a:r>
              <a:rPr lang="en-US" sz="1400" b="1" err="1">
                <a:solidFill>
                  <a:prstClr val="black"/>
                </a:solidFill>
                <a:latin typeface="Times New Roman" panose="02020603050405020304" pitchFamily="18" charset="0"/>
                <a:cs typeface="Times New Roman" panose="02020603050405020304" pitchFamily="18" charset="0"/>
              </a:rPr>
              <a:t>Nhận</a:t>
            </a:r>
            <a:r>
              <a:rPr lang="en-US" sz="1400" b="1">
                <a:solidFill>
                  <a:prstClr val="black"/>
                </a:solidFill>
                <a:latin typeface="Times New Roman" panose="02020603050405020304" pitchFamily="18" charset="0"/>
                <a:cs typeface="Times New Roman" panose="02020603050405020304" pitchFamily="18" charset="0"/>
              </a:rPr>
              <a:t> </a:t>
            </a:r>
            <a:r>
              <a:rPr lang="en-US" sz="1400" b="1" err="1">
                <a:solidFill>
                  <a:prstClr val="black"/>
                </a:solidFill>
                <a:latin typeface="Times New Roman" panose="02020603050405020304" pitchFamily="18" charset="0"/>
                <a:cs typeface="Times New Roman" panose="02020603050405020304" pitchFamily="18" charset="0"/>
              </a:rPr>
              <a:t>xét</a:t>
            </a:r>
            <a:r>
              <a:rPr lang="en-US" sz="1400" b="1">
                <a:solidFill>
                  <a:prstClr val="black"/>
                </a:solidFill>
                <a:latin typeface="Times New Roman" panose="02020603050405020304" pitchFamily="18" charset="0"/>
                <a:cs typeface="Times New Roman" panose="02020603050405020304" pitchFamily="18" charset="0"/>
              </a:rPr>
              <a:t>: </a:t>
            </a:r>
          </a:p>
          <a:p>
            <a:pPr marL="285750" indent="-285750" algn="just">
              <a:buClrTx/>
              <a:buFontTx/>
              <a:buChar char="-"/>
            </a:pPr>
            <a:r>
              <a:rPr lang="vi-VN" sz="1400">
                <a:solidFill>
                  <a:prstClr val="black"/>
                </a:solidFill>
                <a:latin typeface="Times New Roman" panose="02020603050405020304" pitchFamily="18" charset="0"/>
                <a:cs typeface="Times New Roman" panose="02020603050405020304" pitchFamily="18" charset="0"/>
              </a:rPr>
              <a:t>Tình hình kỹ thuật đội bay A3</a:t>
            </a:r>
            <a:r>
              <a:rPr lang="en-US" sz="1400">
                <a:solidFill>
                  <a:prstClr val="black"/>
                </a:solidFill>
                <a:latin typeface="Times New Roman" panose="02020603050405020304" pitchFamily="18" charset="0"/>
                <a:cs typeface="Times New Roman" panose="02020603050405020304" pitchFamily="18" charset="0"/>
              </a:rPr>
              <a:t>50 trong tuần tương đối tốt với 01 TH GTB.</a:t>
            </a:r>
          </a:p>
          <a:p>
            <a:pPr marL="285750" indent="-285750" algn="just">
              <a:buClrTx/>
              <a:buFontTx/>
              <a:buChar char="-"/>
            </a:pPr>
            <a:r>
              <a:rPr lang="en-US" sz="1400">
                <a:solidFill>
                  <a:prstClr val="black"/>
                </a:solidFill>
                <a:latin typeface="Times New Roman" panose="02020603050405020304" pitchFamily="18" charset="0"/>
                <a:cs typeface="Times New Roman" panose="02020603050405020304" pitchFamily="18" charset="0"/>
              </a:rPr>
              <a:t>Hỏng hóc nổi cộm: </a:t>
            </a:r>
          </a:p>
          <a:p>
            <a:pPr lvl="1" algn="just"/>
            <a:r>
              <a:rPr lang="en-SG" sz="1400">
                <a:latin typeface="Times New Roman" panose="02020603050405020304" pitchFamily="18" charset="0"/>
                <a:cs typeface="Times New Roman" panose="02020603050405020304" pitchFamily="18" charset="0"/>
              </a:rPr>
              <a:t>+ A886 GTB VN335 KIX-HAN ngày 26/07 do phát sinh DURING TAXI APPEAR MSG ENG#1 STATOR A-ICE VLV CLOSED.</a:t>
            </a:r>
          </a:p>
          <a:p>
            <a:pPr lvl="1" algn="just"/>
            <a:r>
              <a:rPr lang="en-SG" sz="1400">
                <a:latin typeface="Times New Roman" panose="02020603050405020304" pitchFamily="18" charset="0"/>
                <a:cs typeface="Times New Roman" panose="02020603050405020304" pitchFamily="18" charset="0"/>
              </a:rPr>
              <a:t>TSV A350 SUPPORT CREWS VIA VIBER, C/O RESET AND ERU OK. HOWEVER AFTER CAPT POWER ENG 30-40%, A/C COULD NOT MOVE. CAPT DICIDE GTB -&gt; LOCAL TECH CHECK A/C ALL NORMAL. ADD MORE FUEL</a:t>
            </a:r>
          </a:p>
        </p:txBody>
      </p:sp>
    </p:spTree>
    <p:extLst>
      <p:ext uri="{BB962C8B-B14F-4D97-AF65-F5344CB8AC3E}">
        <p14:creationId xmlns:p14="http://schemas.microsoft.com/office/powerpoint/2010/main" val="506050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154881FF-3EEB-F233-5D9A-37C624EF10F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99184FA-839E-6DE6-7572-8A33CADA77D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6BC49F0-CAB5-A26A-3709-79D7029D71AE}"/>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9A18E023-88CE-4DF7-92F4-761F22654A06}"/>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06</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9419AB4C-20B1-4FD3-BA76-A4F91B874EE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06 (5 non 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9DB065F-E5F4-431E-1FF0-C1833E4D32FF}"/>
              </a:ext>
            </a:extLst>
          </p:cNvPr>
          <p:cNvGraphicFramePr>
            <a:graphicFrameLocks noGrp="1"/>
          </p:cNvGraphicFramePr>
          <p:nvPr>
            <p:extLst>
              <p:ext uri="{D42A27DB-BD31-4B8C-83A1-F6EECF244321}">
                <p14:modId xmlns:p14="http://schemas.microsoft.com/office/powerpoint/2010/main" val="1480493891"/>
              </p:ext>
            </p:extLst>
          </p:nvPr>
        </p:nvGraphicFramePr>
        <p:xfrm>
          <a:off x="134289" y="1523577"/>
          <a:ext cx="11594404" cy="2939838"/>
        </p:xfrm>
        <a:graphic>
          <a:graphicData uri="http://schemas.openxmlformats.org/drawingml/2006/table">
            <a:tbl>
              <a:tblPr/>
              <a:tblGrid>
                <a:gridCol w="322911">
                  <a:extLst>
                    <a:ext uri="{9D8B030D-6E8A-4147-A177-3AD203B41FA5}">
                      <a16:colId xmlns:a16="http://schemas.microsoft.com/office/drawing/2014/main" val="3631826415"/>
                    </a:ext>
                  </a:extLst>
                </a:gridCol>
                <a:gridCol w="562524">
                  <a:extLst>
                    <a:ext uri="{9D8B030D-6E8A-4147-A177-3AD203B41FA5}">
                      <a16:colId xmlns:a16="http://schemas.microsoft.com/office/drawing/2014/main" val="2985415475"/>
                    </a:ext>
                  </a:extLst>
                </a:gridCol>
                <a:gridCol w="227341">
                  <a:extLst>
                    <a:ext uri="{9D8B030D-6E8A-4147-A177-3AD203B41FA5}">
                      <a16:colId xmlns:a16="http://schemas.microsoft.com/office/drawing/2014/main" val="3429498714"/>
                    </a:ext>
                  </a:extLst>
                </a:gridCol>
                <a:gridCol w="616215">
                  <a:extLst>
                    <a:ext uri="{9D8B030D-6E8A-4147-A177-3AD203B41FA5}">
                      <a16:colId xmlns:a16="http://schemas.microsoft.com/office/drawing/2014/main" val="1120058905"/>
                    </a:ext>
                  </a:extLst>
                </a:gridCol>
                <a:gridCol w="460664">
                  <a:extLst>
                    <a:ext uri="{9D8B030D-6E8A-4147-A177-3AD203B41FA5}">
                      <a16:colId xmlns:a16="http://schemas.microsoft.com/office/drawing/2014/main" val="144532814"/>
                    </a:ext>
                  </a:extLst>
                </a:gridCol>
                <a:gridCol w="376908">
                  <a:extLst>
                    <a:ext uri="{9D8B030D-6E8A-4147-A177-3AD203B41FA5}">
                      <a16:colId xmlns:a16="http://schemas.microsoft.com/office/drawing/2014/main" val="3010832180"/>
                    </a:ext>
                  </a:extLst>
                </a:gridCol>
                <a:gridCol w="2560581">
                  <a:extLst>
                    <a:ext uri="{9D8B030D-6E8A-4147-A177-3AD203B41FA5}">
                      <a16:colId xmlns:a16="http://schemas.microsoft.com/office/drawing/2014/main" val="4147137956"/>
                    </a:ext>
                  </a:extLst>
                </a:gridCol>
                <a:gridCol w="3128934">
                  <a:extLst>
                    <a:ext uri="{9D8B030D-6E8A-4147-A177-3AD203B41FA5}">
                      <a16:colId xmlns:a16="http://schemas.microsoft.com/office/drawing/2014/main" val="2286568677"/>
                    </a:ext>
                  </a:extLst>
                </a:gridCol>
                <a:gridCol w="233323">
                  <a:extLst>
                    <a:ext uri="{9D8B030D-6E8A-4147-A177-3AD203B41FA5}">
                      <a16:colId xmlns:a16="http://schemas.microsoft.com/office/drawing/2014/main" val="1193621248"/>
                    </a:ext>
                  </a:extLst>
                </a:gridCol>
                <a:gridCol w="3105003">
                  <a:extLst>
                    <a:ext uri="{9D8B030D-6E8A-4147-A177-3AD203B41FA5}">
                      <a16:colId xmlns:a16="http://schemas.microsoft.com/office/drawing/2014/main" val="512002783"/>
                    </a:ext>
                  </a:extLst>
                </a:gridCol>
              </a:tblGrid>
              <a:tr h="78677">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07899618"/>
                  </a:ext>
                </a:extLst>
              </a:tr>
              <a:tr h="561590">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08:00 26/07/2025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AFTER DOOR HAD BEEN CLOSED, FOUND MSG "STAB GREEN BAND"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&lt;p&gt;&lt;/p&gt; &lt;p&gt;TOTAL DELAY: 22 MINS, TECH DELAY: 22 MINS&lt;/p&gt;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Non-tech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2312448"/>
                  </a:ext>
                </a:extLst>
              </a:tr>
              <a:tr h="314708">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20:00 24/07/2025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STS "LIQUID PUMP R1"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RAISED </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ADD STS LIQUID COOLING R PUMP 1, DEACTIVE </a:t>
                      </a:r>
                      <a:r>
                        <a:rPr lang="en-US" sz="1100" b="0" i="0" u="none" strike="noStrike">
                          <a:solidFill>
                            <a:srgbClr val="000000"/>
                          </a:solidFill>
                          <a:effectLst/>
                          <a:latin typeface="Times New Roman" panose="02020603050405020304" pitchFamily="18" charset="0"/>
                          <a:cs typeface="Times New Roman" panose="02020603050405020304" pitchFamily="18" charset="0"/>
                        </a:rPr>
                        <a:t>PECS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tính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Tech delay 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8927097"/>
                  </a:ext>
                </a:extLst>
              </a:tr>
              <a:tr h="314708">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A869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18:00 22/07/2025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VN977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SGN-DEL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MW #2 CENTER WORN TO 0 MM &lt;p&gt;TRANSIT CHECK FOUND MW #2 CENTER WORN TO 0 MM&lt;/p&gt;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MW </a:t>
                      </a:r>
                      <a:r>
                        <a:rPr lang="en-US" sz="1100" b="0" i="0" u="none" strike="noStrike">
                          <a:solidFill>
                            <a:srgbClr val="000000"/>
                          </a:solidFill>
                          <a:effectLst/>
                          <a:latin typeface="Times New Roman" panose="02020603050405020304" pitchFamily="18" charset="0"/>
                          <a:cs typeface="Times New Roman" panose="02020603050405020304" pitchFamily="18" charset="0"/>
                        </a:rPr>
                        <a:t>#2 REPLACED. CHECK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SATIS</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Non-tech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2171072"/>
                  </a:ext>
                </a:extLst>
              </a:tr>
              <a:tr h="314708">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22:10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VN219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MSG NLG DOOR CLOSSE SOL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raised </a:t>
                      </a:r>
                      <a:r>
                        <a:rPr lang="en-US" sz="1100" b="0" i="0" u="none" strike="noStrike">
                          <a:solidFill>
                            <a:srgbClr val="000000"/>
                          </a:solidFill>
                          <a:effectLst/>
                          <a:latin typeface="Times New Roman" panose="02020603050405020304" pitchFamily="18" charset="0"/>
                          <a:cs typeface="Times New Roman" panose="02020603050405020304" pitchFamily="18" charset="0"/>
                        </a:rPr>
                        <a:t>ADD B1383 iaw MEL 32-31-03-02 Rev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20-01-2025</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32-31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tính</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tech delay 10'</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Thay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thế</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DOOR CONTROL VLV MODULE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để</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khắc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phục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BOE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không</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có</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issue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nào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liên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quan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br>
                        <a:rPr lang="en-US" sz="1100" b="0" i="0" u="none" strike="noStrike" dirty="0">
                          <a:solidFill>
                            <a:srgbClr val="000000"/>
                          </a:solidFill>
                          <a:effectLst/>
                          <a:latin typeface="Times New Roman" panose="02020603050405020304" pitchFamily="18" charset="0"/>
                          <a:cs typeface="Times New Roman" panose="02020603050405020304" pitchFamily="18" charset="0"/>
                        </a:rPr>
                      </a:br>
                      <a:r>
                        <a:rPr lang="en-US" sz="1100" b="0" i="0" u="none" strike="noStrike" dirty="0">
                          <a:solidFill>
                            <a:srgbClr val="000000"/>
                          </a:solidFill>
                          <a:effectLst/>
                          <a:latin typeface="Times New Roman" panose="02020603050405020304" pitchFamily="18" charset="0"/>
                          <a:cs typeface="Times New Roman" panose="02020603050405020304" pitchFamily="18" charset="0"/>
                        </a:rPr>
                        <a:t>ĐTC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tháo</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lắp</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9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khối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rải</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rác</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từ</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2015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đến</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nay.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4320302"/>
                  </a:ext>
                </a:extLst>
              </a:tr>
            </a:tbl>
          </a:graphicData>
        </a:graphic>
      </p:graphicFrame>
    </p:spTree>
    <p:extLst>
      <p:ext uri="{BB962C8B-B14F-4D97-AF65-F5344CB8AC3E}">
        <p14:creationId xmlns:p14="http://schemas.microsoft.com/office/powerpoint/2010/main" val="3970309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3227A3B-F7CA-B325-D5F9-577345E6DFDD}"/>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79182882-E80C-263D-96DA-AFFBD207843C}"/>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0FE20F4-48B2-7E85-894D-A5D2742DE4C9}"/>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8FFA0918-A7F8-FC59-7FC3-796A1ADBC4A9}"/>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06</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FD8F5819-8622-3CA1-D9DE-F62A421B8BBE}"/>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06 (5 non 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F5B49AAB-4A8F-2A73-7D33-2F5C81971FE5}"/>
              </a:ext>
            </a:extLst>
          </p:cNvPr>
          <p:cNvGraphicFramePr>
            <a:graphicFrameLocks noGrp="1"/>
          </p:cNvGraphicFramePr>
          <p:nvPr>
            <p:extLst>
              <p:ext uri="{D42A27DB-BD31-4B8C-83A1-F6EECF244321}">
                <p14:modId xmlns:p14="http://schemas.microsoft.com/office/powerpoint/2010/main" val="1529583450"/>
              </p:ext>
            </p:extLst>
          </p:nvPr>
        </p:nvGraphicFramePr>
        <p:xfrm>
          <a:off x="134289" y="1523577"/>
          <a:ext cx="11594404" cy="2704003"/>
        </p:xfrm>
        <a:graphic>
          <a:graphicData uri="http://schemas.openxmlformats.org/drawingml/2006/table">
            <a:tbl>
              <a:tblPr/>
              <a:tblGrid>
                <a:gridCol w="322911">
                  <a:extLst>
                    <a:ext uri="{9D8B030D-6E8A-4147-A177-3AD203B41FA5}">
                      <a16:colId xmlns:a16="http://schemas.microsoft.com/office/drawing/2014/main" val="3631826415"/>
                    </a:ext>
                  </a:extLst>
                </a:gridCol>
                <a:gridCol w="562524">
                  <a:extLst>
                    <a:ext uri="{9D8B030D-6E8A-4147-A177-3AD203B41FA5}">
                      <a16:colId xmlns:a16="http://schemas.microsoft.com/office/drawing/2014/main" val="2985415475"/>
                    </a:ext>
                  </a:extLst>
                </a:gridCol>
                <a:gridCol w="227341">
                  <a:extLst>
                    <a:ext uri="{9D8B030D-6E8A-4147-A177-3AD203B41FA5}">
                      <a16:colId xmlns:a16="http://schemas.microsoft.com/office/drawing/2014/main" val="3429498714"/>
                    </a:ext>
                  </a:extLst>
                </a:gridCol>
                <a:gridCol w="616215">
                  <a:extLst>
                    <a:ext uri="{9D8B030D-6E8A-4147-A177-3AD203B41FA5}">
                      <a16:colId xmlns:a16="http://schemas.microsoft.com/office/drawing/2014/main" val="1120058905"/>
                    </a:ext>
                  </a:extLst>
                </a:gridCol>
                <a:gridCol w="460664">
                  <a:extLst>
                    <a:ext uri="{9D8B030D-6E8A-4147-A177-3AD203B41FA5}">
                      <a16:colId xmlns:a16="http://schemas.microsoft.com/office/drawing/2014/main" val="144532814"/>
                    </a:ext>
                  </a:extLst>
                </a:gridCol>
                <a:gridCol w="376908">
                  <a:extLst>
                    <a:ext uri="{9D8B030D-6E8A-4147-A177-3AD203B41FA5}">
                      <a16:colId xmlns:a16="http://schemas.microsoft.com/office/drawing/2014/main" val="3010832180"/>
                    </a:ext>
                  </a:extLst>
                </a:gridCol>
                <a:gridCol w="2560581">
                  <a:extLst>
                    <a:ext uri="{9D8B030D-6E8A-4147-A177-3AD203B41FA5}">
                      <a16:colId xmlns:a16="http://schemas.microsoft.com/office/drawing/2014/main" val="4147137956"/>
                    </a:ext>
                  </a:extLst>
                </a:gridCol>
                <a:gridCol w="3128934">
                  <a:extLst>
                    <a:ext uri="{9D8B030D-6E8A-4147-A177-3AD203B41FA5}">
                      <a16:colId xmlns:a16="http://schemas.microsoft.com/office/drawing/2014/main" val="2286568677"/>
                    </a:ext>
                  </a:extLst>
                </a:gridCol>
                <a:gridCol w="233323">
                  <a:extLst>
                    <a:ext uri="{9D8B030D-6E8A-4147-A177-3AD203B41FA5}">
                      <a16:colId xmlns:a16="http://schemas.microsoft.com/office/drawing/2014/main" val="1193621248"/>
                    </a:ext>
                  </a:extLst>
                </a:gridCol>
                <a:gridCol w="3105003">
                  <a:extLst>
                    <a:ext uri="{9D8B030D-6E8A-4147-A177-3AD203B41FA5}">
                      <a16:colId xmlns:a16="http://schemas.microsoft.com/office/drawing/2014/main" val="512002783"/>
                    </a:ext>
                  </a:extLst>
                </a:gridCol>
              </a:tblGrid>
              <a:tr h="78677">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07899618"/>
                  </a:ext>
                </a:extLst>
              </a:tr>
              <a:tr h="393385">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00:50 24/07/2025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VN428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HAN-PUS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APPEARED MSG: RAM AIR INLET DOOR 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C/O </a:t>
                      </a:r>
                      <a:r>
                        <a:rPr lang="en-US" sz="1100" b="0" i="0" u="none" strike="noStrike">
                          <a:solidFill>
                            <a:srgbClr val="000000"/>
                          </a:solidFill>
                          <a:effectLst/>
                          <a:latin typeface="Times New Roman" panose="02020603050405020304" pitchFamily="18" charset="0"/>
                          <a:cs typeface="Times New Roman" panose="02020603050405020304" pitchFamily="18" charset="0"/>
                        </a:rPr>
                        <a:t>DEACTIVATE RAM AIR INLET DOOR FOR APPLIED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MEL</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21-25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Times New Roman" panose="02020603050405020304" pitchFamily="18" charset="0"/>
                          <a:cs typeface="Times New Roman" panose="02020603050405020304" pitchFamily="18" charset="0"/>
                        </a:rPr>
                        <a:t>Thực hiện thay actuator để khăc phục</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Theo 787-FTD-21-14013: Hỏng hóc của actuator do hỏng mối hàn trên bảng mạch; phồng rộp cuộn dây; hơi ẩm xâm nhập; Collins đã có các cải tiến: Cải thiện độ kín (new O ring) từ Aug 2016 theo 7010146-21-1,cải thiện độ bền chống ẩm từ Sep 2016 theo 7010146-21-2, tuy nhiên không nói rõ các SN bị ảnh hưởng.</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ĐTC: Từ khi khai thác đã thay 14 khối. MTBUR 125k lớn hơn RSPL 20k, GTBURM 16k.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2312448"/>
                  </a:ext>
                </a:extLst>
              </a:tr>
              <a:tr h="314708">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A862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16:28 21/07/2025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VN7069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HAN-CXR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FOUND M/W #6 HAS A FOREIGN OBJECT IN IT.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&lt;/</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p&gt; &lt;p&gt;VN7069 DELAY 20 MIN DUE TO A/C ARRIVAL LATE AND FLIGHT OPERATIONS; TECH DELAY: 0 MIN.&lt;/p&gt;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Non-tech</a:t>
                      </a:r>
                    </a:p>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8927097"/>
                  </a:ext>
                </a:extLst>
              </a:tr>
            </a:tbl>
          </a:graphicData>
        </a:graphic>
      </p:graphicFrame>
    </p:spTree>
    <p:extLst>
      <p:ext uri="{BB962C8B-B14F-4D97-AF65-F5344CB8AC3E}">
        <p14:creationId xmlns:p14="http://schemas.microsoft.com/office/powerpoint/2010/main" val="3651509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17</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TIẾN ĐỘ SỬA CHỮA VN-A863</a:t>
            </a:r>
          </a:p>
        </p:txBody>
      </p:sp>
      <p:pic>
        <p:nvPicPr>
          <p:cNvPr id="5" name="Picture 4"/>
          <p:cNvPicPr>
            <a:picLocks noChangeAspect="1"/>
          </p:cNvPicPr>
          <p:nvPr/>
        </p:nvPicPr>
        <p:blipFill>
          <a:blip r:embed="rId3"/>
          <a:stretch>
            <a:fillRect/>
          </a:stretch>
        </p:blipFill>
        <p:spPr>
          <a:xfrm>
            <a:off x="455303" y="3466307"/>
            <a:ext cx="3036497" cy="1524604"/>
          </a:xfrm>
          <a:prstGeom prst="rect">
            <a:avLst/>
          </a:prstGeom>
        </p:spPr>
      </p:pic>
      <p:pic>
        <p:nvPicPr>
          <p:cNvPr id="10" name="Picture 9"/>
          <p:cNvPicPr/>
          <p:nvPr/>
        </p:nvPicPr>
        <p:blipFill>
          <a:blip r:embed="rId4"/>
          <a:stretch>
            <a:fillRect/>
          </a:stretch>
        </p:blipFill>
        <p:spPr>
          <a:xfrm>
            <a:off x="517586" y="5100563"/>
            <a:ext cx="2974214" cy="1618476"/>
          </a:xfrm>
          <a:prstGeom prst="rect">
            <a:avLst/>
          </a:prstGeom>
        </p:spPr>
      </p:pic>
      <p:grpSp>
        <p:nvGrpSpPr>
          <p:cNvPr id="25" name="Group 24">
            <a:extLst>
              <a:ext uri="{FF2B5EF4-FFF2-40B4-BE49-F238E27FC236}">
                <a16:creationId xmlns:a16="http://schemas.microsoft.com/office/drawing/2014/main" id="{070485B8-5835-4790-81D8-229C2566BFD4}"/>
              </a:ext>
            </a:extLst>
          </p:cNvPr>
          <p:cNvGrpSpPr/>
          <p:nvPr/>
        </p:nvGrpSpPr>
        <p:grpSpPr>
          <a:xfrm>
            <a:off x="455304" y="793163"/>
            <a:ext cx="3036498" cy="2450719"/>
            <a:chOff x="534838" y="558321"/>
            <a:chExt cx="3036498" cy="2450719"/>
          </a:xfrm>
        </p:grpSpPr>
        <p:sp>
          <p:nvSpPr>
            <p:cNvPr id="6" name="TextBox 5">
              <a:extLst>
                <a:ext uri="{FF2B5EF4-FFF2-40B4-BE49-F238E27FC236}">
                  <a16:creationId xmlns:a16="http://schemas.microsoft.com/office/drawing/2014/main" id="{9733E712-A4E8-4AF7-B0ED-4642E08B36D1}"/>
                </a:ext>
              </a:extLst>
            </p:cNvPr>
            <p:cNvSpPr txBox="1"/>
            <p:nvPr/>
          </p:nvSpPr>
          <p:spPr>
            <a:xfrm>
              <a:off x="534838" y="558321"/>
              <a:ext cx="3036498" cy="292388"/>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dirty="0">
                  <a:latin typeface="Cambria" panose="02040503050406030204" pitchFamily="18" charset="0"/>
                  <a:ea typeface="Cambria" panose="02040503050406030204" pitchFamily="18" charset="0"/>
                </a:rPr>
                <a:t>27/6: A863 </a:t>
              </a:r>
              <a:r>
                <a:rPr lang="en-US" sz="1300" dirty="0" err="1">
                  <a:latin typeface="Cambria" panose="02040503050406030204" pitchFamily="18" charset="0"/>
                  <a:ea typeface="Cambria" panose="02040503050406030204" pitchFamily="18" charset="0"/>
                </a:rPr>
                <a:t>va</a:t>
              </a:r>
              <a:r>
                <a:rPr lang="en-US" sz="1300" dirty="0">
                  <a:latin typeface="Cambria" panose="02040503050406030204" pitchFamily="18" charset="0"/>
                  <a:ea typeface="Cambria" panose="02040503050406030204" pitchFamily="18" charset="0"/>
                </a:rPr>
                <a:t> </a:t>
              </a:r>
              <a:r>
                <a:rPr lang="en-US" sz="1300" dirty="0" err="1">
                  <a:latin typeface="Cambria" panose="02040503050406030204" pitchFamily="18" charset="0"/>
                  <a:ea typeface="Cambria" panose="02040503050406030204" pitchFamily="18" charset="0"/>
                </a:rPr>
                <a:t>chạm</a:t>
              </a:r>
              <a:r>
                <a:rPr lang="en-US" sz="1300" dirty="0">
                  <a:latin typeface="Cambria" panose="02040503050406030204" pitchFamily="18" charset="0"/>
                  <a:ea typeface="Cambria" panose="02040503050406030204" pitchFamily="18" charset="0"/>
                </a:rPr>
                <a:t> A338</a:t>
              </a:r>
            </a:p>
          </p:txBody>
        </p:sp>
        <p:sp>
          <p:nvSpPr>
            <p:cNvPr id="11" name="TextBox 10">
              <a:extLst>
                <a:ext uri="{FF2B5EF4-FFF2-40B4-BE49-F238E27FC236}">
                  <a16:creationId xmlns:a16="http://schemas.microsoft.com/office/drawing/2014/main" id="{081EF948-A8F7-4D2E-BDBF-FB5309FB5858}"/>
                </a:ext>
              </a:extLst>
            </p:cNvPr>
            <p:cNvSpPr txBox="1"/>
            <p:nvPr/>
          </p:nvSpPr>
          <p:spPr>
            <a:xfrm>
              <a:off x="534838" y="1047890"/>
              <a:ext cx="3036498" cy="292388"/>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a:latin typeface="Cambria" panose="02040503050406030204" pitchFamily="18" charset="0"/>
                  <a:ea typeface="Cambria" panose="02040503050406030204" pitchFamily="18" charset="0"/>
                </a:rPr>
                <a:t>15/7: phê duyệt Repair Offer</a:t>
              </a:r>
            </a:p>
          </p:txBody>
        </p:sp>
        <p:sp>
          <p:nvSpPr>
            <p:cNvPr id="12" name="TextBox 11">
              <a:extLst>
                <a:ext uri="{FF2B5EF4-FFF2-40B4-BE49-F238E27FC236}">
                  <a16:creationId xmlns:a16="http://schemas.microsoft.com/office/drawing/2014/main" id="{71DD48DA-765B-4BE3-8A7F-32EA307A9F4E}"/>
                </a:ext>
              </a:extLst>
            </p:cNvPr>
            <p:cNvSpPr txBox="1"/>
            <p:nvPr/>
          </p:nvSpPr>
          <p:spPr>
            <a:xfrm>
              <a:off x="534838" y="1537459"/>
              <a:ext cx="3036498" cy="492443"/>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a:latin typeface="Cambria" panose="02040503050406030204" pitchFamily="18" charset="0"/>
                  <a:ea typeface="Cambria" panose="02040503050406030204" pitchFamily="18" charset="0"/>
                </a:rPr>
                <a:t>18/7: KT gửi hồ s</a:t>
              </a:r>
              <a:r>
                <a:rPr lang="vi-VN" sz="1300">
                  <a:latin typeface="Cambria" panose="02040503050406030204" pitchFamily="18" charset="0"/>
                  <a:ea typeface="Cambria" panose="02040503050406030204" pitchFamily="18" charset="0"/>
                </a:rPr>
                <a:t>ơ</a:t>
              </a:r>
              <a:r>
                <a:rPr lang="en-US" sz="1300">
                  <a:latin typeface="Cambria" panose="02040503050406030204" pitchFamily="18" charset="0"/>
                  <a:ea typeface="Cambria" panose="02040503050406030204" pitchFamily="18" charset="0"/>
                </a:rPr>
                <a:t> thanh toán 879,600$ trả tr</a:t>
              </a:r>
              <a:r>
                <a:rPr lang="vi-VN" sz="1300">
                  <a:latin typeface="Cambria" panose="02040503050406030204" pitchFamily="18" charset="0"/>
                  <a:ea typeface="Cambria" panose="02040503050406030204" pitchFamily="18" charset="0"/>
                </a:rPr>
                <a:t>ư</a:t>
              </a:r>
              <a:r>
                <a:rPr lang="en-US" sz="1300">
                  <a:latin typeface="Cambria" panose="02040503050406030204" pitchFamily="18" charset="0"/>
                  <a:ea typeface="Cambria" panose="02040503050406030204" pitchFamily="18" charset="0"/>
                </a:rPr>
                <a:t>ớc tới Ban TCKT</a:t>
              </a:r>
            </a:p>
          </p:txBody>
        </p:sp>
        <p:sp>
          <p:nvSpPr>
            <p:cNvPr id="13" name="TextBox 12">
              <a:extLst>
                <a:ext uri="{FF2B5EF4-FFF2-40B4-BE49-F238E27FC236}">
                  <a16:creationId xmlns:a16="http://schemas.microsoft.com/office/drawing/2014/main" id="{436A2DCB-C7A1-4BF2-9D7A-199DCFDFA51B}"/>
                </a:ext>
              </a:extLst>
            </p:cNvPr>
            <p:cNvSpPr txBox="1"/>
            <p:nvPr/>
          </p:nvSpPr>
          <p:spPr>
            <a:xfrm>
              <a:off x="534838" y="2227083"/>
              <a:ext cx="3036498" cy="292388"/>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a:latin typeface="Cambria" panose="02040503050406030204" pitchFamily="18" charset="0"/>
                  <a:ea typeface="Cambria" panose="02040503050406030204" pitchFamily="18" charset="0"/>
                </a:rPr>
                <a:t>24/7: Bắt đầu sửa chữa</a:t>
              </a:r>
            </a:p>
          </p:txBody>
        </p:sp>
        <p:sp>
          <p:nvSpPr>
            <p:cNvPr id="14" name="TextBox 13">
              <a:extLst>
                <a:ext uri="{FF2B5EF4-FFF2-40B4-BE49-F238E27FC236}">
                  <a16:creationId xmlns:a16="http://schemas.microsoft.com/office/drawing/2014/main" id="{24D2027F-0890-4B1C-BE89-F0424C56675A}"/>
                </a:ext>
              </a:extLst>
            </p:cNvPr>
            <p:cNvSpPr txBox="1"/>
            <p:nvPr/>
          </p:nvSpPr>
          <p:spPr>
            <a:xfrm>
              <a:off x="534838" y="2716652"/>
              <a:ext cx="3036498" cy="292388"/>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a:latin typeface="Cambria" panose="02040503050406030204" pitchFamily="18" charset="0"/>
                  <a:ea typeface="Cambria" panose="02040503050406030204" pitchFamily="18" charset="0"/>
                </a:rPr>
                <a:t>31/7: Sửa xong, tàu released</a:t>
              </a:r>
            </a:p>
          </p:txBody>
        </p:sp>
        <p:cxnSp>
          <p:nvCxnSpPr>
            <p:cNvPr id="9" name="Straight Arrow Connector 8">
              <a:extLst>
                <a:ext uri="{FF2B5EF4-FFF2-40B4-BE49-F238E27FC236}">
                  <a16:creationId xmlns:a16="http://schemas.microsoft.com/office/drawing/2014/main" id="{2B2C5473-C0C1-4160-B7EB-D2AC322F1892}"/>
                </a:ext>
              </a:extLst>
            </p:cNvPr>
            <p:cNvCxnSpPr>
              <a:stCxn id="6" idx="2"/>
              <a:endCxn id="11" idx="0"/>
            </p:cNvCxnSpPr>
            <p:nvPr/>
          </p:nvCxnSpPr>
          <p:spPr>
            <a:xfrm>
              <a:off x="2053087" y="850709"/>
              <a:ext cx="0" cy="1971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8760C95-B443-45BA-B4E5-AB707FBB2234}"/>
                </a:ext>
              </a:extLst>
            </p:cNvPr>
            <p:cNvCxnSpPr>
              <a:cxnSpLocks/>
              <a:stCxn id="11" idx="2"/>
              <a:endCxn id="12" idx="0"/>
            </p:cNvCxnSpPr>
            <p:nvPr/>
          </p:nvCxnSpPr>
          <p:spPr>
            <a:xfrm>
              <a:off x="2053087" y="1340278"/>
              <a:ext cx="0" cy="1971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CFD303D-45E9-44DF-98E9-51FAF4127C58}"/>
                </a:ext>
              </a:extLst>
            </p:cNvPr>
            <p:cNvCxnSpPr>
              <a:cxnSpLocks/>
              <a:stCxn id="12" idx="2"/>
              <a:endCxn id="13" idx="0"/>
            </p:cNvCxnSpPr>
            <p:nvPr/>
          </p:nvCxnSpPr>
          <p:spPr>
            <a:xfrm>
              <a:off x="2053087" y="2029902"/>
              <a:ext cx="0" cy="1971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11613D5-3580-47BF-8D95-5E9A8CDD19BE}"/>
                </a:ext>
              </a:extLst>
            </p:cNvPr>
            <p:cNvCxnSpPr>
              <a:cxnSpLocks/>
              <a:stCxn id="13" idx="2"/>
              <a:endCxn id="14" idx="0"/>
            </p:cNvCxnSpPr>
            <p:nvPr/>
          </p:nvCxnSpPr>
          <p:spPr>
            <a:xfrm>
              <a:off x="2053087" y="2519471"/>
              <a:ext cx="0" cy="1971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pic>
        <p:nvPicPr>
          <p:cNvPr id="3" name="Picture 2"/>
          <p:cNvPicPr>
            <a:picLocks noChangeAspect="1"/>
          </p:cNvPicPr>
          <p:nvPr/>
        </p:nvPicPr>
        <p:blipFill>
          <a:blip r:embed="rId5"/>
          <a:stretch>
            <a:fillRect/>
          </a:stretch>
        </p:blipFill>
        <p:spPr>
          <a:xfrm>
            <a:off x="3931416" y="709678"/>
            <a:ext cx="7752825" cy="4089270"/>
          </a:xfrm>
          <a:prstGeom prst="rect">
            <a:avLst/>
          </a:prstGeom>
        </p:spPr>
      </p:pic>
      <p:sp>
        <p:nvSpPr>
          <p:cNvPr id="4" name="Rectangle 3"/>
          <p:cNvSpPr/>
          <p:nvPr/>
        </p:nvSpPr>
        <p:spPr>
          <a:xfrm>
            <a:off x="8010144" y="5000626"/>
            <a:ext cx="3948416" cy="1492716"/>
          </a:xfrm>
          <a:prstGeom prst="rect">
            <a:avLst/>
          </a:prstGeom>
        </p:spPr>
        <p:txBody>
          <a:bodyPr wrap="square">
            <a:spAutoFit/>
          </a:bodyPr>
          <a:lstStyle/>
          <a:p>
            <a:pPr marL="285750" indent="-285750">
              <a:buFontTx/>
              <a:buChar char="-"/>
            </a:pPr>
            <a:r>
              <a:rPr lang="en-US" sz="1300" dirty="0">
                <a:solidFill>
                  <a:prstClr val="black"/>
                </a:solidFill>
                <a:latin typeface="Cambria" panose="02040503050406030204" pitchFamily="18" charset="0"/>
                <a:ea typeface="Cambria" panose="02040503050406030204" pitchFamily="18" charset="0"/>
              </a:rPr>
              <a:t>Slat </a:t>
            </a:r>
            <a:r>
              <a:rPr lang="en-US" sz="1300" dirty="0" err="1">
                <a:solidFill>
                  <a:prstClr val="black"/>
                </a:solidFill>
                <a:latin typeface="Cambria" panose="02040503050406030204" pitchFamily="18" charset="0"/>
                <a:ea typeface="Cambria" panose="02040503050406030204" pitchFamily="18" charset="0"/>
              </a:rPr>
              <a:t>đã</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bàn</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giao</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tại</a:t>
            </a:r>
            <a:r>
              <a:rPr lang="en-US" sz="1300" dirty="0">
                <a:solidFill>
                  <a:prstClr val="black"/>
                </a:solidFill>
                <a:latin typeface="Cambria" panose="02040503050406030204" pitchFamily="18" charset="0"/>
                <a:ea typeface="Cambria" panose="02040503050406030204" pitchFamily="18" charset="0"/>
              </a:rPr>
              <a:t> VAE </a:t>
            </a:r>
            <a:r>
              <a:rPr lang="en-US" sz="1300" dirty="0" err="1">
                <a:solidFill>
                  <a:prstClr val="black"/>
                </a:solidFill>
                <a:latin typeface="Cambria" panose="02040503050406030204" pitchFamily="18" charset="0"/>
                <a:ea typeface="Cambria" panose="02040503050406030204" pitchFamily="18" charset="0"/>
              </a:rPr>
              <a:t>ngày</a:t>
            </a:r>
            <a:r>
              <a:rPr lang="en-US" sz="1300" dirty="0">
                <a:solidFill>
                  <a:prstClr val="black"/>
                </a:solidFill>
                <a:latin typeface="Cambria" panose="02040503050406030204" pitchFamily="18" charset="0"/>
                <a:ea typeface="Cambria" panose="02040503050406030204" pitchFamily="18" charset="0"/>
              </a:rPr>
              <a:t> 27/7:</a:t>
            </a:r>
          </a:p>
          <a:p>
            <a:pPr marL="285750" indent="-285750">
              <a:buFontTx/>
              <a:buChar char="-"/>
            </a:pPr>
            <a:r>
              <a:rPr lang="en-US" sz="1300" dirty="0" err="1">
                <a:solidFill>
                  <a:prstClr val="black"/>
                </a:solidFill>
                <a:latin typeface="Cambria" panose="02040503050406030204" pitchFamily="18" charset="0"/>
                <a:ea typeface="Cambria" panose="02040503050406030204" pitchFamily="18" charset="0"/>
              </a:rPr>
              <a:t>Hoàn</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thiện</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hồ</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sơ</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báo</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cáo</a:t>
            </a:r>
            <a:r>
              <a:rPr lang="en-US" sz="1300" dirty="0">
                <a:solidFill>
                  <a:prstClr val="black"/>
                </a:solidFill>
                <a:latin typeface="Cambria" panose="02040503050406030204" pitchFamily="18" charset="0"/>
                <a:ea typeface="Cambria" panose="02040503050406030204" pitchFamily="18" charset="0"/>
              </a:rPr>
              <a:t> CAAV: </a:t>
            </a:r>
            <a:r>
              <a:rPr lang="en-US" sz="1300" dirty="0" err="1">
                <a:solidFill>
                  <a:prstClr val="black"/>
                </a:solidFill>
                <a:latin typeface="Cambria" panose="02040503050406030204" pitchFamily="18" charset="0"/>
                <a:ea typeface="Cambria" panose="02040503050406030204" pitchFamily="18" charset="0"/>
              </a:rPr>
              <a:t>đang</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thực</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hiện</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cung</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với</a:t>
            </a:r>
            <a:r>
              <a:rPr lang="en-US" sz="1300" dirty="0">
                <a:solidFill>
                  <a:prstClr val="black"/>
                </a:solidFill>
                <a:latin typeface="Cambria" panose="02040503050406030204" pitchFamily="18" charset="0"/>
                <a:ea typeface="Cambria" panose="02040503050406030204" pitchFamily="18" charset="0"/>
              </a:rPr>
              <a:t> SQD</a:t>
            </a:r>
            <a:endParaRPr lang="en-US" dirty="0"/>
          </a:p>
          <a:p>
            <a:pPr marL="285750" indent="-285750">
              <a:buFontTx/>
              <a:buChar char="-"/>
            </a:pPr>
            <a:r>
              <a:rPr lang="en-US" sz="1300" dirty="0" err="1">
                <a:solidFill>
                  <a:prstClr val="black"/>
                </a:solidFill>
                <a:latin typeface="Cambria" panose="02040503050406030204" pitchFamily="18" charset="0"/>
                <a:ea typeface="Cambria" panose="02040503050406030204" pitchFamily="18" charset="0"/>
              </a:rPr>
              <a:t>Thay</a:t>
            </a:r>
            <a:r>
              <a:rPr lang="en-US" sz="1300" dirty="0">
                <a:solidFill>
                  <a:prstClr val="black"/>
                </a:solidFill>
                <a:latin typeface="Cambria" panose="02040503050406030204" pitchFamily="18" charset="0"/>
                <a:ea typeface="Cambria" panose="02040503050406030204" pitchFamily="18" charset="0"/>
              </a:rPr>
              <a:t> windshield #2 LH do delamination: </a:t>
            </a:r>
            <a:r>
              <a:rPr lang="en-US" sz="1300" dirty="0" err="1">
                <a:solidFill>
                  <a:prstClr val="black"/>
                </a:solidFill>
                <a:latin typeface="Cambria" panose="02040503050406030204" pitchFamily="18" charset="0"/>
                <a:ea typeface="Cambria" panose="02040503050406030204" pitchFamily="18" charset="0"/>
              </a:rPr>
              <a:t>đã</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có</a:t>
            </a:r>
            <a:r>
              <a:rPr lang="en-US" sz="1300" dirty="0">
                <a:solidFill>
                  <a:prstClr val="black"/>
                </a:solidFill>
                <a:latin typeface="Cambria" panose="02040503050406030204" pitchFamily="18" charset="0"/>
                <a:ea typeface="Cambria" panose="02040503050406030204" pitchFamily="18" charset="0"/>
              </a:rPr>
              <a:t> spare, </a:t>
            </a:r>
            <a:r>
              <a:rPr lang="en-US" sz="1300" dirty="0" err="1">
                <a:solidFill>
                  <a:prstClr val="black"/>
                </a:solidFill>
                <a:latin typeface="Cambria" panose="02040503050406030204" pitchFamily="18" charset="0"/>
                <a:ea typeface="Cambria" panose="02040503050406030204" pitchFamily="18" charset="0"/>
              </a:rPr>
              <a:t>dự</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kiến</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lắp</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vào</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thứ</a:t>
            </a:r>
            <a:r>
              <a:rPr lang="en-US" sz="1300" dirty="0">
                <a:solidFill>
                  <a:prstClr val="black"/>
                </a:solidFill>
                <a:latin typeface="Cambria" panose="02040503050406030204" pitchFamily="18" charset="0"/>
                <a:ea typeface="Cambria" panose="02040503050406030204" pitchFamily="18" charset="0"/>
              </a:rPr>
              <a:t> 2.</a:t>
            </a:r>
          </a:p>
          <a:p>
            <a:pPr marL="285750" indent="-285750">
              <a:buFontTx/>
              <a:buChar char="-"/>
            </a:pPr>
            <a:r>
              <a:rPr lang="en-US" sz="1300" dirty="0">
                <a:solidFill>
                  <a:prstClr val="black"/>
                </a:solidFill>
                <a:latin typeface="Cambria" panose="02040503050406030204" pitchFamily="18" charset="0"/>
                <a:ea typeface="Cambria" panose="02040503050406030204" pitchFamily="18" charset="0"/>
              </a:rPr>
              <a:t>Hoàn </a:t>
            </a:r>
            <a:r>
              <a:rPr lang="en-US" sz="1300" dirty="0" err="1">
                <a:solidFill>
                  <a:prstClr val="black"/>
                </a:solidFill>
                <a:latin typeface="Cambria" panose="02040503050406030204" pitchFamily="18" charset="0"/>
                <a:ea typeface="Cambria" panose="02040503050406030204" pitchFamily="18" charset="0"/>
              </a:rPr>
              <a:t>trả</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lại</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các</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thiết</a:t>
            </a:r>
            <a:r>
              <a:rPr lang="en-US" sz="1300" dirty="0">
                <a:solidFill>
                  <a:prstClr val="black"/>
                </a:solidFill>
                <a:latin typeface="Cambria" panose="02040503050406030204" pitchFamily="18" charset="0"/>
                <a:ea typeface="Cambria" panose="02040503050406030204" pitchFamily="18" charset="0"/>
              </a:rPr>
              <a:t> </a:t>
            </a:r>
            <a:r>
              <a:rPr lang="en-US" sz="1300" dirty="0" err="1">
                <a:solidFill>
                  <a:prstClr val="black"/>
                </a:solidFill>
                <a:latin typeface="Cambria" panose="02040503050406030204" pitchFamily="18" charset="0"/>
                <a:ea typeface="Cambria" panose="02040503050406030204" pitchFamily="18" charset="0"/>
              </a:rPr>
              <a:t>bị</a:t>
            </a:r>
            <a:r>
              <a:rPr lang="en-US" sz="1300" dirty="0">
                <a:solidFill>
                  <a:prstClr val="black"/>
                </a:solidFill>
                <a:latin typeface="Cambria" panose="02040503050406030204" pitchFamily="18" charset="0"/>
                <a:ea typeface="Cambria" panose="02040503050406030204" pitchFamily="18" charset="0"/>
              </a:rPr>
              <a:t> rob: ELT; RH VHF antenna</a:t>
            </a:r>
          </a:p>
        </p:txBody>
      </p:sp>
      <p:sp>
        <p:nvSpPr>
          <p:cNvPr id="7" name="Rectangle 6"/>
          <p:cNvSpPr/>
          <p:nvPr/>
        </p:nvSpPr>
        <p:spPr>
          <a:xfrm>
            <a:off x="3794857" y="5026345"/>
            <a:ext cx="4097841" cy="1600438"/>
          </a:xfrm>
          <a:prstGeom prst="rect">
            <a:avLst/>
          </a:prstGeom>
        </p:spPr>
        <p:txBody>
          <a:bodyPr wrap="square">
            <a:spAutoFit/>
          </a:bodyPr>
          <a:lstStyle/>
          <a:p>
            <a:pPr lvl="0" algn="just"/>
            <a:r>
              <a:rPr lang="en-US" sz="1400" dirty="0" err="1">
                <a:solidFill>
                  <a:prstClr val="black"/>
                </a:solidFill>
                <a:latin typeface="Cambria" panose="02040503050406030204" pitchFamily="18" charset="0"/>
                <a:ea typeface="Cambria" panose="02040503050406030204" pitchFamily="18" charset="0"/>
              </a:rPr>
              <a:t>Khi</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lắp</a:t>
            </a:r>
            <a:r>
              <a:rPr lang="en-US" sz="1400" dirty="0">
                <a:solidFill>
                  <a:prstClr val="black"/>
                </a:solidFill>
                <a:latin typeface="Cambria" panose="02040503050406030204" pitchFamily="18" charset="0"/>
                <a:ea typeface="Cambria" panose="02040503050406030204" pitchFamily="18" charset="0"/>
              </a:rPr>
              <a:t> wingtip </a:t>
            </a:r>
            <a:r>
              <a:rPr lang="en-US" sz="1400" dirty="0" err="1">
                <a:solidFill>
                  <a:prstClr val="black"/>
                </a:solidFill>
                <a:latin typeface="Cambria" panose="02040503050406030204" pitchFamily="18" charset="0"/>
                <a:ea typeface="Cambria" panose="02040503050406030204" pitchFamily="18" charset="0"/>
              </a:rPr>
              <a:t>mới</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lên</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phát</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sinh</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sai</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lệch</a:t>
            </a:r>
            <a:r>
              <a:rPr lang="en-US" sz="1400" dirty="0">
                <a:solidFill>
                  <a:prstClr val="black"/>
                </a:solidFill>
                <a:latin typeface="Cambria" panose="02040503050406030204" pitchFamily="18" charset="0"/>
                <a:ea typeface="Cambria" panose="02040503050406030204" pitchFamily="18" charset="0"/>
              </a:rPr>
              <a:t> 0.080” </a:t>
            </a:r>
            <a:r>
              <a:rPr lang="en-US" sz="1400" dirty="0" err="1">
                <a:solidFill>
                  <a:prstClr val="black"/>
                </a:solidFill>
                <a:latin typeface="Cambria" panose="02040503050406030204" pitchFamily="18" charset="0"/>
                <a:ea typeface="Cambria" panose="02040503050406030204" pitchFamily="18" charset="0"/>
              </a:rPr>
              <a:t>tại</a:t>
            </a:r>
            <a:r>
              <a:rPr lang="en-US" sz="1400" dirty="0">
                <a:solidFill>
                  <a:prstClr val="black"/>
                </a:solidFill>
                <a:latin typeface="Cambria" panose="02040503050406030204" pitchFamily="18" charset="0"/>
                <a:ea typeface="Cambria" panose="02040503050406030204" pitchFamily="18" charset="0"/>
              </a:rPr>
              <a:t> upper intercostal </a:t>
            </a:r>
            <a:r>
              <a:rPr lang="en-US" sz="1400" dirty="0" err="1">
                <a:solidFill>
                  <a:prstClr val="black"/>
                </a:solidFill>
                <a:latin typeface="Cambria" panose="02040503050406030204" pitchFamily="18" charset="0"/>
                <a:ea typeface="Cambria" panose="02040503050406030204" pitchFamily="18" charset="0"/>
              </a:rPr>
              <a:t>của</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cụm</a:t>
            </a:r>
            <a:r>
              <a:rPr lang="en-US" sz="1400" dirty="0">
                <a:solidFill>
                  <a:prstClr val="black"/>
                </a:solidFill>
                <a:latin typeface="Cambria" panose="02040503050406030204" pitchFamily="18" charset="0"/>
                <a:ea typeface="Cambria" panose="02040503050406030204" pitchFamily="18" charset="0"/>
              </a:rPr>
              <a:t> bullnose </a:t>
            </a:r>
            <a:r>
              <a:rPr lang="en-US" sz="1400" dirty="0" err="1">
                <a:solidFill>
                  <a:prstClr val="black"/>
                </a:solidFill>
                <a:latin typeface="Cambria" panose="02040503050406030204" pitchFamily="18" charset="0"/>
                <a:ea typeface="Cambria" panose="02040503050406030204" pitchFamily="18" charset="0"/>
              </a:rPr>
              <a:t>mới</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nối</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giữa</a:t>
            </a:r>
            <a:r>
              <a:rPr lang="en-US" sz="1400" dirty="0">
                <a:solidFill>
                  <a:prstClr val="black"/>
                </a:solidFill>
                <a:latin typeface="Cambria" panose="02040503050406030204" pitchFamily="18" charset="0"/>
                <a:ea typeface="Cambria" panose="02040503050406030204" pitchFamily="18" charset="0"/>
              </a:rPr>
              <a:t> wingtip leading edge rib </a:t>
            </a:r>
            <a:r>
              <a:rPr lang="en-US" sz="1400" dirty="0" err="1">
                <a:solidFill>
                  <a:prstClr val="black"/>
                </a:solidFill>
                <a:latin typeface="Cambria" panose="02040503050406030204" pitchFamily="18" charset="0"/>
                <a:ea typeface="Cambria" panose="02040503050406030204" pitchFamily="18" charset="0"/>
              </a:rPr>
              <a:t>và</a:t>
            </a:r>
            <a:r>
              <a:rPr lang="en-US" sz="1400" dirty="0">
                <a:solidFill>
                  <a:prstClr val="black"/>
                </a:solidFill>
                <a:latin typeface="Cambria" panose="02040503050406030204" pitchFamily="18" charset="0"/>
                <a:ea typeface="Cambria" panose="02040503050406030204" pitchFamily="18" charset="0"/>
              </a:rPr>
              <a:t> existing wing leading edge rib.</a:t>
            </a:r>
          </a:p>
          <a:p>
            <a:pPr lvl="0" algn="just"/>
            <a:r>
              <a:rPr lang="en-US" sz="1400" dirty="0">
                <a:solidFill>
                  <a:prstClr val="black"/>
                </a:solidFill>
                <a:latin typeface="Cambria" panose="02040503050406030204" pitchFamily="18" charset="0"/>
                <a:ea typeface="Cambria" panose="02040503050406030204" pitchFamily="18" charset="0"/>
              </a:rPr>
              <a:t>BOE </a:t>
            </a:r>
            <a:r>
              <a:rPr lang="en-US" sz="1400" dirty="0" err="1">
                <a:solidFill>
                  <a:prstClr val="black"/>
                </a:solidFill>
                <a:latin typeface="Cambria" panose="02040503050406030204" pitchFamily="18" charset="0"/>
                <a:ea typeface="Cambria" panose="02040503050406030204" pitchFamily="18" charset="0"/>
              </a:rPr>
              <a:t>đã</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đặt</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hàng</a:t>
            </a:r>
            <a:r>
              <a:rPr lang="en-US" sz="1400" dirty="0">
                <a:solidFill>
                  <a:prstClr val="black"/>
                </a:solidFill>
                <a:latin typeface="Cambria" panose="02040503050406030204" pitchFamily="18" charset="0"/>
                <a:ea typeface="Cambria" panose="02040503050406030204" pitchFamily="18" charset="0"/>
              </a:rPr>
              <a:t> spare (</a:t>
            </a:r>
            <a:r>
              <a:rPr lang="en-US" sz="1400" dirty="0" err="1">
                <a:solidFill>
                  <a:prstClr val="black"/>
                </a:solidFill>
                <a:latin typeface="Cambria" panose="02040503050406030204" pitchFamily="18" charset="0"/>
                <a:ea typeface="Cambria" panose="02040503050406030204" pitchFamily="18" charset="0"/>
              </a:rPr>
              <a:t>chưa</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có</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thông</a:t>
            </a:r>
            <a:r>
              <a:rPr lang="en-US" sz="1400" dirty="0">
                <a:solidFill>
                  <a:prstClr val="black"/>
                </a:solidFill>
                <a:latin typeface="Cambria" panose="02040503050406030204" pitchFamily="18" charset="0"/>
                <a:ea typeface="Cambria" panose="02040503050406030204" pitchFamily="18" charset="0"/>
              </a:rPr>
              <a:t> tin </a:t>
            </a:r>
            <a:r>
              <a:rPr lang="en-US" sz="1400" dirty="0" err="1">
                <a:solidFill>
                  <a:prstClr val="black"/>
                </a:solidFill>
                <a:latin typeface="Cambria" panose="02040503050406030204" pitchFamily="18" charset="0"/>
                <a:ea typeface="Cambria" panose="02040503050406030204" pitchFamily="18" charset="0"/>
              </a:rPr>
              <a:t>vận</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chuyển</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và</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hiệu</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chỉnh</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lại</a:t>
            </a:r>
            <a:r>
              <a:rPr lang="en-US" sz="1400" dirty="0">
                <a:solidFill>
                  <a:prstClr val="black"/>
                </a:solidFill>
                <a:latin typeface="Cambria" panose="02040503050406030204" pitchFamily="18" charset="0"/>
                <a:ea typeface="Cambria" panose="02040503050406030204" pitchFamily="18" charset="0"/>
              </a:rPr>
              <a:t> drawing </a:t>
            </a:r>
            <a:r>
              <a:rPr lang="en-US" sz="1400" dirty="0" err="1">
                <a:solidFill>
                  <a:prstClr val="black"/>
                </a:solidFill>
                <a:latin typeface="Cambria" panose="02040503050406030204" pitchFamily="18" charset="0"/>
                <a:ea typeface="Cambria" panose="02040503050406030204" pitchFamily="18" charset="0"/>
              </a:rPr>
              <a:t>để</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phê</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chuẩn</a:t>
            </a:r>
            <a:r>
              <a:rPr lang="en-US" sz="1400" dirty="0">
                <a:solidFill>
                  <a:prstClr val="black"/>
                </a:solidFill>
                <a:latin typeface="Cambria" panose="02040503050406030204" pitchFamily="18" charset="0"/>
                <a:ea typeface="Cambria" panose="02040503050406030204" pitchFamily="18" charset="0"/>
              </a:rPr>
              <a:t>. </a:t>
            </a:r>
          </a:p>
          <a:p>
            <a:pPr lvl="0" algn="just"/>
            <a:r>
              <a:rPr lang="en-US" sz="1400" dirty="0" err="1">
                <a:solidFill>
                  <a:prstClr val="black"/>
                </a:solidFill>
                <a:latin typeface="Cambria" panose="02040503050406030204" pitchFamily="18" charset="0"/>
                <a:ea typeface="Cambria" panose="02040503050406030204" pitchFamily="18" charset="0"/>
              </a:rPr>
              <a:t>Tiến</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độ</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vẫn</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giữ</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kế</a:t>
            </a:r>
            <a:r>
              <a:rPr lang="en-US" sz="1400" dirty="0">
                <a:solidFill>
                  <a:prstClr val="black"/>
                </a:solidFill>
                <a:latin typeface="Cambria" panose="02040503050406030204" pitchFamily="18" charset="0"/>
                <a:ea typeface="Cambria" panose="02040503050406030204" pitchFamily="18" charset="0"/>
              </a:rPr>
              <a:t> </a:t>
            </a:r>
            <a:r>
              <a:rPr lang="en-US" sz="1400" dirty="0" err="1">
                <a:solidFill>
                  <a:prstClr val="black"/>
                </a:solidFill>
                <a:latin typeface="Cambria" panose="02040503050406030204" pitchFamily="18" charset="0"/>
                <a:ea typeface="Cambria" panose="02040503050406030204" pitchFamily="18" charset="0"/>
              </a:rPr>
              <a:t>hoạch</a:t>
            </a:r>
            <a:r>
              <a:rPr lang="en-US" sz="1400" dirty="0">
                <a:solidFill>
                  <a:prstClr val="black"/>
                </a:solidFill>
                <a:latin typeface="Cambria" panose="02040503050406030204" pitchFamily="18" charset="0"/>
                <a:ea typeface="Cambria" panose="02040503050406030204" pitchFamily="18" charset="0"/>
              </a:rPr>
              <a:t> 31/7</a:t>
            </a:r>
          </a:p>
        </p:txBody>
      </p:sp>
    </p:spTree>
    <p:extLst>
      <p:ext uri="{BB962C8B-B14F-4D97-AF65-F5344CB8AC3E}">
        <p14:creationId xmlns:p14="http://schemas.microsoft.com/office/powerpoint/2010/main" val="2766707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18</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871AF957-4F67-E5B2-FFE0-EF3445929CB2}"/>
              </a:ext>
            </a:extLst>
          </p:cNvPr>
          <p:cNvGraphicFramePr>
            <a:graphicFrameLocks noGrp="1"/>
          </p:cNvGraphicFramePr>
          <p:nvPr>
            <p:extLst/>
          </p:nvPr>
        </p:nvGraphicFramePr>
        <p:xfrm>
          <a:off x="163790" y="475111"/>
          <a:ext cx="11927101" cy="6379984"/>
        </p:xfrm>
        <a:graphic>
          <a:graphicData uri="http://schemas.openxmlformats.org/drawingml/2006/table">
            <a:tbl>
              <a:tblPr/>
              <a:tblGrid>
                <a:gridCol w="372180">
                  <a:extLst>
                    <a:ext uri="{9D8B030D-6E8A-4147-A177-3AD203B41FA5}">
                      <a16:colId xmlns:a16="http://schemas.microsoft.com/office/drawing/2014/main" val="120584031"/>
                    </a:ext>
                  </a:extLst>
                </a:gridCol>
                <a:gridCol w="549152">
                  <a:extLst>
                    <a:ext uri="{9D8B030D-6E8A-4147-A177-3AD203B41FA5}">
                      <a16:colId xmlns:a16="http://schemas.microsoft.com/office/drawing/2014/main" val="3238965670"/>
                    </a:ext>
                  </a:extLst>
                </a:gridCol>
                <a:gridCol w="559137">
                  <a:extLst>
                    <a:ext uri="{9D8B030D-6E8A-4147-A177-3AD203B41FA5}">
                      <a16:colId xmlns:a16="http://schemas.microsoft.com/office/drawing/2014/main" val="3101075363"/>
                    </a:ext>
                  </a:extLst>
                </a:gridCol>
                <a:gridCol w="1288012">
                  <a:extLst>
                    <a:ext uri="{9D8B030D-6E8A-4147-A177-3AD203B41FA5}">
                      <a16:colId xmlns:a16="http://schemas.microsoft.com/office/drawing/2014/main" val="1796099394"/>
                    </a:ext>
                  </a:extLst>
                </a:gridCol>
                <a:gridCol w="1108289">
                  <a:extLst>
                    <a:ext uri="{9D8B030D-6E8A-4147-A177-3AD203B41FA5}">
                      <a16:colId xmlns:a16="http://schemas.microsoft.com/office/drawing/2014/main" val="3653402926"/>
                    </a:ext>
                  </a:extLst>
                </a:gridCol>
                <a:gridCol w="1527643">
                  <a:extLst>
                    <a:ext uri="{9D8B030D-6E8A-4147-A177-3AD203B41FA5}">
                      <a16:colId xmlns:a16="http://schemas.microsoft.com/office/drawing/2014/main" val="2980988729"/>
                    </a:ext>
                  </a:extLst>
                </a:gridCol>
                <a:gridCol w="6522688">
                  <a:extLst>
                    <a:ext uri="{9D8B030D-6E8A-4147-A177-3AD203B41FA5}">
                      <a16:colId xmlns:a16="http://schemas.microsoft.com/office/drawing/2014/main" val="3222386446"/>
                    </a:ext>
                  </a:extLst>
                </a:gridCol>
              </a:tblGrid>
              <a:tr h="207688">
                <a:tc>
                  <a:txBody>
                    <a:bodyPr/>
                    <a:lstStyle/>
                    <a:p>
                      <a:pPr algn="ctr" fontAlgn="ctr"/>
                      <a:r>
                        <a:rPr lang="en-US" sz="1300" b="0" i="0" u="none" strike="noStrike">
                          <a:solidFill>
                            <a:srgbClr val="000000"/>
                          </a:solidFill>
                          <a:effectLst/>
                          <a:latin typeface="Calibri" panose="020F0502020204030204" pitchFamily="34" charset="0"/>
                        </a:rPr>
                        <a:t>No</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8580269"/>
                  </a:ext>
                </a:extLst>
              </a:tr>
              <a:tr h="410888">
                <a:tc>
                  <a:txBody>
                    <a:bodyPr/>
                    <a:lstStyle/>
                    <a:p>
                      <a:pPr algn="ctr" fontAlgn="ctr"/>
                      <a:r>
                        <a:rPr lang="en-US" sz="1300" b="0" i="0" u="none" strike="noStrike">
                          <a:solidFill>
                            <a:srgbClr val="000000"/>
                          </a:solidFill>
                          <a:effectLst/>
                          <a:latin typeface="Calibri" panose="020F0502020204030204" pitchFamily="34" charset="0"/>
                        </a:rPr>
                        <a:t>1</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B1603 TAIL AIRFLOW SYS;</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B1636 LAVATORY/GALLEY AIR FLOW</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8395745"/>
                  </a:ext>
                </a:extLst>
              </a:tr>
              <a:tr h="207688">
                <a:tc>
                  <a:txBody>
                    <a:bodyPr/>
                    <a:lstStyle/>
                    <a:p>
                      <a:pPr algn="ctr" fontAlgn="ctr"/>
                      <a:r>
                        <a:rPr lang="en-US" sz="1300" b="0" i="0" u="none" strike="noStrike">
                          <a:solidFill>
                            <a:srgbClr val="000000"/>
                          </a:solidFill>
                          <a:effectLst/>
                          <a:latin typeface="Calibri" panose="020F0502020204030204" pitchFamily="34" charset="0"/>
                        </a:rPr>
                        <a:t>2</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1992279"/>
                  </a:ext>
                </a:extLst>
              </a:tr>
              <a:tr h="207688">
                <a:tc>
                  <a:txBody>
                    <a:bodyPr/>
                    <a:lstStyle/>
                    <a:p>
                      <a:pPr algn="ctr" fontAlgn="ctr"/>
                      <a:r>
                        <a:rPr lang="en-US" sz="1300" b="0" i="0" u="none" strike="noStrike">
                          <a:solidFill>
                            <a:srgbClr val="000000"/>
                          </a:solidFill>
                          <a:effectLst/>
                          <a:latin typeface="Calibri" panose="020F0502020204030204" pitchFamily="34" charset="0"/>
                        </a:rPr>
                        <a:t>3</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AOG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7698293"/>
                  </a:ext>
                </a:extLst>
              </a:tr>
              <a:tr h="614088">
                <a:tc>
                  <a:txBody>
                    <a:bodyPr/>
                    <a:lstStyle/>
                    <a:p>
                      <a:pPr algn="ctr" fontAlgn="ctr"/>
                      <a:r>
                        <a:rPr lang="en-US" sz="1300" b="0" i="0" u="none" strike="noStrike">
                          <a:solidFill>
                            <a:srgbClr val="000000"/>
                          </a:solidFill>
                          <a:effectLst/>
                          <a:latin typeface="Calibri" panose="020F0502020204030204" pitchFamily="34" charset="0"/>
                        </a:rPr>
                        <a:t>4</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B1321 DOOR MOUNTED EXTERNAL LIGHT AT REAR DOOR 3R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B1323 SEAT BELT SIGN 29DEF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B1326 LIDQUID COOLING R PUMP 1 </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8826523"/>
                  </a:ext>
                </a:extLst>
              </a:tr>
              <a:tr h="207688">
                <a:tc>
                  <a:txBody>
                    <a:bodyPr/>
                    <a:lstStyle/>
                    <a:p>
                      <a:pPr algn="ctr" fontAlgn="ctr"/>
                      <a:r>
                        <a:rPr lang="en-US" sz="1300" b="0" i="0" u="none" strike="noStrike">
                          <a:solidFill>
                            <a:srgbClr val="000000"/>
                          </a:solidFill>
                          <a:effectLst/>
                          <a:latin typeface="Calibri" panose="020F0502020204030204" pitchFamily="34" charset="0"/>
                        </a:rPr>
                        <a:t>5</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514367"/>
                  </a:ext>
                </a:extLst>
              </a:tr>
              <a:tr h="614088">
                <a:tc>
                  <a:txBody>
                    <a:bodyPr/>
                    <a:lstStyle/>
                    <a:p>
                      <a:pPr algn="ctr" fontAlgn="ctr"/>
                      <a:r>
                        <a:rPr lang="en-US" sz="1300" b="0" i="0" u="none" strike="noStrike">
                          <a:solidFill>
                            <a:srgbClr val="000000"/>
                          </a:solidFill>
                          <a:effectLst/>
                          <a:latin typeface="Calibri" panose="020F0502020204030204" pitchFamily="34" charset="0"/>
                        </a:rPr>
                        <a:t>6</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B1359 WEATHER RADAR SYS R</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B1382 BRAKE 7 ACTUATOR</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6047424"/>
                  </a:ext>
                </a:extLst>
              </a:tr>
              <a:tr h="614088">
                <a:tc>
                  <a:txBody>
                    <a:bodyPr/>
                    <a:lstStyle/>
                    <a:p>
                      <a:pPr algn="ctr" fontAlgn="ctr"/>
                      <a:r>
                        <a:rPr lang="en-US" sz="1300" b="0" i="0" u="none" strike="noStrike">
                          <a:solidFill>
                            <a:srgbClr val="000000"/>
                          </a:solidFill>
                          <a:effectLst/>
                          <a:latin typeface="Calibri" panose="020F0502020204030204" pitchFamily="34" charset="0"/>
                        </a:rPr>
                        <a:t>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giảm tần suất soi 250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B1612 ELEC APU STARTER R</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B1614 CABIN AIR CPRSR L1</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0673436"/>
                  </a:ext>
                </a:extLst>
              </a:tr>
              <a:tr h="410888">
                <a:tc>
                  <a:txBody>
                    <a:bodyPr/>
                    <a:lstStyle/>
                    <a:p>
                      <a:pPr algn="ctr" fontAlgn="ctr"/>
                      <a:r>
                        <a:rPr lang="en-US" sz="1300" b="0" i="0" u="none" strike="noStrike">
                          <a:solidFill>
                            <a:srgbClr val="000000"/>
                          </a:solidFill>
                          <a:effectLst/>
                          <a:latin typeface="Calibri" panose="020F0502020204030204" pitchFamily="34" charset="0"/>
                        </a:rPr>
                        <a:t>8</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B1178 WEATHER RADAR SYS L</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B1185 EQUIP SUPPLY AFT FAN 2</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4214696"/>
                  </a:ext>
                </a:extLst>
              </a:tr>
              <a:tr h="614088">
                <a:tc>
                  <a:txBody>
                    <a:bodyPr/>
                    <a:lstStyle/>
                    <a:p>
                      <a:pPr algn="ctr" fontAlgn="ctr"/>
                      <a:r>
                        <a:rPr lang="en-US" sz="1300" b="0" i="0" u="none" strike="noStrike">
                          <a:solidFill>
                            <a:srgbClr val="000000"/>
                          </a:solidFill>
                          <a:effectLst/>
                          <a:latin typeface="Calibri" panose="020F0502020204030204" pitchFamily="34" charset="0"/>
                        </a:rPr>
                        <a:t>9</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a:t>
                      </a:r>
                      <a:r>
                        <a:rPr lang="en-US" sz="1300" b="0" i="0" u="none" strike="noStrike">
                          <a:solidFill>
                            <a:srgbClr val="000000"/>
                          </a:solidFill>
                          <a:effectLst/>
                          <a:latin typeface="Calibri" panose="020F0502020204030204" pitchFamily="34" charset="0"/>
                        </a:rPr>
                        <a:t>#</a:t>
                      </a:r>
                      <a:r>
                        <a:rPr lang="vi-VN" sz="1300" b="0" i="0" u="none" strike="noStrike">
                          <a:solidFill>
                            <a:srgbClr val="000000"/>
                          </a:solidFill>
                          <a:effectLst/>
                          <a:latin typeface="Calibri" panose="020F0502020204030204" pitchFamily="34" charset="0"/>
                        </a:rPr>
                        <a:t>1 soi 250 FC (HPT S2 blade cracks) và soi 250 FC (fuel nozzle cup missing materials)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B1071 CABIN AIR CPRSR R2</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B1073:TAIL AIR FLOW SYS</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6359300"/>
                  </a:ext>
                </a:extLst>
              </a:tr>
              <a:tr h="207688">
                <a:tc>
                  <a:txBody>
                    <a:bodyPr/>
                    <a:lstStyle/>
                    <a:p>
                      <a:pPr algn="ctr" fontAlgn="ctr"/>
                      <a:r>
                        <a:rPr lang="en-US" sz="1300" b="0" i="0" u="none" strike="noStrike">
                          <a:solidFill>
                            <a:srgbClr val="000000"/>
                          </a:solidFill>
                          <a:effectLst/>
                          <a:latin typeface="Calibri" panose="020F0502020204030204" pitchFamily="34" charset="0"/>
                        </a:rPr>
                        <a:t>10</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845523"/>
                  </a:ext>
                </a:extLst>
              </a:tr>
              <a:tr h="207688">
                <a:tc>
                  <a:txBody>
                    <a:bodyPr/>
                    <a:lstStyle/>
                    <a:p>
                      <a:pPr algn="ctr" fontAlgn="ctr"/>
                      <a:r>
                        <a:rPr lang="en-US" sz="1300" b="0" i="0" u="none" strike="noStrike">
                          <a:solidFill>
                            <a:srgbClr val="000000"/>
                          </a:solidFill>
                          <a:effectLst/>
                          <a:latin typeface="Calibri" panose="020F0502020204030204" pitchFamily="34" charset="0"/>
                        </a:rPr>
                        <a:t>11</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2008342"/>
                  </a:ext>
                </a:extLst>
              </a:tr>
              <a:tr h="207688">
                <a:tc>
                  <a:txBody>
                    <a:bodyPr/>
                    <a:lstStyle/>
                    <a:p>
                      <a:pPr algn="ctr" fontAlgn="ctr"/>
                      <a:r>
                        <a:rPr lang="en-US" sz="1300" b="0" i="0" u="none" strike="noStrike">
                          <a:solidFill>
                            <a:srgbClr val="000000"/>
                          </a:solidFill>
                          <a:effectLst/>
                          <a:latin typeface="Calibri" panose="020F0502020204030204" pitchFamily="34" charset="0"/>
                        </a:rPr>
                        <a:t>12</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2950433"/>
                  </a:ext>
                </a:extLst>
              </a:tr>
              <a:tr h="207688">
                <a:tc>
                  <a:txBody>
                    <a:bodyPr/>
                    <a:lstStyle/>
                    <a:p>
                      <a:pPr algn="ctr" fontAlgn="ctr"/>
                      <a:r>
                        <a:rPr lang="en-US" sz="1300" b="0" i="0" u="none" strike="noStrike">
                          <a:solidFill>
                            <a:srgbClr val="000000"/>
                          </a:solidFill>
                          <a:effectLst/>
                          <a:latin typeface="Calibri" panose="020F0502020204030204" pitchFamily="34" charset="0"/>
                        </a:rPr>
                        <a:t>13</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B570 WEATHER RADAR SYS R</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9029243"/>
                  </a:ext>
                </a:extLst>
              </a:tr>
              <a:tr h="614088">
                <a:tc>
                  <a:txBody>
                    <a:bodyPr/>
                    <a:lstStyle/>
                    <a:p>
                      <a:pPr algn="ctr" fontAlgn="ctr"/>
                      <a:r>
                        <a:rPr lang="en-US" sz="1300" b="0" i="0" u="none" strike="noStrike">
                          <a:solidFill>
                            <a:srgbClr val="000000"/>
                          </a:solidFill>
                          <a:effectLst/>
                          <a:latin typeface="Calibri" panose="020F0502020204030204" pitchFamily="34" charset="0"/>
                        </a:rPr>
                        <a:t>14</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B441 ELEC GEN SYS APU L</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B442 ELEC APU STARTER L</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772458"/>
                  </a:ext>
                </a:extLst>
              </a:tr>
              <a:tr h="207688">
                <a:tc>
                  <a:txBody>
                    <a:bodyPr/>
                    <a:lstStyle/>
                    <a:p>
                      <a:pPr algn="ctr" fontAlgn="ctr"/>
                      <a:r>
                        <a:rPr lang="en-US" sz="1300" b="0" i="0" u="none" strike="noStrike">
                          <a:solidFill>
                            <a:srgbClr val="000000"/>
                          </a:solidFill>
                          <a:effectLst/>
                          <a:latin typeface="Calibri" panose="020F0502020204030204" pitchFamily="34" charset="0"/>
                        </a:rPr>
                        <a:t>15</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3243058"/>
                  </a:ext>
                </a:extLst>
              </a:tr>
              <a:tr h="207688">
                <a:tc>
                  <a:txBody>
                    <a:bodyPr/>
                    <a:lstStyle/>
                    <a:p>
                      <a:pPr algn="ctr" fontAlgn="ctr"/>
                      <a:r>
                        <a:rPr lang="en-US" sz="1300" b="0" i="0" u="none" strike="noStrike">
                          <a:solidFill>
                            <a:srgbClr val="000000"/>
                          </a:solidFill>
                          <a:effectLst/>
                          <a:latin typeface="Calibri" panose="020F0502020204030204" pitchFamily="34" charset="0"/>
                        </a:rPr>
                        <a:t>16</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8963219"/>
                  </a:ext>
                </a:extLst>
              </a:tr>
              <a:tr h="410888">
                <a:tc>
                  <a:txBody>
                    <a:bodyPr/>
                    <a:lstStyle/>
                    <a:p>
                      <a:pPr algn="ctr" fontAlgn="ctr"/>
                      <a:r>
                        <a:rPr lang="en-US" sz="1300" b="0" i="0" u="none" strike="noStrike">
                          <a:solidFill>
                            <a:srgbClr val="000000"/>
                          </a:solidFill>
                          <a:effectLst/>
                          <a:latin typeface="Calibri" panose="020F0502020204030204" pitchFamily="34" charset="0"/>
                        </a:rPr>
                        <a:t>17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a:t>
                      </a:r>
                      <a:r>
                        <a:rPr lang="en-US" sz="1300" b="0" i="0" u="none" strike="noStrike">
                          <a:solidFill>
                            <a:srgbClr val="000000"/>
                          </a:solidFill>
                          <a:effectLst/>
                          <a:latin typeface="Calibri" panose="020F0502020204030204" pitchFamily="34" charset="0"/>
                        </a:rPr>
                        <a:t>STG</a:t>
                      </a:r>
                      <a:r>
                        <a:rPr lang="vi-VN" sz="1300" b="0" i="0" u="none" strike="noStrike">
                          <a:solidFill>
                            <a:srgbClr val="000000"/>
                          </a:solidFill>
                          <a:effectLst/>
                          <a:latin typeface="Calibri" panose="020F0502020204030204" pitchFamily="34" charset="0"/>
                        </a:rPr>
                        <a:t> 1 soi 250 FC; Động cơ số 2 HPT blage stg 1 soi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B603 WEATHER RADAR SYS L ON STATUS</a:t>
                      </a:r>
                    </a:p>
                  </a:txBody>
                  <a:tcPr marL="4488" marR="4488" marT="44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4735770"/>
                  </a:ext>
                </a:extLst>
              </a:tr>
            </a:tbl>
          </a:graphicData>
        </a:graphic>
      </p:graphicFrame>
    </p:spTree>
    <p:extLst>
      <p:ext uri="{BB962C8B-B14F-4D97-AF65-F5344CB8AC3E}">
        <p14:creationId xmlns:p14="http://schemas.microsoft.com/office/powerpoint/2010/main" val="2845209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19</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577404" y="53340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609601" y="1219200"/>
            <a:ext cx="10896600" cy="1169551"/>
          </a:xfrm>
          <a:prstGeom prst="rect">
            <a:avLst/>
          </a:prstGeom>
        </p:spPr>
        <p:txBody>
          <a:bodyPr wrap="square">
            <a:spAutoFit/>
          </a:bodyPr>
          <a:lstStyle/>
          <a:p>
            <a:pPr algn="just">
              <a:buClrTx/>
              <a:buFontTx/>
              <a:buNone/>
            </a:pPr>
            <a:r>
              <a:rPr lang="en-US" sz="1400" b="1" err="1">
                <a:solidFill>
                  <a:prstClr val="black"/>
                </a:solidFill>
                <a:latin typeface="Times New Roman" panose="02020603050405020304" pitchFamily="18" charset="0"/>
                <a:cs typeface="Times New Roman" panose="02020603050405020304" pitchFamily="18" charset="0"/>
              </a:rPr>
              <a:t>Nhận</a:t>
            </a:r>
            <a:r>
              <a:rPr lang="en-US" sz="1400" b="1">
                <a:solidFill>
                  <a:prstClr val="black"/>
                </a:solidFill>
                <a:latin typeface="Times New Roman" panose="02020603050405020304" pitchFamily="18" charset="0"/>
                <a:cs typeface="Times New Roman" panose="02020603050405020304" pitchFamily="18" charset="0"/>
              </a:rPr>
              <a:t> </a:t>
            </a:r>
            <a:r>
              <a:rPr lang="en-US" sz="1400" b="1" err="1">
                <a:solidFill>
                  <a:prstClr val="black"/>
                </a:solidFill>
                <a:latin typeface="Times New Roman" panose="02020603050405020304" pitchFamily="18" charset="0"/>
                <a:cs typeface="Times New Roman" panose="02020603050405020304" pitchFamily="18" charset="0"/>
              </a:rPr>
              <a:t>xét</a:t>
            </a:r>
            <a:r>
              <a:rPr lang="en-US" sz="1400" b="1">
                <a:solidFill>
                  <a:prstClr val="black"/>
                </a:solidFill>
                <a:latin typeface="Times New Roman" panose="02020603050405020304" pitchFamily="18" charset="0"/>
                <a:cs typeface="Times New Roman" panose="02020603050405020304" pitchFamily="18" charset="0"/>
              </a:rPr>
              <a:t>: </a:t>
            </a:r>
          </a:p>
          <a:p>
            <a:pPr marL="285750" indent="-285750" algn="just">
              <a:buClrTx/>
              <a:buFontTx/>
              <a:buChar char="-"/>
            </a:pPr>
            <a:r>
              <a:rPr lang="vi-VN" sz="1400">
                <a:solidFill>
                  <a:prstClr val="black"/>
                </a:solidFill>
                <a:latin typeface="Times New Roman" panose="02020603050405020304" pitchFamily="18" charset="0"/>
                <a:cs typeface="Times New Roman" panose="02020603050405020304" pitchFamily="18" charset="0"/>
              </a:rPr>
              <a:t>Tình hình kỹ thuật đội bay </a:t>
            </a:r>
            <a:r>
              <a:rPr lang="en-US" sz="1400">
                <a:solidFill>
                  <a:prstClr val="black"/>
                </a:solidFill>
                <a:latin typeface="Times New Roman" panose="02020603050405020304" pitchFamily="18" charset="0"/>
                <a:cs typeface="Times New Roman" panose="02020603050405020304" pitchFamily="18" charset="0"/>
              </a:rPr>
              <a:t>B787 trong tuần tốt. </a:t>
            </a:r>
          </a:p>
          <a:p>
            <a:pPr marL="285750" indent="-285750" algn="just">
              <a:buClrTx/>
              <a:buFontTx/>
              <a:buChar char="-"/>
            </a:pPr>
            <a:r>
              <a:rPr lang="en-US" sz="1400">
                <a:solidFill>
                  <a:prstClr val="black"/>
                </a:solidFill>
                <a:latin typeface="Times New Roman" panose="02020603050405020304" pitchFamily="18" charset="0"/>
                <a:cs typeface="Times New Roman" panose="02020603050405020304" pitchFamily="18" charset="0"/>
              </a:rPr>
              <a:t>Hỏng hóc nổi cộm: </a:t>
            </a:r>
          </a:p>
          <a:p>
            <a:pPr lvl="1" algn="just"/>
            <a:r>
              <a:rPr lang="en-SG" sz="1400">
                <a:solidFill>
                  <a:prstClr val="black"/>
                </a:solidFill>
                <a:latin typeface="Times New Roman" panose="02020603050405020304" pitchFamily="18" charset="0"/>
                <a:cs typeface="Times New Roman" panose="02020603050405020304" pitchFamily="18" charset="0"/>
              </a:rPr>
              <a:t>+ </a:t>
            </a:r>
            <a:r>
              <a:rPr lang="en-US" sz="1400">
                <a:solidFill>
                  <a:prstClr val="black"/>
                </a:solidFill>
                <a:latin typeface="Times New Roman" panose="02020603050405020304" pitchFamily="18" charset="0"/>
                <a:cs typeface="Times New Roman" panose="02020603050405020304" pitchFamily="18" charset="0"/>
              </a:rPr>
              <a:t>A863 va chạm với A338 tại HAN ngày 27/06 phát sinh </a:t>
            </a:r>
            <a:r>
              <a:rPr lang="en-SG" sz="1400">
                <a:solidFill>
                  <a:prstClr val="black"/>
                </a:solidFill>
                <a:latin typeface="Times New Roman" panose="02020603050405020304" pitchFamily="18" charset="0"/>
                <a:cs typeface="Times New Roman" panose="02020603050405020304" pitchFamily="18" charset="0"/>
              </a:rPr>
              <a:t>RH WING TIP AND SLAT 12 DAMAGE OUT OF LIMIT -&gt; Tạm AOG hết 31/07 chờ team AOG Boeing khắc phục.</a:t>
            </a:r>
            <a:endParaRPr lang="en-US" sz="14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698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66A1A4DA-5404-8AE3-9CA5-ED8F18DD50B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49CA139-88A6-36AB-3BCF-1F78FCF4547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5C3D4B4-4E3F-272B-9817-3B5A741685A8}"/>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ATR72</a:t>
            </a:r>
          </a:p>
        </p:txBody>
      </p:sp>
      <p:sp>
        <p:nvSpPr>
          <p:cNvPr id="7" name="TextBox 6">
            <a:extLst>
              <a:ext uri="{FF2B5EF4-FFF2-40B4-BE49-F238E27FC236}">
                <a16:creationId xmlns:a16="http://schemas.microsoft.com/office/drawing/2014/main" id="{9FD4AB25-2D78-D08F-17FA-70DA4FE8281D}"/>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00</a:t>
            </a:r>
          </a:p>
        </p:txBody>
      </p:sp>
      <p:sp>
        <p:nvSpPr>
          <p:cNvPr id="8" name="TextBox 7">
            <a:extLst>
              <a:ext uri="{FF2B5EF4-FFF2-40B4-BE49-F238E27FC236}">
                <a16:creationId xmlns:a16="http://schemas.microsoft.com/office/drawing/2014/main" id="{46F5AF14-6DC1-4B99-9C41-54045E5B90D5}"/>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57196BA-27EE-259D-E136-3410E42BC623}"/>
              </a:ext>
            </a:extLst>
          </p:cNvPr>
          <p:cNvGraphicFramePr>
            <a:graphicFrameLocks noGrp="1"/>
          </p:cNvGraphicFramePr>
          <p:nvPr>
            <p:extLst>
              <p:ext uri="{D42A27DB-BD31-4B8C-83A1-F6EECF244321}">
                <p14:modId xmlns:p14="http://schemas.microsoft.com/office/powerpoint/2010/main" val="919578335"/>
              </p:ext>
            </p:extLst>
          </p:nvPr>
        </p:nvGraphicFramePr>
        <p:xfrm>
          <a:off x="134289" y="1598378"/>
          <a:ext cx="11361081" cy="3197398"/>
        </p:xfrm>
        <a:graphic>
          <a:graphicData uri="http://schemas.openxmlformats.org/drawingml/2006/table">
            <a:tbl>
              <a:tblPr/>
              <a:tblGrid>
                <a:gridCol w="475311">
                  <a:extLst>
                    <a:ext uri="{9D8B030D-6E8A-4147-A177-3AD203B41FA5}">
                      <a16:colId xmlns:a16="http://schemas.microsoft.com/office/drawing/2014/main" val="3631826415"/>
                    </a:ext>
                  </a:extLst>
                </a:gridCol>
                <a:gridCol w="410124">
                  <a:extLst>
                    <a:ext uri="{9D8B030D-6E8A-4147-A177-3AD203B41FA5}">
                      <a16:colId xmlns:a16="http://schemas.microsoft.com/office/drawing/2014/main" val="2985415475"/>
                    </a:ext>
                  </a:extLst>
                </a:gridCol>
                <a:gridCol w="580476">
                  <a:extLst>
                    <a:ext uri="{9D8B030D-6E8A-4147-A177-3AD203B41FA5}">
                      <a16:colId xmlns:a16="http://schemas.microsoft.com/office/drawing/2014/main" val="3429498714"/>
                    </a:ext>
                  </a:extLst>
                </a:gridCol>
                <a:gridCol w="685800">
                  <a:extLst>
                    <a:ext uri="{9D8B030D-6E8A-4147-A177-3AD203B41FA5}">
                      <a16:colId xmlns:a16="http://schemas.microsoft.com/office/drawing/2014/main" val="1120058905"/>
                    </a:ext>
                  </a:extLst>
                </a:gridCol>
                <a:gridCol w="457200">
                  <a:extLst>
                    <a:ext uri="{9D8B030D-6E8A-4147-A177-3AD203B41FA5}">
                      <a16:colId xmlns:a16="http://schemas.microsoft.com/office/drawing/2014/main" val="144532814"/>
                    </a:ext>
                  </a:extLst>
                </a:gridCol>
                <a:gridCol w="2362200">
                  <a:extLst>
                    <a:ext uri="{9D8B030D-6E8A-4147-A177-3AD203B41FA5}">
                      <a16:colId xmlns:a16="http://schemas.microsoft.com/office/drawing/2014/main" val="3010832180"/>
                    </a:ext>
                  </a:extLst>
                </a:gridCol>
                <a:gridCol w="1524000">
                  <a:extLst>
                    <a:ext uri="{9D8B030D-6E8A-4147-A177-3AD203B41FA5}">
                      <a16:colId xmlns:a16="http://schemas.microsoft.com/office/drawing/2014/main" val="4147137956"/>
                    </a:ext>
                  </a:extLst>
                </a:gridCol>
                <a:gridCol w="685800">
                  <a:extLst>
                    <a:ext uri="{9D8B030D-6E8A-4147-A177-3AD203B41FA5}">
                      <a16:colId xmlns:a16="http://schemas.microsoft.com/office/drawing/2014/main" val="2286568677"/>
                    </a:ext>
                  </a:extLst>
                </a:gridCol>
                <a:gridCol w="4180170">
                  <a:extLst>
                    <a:ext uri="{9D8B030D-6E8A-4147-A177-3AD203B41FA5}">
                      <a16:colId xmlns:a16="http://schemas.microsoft.com/office/drawing/2014/main" val="512002783"/>
                    </a:ext>
                  </a:extLst>
                </a:gridCol>
              </a:tblGrid>
              <a:tr h="78914">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OPEN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07899618"/>
                  </a:ext>
                </a:extLst>
              </a:tr>
              <a:tr h="2582384">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B218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13:39 23/07/2025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23/7/25 15:00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AFTER 0V8054 VCS-SGN, CAPT REPORT IN TLP</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TQ ENG#2 SLOWLY ADAPT WITH PLS#2 DURING TAKE OFF</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ENG# 2 NO ITT DURING START HOTEL MODE WITH START A</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 INNER KNOB COM#2 BROKEN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 2 RIGGING CHKD SATIS, PEC 2, EEC 2 NO FAULT CODE, ENG 2 TRIMED, ENG RUN UP CHKD ENG 2 PARAMETER NORMAL, CHKD TIME ENG 2 ACCELERATION IN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77</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Times New Roman" panose="02020603050405020304" pitchFamily="18" charset="0"/>
                          <a:cs typeface="Times New Roman" panose="02020603050405020304" pitchFamily="18" charset="0"/>
                        </a:rPr>
                        <a:t>Động cơ số 2 B218 ESN ED0239 có TSN/CSN = 19984 FH/21973 FC, TSHSI/CSN = 4801 FH/ 6026 FC, TSO/CSO = 12332 FH/ 14152 FC, TSLSV/CSLSV = 40 FH/ 51 FC vừa đi shop sửa chữa do corrosion và được lắp lên B218 vào ngày 16/7. Sau chuyến bay 0V8054, tổ bay báo không hiện ITT tại chế độ Hotel Mode và lực torque động cơ số 2 tăng chậm khi cất cánh. Hỏng hóc không hiện ITT tại Hotel mode ít gặp trên đội bay VNA, từ 2015-nay chưa gặp trường hợp nào, đối với hỏng hóc này VAECO thực hiện theo TSM thay Igniter, Exciter và Cable Ignition. Hỏng hóc liên quan đến lực torque được khắc phục sau khi thực hiện Rigging hệ thống điều khiển cánh quạt. Trước đó tàu đã được thực hiện Rigging toàn bộ hệ thống điều khiển cánh quạt theo SO tăng cường của ban KT, 2 hỏng hóc này phát sinh đồng thời do đó nghi ngờ khả năng có thể do hỏng hóc khối Fuel Pump, thay chủ động khối Fuel Pump để tiếp tục theo dõi. Theo thống kê ĐTC từ 2015-nay, khối Fuel Pump có ĐTC cao, chỉ phát sing 02 lần thay ngoài KH có ngưỡng MTBUR = 108,277 FH. Hiện tại khối này được kiểm tra theo ngưỡng Soft-time khi gửi cùng động cơ đi Shop.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2312448"/>
                  </a:ext>
                </a:extLst>
              </a:tr>
            </a:tbl>
          </a:graphicData>
        </a:graphic>
      </p:graphicFrame>
    </p:spTree>
    <p:extLst>
      <p:ext uri="{BB962C8B-B14F-4D97-AF65-F5344CB8AC3E}">
        <p14:creationId xmlns:p14="http://schemas.microsoft.com/office/powerpoint/2010/main" val="2276863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991722" y="762000"/>
            <a:ext cx="9981078"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991722" y="1428169"/>
            <a:ext cx="10264462" cy="1323439"/>
          </a:xfrm>
          <a:prstGeom prst="rect">
            <a:avLst/>
          </a:prstGeom>
          <a:noFill/>
        </p:spPr>
        <p:txBody>
          <a:bodyPr wrap="square">
            <a:spAutoFit/>
          </a:bodyPr>
          <a:lstStyle/>
          <a:p>
            <a:pPr algn="just">
              <a:buClrTx/>
              <a:buFontTx/>
              <a:buNone/>
              <a:defRPr/>
            </a:pPr>
            <a:r>
              <a:rPr lang="en-US" sz="1600" b="1" kern="1200" dirty="0" err="1">
                <a:solidFill>
                  <a:prstClr val="black"/>
                </a:solidFill>
                <a:latin typeface="Times New Roman" panose="02020603050405020304" pitchFamily="18" charset="0"/>
                <a:cs typeface="Times New Roman" panose="02020603050405020304" pitchFamily="18" charset="0"/>
              </a:rPr>
              <a:t>Đội</a:t>
            </a:r>
            <a:r>
              <a:rPr lang="en-US" sz="1600" b="1" kern="1200" dirty="0">
                <a:solidFill>
                  <a:prstClr val="black"/>
                </a:solidFill>
                <a:latin typeface="Times New Roman" panose="02020603050405020304" pitchFamily="18" charset="0"/>
                <a:cs typeface="Times New Roman" panose="02020603050405020304" pitchFamily="18" charset="0"/>
              </a:rPr>
              <a:t> bay ATR72</a:t>
            </a:r>
            <a:r>
              <a:rPr lang="en-US" sz="1600" b="1" kern="1200">
                <a:solidFill>
                  <a:prstClr val="black"/>
                </a:solidFill>
                <a:latin typeface="Times New Roman" panose="02020603050405020304" pitchFamily="18" charset="0"/>
                <a:cs typeface="Times New Roman" panose="02020603050405020304" pitchFamily="18" charset="0"/>
              </a:rPr>
              <a:t>: </a:t>
            </a:r>
            <a:r>
              <a:rPr lang="en-US" sz="1600" smtClean="0">
                <a:solidFill>
                  <a:prstClr val="black"/>
                </a:solidFill>
                <a:latin typeface="Times New Roman" panose="02020603050405020304" pitchFamily="18" charset="0"/>
                <a:cs typeface="Times New Roman" panose="02020603050405020304" pitchFamily="18" charset="0"/>
              </a:rPr>
              <a:t>trong </a:t>
            </a:r>
            <a:r>
              <a:rPr lang="en-US" sz="1600">
                <a:solidFill>
                  <a:prstClr val="black"/>
                </a:solidFill>
                <a:latin typeface="Times New Roman" panose="02020603050405020304" pitchFamily="18" charset="0"/>
                <a:cs typeface="Times New Roman" panose="02020603050405020304" pitchFamily="18" charset="0"/>
              </a:rPr>
              <a:t>tuần chỉ có 01 TH </a:t>
            </a:r>
            <a:r>
              <a:rPr lang="en-US" sz="1600" smtClean="0">
                <a:solidFill>
                  <a:prstClr val="black"/>
                </a:solidFill>
                <a:latin typeface="Times New Roman" panose="02020603050405020304" pitchFamily="18" charset="0"/>
                <a:cs typeface="Times New Roman" panose="02020603050405020304" pitchFamily="18" charset="0"/>
              </a:rPr>
              <a:t>AOG </a:t>
            </a:r>
            <a:r>
              <a:rPr lang="en-US" sz="1600">
                <a:solidFill>
                  <a:prstClr val="black"/>
                </a:solidFill>
                <a:latin typeface="Times New Roman" panose="02020603050405020304" pitchFamily="18" charset="0"/>
                <a:cs typeface="Times New Roman" panose="02020603050405020304" pitchFamily="18" charset="0"/>
              </a:rPr>
              <a:t>tàu B218 tại SGN ngày 23/07 do sau chuyến bay VCS-SGN, tổ bay ghi sổ </a:t>
            </a:r>
            <a:r>
              <a:rPr lang="vi-VN" sz="1600">
                <a:solidFill>
                  <a:prstClr val="black"/>
                </a:solidFill>
                <a:cs typeface="Times New Roman" panose="02020603050405020304" pitchFamily="18" charset="0"/>
              </a:rPr>
              <a:t>không hiện ITT tại chế độ Hotel Mode và lực torque động cơ số 2 tăng chậm khi cất cánh</a:t>
            </a:r>
            <a:r>
              <a:rPr lang="en-US" sz="1600">
                <a:solidFill>
                  <a:prstClr val="black"/>
                </a:solidFill>
                <a:latin typeface="Times New Roman" panose="02020603050405020304" pitchFamily="18" charset="0"/>
                <a:cs typeface="Times New Roman" panose="02020603050405020304" pitchFamily="18" charset="0"/>
              </a:rPr>
              <a:t>. </a:t>
            </a:r>
            <a:r>
              <a:rPr lang="vi-VN" sz="1600">
                <a:solidFill>
                  <a:prstClr val="black"/>
                </a:solidFill>
                <a:cs typeface="Times New Roman" panose="02020603050405020304" pitchFamily="18" charset="0"/>
              </a:rPr>
              <a:t>VAECO thực hiện theo TSM thay Igniter, Exciter</a:t>
            </a:r>
            <a:r>
              <a:rPr lang="en-US" sz="1600">
                <a:solidFill>
                  <a:prstClr val="black"/>
                </a:solidFill>
                <a:latin typeface="Times New Roman" panose="02020603050405020304" pitchFamily="18" charset="0"/>
                <a:cs typeface="Times New Roman" panose="02020603050405020304" pitchFamily="18" charset="0"/>
              </a:rPr>
              <a:t>,</a:t>
            </a:r>
            <a:r>
              <a:rPr lang="vi-VN" sz="1600">
                <a:solidFill>
                  <a:prstClr val="black"/>
                </a:solidFill>
                <a:cs typeface="Times New Roman" panose="02020603050405020304" pitchFamily="18" charset="0"/>
              </a:rPr>
              <a:t> Cable Ignitio</a:t>
            </a:r>
            <a:r>
              <a:rPr lang="en-US" sz="1600">
                <a:solidFill>
                  <a:prstClr val="black"/>
                </a:solidFill>
                <a:latin typeface="Times New Roman" panose="02020603050405020304" pitchFamily="18" charset="0"/>
                <a:cs typeface="Times New Roman" panose="02020603050405020304" pitchFamily="18" charset="0"/>
              </a:rPr>
              <a:t>n và</a:t>
            </a:r>
            <a:r>
              <a:rPr lang="vi-VN" sz="1600">
                <a:solidFill>
                  <a:prstClr val="black"/>
                </a:solidFill>
                <a:cs typeface="Times New Roman" panose="02020603050405020304" pitchFamily="18" charset="0"/>
              </a:rPr>
              <a:t> Rigging hệ thống điều khiển cánh quạt</a:t>
            </a:r>
            <a:r>
              <a:rPr lang="en-US" sz="1600">
                <a:solidFill>
                  <a:prstClr val="black"/>
                </a:solidFill>
                <a:latin typeface="Times New Roman" panose="02020603050405020304" pitchFamily="18" charset="0"/>
                <a:cs typeface="Times New Roman" panose="02020603050405020304" pitchFamily="18" charset="0"/>
              </a:rPr>
              <a:t> để khắc phục 2 lỗi xảy ra. Bên cạnh đó, do 2 hỏng hóc này phát sinh đồng thời nên có nghi ngờ nguyên nhân hỏng hóc khối Fuel Pump. VAECO đã thay chủ động khối Fuel Pump để tiếp tục theo dõi và đánh giá.</a:t>
            </a:r>
          </a:p>
        </p:txBody>
      </p:sp>
    </p:spTree>
    <p:extLst>
      <p:ext uri="{BB962C8B-B14F-4D97-AF65-F5344CB8AC3E}">
        <p14:creationId xmlns:p14="http://schemas.microsoft.com/office/powerpoint/2010/main" val="2589395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W30 (21/07/2025-27/07/20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60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a:t>
            </a:r>
            <a:r>
              <a:rPr lang="en-US" sz="1400" noProof="0">
                <a:solidFill>
                  <a:prstClr val="black"/>
                </a:solidFill>
                <a:latin typeface="Times New Roman" panose="02020603050405020304" pitchFamily="18" charset="0"/>
                <a:cs typeface="Times New Roman" panose="02020603050405020304" pitchFamily="18" charset="0"/>
              </a:rPr>
              <a:t>30</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cậy</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 cất cánh </a:t>
            </a:r>
            <a:r>
              <a:rPr lang="en-US" sz="1400" noProof="0">
                <a:solidFill>
                  <a:prstClr val="black"/>
                </a:solidFill>
                <a:latin typeface="Times New Roman" panose="02020603050405020304" pitchFamily="18" charset="0"/>
                <a:cs typeface="Times New Roman" panose="02020603050405020304" pitchFamily="18" charset="0"/>
              </a:rPr>
              <a:t>đội các đội A321, A350, B787 đạt mục tiêu, riêng đội ATR72 không đạt mục tiêu</a:t>
            </a:r>
            <a:r>
              <a:rPr lang="en-US" sz="1400">
                <a:solidFill>
                  <a:prstClr val="black"/>
                </a:solidFill>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99,67% cao hơn 0,04%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99,60% cao hơn 0,16%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r>
              <a:rPr lang="pt-BR" sz="1400">
                <a:solidFill>
                  <a:prstClr val="black"/>
                </a:solidFill>
                <a:latin typeface="Times New Roman" panose="02020603050405020304" pitchFamily="18" charset="0"/>
                <a:cs typeface="Times New Roman" panose="02020603050405020304" pitchFamily="18" charset="0"/>
              </a:rPr>
              <a:t>.</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99,72% cao</a:t>
            </a:r>
            <a:r>
              <a:rPr lang="en-US" sz="1400">
                <a:latin typeface="Times New Roman" panose="02020603050405020304" pitchFamily="18" charset="0"/>
                <a:cs typeface="Times New Roman" panose="02020603050405020304" pitchFamily="18" charset="0"/>
              </a:rPr>
              <a:t> hơn 0,36%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99,55% thấp hơn 0,10%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01 sự kiện tàu B218 do một số lỗi liên quan tới hệ thống chỉ thị động cơ. </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2706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10" name="Chart 9">
            <a:extLst>
              <a:ext uri="{FF2B5EF4-FFF2-40B4-BE49-F238E27FC236}">
                <a16:creationId xmlns:a16="http://schemas.microsoft.com/office/drawing/2014/main" id="{00000000-0008-0000-0000-000006000000}"/>
              </a:ext>
            </a:extLst>
          </p:cNvPr>
          <p:cNvGraphicFramePr>
            <a:graphicFrameLocks/>
          </p:cNvGraphicFramePr>
          <p:nvPr/>
        </p:nvGraphicFramePr>
        <p:xfrm>
          <a:off x="552665" y="970315"/>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354249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23</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3" y="0"/>
            <a:ext cx="11878433"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623288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46876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13.5k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 slot.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telecon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SSA 2024 CAP, Lease engine 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thuê</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xem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xét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CAP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vượt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14-16 slot induct.</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follow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Lease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tịch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07/06/2025.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tịch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19987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thư</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support.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lãnh</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IATA.</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23438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EVP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commercial,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vẫn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chưa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cụ</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35191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24</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66441" y="38100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nvPr>
        </p:nvGraphicFramePr>
        <p:xfrm>
          <a:off x="169662" y="1073089"/>
          <a:ext cx="11878434" cy="4615934"/>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524548">
                  <a:extLst>
                    <a:ext uri="{9D8B030D-6E8A-4147-A177-3AD203B41FA5}">
                      <a16:colId xmlns:a16="http://schemas.microsoft.com/office/drawing/2014/main" val="426833219"/>
                    </a:ext>
                  </a:extLst>
                </a:gridCol>
                <a:gridCol w="1748216">
                  <a:extLst>
                    <a:ext uri="{9D8B030D-6E8A-4147-A177-3AD203B41FA5}">
                      <a16:colId xmlns:a16="http://schemas.microsoft.com/office/drawing/2014/main" val="3649942957"/>
                    </a:ext>
                  </a:extLst>
                </a:gridCol>
              </a:tblGrid>
              <a:tr h="43283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115899">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SwissAS</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dirty="0">
                          <a:solidFill>
                            <a:schemeClr val="tx1"/>
                          </a:solidFill>
                          <a:effectLst/>
                          <a:latin typeface="Times New Roman" panose="02020603050405020304" pitchFamily="18" charset="0"/>
                          <a:cs typeface="Times New Roman" panose="02020603050405020304" pitchFamily="18" charset="0"/>
                        </a:rPr>
                        <a:t>Sau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hợp</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đồng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với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SAS,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Tổ</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triển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khai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eTL</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triển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khai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các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liên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quan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Mục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tiêu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đ</a:t>
                      </a:r>
                      <a:r>
                        <a:rPr lang="vi-VN" sz="1300" b="0" i="0" u="none" strike="noStrike" dirty="0">
                          <a:solidFill>
                            <a:schemeClr val="tx1"/>
                          </a:solidFill>
                          <a:effectLst/>
                          <a:latin typeface="Times New Roman" panose="02020603050405020304" pitchFamily="18" charset="0"/>
                          <a:cs typeface="Times New Roman" panose="02020603050405020304" pitchFamily="18" charset="0"/>
                        </a:rPr>
                        <a:t>ư</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a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vào</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sử</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dụng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đầu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năm</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2026</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478659">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B787 VN-A863</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600"/>
                        </a:spcBef>
                        <a:spcAft>
                          <a:spcPts val="0"/>
                        </a:spcAft>
                        <a:buClrTx/>
                        <a:buSzTx/>
                        <a:buFontTx/>
                        <a:buNone/>
                        <a:tabLst>
                          <a:tab pos="173038" algn="l"/>
                        </a:tabLst>
                        <a:defRPr/>
                      </a:pPr>
                      <a:r>
                        <a:rPr lang="vi-VN"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Phải thay RH Wingtip và Slat #12. BOE AOG team đánh giá Wingtip và slats hỏng, không thể sủa được. TGĐ đã đồng ý bàn chào sửa chữa trọn gói (vật tư + nhân công). PTGĐ đã ký bản chào; </a:t>
                      </a:r>
                    </a:p>
                    <a:p>
                      <a:pPr marL="0" marR="0" lvl="0" indent="0" algn="l" defTabSz="914400" rtl="0" eaLnBrk="1" fontAlgn="b" latinLnBrk="0" hangingPunct="1">
                        <a:lnSpc>
                          <a:spcPct val="100000"/>
                        </a:lnSpc>
                        <a:spcBef>
                          <a:spcPts val="600"/>
                        </a:spcBef>
                        <a:spcAft>
                          <a:spcPts val="0"/>
                        </a:spcAft>
                        <a:buClrTx/>
                        <a:buSzTx/>
                        <a:buFontTx/>
                        <a:buNone/>
                        <a:tabLst>
                          <a:tab pos="173038" algn="l"/>
                        </a:tabLst>
                        <a:defRPr/>
                      </a:pPr>
                      <a:r>
                        <a:rPr lang="vi-VN" sz="1300" b="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24/7 BOE bắt đầu sửa chữa. Thời gian sửa chữa dự kiến khoảng 8 ngày. A863 tạm dừng bay hết 31/7/2025. Chi tiết xem slide A863</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4907250"/>
                  </a:ext>
                </a:extLst>
              </a:tr>
              <a:tr h="1478659">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IFC 10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b="0" dirty="0">
                          <a:solidFill>
                            <a:schemeClr val="tx1"/>
                          </a:solidFill>
                          <a:latin typeface="Times New Roman" panose="02020603050405020304" pitchFamily="18" charset="0"/>
                          <a:cs typeface="Times New Roman" panose="02020603050405020304" pitchFamily="18" charset="0"/>
                        </a:rPr>
                        <a:t>05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đã</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nâng</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cấp</a:t>
                      </a:r>
                      <a:r>
                        <a:rPr lang="en-US" sz="1400" b="0" dirty="0">
                          <a:solidFill>
                            <a:schemeClr val="tx1"/>
                          </a:solidFill>
                          <a:latin typeface="Times New Roman" panose="02020603050405020304" pitchFamily="18" charset="0"/>
                          <a:cs typeface="Times New Roman" panose="02020603050405020304" pitchFamily="18" charset="0"/>
                        </a:rPr>
                        <a:t> HW (on-wing/off-wing): A891, A899, A893, A897 </a:t>
                      </a:r>
                      <a:r>
                        <a:rPr lang="en-US" sz="1400" b="0" dirty="0" err="1">
                          <a:solidFill>
                            <a:schemeClr val="tx1"/>
                          </a:solidFill>
                          <a:latin typeface="Times New Roman" panose="02020603050405020304" pitchFamily="18" charset="0"/>
                          <a:cs typeface="Times New Roman" panose="02020603050405020304" pitchFamily="18" charset="0"/>
                        </a:rPr>
                        <a:t>và</a:t>
                      </a:r>
                      <a:r>
                        <a:rPr lang="en-US" sz="1400" b="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b="0" dirty="0">
                          <a:solidFill>
                            <a:schemeClr val="tx1"/>
                          </a:solidFill>
                          <a:latin typeface="Times New Roman" panose="02020603050405020304" pitchFamily="18" charset="0"/>
                          <a:cs typeface="Times New Roman" panose="02020603050405020304" pitchFamily="18" charset="0"/>
                        </a:rPr>
                        <a:t>KH </a:t>
                      </a:r>
                      <a:r>
                        <a:rPr lang="en-US" sz="1400" b="0" dirty="0" err="1">
                          <a:solidFill>
                            <a:schemeClr val="tx1"/>
                          </a:solidFill>
                          <a:latin typeface="Times New Roman" panose="02020603050405020304" pitchFamily="18" charset="0"/>
                          <a:cs typeface="Times New Roman" panose="02020603050405020304" pitchFamily="18" charset="0"/>
                        </a:rPr>
                        <a:t>nâng</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cấp</a:t>
                      </a:r>
                      <a:r>
                        <a:rPr lang="en-US" sz="1400" b="0" dirty="0">
                          <a:solidFill>
                            <a:schemeClr val="tx1"/>
                          </a:solidFill>
                          <a:latin typeface="Times New Roman" panose="02020603050405020304" pitchFamily="18" charset="0"/>
                          <a:cs typeface="Times New Roman" panose="02020603050405020304" pitchFamily="18" charset="0"/>
                        </a:rPr>
                        <a:t> SW activation 05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rgbClr val="FF0000"/>
                          </a:solidFill>
                          <a:latin typeface="Times New Roman" panose="02020603050405020304" pitchFamily="18" charset="0"/>
                          <a:cs typeface="Times New Roman" panose="02020603050405020304" pitchFamily="18" charset="0"/>
                        </a:rPr>
                        <a:t>hoàn</a:t>
                      </a:r>
                      <a:r>
                        <a:rPr lang="en-US" sz="1400" b="0" dirty="0">
                          <a:solidFill>
                            <a:srgbClr val="FF0000"/>
                          </a:solidFill>
                          <a:latin typeface="Times New Roman" panose="02020603050405020304" pitchFamily="18" charset="0"/>
                          <a:cs typeface="Times New Roman" panose="02020603050405020304" pitchFamily="18" charset="0"/>
                        </a:rPr>
                        <a:t> </a:t>
                      </a:r>
                      <a:r>
                        <a:rPr lang="en-US" sz="1400" b="0" dirty="0" err="1">
                          <a:solidFill>
                            <a:srgbClr val="FF0000"/>
                          </a:solidFill>
                          <a:latin typeface="Times New Roman" panose="02020603050405020304" pitchFamily="18" charset="0"/>
                          <a:cs typeface="Times New Roman" panose="02020603050405020304" pitchFamily="18" charset="0"/>
                        </a:rPr>
                        <a:t>thành</a:t>
                      </a:r>
                      <a:r>
                        <a:rPr lang="en-US" sz="1400" b="0" dirty="0">
                          <a:solidFill>
                            <a:srgbClr val="FF0000"/>
                          </a:solidFill>
                          <a:latin typeface="Times New Roman" panose="02020603050405020304" pitchFamily="18" charset="0"/>
                          <a:cs typeface="Times New Roman" panose="02020603050405020304" pitchFamily="18" charset="0"/>
                        </a:rPr>
                        <a:t> A893, A899, A891, A896, A897 </a:t>
                      </a:r>
                    </a:p>
                    <a:p>
                      <a:pPr marL="176213" lvl="1" indent="-176213">
                        <a:lnSpc>
                          <a:spcPct val="130000"/>
                        </a:lnSpc>
                        <a:buFontTx/>
                        <a:buChar char="-"/>
                      </a:pPr>
                      <a:r>
                        <a:rPr lang="en-US" sz="1400" b="0" dirty="0" err="1">
                          <a:solidFill>
                            <a:schemeClr val="tx1"/>
                          </a:solidFill>
                          <a:latin typeface="Times New Roman" panose="02020603050405020304" pitchFamily="18" charset="0"/>
                          <a:cs typeface="Times New Roman" panose="02020603050405020304" pitchFamily="18" charset="0"/>
                        </a:rPr>
                        <a:t>Kế</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hoạch</a:t>
                      </a:r>
                      <a:r>
                        <a:rPr lang="en-US" sz="1400" b="0" dirty="0">
                          <a:solidFill>
                            <a:schemeClr val="tx1"/>
                          </a:solidFill>
                          <a:latin typeface="Times New Roman" panose="02020603050405020304" pitchFamily="18" charset="0"/>
                          <a:cs typeface="Times New Roman" panose="02020603050405020304" pitchFamily="18" charset="0"/>
                        </a:rPr>
                        <a:t> activate IFC: </a:t>
                      </a:r>
                      <a:r>
                        <a:rPr lang="en-US" sz="1400" b="0" dirty="0">
                          <a:solidFill>
                            <a:srgbClr val="FF0000"/>
                          </a:solidFill>
                          <a:latin typeface="Times New Roman" panose="02020603050405020304" pitchFamily="18" charset="0"/>
                          <a:cs typeface="Times New Roman" panose="02020603050405020304" pitchFamily="18" charset="0"/>
                        </a:rPr>
                        <a:t>A899 (28/7), A896 (29/7), A891 (30/7), A897 (31/7)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bl>
          </a:graphicData>
        </a:graphic>
      </p:graphicFrame>
    </p:spTree>
    <p:extLst>
      <p:ext uri="{BB962C8B-B14F-4D97-AF65-F5344CB8AC3E}">
        <p14:creationId xmlns:p14="http://schemas.microsoft.com/office/powerpoint/2010/main" val="1922243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25</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nvPr>
        </p:nvGraphicFramePr>
        <p:xfrm>
          <a:off x="156782" y="838200"/>
          <a:ext cx="11959018" cy="5668898"/>
        </p:xfrm>
        <a:graphic>
          <a:graphicData uri="http://schemas.openxmlformats.org/drawingml/2006/table">
            <a:tbl>
              <a:tblPr>
                <a:tableStyleId>{5C22544A-7EE6-4342-B048-85BDC9FD1C3A}</a:tableStyleId>
              </a:tblPr>
              <a:tblGrid>
                <a:gridCol w="425595">
                  <a:extLst>
                    <a:ext uri="{9D8B030D-6E8A-4147-A177-3AD203B41FA5}">
                      <a16:colId xmlns:a16="http://schemas.microsoft.com/office/drawing/2014/main" val="2758273930"/>
                    </a:ext>
                  </a:extLst>
                </a:gridCol>
                <a:gridCol w="1771669">
                  <a:extLst>
                    <a:ext uri="{9D8B030D-6E8A-4147-A177-3AD203B41FA5}">
                      <a16:colId xmlns:a16="http://schemas.microsoft.com/office/drawing/2014/main" val="221963637"/>
                    </a:ext>
                  </a:extLst>
                </a:gridCol>
                <a:gridCol w="8710582">
                  <a:extLst>
                    <a:ext uri="{9D8B030D-6E8A-4147-A177-3AD203B41FA5}">
                      <a16:colId xmlns:a16="http://schemas.microsoft.com/office/drawing/2014/main" val="426833219"/>
                    </a:ext>
                  </a:extLst>
                </a:gridCol>
                <a:gridCol w="1051172">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marR="0" lvl="1" indent="-342900" algn="l" defTabSz="914400" rtl="0" eaLnBrk="1" fontAlgn="auto" latinLnBrk="0" hangingPunct="1">
                        <a:lnSpc>
                          <a:spcPct val="130000"/>
                        </a:lnSpc>
                        <a:spcBef>
                          <a:spcPts val="0"/>
                        </a:spcBef>
                        <a:spcAft>
                          <a:spcPts val="0"/>
                        </a:spcAft>
                        <a:buClrTx/>
                        <a:buSzTx/>
                        <a:buFontTx/>
                        <a:buAutoNum type="alphaLcPeriod"/>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(T8/2025)</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Intelsat: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24-36MO;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1.5-1.8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trUSD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Skyfive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A2G: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12-15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250K/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1180301"/>
                  </a:ext>
                </a:extLst>
              </a:tr>
              <a:tr h="818864">
                <a:tc>
                  <a:txBody>
                    <a:bodyPr/>
                    <a:lstStyle/>
                    <a:p>
                      <a:pPr algn="ctr" fontAlgn="b"/>
                      <a:r>
                        <a:rPr lang="en-US" sz="1400" b="0" i="0" u="none" strike="noStrike" smtClean="0">
                          <a:solidFill>
                            <a:schemeClr val="tx1"/>
                          </a:solidFill>
                          <a:effectLst/>
                          <a:latin typeface="Times New Roman" panose="02020603050405020304" pitchFamily="18" charset="0"/>
                          <a:cs typeface="Times New Roman" panose="02020603050405020304" pitchFamily="18" charset="0"/>
                        </a:rPr>
                        <a:t>8</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CĐCH </a:t>
                      </a:r>
                      <a:r>
                        <a:rPr lang="en-US" sz="1400" b="0" dirty="0" err="1">
                          <a:solidFill>
                            <a:schemeClr val="tx1"/>
                          </a:solidFill>
                          <a:latin typeface="Times New Roman" panose="02020603050405020304" pitchFamily="18" charset="0"/>
                          <a:cs typeface="Times New Roman" panose="02020603050405020304" pitchFamily="18" charset="0"/>
                        </a:rPr>
                        <a:t>ghế</a:t>
                      </a:r>
                      <a:r>
                        <a:rPr lang="en-US" sz="1400" b="0" dirty="0">
                          <a:solidFill>
                            <a:schemeClr val="tx1"/>
                          </a:solidFill>
                          <a:latin typeface="Times New Roman" panose="02020603050405020304" pitchFamily="18" charset="0"/>
                          <a:cs typeface="Times New Roman" panose="02020603050405020304" pitchFamily="18" charset="0"/>
                        </a:rPr>
                        <a:t> 23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b="0" dirty="0">
                          <a:solidFill>
                            <a:schemeClr val="tx1"/>
                          </a:solidFill>
                          <a:latin typeface="Times New Roman" panose="02020603050405020304" pitchFamily="18" charset="0"/>
                          <a:cs typeface="Times New Roman" panose="02020603050405020304" pitchFamily="18" charset="0"/>
                        </a:rPr>
                        <a:t>HĐQT </a:t>
                      </a:r>
                      <a:r>
                        <a:rPr lang="en-US" sz="1400" b="0" dirty="0" err="1">
                          <a:solidFill>
                            <a:schemeClr val="tx1"/>
                          </a:solidFill>
                          <a:latin typeface="Times New Roman" panose="02020603050405020304" pitchFamily="18" charset="0"/>
                          <a:cs typeface="Times New Roman" panose="02020603050405020304" pitchFamily="18" charset="0"/>
                        </a:rPr>
                        <a:t>đã</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thông</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quả</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kết</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quả</a:t>
                      </a:r>
                      <a:r>
                        <a:rPr lang="en-US" sz="1400" b="0" dirty="0">
                          <a:solidFill>
                            <a:schemeClr val="tx1"/>
                          </a:solidFill>
                          <a:latin typeface="Times New Roman" panose="02020603050405020304" pitchFamily="18" charset="0"/>
                          <a:cs typeface="Times New Roman" panose="02020603050405020304" pitchFamily="18" charset="0"/>
                        </a:rPr>
                        <a:t> LC NCC </a:t>
                      </a:r>
                      <a:r>
                        <a:rPr lang="en-US" sz="1400" b="0" dirty="0" err="1">
                          <a:solidFill>
                            <a:schemeClr val="tx1"/>
                          </a:solidFill>
                          <a:latin typeface="Times New Roman" panose="02020603050405020304" pitchFamily="18" charset="0"/>
                          <a:cs typeface="Times New Roman" panose="02020603050405020304" pitchFamily="18" charset="0"/>
                        </a:rPr>
                        <a:t>ghế</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và</a:t>
                      </a:r>
                      <a:r>
                        <a:rPr lang="en-US" sz="1400" b="0" dirty="0">
                          <a:solidFill>
                            <a:schemeClr val="tx1"/>
                          </a:solidFill>
                          <a:latin typeface="Times New Roman" panose="02020603050405020304" pitchFamily="18" charset="0"/>
                          <a:cs typeface="Times New Roman" panose="02020603050405020304" pitchFamily="18" charset="0"/>
                        </a:rPr>
                        <a:t> SB</a:t>
                      </a:r>
                    </a:p>
                    <a:p>
                      <a:pPr marL="176213" lvl="1" indent="-176213">
                        <a:lnSpc>
                          <a:spcPct val="130000"/>
                        </a:lnSpc>
                        <a:buFontTx/>
                        <a:buChar char="-"/>
                      </a:pPr>
                      <a:r>
                        <a:rPr lang="en-US" sz="1400" b="0" dirty="0" err="1">
                          <a:solidFill>
                            <a:schemeClr val="tx1"/>
                          </a:solidFill>
                          <a:latin typeface="Times New Roman" panose="02020603050405020304" pitchFamily="18" charset="0"/>
                          <a:cs typeface="Times New Roman" panose="02020603050405020304" pitchFamily="18" charset="0"/>
                        </a:rPr>
                        <a:t>Họp</a:t>
                      </a:r>
                      <a:r>
                        <a:rPr lang="en-US" sz="1400" b="0" dirty="0">
                          <a:solidFill>
                            <a:schemeClr val="tx1"/>
                          </a:solidFill>
                          <a:latin typeface="Times New Roman" panose="02020603050405020304" pitchFamily="18" charset="0"/>
                          <a:cs typeface="Times New Roman" panose="02020603050405020304" pitchFamily="18" charset="0"/>
                        </a:rPr>
                        <a:t> ICMT </a:t>
                      </a:r>
                      <a:r>
                        <a:rPr lang="en-US" sz="1400" b="0" dirty="0" err="1">
                          <a:solidFill>
                            <a:schemeClr val="tx1"/>
                          </a:solidFill>
                          <a:latin typeface="Times New Roman" panose="02020603050405020304" pitchFamily="18" charset="0"/>
                          <a:cs typeface="Times New Roman" panose="02020603050405020304" pitchFamily="18" charset="0"/>
                        </a:rPr>
                        <a:t>ngày</a:t>
                      </a:r>
                      <a:r>
                        <a:rPr lang="en-US" sz="1400" b="0" dirty="0">
                          <a:solidFill>
                            <a:schemeClr val="tx1"/>
                          </a:solidFill>
                          <a:latin typeface="Times New Roman" panose="02020603050405020304" pitchFamily="18" charset="0"/>
                          <a:cs typeface="Times New Roman" panose="02020603050405020304" pitchFamily="18" charset="0"/>
                        </a:rPr>
                        <a:t> 2-3 </a:t>
                      </a:r>
                      <a:r>
                        <a:rPr lang="en-US" sz="1400" b="0" dirty="0" err="1">
                          <a:solidFill>
                            <a:schemeClr val="tx1"/>
                          </a:solidFill>
                          <a:latin typeface="Times New Roman" panose="02020603050405020304" pitchFamily="18" charset="0"/>
                          <a:cs typeface="Times New Roman" panose="02020603050405020304" pitchFamily="18" charset="0"/>
                        </a:rPr>
                        <a:t>tháng</a:t>
                      </a:r>
                      <a:r>
                        <a:rPr lang="en-US" sz="1400" b="0" dirty="0">
                          <a:solidFill>
                            <a:schemeClr val="tx1"/>
                          </a:solidFill>
                          <a:latin typeface="Times New Roman" panose="02020603050405020304" pitchFamily="18" charset="0"/>
                          <a:cs typeface="Times New Roman" panose="02020603050405020304" pitchFamily="18" charset="0"/>
                        </a:rPr>
                        <a:t> 7/2025. KQ </a:t>
                      </a:r>
                      <a:r>
                        <a:rPr lang="en-US" sz="1400" b="0" dirty="0" err="1">
                          <a:solidFill>
                            <a:schemeClr val="tx1"/>
                          </a:solidFill>
                          <a:latin typeface="Times New Roman" panose="02020603050405020304" pitchFamily="18" charset="0"/>
                          <a:cs typeface="Times New Roman" panose="02020603050405020304" pitchFamily="18" charset="0"/>
                        </a:rPr>
                        <a:t>họp</a:t>
                      </a:r>
                      <a:r>
                        <a:rPr lang="en-US" sz="1400" b="0" dirty="0">
                          <a:solidFill>
                            <a:schemeClr val="tx1"/>
                          </a:solidFill>
                          <a:latin typeface="Times New Roman" panose="02020603050405020304" pitchFamily="18" charset="0"/>
                          <a:cs typeface="Times New Roman" panose="02020603050405020304" pitchFamily="18" charset="0"/>
                        </a:rPr>
                        <a:t> ICTM:</a:t>
                      </a:r>
                    </a:p>
                    <a:p>
                      <a:pPr marL="0" lvl="1" indent="0">
                        <a:lnSpc>
                          <a:spcPct val="130000"/>
                        </a:lnSpc>
                        <a:buFontTx/>
                        <a:buNone/>
                      </a:pPr>
                      <a:r>
                        <a:rPr lang="en-US" sz="1400" b="0" dirty="0">
                          <a:solidFill>
                            <a:schemeClr val="tx1"/>
                          </a:solidFill>
                          <a:latin typeface="Times New Roman" panose="02020603050405020304" pitchFamily="18" charset="0"/>
                          <a:cs typeface="Times New Roman" panose="02020603050405020304" pitchFamily="18" charset="0"/>
                        </a:rPr>
                        <a:t>   + Thống </a:t>
                      </a:r>
                      <a:r>
                        <a:rPr lang="en-US" sz="1400" b="0" dirty="0" err="1">
                          <a:solidFill>
                            <a:schemeClr val="tx1"/>
                          </a:solidFill>
                          <a:latin typeface="Times New Roman" panose="02020603050405020304" pitchFamily="18" charset="0"/>
                          <a:cs typeface="Times New Roman" panose="02020603050405020304" pitchFamily="18" charset="0"/>
                        </a:rPr>
                        <a:t>nhất</a:t>
                      </a:r>
                      <a:r>
                        <a:rPr lang="en-US" sz="1400" b="0" dirty="0">
                          <a:solidFill>
                            <a:schemeClr val="tx1"/>
                          </a:solidFill>
                          <a:latin typeface="Times New Roman" panose="02020603050405020304" pitchFamily="18" charset="0"/>
                          <a:cs typeface="Times New Roman" panose="02020603050405020304" pitchFamily="18" charset="0"/>
                        </a:rPr>
                        <a:t> Work scope, timeline </a:t>
                      </a:r>
                      <a:r>
                        <a:rPr lang="en-US" sz="1400" b="0" dirty="0" err="1">
                          <a:solidFill>
                            <a:schemeClr val="tx1"/>
                          </a:solidFill>
                          <a:latin typeface="Times New Roman" panose="02020603050405020304" pitchFamily="18" charset="0"/>
                          <a:cs typeface="Times New Roman" panose="02020603050405020304" pitchFamily="18" charset="0"/>
                        </a:rPr>
                        <a:t>dự</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án</a:t>
                      </a:r>
                      <a:r>
                        <a:rPr lang="en-US" sz="1400" b="0" dirty="0">
                          <a:solidFill>
                            <a:schemeClr val="tx1"/>
                          </a:solidFill>
                          <a:latin typeface="Times New Roman" panose="02020603050405020304" pitchFamily="18" charset="0"/>
                          <a:cs typeface="Times New Roman" panose="02020603050405020304" pitchFamily="18" charset="0"/>
                        </a:rPr>
                        <a:t>, LOPA. </a:t>
                      </a:r>
                      <a:r>
                        <a:rPr lang="en-US" sz="1400" b="0" dirty="0" err="1">
                          <a:solidFill>
                            <a:schemeClr val="tx1"/>
                          </a:solidFill>
                          <a:latin typeface="Times New Roman" panose="02020603050405020304" pitchFamily="18" charset="0"/>
                          <a:cs typeface="Times New Roman" panose="02020603050405020304" pitchFamily="18" charset="0"/>
                        </a:rPr>
                        <a:t>Dự</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kiến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đầu</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tiên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thực</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hiện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đầu</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tháng</a:t>
                      </a:r>
                      <a:r>
                        <a:rPr lang="en-US" sz="1400" b="0" dirty="0">
                          <a:solidFill>
                            <a:schemeClr val="tx1"/>
                          </a:solidFill>
                          <a:latin typeface="Times New Roman" panose="02020603050405020304" pitchFamily="18" charset="0"/>
                          <a:cs typeface="Times New Roman" panose="02020603050405020304" pitchFamily="18" charset="0"/>
                        </a:rPr>
                        <a:t> 12/2025 </a:t>
                      </a:r>
                      <a:r>
                        <a:rPr lang="en-US" sz="1400" b="0" dirty="0" err="1">
                          <a:solidFill>
                            <a:schemeClr val="tx1"/>
                          </a:solidFill>
                          <a:latin typeface="Times New Roman" panose="02020603050405020304" pitchFamily="18" charset="0"/>
                          <a:cs typeface="Times New Roman" panose="02020603050405020304" pitchFamily="18" charset="0"/>
                        </a:rPr>
                        <a:t>để</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kịp</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xin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phê</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chuẩn</a:t>
                      </a:r>
                      <a:r>
                        <a:rPr lang="en-US" sz="1400" b="0" dirty="0">
                          <a:solidFill>
                            <a:schemeClr val="tx1"/>
                          </a:solidFill>
                          <a:latin typeface="Times New Roman" panose="02020603050405020304" pitchFamily="18" charset="0"/>
                          <a:cs typeface="Times New Roman" panose="02020603050405020304" pitchFamily="18" charset="0"/>
                        </a:rPr>
                        <a:t> STC </a:t>
                      </a:r>
                      <a:r>
                        <a:rPr lang="en-US" sz="1400" b="0" dirty="0" err="1">
                          <a:solidFill>
                            <a:schemeClr val="tx1"/>
                          </a:solidFill>
                          <a:latin typeface="Times New Roman" panose="02020603050405020304" pitchFamily="18" charset="0"/>
                          <a:cs typeface="Times New Roman" panose="02020603050405020304" pitchFamily="18" charset="0"/>
                        </a:rPr>
                        <a:t>trong</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năm</a:t>
                      </a:r>
                      <a:r>
                        <a:rPr lang="en-US" sz="1400" b="0" dirty="0">
                          <a:solidFill>
                            <a:schemeClr val="tx1"/>
                          </a:solidFill>
                          <a:latin typeface="Times New Roman" panose="02020603050405020304" pitchFamily="18" charset="0"/>
                          <a:cs typeface="Times New Roman" panose="02020603050405020304" pitchFamily="18" charset="0"/>
                        </a:rPr>
                        <a:t> 2025 (KH </a:t>
                      </a:r>
                      <a:r>
                        <a:rPr lang="en-US" sz="1400" b="0" dirty="0" err="1">
                          <a:solidFill>
                            <a:schemeClr val="tx1"/>
                          </a:solidFill>
                          <a:latin typeface="Times New Roman" panose="02020603050405020304" pitchFamily="18" charset="0"/>
                          <a:cs typeface="Times New Roman" panose="02020603050405020304" pitchFamily="18" charset="0"/>
                        </a:rPr>
                        <a:t>thực</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hiện</a:t>
                      </a:r>
                      <a:r>
                        <a:rPr lang="en-US" sz="1400" b="0" dirty="0">
                          <a:solidFill>
                            <a:schemeClr val="tx1"/>
                          </a:solidFill>
                          <a:latin typeface="Times New Roman" panose="02020603050405020304" pitchFamily="18" charset="0"/>
                          <a:cs typeface="Times New Roman" panose="02020603050405020304" pitchFamily="18" charset="0"/>
                        </a:rPr>
                        <a:t> 23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bay </a:t>
                      </a:r>
                      <a:r>
                        <a:rPr lang="en-US" sz="1400" b="0" dirty="0" err="1">
                          <a:solidFill>
                            <a:schemeClr val="tx1"/>
                          </a:solidFill>
                          <a:latin typeface="Times New Roman" panose="02020603050405020304" pitchFamily="18" charset="0"/>
                          <a:cs typeface="Times New Roman" panose="02020603050405020304" pitchFamily="18" charset="0"/>
                        </a:rPr>
                        <a:t>từ</a:t>
                      </a:r>
                      <a:r>
                        <a:rPr lang="en-US" sz="1400" b="0" dirty="0">
                          <a:solidFill>
                            <a:schemeClr val="tx1"/>
                          </a:solidFill>
                          <a:latin typeface="Times New Roman" panose="02020603050405020304" pitchFamily="18" charset="0"/>
                          <a:cs typeface="Times New Roman" panose="02020603050405020304" pitchFamily="18" charset="0"/>
                        </a:rPr>
                        <a:t> T12/2025 – T4/2026)</a:t>
                      </a:r>
                    </a:p>
                    <a:p>
                      <a:pPr marL="0" lvl="1" indent="0">
                        <a:lnSpc>
                          <a:spcPct val="130000"/>
                        </a:lnSpc>
                        <a:buFontTx/>
                        <a:buNone/>
                      </a:pPr>
                      <a:r>
                        <a:rPr lang="en-US" sz="1400" b="0" dirty="0">
                          <a:solidFill>
                            <a:schemeClr val="tx1"/>
                          </a:solidFill>
                          <a:latin typeface="Times New Roman" panose="02020603050405020304" pitchFamily="18" charset="0"/>
                          <a:cs typeface="Times New Roman" panose="02020603050405020304" pitchFamily="18" charset="0"/>
                        </a:rPr>
                        <a:t>   + Thống </a:t>
                      </a:r>
                      <a:r>
                        <a:rPr lang="en-US" sz="1400" b="0" dirty="0" err="1">
                          <a:solidFill>
                            <a:schemeClr val="tx1"/>
                          </a:solidFill>
                          <a:latin typeface="Times New Roman" panose="02020603050405020304" pitchFamily="18" charset="0"/>
                          <a:cs typeface="Times New Roman" panose="02020603050405020304" pitchFamily="18" charset="0"/>
                        </a:rPr>
                        <a:t>nhất</a:t>
                      </a:r>
                      <a:r>
                        <a:rPr lang="en-US" sz="1400" b="0" dirty="0">
                          <a:solidFill>
                            <a:schemeClr val="tx1"/>
                          </a:solidFill>
                          <a:latin typeface="Times New Roman" panose="02020603050405020304" pitchFamily="18" charset="0"/>
                          <a:cs typeface="Times New Roman" panose="02020603050405020304" pitchFamily="18" charset="0"/>
                        </a:rPr>
                        <a:t> AAR </a:t>
                      </a:r>
                      <a:r>
                        <a:rPr lang="en-US" sz="1400" b="0" dirty="0" err="1">
                          <a:solidFill>
                            <a:schemeClr val="tx1"/>
                          </a:solidFill>
                          <a:latin typeface="Times New Roman" panose="02020603050405020304" pitchFamily="18" charset="0"/>
                          <a:cs typeface="Times New Roman" panose="02020603050405020304" pitchFamily="18" charset="0"/>
                        </a:rPr>
                        <a:t>tìm</a:t>
                      </a:r>
                      <a:r>
                        <a:rPr lang="en-US" sz="1400" b="0" dirty="0">
                          <a:solidFill>
                            <a:schemeClr val="tx1"/>
                          </a:solidFill>
                          <a:latin typeface="Times New Roman" panose="02020603050405020304" pitchFamily="18" charset="0"/>
                          <a:cs typeface="Times New Roman" panose="02020603050405020304" pitchFamily="18" charset="0"/>
                        </a:rPr>
                        <a:t> P/A </a:t>
                      </a:r>
                      <a:r>
                        <a:rPr lang="en-US" sz="1400" b="0" dirty="0" err="1">
                          <a:solidFill>
                            <a:schemeClr val="tx1"/>
                          </a:solidFill>
                          <a:latin typeface="Times New Roman" panose="02020603050405020304" pitchFamily="18" charset="0"/>
                          <a:cs typeface="Times New Roman" panose="02020603050405020304" pitchFamily="18" charset="0"/>
                        </a:rPr>
                        <a:t>sử</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dụng</a:t>
                      </a:r>
                      <a:r>
                        <a:rPr lang="en-US" sz="1400" b="0" dirty="0">
                          <a:solidFill>
                            <a:schemeClr val="tx1"/>
                          </a:solidFill>
                          <a:latin typeface="Times New Roman" panose="02020603050405020304" pitchFamily="18" charset="0"/>
                          <a:cs typeface="Times New Roman" panose="02020603050405020304" pitchFamily="18" charset="0"/>
                        </a:rPr>
                        <a:t> used part </a:t>
                      </a:r>
                      <a:r>
                        <a:rPr lang="en-US" sz="1400" b="0" dirty="0" err="1">
                          <a:solidFill>
                            <a:schemeClr val="tx1"/>
                          </a:solidFill>
                          <a:latin typeface="Times New Roman" panose="02020603050405020304" pitchFamily="18" charset="0"/>
                          <a:cs typeface="Times New Roman" panose="02020603050405020304" pitchFamily="18" charset="0"/>
                        </a:rPr>
                        <a:t>cho</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đầu</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tiên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để</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rút</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ngắn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leadtime</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đàm</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phán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sử</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dụng</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lại</a:t>
                      </a:r>
                      <a:r>
                        <a:rPr lang="en-US" sz="1400" b="0" dirty="0">
                          <a:solidFill>
                            <a:schemeClr val="tx1"/>
                          </a:solidFill>
                          <a:latin typeface="Times New Roman" panose="02020603050405020304" pitchFamily="18" charset="0"/>
                          <a:cs typeface="Times New Roman" panose="02020603050405020304" pitchFamily="18" charset="0"/>
                        </a:rPr>
                        <a:t> EEPL </a:t>
                      </a:r>
                      <a:r>
                        <a:rPr lang="en-US" sz="1400" b="0" dirty="0" err="1">
                          <a:solidFill>
                            <a:schemeClr val="tx1"/>
                          </a:solidFill>
                          <a:latin typeface="Times New Roman" panose="02020603050405020304" pitchFamily="18" charset="0"/>
                          <a:cs typeface="Times New Roman" panose="02020603050405020304" pitchFamily="18" charset="0"/>
                        </a:rPr>
                        <a:t>trên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ghế</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của</a:t>
                      </a:r>
                      <a:r>
                        <a:rPr lang="en-US" sz="1400" b="0" dirty="0">
                          <a:solidFill>
                            <a:schemeClr val="tx1"/>
                          </a:solidFill>
                          <a:latin typeface="Times New Roman" panose="02020603050405020304" pitchFamily="18" charset="0"/>
                          <a:cs typeface="Times New Roman" panose="02020603050405020304" pitchFamily="18" charset="0"/>
                        </a:rPr>
                        <a:t> VNA </a:t>
                      </a:r>
                      <a:r>
                        <a:rPr lang="en-US" sz="1400" b="0" dirty="0" err="1">
                          <a:solidFill>
                            <a:schemeClr val="tx1"/>
                          </a:solidFill>
                          <a:latin typeface="Times New Roman" panose="02020603050405020304" pitchFamily="18" charset="0"/>
                          <a:cs typeface="Times New Roman" panose="02020603050405020304" pitchFamily="18" charset="0"/>
                        </a:rPr>
                        <a:t>để</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tiết</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kiệm</a:t>
                      </a:r>
                      <a:r>
                        <a:rPr lang="en-US" sz="1400" b="0" dirty="0">
                          <a:solidFill>
                            <a:schemeClr val="tx1"/>
                          </a:solidFill>
                          <a:latin typeface="Times New Roman" panose="02020603050405020304" pitchFamily="18" charset="0"/>
                          <a:cs typeface="Times New Roman" panose="02020603050405020304" pitchFamily="18" charset="0"/>
                        </a:rPr>
                        <a:t> chi </a:t>
                      </a:r>
                      <a:r>
                        <a:rPr lang="en-US" sz="1400" b="0" dirty="0" err="1">
                          <a:solidFill>
                            <a:schemeClr val="tx1"/>
                          </a:solidFill>
                          <a:latin typeface="Times New Roman" panose="02020603050405020304" pitchFamily="18" charset="0"/>
                          <a:cs typeface="Times New Roman" panose="02020603050405020304" pitchFamily="18" charset="0"/>
                        </a:rPr>
                        <a:t>phí</a:t>
                      </a:r>
                      <a:endParaRPr lang="en-US" sz="1400" b="0" dirty="0">
                        <a:solidFill>
                          <a:schemeClr val="tx1"/>
                        </a:solidFill>
                        <a:latin typeface="Times New Roman" panose="02020603050405020304" pitchFamily="18" charset="0"/>
                        <a:cs typeface="Times New Roman" panose="02020603050405020304" pitchFamily="18" charset="0"/>
                      </a:endParaRPr>
                    </a:p>
                    <a:p>
                      <a:pPr marL="0" lvl="0" indent="0">
                        <a:lnSpc>
                          <a:spcPct val="130000"/>
                        </a:lnSpc>
                        <a:buFontTx/>
                        <a:buNone/>
                      </a:pP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Tổ</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tiếp</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tục</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triển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khai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các</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gói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còn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lại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vải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áo</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ghế</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đã</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chọn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Botani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vận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chuyển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thiết</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bị</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khẩn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nguy</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để</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kịp</a:t>
                      </a:r>
                      <a:r>
                        <a:rPr lang="en-US" sz="1400" b="0" dirty="0">
                          <a:solidFill>
                            <a:schemeClr val="tx1"/>
                          </a:solidFill>
                          <a:latin typeface="Times New Roman" panose="02020603050405020304" pitchFamily="18" charset="0"/>
                          <a:cs typeface="Times New Roman" panose="02020603050405020304" pitchFamily="18" charset="0"/>
                        </a:rPr>
                        <a:t> timeline </a:t>
                      </a:r>
                      <a:r>
                        <a:rPr lang="en-US" sz="1400" b="0" dirty="0" err="1">
                          <a:solidFill>
                            <a:schemeClr val="tx1"/>
                          </a:solidFill>
                          <a:latin typeface="Times New Roman" panose="02020603050405020304" pitchFamily="18" charset="0"/>
                          <a:cs typeface="Times New Roman" panose="02020603050405020304" pitchFamily="18" charset="0"/>
                        </a:rPr>
                        <a:t>từ</a:t>
                      </a:r>
                      <a:r>
                        <a:rPr lang="en-US" sz="1400" b="0" dirty="0">
                          <a:solidFill>
                            <a:schemeClr val="tx1"/>
                          </a:solidFill>
                          <a:latin typeface="Times New Roman" panose="02020603050405020304" pitchFamily="18" charset="0"/>
                          <a:cs typeface="Times New Roman" panose="02020603050405020304" pitchFamily="18" charset="0"/>
                        </a:rPr>
                        <a:t> seat OEM .</a:t>
                      </a:r>
                      <a:br>
                        <a:rPr lang="en-US" sz="1400" b="0" dirty="0">
                          <a:solidFill>
                            <a:schemeClr val="tx1"/>
                          </a:solidFill>
                          <a:latin typeface="Times New Roman" panose="02020603050405020304" pitchFamily="18" charset="0"/>
                          <a:cs typeface="Times New Roman" panose="02020603050405020304" pitchFamily="18" charset="0"/>
                        </a:rPr>
                      </a:b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Triển</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khai</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ký</a:t>
                      </a:r>
                      <a:r>
                        <a:rPr lang="en-US" sz="1400" b="0" dirty="0">
                          <a:solidFill>
                            <a:schemeClr val="tx1"/>
                          </a:solidFill>
                          <a:latin typeface="Times New Roman" panose="02020603050405020304" pitchFamily="18" charset="0"/>
                          <a:cs typeface="Times New Roman" panose="02020603050405020304" pitchFamily="18" charset="0"/>
                        </a:rPr>
                        <a:t> HĐ </a:t>
                      </a:r>
                      <a:r>
                        <a:rPr lang="en-US" sz="1400" b="0" dirty="0" err="1">
                          <a:solidFill>
                            <a:schemeClr val="tx1"/>
                          </a:solidFill>
                          <a:latin typeface="Times New Roman" panose="02020603050405020304" pitchFamily="18" charset="0"/>
                          <a:cs typeface="Times New Roman" panose="02020603050405020304" pitchFamily="18" charset="0"/>
                        </a:rPr>
                        <a:t>thực</a:t>
                      </a:r>
                      <a:r>
                        <a:rPr lang="en-US" sz="1400" b="0" dirty="0">
                          <a:solidFill>
                            <a:schemeClr val="tx1"/>
                          </a:solidFill>
                          <a:latin typeface="Times New Roman" panose="02020603050405020304" pitchFamily="18" charset="0"/>
                          <a:cs typeface="Times New Roman" panose="02020603050405020304" pitchFamily="18" charset="0"/>
                        </a:rPr>
                        <a:t> </a:t>
                      </a:r>
                      <a:r>
                        <a:rPr lang="en-US" sz="1400" b="0" dirty="0" err="1">
                          <a:solidFill>
                            <a:schemeClr val="tx1"/>
                          </a:solidFill>
                          <a:latin typeface="Times New Roman" panose="02020603050405020304" pitchFamily="18" charset="0"/>
                          <a:cs typeface="Times New Roman" panose="02020603050405020304" pitchFamily="18" charset="0"/>
                        </a:rPr>
                        <a:t>hiện</a:t>
                      </a:r>
                      <a:r>
                        <a:rPr lang="en-US" sz="1400" b="0" dirty="0">
                          <a:solidFill>
                            <a:schemeClr val="tx1"/>
                          </a:solidFill>
                          <a:latin typeface="Times New Roman" panose="02020603050405020304" pitchFamily="18" charset="0"/>
                          <a:cs typeface="Times New Roman" panose="02020603050405020304" pitchFamily="18" charset="0"/>
                        </a:rPr>
                        <a:t> CĐCH </a:t>
                      </a:r>
                      <a:r>
                        <a:rPr lang="en-US" sz="1400" b="0" dirty="0" err="1">
                          <a:solidFill>
                            <a:schemeClr val="tx1"/>
                          </a:solidFill>
                          <a:latin typeface="Times New Roman" panose="02020603050405020304" pitchFamily="18" charset="0"/>
                          <a:cs typeface="Times New Roman" panose="02020603050405020304" pitchFamily="18" charset="0"/>
                        </a:rPr>
                        <a:t>với</a:t>
                      </a:r>
                      <a:r>
                        <a:rPr lang="en-US" sz="1400" b="0" dirty="0">
                          <a:solidFill>
                            <a:schemeClr val="tx1"/>
                          </a:solidFill>
                          <a:latin typeface="Times New Roman" panose="02020603050405020304" pitchFamily="18" charset="0"/>
                          <a:cs typeface="Times New Roman" panose="02020603050405020304" pitchFamily="18" charset="0"/>
                        </a:rPr>
                        <a:t> VAECO</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
        <p:nvSpPr>
          <p:cNvPr id="4" name="Title 2">
            <a:extLst>
              <a:ext uri="{FF2B5EF4-FFF2-40B4-BE49-F238E27FC236}">
                <a16:creationId xmlns:a16="http://schemas.microsoft.com/office/drawing/2014/main" id="{FACEB69C-56AE-B38C-0158-3330884CC48E}"/>
              </a:ext>
            </a:extLst>
          </p:cNvPr>
          <p:cNvSpPr>
            <a:spLocks noGrp="1"/>
          </p:cNvSpPr>
          <p:nvPr>
            <p:ph type="title"/>
          </p:nvPr>
        </p:nvSpPr>
        <p:spPr>
          <a:xfrm>
            <a:off x="181467" y="222876"/>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2713132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26</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nvPr>
        </p:nvGraphicFramePr>
        <p:xfrm>
          <a:off x="156782" y="838200"/>
          <a:ext cx="11959018" cy="4836794"/>
        </p:xfrm>
        <a:graphic>
          <a:graphicData uri="http://schemas.openxmlformats.org/drawingml/2006/table">
            <a:tbl>
              <a:tblPr>
                <a:tableStyleId>{5C22544A-7EE6-4342-B048-85BDC9FD1C3A}</a:tableStyleId>
              </a:tblPr>
              <a:tblGrid>
                <a:gridCol w="425595">
                  <a:extLst>
                    <a:ext uri="{9D8B030D-6E8A-4147-A177-3AD203B41FA5}">
                      <a16:colId xmlns:a16="http://schemas.microsoft.com/office/drawing/2014/main" val="2758273930"/>
                    </a:ext>
                  </a:extLst>
                </a:gridCol>
                <a:gridCol w="1771669">
                  <a:extLst>
                    <a:ext uri="{9D8B030D-6E8A-4147-A177-3AD203B41FA5}">
                      <a16:colId xmlns:a16="http://schemas.microsoft.com/office/drawing/2014/main" val="221963637"/>
                    </a:ext>
                  </a:extLst>
                </a:gridCol>
                <a:gridCol w="8710582">
                  <a:extLst>
                    <a:ext uri="{9D8B030D-6E8A-4147-A177-3AD203B41FA5}">
                      <a16:colId xmlns:a16="http://schemas.microsoft.com/office/drawing/2014/main" val="426833219"/>
                    </a:ext>
                  </a:extLst>
                </a:gridCol>
                <a:gridCol w="1051172">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Local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VAECO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sát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=&gt; VAECO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Mua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EASA</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một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đôi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OEM 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DOA regent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đồng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liệu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video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trúc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=&gt; Regent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DVHK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design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trước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5772556"/>
                  </a:ext>
                </a:extLst>
              </a:tr>
              <a:tr h="81886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mode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mẫu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Boeing/Airbus)</a:t>
                      </a: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tư</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đủ</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dụng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OCC. Tiến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check</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DVHK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rèm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thẩm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mỹ</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khách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chức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họp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vị</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b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ngắn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placard warning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rèm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kiểm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rèm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đạt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
        <p:nvSpPr>
          <p:cNvPr id="4" name="Title 2">
            <a:extLst>
              <a:ext uri="{FF2B5EF4-FFF2-40B4-BE49-F238E27FC236}">
                <a16:creationId xmlns:a16="http://schemas.microsoft.com/office/drawing/2014/main" id="{FACEB69C-56AE-B38C-0158-3330884CC48E}"/>
              </a:ext>
            </a:extLst>
          </p:cNvPr>
          <p:cNvSpPr>
            <a:spLocks noGrp="1"/>
          </p:cNvSpPr>
          <p:nvPr>
            <p:ph type="title"/>
          </p:nvPr>
        </p:nvSpPr>
        <p:spPr>
          <a:xfrm>
            <a:off x="197073" y="22860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433204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372671" y="76200"/>
            <a:ext cx="11487298"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nvPr>
        </p:nvGraphicFramePr>
        <p:xfrm>
          <a:off x="353817" y="648317"/>
          <a:ext cx="11487298" cy="5192410"/>
        </p:xfrm>
        <a:graphic>
          <a:graphicData uri="http://schemas.openxmlformats.org/drawingml/2006/table">
            <a:tbl>
              <a:tblPr>
                <a:tableStyleId>{5C22544A-7EE6-4342-B048-85BDC9FD1C3A}</a:tableStyleId>
              </a:tblPr>
              <a:tblGrid>
                <a:gridCol w="408808">
                  <a:extLst>
                    <a:ext uri="{9D8B030D-6E8A-4147-A177-3AD203B41FA5}">
                      <a16:colId xmlns:a16="http://schemas.microsoft.com/office/drawing/2014/main" val="3304650821"/>
                    </a:ext>
                  </a:extLst>
                </a:gridCol>
                <a:gridCol w="1701786">
                  <a:extLst>
                    <a:ext uri="{9D8B030D-6E8A-4147-A177-3AD203B41FA5}">
                      <a16:colId xmlns:a16="http://schemas.microsoft.com/office/drawing/2014/main" val="1220325190"/>
                    </a:ext>
                  </a:extLst>
                </a:gridCol>
                <a:gridCol w="8223028">
                  <a:extLst>
                    <a:ext uri="{9D8B030D-6E8A-4147-A177-3AD203B41FA5}">
                      <a16:colId xmlns:a16="http://schemas.microsoft.com/office/drawing/2014/main" val="3909604654"/>
                    </a:ext>
                  </a:extLst>
                </a:gridCol>
                <a:gridCol w="1153676">
                  <a:extLst>
                    <a:ext uri="{9D8B030D-6E8A-4147-A177-3AD203B41FA5}">
                      <a16:colId xmlns:a16="http://schemas.microsoft.com/office/drawing/2014/main" val="1269662541"/>
                    </a:ext>
                  </a:extLst>
                </a:gridCol>
              </a:tblGrid>
              <a:tr h="418483">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53610">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11</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GIA HẠN THUÊ 10 TÀU VALC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smtClean="0">
                          <a:latin typeface="Times New Roman" panose="02020603050405020304" pitchFamily="18" charset="0"/>
                          <a:cs typeface="Times New Roman" panose="02020603050405020304" pitchFamily="18" charset="0"/>
                        </a:rPr>
                        <a:t>Thủ tục bán tàu của VALC chậm nên VNA và VALC đã đồng ý và ký kết gia hạn hợp đồng thuê tiếp 10 tàu bay A321CEO 3 tháng đến hết 30/06/2025 đang triển khai gia hạn thuê tiếp đến hết tháng 12/2025.</a:t>
                      </a:r>
                    </a:p>
                    <a:p>
                      <a:pPr algn="just">
                        <a:lnSpc>
                          <a:spcPct val="150000"/>
                        </a:lnSpc>
                      </a:pPr>
                      <a:r>
                        <a:rPr lang="en-US" sz="1300" smtClean="0">
                          <a:latin typeface="Times New Roman" panose="02020603050405020304" pitchFamily="18" charset="0"/>
                          <a:cs typeface="Times New Roman" panose="02020603050405020304" pitchFamily="18" charset="0"/>
                        </a:rPr>
                        <a:t>Hiện tại VNA đang chờ kết quả bán tàu từ VALC, tiếp theo sẽ cần triển khai đàm phán hợp đồng thuê trong tr</a:t>
                      </a:r>
                      <a:r>
                        <a:rPr lang="vi-VN" sz="1300" smtClean="0">
                          <a:latin typeface="+mn-lt"/>
                          <a:cs typeface="Times New Roman" panose="02020603050405020304" pitchFamily="18" charset="0"/>
                        </a:rPr>
                        <a:t>ư</a:t>
                      </a:r>
                      <a:r>
                        <a:rPr lang="en-US" sz="1300" smtClean="0">
                          <a:latin typeface="Times New Roman" panose="02020603050405020304" pitchFamily="18" charset="0"/>
                          <a:cs typeface="Times New Roman" panose="02020603050405020304" pitchFamily="18" charset="0"/>
                        </a:rPr>
                        <a:t>ờng hợp chuyển đổi chủ sở hữu tàu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1416754"/>
                  </a:ext>
                </a:extLst>
              </a:tr>
              <a:tr h="2133821">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12</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latin typeface="Times New Roman" panose="02020603050405020304" pitchFamily="18" charset="0"/>
                          <a:cs typeface="Times New Roman" panose="02020603050405020304" pitchFamily="18" charset="0"/>
                        </a:rPr>
                        <a:t>DỰ ÁN THUÊ KHÔ 05 TÀU GAT</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just">
                        <a:lnSpc>
                          <a:spcPct val="150000"/>
                        </a:lnSpc>
                        <a:buFontTx/>
                        <a:buChar char="-"/>
                        <a:defRPr/>
                      </a:pPr>
                      <a:r>
                        <a:rPr lang="en-US" sz="1300" smtClean="0">
                          <a:latin typeface="Times New Roman" panose="02020603050405020304" pitchFamily="18" charset="0"/>
                          <a:cs typeface="Times New Roman" panose="02020603050405020304" pitchFamily="18" charset="0"/>
                        </a:rPr>
                        <a:t>VNA đề nghị GAT chào thuê 05 tàu A321 tuy nhiên ngày 09/07/2025 GAT gửi phản hồi Matrix(chưa cập nhật thêm specs các tàu) cập nhật một số nội dung chính sau đây:</a:t>
                      </a:r>
                    </a:p>
                    <a:p>
                      <a:r>
                        <a:rPr lang="en-US" sz="1300" smtClean="0">
                          <a:latin typeface="Times New Roman" panose="02020603050405020304" pitchFamily="18" charset="0"/>
                          <a:cs typeface="Times New Roman" panose="02020603050405020304" pitchFamily="18" charset="0"/>
                        </a:rPr>
                        <a:t>       + Bản chào bắt buộc thuê 03 tàu A320 CEO(SX 2015 giá 250K/1Mo) và 02 tàu A321(SX 2017 giá 285K/1Mo) giá rent giữ nguyên so với bản chào trước, thời gian thuê 7 năm, quỹ bảo dưỡng giảm tổng khoảng 7K/1Mo so với bản chào trước tuy nhiên tăng trượt giá từ 3,5% lên 4%. MR: GAT không đồng ý EOLC.</a:t>
                      </a:r>
                    </a:p>
                    <a:p>
                      <a:pPr algn="just">
                        <a:lnSpc>
                          <a:spcPct val="150000"/>
                        </a:lnSpc>
                        <a:defRPr/>
                      </a:pPr>
                      <a:r>
                        <a:rPr lang="en-US" sz="1300" smtClean="0">
                          <a:latin typeface="Times New Roman" panose="02020603050405020304" pitchFamily="18" charset="0"/>
                          <a:cs typeface="Times New Roman" panose="02020603050405020304" pitchFamily="18" charset="0"/>
                        </a:rPr>
                        <a:t>       + Điều kiện nhận/ trả: Khi nhận 03 tàu A320 nhận As-is, 02 tàu A321 thực hiện C check, khi trả cả 05 tàu thực hiện clear C check. AD clearance: 6 tháng, LDG remaining: 24 tháng. Engine remaining 6000 FH/3000 FC(giảm 1000 FC so với bản chào trước) tới next SV.  </a:t>
                      </a:r>
                    </a:p>
                    <a:p>
                      <a:pPr algn="just">
                        <a:lnSpc>
                          <a:spcPct val="150000"/>
                        </a:lnSpc>
                        <a:defRPr/>
                      </a:pPr>
                      <a:r>
                        <a:rPr lang="en-US" sz="1300" smtClean="0">
                          <a:latin typeface="Times New Roman" panose="02020603050405020304" pitchFamily="18" charset="0"/>
                          <a:cs typeface="Times New Roman" panose="02020603050405020304" pitchFamily="18" charset="0"/>
                        </a:rPr>
                        <a:t>Tổ TMTB đang trình HĐTV phương án </a:t>
                      </a:r>
                      <a:r>
                        <a:rPr lang="en-US" sz="1300" b="1" smtClean="0">
                          <a:latin typeface="Times New Roman" panose="02020603050405020304" pitchFamily="18" charset="0"/>
                          <a:cs typeface="Times New Roman" panose="02020603050405020304" pitchFamily="18" charset="0"/>
                        </a:rPr>
                        <a:t>thuê 3 tàu A321 CEO </a:t>
                      </a:r>
                      <a:r>
                        <a:rPr lang="en-US" sz="1300" smtClean="0">
                          <a:latin typeface="Times New Roman" panose="02020603050405020304" pitchFamily="18" charset="0"/>
                          <a:cs typeface="Times New Roman" panose="02020603050405020304" pitchFamily="18" charset="0"/>
                        </a:rPr>
                        <a:t>để bù cho 03 tàu A321 đã cho PA thuê.</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849073"/>
                  </a:ext>
                </a:extLst>
              </a:tr>
              <a:tr h="1085981">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13</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DỰ ÁN TÀU BAY FREIGHTER .</a:t>
                      </a: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smtClean="0">
                          <a:latin typeface="Times New Roman" panose="02020603050405020304" pitchFamily="18" charset="0"/>
                          <a:cs typeface="Times New Roman" panose="02020603050405020304" pitchFamily="18" charset="0"/>
                        </a:rPr>
                        <a:t>VNA triển khai dự án thuê 02 tàu bay freighter dự kiến nhận Q4/2025 và Q2/2026. Hiện có 01 tàu bay của ST Engineering đáp ứng theo tiêu chí giao quý 4/2025, không có tàu bay giao Q2/2026 đáp ứng về độ tuổi tàu bay với thời hạn thuê 8 năm. Dự kiến sẽ báo cáo thuê trước 1 tàu Q4/2025. Điều kiện nhận trả của ST tương đối chặt tương tự như nhận trả thuê tàu bay mới. Dự kiến xây dựng bản chào giảm xuống còn 6 năm để cạnh tranh hơn, điều kiện trả As-is tuy nhiên vẫn sẽ vẫn xem xét các bản chào với điều kiện trả theo đối tác offer. BKT đã gửi góp ý nội dung cho RFP và đề nghị được khảo sát kiểm tra tình trạng tàu bay dự kiến thuê trực tiếp asap. VNA đã phát hành RFP thứ 6 ngày 25/07.</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29803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3590520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29</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1912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T7-T10/2025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381000" y="592815"/>
          <a:ext cx="11811000" cy="62651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97453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30</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368842"/>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12/08/2025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21/08/2025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6891771"/>
                  </a:ext>
                </a:extLst>
              </a:tr>
              <a:tr h="195070">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SGN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95070">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08/09/2025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923531"/>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5173775"/>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3592768"/>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912868"/>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3012570"/>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13/11/2025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20/11/2025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772277"/>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21/11/2025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28/11/2025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714181"/>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V15935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23/11/2025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02/12/2025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145760"/>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V16137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induct 15/08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800963"/>
                  </a:ext>
                </a:extLst>
              </a:tr>
              <a:tr h="1950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405524"/>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Q3-Q4/2025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26-28/08/2025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24800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V16563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A363#1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04-06/09/2025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322186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V16610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10-12/09/2025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11-13/10/2025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V11696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V11933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15-17/10/2025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11893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V18371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V16582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207948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A608#2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10-12/11/2025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311390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24-26/11/2025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441431"/>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12808"/>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01494"/>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19/06/2026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1426344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A321NEO</a:t>
            </a:r>
          </a:p>
        </p:txBody>
      </p:sp>
      <p:sp>
        <p:nvSpPr>
          <p:cNvPr id="7" name="TextBox 6">
            <a:extLst>
              <a:ext uri="{FF2B5EF4-FFF2-40B4-BE49-F238E27FC236}">
                <a16:creationId xmlns:a16="http://schemas.microsoft.com/office/drawing/2014/main" id="{3665DF89-9C1E-039A-24B3-2AC39417A7A0}"/>
              </a:ext>
            </a:extLst>
          </p:cNvPr>
          <p:cNvSpPr txBox="1"/>
          <p:nvPr/>
        </p:nvSpPr>
        <p:spPr>
          <a:xfrm>
            <a:off x="-438596" y="43007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95984" y="2578785"/>
            <a:ext cx="5167083" cy="53860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AOG do thiếu động c</a:t>
            </a:r>
            <a:r>
              <a:rPr kumimoji="0" lang="vi-VN"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96133" y="3790099"/>
          <a:ext cx="5765457" cy="661252"/>
        </p:xfrm>
        <a:graphic>
          <a:graphicData uri="http://schemas.openxmlformats.org/drawingml/2006/table">
            <a:tbl>
              <a:tblPr firstRow="1" bandRow="1">
                <a:tableStyleId>{93296810-A885-4BE3-A3E7-6D5BEEA58F35}</a:tableStyleId>
              </a:tblPr>
              <a:tblGrid>
                <a:gridCol w="740896">
                  <a:extLst>
                    <a:ext uri="{9D8B030D-6E8A-4147-A177-3AD203B41FA5}">
                      <a16:colId xmlns:a16="http://schemas.microsoft.com/office/drawing/2014/main" val="1930757539"/>
                    </a:ext>
                  </a:extLst>
                </a:gridCol>
                <a:gridCol w="5024561">
                  <a:extLst>
                    <a:ext uri="{9D8B030D-6E8A-4147-A177-3AD203B41FA5}">
                      <a16:colId xmlns:a16="http://schemas.microsoft.com/office/drawing/2014/main" val="1674463010"/>
                    </a:ext>
                  </a:extLst>
                </a:gridCol>
              </a:tblGrid>
              <a:tr h="267768">
                <a:tc>
                  <a:txBody>
                    <a:bodyPr/>
                    <a:lstStyle/>
                    <a:p>
                      <a:pPr algn="ctr"/>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356452">
                <a:tc>
                  <a:txBody>
                    <a:bodyPr/>
                    <a:lstStyle/>
                    <a:p>
                      <a:pPr algn="ctr"/>
                      <a:r>
                        <a:rPr lang="en-US" sz="1200" b="1">
                          <a:latin typeface="Times New Roman" panose="02020603050405020304" pitchFamily="18" charset="0"/>
                          <a:cs typeface="Times New Roman" panose="02020603050405020304" pitchFamily="18" charset="0"/>
                        </a:rPr>
                        <a:t>TBD</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TBD</a:t>
                      </a:r>
                      <a:endParaRPr lang="en-US"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074696803"/>
                  </a:ext>
                </a:extLst>
              </a:tr>
            </a:tbl>
          </a:graphicData>
        </a:graphic>
      </p:graphicFrame>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12328" y="3074366"/>
          <a:ext cx="5909514" cy="367620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24770" y="987232"/>
            <a:ext cx="5909513" cy="1452001"/>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just" defTabSz="1219170" rtl="0" eaLnBrk="1" fontAlgn="auto" latinLnBrk="0" hangingPunct="1">
              <a:lnSpc>
                <a:spcPct val="100000"/>
              </a:lnSpc>
              <a:spcBef>
                <a:spcPts val="600"/>
              </a:spcBef>
              <a:spcAft>
                <a:spcPts val="0"/>
              </a:spcAft>
              <a:buClrTx/>
              <a:buSzTx/>
              <a:buFontTx/>
              <a:buAutoNum type="arabicPeriod"/>
              <a:tabLst/>
              <a:defRPr/>
            </a:pPr>
            <a:r>
              <a:rPr kumimoji="0" lang="en-US"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Rủi ro tháo động c</a:t>
            </a:r>
            <a:r>
              <a:rPr kumimoji="0" lang="vi-VN"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ngoài KH: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Rủi ro tháo do hỏng HPT Blade (A625 S/N P772905 &amp; A621 S/N P771710 BSI Reduced Interval 675 FH/337 FC);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A621 S/N P771710 Ground Stall;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Oil leak, #3DFS worn (all fleet);</a:t>
            </a: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8C24F927-43FE-43A1-80E2-A11360025336}"/>
              </a:ext>
            </a:extLst>
          </p:cNvPr>
          <p:cNvSpPr txBox="1"/>
          <p:nvPr/>
        </p:nvSpPr>
        <p:spPr>
          <a:xfrm>
            <a:off x="5860989" y="57367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00D410E-4A58-4273-B625-070B85B3D830}"/>
              </a:ext>
            </a:extLst>
          </p:cNvPr>
          <p:cNvGraphicFramePr>
            <a:graphicFrameLocks noGrp="1"/>
          </p:cNvGraphicFramePr>
          <p:nvPr/>
        </p:nvGraphicFramePr>
        <p:xfrm>
          <a:off x="123027" y="838078"/>
          <a:ext cx="5765458" cy="2474714"/>
        </p:xfrm>
        <a:graphic>
          <a:graphicData uri="http://schemas.openxmlformats.org/drawingml/2006/table">
            <a:tbl>
              <a:tblPr firstRow="1" bandRow="1">
                <a:tableStyleId>{5C22544A-7EE6-4342-B048-85BDC9FD1C3A}</a:tableStyleId>
              </a:tblPr>
              <a:tblGrid>
                <a:gridCol w="793078">
                  <a:extLst>
                    <a:ext uri="{9D8B030D-6E8A-4147-A177-3AD203B41FA5}">
                      <a16:colId xmlns:a16="http://schemas.microsoft.com/office/drawing/2014/main" val="3123040184"/>
                    </a:ext>
                  </a:extLst>
                </a:gridCol>
                <a:gridCol w="890615">
                  <a:extLst>
                    <a:ext uri="{9D8B030D-6E8A-4147-A177-3AD203B41FA5}">
                      <a16:colId xmlns:a16="http://schemas.microsoft.com/office/drawing/2014/main" val="2204338324"/>
                    </a:ext>
                  </a:extLst>
                </a:gridCol>
                <a:gridCol w="820738">
                  <a:extLst>
                    <a:ext uri="{9D8B030D-6E8A-4147-A177-3AD203B41FA5}">
                      <a16:colId xmlns:a16="http://schemas.microsoft.com/office/drawing/2014/main" val="1128924154"/>
                    </a:ext>
                  </a:extLst>
                </a:gridCol>
                <a:gridCol w="933075">
                  <a:extLst>
                    <a:ext uri="{9D8B030D-6E8A-4147-A177-3AD203B41FA5}">
                      <a16:colId xmlns:a16="http://schemas.microsoft.com/office/drawing/2014/main" val="2627377997"/>
                    </a:ext>
                  </a:extLst>
                </a:gridCol>
                <a:gridCol w="2327952">
                  <a:extLst>
                    <a:ext uri="{9D8B030D-6E8A-4147-A177-3AD203B41FA5}">
                      <a16:colId xmlns:a16="http://schemas.microsoft.com/office/drawing/2014/main" val="1687818387"/>
                    </a:ext>
                  </a:extLst>
                </a:gridCol>
              </a:tblGrid>
              <a:tr h="188576">
                <a:tc>
                  <a:txBody>
                    <a:bodyPr/>
                    <a:lstStyle/>
                    <a:p>
                      <a:pPr algn="l" rtl="0" fontAlgn="ctr"/>
                      <a:r>
                        <a:rPr lang="vi-VN" sz="1100" b="1" u="none" strike="noStrike" dirty="0">
                          <a:solidFill>
                            <a:srgbClr val="FFFFFF"/>
                          </a:solidFill>
                          <a:effectLst/>
                          <a:latin typeface="+mn-lt"/>
                        </a:rPr>
                        <a:t>Động cơ</a:t>
                      </a:r>
                      <a:endParaRPr lang="vi-VN" sz="1100" b="1" i="0" u="none" strike="noStrike" dirty="0">
                        <a:solidFill>
                          <a:srgbClr val="FFFFFF"/>
                        </a:solidFill>
                        <a:effectLst/>
                        <a:latin typeface="+mn-lt"/>
                      </a:endParaRPr>
                    </a:p>
                  </a:txBody>
                  <a:tcPr marL="47527" marR="5281" marT="5281" marB="0" anchor="ctr"/>
                </a:tc>
                <a:tc>
                  <a:txBody>
                    <a:bodyPr/>
                    <a:lstStyle/>
                    <a:p>
                      <a:pPr algn="ctr" rtl="0" fontAlgn="ctr"/>
                      <a:r>
                        <a:rPr lang="en-GB" sz="1100" b="1" u="none" strike="noStrike">
                          <a:solidFill>
                            <a:srgbClr val="FFFFFF"/>
                          </a:solidFill>
                          <a:effectLst/>
                          <a:latin typeface="+mn-lt"/>
                        </a:rPr>
                        <a:t>Induction</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Dự kiến về</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KH Sử dụng</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Remark</a:t>
                      </a:r>
                      <a:endParaRPr lang="en-GB" sz="1100" b="1" i="0" u="none" strike="noStrike">
                        <a:solidFill>
                          <a:srgbClr val="FFFFFF"/>
                        </a:solidFill>
                        <a:effectLst/>
                        <a:latin typeface="+mn-lt"/>
                      </a:endParaRPr>
                    </a:p>
                  </a:txBody>
                  <a:tcPr marL="5281" marR="5281" marT="5281" marB="0" anchor="ctr"/>
                </a:tc>
                <a:extLst>
                  <a:ext uri="{0D108BD9-81ED-4DB2-BD59-A6C34878D82A}">
                    <a16:rowId xmlns:a16="http://schemas.microsoft.com/office/drawing/2014/main" val="1673130687"/>
                  </a:ext>
                </a:extLst>
              </a:tr>
              <a:tr h="352800">
                <a:tc>
                  <a:txBody>
                    <a:bodyPr/>
                    <a:lstStyle/>
                    <a:p>
                      <a:pPr algn="ctr" rtl="0" fontAlgn="ctr"/>
                      <a:r>
                        <a:rPr lang="en-GB" sz="1100" b="0" u="none" strike="noStrike">
                          <a:solidFill>
                            <a:schemeClr val="tx1"/>
                          </a:solidFill>
                          <a:effectLst/>
                          <a:latin typeface="+mn-lt"/>
                        </a:rPr>
                        <a:t>P771423</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15/04/2025</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30/07/2025</a:t>
                      </a:r>
                    </a:p>
                  </a:txBody>
                  <a:tcPr marL="5281" marR="5281" marT="5281" marB="0" anchor="ctr"/>
                </a:tc>
                <a:tc>
                  <a:txBody>
                    <a:bodyPr/>
                    <a:lstStyle/>
                    <a:p>
                      <a:pPr algn="ctr" rtl="0" fontAlgn="ctr"/>
                      <a:r>
                        <a:rPr lang="en-GB" sz="1100" b="0" i="0" u="none" strike="noStrike">
                          <a:solidFill>
                            <a:schemeClr val="tx1">
                              <a:lumMod val="85000"/>
                              <a:lumOff val="15000"/>
                            </a:schemeClr>
                          </a:solidFill>
                          <a:effectLst/>
                          <a:latin typeface="+mn-lt"/>
                        </a:rPr>
                        <a:t>A618#2</a:t>
                      </a:r>
                      <a:endParaRPr lang="en-GB" sz="1100" b="0" i="0" u="none" strike="noStrike" dirty="0">
                        <a:solidFill>
                          <a:schemeClr val="tx1"/>
                        </a:solidFill>
                        <a:effectLst/>
                        <a:latin typeface="+mn-lt"/>
                      </a:endParaRPr>
                    </a:p>
                  </a:txBody>
                  <a:tcPr marL="5281" marR="5281" marT="5281"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a:solidFill>
                            <a:schemeClr val="tx1">
                              <a:lumMod val="85000"/>
                              <a:lumOff val="15000"/>
                            </a:schemeClr>
                          </a:solidFill>
                          <a:effectLst/>
                          <a:latin typeface="+mn-lt"/>
                        </a:rPr>
                        <a:t>Đã về. Dùng cho A618 P800150 HPT T1B crack</a:t>
                      </a:r>
                      <a:endParaRPr lang="en-GB" sz="1100" b="0" i="0" u="none" strike="noStrike" dirty="0">
                        <a:solidFill>
                          <a:schemeClr val="tx1">
                            <a:lumMod val="85000"/>
                            <a:lumOff val="15000"/>
                          </a:schemeClr>
                        </a:solidFill>
                        <a:effectLst/>
                        <a:latin typeface="+mn-lt"/>
                      </a:endParaRPr>
                    </a:p>
                  </a:txBody>
                  <a:tcPr marL="5281" marR="5281" marT="5281" marB="0" anchor="ctr"/>
                </a:tc>
                <a:extLst>
                  <a:ext uri="{0D108BD9-81ED-4DB2-BD59-A6C34878D82A}">
                    <a16:rowId xmlns:a16="http://schemas.microsoft.com/office/drawing/2014/main" val="871960572"/>
                  </a:ext>
                </a:extLst>
              </a:tr>
              <a:tr h="343493">
                <a:tc>
                  <a:txBody>
                    <a:bodyPr/>
                    <a:lstStyle/>
                    <a:p>
                      <a:pPr algn="ctr" rtl="0" fontAlgn="ctr"/>
                      <a:r>
                        <a:rPr lang="en-GB" sz="1100" b="0" u="none" strike="noStrike">
                          <a:solidFill>
                            <a:schemeClr val="tx1"/>
                          </a:solidFill>
                          <a:effectLst/>
                          <a:latin typeface="+mn-lt"/>
                        </a:rPr>
                        <a:t>P771373</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20/02/2025</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12/09/2025</a:t>
                      </a:r>
                    </a:p>
                  </a:txBody>
                  <a:tcPr marL="5281" marR="5281" marT="5281" marB="0" anchor="ctr"/>
                </a:tc>
                <a:tc>
                  <a:txBody>
                    <a:bodyPr/>
                    <a:lstStyle/>
                    <a:p>
                      <a:pPr algn="ctr" rtl="0" fontAlgn="ctr"/>
                      <a:r>
                        <a:rPr lang="en-GB" sz="1100" b="0" i="0" u="none" strike="noStrike">
                          <a:solidFill>
                            <a:schemeClr val="tx1">
                              <a:lumMod val="85000"/>
                              <a:lumOff val="15000"/>
                            </a:schemeClr>
                          </a:solidFill>
                          <a:effectLst/>
                          <a:latin typeface="+mn-lt"/>
                        </a:rPr>
                        <a:t>A507#1</a:t>
                      </a:r>
                      <a:endParaRPr lang="en-GB" sz="1100" b="0" i="0" u="none" strike="noStrike" dirty="0">
                        <a:solidFill>
                          <a:schemeClr val="tx1"/>
                        </a:solidFill>
                        <a:effectLst/>
                        <a:latin typeface="+mn-lt"/>
                      </a:endParaRPr>
                    </a:p>
                  </a:txBody>
                  <a:tcPr marL="5281" marR="5281" marT="5281"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a:solidFill>
                            <a:schemeClr val="tx1">
                              <a:lumMod val="85000"/>
                              <a:lumOff val="15000"/>
                            </a:schemeClr>
                          </a:solidFill>
                          <a:effectLst/>
                          <a:latin typeface="+mn-lt"/>
                        </a:rPr>
                        <a:t>ESN P770982 AD due 15-Aug</a:t>
                      </a:r>
                      <a:endParaRPr lang="en-GB" sz="1100" b="0" i="0" u="none" strike="noStrike" dirty="0">
                        <a:solidFill>
                          <a:schemeClr val="tx1">
                            <a:lumMod val="85000"/>
                            <a:lumOff val="15000"/>
                          </a:schemeClr>
                        </a:solidFill>
                        <a:effectLst/>
                        <a:latin typeface="+mn-lt"/>
                      </a:endParaRPr>
                    </a:p>
                  </a:txBody>
                  <a:tcPr marL="5281" marR="5281" marT="5281" marB="0" anchor="ctr"/>
                </a:tc>
                <a:extLst>
                  <a:ext uri="{0D108BD9-81ED-4DB2-BD59-A6C34878D82A}">
                    <a16:rowId xmlns:a16="http://schemas.microsoft.com/office/drawing/2014/main" val="3042752024"/>
                  </a:ext>
                </a:extLst>
              </a:tr>
              <a:tr h="317969">
                <a:tc>
                  <a:txBody>
                    <a:bodyPr/>
                    <a:lstStyle/>
                    <a:p>
                      <a:pPr algn="ctr" rtl="0" fontAlgn="ctr"/>
                      <a:r>
                        <a:rPr lang="en-GB" sz="1100" b="0" i="0" u="none" strike="noStrike">
                          <a:solidFill>
                            <a:schemeClr val="tx1"/>
                          </a:solidFill>
                          <a:effectLst/>
                          <a:latin typeface="+mn-lt"/>
                        </a:rPr>
                        <a:t>P771079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15/05/2025</a:t>
                      </a:r>
                    </a:p>
                  </a:txBody>
                  <a:tcPr marL="5281" marR="5281" marT="5281" marB="0" anchor="ctr"/>
                </a:tc>
                <a:tc>
                  <a:txBody>
                    <a:bodyPr/>
                    <a:lstStyle/>
                    <a:p>
                      <a:pPr algn="ctr" rtl="0" fontAlgn="ctr"/>
                      <a:r>
                        <a:rPr lang="en-GB" sz="1100" b="0" u="none" strike="noStrike">
                          <a:solidFill>
                            <a:schemeClr val="tx1"/>
                          </a:solidFill>
                          <a:effectLst/>
                          <a:latin typeface="+mn-lt"/>
                        </a:rPr>
                        <a:t>12/09/2025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algn="l" rtl="0" fontAlgn="ctr"/>
                      <a:endParaRPr lang="en-GB" sz="1100" b="0" i="0" u="none" strike="noStrike">
                        <a:solidFill>
                          <a:schemeClr val="tx1"/>
                        </a:solidFill>
                        <a:effectLst/>
                        <a:latin typeface="+mn-lt"/>
                      </a:endParaRPr>
                    </a:p>
                  </a:txBody>
                  <a:tcPr marL="5281" marR="5281" marT="5281" marB="0" anchor="ctr"/>
                </a:tc>
                <a:extLst>
                  <a:ext uri="{0D108BD9-81ED-4DB2-BD59-A6C34878D82A}">
                    <a16:rowId xmlns:a16="http://schemas.microsoft.com/office/drawing/2014/main" val="3826051407"/>
                  </a:ext>
                </a:extLst>
              </a:tr>
              <a:tr h="317969">
                <a:tc>
                  <a:txBody>
                    <a:bodyPr/>
                    <a:lstStyle/>
                    <a:p>
                      <a:pPr algn="ctr" rtl="0" fontAlgn="ctr"/>
                      <a:r>
                        <a:rPr lang="en-GB" sz="1100" b="0" i="0" u="none" strike="noStrike">
                          <a:solidFill>
                            <a:schemeClr val="tx1"/>
                          </a:solidFill>
                          <a:effectLst/>
                          <a:latin typeface="+mn-lt"/>
                        </a:rPr>
                        <a:t>P771119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17/06/2025</a:t>
                      </a:r>
                    </a:p>
                  </a:txBody>
                  <a:tcPr marL="5281" marR="5281" marT="5281" marB="0" anchor="ctr"/>
                </a:tc>
                <a:tc>
                  <a:txBody>
                    <a:bodyPr/>
                    <a:lstStyle/>
                    <a:p>
                      <a:pPr algn="ctr" rtl="0" fontAlgn="ctr"/>
                      <a:r>
                        <a:rPr lang="en-GB" sz="1100" b="0" u="none" strike="noStrike">
                          <a:solidFill>
                            <a:schemeClr val="tx1"/>
                          </a:solidFill>
                          <a:effectLst/>
                          <a:latin typeface="+mn-lt"/>
                        </a:rPr>
                        <a:t>27/12/2025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2247301018"/>
                  </a:ext>
                </a:extLst>
              </a:tr>
              <a:tr h="317969">
                <a:tc>
                  <a:txBody>
                    <a:bodyPr/>
                    <a:lstStyle/>
                    <a:p>
                      <a:pPr algn="ctr" rtl="0" fontAlgn="ctr"/>
                      <a:r>
                        <a:rPr lang="en-GB" sz="1100" b="0" i="0" u="none" strike="noStrike">
                          <a:solidFill>
                            <a:schemeClr val="tx1"/>
                          </a:solidFill>
                          <a:effectLst/>
                          <a:latin typeface="+mn-lt"/>
                        </a:rPr>
                        <a:t>P771463</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19/06/2025</a:t>
                      </a:r>
                    </a:p>
                  </a:txBody>
                  <a:tcPr marL="5281" marR="5281" marT="5281" marB="0" anchor="ctr"/>
                </a:tc>
                <a:tc>
                  <a:txBody>
                    <a:bodyPr/>
                    <a:lstStyle/>
                    <a:p>
                      <a:pPr algn="ctr" rtl="0" fontAlgn="ctr"/>
                      <a:r>
                        <a:rPr lang="en-GB" sz="1100" b="0" u="none" strike="noStrike">
                          <a:solidFill>
                            <a:schemeClr val="tx1"/>
                          </a:solidFill>
                          <a:effectLst/>
                          <a:latin typeface="+mn-lt"/>
                        </a:rPr>
                        <a:t>29/12/2025</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784712550"/>
                  </a:ext>
                </a:extLst>
              </a:tr>
              <a:tr h="317969">
                <a:tc>
                  <a:txBody>
                    <a:bodyPr/>
                    <a:lstStyle/>
                    <a:p>
                      <a:pPr algn="ctr" fontAlgn="ctr"/>
                      <a:r>
                        <a:rPr lang="en-US" sz="1100" b="0" i="0" u="none" strike="noStrike" kern="1200">
                          <a:solidFill>
                            <a:schemeClr val="tx1"/>
                          </a:solidFill>
                          <a:effectLst/>
                          <a:latin typeface="+mn-lt"/>
                          <a:ea typeface="+mn-ea"/>
                          <a:cs typeface="+mn-cs"/>
                        </a:rPr>
                        <a:t>P771175</a:t>
                      </a:r>
                    </a:p>
                  </a:txBody>
                  <a:tcPr marL="0" marR="0" marT="0" marB="0" anchor="ctr"/>
                </a:tc>
                <a:tc>
                  <a:txBody>
                    <a:bodyPr/>
                    <a:lstStyle/>
                    <a:p>
                      <a:pPr algn="ctr" fontAlgn="ctr"/>
                      <a:r>
                        <a:rPr lang="en-US" sz="1100" b="0" u="none" strike="noStrike" kern="1200">
                          <a:solidFill>
                            <a:schemeClr val="tx1"/>
                          </a:solidFill>
                          <a:effectLst/>
                          <a:latin typeface="+mn-lt"/>
                          <a:ea typeface="+mn-ea"/>
                          <a:cs typeface="+mn-cs"/>
                        </a:rPr>
                        <a:t>08/08/2025</a:t>
                      </a:r>
                    </a:p>
                  </a:txBody>
                  <a:tcPr marL="0" marR="0" marT="0"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kumimoji="0" lang="en-GB" sz="1100" b="0" i="0" u="none" strike="noStrike" kern="1200" cap="none" spc="0" normalizeH="0" baseline="0" noProof="0">
                          <a:ln>
                            <a:noFill/>
                          </a:ln>
                          <a:solidFill>
                            <a:prstClr val="black"/>
                          </a:solidFill>
                          <a:effectLst/>
                          <a:uLnTx/>
                          <a:uFillTx/>
                          <a:latin typeface="Cambria"/>
                          <a:ea typeface="+mn-ea"/>
                          <a:cs typeface="+mn-cs"/>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4127060481"/>
                  </a:ext>
                </a:extLst>
              </a:tr>
              <a:tr h="317969">
                <a:tc>
                  <a:txBody>
                    <a:bodyPr/>
                    <a:lstStyle/>
                    <a:p>
                      <a:pPr algn="ctr" fontAlgn="ctr"/>
                      <a:r>
                        <a:rPr lang="en-US" sz="1100" b="0" i="0" u="none" strike="noStrike" kern="1200">
                          <a:solidFill>
                            <a:schemeClr val="tx1"/>
                          </a:solidFill>
                          <a:effectLst/>
                          <a:latin typeface="+mn-lt"/>
                          <a:ea typeface="+mn-ea"/>
                          <a:cs typeface="+mn-cs"/>
                        </a:rPr>
                        <a:t>P771687</a:t>
                      </a:r>
                    </a:p>
                  </a:txBody>
                  <a:tcPr marL="0" marR="0" marT="0" marB="0" anchor="ctr"/>
                </a:tc>
                <a:tc>
                  <a:txBody>
                    <a:bodyPr/>
                    <a:lstStyle/>
                    <a:p>
                      <a:pPr algn="ctr" fontAlgn="ctr"/>
                      <a:r>
                        <a:rPr lang="en-US" sz="1100" b="0" u="none" strike="noStrike" kern="1200">
                          <a:solidFill>
                            <a:schemeClr val="tx1"/>
                          </a:solidFill>
                          <a:effectLst/>
                          <a:latin typeface="+mn-lt"/>
                          <a:ea typeface="+mn-ea"/>
                          <a:cs typeface="+mn-cs"/>
                        </a:rPr>
                        <a:t>21/08/2025</a:t>
                      </a:r>
                    </a:p>
                  </a:txBody>
                  <a:tcPr marL="0" marR="0" marT="0"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kumimoji="0" lang="en-GB" sz="1100" b="0" i="0" u="none" strike="noStrike" kern="1200" cap="none" spc="0" normalizeH="0" baseline="0" noProof="0">
                          <a:ln>
                            <a:noFill/>
                          </a:ln>
                          <a:solidFill>
                            <a:prstClr val="black"/>
                          </a:solidFill>
                          <a:effectLst/>
                          <a:uLnTx/>
                          <a:uFillTx/>
                          <a:latin typeface="Cambria"/>
                          <a:ea typeface="+mn-ea"/>
                          <a:cs typeface="+mn-cs"/>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2265960962"/>
                  </a:ext>
                </a:extLst>
              </a:tr>
            </a:tbl>
          </a:graphicData>
        </a:graphic>
      </p:graphicFrame>
      <p:sp>
        <p:nvSpPr>
          <p:cNvPr id="14" name="TextBox 13">
            <a:extLst>
              <a:ext uri="{FF2B5EF4-FFF2-40B4-BE49-F238E27FC236}">
                <a16:creationId xmlns:a16="http://schemas.microsoft.com/office/drawing/2014/main" id="{3665DF89-9C1E-039A-24B3-2AC39417A7A0}"/>
              </a:ext>
            </a:extLst>
          </p:cNvPr>
          <p:cNvSpPr txBox="1"/>
          <p:nvPr/>
        </p:nvSpPr>
        <p:spPr>
          <a:xfrm>
            <a:off x="0" y="3420766"/>
            <a:ext cx="583409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RTS</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8" name="TextBox 17">
            <a:extLst>
              <a:ext uri="{FF2B5EF4-FFF2-40B4-BE49-F238E27FC236}">
                <a16:creationId xmlns:a16="http://schemas.microsoft.com/office/drawing/2014/main" id="{CC5E228E-E3EC-4098-B50D-0EB6E35D60A1}"/>
              </a:ext>
            </a:extLst>
          </p:cNvPr>
          <p:cNvSpPr txBox="1"/>
          <p:nvPr/>
        </p:nvSpPr>
        <p:spPr>
          <a:xfrm>
            <a:off x="0" y="4564471"/>
            <a:ext cx="6266703"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en-US" b="1">
                <a:solidFill>
                  <a:srgbClr val="002060"/>
                </a:solidFill>
                <a:latin typeface="Times New Roman" panose="02020603050405020304" pitchFamily="18" charset="0"/>
                <a:cs typeface="Times New Roman" panose="02020603050405020304" pitchFamily="18" charset="0"/>
              </a:rPr>
              <a:t>giữ giờ phục vụ CĐ tết 2026</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9" name="TextBox 18">
            <a:extLst>
              <a:ext uri="{FF2B5EF4-FFF2-40B4-BE49-F238E27FC236}">
                <a16:creationId xmlns:a16="http://schemas.microsoft.com/office/drawing/2014/main" id="{646654A8-2338-4BFD-A6E9-33BD153433BE}"/>
              </a:ext>
            </a:extLst>
          </p:cNvPr>
          <p:cNvSpPr txBox="1"/>
          <p:nvPr/>
        </p:nvSpPr>
        <p:spPr>
          <a:xfrm>
            <a:off x="163789" y="5041777"/>
            <a:ext cx="5737176" cy="1538883"/>
          </a:xfrm>
          <a:prstGeom prst="rect">
            <a:avLst/>
          </a:prstGeom>
          <a:solidFill>
            <a:schemeClr val="accent4">
              <a:lumMod val="40000"/>
              <a:lumOff val="60000"/>
            </a:schemeClr>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just" defTabSz="1219170" rtl="0" eaLnBrk="1" fontAlgn="auto" latinLnBrk="0" hangingPunct="1">
              <a:lnSpc>
                <a:spcPct val="100000"/>
              </a:lnSpc>
              <a:spcBef>
                <a:spcPts val="600"/>
              </a:spcBef>
              <a:spcAft>
                <a:spcPts val="0"/>
              </a:spcAft>
              <a:buClrTx/>
              <a:buSzTx/>
              <a:buFont typeface="+mj-lt"/>
              <a:buAutoNum type="arabicPeriod"/>
              <a:tabLst/>
              <a:defRPr/>
            </a:pPr>
            <a:r>
              <a:rPr lang="en-US" sz="1400">
                <a:solidFill>
                  <a:prstClr val="black"/>
                </a:solidFill>
                <a:latin typeface="Times New Roman" panose="02020603050405020304" pitchFamily="18" charset="0"/>
                <a:cs typeface="Times New Roman" panose="02020603050405020304" pitchFamily="18" charset="0"/>
              </a:rPr>
              <a:t>Swap động cơ A621#2 với A625#1. A621 sẽ dừng giữ 50-70 FC từ đầu Tháng 8, A625 tiếp tục khai thác. Đã thực hiện.</a:t>
            </a:r>
          </a:p>
          <a:p>
            <a:pPr marL="342900" marR="0" lvl="0" indent="-342900" algn="just" defTabSz="1219170" rtl="0" eaLnBrk="1" fontAlgn="auto" latinLnBrk="0" hangingPunct="1">
              <a:lnSpc>
                <a:spcPct val="100000"/>
              </a:lnSpc>
              <a:spcBef>
                <a:spcPts val="600"/>
              </a:spcBef>
              <a:spcAft>
                <a:spcPts val="0"/>
              </a:spcAft>
              <a:buClrTx/>
              <a:buSzTx/>
              <a:buFont typeface="+mj-lt"/>
              <a:buAutoNum type="arabicPeriod"/>
              <a:tabLst/>
              <a:defRPr/>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Th</a:t>
            </a:r>
            <a:r>
              <a:rPr lang="en-US" sz="1400">
                <a:solidFill>
                  <a:prstClr val="black"/>
                </a:solidFill>
                <a:latin typeface="Times New Roman" panose="02020603050405020304" pitchFamily="18" charset="0"/>
                <a:cs typeface="Times New Roman" panose="02020603050405020304" pitchFamily="18" charset="0"/>
              </a:rPr>
              <a:t>áo giữ giờ động cơ A618#1 ESN P800098 ~ 1.5 tháng. Dự kiến thực hiện giữa tháng 9.</a:t>
            </a:r>
          </a:p>
          <a:p>
            <a:pPr marL="342900" marR="0" lvl="0" indent="-342900" algn="just" defTabSz="1219170" rtl="0" eaLnBrk="1" fontAlgn="auto" latinLnBrk="0" hangingPunct="1">
              <a:lnSpc>
                <a:spcPct val="100000"/>
              </a:lnSpc>
              <a:spcBef>
                <a:spcPts val="600"/>
              </a:spcBef>
              <a:spcAft>
                <a:spcPts val="0"/>
              </a:spcAft>
              <a:buClrTx/>
              <a:buSzTx/>
              <a:buFont typeface="+mj-lt"/>
              <a:buAutoNum type="arabicPeriod"/>
              <a:tabLst/>
              <a:defRPr/>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Tháo giữ giờ động cơ A619#1 ESN P771056 ~ 1 tháng. Dk thực hiện T11-T12 khi có động cơ lẻ từ shop về.</a:t>
            </a:r>
          </a:p>
        </p:txBody>
      </p:sp>
    </p:spTree>
    <p:extLst>
      <p:ext uri="{BB962C8B-B14F-4D97-AF65-F5344CB8AC3E}">
        <p14:creationId xmlns:p14="http://schemas.microsoft.com/office/powerpoint/2010/main" val="2919282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32</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32</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248401" y="502765"/>
          <a:ext cx="5855025" cy="395365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64957" y="3366655"/>
            <a:ext cx="6054134" cy="1569660"/>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200" b="1" dirty="0" err="1">
                <a:solidFill>
                  <a:schemeClr val="tx1"/>
                </a:solidFill>
                <a:latin typeface="Times New Roman" panose="02020603050405020304" pitchFamily="18" charset="0"/>
                <a:cs typeface="Times New Roman" panose="02020603050405020304" pitchFamily="18" charset="0"/>
              </a:rPr>
              <a:t>Động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cơ</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dự</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err="1">
                <a:solidFill>
                  <a:schemeClr val="tx1"/>
                </a:solidFill>
                <a:latin typeface="Times New Roman" panose="02020603050405020304" pitchFamily="18" charset="0"/>
                <a:cs typeface="Times New Roman" panose="02020603050405020304" pitchFamily="18" charset="0"/>
              </a:rPr>
              <a:t>phòng</a:t>
            </a:r>
            <a:r>
              <a:rPr lang="en-US" sz="1200" b="1">
                <a:solidFill>
                  <a:schemeClr val="tx1"/>
                </a:solidFill>
                <a:latin typeface="Times New Roman" panose="02020603050405020304" pitchFamily="18" charset="0"/>
                <a:cs typeface="Times New Roman" panose="02020603050405020304" pitchFamily="18" charset="0"/>
              </a:rPr>
              <a:t>:</a:t>
            </a:r>
            <a:r>
              <a:rPr lang="en-US" sz="1200">
                <a:solidFill>
                  <a:schemeClr val="tx1"/>
                </a:solidFill>
                <a:latin typeface="Times New Roman" panose="02020603050405020304" pitchFamily="18" charset="0"/>
                <a:cs typeface="Times New Roman" panose="02020603050405020304" pitchFamily="18" charset="0"/>
              </a:rPr>
              <a:t> 25/07 có 956599 về làm spare đến hết T8 sẽ thay cho A863</a:t>
            </a:r>
            <a:endParaRPr lang="en-US" sz="1200" dirty="0">
              <a:solidFill>
                <a:schemeClr val="tx1"/>
              </a:solidFill>
              <a:latin typeface="Times New Roman" panose="02020603050405020304" pitchFamily="18" charset="0"/>
              <a:cs typeface="Times New Roman" panose="02020603050405020304" pitchFamily="18" charset="0"/>
            </a:endParaRPr>
          </a:p>
          <a:p>
            <a:pPr marL="380990" indent="-380990" defTabSz="1219170">
              <a:buFontTx/>
              <a:buChar char="-"/>
              <a:defRPr/>
            </a:pPr>
            <a:r>
              <a:rPr lang="en-US" sz="1200" b="1" dirty="0" err="1">
                <a:solidFill>
                  <a:schemeClr val="tx1"/>
                </a:solidFill>
                <a:latin typeface="Times New Roman" panose="02020603050405020304" pitchFamily="18" charset="0"/>
                <a:cs typeface="Times New Roman" panose="02020603050405020304" pitchFamily="18" charset="0"/>
              </a:rPr>
              <a:t>Động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cơ</a:t>
            </a:r>
            <a:r>
              <a:rPr lang="en-US" sz="1200" b="1" dirty="0">
                <a:solidFill>
                  <a:schemeClr val="tx1"/>
                </a:solidFill>
                <a:latin typeface="Times New Roman" panose="02020603050405020304" pitchFamily="18" charset="0"/>
                <a:cs typeface="Times New Roman" panose="02020603050405020304" pitchFamily="18" charset="0"/>
              </a:rPr>
              <a:t> on-watch &amp; </a:t>
            </a:r>
            <a:r>
              <a:rPr lang="en-US" sz="1200" b="1" dirty="0" err="1">
                <a:solidFill>
                  <a:schemeClr val="tx1"/>
                </a:solidFill>
                <a:latin typeface="Times New Roman" panose="02020603050405020304" pitchFamily="18" charset="0"/>
                <a:cs typeface="Times New Roman" panose="02020603050405020304" pitchFamily="18" charset="0"/>
              </a:rPr>
              <a:t>Hạn</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chế</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khai</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thác</a:t>
            </a:r>
            <a:r>
              <a:rPr lang="en-US" sz="1200"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200" dirty="0">
                <a:solidFill>
                  <a:schemeClr val="tx1"/>
                </a:solidFill>
                <a:cs typeface="Times New Roman" panose="02020603050405020304" pitchFamily="18" charset="0"/>
              </a:rPr>
              <a:t>6</a:t>
            </a:r>
            <a:r>
              <a:rPr lang="en-US" sz="1200">
                <a:solidFill>
                  <a:schemeClr val="tx1"/>
                </a:solidFill>
                <a:cs typeface="Times New Roman" panose="02020603050405020304" pitchFamily="18" charset="0"/>
              </a:rPr>
              <a:t> </a:t>
            </a:r>
            <a:r>
              <a:rPr lang="en-US" sz="1200" dirty="0" err="1">
                <a:solidFill>
                  <a:schemeClr val="tx1"/>
                </a:solidFill>
                <a:cs typeface="Times New Roman" panose="02020603050405020304" pitchFamily="18" charset="0"/>
              </a:rPr>
              <a:t>động</a:t>
            </a:r>
            <a:r>
              <a:rPr lang="en-US" sz="1200" dirty="0">
                <a:solidFill>
                  <a:schemeClr val="tx1"/>
                </a:solidFill>
                <a:cs typeface="Times New Roman" panose="02020603050405020304" pitchFamily="18" charset="0"/>
              </a:rPr>
              <a:t> c</a:t>
            </a:r>
            <a:r>
              <a:rPr lang="vi-VN" sz="1200" dirty="0">
                <a:solidFill>
                  <a:schemeClr val="tx1"/>
                </a:solidFill>
                <a:cs typeface="Times New Roman" panose="02020603050405020304" pitchFamily="18" charset="0"/>
              </a:rPr>
              <a:t>ơ</a:t>
            </a:r>
            <a:r>
              <a:rPr lang="en-US" sz="1200" dirty="0">
                <a:solidFill>
                  <a:schemeClr val="tx1"/>
                </a:solidFill>
                <a:cs typeface="Times New Roman" panose="02020603050405020304" pitchFamily="18" charset="0"/>
              </a:rPr>
              <a:t> on-watch 50 – 250FC</a:t>
            </a:r>
          </a:p>
          <a:p>
            <a:pPr marL="380990" indent="-380990" defTabSz="1219170">
              <a:buFontTx/>
              <a:buChar char="-"/>
              <a:defRPr/>
            </a:pPr>
            <a:r>
              <a:rPr lang="en-US" sz="1200" b="1">
                <a:solidFill>
                  <a:schemeClr val="tx1"/>
                </a:solidFill>
                <a:latin typeface="Times New Roman" panose="02020603050405020304" pitchFamily="18" charset="0"/>
                <a:cs typeface="Times New Roman" panose="02020603050405020304" pitchFamily="18" charset="0"/>
              </a:rPr>
              <a:t>Rủi </a:t>
            </a:r>
            <a:r>
              <a:rPr lang="en-US" sz="1200" b="1" dirty="0" err="1">
                <a:solidFill>
                  <a:schemeClr val="tx1"/>
                </a:solidFill>
                <a:latin typeface="Times New Roman" panose="02020603050405020304" pitchFamily="18" charset="0"/>
                <a:cs typeface="Times New Roman" panose="02020603050405020304" pitchFamily="18" charset="0"/>
              </a:rPr>
              <a:t>ro</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và</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công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việc</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trọng</a:t>
            </a:r>
            <a:r>
              <a:rPr lang="en-US" sz="1200" b="1" dirty="0">
                <a:solidFill>
                  <a:schemeClr val="tx1"/>
                </a:solidFill>
                <a:latin typeface="Times New Roman" panose="02020603050405020304" pitchFamily="18" charset="0"/>
                <a:cs typeface="Times New Roman" panose="02020603050405020304" pitchFamily="18" charset="0"/>
              </a:rPr>
              <a:t> </a:t>
            </a:r>
            <a:r>
              <a:rPr lang="en-US" sz="1200" b="1" dirty="0" err="1">
                <a:solidFill>
                  <a:schemeClr val="tx1"/>
                </a:solidFill>
                <a:latin typeface="Times New Roman" panose="02020603050405020304" pitchFamily="18" charset="0"/>
                <a:cs typeface="Times New Roman" panose="02020603050405020304" pitchFamily="18" charset="0"/>
              </a:rPr>
              <a:t>điểm</a:t>
            </a:r>
            <a:r>
              <a:rPr lang="en-US" sz="1200" b="1" dirty="0">
                <a:solidFill>
                  <a:schemeClr val="tx1"/>
                </a:solidFill>
                <a:latin typeface="Times New Roman" panose="02020603050405020304" pitchFamily="18" charset="0"/>
                <a:cs typeface="Times New Roman" panose="02020603050405020304" pitchFamily="18" charset="0"/>
              </a:rPr>
              <a:t> 2H 2025:</a:t>
            </a:r>
            <a:endParaRPr lang="en-US" sz="1200"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200" dirty="0">
                <a:solidFill>
                  <a:schemeClr val="tx1"/>
                </a:solidFill>
                <a:latin typeface="Times New Roman" panose="02020603050405020304" pitchFamily="18" charset="0"/>
                <a:cs typeface="Times New Roman" panose="02020603050405020304" pitchFamily="18" charset="0"/>
              </a:rPr>
              <a:t>Các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on-watch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rủi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tháo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sớm</a:t>
            </a:r>
            <a:r>
              <a:rPr lang="en-US" sz="1200" dirty="0">
                <a:solidFill>
                  <a:schemeClr val="tx1"/>
                </a:solidFill>
                <a:latin typeface="Times New Roman" panose="02020603050405020304" pitchFamily="18" charset="0"/>
                <a:cs typeface="Times New Roman" panose="02020603050405020304" pitchFamily="18" charset="0"/>
              </a:rPr>
              <a:t>. Các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spare </a:t>
            </a:r>
            <a:r>
              <a:rPr lang="en-US" sz="1200" dirty="0" err="1">
                <a:solidFill>
                  <a:schemeClr val="tx1"/>
                </a:solidFill>
                <a:latin typeface="Times New Roman" panose="02020603050405020304" pitchFamily="18" charset="0"/>
                <a:cs typeface="Times New Roman" panose="02020603050405020304" pitchFamily="18" charset="0"/>
              </a:rPr>
              <a:t>sẽ</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lượt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trong</a:t>
            </a:r>
            <a:r>
              <a:rPr lang="en-US" sz="1200" dirty="0">
                <a:solidFill>
                  <a:schemeClr val="tx1"/>
                </a:solidFill>
                <a:latin typeface="Times New Roman" panose="02020603050405020304" pitchFamily="18" charset="0"/>
                <a:cs typeface="Times New Roman" panose="02020603050405020304" pitchFamily="18" charset="0"/>
              </a:rPr>
              <a:t> </a:t>
            </a:r>
            <a:r>
              <a:rPr lang="en-US" sz="1200" err="1">
                <a:solidFill>
                  <a:schemeClr val="tx1"/>
                </a:solidFill>
                <a:latin typeface="Times New Roman" panose="02020603050405020304" pitchFamily="18" charset="0"/>
                <a:cs typeface="Times New Roman" panose="02020603050405020304" pitchFamily="18" charset="0"/>
              </a:rPr>
              <a:t>tháng</a:t>
            </a:r>
            <a:r>
              <a:rPr lang="en-US" sz="1200">
                <a:solidFill>
                  <a:schemeClr val="tx1"/>
                </a:solidFill>
                <a:latin typeface="Times New Roman" panose="02020603050405020304" pitchFamily="18" charset="0"/>
                <a:cs typeface="Times New Roman" panose="02020603050405020304" pitchFamily="18" charset="0"/>
              </a:rPr>
              <a:t> 8– </a:t>
            </a:r>
            <a:r>
              <a:rPr lang="en-US" sz="1200" dirty="0">
                <a:solidFill>
                  <a:schemeClr val="tx1"/>
                </a:solidFill>
                <a:latin typeface="Times New Roman" panose="02020603050405020304" pitchFamily="18" charset="0"/>
                <a:cs typeface="Times New Roman" panose="02020603050405020304" pitchFamily="18" charset="0"/>
              </a:rPr>
              <a:t>9 </a:t>
            </a:r>
            <a:r>
              <a:rPr lang="en-US" sz="1200" dirty="0" err="1">
                <a:solidFill>
                  <a:schemeClr val="tx1"/>
                </a:solidFill>
                <a:latin typeface="Times New Roman" panose="02020603050405020304" pitchFamily="18" charset="0"/>
                <a:cs typeface="Times New Roman" panose="02020603050405020304" pitchFamily="18" charset="0"/>
              </a:rPr>
              <a:t>tuy</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nhiên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thể</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bị</a:t>
            </a:r>
            <a:r>
              <a:rPr lang="en-US" sz="1200" dirty="0">
                <a:solidFill>
                  <a:schemeClr val="tx1"/>
                </a:solidFill>
                <a:latin typeface="Times New Roman" panose="02020603050405020304" pitchFamily="18" charset="0"/>
                <a:cs typeface="Times New Roman" panose="02020603050405020304" pitchFamily="18" charset="0"/>
              </a:rPr>
              <a:t> delay. </a:t>
            </a:r>
          </a:p>
          <a:p>
            <a:pPr marL="548640" indent="-182880">
              <a:buFont typeface="Wingdings" panose="05000000000000000000" pitchFamily="2" charset="2"/>
              <a:buChar char="§"/>
              <a:defRPr/>
            </a:pPr>
            <a:r>
              <a:rPr lang="en-US" sz="1200" dirty="0">
                <a:solidFill>
                  <a:schemeClr val="tx1"/>
                </a:solidFill>
                <a:latin typeface="Times New Roman" panose="02020603050405020304" pitchFamily="18" charset="0"/>
                <a:cs typeface="Times New Roman" panose="02020603050405020304" pitchFamily="18" charset="0"/>
              </a:rPr>
              <a:t>958266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lịch</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trả</a:t>
            </a:r>
            <a:r>
              <a:rPr lang="en-US" sz="1200" dirty="0">
                <a:solidFill>
                  <a:schemeClr val="tx1"/>
                </a:solidFill>
                <a:latin typeface="Times New Roman" panose="02020603050405020304" pitchFamily="18" charset="0"/>
                <a:cs typeface="Times New Roman" panose="02020603050405020304" pitchFamily="18" charset="0"/>
              </a:rPr>
              <a:t> T9/2025 – </a:t>
            </a:r>
            <a:r>
              <a:rPr lang="en-US" sz="1200" dirty="0" err="1">
                <a:solidFill>
                  <a:schemeClr val="tx1"/>
                </a:solidFill>
                <a:latin typeface="Times New Roman" panose="02020603050405020304" pitchFamily="18" charset="0"/>
                <a:cs typeface="Times New Roman" panose="02020603050405020304" pitchFamily="18" charset="0"/>
              </a:rPr>
              <a:t>dự</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kiến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dùng</a:t>
            </a:r>
            <a:r>
              <a:rPr lang="en-US" sz="1200" dirty="0">
                <a:solidFill>
                  <a:schemeClr val="tx1"/>
                </a:solidFill>
                <a:latin typeface="Times New Roman" panose="02020603050405020304" pitchFamily="18" charset="0"/>
                <a:cs typeface="Times New Roman" panose="02020603050405020304" pitchFamily="18" charset="0"/>
              </a:rPr>
              <a:t> spare </a:t>
            </a:r>
            <a:r>
              <a:rPr lang="en-US" sz="1200" dirty="0" err="1">
                <a:solidFill>
                  <a:schemeClr val="tx1"/>
                </a:solidFill>
                <a:latin typeface="Times New Roman" panose="02020603050405020304" pitchFamily="18" charset="0"/>
                <a:cs typeface="Times New Roman" panose="02020603050405020304" pitchFamily="18" charset="0"/>
              </a:rPr>
              <a:t>đổi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với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Aercap</a:t>
            </a:r>
            <a:r>
              <a:rPr lang="en-US" sz="1200" dirty="0">
                <a:solidFill>
                  <a:schemeClr val="tx1"/>
                </a:solidFill>
                <a:latin typeface="Times New Roman" panose="02020603050405020304" pitchFamily="18" charset="0"/>
                <a:cs typeface="Times New Roman" panose="02020603050405020304" pitchFamily="18" charset="0"/>
              </a:rPr>
              <a:t> </a:t>
            </a:r>
            <a:r>
              <a:rPr lang="en-US" sz="1200" err="1">
                <a:solidFill>
                  <a:schemeClr val="tx1"/>
                </a:solidFill>
                <a:latin typeface="Times New Roman" panose="02020603050405020304" pitchFamily="18" charset="0"/>
                <a:cs typeface="Times New Roman" panose="02020603050405020304" pitchFamily="18" charset="0"/>
              </a:rPr>
              <a:t>vào</a:t>
            </a:r>
            <a:r>
              <a:rPr lang="en-US" sz="1200">
                <a:solidFill>
                  <a:schemeClr val="tx1"/>
                </a:solidFill>
                <a:latin typeface="Times New Roman" panose="02020603050405020304" pitchFamily="18" charset="0"/>
                <a:cs typeface="Times New Roman" panose="02020603050405020304" pitchFamily="18" charset="0"/>
              </a:rPr>
              <a:t> 17/08</a:t>
            </a:r>
          </a:p>
          <a:p>
            <a:pPr marL="548640" indent="-182880">
              <a:buFont typeface="Wingdings" panose="05000000000000000000" pitchFamily="2" charset="2"/>
              <a:buChar char="§"/>
              <a:defRPr/>
            </a:pPr>
            <a:r>
              <a:rPr lang="en-US" sz="1200">
                <a:solidFill>
                  <a:schemeClr val="tx1"/>
                </a:solidFill>
                <a:latin typeface="Times New Roman" panose="02020603050405020304" pitchFamily="18" charset="0"/>
                <a:cs typeface="Times New Roman" panose="02020603050405020304" pitchFamily="18" charset="0"/>
              </a:rPr>
              <a:t>Tháo trả 2 spare 956626 &amp; 956933 trong T11-T12, tháo 2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soi 100FC đi shop.</a:t>
            </a:r>
            <a:endParaRPr lang="en-US" sz="1200"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02766"/>
          <a:ext cx="6054135" cy="2773838"/>
        </p:xfrm>
        <a:graphic>
          <a:graphicData uri="http://schemas.openxmlformats.org/drawingml/2006/table">
            <a:tbl>
              <a:tblPr firstRow="1" bandRow="1">
                <a:tableStyleId>{7DF18680-E054-41AD-8BC1-D1AEF772440D}</a:tableStyleId>
              </a:tblPr>
              <a:tblGrid>
                <a:gridCol w="679825">
                  <a:extLst>
                    <a:ext uri="{9D8B030D-6E8A-4147-A177-3AD203B41FA5}">
                      <a16:colId xmlns:a16="http://schemas.microsoft.com/office/drawing/2014/main" val="1598605427"/>
                    </a:ext>
                  </a:extLst>
                </a:gridCol>
                <a:gridCol w="603202">
                  <a:extLst>
                    <a:ext uri="{9D8B030D-6E8A-4147-A177-3AD203B41FA5}">
                      <a16:colId xmlns:a16="http://schemas.microsoft.com/office/drawing/2014/main" val="3845954792"/>
                    </a:ext>
                  </a:extLst>
                </a:gridCol>
                <a:gridCol w="989327">
                  <a:extLst>
                    <a:ext uri="{9D8B030D-6E8A-4147-A177-3AD203B41FA5}">
                      <a16:colId xmlns:a16="http://schemas.microsoft.com/office/drawing/2014/main" val="3803391337"/>
                    </a:ext>
                  </a:extLst>
                </a:gridCol>
                <a:gridCol w="1372873">
                  <a:extLst>
                    <a:ext uri="{9D8B030D-6E8A-4147-A177-3AD203B41FA5}">
                      <a16:colId xmlns:a16="http://schemas.microsoft.com/office/drawing/2014/main" val="2148822928"/>
                    </a:ext>
                  </a:extLst>
                </a:gridCol>
                <a:gridCol w="990600">
                  <a:extLst>
                    <a:ext uri="{9D8B030D-6E8A-4147-A177-3AD203B41FA5}">
                      <a16:colId xmlns:a16="http://schemas.microsoft.com/office/drawing/2014/main" val="1106888684"/>
                    </a:ext>
                  </a:extLst>
                </a:gridCol>
                <a:gridCol w="1418308">
                  <a:extLst>
                    <a:ext uri="{9D8B030D-6E8A-4147-A177-3AD203B41FA5}">
                      <a16:colId xmlns:a16="http://schemas.microsoft.com/office/drawing/2014/main" val="558551088"/>
                    </a:ext>
                  </a:extLst>
                </a:gridCol>
              </a:tblGrid>
              <a:tr h="449728">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a:solidFill>
                            <a:schemeClr val="bg1"/>
                          </a:solidFill>
                          <a:effectLst/>
                          <a:latin typeface="+mn-lt"/>
                        </a:rPr>
                        <a:t>Status</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32411">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T2/2026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a:solidFill>
                            <a:schemeClr val="tx1"/>
                          </a:solidFill>
                          <a:effectLst/>
                          <a:latin typeface="+mn-lt"/>
                          <a:cs typeface="Times New Roman" panose="02020603050405020304" pitchFamily="18" charset="0"/>
                        </a:rPr>
                        <a:t>Ship</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 25/08/2025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T4/2026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232411">
                <a:tc>
                  <a:txBody>
                    <a:bodyPr/>
                    <a:lstStyle/>
                    <a:p>
                      <a:pPr algn="ctr" fontAlgn="ctr"/>
                      <a:r>
                        <a:rPr lang="en-US" sz="1200" b="0" u="none" strike="noStrike" dirty="0">
                          <a:solidFill>
                            <a:schemeClr val="tx1"/>
                          </a:solidFill>
                          <a:effectLst/>
                          <a:latin typeface="+mn-lt"/>
                        </a:rPr>
                        <a:t>956913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24/06/2025</a:t>
                      </a:r>
                    </a:p>
                  </a:txBody>
                  <a:tcPr marL="12700" marR="12700" marT="12700" marB="0" anchor="ctr"/>
                </a:tc>
                <a:tc>
                  <a:txBody>
                    <a:bodyPr/>
                    <a:lstStyle/>
                    <a:p>
                      <a:pPr marL="0" algn="ctr" defTabSz="914400" rtl="0" eaLnBrk="1" fontAlgn="ctr" latinLnBrk="0" hangingPunct="1"/>
                      <a:r>
                        <a:rPr lang="en-US" sz="1200" b="0" i="0" u="none" strike="noStrike" kern="1200" dirty="0">
                          <a:solidFill>
                            <a:schemeClr val="tx1"/>
                          </a:solidFill>
                          <a:effectLst/>
                          <a:latin typeface="+mn-lt"/>
                          <a:ea typeface="+mn-ea"/>
                          <a:cs typeface="Times New Roman" panose="02020603050405020304" pitchFamily="18" charset="0"/>
                        </a:rPr>
                        <a:t>T2/2026</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Finish: 18/07/2025</a:t>
                      </a:r>
                    </a:p>
                  </a:txBody>
                  <a:tcPr marL="12700" marR="12700" marT="12700" marB="0" anchor="ctr"/>
                </a:tc>
                <a:tc>
                  <a:txBody>
                    <a:bodyPr/>
                    <a:lstStyle/>
                    <a:p>
                      <a:pPr algn="ctr" fontAlgn="ctr"/>
                      <a:r>
                        <a:rPr lang="en-US" sz="1200" b="0" i="0" u="none" strike="noStrike">
                          <a:solidFill>
                            <a:schemeClr val="tx1"/>
                          </a:solidFill>
                          <a:effectLst/>
                          <a:latin typeface="+mn-lt"/>
                          <a:cs typeface="Times New Roman" panose="02020603050405020304" pitchFamily="18" charset="0"/>
                        </a:rPr>
                        <a:t>25/07/25</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n-lt"/>
                          <a:cs typeface="Times New Roman" panose="02020603050405020304" pitchFamily="18" charset="0"/>
                        </a:rPr>
                        <a:t>Thay A863 T9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T1/2026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20/09/25</a:t>
                      </a:r>
                    </a:p>
                  </a:txBody>
                  <a:tcPr marL="12700" marR="12700" marT="12700" marB="0" anchor="ctr"/>
                </a:tc>
                <a:tc>
                  <a:txBody>
                    <a:bodyPr/>
                    <a:lstStyle/>
                    <a:p>
                      <a:pPr algn="ctr" fontAlgn="ctr"/>
                      <a:r>
                        <a:rPr lang="en-US" sz="1200" b="0" i="0" u="none" strike="noStrike">
                          <a:solidFill>
                            <a:schemeClr val="tx1"/>
                          </a:solidFill>
                          <a:effectLst/>
                          <a:latin typeface="+mn-lt"/>
                          <a:cs typeface="Times New Roman" panose="02020603050405020304" pitchFamily="18" charset="0"/>
                        </a:rPr>
                        <a:t>Trả đ/c thuê A871</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21/11/25</a:t>
                      </a:r>
                    </a:p>
                  </a:txBody>
                  <a:tcPr marL="12700" marR="12700" marT="12700" marB="0" anchor="ctr"/>
                </a:tc>
                <a:tc>
                  <a:txBody>
                    <a:bodyPr/>
                    <a:lstStyle/>
                    <a:p>
                      <a:pPr algn="ctr" fontAlgn="ctr"/>
                      <a:r>
                        <a:rPr lang="en-US" sz="1200" b="0" i="0" u="none" strike="noStrike">
                          <a:solidFill>
                            <a:schemeClr val="tx1"/>
                          </a:solidFill>
                          <a:effectLst/>
                          <a:latin typeface="+mn-lt"/>
                          <a:cs typeface="Times New Roman" panose="02020603050405020304" pitchFamily="18" charset="0"/>
                        </a:rPr>
                        <a:t>Trả đ/c thuê A872</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32411">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15/05/2025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04/09/25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n-lt"/>
                          <a:cs typeface="Times New Roman" panose="02020603050405020304" pitchFamily="18" charset="0"/>
                        </a:rPr>
                        <a:t>Tháo đ/c 956600</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49697906"/>
                  </a:ext>
                </a:extLst>
              </a:tr>
              <a:tr h="232411">
                <a:tc>
                  <a:txBody>
                    <a:bodyPr/>
                    <a:lstStyle/>
                    <a:p>
                      <a:pPr algn="ctr" fontAlgn="ctr"/>
                      <a:r>
                        <a:rPr lang="en-US" sz="1200" b="0" i="0" u="none" strike="noStrike">
                          <a:solidFill>
                            <a:schemeClr val="tx1"/>
                          </a:solidFill>
                          <a:effectLst/>
                          <a:latin typeface="+mn-lt"/>
                          <a:cs typeface="Times New Roman" panose="02020603050405020304" pitchFamily="18" charset="0"/>
                        </a:rPr>
                        <a:t>958435</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18/06/2025</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a:t>
                      </a:r>
                      <a:r>
                        <a:rPr lang="en-US" sz="1200" b="0" u="none" strike="noStrike" baseline="0" dirty="0">
                          <a:solidFill>
                            <a:schemeClr val="tx1"/>
                          </a:solidFill>
                          <a:effectLst/>
                          <a:latin typeface="+mn-lt"/>
                          <a:cs typeface="Times New Roman" panose="02020603050405020304" pitchFamily="18" charset="0"/>
                        </a:rPr>
                        <a:t> </a:t>
                      </a:r>
                      <a:r>
                        <a:rPr lang="en-US" sz="1200" b="0" u="none" strike="noStrike" dirty="0">
                          <a:solidFill>
                            <a:schemeClr val="tx1"/>
                          </a:solidFill>
                          <a:effectLst/>
                          <a:latin typeface="+mn-lt"/>
                          <a:cs typeface="Times New Roman" panose="02020603050405020304" pitchFamily="18" charset="0"/>
                        </a:rPr>
                        <a:t>30/07/2025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u="none" strike="noStrike" dirty="0">
                          <a:solidFill>
                            <a:schemeClr val="tx1"/>
                          </a:solidFill>
                          <a:effectLst/>
                          <a:latin typeface="+mn-lt"/>
                          <a:cs typeface="Times New Roman" panose="02020603050405020304" pitchFamily="18" charset="0"/>
                        </a:rPr>
                        <a:t>12/12/25</a:t>
                      </a:r>
                    </a:p>
                  </a:txBody>
                  <a:tcPr marL="12700" marR="12700" marT="12700" marB="0" anchor="ctr"/>
                </a:tc>
                <a:tc>
                  <a:txBody>
                    <a:bodyPr/>
                    <a:lstStyle/>
                    <a:p>
                      <a:pPr algn="ctr" fontAlgn="ctr"/>
                      <a:r>
                        <a:rPr lang="en-US" sz="1200" b="0" i="0" u="none" strike="noStrike">
                          <a:solidFill>
                            <a:schemeClr val="tx1"/>
                          </a:solidFill>
                          <a:effectLst/>
                          <a:latin typeface="+mn-lt"/>
                          <a:cs typeface="Times New Roman" panose="02020603050405020304" pitchFamily="18" charset="0"/>
                        </a:rPr>
                        <a:t>Tháo đ/c 956374</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68071698"/>
                  </a:ext>
                </a:extLst>
              </a:tr>
              <a:tr h="232411">
                <a:tc>
                  <a:txBody>
                    <a:bodyPr/>
                    <a:lstStyle/>
                    <a:p>
                      <a:pPr algn="ctr" fontAlgn="ctr"/>
                      <a:r>
                        <a:rPr lang="en-US" sz="1200" b="0" i="0" u="none" strike="noStrike">
                          <a:solidFill>
                            <a:schemeClr val="tx1"/>
                          </a:solidFill>
                          <a:effectLst/>
                          <a:latin typeface="+mn-lt"/>
                          <a:cs typeface="Times New Roman" panose="02020603050405020304" pitchFamily="18" charset="0"/>
                        </a:rPr>
                        <a:t>958438</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mn-lt"/>
                          <a:cs typeface="Times New Roman" panose="02020603050405020304" pitchFamily="18" charset="0"/>
                        </a:rPr>
                        <a:t>SGN</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a:solidFill>
                            <a:schemeClr val="tx1"/>
                          </a:solidFill>
                          <a:effectLst/>
                          <a:latin typeface="+mn-lt"/>
                          <a:cs typeface="Times New Roman" panose="02020603050405020304" pitchFamily="18" charset="0"/>
                        </a:rPr>
                        <a:t>20/07/2025</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a:solidFill>
                            <a:schemeClr val="tx1"/>
                          </a:solidFill>
                          <a:effectLst/>
                          <a:latin typeface="+mn-lt"/>
                          <a:cs typeface="Times New Roman" panose="02020603050405020304" pitchFamily="18" charset="0"/>
                        </a:rPr>
                        <a:t>Induct</a:t>
                      </a:r>
                      <a:r>
                        <a:rPr lang="en-US" sz="1200" b="0" u="none" strike="noStrike" baseline="0">
                          <a:solidFill>
                            <a:schemeClr val="tx1"/>
                          </a:solidFill>
                          <a:effectLst/>
                          <a:latin typeface="+mn-lt"/>
                          <a:cs typeface="Times New Roman" panose="02020603050405020304" pitchFamily="18" charset="0"/>
                        </a:rPr>
                        <a:t> 18</a:t>
                      </a:r>
                      <a:r>
                        <a:rPr lang="en-US" sz="1200" b="0" u="none" strike="noStrike">
                          <a:solidFill>
                            <a:schemeClr val="tx1"/>
                          </a:solidFill>
                          <a:effectLst/>
                          <a:latin typeface="+mn-lt"/>
                          <a:cs typeface="Times New Roman" panose="02020603050405020304" pitchFamily="18" charset="0"/>
                        </a:rPr>
                        <a:t>/08/2025</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u="none" strike="noStrike">
                          <a:solidFill>
                            <a:schemeClr val="tx1"/>
                          </a:solidFill>
                          <a:effectLst/>
                          <a:latin typeface="+mn-lt"/>
                          <a:cs typeface="Times New Roman" panose="02020603050405020304" pitchFamily="18" charset="0"/>
                        </a:rPr>
                        <a:t>T1/2026</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612265"/>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A9D91912-17CF-433C-B165-5E5AB289CBE4}"/>
              </a:ext>
            </a:extLst>
          </p:cNvPr>
          <p:cNvGraphicFramePr>
            <a:graphicFrameLocks noGrp="1"/>
          </p:cNvGraphicFramePr>
          <p:nvPr/>
        </p:nvGraphicFramePr>
        <p:xfrm>
          <a:off x="6306496" y="4514854"/>
          <a:ext cx="5885504" cy="2286000"/>
        </p:xfrm>
        <a:graphic>
          <a:graphicData uri="http://schemas.openxmlformats.org/drawingml/2006/table">
            <a:tbl>
              <a:tblPr firstRow="1" bandRow="1">
                <a:tableStyleId>{93296810-A885-4BE3-A3E7-6D5BEEA58F35}</a:tableStyleId>
              </a:tblPr>
              <a:tblGrid>
                <a:gridCol w="459580">
                  <a:extLst>
                    <a:ext uri="{9D8B030D-6E8A-4147-A177-3AD203B41FA5}">
                      <a16:colId xmlns:a16="http://schemas.microsoft.com/office/drawing/2014/main" val="3292621586"/>
                    </a:ext>
                  </a:extLst>
                </a:gridCol>
                <a:gridCol w="919160">
                  <a:extLst>
                    <a:ext uri="{9D8B030D-6E8A-4147-A177-3AD203B41FA5}">
                      <a16:colId xmlns:a16="http://schemas.microsoft.com/office/drawing/2014/main" val="3587079032"/>
                    </a:ext>
                  </a:extLst>
                </a:gridCol>
                <a:gridCol w="612773">
                  <a:extLst>
                    <a:ext uri="{9D8B030D-6E8A-4147-A177-3AD203B41FA5}">
                      <a16:colId xmlns:a16="http://schemas.microsoft.com/office/drawing/2014/main" val="3691161886"/>
                    </a:ext>
                  </a:extLst>
                </a:gridCol>
                <a:gridCol w="1225547">
                  <a:extLst>
                    <a:ext uri="{9D8B030D-6E8A-4147-A177-3AD203B41FA5}">
                      <a16:colId xmlns:a16="http://schemas.microsoft.com/office/drawing/2014/main" val="1199058238"/>
                    </a:ext>
                  </a:extLst>
                </a:gridCol>
                <a:gridCol w="2668444">
                  <a:extLst>
                    <a:ext uri="{9D8B030D-6E8A-4147-A177-3AD203B41FA5}">
                      <a16:colId xmlns:a16="http://schemas.microsoft.com/office/drawing/2014/main" val="2279892850"/>
                    </a:ext>
                  </a:extLst>
                </a:gridCol>
              </a:tblGrid>
              <a:tr h="228600">
                <a:tc>
                  <a:txBody>
                    <a:bodyPr/>
                    <a:lstStyle/>
                    <a:p>
                      <a:endParaRPr lang="en-US" sz="1200" dirty="0"/>
                    </a:p>
                  </a:txBody>
                  <a:tcPr/>
                </a:tc>
                <a:tc>
                  <a:txBody>
                    <a:bodyPr/>
                    <a:lstStyle/>
                    <a:p>
                      <a:r>
                        <a:rPr lang="en-US" sz="1200"/>
                        <a:t>ESN</a:t>
                      </a:r>
                    </a:p>
                  </a:txBody>
                  <a:tcPr/>
                </a:tc>
                <a:tc>
                  <a:txBody>
                    <a:bodyPr/>
                    <a:lstStyle/>
                    <a:p>
                      <a:r>
                        <a:rPr lang="en-US" sz="1200"/>
                        <a:t>AC</a:t>
                      </a:r>
                    </a:p>
                  </a:txBody>
                  <a:tcPr/>
                </a:tc>
                <a:tc>
                  <a:txBody>
                    <a:bodyPr/>
                    <a:lstStyle/>
                    <a:p>
                      <a:r>
                        <a:rPr lang="en-US" sz="1200"/>
                        <a:t>Interval</a:t>
                      </a:r>
                    </a:p>
                  </a:txBody>
                  <a:tcPr/>
                </a:tc>
                <a:tc>
                  <a:txBody>
                    <a:bodyPr/>
                    <a:lstStyle/>
                    <a:p>
                      <a:r>
                        <a:rPr lang="en-US" sz="1200"/>
                        <a:t>Remark</a:t>
                      </a:r>
                    </a:p>
                  </a:txBody>
                  <a:tcPr/>
                </a:tc>
                <a:extLst>
                  <a:ext uri="{0D108BD9-81ED-4DB2-BD59-A6C34878D82A}">
                    <a16:rowId xmlns:a16="http://schemas.microsoft.com/office/drawing/2014/main" val="2389571425"/>
                  </a:ext>
                </a:extLst>
              </a:tr>
              <a:tr h="533401">
                <a:tc>
                  <a:txBody>
                    <a:bodyPr/>
                    <a:lstStyle/>
                    <a:p>
                      <a:r>
                        <a:rPr lang="en-US" sz="1200"/>
                        <a:t>1</a:t>
                      </a:r>
                    </a:p>
                  </a:txBody>
                  <a:tcPr/>
                </a:tc>
                <a:tc>
                  <a:txBody>
                    <a:bodyPr/>
                    <a:lstStyle/>
                    <a:p>
                      <a:r>
                        <a:rPr lang="en-US" sz="1200" dirty="0"/>
                        <a:t>958170</a:t>
                      </a:r>
                    </a:p>
                  </a:txBody>
                  <a:tcPr/>
                </a:tc>
                <a:tc>
                  <a:txBody>
                    <a:bodyPr/>
                    <a:lstStyle/>
                    <a:p>
                      <a:r>
                        <a:rPr lang="en-US" sz="1200"/>
                        <a:t>A863</a:t>
                      </a:r>
                    </a:p>
                  </a:txBody>
                  <a:tcPr/>
                </a:tc>
                <a:tc>
                  <a:txBody>
                    <a:bodyPr/>
                    <a:lstStyle/>
                    <a:p>
                      <a:r>
                        <a:rPr lang="en-US" sz="1200"/>
                        <a:t>50FC</a:t>
                      </a:r>
                    </a:p>
                  </a:txBody>
                  <a:tcPr/>
                </a:tc>
                <a:tc>
                  <a:txBody>
                    <a:bodyPr/>
                    <a:lstStyle/>
                    <a:p>
                      <a:r>
                        <a:rPr lang="en-US" sz="1200" dirty="0" err="1"/>
                        <a:t>Động</a:t>
                      </a:r>
                      <a:r>
                        <a:rPr lang="en-US" sz="1200" baseline="0" dirty="0"/>
                        <a:t> </a:t>
                      </a:r>
                      <a:r>
                        <a:rPr lang="en-US" sz="1200" baseline="0" dirty="0" err="1"/>
                        <a:t>cơ</a:t>
                      </a:r>
                      <a:r>
                        <a:rPr lang="en-US" sz="1200" baseline="0" dirty="0"/>
                        <a:t> </a:t>
                      </a:r>
                      <a:r>
                        <a:rPr lang="en-US" sz="1200" baseline="0" dirty="0" err="1"/>
                        <a:t>đã</a:t>
                      </a:r>
                      <a:r>
                        <a:rPr lang="en-US" sz="1200" baseline="0" dirty="0"/>
                        <a:t> </a:t>
                      </a:r>
                      <a:r>
                        <a:rPr lang="en-US" sz="1200" baseline="0" dirty="0" err="1"/>
                        <a:t>soi</a:t>
                      </a:r>
                      <a:r>
                        <a:rPr lang="en-US" sz="1200" baseline="0" dirty="0"/>
                        <a:t> </a:t>
                      </a:r>
                      <a:r>
                        <a:rPr lang="en-US" sz="1200" baseline="0" dirty="0" err="1"/>
                        <a:t>và</a:t>
                      </a:r>
                      <a:r>
                        <a:rPr lang="en-US" sz="1200" baseline="0" dirty="0"/>
                        <a:t> </a:t>
                      </a:r>
                      <a:r>
                        <a:rPr lang="en-US" sz="1200" baseline="0" dirty="0" err="1"/>
                        <a:t>được</a:t>
                      </a:r>
                      <a:r>
                        <a:rPr lang="en-US" sz="1200" baseline="0" dirty="0"/>
                        <a:t> </a:t>
                      </a:r>
                      <a:r>
                        <a:rPr lang="en-US" sz="1200" baseline="0" dirty="0" err="1"/>
                        <a:t>cấp</a:t>
                      </a:r>
                      <a:r>
                        <a:rPr lang="en-US" sz="1200" baseline="0" dirty="0"/>
                        <a:t> DR </a:t>
                      </a:r>
                      <a:r>
                        <a:rPr lang="en-US" sz="1200" baseline="0" dirty="0" err="1"/>
                        <a:t>thêm</a:t>
                      </a:r>
                      <a:r>
                        <a:rPr lang="en-US" sz="1200" baseline="0" dirty="0"/>
                        <a:t> 50FC</a:t>
                      </a:r>
                      <a:r>
                        <a:rPr lang="en-US" sz="1200" baseline="0"/>
                        <a:t>. Dự kiến thay cuối T8 khi xếp đ</a:t>
                      </a:r>
                      <a:r>
                        <a:rPr lang="vi-VN" sz="1200" baseline="0"/>
                        <a:t>ư</a:t>
                      </a:r>
                      <a:r>
                        <a:rPr lang="en-US" sz="1200" baseline="0"/>
                        <a:t>ợc lịch. </a:t>
                      </a:r>
                      <a:endParaRPr lang="en-US" sz="1200" dirty="0"/>
                    </a:p>
                  </a:txBody>
                  <a:tcPr/>
                </a:tc>
                <a:extLst>
                  <a:ext uri="{0D108BD9-81ED-4DB2-BD59-A6C34878D82A}">
                    <a16:rowId xmlns:a16="http://schemas.microsoft.com/office/drawing/2014/main" val="3899119871"/>
                  </a:ext>
                </a:extLst>
              </a:tr>
              <a:tr h="228600">
                <a:tc>
                  <a:txBody>
                    <a:bodyPr/>
                    <a:lstStyle/>
                    <a:p>
                      <a:r>
                        <a:rPr lang="en-US" sz="1200"/>
                        <a:t>2</a:t>
                      </a:r>
                    </a:p>
                  </a:txBody>
                  <a:tcPr/>
                </a:tc>
                <a:tc>
                  <a:txBody>
                    <a:bodyPr/>
                    <a:lstStyle/>
                    <a:p>
                      <a:r>
                        <a:rPr lang="en-US" sz="1200"/>
                        <a:t>958266</a:t>
                      </a:r>
                    </a:p>
                  </a:txBody>
                  <a:tcPr/>
                </a:tc>
                <a:tc>
                  <a:txBody>
                    <a:bodyPr/>
                    <a:lstStyle/>
                    <a:p>
                      <a:r>
                        <a:rPr lang="en-US" sz="1200"/>
                        <a:t>A874</a:t>
                      </a:r>
                    </a:p>
                  </a:txBody>
                  <a:tcPr/>
                </a:tc>
                <a:tc>
                  <a:txBody>
                    <a:bodyPr/>
                    <a:lstStyle/>
                    <a:p>
                      <a:r>
                        <a:rPr lang="en-US" sz="1200"/>
                        <a:t>100FC</a:t>
                      </a:r>
                    </a:p>
                  </a:txBody>
                  <a:tcPr/>
                </a:tc>
                <a:tc>
                  <a:txBody>
                    <a:bodyPr/>
                    <a:lstStyle/>
                    <a:p>
                      <a:r>
                        <a:rPr lang="en-US" sz="1200" dirty="0"/>
                        <a:t>Thay </a:t>
                      </a:r>
                      <a:r>
                        <a:rPr lang="en-US" sz="1200" dirty="0" err="1"/>
                        <a:t>giữa</a:t>
                      </a:r>
                      <a:r>
                        <a:rPr lang="en-US" sz="1200" dirty="0"/>
                        <a:t> </a:t>
                      </a:r>
                      <a:r>
                        <a:rPr lang="en-US" sz="1200"/>
                        <a:t>T8 để trả động c</a:t>
                      </a:r>
                      <a:r>
                        <a:rPr lang="vi-VN" sz="1200"/>
                        <a:t>ơ</a:t>
                      </a:r>
                      <a:endParaRPr lang="en-US" sz="1200" dirty="0"/>
                    </a:p>
                  </a:txBody>
                  <a:tcPr/>
                </a:tc>
                <a:extLst>
                  <a:ext uri="{0D108BD9-81ED-4DB2-BD59-A6C34878D82A}">
                    <a16:rowId xmlns:a16="http://schemas.microsoft.com/office/drawing/2014/main" val="3244585303"/>
                  </a:ext>
                </a:extLst>
              </a:tr>
              <a:tr h="228600">
                <a:tc>
                  <a:txBody>
                    <a:bodyPr/>
                    <a:lstStyle/>
                    <a:p>
                      <a:r>
                        <a:rPr lang="en-US" sz="1200"/>
                        <a:t>3</a:t>
                      </a:r>
                    </a:p>
                  </a:txBody>
                  <a:tcPr/>
                </a:tc>
                <a:tc>
                  <a:txBody>
                    <a:bodyPr/>
                    <a:lstStyle/>
                    <a:p>
                      <a:r>
                        <a:rPr lang="en-US" sz="1200"/>
                        <a:t>956600</a:t>
                      </a:r>
                    </a:p>
                  </a:txBody>
                  <a:tcPr/>
                </a:tc>
                <a:tc>
                  <a:txBody>
                    <a:bodyPr/>
                    <a:lstStyle/>
                    <a:p>
                      <a:r>
                        <a:rPr lang="en-US" sz="1200"/>
                        <a:t>A862</a:t>
                      </a:r>
                    </a:p>
                  </a:txBody>
                  <a:tcPr/>
                </a:tc>
                <a:tc>
                  <a:txBody>
                    <a:bodyPr/>
                    <a:lstStyle/>
                    <a:p>
                      <a:r>
                        <a:rPr lang="en-US" sz="1200"/>
                        <a:t>100FC</a:t>
                      </a:r>
                    </a:p>
                  </a:txBody>
                  <a:tcPr/>
                </a:tc>
                <a:tc>
                  <a:txBody>
                    <a:bodyPr/>
                    <a:lstStyle/>
                    <a:p>
                      <a:r>
                        <a:rPr lang="en-US" sz="1200" dirty="0" err="1"/>
                        <a:t>Có</a:t>
                      </a:r>
                      <a:r>
                        <a:rPr lang="en-US" sz="1200" baseline="0" dirty="0"/>
                        <a:t> spare </a:t>
                      </a:r>
                      <a:r>
                        <a:rPr lang="en-US" sz="1200" baseline="0" dirty="0" err="1"/>
                        <a:t>về</a:t>
                      </a:r>
                      <a:r>
                        <a:rPr lang="en-US" sz="1200" baseline="0" dirty="0"/>
                        <a:t> </a:t>
                      </a:r>
                      <a:r>
                        <a:rPr lang="en-US" sz="1200" baseline="0" dirty="0" err="1"/>
                        <a:t>trong</a:t>
                      </a:r>
                      <a:r>
                        <a:rPr lang="en-US" sz="1200" baseline="0" dirty="0"/>
                        <a:t> T9</a:t>
                      </a:r>
                      <a:endParaRPr lang="en-US" sz="1200" dirty="0"/>
                    </a:p>
                  </a:txBody>
                  <a:tcPr/>
                </a:tc>
                <a:extLst>
                  <a:ext uri="{0D108BD9-81ED-4DB2-BD59-A6C34878D82A}">
                    <a16:rowId xmlns:a16="http://schemas.microsoft.com/office/drawing/2014/main" val="2820853633"/>
                  </a:ext>
                </a:extLst>
              </a:tr>
              <a:tr h="0">
                <a:tc>
                  <a:txBody>
                    <a:bodyPr/>
                    <a:lstStyle/>
                    <a:p>
                      <a:r>
                        <a:rPr lang="en-US" sz="1200"/>
                        <a:t>4</a:t>
                      </a:r>
                    </a:p>
                  </a:txBody>
                  <a:tcPr/>
                </a:tc>
                <a:tc>
                  <a:txBody>
                    <a:bodyPr/>
                    <a:lstStyle/>
                    <a:p>
                      <a:r>
                        <a:rPr lang="en-US" sz="1200"/>
                        <a:t>956639</a:t>
                      </a:r>
                    </a:p>
                  </a:txBody>
                  <a:tcPr/>
                </a:tc>
                <a:tc>
                  <a:txBody>
                    <a:bodyPr/>
                    <a:lstStyle/>
                    <a:p>
                      <a:r>
                        <a:rPr lang="en-US" sz="1200"/>
                        <a:t>A865</a:t>
                      </a:r>
                    </a:p>
                  </a:txBody>
                  <a:tcPr/>
                </a:tc>
                <a:tc>
                  <a:txBody>
                    <a:bodyPr/>
                    <a:lstStyle/>
                    <a:p>
                      <a:r>
                        <a:rPr lang="en-US" sz="1200"/>
                        <a:t>250FC</a:t>
                      </a:r>
                    </a:p>
                  </a:txBody>
                  <a:tcPr/>
                </a:tc>
                <a:tc>
                  <a:txBody>
                    <a:bodyPr/>
                    <a:lstStyle/>
                    <a:p>
                      <a:r>
                        <a:rPr lang="en-US" sz="1200"/>
                        <a:t>TBD, phụ thuộc tình trạng soi và spare</a:t>
                      </a:r>
                      <a:endParaRPr lang="en-US" sz="1200" dirty="0"/>
                    </a:p>
                  </a:txBody>
                  <a:tcPr/>
                </a:tc>
                <a:extLst>
                  <a:ext uri="{0D108BD9-81ED-4DB2-BD59-A6C34878D82A}">
                    <a16:rowId xmlns:a16="http://schemas.microsoft.com/office/drawing/2014/main" val="3676968406"/>
                  </a:ext>
                </a:extLst>
              </a:tr>
              <a:tr h="228600">
                <a:tc>
                  <a:txBody>
                    <a:bodyPr/>
                    <a:lstStyle/>
                    <a:p>
                      <a:r>
                        <a:rPr lang="en-US" sz="1200"/>
                        <a:t>5</a:t>
                      </a:r>
                    </a:p>
                  </a:txBody>
                  <a:tcPr/>
                </a:tc>
                <a:tc>
                  <a:txBody>
                    <a:bodyPr/>
                    <a:lstStyle/>
                    <a:p>
                      <a:r>
                        <a:rPr lang="en-US" sz="1200" dirty="0"/>
                        <a:t>958374</a:t>
                      </a:r>
                    </a:p>
                  </a:txBody>
                  <a:tcPr/>
                </a:tc>
                <a:tc>
                  <a:txBody>
                    <a:bodyPr/>
                    <a:lstStyle/>
                    <a:p>
                      <a:r>
                        <a:rPr lang="en-US" sz="1200" dirty="0"/>
                        <a:t>A861</a:t>
                      </a:r>
                    </a:p>
                  </a:txBody>
                  <a:tcPr/>
                </a:tc>
                <a:tc>
                  <a:txBody>
                    <a:bodyPr/>
                    <a:lstStyle/>
                    <a:p>
                      <a:r>
                        <a:rPr lang="en-US" sz="1200" dirty="0"/>
                        <a:t>250FC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mbria"/>
                          <a:ea typeface="+mn-ea"/>
                          <a:cs typeface="+mn-cs"/>
                        </a:rPr>
                        <a:t>TBD, phụ thuộc tình trạng soi và spare</a:t>
                      </a:r>
                      <a:endParaRPr kumimoji="0" lang="en-US" sz="1200" b="0" i="0" u="none" strike="noStrike" kern="1200" cap="none" spc="0" normalizeH="0" baseline="0" noProof="0" dirty="0">
                        <a:ln>
                          <a:noFill/>
                        </a:ln>
                        <a:solidFill>
                          <a:prstClr val="black"/>
                        </a:solidFill>
                        <a:effectLst/>
                        <a:uLnTx/>
                        <a:uFillTx/>
                        <a:latin typeface="Cambria"/>
                        <a:ea typeface="+mn-ea"/>
                        <a:cs typeface="+mn-cs"/>
                      </a:endParaRPr>
                    </a:p>
                  </a:txBody>
                  <a:tcPr/>
                </a:tc>
                <a:extLst>
                  <a:ext uri="{0D108BD9-81ED-4DB2-BD59-A6C34878D82A}">
                    <a16:rowId xmlns:a16="http://schemas.microsoft.com/office/drawing/2014/main" val="1805137390"/>
                  </a:ext>
                </a:extLst>
              </a:tr>
              <a:tr h="228600">
                <a:tc>
                  <a:txBody>
                    <a:bodyPr/>
                    <a:lstStyle/>
                    <a:p>
                      <a:r>
                        <a:rPr lang="en-US" sz="1200"/>
                        <a:t>6</a:t>
                      </a:r>
                    </a:p>
                  </a:txBody>
                  <a:tcPr/>
                </a:tc>
                <a:tc>
                  <a:txBody>
                    <a:bodyPr/>
                    <a:lstStyle/>
                    <a:p>
                      <a:r>
                        <a:rPr lang="en-US" sz="1200" dirty="0"/>
                        <a:t>956555</a:t>
                      </a:r>
                    </a:p>
                  </a:txBody>
                  <a:tcPr/>
                </a:tc>
                <a:tc>
                  <a:txBody>
                    <a:bodyPr/>
                    <a:lstStyle/>
                    <a:p>
                      <a:r>
                        <a:rPr lang="en-US" sz="1200" dirty="0"/>
                        <a:t>A862</a:t>
                      </a:r>
                    </a:p>
                  </a:txBody>
                  <a:tcPr/>
                </a:tc>
                <a:tc>
                  <a:txBody>
                    <a:bodyPr/>
                    <a:lstStyle/>
                    <a:p>
                      <a:r>
                        <a:rPr lang="en-US" sz="1200" dirty="0"/>
                        <a:t>250FC</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mbria"/>
                          <a:ea typeface="+mn-ea"/>
                          <a:cs typeface="+mn-cs"/>
                        </a:rPr>
                        <a:t>TBD, phụ thuộc tình trạng soi và spare</a:t>
                      </a:r>
                      <a:endParaRPr kumimoji="0" lang="en-US" sz="1200" b="0" i="0" u="none" strike="noStrike" kern="1200" cap="none" spc="0" normalizeH="0" baseline="0" noProof="0" dirty="0">
                        <a:ln>
                          <a:noFill/>
                        </a:ln>
                        <a:solidFill>
                          <a:prstClr val="black"/>
                        </a:solidFill>
                        <a:effectLst/>
                        <a:uLnTx/>
                        <a:uFillTx/>
                        <a:latin typeface="Cambria"/>
                        <a:ea typeface="+mn-ea"/>
                        <a:cs typeface="+mn-cs"/>
                      </a:endParaRPr>
                    </a:p>
                  </a:txBody>
                  <a:tcPr/>
                </a:tc>
                <a:extLst>
                  <a:ext uri="{0D108BD9-81ED-4DB2-BD59-A6C34878D82A}">
                    <a16:rowId xmlns:a16="http://schemas.microsoft.com/office/drawing/2014/main" val="1886295833"/>
                  </a:ext>
                </a:extLst>
              </a:tr>
            </a:tbl>
          </a:graphicData>
        </a:graphic>
      </p:graphicFrame>
      <p:graphicFrame>
        <p:nvGraphicFramePr>
          <p:cNvPr id="9" name="Table 8">
            <a:extLst>
              <a:ext uri="{FF2B5EF4-FFF2-40B4-BE49-F238E27FC236}">
                <a16:creationId xmlns:a16="http://schemas.microsoft.com/office/drawing/2014/main" id="{483CB24C-784B-49EB-9EDF-12ACC4AD5110}"/>
              </a:ext>
            </a:extLst>
          </p:cNvPr>
          <p:cNvGraphicFramePr>
            <a:graphicFrameLocks noGrp="1"/>
          </p:cNvGraphicFramePr>
          <p:nvPr/>
        </p:nvGraphicFramePr>
        <p:xfrm>
          <a:off x="64957" y="4969745"/>
          <a:ext cx="6054135" cy="1772676"/>
        </p:xfrm>
        <a:graphic>
          <a:graphicData uri="http://schemas.openxmlformats.org/drawingml/2006/table">
            <a:tbl>
              <a:tblPr firstRow="1" bandRow="1">
                <a:tableStyleId>{21E4AEA4-8DFA-4A89-87EB-49C32662AFE0}</a:tableStyleId>
              </a:tblPr>
              <a:tblGrid>
                <a:gridCol w="766453">
                  <a:extLst>
                    <a:ext uri="{9D8B030D-6E8A-4147-A177-3AD203B41FA5}">
                      <a16:colId xmlns:a16="http://schemas.microsoft.com/office/drawing/2014/main" val="3587079032"/>
                    </a:ext>
                  </a:extLst>
                </a:gridCol>
                <a:gridCol w="742954">
                  <a:extLst>
                    <a:ext uri="{9D8B030D-6E8A-4147-A177-3AD203B41FA5}">
                      <a16:colId xmlns:a16="http://schemas.microsoft.com/office/drawing/2014/main" val="3691161886"/>
                    </a:ext>
                  </a:extLst>
                </a:gridCol>
                <a:gridCol w="4544728">
                  <a:extLst>
                    <a:ext uri="{9D8B030D-6E8A-4147-A177-3AD203B41FA5}">
                      <a16:colId xmlns:a16="http://schemas.microsoft.com/office/drawing/2014/main" val="1199058238"/>
                    </a:ext>
                  </a:extLst>
                </a:gridCol>
              </a:tblGrid>
              <a:tr h="295446">
                <a:tc>
                  <a:txBody>
                    <a:bodyPr/>
                    <a:lstStyle/>
                    <a:p>
                      <a:pPr algn="ctr"/>
                      <a:r>
                        <a:rPr lang="en-US" sz="1200"/>
                        <a:t>ESN</a:t>
                      </a:r>
                    </a:p>
                  </a:txBody>
                  <a:tcPr/>
                </a:tc>
                <a:tc>
                  <a:txBody>
                    <a:bodyPr/>
                    <a:lstStyle/>
                    <a:p>
                      <a:pPr algn="ctr"/>
                      <a:r>
                        <a:rPr lang="en-US" sz="1200"/>
                        <a:t>AC</a:t>
                      </a:r>
                    </a:p>
                  </a:txBody>
                  <a:tcPr/>
                </a:tc>
                <a:tc>
                  <a:txBody>
                    <a:bodyPr/>
                    <a:lstStyle/>
                    <a:p>
                      <a:pPr algn="ctr"/>
                      <a:r>
                        <a:rPr lang="en-US" sz="1200"/>
                        <a:t>Kế hoạch thay động c</a:t>
                      </a:r>
                      <a:r>
                        <a:rPr lang="vi-VN" sz="1200"/>
                        <a:t>ơ</a:t>
                      </a:r>
                      <a:r>
                        <a:rPr lang="en-US" sz="1200"/>
                        <a:t> sắp tới</a:t>
                      </a:r>
                    </a:p>
                  </a:txBody>
                  <a:tcPr/>
                </a:tc>
                <a:extLst>
                  <a:ext uri="{0D108BD9-81ED-4DB2-BD59-A6C34878D82A}">
                    <a16:rowId xmlns:a16="http://schemas.microsoft.com/office/drawing/2014/main" val="2389571425"/>
                  </a:ext>
                </a:extLst>
              </a:tr>
              <a:tr h="295446">
                <a:tc>
                  <a:txBody>
                    <a:bodyPr/>
                    <a:lstStyle/>
                    <a:p>
                      <a:r>
                        <a:rPr lang="en-US" sz="1200"/>
                        <a:t>958266</a:t>
                      </a:r>
                      <a:endParaRPr lang="en-US" sz="1200" dirty="0"/>
                    </a:p>
                  </a:txBody>
                  <a:tcPr/>
                </a:tc>
                <a:tc>
                  <a:txBody>
                    <a:bodyPr/>
                    <a:lstStyle/>
                    <a:p>
                      <a:r>
                        <a:rPr lang="en-US" sz="1200"/>
                        <a:t>A874</a:t>
                      </a:r>
                    </a:p>
                  </a:txBody>
                  <a:tcPr/>
                </a:tc>
                <a:tc>
                  <a:txBody>
                    <a:bodyPr/>
                    <a:lstStyle/>
                    <a:p>
                      <a:r>
                        <a:rPr lang="en-US" sz="1200"/>
                        <a:t>17/08. Thay bằng động c</a:t>
                      </a:r>
                      <a:r>
                        <a:rPr lang="vi-VN" sz="1200"/>
                        <a:t>ơ</a:t>
                      </a:r>
                      <a:r>
                        <a:rPr lang="en-US" sz="1200"/>
                        <a:t> 956677 của Aercap để trả động c</a:t>
                      </a:r>
                      <a:r>
                        <a:rPr lang="vi-VN" sz="1200"/>
                        <a:t>ơ</a:t>
                      </a:r>
                      <a:r>
                        <a:rPr lang="en-US" sz="1200"/>
                        <a:t> thuê</a:t>
                      </a:r>
                    </a:p>
                  </a:txBody>
                  <a:tcPr/>
                </a:tc>
                <a:extLst>
                  <a:ext uri="{0D108BD9-81ED-4DB2-BD59-A6C34878D82A}">
                    <a16:rowId xmlns:a16="http://schemas.microsoft.com/office/drawing/2014/main" val="3899119871"/>
                  </a:ext>
                </a:extLst>
              </a:tr>
              <a:tr h="295446">
                <a:tc>
                  <a:txBody>
                    <a:bodyPr/>
                    <a:lstStyle/>
                    <a:p>
                      <a:r>
                        <a:rPr lang="en-US" sz="1200"/>
                        <a:t>958170</a:t>
                      </a:r>
                    </a:p>
                  </a:txBody>
                  <a:tcPr/>
                </a:tc>
                <a:tc>
                  <a:txBody>
                    <a:bodyPr/>
                    <a:lstStyle/>
                    <a:p>
                      <a:r>
                        <a:rPr lang="en-US" sz="1200"/>
                        <a:t>A863</a:t>
                      </a:r>
                    </a:p>
                  </a:txBody>
                  <a:tcPr/>
                </a:tc>
                <a:tc>
                  <a:txBody>
                    <a:bodyPr/>
                    <a:lstStyle/>
                    <a:p>
                      <a:r>
                        <a:rPr lang="en-US" sz="1200"/>
                        <a:t>Cuối T8. Thay bằng động c</a:t>
                      </a:r>
                      <a:r>
                        <a:rPr lang="vi-VN" sz="1200"/>
                        <a:t>ơ</a:t>
                      </a:r>
                      <a:r>
                        <a:rPr lang="en-US" sz="1200"/>
                        <a:t> 956599 dự kiến về cuối T7</a:t>
                      </a:r>
                    </a:p>
                  </a:txBody>
                  <a:tcPr/>
                </a:tc>
                <a:extLst>
                  <a:ext uri="{0D108BD9-81ED-4DB2-BD59-A6C34878D82A}">
                    <a16:rowId xmlns:a16="http://schemas.microsoft.com/office/drawing/2014/main" val="3244585303"/>
                  </a:ext>
                </a:extLst>
              </a:tr>
              <a:tr h="295446">
                <a:tc>
                  <a:txBody>
                    <a:bodyPr/>
                    <a:lstStyle/>
                    <a:p>
                      <a:r>
                        <a:rPr lang="en-US" sz="1200"/>
                        <a:t>956600</a:t>
                      </a:r>
                    </a:p>
                  </a:txBody>
                  <a:tcPr/>
                </a:tc>
                <a:tc>
                  <a:txBody>
                    <a:bodyPr/>
                    <a:lstStyle/>
                    <a:p>
                      <a:r>
                        <a:rPr lang="en-US" sz="1200"/>
                        <a:t>A862</a:t>
                      </a:r>
                    </a:p>
                  </a:txBody>
                  <a:tcPr/>
                </a:tc>
                <a:tc>
                  <a:txBody>
                    <a:bodyPr/>
                    <a:lstStyle/>
                    <a:p>
                      <a:r>
                        <a:rPr lang="en-US" sz="1200"/>
                        <a:t>Cuối T9: Thay bằng spare 958395 đi shop về (induct T10-T11)</a:t>
                      </a:r>
                    </a:p>
                  </a:txBody>
                  <a:tcPr/>
                </a:tc>
                <a:extLst>
                  <a:ext uri="{0D108BD9-81ED-4DB2-BD59-A6C34878D82A}">
                    <a16:rowId xmlns:a16="http://schemas.microsoft.com/office/drawing/2014/main" val="2820853633"/>
                  </a:ext>
                </a:extLst>
              </a:tr>
              <a:tr h="295446">
                <a:tc>
                  <a:txBody>
                    <a:bodyPr/>
                    <a:lstStyle/>
                    <a:p>
                      <a:r>
                        <a:rPr lang="en-US" sz="1200"/>
                        <a:t>956626</a:t>
                      </a:r>
                    </a:p>
                  </a:txBody>
                  <a:tcPr/>
                </a:tc>
                <a:tc>
                  <a:txBody>
                    <a:bodyPr/>
                    <a:lstStyle/>
                    <a:p>
                      <a:r>
                        <a:rPr lang="en-US" sz="1200"/>
                        <a:t>A871</a:t>
                      </a:r>
                    </a:p>
                  </a:txBody>
                  <a:tcPr/>
                </a:tc>
                <a:tc>
                  <a:txBody>
                    <a:bodyPr/>
                    <a:lstStyle/>
                    <a:p>
                      <a:r>
                        <a:rPr lang="en-US" sz="1200"/>
                        <a:t>Giữa T10: trả động c</a:t>
                      </a:r>
                      <a:r>
                        <a:rPr lang="vi-VN" sz="1200"/>
                        <a:t>ơ</a:t>
                      </a:r>
                      <a:r>
                        <a:rPr lang="en-US" sz="1200"/>
                        <a:t> thuê, thay bằng 956947</a:t>
                      </a:r>
                    </a:p>
                  </a:txBody>
                  <a:tcPr/>
                </a:tc>
                <a:extLst>
                  <a:ext uri="{0D108BD9-81ED-4DB2-BD59-A6C34878D82A}">
                    <a16:rowId xmlns:a16="http://schemas.microsoft.com/office/drawing/2014/main" val="3676968406"/>
                  </a:ext>
                </a:extLst>
              </a:tr>
              <a:tr h="295446">
                <a:tc>
                  <a:txBody>
                    <a:bodyPr/>
                    <a:lstStyle/>
                    <a:p>
                      <a:r>
                        <a:rPr lang="en-US" sz="1200"/>
                        <a:t>956933</a:t>
                      </a:r>
                      <a:endParaRPr lang="en-US" sz="1200" dirty="0"/>
                    </a:p>
                  </a:txBody>
                  <a:tcPr/>
                </a:tc>
                <a:tc>
                  <a:txBody>
                    <a:bodyPr/>
                    <a:lstStyle/>
                    <a:p>
                      <a:r>
                        <a:rPr lang="en-US" sz="1200"/>
                        <a:t>A872</a:t>
                      </a:r>
                      <a:endParaRPr lang="en-US" sz="1200" dirty="0"/>
                    </a:p>
                  </a:txBody>
                  <a:tcPr/>
                </a:tc>
                <a:tc>
                  <a:txBody>
                    <a:bodyPr/>
                    <a:lstStyle/>
                    <a:p>
                      <a:r>
                        <a:rPr lang="en-US" sz="1200"/>
                        <a:t>Giữa T11: trả động c</a:t>
                      </a:r>
                      <a:r>
                        <a:rPr lang="vi-VN" sz="1200"/>
                        <a:t>ơ</a:t>
                      </a:r>
                      <a:r>
                        <a:rPr lang="en-US" sz="1200"/>
                        <a:t> thuê, thay bằng 956534</a:t>
                      </a:r>
                      <a:endParaRPr lang="en-US" sz="1200" dirty="0"/>
                    </a:p>
                  </a:txBody>
                  <a:tcPr/>
                </a:tc>
                <a:extLst>
                  <a:ext uri="{0D108BD9-81ED-4DB2-BD59-A6C34878D82A}">
                    <a16:rowId xmlns:a16="http://schemas.microsoft.com/office/drawing/2014/main" val="1805137390"/>
                  </a:ext>
                </a:extLst>
              </a:tr>
            </a:tbl>
          </a:graphicData>
        </a:graphic>
      </p:graphicFrame>
    </p:spTree>
    <p:extLst>
      <p:ext uri="{BB962C8B-B14F-4D97-AF65-F5344CB8AC3E}">
        <p14:creationId xmlns:p14="http://schemas.microsoft.com/office/powerpoint/2010/main" val="3839911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A350</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151306" y="707662"/>
          <a:ext cx="5765456" cy="3064965"/>
        </p:xfrm>
        <a:graphic>
          <a:graphicData uri="http://schemas.openxmlformats.org/drawingml/2006/table">
            <a:tbl>
              <a:tblPr firstRow="1" bandRow="1">
                <a:tableStyleId>{5C22544A-7EE6-4342-B048-85BDC9FD1C3A}</a:tableStyleId>
              </a:tblPr>
              <a:tblGrid>
                <a:gridCol w="657752">
                  <a:extLst>
                    <a:ext uri="{9D8B030D-6E8A-4147-A177-3AD203B41FA5}">
                      <a16:colId xmlns:a16="http://schemas.microsoft.com/office/drawing/2014/main" val="1930757539"/>
                    </a:ext>
                  </a:extLst>
                </a:gridCol>
                <a:gridCol w="656705">
                  <a:extLst>
                    <a:ext uri="{9D8B030D-6E8A-4147-A177-3AD203B41FA5}">
                      <a16:colId xmlns:a16="http://schemas.microsoft.com/office/drawing/2014/main" val="1674463010"/>
                    </a:ext>
                  </a:extLst>
                </a:gridCol>
                <a:gridCol w="591637">
                  <a:extLst>
                    <a:ext uri="{9D8B030D-6E8A-4147-A177-3AD203B41FA5}">
                      <a16:colId xmlns:a16="http://schemas.microsoft.com/office/drawing/2014/main" val="1549944897"/>
                    </a:ext>
                  </a:extLst>
                </a:gridCol>
                <a:gridCol w="2057400">
                  <a:extLst>
                    <a:ext uri="{9D8B030D-6E8A-4147-A177-3AD203B41FA5}">
                      <a16:colId xmlns:a16="http://schemas.microsoft.com/office/drawing/2014/main" val="3687717734"/>
                    </a:ext>
                  </a:extLst>
                </a:gridCol>
                <a:gridCol w="1801962">
                  <a:extLst>
                    <a:ext uri="{9D8B030D-6E8A-4147-A177-3AD203B41FA5}">
                      <a16:colId xmlns:a16="http://schemas.microsoft.com/office/drawing/2014/main" val="2727922721"/>
                    </a:ext>
                  </a:extLst>
                </a:gridCol>
              </a:tblGrid>
              <a:tr h="455078">
                <a:tc>
                  <a:txBody>
                    <a:bodyPr/>
                    <a:lstStyle/>
                    <a:p>
                      <a:pPr algn="ct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GB" sz="1100" dirty="0">
                          <a:latin typeface="Times New Roman" panose="02020603050405020304" pitchFamily="18" charset="0"/>
                          <a:cs typeface="Times New Roman" panose="02020603050405020304" pitchFamily="18" charset="0"/>
                        </a:rPr>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US" sz="1100" dirty="0">
                          <a:latin typeface="Times New Roman" panose="02020603050405020304" pitchFamily="18" charset="0"/>
                          <a:cs typeface="Times New Roman" panose="02020603050405020304" pitchFamily="18" charset="0"/>
                        </a:rPr>
                        <a:t>TAT</a:t>
                      </a:r>
                    </a:p>
                  </a:txBody>
                  <a:tcPr marL="121920" marR="121920" marT="60960" marB="60960" anchor="ct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US" sz="1100" dirty="0" err="1">
                          <a:latin typeface="Times New Roman" panose="02020603050405020304" pitchFamily="18" charset="0"/>
                          <a:cs typeface="Times New Roman" panose="02020603050405020304" pitchFamily="18" charset="0"/>
                        </a:rPr>
                        <a:t>Kế</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hoạch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sử</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333724">
                <a:tc>
                  <a:txBody>
                    <a:bodyPr/>
                    <a:lstStyle/>
                    <a:p>
                      <a:pPr algn="ctr" fontAlgn="ctr"/>
                      <a:r>
                        <a:rPr lang="en-GB" sz="1100" b="0" u="none" strike="noStrike">
                          <a:solidFill>
                            <a:schemeClr val="tx1"/>
                          </a:solidFill>
                          <a:effectLst/>
                          <a:latin typeface="Times New Roman" panose="02020603050405020304" pitchFamily="18" charset="0"/>
                          <a:cs typeface="Times New Roman" panose="02020603050405020304" pitchFamily="18" charset="0"/>
                        </a:rPr>
                        <a:t>21043</a:t>
                      </a:r>
                      <a:endParaRPr lang="en-GB" sz="1100" b="0" i="0" u="none" strike="noStrike">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257</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latin typeface="Times New Roman" panose="02020603050405020304" pitchFamily="18" charset="0"/>
                          <a:cs typeface="Times New Roman" panose="02020603050405020304" pitchFamily="18" charset="0"/>
                        </a:rPr>
                        <a:t>09/08/2025</a:t>
                      </a:r>
                    </a:p>
                    <a:p>
                      <a:pPr algn="l"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a:t>
                      </a:r>
                      <a:r>
                        <a:rPr lang="en-US" sz="1100" b="0" u="none" strike="noStrike" dirty="0" err="1">
                          <a:solidFill>
                            <a:schemeClr val="tx1"/>
                          </a:solidFill>
                          <a:effectLst/>
                          <a:latin typeface="Times New Roman" panose="02020603050405020304" pitchFamily="18" charset="0"/>
                          <a:cs typeface="Times New Roman" panose="02020603050405020304" pitchFamily="18" charset="0"/>
                        </a:rPr>
                        <a:t>tổng</a:t>
                      </a:r>
                      <a:r>
                        <a:rPr lang="en-US" sz="1100" b="0" u="none" strike="noStrike" dirty="0">
                          <a:solidFill>
                            <a:schemeClr val="tx1"/>
                          </a:solidFill>
                          <a:effectLst/>
                          <a:latin typeface="Times New Roman" panose="02020603050405020304" pitchFamily="18" charset="0"/>
                          <a:cs typeface="Times New Roman" panose="02020603050405020304" pitchFamily="18" charset="0"/>
                        </a:rPr>
                        <a:t> TAT delay 57 </a:t>
                      </a:r>
                      <a:r>
                        <a:rPr lang="en-US" sz="1100" b="0" u="none" strike="noStrike" dirty="0" err="1">
                          <a:solidFill>
                            <a:schemeClr val="tx1"/>
                          </a:solidFill>
                          <a:effectLst/>
                          <a:latin typeface="Times New Roman" panose="02020603050405020304" pitchFamily="18" charset="0"/>
                          <a:cs typeface="Times New Roman" panose="02020603050405020304" pitchFamily="18" charset="0"/>
                        </a:rPr>
                        <a:t>ngày</a:t>
                      </a:r>
                      <a:r>
                        <a:rPr lang="en-GB" sz="1100" b="0" u="none" strike="noStrike" dirty="0">
                          <a:solidFill>
                            <a:schemeClr val="tx1"/>
                          </a:solidFill>
                          <a:effectLst/>
                          <a:latin typeface="Times New Roman" panose="02020603050405020304" pitchFamily="18" charset="0"/>
                          <a:cs typeface="Times New Roman" panose="02020603050405020304" pitchFamily="18" charset="0"/>
                        </a:rPr>
                        <a:t>)</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l"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A898 (21268 </a:t>
                      </a: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đến</a:t>
                      </a:r>
                      <a:r>
                        <a:rPr lang="en-GB" sz="1100" b="0" i="0" u="none" strike="noStrike" dirty="0">
                          <a:solidFill>
                            <a:schemeClr val="tx1"/>
                          </a:solidFill>
                          <a:effectLst/>
                          <a:latin typeface="Times New Roman" panose="02020603050405020304" pitchFamily="18" charset="0"/>
                          <a:cs typeface="Times New Roman" panose="02020603050405020304" pitchFamily="18" charset="0"/>
                        </a:rPr>
                        <a:t> </a:t>
                      </a: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hạn</a:t>
                      </a:r>
                      <a:r>
                        <a:rPr lang="en-GB" sz="1100" b="0" i="0" u="none" strike="noStrike" dirty="0">
                          <a:solidFill>
                            <a:schemeClr val="tx1"/>
                          </a:solidFill>
                          <a:effectLst/>
                          <a:latin typeface="Times New Roman" panose="02020603050405020304" pitchFamily="18" charset="0"/>
                          <a:cs typeface="Times New Roman" panose="02020603050405020304" pitchFamily="18" charset="0"/>
                        </a:rPr>
                        <a:t> </a:t>
                      </a: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kiểm</a:t>
                      </a:r>
                      <a:r>
                        <a:rPr lang="en-GB" sz="1100" b="0" i="0" u="none" strike="noStrike" dirty="0">
                          <a:solidFill>
                            <a:schemeClr val="tx1"/>
                          </a:solidFill>
                          <a:effectLst/>
                          <a:latin typeface="Times New Roman" panose="02020603050405020304" pitchFamily="18" charset="0"/>
                          <a:cs typeface="Times New Roman" panose="02020603050405020304" pitchFamily="18" charset="0"/>
                        </a:rPr>
                        <a:t> </a:t>
                      </a:r>
                      <a:r>
                        <a:rPr lang="en-GB" sz="1100" b="0" i="0" u="none" strike="noStrike" dirty="0" err="1">
                          <a:solidFill>
                            <a:schemeClr val="tx1"/>
                          </a:solidFill>
                          <a:effectLst/>
                          <a:latin typeface="Times New Roman" panose="02020603050405020304" pitchFamily="18" charset="0"/>
                          <a:cs typeface="Times New Roman" panose="02020603050405020304" pitchFamily="18" charset="0"/>
                        </a:rPr>
                        <a:t>tra</a:t>
                      </a:r>
                      <a:r>
                        <a:rPr lang="en-GB" sz="1100" b="0" i="0" u="none" strike="noStrike" dirty="0">
                          <a:solidFill>
                            <a:schemeClr val="tx1"/>
                          </a:solidFill>
                          <a:effectLst/>
                          <a:latin typeface="Times New Roman" panose="02020603050405020304" pitchFamily="18" charset="0"/>
                          <a:cs typeface="Times New Roman" panose="02020603050405020304" pitchFamily="18" charset="0"/>
                        </a:rPr>
                        <a:t> LPT)</a:t>
                      </a:r>
                    </a:p>
                  </a:txBody>
                  <a:tcPr marL="0" marR="0" marT="0" marB="0" anchor="ctr"/>
                </a:tc>
                <a:extLst>
                  <a:ext uri="{0D108BD9-81ED-4DB2-BD59-A6C34878D82A}">
                    <a16:rowId xmlns:a16="http://schemas.microsoft.com/office/drawing/2014/main" val="3135666374"/>
                  </a:ext>
                </a:extLst>
              </a:tr>
              <a:tr h="333724">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21414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latin typeface="Times New Roman" panose="02020603050405020304" pitchFamily="18" charset="0"/>
                          <a:cs typeface="Times New Roman" panose="02020603050405020304" pitchFamily="18" charset="0"/>
                        </a:rPr>
                        <a:t>SAESL</a:t>
                      </a:r>
                      <a:endParaRPr lang="en-GB" sz="1100" b="0" i="0" u="none" strike="noStrike">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134</a:t>
                      </a:r>
                    </a:p>
                  </a:txBody>
                  <a:tcPr marL="0" marR="0" marT="0" marB="0" anchor="ctr"/>
                </a:tc>
                <a:tc>
                  <a:txBody>
                    <a:bodyPr/>
                    <a:lstStyle/>
                    <a:p>
                      <a:pPr algn="ctr" fontAlgn="ctr"/>
                      <a:r>
                        <a:rPr lang="en-GB" sz="1100" b="1" u="none" strike="noStrike" dirty="0">
                          <a:solidFill>
                            <a:srgbClr val="FF0000"/>
                          </a:solidFill>
                          <a:effectLst/>
                          <a:latin typeface="Times New Roman" panose="02020603050405020304" pitchFamily="18" charset="0"/>
                          <a:cs typeface="Times New Roman" panose="02020603050405020304" pitchFamily="18" charset="0"/>
                        </a:rPr>
                        <a:t>24/08/2025</a:t>
                      </a:r>
                    </a:p>
                    <a:p>
                      <a:pPr marL="0" marR="0" lvl="0" indent="0" algn="l"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latin typeface="Times New Roman" panose="02020603050405020304" pitchFamily="18" charset="0"/>
                          <a:cs typeface="Times New Roman" panose="02020603050405020304" pitchFamily="18" charset="0"/>
                        </a:rPr>
                        <a:t>(delay 4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so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với</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tuần</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trước</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tổng</a:t>
                      </a:r>
                      <a:r>
                        <a:rPr lang="en-US" sz="1100" b="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u="none" strike="noStrike" dirty="0">
                          <a:solidFill>
                            <a:srgbClr val="FF0000"/>
                          </a:solidFill>
                          <a:effectLst/>
                          <a:latin typeface="Times New Roman" panose="02020603050405020304" pitchFamily="18" charset="0"/>
                          <a:cs typeface="Times New Roman" panose="02020603050405020304" pitchFamily="18" charset="0"/>
                        </a:rPr>
                        <a:t>TAT delay 24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cs typeface="Times New Roman" panose="02020603050405020304" pitchFamily="18" charset="0"/>
                        </a:rPr>
                        <a:t>A894 (21346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đến</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hạn</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kiểm</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tra</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LPT)</a:t>
                      </a:r>
                    </a:p>
                  </a:txBody>
                  <a:tcPr marL="0" marR="0" marT="0" marB="0" anchor="ctr"/>
                </a:tc>
                <a:extLst>
                  <a:ext uri="{0D108BD9-81ED-4DB2-BD59-A6C34878D82A}">
                    <a16:rowId xmlns:a16="http://schemas.microsoft.com/office/drawing/2014/main" val="587742417"/>
                  </a:ext>
                </a:extLst>
              </a:tr>
              <a:tr h="333724">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21137</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247</a:t>
                      </a:r>
                    </a:p>
                  </a:txBody>
                  <a:tcPr marL="0" marR="0" marT="0" marB="0" anchor="ctr"/>
                </a:tc>
                <a:tc>
                  <a:txBody>
                    <a:bodyPr/>
                    <a:lstStyle/>
                    <a:p>
                      <a:pPr algn="ctr" fontAlgn="ctr"/>
                      <a:r>
                        <a:rPr lang="en-GB" sz="1100" b="1" u="none" strike="noStrike">
                          <a:solidFill>
                            <a:srgbClr val="FF0000"/>
                          </a:solidFill>
                          <a:effectLst/>
                          <a:latin typeface="Times New Roman" panose="02020603050405020304" pitchFamily="18" charset="0"/>
                          <a:cs typeface="Times New Roman" panose="02020603050405020304" pitchFamily="18" charset="0"/>
                        </a:rPr>
                        <a:t>28/08/2025</a:t>
                      </a:r>
                      <a:endParaRPr lang="en-GB" sz="1100" b="1" u="none" strike="noStrike" dirty="0">
                        <a:solidFill>
                          <a:srgbClr val="FF0000"/>
                        </a:solidFill>
                        <a:effectLst/>
                        <a:latin typeface="Times New Roman" panose="02020603050405020304" pitchFamily="18" charset="0"/>
                        <a:cs typeface="Times New Roman" panose="02020603050405020304" pitchFamily="18" charset="0"/>
                      </a:endParaRPr>
                    </a:p>
                    <a:p>
                      <a:pPr algn="l" fontAlgn="ct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tổng</a:t>
                      </a:r>
                      <a:r>
                        <a:rPr lang="en-US" sz="1100" b="0" u="none" strike="noStrike" dirty="0">
                          <a:solidFill>
                            <a:srgbClr val="FF0000"/>
                          </a:solidFill>
                          <a:effectLst/>
                          <a:latin typeface="Times New Roman" panose="02020603050405020304" pitchFamily="18" charset="0"/>
                          <a:cs typeface="Times New Roman" panose="02020603050405020304" pitchFamily="18" charset="0"/>
                        </a:rPr>
                        <a:t> TAT delay 58 </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l" fontAlgn="ctr"/>
                      <a:r>
                        <a:rPr lang="en-GB" sz="1100" b="0" i="0" u="none" strike="noStrike" dirty="0">
                          <a:solidFill>
                            <a:srgbClr val="FF0000"/>
                          </a:solidFill>
                          <a:effectLst/>
                          <a:latin typeface="Times New Roman" panose="02020603050405020304" pitchFamily="18" charset="0"/>
                          <a:cs typeface="Times New Roman" panose="02020603050405020304" pitchFamily="18" charset="0"/>
                        </a:rPr>
                        <a:t>A895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trống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02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động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cs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034618264"/>
                  </a:ext>
                </a:extLst>
              </a:tr>
              <a:tr h="333724">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21604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latin typeface="Times New Roman" panose="02020603050405020304" pitchFamily="18" charset="0"/>
                          <a:cs typeface="Times New Roman" panose="02020603050405020304" pitchFamily="18" charset="0"/>
                        </a:rPr>
                        <a:t>SAESL</a:t>
                      </a:r>
                      <a:endParaRPr lang="en-GB" sz="1100" b="0" i="0" u="none" strike="noStrike">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134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1" u="none" strike="noStrike" dirty="0">
                          <a:solidFill>
                            <a:srgbClr val="FF0000"/>
                          </a:solidFill>
                          <a:effectLst/>
                          <a:latin typeface="Times New Roman" panose="02020603050405020304" pitchFamily="18" charset="0"/>
                          <a:cs typeface="Times New Roman" panose="02020603050405020304" pitchFamily="18" charset="0"/>
                        </a:rPr>
                        <a:t>10/09/2025</a:t>
                      </a:r>
                    </a:p>
                    <a:p>
                      <a:pPr marL="0" marR="0" lvl="0" indent="0" algn="l"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latin typeface="Times New Roman" panose="02020603050405020304" pitchFamily="18" charset="0"/>
                          <a:cs typeface="Times New Roman" panose="02020603050405020304" pitchFamily="18" charset="0"/>
                        </a:rPr>
                        <a:t>(delay 7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so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với</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tuần</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trước</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a:t>
                      </a:r>
                      <a:r>
                        <a:rPr lang="en-US" sz="1100" b="0" u="none" strike="noStrike" dirty="0" err="1">
                          <a:solidFill>
                            <a:srgbClr val="FF0000"/>
                          </a:solidFill>
                          <a:effectLst/>
                          <a:latin typeface="Times New Roman" panose="02020603050405020304" pitchFamily="18" charset="0"/>
                          <a:cs typeface="Times New Roman" panose="02020603050405020304" pitchFamily="18" charset="0"/>
                        </a:rPr>
                        <a:t>tổng</a:t>
                      </a:r>
                      <a:r>
                        <a:rPr lang="en-GB" sz="1100" b="0" u="none" strike="noStrike" dirty="0">
                          <a:solidFill>
                            <a:srgbClr val="FF0000"/>
                          </a:solidFill>
                          <a:effectLst/>
                          <a:latin typeface="Times New Roman" panose="02020603050405020304" pitchFamily="18" charset="0"/>
                          <a:cs typeface="Times New Roman" panose="02020603050405020304" pitchFamily="18" charset="0"/>
                        </a:rPr>
                        <a:t> TAT delay 33 </a:t>
                      </a:r>
                      <a:r>
                        <a:rPr lang="en-GB" sz="1100" b="0" u="none" strike="noStrike" dirty="0" err="1">
                          <a:solidFill>
                            <a:srgbClr val="FF0000"/>
                          </a:solidFill>
                          <a:effectLst/>
                          <a:latin typeface="Times New Roman" panose="02020603050405020304" pitchFamily="18" charset="0"/>
                          <a:cs typeface="Times New Roman" panose="02020603050405020304" pitchFamily="18" charset="0"/>
                        </a:rPr>
                        <a:t>ngày</a:t>
                      </a:r>
                      <a:r>
                        <a:rPr lang="en-GB" sz="1100" b="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cs typeface="Times New Roman" panose="02020603050405020304" pitchFamily="18" charset="0"/>
                        </a:rPr>
                        <a:t>A895(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trống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02 </a:t>
                      </a:r>
                      <a:r>
                        <a:rPr lang="en-GB" sz="1100" b="0" i="0" u="none" strike="noStrike" dirty="0" err="1">
                          <a:solidFill>
                            <a:srgbClr val="FF0000"/>
                          </a:solidFill>
                          <a:effectLst/>
                          <a:latin typeface="Times New Roman" panose="02020603050405020304" pitchFamily="18" charset="0"/>
                          <a:cs typeface="Times New Roman" panose="02020603050405020304" pitchFamily="18" charset="0"/>
                        </a:rPr>
                        <a:t>động</a:t>
                      </a:r>
                      <a:r>
                        <a:rPr lang="en-GB" sz="1100" b="0" i="0" u="none" strike="noStrike" dirty="0">
                          <a:solidFill>
                            <a:srgbClr val="FF0000"/>
                          </a:solidFill>
                          <a:effectLst/>
                          <a:latin typeface="Times New Roman" panose="02020603050405020304" pitchFamily="18" charset="0"/>
                          <a:cs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cs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cs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4245775366"/>
                  </a:ext>
                </a:extLst>
              </a:tr>
              <a:tr h="186273">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21048</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190</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latin typeface="Times New Roman" panose="02020603050405020304" pitchFamily="18" charset="0"/>
                          <a:cs typeface="Times New Roman" panose="02020603050405020304" pitchFamily="18" charset="0"/>
                        </a:rPr>
                        <a:t>08/11/2025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2430177177"/>
                  </a:ext>
                </a:extLst>
              </a:tr>
              <a:tr h="186273">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21024</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latin typeface="Times New Roman" panose="02020603050405020304" pitchFamily="18" charset="0"/>
                          <a:cs typeface="Times New Roman" panose="02020603050405020304" pitchFamily="18" charset="0"/>
                        </a:rPr>
                        <a:t>N3</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190</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01/12/2025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2287308911"/>
                  </a:ext>
                </a:extLst>
              </a:tr>
              <a:tr h="186273">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21035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cs typeface="Times New Roman" panose="02020603050405020304" pitchFamily="18" charset="0"/>
                        </a:rPr>
                        <a:t>HAESL</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TBD</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latin typeface="Times New Roman" panose="02020603050405020304" pitchFamily="18" charset="0"/>
                          <a:cs typeface="Times New Roman" panose="02020603050405020304" pitchFamily="18" charset="0"/>
                        </a:rPr>
                        <a:t>02/12/2025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1533439476"/>
                  </a:ext>
                </a:extLst>
              </a:tr>
              <a:tr h="186273">
                <a:tc>
                  <a:txBody>
                    <a:bodyPr/>
                    <a:lstStyle/>
                    <a:p>
                      <a:pPr algn="ctr" fontAlgn="ctr"/>
                      <a:r>
                        <a:rPr lang="en-GB" sz="1100" b="0" i="0" u="none" strike="noStrike">
                          <a:solidFill>
                            <a:schemeClr val="tx1"/>
                          </a:solidFill>
                          <a:effectLst/>
                          <a:latin typeface="Times New Roman" panose="02020603050405020304" pitchFamily="18" charset="0"/>
                          <a:cs typeface="Times New Roman" panose="02020603050405020304" pitchFamily="18" charset="0"/>
                        </a:rPr>
                        <a:t>21425</a:t>
                      </a:r>
                      <a:endParaRPr lang="en-GB" sz="11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OFF</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2026</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3223524369"/>
                  </a:ext>
                </a:extLst>
              </a:tr>
              <a:tr h="186273">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21418</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OFF</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2026</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0" marR="0" marT="0" marB="0" anchor="ctr"/>
                </a:tc>
                <a:extLst>
                  <a:ext uri="{0D108BD9-81ED-4DB2-BD59-A6C34878D82A}">
                    <a16:rowId xmlns:a16="http://schemas.microsoft.com/office/drawing/2014/main" val="3946219434"/>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chờ</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740906"/>
            <a:ext cx="5167083" cy="553998"/>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do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thiếu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148809" y="6182077"/>
          <a:ext cx="5765457" cy="579120"/>
        </p:xfrm>
        <a:graphic>
          <a:graphicData uri="http://schemas.openxmlformats.org/drawingml/2006/table">
            <a:tbl>
              <a:tblPr firstRow="1" bandRow="1">
                <a:tableStyleId>{93296810-A885-4BE3-A3E7-6D5BEEA58F35}</a:tableStyleId>
              </a:tblPr>
              <a:tblGrid>
                <a:gridCol w="1029611">
                  <a:extLst>
                    <a:ext uri="{9D8B030D-6E8A-4147-A177-3AD203B41FA5}">
                      <a16:colId xmlns:a16="http://schemas.microsoft.com/office/drawing/2014/main" val="1930757539"/>
                    </a:ext>
                  </a:extLst>
                </a:gridCol>
                <a:gridCol w="4735846">
                  <a:extLst>
                    <a:ext uri="{9D8B030D-6E8A-4147-A177-3AD203B41FA5}">
                      <a16:colId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đủ</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vào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giữa</a:t>
                      </a:r>
                      <a:r>
                        <a:rPr lang="en-US" sz="1100" dirty="0">
                          <a:latin typeface="Times New Roman" panose="02020603050405020304" pitchFamily="18" charset="0"/>
                          <a:cs typeface="Times New Roman" panose="02020603050405020304" pitchFamily="18" charset="0"/>
                        </a:rPr>
                        <a:t> T9)</a:t>
                      </a:r>
                    </a:p>
                  </a:txBody>
                  <a:tcPr marL="121920" marR="121920" marT="60960" marB="60960" anchor="ctr"/>
                </a:tc>
                <a:extLst>
                  <a:ext uri="{0D108BD9-81ED-4DB2-BD59-A6C34878D82A}">
                    <a16:rowId xmlns:a16="http://schemas.microsoft.com/office/drawing/2014/main" val="321888471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126610" y="5812745"/>
            <a:ext cx="578765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(01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3429000"/>
          <a:ext cx="5909514" cy="3313423"/>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24112" y="842032"/>
            <a:ext cx="5909513" cy="175432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3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sz="1200" dirty="0">
                <a:solidFill>
                  <a:prstClr val="black"/>
                </a:solidFill>
                <a:latin typeface="Times New Roman" panose="02020603050405020304" pitchFamily="18" charset="0"/>
                <a:cs typeface="Times New Roman" panose="02020603050405020304" pitchFamily="18" charset="0"/>
              </a:rPr>
              <a:t>(</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A898</a:t>
            </a: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A894, A895)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rất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gây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phải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giữ</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giờ</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tháo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ngoài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Blade (A889#1 21088 </a:t>
            </a:r>
            <a:r>
              <a:rPr lang="en-US" sz="1200" dirty="0">
                <a:solidFill>
                  <a:prstClr val="black"/>
                </a:solidFill>
                <a:latin typeface="Times New Roman" panose="02020603050405020304" pitchFamily="18" charset="0"/>
                <a:cs typeface="Times New Roman" panose="02020603050405020304" pitchFamily="18" charset="0"/>
              </a:rPr>
              <a:t>100</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FC</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A898#2 21268 </a:t>
            </a:r>
            <a:r>
              <a:rPr lang="en-US" sz="1200" dirty="0">
                <a:solidFill>
                  <a:prstClr val="black"/>
                </a:solidFill>
                <a:latin typeface="Times New Roman" panose="02020603050405020304" pitchFamily="18" charset="0"/>
                <a:cs typeface="Times New Roman" panose="02020603050405020304" pitchFamily="18" charset="0"/>
              </a:rPr>
              <a:t>25</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FC);</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Crack IPC (A898#2 21268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A894#1 21317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crack soi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suất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100FC, A889#1 21088 interval 200FC);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High Oil Consumption (A887#2 21369); Oil Hiding (A889#2 21034, A888#1 21052)</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9870" y="335369"/>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 name="Rectangle 5">
            <a:extLst>
              <a:ext uri="{FF2B5EF4-FFF2-40B4-BE49-F238E27FC236}">
                <a16:creationId xmlns:a16="http://schemas.microsoft.com/office/drawing/2014/main" id="{2BA759F6-D850-4EB4-AD1E-1FF6AF20FC2A}"/>
              </a:ext>
            </a:extLst>
          </p:cNvPr>
          <p:cNvSpPr/>
          <p:nvPr/>
        </p:nvSpPr>
        <p:spPr>
          <a:xfrm>
            <a:off x="6934200" y="5743545"/>
            <a:ext cx="2971800" cy="400110"/>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T8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và</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T9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tăng</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thành</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02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tàu</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AOG </a:t>
            </a:r>
            <a:r>
              <a:rPr lang="en-US" sz="1000" i="1" dirty="0" err="1">
                <a:solidFill>
                  <a:srgbClr val="FF0000"/>
                </a:solidFill>
                <a:latin typeface="Times New Roman" panose="02020603050405020304" pitchFamily="18" charset="0"/>
                <a:cs typeface="Times New Roman" panose="02020603050405020304" pitchFamily="18" charset="0"/>
              </a:rPr>
              <a:t>từ</a:t>
            </a:r>
            <a:r>
              <a:rPr lang="en-US" sz="1000" i="1" dirty="0">
                <a:solidFill>
                  <a:srgbClr val="FF0000"/>
                </a:solidFill>
                <a:latin typeface="Times New Roman" panose="02020603050405020304" pitchFamily="18" charset="0"/>
                <a:cs typeface="Times New Roman" panose="02020603050405020304" pitchFamily="18" charset="0"/>
              </a:rPr>
              <a:t> 07/08 </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do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21414, 21604, 21137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lang="en-US" sz="1000" i="1" dirty="0">
                <a:solidFill>
                  <a:srgbClr val="FF0000"/>
                </a:solidFill>
                <a:latin typeface="Times New Roman" panose="02020603050405020304" pitchFamily="18" charset="0"/>
                <a:cs typeface="Times New Roman" panose="02020603050405020304" pitchFamily="18" charset="0"/>
              </a:rPr>
              <a:t>.</a:t>
            </a:r>
            <a:endParaRPr kumimoji="0" lang="en-GB"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77D4BF57-1C59-4961-BDE7-C3F8E37C5EBD}"/>
              </a:ext>
            </a:extLst>
          </p:cNvPr>
          <p:cNvGraphicFramePr>
            <a:graphicFrameLocks noGrp="1"/>
          </p:cNvGraphicFramePr>
          <p:nvPr/>
        </p:nvGraphicFramePr>
        <p:xfrm>
          <a:off x="148809" y="4138171"/>
          <a:ext cx="5765457" cy="1727400"/>
        </p:xfrm>
        <a:graphic>
          <a:graphicData uri="http://schemas.openxmlformats.org/drawingml/2006/table">
            <a:tbl>
              <a:tblPr firstRow="1" bandRow="1">
                <a:tableStyleId>{21E4AEA4-8DFA-4A89-87EB-49C32662AFE0}</a:tableStyleId>
              </a:tblPr>
              <a:tblGrid>
                <a:gridCol w="865200">
                  <a:extLst>
                    <a:ext uri="{9D8B030D-6E8A-4147-A177-3AD203B41FA5}">
                      <a16:colId xmlns:a16="http://schemas.microsoft.com/office/drawing/2014/main" val="1930757539"/>
                    </a:ext>
                  </a:extLst>
                </a:gridCol>
                <a:gridCol w="1377500">
                  <a:extLst>
                    <a:ext uri="{9D8B030D-6E8A-4147-A177-3AD203B41FA5}">
                      <a16:colId xmlns:a16="http://schemas.microsoft.com/office/drawing/2014/main" val="1674463010"/>
                    </a:ext>
                  </a:extLst>
                </a:gridCol>
                <a:gridCol w="3522757">
                  <a:extLst>
                    <a:ext uri="{9D8B030D-6E8A-4147-A177-3AD203B41FA5}">
                      <a16:colId xmlns:a16="http://schemas.microsoft.com/office/drawing/2014/main" val="3226218833"/>
                    </a:ext>
                  </a:extLst>
                </a:gridCol>
              </a:tblGrid>
              <a:tr h="0">
                <a:tc>
                  <a:txBody>
                    <a:bodyPr/>
                    <a:lstStyle/>
                    <a:p>
                      <a:r>
                        <a:rPr lang="en-US" sz="1100">
                          <a:latin typeface="Times New Roman" panose="02020603050405020304" pitchFamily="18" charset="0"/>
                          <a:cs typeface="Times New Roman" panose="02020603050405020304" pitchFamily="18" charset="0"/>
                        </a:rPr>
                        <a:t>Động c</a:t>
                      </a:r>
                      <a:r>
                        <a:rPr lang="vi-VN" sz="110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a:t>Vị trí</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a:latin typeface="Times New Roman" panose="02020603050405020304" pitchFamily="18" charset="0"/>
                          <a:cs typeface="Times New Roman" panose="02020603050405020304" pitchFamily="18" charset="0"/>
                        </a:rPr>
                        <a:t>KH tháo</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a:latin typeface="Times New Roman" panose="02020603050405020304" pitchFamily="18" charset="0"/>
                          <a:cs typeface="Times New Roman" panose="02020603050405020304" pitchFamily="18" charset="0"/>
                        </a:rPr>
                        <a:t>21268</a:t>
                      </a:r>
                      <a:endParaRPr lang="en-US" sz="1100" b="1"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A898</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Đầu T8. Còn ~25FC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3218884716"/>
                  </a:ext>
                </a:extLst>
              </a:tr>
              <a:tr h="0">
                <a:tc>
                  <a:txBody>
                    <a:bodyPr/>
                    <a:lstStyle/>
                    <a:p>
                      <a:r>
                        <a:rPr lang="en-US" sz="1100" b="0">
                          <a:latin typeface="Times New Roman" panose="02020603050405020304" pitchFamily="18" charset="0"/>
                          <a:cs typeface="Times New Roman" panose="02020603050405020304" pitchFamily="18" charset="0"/>
                        </a:rPr>
                        <a:t>21346</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A894</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Giữa T8. Còn ~35FC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2115461348"/>
                  </a:ext>
                </a:extLst>
              </a:tr>
              <a:tr h="0">
                <a:tc>
                  <a:txBody>
                    <a:bodyPr/>
                    <a:lstStyle/>
                    <a:p>
                      <a:r>
                        <a:rPr lang="en-US" sz="1100" b="0">
                          <a:latin typeface="Times New Roman" panose="02020603050405020304" pitchFamily="18" charset="0"/>
                          <a:cs typeface="Times New Roman" panose="02020603050405020304" pitchFamily="18" charset="0"/>
                        </a:rPr>
                        <a:t>21317</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A894</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Giữa</a:t>
                      </a:r>
                      <a:r>
                        <a:rPr lang="en-US" sz="1100" dirty="0">
                          <a:latin typeface="Times New Roman" panose="02020603050405020304" pitchFamily="18" charset="0"/>
                          <a:cs typeface="Times New Roman" panose="02020603050405020304" pitchFamily="18" charset="0"/>
                        </a:rPr>
                        <a:t> T9.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a:t>
                      </a:r>
                      <a:r>
                        <a:rPr lang="en-US" sz="1100">
                          <a:latin typeface="Times New Roman" panose="02020603050405020304" pitchFamily="18" charset="0"/>
                          <a:cs typeface="Times New Roman" panose="02020603050405020304" pitchFamily="18" charset="0"/>
                        </a:rPr>
                        <a:t>~100FC </a:t>
                      </a:r>
                      <a:r>
                        <a:rPr lang="en-US" sz="1100" dirty="0">
                          <a:latin typeface="Times New Roman" panose="02020603050405020304" pitchFamily="18" charset="0"/>
                          <a:cs typeface="Times New Roman" panose="02020603050405020304" pitchFamily="18" charset="0"/>
                        </a:rPr>
                        <a:t>(+</a:t>
                      </a:r>
                      <a:r>
                        <a:rPr lang="en-US" sz="1100" dirty="0" err="1">
                          <a:latin typeface="Times New Roman" panose="02020603050405020304" pitchFamily="18" charset="0"/>
                          <a:cs typeface="Times New Roman" panose="02020603050405020304" pitchFamily="18" charset="0"/>
                        </a:rPr>
                        <a:t>thời</a:t>
                      </a:r>
                      <a:r>
                        <a:rPr lang="en-US" sz="1100" dirty="0">
                          <a:latin typeface="Times New Roman" panose="02020603050405020304" pitchFamily="18" charset="0"/>
                          <a:cs typeface="Times New Roman" panose="02020603050405020304" pitchFamily="18" charset="0"/>
                        </a:rPr>
                        <a:t> </a:t>
                      </a:r>
                      <a:r>
                        <a:rPr lang="en-US" sz="1100" err="1">
                          <a:latin typeface="Times New Roman" panose="02020603050405020304" pitchFamily="18" charset="0"/>
                          <a:cs typeface="Times New Roman" panose="02020603050405020304" pitchFamily="18" charset="0"/>
                        </a:rPr>
                        <a:t>gian</a:t>
                      </a:r>
                      <a:r>
                        <a:rPr lang="en-US" sz="1100">
                          <a:latin typeface="Times New Roman" panose="02020603050405020304" pitchFamily="18" charset="0"/>
                          <a:cs typeface="Times New Roman" panose="02020603050405020304" pitchFamily="18" charset="0"/>
                        </a:rPr>
                        <a:t> tàu chờ </a:t>
                      </a:r>
                      <a:r>
                        <a:rPr lang="en-US" sz="1100" err="1">
                          <a:latin typeface="Times New Roman" panose="02020603050405020304" pitchFamily="18" charset="0"/>
                          <a:cs typeface="Times New Roman" panose="02020603050405020304" pitchFamily="18" charset="0"/>
                        </a:rPr>
                        <a:t>thay</a:t>
                      </a:r>
                      <a:r>
                        <a:rPr lang="en-US" sz="1100">
                          <a:latin typeface="Times New Roman" panose="02020603050405020304" pitchFamily="18" charset="0"/>
                          <a:cs typeface="Times New Roman" panose="02020603050405020304" pitchFamily="18" charset="0"/>
                        </a:rPr>
                        <a:t> 21346)</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3390329999"/>
                  </a:ext>
                </a:extLst>
              </a:tr>
              <a:tr h="0">
                <a:tc>
                  <a:txBody>
                    <a:bodyPr/>
                    <a:lstStyle/>
                    <a:p>
                      <a:r>
                        <a:rPr lang="en-US" sz="1100" b="0">
                          <a:latin typeface="Times New Roman" panose="02020603050405020304" pitchFamily="18" charset="0"/>
                          <a:cs typeface="Times New Roman" panose="02020603050405020304" pitchFamily="18" charset="0"/>
                        </a:rPr>
                        <a:t>21170</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A897</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T9.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a:t>
                      </a:r>
                      <a:r>
                        <a:rPr lang="en-US" sz="1100">
                          <a:latin typeface="Times New Roman" panose="02020603050405020304" pitchFamily="18" charset="0"/>
                          <a:cs typeface="Times New Roman" panose="02020603050405020304" pitchFamily="18" charset="0"/>
                        </a:rPr>
                        <a:t>~105FC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1994482227"/>
                  </a:ext>
                </a:extLst>
              </a:tr>
              <a:tr h="0">
                <a:tc>
                  <a:txBody>
                    <a:bodyPr/>
                    <a:lstStyle/>
                    <a:p>
                      <a:r>
                        <a:rPr lang="en-US" sz="1100" b="0">
                          <a:latin typeface="Times New Roman" panose="02020603050405020304" pitchFamily="18" charset="0"/>
                          <a:cs typeface="Times New Roman" panose="02020603050405020304" pitchFamily="18" charset="0"/>
                        </a:rPr>
                        <a:t>21368</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A892</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Đầu T10. Còn ~190FC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1605329921"/>
                  </a:ext>
                </a:extLst>
              </a:tr>
              <a:tr h="0">
                <a:tc>
                  <a:txBody>
                    <a:bodyPr/>
                    <a:lstStyle/>
                    <a:p>
                      <a:r>
                        <a:rPr lang="en-US" sz="1100" b="0">
                          <a:latin typeface="Times New Roman" panose="02020603050405020304" pitchFamily="18" charset="0"/>
                          <a:cs typeface="Times New Roman" panose="02020603050405020304" pitchFamily="18" charset="0"/>
                        </a:rPr>
                        <a:t>21369</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A887</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T11. </a:t>
                      </a:r>
                      <a:r>
                        <a:rPr lang="en-US" sz="1100" dirty="0" err="1">
                          <a:latin typeface="Times New Roman" panose="02020603050405020304" pitchFamily="18" charset="0"/>
                          <a:cs typeface="Times New Roman" panose="02020603050405020304" pitchFamily="18" charset="0"/>
                        </a:rPr>
                        <a:t>Còn</a:t>
                      </a:r>
                      <a:r>
                        <a:rPr lang="en-US" sz="1100" dirty="0">
                          <a:latin typeface="Times New Roman" panose="02020603050405020304" pitchFamily="18" charset="0"/>
                          <a:cs typeface="Times New Roman" panose="02020603050405020304" pitchFamily="18" charset="0"/>
                        </a:rPr>
                        <a:t> </a:t>
                      </a:r>
                      <a:r>
                        <a:rPr lang="en-US" sz="1100">
                          <a:latin typeface="Times New Roman" panose="02020603050405020304" pitchFamily="18" charset="0"/>
                          <a:cs typeface="Times New Roman" panose="02020603050405020304" pitchFamily="18" charset="0"/>
                        </a:rPr>
                        <a:t>~320FC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1844911163"/>
                  </a:ext>
                </a:extLst>
              </a:tr>
            </a:tbl>
          </a:graphicData>
        </a:graphic>
      </p:graphicFrame>
      <p:sp>
        <p:nvSpPr>
          <p:cNvPr id="18" name="TextBox 17">
            <a:extLst>
              <a:ext uri="{FF2B5EF4-FFF2-40B4-BE49-F238E27FC236}">
                <a16:creationId xmlns:a16="http://schemas.microsoft.com/office/drawing/2014/main" id="{DD5D1154-5101-4974-B303-960D55C1C05F}"/>
              </a:ext>
            </a:extLst>
          </p:cNvPr>
          <p:cNvSpPr txBox="1"/>
          <p:nvPr/>
        </p:nvSpPr>
        <p:spPr>
          <a:xfrm>
            <a:off x="0" y="3768839"/>
            <a:ext cx="578765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đến</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lịch</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tháo 2025</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64996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34</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Q3-Q4/2025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638799" y="1028140"/>
          <a:ext cx="6207275" cy="230870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398718">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86781906"/>
                  </a:ext>
                </a:extLst>
              </a:tr>
              <a:tr h="302940">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B218#2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15-17/07/2025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Oil Leak,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1498463"/>
                  </a:ext>
                </a:extLst>
              </a:tr>
              <a:tr h="33659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ED0206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B221#1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15-30/08/2025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4303709"/>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15-17/08/2025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ED0206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0234962"/>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20-22/10/2025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ED0233</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05-07/11/2025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OVH, lắp ED0214</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3741233"/>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05-07/12/2025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ED0217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539778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1394091" y="3368377"/>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113144" y="3793658"/>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a16="http://schemas.microsoft.com/office/drawing/2014/main" val="4292553957"/>
                    </a:ext>
                  </a:extLst>
                </a:gridCol>
                <a:gridCol w="692815">
                  <a:extLst>
                    <a:ext uri="{9D8B030D-6E8A-4147-A177-3AD203B41FA5}">
                      <a16:colId xmlns:a16="http://schemas.microsoft.com/office/drawing/2014/main" val="4057841190"/>
                    </a:ext>
                  </a:extLst>
                </a:gridCol>
                <a:gridCol w="685117">
                  <a:extLst>
                    <a:ext uri="{9D8B030D-6E8A-4147-A177-3AD203B41FA5}">
                      <a16:colId xmlns:a16="http://schemas.microsoft.com/office/drawing/2014/main" val="4208667331"/>
                    </a:ext>
                  </a:extLst>
                </a:gridCol>
                <a:gridCol w="1046921">
                  <a:extLst>
                    <a:ext uri="{9D8B030D-6E8A-4147-A177-3AD203B41FA5}">
                      <a16:colId xmlns:a16="http://schemas.microsoft.com/office/drawing/2014/main" val="4243809776"/>
                    </a:ext>
                  </a:extLst>
                </a:gridCol>
                <a:gridCol w="2275225">
                  <a:extLst>
                    <a:ext uri="{9D8B030D-6E8A-4147-A177-3AD203B41FA5}">
                      <a16:colId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T12/2025. Do động cơ sửa chữa về muộn.</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10773"/>
                  </a:ext>
                </a:extLst>
              </a:tr>
            </a:tbl>
          </a:graphicData>
        </a:graphic>
      </p:graphicFrame>
      <p:graphicFrame>
        <p:nvGraphicFramePr>
          <p:cNvPr id="13" name="Table 2">
            <a:extLst>
              <a:ext uri="{FF2B5EF4-FFF2-40B4-BE49-F238E27FC236}">
                <a16:creationId xmlns:a16="http://schemas.microsoft.com/office/drawing/2014/main" id="{12E9DFFC-602F-448B-A136-90CCBFC742F5}"/>
              </a:ext>
            </a:extLst>
          </p:cNvPr>
          <p:cNvGraphicFramePr>
            <a:graphicFrameLocks noGrp="1"/>
          </p:cNvGraphicFramePr>
          <p:nvPr/>
        </p:nvGraphicFramePr>
        <p:xfrm>
          <a:off x="113146" y="1028140"/>
          <a:ext cx="5144652" cy="2281132"/>
        </p:xfrm>
        <a:graphic>
          <a:graphicData uri="http://schemas.openxmlformats.org/drawingml/2006/table">
            <a:tbl>
              <a:tblPr firstRow="1" bandRow="1">
                <a:tableStyleId>{5C22544A-7EE6-4342-B048-85BDC9FD1C3A}</a:tableStyleId>
              </a:tblPr>
              <a:tblGrid>
                <a:gridCol w="420254">
                  <a:extLst>
                    <a:ext uri="{9D8B030D-6E8A-4147-A177-3AD203B41FA5}">
                      <a16:colId xmlns:a16="http://schemas.microsoft.com/office/drawing/2014/main" val="1598605427"/>
                    </a:ext>
                  </a:extLst>
                </a:gridCol>
                <a:gridCol w="728215">
                  <a:extLst>
                    <a:ext uri="{9D8B030D-6E8A-4147-A177-3AD203B41FA5}">
                      <a16:colId xmlns:a16="http://schemas.microsoft.com/office/drawing/2014/main" val="3845954792"/>
                    </a:ext>
                  </a:extLst>
                </a:gridCol>
                <a:gridCol w="643385">
                  <a:extLst>
                    <a:ext uri="{9D8B030D-6E8A-4147-A177-3AD203B41FA5}">
                      <a16:colId xmlns:a16="http://schemas.microsoft.com/office/drawing/2014/main" val="2148822928"/>
                    </a:ext>
                  </a:extLst>
                </a:gridCol>
                <a:gridCol w="1042797">
                  <a:extLst>
                    <a:ext uri="{9D8B030D-6E8A-4147-A177-3AD203B41FA5}">
                      <a16:colId xmlns:a16="http://schemas.microsoft.com/office/drawing/2014/main" val="2136763095"/>
                    </a:ext>
                  </a:extLst>
                </a:gridCol>
                <a:gridCol w="1197778">
                  <a:extLst>
                    <a:ext uri="{9D8B030D-6E8A-4147-A177-3AD203B41FA5}">
                      <a16:colId xmlns:a16="http://schemas.microsoft.com/office/drawing/2014/main" val="1185879436"/>
                    </a:ext>
                  </a:extLst>
                </a:gridCol>
                <a:gridCol w="1112223">
                  <a:extLst>
                    <a:ext uri="{9D8B030D-6E8A-4147-A177-3AD203B41FA5}">
                      <a16:colId xmlns:a16="http://schemas.microsoft.com/office/drawing/2014/main" val="3807119371"/>
                    </a:ext>
                  </a:extLst>
                </a:gridCol>
              </a:tblGrid>
              <a:tr h="490733">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34812354"/>
                  </a:ext>
                </a:extLst>
              </a:tr>
              <a:tr h="493936">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30/08/2025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B221#1</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r h="497761">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T12/2025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B223#2</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517888"/>
                  </a:ext>
                </a:extLst>
              </a:tr>
              <a:tr h="399351">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T11/2025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B220#1</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132875"/>
                  </a:ext>
                </a:extLst>
              </a:tr>
              <a:tr h="399351">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T10/2025</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B219#2</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55896"/>
                  </a:ext>
                </a:extLst>
              </a:tr>
            </a:tbl>
          </a:graphicData>
        </a:graphic>
      </p:graphicFrame>
      <p:graphicFrame>
        <p:nvGraphicFramePr>
          <p:cNvPr id="14" name="Chart 13">
            <a:extLst>
              <a:ext uri="{FF2B5EF4-FFF2-40B4-BE49-F238E27FC236}">
                <a16:creationId xmlns:a16="http://schemas.microsoft.com/office/drawing/2014/main" id="{12EC0F78-C4A2-42EE-A935-C574AFA9F1D2}"/>
              </a:ext>
            </a:extLst>
          </p:cNvPr>
          <p:cNvGraphicFramePr/>
          <p:nvPr/>
        </p:nvGraphicFramePr>
        <p:xfrm>
          <a:off x="5638799" y="3773237"/>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FBF3E88B-260D-4CB0-BF3A-953A10CF3EB4}"/>
              </a:ext>
            </a:extLst>
          </p:cNvPr>
          <p:cNvSpPr txBox="1"/>
          <p:nvPr/>
        </p:nvSpPr>
        <p:spPr>
          <a:xfrm>
            <a:off x="7835598" y="3336844"/>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3283F5F-6E60-4E6E-998E-F7759A36C7D1}"/>
              </a:ext>
            </a:extLst>
          </p:cNvPr>
          <p:cNvSpPr txBox="1"/>
          <p:nvPr/>
        </p:nvSpPr>
        <p:spPr>
          <a:xfrm>
            <a:off x="113144" y="5466723"/>
            <a:ext cx="11772189" cy="1413657"/>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Động cơ B218#2 ESN ED0235 tháo ngoài KH do oil leak khoang ổ bi số 5. Phối hợp ban QLVT về P/A sửa chữa cho động cơ này do ban đầu KH tháo để trong kho chờ bán tàu.</a:t>
            </a:r>
          </a:p>
          <a:p>
            <a:pPr marL="380990" indent="-380990" defTabSz="1219170">
              <a:lnSpc>
                <a:spcPct val="125000"/>
              </a:lnSpc>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03 động cơ sửa OVH  dk extend TAT~40 days so với KH ban đầu</a:t>
            </a:r>
            <a:r>
              <a:rPr lang="en-US" sz="140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a:solidFill>
                  <a:schemeClr val="tx1"/>
                </a:solidFill>
                <a:latin typeface="Times New Roman" panose="02020603050405020304" pitchFamily="18" charset="0"/>
                <a:cs typeface="Times New Roman" panose="02020603050405020304" pitchFamily="18" charset="0"/>
              </a:rPr>
              <a:t>rủi ro thiếu 01 động cơ GĐ cuối T9-T10. Tiếp tục phối hợp với ban QLVT làm việc với Shop rút ngắn TAT hạn chế ảnh hưởng nguồn lực</a:t>
            </a:r>
            <a:r>
              <a:rPr lang="en-US" sz="1400">
                <a:solidFill>
                  <a:srgbClr val="ED0000"/>
                </a:solidFill>
                <a:latin typeface="Times New Roman" panose="02020603050405020304" pitchFamily="18" charset="0"/>
                <a:cs typeface="Times New Roman" panose="02020603050405020304" pitchFamily="18" charset="0"/>
              </a:rPr>
              <a:t>.</a:t>
            </a:r>
          </a:p>
          <a:p>
            <a:pPr marL="380990" indent="-380990" defTabSz="1219170">
              <a:lnSpc>
                <a:spcPct val="125000"/>
              </a:lnSpc>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Đã bàn giao cho K6 thuê khô tàu B225 từ 28/06/2025 – 25/10/2025 và gia hạn cho K6 thuê tàu B220 từ T7/2025 đến T11/2025.</a:t>
            </a:r>
          </a:p>
        </p:txBody>
      </p:sp>
    </p:spTree>
    <p:extLst>
      <p:ext uri="{BB962C8B-B14F-4D97-AF65-F5344CB8AC3E}">
        <p14:creationId xmlns:p14="http://schemas.microsoft.com/office/powerpoint/2010/main" val="14955625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4161115"/>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98005">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P-5706</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04-May-25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30</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-Jul-25</a:t>
                      </a: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A332</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08124847"/>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31</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A327</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43634888"/>
                  </a:ext>
                </a:extLst>
              </a:tr>
              <a:tr h="376311">
                <a:tc>
                  <a:txBody>
                    <a:bodyPr/>
                    <a:lstStyle/>
                    <a:p>
                      <a:pPr algn="ctr" fontAlgn="ctr">
                        <a:buNone/>
                      </a:pPr>
                      <a:r>
                        <a:rPr lang="en-US" sz="15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P-4774</a:t>
                      </a:r>
                    </a:p>
                  </a:txBody>
                  <a:tcPr marL="4763" marR="4763" marT="4763"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18-Jul-25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Sep-25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mn-lt"/>
                          <a:cs typeface="Times New Roman" panose="02020603050405020304" pitchFamily="18" charset="0"/>
                        </a:rPr>
                        <a:t>A325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941714106"/>
                  </a:ext>
                </a:extLst>
              </a:tr>
              <a:tr h="376311">
                <a:tc>
                  <a:txBody>
                    <a:bodyPr/>
                    <a:lstStyle/>
                    <a:p>
                      <a:pPr algn="ctr" fontAlgn="ctr">
                        <a:buNone/>
                      </a:pPr>
                      <a:r>
                        <a:rPr lang="en-US" sz="15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P-5117</a:t>
                      </a:r>
                    </a:p>
                  </a:txBody>
                  <a:tcPr marL="4763" marR="4763" marT="4763"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28-Jul-25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Sep-25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A511</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61329750"/>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16-Aug-25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A617</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P-6347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15</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Times New Roman" panose="02020603050405020304" pitchFamily="18" charset="0"/>
                          <a:cs typeface="Times New Roman" panose="02020603050405020304" pitchFamily="18" charset="0"/>
                        </a:rPr>
                        <a:t>A616</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59025434"/>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P-4887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11-Jul-25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11</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A625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039005"/>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Z925603</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23-Jun-25</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23-Sep-25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A862</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03</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t>
                      </a:r>
                      <a:r>
                        <a:rPr lang="vi-VN" sz="1500" b="0" i="0" u="none" strike="noStrike" dirty="0">
                          <a:solidFill>
                            <a:schemeClr val="tx1"/>
                          </a:solidFill>
                          <a:effectLst/>
                          <a:latin typeface="Times New Roman" panose="02020603050405020304" pitchFamily="18" charset="0"/>
                          <a:cs typeface="Times New Roman" panose="02020603050405020304" pitchFamily="18" charset="0"/>
                        </a:rPr>
                        <a:t>Aug</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A898</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40546296"/>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31387" y="5245394"/>
            <a:ext cx="11567481" cy="1200329"/>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A321: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B787: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A350: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Hiện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QLVT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thuê</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01 APU spare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điểm</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hè</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SỬA CHỮA APU TẠI SHOP</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1810653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2A43B"/>
                </a:solidFill>
                <a:effectLst/>
                <a:uLnTx/>
                <a:uFillTx/>
                <a:latin typeface="Montserrat" pitchFamily="2" charset="77"/>
                <a:ea typeface="+mn-ea"/>
                <a:cs typeface="+mn-cs"/>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445416"/>
            <a:ext cx="12054615" cy="1077218"/>
          </a:xfrm>
          <a:prstGeom prst="rect">
            <a:avLst/>
          </a:prstGeom>
          <a:noFill/>
          <a:ln>
            <a:solidFill>
              <a:schemeClr val="tx1"/>
            </a:solid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vi-VN" sz="1600" dirty="0">
                <a:solidFill>
                  <a:prstClr val="black"/>
                </a:solidFill>
                <a:latin typeface="Times New Roman" panose="02020603050405020304" pitchFamily="18" charset="0"/>
                <a:cs typeface="Times New Roman" panose="02020603050405020304" pitchFamily="18" charset="0"/>
              </a:rPr>
              <a:t>21</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07</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/2025 – </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27</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/07/2025:</a:t>
            </a:r>
          </a:p>
          <a:p>
            <a:pPr marL="380990" lvl="0" indent="-380990" defTabSz="1219170">
              <a:buFont typeface="Times New Roman" panose="02020603050405020304" pitchFamily="18" charset="0"/>
              <a:buChar char="⁃"/>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vi-VN" sz="1600" dirty="0">
                <a:solidFill>
                  <a:prstClr val="black"/>
                </a:solidFill>
                <a:latin typeface="Times New Roman" panose="02020603050405020304" pitchFamily="18" charset="0"/>
                <a:cs typeface="Times New Roman" panose="02020603050405020304" pitchFamily="18" charset="0"/>
              </a:rPr>
              <a:t>A326, A327</a:t>
            </a:r>
            <a:r>
              <a:rPr lang="en-US" sz="1600" dirty="0">
                <a:solidFill>
                  <a:prstClr val="black"/>
                </a:solidFill>
                <a:latin typeface="Times New Roman" panose="02020603050405020304" pitchFamily="18" charset="0"/>
                <a:cs typeface="Times New Roman" panose="02020603050405020304" pitchFamily="18" charset="0"/>
              </a:rPr>
              <a:t>.</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80990" marR="0" lvl="0" indent="-380990" algn="l" defTabSz="91440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vi-VN" sz="1600" dirty="0">
                <a:solidFill>
                  <a:prstClr val="black"/>
                </a:solidFill>
                <a:latin typeface="Times New Roman" panose="02020603050405020304" pitchFamily="18" charset="0"/>
                <a:cs typeface="Times New Roman" panose="02020603050405020304" pitchFamily="18" charset="0"/>
              </a:rPr>
              <a:t>A615 (thay IGVA), A325 (thay FCU), A326 (clean, check leak), A327 (thay Stater Motor)</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380990" indent="-380990">
              <a:buFont typeface="Times New Roman" panose="02020603050405020304" pitchFamily="18" charset="0"/>
              <a:buChar char="⁃"/>
              <a:defRPr/>
            </a:pP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APU c</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NIL</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9"/>
          <a:ext cx="12054615" cy="3106334"/>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260200">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6860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500" b="0" kern="1200" dirty="0">
                          <a:solidFill>
                            <a:schemeClr val="tx1"/>
                          </a:solidFill>
                          <a:effectLst/>
                          <a:latin typeface="+mn-lt"/>
                          <a:ea typeface="+mn-ea"/>
                          <a:cs typeface="Times New Roman" panose="02020603050405020304" pitchFamily="18" charset="0"/>
                        </a:rPr>
                        <a:t>NIL</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500" b="0" kern="1200" dirty="0">
                          <a:solidFill>
                            <a:schemeClr val="tx1"/>
                          </a:solidFill>
                          <a:effectLst/>
                          <a:latin typeface="+mn-lt"/>
                          <a:ea typeface="+mn-ea"/>
                          <a:cs typeface="Times New Roman" panose="02020603050405020304" pitchFamily="18" charset="0"/>
                        </a:rPr>
                        <a:t>NIL</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vi-VN" sz="1500" b="0" kern="1200" dirty="0">
                          <a:solidFill>
                            <a:schemeClr val="tx1"/>
                          </a:solidFill>
                          <a:effectLst/>
                          <a:latin typeface="Times New Roman" panose="02020603050405020304" pitchFamily="18" charset="0"/>
                          <a:ea typeface="+mn-ea"/>
                          <a:cs typeface="Times New Roman" panose="02020603050405020304" pitchFamily="18" charset="0"/>
                        </a:rPr>
                        <a:t>NIL</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dụng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trường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thay APU cho A892.</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HỎNG HÓC APU TRONG TUẦN</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921605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37</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1912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T7-T9/2025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381000" y="592815"/>
          <a:ext cx="11811000" cy="62651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246959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t>38</a:t>
            </a:fld>
            <a:endParaRPr kumimoji="0"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753415" y="914400"/>
            <a:ext cx="11068012" cy="93586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just" defTabSz="914400" rtl="0" eaLnBrk="1" fontAlgn="auto" latinLnBrk="0" hangingPunct="1">
              <a:lnSpc>
                <a:spcPct val="90000"/>
              </a:lnSpc>
              <a:spcBef>
                <a:spcPts val="1000"/>
              </a:spcBef>
              <a:spcAft>
                <a:spcPts val="0"/>
              </a:spcAft>
              <a:buClr>
                <a:prstClr val="black"/>
              </a:buClr>
              <a:buSzPts val="1100"/>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A618: </a:t>
            </a: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t>ENG CHG </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(25/07-27/07.</a:t>
            </a:r>
            <a:r>
              <a:rPr kumimoji="0" lang="en-US" sz="1600" b="1" i="1"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EST RTS: 21H 27/07</a:t>
            </a: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t>).</a:t>
            </a:r>
            <a:endPar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14597170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a:extLst>
              <a:ext uri="{FF2B5EF4-FFF2-40B4-BE49-F238E27FC236}">
                <a16:creationId xmlns:a16="http://schemas.microsoft.com/office/drawing/2014/main" id="{25F2AB79-9DDC-450C-AF36-A9FE2D4766DD}"/>
              </a:ext>
            </a:extLst>
          </p:cNvPr>
          <p:cNvGraphicFramePr>
            <a:graphicFrameLocks noGrp="1"/>
          </p:cNvGraphicFramePr>
          <p:nvPr>
            <p:extLst/>
          </p:nvPr>
        </p:nvGraphicFramePr>
        <p:xfrm>
          <a:off x="457200" y="838200"/>
          <a:ext cx="11429999" cy="5853411"/>
        </p:xfrm>
        <a:graphic>
          <a:graphicData uri="http://schemas.openxmlformats.org/drawingml/2006/table">
            <a:tbl>
              <a:tblPr/>
              <a:tblGrid>
                <a:gridCol w="381000">
                  <a:extLst>
                    <a:ext uri="{9D8B030D-6E8A-4147-A177-3AD203B41FA5}">
                      <a16:colId xmlns:a16="http://schemas.microsoft.com/office/drawing/2014/main" val="1249223805"/>
                    </a:ext>
                  </a:extLst>
                </a:gridCol>
                <a:gridCol w="2369852">
                  <a:extLst>
                    <a:ext uri="{9D8B030D-6E8A-4147-A177-3AD203B41FA5}">
                      <a16:colId xmlns:a16="http://schemas.microsoft.com/office/drawing/2014/main" val="2438991701"/>
                    </a:ext>
                  </a:extLst>
                </a:gridCol>
                <a:gridCol w="496394">
                  <a:extLst>
                    <a:ext uri="{9D8B030D-6E8A-4147-A177-3AD203B41FA5}">
                      <a16:colId xmlns:a16="http://schemas.microsoft.com/office/drawing/2014/main" val="3847901672"/>
                    </a:ext>
                  </a:extLst>
                </a:gridCol>
                <a:gridCol w="496394">
                  <a:extLst>
                    <a:ext uri="{9D8B030D-6E8A-4147-A177-3AD203B41FA5}">
                      <a16:colId xmlns:a16="http://schemas.microsoft.com/office/drawing/2014/main" val="4012315422"/>
                    </a:ext>
                  </a:extLst>
                </a:gridCol>
                <a:gridCol w="496394">
                  <a:extLst>
                    <a:ext uri="{9D8B030D-6E8A-4147-A177-3AD203B41FA5}">
                      <a16:colId xmlns:a16="http://schemas.microsoft.com/office/drawing/2014/main" val="3712418488"/>
                    </a:ext>
                  </a:extLst>
                </a:gridCol>
                <a:gridCol w="558444">
                  <a:extLst>
                    <a:ext uri="{9D8B030D-6E8A-4147-A177-3AD203B41FA5}">
                      <a16:colId xmlns:a16="http://schemas.microsoft.com/office/drawing/2014/main" val="3689184111"/>
                    </a:ext>
                  </a:extLst>
                </a:gridCol>
                <a:gridCol w="558444">
                  <a:extLst>
                    <a:ext uri="{9D8B030D-6E8A-4147-A177-3AD203B41FA5}">
                      <a16:colId xmlns:a16="http://schemas.microsoft.com/office/drawing/2014/main" val="3050808302"/>
                    </a:ext>
                  </a:extLst>
                </a:gridCol>
                <a:gridCol w="558444">
                  <a:extLst>
                    <a:ext uri="{9D8B030D-6E8A-4147-A177-3AD203B41FA5}">
                      <a16:colId xmlns:a16="http://schemas.microsoft.com/office/drawing/2014/main" val="3771275734"/>
                    </a:ext>
                  </a:extLst>
                </a:gridCol>
                <a:gridCol w="496394">
                  <a:extLst>
                    <a:ext uri="{9D8B030D-6E8A-4147-A177-3AD203B41FA5}">
                      <a16:colId xmlns:a16="http://schemas.microsoft.com/office/drawing/2014/main" val="2453822089"/>
                    </a:ext>
                  </a:extLst>
                </a:gridCol>
                <a:gridCol w="496394">
                  <a:extLst>
                    <a:ext uri="{9D8B030D-6E8A-4147-A177-3AD203B41FA5}">
                      <a16:colId xmlns:a16="http://schemas.microsoft.com/office/drawing/2014/main" val="2174563874"/>
                    </a:ext>
                  </a:extLst>
                </a:gridCol>
                <a:gridCol w="4521845">
                  <a:extLst>
                    <a:ext uri="{9D8B030D-6E8A-4147-A177-3AD203B41FA5}">
                      <a16:colId xmlns:a16="http://schemas.microsoft.com/office/drawing/2014/main" val="3936281760"/>
                    </a:ext>
                  </a:extLst>
                </a:gridCol>
              </a:tblGrid>
              <a:tr h="320303">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27/07)</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47357604"/>
                  </a:ext>
                </a:extLst>
              </a:tr>
              <a:tr h="303480">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A/C</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Jan-26</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Feb-26</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972021657"/>
                  </a:ext>
                </a:extLst>
              </a:tr>
              <a:tr h="1514165">
                <a:tc>
                  <a:txBody>
                    <a:bodyPr/>
                    <a:lstStyle/>
                    <a:p>
                      <a:pPr algn="ctr" fontAlgn="ctr"/>
                      <a:r>
                        <a:rPr lang="en-US" sz="1200" b="1" i="0" u="none" strike="noStrike">
                          <a:solidFill>
                            <a:srgbClr val="000000"/>
                          </a:solidFill>
                          <a:effectLst/>
                          <a:latin typeface="Times New Roman" panose="02020603050405020304" pitchFamily="18" charset="0"/>
                        </a:rPr>
                        <a:t>1</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10.75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FF0000"/>
                          </a:solidFill>
                          <a:effectLst/>
                          <a:latin typeface="Times New Roman" panose="02020603050405020304" pitchFamily="18" charset="0"/>
                        </a:rPr>
                        <a:t>10.75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10.75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10.50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9.50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000000"/>
                          </a:solidFill>
                          <a:effectLst/>
                          <a:latin typeface="Times New Roman" panose="02020603050405020304" pitchFamily="18" charset="0"/>
                        </a:rPr>
                        <a:t>- Swap ENG A621 &amp; A625 từ cuối tháng 7 để giữ giờ ENG A621 khoảng 70CY khai thác cao điểm tết</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Bỏ giữ giờ ENG A618 do dự kiến giữa tháng 9 ENG 771079 về (sớm hơn dự kiến)</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+ 09/2025: </a:t>
                      </a:r>
                      <a:r>
                        <a:rPr lang="en-US" sz="1200" b="0" i="0" u="none" strike="noStrike" dirty="0" err="1">
                          <a:solidFill>
                            <a:srgbClr val="FF0000"/>
                          </a:solidFill>
                          <a:effectLst/>
                          <a:latin typeface="Times New Roman" panose="02020603050405020304" pitchFamily="18" charset="0"/>
                        </a:rPr>
                        <a:t>giảm</a:t>
                      </a:r>
                      <a:r>
                        <a:rPr lang="vi-VN" sz="1200" b="0" i="0" u="none" strike="noStrike" dirty="0">
                          <a:solidFill>
                            <a:srgbClr val="FF0000"/>
                          </a:solidFill>
                          <a:effectLst/>
                          <a:latin typeface="Times New Roman" panose="02020603050405020304" pitchFamily="18" charset="0"/>
                        </a:rPr>
                        <a:t> 0.5 tàu</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+ 10/2025 - 01/2026: </a:t>
                      </a:r>
                      <a:r>
                        <a:rPr lang="en-US" sz="1200" b="0" i="0" u="none" strike="noStrike" dirty="0" err="1">
                          <a:solidFill>
                            <a:srgbClr val="FF0000"/>
                          </a:solidFill>
                          <a:effectLst/>
                          <a:latin typeface="Times New Roman" panose="02020603050405020304" pitchFamily="18" charset="0"/>
                        </a:rPr>
                        <a:t>giảm</a:t>
                      </a:r>
                      <a:r>
                        <a:rPr lang="vi-VN" sz="1200" b="0" i="0" u="none" strike="noStrike" dirty="0">
                          <a:solidFill>
                            <a:srgbClr val="FF0000"/>
                          </a:solidFill>
                          <a:effectLst/>
                          <a:latin typeface="Times New Roman" panose="02020603050405020304" pitchFamily="18" charset="0"/>
                        </a:rPr>
                        <a:t> thêm 1 tàu</a:t>
                      </a:r>
                      <a:r>
                        <a:rPr lang="en-US" sz="1200" b="0" i="0" u="none" strike="noStrike">
                          <a:solidFill>
                            <a:srgbClr val="FF0000"/>
                          </a:solidFill>
                          <a:effectLst/>
                          <a:latin typeface="Times New Roman" panose="02020603050405020304" pitchFamily="18" charset="0"/>
                        </a:rPr>
                        <a:t>fa</a:t>
                      </a:r>
                      <a:r>
                        <a:rPr lang="vi-VN" sz="1200" b="0" i="0" u="none" strike="noStrike" dirty="0">
                          <a:solidFill>
                            <a:srgbClr val="FF0000"/>
                          </a:solidFill>
                          <a:effectLst/>
                          <a:latin typeface="Times New Roman" panose="02020603050405020304" pitchFamily="18" charset="0"/>
                        </a:rPr>
                        <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Swap ENG P770904/A616 với P771703/A512 (dự kiến hết hạn 02/2026) và giữ giờ 1 tháng 01/2026 để khai thác cao điểm tết 02/2026</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5121501"/>
                  </a:ext>
                </a:extLst>
              </a:tr>
              <a:tr h="436779">
                <a:tc>
                  <a:txBody>
                    <a:bodyPr/>
                    <a:lstStyle/>
                    <a:p>
                      <a:pPr algn="ctr" fontAlgn="ctr"/>
                      <a:r>
                        <a:rPr lang="en-US" sz="1200" b="1" i="0" u="none" strike="noStrike">
                          <a:solidFill>
                            <a:srgbClr val="000000"/>
                          </a:solidFill>
                          <a:effectLst/>
                          <a:latin typeface="Times New Roman" panose="02020603050405020304" pitchFamily="18" charset="0"/>
                        </a:rPr>
                        <a:t>2</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540888224"/>
                  </a:ext>
                </a:extLst>
              </a:tr>
              <a:tr h="1218449">
                <a:tc>
                  <a:txBody>
                    <a:bodyPr/>
                    <a:lstStyle/>
                    <a:p>
                      <a:pPr algn="ctr" fontAlgn="ctr"/>
                      <a:r>
                        <a:rPr lang="en-US" sz="1200" b="1" i="0" u="none" strike="noStrike">
                          <a:solidFill>
                            <a:srgbClr val="000000"/>
                          </a:solidFill>
                          <a:effectLst/>
                          <a:latin typeface="Times New Roman" panose="02020603050405020304" pitchFamily="18" charset="0"/>
                        </a:rPr>
                        <a:t>3</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4.40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- 07/2025: tăng 0.2 tàu do lùi thay càng A613 bay thay cho A338 AOG do va chạm với A863 (dự kiến từ 27/06-12/07)</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- 08/2025: tăng 0.4 tàu do dồn dịch lịch BD tháng 06-07/2025 bay bù cho tàu AOG và ENG về muộn</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- 09/2025: tăng 0.4 tàu do dồn dịch BD tháng 06-07/2025 bay bù cho tàu AOG và ENG về muộn</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7463396"/>
                  </a:ext>
                </a:extLst>
              </a:tr>
              <a:tr h="446484">
                <a:tc>
                  <a:txBody>
                    <a:bodyPr/>
                    <a:lstStyle/>
                    <a:p>
                      <a:pPr algn="ctr" fontAlgn="ctr"/>
                      <a:r>
                        <a:rPr lang="en-US" sz="1200" b="1" i="0" u="none" strike="noStrike">
                          <a:solidFill>
                            <a:srgbClr val="000000"/>
                          </a:solidFill>
                          <a:effectLst/>
                          <a:latin typeface="Times New Roman" panose="02020603050405020304" pitchFamily="18" charset="0"/>
                        </a:rPr>
                        <a:t>4</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11.85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14.50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15.40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13.75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14.75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14.50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9.80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672540056"/>
                  </a:ext>
                </a:extLst>
              </a:tr>
              <a:tr h="611490">
                <a:tc>
                  <a:txBody>
                    <a:bodyPr/>
                    <a:lstStyle/>
                    <a:p>
                      <a:pPr algn="ctr" fontAlgn="ctr"/>
                      <a:r>
                        <a:rPr lang="en-US" sz="1200" b="1" i="0" u="none" strike="noStrike">
                          <a:solidFill>
                            <a:srgbClr val="000000"/>
                          </a:solidFill>
                          <a:effectLst/>
                          <a:latin typeface="Times New Roman" panose="02020603050405020304" pitchFamily="18" charset="0"/>
                        </a:rPr>
                        <a:t>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thực tế có thể khai thác (bao gồm tàu thuê)</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53.75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52.50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51.60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53.25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54.90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59.20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rPr>
                        <a:t>Kịch bản:</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- 2 tàu thuê ướt từ 21/07/25-21/01/26</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- 5 tàu thuê khô  (12/2025: 2, 01/2026: 1, 02/2026: 1, 05/2026: 1)</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7099714"/>
                  </a:ext>
                </a:extLst>
              </a:tr>
              <a:tr h="446484">
                <a:tc>
                  <a:txBody>
                    <a:bodyPr/>
                    <a:lstStyle/>
                    <a:p>
                      <a:pPr algn="ctr" fontAlgn="ctr"/>
                      <a:r>
                        <a:rPr lang="en-US" sz="1200" b="1" i="0" u="none" strike="noStrike">
                          <a:solidFill>
                            <a:srgbClr val="000000"/>
                          </a:solidFill>
                          <a:effectLst/>
                          <a:latin typeface="Times New Roman" panose="02020603050405020304" pitchFamily="18" charset="0"/>
                        </a:rPr>
                        <a:t>6</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nhu cầu A321 yêu cầu từ KHPT</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53.00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50.20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50.10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50.00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51.00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51.00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51.00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56.00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78371464"/>
                  </a:ext>
                </a:extLst>
              </a:tr>
              <a:tr h="417366">
                <a:tc>
                  <a:txBody>
                    <a:bodyPr/>
                    <a:lstStyle/>
                    <a:p>
                      <a:pPr algn="ctr" fontAlgn="ctr"/>
                      <a:r>
                        <a:rPr lang="en-US" sz="1200" b="1" i="0" u="none" strike="noStrike">
                          <a:solidFill>
                            <a:srgbClr val="000000"/>
                          </a:solidFill>
                          <a:effectLst/>
                          <a:latin typeface="Times New Roman" panose="02020603050405020304" pitchFamily="18" charset="0"/>
                        </a:rPr>
                        <a:t>7</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Tổng số A321 so với nhu cầu của KHPT</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(7) = (5) - (6)</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0.75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B6E"/>
                    </a:solidFill>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EB84"/>
                    </a:solidFill>
                  </a:tcPr>
                </a:tc>
                <a:tc>
                  <a:txBody>
                    <a:bodyPr/>
                    <a:lstStyle/>
                    <a:p>
                      <a:pPr algn="ctr" fontAlgn="ctr"/>
                      <a:r>
                        <a:rPr lang="en-US" sz="1200" b="0" i="0" u="none" strike="noStrike">
                          <a:solidFill>
                            <a:srgbClr val="000000"/>
                          </a:solidFill>
                          <a:effectLst/>
                          <a:latin typeface="Times New Roman" panose="02020603050405020304" pitchFamily="18" charset="0"/>
                        </a:rPr>
                        <a:t>1.50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379"/>
                    </a:solid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880"/>
                    </a:solidFill>
                  </a:tcPr>
                </a:tc>
                <a:tc>
                  <a:txBody>
                    <a:bodyPr/>
                    <a:lstStyle/>
                    <a:p>
                      <a:pPr algn="ctr" fontAlgn="ctr"/>
                      <a:r>
                        <a:rPr lang="en-US" sz="1200" b="0" i="0" u="none" strike="noStrike">
                          <a:solidFill>
                            <a:srgbClr val="000000"/>
                          </a:solidFill>
                          <a:effectLst/>
                          <a:latin typeface="Times New Roman" panose="02020603050405020304" pitchFamily="18" charset="0"/>
                        </a:rPr>
                        <a:t>2.25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r>
                        <a:rPr lang="en-US" sz="1200" b="0" i="0" u="none" strike="noStrike">
                          <a:solidFill>
                            <a:srgbClr val="000000"/>
                          </a:solidFill>
                          <a:effectLst/>
                          <a:latin typeface="Times New Roman" panose="02020603050405020304" pitchFamily="18" charset="0"/>
                        </a:rPr>
                        <a:t>3.25</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DB81"/>
                    </a:solidFill>
                  </a:tcPr>
                </a:tc>
                <a:tc>
                  <a:txBody>
                    <a:bodyPr/>
                    <a:lstStyle/>
                    <a:p>
                      <a:pPr algn="ctr" fontAlgn="ctr"/>
                      <a:r>
                        <a:rPr lang="en-US" sz="1200" b="0" i="0" u="none" strike="noStrike">
                          <a:solidFill>
                            <a:srgbClr val="000000"/>
                          </a:solidFill>
                          <a:effectLst/>
                          <a:latin typeface="Times New Roman" panose="02020603050405020304" pitchFamily="18" charset="0"/>
                        </a:rPr>
                        <a:t>3.90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2D17F"/>
                    </a:solid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DC81"/>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137" marR="7137" marT="71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2924967"/>
                  </a:ext>
                </a:extLst>
              </a:tr>
            </a:tbl>
          </a:graphicData>
        </a:graphic>
      </p:graphicFrame>
    </p:spTree>
    <p:extLst>
      <p:ext uri="{BB962C8B-B14F-4D97-AF65-F5344CB8AC3E}">
        <p14:creationId xmlns:p14="http://schemas.microsoft.com/office/powerpoint/2010/main" val="28997905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5" name="Table 4">
            <a:extLst>
              <a:ext uri="{FF2B5EF4-FFF2-40B4-BE49-F238E27FC236}">
                <a16:creationId xmlns:a16="http://schemas.microsoft.com/office/drawing/2014/main" id="{FFF43D46-5BA6-4770-BCD4-E1AF84141E18}"/>
              </a:ext>
            </a:extLst>
          </p:cNvPr>
          <p:cNvGraphicFramePr>
            <a:graphicFrameLocks noGrp="1"/>
          </p:cNvGraphicFramePr>
          <p:nvPr>
            <p:extLst/>
          </p:nvPr>
        </p:nvGraphicFramePr>
        <p:xfrm>
          <a:off x="381000" y="685800"/>
          <a:ext cx="11734801" cy="5943601"/>
        </p:xfrm>
        <a:graphic>
          <a:graphicData uri="http://schemas.openxmlformats.org/drawingml/2006/table">
            <a:tbl>
              <a:tblPr/>
              <a:tblGrid>
                <a:gridCol w="337455">
                  <a:extLst>
                    <a:ext uri="{9D8B030D-6E8A-4147-A177-3AD203B41FA5}">
                      <a16:colId xmlns:a16="http://schemas.microsoft.com/office/drawing/2014/main" val="2935962400"/>
                    </a:ext>
                  </a:extLst>
                </a:gridCol>
                <a:gridCol w="2597447">
                  <a:extLst>
                    <a:ext uri="{9D8B030D-6E8A-4147-A177-3AD203B41FA5}">
                      <a16:colId xmlns:a16="http://schemas.microsoft.com/office/drawing/2014/main" val="1054669197"/>
                    </a:ext>
                  </a:extLst>
                </a:gridCol>
                <a:gridCol w="517432">
                  <a:extLst>
                    <a:ext uri="{9D8B030D-6E8A-4147-A177-3AD203B41FA5}">
                      <a16:colId xmlns:a16="http://schemas.microsoft.com/office/drawing/2014/main" val="4266473553"/>
                    </a:ext>
                  </a:extLst>
                </a:gridCol>
                <a:gridCol w="517432">
                  <a:extLst>
                    <a:ext uri="{9D8B030D-6E8A-4147-A177-3AD203B41FA5}">
                      <a16:colId xmlns:a16="http://schemas.microsoft.com/office/drawing/2014/main" val="1860391510"/>
                    </a:ext>
                  </a:extLst>
                </a:gridCol>
                <a:gridCol w="517432">
                  <a:extLst>
                    <a:ext uri="{9D8B030D-6E8A-4147-A177-3AD203B41FA5}">
                      <a16:colId xmlns:a16="http://schemas.microsoft.com/office/drawing/2014/main" val="789693535"/>
                    </a:ext>
                  </a:extLst>
                </a:gridCol>
                <a:gridCol w="584925">
                  <a:extLst>
                    <a:ext uri="{9D8B030D-6E8A-4147-A177-3AD203B41FA5}">
                      <a16:colId xmlns:a16="http://schemas.microsoft.com/office/drawing/2014/main" val="1531292555"/>
                    </a:ext>
                  </a:extLst>
                </a:gridCol>
                <a:gridCol w="584925">
                  <a:extLst>
                    <a:ext uri="{9D8B030D-6E8A-4147-A177-3AD203B41FA5}">
                      <a16:colId xmlns:a16="http://schemas.microsoft.com/office/drawing/2014/main" val="3594630314"/>
                    </a:ext>
                  </a:extLst>
                </a:gridCol>
                <a:gridCol w="584925">
                  <a:extLst>
                    <a:ext uri="{9D8B030D-6E8A-4147-A177-3AD203B41FA5}">
                      <a16:colId xmlns:a16="http://schemas.microsoft.com/office/drawing/2014/main" val="851019844"/>
                    </a:ext>
                  </a:extLst>
                </a:gridCol>
                <a:gridCol w="517432">
                  <a:extLst>
                    <a:ext uri="{9D8B030D-6E8A-4147-A177-3AD203B41FA5}">
                      <a16:colId xmlns:a16="http://schemas.microsoft.com/office/drawing/2014/main" val="2082743162"/>
                    </a:ext>
                  </a:extLst>
                </a:gridCol>
                <a:gridCol w="438693">
                  <a:extLst>
                    <a:ext uri="{9D8B030D-6E8A-4147-A177-3AD203B41FA5}">
                      <a16:colId xmlns:a16="http://schemas.microsoft.com/office/drawing/2014/main" val="2708630759"/>
                    </a:ext>
                  </a:extLst>
                </a:gridCol>
                <a:gridCol w="4536703">
                  <a:extLst>
                    <a:ext uri="{9D8B030D-6E8A-4147-A177-3AD203B41FA5}">
                      <a16:colId xmlns:a16="http://schemas.microsoft.com/office/drawing/2014/main" val="1985960757"/>
                    </a:ext>
                  </a:extLst>
                </a:gridCol>
              </a:tblGrid>
              <a:tr h="283520">
                <a:tc gridSpan="11">
                  <a:txBody>
                    <a:bodyPr/>
                    <a:lstStyle/>
                    <a:p>
                      <a:pPr algn="ctr" fontAlgn="ctr"/>
                      <a:r>
                        <a:rPr lang="en-US" sz="1300" b="1" i="0" u="none" strike="noStrike" dirty="0">
                          <a:solidFill>
                            <a:srgbClr val="000000"/>
                          </a:solidFill>
                          <a:effectLst/>
                          <a:latin typeface="Times New Roman" panose="02020603050405020304" pitchFamily="18" charset="0"/>
                        </a:rPr>
                        <a:t>NGUỒN LỰC KỸ THUÂT A350/B787 (CẬP NHẬT 27/07)</a:t>
                      </a:r>
                    </a:p>
                  </a:txBody>
                  <a:tcPr marL="6290" marR="6290" marT="629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97938326"/>
                  </a:ext>
                </a:extLst>
              </a:tr>
              <a:tr h="268628">
                <a:tc>
                  <a:txBody>
                    <a:bodyPr/>
                    <a:lstStyle/>
                    <a:p>
                      <a:pPr algn="ctr" fontAlgn="ctr"/>
                      <a:r>
                        <a:rPr lang="en-US" sz="1100" b="1" i="0" u="none" strike="noStrike">
                          <a:solidFill>
                            <a:srgbClr val="000000"/>
                          </a:solidFill>
                          <a:effectLst/>
                          <a:latin typeface="Times New Roman" panose="02020603050405020304" pitchFamily="18" charset="0"/>
                        </a:rPr>
                        <a:t>STT</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A/C</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Jul-25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Aug-25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Sep-25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Oct-25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Nov-25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Dec-25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Jan-26</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Feb-26</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100" b="1" i="0" u="none" strike="noStrike">
                          <a:solidFill>
                            <a:srgbClr val="000000"/>
                          </a:solidFill>
                          <a:effectLst/>
                          <a:latin typeface="Times New Roman" panose="02020603050405020304" pitchFamily="18" charset="0"/>
                        </a:rPr>
                        <a:t>Note</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664160222"/>
                  </a:ext>
                </a:extLst>
              </a:tr>
              <a:tr h="365425">
                <a:tc>
                  <a:txBody>
                    <a:bodyPr/>
                    <a:lstStyle/>
                    <a:p>
                      <a:pPr algn="ctr" fontAlgn="ctr"/>
                      <a:r>
                        <a:rPr lang="en-US" sz="1100" b="0" i="0" u="none" strike="noStrike">
                          <a:solidFill>
                            <a:srgbClr val="000000"/>
                          </a:solidFill>
                          <a:effectLst/>
                          <a:latin typeface="Times New Roman" panose="02020603050405020304" pitchFamily="18" charset="0"/>
                        </a:rPr>
                        <a:t>1</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1" i="0" u="none" strike="noStrike">
                          <a:solidFill>
                            <a:srgbClr val="000000"/>
                          </a:solidFill>
                          <a:effectLst/>
                          <a:latin typeface="Times New Roman" panose="02020603050405020304" pitchFamily="18" charset="0"/>
                        </a:rPr>
                        <a:t>A350 AOG do thiếu ENG</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rPr>
                        <a:t>1.5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- 08/2025: tăng 1 tàu do ENG về muộn, trong đó giai doạn từ 11-25/08 có 3 tàu A350 dừng (KH cũ 2 tàu dừng)</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1670870"/>
                  </a:ext>
                </a:extLst>
              </a:tr>
              <a:tr h="781827">
                <a:tc>
                  <a:txBody>
                    <a:bodyPr/>
                    <a:lstStyle/>
                    <a:p>
                      <a:pPr algn="ctr" fontAlgn="ctr"/>
                      <a:r>
                        <a:rPr lang="en-US" sz="1100" b="0" i="0" u="none" strike="noStrike">
                          <a:solidFill>
                            <a:srgbClr val="000000"/>
                          </a:solidFill>
                          <a:effectLst/>
                          <a:latin typeface="Times New Roman" panose="02020603050405020304" pitchFamily="18" charset="0"/>
                        </a:rPr>
                        <a:t>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rPr>
                        <a:t>A350 dừng BD</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rPr>
                        <a:t>- 07/2025: Giảm 0.2 tàu dừng do lùi Check A894, A898 (chỉ làm gói công việc tối thiểu) và rút ngắt RTS A886 2 ngày, dự kiến hết 03/07 (KH cũ 05/07)</a:t>
                      </a:r>
                      <a:br>
                        <a:rPr lang="en-US" sz="1100" b="0" i="0" u="none" strike="noStrike">
                          <a:solidFill>
                            <a:srgbClr val="000000"/>
                          </a:solidFill>
                          <a:effectLst/>
                          <a:latin typeface="Times New Roman" panose="02020603050405020304" pitchFamily="18" charset="0"/>
                        </a:rPr>
                      </a:br>
                      <a:r>
                        <a:rPr lang="en-US" sz="1100" b="0" i="0" u="none" strike="noStrike">
                          <a:solidFill>
                            <a:srgbClr val="000000"/>
                          </a:solidFill>
                          <a:effectLst/>
                          <a:latin typeface="Times New Roman" panose="02020603050405020304" pitchFamily="18" charset="0"/>
                        </a:rPr>
                        <a:t>- 09/2025: xin NN Y3 A890 (TAT 10 ngày) để giữ nguồn lực do A895 RTS muộn, dự kiến 15/09 (thay KH cũ cuối tháng 8/2025)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285462868"/>
                  </a:ext>
                </a:extLst>
              </a:tr>
              <a:tr h="343660">
                <a:tc>
                  <a:txBody>
                    <a:bodyPr/>
                    <a:lstStyle/>
                    <a:p>
                      <a:pPr algn="ctr" fontAlgn="ctr"/>
                      <a:r>
                        <a:rPr lang="en-US" sz="1100" b="0" i="0" u="none" strike="noStrike">
                          <a:solidFill>
                            <a:srgbClr val="000000"/>
                          </a:solidFill>
                          <a:effectLst/>
                          <a:latin typeface="Times New Roman" panose="02020603050405020304" pitchFamily="18" charset="0"/>
                        </a:rPr>
                        <a:t>3</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A350 Dừng (ENG + BD)</a:t>
                      </a:r>
                      <a:br>
                        <a:rPr lang="en-US" sz="1100" b="1" i="0" u="none" strike="noStrike">
                          <a:solidFill>
                            <a:srgbClr val="000000"/>
                          </a:solidFill>
                          <a:effectLst/>
                          <a:latin typeface="Times New Roman" panose="02020603050405020304" pitchFamily="18" charset="0"/>
                        </a:rPr>
                      </a:br>
                      <a:r>
                        <a:rPr lang="en-US" sz="1100" b="1" i="0" u="none" strike="noStrike">
                          <a:solidFill>
                            <a:srgbClr val="000000"/>
                          </a:solidFill>
                          <a:effectLst/>
                          <a:latin typeface="Times New Roman" panose="02020603050405020304" pitchFamily="18" charset="0"/>
                        </a:rPr>
                        <a:t>(3) = (1) + (2)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3841451"/>
                  </a:ext>
                </a:extLst>
              </a:tr>
              <a:tr h="343660">
                <a:tc>
                  <a:txBody>
                    <a:bodyPr/>
                    <a:lstStyle/>
                    <a:p>
                      <a:pPr algn="ctr" fontAlgn="ctr"/>
                      <a:r>
                        <a:rPr lang="en-US" sz="1100" b="0" i="0" u="none" strike="noStrike">
                          <a:solidFill>
                            <a:srgbClr val="000000"/>
                          </a:solidFill>
                          <a:effectLst/>
                          <a:latin typeface="Times New Roman" panose="02020603050405020304" pitchFamily="18" charset="0"/>
                        </a:rPr>
                        <a:t>4</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rPr>
                        <a:t>A350 thực tế có thể khai thác</a:t>
                      </a:r>
                      <a:br>
                        <a:rPr lang="en-US" sz="1100" b="1" i="0" u="none" strike="noStrike">
                          <a:solidFill>
                            <a:srgbClr val="000000"/>
                          </a:solidFill>
                          <a:effectLst/>
                          <a:latin typeface="Times New Roman" panose="02020603050405020304" pitchFamily="18" charset="0"/>
                        </a:rPr>
                      </a:br>
                      <a:r>
                        <a:rPr lang="en-US" sz="1100" b="1" i="0" u="none" strike="noStrike">
                          <a:solidFill>
                            <a:srgbClr val="000000"/>
                          </a:solidFill>
                          <a:effectLst/>
                          <a:latin typeface="Times New Roman" panose="02020603050405020304" pitchFamily="18" charset="0"/>
                        </a:rPr>
                        <a:t>(4) = 14 - (3)</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12.8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12.0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13.8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458504936"/>
                  </a:ext>
                </a:extLst>
              </a:tr>
              <a:tr h="343660">
                <a:tc>
                  <a:txBody>
                    <a:bodyPr/>
                    <a:lstStyle/>
                    <a:p>
                      <a:pPr algn="ctr" fontAlgn="ctr"/>
                      <a:r>
                        <a:rPr lang="en-US" sz="1100" b="0" i="0" u="none" strike="noStrike">
                          <a:solidFill>
                            <a:srgbClr val="000000"/>
                          </a:solidFill>
                          <a:effectLst/>
                          <a:latin typeface="Times New Roman" panose="02020603050405020304" pitchFamily="18" charset="0"/>
                        </a:rPr>
                        <a:t>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1" i="0" u="none" strike="noStrike">
                          <a:solidFill>
                            <a:srgbClr val="000000"/>
                          </a:solidFill>
                          <a:effectLst/>
                          <a:latin typeface="Times New Roman" panose="02020603050405020304" pitchFamily="18" charset="0"/>
                        </a:rPr>
                        <a:t>B787 rủi ro AOG do ENG</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Rủi ro phát sinh tàu AOG do ENG A863 BSI 50CY.</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638225"/>
                  </a:ext>
                </a:extLst>
              </a:tr>
              <a:tr h="1151261">
                <a:tc>
                  <a:txBody>
                    <a:bodyPr/>
                    <a:lstStyle/>
                    <a:p>
                      <a:pPr algn="ctr" fontAlgn="ctr"/>
                      <a:r>
                        <a:rPr lang="en-US" sz="1100" b="0" i="0" u="none" strike="noStrike">
                          <a:solidFill>
                            <a:srgbClr val="000000"/>
                          </a:solidFill>
                          <a:effectLst/>
                          <a:latin typeface="Times New Roman" panose="02020603050405020304" pitchFamily="18" charset="0"/>
                        </a:rPr>
                        <a:t>6</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rPr>
                        <a:t>B787 dừng BD</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100" b="0" i="0" u="none" strike="noStrike" dirty="0">
                          <a:solidFill>
                            <a:srgbClr val="000000"/>
                          </a:solidFill>
                          <a:effectLst/>
                          <a:latin typeface="Times New Roman" panose="02020603050405020304" pitchFamily="18" charset="0"/>
                        </a:rPr>
                        <a:t>- 07/2025: Tăng 0.5 tàu do A863 AOG từ 27/06 - 01/08 do va chạm với A338, lùi các định kỳ dưới đây sáng tháng 8 để bay bù A863:</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A879: A04 + PIVOT PIN từ 25-28/07 (xin NN làm gói MIN WS tháng 08)</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A872: A04 từ 29-30/07 (xin NN làm gói MIN WS tháng 08)</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A864: A06 từ 31/07-03/08 (xin NN làm gói MIN WS tháng 08).</a:t>
                      </a:r>
                      <a:br>
                        <a:rPr lang="vi-VN" sz="1100" b="0" i="0" u="none" strike="noStrike" dirty="0">
                          <a:solidFill>
                            <a:srgbClr val="000000"/>
                          </a:solidFill>
                          <a:effectLst/>
                          <a:latin typeface="Times New Roman" panose="02020603050405020304" pitchFamily="18" charset="0"/>
                        </a:rPr>
                      </a:br>
                      <a:r>
                        <a:rPr lang="vi-VN" sz="1100" b="0" i="0" u="none" strike="noStrike" dirty="0">
                          <a:solidFill>
                            <a:srgbClr val="000000"/>
                          </a:solidFill>
                          <a:effectLst/>
                          <a:latin typeface="Times New Roman" panose="02020603050405020304" pitchFamily="18" charset="0"/>
                        </a:rPr>
                        <a:t>- 09/2025: tăng 0.2 tàu dừng do dồn dịch lịch BD tháng 07/2025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467095350"/>
                  </a:ext>
                </a:extLst>
              </a:tr>
              <a:tr h="343660">
                <a:tc>
                  <a:txBody>
                    <a:bodyPr/>
                    <a:lstStyle/>
                    <a:p>
                      <a:pPr algn="ctr" fontAlgn="ctr"/>
                      <a:r>
                        <a:rPr lang="en-US" sz="1100" b="0" i="0" u="none" strike="noStrike">
                          <a:solidFill>
                            <a:srgbClr val="000000"/>
                          </a:solidFill>
                          <a:effectLst/>
                          <a:latin typeface="Times New Roman" panose="02020603050405020304" pitchFamily="18" charset="0"/>
                        </a:rPr>
                        <a:t>7</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100" b="1" i="0" u="none" strike="noStrike">
                          <a:solidFill>
                            <a:srgbClr val="000000"/>
                          </a:solidFill>
                          <a:effectLst/>
                          <a:latin typeface="Times New Roman" panose="02020603050405020304" pitchFamily="18" charset="0"/>
                        </a:rPr>
                        <a:t>B787 Dừng (ENG + BD)</a:t>
                      </a:r>
                      <a:br>
                        <a:rPr lang="nb-NO" sz="1100" b="1" i="0" u="none" strike="noStrike">
                          <a:solidFill>
                            <a:srgbClr val="000000"/>
                          </a:solidFill>
                          <a:effectLst/>
                          <a:latin typeface="Times New Roman" panose="02020603050405020304" pitchFamily="18" charset="0"/>
                        </a:rPr>
                      </a:br>
                      <a:r>
                        <a:rPr lang="nb-NO" sz="1100" b="1" i="0" u="none" strike="noStrike">
                          <a:solidFill>
                            <a:srgbClr val="000000"/>
                          </a:solidFill>
                          <a:effectLst/>
                          <a:latin typeface="Times New Roman" panose="02020603050405020304" pitchFamily="18" charset="0"/>
                        </a:rPr>
                        <a:t>(7) = (5) + (6)</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34159713"/>
                  </a:ext>
                </a:extLst>
              </a:tr>
              <a:tr h="343660">
                <a:tc>
                  <a:txBody>
                    <a:bodyPr/>
                    <a:lstStyle/>
                    <a:p>
                      <a:pPr algn="ctr" fontAlgn="ctr"/>
                      <a:r>
                        <a:rPr lang="en-US" sz="1100" b="0" i="0" u="none" strike="noStrike">
                          <a:solidFill>
                            <a:srgbClr val="000000"/>
                          </a:solidFill>
                          <a:effectLst/>
                          <a:latin typeface="Times New Roman" panose="02020603050405020304" pitchFamily="18" charset="0"/>
                        </a:rPr>
                        <a:t>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rPr>
                        <a:t>B787 thực tế có thể khai thác</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15.8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16.0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15.8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15.8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15.8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16.0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16.0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16.8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759174158"/>
                  </a:ext>
                </a:extLst>
              </a:tr>
              <a:tr h="343660">
                <a:tc>
                  <a:txBody>
                    <a:bodyPr/>
                    <a:lstStyle/>
                    <a:p>
                      <a:pPr algn="ctr" fontAlgn="ctr"/>
                      <a:r>
                        <a:rPr lang="en-US" sz="1100" b="0" i="0" u="none" strike="noStrike">
                          <a:solidFill>
                            <a:srgbClr val="000000"/>
                          </a:solidFill>
                          <a:effectLst/>
                          <a:latin typeface="Times New Roman" panose="02020603050405020304" pitchFamily="18" charset="0"/>
                        </a:rPr>
                        <a:t>9</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A350/B787 dừng ( ENG + BD)</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2.4</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4.2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4.2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4.2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0.4</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3004269"/>
                  </a:ext>
                </a:extLst>
              </a:tr>
              <a:tr h="343660">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rPr>
                        <a:t>A350/B787 thực tế có thể khai thác</a:t>
                      </a:r>
                      <a:br>
                        <a:rPr lang="en-US" sz="1100" b="1" i="0" u="none" strike="noStrike">
                          <a:solidFill>
                            <a:srgbClr val="000000"/>
                          </a:solidFill>
                          <a:effectLst/>
                          <a:latin typeface="Times New Roman" panose="02020603050405020304" pitchFamily="18" charset="0"/>
                        </a:rPr>
                      </a:br>
                      <a:r>
                        <a:rPr lang="en-US" sz="1100" b="1" i="0" u="none" strike="noStrike">
                          <a:solidFill>
                            <a:srgbClr val="000000"/>
                          </a:solidFill>
                          <a:effectLst/>
                          <a:latin typeface="Times New Roman" panose="02020603050405020304" pitchFamily="18" charset="0"/>
                        </a:rPr>
                        <a:t>(10) = (8) + (4)</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28.6</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27.2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26.8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26.8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26.8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28.0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28.5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30.6</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08374622"/>
                  </a:ext>
                </a:extLst>
              </a:tr>
              <a:tr h="343660">
                <a:tc>
                  <a:txBody>
                    <a:bodyPr/>
                    <a:lstStyle/>
                    <a:p>
                      <a:pPr algn="ctr" fontAlgn="ctr"/>
                      <a:r>
                        <a:rPr lang="en-US" sz="1100" b="0" i="0" u="none" strike="noStrike">
                          <a:solidFill>
                            <a:srgbClr val="000000"/>
                          </a:solidFill>
                          <a:effectLst/>
                          <a:latin typeface="Times New Roman" panose="02020603050405020304" pitchFamily="18" charset="0"/>
                        </a:rPr>
                        <a:t>11</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Tổng nhu cầu A350/B787 yêu cầu từ KHPT</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29.0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27.0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27.0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27.0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27.0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30.0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9116302"/>
                  </a:ext>
                </a:extLst>
              </a:tr>
              <a:tr h="343660">
                <a:tc>
                  <a:txBody>
                    <a:bodyPr/>
                    <a:lstStyle/>
                    <a:p>
                      <a:pPr algn="ctr" fontAlgn="ctr"/>
                      <a:r>
                        <a:rPr lang="en-US" sz="1100" b="0" i="0" u="none" strike="noStrike">
                          <a:solidFill>
                            <a:srgbClr val="000000"/>
                          </a:solidFill>
                          <a:effectLst/>
                          <a:latin typeface="Times New Roman" panose="02020603050405020304" pitchFamily="18" charset="0"/>
                        </a:rPr>
                        <a:t>12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1" i="0" u="none" strike="noStrike">
                          <a:solidFill>
                            <a:srgbClr val="000000"/>
                          </a:solidFill>
                          <a:effectLst/>
                          <a:latin typeface="Times New Roman" panose="02020603050405020304" pitchFamily="18" charset="0"/>
                        </a:rPr>
                        <a:t>A350/B787 so với nhu cầu của KHPT</a:t>
                      </a:r>
                      <a:br>
                        <a:rPr lang="en-US" sz="1100" b="1" i="0" u="none" strike="noStrike">
                          <a:solidFill>
                            <a:srgbClr val="000000"/>
                          </a:solidFill>
                          <a:effectLst/>
                          <a:latin typeface="Times New Roman" panose="02020603050405020304" pitchFamily="18" charset="0"/>
                        </a:rPr>
                      </a:br>
                      <a:r>
                        <a:rPr lang="en-US" sz="1100" b="1" i="0" u="none" strike="noStrike">
                          <a:solidFill>
                            <a:srgbClr val="000000"/>
                          </a:solidFill>
                          <a:effectLst/>
                          <a:latin typeface="Times New Roman" panose="02020603050405020304" pitchFamily="18" charset="0"/>
                        </a:rPr>
                        <a:t>(12) = (11) - (10)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FF0000"/>
                          </a:solidFill>
                          <a:effectLst/>
                          <a:latin typeface="Times New Roman" panose="02020603050405020304" pitchFamily="18" charset="0"/>
                        </a:rPr>
                        <a:t>-1.4</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FF0000"/>
                          </a:solidFill>
                          <a:effectLst/>
                          <a:latin typeface="Times New Roman" panose="02020603050405020304" pitchFamily="18" charset="0"/>
                        </a:rPr>
                        <a:t>-1.8</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100" b="0" i="0" u="none" strike="noStrike">
                          <a:solidFill>
                            <a:srgbClr val="FF0000"/>
                          </a:solidFill>
                          <a:effectLst/>
                          <a:latin typeface="Times New Roman" panose="02020603050405020304" pitchFamily="18" charset="0"/>
                        </a:rPr>
                        <a:t>-0.2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-0.2</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1.0</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0.5</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100" b="0" i="0" u="none" strike="noStrike">
                          <a:solidFill>
                            <a:srgbClr val="000000"/>
                          </a:solidFill>
                          <a:effectLst/>
                          <a:latin typeface="Times New Roman" panose="02020603050405020304" pitchFamily="18" charset="0"/>
                        </a:rPr>
                        <a:t>0.6</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100" b="0" i="0" u="none" strike="noStrike" dirty="0">
                          <a:solidFill>
                            <a:srgbClr val="000000"/>
                          </a:solidFill>
                          <a:effectLst/>
                          <a:latin typeface="Times New Roman" panose="02020603050405020304" pitchFamily="18" charset="0"/>
                        </a:rPr>
                        <a:t> </a:t>
                      </a:r>
                    </a:p>
                  </a:txBody>
                  <a:tcPr marL="6290" marR="6290" marT="629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93973033"/>
                  </a:ext>
                </a:extLst>
              </a:tr>
            </a:tbl>
          </a:graphicData>
        </a:graphic>
      </p:graphicFrame>
    </p:spTree>
    <p:extLst>
      <p:ext uri="{BB962C8B-B14F-4D97-AF65-F5344CB8AC3E}">
        <p14:creationId xmlns:p14="http://schemas.microsoft.com/office/powerpoint/2010/main" val="24056187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70778"/>
            <a:ext cx="2743200" cy="365125"/>
          </a:xfrm>
        </p:spPr>
        <p:txBody>
          <a:bodyPr>
            <a:normAutofit/>
          </a:bodyPr>
          <a:lstStyle/>
          <a:p>
            <a:fld id="{6C6B6B8D-D74E-47CD-B5EE-156060B7CD17}" type="slidenum">
              <a:rPr lang="en-US" sz="1100" smtClean="0"/>
              <a:pPr/>
              <a:t>41</a:t>
            </a:fld>
            <a:endParaRPr lang="en-US" sz="1100" dirty="0"/>
          </a:p>
        </p:txBody>
      </p:sp>
      <p:sp>
        <p:nvSpPr>
          <p:cNvPr id="21" name="TextBox 20"/>
          <p:cNvSpPr txBox="1"/>
          <p:nvPr/>
        </p:nvSpPr>
        <p:spPr>
          <a:xfrm>
            <a:off x="685800" y="59329"/>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30</a:t>
            </a:r>
            <a:endParaRPr lang="vi-VN" sz="2700" dirty="0"/>
          </a:p>
        </p:txBody>
      </p:sp>
      <p:sp>
        <p:nvSpPr>
          <p:cNvPr id="22" name="TextBox 21"/>
          <p:cNvSpPr txBox="1"/>
          <p:nvPr/>
        </p:nvSpPr>
        <p:spPr>
          <a:xfrm>
            <a:off x="381000" y="3429000"/>
            <a:ext cx="11674151" cy="317221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2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2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endParaRPr lang="en-US" sz="1400" b="1" dirty="0">
              <a:latin typeface="Times New Roman" panose="02020603050405020304" pitchFamily="18" charset="0"/>
              <a:cs typeface="Times New Roman" panose="02020603050405020304" pitchFamily="18" charset="0"/>
            </a:endParaRPr>
          </a:p>
          <a:p>
            <a:pPr marL="285750" indent="-285750">
              <a:lnSpc>
                <a:spcPct val="120000"/>
              </a:lnSpc>
              <a:buFontTx/>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21a,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17ea.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2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10</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2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07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panose="02020603050405020304" pitchFamily="18" charset="0"/>
              <a:cs typeface="Times New Roman" panose="02020603050405020304" pitchFamily="18" charset="0"/>
            </a:endParaRPr>
          </a:p>
          <a:p>
            <a:pPr lvl="1">
              <a:lnSpc>
                <a:spcPct val="120000"/>
              </a:lnSpc>
              <a:buClr>
                <a:srgbClr val="000000"/>
              </a:buClr>
              <a:buSzPts val="1300"/>
            </a:pPr>
            <a:r>
              <a:rPr lang="en-US" sz="1400" dirty="0">
                <a:latin typeface="Times New Roman" panose="02020603050405020304" pitchFamily="18" charset="0"/>
                <a:cs typeface="Times New Roman" panose="02020603050405020304" pitchFamily="18" charset="0"/>
              </a:rPr>
              <a:t>=&gt; KT </a:t>
            </a:r>
            <a:r>
              <a:rPr lang="en-US" sz="1400" dirty="0" err="1">
                <a:latin typeface="Times New Roman" panose="02020603050405020304" pitchFamily="18" charset="0"/>
                <a:cs typeface="Times New Roman" panose="02020603050405020304" pitchFamily="18" charset="0"/>
              </a:rPr>
              <a:t>tiếp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tục</a:t>
            </a:r>
            <a:r>
              <a:rPr lang="en-US" sz="1400" dirty="0">
                <a:latin typeface="Times New Roman" panose="02020603050405020304" pitchFamily="18" charset="0"/>
                <a:cs typeface="Times New Roman" panose="02020603050405020304" pitchFamily="18" charset="0"/>
              </a:rPr>
              <a:t> claim Collins support FOC loan chiller </a:t>
            </a:r>
            <a:r>
              <a:rPr lang="en-US" sz="1400" dirty="0" err="1">
                <a:latin typeface="Times New Roman" panose="02020603050405020304" pitchFamily="18" charset="0"/>
                <a:cs typeface="Times New Roman" panose="02020603050405020304" pitchFamily="18" charset="0"/>
              </a:rPr>
              <a:t>khắc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hỏng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hóc</a:t>
            </a:r>
            <a:r>
              <a:rPr lang="en-US" sz="1400" dirty="0">
                <a:latin typeface="Times New Roman" panose="02020603050405020304" pitchFamily="18" charset="0"/>
                <a:cs typeface="Times New Roman" panose="02020603050405020304" pitchFamily="18" charset="0"/>
              </a:rPr>
              <a:t> on-wing  </a:t>
            </a:r>
          </a:p>
          <a:p>
            <a:pPr marL="285750" indent="-285750">
              <a:lnSpc>
                <a:spcPct val="120000"/>
              </a:lnSpc>
              <a:buClr>
                <a:srgbClr val="000000"/>
              </a:buClr>
              <a:buSzPts val="1300"/>
              <a:buFont typeface="Times New Roman" panose="02020603050405020304" pitchFamily="18" charset="0"/>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oven: </a:t>
            </a:r>
            <a:r>
              <a:rPr lang="en-US" sz="1400" b="1" dirty="0">
                <a:solidFill>
                  <a:srgbClr val="FF0000"/>
                </a:solidFill>
                <a:latin typeface="Times New Roman" panose="02020603050405020304" pitchFamily="18" charset="0"/>
                <a:cs typeface="Times New Roman" panose="02020603050405020304" pitchFamily="18" charset="0"/>
              </a:rPr>
              <a:t>hỏng </a:t>
            </a:r>
            <a:r>
              <a:rPr lang="en-US" sz="1400" b="1" dirty="0" err="1">
                <a:solidFill>
                  <a:srgbClr val="FF0000"/>
                </a:solidFill>
                <a:latin typeface="Times New Roman" panose="02020603050405020304" pitchFamily="18" charset="0"/>
                <a:cs typeface="Times New Roman" panose="02020603050405020304" pitchFamily="18" charset="0"/>
              </a:rPr>
              <a:t>hóc</a:t>
            </a:r>
            <a:r>
              <a:rPr lang="en-US" sz="1400" b="1" dirty="0">
                <a:solidFill>
                  <a:srgbClr val="FF0000"/>
                </a:solidFill>
                <a:latin typeface="Times New Roman" panose="02020603050405020304" pitchFamily="18" charset="0"/>
                <a:cs typeface="Times New Roman" panose="02020603050405020304" pitchFamily="18" charset="0"/>
              </a:rPr>
              <a:t> 17ea, khắc </a:t>
            </a:r>
            <a:r>
              <a:rPr lang="en-US" sz="1400" b="1" dirty="0" err="1">
                <a:solidFill>
                  <a:srgbClr val="FF0000"/>
                </a:solidFill>
                <a:latin typeface="Times New Roman" panose="02020603050405020304" pitchFamily="18" charset="0"/>
                <a:cs typeface="Times New Roman" panose="02020603050405020304" pitchFamily="18" charset="0"/>
              </a:rPr>
              <a:t>phục</a:t>
            </a:r>
            <a:r>
              <a:rPr lang="en-US" sz="1400" b="1" dirty="0">
                <a:solidFill>
                  <a:srgbClr val="FF0000"/>
                </a:solidFill>
                <a:latin typeface="Times New Roman" panose="02020603050405020304" pitchFamily="18" charset="0"/>
                <a:cs typeface="Times New Roman" panose="02020603050405020304" pitchFamily="18" charset="0"/>
              </a:rPr>
              <a:t> 03ea, </a:t>
            </a:r>
            <a:r>
              <a:rPr lang="en-US" sz="1400" b="1" dirty="0" err="1">
                <a:solidFill>
                  <a:srgbClr val="FF0000"/>
                </a:solidFill>
                <a:latin typeface="Times New Roman" panose="02020603050405020304" pitchFamily="18" charset="0"/>
                <a:cs typeface="Times New Roman" panose="02020603050405020304" pitchFamily="18" charset="0"/>
              </a:rPr>
              <a:t>tồn</a:t>
            </a:r>
            <a:r>
              <a:rPr lang="en-US" sz="1400" b="1" dirty="0">
                <a:solidFill>
                  <a:srgbClr val="FF0000"/>
                </a:solidFill>
                <a:latin typeface="Times New Roman" panose="02020603050405020304" pitchFamily="18" charset="0"/>
                <a:cs typeface="Times New Roman" panose="02020603050405020304" pitchFamily="18" charset="0"/>
              </a:rPr>
              <a:t> 14ea </a:t>
            </a:r>
          </a:p>
          <a:p>
            <a:pPr marL="742950" lvl="1" indent="-285750">
              <a:lnSpc>
                <a:spcPct val="12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Safran A350A: </a:t>
            </a:r>
            <a:r>
              <a:rPr lang="en-US" sz="1400" dirty="0" err="1">
                <a:solidFill>
                  <a:schemeClr val="tx1"/>
                </a:solidFill>
                <a:latin typeface="Times New Roman" panose="02020603050405020304" pitchFamily="18" charset="0"/>
                <a:cs typeface="Times New Roman" panose="02020603050405020304" pitchFamily="18" charset="0"/>
              </a:rPr>
              <a:t>còn</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11ea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 oven). Oven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A350A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nhiều</a:t>
            </a:r>
            <a:r>
              <a:rPr lang="en-US" sz="1400" dirty="0">
                <a:solidFill>
                  <a:schemeClr val="tx1"/>
                </a:solidFill>
                <a:latin typeface="Times New Roman" panose="02020603050405020304" pitchFamily="18" charset="0"/>
                <a:cs typeface="Times New Roman" panose="02020603050405020304" pitchFamily="18" charset="0"/>
              </a:rPr>
              <a:t>, obsolete </a:t>
            </a:r>
          </a:p>
          <a:p>
            <a:pPr lvl="1">
              <a:lnSpc>
                <a:spcPct val="120000"/>
              </a:lnSpc>
              <a:buClr>
                <a:srgbClr val="000000"/>
              </a:buClr>
              <a:buSzPts val="1300"/>
            </a:pPr>
            <a:r>
              <a:rPr lang="en-US" sz="1400" dirty="0">
                <a:solidFill>
                  <a:schemeClr val="tx1"/>
                </a:solidFill>
                <a:latin typeface="Times New Roman" panose="02020603050405020304" pitchFamily="18" charset="0"/>
                <a:cs typeface="Times New Roman" panose="02020603050405020304" pitchFamily="18" charset="0"/>
              </a:rPr>
              <a:t>     + </a:t>
            </a:r>
            <a:r>
              <a:rPr lang="en-US" sz="1400" dirty="0" err="1">
                <a:solidFill>
                  <a:schemeClr val="tx1"/>
                </a:solidFill>
                <a:latin typeface="Times New Roman" panose="02020603050405020304" pitchFamily="18" charset="0"/>
                <a:cs typeface="Times New Roman" panose="02020603050405020304" pitchFamily="18" charset="0"/>
              </a:rPr>
              <a:t>Giải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pháp</a:t>
            </a:r>
            <a:r>
              <a:rPr lang="en-US" sz="1400" dirty="0">
                <a:solidFill>
                  <a:schemeClr val="tx1"/>
                </a:solidFill>
                <a:latin typeface="Times New Roman" panose="02020603050405020304" pitchFamily="18" charset="0"/>
                <a:cs typeface="Times New Roman" panose="02020603050405020304" pitchFamily="18" charset="0"/>
              </a:rPr>
              <a:t> KT: Safran </a:t>
            </a:r>
            <a:r>
              <a:rPr lang="en-US" sz="1400" dirty="0" err="1">
                <a:solidFill>
                  <a:schemeClr val="tx1"/>
                </a:solidFill>
                <a:latin typeface="Times New Roman" panose="02020603050405020304" pitchFamily="18" charset="0"/>
                <a:cs typeface="Times New Roman" panose="02020603050405020304" pitchFamily="18" charset="0"/>
              </a:rPr>
              <a:t>phương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án</a:t>
            </a:r>
            <a:r>
              <a:rPr lang="en-US" sz="1400" dirty="0">
                <a:solidFill>
                  <a:schemeClr val="tx1"/>
                </a:solidFill>
                <a:latin typeface="Times New Roman" panose="02020603050405020304" pitchFamily="18" charset="0"/>
                <a:cs typeface="Times New Roman" panose="02020603050405020304" pitchFamily="18" charset="0"/>
              </a:rPr>
              <a:t> retrofit – T10/2025. KT </a:t>
            </a:r>
            <a:r>
              <a:rPr lang="en-US" sz="1400" dirty="0" err="1">
                <a:solidFill>
                  <a:schemeClr val="tx1"/>
                </a:solidFill>
                <a:latin typeface="Times New Roman" panose="02020603050405020304" pitchFamily="18" charset="0"/>
                <a:cs typeface="Times New Roman" panose="02020603050405020304" pitchFamily="18" charset="0"/>
              </a:rPr>
              <a:t>viết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cap claim Safran </a:t>
            </a:r>
            <a:r>
              <a:rPr lang="en-US" sz="1400" dirty="0" err="1">
                <a:solidFill>
                  <a:schemeClr val="tx1"/>
                </a:solidFill>
                <a:latin typeface="Times New Roman" panose="02020603050405020304" pitchFamily="18" charset="0"/>
                <a:cs typeface="Times New Roman" panose="02020603050405020304" pitchFamily="18" charset="0"/>
              </a:rPr>
              <a:t>tìm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giải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sớm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retrofit. </a:t>
            </a:r>
          </a:p>
          <a:p>
            <a:pPr lvl="1">
              <a:lnSpc>
                <a:spcPct val="120000"/>
              </a:lnSpc>
              <a:buClr>
                <a:srgbClr val="000000"/>
              </a:buClr>
              <a:buSzPts val="1300"/>
            </a:pP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 Quy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dụng</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ĐTV </a:t>
            </a:r>
            <a:r>
              <a:rPr lang="en-US" sz="1400" dirty="0" err="1">
                <a:solidFill>
                  <a:schemeClr val="tx1"/>
                </a:solidFill>
                <a:latin typeface="Times New Roman" panose="02020603050405020304" pitchFamily="18" charset="0"/>
                <a:cs typeface="Times New Roman" panose="02020603050405020304" pitchFamily="18" charset="0"/>
              </a:rPr>
              <a:t>thực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hiện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quy</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warm up 5 </a:t>
            </a:r>
            <a:r>
              <a:rPr lang="en-US" sz="1400" dirty="0" err="1">
                <a:solidFill>
                  <a:schemeClr val="tx1"/>
                </a:solidFill>
                <a:latin typeface="Times New Roman" panose="02020603050405020304" pitchFamily="18" charset="0"/>
                <a:cs typeface="Times New Roman" panose="02020603050405020304" pitchFamily="18" charset="0"/>
              </a:rPr>
              <a:t>phút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trước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dụng</a:t>
            </a:r>
            <a:r>
              <a:rPr lang="en-US" sz="1400" dirty="0">
                <a:solidFill>
                  <a:schemeClr val="tx1"/>
                </a:solidFill>
                <a:latin typeface="Times New Roman" panose="02020603050405020304" pitchFamily="18" charset="0"/>
                <a:cs typeface="Times New Roman" panose="02020603050405020304" pitchFamily="18" charset="0"/>
              </a:rPr>
              <a:t> Oven (</a:t>
            </a:r>
            <a:r>
              <a:rPr lang="en-US" sz="1400" dirty="0" err="1">
                <a:solidFill>
                  <a:schemeClr val="tx1"/>
                </a:solidFill>
                <a:latin typeface="Times New Roman" panose="02020603050405020304" pitchFamily="18" charset="0"/>
                <a:cs typeface="Times New Roman" panose="02020603050405020304" pitchFamily="18" charset="0"/>
              </a:rPr>
              <a:t>khuyến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từ</a:t>
            </a:r>
            <a:r>
              <a:rPr lang="en-US" sz="1400" dirty="0">
                <a:solidFill>
                  <a:schemeClr val="tx1"/>
                </a:solidFill>
                <a:latin typeface="Times New Roman" panose="02020603050405020304" pitchFamily="18" charset="0"/>
                <a:cs typeface="Times New Roman" panose="02020603050405020304" pitchFamily="18" charset="0"/>
              </a:rPr>
              <a:t> Safran)</a:t>
            </a:r>
          </a:p>
          <a:p>
            <a:pPr marL="742950" lvl="1" indent="-285750">
              <a:lnSpc>
                <a:spcPct val="12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A321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A35X: </a:t>
            </a:r>
            <a:r>
              <a:rPr lang="en-US" sz="1400" dirty="0" err="1">
                <a:solidFill>
                  <a:schemeClr val="tx1"/>
                </a:solidFill>
                <a:latin typeface="Times New Roman" panose="02020603050405020304" pitchFamily="18" charset="0"/>
                <a:cs typeface="Times New Roman" panose="02020603050405020304" pitchFamily="18" charset="0"/>
              </a:rPr>
              <a:t>còn</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3 oven (02 oven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=&gt;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được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kiểm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soát</a:t>
            </a:r>
            <a:r>
              <a:rPr lang="en-US" sz="1400" dirty="0">
                <a:solidFill>
                  <a:schemeClr val="tx1"/>
                </a:solidFill>
                <a:latin typeface="Times New Roman" panose="02020603050405020304" pitchFamily="18" charset="0"/>
                <a:cs typeface="Times New Roman" panose="02020603050405020304" pitchFamily="18" charset="0"/>
              </a:rPr>
              <a:t>; QLVT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mua</a:t>
            </a:r>
            <a:r>
              <a:rPr lang="en-US" sz="1400" dirty="0">
                <a:solidFill>
                  <a:schemeClr val="tx1"/>
                </a:solidFill>
                <a:latin typeface="Times New Roman" panose="02020603050405020304" pitchFamily="18" charset="0"/>
                <a:cs typeface="Times New Roman" panose="02020603050405020304" pitchFamily="18" charset="0"/>
              </a:rPr>
              <a:t> used part/new part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SB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hóc</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386231" y="1777651"/>
            <a:ext cx="11674150" cy="7386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US" sz="1400" b="1" dirty="0">
                <a:latin typeface="Times New Roman" panose="02020603050405020304" pitchFamily="18" charset="0"/>
                <a:cs typeface="Times New Roman" panose="02020603050405020304" pitchFamily="18" charset="0"/>
              </a:rPr>
              <a:t>3257</a:t>
            </a:r>
            <a:r>
              <a:rPr lang="en-GB" sz="1400" b="1" dirty="0">
                <a:solidFill>
                  <a:schemeClr val="tx1"/>
                </a:solidFill>
                <a:latin typeface="Times New Roman" panose="02020603050405020304" pitchFamily="18" charset="0"/>
                <a:cs typeface="Times New Roman" panose="02020603050405020304" pitchFamily="18" charset="0"/>
              </a:rPr>
              <a:t>/3392</a:t>
            </a:r>
            <a:r>
              <a:rPr lang="en-GB" sz="1400" dirty="0">
                <a:solidFill>
                  <a:schemeClr val="tx1"/>
                </a:solidFill>
                <a:latin typeface="Times New Roman" panose="02020603050405020304" pitchFamily="18" charset="0"/>
                <a:cs typeface="Times New Roman" panose="02020603050405020304" pitchFamily="18" charset="0"/>
              </a:rPr>
              <a:t> </a:t>
            </a:r>
            <a:r>
              <a:rPr lang="en-GB" sz="1400" b="1" dirty="0">
                <a:solidFill>
                  <a:schemeClr val="tx1"/>
                </a:solidFill>
                <a:latin typeface="Times New Roman" panose="02020603050405020304" pitchFamily="18" charset="0"/>
                <a:cs typeface="Times New Roman" panose="02020603050405020304" pitchFamily="18" charset="0"/>
              </a:rPr>
              <a:t>SVDU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135 INOP SVDU). </a:t>
            </a:r>
            <a:r>
              <a:rPr lang="en-US" sz="1400" dirty="0">
                <a:solidFill>
                  <a:schemeClr val="tx1"/>
                </a:solidFill>
                <a:latin typeface="Times New Roman" panose="02020603050405020304" pitchFamily="18" charset="0"/>
                <a:cs typeface="Times New Roman" panose="02020603050405020304" pitchFamily="18" charset="0"/>
              </a:rPr>
              <a:t>Trong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29:  hỏng </a:t>
            </a:r>
            <a:r>
              <a:rPr lang="en-US" sz="1400" dirty="0" err="1">
                <a:solidFill>
                  <a:schemeClr val="tx1"/>
                </a:solidFill>
                <a:latin typeface="Times New Roman" panose="02020603050405020304" pitchFamily="18" charset="0"/>
                <a:cs typeface="Times New Roman" panose="02020603050405020304" pitchFamily="18" charset="0"/>
              </a:rPr>
              <a:t>mới</a:t>
            </a:r>
            <a:r>
              <a:rPr lang="en-US" sz="1400" dirty="0">
                <a:solidFill>
                  <a:schemeClr val="tx1"/>
                </a:solidFill>
                <a:latin typeface="Times New Roman" panose="02020603050405020304" pitchFamily="18" charset="0"/>
                <a:cs typeface="Times New Roman" panose="02020603050405020304" pitchFamily="18" charset="0"/>
              </a:rPr>
              <a:t> 10 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23ea. </a:t>
            </a:r>
            <a:endParaRPr lang="en-GB" sz="1400" dirty="0">
              <a:solidFill>
                <a:schemeClr val="tx1"/>
              </a:solidFill>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=&gt; </a:t>
            </a:r>
            <a:r>
              <a:rPr lang="vi-VN" sz="1400" dirty="0"/>
              <a:t>Hỏng hóc</a:t>
            </a:r>
            <a:r>
              <a:rPr lang="en-US" sz="1400" dirty="0"/>
              <a:t> </a:t>
            </a:r>
            <a:r>
              <a:rPr lang="en-US" sz="1400" dirty="0" err="1"/>
              <a:t>tăng</a:t>
            </a:r>
            <a:r>
              <a:rPr lang="en-US" sz="1400" dirty="0"/>
              <a:t> </a:t>
            </a:r>
            <a:r>
              <a:rPr lang="en-US" sz="1400" dirty="0" err="1"/>
              <a:t>trở</a:t>
            </a:r>
            <a:r>
              <a:rPr lang="en-US" sz="1400" dirty="0"/>
              <a:t> </a:t>
            </a:r>
            <a:r>
              <a:rPr lang="en-US" sz="1400" dirty="0" err="1"/>
              <a:t>lại</a:t>
            </a:r>
            <a:r>
              <a:rPr lang="en-US" sz="1400" dirty="0"/>
              <a:t> </a:t>
            </a:r>
            <a:r>
              <a:rPr lang="en-US" sz="1400" dirty="0" err="1"/>
              <a:t>các</a:t>
            </a:r>
            <a:r>
              <a:rPr lang="en-US" sz="1400" dirty="0"/>
              <a:t> </a:t>
            </a:r>
            <a:r>
              <a:rPr lang="en-US" sz="1400" dirty="0" err="1"/>
              <a:t>khối</a:t>
            </a:r>
            <a:r>
              <a:rPr lang="en-US" sz="1400" dirty="0"/>
              <a:t> pre-mod intermittent</a:t>
            </a:r>
            <a:br>
              <a:rPr lang="en-US" sz="1400" dirty="0"/>
            </a:br>
            <a:r>
              <a:rPr lang="en-US" sz="1400" dirty="0"/>
              <a:t>=&gt; </a:t>
            </a:r>
            <a:r>
              <a:rPr lang="en-US" sz="1400" dirty="0" err="1"/>
              <a:t>Vật</a:t>
            </a:r>
            <a:r>
              <a:rPr lang="en-US" sz="1400" dirty="0"/>
              <a:t> </a:t>
            </a:r>
            <a:r>
              <a:rPr lang="en-US" sz="1400" dirty="0" err="1"/>
              <a:t>tư</a:t>
            </a:r>
            <a:r>
              <a:rPr lang="en-US" sz="1400" dirty="0"/>
              <a:t> quay </a:t>
            </a:r>
            <a:r>
              <a:rPr lang="en-US" sz="1400" dirty="0" err="1"/>
              <a:t>vòng</a:t>
            </a:r>
            <a:r>
              <a:rPr lang="en-US" sz="1400" dirty="0"/>
              <a:t> it (130 </a:t>
            </a:r>
            <a:r>
              <a:rPr lang="en-US" sz="1400" dirty="0" err="1"/>
              <a:t>ea</a:t>
            </a:r>
            <a:r>
              <a:rPr lang="en-US" sz="1400" dirty="0"/>
              <a:t>) =&gt; </a:t>
            </a:r>
            <a:r>
              <a:rPr lang="en-US" sz="1400" dirty="0" err="1"/>
              <a:t>cần</a:t>
            </a:r>
            <a:r>
              <a:rPr lang="en-US" sz="1400" dirty="0"/>
              <a:t> </a:t>
            </a:r>
            <a:r>
              <a:rPr lang="en-US" sz="1400" dirty="0" err="1"/>
              <a:t>cân</a:t>
            </a:r>
            <a:r>
              <a:rPr lang="en-US" sz="1400" dirty="0"/>
              <a:t> </a:t>
            </a:r>
            <a:r>
              <a:rPr lang="en-US" sz="1400" dirty="0" err="1"/>
              <a:t>đối</a:t>
            </a:r>
            <a:r>
              <a:rPr lang="en-US" sz="1400" dirty="0"/>
              <a:t> </a:t>
            </a:r>
            <a:r>
              <a:rPr lang="en-US" sz="1400" dirty="0" err="1"/>
              <a:t>vật</a:t>
            </a:r>
            <a:r>
              <a:rPr lang="en-US" sz="1400" dirty="0"/>
              <a:t> </a:t>
            </a:r>
            <a:r>
              <a:rPr lang="en-US" sz="1400" dirty="0" err="1"/>
              <a:t>tư</a:t>
            </a:r>
            <a:r>
              <a:rPr lang="en-US" sz="1400" dirty="0"/>
              <a:t> </a:t>
            </a:r>
            <a:r>
              <a:rPr lang="en-US" sz="1400" dirty="0" err="1"/>
              <a:t>khắc</a:t>
            </a:r>
            <a:r>
              <a:rPr lang="en-US" sz="1400" dirty="0"/>
              <a:t> </a:t>
            </a:r>
            <a:r>
              <a:rPr lang="en-US" sz="1400" dirty="0" err="1"/>
              <a:t>phục</a:t>
            </a:r>
            <a:r>
              <a:rPr lang="en-US" sz="1400" dirty="0"/>
              <a:t> </a:t>
            </a:r>
            <a:r>
              <a:rPr lang="en-US" sz="1400" dirty="0" err="1"/>
              <a:t>hỏng</a:t>
            </a:r>
            <a:r>
              <a:rPr lang="en-US" sz="1400" dirty="0"/>
              <a:t> </a:t>
            </a:r>
            <a:r>
              <a:rPr lang="en-US" sz="1400" dirty="0" err="1"/>
              <a:t>hóc</a:t>
            </a:r>
            <a:r>
              <a:rPr lang="en-US" sz="1400" dirty="0"/>
              <a:t> </a:t>
            </a:r>
            <a:r>
              <a:rPr lang="en-US" sz="1400" dirty="0" err="1"/>
              <a:t>và</a:t>
            </a:r>
            <a:r>
              <a:rPr lang="en-US" sz="1400" dirty="0"/>
              <a:t> </a:t>
            </a:r>
            <a:r>
              <a:rPr lang="en-US" sz="1400" dirty="0" err="1"/>
              <a:t>chuẩn</a:t>
            </a:r>
            <a:r>
              <a:rPr lang="en-US" sz="1400" dirty="0"/>
              <a:t> </a:t>
            </a:r>
            <a:r>
              <a:rPr lang="en-US" sz="1400" dirty="0" err="1"/>
              <a:t>bị</a:t>
            </a:r>
            <a:r>
              <a:rPr lang="en-US" sz="1400" dirty="0"/>
              <a:t> RTS A895 (</a:t>
            </a:r>
            <a:r>
              <a:rPr lang="en-US" sz="1400" dirty="0" err="1"/>
              <a:t>đang</a:t>
            </a:r>
            <a:r>
              <a:rPr lang="en-US" sz="1400" dirty="0"/>
              <a:t> </a:t>
            </a:r>
            <a:r>
              <a:rPr lang="en-US" sz="1400" dirty="0" err="1"/>
              <a:t>thiếu</a:t>
            </a:r>
            <a:r>
              <a:rPr lang="en-US" sz="1400" dirty="0"/>
              <a:t> 150 SVDU).</a:t>
            </a:r>
            <a:endParaRPr lang="en-US" sz="14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383638" y="2514600"/>
            <a:ext cx="11673030" cy="9541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LAV:</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03ea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05ea,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03ea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65449" y="533400"/>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30: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263 (</a:t>
            </a:r>
            <a:r>
              <a:rPr lang="en-US" sz="1400" dirty="0" err="1">
                <a:latin typeface="Times New Roman" panose="02020603050405020304" pitchFamily="18" charset="0"/>
                <a:cs typeface="Times New Roman" panose="02020603050405020304" pitchFamily="18" charset="0"/>
              </a:rPr>
              <a:t>giảm</a:t>
            </a:r>
            <a:r>
              <a:rPr lang="en-US" sz="1400" dirty="0">
                <a:latin typeface="Times New Roman" panose="02020603050405020304" pitchFamily="18" charset="0"/>
                <a:cs typeface="Times New Roman" panose="02020603050405020304" pitchFamily="18" charset="0"/>
              </a:rPr>
              <a:t>  03%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29),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93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170 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8 %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29).</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75591" y="937736"/>
            <a:ext cx="11674150" cy="7386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30</a:t>
            </a:r>
          </a:p>
          <a:p>
            <a:pPr marL="285750" indent="-285750">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03,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01,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02.</a:t>
            </a:r>
          </a:p>
          <a:p>
            <a:pPr marL="285750" indent="-285750">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11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08,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03</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70723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42</a:t>
            </a:fld>
            <a:endParaRPr lang="en-US"/>
          </a:p>
        </p:txBody>
      </p:sp>
      <p:sp>
        <p:nvSpPr>
          <p:cNvPr id="5" name="Title 4"/>
          <p:cNvSpPr>
            <a:spLocks noGrp="1"/>
          </p:cNvSpPr>
          <p:nvPr>
            <p:ph type="title"/>
          </p:nvPr>
        </p:nvSpPr>
        <p:spPr>
          <a:xfrm>
            <a:off x="457200" y="259563"/>
            <a:ext cx="62726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8" name="Table 7">
            <a:extLst>
              <a:ext uri="{FF2B5EF4-FFF2-40B4-BE49-F238E27FC236}">
                <a16:creationId xmlns:a16="http://schemas.microsoft.com/office/drawing/2014/main" id="{9BFB0BC0-3A58-8298-0DD1-F8F5F84980AD}"/>
              </a:ext>
            </a:extLst>
          </p:cNvPr>
          <p:cNvGraphicFramePr>
            <a:graphicFrameLocks noGrp="1"/>
          </p:cNvGraphicFramePr>
          <p:nvPr>
            <p:extLst>
              <p:ext uri="{D42A27DB-BD31-4B8C-83A1-F6EECF244321}">
                <p14:modId xmlns:p14="http://schemas.microsoft.com/office/powerpoint/2010/main" val="4087235372"/>
              </p:ext>
            </p:extLst>
          </p:nvPr>
        </p:nvGraphicFramePr>
        <p:xfrm>
          <a:off x="457200" y="3886200"/>
          <a:ext cx="11430002" cy="1828800"/>
        </p:xfrm>
        <a:graphic>
          <a:graphicData uri="http://schemas.openxmlformats.org/drawingml/2006/table">
            <a:tbl>
              <a:tblPr/>
              <a:tblGrid>
                <a:gridCol w="245411">
                  <a:extLst>
                    <a:ext uri="{9D8B030D-6E8A-4147-A177-3AD203B41FA5}">
                      <a16:colId xmlns:a16="http://schemas.microsoft.com/office/drawing/2014/main" val="2105016904"/>
                    </a:ext>
                  </a:extLst>
                </a:gridCol>
                <a:gridCol w="1561707">
                  <a:extLst>
                    <a:ext uri="{9D8B030D-6E8A-4147-A177-3AD203B41FA5}">
                      <a16:colId xmlns:a16="http://schemas.microsoft.com/office/drawing/2014/main" val="2637579382"/>
                    </a:ext>
                  </a:extLst>
                </a:gridCol>
                <a:gridCol w="498259">
                  <a:extLst>
                    <a:ext uri="{9D8B030D-6E8A-4147-A177-3AD203B41FA5}">
                      <a16:colId xmlns:a16="http://schemas.microsoft.com/office/drawing/2014/main" val="371678907"/>
                    </a:ext>
                  </a:extLst>
                </a:gridCol>
                <a:gridCol w="608984">
                  <a:extLst>
                    <a:ext uri="{9D8B030D-6E8A-4147-A177-3AD203B41FA5}">
                      <a16:colId xmlns:a16="http://schemas.microsoft.com/office/drawing/2014/main" val="2308686733"/>
                    </a:ext>
                  </a:extLst>
                </a:gridCol>
                <a:gridCol w="5010270">
                  <a:extLst>
                    <a:ext uri="{9D8B030D-6E8A-4147-A177-3AD203B41FA5}">
                      <a16:colId xmlns:a16="http://schemas.microsoft.com/office/drawing/2014/main" val="2012955442"/>
                    </a:ext>
                  </a:extLst>
                </a:gridCol>
                <a:gridCol w="609809">
                  <a:extLst>
                    <a:ext uri="{9D8B030D-6E8A-4147-A177-3AD203B41FA5}">
                      <a16:colId xmlns:a16="http://schemas.microsoft.com/office/drawing/2014/main" val="754862410"/>
                    </a:ext>
                  </a:extLst>
                </a:gridCol>
                <a:gridCol w="713924">
                  <a:extLst>
                    <a:ext uri="{9D8B030D-6E8A-4147-A177-3AD203B41FA5}">
                      <a16:colId xmlns:a16="http://schemas.microsoft.com/office/drawing/2014/main" val="479741508"/>
                    </a:ext>
                  </a:extLst>
                </a:gridCol>
                <a:gridCol w="1757747">
                  <a:extLst>
                    <a:ext uri="{9D8B030D-6E8A-4147-A177-3AD203B41FA5}">
                      <a16:colId xmlns:a16="http://schemas.microsoft.com/office/drawing/2014/main" val="3270436283"/>
                    </a:ext>
                  </a:extLst>
                </a:gridCol>
                <a:gridCol w="423891">
                  <a:extLst>
                    <a:ext uri="{9D8B030D-6E8A-4147-A177-3AD203B41FA5}">
                      <a16:colId xmlns:a16="http://schemas.microsoft.com/office/drawing/2014/main" val="642346426"/>
                    </a:ext>
                  </a:extLst>
                </a:gridCol>
              </a:tblGrid>
              <a:tr h="298141">
                <a:tc gridSpan="9">
                  <a:txBody>
                    <a:bodyPr/>
                    <a:lstStyle/>
                    <a:p>
                      <a:pPr algn="ctr" fontAlgn="ctr"/>
                      <a:r>
                        <a:rPr lang="vi-VN" sz="1100" b="1" i="0" u="none" strike="noStrike">
                          <a:solidFill>
                            <a:srgbClr val="000000"/>
                          </a:solidFill>
                          <a:effectLst/>
                          <a:latin typeface="Times New Roman" panose="02020603050405020304" pitchFamily="18" charset="0"/>
                        </a:rPr>
                        <a:t>BẢNG TỔNG HỢP VÀ THEO DÕI NHÂN NHƯỢNG - VIETNAM AIRLINES</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9484572"/>
                  </a:ext>
                </a:extLst>
              </a:tr>
              <a:tr h="298141">
                <a:tc>
                  <a:txBody>
                    <a:bodyPr/>
                    <a:lstStyle/>
                    <a:p>
                      <a:pPr algn="ctr" fontAlgn="ctr"/>
                      <a:r>
                        <a:rPr lang="en-US" sz="1100" b="1" i="0" u="none" strike="noStrike">
                          <a:solidFill>
                            <a:srgbClr val="000000"/>
                          </a:solidFill>
                          <a:effectLst/>
                          <a:latin typeface="Times New Roman" panose="02020603050405020304" pitchFamily="18" charset="0"/>
                        </a:rPr>
                        <a:t>No</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Concession No.</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Type</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Reg</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Description</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By</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Date</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ADD/CHK/Task No</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Status</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7423058"/>
                  </a:ext>
                </a:extLst>
              </a:tr>
              <a:tr h="616259">
                <a:tc>
                  <a:txBody>
                    <a:bodyPr/>
                    <a:lstStyle/>
                    <a:p>
                      <a:pPr algn="ctr" fontAlgn="ctr"/>
                      <a:r>
                        <a:rPr lang="en-US" sz="1100" b="0" i="0" u="none" strike="noStrike">
                          <a:solidFill>
                            <a:srgbClr val="000000"/>
                          </a:solidFill>
                          <a:effectLst/>
                          <a:latin typeface="Times New Roman" panose="02020603050405020304" pitchFamily="18" charset="0"/>
                        </a:rPr>
                        <a:t>1</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623 -01/25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A623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EXTEND SCHEDULE OF CMP GROUP TASK BECAUSE A623 WILL REMAIN IN STORAGE AFTER A SPECIAL FLIGHT (FLT RESET)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0025080"/>
                  </a:ext>
                </a:extLst>
              </a:tr>
              <a:tr h="616259">
                <a:tc>
                  <a:txBody>
                    <a:bodyPr/>
                    <a:lstStyle/>
                    <a:p>
                      <a:pPr algn="ctr" fontAlgn="ctr"/>
                      <a:r>
                        <a:rPr lang="en-US" sz="1100" b="0" i="0" u="none" strike="noStrike">
                          <a:solidFill>
                            <a:srgbClr val="000000"/>
                          </a:solidFill>
                          <a:effectLst/>
                          <a:latin typeface="Times New Roman" panose="02020603050405020304" pitchFamily="18" charset="0"/>
                        </a:rPr>
                        <a:t>2</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512-02/25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A512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Due to LACK OF SPARE, schedule of AMP Task 215200-01-1-1 need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25/07/2025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2121472"/>
                  </a:ext>
                </a:extLst>
              </a:tr>
            </a:tbl>
          </a:graphicData>
        </a:graphic>
      </p:graphicFrame>
      <p:graphicFrame>
        <p:nvGraphicFramePr>
          <p:cNvPr id="6" name="Chart 5">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3578059086"/>
              </p:ext>
            </p:extLst>
          </p:nvPr>
        </p:nvGraphicFramePr>
        <p:xfrm>
          <a:off x="3962400" y="990600"/>
          <a:ext cx="4004481" cy="2514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7956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822544"/>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52193">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300614">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52193">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255:20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52193">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141.47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52193">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839:50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52193">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963:30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52193">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773:35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309:45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447:35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52193">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822545"/>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249:35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140.92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817:35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400:05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993:20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814:25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78642">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1" name="Chart 10"/>
          <p:cNvGraphicFramePr>
            <a:graphicFrameLocks/>
          </p:cNvGraphicFramePr>
          <p:nvPr/>
        </p:nvGraphicFramePr>
        <p:xfrm>
          <a:off x="1059507" y="977081"/>
          <a:ext cx="10370491" cy="277946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621795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7"/>
        </p:xfrm>
        <a:graphic>
          <a:graphicData uri="http://schemas.openxmlformats.org/drawingml/2006/table">
            <a:tbl>
              <a:tblPr/>
              <a:tblGrid>
                <a:gridCol w="598583">
                  <a:extLst>
                    <a:ext uri="{9D8B030D-6E8A-4147-A177-3AD203B41FA5}">
                      <a16:colId xmlns:a16="http://schemas.microsoft.com/office/drawing/2014/main" val="4007203340"/>
                    </a:ext>
                  </a:extLst>
                </a:gridCol>
                <a:gridCol w="574752">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04181">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419836">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04181">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04181">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04181">
                <a:tc>
                  <a:txBody>
                    <a:bodyPr/>
                    <a:lstStyle/>
                    <a:p>
                      <a:pPr algn="ctr" fontAlgn="ctr"/>
                      <a:r>
                        <a:rPr lang="en-US" sz="1400" b="0" i="0" u="none" strike="noStrike" smtClean="0">
                          <a:solidFill>
                            <a:srgbClr val="000000"/>
                          </a:solidFill>
                          <a:effectLst/>
                          <a:latin typeface="Times New Roman" panose="02020603050405020304" pitchFamily="18" charset="0"/>
                        </a:rPr>
                        <a:t>ATR72</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3-Aug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nvGraphicFramePr>
        <p:xfrm>
          <a:off x="925417" y="1143000"/>
          <a:ext cx="10521107" cy="22767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410560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nvGraphicFramePr>
        <p:xfrm>
          <a:off x="762000" y="1371600"/>
          <a:ext cx="10896600" cy="51815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614365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58" name="Google Shape;158;g31ccdae391d_0_248"/>
          <p:cNvSpPr/>
          <p:nvPr/>
        </p:nvSpPr>
        <p:spPr>
          <a:xfrm>
            <a:off x="553794" y="838200"/>
            <a:ext cx="11359174"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Tình</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trạng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vật</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tư</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cho</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hỏng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hóc</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trên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đội</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bay</a:t>
            </a:r>
            <a:endParaRPr kumimoji="0"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AOG:  NIL</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Tình</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hình</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check: </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1"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A325: MO18 (25/07-26/07):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phát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sinh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tư</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1"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A618: ENGCHG (25/07-27/07):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phát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sinh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tư</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ảnh</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hưởng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khai</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thác</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1"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A356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ELT PN S1823502-03: dự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30/7</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Hỏng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hóc</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 defect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hết</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10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641798" y="3334057"/>
            <a:ext cx="11093002" cy="2034762"/>
          </a:xfrm>
          <a:prstGeom prst="rect">
            <a:avLst/>
          </a:prstGeom>
          <a:noFill/>
          <a:ln>
            <a:noFill/>
          </a:ln>
        </p:spPr>
      </p:pic>
    </p:spTree>
    <p:extLst>
      <p:ext uri="{BB962C8B-B14F-4D97-AF65-F5344CB8AC3E}">
        <p14:creationId xmlns:p14="http://schemas.microsoft.com/office/powerpoint/2010/main" val="21653915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846926" y="227406"/>
            <a:ext cx="10506874"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47</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67" name="Google Shape;167;g34b80f439b0_0_3"/>
          <p:cNvSpPr/>
          <p:nvPr/>
        </p:nvSpPr>
        <p:spPr>
          <a:xfrm>
            <a:off x="770707" y="858119"/>
            <a:ext cx="10430693"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50 đơn hàng quá hạn trong tổng số 107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25 overdue orders / total 50 orders</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cho Defect: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10 overdue orders / total 31 orders</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cho Hardtime/Softtime: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15 overdue orders / total 26 orders</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846875" y="2039349"/>
            <a:ext cx="10354525" cy="4200975"/>
          </a:xfrm>
          <a:prstGeom prst="rect">
            <a:avLst/>
          </a:prstGeom>
          <a:noFill/>
          <a:ln>
            <a:noFill/>
          </a:ln>
        </p:spPr>
      </p:pic>
    </p:spTree>
    <p:extLst>
      <p:ext uri="{BB962C8B-B14F-4D97-AF65-F5344CB8AC3E}">
        <p14:creationId xmlns:p14="http://schemas.microsoft.com/office/powerpoint/2010/main" val="38217482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85"/>
          <p:cNvSpPr txBox="1">
            <a:spLocks noGrp="1"/>
          </p:cNvSpPr>
          <p:nvPr>
            <p:ph type="title"/>
          </p:nvPr>
        </p:nvSpPr>
        <p:spPr>
          <a:xfrm>
            <a:off x="578625" y="287284"/>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a:t>
            </a:r>
            <a:endParaRPr sz="2800">
              <a:solidFill>
                <a:srgbClr val="FFC000"/>
              </a:solidFill>
              <a:latin typeface="Times New Roman"/>
              <a:ea typeface="Times New Roman"/>
              <a:cs typeface="Times New Roman"/>
              <a:sym typeface="Times New Roman"/>
            </a:endParaRPr>
          </a:p>
        </p:txBody>
      </p:sp>
      <p:sp>
        <p:nvSpPr>
          <p:cNvPr id="176" name="Google Shape;176;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48</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77" name="Google Shape;177;g31ccdae391d_0_285"/>
          <p:cNvSpPr txBox="1"/>
          <p:nvPr/>
        </p:nvSpPr>
        <p:spPr>
          <a:xfrm>
            <a:off x="685800" y="1005200"/>
            <a:ext cx="10667924" cy="4185731"/>
          </a:xfrm>
          <a:prstGeom prst="rect">
            <a:avLst/>
          </a:prstGeom>
          <a:noFill/>
          <a:ln>
            <a:noFill/>
          </a:ln>
        </p:spPr>
        <p:txBody>
          <a:bodyPr spcFirstLastPara="1" wrap="square" lIns="91425" tIns="91425" rIns="91425" bIns="91425" anchor="t" anchorCtr="0">
            <a:spAutoFit/>
          </a:bodyPr>
          <a:lstStyle/>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1. Danh </a:t>
            </a:r>
            <a:r>
              <a:rPr kumimoji="0" lang="en-US" sz="20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ngoài</a:t>
            </a:r>
            <a:r>
              <a:rPr kumimoji="0" lang="en-US"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pool: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dự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so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yêu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Starter Duct NEO: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dùng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thiết</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dự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NEO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bảo</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quản</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thể</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rob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từ</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engine dự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hoặc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bảo</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quản</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khi</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cần</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gấp</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2. Danh </a:t>
            </a:r>
            <a:r>
              <a:rPr kumimoji="0" lang="en-US" sz="20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pool: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21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dự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so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yêu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như</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sau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stock alternate (EEC NEO, Primary heat exchanger)</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- 10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mới</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dùng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khai</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sẽ</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trước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30/07 (ACC VALVE NEO, SSTU, Sensor Delta Pressure, PRV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HPV CEO...)</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- 04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mức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MBK (SSU captain, IPCV NEO, Valve Surge control, EIU NEO)</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- 05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khó</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khăn</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ứng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như</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sau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Motor Converter: OEM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Safran</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stock,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leadtime</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8/25)</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IFPC PUMP NEO: OEM Collins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PTVT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Skin Outlet Valve: VSTEA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PTVT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endParaRPr kumimoji="0"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Travel limitation unit: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mới</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dùng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sự</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cố</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A338,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làm</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20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err="1">
                <a:ln>
                  <a:noFill/>
                </a:ln>
                <a:solidFill>
                  <a:srgbClr val="000000"/>
                </a:solidFill>
                <a:effectLst/>
                <a:uLnTx/>
                <a:uFillTx/>
                <a:latin typeface="Times New Roman"/>
                <a:ea typeface="Times New Roman"/>
                <a:cs typeface="Times New Roman"/>
                <a:sym typeface="Times New Roman"/>
              </a:rPr>
              <a:t>với</a:t>
            </a:r>
            <a:r>
              <a:rPr kumimoji="0" lang="en-US"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20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ST.</a:t>
            </a:r>
            <a:endParaRPr kumimoji="0" sz="20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8042519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ccdae391d_0_278"/>
          <p:cNvSpPr txBox="1">
            <a:spLocks noGrp="1"/>
          </p:cNvSpPr>
          <p:nvPr>
            <p:ph type="title"/>
          </p:nvPr>
        </p:nvSpPr>
        <p:spPr>
          <a:xfrm>
            <a:off x="1105192" y="-98251"/>
            <a:ext cx="10312758"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4" name="Google Shape;18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49</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85" name="Google Shape;185;g31ccdae391d_0_278"/>
          <p:cNvGraphicFramePr/>
          <p:nvPr>
            <p:extLst>
              <p:ext uri="{D42A27DB-BD31-4B8C-83A1-F6EECF244321}">
                <p14:modId xmlns:p14="http://schemas.microsoft.com/office/powerpoint/2010/main" val="239499450"/>
              </p:ext>
            </p:extLst>
          </p:nvPr>
        </p:nvGraphicFramePr>
        <p:xfrm>
          <a:off x="1130950" y="617849"/>
          <a:ext cx="10287000" cy="6141469"/>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31371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303595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ctr"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ctr"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ctr"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28/7 có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904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30/7 có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05/08 có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77103124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2" name="Google Shape;192;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93" name="Google Shape;193;g31ccdae391d_0_299"/>
          <p:cNvSpPr/>
          <p:nvPr/>
        </p:nvSpPr>
        <p:spPr>
          <a:xfrm>
            <a:off x="913579" y="742682"/>
            <a:ext cx="10784628" cy="6115318"/>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14 đơn hàng quá hạn trong tổng số 30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overdue 11 LO / total 13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overdue 3 EO / total 17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94" name="Google Shape;194;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95" name="Google Shape;195;g31ccdae391d_0_299"/>
          <p:cNvPicPr preferRelativeResize="0"/>
          <p:nvPr/>
        </p:nvPicPr>
        <p:blipFill>
          <a:blip r:embed="rId3">
            <a:alphaModFix/>
          </a:blip>
          <a:stretch>
            <a:fillRect/>
          </a:stretch>
        </p:blipFill>
        <p:spPr>
          <a:xfrm>
            <a:off x="1868242" y="1828800"/>
            <a:ext cx="8875958" cy="4943475"/>
          </a:xfrm>
          <a:prstGeom prst="rect">
            <a:avLst/>
          </a:prstGeom>
          <a:noFill/>
          <a:ln>
            <a:noFill/>
          </a:ln>
        </p:spPr>
      </p:pic>
    </p:spTree>
    <p:extLst>
      <p:ext uri="{BB962C8B-B14F-4D97-AF65-F5344CB8AC3E}">
        <p14:creationId xmlns:p14="http://schemas.microsoft.com/office/powerpoint/2010/main" val="198264907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2" name="Google Shape;202;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51</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03" name="Google Shape;203;g31ccdae391d_0_308"/>
          <p:cNvGraphicFramePr/>
          <p:nvPr>
            <p:extLst>
              <p:ext uri="{D42A27DB-BD31-4B8C-83A1-F6EECF244321}">
                <p14:modId xmlns:p14="http://schemas.microsoft.com/office/powerpoint/2010/main" val="786186394"/>
              </p:ext>
            </p:extLst>
          </p:nvPr>
        </p:nvGraphicFramePr>
        <p:xfrm>
          <a:off x="1066800" y="787650"/>
          <a:ext cx="10287000" cy="4536525"/>
        </p:xfrm>
        <a:graphic>
          <a:graphicData uri="http://schemas.openxmlformats.org/drawingml/2006/table">
            <a:tbl>
              <a:tblPr>
                <a:noFill/>
              </a:tblPr>
              <a:tblGrid>
                <a:gridCol w="693019">
                  <a:extLst>
                    <a:ext uri="{9D8B030D-6E8A-4147-A177-3AD203B41FA5}">
                      <a16:colId xmlns:a16="http://schemas.microsoft.com/office/drawing/2014/main" val="20000"/>
                    </a:ext>
                  </a:extLst>
                </a:gridCol>
                <a:gridCol w="1403493">
                  <a:extLst>
                    <a:ext uri="{9D8B030D-6E8A-4147-A177-3AD203B41FA5}">
                      <a16:colId xmlns:a16="http://schemas.microsoft.com/office/drawing/2014/main" val="20001"/>
                    </a:ext>
                  </a:extLst>
                </a:gridCol>
                <a:gridCol w="1606800">
                  <a:extLst>
                    <a:ext uri="{9D8B030D-6E8A-4147-A177-3AD203B41FA5}">
                      <a16:colId xmlns:a16="http://schemas.microsoft.com/office/drawing/2014/main" val="20002"/>
                    </a:ext>
                  </a:extLst>
                </a:gridCol>
                <a:gridCol w="3291844">
                  <a:extLst>
                    <a:ext uri="{9D8B030D-6E8A-4147-A177-3AD203B41FA5}">
                      <a16:colId xmlns:a16="http://schemas.microsoft.com/office/drawing/2014/main" val="20003"/>
                    </a:ext>
                  </a:extLst>
                </a:gridCol>
                <a:gridCol w="3291844">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6450">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01ea in stock + 01 in Vip Kit, 01ea về trong tuần 31.</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cả</a:t>
                      </a:r>
                      <a:r>
                        <a:rPr lang="en-US" sz="1300" u="none" strike="noStrike" cap="none" dirty="0">
                          <a:latin typeface="Times New Roman"/>
                          <a:ea typeface="Times New Roman"/>
                          <a:cs typeface="Times New Roman"/>
                          <a:sym typeface="Times New Roman"/>
                        </a:rPr>
                        <a:t> fleet B787 </a:t>
                      </a:r>
                      <a:r>
                        <a:rPr lang="en-US" sz="1300" u="none" strike="noStrike" cap="none" dirty="0" err="1">
                          <a:latin typeface="Times New Roman"/>
                          <a:ea typeface="Times New Roman"/>
                          <a:cs typeface="Times New Roman"/>
                          <a:sym typeface="Times New Roman"/>
                        </a:rPr>
                        <a:t>có</a:t>
                      </a:r>
                      <a:r>
                        <a:rPr lang="en-US" sz="1300" u="none" strike="noStrike" cap="none" dirty="0">
                          <a:latin typeface="Times New Roman"/>
                          <a:ea typeface="Times New Roman"/>
                          <a:cs typeface="Times New Roman"/>
                          <a:sym typeface="Times New Roman"/>
                        </a:rPr>
                        <a:t> </a:t>
                      </a:r>
                      <a:r>
                        <a:rPr lang="en-US" sz="1300" dirty="0">
                          <a:latin typeface="Times New Roman"/>
                          <a:ea typeface="Times New Roman"/>
                          <a:cs typeface="Times New Roman"/>
                          <a:sym typeface="Times New Roman"/>
                        </a:rPr>
                        <a:t>05</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smtClean="0">
                          <a:latin typeface="Times New Roman"/>
                          <a:ea typeface="Times New Roman"/>
                          <a:cs typeface="Times New Roman"/>
                          <a:sym typeface="Times New Roman"/>
                        </a:rPr>
                        <a:t>- 03ea </a:t>
                      </a:r>
                      <a:r>
                        <a:rPr lang="en-US" sz="1300" dirty="0">
                          <a:latin typeface="Times New Roman"/>
                          <a:ea typeface="Times New Roman"/>
                          <a:cs typeface="Times New Roman"/>
                          <a:sym typeface="Times New Roman"/>
                        </a:rPr>
                        <a:t>RO </a:t>
                      </a:r>
                      <a:r>
                        <a:rPr lang="en-US" sz="1300" dirty="0" err="1" smtClean="0">
                          <a:latin typeface="Times New Roman"/>
                          <a:ea typeface="Times New Roman"/>
                          <a:cs typeface="Times New Roman"/>
                          <a:sym typeface="Times New Roman"/>
                        </a:rPr>
                        <a:t>vào</a:t>
                      </a:r>
                      <a:r>
                        <a:rPr lang="en-US" sz="1300" baseline="0" dirty="0" smtClean="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shop </a:t>
                      </a:r>
                      <a:r>
                        <a:rPr lang="en-US" sz="1300" dirty="0" err="1" smtClean="0">
                          <a:latin typeface="Times New Roman"/>
                          <a:ea typeface="Times New Roman"/>
                          <a:cs typeface="Times New Roman"/>
                          <a:sym typeface="Times New Roman"/>
                        </a:rPr>
                        <a:t>tuần</a:t>
                      </a:r>
                      <a:r>
                        <a:rPr lang="en-US" sz="1300" baseline="0" dirty="0" smtClean="0">
                          <a:latin typeface="Times New Roman"/>
                          <a:ea typeface="Times New Roman"/>
                          <a:cs typeface="Times New Roman"/>
                          <a:sym typeface="Times New Roman"/>
                        </a:rPr>
                        <a:t> 31</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02ea </a:t>
                      </a:r>
                      <a:r>
                        <a:rPr lang="en-US" sz="1300" dirty="0" err="1">
                          <a:latin typeface="Times New Roman"/>
                          <a:ea typeface="Times New Roman"/>
                          <a:cs typeface="Times New Roman"/>
                          <a:sym typeface="Times New Roman"/>
                        </a:rPr>
                        <a:t>sẽ</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lập</a:t>
                      </a:r>
                      <a:r>
                        <a:rPr lang="en-US" sz="1300" dirty="0">
                          <a:latin typeface="Times New Roman"/>
                          <a:ea typeface="Times New Roman"/>
                          <a:cs typeface="Times New Roman"/>
                          <a:sym typeface="Times New Roman"/>
                        </a:rPr>
                        <a:t> RO trong </a:t>
                      </a:r>
                      <a:r>
                        <a:rPr lang="en-US" sz="1300" dirty="0" err="1">
                          <a:latin typeface="Times New Roman"/>
                          <a:ea typeface="Times New Roman"/>
                          <a:cs typeface="Times New Roman"/>
                          <a:sym typeface="Times New Roman"/>
                        </a:rPr>
                        <a:t>tuần</a:t>
                      </a:r>
                      <a:r>
                        <a:rPr lang="en-US" sz="1300" dirty="0">
                          <a:latin typeface="Times New Roman"/>
                          <a:ea typeface="Times New Roman"/>
                          <a:cs typeface="Times New Roman"/>
                          <a:sym typeface="Times New Roman"/>
                        </a:rPr>
                        <a:t> 31.</a:t>
                      </a:r>
                      <a:endParaRPr sz="1300" dirty="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dirty="0">
                          <a:solidFill>
                            <a:schemeClr val="dk1"/>
                          </a:solidFill>
                          <a:latin typeface="Times New Roman"/>
                          <a:ea typeface="Times New Roman"/>
                          <a:cs typeface="Times New Roman"/>
                          <a:sym typeface="Times New Roman"/>
                        </a:rPr>
                        <a:t>01ea </a:t>
                      </a:r>
                      <a:r>
                        <a:rPr lang="en-US" sz="1200" dirty="0" err="1">
                          <a:solidFill>
                            <a:schemeClr val="dk1"/>
                          </a:solidFill>
                          <a:latin typeface="Times New Roman"/>
                          <a:ea typeface="Times New Roman"/>
                          <a:cs typeface="Times New Roman"/>
                          <a:sym typeface="Times New Roman"/>
                        </a:rPr>
                        <a:t>giao</a:t>
                      </a:r>
                      <a:r>
                        <a:rPr lang="en-US" sz="1200" dirty="0">
                          <a:solidFill>
                            <a:schemeClr val="dk1"/>
                          </a:solidFill>
                          <a:latin typeface="Times New Roman"/>
                          <a:ea typeface="Times New Roman"/>
                          <a:cs typeface="Times New Roman"/>
                          <a:sym typeface="Times New Roman"/>
                        </a:rPr>
                        <a:t> SGN </a:t>
                      </a:r>
                      <a:r>
                        <a:rPr lang="en-US" sz="1200" dirty="0" err="1">
                          <a:solidFill>
                            <a:schemeClr val="dk1"/>
                          </a:solidFill>
                          <a:latin typeface="Times New Roman"/>
                          <a:ea typeface="Times New Roman"/>
                          <a:cs typeface="Times New Roman"/>
                          <a:sym typeface="Times New Roman"/>
                        </a:rPr>
                        <a:t>ngày</a:t>
                      </a:r>
                      <a:r>
                        <a:rPr lang="en-US" sz="1200" dirty="0">
                          <a:solidFill>
                            <a:schemeClr val="dk1"/>
                          </a:solidFill>
                          <a:latin typeface="Times New Roman"/>
                          <a:ea typeface="Times New Roman"/>
                          <a:cs typeface="Times New Roman"/>
                          <a:sym typeface="Times New Roman"/>
                        </a:rPr>
                        <a:t> 28/07 (</a:t>
                      </a:r>
                      <a:r>
                        <a:rPr lang="en-US" sz="1200" dirty="0" err="1">
                          <a:solidFill>
                            <a:schemeClr val="dk1"/>
                          </a:solidFill>
                          <a:latin typeface="Times New Roman"/>
                          <a:ea typeface="Times New Roman"/>
                          <a:cs typeface="Times New Roman"/>
                          <a:sym typeface="Times New Roman"/>
                        </a:rPr>
                        <a:t>dùng</a:t>
                      </a:r>
                      <a:r>
                        <a:rPr lang="en-US" sz="1200" dirty="0">
                          <a:solidFill>
                            <a:schemeClr val="dk1"/>
                          </a:solidFill>
                          <a:latin typeface="Times New Roman"/>
                          <a:ea typeface="Times New Roman"/>
                          <a:cs typeface="Times New Roman"/>
                          <a:sym typeface="Times New Roman"/>
                        </a:rPr>
                        <a:t> </a:t>
                      </a:r>
                      <a:r>
                        <a:rPr lang="en-US" sz="1200" dirty="0" err="1">
                          <a:solidFill>
                            <a:schemeClr val="dk1"/>
                          </a:solidFill>
                          <a:latin typeface="Times New Roman"/>
                          <a:ea typeface="Times New Roman"/>
                          <a:cs typeface="Times New Roman"/>
                          <a:sym typeface="Times New Roman"/>
                        </a:rPr>
                        <a:t>cho</a:t>
                      </a:r>
                      <a:r>
                        <a:rPr lang="en-US" sz="1200" dirty="0">
                          <a:solidFill>
                            <a:schemeClr val="dk1"/>
                          </a:solidFill>
                          <a:latin typeface="Times New Roman"/>
                          <a:ea typeface="Times New Roman"/>
                          <a:cs typeface="Times New Roman"/>
                          <a:sym typeface="Times New Roman"/>
                        </a:rPr>
                        <a:t> A877) + 01ea </a:t>
                      </a:r>
                      <a:r>
                        <a:rPr lang="en-US" sz="1200" dirty="0" err="1">
                          <a:solidFill>
                            <a:schemeClr val="dk1"/>
                          </a:solidFill>
                          <a:latin typeface="Times New Roman"/>
                          <a:ea typeface="Times New Roman"/>
                          <a:cs typeface="Times New Roman"/>
                          <a:sym typeface="Times New Roman"/>
                        </a:rPr>
                        <a:t>giao</a:t>
                      </a:r>
                      <a:r>
                        <a:rPr lang="en-US" sz="1200" dirty="0">
                          <a:solidFill>
                            <a:schemeClr val="dk1"/>
                          </a:solidFill>
                          <a:latin typeface="Times New Roman"/>
                          <a:ea typeface="Times New Roman"/>
                          <a:cs typeface="Times New Roman"/>
                          <a:sym typeface="Times New Roman"/>
                        </a:rPr>
                        <a:t> SGN 29/07</a:t>
                      </a:r>
                      <a:r>
                        <a:rPr lang="en-US" sz="1200" dirty="0" smtClean="0">
                          <a:solidFill>
                            <a:schemeClr val="dk1"/>
                          </a:solidFill>
                          <a:latin typeface="Times New Roman"/>
                          <a:ea typeface="Times New Roman"/>
                          <a:cs typeface="Times New Roman"/>
                          <a:sym typeface="Times New Roman"/>
                        </a:rPr>
                        <a:t>.</a:t>
                      </a:r>
                      <a:endParaRPr sz="1200" dirty="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CMSC</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7000045H03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err="1">
                          <a:latin typeface="Times New Roman"/>
                          <a:ea typeface="Times New Roman"/>
                          <a:cs typeface="Times New Roman"/>
                          <a:sym typeface="Times New Roman"/>
                        </a:rPr>
                        <a:t>Hỏng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hóc</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nhiều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tại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vị</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trí</a:t>
                      </a:r>
                      <a:r>
                        <a:rPr lang="en-US" sz="1300" dirty="0">
                          <a:latin typeface="Times New Roman"/>
                          <a:ea typeface="Times New Roman"/>
                          <a:cs typeface="Times New Roman"/>
                          <a:sym typeface="Times New Roman"/>
                        </a:rPr>
                        <a:t> CAC </a:t>
                      </a:r>
                      <a:r>
                        <a:rPr lang="en-US" sz="1300" dirty="0" err="1">
                          <a:latin typeface="Times New Roman"/>
                          <a:ea typeface="Times New Roman"/>
                          <a:cs typeface="Times New Roman"/>
                          <a:sym typeface="Times New Roman"/>
                        </a:rPr>
                        <a:t>chưa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được</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làm</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nâng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cấp</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lên</a:t>
                      </a:r>
                      <a:r>
                        <a:rPr lang="en-US" sz="1300" dirty="0">
                          <a:latin typeface="Times New Roman"/>
                          <a:ea typeface="Times New Roman"/>
                          <a:cs typeface="Times New Roman"/>
                          <a:sym typeface="Times New Roman"/>
                        </a:rPr>
                        <a:t> H04 (dự </a:t>
                      </a:r>
                      <a:r>
                        <a:rPr lang="en-US" sz="1300" dirty="0" err="1">
                          <a:latin typeface="Times New Roman"/>
                          <a:ea typeface="Times New Roman"/>
                          <a:cs typeface="Times New Roman"/>
                          <a:sym typeface="Times New Roman"/>
                        </a:rPr>
                        <a:t>kiến</a:t>
                      </a:r>
                      <a:r>
                        <a:rPr lang="en-US" sz="1300" dirty="0">
                          <a:latin typeface="Times New Roman"/>
                          <a:ea typeface="Times New Roman"/>
                          <a:cs typeface="Times New Roman"/>
                          <a:sym typeface="Times New Roman"/>
                        </a:rPr>
                        <a:t> SB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trong </a:t>
                      </a:r>
                      <a:r>
                        <a:rPr lang="en-US" sz="1300" dirty="0" err="1">
                          <a:latin typeface="Times New Roman"/>
                          <a:ea typeface="Times New Roman"/>
                          <a:cs typeface="Times New Roman"/>
                          <a:sym typeface="Times New Roman"/>
                        </a:rPr>
                        <a:t>tháng</a:t>
                      </a:r>
                      <a:r>
                        <a:rPr lang="en-US" sz="1300" dirty="0">
                          <a:latin typeface="Times New Roman"/>
                          <a:ea typeface="Times New Roman"/>
                          <a:cs typeface="Times New Roman"/>
                          <a:sym typeface="Times New Roman"/>
                        </a:rPr>
                        <a:t> 9)</a:t>
                      </a:r>
                      <a:endParaRPr sz="1300" u="none" strike="noStrike" cap="none" dirty="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01ea in stock.</a:t>
                      </a:r>
                      <a:endParaRPr sz="1300" dirty="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12066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15"/>
          <p:cNvSpPr txBox="1">
            <a:spLocks noGrp="1"/>
          </p:cNvSpPr>
          <p:nvPr>
            <p:ph type="title"/>
          </p:nvPr>
        </p:nvSpPr>
        <p:spPr>
          <a:xfrm>
            <a:off x="1269641" y="211507"/>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11" name="Google Shape;211;g31ccdae391d_0_315"/>
          <p:cNvSpPr/>
          <p:nvPr/>
        </p:nvSpPr>
        <p:spPr>
          <a:xfrm>
            <a:off x="1143001" y="569557"/>
            <a:ext cx="10210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PTVT thay nhiều: VFSG, CMSC, NSG, CAC, GWIV.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A869 - ELEC GEN SYS R1: chờ T/S</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A870 - MODE SELECT/QUANTIFY INDICATION MODULE IN-OP BRK 7 ACTUATOR: Water panel giao SGN ngày 28/07.</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p:txBody>
      </p:sp>
      <p:pic>
        <p:nvPicPr>
          <p:cNvPr id="212" name="Google Shape;212;g31ccdae391d_0_315"/>
          <p:cNvPicPr preferRelativeResize="0"/>
          <p:nvPr/>
        </p:nvPicPr>
        <p:blipFill>
          <a:blip r:embed="rId3">
            <a:alphaModFix/>
          </a:blip>
          <a:stretch>
            <a:fillRect/>
          </a:stretch>
        </p:blipFill>
        <p:spPr>
          <a:xfrm>
            <a:off x="1295399" y="2881313"/>
            <a:ext cx="10106025" cy="2162175"/>
          </a:xfrm>
          <a:prstGeom prst="rect">
            <a:avLst/>
          </a:prstGeom>
          <a:noFill/>
          <a:ln>
            <a:noFill/>
          </a:ln>
        </p:spPr>
      </p:pic>
    </p:spTree>
    <p:extLst>
      <p:ext uri="{BB962C8B-B14F-4D97-AF65-F5344CB8AC3E}">
        <p14:creationId xmlns:p14="http://schemas.microsoft.com/office/powerpoint/2010/main" val="203972441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1ccdae391d_0_323"/>
          <p:cNvSpPr txBox="1">
            <a:spLocks noGrp="1"/>
          </p:cNvSpPr>
          <p:nvPr>
            <p:ph type="title"/>
          </p:nvPr>
        </p:nvSpPr>
        <p:spPr>
          <a:xfrm>
            <a:off x="1330816" y="85386"/>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19" name="Google Shape;219;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20" name="Google Shape;220;g31ccdae391d_0_323"/>
          <p:cNvSpPr/>
          <p:nvPr/>
        </p:nvSpPr>
        <p:spPr>
          <a:xfrm>
            <a:off x="1295399" y="858118"/>
            <a:ext cx="10134601" cy="5999881"/>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Tình</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trạng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đơn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hàng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Pooling: 46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đơn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hàng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quá</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hạn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trong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tổng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số</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75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đơn</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hàng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20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đang</a:t>
            </a:r>
            <a:r>
              <a:rPr kumimoji="0" lang="en-US" sz="20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open</a:t>
            </a:r>
            <a:endParaRPr kumimoji="0" sz="2000" b="1" i="0" u="none" strike="noStrike" kern="0" cap="none" spc="0" normalizeH="0" baseline="0" noProof="0" dirty="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Đơn</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lấp</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đầy</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OSS: </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13 overdue LO / total </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15 </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LO</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Đơn</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khác</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(Defect,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Hardtime</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33 overdue EO / total 60 EO </a:t>
            </a:r>
            <a:endParaRPr kumimoji="0" sz="1500" b="0" i="0" u="none" strike="noStrike" kern="0" cap="none" spc="0" normalizeH="0" baseline="0" noProof="0" dirty="0">
              <a:ln>
                <a:noFill/>
              </a:ln>
              <a:solidFill>
                <a:srgbClr val="1F497D"/>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Tình</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trạng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đơn</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pool trong 4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tuần</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gần</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1"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nhất</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
        <p:nvSpPr>
          <p:cNvPr id="221" name="Google Shape;221;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22" name="Google Shape;222;g31ccdae391d_0_323"/>
          <p:cNvPicPr preferRelativeResize="0"/>
          <p:nvPr/>
        </p:nvPicPr>
        <p:blipFill>
          <a:blip r:embed="rId3">
            <a:alphaModFix/>
          </a:blip>
          <a:stretch>
            <a:fillRect/>
          </a:stretch>
        </p:blipFill>
        <p:spPr>
          <a:xfrm>
            <a:off x="2738450" y="2097875"/>
            <a:ext cx="6646300" cy="4555349"/>
          </a:xfrm>
          <a:prstGeom prst="rect">
            <a:avLst/>
          </a:prstGeom>
          <a:noFill/>
          <a:ln>
            <a:noFill/>
          </a:ln>
        </p:spPr>
      </p:pic>
    </p:spTree>
    <p:extLst>
      <p:ext uri="{BB962C8B-B14F-4D97-AF65-F5344CB8AC3E}">
        <p14:creationId xmlns:p14="http://schemas.microsoft.com/office/powerpoint/2010/main" val="400591367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9" name="Google Shape;229;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54</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30" name="Google Shape;230;g31ccdae391d_0_332"/>
          <p:cNvGraphicFramePr/>
          <p:nvPr>
            <p:extLst>
              <p:ext uri="{D42A27DB-BD31-4B8C-83A1-F6EECF244321}">
                <p14:modId xmlns:p14="http://schemas.microsoft.com/office/powerpoint/2010/main" val="1276193381"/>
              </p:ext>
            </p:extLst>
          </p:nvPr>
        </p:nvGraphicFramePr>
        <p:xfrm>
          <a:off x="941349" y="301869"/>
          <a:ext cx="10666200" cy="6403730"/>
        </p:xfrm>
        <a:graphic>
          <a:graphicData uri="http://schemas.openxmlformats.org/drawingml/2006/table">
            <a:tbl>
              <a:tblPr>
                <a:noFill/>
              </a:tblPr>
              <a:tblGrid>
                <a:gridCol w="718562">
                  <a:extLst>
                    <a:ext uri="{9D8B030D-6E8A-4147-A177-3AD203B41FA5}">
                      <a16:colId xmlns:a16="http://schemas.microsoft.com/office/drawing/2014/main" val="20000"/>
                    </a:ext>
                  </a:extLst>
                </a:gridCol>
                <a:gridCol w="1645363">
                  <a:extLst>
                    <a:ext uri="{9D8B030D-6E8A-4147-A177-3AD203B41FA5}">
                      <a16:colId xmlns:a16="http://schemas.microsoft.com/office/drawing/2014/main" val="20001"/>
                    </a:ext>
                  </a:extLst>
                </a:gridCol>
                <a:gridCol w="1475893">
                  <a:extLst>
                    <a:ext uri="{9D8B030D-6E8A-4147-A177-3AD203B41FA5}">
                      <a16:colId xmlns:a16="http://schemas.microsoft.com/office/drawing/2014/main" val="20002"/>
                    </a:ext>
                  </a:extLst>
                </a:gridCol>
                <a:gridCol w="3413191">
                  <a:extLst>
                    <a:ext uri="{9D8B030D-6E8A-4147-A177-3AD203B41FA5}">
                      <a16:colId xmlns:a16="http://schemas.microsoft.com/office/drawing/2014/main" val="20003"/>
                    </a:ext>
                  </a:extLst>
                </a:gridCol>
                <a:gridCol w="3413191">
                  <a:extLst>
                    <a:ext uri="{9D8B030D-6E8A-4147-A177-3AD203B41FA5}">
                      <a16:colId xmlns:a16="http://schemas.microsoft.com/office/drawing/2014/main" val="20004"/>
                    </a:ext>
                  </a:extLst>
                </a:gridCol>
              </a:tblGrid>
              <a:tr h="277254">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7254">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32839">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 lấp đầy chưa có EDD</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a:solidFill>
                            <a:schemeClr val="dk1"/>
                          </a:solidFill>
                          <a:latin typeface="Times New Roman"/>
                          <a:ea typeface="Times New Roman"/>
                          <a:cs typeface="Times New Roman"/>
                          <a:sym typeface="Times New Roman"/>
                        </a:rPr>
                        <a:t>01ea in stock.</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074893">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688-6/688-6-00-100</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cần</a:t>
                      </a:r>
                      <a:r>
                        <a:rPr lang="en-US" sz="1300" u="none" strike="noStrike" cap="none" dirty="0">
                          <a:latin typeface="Times New Roman"/>
                          <a:ea typeface="Times New Roman"/>
                          <a:cs typeface="Times New Roman"/>
                          <a:sym typeface="Times New Roman"/>
                        </a:rPr>
                        <a:t> 1</a:t>
                      </a:r>
                      <a:r>
                        <a:rPr lang="en-US" sz="1300" dirty="0">
                          <a:latin typeface="Times New Roman"/>
                          <a:ea typeface="Times New Roman"/>
                          <a:cs typeface="Times New Roman"/>
                          <a:sym typeface="Times New Roman"/>
                        </a:rPr>
                        <a:t>5</a:t>
                      </a:r>
                      <a:r>
                        <a:rPr lang="en-US" sz="1300" u="none" strike="noStrike" cap="none" dirty="0">
                          <a:latin typeface="Times New Roman"/>
                          <a:ea typeface="Times New Roman"/>
                          <a:cs typeface="Times New Roman"/>
                          <a:sym typeface="Times New Roman"/>
                        </a:rPr>
                        <a:t>ea (</a:t>
                      </a:r>
                      <a:r>
                        <a:rPr lang="en-US" sz="1300" dirty="0">
                          <a:latin typeface="Times New Roman"/>
                          <a:ea typeface="Times New Roman"/>
                          <a:cs typeface="Times New Roman"/>
                          <a:sym typeface="Times New Roman"/>
                        </a:rPr>
                        <a:t>13</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+ 0</a:t>
                      </a:r>
                      <a:r>
                        <a:rPr lang="en-US" sz="1300" dirty="0">
                          <a:latin typeface="Times New Roman"/>
                          <a:ea typeface="Times New Roman"/>
                          <a:cs typeface="Times New Roman"/>
                          <a:sym typeface="Times New Roman"/>
                        </a:rPr>
                        <a:t>2</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bảo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quản</a:t>
                      </a:r>
                      <a:r>
                        <a:rPr lang="en-US" sz="1300" u="none" strike="noStrike" cap="none" dirty="0">
                          <a:latin typeface="Times New Roman"/>
                          <a:ea typeface="Times New Roman"/>
                          <a:cs typeface="Times New Roman"/>
                          <a:sym typeface="Times New Roman"/>
                        </a:rPr>
                        <a:t>).</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NIL stock</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- 07</a:t>
                      </a:r>
                      <a:r>
                        <a:rPr lang="en-US" sz="1300" u="none" strike="noStrike" cap="none">
                          <a:solidFill>
                            <a:schemeClr val="dk1"/>
                          </a:solidFill>
                          <a:latin typeface="Times New Roman"/>
                          <a:ea typeface="Times New Roman"/>
                          <a:cs typeface="Times New Roman"/>
                          <a:sym typeface="Times New Roman"/>
                        </a:rPr>
                        <a:t>RO</a:t>
                      </a:r>
                      <a:r>
                        <a:rPr lang="en-US" sz="1300">
                          <a:solidFill>
                            <a:schemeClr val="dk1"/>
                          </a:solidFill>
                          <a:latin typeface="Times New Roman"/>
                          <a:ea typeface="Times New Roman"/>
                          <a:cs typeface="Times New Roman"/>
                          <a:sym typeface="Times New Roman"/>
                        </a:rPr>
                        <a:t>:</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EDD 11/08.</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+ 05ea chưa có EDD.</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932839">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05</a:t>
                      </a:r>
                      <a:r>
                        <a:rPr lang="en-US" sz="1300" u="none" strike="noStrike" cap="none" dirty="0">
                          <a:solidFill>
                            <a:schemeClr val="dk1"/>
                          </a:solidFill>
                          <a:latin typeface="Times New Roman"/>
                          <a:ea typeface="Times New Roman"/>
                          <a:cs typeface="Times New Roman"/>
                          <a:sym typeface="Times New Roman"/>
                        </a:rPr>
                        <a:t>ea in stock</a:t>
                      </a:r>
                      <a:r>
                        <a:rPr lang="en-US" sz="1300" dirty="0">
                          <a:solidFill>
                            <a:schemeClr val="dk1"/>
                          </a:solidFill>
                          <a:latin typeface="Times New Roman"/>
                          <a:ea typeface="Times New Roman"/>
                          <a:cs typeface="Times New Roman"/>
                          <a:sym typeface="Times New Roman"/>
                        </a:rPr>
                        <a:t> (trong </a:t>
                      </a:r>
                      <a:r>
                        <a:rPr lang="en-US" sz="1300" dirty="0" err="1">
                          <a:solidFill>
                            <a:schemeClr val="dk1"/>
                          </a:solidFill>
                          <a:latin typeface="Times New Roman"/>
                          <a:ea typeface="Times New Roman"/>
                          <a:cs typeface="Times New Roman"/>
                          <a:sym typeface="Times New Roman"/>
                        </a:rPr>
                        <a:t>đó</a:t>
                      </a:r>
                      <a:r>
                        <a:rPr lang="en-US" sz="1300" dirty="0">
                          <a:solidFill>
                            <a:schemeClr val="dk1"/>
                          </a:solidFill>
                          <a:latin typeface="Times New Roman"/>
                          <a:ea typeface="Times New Roman"/>
                          <a:cs typeface="Times New Roman"/>
                          <a:sym typeface="Times New Roman"/>
                        </a:rPr>
                        <a:t> 04ea </a:t>
                      </a:r>
                      <a:r>
                        <a:rPr lang="en-US" sz="1300" dirty="0" err="1">
                          <a:solidFill>
                            <a:schemeClr val="dk1"/>
                          </a:solidFill>
                          <a:latin typeface="Times New Roman"/>
                          <a:ea typeface="Times New Roman"/>
                          <a:cs typeface="Times New Roman"/>
                          <a:sym typeface="Times New Roman"/>
                        </a:rPr>
                        <a:t>là</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của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A895).</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042973">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hệ</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thống</a:t>
                      </a:r>
                      <a:r>
                        <a:rPr lang="en-US" sz="1300" u="none" strike="noStrike" cap="none" dirty="0">
                          <a:latin typeface="Times New Roman"/>
                          <a:ea typeface="Times New Roman"/>
                          <a:cs typeface="Times New Roman"/>
                          <a:sym typeface="Times New Roman"/>
                        </a:rPr>
                        <a:t> chiller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bay.</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TAT </a:t>
                      </a:r>
                      <a:r>
                        <a:rPr lang="en-US" sz="1300" u="none" strike="noStrike" cap="none" dirty="0" err="1">
                          <a:latin typeface="Times New Roman"/>
                          <a:ea typeface="Times New Roman"/>
                          <a:cs typeface="Times New Roman"/>
                          <a:sym typeface="Times New Roman"/>
                        </a:rPr>
                        <a:t>sửa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chữa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tại</a:t>
                      </a:r>
                      <a:r>
                        <a:rPr lang="en-US" sz="1300" u="none" strike="noStrike" cap="none" dirty="0">
                          <a:latin typeface="Times New Roman"/>
                          <a:ea typeface="Times New Roman"/>
                          <a:cs typeface="Times New Roman"/>
                          <a:sym typeface="Times New Roman"/>
                        </a:rPr>
                        <a:t> shop Honeywell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dài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chưa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được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việc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cung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ứng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hàng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Airbus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chậm</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thêm</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VCRU </a:t>
                      </a:r>
                      <a:r>
                        <a:rPr lang="en-US" sz="1300" dirty="0" err="1">
                          <a:solidFill>
                            <a:schemeClr val="dk1"/>
                          </a:solidFill>
                          <a:latin typeface="Times New Roman"/>
                          <a:ea typeface="Times New Roman"/>
                          <a:cs typeface="Times New Roman"/>
                          <a:sym typeface="Times New Roman"/>
                        </a:rPr>
                        <a:t>và</a:t>
                      </a:r>
                      <a:r>
                        <a:rPr lang="en-US" sz="1300"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932839">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Độ tin cậy kém nên hỏng hóc rất nhiều.</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smtClean="0">
                          <a:solidFill>
                            <a:schemeClr val="dk1"/>
                          </a:solidFill>
                          <a:latin typeface="Times New Roman"/>
                          <a:ea typeface="Times New Roman"/>
                          <a:cs typeface="Times New Roman"/>
                          <a:sym typeface="Times New Roman"/>
                        </a:rPr>
                        <a:t>12ea </a:t>
                      </a:r>
                      <a:r>
                        <a:rPr lang="en-US" sz="1300" dirty="0" err="1">
                          <a:solidFill>
                            <a:schemeClr val="dk1"/>
                          </a:solidFill>
                          <a:latin typeface="Times New Roman"/>
                          <a:ea typeface="Times New Roman"/>
                          <a:cs typeface="Times New Roman"/>
                          <a:sym typeface="Times New Roman"/>
                        </a:rPr>
                        <a:t>hỏng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hóc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mới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chỉ</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thông</a:t>
                      </a:r>
                      <a:r>
                        <a:rPr lang="en-US" sz="1300" dirty="0">
                          <a:solidFill>
                            <a:schemeClr val="dk1"/>
                          </a:solidFill>
                          <a:latin typeface="Times New Roman"/>
                          <a:ea typeface="Times New Roman"/>
                          <a:cs typeface="Times New Roman"/>
                          <a:sym typeface="Times New Roman"/>
                        </a:rPr>
                        <a:t> tin 01ea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HAN 28/07.</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r h="932839">
                <a:tc>
                  <a:txBody>
                    <a:bodyPr/>
                    <a:lstStyle/>
                    <a:p>
                      <a:pPr marL="0" marR="0" lvl="0" indent="0" algn="ctr" rtl="0">
                        <a:lnSpc>
                          <a:spcPct val="100000"/>
                        </a:lnSpc>
                        <a:spcBef>
                          <a:spcPts val="0"/>
                        </a:spcBef>
                        <a:spcAft>
                          <a:spcPts val="0"/>
                        </a:spcAft>
                        <a:buNone/>
                      </a:pPr>
                      <a:r>
                        <a:rPr lang="en-US" sz="1300">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a:latin typeface="Times New Roman"/>
                          <a:ea typeface="Times New Roman"/>
                          <a:cs typeface="Times New Roman"/>
                          <a:sym typeface="Times New Roman"/>
                        </a:rPr>
                        <a:t>Starter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a:solidFill>
                            <a:schemeClr val="dk1"/>
                          </a:solidFill>
                          <a:latin typeface="Times New Roman"/>
                          <a:ea typeface="Times New Roman"/>
                          <a:cs typeface="Times New Roman"/>
                          <a:sym typeface="Times New Roman"/>
                        </a:rPr>
                        <a:t>1714214A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a:latin typeface="Times New Roman"/>
                          <a:ea typeface="Times New Roman"/>
                          <a:cs typeface="Times New Roman"/>
                          <a:sym typeface="Times New Roman"/>
                        </a:rPr>
                        <a:t>+ Hỏng nhiều trên fleet A350 và rất nhiều quote BER repair, nguồn hàng từ OEM Collins không có sẵn, tàu BQ đã bị rob hết nhưng cũng không đủ.</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cần</a:t>
                      </a:r>
                      <a:r>
                        <a:rPr lang="en-US" sz="1300" dirty="0">
                          <a:solidFill>
                            <a:schemeClr val="dk1"/>
                          </a:solidFill>
                          <a:latin typeface="Times New Roman"/>
                          <a:ea typeface="Times New Roman"/>
                          <a:cs typeface="Times New Roman"/>
                          <a:sym typeface="Times New Roman"/>
                        </a:rPr>
                        <a:t> 02ea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A895.</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300" dirty="0">
                          <a:solidFill>
                            <a:schemeClr val="dk1"/>
                          </a:solidFill>
                          <a:latin typeface="Times New Roman"/>
                          <a:ea typeface="Times New Roman"/>
                          <a:cs typeface="Times New Roman"/>
                          <a:sym typeface="Times New Roman"/>
                        </a:rPr>
                        <a:t>+ 03ea PO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EDD.</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300" dirty="0">
                          <a:solidFill>
                            <a:schemeClr val="dk1"/>
                          </a:solidFill>
                          <a:latin typeface="Times New Roman"/>
                          <a:ea typeface="Times New Roman"/>
                          <a:cs typeface="Times New Roman"/>
                          <a:sym typeface="Times New Roman"/>
                        </a:rPr>
                        <a:t>+ 03 RO: 02ea BER repair,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trình</a:t>
                      </a:r>
                      <a:r>
                        <a:rPr lang="en-US" sz="1300" dirty="0">
                          <a:solidFill>
                            <a:schemeClr val="dk1"/>
                          </a:solidFill>
                          <a:latin typeface="Times New Roman"/>
                          <a:ea typeface="Times New Roman"/>
                          <a:cs typeface="Times New Roman"/>
                          <a:sym typeface="Times New Roman"/>
                        </a:rPr>
                        <a:t> PTGĐ </a:t>
                      </a:r>
                      <a:r>
                        <a:rPr lang="en-US" sz="1300" dirty="0" err="1">
                          <a:solidFill>
                            <a:schemeClr val="dk1"/>
                          </a:solidFill>
                          <a:latin typeface="Times New Roman"/>
                          <a:ea typeface="Times New Roman"/>
                          <a:cs typeface="Times New Roman"/>
                          <a:sym typeface="Times New Roman"/>
                        </a:rPr>
                        <a:t>phê</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duyệt</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sửa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chữa</a:t>
                      </a:r>
                      <a:r>
                        <a:rPr lang="en-US" sz="1300" dirty="0">
                          <a:solidFill>
                            <a:schemeClr val="dk1"/>
                          </a:solidFill>
                          <a:latin typeface="Times New Roman"/>
                          <a:ea typeface="Times New Roman"/>
                          <a:cs typeface="Times New Roman"/>
                          <a:sym typeface="Times New Roman"/>
                        </a:rPr>
                        <a:t> BER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quote 100k </a:t>
                      </a:r>
                      <a:r>
                        <a:rPr lang="en-US" sz="1300" dirty="0" err="1">
                          <a:solidFill>
                            <a:schemeClr val="dk1"/>
                          </a:solidFill>
                          <a:latin typeface="Times New Roman"/>
                          <a:ea typeface="Times New Roman"/>
                          <a:cs typeface="Times New Roman"/>
                          <a:sym typeface="Times New Roman"/>
                        </a:rPr>
                        <a:t>đầu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31.</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3250015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9"/>
          <p:cNvSpPr txBox="1">
            <a:spLocks noGrp="1"/>
          </p:cNvSpPr>
          <p:nvPr>
            <p:ph type="title"/>
          </p:nvPr>
        </p:nvSpPr>
        <p:spPr>
          <a:xfrm>
            <a:off x="536407" y="351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38" name="Google Shape;238;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    Một số thiết bị pooling của OEM Honeywell liên quan hệ thống Chiller (VCRU, Motor Controler) TAT vẫn rất dài.</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hệ thống flight control vẫn nhiều.</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A886, A887, A888, A892, A896 - CHILLER SYS INOP: đặt hàng VCRU, chưa có EDD.</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A886 - SATCOM INOP: đã có Satcom Antenna.</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A887 - F/CTL L OUTR AILERON G AC-TUATOR: đặt hàng Aileron Servocontrol.</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39" name="Google Shape;239;g31ccdae391d_0_339"/>
          <p:cNvPicPr preferRelativeResize="0"/>
          <p:nvPr/>
        </p:nvPicPr>
        <p:blipFill>
          <a:blip r:embed="rId3">
            <a:alphaModFix/>
          </a:blip>
          <a:stretch>
            <a:fillRect/>
          </a:stretch>
        </p:blipFill>
        <p:spPr>
          <a:xfrm>
            <a:off x="800100" y="3109913"/>
            <a:ext cx="10591800" cy="2162175"/>
          </a:xfrm>
          <a:prstGeom prst="rect">
            <a:avLst/>
          </a:prstGeom>
          <a:noFill/>
          <a:ln>
            <a:noFill/>
          </a:ln>
        </p:spPr>
      </p:pic>
    </p:spTree>
    <p:extLst>
      <p:ext uri="{BB962C8B-B14F-4D97-AF65-F5344CB8AC3E}">
        <p14:creationId xmlns:p14="http://schemas.microsoft.com/office/powerpoint/2010/main" val="365403715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1ccdae391d_0_347"/>
          <p:cNvSpPr txBox="1">
            <a:spLocks noGrp="1"/>
          </p:cNvSpPr>
          <p:nvPr>
            <p:ph type="title"/>
          </p:nvPr>
        </p:nvSpPr>
        <p:spPr>
          <a:xfrm>
            <a:off x="984160" y="74847"/>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46" name="Google Shape;246;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56</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47" name="Google Shape;247;g31ccdae391d_0_347"/>
          <p:cNvGraphicFramePr/>
          <p:nvPr>
            <p:extLst>
              <p:ext uri="{D42A27DB-BD31-4B8C-83A1-F6EECF244321}">
                <p14:modId xmlns:p14="http://schemas.microsoft.com/office/powerpoint/2010/main" val="589136248"/>
              </p:ext>
            </p:extLst>
          </p:nvPr>
        </p:nvGraphicFramePr>
        <p:xfrm>
          <a:off x="990599" y="811339"/>
          <a:ext cx="10744201" cy="5518365"/>
        </p:xfrm>
        <a:graphic>
          <a:graphicData uri="http://schemas.openxmlformats.org/drawingml/2006/table">
            <a:tbl>
              <a:tblPr>
                <a:noFill/>
              </a:tblPr>
              <a:tblGrid>
                <a:gridCol w="507700">
                  <a:extLst>
                    <a:ext uri="{9D8B030D-6E8A-4147-A177-3AD203B41FA5}">
                      <a16:colId xmlns:a16="http://schemas.microsoft.com/office/drawing/2014/main" val="20000"/>
                    </a:ext>
                  </a:extLst>
                </a:gridCol>
                <a:gridCol w="1642352">
                  <a:extLst>
                    <a:ext uri="{9D8B030D-6E8A-4147-A177-3AD203B41FA5}">
                      <a16:colId xmlns:a16="http://schemas.microsoft.com/office/drawing/2014/main" val="20001"/>
                    </a:ext>
                  </a:extLst>
                </a:gridCol>
                <a:gridCol w="1435127">
                  <a:extLst>
                    <a:ext uri="{9D8B030D-6E8A-4147-A177-3AD203B41FA5}">
                      <a16:colId xmlns:a16="http://schemas.microsoft.com/office/drawing/2014/main" val="20002"/>
                    </a:ext>
                  </a:extLst>
                </a:gridCol>
                <a:gridCol w="2314597">
                  <a:extLst>
                    <a:ext uri="{9D8B030D-6E8A-4147-A177-3AD203B41FA5}">
                      <a16:colId xmlns:a16="http://schemas.microsoft.com/office/drawing/2014/main" val="20003"/>
                    </a:ext>
                  </a:extLst>
                </a:gridCol>
                <a:gridCol w="4844425">
                  <a:extLst>
                    <a:ext uri="{9D8B030D-6E8A-4147-A177-3AD203B41FA5}">
                      <a16:colId xmlns:a16="http://schemas.microsoft.com/office/drawing/2014/main" val="20004"/>
                    </a:ext>
                  </a:extLst>
                </a:gridCol>
              </a:tblGrid>
              <a:tr h="210058">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058">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3728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1</a:t>
                      </a:r>
                      <a:endParaRPr sz="1400" i="0" u="none" strike="noStrike" cap="none" dirty="0">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Blade Propeller</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dirty="0">
                          <a:latin typeface="Times New Roman"/>
                          <a:ea typeface="Times New Roman"/>
                          <a:cs typeface="Times New Roman"/>
                          <a:sym typeface="Times New Roman"/>
                        </a:rPr>
                        <a:t>06EA: STK SGN</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02RO: SCRAP </a:t>
                      </a:r>
                      <a:endParaRPr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3728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Hub Propeller</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dirty="0">
                          <a:latin typeface="Times New Roman"/>
                          <a:ea typeface="Times New Roman"/>
                          <a:cs typeface="Times New Roman"/>
                          <a:sym typeface="Times New Roman"/>
                        </a:rPr>
                        <a:t>02EA: STK SGN</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01PO: </a:t>
                      </a:r>
                      <a:r>
                        <a:rPr lang="en-US" dirty="0" err="1">
                          <a:latin typeface="Times New Roman"/>
                          <a:ea typeface="Times New Roman"/>
                          <a:cs typeface="Times New Roman"/>
                          <a:sym typeface="Times New Roman"/>
                        </a:rPr>
                        <a:t>Chưa</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có</a:t>
                      </a:r>
                      <a:r>
                        <a:rPr lang="en-US" dirty="0">
                          <a:latin typeface="Times New Roman"/>
                          <a:ea typeface="Times New Roman"/>
                          <a:cs typeface="Times New Roman"/>
                          <a:sym typeface="Times New Roman"/>
                        </a:rPr>
                        <a:t> EDD </a:t>
                      </a:r>
                      <a:endParaRPr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82151">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For Major Inspection</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dirty="0">
                          <a:latin typeface="Times New Roman"/>
                          <a:ea typeface="Times New Roman"/>
                          <a:cs typeface="Times New Roman"/>
                          <a:sym typeface="Times New Roman"/>
                        </a:rPr>
                        <a:t>02EA: STK SGN</a:t>
                      </a:r>
                      <a:endParaRPr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80393">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89887">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latin typeface="Times New Roman"/>
                          <a:ea typeface="Times New Roman"/>
                          <a:cs typeface="Times New Roman"/>
                          <a:sym typeface="Times New Roman"/>
                        </a:rPr>
                        <a:t>02EA: STK SGN</a:t>
                      </a:r>
                      <a:endParaRPr dirty="0"/>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91522">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RO R4580325: EST 30/09</a:t>
                      </a:r>
                      <a:endParaRPr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961382">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ACM</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2205120-4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Cabin Hot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05RO: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EDD do </a:t>
                      </a:r>
                      <a:r>
                        <a:rPr lang="en-US" dirty="0" err="1">
                          <a:solidFill>
                            <a:schemeClr val="dk1"/>
                          </a:solidFill>
                          <a:latin typeface="Times New Roman"/>
                          <a:ea typeface="Times New Roman"/>
                          <a:cs typeface="Times New Roman"/>
                          <a:sym typeface="Times New Roman"/>
                        </a:rPr>
                        <a:t>thiếu</a:t>
                      </a:r>
                      <a:r>
                        <a:rPr lang="en-US" dirty="0">
                          <a:solidFill>
                            <a:schemeClr val="dk1"/>
                          </a:solidFill>
                          <a:latin typeface="Times New Roman"/>
                          <a:ea typeface="Times New Roman"/>
                          <a:cs typeface="Times New Roman"/>
                          <a:sym typeface="Times New Roman"/>
                        </a:rPr>
                        <a:t> PTVT </a:t>
                      </a:r>
                      <a:r>
                        <a:rPr lang="en-US" dirty="0" err="1">
                          <a:solidFill>
                            <a:schemeClr val="dk1"/>
                          </a:solidFill>
                          <a:latin typeface="Times New Roman"/>
                          <a:ea typeface="Times New Roman"/>
                          <a:cs typeface="Times New Roman"/>
                          <a:sym typeface="Times New Roman"/>
                        </a:rPr>
                        <a:t>thay</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thế</a:t>
                      </a:r>
                      <a:r>
                        <a:rPr lang="en-US" dirty="0">
                          <a:solidFill>
                            <a:schemeClr val="dk1"/>
                          </a:solidFill>
                          <a:latin typeface="Times New Roman"/>
                          <a:ea typeface="Times New Roman"/>
                          <a:cs typeface="Times New Roman"/>
                          <a:sym typeface="Times New Roman"/>
                        </a:rPr>
                        <a:t>. Trong </a:t>
                      </a:r>
                      <a:r>
                        <a:rPr lang="en-US" dirty="0" err="1">
                          <a:solidFill>
                            <a:schemeClr val="dk1"/>
                          </a:solidFill>
                          <a:latin typeface="Times New Roman"/>
                          <a:ea typeface="Times New Roman"/>
                          <a:cs typeface="Times New Roman"/>
                          <a:sym typeface="Times New Roman"/>
                        </a:rPr>
                        <a:t>đó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4 warranty order </a:t>
                      </a:r>
                      <a:r>
                        <a:rPr lang="en-US" dirty="0" err="1">
                          <a:solidFill>
                            <a:schemeClr val="dk1"/>
                          </a:solidFill>
                          <a:latin typeface="Times New Roman"/>
                          <a:ea typeface="Times New Roman"/>
                          <a:cs typeface="Times New Roman"/>
                          <a:sym typeface="Times New Roman"/>
                        </a:rPr>
                        <a:t>bị</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từ</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chối</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bảo</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hành</a:t>
                      </a:r>
                      <a:r>
                        <a:rPr lang="en-US" dirty="0">
                          <a:solidFill>
                            <a:schemeClr val="dk1"/>
                          </a:solidFill>
                          <a:latin typeface="Times New Roman"/>
                          <a:ea typeface="Times New Roman"/>
                          <a:cs typeface="Times New Roman"/>
                          <a:sym typeface="Times New Roman"/>
                        </a:rPr>
                        <a:t> do </a:t>
                      </a:r>
                      <a:r>
                        <a:rPr lang="en-US" dirty="0" err="1">
                          <a:solidFill>
                            <a:schemeClr val="dk1"/>
                          </a:solidFill>
                          <a:latin typeface="Times New Roman"/>
                          <a:ea typeface="Times New Roman"/>
                          <a:cs typeface="Times New Roman"/>
                          <a:sym typeface="Times New Roman"/>
                        </a:rPr>
                        <a:t>bị</a:t>
                      </a:r>
                      <a:r>
                        <a:rPr lang="en-US" dirty="0">
                          <a:solidFill>
                            <a:schemeClr val="dk1"/>
                          </a:solidFill>
                          <a:latin typeface="Times New Roman"/>
                          <a:ea typeface="Times New Roman"/>
                          <a:cs typeface="Times New Roman"/>
                          <a:sym typeface="Times New Roman"/>
                        </a:rPr>
                        <a:t> oil and carbon contamination</a:t>
                      </a:r>
                      <a:endParaRPr sz="1100" dirty="0">
                        <a:solidFill>
                          <a:srgbClr val="1F497D"/>
                        </a:solidFill>
                        <a:latin typeface="Calibri"/>
                        <a:ea typeface="Calibri"/>
                        <a:cs typeface="Calibri"/>
                        <a:sym typeface="Calibri"/>
                      </a:endParaRPr>
                    </a:p>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01LO: </a:t>
                      </a:r>
                      <a:r>
                        <a:rPr lang="en-US" dirty="0" err="1">
                          <a:solidFill>
                            <a:schemeClr val="dk1"/>
                          </a:solidFill>
                          <a:latin typeface="Times New Roman"/>
                          <a:ea typeface="Times New Roman"/>
                          <a:cs typeface="Times New Roman"/>
                          <a:sym typeface="Times New Roman"/>
                        </a:rPr>
                        <a:t>thuê</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từ</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ngày</a:t>
                      </a:r>
                      <a:r>
                        <a:rPr lang="en-US" dirty="0">
                          <a:solidFill>
                            <a:schemeClr val="dk1"/>
                          </a:solidFill>
                          <a:latin typeface="Times New Roman"/>
                          <a:ea typeface="Times New Roman"/>
                          <a:cs typeface="Times New Roman"/>
                          <a:sym typeface="Times New Roman"/>
                        </a:rPr>
                        <a:t> 30/6 (min. 3 </a:t>
                      </a:r>
                      <a:r>
                        <a:rPr lang="en-US" dirty="0" err="1">
                          <a:solidFill>
                            <a:schemeClr val="dk1"/>
                          </a:solidFill>
                          <a:latin typeface="Times New Roman"/>
                          <a:ea typeface="Times New Roman"/>
                          <a:cs typeface="Times New Roman"/>
                          <a:sym typeface="Times New Roman"/>
                        </a:rPr>
                        <a:t>tháng</a:t>
                      </a:r>
                      <a:r>
                        <a:rPr lang="en-US" dirty="0" smtClean="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115254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54"/>
          <p:cNvSpPr txBox="1">
            <a:spLocks noGrp="1"/>
          </p:cNvSpPr>
          <p:nvPr>
            <p:ph type="title"/>
          </p:nvPr>
        </p:nvSpPr>
        <p:spPr>
          <a:xfrm>
            <a:off x="819955" y="423995"/>
            <a:ext cx="10838646"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54" name="Google Shape;254;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57</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55" name="Google Shape;255;g31ccdae391d_0_354"/>
          <p:cNvGraphicFramePr/>
          <p:nvPr>
            <p:extLst>
              <p:ext uri="{D42A27DB-BD31-4B8C-83A1-F6EECF244321}">
                <p14:modId xmlns:p14="http://schemas.microsoft.com/office/powerpoint/2010/main" val="1345259156"/>
              </p:ext>
            </p:extLst>
          </p:nvPr>
        </p:nvGraphicFramePr>
        <p:xfrm>
          <a:off x="838200" y="1143000"/>
          <a:ext cx="10820401" cy="5498545"/>
        </p:xfrm>
        <a:graphic>
          <a:graphicData uri="http://schemas.openxmlformats.org/drawingml/2006/table">
            <a:tbl>
              <a:tblPr>
                <a:noFill/>
              </a:tblPr>
              <a:tblGrid>
                <a:gridCol w="693209">
                  <a:extLst>
                    <a:ext uri="{9D8B030D-6E8A-4147-A177-3AD203B41FA5}">
                      <a16:colId xmlns:a16="http://schemas.microsoft.com/office/drawing/2014/main" val="20000"/>
                    </a:ext>
                  </a:extLst>
                </a:gridCol>
                <a:gridCol w="1155340">
                  <a:extLst>
                    <a:ext uri="{9D8B030D-6E8A-4147-A177-3AD203B41FA5}">
                      <a16:colId xmlns:a16="http://schemas.microsoft.com/office/drawing/2014/main" val="20001"/>
                    </a:ext>
                  </a:extLst>
                </a:gridCol>
                <a:gridCol w="1375570">
                  <a:extLst>
                    <a:ext uri="{9D8B030D-6E8A-4147-A177-3AD203B41FA5}">
                      <a16:colId xmlns:a16="http://schemas.microsoft.com/office/drawing/2014/main" val="20002"/>
                    </a:ext>
                  </a:extLst>
                </a:gridCol>
                <a:gridCol w="3798141">
                  <a:extLst>
                    <a:ext uri="{9D8B030D-6E8A-4147-A177-3AD203B41FA5}">
                      <a16:colId xmlns:a16="http://schemas.microsoft.com/office/drawing/2014/main" val="20003"/>
                    </a:ext>
                  </a:extLst>
                </a:gridCol>
                <a:gridCol w="3798141">
                  <a:extLst>
                    <a:ext uri="{9D8B030D-6E8A-4147-A177-3AD203B41FA5}">
                      <a16:colId xmlns:a16="http://schemas.microsoft.com/office/drawing/2014/main" val="20004"/>
                    </a:ext>
                  </a:extLst>
                </a:gridCol>
              </a:tblGrid>
              <a:tr h="762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9036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dirty="0" err="1">
                          <a:latin typeface="Times New Roman"/>
                          <a:ea typeface="Times New Roman"/>
                          <a:cs typeface="Times New Roman"/>
                          <a:sym typeface="Times New Roman"/>
                        </a:rPr>
                        <a:t>Lốp</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các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loại</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đủ</a:t>
                      </a:r>
                      <a:r>
                        <a:rPr lang="en-US" sz="1400" u="none" strike="noStrike" cap="none" dirty="0">
                          <a:latin typeface="Times New Roman"/>
                          <a:ea typeface="Times New Roman"/>
                          <a:cs typeface="Times New Roman"/>
                          <a:sym typeface="Times New Roman"/>
                        </a:rPr>
                        <a:t> dự </a:t>
                      </a:r>
                      <a:r>
                        <a:rPr lang="en-US" sz="1400" u="none" strike="noStrike" cap="none" dirty="0" err="1">
                          <a:latin typeface="Times New Roman"/>
                          <a:ea typeface="Times New Roman"/>
                          <a:cs typeface="Times New Roman"/>
                          <a:sym typeface="Times New Roman"/>
                        </a:rPr>
                        <a:t>phòng</a:t>
                      </a:r>
                      <a:r>
                        <a:rPr lang="en-US" dirty="0">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dirty="0">
                          <a:latin typeface="Times New Roman"/>
                          <a:ea typeface="Times New Roman"/>
                          <a:cs typeface="Times New Roman"/>
                          <a:sym typeface="Times New Roman"/>
                        </a:rPr>
                        <a:t>-Ban QLVT </a:t>
                      </a:r>
                      <a:r>
                        <a:rPr lang="en-US" dirty="0" err="1">
                          <a:latin typeface="Times New Roman"/>
                          <a:ea typeface="Times New Roman"/>
                          <a:cs typeface="Times New Roman"/>
                          <a:sym typeface="Times New Roman"/>
                        </a:rPr>
                        <a:t>tiếp</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tục</a:t>
                      </a:r>
                      <a:r>
                        <a:rPr lang="en-US"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thúc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đẩy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lốp</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về</a:t>
                      </a:r>
                      <a:r>
                        <a:rPr lang="en-US" sz="1400" u="none" strike="noStrike" cap="none" dirty="0">
                          <a:latin typeface="Times New Roman"/>
                          <a:ea typeface="Times New Roman"/>
                          <a:cs typeface="Times New Roman"/>
                          <a:sym typeface="Times New Roman"/>
                        </a:rPr>
                        <a:t> </a:t>
                      </a:r>
                      <a:r>
                        <a:rPr lang="en-US" dirty="0">
                          <a:latin typeface="Times New Roman"/>
                          <a:ea typeface="Times New Roman"/>
                          <a:cs typeface="Times New Roman"/>
                          <a:sym typeface="Times New Roman"/>
                        </a:rPr>
                        <a:t>dự </a:t>
                      </a:r>
                      <a:r>
                        <a:rPr lang="en-US" dirty="0" err="1">
                          <a:latin typeface="Times New Roman"/>
                          <a:ea typeface="Times New Roman"/>
                          <a:cs typeface="Times New Roman"/>
                          <a:sym typeface="Times New Roman"/>
                        </a:rPr>
                        <a:t>phòng</a:t>
                      </a:r>
                      <a:r>
                        <a:rPr lang="en-US" sz="1400" u="none" strike="noStrike" cap="none"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cho</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cao</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điểm</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hè</a:t>
                      </a:r>
                      <a:r>
                        <a:rPr lang="en-US" dirty="0">
                          <a:latin typeface="Times New Roman"/>
                          <a:ea typeface="Times New Roman"/>
                          <a:cs typeface="Times New Roman"/>
                          <a:sym typeface="Times New Roman"/>
                        </a:rPr>
                        <a:t> 2025</a:t>
                      </a:r>
                      <a:endParaRPr sz="1400" b="0" i="0" u="none" strike="noStrike" cap="none" dirty="0">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C20648000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dirty="0">
                          <a:latin typeface="Times New Roman"/>
                          <a:ea typeface="Times New Roman"/>
                          <a:cs typeface="Times New Roman"/>
                          <a:sym typeface="Times New Roman"/>
                        </a:rPr>
                        <a:t>02ea </a:t>
                      </a:r>
                      <a:r>
                        <a:rPr lang="en-US" dirty="0" smtClean="0">
                          <a:latin typeface="Times New Roman"/>
                          <a:ea typeface="Times New Roman"/>
                          <a:cs typeface="Times New Roman"/>
                          <a:sym typeface="Times New Roman"/>
                        </a:rPr>
                        <a:t>stock.</a:t>
                      </a:r>
                      <a:endParaRPr dirty="0">
                        <a:latin typeface="Times New Roman"/>
                        <a:ea typeface="Times New Roman"/>
                        <a:cs typeface="Times New Roman"/>
                        <a:sym typeface="Times New Roman"/>
                      </a:endParaRPr>
                    </a:p>
                    <a:p>
                      <a:pPr marL="457200" marR="0" lvl="0" indent="-317500" algn="l" rtl="0">
                        <a:lnSpc>
                          <a:spcPct val="100000"/>
                        </a:lnSpc>
                        <a:spcBef>
                          <a:spcPts val="0"/>
                        </a:spcBef>
                        <a:spcAft>
                          <a:spcPts val="0"/>
                        </a:spcAft>
                        <a:buSzPts val="1400"/>
                        <a:buFont typeface="Times New Roman"/>
                        <a:buChar char="-"/>
                      </a:pPr>
                      <a:r>
                        <a:rPr lang="en-US" dirty="0">
                          <a:latin typeface="Times New Roman"/>
                          <a:ea typeface="Times New Roman"/>
                          <a:cs typeface="Times New Roman"/>
                          <a:sym typeface="Times New Roman"/>
                        </a:rPr>
                        <a:t>01ea </a:t>
                      </a:r>
                      <a:r>
                        <a:rPr lang="en-US" dirty="0" err="1">
                          <a:latin typeface="Times New Roman"/>
                          <a:ea typeface="Times New Roman"/>
                          <a:cs typeface="Times New Roman"/>
                          <a:sym typeface="Times New Roman"/>
                        </a:rPr>
                        <a:t>Vip</a:t>
                      </a:r>
                      <a:r>
                        <a:rPr lang="en-US" dirty="0">
                          <a:latin typeface="Times New Roman"/>
                          <a:ea typeface="Times New Roman"/>
                          <a:cs typeface="Times New Roman"/>
                          <a:sym typeface="Times New Roman"/>
                        </a:rPr>
                        <a:t> kit + 01ea FAK Nga.</a:t>
                      </a:r>
                      <a:endParaRPr dirty="0">
                        <a:latin typeface="Times New Roman"/>
                        <a:ea typeface="Times New Roman"/>
                        <a:cs typeface="Times New Roman"/>
                        <a:sym typeface="Times New Roman"/>
                      </a:endParaRPr>
                    </a:p>
                    <a:p>
                      <a:pPr marL="457200" marR="0" lvl="0" indent="-317500" algn="l" rtl="0">
                        <a:lnSpc>
                          <a:spcPct val="100000"/>
                        </a:lnSpc>
                        <a:spcBef>
                          <a:spcPts val="0"/>
                        </a:spcBef>
                        <a:spcAft>
                          <a:spcPts val="0"/>
                        </a:spcAft>
                        <a:buSzPts val="1400"/>
                        <a:buFont typeface="Times New Roman"/>
                        <a:buChar char="-"/>
                      </a:pPr>
                      <a:r>
                        <a:rPr lang="en-US" dirty="0">
                          <a:latin typeface="Times New Roman"/>
                          <a:ea typeface="Times New Roman"/>
                          <a:cs typeface="Times New Roman"/>
                          <a:sym typeface="Times New Roman"/>
                        </a:rPr>
                        <a:t>03ea </a:t>
                      </a:r>
                      <a:r>
                        <a:rPr lang="en-US" dirty="0" err="1">
                          <a:latin typeface="Times New Roman"/>
                          <a:ea typeface="Times New Roman"/>
                          <a:cs typeface="Times New Roman"/>
                          <a:sym typeface="Times New Roman"/>
                        </a:rPr>
                        <a:t>về</a:t>
                      </a:r>
                      <a:r>
                        <a:rPr lang="en-US" dirty="0">
                          <a:latin typeface="Times New Roman"/>
                          <a:ea typeface="Times New Roman"/>
                          <a:cs typeface="Times New Roman"/>
                          <a:sym typeface="Times New Roman"/>
                        </a:rPr>
                        <a:t> trong </a:t>
                      </a:r>
                      <a:r>
                        <a:rPr lang="en-US" dirty="0" err="1">
                          <a:latin typeface="Times New Roman"/>
                          <a:ea typeface="Times New Roman"/>
                          <a:cs typeface="Times New Roman"/>
                          <a:sym typeface="Times New Roman"/>
                        </a:rPr>
                        <a:t>tuần</a:t>
                      </a:r>
                      <a:r>
                        <a:rPr lang="en-US" dirty="0">
                          <a:latin typeface="Times New Roman"/>
                          <a:ea typeface="Times New Roman"/>
                          <a:cs typeface="Times New Roman"/>
                          <a:sym typeface="Times New Roman"/>
                        </a:rPr>
                        <a:t> 31.</a:t>
                      </a:r>
                      <a:endParaRPr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dirty="0">
                          <a:solidFill>
                            <a:schemeClr val="dk1"/>
                          </a:solidFill>
                          <a:latin typeface="Times New Roman"/>
                          <a:ea typeface="Times New Roman"/>
                          <a:cs typeface="Times New Roman"/>
                          <a:sym typeface="Times New Roman"/>
                        </a:rPr>
                        <a:t>02ea in stock. Dự </a:t>
                      </a:r>
                      <a:r>
                        <a:rPr lang="en-US" dirty="0" err="1">
                          <a:solidFill>
                            <a:schemeClr val="dk1"/>
                          </a:solidFill>
                          <a:latin typeface="Times New Roman"/>
                          <a:ea typeface="Times New Roman"/>
                          <a:cs typeface="Times New Roman"/>
                          <a:sym typeface="Times New Roman"/>
                        </a:rPr>
                        <a:t>kiến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tuần</a:t>
                      </a:r>
                      <a:r>
                        <a:rPr lang="en-US" dirty="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31 </a:t>
                      </a:r>
                      <a:r>
                        <a:rPr lang="en-US" dirty="0">
                          <a:solidFill>
                            <a:schemeClr val="dk1"/>
                          </a:solidFill>
                          <a:latin typeface="Times New Roman"/>
                          <a:ea typeface="Times New Roman"/>
                          <a:cs typeface="Times New Roman"/>
                          <a:sym typeface="Times New Roman"/>
                        </a:rPr>
                        <a:t>VSTEA </a:t>
                      </a:r>
                      <a:r>
                        <a:rPr lang="en-US" dirty="0" err="1">
                          <a:solidFill>
                            <a:schemeClr val="dk1"/>
                          </a:solidFill>
                          <a:latin typeface="Times New Roman"/>
                          <a:ea typeface="Times New Roman"/>
                          <a:cs typeface="Times New Roman"/>
                          <a:sym typeface="Times New Roman"/>
                        </a:rPr>
                        <a:t>xuất</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xưởng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thêm</a:t>
                      </a:r>
                      <a:r>
                        <a:rPr lang="en-US" dirty="0">
                          <a:solidFill>
                            <a:schemeClr val="dk1"/>
                          </a:solidFill>
                          <a:latin typeface="Times New Roman"/>
                          <a:ea typeface="Times New Roman"/>
                          <a:cs typeface="Times New Roman"/>
                          <a:sym typeface="Times New Roman"/>
                        </a:rPr>
                        <a:t> 03 ea.</a:t>
                      </a:r>
                      <a:endParaRPr sz="1400" u="none" strike="noStrike" cap="none"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dirty="0">
                          <a:solidFill>
                            <a:schemeClr val="dk1"/>
                          </a:solidFill>
                          <a:latin typeface="Times New Roman"/>
                          <a:ea typeface="Times New Roman"/>
                          <a:cs typeface="Times New Roman"/>
                          <a:sym typeface="Times New Roman"/>
                        </a:rPr>
                        <a:t>05ea in stock. trong </a:t>
                      </a:r>
                      <a:r>
                        <a:rPr lang="en-US" dirty="0" err="1">
                          <a:solidFill>
                            <a:schemeClr val="dk1"/>
                          </a:solidFill>
                          <a:latin typeface="Times New Roman"/>
                          <a:ea typeface="Times New Roman"/>
                          <a:cs typeface="Times New Roman"/>
                          <a:sym typeface="Times New Roman"/>
                        </a:rPr>
                        <a:t>tuần</a:t>
                      </a:r>
                      <a:r>
                        <a:rPr lang="en-US" dirty="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31 </a:t>
                      </a:r>
                      <a:r>
                        <a:rPr lang="en-US" dirty="0">
                          <a:solidFill>
                            <a:schemeClr val="dk1"/>
                          </a:solidFill>
                          <a:latin typeface="Times New Roman"/>
                          <a:ea typeface="Times New Roman"/>
                          <a:cs typeface="Times New Roman"/>
                          <a:sym typeface="Times New Roman"/>
                        </a:rPr>
                        <a:t>dự </a:t>
                      </a:r>
                      <a:r>
                        <a:rPr lang="en-US" dirty="0" err="1">
                          <a:solidFill>
                            <a:schemeClr val="dk1"/>
                          </a:solidFill>
                          <a:latin typeface="Times New Roman"/>
                          <a:ea typeface="Times New Roman"/>
                          <a:cs typeface="Times New Roman"/>
                          <a:sym typeface="Times New Roman"/>
                        </a:rPr>
                        <a:t>kiến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sẽ</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thêm</a:t>
                      </a:r>
                      <a:r>
                        <a:rPr lang="en-US" dirty="0">
                          <a:solidFill>
                            <a:schemeClr val="dk1"/>
                          </a:solidFill>
                          <a:latin typeface="Times New Roman"/>
                          <a:ea typeface="Times New Roman"/>
                          <a:cs typeface="Times New Roman"/>
                          <a:sym typeface="Times New Roman"/>
                        </a:rPr>
                        <a:t> 05ea. </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9889709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61"/>
          <p:cNvSpPr txBox="1">
            <a:spLocks noGrp="1"/>
          </p:cNvSpPr>
          <p:nvPr>
            <p:ph type="title"/>
          </p:nvPr>
        </p:nvSpPr>
        <p:spPr>
          <a:xfrm>
            <a:off x="1066800" y="41584"/>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2" name="Google Shape;262;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63" name="Google Shape;263;g31ccdae391d_0_361"/>
          <p:cNvSpPr/>
          <p:nvPr/>
        </p:nvSpPr>
        <p:spPr>
          <a:xfrm>
            <a:off x="1066800" y="801438"/>
            <a:ext cx="10515300" cy="4608762"/>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Đội bay A350:</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dự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03ea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&amp; 03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new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HAN 22/01).</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01ea (ENG 21136)</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06ea (04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21043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21137, 21048, 21024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SEASL 21414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21604). 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21425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sẽ</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N3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21035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sẽ</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HAESL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7/2025</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5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01 </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ENG </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21043 pickup 29Jul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N3 dự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Vaeco 05/Aug.</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5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01 </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ENG </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21137 pickup 07Aug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N3 dự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Vaeco 15/Aug.</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5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01 </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ENG 21414 pickup 30July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SIN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Vaeco </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10/Aug.</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rPr>
              <a:t>- Đội bay B787:</a:t>
            </a:r>
            <a:endParaRPr kumimoji="0" sz="1500" b="1" i="0" u="none" strike="noStrike" kern="0" cap="none" spc="0" normalizeH="0" baseline="0" noProof="0" dirty="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dự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10ea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ký</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hđ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Mar/2025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01ea in stock (ENG 956599)</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KLM shop: 956947, 956534, 956913, 956638, 956577.</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02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ở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GE shop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959395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GE shop dự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xong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cuối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8/2025.</a:t>
            </a: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đáp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ứng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KH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2024-2025: B787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04 dự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06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(956933; 958266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958934 958966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956626, 956980) trong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đó</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956980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mới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do 01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trên</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A868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phải</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đầu</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highlight>
                  <a:srgbClr val="FFFFFF"/>
                </a:highligh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highlight>
                  <a:srgbClr val="FFFFFF"/>
                </a:highlight>
                <a:uLnTx/>
                <a:uFillTx/>
                <a:latin typeface="Times New Roman"/>
                <a:ea typeface="Times New Roman"/>
                <a:cs typeface="Times New Roman"/>
                <a:sym typeface="Times New Roman"/>
              </a:rPr>
              <a:t> 4/2025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20552524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8"/>
          <p:cNvSpPr txBox="1">
            <a:spLocks noGrp="1"/>
          </p:cNvSpPr>
          <p:nvPr>
            <p:ph type="title"/>
          </p:nvPr>
        </p:nvSpPr>
        <p:spPr>
          <a:xfrm>
            <a:off x="1056068" y="24244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1" name="Google Shape;271;g31ccdae391d_0_368"/>
          <p:cNvSpPr/>
          <p:nvPr/>
        </p:nvSpPr>
        <p:spPr>
          <a:xfrm>
            <a:off x="1066800" y="762000"/>
            <a:ext cx="10512979" cy="47244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Đội bay A321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Ceo</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dự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13 (3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sở</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hữu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10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ngắn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NIL</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shop:09ea</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thay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A390 -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lắp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V15858,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V16570</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K6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01ea (V12505) - dự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8/2025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V10533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29/6,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hoàn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thiện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VAECO, Willis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hoàn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thiện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thủ</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tục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Vướng</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mắc</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Danh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missing part list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Giải</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pháp</a:t>
            </a:r>
            <a:r>
              <a:rPr kumimoji="0" lang="en-US"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Thúc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đẩy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Làm</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Ban KT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KH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err="1">
                <a:ln>
                  <a:noFill/>
                </a:ln>
                <a:solidFill>
                  <a:srgbClr val="000000"/>
                </a:solidFill>
                <a:effectLst/>
                <a:uLnTx/>
                <a:uFillTx/>
                <a:latin typeface="Times New Roman"/>
                <a:ea typeface="Times New Roman"/>
                <a:cs typeface="Times New Roman"/>
                <a:sym typeface="Times New Roman"/>
              </a:rPr>
              <a:t>trả</a:t>
            </a:r>
            <a:r>
              <a:rPr kumimoji="0" lang="en-US" sz="16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13579530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8" name="Google Shape;278;g31ccdae391d_0_383"/>
          <p:cNvSpPr/>
          <p:nvPr/>
        </p:nvSpPr>
        <p:spPr>
          <a:xfrm>
            <a:off x="1219200" y="685800"/>
            <a:ext cx="10484375" cy="5488716"/>
          </a:xfrm>
          <a:prstGeom prst="rect">
            <a:avLst/>
          </a:prstGeom>
          <a:noFill/>
          <a:ln>
            <a:noFill/>
          </a:ln>
        </p:spPr>
        <p:txBody>
          <a:bodyPr spcFirstLastPara="1" wrap="square" lIns="91425" tIns="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Đội bay A321 Neo:</a:t>
            </a:r>
            <a:endParaRPr kumimoji="0"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dự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05ea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SLB),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NIL.</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6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(04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ESA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IHI, 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MTU-H)</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indution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slot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7</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kí</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HĐ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AerCap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engine GTF PW1127G-JM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sẽ</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ready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ELFC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engine GTF PW1127G-JM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sẽ</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ready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9 -10</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ALC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engine GTF PW11333GA-JM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sẽ</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ready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10</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Vướng</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mắc</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kéo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do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slot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200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A321 NEO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trước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đây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lắp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LRUs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cùng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thời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nghỉ</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lễ</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hụt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phụ</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tùng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liệu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tăng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lỗi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Rejection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sau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thử</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nghiệm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PTVT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hụt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đặc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biệt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AP51</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Thúc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đẩy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Tổ</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chức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họp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Ban KT, VAECO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danh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MPL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87695320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85" name="Google Shape;285;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1"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Đội bay ATR:</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dự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- 06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gồm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03 ENG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03 ENG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(ED0321) (ED0036) (ED0715).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ED0238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PWC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SING.</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ED0217, ED0233, ED0214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SA.</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ED0237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chuẩn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SA.</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Vướng</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mắc</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Khó</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khăn</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vẫn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gặp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trình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part,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dẫn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bị</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kéo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shop.</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Lịch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release ED0238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PWC delay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8/2025 sang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09/2025,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B221 dự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kéo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check.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TAT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250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TAT PWC: 240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Tiếp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tục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theo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sát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PWC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sng"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286" name="Google Shape;286;g31ccdae391d_0_389"/>
          <p:cNvPicPr preferRelativeResize="0"/>
          <p:nvPr/>
        </p:nvPicPr>
        <p:blipFill>
          <a:blip r:embed="rId3">
            <a:alphaModFix/>
          </a:blip>
          <a:stretch>
            <a:fillRect/>
          </a:stretch>
        </p:blipFill>
        <p:spPr>
          <a:xfrm>
            <a:off x="667500" y="3581400"/>
            <a:ext cx="11158525" cy="3124204"/>
          </a:xfrm>
          <a:prstGeom prst="rect">
            <a:avLst/>
          </a:prstGeom>
          <a:noFill/>
          <a:ln>
            <a:noFill/>
          </a:ln>
        </p:spPr>
      </p:pic>
    </p:spTree>
    <p:extLst>
      <p:ext uri="{BB962C8B-B14F-4D97-AF65-F5344CB8AC3E}">
        <p14:creationId xmlns:p14="http://schemas.microsoft.com/office/powerpoint/2010/main" val="34412323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96"/>
          <p:cNvSpPr txBox="1">
            <a:spLocks noGrp="1"/>
          </p:cNvSpPr>
          <p:nvPr>
            <p:ph type="title"/>
          </p:nvPr>
        </p:nvSpPr>
        <p:spPr>
          <a:xfrm>
            <a:off x="915000" y="1221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293" name="Google Shape;293;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62</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94" name="Google Shape;294;g31ccdae391d_0_396"/>
          <p:cNvSpPr/>
          <p:nvPr/>
        </p:nvSpPr>
        <p:spPr>
          <a:xfrm>
            <a:off x="762000" y="838200"/>
            <a:ext cx="10972200" cy="5712312"/>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A350: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ENG 21043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N3 dự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Vaeco 05/Aug.</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ENG 21137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N3 dự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Vaeco 15/Aug.</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ENG 21414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SEASL dự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10/Aug.</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B787: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01ea in stock (ENG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965599).</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ENG 958395 dự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30/Aug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15/Sep.</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CEO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8: V16517 (27/8), V16694 (21/8).</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l"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NEO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P771423 </a:t>
            </a:r>
            <a:r>
              <a:rPr kumimoji="0" lang="es-E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s-E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s-E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s-E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26/07 </a:t>
            </a:r>
            <a:r>
              <a:rPr kumimoji="0" lang="es-E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s-E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s-E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s-E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s-E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lắp</a:t>
            </a:r>
            <a:r>
              <a:rPr kumimoji="0" lang="es-E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s-E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s-E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A618</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P771079 dự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25/08.</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P771373 dự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23/09.</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ED0238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PWC: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dự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release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9/2025.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ED0214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dự </a:t>
            </a:r>
            <a:r>
              <a:rPr kumimoji="0" lang="en-US" sz="16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release </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16/09/2025</a:t>
            </a:r>
            <a:r>
              <a:rPr kumimoji="0" lang="en-US" sz="16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57286201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01" name="Google Shape;301;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2" name="Google Shape;302;g31ccdae391d_0_403"/>
          <p:cNvSpPr txBox="1"/>
          <p:nvPr/>
        </p:nvSpPr>
        <p:spPr>
          <a:xfrm>
            <a:off x="7807000" y="495300"/>
            <a:ext cx="3783300" cy="4237284"/>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A321 </a:t>
            </a:r>
            <a:endParaRPr kumimoji="0"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STK: 00 in stock </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01 APU P-5706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ship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DK 29/07/2025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stk</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HAN.</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700"/>
              <a:buFont typeface="Arial"/>
              <a:buNone/>
              <a:tabLst/>
              <a:defRPr/>
            </a:pP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A350</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STK: 02 (P-00304, P-00113</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APU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P-00391: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đã</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ready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tại</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shop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chờ</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có</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APU U/S sang shop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để</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lấy</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thùng</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và</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giá</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sgip</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APU </a:t>
            </a:r>
            <a:r>
              <a:rPr kumimoji="0" lang="en-US" sz="14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về</a:t>
            </a:r>
            <a:r>
              <a:rPr kumimoji="0" lang="en-US" sz="14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1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B787 </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STK: 01ea stock SGN.</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APU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dk</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303" name="Google Shape;303;g31ccdae391d_0_403"/>
          <p:cNvPicPr preferRelativeResize="0"/>
          <p:nvPr/>
        </p:nvPicPr>
        <p:blipFill>
          <a:blip r:embed="rId3">
            <a:alphaModFix/>
          </a:blip>
          <a:stretch>
            <a:fillRect/>
          </a:stretch>
        </p:blipFill>
        <p:spPr>
          <a:xfrm>
            <a:off x="287050" y="459200"/>
            <a:ext cx="7404850" cy="6183500"/>
          </a:xfrm>
          <a:prstGeom prst="rect">
            <a:avLst/>
          </a:prstGeom>
          <a:noFill/>
          <a:ln>
            <a:noFill/>
          </a:ln>
        </p:spPr>
      </p:pic>
    </p:spTree>
    <p:extLst>
      <p:ext uri="{BB962C8B-B14F-4D97-AF65-F5344CB8AC3E}">
        <p14:creationId xmlns:p14="http://schemas.microsoft.com/office/powerpoint/2010/main" val="382191852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1446509"/>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rPr>
              <a:t>THANK YOU</a:t>
            </a:r>
            <a:endParaRPr kumimoji="0"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CE18D4A-261A-4850-B6EF-E8D1177C057C}">
  <ds:schemaRefs>
    <ds:schemaRef ds:uri="http://purl.org/dc/terms/"/>
    <ds:schemaRef ds:uri="http://schemas.openxmlformats.org/package/2006/metadata/core-properties"/>
    <ds:schemaRef ds:uri="e189f61e-1295-4779-a752-040c7fad5177"/>
    <ds:schemaRef ds:uri="http://purl.org/dc/dcmitype/"/>
    <ds:schemaRef ds:uri="b6015720-aa74-4be3-ba0d-eab08776cb9b"/>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77999</TotalTime>
  <Words>11305</Words>
  <Application>Microsoft Office PowerPoint</Application>
  <PresentationFormat>Widescreen</PresentationFormat>
  <Paragraphs>2527</Paragraphs>
  <Slides>65</Slides>
  <Notes>58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65</vt:i4>
      </vt:variant>
    </vt:vector>
  </HeadingPairs>
  <TitlesOfParts>
    <vt:vector size="76" baseType="lpstr">
      <vt:lpstr>MS PGothic</vt:lpstr>
      <vt:lpstr>Arial</vt:lpstr>
      <vt:lpstr>Calibri</vt:lpstr>
      <vt:lpstr>Cambria</vt:lpstr>
      <vt:lpstr>Montserrat</vt:lpstr>
      <vt:lpstr>Montserrat SemiBold</vt:lpstr>
      <vt:lpstr>Tahoma</vt:lpstr>
      <vt:lpstr>Times New Roman</vt:lpstr>
      <vt:lpstr>Wingdings</vt:lpstr>
      <vt:lpstr>16-9 MASTER TEMPLATE</vt:lpstr>
      <vt:lpstr>Office Theme</vt:lpstr>
      <vt:lpstr>BÁO CÁO KỸ THUẬT (Tuần 30: 21/07/2025 – 27/07/2025)</vt:lpstr>
      <vt:lpstr>TỔNG HỢP AOG, DELAY VÀ GTB/ATB/DIV</vt:lpstr>
      <vt:lpstr>ATB/GTB COMPARISON</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A350</vt:lpstr>
      <vt:lpstr>PowerPoint Presentation</vt:lpstr>
      <vt:lpstr>PowerPoint Presentation</vt:lpstr>
      <vt:lpstr>PowerPoint Presentation</vt:lpstr>
      <vt:lpstr>TÌNH TRẠNG KỸ THUẬT ĐỘI BAY – B787</vt:lpstr>
      <vt:lpstr>TÌNH TRẠNG KỸ THUẬT ĐỘI BAY – B787</vt:lpstr>
      <vt:lpstr>TIẾN ĐỘ SỬA CHỮA VN-A863</vt:lpstr>
      <vt:lpstr>PowerPoint Presentation</vt:lpstr>
      <vt:lpstr>PowerPoint Presentation</vt:lpstr>
      <vt:lpstr>TÌNH TRẠNG KỸ THUẬT ĐỘI BAY – ATR72</vt:lpstr>
      <vt:lpstr>TÌNH TRẠNG KỸ THUẬT ĐỘI BAY – ATR72</vt:lpstr>
      <vt:lpstr>DISPATCH RELIABILITY W30 (21/07/2025-27/07/2025)</vt:lpstr>
      <vt:lpstr>CÁC CÔNG VIỆC TRỌNG ĐIỂM TRONG TUẦN</vt:lpstr>
      <vt:lpstr>CÁC CÔNG VIỆC TRỌNG ĐIỂM TRONG TUẦN</vt:lpstr>
      <vt:lpstr>CÁC CÔNG VIỆC TRỌNG ĐIỂM TRONG TUẦN</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BẢO DƯỠNG</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 CÁC VẬT TƯ VƯỚNG MẮC </vt:lpstr>
      <vt:lpstr>TÌNH TRẠNG APU LRU A321 </vt:lpstr>
      <vt:lpstr>B787</vt:lpstr>
      <vt:lpstr>B787</vt:lpstr>
      <vt:lpstr>B787</vt:lpstr>
      <vt:lpstr>A350</vt:lpstr>
      <vt:lpstr>A350</vt:lpstr>
      <vt:lpstr>A350</vt:lpstr>
      <vt:lpstr>ATR</vt:lpstr>
      <vt:lpstr>Phanh, bánh lốp cho các đội bay</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Tran Khac Long-Tech</cp:lastModifiedBy>
  <cp:revision>12136</cp:revision>
  <cp:lastPrinted>2019-03-27T09:25:07Z</cp:lastPrinted>
  <dcterms:created xsi:type="dcterms:W3CDTF">2018-12-27T04:50:36Z</dcterms:created>
  <dcterms:modified xsi:type="dcterms:W3CDTF">2025-07-27T13:41:46Z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