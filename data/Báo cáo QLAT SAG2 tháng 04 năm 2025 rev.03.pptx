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6.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7.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8.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9.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10.xml" ContentType="application/vnd.openxmlformats-officedocument.theme+xml"/>
  <Override PartName="/ppt/slideLayouts/slideLayout11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6.xml" ContentType="application/vnd.openxmlformats-officedocument.themeOverride+xml"/>
  <Override PartName="/ppt/notesSlides/notesSlide8.xml" ContentType="application/vnd.openxmlformats-officedocument.presentationml.notesSlide+xml"/>
  <Override PartName="/ppt/charts/chart7.xml" ContentType="application/vnd.openxmlformats-officedocument.drawingml.chart+xml"/>
  <Override PartName="/ppt/theme/themeOverride7.xml" ContentType="application/vnd.openxmlformats-officedocument.themeOverrid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8.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9.xml" ContentType="application/vnd.openxmlformats-officedocument.drawingml.chart+xml"/>
  <Override PartName="/ppt/theme/themeOverride9.xml" ContentType="application/vnd.openxmlformats-officedocument.themeOverr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0.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1.xml" ContentType="application/vnd.openxmlformats-officedocument.drawingml.chart+xml"/>
  <Override PartName="/ppt/theme/themeOverride11.xml" ContentType="application/vnd.openxmlformats-officedocument.themeOverride+xml"/>
  <Override PartName="/ppt/charts/chart12.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2.xml" ContentType="application/vnd.openxmlformats-officedocument.themeOverride+xml"/>
  <Override PartName="/ppt/notesSlides/notesSlide13.xml" ContentType="application/vnd.openxmlformats-officedocument.presentationml.notesSlide+xml"/>
  <Override PartName="/ppt/charts/chart13.xml" ContentType="application/vnd.openxmlformats-officedocument.drawingml.chart+xml"/>
  <Override PartName="/ppt/theme/themeOverride13.xml" ContentType="application/vnd.openxmlformats-officedocument.themeOverride+xml"/>
  <Override PartName="/ppt/charts/chart14.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4.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5.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5.xml" ContentType="application/vnd.openxmlformats-officedocument.themeOverride+xml"/>
  <Override PartName="/ppt/notesSlides/notesSlide18.xml" ContentType="application/vnd.openxmlformats-officedocument.presentationml.notesSlide+xml"/>
  <Override PartName="/ppt/charts/chart16.xml" ContentType="application/vnd.openxmlformats-officedocument.drawingml.chart+xml"/>
  <Override PartName="/ppt/theme/themeOverride16.xml" ContentType="application/vnd.openxmlformats-officedocument.themeOverride+xml"/>
  <Override PartName="/ppt/charts/chart17.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7.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8.xml" ContentType="application/vnd.openxmlformats-officedocument.drawingml.chart+xml"/>
  <Override PartName="/ppt/theme/themeOverride18.xml" ContentType="application/vnd.openxmlformats-officedocument.themeOverride+xml"/>
  <Override PartName="/ppt/charts/chart19.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9.xml" ContentType="application/vnd.openxmlformats-officedocument.themeOverride+xml"/>
  <Override PartName="/ppt/notesSlides/notesSlide22.xml" ContentType="application/vnd.openxmlformats-officedocument.presentationml.notesSlide+xml"/>
  <Override PartName="/ppt/charts/chart20.xml" ContentType="application/vnd.openxmlformats-officedocument.drawingml.chart+xml"/>
  <Override PartName="/ppt/theme/themeOverride20.xml" ContentType="application/vnd.openxmlformats-officedocument.themeOverride+xml"/>
  <Override PartName="/ppt/charts/chart2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21.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22.xml" ContentType="application/vnd.openxmlformats-officedocument.drawingml.chart+xml"/>
  <Override PartName="/ppt/theme/themeOverride22.xml" ContentType="application/vnd.openxmlformats-officedocument.themeOverr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 id="2147483765" r:id="rId2"/>
    <p:sldMasterId id="2147483769" r:id="rId3"/>
    <p:sldMasterId id="2147483787" r:id="rId4"/>
    <p:sldMasterId id="2147483792" r:id="rId5"/>
    <p:sldMasterId id="2147483810" r:id="rId6"/>
    <p:sldMasterId id="2147483814" r:id="rId7"/>
    <p:sldMasterId id="2147484048" r:id="rId8"/>
    <p:sldMasterId id="2147484106" r:id="rId9"/>
    <p:sldMasterId id="2147484177" r:id="rId10"/>
    <p:sldMasterId id="2147484203" r:id="rId11"/>
  </p:sldMasterIdLst>
  <p:notesMasterIdLst>
    <p:notesMasterId r:id="rId47"/>
  </p:notesMasterIdLst>
  <p:sldIdLst>
    <p:sldId id="8278" r:id="rId12"/>
    <p:sldId id="8279" r:id="rId13"/>
    <p:sldId id="8280" r:id="rId14"/>
    <p:sldId id="8281" r:id="rId15"/>
    <p:sldId id="8282" r:id="rId16"/>
    <p:sldId id="8283" r:id="rId17"/>
    <p:sldId id="8284" r:id="rId18"/>
    <p:sldId id="8285" r:id="rId19"/>
    <p:sldId id="8286" r:id="rId20"/>
    <p:sldId id="8287" r:id="rId21"/>
    <p:sldId id="8288" r:id="rId22"/>
    <p:sldId id="8289" r:id="rId23"/>
    <p:sldId id="8290" r:id="rId24"/>
    <p:sldId id="8291" r:id="rId25"/>
    <p:sldId id="8292" r:id="rId26"/>
    <p:sldId id="8293" r:id="rId27"/>
    <p:sldId id="8294" r:id="rId28"/>
    <p:sldId id="8295" r:id="rId29"/>
    <p:sldId id="8296" r:id="rId30"/>
    <p:sldId id="8297" r:id="rId31"/>
    <p:sldId id="8298" r:id="rId32"/>
    <p:sldId id="8299" r:id="rId33"/>
    <p:sldId id="8300" r:id="rId34"/>
    <p:sldId id="8301" r:id="rId35"/>
    <p:sldId id="8302" r:id="rId36"/>
    <p:sldId id="8303" r:id="rId37"/>
    <p:sldId id="8304" r:id="rId38"/>
    <p:sldId id="8305" r:id="rId39"/>
    <p:sldId id="8306" r:id="rId40"/>
    <p:sldId id="8307" r:id="rId41"/>
    <p:sldId id="8308" r:id="rId42"/>
    <p:sldId id="8309" r:id="rId43"/>
    <p:sldId id="8310" r:id="rId44"/>
    <p:sldId id="8311" r:id="rId45"/>
    <p:sldId id="8312" r:id="rId46"/>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an Quoc Tuan-Tech" initials="TQT" lastIdx="1" clrIdx="0">
    <p:extLst>
      <p:ext uri="{19B8F6BF-5375-455C-9EA6-DF929625EA0E}">
        <p15:presenceInfo xmlns:p15="http://schemas.microsoft.com/office/powerpoint/2012/main" userId="S-1-5-21-1077987608-1069428506-3618753054-16137" providerId="AD"/>
      </p:ext>
    </p:extLst>
  </p:cmAuthor>
  <p:cmAuthor id="2" name="Vu Van Viet-Tech" initials="VVV" lastIdx="2" clrIdx="1">
    <p:extLst>
      <p:ext uri="{19B8F6BF-5375-455C-9EA6-DF929625EA0E}">
        <p15:presenceInfo xmlns:p15="http://schemas.microsoft.com/office/powerpoint/2012/main" userId="S-1-5-21-1077987608-1069428506-3618753054-84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EAEFF7"/>
    <a:srgbClr val="DAD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374" autoAdjust="0"/>
  </p:normalViewPr>
  <p:slideViewPr>
    <p:cSldViewPr snapToGrid="0">
      <p:cViewPr varScale="1">
        <p:scale>
          <a:sx n="92" d="100"/>
          <a:sy n="92" d="100"/>
        </p:scale>
        <p:origin x="54" y="99"/>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commentAuthors" Target="commentAuthors.xml"/><Relationship Id="rId8" Type="http://schemas.openxmlformats.org/officeDocument/2006/relationships/slideMaster" Target="slideMasters/slideMaster8.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7.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9.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11.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11.xm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13.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SAG2\Bao%20cao%20SAG2-2025\T&#237;nh%20t&#7927;%20l&#7879;%20BCTN.xlsx" TargetMode="External"/></Relationships>
</file>

<file path=ppt/charts/_rels/chart16.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16.xm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18.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18.xm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20.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20.xm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21.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SAG2\Bao%20cao%20SAG2-2025\Th&#225;ng%204\&#272;o%20l&#432;&#7901;ng%20th&#7921;c%20hi&#7879;n%20an%20to&#224;n%20b&#7897;%20ch&#7881;%20s&#7889;%20KPI%20n&#259;m%202025.xlsx" TargetMode="External"/></Relationships>
</file>

<file path=ppt/charts/_rels/chart22.xml.rels><?xml version="1.0" encoding="UTF-8" standalone="yes"?>
<Relationships xmlns="http://schemas.openxmlformats.org/package/2006/relationships"><Relationship Id="rId2" Type="http://schemas.openxmlformats.org/officeDocument/2006/relationships/oleObject" Target="file:///D:\P.MOC\SAG2\Bao%20cao%20SAG2-2025\Th&#225;ng%204\&#272;o%20l&#432;&#7901;ng%20th&#7921;c%20hi&#7879;n%20an%20to&#224;n%20b&#7897;%20ch&#7881;%20s&#7889;%20KPI%20n&#259;m%202025.xlsx" TargetMode="External"/><Relationship Id="rId1" Type="http://schemas.openxmlformats.org/officeDocument/2006/relationships/themeOverride" Target="../theme/themeOverrid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6405492589058861E-2"/>
          <c:y val="2.5636498827477074E-2"/>
          <c:w val="0.96363823768567403"/>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A,B,C,D'!$D$3:$D$26</c:f>
              <c:numCache>
                <c:formatCode>General</c:formatCode>
                <c:ptCount val="13"/>
                <c:pt idx="0">
                  <c:v>0</c:v>
                </c:pt>
                <c:pt idx="1">
                  <c:v>0</c:v>
                </c:pt>
                <c:pt idx="2">
                  <c:v>0</c:v>
                </c:pt>
                <c:pt idx="3">
                  <c:v>0</c:v>
                </c:pt>
                <c:pt idx="4">
                  <c:v>0</c:v>
                </c:pt>
                <c:pt idx="5">
                  <c:v>0</c:v>
                </c:pt>
                <c:pt idx="6">
                  <c:v>0</c:v>
                </c:pt>
                <c:pt idx="7">
                  <c:v>1</c:v>
                </c:pt>
                <c:pt idx="8">
                  <c:v>1</c:v>
                </c:pt>
                <c:pt idx="9">
                  <c:v>1</c:v>
                </c:pt>
                <c:pt idx="10">
                  <c:v>0</c:v>
                </c:pt>
                <c:pt idx="11">
                  <c:v>0</c:v>
                </c:pt>
                <c:pt idx="12">
                  <c:v>2</c:v>
                </c:pt>
              </c:numCache>
              <c:extLst/>
            </c:numRef>
          </c:val>
          <c:extLst>
            <c:ext xmlns:c16="http://schemas.microsoft.com/office/drawing/2014/chart" uri="{C3380CC4-5D6E-409C-BE32-E72D297353CC}">
              <c16:uniqueId val="{00000000-C1D9-495B-999C-E8DE439FE381}"/>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1E-C1D9-495B-999C-E8DE439FE381}"/>
                </c:ext>
              </c:extLst>
            </c:dLbl>
            <c:dLbl>
              <c:idx val="1"/>
              <c:delete val="1"/>
              <c:extLst>
                <c:ext xmlns:c15="http://schemas.microsoft.com/office/drawing/2012/chart" uri="{CE6537A1-D6FC-4f65-9D91-7224C49458BB}"/>
                <c:ext xmlns:c16="http://schemas.microsoft.com/office/drawing/2014/chart" uri="{C3380CC4-5D6E-409C-BE32-E72D297353CC}">
                  <c16:uniqueId val="{0000001D-C1D9-495B-999C-E8DE439FE381}"/>
                </c:ext>
              </c:extLst>
            </c:dLbl>
            <c:dLbl>
              <c:idx val="2"/>
              <c:delete val="1"/>
              <c:extLst>
                <c:ext xmlns:c15="http://schemas.microsoft.com/office/drawing/2012/chart" uri="{CE6537A1-D6FC-4f65-9D91-7224C49458BB}"/>
                <c:ext xmlns:c16="http://schemas.microsoft.com/office/drawing/2014/chart" uri="{C3380CC4-5D6E-409C-BE32-E72D297353CC}">
                  <c16:uniqueId val="{00000001-C1D9-495B-999C-E8DE439FE381}"/>
                </c:ext>
              </c:extLst>
            </c:dLbl>
            <c:dLbl>
              <c:idx val="3"/>
              <c:delete val="1"/>
              <c:extLst>
                <c:ext xmlns:c15="http://schemas.microsoft.com/office/drawing/2012/chart" uri="{CE6537A1-D6FC-4f65-9D91-7224C49458BB}"/>
                <c:ext xmlns:c16="http://schemas.microsoft.com/office/drawing/2014/chart" uri="{C3380CC4-5D6E-409C-BE32-E72D297353CC}">
                  <c16:uniqueId val="{0000001C-C1D9-495B-999C-E8DE439FE381}"/>
                </c:ext>
              </c:extLst>
            </c:dLbl>
            <c:dLbl>
              <c:idx val="4"/>
              <c:delete val="1"/>
              <c:extLst>
                <c:ext xmlns:c15="http://schemas.microsoft.com/office/drawing/2012/chart" uri="{CE6537A1-D6FC-4f65-9D91-7224C49458BB}"/>
                <c:ext xmlns:c16="http://schemas.microsoft.com/office/drawing/2014/chart" uri="{C3380CC4-5D6E-409C-BE32-E72D297353CC}">
                  <c16:uniqueId val="{0000001B-C1D9-495B-999C-E8DE439FE381}"/>
                </c:ext>
              </c:extLst>
            </c:dLbl>
            <c:dLbl>
              <c:idx val="5"/>
              <c:delete val="1"/>
              <c:extLst>
                <c:ext xmlns:c15="http://schemas.microsoft.com/office/drawing/2012/chart" uri="{CE6537A1-D6FC-4f65-9D91-7224C49458BB}"/>
                <c:ext xmlns:c16="http://schemas.microsoft.com/office/drawing/2014/chart" uri="{C3380CC4-5D6E-409C-BE32-E72D297353CC}">
                  <c16:uniqueId val="{00000002-C1D9-495B-999C-E8DE439FE381}"/>
                </c:ext>
              </c:extLst>
            </c:dLbl>
            <c:dLbl>
              <c:idx val="6"/>
              <c:delete val="1"/>
              <c:extLst>
                <c:ext xmlns:c15="http://schemas.microsoft.com/office/drawing/2012/chart" uri="{CE6537A1-D6FC-4f65-9D91-7224C49458BB}"/>
                <c:ext xmlns:c16="http://schemas.microsoft.com/office/drawing/2014/chart" uri="{C3380CC4-5D6E-409C-BE32-E72D297353CC}">
                  <c16:uniqueId val="{0000001F-C1D9-495B-999C-E8DE439FE381}"/>
                </c:ext>
              </c:extLst>
            </c:dLbl>
            <c:dLbl>
              <c:idx val="9"/>
              <c:layout>
                <c:manualLayout>
                  <c:x val="-1.5759041036294802E-2"/>
                  <c:y val="-0.1016468636945870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1D9-495B-999C-E8DE439FE381}"/>
                </c:ext>
              </c:extLst>
            </c:dLbl>
            <c:dLbl>
              <c:idx val="10"/>
              <c:delete val="1"/>
              <c:extLst>
                <c:ext xmlns:c15="http://schemas.microsoft.com/office/drawing/2012/chart" uri="{CE6537A1-D6FC-4f65-9D91-7224C49458BB}"/>
                <c:ext xmlns:c16="http://schemas.microsoft.com/office/drawing/2014/chart" uri="{C3380CC4-5D6E-409C-BE32-E72D297353CC}">
                  <c16:uniqueId val="{00000020-C1D9-495B-999C-E8DE439FE381}"/>
                </c:ext>
              </c:extLst>
            </c:dLbl>
            <c:dLbl>
              <c:idx val="11"/>
              <c:delete val="1"/>
              <c:extLst>
                <c:ext xmlns:c15="http://schemas.microsoft.com/office/drawing/2012/chart" uri="{CE6537A1-D6FC-4f65-9D91-7224C49458BB}"/>
                <c:ext xmlns:c16="http://schemas.microsoft.com/office/drawing/2014/chart" uri="{C3380CC4-5D6E-409C-BE32-E72D297353CC}">
                  <c16:uniqueId val="{00000021-C1D9-495B-999C-E8DE439FE381}"/>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A,B,C,D'!$E$3:$E$26</c:f>
              <c:numCache>
                <c:formatCode>0.00</c:formatCode>
                <c:ptCount val="13"/>
                <c:pt idx="0">
                  <c:v>0</c:v>
                </c:pt>
                <c:pt idx="1">
                  <c:v>0</c:v>
                </c:pt>
                <c:pt idx="2">
                  <c:v>0</c:v>
                </c:pt>
                <c:pt idx="3">
                  <c:v>0</c:v>
                </c:pt>
                <c:pt idx="4">
                  <c:v>0</c:v>
                </c:pt>
                <c:pt idx="5">
                  <c:v>0</c:v>
                </c:pt>
                <c:pt idx="6">
                  <c:v>0</c:v>
                </c:pt>
                <c:pt idx="7">
                  <c:v>1.0088781275221954</c:v>
                </c:pt>
                <c:pt idx="8">
                  <c:v>0.8693384334521429</c:v>
                </c:pt>
                <c:pt idx="9">
                  <c:v>0.83347224537422904</c:v>
                </c:pt>
                <c:pt idx="10">
                  <c:v>0</c:v>
                </c:pt>
                <c:pt idx="11">
                  <c:v>0</c:v>
                </c:pt>
                <c:pt idx="12">
                  <c:v>1.7747803709290975</c:v>
                </c:pt>
              </c:numCache>
              <c:extLst/>
            </c:numRef>
          </c:val>
          <c:smooth val="0"/>
          <c:extLst>
            <c:ext xmlns:c16="http://schemas.microsoft.com/office/drawing/2014/chart" uri="{C3380CC4-5D6E-409C-BE32-E72D297353CC}">
              <c16:uniqueId val="{00000005-C1D9-495B-999C-E8DE439FE381}"/>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1D9-495B-999C-E8DE439FE381}"/>
                </c:ext>
              </c:extLst>
            </c:dLbl>
            <c:dLbl>
              <c:idx val="12"/>
              <c:layout>
                <c:manualLayout>
                  <c:x val="5.802429274788785E-3"/>
                  <c:y val="-6.12330504184258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D9-495B-999C-E8DE439FE381}"/>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0.33666759480645114</c:v>
                </c:pt>
                <c:pt idx="10">
                  <c:v>0.33666759480645114</c:v>
                </c:pt>
                <c:pt idx="11">
                  <c:v>0.33666759480645114</c:v>
                </c:pt>
                <c:pt idx="12">
                  <c:v>0.33666759480645114</c:v>
                </c:pt>
              </c:numCache>
              <c:extLst/>
            </c:numRef>
          </c:val>
          <c:smooth val="0"/>
          <c:extLst>
            <c:ext xmlns:c16="http://schemas.microsoft.com/office/drawing/2014/chart" uri="{C3380CC4-5D6E-409C-BE32-E72D297353CC}">
              <c16:uniqueId val="{00000008-C1D9-495B-999C-E8DE439FE381}"/>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1D9-495B-999C-E8DE439FE381}"/>
                </c:ext>
              </c:extLst>
            </c:dLbl>
            <c:dLbl>
              <c:idx val="12"/>
              <c:layout>
                <c:manualLayout>
                  <c:x val="5.802429274788785E-3"/>
                  <c:y val="-0.110219490753166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1D9-495B-999C-E8DE439FE381}"/>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0.52004559491059077</c:v>
                </c:pt>
                <c:pt idx="10">
                  <c:v>0.52004559491059077</c:v>
                </c:pt>
                <c:pt idx="11">
                  <c:v>0.52004559491059077</c:v>
                </c:pt>
                <c:pt idx="12">
                  <c:v>0.52004559491059077</c:v>
                </c:pt>
              </c:numCache>
              <c:extLst/>
            </c:numRef>
          </c:val>
          <c:smooth val="0"/>
          <c:extLst>
            <c:ext xmlns:c16="http://schemas.microsoft.com/office/drawing/2014/chart" uri="{C3380CC4-5D6E-409C-BE32-E72D297353CC}">
              <c16:uniqueId val="{0000000B-C1D9-495B-999C-E8DE439FE381}"/>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1D9-495B-999C-E8DE439FE381}"/>
                </c:ext>
              </c:extLst>
            </c:dLbl>
            <c:dLbl>
              <c:idx val="12"/>
              <c:layout>
                <c:manualLayout>
                  <c:x val="5.802429274788785E-3"/>
                  <c:y val="-0.146959321004221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1D9-495B-999C-E8DE439FE381}"/>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0.70342359501473029</c:v>
                </c:pt>
                <c:pt idx="10">
                  <c:v>0.70342359501473029</c:v>
                </c:pt>
                <c:pt idx="11">
                  <c:v>0.70342359501473029</c:v>
                </c:pt>
                <c:pt idx="12">
                  <c:v>0.70342359501473029</c:v>
                </c:pt>
              </c:numCache>
              <c:extLst/>
            </c:numRef>
          </c:val>
          <c:smooth val="0"/>
          <c:extLst>
            <c:ext xmlns:c16="http://schemas.microsoft.com/office/drawing/2014/chart" uri="{C3380CC4-5D6E-409C-BE32-E72D297353CC}">
              <c16:uniqueId val="{0000000E-C1D9-495B-999C-E8DE439FE381}"/>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1D9-495B-999C-E8DE439FE381}"/>
                </c:ext>
              </c:extLst>
            </c:dLbl>
            <c:dLbl>
              <c:idx val="12"/>
              <c:layout>
                <c:manualLayout>
                  <c:x val="5.802429274788785E-3"/>
                  <c:y val="-8.1644067224569284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1D9-495B-999C-E8DE439FE381}"/>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0"/>
              </c:ext>
            </c:extLst>
          </c:dLbls>
          <c:cat>
            <c:strRef>
              <c:f>'MOR sự cố A,B,C,D'!$B$3:$B$26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extLst/>
            </c:strRef>
          </c:cat>
          <c:val>
            <c:numRef>
              <c:f>'MOR sự cố A,B,C,D'!$I$3:$I$26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0.14562511496719602</c:v>
                </c:pt>
                <c:pt idx="10">
                  <c:v>0.14562511496719602</c:v>
                </c:pt>
                <c:pt idx="11">
                  <c:v>0.14562511496719602</c:v>
                </c:pt>
                <c:pt idx="12">
                  <c:v>0.14562511496719602</c:v>
                </c:pt>
              </c:numCache>
              <c:extLst/>
            </c:numRef>
          </c:val>
          <c:smooth val="0"/>
          <c:extLst>
            <c:ext xmlns:c16="http://schemas.microsoft.com/office/drawing/2014/chart" uri="{C3380CC4-5D6E-409C-BE32-E72D297353CC}">
              <c16:uniqueId val="{00000011-C1D9-495B-999C-E8DE439FE381}"/>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sự cố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sự cố A,B,C,D'!$AB$3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A,B,C,D'!$AB$4:$AB$5</c:f>
              <c:numCache>
                <c:formatCode>0.00</c:formatCode>
                <c:ptCount val="2"/>
                <c:pt idx="0" formatCode="General">
                  <c:v>0</c:v>
                </c:pt>
                <c:pt idx="1">
                  <c:v>0</c:v>
                </c:pt>
              </c:numCache>
            </c:numRef>
          </c:val>
          <c:extLst>
            <c:ext xmlns:c16="http://schemas.microsoft.com/office/drawing/2014/chart" uri="{C3380CC4-5D6E-409C-BE32-E72D297353CC}">
              <c16:uniqueId val="{00000000-60C5-4714-8356-0A26E245AB00}"/>
            </c:ext>
          </c:extLst>
        </c:ser>
        <c:ser>
          <c:idx val="1"/>
          <c:order val="1"/>
          <c:tx>
            <c:strRef>
              <c:f>'MOR sự cố A,B,C,D'!$AC$3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sự cố A,B,C,D'!$AA$4:$AA$5</c:f>
              <c:strCache>
                <c:ptCount val="2"/>
                <c:pt idx="0">
                  <c:v>Số vụ</c:v>
                </c:pt>
                <c:pt idx="1">
                  <c:v>Tỷ lệ/10000CB</c:v>
                </c:pt>
              </c:strCache>
            </c:strRef>
          </c:cat>
          <c:val>
            <c:numRef>
              <c:f>'MOR sự cố A,B,C,D'!$AC$4:$AC$5</c:f>
              <c:numCache>
                <c:formatCode>0.00</c:formatCode>
                <c:ptCount val="2"/>
                <c:pt idx="0" formatCode="0">
                  <c:v>3</c:v>
                </c:pt>
                <c:pt idx="1">
                  <c:v>0.65965961563833064</c:v>
                </c:pt>
              </c:numCache>
            </c:numRef>
          </c:val>
          <c:extLst>
            <c:ext xmlns:c16="http://schemas.microsoft.com/office/drawing/2014/chart" uri="{C3380CC4-5D6E-409C-BE32-E72D297353CC}">
              <c16:uniqueId val="{00000001-60C5-4714-8356-0A26E245AB00}"/>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2.5880345354891655E-3"/>
          <c:y val="0.93415568828748119"/>
          <c:w val="0.98877307073252008"/>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4282801906867619E-4"/>
          <c:y val="2.5636498827477074E-2"/>
          <c:w val="0.99945717198093131"/>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E'!$D$3:$D$26</c:f>
              <c:numCache>
                <c:formatCode>General</c:formatCode>
                <c:ptCount val="13"/>
                <c:pt idx="0">
                  <c:v>1</c:v>
                </c:pt>
                <c:pt idx="1">
                  <c:v>6</c:v>
                </c:pt>
                <c:pt idx="2">
                  <c:v>2</c:v>
                </c:pt>
                <c:pt idx="3">
                  <c:v>5</c:v>
                </c:pt>
                <c:pt idx="4">
                  <c:v>8</c:v>
                </c:pt>
                <c:pt idx="5">
                  <c:v>7</c:v>
                </c:pt>
                <c:pt idx="6">
                  <c:v>5</c:v>
                </c:pt>
                <c:pt idx="7">
                  <c:v>4</c:v>
                </c:pt>
                <c:pt idx="8">
                  <c:v>4</c:v>
                </c:pt>
                <c:pt idx="9">
                  <c:v>3</c:v>
                </c:pt>
                <c:pt idx="10">
                  <c:v>2</c:v>
                </c:pt>
                <c:pt idx="11">
                  <c:v>2</c:v>
                </c:pt>
                <c:pt idx="12">
                  <c:v>2</c:v>
                </c:pt>
              </c:numCache>
            </c:numRef>
          </c:val>
          <c:extLst>
            <c:ext xmlns:c16="http://schemas.microsoft.com/office/drawing/2014/chart" uri="{C3380CC4-5D6E-409C-BE32-E72D297353CC}">
              <c16:uniqueId val="{00000000-0C71-46DD-A258-11D406400AFB}"/>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layout>
                <c:manualLayout>
                  <c:x val="-4.4282550847874864E-2"/>
                  <c:y val="-0.1212940276845769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71-46DD-A258-11D406400AFB}"/>
                </c:ext>
              </c:extLst>
            </c:dLbl>
            <c:dLbl>
              <c:idx val="2"/>
              <c:layout>
                <c:manualLayout>
                  <c:x val="-2.3026926440894994E-2"/>
                  <c:y val="-0.1530048845955773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71-46DD-A258-11D406400AFB}"/>
                </c:ext>
              </c:extLst>
            </c:dLbl>
            <c:dLbl>
              <c:idx val="3"/>
              <c:layout>
                <c:manualLayout>
                  <c:x val="-3.3654738644384896E-2"/>
                  <c:y val="-0.1477197417770772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71-46DD-A258-11D406400AFB}"/>
                </c:ext>
              </c:extLst>
            </c:dLbl>
            <c:dLbl>
              <c:idx val="4"/>
              <c:layout>
                <c:manualLayout>
                  <c:x val="-3.0112134576554907E-2"/>
                  <c:y val="-0.1530048845955773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71-46DD-A258-11D406400AFB}"/>
                </c:ext>
              </c:extLst>
            </c:dLbl>
            <c:dLbl>
              <c:idx val="6"/>
              <c:layout>
                <c:manualLayout>
                  <c:x val="-2.302692644089506E-2"/>
                  <c:y val="-8.95831707735764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C71-46DD-A258-11D406400AFB}"/>
                </c:ext>
              </c:extLst>
            </c:dLbl>
            <c:dLbl>
              <c:idx val="8"/>
              <c:layout>
                <c:manualLayout>
                  <c:x val="-3.3654738644384896E-2"/>
                  <c:y val="-8.69405993643263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C71-46DD-A258-11D406400AFB}"/>
                </c:ext>
              </c:extLst>
            </c:dLbl>
            <c:dLbl>
              <c:idx val="9"/>
              <c:layout>
                <c:manualLayout>
                  <c:x val="-3.1883436610469898E-2"/>
                  <c:y val="-0.1001534564105766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C71-46DD-A258-11D406400AFB}"/>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E'!$E$3:$E$26</c:f>
              <c:numCache>
                <c:formatCode>0.00</c:formatCode>
                <c:ptCount val="13"/>
                <c:pt idx="0">
                  <c:v>0.9722897423432183</c:v>
                </c:pt>
                <c:pt idx="1">
                  <c:v>5.9084194977843429</c:v>
                </c:pt>
                <c:pt idx="2">
                  <c:v>1.7253278122843341</c:v>
                </c:pt>
                <c:pt idx="3">
                  <c:v>3.8544557508479804</c:v>
                </c:pt>
                <c:pt idx="4">
                  <c:v>6.8125691901558376</c:v>
                </c:pt>
                <c:pt idx="5">
                  <c:v>7.4922401798137646</c:v>
                </c:pt>
                <c:pt idx="6">
                  <c:v>5.2410901467505244</c:v>
                </c:pt>
                <c:pt idx="7">
                  <c:v>4.0355125100887816</c:v>
                </c:pt>
                <c:pt idx="8">
                  <c:v>3.4773537338085716</c:v>
                </c:pt>
                <c:pt idx="9">
                  <c:v>2.5004167361226872</c:v>
                </c:pt>
                <c:pt idx="10">
                  <c:v>1.8208302986161691</c:v>
                </c:pt>
                <c:pt idx="11">
                  <c:v>1.7814197915738843</c:v>
                </c:pt>
                <c:pt idx="12">
                  <c:v>1.7747803709290975</c:v>
                </c:pt>
              </c:numCache>
            </c:numRef>
          </c:val>
          <c:smooth val="0"/>
          <c:extLst>
            <c:ext xmlns:c16="http://schemas.microsoft.com/office/drawing/2014/chart" uri="{C3380CC4-5D6E-409C-BE32-E72D297353CC}">
              <c16:uniqueId val="{00000008-0C71-46DD-A258-11D406400AFB}"/>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C71-46DD-A258-11D406400AFB}"/>
                </c:ext>
              </c:extLst>
            </c:dLbl>
            <c:dLbl>
              <c:idx val="10"/>
              <c:delete val="1"/>
              <c:extLst>
                <c:ext xmlns:c15="http://schemas.microsoft.com/office/drawing/2012/chart" uri="{CE6537A1-D6FC-4f65-9D91-7224C49458BB}"/>
                <c:ext xmlns:c16="http://schemas.microsoft.com/office/drawing/2014/chart" uri="{C3380CC4-5D6E-409C-BE32-E72D297353CC}">
                  <c16:uniqueId val="{0000000A-0C71-46DD-A258-11D406400AFB}"/>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C71-46DD-A258-11D406400AFB}"/>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4.95</c:v>
                </c:pt>
                <c:pt idx="10">
                  <c:v>4.95</c:v>
                </c:pt>
                <c:pt idx="11">
                  <c:v>4.95</c:v>
                </c:pt>
                <c:pt idx="12">
                  <c:v>4.95</c:v>
                </c:pt>
              </c:numCache>
            </c:numRef>
          </c:val>
          <c:smooth val="0"/>
          <c:extLst>
            <c:ext xmlns:c16="http://schemas.microsoft.com/office/drawing/2014/chart" uri="{C3380CC4-5D6E-409C-BE32-E72D297353CC}">
              <c16:uniqueId val="{0000000C-0C71-46DD-A258-11D406400AFB}"/>
            </c:ext>
          </c:extLst>
        </c:ser>
        <c:ser>
          <c:idx val="3"/>
          <c:order val="3"/>
          <c:spPr>
            <a:ln w="25400">
              <a:solidFill>
                <a:srgbClr val="FFC000"/>
              </a:solidFill>
            </a:ln>
          </c:spPr>
          <c:marker>
            <c:symbol val="none"/>
          </c:marker>
          <c:dLbls>
            <c:dLbl>
              <c:idx val="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C71-46DD-A258-11D406400AFB}"/>
                </c:ext>
              </c:extLst>
            </c:dLbl>
            <c:dLbl>
              <c:idx val="9"/>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6="http://schemas.microsoft.com/office/drawing/2014/chart" uri="{C3380CC4-5D6E-409C-BE32-E72D297353CC}">
                  <c16:uniqueId val="{0000000E-0C71-46DD-A258-11D406400AFB}"/>
                </c:ext>
              </c:extLst>
            </c:dLbl>
            <c:dLbl>
              <c:idx val="10"/>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6="http://schemas.microsoft.com/office/drawing/2014/chart" uri="{C3380CC4-5D6E-409C-BE32-E72D297353CC}">
                  <c16:uniqueId val="{0000000F-0C71-46DD-A258-11D406400AFB}"/>
                </c:ext>
              </c:extLst>
            </c:dLbl>
            <c:dLbl>
              <c:idx val="12"/>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C71-46DD-A258-11D406400AFB}"/>
                </c:ext>
              </c:extLst>
            </c:dLbl>
            <c:spPr>
              <a:no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5.98</c:v>
                </c:pt>
                <c:pt idx="10">
                  <c:v>5.98</c:v>
                </c:pt>
                <c:pt idx="11">
                  <c:v>5.98</c:v>
                </c:pt>
                <c:pt idx="12">
                  <c:v>5.98</c:v>
                </c:pt>
              </c:numCache>
            </c:numRef>
          </c:val>
          <c:smooth val="0"/>
          <c:extLst>
            <c:ext xmlns:c16="http://schemas.microsoft.com/office/drawing/2014/chart" uri="{C3380CC4-5D6E-409C-BE32-E72D297353CC}">
              <c16:uniqueId val="{00000011-0C71-46DD-A258-11D406400AFB}"/>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C71-46DD-A258-11D406400AFB}"/>
                </c:ext>
              </c:extLst>
            </c:dLbl>
            <c:dLbl>
              <c:idx val="10"/>
              <c:delete val="1"/>
              <c:extLst>
                <c:ext xmlns:c15="http://schemas.microsoft.com/office/drawing/2012/chart" uri="{CE6537A1-D6FC-4f65-9D91-7224C49458BB}"/>
                <c:ext xmlns:c16="http://schemas.microsoft.com/office/drawing/2014/chart" uri="{C3380CC4-5D6E-409C-BE32-E72D297353CC}">
                  <c16:uniqueId val="{00000013-0C71-46DD-A258-11D406400AFB}"/>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C71-46DD-A258-11D406400AFB}"/>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7.05</c:v>
                </c:pt>
                <c:pt idx="10">
                  <c:v>7.05</c:v>
                </c:pt>
                <c:pt idx="11">
                  <c:v>7.05</c:v>
                </c:pt>
                <c:pt idx="12">
                  <c:v>7.05</c:v>
                </c:pt>
              </c:numCache>
            </c:numRef>
          </c:val>
          <c:smooth val="0"/>
          <c:extLst>
            <c:ext xmlns:c16="http://schemas.microsoft.com/office/drawing/2014/chart" uri="{C3380CC4-5D6E-409C-BE32-E72D297353CC}">
              <c16:uniqueId val="{00000015-0C71-46DD-A258-11D406400AFB}"/>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0C71-46DD-A258-11D406400AFB}"/>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0C71-46DD-A258-11D406400AFB}"/>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'MOR vụ việc E'!$B$3:$B$26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'MOR vụ việc E'!$I$3:$I$26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4.1043288981543933</c:v>
                </c:pt>
                <c:pt idx="10">
                  <c:v>4.1043288981543933</c:v>
                </c:pt>
                <c:pt idx="11">
                  <c:v>4.1043288981543933</c:v>
                </c:pt>
                <c:pt idx="12">
                  <c:v>4.1043288981543933</c:v>
                </c:pt>
              </c:numCache>
            </c:numRef>
          </c:val>
          <c:smooth val="0"/>
          <c:extLst>
            <c:ext xmlns:c16="http://schemas.microsoft.com/office/drawing/2014/chart" uri="{C3380CC4-5D6E-409C-BE32-E72D297353CC}">
              <c16:uniqueId val="{00000018-0C71-46DD-A258-11D406400AFB}"/>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'MOR vụ việc E'!$AB$3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E'!$AB$4:$AB$5</c:f>
              <c:numCache>
                <c:formatCode>0.00</c:formatCode>
                <c:ptCount val="2"/>
                <c:pt idx="0" formatCode="General">
                  <c:v>10</c:v>
                </c:pt>
                <c:pt idx="1">
                  <c:v>2.2877013177159591</c:v>
                </c:pt>
              </c:numCache>
            </c:numRef>
          </c:val>
          <c:extLst>
            <c:ext xmlns:c16="http://schemas.microsoft.com/office/drawing/2014/chart" uri="{C3380CC4-5D6E-409C-BE32-E72D297353CC}">
              <c16:uniqueId val="{00000000-C7A2-469C-8DF1-A6BC14E7E63C}"/>
            </c:ext>
          </c:extLst>
        </c:ser>
        <c:ser>
          <c:idx val="1"/>
          <c:order val="1"/>
          <c:tx>
            <c:strRef>
              <c:f>'MOR vụ việc E'!$AC$3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'MOR vụ việc E'!$AA$4:$AA$5</c:f>
              <c:strCache>
                <c:ptCount val="2"/>
                <c:pt idx="0">
                  <c:v>Số vụ</c:v>
                </c:pt>
                <c:pt idx="1">
                  <c:v>Tỷ lệ/10000CB</c:v>
                </c:pt>
              </c:strCache>
            </c:strRef>
          </c:cat>
          <c:val>
            <c:numRef>
              <c:f>'MOR vụ việc E'!$AC$4:$AC$5</c:f>
              <c:numCache>
                <c:formatCode>0.00</c:formatCode>
                <c:ptCount val="2"/>
                <c:pt idx="0" formatCode="0">
                  <c:v>9</c:v>
                </c:pt>
                <c:pt idx="1">
                  <c:v>1.9789788469149918</c:v>
                </c:pt>
              </c:numCache>
            </c:numRef>
          </c:val>
          <c:extLst>
            <c:ext xmlns:c16="http://schemas.microsoft.com/office/drawing/2014/chart" uri="{C3380CC4-5D6E-409C-BE32-E72D297353CC}">
              <c16:uniqueId val="{00000001-C7A2-469C-8DF1-A6BC14E7E63C}"/>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6698599757358093E-4"/>
          <c:y val="2.5636498827477074E-2"/>
          <c:w val="0.99392140102325277"/>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bay'!$D$3:$D$26</c:f>
              <c:numCache>
                <c:formatCode>General</c:formatCode>
                <c:ptCount val="13"/>
                <c:pt idx="0">
                  <c:v>0</c:v>
                </c:pt>
                <c:pt idx="1">
                  <c:v>0</c:v>
                </c:pt>
                <c:pt idx="2">
                  <c:v>0</c:v>
                </c:pt>
                <c:pt idx="3">
                  <c:v>0</c:v>
                </c:pt>
                <c:pt idx="4">
                  <c:v>0</c:v>
                </c:pt>
                <c:pt idx="5">
                  <c:v>0</c:v>
                </c:pt>
                <c:pt idx="6">
                  <c:v>0</c:v>
                </c:pt>
                <c:pt idx="7">
                  <c:v>0</c:v>
                </c:pt>
                <c:pt idx="8">
                  <c:v>1</c:v>
                </c:pt>
                <c:pt idx="9">
                  <c:v>0</c:v>
                </c:pt>
                <c:pt idx="10">
                  <c:v>0</c:v>
                </c:pt>
                <c:pt idx="11">
                  <c:v>0</c:v>
                </c:pt>
                <c:pt idx="12">
                  <c:v>0</c:v>
                </c:pt>
              </c:numCache>
            </c:numRef>
          </c:val>
          <c:extLst>
            <c:ext xmlns:c16="http://schemas.microsoft.com/office/drawing/2014/chart" uri="{C3380CC4-5D6E-409C-BE32-E72D297353CC}">
              <c16:uniqueId val="{00000000-0AF3-4338-BAAF-F5FF9B02E99B}"/>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20-0AF3-4338-BAAF-F5FF9B02E99B}"/>
                </c:ext>
              </c:extLst>
            </c:dLbl>
            <c:dLbl>
              <c:idx val="1"/>
              <c:delete val="1"/>
              <c:extLst>
                <c:ext xmlns:c15="http://schemas.microsoft.com/office/drawing/2012/chart" uri="{CE6537A1-D6FC-4f65-9D91-7224C49458BB}"/>
                <c:ext xmlns:c16="http://schemas.microsoft.com/office/drawing/2014/chart" uri="{C3380CC4-5D6E-409C-BE32-E72D297353CC}">
                  <c16:uniqueId val="{0000001F-0AF3-4338-BAAF-F5FF9B02E99B}"/>
                </c:ext>
              </c:extLst>
            </c:dLbl>
            <c:dLbl>
              <c:idx val="2"/>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1-0AF3-4338-BAAF-F5FF9B02E99B}"/>
                </c:ext>
              </c:extLst>
            </c:dLbl>
            <c:dLbl>
              <c:idx val="3"/>
              <c:delete val="1"/>
              <c:extLst>
                <c:ext xmlns:c15="http://schemas.microsoft.com/office/drawing/2012/chart" uri="{CE6537A1-D6FC-4f65-9D91-7224C49458BB}"/>
                <c:ext xmlns:c16="http://schemas.microsoft.com/office/drawing/2014/chart" uri="{C3380CC4-5D6E-409C-BE32-E72D297353CC}">
                  <c16:uniqueId val="{0000001E-0AF3-4338-BAAF-F5FF9B02E99B}"/>
                </c:ext>
              </c:extLst>
            </c:dLbl>
            <c:dLbl>
              <c:idx val="4"/>
              <c:delete val="1"/>
              <c:extLst>
                <c:ext xmlns:c15="http://schemas.microsoft.com/office/drawing/2012/chart" uri="{CE6537A1-D6FC-4f65-9D91-7224C49458BB}"/>
                <c:ext xmlns:c16="http://schemas.microsoft.com/office/drawing/2014/chart" uri="{C3380CC4-5D6E-409C-BE32-E72D297353CC}">
                  <c16:uniqueId val="{0000001D-0AF3-4338-BAAF-F5FF9B02E99B}"/>
                </c:ext>
              </c:extLst>
            </c:dLbl>
            <c:dLbl>
              <c:idx val="5"/>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2-0AF3-4338-BAAF-F5FF9B02E99B}"/>
                </c:ext>
              </c:extLst>
            </c:dLbl>
            <c:dLbl>
              <c:idx val="6"/>
              <c:delete val="1"/>
              <c:extLst>
                <c:ext xmlns:c15="http://schemas.microsoft.com/office/drawing/2012/chart" uri="{CE6537A1-D6FC-4f65-9D91-7224C49458BB}"/>
                <c:ext xmlns:c16="http://schemas.microsoft.com/office/drawing/2014/chart" uri="{C3380CC4-5D6E-409C-BE32-E72D297353CC}">
                  <c16:uniqueId val="{0000001C-0AF3-4338-BAAF-F5FF9B02E99B}"/>
                </c:ext>
              </c:extLst>
            </c:dLbl>
            <c:dLbl>
              <c:idx val="7"/>
              <c:delete val="1"/>
              <c:extLst>
                <c:ext xmlns:c15="http://schemas.microsoft.com/office/drawing/2012/chart" uri="{CE6537A1-D6FC-4f65-9D91-7224C49458BB}"/>
                <c:ext xmlns:c16="http://schemas.microsoft.com/office/drawing/2014/chart" uri="{C3380CC4-5D6E-409C-BE32-E72D297353CC}">
                  <c16:uniqueId val="{0000001B-0AF3-4338-BAAF-F5FF9B02E99B}"/>
                </c:ext>
              </c:extLst>
            </c:dLbl>
            <c:dLbl>
              <c:idx val="8"/>
              <c:layout>
                <c:manualLayout>
                  <c:x val="-4.7936085219707186E-2"/>
                  <c:y val="-4.842615012106546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AF3-4338-BAAF-F5FF9B02E99B}"/>
                </c:ext>
              </c:extLst>
            </c:dLbl>
            <c:dLbl>
              <c:idx val="9"/>
              <c:delete val="1"/>
              <c:extLst>
                <c:ext xmlns:c15="http://schemas.microsoft.com/office/drawing/2012/chart" uri="{CE6537A1-D6FC-4f65-9D91-7224C49458BB}"/>
                <c:ext xmlns:c16="http://schemas.microsoft.com/office/drawing/2014/chart" uri="{C3380CC4-5D6E-409C-BE32-E72D297353CC}">
                  <c16:uniqueId val="{00000004-0AF3-4338-BAAF-F5FF9B02E99B}"/>
                </c:ext>
              </c:extLst>
            </c:dLbl>
            <c:dLbl>
              <c:idx val="10"/>
              <c:delete val="1"/>
              <c:extLst>
                <c:ext xmlns:c15="http://schemas.microsoft.com/office/drawing/2012/chart" uri="{CE6537A1-D6FC-4f65-9D91-7224C49458BB}"/>
                <c:ext xmlns:c16="http://schemas.microsoft.com/office/drawing/2014/chart" uri="{C3380CC4-5D6E-409C-BE32-E72D297353CC}">
                  <c16:uniqueId val="{0000001A-0AF3-4338-BAAF-F5FF9B02E99B}"/>
                </c:ext>
              </c:extLst>
            </c:dLbl>
            <c:dLbl>
              <c:idx val="11"/>
              <c:delete val="1"/>
              <c:extLst>
                <c:ext xmlns:c15="http://schemas.microsoft.com/office/drawing/2012/chart" uri="{CE6537A1-D6FC-4f65-9D91-7224C49458BB}"/>
                <c:ext xmlns:c16="http://schemas.microsoft.com/office/drawing/2014/chart" uri="{C3380CC4-5D6E-409C-BE32-E72D297353CC}">
                  <c16:uniqueId val="{00000019-0AF3-4338-BAAF-F5FF9B02E99B}"/>
                </c:ext>
              </c:extLst>
            </c:dLbl>
            <c:dLbl>
              <c:idx val="12"/>
              <c:delete val="1"/>
              <c:extLst>
                <c:ext xmlns:c15="http://schemas.microsoft.com/office/drawing/2012/chart" uri="{CE6537A1-D6FC-4f65-9D91-7224C49458BB}"/>
                <c:ext xmlns:c16="http://schemas.microsoft.com/office/drawing/2014/chart" uri="{C3380CC4-5D6E-409C-BE32-E72D297353CC}">
                  <c16:uniqueId val="{00000018-0AF3-4338-BAAF-F5FF9B02E99B}"/>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bay'!$E$3:$E$26</c:f>
              <c:numCache>
                <c:formatCode>0.00</c:formatCode>
                <c:ptCount val="13"/>
                <c:pt idx="0">
                  <c:v>0</c:v>
                </c:pt>
                <c:pt idx="1">
                  <c:v>0</c:v>
                </c:pt>
                <c:pt idx="2">
                  <c:v>0</c:v>
                </c:pt>
                <c:pt idx="3">
                  <c:v>0</c:v>
                </c:pt>
                <c:pt idx="4">
                  <c:v>0</c:v>
                </c:pt>
                <c:pt idx="5">
                  <c:v>0</c:v>
                </c:pt>
                <c:pt idx="6">
                  <c:v>0</c:v>
                </c:pt>
                <c:pt idx="7">
                  <c:v>0</c:v>
                </c:pt>
                <c:pt idx="8">
                  <c:v>0.8693384334521429</c:v>
                </c:pt>
                <c:pt idx="9">
                  <c:v>0</c:v>
                </c:pt>
                <c:pt idx="10">
                  <c:v>0</c:v>
                </c:pt>
                <c:pt idx="11">
                  <c:v>0</c:v>
                </c:pt>
                <c:pt idx="12">
                  <c:v>0</c:v>
                </c:pt>
              </c:numCache>
            </c:numRef>
          </c:val>
          <c:smooth val="0"/>
          <c:extLst>
            <c:ext xmlns:c16="http://schemas.microsoft.com/office/drawing/2014/chart" uri="{C3380CC4-5D6E-409C-BE32-E72D297353CC}">
              <c16:uniqueId val="{00000005-0AF3-4338-BAAF-F5FF9B02E99B}"/>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0AF3-4338-BAAF-F5FF9B02E99B}"/>
                </c:ext>
              </c:extLst>
            </c:dLbl>
            <c:dLbl>
              <c:idx val="1"/>
              <c:delete val="1"/>
              <c:extLst>
                <c:ext xmlns:c15="http://schemas.microsoft.com/office/drawing/2012/chart" uri="{CE6537A1-D6FC-4f65-9D91-7224C49458BB}"/>
                <c:ext xmlns:c16="http://schemas.microsoft.com/office/drawing/2014/chart" uri="{C3380CC4-5D6E-409C-BE32-E72D297353CC}">
                  <c16:uniqueId val="{00000030-0AF3-4338-BAAF-F5FF9B02E99B}"/>
                </c:ext>
              </c:extLst>
            </c:dLbl>
            <c:dLbl>
              <c:idx val="2"/>
              <c:delete val="1"/>
              <c:extLst>
                <c:ext xmlns:c15="http://schemas.microsoft.com/office/drawing/2012/chart" uri="{CE6537A1-D6FC-4f65-9D91-7224C49458BB}"/>
                <c:ext xmlns:c16="http://schemas.microsoft.com/office/drawing/2014/chart" uri="{C3380CC4-5D6E-409C-BE32-E72D297353CC}">
                  <c16:uniqueId val="{0000002F-0AF3-4338-BAAF-F5FF9B02E99B}"/>
                </c:ext>
              </c:extLst>
            </c:dLbl>
            <c:dLbl>
              <c:idx val="3"/>
              <c:delete val="1"/>
              <c:extLst>
                <c:ext xmlns:c15="http://schemas.microsoft.com/office/drawing/2012/chart" uri="{CE6537A1-D6FC-4f65-9D91-7224C49458BB}"/>
                <c:ext xmlns:c16="http://schemas.microsoft.com/office/drawing/2014/chart" uri="{C3380CC4-5D6E-409C-BE32-E72D297353CC}">
                  <c16:uniqueId val="{0000002E-0AF3-4338-BAAF-F5FF9B02E99B}"/>
                </c:ext>
              </c:extLst>
            </c:dLbl>
            <c:dLbl>
              <c:idx val="4"/>
              <c:delete val="1"/>
              <c:extLst>
                <c:ext xmlns:c15="http://schemas.microsoft.com/office/drawing/2012/chart" uri="{CE6537A1-D6FC-4f65-9D91-7224C49458BB}"/>
                <c:ext xmlns:c16="http://schemas.microsoft.com/office/drawing/2014/chart" uri="{C3380CC4-5D6E-409C-BE32-E72D297353CC}">
                  <c16:uniqueId val="{0000002D-0AF3-4338-BAAF-F5FF9B02E99B}"/>
                </c:ext>
              </c:extLst>
            </c:dLbl>
            <c:dLbl>
              <c:idx val="5"/>
              <c:delete val="1"/>
              <c:extLst>
                <c:ext xmlns:c15="http://schemas.microsoft.com/office/drawing/2012/chart" uri="{CE6537A1-D6FC-4f65-9D91-7224C49458BB}"/>
                <c:ext xmlns:c16="http://schemas.microsoft.com/office/drawing/2014/chart" uri="{C3380CC4-5D6E-409C-BE32-E72D297353CC}">
                  <c16:uniqueId val="{0000002C-0AF3-4338-BAAF-F5FF9B02E99B}"/>
                </c:ext>
              </c:extLst>
            </c:dLbl>
            <c:dLbl>
              <c:idx val="6"/>
              <c:delete val="1"/>
              <c:extLst>
                <c:ext xmlns:c15="http://schemas.microsoft.com/office/drawing/2012/chart" uri="{CE6537A1-D6FC-4f65-9D91-7224C49458BB}"/>
                <c:ext xmlns:c16="http://schemas.microsoft.com/office/drawing/2014/chart" uri="{C3380CC4-5D6E-409C-BE32-E72D297353CC}">
                  <c16:uniqueId val="{0000002B-0AF3-4338-BAAF-F5FF9B02E99B}"/>
                </c:ext>
              </c:extLst>
            </c:dLbl>
            <c:dLbl>
              <c:idx val="7"/>
              <c:delete val="1"/>
              <c:extLst>
                <c:ext xmlns:c15="http://schemas.microsoft.com/office/drawing/2012/chart" uri="{CE6537A1-D6FC-4f65-9D91-7224C49458BB}"/>
                <c:ext xmlns:c16="http://schemas.microsoft.com/office/drawing/2014/chart" uri="{C3380CC4-5D6E-409C-BE32-E72D297353CC}">
                  <c16:uniqueId val="{0000002A-0AF3-4338-BAAF-F5FF9B02E99B}"/>
                </c:ext>
              </c:extLst>
            </c:dLbl>
            <c:dLbl>
              <c:idx val="8"/>
              <c:delete val="1"/>
              <c:extLst>
                <c:ext xmlns:c15="http://schemas.microsoft.com/office/drawing/2012/chart" uri="{CE6537A1-D6FC-4f65-9D91-7224C49458BB}"/>
                <c:ext xmlns:c16="http://schemas.microsoft.com/office/drawing/2014/chart" uri="{C3380CC4-5D6E-409C-BE32-E72D297353CC}">
                  <c16:uniqueId val="{00000029-0AF3-4338-BAAF-F5FF9B02E99B}"/>
                </c:ext>
              </c:extLst>
            </c:dLbl>
            <c:dLbl>
              <c:idx val="9"/>
              <c:delete val="1"/>
              <c:extLst>
                <c:ext xmlns:c15="http://schemas.microsoft.com/office/drawing/2012/chart" uri="{CE6537A1-D6FC-4f65-9D91-7224C49458BB}"/>
                <c:ext xmlns:c16="http://schemas.microsoft.com/office/drawing/2014/chart" uri="{C3380CC4-5D6E-409C-BE32-E72D297353CC}">
                  <c16:uniqueId val="{00000028-0AF3-4338-BAAF-F5FF9B02E99B}"/>
                </c:ext>
              </c:extLst>
            </c:dLbl>
            <c:dLbl>
              <c:idx val="10"/>
              <c:delete val="1"/>
              <c:extLst>
                <c:ext xmlns:c15="http://schemas.microsoft.com/office/drawing/2012/chart" uri="{CE6537A1-D6FC-4f65-9D91-7224C49458BB}"/>
                <c:ext xmlns:c16="http://schemas.microsoft.com/office/drawing/2014/chart" uri="{C3380CC4-5D6E-409C-BE32-E72D297353CC}">
                  <c16:uniqueId val="{00000006-0AF3-4338-BAAF-F5FF9B02E99B}"/>
                </c:ext>
              </c:extLst>
            </c:dLbl>
            <c:dLbl>
              <c:idx val="11"/>
              <c:delete val="1"/>
              <c:extLst>
                <c:ext xmlns:c15="http://schemas.microsoft.com/office/drawing/2012/chart" uri="{CE6537A1-D6FC-4f65-9D91-7224C49458BB}"/>
                <c:ext xmlns:c16="http://schemas.microsoft.com/office/drawing/2014/chart" uri="{C3380CC4-5D6E-409C-BE32-E72D297353CC}">
                  <c16:uniqueId val="{00000027-0AF3-4338-BAAF-F5FF9B02E99B}"/>
                </c:ext>
              </c:extLst>
            </c:dLbl>
            <c:dLbl>
              <c:idx val="12"/>
              <c:layout>
                <c:manualLayout>
                  <c:x val="-1.5938516982491014E-3"/>
                  <c:y val="-0.11599596541067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0AF3-4338-BAAF-F5FF9B02E99B}"/>
                </c:ext>
              </c:extLst>
            </c:dLbl>
            <c:spPr>
              <a:solidFill>
                <a:srgbClr val="00B0F0"/>
              </a:solidFill>
              <a:ln>
                <a:solidFill>
                  <a:srgbClr val="00B0F0"/>
                </a:solidFill>
              </a:ln>
              <a:effectLst/>
            </c:spPr>
            <c:txPr>
              <a:bodyPr wrap="square" lIns="38100" tIns="19050" rIns="38100" bIns="19050" anchor="ctr">
                <a:spAutoFit/>
              </a:bodyPr>
              <a:lstStyle/>
              <a:p>
                <a:pPr>
                  <a:defRPr sz="1200" b="1">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0.43368797490235522</c:v>
                </c:pt>
                <c:pt idx="10">
                  <c:v>0.43368797490235522</c:v>
                </c:pt>
                <c:pt idx="11">
                  <c:v>0.43368797490235522</c:v>
                </c:pt>
                <c:pt idx="12">
                  <c:v>0.43368797490235522</c:v>
                </c:pt>
              </c:numCache>
            </c:numRef>
          </c:val>
          <c:smooth val="0"/>
          <c:extLst>
            <c:ext xmlns:c16="http://schemas.microsoft.com/office/drawing/2014/chart" uri="{C3380CC4-5D6E-409C-BE32-E72D297353CC}">
              <c16:uniqueId val="{00000007-0AF3-4338-BAAF-F5FF9B02E99B}"/>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0AF3-4338-BAAF-F5FF9B02E99B}"/>
                </c:ext>
              </c:extLst>
            </c:dLbl>
            <c:dLbl>
              <c:idx val="12"/>
              <c:layout>
                <c:manualLayout>
                  <c:x val="0"/>
                  <c:y val="-0.1662608837552978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0AF3-4338-BAAF-F5FF9B02E99B}"/>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0.637441557751243</c:v>
                </c:pt>
                <c:pt idx="10">
                  <c:v>0.637441557751243</c:v>
                </c:pt>
                <c:pt idx="11">
                  <c:v>0.637441557751243</c:v>
                </c:pt>
                <c:pt idx="12">
                  <c:v>0.637441557751243</c:v>
                </c:pt>
              </c:numCache>
            </c:numRef>
          </c:val>
          <c:smooth val="0"/>
          <c:extLst>
            <c:ext xmlns:c16="http://schemas.microsoft.com/office/drawing/2014/chart" uri="{C3380CC4-5D6E-409C-BE32-E72D297353CC}">
              <c16:uniqueId val="{00000009-0AF3-4338-BAAF-F5FF9B02E99B}"/>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0AF3-4338-BAAF-F5FF9B02E99B}"/>
                </c:ext>
              </c:extLst>
            </c:dLbl>
            <c:dLbl>
              <c:idx val="12"/>
              <c:layout>
                <c:manualLayout>
                  <c:x val="0"/>
                  <c:y val="-0.20492620555885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0AF3-4338-BAAF-F5FF9B02E99B}"/>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0.8411951406001309</c:v>
                </c:pt>
                <c:pt idx="10">
                  <c:v>0.8411951406001309</c:v>
                </c:pt>
                <c:pt idx="11">
                  <c:v>0.8411951406001309</c:v>
                </c:pt>
                <c:pt idx="12">
                  <c:v>0.8411951406001309</c:v>
                </c:pt>
              </c:numCache>
            </c:numRef>
          </c:val>
          <c:smooth val="0"/>
          <c:extLst>
            <c:ext xmlns:c16="http://schemas.microsoft.com/office/drawing/2014/chart" uri="{C3380CC4-5D6E-409C-BE32-E72D297353CC}">
              <c16:uniqueId val="{0000000C-0AF3-4338-BAAF-F5FF9B02E99B}"/>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0AF3-4338-BAAF-F5FF9B02E99B}"/>
                </c:ext>
              </c:extLst>
            </c:dLbl>
            <c:dLbl>
              <c:idx val="12"/>
              <c:layout>
                <c:manualLayout>
                  <c:x val="0"/>
                  <c:y val="-7.733064360711541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0AF3-4338-BAAF-F5FF9B02E99B}"/>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0"/>
              </c:ext>
            </c:extLst>
          </c:dLbls>
          <c:cat>
            <c:strRef>
              <c:f>'Sự cố vụ việc bảo dưỡng tàu bay'!$B$3:$B$26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bảo dưỡng tàu bay'!$I$3:$I$26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0.21843767245079404</c:v>
                </c:pt>
                <c:pt idx="10">
                  <c:v>0.21843767245079404</c:v>
                </c:pt>
                <c:pt idx="11">
                  <c:v>0.21843767245079404</c:v>
                </c:pt>
                <c:pt idx="12">
                  <c:v>0.21843767245079404</c:v>
                </c:pt>
              </c:numCache>
            </c:numRef>
          </c:val>
          <c:smooth val="0"/>
          <c:extLst>
            <c:ext xmlns:c16="http://schemas.microsoft.com/office/drawing/2014/chart" uri="{C3380CC4-5D6E-409C-BE32-E72D297353CC}">
              <c16:uniqueId val="{0000000E-0AF3-4338-BAAF-F5FF9B02E99B}"/>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bảo dưỡng tàu bay'!$AB$3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bay'!$AB$4:$AB$5</c:f>
              <c:numCache>
                <c:formatCode>0.00</c:formatCode>
                <c:ptCount val="2"/>
                <c:pt idx="0" formatCode="General">
                  <c:v>2</c:v>
                </c:pt>
                <c:pt idx="1">
                  <c:v>0.45754026354319183</c:v>
                </c:pt>
              </c:numCache>
            </c:numRef>
          </c:val>
          <c:extLst>
            <c:ext xmlns:c16="http://schemas.microsoft.com/office/drawing/2014/chart" uri="{C3380CC4-5D6E-409C-BE32-E72D297353CC}">
              <c16:uniqueId val="{00000000-D0C3-4387-A791-6EFD71835E61}"/>
            </c:ext>
          </c:extLst>
        </c:ser>
        <c:ser>
          <c:idx val="1"/>
          <c:order val="1"/>
          <c:tx>
            <c:strRef>
              <c:f>'Sự cố vụ việc bảo dưỡng tàu bay'!$AC$3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bảo dưỡng tàu bay'!$AA$4:$AA$5</c:f>
              <c:strCache>
                <c:ptCount val="2"/>
                <c:pt idx="0">
                  <c:v>Số vụ</c:v>
                </c:pt>
                <c:pt idx="1">
                  <c:v>Tỷ lệ/10000CB</c:v>
                </c:pt>
              </c:strCache>
            </c:strRef>
          </c:cat>
          <c:val>
            <c:numRef>
              <c:f>'Sự cố vụ việc bảo dưỡng tàu bay'!$AC$4:$AC$5</c:f>
              <c:numCache>
                <c:formatCode>0.00</c:formatCode>
                <c:ptCount val="2"/>
                <c:pt idx="0" formatCode="0">
                  <c:v>0</c:v>
                </c:pt>
                <c:pt idx="1">
                  <c:v>0</c:v>
                </c:pt>
              </c:numCache>
            </c:numRef>
          </c:val>
          <c:extLst>
            <c:ext xmlns:c16="http://schemas.microsoft.com/office/drawing/2014/chart" uri="{C3380CC4-5D6E-409C-BE32-E72D297353CC}">
              <c16:uniqueId val="{00000001-D0C3-4387-A791-6EFD71835E61}"/>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241082521527476E-3"/>
          <c:y val="2.5636498827477074E-2"/>
          <c:w val="0.98813158628624009"/>
          <c:h val="0.88813852591402775"/>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người'!$D$3:$D$26</c:f>
              <c:numCache>
                <c:formatCode>General</c:formatCode>
                <c:ptCount val="13"/>
                <c:pt idx="0">
                  <c:v>0</c:v>
                </c:pt>
                <c:pt idx="1">
                  <c:v>1</c:v>
                </c:pt>
                <c:pt idx="2">
                  <c:v>1</c:v>
                </c:pt>
                <c:pt idx="3">
                  <c:v>1</c:v>
                </c:pt>
                <c:pt idx="4">
                  <c:v>1</c:v>
                </c:pt>
                <c:pt idx="5">
                  <c:v>0</c:v>
                </c:pt>
                <c:pt idx="6">
                  <c:v>3</c:v>
                </c:pt>
                <c:pt idx="7">
                  <c:v>1</c:v>
                </c:pt>
                <c:pt idx="8">
                  <c:v>1</c:v>
                </c:pt>
                <c:pt idx="9">
                  <c:v>2</c:v>
                </c:pt>
                <c:pt idx="10">
                  <c:v>0</c:v>
                </c:pt>
                <c:pt idx="11">
                  <c:v>0</c:v>
                </c:pt>
                <c:pt idx="12">
                  <c:v>1</c:v>
                </c:pt>
              </c:numCache>
            </c:numRef>
          </c:val>
          <c:extLst>
            <c:ext xmlns:c16="http://schemas.microsoft.com/office/drawing/2014/chart" uri="{C3380CC4-5D6E-409C-BE32-E72D297353CC}">
              <c16:uniqueId val="{00000000-ECE7-41D4-A961-88F9B4CAD8DF}"/>
            </c:ext>
          </c:extLst>
        </c:ser>
        <c:dLbls>
          <c:showLegendKey val="0"/>
          <c:showVal val="0"/>
          <c:showCatName val="0"/>
          <c:showSerName val="0"/>
          <c:showPercent val="0"/>
          <c:showBubbleSize val="0"/>
        </c:dLbls>
        <c:gapWidth val="150"/>
        <c:axId val="454651656"/>
        <c:axId val="454651264"/>
      </c:barChart>
      <c:lineChart>
        <c:grouping val="standard"/>
        <c:varyColors val="0"/>
        <c:ser>
          <c:idx val="1"/>
          <c:order val="1"/>
          <c:spPr>
            <a:ln w="28575">
              <a:solidFill>
                <a:srgbClr val="7030A0"/>
              </a:solidFill>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1-ECE7-41D4-A961-88F9B4CAD8DF}"/>
                </c:ext>
              </c:extLst>
            </c:dLbl>
            <c:dLbl>
              <c:idx val="2"/>
              <c:layout>
                <c:manualLayout>
                  <c:x val="-2.6569530508724917E-2"/>
                  <c:y val="-0.1662177416418275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CE7-41D4-A961-88F9B4CAD8DF}"/>
                </c:ext>
              </c:extLst>
            </c:dLbl>
            <c:dLbl>
              <c:idx val="3"/>
              <c:layout>
                <c:manualLayout>
                  <c:x val="-3.7197342712214948E-2"/>
                  <c:y val="-0.1450771703678272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CE7-41D4-A961-88F9B4CAD8DF}"/>
                </c:ext>
              </c:extLst>
            </c:dLbl>
            <c:dLbl>
              <c:idx val="4"/>
              <c:layout>
                <c:manualLayout>
                  <c:x val="-3.1883436610469967E-2"/>
                  <c:y val="-0.1556474560048274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CE7-41D4-A961-88F9B4CAD8DF}"/>
                </c:ext>
              </c:extLst>
            </c:dLbl>
            <c:dLbl>
              <c:idx val="5"/>
              <c:delete val="1"/>
              <c:extLst>
                <c:ext xmlns:c15="http://schemas.microsoft.com/office/drawing/2012/chart" uri="{CE6537A1-D6FC-4f65-9D91-7224C49458BB}"/>
                <c:ext xmlns:c16="http://schemas.microsoft.com/office/drawing/2014/chart" uri="{C3380CC4-5D6E-409C-BE32-E72D297353CC}">
                  <c16:uniqueId val="{0000001E-ECE7-41D4-A961-88F9B4CAD8DF}"/>
                </c:ext>
              </c:extLst>
            </c:dLbl>
            <c:dLbl>
              <c:idx val="6"/>
              <c:layout>
                <c:manualLayout>
                  <c:x val="-1.7713020339149945E-3"/>
                  <c:y val="-3.67317425885755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CE7-41D4-A961-88F9B4CAD8DF}"/>
                </c:ext>
              </c:extLst>
            </c:dLbl>
            <c:dLbl>
              <c:idx val="7"/>
              <c:layout>
                <c:manualLayout>
                  <c:x val="-1.9484322373064938E-2"/>
                  <c:y val="-4.465945681632577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E7-41D4-A961-88F9B4CAD8DF}"/>
                </c:ext>
              </c:extLst>
            </c:dLbl>
            <c:dLbl>
              <c:idx val="8"/>
              <c:layout>
                <c:manualLayout>
                  <c:x val="-4.0739946780045007E-2"/>
                  <c:y val="-8.69405993643263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CE7-41D4-A961-88F9B4CAD8DF}"/>
                </c:ext>
              </c:extLst>
            </c:dLbl>
            <c:dLbl>
              <c:idx val="9"/>
              <c:layout>
                <c:manualLayout>
                  <c:x val="-1.7961795248648719E-2"/>
                  <c:y val="-0.1998150514709187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ECE7-41D4-A961-88F9B4CAD8DF}"/>
                </c:ext>
              </c:extLst>
            </c:dLbl>
            <c:dLbl>
              <c:idx val="10"/>
              <c:delete val="1"/>
              <c:extLst>
                <c:ext xmlns:c15="http://schemas.microsoft.com/office/drawing/2012/chart" uri="{CE6537A1-D6FC-4f65-9D91-7224C49458BB}"/>
                <c:ext xmlns:c16="http://schemas.microsoft.com/office/drawing/2014/chart" uri="{C3380CC4-5D6E-409C-BE32-E72D297353CC}">
                  <c16:uniqueId val="{0000001C-ECE7-41D4-A961-88F9B4CAD8DF}"/>
                </c:ext>
              </c:extLst>
            </c:dLbl>
            <c:dLbl>
              <c:idx val="11"/>
              <c:delete val="1"/>
              <c:extLst>
                <c:ext xmlns:c15="http://schemas.microsoft.com/office/drawing/2012/chart" uri="{CE6537A1-D6FC-4f65-9D91-7224C49458BB}"/>
                <c:ext xmlns:c16="http://schemas.microsoft.com/office/drawing/2014/chart" uri="{C3380CC4-5D6E-409C-BE32-E72D297353CC}">
                  <c16:uniqueId val="{0000001D-ECE7-41D4-A961-88F9B4CAD8DF}"/>
                </c:ext>
              </c:extLst>
            </c:dLbl>
            <c:dLbl>
              <c:idx val="12"/>
              <c:layout>
                <c:manualLayout>
                  <c:x val="-5.0619604791646393E-2"/>
                  <c:y val="-5.52364427999385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ECE7-41D4-A961-88F9B4CAD8DF}"/>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người'!$E$3:$E$26</c:f>
              <c:numCache>
                <c:formatCode>0.00</c:formatCode>
                <c:ptCount val="13"/>
                <c:pt idx="0">
                  <c:v>0</c:v>
                </c:pt>
                <c:pt idx="1">
                  <c:v>0.98473658296405708</c:v>
                </c:pt>
                <c:pt idx="2">
                  <c:v>0.86266390614216704</c:v>
                </c:pt>
                <c:pt idx="3">
                  <c:v>0.77089115016959608</c:v>
                </c:pt>
                <c:pt idx="4">
                  <c:v>0.8515711487694797</c:v>
                </c:pt>
                <c:pt idx="5">
                  <c:v>0</c:v>
                </c:pt>
                <c:pt idx="6">
                  <c:v>3.1446540880503147</c:v>
                </c:pt>
                <c:pt idx="7">
                  <c:v>1.0088781275221954</c:v>
                </c:pt>
                <c:pt idx="8">
                  <c:v>0.8693384334521429</c:v>
                </c:pt>
                <c:pt idx="9">
                  <c:v>1.6669444907484581</c:v>
                </c:pt>
                <c:pt idx="10">
                  <c:v>0</c:v>
                </c:pt>
                <c:pt idx="11">
                  <c:v>0</c:v>
                </c:pt>
                <c:pt idx="12">
                  <c:v>0.88739018546454873</c:v>
                </c:pt>
              </c:numCache>
            </c:numRef>
          </c:val>
          <c:smooth val="0"/>
          <c:extLst>
            <c:ext xmlns:c16="http://schemas.microsoft.com/office/drawing/2014/chart" uri="{C3380CC4-5D6E-409C-BE32-E72D297353CC}">
              <c16:uniqueId val="{00000008-ECE7-41D4-A961-88F9B4CAD8DF}"/>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ECE7-41D4-A961-88F9B4CAD8DF}"/>
                </c:ext>
              </c:extLst>
            </c:dLbl>
            <c:dLbl>
              <c:idx val="10"/>
              <c:delete val="1"/>
              <c:extLst>
                <c:ext xmlns:c15="http://schemas.microsoft.com/office/drawing/2012/chart" uri="{CE6537A1-D6FC-4f65-9D91-7224C49458BB}"/>
                <c:ext xmlns:c16="http://schemas.microsoft.com/office/drawing/2014/chart" uri="{C3380CC4-5D6E-409C-BE32-E72D297353CC}">
                  <c16:uniqueId val="{00000009-ECE7-41D4-A961-88F9B4CAD8DF}"/>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ECE7-41D4-A961-88F9B4CAD8DF}"/>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người'!$F$3:$F$26</c:f>
              <c:numCache>
                <c:formatCode>0.00</c:formatCode>
                <c:ptCount val="13"/>
                <c:pt idx="0">
                  <c:v>3.8615171673610371</c:v>
                </c:pt>
                <c:pt idx="1">
                  <c:v>3.8615171673610371</c:v>
                </c:pt>
                <c:pt idx="2">
                  <c:v>3.8615171673610371</c:v>
                </c:pt>
                <c:pt idx="3">
                  <c:v>3.8615171673610371</c:v>
                </c:pt>
                <c:pt idx="4">
                  <c:v>3.8615171673610371</c:v>
                </c:pt>
                <c:pt idx="5">
                  <c:v>3.8615171673610371</c:v>
                </c:pt>
                <c:pt idx="6">
                  <c:v>3.8615171673610371</c:v>
                </c:pt>
                <c:pt idx="7">
                  <c:v>3.8615171673610371</c:v>
                </c:pt>
                <c:pt idx="8">
                  <c:v>3.8615171673610371</c:v>
                </c:pt>
                <c:pt idx="9">
                  <c:v>1.5805742345107321</c:v>
                </c:pt>
                <c:pt idx="10">
                  <c:v>1.5805742345107321</c:v>
                </c:pt>
                <c:pt idx="11">
                  <c:v>1.5805742345107321</c:v>
                </c:pt>
                <c:pt idx="12">
                  <c:v>1.5805742345107321</c:v>
                </c:pt>
              </c:numCache>
            </c:numRef>
          </c:val>
          <c:smooth val="0"/>
          <c:extLst>
            <c:ext xmlns:c16="http://schemas.microsoft.com/office/drawing/2014/chart" uri="{C3380CC4-5D6E-409C-BE32-E72D297353CC}">
              <c16:uniqueId val="{0000000A-ECE7-41D4-A961-88F9B4CAD8DF}"/>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ECE7-41D4-A961-88F9B4CAD8DF}"/>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ECE7-41D4-A961-88F9B4CAD8DF}"/>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người'!$G$3:$G$26</c:f>
              <c:numCache>
                <c:formatCode>0.00</c:formatCode>
                <c:ptCount val="13"/>
                <c:pt idx="0">
                  <c:v>4.7983825991721627</c:v>
                </c:pt>
                <c:pt idx="1">
                  <c:v>4.7983825991721627</c:v>
                </c:pt>
                <c:pt idx="2">
                  <c:v>4.7983825991721627</c:v>
                </c:pt>
                <c:pt idx="3">
                  <c:v>4.7983825991721627</c:v>
                </c:pt>
                <c:pt idx="4">
                  <c:v>4.7983825991721627</c:v>
                </c:pt>
                <c:pt idx="5">
                  <c:v>4.7983825991721627</c:v>
                </c:pt>
                <c:pt idx="6">
                  <c:v>4.7983825991721627</c:v>
                </c:pt>
                <c:pt idx="7">
                  <c:v>4.7983825991721627</c:v>
                </c:pt>
                <c:pt idx="8">
                  <c:v>4.7983825991721627</c:v>
                </c:pt>
                <c:pt idx="9">
                  <c:v>2.0881213061052835</c:v>
                </c:pt>
                <c:pt idx="10">
                  <c:v>2.0881213061052835</c:v>
                </c:pt>
                <c:pt idx="11">
                  <c:v>2.0881213061052835</c:v>
                </c:pt>
                <c:pt idx="12">
                  <c:v>2.0881213061052835</c:v>
                </c:pt>
              </c:numCache>
            </c:numRef>
          </c:val>
          <c:smooth val="0"/>
          <c:extLst>
            <c:ext xmlns:c16="http://schemas.microsoft.com/office/drawing/2014/chart" uri="{C3380CC4-5D6E-409C-BE32-E72D297353CC}">
              <c16:uniqueId val="{0000000D-ECE7-41D4-A961-88F9B4CAD8DF}"/>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ECE7-41D4-A961-88F9B4CAD8DF}"/>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ECE7-41D4-A961-88F9B4CAD8DF}"/>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người'!$H$3:$H$26</c:f>
              <c:numCache>
                <c:formatCode>0.00</c:formatCode>
                <c:ptCount val="13"/>
                <c:pt idx="0">
                  <c:v>5.7352480309832883</c:v>
                </c:pt>
                <c:pt idx="1">
                  <c:v>5.7352480309832883</c:v>
                </c:pt>
                <c:pt idx="2">
                  <c:v>5.7352480309832883</c:v>
                </c:pt>
                <c:pt idx="3">
                  <c:v>5.7352480309832883</c:v>
                </c:pt>
                <c:pt idx="4">
                  <c:v>5.7352480309832883</c:v>
                </c:pt>
                <c:pt idx="5">
                  <c:v>5.7352480309832883</c:v>
                </c:pt>
                <c:pt idx="6">
                  <c:v>5.7352480309832883</c:v>
                </c:pt>
                <c:pt idx="7">
                  <c:v>5.7352480309832883</c:v>
                </c:pt>
                <c:pt idx="8">
                  <c:v>5.7352480309832883</c:v>
                </c:pt>
                <c:pt idx="9">
                  <c:v>2.5956683776998344</c:v>
                </c:pt>
                <c:pt idx="10">
                  <c:v>2.5956683776998344</c:v>
                </c:pt>
                <c:pt idx="11">
                  <c:v>2.5956683776998344</c:v>
                </c:pt>
                <c:pt idx="12">
                  <c:v>2.5956683776998344</c:v>
                </c:pt>
              </c:numCache>
            </c:numRef>
          </c:val>
          <c:smooth val="0"/>
          <c:extLst>
            <c:ext xmlns:c16="http://schemas.microsoft.com/office/drawing/2014/chart" uri="{C3380CC4-5D6E-409C-BE32-E72D297353CC}">
              <c16:uniqueId val="{0000000F-ECE7-41D4-A961-88F9B4CAD8DF}"/>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ECE7-41D4-A961-88F9B4CAD8DF}"/>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ECE7-41D4-A961-88F9B4CAD8DF}"/>
                </c:ext>
              </c:extLst>
            </c:dLbl>
            <c:spPr>
              <a:solidFill>
                <a:srgbClr val="00B050"/>
              </a:solidFill>
              <a:ln>
                <a:noFill/>
              </a:ln>
              <a:effectLst/>
            </c:spPr>
            <c:txPr>
              <a:bodyPr wrap="square" lIns="38100" tIns="19050" rIns="38100" bIns="19050" anchor="ctr">
                <a:spAutoFit/>
              </a:bodyPr>
              <a:lstStyle/>
              <a:p>
                <a:pPr>
                  <a:defRPr sz="1200" b="1">
                    <a:solidFill>
                      <a:sysClr val="windowText" lastClr="000000"/>
                    </a:solidFill>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'Sự cố vụ việc sai lỗi con người'!$B$3:$B$26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'Sự cố vụ việc sai lỗi con người'!$I$3:$I$26</c:f>
              <c:numCache>
                <c:formatCode>0.00</c:formatCode>
                <c:ptCount val="13"/>
                <c:pt idx="0">
                  <c:v>2.9246517355499115</c:v>
                </c:pt>
                <c:pt idx="1">
                  <c:v>2.9246517355499115</c:v>
                </c:pt>
                <c:pt idx="2">
                  <c:v>2.9246517355499115</c:v>
                </c:pt>
                <c:pt idx="3">
                  <c:v>2.9246517355499115</c:v>
                </c:pt>
                <c:pt idx="4">
                  <c:v>2.9246517355499115</c:v>
                </c:pt>
                <c:pt idx="5">
                  <c:v>2.9246517355499115</c:v>
                </c:pt>
                <c:pt idx="6">
                  <c:v>2.9246517355499115</c:v>
                </c:pt>
                <c:pt idx="7">
                  <c:v>2.9246517355499115</c:v>
                </c:pt>
                <c:pt idx="8">
                  <c:v>2.9246517355499115</c:v>
                </c:pt>
                <c:pt idx="9">
                  <c:v>1.019375804770372</c:v>
                </c:pt>
                <c:pt idx="10">
                  <c:v>1.019375804770372</c:v>
                </c:pt>
                <c:pt idx="11">
                  <c:v>1.019375804770372</c:v>
                </c:pt>
                <c:pt idx="12">
                  <c:v>1.019375804770372</c:v>
                </c:pt>
              </c:numCache>
            </c:numRef>
          </c:val>
          <c:smooth val="0"/>
          <c:extLst>
            <c:ext xmlns:c16="http://schemas.microsoft.com/office/drawing/2014/chart" uri="{C3380CC4-5D6E-409C-BE32-E72D297353CC}">
              <c16:uniqueId val="{00000011-ECE7-41D4-A961-88F9B4CAD8DF}"/>
            </c:ext>
          </c:extLst>
        </c:ser>
        <c:dLbls>
          <c:showLegendKey val="0"/>
          <c:showVal val="1"/>
          <c:showCatName val="0"/>
          <c:showSerName val="0"/>
          <c:showPercent val="0"/>
          <c:showBubbleSize val="0"/>
        </c:dLbls>
        <c:marker val="1"/>
        <c:smooth val="0"/>
        <c:axId val="454651656"/>
        <c:axId val="454651264"/>
      </c:lineChart>
      <c:catAx>
        <c:axId val="454651656"/>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4651264"/>
        <c:crosses val="autoZero"/>
        <c:auto val="1"/>
        <c:lblAlgn val="ctr"/>
        <c:lblOffset val="100"/>
        <c:noMultiLvlLbl val="0"/>
      </c:catAx>
      <c:valAx>
        <c:axId val="454651264"/>
        <c:scaling>
          <c:orientation val="minMax"/>
        </c:scaling>
        <c:delete val="1"/>
        <c:axPos val="l"/>
        <c:numFmt formatCode="General" sourceLinked="1"/>
        <c:majorTickMark val="out"/>
        <c:minorTickMark val="none"/>
        <c:tickLblPos val="nextTo"/>
        <c:crossAx val="454651656"/>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Báo cáo vụ việc MOR </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'Sự cố vụ việc sai lỗi con người'!$AB$3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người'!$AB$4:$AB$5</c:f>
              <c:numCache>
                <c:formatCode>0.00</c:formatCode>
                <c:ptCount val="2"/>
                <c:pt idx="0" formatCode="General">
                  <c:v>5</c:v>
                </c:pt>
                <c:pt idx="1">
                  <c:v>1.1438506588579795</c:v>
                </c:pt>
              </c:numCache>
            </c:numRef>
          </c:val>
          <c:extLst>
            <c:ext xmlns:c16="http://schemas.microsoft.com/office/drawing/2014/chart" uri="{C3380CC4-5D6E-409C-BE32-E72D297353CC}">
              <c16:uniqueId val="{00000000-CA00-4F83-9167-A290E6C72F25}"/>
            </c:ext>
          </c:extLst>
        </c:ser>
        <c:ser>
          <c:idx val="1"/>
          <c:order val="1"/>
          <c:tx>
            <c:strRef>
              <c:f>'Sự cố vụ việc sai lỗi con người'!$AC$3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'Sự cố vụ việc sai lỗi con người'!$AA$4:$AA$5</c:f>
              <c:strCache>
                <c:ptCount val="2"/>
                <c:pt idx="0">
                  <c:v>Số vụ</c:v>
                </c:pt>
                <c:pt idx="1">
                  <c:v>Tỷ lệ/10000CB</c:v>
                </c:pt>
              </c:strCache>
            </c:strRef>
          </c:cat>
          <c:val>
            <c:numRef>
              <c:f>'Sự cố vụ việc sai lỗi con người'!$AC$4:$AC$5</c:f>
              <c:numCache>
                <c:formatCode>0.00</c:formatCode>
                <c:ptCount val="2"/>
                <c:pt idx="0" formatCode="0">
                  <c:v>3</c:v>
                </c:pt>
                <c:pt idx="1">
                  <c:v>0.65965961563833064</c:v>
                </c:pt>
              </c:numCache>
            </c:numRef>
          </c:val>
          <c:extLst>
            <c:ext xmlns:c16="http://schemas.microsoft.com/office/drawing/2014/chart" uri="{C3380CC4-5D6E-409C-BE32-E72D297353CC}">
              <c16:uniqueId val="{00000001-CA00-4F83-9167-A290E6C72F25}"/>
            </c:ext>
          </c:extLst>
        </c:ser>
        <c:dLbls>
          <c:showLegendKey val="0"/>
          <c:showVal val="0"/>
          <c:showCatName val="0"/>
          <c:showSerName val="0"/>
          <c:showPercent val="0"/>
          <c:showBubbleSize val="0"/>
        </c:dLbls>
        <c:gapWidth val="219"/>
        <c:overlap val="-27"/>
        <c:axId val="328426288"/>
        <c:axId val="328425896"/>
      </c:barChart>
      <c:catAx>
        <c:axId val="328426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5896"/>
        <c:crosses val="autoZero"/>
        <c:auto val="1"/>
        <c:lblAlgn val="ctr"/>
        <c:lblOffset val="100"/>
        <c:noMultiLvlLbl val="0"/>
      </c:catAx>
      <c:valAx>
        <c:axId val="328425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28426288"/>
        <c:crosses val="autoZero"/>
        <c:crossBetween val="between"/>
      </c:valAx>
      <c:spPr>
        <a:noFill/>
        <a:ln>
          <a:noFill/>
        </a:ln>
        <a:effectLst/>
      </c:spPr>
    </c:plotArea>
    <c:legend>
      <c:legendPos val="b"/>
      <c:layout>
        <c:manualLayout>
          <c:xMode val="edge"/>
          <c:yMode val="edge"/>
          <c:x val="0"/>
          <c:y val="0.93415568828748119"/>
          <c:w val="1"/>
          <c:h val="4.86407369812738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2458536788164299E-2"/>
          <c:y val="1.3326364836255083E-2"/>
          <c:w val="0.97292296210235363"/>
          <c:h val="0.8975960400833688"/>
        </c:manualLayout>
      </c:layout>
      <c:barChart>
        <c:barDir val="col"/>
        <c:grouping val="clustered"/>
        <c:varyColors val="0"/>
        <c:ser>
          <c:idx val="0"/>
          <c:order val="0"/>
          <c:invertIfNegative val="0"/>
          <c:dLbls>
            <c:dLbl>
              <c:idx val="0"/>
              <c:layout>
                <c:manualLayout>
                  <c:x val="-7.2452296894168979E-18"/>
                  <c:y val="0.3004381885450899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1026-44FF-B32F-C9CAE43B024C}"/>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1'!$D$3:$D$26</c:f>
              <c:numCache>
                <c:formatCode>0</c:formatCode>
                <c:ptCount val="13"/>
                <c:pt idx="0">
                  <c:v>53</c:v>
                </c:pt>
                <c:pt idx="1">
                  <c:v>43</c:v>
                </c:pt>
                <c:pt idx="2">
                  <c:v>36</c:v>
                </c:pt>
                <c:pt idx="3">
                  <c:v>47</c:v>
                </c:pt>
                <c:pt idx="4">
                  <c:v>26</c:v>
                </c:pt>
                <c:pt idx="5">
                  <c:v>37</c:v>
                </c:pt>
                <c:pt idx="6">
                  <c:v>15</c:v>
                </c:pt>
                <c:pt idx="7">
                  <c:v>12</c:v>
                </c:pt>
                <c:pt idx="8">
                  <c:v>20</c:v>
                </c:pt>
                <c:pt idx="9">
                  <c:v>18</c:v>
                </c:pt>
                <c:pt idx="10">
                  <c:v>13</c:v>
                </c:pt>
                <c:pt idx="11">
                  <c:v>10</c:v>
                </c:pt>
                <c:pt idx="12">
                  <c:v>7</c:v>
                </c:pt>
              </c:numCache>
            </c:numRef>
          </c:val>
          <c:extLst>
            <c:ext xmlns:c16="http://schemas.microsoft.com/office/drawing/2014/chart" uri="{C3380CC4-5D6E-409C-BE32-E72D297353CC}">
              <c16:uniqueId val="{00000000-1026-44FF-B32F-C9CAE43B024C}"/>
            </c:ext>
          </c:extLst>
        </c:ser>
        <c:dLbls>
          <c:showLegendKey val="0"/>
          <c:showVal val="0"/>
          <c:showCatName val="0"/>
          <c:showSerName val="0"/>
          <c:showPercent val="0"/>
          <c:showBubbleSize val="0"/>
        </c:dLbls>
        <c:gapWidth val="150"/>
        <c:axId val="459164208"/>
        <c:axId val="459164600"/>
      </c:barChart>
      <c:lineChart>
        <c:grouping val="standard"/>
        <c:varyColors val="0"/>
        <c:ser>
          <c:idx val="1"/>
          <c:order val="1"/>
          <c:spPr>
            <a:ln w="28575">
              <a:solidFill>
                <a:srgbClr val="7030A0"/>
              </a:solidFill>
            </a:ln>
          </c:spPr>
          <c:marker>
            <c:symbol val="none"/>
          </c:marker>
          <c:dLbls>
            <c:dLbl>
              <c:idx val="1"/>
              <c:layout>
                <c:manualLayout>
                  <c:x val="-2.7978169684294629E-2"/>
                  <c:y val="-5.92039177228810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026-44FF-B32F-C9CAE43B024C}"/>
                </c:ext>
              </c:extLst>
            </c:dLbl>
            <c:dLbl>
              <c:idx val="2"/>
              <c:layout>
                <c:manualLayout>
                  <c:x val="-3.7304226245726241E-2"/>
                  <c:y val="-0.121381548208098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026-44FF-B32F-C9CAE43B024C}"/>
                </c:ext>
              </c:extLst>
            </c:dLbl>
            <c:dLbl>
              <c:idx val="3"/>
              <c:layout>
                <c:manualLayout>
                  <c:x val="-3.7304226245726171E-2"/>
                  <c:y val="-0.20248280536273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026-44FF-B32F-C9CAE43B024C}"/>
                </c:ext>
              </c:extLst>
            </c:dLbl>
            <c:dLbl>
              <c:idx val="4"/>
              <c:layout>
                <c:manualLayout>
                  <c:x val="-4.289986018258516E-2"/>
                  <c:y val="-0.134898424400537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026-44FF-B32F-C9CAE43B024C}"/>
                </c:ext>
              </c:extLst>
            </c:dLbl>
            <c:dLbl>
              <c:idx val="6"/>
              <c:layout>
                <c:manualLayout>
                  <c:x val="-4.2899860182585098E-2"/>
                  <c:y val="-0.243033433940046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5-1026-44FF-B32F-C9CAE43B024C}"/>
                </c:ext>
              </c:extLst>
            </c:dLbl>
            <c:dLbl>
              <c:idx val="7"/>
              <c:layout>
                <c:manualLayout>
                  <c:x val="-4.228434044953075E-2"/>
                  <c:y val="-8.08309196307828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026-44FF-B32F-C9CAE43B024C}"/>
                </c:ext>
              </c:extLst>
            </c:dLbl>
            <c:dLbl>
              <c:idx val="8"/>
              <c:layout>
                <c:manualLayout>
                  <c:x val="-7.2743241179166029E-2"/>
                  <c:y val="-7.8127544392295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026-44FF-B32F-C9CAE43B024C}"/>
                </c:ext>
              </c:extLst>
            </c:dLbl>
            <c:dLbl>
              <c:idx val="9"/>
              <c:layout>
                <c:manualLayout>
                  <c:x val="-1.6726686327268113E-3"/>
                  <c:y val="-6.4610668199856489E-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026-44FF-B32F-C9CAE43B024C}"/>
                </c:ext>
              </c:extLst>
            </c:dLbl>
            <c:dLbl>
              <c:idx val="11"/>
              <c:layout>
                <c:manualLayout>
                  <c:x val="-3.5439014933439927E-2"/>
                  <c:y val="-0.11867814770728286"/>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9-1026-44FF-B32F-C9CAE43B024C}"/>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1'!$E$3:$E$26</c:f>
              <c:numCache>
                <c:formatCode>0.00</c:formatCode>
                <c:ptCount val="13"/>
                <c:pt idx="0">
                  <c:v>51.53135634419057</c:v>
                </c:pt>
                <c:pt idx="1">
                  <c:v>42.343673067454453</c:v>
                </c:pt>
                <c:pt idx="2">
                  <c:v>31.055900621118013</c:v>
                </c:pt>
                <c:pt idx="3">
                  <c:v>36.231884057971016</c:v>
                </c:pt>
                <c:pt idx="4">
                  <c:v>22.140849868006473</c:v>
                </c:pt>
                <c:pt idx="5">
                  <c:v>39.601840950444185</c:v>
                </c:pt>
                <c:pt idx="6">
                  <c:v>15.723270440251572</c:v>
                </c:pt>
                <c:pt idx="7">
                  <c:v>12.106537530266344</c:v>
                </c:pt>
                <c:pt idx="8">
                  <c:v>17.386768669042858</c:v>
                </c:pt>
                <c:pt idx="9">
                  <c:v>15.002500416736122</c:v>
                </c:pt>
                <c:pt idx="10">
                  <c:v>11.835396941005099</c:v>
                </c:pt>
                <c:pt idx="11">
                  <c:v>8.9070989578694224</c:v>
                </c:pt>
                <c:pt idx="12">
                  <c:v>6.2117312982518413</c:v>
                </c:pt>
              </c:numCache>
            </c:numRef>
          </c:val>
          <c:smooth val="0"/>
          <c:extLst>
            <c:ext xmlns:c16="http://schemas.microsoft.com/office/drawing/2014/chart" uri="{C3380CC4-5D6E-409C-BE32-E72D297353CC}">
              <c16:uniqueId val="{0000000A-1026-44FF-B32F-C9CAE43B024C}"/>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1026-44FF-B32F-C9CAE43B024C}"/>
                </c:ext>
              </c:extLst>
            </c:dLbl>
            <c:dLbl>
              <c:idx val="10"/>
              <c:delete val="1"/>
              <c:extLst>
                <c:ext xmlns:c15="http://schemas.microsoft.com/office/drawing/2012/chart" uri="{CE6537A1-D6FC-4f65-9D91-7224C49458BB}"/>
                <c:ext xmlns:c16="http://schemas.microsoft.com/office/drawing/2014/chart" uri="{C3380CC4-5D6E-409C-BE32-E72D297353CC}">
                  <c16:uniqueId val="{0000000B-1026-44FF-B32F-C9CAE43B02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1026-44FF-B32F-C9CAE43B024C}"/>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1'!$F$3:$F$26</c:f>
              <c:numCache>
                <c:formatCode>0.00</c:formatCode>
                <c:ptCount val="13"/>
                <c:pt idx="0">
                  <c:v>20.5</c:v>
                </c:pt>
                <c:pt idx="1">
                  <c:v>20.5</c:v>
                </c:pt>
                <c:pt idx="2">
                  <c:v>20.5</c:v>
                </c:pt>
                <c:pt idx="3">
                  <c:v>20.5</c:v>
                </c:pt>
                <c:pt idx="4">
                  <c:v>20.5</c:v>
                </c:pt>
                <c:pt idx="5">
                  <c:v>20.5</c:v>
                </c:pt>
                <c:pt idx="6">
                  <c:v>20.5</c:v>
                </c:pt>
                <c:pt idx="7">
                  <c:v>20.5</c:v>
                </c:pt>
                <c:pt idx="8">
                  <c:v>20.5</c:v>
                </c:pt>
                <c:pt idx="9">
                  <c:v>35.659999999999997</c:v>
                </c:pt>
                <c:pt idx="10">
                  <c:v>35.659999999999997</c:v>
                </c:pt>
                <c:pt idx="11">
                  <c:v>35.659999999999997</c:v>
                </c:pt>
                <c:pt idx="12">
                  <c:v>35.659999999999997</c:v>
                </c:pt>
              </c:numCache>
            </c:numRef>
          </c:val>
          <c:smooth val="0"/>
          <c:extLst>
            <c:ext xmlns:c16="http://schemas.microsoft.com/office/drawing/2014/chart" uri="{C3380CC4-5D6E-409C-BE32-E72D297353CC}">
              <c16:uniqueId val="{0000000C-1026-44FF-B32F-C9CAE43B024C}"/>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1026-44FF-B32F-C9CAE43B024C}"/>
                </c:ext>
              </c:extLst>
            </c:dLbl>
            <c:dLbl>
              <c:idx val="10"/>
              <c:delete val="1"/>
              <c:extLst>
                <c:ext xmlns:c15="http://schemas.microsoft.com/office/drawing/2012/chart" uri="{CE6537A1-D6FC-4f65-9D91-7224C49458BB}"/>
                <c:ext xmlns:c16="http://schemas.microsoft.com/office/drawing/2014/chart" uri="{C3380CC4-5D6E-409C-BE32-E72D297353CC}">
                  <c16:uniqueId val="{0000000D-1026-44FF-B32F-C9CAE43B02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1026-44FF-B32F-C9CAE43B024C}"/>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1'!$G$3:$G$26</c:f>
              <c:numCache>
                <c:formatCode>0.00</c:formatCode>
                <c:ptCount val="13"/>
                <c:pt idx="0">
                  <c:v>24.9</c:v>
                </c:pt>
                <c:pt idx="1">
                  <c:v>24.9</c:v>
                </c:pt>
                <c:pt idx="2">
                  <c:v>24.9</c:v>
                </c:pt>
                <c:pt idx="3">
                  <c:v>24.9</c:v>
                </c:pt>
                <c:pt idx="4">
                  <c:v>24.9</c:v>
                </c:pt>
                <c:pt idx="5">
                  <c:v>24.9</c:v>
                </c:pt>
                <c:pt idx="6">
                  <c:v>24.9</c:v>
                </c:pt>
                <c:pt idx="7">
                  <c:v>24.9</c:v>
                </c:pt>
                <c:pt idx="8">
                  <c:v>24.9</c:v>
                </c:pt>
                <c:pt idx="9">
                  <c:v>46.17</c:v>
                </c:pt>
                <c:pt idx="10">
                  <c:v>46.17</c:v>
                </c:pt>
                <c:pt idx="11">
                  <c:v>46.17</c:v>
                </c:pt>
                <c:pt idx="12">
                  <c:v>46.17</c:v>
                </c:pt>
              </c:numCache>
            </c:numRef>
          </c:val>
          <c:smooth val="0"/>
          <c:extLst>
            <c:ext xmlns:c16="http://schemas.microsoft.com/office/drawing/2014/chart" uri="{C3380CC4-5D6E-409C-BE32-E72D297353CC}">
              <c16:uniqueId val="{0000000E-1026-44FF-B32F-C9CAE43B024C}"/>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1026-44FF-B32F-C9CAE43B024C}"/>
                </c:ext>
              </c:extLst>
            </c:dLbl>
            <c:dLbl>
              <c:idx val="10"/>
              <c:delete val="1"/>
              <c:extLst>
                <c:ext xmlns:c15="http://schemas.microsoft.com/office/drawing/2012/chart" uri="{CE6537A1-D6FC-4f65-9D91-7224C49458BB}"/>
                <c:ext xmlns:c16="http://schemas.microsoft.com/office/drawing/2014/chart" uri="{C3380CC4-5D6E-409C-BE32-E72D297353CC}">
                  <c16:uniqueId val="{0000000F-1026-44FF-B32F-C9CAE43B02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1026-44FF-B32F-C9CAE43B024C}"/>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1'!$H$3:$H$26</c:f>
              <c:numCache>
                <c:formatCode>0.00</c:formatCode>
                <c:ptCount val="13"/>
                <c:pt idx="0">
                  <c:v>28.84</c:v>
                </c:pt>
                <c:pt idx="1">
                  <c:v>28.84</c:v>
                </c:pt>
                <c:pt idx="2">
                  <c:v>28.84</c:v>
                </c:pt>
                <c:pt idx="3">
                  <c:v>28.84</c:v>
                </c:pt>
                <c:pt idx="4">
                  <c:v>28.84</c:v>
                </c:pt>
                <c:pt idx="5">
                  <c:v>28.84</c:v>
                </c:pt>
                <c:pt idx="6">
                  <c:v>28.84</c:v>
                </c:pt>
                <c:pt idx="7">
                  <c:v>28.84</c:v>
                </c:pt>
                <c:pt idx="8">
                  <c:v>28.84</c:v>
                </c:pt>
                <c:pt idx="9">
                  <c:v>52.74</c:v>
                </c:pt>
                <c:pt idx="10">
                  <c:v>52.74</c:v>
                </c:pt>
                <c:pt idx="11">
                  <c:v>52.74</c:v>
                </c:pt>
                <c:pt idx="12">
                  <c:v>52.74</c:v>
                </c:pt>
              </c:numCache>
            </c:numRef>
          </c:val>
          <c:smooth val="0"/>
          <c:extLst>
            <c:ext xmlns:c16="http://schemas.microsoft.com/office/drawing/2014/chart" uri="{C3380CC4-5D6E-409C-BE32-E72D297353CC}">
              <c16:uniqueId val="{00000010-1026-44FF-B32F-C9CAE43B024C}"/>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1026-44FF-B32F-C9CAE43B024C}"/>
                </c:ext>
              </c:extLst>
            </c:dLbl>
            <c:dLbl>
              <c:idx val="10"/>
              <c:delete val="1"/>
              <c:extLst>
                <c:ext xmlns:c15="http://schemas.microsoft.com/office/drawing/2012/chart" uri="{CE6537A1-D6FC-4f65-9D91-7224C49458BB}"/>
                <c:ext xmlns:c16="http://schemas.microsoft.com/office/drawing/2014/chart" uri="{C3380CC4-5D6E-409C-BE32-E72D297353CC}">
                  <c16:uniqueId val="{00000011-1026-44FF-B32F-C9CAE43B024C}"/>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1026-44FF-B32F-C9CAE43B024C}"/>
                </c:ext>
              </c:extLst>
            </c:dLbl>
            <c:spPr>
              <a:solidFill>
                <a:srgbClr val="339933"/>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1'!$B$3:$B$26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1'!$I$3:$I$26</c:f>
              <c:numCache>
                <c:formatCode>0.00</c:formatCode>
                <c:ptCount val="13"/>
                <c:pt idx="0">
                  <c:v>15.19</c:v>
                </c:pt>
                <c:pt idx="1">
                  <c:v>15.19</c:v>
                </c:pt>
                <c:pt idx="2">
                  <c:v>15.19</c:v>
                </c:pt>
                <c:pt idx="3">
                  <c:v>15.19</c:v>
                </c:pt>
                <c:pt idx="4">
                  <c:v>15.19</c:v>
                </c:pt>
                <c:pt idx="5">
                  <c:v>15.19</c:v>
                </c:pt>
                <c:pt idx="6">
                  <c:v>15.19</c:v>
                </c:pt>
                <c:pt idx="7">
                  <c:v>15.19</c:v>
                </c:pt>
                <c:pt idx="8">
                  <c:v>15.19</c:v>
                </c:pt>
                <c:pt idx="9">
                  <c:v>25.21</c:v>
                </c:pt>
                <c:pt idx="10">
                  <c:v>25.21</c:v>
                </c:pt>
                <c:pt idx="11">
                  <c:v>25.21</c:v>
                </c:pt>
                <c:pt idx="12">
                  <c:v>25.21</c:v>
                </c:pt>
              </c:numCache>
            </c:numRef>
          </c:val>
          <c:smooth val="0"/>
          <c:extLst>
            <c:ext xmlns:c16="http://schemas.microsoft.com/office/drawing/2014/chart" uri="{C3380CC4-5D6E-409C-BE32-E72D297353CC}">
              <c16:uniqueId val="{00000012-1026-44FF-B32F-C9CAE43B024C}"/>
            </c:ext>
          </c:extLst>
        </c:ser>
        <c:dLbls>
          <c:showLegendKey val="0"/>
          <c:showVal val="1"/>
          <c:showCatName val="0"/>
          <c:showSerName val="0"/>
          <c:showPercent val="0"/>
          <c:showBubbleSize val="0"/>
        </c:dLbls>
        <c:marker val="1"/>
        <c:smooth val="0"/>
        <c:axId val="459164208"/>
        <c:axId val="459164600"/>
      </c:lineChart>
      <c:catAx>
        <c:axId val="45916420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9164600"/>
        <c:crosses val="autoZero"/>
        <c:auto val="1"/>
        <c:lblAlgn val="ctr"/>
        <c:lblOffset val="100"/>
        <c:noMultiLvlLbl val="0"/>
      </c:catAx>
      <c:valAx>
        <c:axId val="459164600"/>
        <c:scaling>
          <c:orientation val="minMax"/>
        </c:scaling>
        <c:delete val="1"/>
        <c:axPos val="l"/>
        <c:numFmt formatCode="0" sourceLinked="1"/>
        <c:majorTickMark val="out"/>
        <c:minorTickMark val="none"/>
        <c:tickLblPos val="nextTo"/>
        <c:crossAx val="45916420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NHÂN NHƯỢNG</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'Concession rate loại 1'!$Y$3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1'!$X$4:$X$5</c:f>
              <c:strCache>
                <c:ptCount val="2"/>
                <c:pt idx="0">
                  <c:v>Số vụ</c:v>
                </c:pt>
                <c:pt idx="1">
                  <c:v>Tỷ lệ/10000CB</c:v>
                </c:pt>
              </c:strCache>
            </c:strRef>
          </c:cat>
          <c:val>
            <c:numRef>
              <c:f>'Concession rate loại 1'!$Y$4:$Y$5</c:f>
              <c:numCache>
                <c:formatCode>0.00</c:formatCode>
                <c:ptCount val="2"/>
                <c:pt idx="0" formatCode="0">
                  <c:v>187</c:v>
                </c:pt>
                <c:pt idx="1">
                  <c:v>42.780014641288432</c:v>
                </c:pt>
              </c:numCache>
            </c:numRef>
          </c:val>
          <c:extLst>
            <c:ext xmlns:c16="http://schemas.microsoft.com/office/drawing/2014/chart" uri="{C3380CC4-5D6E-409C-BE32-E72D297353CC}">
              <c16:uniqueId val="{00000000-4A71-45BD-B910-AE935A9974DE}"/>
            </c:ext>
          </c:extLst>
        </c:ser>
        <c:ser>
          <c:idx val="1"/>
          <c:order val="1"/>
          <c:tx>
            <c:strRef>
              <c:f>'Concession rate loại 1'!$Z$3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1'!$X$4:$X$5</c:f>
              <c:strCache>
                <c:ptCount val="2"/>
                <c:pt idx="0">
                  <c:v>Số vụ</c:v>
                </c:pt>
                <c:pt idx="1">
                  <c:v>Tỷ lệ/10000CB</c:v>
                </c:pt>
              </c:strCache>
            </c:strRef>
          </c:cat>
          <c:val>
            <c:numRef>
              <c:f>'Concession rate loại 1'!$Z$4:$Z$5</c:f>
              <c:numCache>
                <c:formatCode>0.00</c:formatCode>
                <c:ptCount val="2"/>
                <c:pt idx="0" formatCode="0">
                  <c:v>48</c:v>
                </c:pt>
                <c:pt idx="1">
                  <c:v>10.55455385021329</c:v>
                </c:pt>
              </c:numCache>
            </c:numRef>
          </c:val>
          <c:extLst>
            <c:ext xmlns:c16="http://schemas.microsoft.com/office/drawing/2014/chart" uri="{C3380CC4-5D6E-409C-BE32-E72D297353CC}">
              <c16:uniqueId val="{00000001-4A71-45BD-B910-AE935A9974DE}"/>
            </c:ext>
          </c:extLst>
        </c:ser>
        <c:dLbls>
          <c:showLegendKey val="0"/>
          <c:showVal val="0"/>
          <c:showCatName val="0"/>
          <c:showSerName val="0"/>
          <c:showPercent val="0"/>
          <c:showBubbleSize val="0"/>
        </c:dLbls>
        <c:gapWidth val="219"/>
        <c:overlap val="-27"/>
        <c:axId val="530330880"/>
        <c:axId val="530329704"/>
      </c:barChart>
      <c:catAx>
        <c:axId val="5303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29704"/>
        <c:crosses val="autoZero"/>
        <c:auto val="1"/>
        <c:lblAlgn val="ctr"/>
        <c:lblOffset val="100"/>
        <c:noMultiLvlLbl val="0"/>
      </c:catAx>
      <c:valAx>
        <c:axId val="5303297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30880"/>
        <c:crosses val="autoZero"/>
        <c:crossBetween val="between"/>
      </c:valAx>
      <c:spPr>
        <a:noFill/>
        <a:ln>
          <a:noFill/>
        </a:ln>
        <a:effectLst/>
      </c:spPr>
    </c:plotArea>
    <c:legend>
      <c:legendPos val="b"/>
      <c:layout>
        <c:manualLayout>
          <c:xMode val="edge"/>
          <c:yMode val="edge"/>
          <c:x val="6.3992077891956009E-3"/>
          <c:y val="0.91699108958854314"/>
          <c:w val="0.98984173878427872"/>
          <c:h val="6.13206285161628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2321956384421063E-2"/>
          <c:y val="0"/>
          <c:w val="0.97747406682907578"/>
          <c:h val="0.8975960400833688"/>
        </c:manualLayout>
      </c:layout>
      <c:barChart>
        <c:barDir val="col"/>
        <c:grouping val="clustered"/>
        <c:varyColors val="0"/>
        <c:ser>
          <c:idx val="0"/>
          <c:order val="0"/>
          <c:invertIfNegative val="0"/>
          <c:dLbls>
            <c:dLbl>
              <c:idx val="0"/>
              <c:layout>
                <c:manualLayout>
                  <c:x val="0"/>
                  <c:y val="0.30046475353362051"/>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107D-48BC-9E92-EA335CE1E635}"/>
                </c:ext>
              </c:extLst>
            </c:dLbl>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2-7'!$D$3:$D$26</c:f>
              <c:numCache>
                <c:formatCode>0</c:formatCode>
                <c:ptCount val="13"/>
                <c:pt idx="0">
                  <c:v>53</c:v>
                </c:pt>
                <c:pt idx="1">
                  <c:v>43</c:v>
                </c:pt>
                <c:pt idx="2">
                  <c:v>36</c:v>
                </c:pt>
                <c:pt idx="3">
                  <c:v>47</c:v>
                </c:pt>
                <c:pt idx="4">
                  <c:v>26</c:v>
                </c:pt>
                <c:pt idx="5">
                  <c:v>37</c:v>
                </c:pt>
                <c:pt idx="6">
                  <c:v>15</c:v>
                </c:pt>
                <c:pt idx="7">
                  <c:v>12</c:v>
                </c:pt>
                <c:pt idx="8">
                  <c:v>20</c:v>
                </c:pt>
                <c:pt idx="9">
                  <c:v>45</c:v>
                </c:pt>
                <c:pt idx="10">
                  <c:v>16</c:v>
                </c:pt>
                <c:pt idx="11">
                  <c:v>31</c:v>
                </c:pt>
                <c:pt idx="12">
                  <c:v>22</c:v>
                </c:pt>
              </c:numCache>
            </c:numRef>
          </c:val>
          <c:extLst>
            <c:ext xmlns:c16="http://schemas.microsoft.com/office/drawing/2014/chart" uri="{C3380CC4-5D6E-409C-BE32-E72D297353CC}">
              <c16:uniqueId val="{00000000-107D-48BC-9E92-EA335CE1E635}"/>
            </c:ext>
          </c:extLst>
        </c:ser>
        <c:dLbls>
          <c:showLegendKey val="0"/>
          <c:showVal val="0"/>
          <c:showCatName val="0"/>
          <c:showSerName val="0"/>
          <c:showPercent val="0"/>
          <c:showBubbleSize val="0"/>
        </c:dLbls>
        <c:gapWidth val="150"/>
        <c:axId val="459164208"/>
        <c:axId val="459164600"/>
      </c:barChart>
      <c:lineChart>
        <c:grouping val="standard"/>
        <c:varyColors val="0"/>
        <c:ser>
          <c:idx val="1"/>
          <c:order val="1"/>
          <c:spPr>
            <a:ln w="28575">
              <a:solidFill>
                <a:srgbClr val="7030A0"/>
              </a:solidFill>
            </a:ln>
          </c:spPr>
          <c:marker>
            <c:symbol val="none"/>
          </c:marker>
          <c:dLbls>
            <c:dLbl>
              <c:idx val="1"/>
              <c:layout>
                <c:manualLayout>
                  <c:x val="-2.7978169684294629E-2"/>
                  <c:y val="-5.92039177228810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07D-48BC-9E92-EA335CE1E635}"/>
                </c:ext>
              </c:extLst>
            </c:dLbl>
            <c:dLbl>
              <c:idx val="2"/>
              <c:layout>
                <c:manualLayout>
                  <c:x val="-3.7304226245726241E-2"/>
                  <c:y val="-0.121381548208098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07D-48BC-9E92-EA335CE1E635}"/>
                </c:ext>
              </c:extLst>
            </c:dLbl>
            <c:dLbl>
              <c:idx val="3"/>
              <c:layout>
                <c:manualLayout>
                  <c:x val="-3.7304226245726171E-2"/>
                  <c:y val="-0.20248280536273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07D-48BC-9E92-EA335CE1E635}"/>
                </c:ext>
              </c:extLst>
            </c:dLbl>
            <c:dLbl>
              <c:idx val="4"/>
              <c:layout>
                <c:manualLayout>
                  <c:x val="-4.289986018258516E-2"/>
                  <c:y val="-0.1348984244005372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07D-48BC-9E92-EA335CE1E635}"/>
                </c:ext>
              </c:extLst>
            </c:dLbl>
            <c:dLbl>
              <c:idx val="6"/>
              <c:layout>
                <c:manualLayout>
                  <c:x val="-4.2899860182585098E-2"/>
                  <c:y val="-0.2430334339400460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5-107D-48BC-9E92-EA335CE1E635}"/>
                </c:ext>
              </c:extLst>
            </c:dLbl>
            <c:dLbl>
              <c:idx val="7"/>
              <c:layout>
                <c:manualLayout>
                  <c:x val="-4.228434044953075E-2"/>
                  <c:y val="-8.083091963078289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07D-48BC-9E92-EA335CE1E635}"/>
                </c:ext>
              </c:extLst>
            </c:dLbl>
            <c:dLbl>
              <c:idx val="8"/>
              <c:layout>
                <c:manualLayout>
                  <c:x val="-7.2743241179166029E-2"/>
                  <c:y val="-7.8127544392295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07D-48BC-9E92-EA335CE1E635}"/>
                </c:ext>
              </c:extLst>
            </c:dLbl>
            <c:dLbl>
              <c:idx val="9"/>
              <c:layout>
                <c:manualLayout>
                  <c:x val="-1.7207315157810581E-2"/>
                  <c:y val="-0.1620836804323530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07D-48BC-9E92-EA335CE1E635}"/>
                </c:ext>
              </c:extLst>
            </c:dLbl>
            <c:dLbl>
              <c:idx val="10"/>
              <c:layout>
                <c:manualLayout>
                  <c:x val="-2.7962468153855714E-2"/>
                  <c:y val="-0.2095671215213593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107D-48BC-9E92-EA335CE1E635}"/>
                </c:ext>
              </c:extLst>
            </c:dLbl>
            <c:dLbl>
              <c:idx val="11"/>
              <c:layout>
                <c:manualLayout>
                  <c:x val="-3.5439064571039104E-2"/>
                  <c:y val="-0.15241873159834007"/>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9-107D-48BC-9E92-EA335CE1E635}"/>
                </c:ext>
              </c:extLst>
            </c:dLbl>
            <c:dLbl>
              <c:idx val="12"/>
              <c:layout>
                <c:manualLayout>
                  <c:x val="-4.6604113589759522E-2"/>
                  <c:y val="-0.1345878293849159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107D-48BC-9E92-EA335CE1E635}"/>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2-7'!$E$3:$E$26</c:f>
              <c:numCache>
                <c:formatCode>0.00</c:formatCode>
                <c:ptCount val="13"/>
                <c:pt idx="0">
                  <c:v>51.53135634419057</c:v>
                </c:pt>
                <c:pt idx="1">
                  <c:v>42.343673067454453</c:v>
                </c:pt>
                <c:pt idx="2">
                  <c:v>31.055900621118013</c:v>
                </c:pt>
                <c:pt idx="3">
                  <c:v>36.231884057971016</c:v>
                </c:pt>
                <c:pt idx="4">
                  <c:v>22.140849868006473</c:v>
                </c:pt>
                <c:pt idx="5">
                  <c:v>39.601840950444185</c:v>
                </c:pt>
                <c:pt idx="6">
                  <c:v>15.723270440251572</c:v>
                </c:pt>
                <c:pt idx="7">
                  <c:v>12.106537530266344</c:v>
                </c:pt>
                <c:pt idx="8">
                  <c:v>17.386768669042858</c:v>
                </c:pt>
                <c:pt idx="9">
                  <c:v>37.506251041840308</c:v>
                </c:pt>
                <c:pt idx="10">
                  <c:v>14.566642388929353</c:v>
                </c:pt>
                <c:pt idx="11">
                  <c:v>27.612006769395208</c:v>
                </c:pt>
                <c:pt idx="12">
                  <c:v>19.522584080220074</c:v>
                </c:pt>
              </c:numCache>
            </c:numRef>
          </c:val>
          <c:smooth val="0"/>
          <c:extLst>
            <c:ext xmlns:c16="http://schemas.microsoft.com/office/drawing/2014/chart" uri="{C3380CC4-5D6E-409C-BE32-E72D297353CC}">
              <c16:uniqueId val="{0000000A-107D-48BC-9E92-EA335CE1E635}"/>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107D-48BC-9E92-EA335CE1E635}"/>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107D-48BC-9E92-EA335CE1E635}"/>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2-7'!$F$3:$F$26</c:f>
              <c:numCache>
                <c:formatCode>0.00</c:formatCode>
                <c:ptCount val="13"/>
                <c:pt idx="0">
                  <c:v>20.5</c:v>
                </c:pt>
                <c:pt idx="1">
                  <c:v>20.5</c:v>
                </c:pt>
                <c:pt idx="2">
                  <c:v>20.5</c:v>
                </c:pt>
                <c:pt idx="3">
                  <c:v>20.5</c:v>
                </c:pt>
                <c:pt idx="4">
                  <c:v>20.5</c:v>
                </c:pt>
                <c:pt idx="5">
                  <c:v>20.5</c:v>
                </c:pt>
                <c:pt idx="6">
                  <c:v>20.5</c:v>
                </c:pt>
                <c:pt idx="7">
                  <c:v>20.5</c:v>
                </c:pt>
                <c:pt idx="8">
                  <c:v>20.5</c:v>
                </c:pt>
                <c:pt idx="9">
                  <c:v>34.35</c:v>
                </c:pt>
                <c:pt idx="10">
                  <c:v>34.35</c:v>
                </c:pt>
                <c:pt idx="11">
                  <c:v>34.35</c:v>
                </c:pt>
                <c:pt idx="12">
                  <c:v>34.35</c:v>
                </c:pt>
              </c:numCache>
            </c:numRef>
          </c:val>
          <c:smooth val="0"/>
          <c:extLst>
            <c:ext xmlns:c16="http://schemas.microsoft.com/office/drawing/2014/chart" uri="{C3380CC4-5D6E-409C-BE32-E72D297353CC}">
              <c16:uniqueId val="{0000000C-107D-48BC-9E92-EA335CE1E635}"/>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107D-48BC-9E92-EA335CE1E635}"/>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107D-48BC-9E92-EA335CE1E635}"/>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2-7'!$G$3:$G$26</c:f>
              <c:numCache>
                <c:formatCode>0.00</c:formatCode>
                <c:ptCount val="13"/>
                <c:pt idx="0">
                  <c:v>24.9</c:v>
                </c:pt>
                <c:pt idx="1">
                  <c:v>24.9</c:v>
                </c:pt>
                <c:pt idx="2">
                  <c:v>24.9</c:v>
                </c:pt>
                <c:pt idx="3">
                  <c:v>24.9</c:v>
                </c:pt>
                <c:pt idx="4">
                  <c:v>24.9</c:v>
                </c:pt>
                <c:pt idx="5">
                  <c:v>24.9</c:v>
                </c:pt>
                <c:pt idx="6">
                  <c:v>24.9</c:v>
                </c:pt>
                <c:pt idx="7">
                  <c:v>24.9</c:v>
                </c:pt>
                <c:pt idx="8">
                  <c:v>24.9</c:v>
                </c:pt>
                <c:pt idx="9">
                  <c:v>44.5</c:v>
                </c:pt>
                <c:pt idx="10">
                  <c:v>44.5</c:v>
                </c:pt>
                <c:pt idx="11">
                  <c:v>44.5</c:v>
                </c:pt>
                <c:pt idx="12">
                  <c:v>44.5</c:v>
                </c:pt>
              </c:numCache>
            </c:numRef>
          </c:val>
          <c:smooth val="0"/>
          <c:extLst>
            <c:ext xmlns:c16="http://schemas.microsoft.com/office/drawing/2014/chart" uri="{C3380CC4-5D6E-409C-BE32-E72D297353CC}">
              <c16:uniqueId val="{0000000E-107D-48BC-9E92-EA335CE1E635}"/>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107D-48BC-9E92-EA335CE1E635}"/>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107D-48BC-9E92-EA335CE1E635}"/>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2-7'!$H$3:$H$26</c:f>
              <c:numCache>
                <c:formatCode>0.00</c:formatCode>
                <c:ptCount val="13"/>
                <c:pt idx="0">
                  <c:v>28.84</c:v>
                </c:pt>
                <c:pt idx="1">
                  <c:v>28.84</c:v>
                </c:pt>
                <c:pt idx="2">
                  <c:v>28.84</c:v>
                </c:pt>
                <c:pt idx="3">
                  <c:v>28.84</c:v>
                </c:pt>
                <c:pt idx="4">
                  <c:v>28.84</c:v>
                </c:pt>
                <c:pt idx="5">
                  <c:v>28.84</c:v>
                </c:pt>
                <c:pt idx="6">
                  <c:v>28.84</c:v>
                </c:pt>
                <c:pt idx="7">
                  <c:v>28.84</c:v>
                </c:pt>
                <c:pt idx="8">
                  <c:v>28.84</c:v>
                </c:pt>
                <c:pt idx="9">
                  <c:v>54.65</c:v>
                </c:pt>
                <c:pt idx="10">
                  <c:v>54.65</c:v>
                </c:pt>
                <c:pt idx="11">
                  <c:v>54.65</c:v>
                </c:pt>
                <c:pt idx="12">
                  <c:v>54.65</c:v>
                </c:pt>
              </c:numCache>
            </c:numRef>
          </c:val>
          <c:smooth val="0"/>
          <c:extLst>
            <c:ext xmlns:c16="http://schemas.microsoft.com/office/drawing/2014/chart" uri="{C3380CC4-5D6E-409C-BE32-E72D297353CC}">
              <c16:uniqueId val="{00000010-107D-48BC-9E92-EA335CE1E635}"/>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107D-48BC-9E92-EA335CE1E635}"/>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107D-48BC-9E92-EA335CE1E635}"/>
                </c:ext>
              </c:extLst>
            </c:dLbl>
            <c:spPr>
              <a:solidFill>
                <a:srgbClr val="339933"/>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'Concession rate loại 2-7'!$B$3:$B$26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'Concession rate loại 2-7'!$I$3:$I$26</c:f>
              <c:numCache>
                <c:formatCode>0.00</c:formatCode>
                <c:ptCount val="13"/>
                <c:pt idx="0">
                  <c:v>15.19</c:v>
                </c:pt>
                <c:pt idx="1">
                  <c:v>15.19</c:v>
                </c:pt>
                <c:pt idx="2">
                  <c:v>15.19</c:v>
                </c:pt>
                <c:pt idx="3">
                  <c:v>15.19</c:v>
                </c:pt>
                <c:pt idx="4">
                  <c:v>15.19</c:v>
                </c:pt>
                <c:pt idx="5">
                  <c:v>15.19</c:v>
                </c:pt>
                <c:pt idx="6">
                  <c:v>15.19</c:v>
                </c:pt>
                <c:pt idx="7">
                  <c:v>15.19</c:v>
                </c:pt>
                <c:pt idx="8">
                  <c:v>15.19</c:v>
                </c:pt>
                <c:pt idx="9">
                  <c:v>24.202089337175792</c:v>
                </c:pt>
                <c:pt idx="10">
                  <c:v>24.202089337175792</c:v>
                </c:pt>
                <c:pt idx="11">
                  <c:v>24.202089337175792</c:v>
                </c:pt>
                <c:pt idx="12">
                  <c:v>24.202089337175792</c:v>
                </c:pt>
              </c:numCache>
            </c:numRef>
          </c:val>
          <c:smooth val="0"/>
          <c:extLst>
            <c:ext xmlns:c16="http://schemas.microsoft.com/office/drawing/2014/chart" uri="{C3380CC4-5D6E-409C-BE32-E72D297353CC}">
              <c16:uniqueId val="{00000012-107D-48BC-9E92-EA335CE1E635}"/>
            </c:ext>
          </c:extLst>
        </c:ser>
        <c:dLbls>
          <c:showLegendKey val="0"/>
          <c:showVal val="1"/>
          <c:showCatName val="0"/>
          <c:showSerName val="0"/>
          <c:showPercent val="0"/>
          <c:showBubbleSize val="0"/>
        </c:dLbls>
        <c:marker val="1"/>
        <c:smooth val="0"/>
        <c:axId val="459164208"/>
        <c:axId val="459164600"/>
      </c:lineChart>
      <c:catAx>
        <c:axId val="45916420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459164600"/>
        <c:crosses val="autoZero"/>
        <c:auto val="1"/>
        <c:lblAlgn val="ctr"/>
        <c:lblOffset val="100"/>
        <c:noMultiLvlLbl val="0"/>
      </c:catAx>
      <c:valAx>
        <c:axId val="459164600"/>
        <c:scaling>
          <c:orientation val="minMax"/>
        </c:scaling>
        <c:delete val="1"/>
        <c:axPos val="l"/>
        <c:numFmt formatCode="0" sourceLinked="1"/>
        <c:majorTickMark val="out"/>
        <c:minorTickMark val="none"/>
        <c:tickLblPos val="nextTo"/>
        <c:crossAx val="45916420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NHÂN NHƯỢNG</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'Concession rate loại 2-7'!$Y$3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2-7'!$X$4:$X$5</c:f>
              <c:strCache>
                <c:ptCount val="2"/>
                <c:pt idx="0">
                  <c:v>Số vụ</c:v>
                </c:pt>
                <c:pt idx="1">
                  <c:v>Tỷ lệ/10000CB</c:v>
                </c:pt>
              </c:strCache>
            </c:strRef>
          </c:cat>
          <c:val>
            <c:numRef>
              <c:f>'Concession rate loại 2-7'!$Y$4:$Y$5</c:f>
              <c:numCache>
                <c:formatCode>0.00</c:formatCode>
                <c:ptCount val="2"/>
                <c:pt idx="0" formatCode="0">
                  <c:v>187</c:v>
                </c:pt>
                <c:pt idx="1">
                  <c:v>42.780014641288432</c:v>
                </c:pt>
              </c:numCache>
            </c:numRef>
          </c:val>
          <c:extLst>
            <c:ext xmlns:c16="http://schemas.microsoft.com/office/drawing/2014/chart" uri="{C3380CC4-5D6E-409C-BE32-E72D297353CC}">
              <c16:uniqueId val="{00000000-A5B3-4D17-8AFF-F7FED8AFE910}"/>
            </c:ext>
          </c:extLst>
        </c:ser>
        <c:ser>
          <c:idx val="1"/>
          <c:order val="1"/>
          <c:tx>
            <c:strRef>
              <c:f>'Concession rate loại 2-7'!$Z$3</c:f>
              <c:strCache>
                <c:ptCount val="1"/>
                <c:pt idx="0">
                  <c:v>Năm 2025</c:v>
                </c:pt>
              </c:strCache>
            </c:strRef>
          </c:tx>
          <c:spPr>
            <a:solidFill>
              <a:schemeClr val="accent2"/>
            </a:solidFill>
            <a:ln>
              <a:noFill/>
            </a:ln>
            <a:effectLst/>
          </c:spPr>
          <c:invertIfNegative val="0"/>
          <c:dLbls>
            <c:dLbl>
              <c:idx val="1"/>
              <c:layout>
                <c:manualLayout>
                  <c:x val="4.827844115756115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5B3-4D17-8AFF-F7FED8AFE910}"/>
                </c:ext>
              </c:extLst>
            </c:dLbl>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'Concession rate loại 2-7'!$X$4:$X$5</c:f>
              <c:strCache>
                <c:ptCount val="2"/>
                <c:pt idx="0">
                  <c:v>Số vụ</c:v>
                </c:pt>
                <c:pt idx="1">
                  <c:v>Tỷ lệ/10000CB</c:v>
                </c:pt>
              </c:strCache>
            </c:strRef>
          </c:cat>
          <c:val>
            <c:numRef>
              <c:f>'Concession rate loại 2-7'!$Z$4:$Z$5</c:f>
              <c:numCache>
                <c:formatCode>0.00</c:formatCode>
                <c:ptCount val="2"/>
                <c:pt idx="0" formatCode="0">
                  <c:v>114</c:v>
                </c:pt>
                <c:pt idx="1">
                  <c:v>25.067065394256563</c:v>
                </c:pt>
              </c:numCache>
            </c:numRef>
          </c:val>
          <c:extLst>
            <c:ext xmlns:c16="http://schemas.microsoft.com/office/drawing/2014/chart" uri="{C3380CC4-5D6E-409C-BE32-E72D297353CC}">
              <c16:uniqueId val="{00000001-A5B3-4D17-8AFF-F7FED8AFE910}"/>
            </c:ext>
          </c:extLst>
        </c:ser>
        <c:dLbls>
          <c:showLegendKey val="0"/>
          <c:showVal val="0"/>
          <c:showCatName val="0"/>
          <c:showSerName val="0"/>
          <c:showPercent val="0"/>
          <c:showBubbleSize val="0"/>
        </c:dLbls>
        <c:gapWidth val="219"/>
        <c:overlap val="-27"/>
        <c:axId val="530330880"/>
        <c:axId val="530329704"/>
      </c:barChart>
      <c:catAx>
        <c:axId val="530330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29704"/>
        <c:crosses val="autoZero"/>
        <c:auto val="1"/>
        <c:lblAlgn val="ctr"/>
        <c:lblOffset val="100"/>
        <c:noMultiLvlLbl val="0"/>
      </c:catAx>
      <c:valAx>
        <c:axId val="5303297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530330880"/>
        <c:crosses val="autoZero"/>
        <c:crossBetween val="between"/>
      </c:valAx>
      <c:spPr>
        <a:noFill/>
        <a:ln>
          <a:noFill/>
        </a:ln>
        <a:effectLst/>
      </c:spPr>
    </c:plotArea>
    <c:legend>
      <c:legendPos val="b"/>
      <c:layout>
        <c:manualLayout>
          <c:xMode val="edge"/>
          <c:yMode val="edge"/>
          <c:x val="6.3992077891956009E-3"/>
          <c:y val="0.91699108958854314"/>
          <c:w val="0.98984173878427872"/>
          <c:h val="6.13206285161628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9525" cap="flat" cmpd="sng" algn="ctr">
      <a:solidFill>
        <a:sysClr val="windowText" lastClr="000000"/>
      </a:solidFill>
      <a:round/>
    </a:ln>
    <a:effectLst/>
  </c:spPr>
  <c:txPr>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265455408651197E-3"/>
          <c:y val="2.0887728459530026E-2"/>
          <c:w val="0.98401926518679539"/>
          <c:h val="0.87661457478558447"/>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GTB_ATB_RTO_DIV!$D$3:$D$26</c:f>
              <c:numCache>
                <c:formatCode>0</c:formatCode>
                <c:ptCount val="13"/>
                <c:pt idx="0">
                  <c:v>9</c:v>
                </c:pt>
                <c:pt idx="1">
                  <c:v>10</c:v>
                </c:pt>
                <c:pt idx="2">
                  <c:v>9</c:v>
                </c:pt>
                <c:pt idx="3">
                  <c:v>9</c:v>
                </c:pt>
                <c:pt idx="4">
                  <c:v>7</c:v>
                </c:pt>
                <c:pt idx="5">
                  <c:v>7</c:v>
                </c:pt>
                <c:pt idx="6">
                  <c:v>3</c:v>
                </c:pt>
                <c:pt idx="7">
                  <c:v>9</c:v>
                </c:pt>
                <c:pt idx="8">
                  <c:v>13</c:v>
                </c:pt>
                <c:pt idx="9">
                  <c:v>9</c:v>
                </c:pt>
                <c:pt idx="10">
                  <c:v>12</c:v>
                </c:pt>
                <c:pt idx="11">
                  <c:v>5</c:v>
                </c:pt>
                <c:pt idx="12">
                  <c:v>7</c:v>
                </c:pt>
              </c:numCache>
            </c:numRef>
          </c:val>
          <c:extLst>
            <c:ext xmlns:c16="http://schemas.microsoft.com/office/drawing/2014/chart" uri="{C3380CC4-5D6E-409C-BE32-E72D297353CC}">
              <c16:uniqueId val="{00000000-7D2A-4F9C-A3BC-A9BAF0B2D0D1}"/>
            </c:ext>
          </c:extLst>
        </c:ser>
        <c:dLbls>
          <c:showLegendKey val="0"/>
          <c:showVal val="0"/>
          <c:showCatName val="0"/>
          <c:showSerName val="0"/>
          <c:showPercent val="0"/>
          <c:showBubbleSize val="0"/>
        </c:dLbls>
        <c:gapWidth val="150"/>
        <c:axId val="327493648"/>
        <c:axId val="327487768"/>
      </c:barChart>
      <c:lineChart>
        <c:grouping val="standard"/>
        <c:varyColors val="0"/>
        <c:ser>
          <c:idx val="1"/>
          <c:order val="1"/>
          <c:spPr>
            <a:ln w="28575">
              <a:solidFill>
                <a:srgbClr val="7030A0"/>
              </a:solidFill>
            </a:ln>
          </c:spPr>
          <c:marker>
            <c:symbol val="none"/>
          </c:marker>
          <c:dLbls>
            <c:dLbl>
              <c:idx val="1"/>
              <c:layout>
                <c:manualLayout>
                  <c:x val="-2.8166471019062677E-2"/>
                  <c:y val="-0.1052298866570500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A-7D2A-4F9C-A3BC-A9BAF0B2D0D1}"/>
                </c:ext>
              </c:extLst>
            </c:dLbl>
            <c:dLbl>
              <c:idx val="2"/>
              <c:layout>
                <c:manualLayout>
                  <c:x val="-3.3719012360392819E-2"/>
                  <c:y val="-0.1073174657465344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D2A-4F9C-A3BC-A9BAF0B2D0D1}"/>
                </c:ext>
              </c:extLst>
            </c:dLbl>
            <c:dLbl>
              <c:idx val="3"/>
              <c:layout>
                <c:manualLayout>
                  <c:x val="-2.9972455431460286E-2"/>
                  <c:y val="-0.1539551034765011"/>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7D2A-4F9C-A3BC-A9BAF0B2D0D1}"/>
                </c:ext>
              </c:extLst>
            </c:dLbl>
            <c:dLbl>
              <c:idx val="4"/>
              <c:layout>
                <c:manualLayout>
                  <c:x val="-3.1845733895926549E-2"/>
                  <c:y val="-0.11878082675955015"/>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3-7D2A-4F9C-A3BC-A9BAF0B2D0D1}"/>
                </c:ext>
              </c:extLst>
            </c:dLbl>
            <c:dLbl>
              <c:idx val="6"/>
              <c:layout>
                <c:manualLayout>
                  <c:x val="-4.3085404682724156E-2"/>
                  <c:y val="-0.1288347521117544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D2A-4F9C-A3BC-A9BAF0B2D0D1}"/>
                </c:ext>
              </c:extLst>
            </c:dLbl>
            <c:dLbl>
              <c:idx val="8"/>
              <c:layout>
                <c:manualLayout>
                  <c:x val="-6.6819842827511758E-2"/>
                  <c:y val="-0.1342140737030593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D2A-4F9C-A3BC-A9BAF0B2D0D1}"/>
                </c:ext>
              </c:extLst>
            </c:dLbl>
            <c:dLbl>
              <c:idx val="9"/>
              <c:layout>
                <c:manualLayout>
                  <c:x val="-5.6198353933988024E-3"/>
                  <c:y val="-0.26447201640904872"/>
                </c:manualLayout>
              </c:layout>
              <c:spPr>
                <a:noFill/>
              </c:spPr>
              <c:txPr>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D2A-4F9C-A3BC-A9BAF0B2D0D1}"/>
                </c:ext>
              </c:extLst>
            </c:dLbl>
            <c:dLbl>
              <c:idx val="10"/>
              <c:layout>
                <c:manualLayout>
                  <c:x val="-2.7016981551026713E-2"/>
                  <c:y val="-9.8544607292223516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7-7D2A-4F9C-A3BC-A9BAF0B2D0D1}"/>
                </c:ext>
              </c:extLst>
            </c:dLbl>
            <c:dLbl>
              <c:idx val="11"/>
              <c:layout>
                <c:manualLayout>
                  <c:x val="-2.1620864949403538E-2"/>
                  <c:y val="-8.358918595198768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8-7D2A-4F9C-A3BC-A9BAF0B2D0D1}"/>
                </c:ext>
              </c:extLst>
            </c:dLbl>
            <c:dLbl>
              <c:idx val="12"/>
              <c:layout>
                <c:manualLayout>
                  <c:x val="-5.3026545366021922E-2"/>
                  <c:y val="-0.10665319181540357"/>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9-7D2A-4F9C-A3BC-A9BAF0B2D0D1}"/>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GTB_ATB_RTO_DIV!$E$3:$E$26</c:f>
              <c:numCache>
                <c:formatCode>0.00</c:formatCode>
                <c:ptCount val="13"/>
                <c:pt idx="0">
                  <c:v>8.7506076810889653</c:v>
                </c:pt>
                <c:pt idx="1">
                  <c:v>9.8473658296405713</c:v>
                </c:pt>
                <c:pt idx="2">
                  <c:v>7.7639751552795033</c:v>
                </c:pt>
                <c:pt idx="3">
                  <c:v>6.9380203515263643</c:v>
                </c:pt>
                <c:pt idx="4">
                  <c:v>5.9609980413863575</c:v>
                </c:pt>
                <c:pt idx="5">
                  <c:v>7.4922401798137646</c:v>
                </c:pt>
                <c:pt idx="6">
                  <c:v>3.1446540880503147</c:v>
                </c:pt>
                <c:pt idx="7">
                  <c:v>9.079903147699758</c:v>
                </c:pt>
                <c:pt idx="8">
                  <c:v>11.301399634877859</c:v>
                </c:pt>
                <c:pt idx="9">
                  <c:v>7.5012502083680612</c:v>
                </c:pt>
                <c:pt idx="10">
                  <c:v>10.924981791697014</c:v>
                </c:pt>
                <c:pt idx="11">
                  <c:v>4.4535494789347112</c:v>
                </c:pt>
                <c:pt idx="12">
                  <c:v>6.2117312982518413</c:v>
                </c:pt>
              </c:numCache>
            </c:numRef>
          </c:val>
          <c:smooth val="0"/>
          <c:extLst>
            <c:ext xmlns:c16="http://schemas.microsoft.com/office/drawing/2014/chart" uri="{C3380CC4-5D6E-409C-BE32-E72D297353CC}">
              <c16:uniqueId val="{0000000A-7D2A-4F9C-A3BC-A9BAF0B2D0D1}"/>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B-7D2A-4F9C-A3BC-A9BAF0B2D0D1}"/>
                </c:ext>
              </c:extLst>
            </c:dLbl>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0C-7D2A-4F9C-A3BC-A9BAF0B2D0D1}"/>
                </c:ext>
              </c:extLst>
            </c:dLbl>
            <c:dLbl>
              <c:idx val="2"/>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D-7D2A-4F9C-A3BC-A9BAF0B2D0D1}"/>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E-7D2A-4F9C-A3BC-A9BAF0B2D0D1}"/>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F-7D2A-4F9C-A3BC-A9BAF0B2D0D1}"/>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0-7D2A-4F9C-A3BC-A9BAF0B2D0D1}"/>
                </c:ext>
              </c:extLst>
            </c:dLbl>
            <c:dLbl>
              <c:idx val="6"/>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1-7D2A-4F9C-A3BC-A9BAF0B2D0D1}"/>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2-7D2A-4F9C-A3BC-A9BAF0B2D0D1}"/>
                </c:ext>
              </c:extLst>
            </c:dLbl>
            <c:dLbl>
              <c:idx val="8"/>
              <c:delete val="1"/>
              <c:extLst>
                <c:ext xmlns:c15="http://schemas.microsoft.com/office/drawing/2012/chart" uri="{CE6537A1-D6FC-4f65-9D91-7224C49458BB}"/>
                <c:ext xmlns:c16="http://schemas.microsoft.com/office/drawing/2014/chart" uri="{C3380CC4-5D6E-409C-BE32-E72D297353CC}">
                  <c16:uniqueId val="{00000013-7D2A-4F9C-A3BC-A9BAF0B2D0D1}"/>
                </c:ext>
              </c:extLst>
            </c:dLbl>
            <c:dLbl>
              <c:idx val="9"/>
              <c:delete val="1"/>
              <c:extLst>
                <c:ext xmlns:c15="http://schemas.microsoft.com/office/drawing/2012/chart" uri="{CE6537A1-D6FC-4f65-9D91-7224C49458BB}"/>
                <c:ext xmlns:c16="http://schemas.microsoft.com/office/drawing/2014/chart" uri="{C3380CC4-5D6E-409C-BE32-E72D297353CC}">
                  <c16:uniqueId val="{00000014-7D2A-4F9C-A3BC-A9BAF0B2D0D1}"/>
                </c:ext>
              </c:extLst>
            </c:dLbl>
            <c:dLbl>
              <c:idx val="10"/>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5-7D2A-4F9C-A3BC-A9BAF0B2D0D1}"/>
                </c:ext>
              </c:extLst>
            </c:dLbl>
            <c:dLbl>
              <c:idx val="1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6-7D2A-4F9C-A3BC-A9BAF0B2D0D1}"/>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7D2A-4F9C-A3BC-A9BAF0B2D0D1}"/>
                </c:ext>
              </c:extLst>
            </c:dLbl>
            <c:spPr>
              <a:solidFill>
                <a:srgbClr val="00B0F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GTB_ATB_RTO_DIV!$F$3:$F$26</c:f>
              <c:numCache>
                <c:formatCode>0.00</c:formatCode>
                <c:ptCount val="13"/>
                <c:pt idx="0">
                  <c:v>13.300190648287957</c:v>
                </c:pt>
                <c:pt idx="1">
                  <c:v>13.300190648287957</c:v>
                </c:pt>
                <c:pt idx="2">
                  <c:v>13.300190648287957</c:v>
                </c:pt>
                <c:pt idx="3">
                  <c:v>13.300190648287957</c:v>
                </c:pt>
                <c:pt idx="4">
                  <c:v>13.300190648287957</c:v>
                </c:pt>
                <c:pt idx="5">
                  <c:v>13.300190648287957</c:v>
                </c:pt>
                <c:pt idx="6">
                  <c:v>13.300190648287957</c:v>
                </c:pt>
                <c:pt idx="7">
                  <c:v>13.300190648287957</c:v>
                </c:pt>
                <c:pt idx="8">
                  <c:v>13.300190648287957</c:v>
                </c:pt>
                <c:pt idx="9">
                  <c:v>8.9700000000000006</c:v>
                </c:pt>
                <c:pt idx="10">
                  <c:v>8.9700000000000006</c:v>
                </c:pt>
                <c:pt idx="11">
                  <c:v>8.9700000000000006</c:v>
                </c:pt>
                <c:pt idx="12">
                  <c:v>8.9700000000000006</c:v>
                </c:pt>
              </c:numCache>
            </c:numRef>
          </c:val>
          <c:smooth val="0"/>
          <c:extLst>
            <c:ext xmlns:c16="http://schemas.microsoft.com/office/drawing/2014/chart" uri="{C3380CC4-5D6E-409C-BE32-E72D297353CC}">
              <c16:uniqueId val="{00000018-7D2A-4F9C-A3BC-A9BAF0B2D0D1}"/>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19-7D2A-4F9C-A3BC-A9BAF0B2D0D1}"/>
                </c:ext>
              </c:extLst>
            </c:dLbl>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A-7D2A-4F9C-A3BC-A9BAF0B2D0D1}"/>
                </c:ext>
              </c:extLst>
            </c:dLbl>
            <c:dLbl>
              <c:idx val="2"/>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B-7D2A-4F9C-A3BC-A9BAF0B2D0D1}"/>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C-7D2A-4F9C-A3BC-A9BAF0B2D0D1}"/>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D-7D2A-4F9C-A3BC-A9BAF0B2D0D1}"/>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1E-7D2A-4F9C-A3BC-A9BAF0B2D0D1}"/>
                </c:ext>
              </c:extLst>
            </c:dLbl>
            <c:dLbl>
              <c:idx val="6"/>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1F-7D2A-4F9C-A3BC-A9BAF0B2D0D1}"/>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0-7D2A-4F9C-A3BC-A9BAF0B2D0D1}"/>
                </c:ext>
              </c:extLst>
            </c:dLbl>
            <c:dLbl>
              <c:idx val="8"/>
              <c:delete val="1"/>
              <c:extLst>
                <c:ext xmlns:c15="http://schemas.microsoft.com/office/drawing/2012/chart" uri="{CE6537A1-D6FC-4f65-9D91-7224C49458BB}"/>
                <c:ext xmlns:c16="http://schemas.microsoft.com/office/drawing/2014/chart" uri="{C3380CC4-5D6E-409C-BE32-E72D297353CC}">
                  <c16:uniqueId val="{00000021-7D2A-4F9C-A3BC-A9BAF0B2D0D1}"/>
                </c:ext>
              </c:extLst>
            </c:dLbl>
            <c:dLbl>
              <c:idx val="9"/>
              <c:delete val="1"/>
              <c:extLst>
                <c:ext xmlns:c15="http://schemas.microsoft.com/office/drawing/2012/chart" uri="{CE6537A1-D6FC-4f65-9D91-7224C49458BB}"/>
                <c:ext xmlns:c16="http://schemas.microsoft.com/office/drawing/2014/chart" uri="{C3380CC4-5D6E-409C-BE32-E72D297353CC}">
                  <c16:uniqueId val="{00000022-7D2A-4F9C-A3BC-A9BAF0B2D0D1}"/>
                </c:ext>
              </c:extLst>
            </c:dLbl>
            <c:dLbl>
              <c:idx val="10"/>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3-7D2A-4F9C-A3BC-A9BAF0B2D0D1}"/>
                </c:ext>
              </c:extLst>
            </c:dLbl>
            <c:dLbl>
              <c:idx val="1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4-7D2A-4F9C-A3BC-A9BAF0B2D0D1}"/>
                </c:ext>
              </c:extLst>
            </c:dLbl>
            <c:dLbl>
              <c:idx val="12"/>
              <c:layout>
                <c:manualLayout>
                  <c:x val="-6.3467671155005411E-3"/>
                  <c:y val="-1.2188789960276137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15:layout>
                    <c:manualLayout>
                      <c:w val="5.5534212260629739E-2"/>
                      <c:h val="6.825722377754595E-2"/>
                    </c:manualLayout>
                  </c15:layout>
                </c:ext>
                <c:ext xmlns:c16="http://schemas.microsoft.com/office/drawing/2014/chart" uri="{C3380CC4-5D6E-409C-BE32-E72D297353CC}">
                  <c16:uniqueId val="{00000025-7D2A-4F9C-A3BC-A9BAF0B2D0D1}"/>
                </c:ext>
              </c:extLst>
            </c:dLbl>
            <c:spPr>
              <a:solidFill>
                <a:srgbClr val="FFC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GTB_ATB_RTO_DIV!$G$3:$G$26</c:f>
              <c:numCache>
                <c:formatCode>0.00</c:formatCode>
                <c:ptCount val="13"/>
                <c:pt idx="0">
                  <c:v>15.209632431802575</c:v>
                </c:pt>
                <c:pt idx="1">
                  <c:v>15.209632431802575</c:v>
                </c:pt>
                <c:pt idx="2">
                  <c:v>15.209632431802575</c:v>
                </c:pt>
                <c:pt idx="3">
                  <c:v>15.209632431802575</c:v>
                </c:pt>
                <c:pt idx="4">
                  <c:v>15.209632431802575</c:v>
                </c:pt>
                <c:pt idx="5">
                  <c:v>15.209632431802575</c:v>
                </c:pt>
                <c:pt idx="6">
                  <c:v>15.209632431802575</c:v>
                </c:pt>
                <c:pt idx="7">
                  <c:v>15.209632431802575</c:v>
                </c:pt>
                <c:pt idx="8">
                  <c:v>15.209632431802575</c:v>
                </c:pt>
                <c:pt idx="9">
                  <c:v>10.27</c:v>
                </c:pt>
                <c:pt idx="10">
                  <c:v>10.27</c:v>
                </c:pt>
                <c:pt idx="11">
                  <c:v>10.27</c:v>
                </c:pt>
                <c:pt idx="12">
                  <c:v>10.27</c:v>
                </c:pt>
              </c:numCache>
            </c:numRef>
          </c:val>
          <c:smooth val="0"/>
          <c:extLst>
            <c:ext xmlns:c16="http://schemas.microsoft.com/office/drawing/2014/chart" uri="{C3380CC4-5D6E-409C-BE32-E72D297353CC}">
              <c16:uniqueId val="{00000026-7D2A-4F9C-A3BC-A9BAF0B2D0D1}"/>
            </c:ext>
          </c:extLst>
        </c:ser>
        <c:ser>
          <c:idx val="4"/>
          <c:order val="4"/>
          <c:spPr>
            <a:ln w="25400">
              <a:solidFill>
                <a:srgbClr val="FF0000"/>
              </a:solidFill>
            </a:ln>
          </c:spPr>
          <c:marker>
            <c:symbol val="none"/>
          </c:marker>
          <c:dLbls>
            <c:dLbl>
              <c:idx val="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8-7D2A-4F9C-A3BC-A9BAF0B2D0D1}"/>
                </c:ext>
              </c:extLst>
            </c:dLbl>
            <c:dLbl>
              <c:idx val="2"/>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9-7D2A-4F9C-A3BC-A9BAF0B2D0D1}"/>
                </c:ext>
              </c:extLst>
            </c:dLbl>
            <c:dLbl>
              <c:idx val="3"/>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A-7D2A-4F9C-A3BC-A9BAF0B2D0D1}"/>
                </c:ext>
              </c:extLst>
            </c:dLbl>
            <c:dLbl>
              <c:idx val="4"/>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B-7D2A-4F9C-A3BC-A9BAF0B2D0D1}"/>
                </c:ext>
              </c:extLst>
            </c:dLbl>
            <c:dLbl>
              <c:idx val="5"/>
              <c:delete val="1"/>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2C-7D2A-4F9C-A3BC-A9BAF0B2D0D1}"/>
                </c:ext>
              </c:extLst>
            </c:dLbl>
            <c:dLbl>
              <c:idx val="6"/>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D-7D2A-4F9C-A3BC-A9BAF0B2D0D1}"/>
                </c:ext>
              </c:extLst>
            </c:dLbl>
            <c:dLbl>
              <c:idx val="7"/>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2E-7D2A-4F9C-A3BC-A9BAF0B2D0D1}"/>
                </c:ext>
              </c:extLst>
            </c:dLbl>
            <c:dLbl>
              <c:idx val="8"/>
              <c:delete val="1"/>
              <c:extLst>
                <c:ext xmlns:c15="http://schemas.microsoft.com/office/drawing/2012/chart" uri="{CE6537A1-D6FC-4f65-9D91-7224C49458BB}"/>
                <c:ext xmlns:c16="http://schemas.microsoft.com/office/drawing/2014/chart" uri="{C3380CC4-5D6E-409C-BE32-E72D297353CC}">
                  <c16:uniqueId val="{0000002F-7D2A-4F9C-A3BC-A9BAF0B2D0D1}"/>
                </c:ext>
              </c:extLst>
            </c:dLbl>
            <c:dLbl>
              <c:idx val="9"/>
              <c:delete val="1"/>
              <c:extLst>
                <c:ext xmlns:c15="http://schemas.microsoft.com/office/drawing/2012/chart" uri="{CE6537A1-D6FC-4f65-9D91-7224C49458BB}"/>
                <c:ext xmlns:c16="http://schemas.microsoft.com/office/drawing/2014/chart" uri="{C3380CC4-5D6E-409C-BE32-E72D297353CC}">
                  <c16:uniqueId val="{00000030-7D2A-4F9C-A3BC-A9BAF0B2D0D1}"/>
                </c:ext>
              </c:extLst>
            </c:dLbl>
            <c:dLbl>
              <c:idx val="10"/>
              <c:delete val="1"/>
              <c:extLst>
                <c:ext xmlns:c15="http://schemas.microsoft.com/office/drawing/2012/chart" uri="{CE6537A1-D6FC-4f65-9D91-7224C49458BB}"/>
                <c:ext xmlns:c16="http://schemas.microsoft.com/office/drawing/2014/chart" uri="{C3380CC4-5D6E-409C-BE32-E72D297353CC}">
                  <c16:uniqueId val="{00000031-7D2A-4F9C-A3BC-A9BAF0B2D0D1}"/>
                </c:ext>
              </c:extLst>
            </c:dLbl>
            <c:dLbl>
              <c:idx val="11"/>
              <c:delete val="1"/>
              <c:extLst xmlns:c15="http://schemas.microsoft.com/office/drawing/2012/chart">
                <c:ext xmlns:c15="http://schemas.microsoft.com/office/drawing/2012/chart" uri="{CE6537A1-D6FC-4f65-9D91-7224C49458BB}"/>
                <c:ext xmlns:c16="http://schemas.microsoft.com/office/drawing/2014/chart" uri="{C3380CC4-5D6E-409C-BE32-E72D297353CC}">
                  <c16:uniqueId val="{00000032-7D2A-4F9C-A3BC-A9BAF0B2D0D1}"/>
                </c:ext>
              </c:extLst>
            </c:dLbl>
            <c:dLbl>
              <c:idx val="12"/>
              <c:layout>
                <c:manualLayout>
                  <c:x val="0"/>
                  <c:y val="-2.4377579920552124E-2"/>
                </c:manualLayout>
              </c:layout>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33-7D2A-4F9C-A3BC-A9BAF0B2D0D1}"/>
                </c:ext>
              </c:extLst>
            </c:dLbl>
            <c:spPr>
              <a:solidFill>
                <a:srgbClr val="FF0000"/>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GTB_ATB_RTO_DIV!$H$3:$H$26</c:f>
              <c:numCache>
                <c:formatCode>0.00</c:formatCode>
                <c:ptCount val="13"/>
                <c:pt idx="0">
                  <c:v>17.119074215317191</c:v>
                </c:pt>
                <c:pt idx="1">
                  <c:v>17.119074215317191</c:v>
                </c:pt>
                <c:pt idx="2">
                  <c:v>17.119074215317191</c:v>
                </c:pt>
                <c:pt idx="3">
                  <c:v>17.119074215317191</c:v>
                </c:pt>
                <c:pt idx="4">
                  <c:v>17.119074215317191</c:v>
                </c:pt>
                <c:pt idx="5">
                  <c:v>17.119074215317191</c:v>
                </c:pt>
                <c:pt idx="6">
                  <c:v>17.119074215317191</c:v>
                </c:pt>
                <c:pt idx="7">
                  <c:v>17.119074215317191</c:v>
                </c:pt>
                <c:pt idx="8">
                  <c:v>17.119074215317191</c:v>
                </c:pt>
                <c:pt idx="9">
                  <c:v>11.57</c:v>
                </c:pt>
                <c:pt idx="10">
                  <c:v>11.57</c:v>
                </c:pt>
                <c:pt idx="11">
                  <c:v>11.57</c:v>
                </c:pt>
                <c:pt idx="12">
                  <c:v>11.57</c:v>
                </c:pt>
              </c:numCache>
            </c:numRef>
          </c:val>
          <c:smooth val="0"/>
          <c:extLst>
            <c:ext xmlns:c16="http://schemas.microsoft.com/office/drawing/2014/chart" uri="{C3380CC4-5D6E-409C-BE32-E72D297353CC}">
              <c16:uniqueId val="{00000034-7D2A-4F9C-A3BC-A9BAF0B2D0D1}"/>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8-7D2A-4F9C-A3BC-A9BAF0B2D0D1}"/>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9-7D2A-4F9C-A3BC-A9BAF0B2D0D1}"/>
                </c:ext>
              </c:extLst>
            </c:dLbl>
            <c:spPr>
              <a:solidFill>
                <a:srgbClr val="92D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GTB_ATB_RTO_DIV!$B$3:$B$26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GTB_ATB_RTO_DIV!$I$3:$I$26</c:f>
              <c:numCache>
                <c:formatCode>0.00</c:formatCode>
                <c:ptCount val="13"/>
                <c:pt idx="0">
                  <c:v>11.390748864773339</c:v>
                </c:pt>
                <c:pt idx="1">
                  <c:v>11.390748864773339</c:v>
                </c:pt>
                <c:pt idx="2">
                  <c:v>11.390748864773339</c:v>
                </c:pt>
                <c:pt idx="3">
                  <c:v>11.390748864773339</c:v>
                </c:pt>
                <c:pt idx="4">
                  <c:v>11.390748864773339</c:v>
                </c:pt>
                <c:pt idx="5">
                  <c:v>11.390748864773339</c:v>
                </c:pt>
                <c:pt idx="6">
                  <c:v>11.390748864773339</c:v>
                </c:pt>
                <c:pt idx="7">
                  <c:v>11.390748864773339</c:v>
                </c:pt>
                <c:pt idx="8">
                  <c:v>11.390748864773339</c:v>
                </c:pt>
                <c:pt idx="9">
                  <c:v>7.28</c:v>
                </c:pt>
                <c:pt idx="10">
                  <c:v>7.28</c:v>
                </c:pt>
                <c:pt idx="11">
                  <c:v>7.28</c:v>
                </c:pt>
                <c:pt idx="12">
                  <c:v>7.28</c:v>
                </c:pt>
              </c:numCache>
            </c:numRef>
          </c:val>
          <c:smooth val="0"/>
          <c:extLst>
            <c:ext xmlns:c16="http://schemas.microsoft.com/office/drawing/2014/chart" uri="{C3380CC4-5D6E-409C-BE32-E72D297353CC}">
              <c16:uniqueId val="{00000036-7D2A-4F9C-A3BC-A9BAF0B2D0D1}"/>
            </c:ext>
          </c:extLst>
        </c:ser>
        <c:dLbls>
          <c:showLegendKey val="0"/>
          <c:showVal val="1"/>
          <c:showCatName val="0"/>
          <c:showSerName val="0"/>
          <c:showPercent val="0"/>
          <c:showBubbleSize val="0"/>
        </c:dLbls>
        <c:marker val="1"/>
        <c:smooth val="0"/>
        <c:axId val="327493648"/>
        <c:axId val="327487768"/>
      </c:lineChart>
      <c:catAx>
        <c:axId val="327493648"/>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327487768"/>
        <c:crosses val="autoZero"/>
        <c:auto val="1"/>
        <c:lblAlgn val="ctr"/>
        <c:lblOffset val="100"/>
        <c:noMultiLvlLbl val="0"/>
      </c:catAx>
      <c:valAx>
        <c:axId val="327487768"/>
        <c:scaling>
          <c:orientation val="minMax"/>
        </c:scaling>
        <c:delete val="1"/>
        <c:axPos val="l"/>
        <c:numFmt formatCode="0" sourceLinked="1"/>
        <c:majorTickMark val="out"/>
        <c:minorTickMark val="none"/>
        <c:tickLblPos val="nextTo"/>
        <c:crossAx val="327493648"/>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000"/>
              <a:t>GIÁN ĐOẠN KHAI THÁC</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GTB_ATB_RTO_DIV!$AA$3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GTB_ATB_RTO_DIV!$AA$4:$AA$5</c:f>
              <c:numCache>
                <c:formatCode>0.00</c:formatCode>
                <c:ptCount val="2"/>
                <c:pt idx="0" formatCode="0">
                  <c:v>37</c:v>
                </c:pt>
                <c:pt idx="1">
                  <c:v>8.4644948755490486</c:v>
                </c:pt>
              </c:numCache>
            </c:numRef>
          </c:val>
          <c:extLst>
            <c:ext xmlns:c16="http://schemas.microsoft.com/office/drawing/2014/chart" uri="{C3380CC4-5D6E-409C-BE32-E72D297353CC}">
              <c16:uniqueId val="{00000000-2D99-47E1-A368-E5F9B976FAB9}"/>
            </c:ext>
          </c:extLst>
        </c:ser>
        <c:ser>
          <c:idx val="1"/>
          <c:order val="1"/>
          <c:tx>
            <c:strRef>
              <c:f>GTB_ATB_RTO_DIV!$AB$3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GTB_ATB_RTO_DIV!$Z$4:$Z$5</c:f>
              <c:strCache>
                <c:ptCount val="2"/>
                <c:pt idx="0">
                  <c:v>Số vụ</c:v>
                </c:pt>
                <c:pt idx="1">
                  <c:v>Tỷ lệ/10000CB</c:v>
                </c:pt>
              </c:strCache>
            </c:strRef>
          </c:cat>
          <c:val>
            <c:numRef>
              <c:f>GTB_ATB_RTO_DIV!$AB$4:$AB$5</c:f>
              <c:numCache>
                <c:formatCode>0.00</c:formatCode>
                <c:ptCount val="2"/>
                <c:pt idx="0" formatCode="0">
                  <c:v>33</c:v>
                </c:pt>
                <c:pt idx="1">
                  <c:v>7.2562557720216372</c:v>
                </c:pt>
              </c:numCache>
            </c:numRef>
          </c:val>
          <c:extLst>
            <c:ext xmlns:c16="http://schemas.microsoft.com/office/drawing/2014/chart" uri="{C3380CC4-5D6E-409C-BE32-E72D297353CC}">
              <c16:uniqueId val="{00000001-2D99-47E1-A368-E5F9B976FAB9}"/>
            </c:ext>
          </c:extLst>
        </c:ser>
        <c:dLbls>
          <c:showLegendKey val="0"/>
          <c:showVal val="0"/>
          <c:showCatName val="0"/>
          <c:showSerName val="0"/>
          <c:showPercent val="0"/>
          <c:showBubbleSize val="0"/>
        </c:dLbls>
        <c:gapWidth val="219"/>
        <c:overlap val="-27"/>
        <c:axId val="327494432"/>
        <c:axId val="327485416"/>
      </c:barChart>
      <c:catAx>
        <c:axId val="327494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85416"/>
        <c:crosses val="autoZero"/>
        <c:auto val="1"/>
        <c:lblAlgn val="ctr"/>
        <c:lblOffset val="100"/>
        <c:noMultiLvlLbl val="0"/>
      </c:catAx>
      <c:valAx>
        <c:axId val="3274854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7494432"/>
        <c:crosses val="autoZero"/>
        <c:crossBetween val="between"/>
      </c:valAx>
      <c:spPr>
        <a:noFill/>
        <a:ln>
          <a:noFill/>
        </a:ln>
        <a:effectLst/>
      </c:spPr>
    </c:plotArea>
    <c:legend>
      <c:legendPos val="b"/>
      <c:layout>
        <c:manualLayout>
          <c:xMode val="edge"/>
          <c:yMode val="edge"/>
          <c:x val="0"/>
          <c:y val="0.92822092140665291"/>
          <c:w val="1"/>
          <c:h val="5.302488843471917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b="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6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Phân loại BCTN Tháng </a:t>
            </a:r>
            <a:r>
              <a:rPr lang="en-US" smtClean="0"/>
              <a:t>4/2025</a:t>
            </a:r>
            <a:endParaRPr lang="en-US"/>
          </a:p>
        </c:rich>
      </c:tx>
      <c:overlay val="0"/>
      <c:spPr>
        <a:noFill/>
        <a:ln>
          <a:noFill/>
        </a:ln>
        <a:effectLst/>
      </c:spPr>
      <c:txPr>
        <a:bodyPr rot="0" spcFirstLastPara="1" vertOverflow="ellipsis" vert="horz" wrap="square" anchor="ctr" anchorCtr="1"/>
        <a:lstStyle/>
        <a:p>
          <a:pPr>
            <a:defRPr sz="126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Sheet1!$B$1</c:f>
              <c:strCache>
                <c:ptCount val="1"/>
                <c:pt idx="0">
                  <c:v>Số sự việc</c:v>
                </c:pt>
              </c:strCache>
            </c:strRef>
          </c:tx>
          <c:explosion val="1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2B-4314-B5BC-75655B2B400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2B-4314-B5BC-75655B2B4007}"/>
              </c:ext>
            </c:extLst>
          </c:dPt>
          <c:dPt>
            <c:idx val="2"/>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5-A92B-4314-B5BC-75655B2B400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2B-4314-B5BC-75655B2B4007}"/>
              </c:ext>
            </c:extLst>
          </c:dPt>
          <c:dPt>
            <c:idx val="4"/>
            <c:bubble3D val="0"/>
            <c:spPr>
              <a:solidFill>
                <a:srgbClr val="92D050"/>
              </a:solidFill>
              <a:ln w="19050">
                <a:solidFill>
                  <a:schemeClr val="lt1"/>
                </a:solidFill>
              </a:ln>
              <a:effectLst/>
            </c:spPr>
            <c:extLst>
              <c:ext xmlns:c16="http://schemas.microsoft.com/office/drawing/2014/chart" uri="{C3380CC4-5D6E-409C-BE32-E72D297353CC}">
                <c16:uniqueId val="{00000009-A92B-4314-B5BC-75655B2B4007}"/>
              </c:ext>
            </c:extLst>
          </c:dPt>
          <c:dPt>
            <c:idx val="5"/>
            <c:bubble3D val="0"/>
            <c:spPr>
              <a:solidFill>
                <a:srgbClr val="FFC000"/>
              </a:solidFill>
              <a:ln w="19050">
                <a:solidFill>
                  <a:schemeClr val="lt1"/>
                </a:solidFill>
              </a:ln>
              <a:effectLst/>
            </c:spPr>
            <c:extLst>
              <c:ext xmlns:c16="http://schemas.microsoft.com/office/drawing/2014/chart" uri="{C3380CC4-5D6E-409C-BE32-E72D297353CC}">
                <c16:uniqueId val="{0000000B-A92B-4314-B5BC-75655B2B4007}"/>
              </c:ext>
            </c:extLst>
          </c:dPt>
          <c:dPt>
            <c:idx val="6"/>
            <c:bubble3D val="0"/>
            <c:spPr>
              <a:solidFill>
                <a:schemeClr val="accent4">
                  <a:lumMod val="40000"/>
                  <a:lumOff val="60000"/>
                </a:schemeClr>
              </a:solidFill>
              <a:ln w="19050">
                <a:solidFill>
                  <a:schemeClr val="lt1"/>
                </a:solidFill>
              </a:ln>
              <a:effectLst/>
            </c:spPr>
            <c:extLst>
              <c:ext xmlns:c16="http://schemas.microsoft.com/office/drawing/2014/chart" uri="{C3380CC4-5D6E-409C-BE32-E72D297353CC}">
                <c16:uniqueId val="{0000000D-A92B-4314-B5BC-75655B2B4007}"/>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A92B-4314-B5BC-75655B2B4007}"/>
              </c:ext>
            </c:extLst>
          </c:dPt>
          <c:dLbls>
            <c:dLbl>
              <c:idx val="7"/>
              <c:layout>
                <c:manualLayout>
                  <c:x val="-2.0469225534842369E-2"/>
                  <c:y val="3.812555195306469E-2"/>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A92B-4314-B5BC-75655B2B4007}"/>
                </c:ext>
              </c:extLst>
            </c:dLbl>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Hoàn thiện HSBD</c:v>
                </c:pt>
                <c:pt idx="1">
                  <c:v>Báo cáo PTVT</c:v>
                </c:pt>
                <c:pt idx="2">
                  <c:v>Báo cáo DC/TTB MĐ</c:v>
                </c:pt>
                <c:pt idx="3">
                  <c:v>Báo cáo môi trường làm việc</c:v>
                </c:pt>
                <c:pt idx="4">
                  <c:v>Báo cáo về cơ sở vật chất</c:v>
                </c:pt>
                <c:pt idx="5">
                  <c:v>Báo cáo sai lỗi cá nhân</c:v>
                </c:pt>
                <c:pt idx="6">
                  <c:v>Góp ý quy trình, mẫu biểu</c:v>
                </c:pt>
                <c:pt idx="7">
                  <c:v>Báo cáo theo CV3245</c:v>
                </c:pt>
              </c:strCache>
            </c:strRef>
          </c:cat>
          <c:val>
            <c:numRef>
              <c:f>Sheet1!$B$2:$B$9</c:f>
              <c:numCache>
                <c:formatCode>General</c:formatCode>
                <c:ptCount val="8"/>
                <c:pt idx="0">
                  <c:v>3</c:v>
                </c:pt>
                <c:pt idx="1">
                  <c:v>8</c:v>
                </c:pt>
                <c:pt idx="2">
                  <c:v>15</c:v>
                </c:pt>
                <c:pt idx="3">
                  <c:v>2</c:v>
                </c:pt>
                <c:pt idx="4">
                  <c:v>6</c:v>
                </c:pt>
                <c:pt idx="5">
                  <c:v>7</c:v>
                </c:pt>
                <c:pt idx="6">
                  <c:v>9</c:v>
                </c:pt>
                <c:pt idx="7">
                  <c:v>12</c:v>
                </c:pt>
              </c:numCache>
            </c:numRef>
          </c:val>
          <c:extLst>
            <c:ext xmlns:c16="http://schemas.microsoft.com/office/drawing/2014/chart" uri="{C3380CC4-5D6E-409C-BE32-E72D297353CC}">
              <c16:uniqueId val="{00000010-A92B-4314-B5BC-75655B2B4007}"/>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12700">
      <a:solidFill>
        <a:srgbClr val="000000"/>
      </a:solidFill>
    </a:ln>
    <a:effectLst/>
  </c:spPr>
  <c:txPr>
    <a:bodyPr/>
    <a:lstStyle/>
    <a:p>
      <a:pPr>
        <a:defRPr sz="1050" b="1">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5320893633785473E-3"/>
          <c:y val="3.1916487750823223E-2"/>
          <c:w val="0.99054955920989107"/>
          <c:h val="0.86802954192065407"/>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Events'!$D$3:$D$26</c:f>
              <c:numCache>
                <c:formatCode>0</c:formatCode>
                <c:ptCount val="13"/>
                <c:pt idx="0">
                  <c:v>8</c:v>
                </c:pt>
                <c:pt idx="1">
                  <c:v>1</c:v>
                </c:pt>
                <c:pt idx="2">
                  <c:v>5</c:v>
                </c:pt>
                <c:pt idx="3">
                  <c:v>9</c:v>
                </c:pt>
                <c:pt idx="4">
                  <c:v>5</c:v>
                </c:pt>
                <c:pt idx="5">
                  <c:v>7</c:v>
                </c:pt>
                <c:pt idx="6">
                  <c:v>5</c:v>
                </c:pt>
                <c:pt idx="7">
                  <c:v>5</c:v>
                </c:pt>
                <c:pt idx="8">
                  <c:v>12</c:v>
                </c:pt>
                <c:pt idx="9">
                  <c:v>1</c:v>
                </c:pt>
                <c:pt idx="10">
                  <c:v>4</c:v>
                </c:pt>
                <c:pt idx="11">
                  <c:v>8</c:v>
                </c:pt>
                <c:pt idx="12">
                  <c:v>4</c:v>
                </c:pt>
              </c:numCache>
            </c:numRef>
          </c:val>
          <c:extLst>
            <c:ext xmlns:c16="http://schemas.microsoft.com/office/drawing/2014/chart" uri="{C3380CC4-5D6E-409C-BE32-E72D297353CC}">
              <c16:uniqueId val="{00000000-3B13-4D6E-B1C5-F891F64EA2C1}"/>
            </c:ext>
          </c:extLst>
        </c:ser>
        <c:dLbls>
          <c:showLegendKey val="0"/>
          <c:showVal val="0"/>
          <c:showCatName val="0"/>
          <c:showSerName val="0"/>
          <c:showPercent val="0"/>
          <c:showBubbleSize val="0"/>
        </c:dLbls>
        <c:gapWidth val="150"/>
        <c:axId val="530395304"/>
        <c:axId val="530385112"/>
      </c:barChart>
      <c:lineChart>
        <c:grouping val="standard"/>
        <c:varyColors val="0"/>
        <c:ser>
          <c:idx val="1"/>
          <c:order val="1"/>
          <c:spPr>
            <a:ln w="28575">
              <a:solidFill>
                <a:srgbClr val="7030A0"/>
              </a:solidFill>
            </a:ln>
          </c:spPr>
          <c:marker>
            <c:symbol val="none"/>
          </c:marker>
          <c:dLbls>
            <c:dLbl>
              <c:idx val="0"/>
              <c:layout>
                <c:manualLayout>
                  <c:x val="-1.8223846757929395E-2"/>
                  <c:y val="-8.57022897896732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3B13-4D6E-B1C5-F891F64EA2C1}"/>
                </c:ext>
              </c:extLst>
            </c:dLbl>
            <c:dLbl>
              <c:idx val="1"/>
              <c:layout>
                <c:manualLayout>
                  <c:x val="-2.8164126807709064E-2"/>
                  <c:y val="-9.6459899386703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3B13-4D6E-B1C5-F891F64EA2C1}"/>
                </c:ext>
              </c:extLst>
            </c:dLbl>
            <c:dLbl>
              <c:idx val="3"/>
              <c:layout>
                <c:manualLayout>
                  <c:x val="-3.0969581699448748E-2"/>
                  <c:y val="-0.12806807166883286"/>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3B13-4D6E-B1C5-F891F64EA2C1}"/>
                </c:ext>
              </c:extLst>
            </c:dLbl>
            <c:dLbl>
              <c:idx val="4"/>
              <c:layout>
                <c:manualLayout>
                  <c:x val="-3.1477553490969014E-2"/>
                  <c:y val="-8.211641992399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3B13-4D6E-B1C5-F891F64EA2C1}"/>
                </c:ext>
              </c:extLst>
            </c:dLbl>
            <c:dLbl>
              <c:idx val="5"/>
              <c:layout>
                <c:manualLayout>
                  <c:x val="-2.1537273441189286E-2"/>
                  <c:y val="-0.1108033788494101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3B13-4D6E-B1C5-F891F64EA2C1}"/>
                </c:ext>
              </c:extLst>
            </c:dLbl>
            <c:dLbl>
              <c:idx val="8"/>
              <c:layout>
                <c:manualLayout>
                  <c:x val="-5.301482693215824E-2"/>
                  <c:y val="-0.1143892487150868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3B13-4D6E-B1C5-F891F64EA2C1}"/>
                </c:ext>
              </c:extLst>
            </c:dLbl>
            <c:dLbl>
              <c:idx val="9"/>
              <c:layout>
                <c:manualLayout>
                  <c:x val="-7.2121215562930899E-2"/>
                  <c:y val="-7.851575845050370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B13-4D6E-B1C5-F891F64EA2C1}"/>
                </c:ext>
              </c:extLst>
            </c:dLbl>
            <c:dLbl>
              <c:idx val="10"/>
              <c:layout>
                <c:manualLayout>
                  <c:x val="-4.3860507345632266E-2"/>
                  <c:y val="-6.047668351649034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3-3B13-4D6E-B1C5-F891F64EA2C1}"/>
                </c:ext>
              </c:extLst>
            </c:dLbl>
            <c:dLbl>
              <c:idx val="11"/>
              <c:layout>
                <c:manualLayout>
                  <c:x val="-2.7656155016188951E-2"/>
                  <c:y val="-0.1547977668218943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B13-4D6E-B1C5-F891F64EA2C1}"/>
                </c:ext>
              </c:extLst>
            </c:dLbl>
            <c:dLbl>
              <c:idx val="12"/>
              <c:layout>
                <c:manualLayout>
                  <c:x val="-1.2799741187460285E-3"/>
                  <c:y val="-3.1914241804522792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4.4731260224008515E-2"/>
                      <c:h val="6.024261374336861E-2"/>
                    </c:manualLayout>
                  </c15:layout>
                </c:ext>
                <c:ext xmlns:c16="http://schemas.microsoft.com/office/drawing/2014/chart" uri="{C3380CC4-5D6E-409C-BE32-E72D297353CC}">
                  <c16:uniqueId val="{00000020-3B13-4D6E-B1C5-F891F64EA2C1}"/>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Events'!$E$3:$E$26</c:f>
              <c:numCache>
                <c:formatCode>0.00</c:formatCode>
                <c:ptCount val="13"/>
                <c:pt idx="0">
                  <c:v>7.7783179387457464</c:v>
                </c:pt>
                <c:pt idx="1">
                  <c:v>0.98473658296405708</c:v>
                </c:pt>
                <c:pt idx="2">
                  <c:v>4.3133195307108352</c:v>
                </c:pt>
                <c:pt idx="3">
                  <c:v>6.9380203515263643</c:v>
                </c:pt>
                <c:pt idx="4">
                  <c:v>4.2578557438473981</c:v>
                </c:pt>
                <c:pt idx="5">
                  <c:v>7.4922401798137646</c:v>
                </c:pt>
                <c:pt idx="6">
                  <c:v>5.2410901467505244</c:v>
                </c:pt>
                <c:pt idx="7">
                  <c:v>5.0443906376109764</c:v>
                </c:pt>
                <c:pt idx="8">
                  <c:v>10.432061201425714</c:v>
                </c:pt>
                <c:pt idx="9">
                  <c:v>0.83347224537422904</c:v>
                </c:pt>
                <c:pt idx="10">
                  <c:v>3.6416605972323381</c:v>
                </c:pt>
                <c:pt idx="11">
                  <c:v>7.1256791662955372</c:v>
                </c:pt>
                <c:pt idx="12">
                  <c:v>3.5495607418581949</c:v>
                </c:pt>
              </c:numCache>
            </c:numRef>
          </c:val>
          <c:smooth val="0"/>
          <c:extLst>
            <c:ext xmlns:c16="http://schemas.microsoft.com/office/drawing/2014/chart" uri="{C3380CC4-5D6E-409C-BE32-E72D297353CC}">
              <c16:uniqueId val="{00000005-3B13-4D6E-B1C5-F891F64EA2C1}"/>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B13-4D6E-B1C5-F891F64EA2C1}"/>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3B13-4D6E-B1C5-F891F64EA2C1}"/>
                </c:ext>
              </c:extLst>
            </c:dLbl>
            <c:spPr>
              <a:solidFill>
                <a:srgbClr val="00B0F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Events'!$F$3:$F$26</c:f>
              <c:numCache>
                <c:formatCode>0.00</c:formatCode>
                <c:ptCount val="13"/>
                <c:pt idx="0">
                  <c:v>11.683672056961605</c:v>
                </c:pt>
                <c:pt idx="1">
                  <c:v>11.683672056961605</c:v>
                </c:pt>
                <c:pt idx="2">
                  <c:v>11.683672056961605</c:v>
                </c:pt>
                <c:pt idx="3">
                  <c:v>11.683672056961605</c:v>
                </c:pt>
                <c:pt idx="4">
                  <c:v>11.683672056961605</c:v>
                </c:pt>
                <c:pt idx="5">
                  <c:v>11.683672056961605</c:v>
                </c:pt>
                <c:pt idx="6">
                  <c:v>11.683672056961605</c:v>
                </c:pt>
                <c:pt idx="7">
                  <c:v>11.683672056961605</c:v>
                </c:pt>
                <c:pt idx="8">
                  <c:v>11.683672056961605</c:v>
                </c:pt>
                <c:pt idx="9">
                  <c:v>6.8377802024731364</c:v>
                </c:pt>
                <c:pt idx="10">
                  <c:v>6.8377802024731364</c:v>
                </c:pt>
                <c:pt idx="11">
                  <c:v>6.8377802024731364</c:v>
                </c:pt>
                <c:pt idx="12">
                  <c:v>6.8377802024731364</c:v>
                </c:pt>
              </c:numCache>
            </c:numRef>
          </c:val>
          <c:smooth val="0"/>
          <c:extLst>
            <c:ext xmlns:c16="http://schemas.microsoft.com/office/drawing/2014/chart" uri="{C3380CC4-5D6E-409C-BE32-E72D297353CC}">
              <c16:uniqueId val="{00000007-3B13-4D6E-B1C5-F891F64EA2C1}"/>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3B13-4D6E-B1C5-F891F64EA2C1}"/>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3B13-4D6E-B1C5-F891F64EA2C1}"/>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Events'!$G$3:$G$26</c:f>
              <c:numCache>
                <c:formatCode>0.00</c:formatCode>
                <c:ptCount val="13"/>
                <c:pt idx="0">
                  <c:v>14.593388907273475</c:v>
                </c:pt>
                <c:pt idx="1">
                  <c:v>14.593388907273475</c:v>
                </c:pt>
                <c:pt idx="2">
                  <c:v>14.593388907273475</c:v>
                </c:pt>
                <c:pt idx="3">
                  <c:v>14.593388907273475</c:v>
                </c:pt>
                <c:pt idx="4">
                  <c:v>14.593388907273475</c:v>
                </c:pt>
                <c:pt idx="5">
                  <c:v>14.593388907273475</c:v>
                </c:pt>
                <c:pt idx="6">
                  <c:v>14.593388907273475</c:v>
                </c:pt>
                <c:pt idx="7">
                  <c:v>14.593388907273475</c:v>
                </c:pt>
                <c:pt idx="8">
                  <c:v>14.593388907273475</c:v>
                </c:pt>
                <c:pt idx="9">
                  <c:v>8.0038454009607438</c:v>
                </c:pt>
                <c:pt idx="10">
                  <c:v>8.0038454009607438</c:v>
                </c:pt>
                <c:pt idx="11">
                  <c:v>8.0038454009607438</c:v>
                </c:pt>
                <c:pt idx="12">
                  <c:v>8.0038454009607438</c:v>
                </c:pt>
              </c:numCache>
            </c:numRef>
          </c:val>
          <c:smooth val="0"/>
          <c:extLst>
            <c:ext xmlns:c16="http://schemas.microsoft.com/office/drawing/2014/chart" uri="{C3380CC4-5D6E-409C-BE32-E72D297353CC}">
              <c16:uniqueId val="{00000009-3B13-4D6E-B1C5-F891F64EA2C1}"/>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B13-4D6E-B1C5-F891F64EA2C1}"/>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3B13-4D6E-B1C5-F891F64EA2C1}"/>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Events'!$H$3:$H$26</c:f>
              <c:numCache>
                <c:formatCode>0.00</c:formatCode>
                <c:ptCount val="13"/>
                <c:pt idx="0">
                  <c:v>17.503105757585345</c:v>
                </c:pt>
                <c:pt idx="1">
                  <c:v>17.503105757585345</c:v>
                </c:pt>
                <c:pt idx="2">
                  <c:v>17.503105757585345</c:v>
                </c:pt>
                <c:pt idx="3">
                  <c:v>17.503105757585345</c:v>
                </c:pt>
                <c:pt idx="4">
                  <c:v>17.503105757585345</c:v>
                </c:pt>
                <c:pt idx="5">
                  <c:v>17.503105757585345</c:v>
                </c:pt>
                <c:pt idx="6">
                  <c:v>17.503105757585345</c:v>
                </c:pt>
                <c:pt idx="7">
                  <c:v>17.503105757585345</c:v>
                </c:pt>
                <c:pt idx="8">
                  <c:v>17.503105757585345</c:v>
                </c:pt>
                <c:pt idx="9">
                  <c:v>9.1699105994483503</c:v>
                </c:pt>
                <c:pt idx="10">
                  <c:v>9.1699105994483503</c:v>
                </c:pt>
                <c:pt idx="11">
                  <c:v>9.1699105994483503</c:v>
                </c:pt>
                <c:pt idx="12">
                  <c:v>9.1699105994483503</c:v>
                </c:pt>
              </c:numCache>
            </c:numRef>
          </c:val>
          <c:smooth val="0"/>
          <c:extLst>
            <c:ext xmlns:c16="http://schemas.microsoft.com/office/drawing/2014/chart" uri="{C3380CC4-5D6E-409C-BE32-E72D297353CC}">
              <c16:uniqueId val="{0000000B-3B13-4D6E-B1C5-F891F64EA2C1}"/>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B13-4D6E-B1C5-F891F64EA2C1}"/>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B13-4D6E-B1C5-F891F64EA2C1}"/>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'Cut Tire Events'!$B$3:$B$26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'Cut Tire Events'!$I$3:$I$26</c:f>
              <c:numCache>
                <c:formatCode>0.00</c:formatCode>
                <c:ptCount val="13"/>
                <c:pt idx="0">
                  <c:v>8.7739552066497346</c:v>
                </c:pt>
                <c:pt idx="1">
                  <c:v>8.7739552066497346</c:v>
                </c:pt>
                <c:pt idx="2">
                  <c:v>8.7739552066497346</c:v>
                </c:pt>
                <c:pt idx="3">
                  <c:v>8.7739552066497346</c:v>
                </c:pt>
                <c:pt idx="4">
                  <c:v>8.7739552066497346</c:v>
                </c:pt>
                <c:pt idx="5">
                  <c:v>8.7739552066497346</c:v>
                </c:pt>
                <c:pt idx="6">
                  <c:v>8.7739552066497346</c:v>
                </c:pt>
                <c:pt idx="7">
                  <c:v>8.7739552066497346</c:v>
                </c:pt>
                <c:pt idx="8">
                  <c:v>8.7739552066497346</c:v>
                </c:pt>
                <c:pt idx="9">
                  <c:v>5.67</c:v>
                </c:pt>
                <c:pt idx="10">
                  <c:v>5.67</c:v>
                </c:pt>
                <c:pt idx="11">
                  <c:v>5.67</c:v>
                </c:pt>
                <c:pt idx="12">
                  <c:v>5.67</c:v>
                </c:pt>
              </c:numCache>
            </c:numRef>
          </c:val>
          <c:smooth val="0"/>
          <c:extLst>
            <c:ext xmlns:c16="http://schemas.microsoft.com/office/drawing/2014/chart" uri="{C3380CC4-5D6E-409C-BE32-E72D297353CC}">
              <c16:uniqueId val="{0000000D-3B13-4D6E-B1C5-F891F64EA2C1}"/>
            </c:ext>
          </c:extLst>
        </c:ser>
        <c:dLbls>
          <c:showLegendKey val="0"/>
          <c:showVal val="1"/>
          <c:showCatName val="0"/>
          <c:showSerName val="0"/>
          <c:showPercent val="0"/>
          <c:showBubbleSize val="0"/>
        </c:dLbls>
        <c:marker val="1"/>
        <c:smooth val="0"/>
        <c:axId val="530395304"/>
        <c:axId val="530385112"/>
      </c:lineChart>
      <c:catAx>
        <c:axId val="530395304"/>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0385112"/>
        <c:crosses val="autoZero"/>
        <c:auto val="1"/>
        <c:lblAlgn val="ctr"/>
        <c:lblOffset val="100"/>
        <c:noMultiLvlLbl val="0"/>
      </c:catAx>
      <c:valAx>
        <c:axId val="530385112"/>
        <c:scaling>
          <c:orientation val="minMax"/>
        </c:scaling>
        <c:delete val="1"/>
        <c:axPos val="l"/>
        <c:numFmt formatCode="0" sourceLinked="1"/>
        <c:majorTickMark val="out"/>
        <c:minorTickMark val="none"/>
        <c:tickLblPos val="nextTo"/>
        <c:crossAx val="530395304"/>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LỐP CẮT</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'Cut Tire Events'!$AB$3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Events'!$AB$4:$AB$5</c:f>
              <c:numCache>
                <c:formatCode>0.00</c:formatCode>
                <c:ptCount val="2"/>
                <c:pt idx="0" formatCode="0">
                  <c:v>25</c:v>
                </c:pt>
                <c:pt idx="1">
                  <c:v>5.7192532942898975</c:v>
                </c:pt>
              </c:numCache>
            </c:numRef>
          </c:val>
          <c:extLst>
            <c:ext xmlns:c16="http://schemas.microsoft.com/office/drawing/2014/chart" uri="{C3380CC4-5D6E-409C-BE32-E72D297353CC}">
              <c16:uniqueId val="{00000000-9304-4CB4-8621-4DE24604BDEC}"/>
            </c:ext>
          </c:extLst>
        </c:ser>
        <c:ser>
          <c:idx val="1"/>
          <c:order val="1"/>
          <c:tx>
            <c:strRef>
              <c:f>'Cut Tire Events'!$AC$3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'Cut Tire Events'!$AA$4:$AA$5</c:f>
              <c:strCache>
                <c:ptCount val="2"/>
                <c:pt idx="0">
                  <c:v>Số vụ</c:v>
                </c:pt>
                <c:pt idx="1">
                  <c:v>Tỷ lệ/10000CB</c:v>
                </c:pt>
              </c:strCache>
            </c:strRef>
          </c:cat>
          <c:val>
            <c:numRef>
              <c:f>'Cut Tire Events'!$AC$4:$AC$5</c:f>
              <c:numCache>
                <c:formatCode>0.00</c:formatCode>
                <c:ptCount val="2"/>
                <c:pt idx="0" formatCode="0">
                  <c:v>17</c:v>
                </c:pt>
                <c:pt idx="1">
                  <c:v>3.7380711552838735</c:v>
                </c:pt>
              </c:numCache>
            </c:numRef>
          </c:val>
          <c:extLst>
            <c:ext xmlns:c16="http://schemas.microsoft.com/office/drawing/2014/chart" uri="{C3380CC4-5D6E-409C-BE32-E72D297353CC}">
              <c16:uniqueId val="{00000001-9304-4CB4-8621-4DE24604BDEC}"/>
            </c:ext>
          </c:extLst>
        </c:ser>
        <c:dLbls>
          <c:showLegendKey val="0"/>
          <c:showVal val="0"/>
          <c:showCatName val="0"/>
          <c:showSerName val="0"/>
          <c:showPercent val="0"/>
          <c:showBubbleSize val="0"/>
        </c:dLbls>
        <c:gapWidth val="219"/>
        <c:overlap val="-27"/>
        <c:axId val="530391384"/>
        <c:axId val="530387072"/>
      </c:barChart>
      <c:catAx>
        <c:axId val="530391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87072"/>
        <c:crosses val="autoZero"/>
        <c:auto val="1"/>
        <c:lblAlgn val="ctr"/>
        <c:lblOffset val="100"/>
        <c:noMultiLvlLbl val="0"/>
      </c:catAx>
      <c:valAx>
        <c:axId val="5303870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0391384"/>
        <c:crosses val="autoZero"/>
        <c:crossBetween val="between"/>
      </c:valAx>
      <c:spPr>
        <a:noFill/>
        <a:ln>
          <a:noFill/>
        </a:ln>
        <a:effectLst/>
      </c:spPr>
    </c:plotArea>
    <c:legend>
      <c:legendPos val="b"/>
      <c:layout>
        <c:manualLayout>
          <c:xMode val="edge"/>
          <c:yMode val="edge"/>
          <c:x val="0"/>
          <c:y val="0.92421064941139786"/>
          <c:w val="1"/>
          <c:h val="5.598737039058236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6989229147329432E-4"/>
          <c:y val="4.1215336117409129E-2"/>
          <c:w val="0.99843057138200053"/>
          <c:h val="0.85791949585707694"/>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PDA!$D$3:$D$26</c:f>
              <c:numCache>
                <c:formatCode>0</c:formatCode>
                <c:ptCount val="13"/>
                <c:pt idx="0">
                  <c:v>1</c:v>
                </c:pt>
                <c:pt idx="1">
                  <c:v>1</c:v>
                </c:pt>
                <c:pt idx="2">
                  <c:v>4</c:v>
                </c:pt>
                <c:pt idx="3">
                  <c:v>2</c:v>
                </c:pt>
                <c:pt idx="4">
                  <c:v>0</c:v>
                </c:pt>
                <c:pt idx="5">
                  <c:v>0</c:v>
                </c:pt>
                <c:pt idx="6">
                  <c:v>3</c:v>
                </c:pt>
                <c:pt idx="7">
                  <c:v>2</c:v>
                </c:pt>
                <c:pt idx="8">
                  <c:v>3</c:v>
                </c:pt>
                <c:pt idx="9">
                  <c:v>2</c:v>
                </c:pt>
                <c:pt idx="10">
                  <c:v>1</c:v>
                </c:pt>
                <c:pt idx="11">
                  <c:v>0</c:v>
                </c:pt>
                <c:pt idx="12">
                  <c:v>0</c:v>
                </c:pt>
              </c:numCache>
            </c:numRef>
          </c:val>
          <c:extLst>
            <c:ext xmlns:c16="http://schemas.microsoft.com/office/drawing/2014/chart" uri="{C3380CC4-5D6E-409C-BE32-E72D297353CC}">
              <c16:uniqueId val="{00000000-9A96-46C1-BD21-F0D833A0216F}"/>
            </c:ext>
          </c:extLst>
        </c:ser>
        <c:dLbls>
          <c:showLegendKey val="0"/>
          <c:showVal val="0"/>
          <c:showCatName val="0"/>
          <c:showSerName val="0"/>
          <c:showPercent val="0"/>
          <c:showBubbleSize val="0"/>
        </c:dLbls>
        <c:gapWidth val="150"/>
        <c:axId val="527263552"/>
        <c:axId val="527259240"/>
      </c:barChart>
      <c:lineChart>
        <c:grouping val="standard"/>
        <c:varyColors val="0"/>
        <c:ser>
          <c:idx val="1"/>
          <c:order val="1"/>
          <c:spPr>
            <a:ln w="28575">
              <a:solidFill>
                <a:srgbClr val="7030A0"/>
              </a:solidFill>
            </a:ln>
          </c:spPr>
          <c:marker>
            <c:symbol val="none"/>
          </c:marker>
          <c:dLbls>
            <c:dLbl>
              <c:idx val="1"/>
              <c:layout>
                <c:manualLayout>
                  <c:x val="-4.804869839298434E-2"/>
                  <c:y val="-7.08154411471847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A96-46C1-BD21-F0D833A0216F}"/>
                </c:ext>
              </c:extLst>
            </c:dLbl>
            <c:dLbl>
              <c:idx val="2"/>
              <c:layout>
                <c:manualLayout>
                  <c:x val="-3.3137033374471991E-2"/>
                  <c:y val="-0.1569929621199493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A96-46C1-BD21-F0D833A0216F}"/>
                </c:ext>
              </c:extLst>
            </c:dLbl>
            <c:dLbl>
              <c:idx val="3"/>
              <c:layout>
                <c:manualLayout>
                  <c:x val="-3.1480181705748393E-2"/>
                  <c:y val="-0.1757272058096807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A96-46C1-BD21-F0D833A0216F}"/>
                </c:ext>
              </c:extLst>
            </c:dLbl>
            <c:dLbl>
              <c:idx val="4"/>
              <c:delete val="1"/>
              <c:extLst>
                <c:ext xmlns:c15="http://schemas.microsoft.com/office/drawing/2012/chart" uri="{CE6537A1-D6FC-4f65-9D91-7224C49458BB}"/>
                <c:ext xmlns:c16="http://schemas.microsoft.com/office/drawing/2014/chart" uri="{C3380CC4-5D6E-409C-BE32-E72D297353CC}">
                  <c16:uniqueId val="{00000013-9A96-46C1-BD21-F0D833A0216F}"/>
                </c:ext>
              </c:extLst>
            </c:dLbl>
            <c:dLbl>
              <c:idx val="5"/>
              <c:delete val="1"/>
              <c:extLst>
                <c:ext xmlns:c15="http://schemas.microsoft.com/office/drawing/2012/chart" uri="{CE6537A1-D6FC-4f65-9D91-7224C49458BB}"/>
                <c:ext xmlns:c16="http://schemas.microsoft.com/office/drawing/2014/chart" uri="{C3380CC4-5D6E-409C-BE32-E72D297353CC}">
                  <c16:uniqueId val="{00000012-9A96-46C1-BD21-F0D833A0216F}"/>
                </c:ext>
              </c:extLst>
            </c:dLbl>
            <c:dLbl>
              <c:idx val="7"/>
              <c:layout>
                <c:manualLayout>
                  <c:x val="-2.6509626699577689E-2"/>
                  <c:y val="-0.1157776260025401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9A96-46C1-BD21-F0D833A0216F}"/>
                </c:ext>
              </c:extLst>
            </c:dLbl>
            <c:dLbl>
              <c:idx val="8"/>
              <c:layout>
                <c:manualLayout>
                  <c:x val="-3.9764440049366474E-2"/>
                  <c:y val="-0.1607398108578956"/>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9A96-46C1-BD21-F0D833A0216F}"/>
                </c:ext>
              </c:extLst>
            </c:dLbl>
            <c:dLbl>
              <c:idx val="9"/>
              <c:layout>
                <c:manualLayout>
                  <c:x val="-1.4911665018512382E-2"/>
                  <c:y val="-0.1270181722163789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9A96-46C1-BD21-F0D833A0216F}"/>
                </c:ext>
              </c:extLst>
            </c:dLbl>
            <c:dLbl>
              <c:idx val="11"/>
              <c:delete val="1"/>
              <c:extLst>
                <c:ext xmlns:c15="http://schemas.microsoft.com/office/drawing/2012/chart" uri="{CE6537A1-D6FC-4f65-9D91-7224C49458BB}"/>
                <c:ext xmlns:c16="http://schemas.microsoft.com/office/drawing/2014/chart" uri="{C3380CC4-5D6E-409C-BE32-E72D297353CC}">
                  <c16:uniqueId val="{00000010-9A96-46C1-BD21-F0D833A0216F}"/>
                </c:ext>
              </c:extLst>
            </c:dLbl>
            <c:dLbl>
              <c:idx val="12"/>
              <c:delete val="1"/>
              <c:extLst>
                <c:ext xmlns:c15="http://schemas.microsoft.com/office/drawing/2012/chart" uri="{CE6537A1-D6FC-4f65-9D91-7224C49458BB}"/>
                <c:ext xmlns:c16="http://schemas.microsoft.com/office/drawing/2014/chart" uri="{C3380CC4-5D6E-409C-BE32-E72D297353CC}">
                  <c16:uniqueId val="{00000011-9A96-46C1-BD21-F0D833A0216F}"/>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PDA!$E$3:$E$26</c:f>
              <c:numCache>
                <c:formatCode>0.00</c:formatCode>
                <c:ptCount val="13"/>
                <c:pt idx="0">
                  <c:v>0.9722897423432183</c:v>
                </c:pt>
                <c:pt idx="1">
                  <c:v>0.98473658296405708</c:v>
                </c:pt>
                <c:pt idx="2">
                  <c:v>3.4506556245686681</c:v>
                </c:pt>
                <c:pt idx="3">
                  <c:v>1.5417823003391922</c:v>
                </c:pt>
                <c:pt idx="4">
                  <c:v>0</c:v>
                </c:pt>
                <c:pt idx="5">
                  <c:v>0</c:v>
                </c:pt>
                <c:pt idx="6">
                  <c:v>3.1446540880503147</c:v>
                </c:pt>
                <c:pt idx="7">
                  <c:v>2.0177562550443908</c:v>
                </c:pt>
                <c:pt idx="8">
                  <c:v>2.6080153003564286</c:v>
                </c:pt>
                <c:pt idx="9">
                  <c:v>1.6669444907484581</c:v>
                </c:pt>
                <c:pt idx="10">
                  <c:v>0.91041514930808454</c:v>
                </c:pt>
                <c:pt idx="11">
                  <c:v>0</c:v>
                </c:pt>
                <c:pt idx="12">
                  <c:v>0</c:v>
                </c:pt>
              </c:numCache>
            </c:numRef>
          </c:val>
          <c:smooth val="0"/>
          <c:extLst>
            <c:ext xmlns:c16="http://schemas.microsoft.com/office/drawing/2014/chart" uri="{C3380CC4-5D6E-409C-BE32-E72D297353CC}">
              <c16:uniqueId val="{00000001-9A96-46C1-BD21-F0D833A0216F}"/>
            </c:ext>
          </c:extLst>
        </c:ser>
        <c:ser>
          <c:idx val="2"/>
          <c:order val="2"/>
          <c:spPr>
            <a:ln w="2540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9A96-46C1-BD21-F0D833A0216F}"/>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9A96-46C1-BD21-F0D833A0216F}"/>
                </c:ext>
              </c:extLst>
            </c:dLbl>
            <c:spPr>
              <a:solidFill>
                <a:srgbClr val="00B0F0"/>
              </a:solidFill>
              <a:ln>
                <a:solidFill>
                  <a:srgbClr val="00B0F0"/>
                </a:solid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PDA!$F$3:$F$26</c:f>
              <c:numCache>
                <c:formatCode>0.00</c:formatCode>
                <c:ptCount val="13"/>
                <c:pt idx="0">
                  <c:v>3.2711236928020275</c:v>
                </c:pt>
                <c:pt idx="1">
                  <c:v>3.2711236928020275</c:v>
                </c:pt>
                <c:pt idx="2">
                  <c:v>3.2711236928020275</c:v>
                </c:pt>
                <c:pt idx="3">
                  <c:v>3.2711236928020275</c:v>
                </c:pt>
                <c:pt idx="4">
                  <c:v>3.2711236928020275</c:v>
                </c:pt>
                <c:pt idx="5">
                  <c:v>3.2711236928020275</c:v>
                </c:pt>
                <c:pt idx="6">
                  <c:v>3.2711236928020275</c:v>
                </c:pt>
                <c:pt idx="7">
                  <c:v>3.2711236928020275</c:v>
                </c:pt>
                <c:pt idx="8">
                  <c:v>3.2711236928020275</c:v>
                </c:pt>
                <c:pt idx="9">
                  <c:v>2.2287462259104638</c:v>
                </c:pt>
                <c:pt idx="10">
                  <c:v>2.2287462259104638</c:v>
                </c:pt>
                <c:pt idx="11">
                  <c:v>2.2287462259104638</c:v>
                </c:pt>
                <c:pt idx="12">
                  <c:v>2.2287462259104638</c:v>
                </c:pt>
              </c:numCache>
            </c:numRef>
          </c:val>
          <c:smooth val="0"/>
          <c:extLst>
            <c:ext xmlns:c16="http://schemas.microsoft.com/office/drawing/2014/chart" uri="{C3380CC4-5D6E-409C-BE32-E72D297353CC}">
              <c16:uniqueId val="{00000003-9A96-46C1-BD21-F0D833A0216F}"/>
            </c:ext>
          </c:extLst>
        </c:ser>
        <c:ser>
          <c:idx val="3"/>
          <c:order val="3"/>
          <c:spPr>
            <a:ln w="25400">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9A96-46C1-BD21-F0D833A0216F}"/>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9A96-46C1-BD21-F0D833A0216F}"/>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PDA!$G$3:$G$26</c:f>
              <c:numCache>
                <c:formatCode>0.00</c:formatCode>
                <c:ptCount val="13"/>
                <c:pt idx="0">
                  <c:v>4.1222473856040551</c:v>
                </c:pt>
                <c:pt idx="1">
                  <c:v>4.1222473856040551</c:v>
                </c:pt>
                <c:pt idx="2">
                  <c:v>4.1222473856040551</c:v>
                </c:pt>
                <c:pt idx="3">
                  <c:v>4.1222473856040551</c:v>
                </c:pt>
                <c:pt idx="4">
                  <c:v>4.1222473856040551</c:v>
                </c:pt>
                <c:pt idx="5">
                  <c:v>4.1222473856040551</c:v>
                </c:pt>
                <c:pt idx="6">
                  <c:v>4.1222473856040551</c:v>
                </c:pt>
                <c:pt idx="7">
                  <c:v>4.1222473856040551</c:v>
                </c:pt>
                <c:pt idx="8">
                  <c:v>4.1222473856040551</c:v>
                </c:pt>
                <c:pt idx="9">
                  <c:v>2.7713069100955003</c:v>
                </c:pt>
                <c:pt idx="10">
                  <c:v>2.7713069100955003</c:v>
                </c:pt>
                <c:pt idx="11">
                  <c:v>2.7713069100955003</c:v>
                </c:pt>
                <c:pt idx="12">
                  <c:v>2.7713069100955003</c:v>
                </c:pt>
              </c:numCache>
            </c:numRef>
          </c:val>
          <c:smooth val="0"/>
          <c:extLst>
            <c:ext xmlns:c16="http://schemas.microsoft.com/office/drawing/2014/chart" uri="{C3380CC4-5D6E-409C-BE32-E72D297353CC}">
              <c16:uniqueId val="{00000005-9A96-46C1-BD21-F0D833A0216F}"/>
            </c:ext>
          </c:extLst>
        </c:ser>
        <c:ser>
          <c:idx val="4"/>
          <c:order val="4"/>
          <c:spPr>
            <a:ln w="25400">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9A96-46C1-BD21-F0D833A0216F}"/>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9A96-46C1-BD21-F0D833A0216F}"/>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PDA!$H$3:$H$26</c:f>
              <c:numCache>
                <c:formatCode>0.00</c:formatCode>
                <c:ptCount val="13"/>
                <c:pt idx="0">
                  <c:v>4.9733710784060827</c:v>
                </c:pt>
                <c:pt idx="1">
                  <c:v>4.9733710784060827</c:v>
                </c:pt>
                <c:pt idx="2">
                  <c:v>4.9733710784060827</c:v>
                </c:pt>
                <c:pt idx="3">
                  <c:v>4.9733710784060827</c:v>
                </c:pt>
                <c:pt idx="4">
                  <c:v>4.9733710784060827</c:v>
                </c:pt>
                <c:pt idx="5">
                  <c:v>4.9733710784060827</c:v>
                </c:pt>
                <c:pt idx="6">
                  <c:v>4.9733710784060827</c:v>
                </c:pt>
                <c:pt idx="7">
                  <c:v>4.9733710784060827</c:v>
                </c:pt>
                <c:pt idx="8">
                  <c:v>4.9733710784060827</c:v>
                </c:pt>
                <c:pt idx="9">
                  <c:v>3.3138675942805369</c:v>
                </c:pt>
                <c:pt idx="10">
                  <c:v>3.3138675942805369</c:v>
                </c:pt>
                <c:pt idx="11">
                  <c:v>3.3138675942805369</c:v>
                </c:pt>
                <c:pt idx="12">
                  <c:v>3.3138675942805369</c:v>
                </c:pt>
              </c:numCache>
            </c:numRef>
          </c:val>
          <c:smooth val="0"/>
          <c:extLst>
            <c:ext xmlns:c16="http://schemas.microsoft.com/office/drawing/2014/chart" uri="{C3380CC4-5D6E-409C-BE32-E72D297353CC}">
              <c16:uniqueId val="{00000007-9A96-46C1-BD21-F0D833A0216F}"/>
            </c:ext>
          </c:extLst>
        </c:ser>
        <c:ser>
          <c:idx val="5"/>
          <c:order val="5"/>
          <c:spPr>
            <a:ln w="25400">
              <a:solidFill>
                <a:srgbClr val="339933"/>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9A96-46C1-BD21-F0D833A0216F}"/>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9A96-46C1-BD21-F0D833A0216F}"/>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PDA!$B$3:$B$26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PDA!$I$3:$I$26</c:f>
              <c:numCache>
                <c:formatCode>0.00</c:formatCode>
                <c:ptCount val="13"/>
                <c:pt idx="0">
                  <c:v>2.42</c:v>
                </c:pt>
                <c:pt idx="1">
                  <c:v>2.42</c:v>
                </c:pt>
                <c:pt idx="2">
                  <c:v>2.42</c:v>
                </c:pt>
                <c:pt idx="3">
                  <c:v>2.42</c:v>
                </c:pt>
                <c:pt idx="4">
                  <c:v>2.42</c:v>
                </c:pt>
                <c:pt idx="5">
                  <c:v>2.42</c:v>
                </c:pt>
                <c:pt idx="6">
                  <c:v>2.42</c:v>
                </c:pt>
                <c:pt idx="7">
                  <c:v>2.42</c:v>
                </c:pt>
                <c:pt idx="8">
                  <c:v>2.42</c:v>
                </c:pt>
                <c:pt idx="9">
                  <c:v>1.69</c:v>
                </c:pt>
                <c:pt idx="10">
                  <c:v>1.69</c:v>
                </c:pt>
                <c:pt idx="11">
                  <c:v>1.69</c:v>
                </c:pt>
                <c:pt idx="12">
                  <c:v>1.69</c:v>
                </c:pt>
              </c:numCache>
            </c:numRef>
          </c:val>
          <c:smooth val="0"/>
          <c:extLst>
            <c:ext xmlns:c16="http://schemas.microsoft.com/office/drawing/2014/chart" uri="{C3380CC4-5D6E-409C-BE32-E72D297353CC}">
              <c16:uniqueId val="{00000009-9A96-46C1-BD21-F0D833A0216F}"/>
            </c:ext>
          </c:extLst>
        </c:ser>
        <c:dLbls>
          <c:showLegendKey val="0"/>
          <c:showVal val="1"/>
          <c:showCatName val="0"/>
          <c:showSerName val="0"/>
          <c:showPercent val="0"/>
          <c:showBubbleSize val="0"/>
        </c:dLbls>
        <c:marker val="1"/>
        <c:smooth val="0"/>
        <c:axId val="527263552"/>
        <c:axId val="527259240"/>
      </c:lineChart>
      <c:catAx>
        <c:axId val="527263552"/>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27259240"/>
        <c:crosses val="autoZero"/>
        <c:auto val="1"/>
        <c:lblAlgn val="ctr"/>
        <c:lblOffset val="100"/>
        <c:noMultiLvlLbl val="0"/>
      </c:catAx>
      <c:valAx>
        <c:axId val="527259240"/>
        <c:scaling>
          <c:orientation val="minMax"/>
        </c:scaling>
        <c:delete val="1"/>
        <c:axPos val="l"/>
        <c:numFmt formatCode="0" sourceLinked="1"/>
        <c:majorTickMark val="out"/>
        <c:minorTickMark val="none"/>
        <c:tickLblPos val="nextTo"/>
        <c:crossAx val="527263552"/>
        <c:crosses val="autoZero"/>
        <c:crossBetween val="between"/>
      </c:valAx>
    </c:plotArea>
    <c:plotVisOnly val="1"/>
    <c:dispBlanksAs val="gap"/>
    <c:showDLblsOverMax val="0"/>
  </c:chart>
  <c:spPr>
    <a:ln w="12700">
      <a:solidFill>
        <a:sysClr val="windowText" lastClr="000000"/>
      </a:solidFill>
    </a:ln>
  </c:sp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VỤ VIỆC PDA</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PDA!$AB$3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PDA!$AB$4:$AB$5</c:f>
              <c:numCache>
                <c:formatCode>0.00</c:formatCode>
                <c:ptCount val="2"/>
                <c:pt idx="0" formatCode="0">
                  <c:v>7</c:v>
                </c:pt>
                <c:pt idx="1">
                  <c:v>1.6013909224011713</c:v>
                </c:pt>
              </c:numCache>
            </c:numRef>
          </c:val>
          <c:extLst>
            <c:ext xmlns:c16="http://schemas.microsoft.com/office/drawing/2014/chart" uri="{C3380CC4-5D6E-409C-BE32-E72D297353CC}">
              <c16:uniqueId val="{00000000-4C9C-4CCC-9F06-AC9EA6E320C9}"/>
            </c:ext>
          </c:extLst>
        </c:ser>
        <c:ser>
          <c:idx val="1"/>
          <c:order val="1"/>
          <c:tx>
            <c:strRef>
              <c:f>PDA!$AC$3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PDA!$AA$4:$AA$5</c:f>
              <c:strCache>
                <c:ptCount val="2"/>
                <c:pt idx="0">
                  <c:v>Số vụ</c:v>
                </c:pt>
                <c:pt idx="1">
                  <c:v>Tỷ lệ/10000CB</c:v>
                </c:pt>
              </c:strCache>
            </c:strRef>
          </c:cat>
          <c:val>
            <c:numRef>
              <c:f>PDA!$AC$4:$AC$5</c:f>
              <c:numCache>
                <c:formatCode>0.00</c:formatCode>
                <c:ptCount val="2"/>
                <c:pt idx="0" formatCode="0">
                  <c:v>3</c:v>
                </c:pt>
                <c:pt idx="1">
                  <c:v>0.65965961563833064</c:v>
                </c:pt>
              </c:numCache>
            </c:numRef>
          </c:val>
          <c:extLst>
            <c:ext xmlns:c16="http://schemas.microsoft.com/office/drawing/2014/chart" uri="{C3380CC4-5D6E-409C-BE32-E72D297353CC}">
              <c16:uniqueId val="{00000001-4C9C-4CCC-9F06-AC9EA6E320C9}"/>
            </c:ext>
          </c:extLst>
        </c:ser>
        <c:dLbls>
          <c:showLegendKey val="0"/>
          <c:showVal val="0"/>
          <c:showCatName val="0"/>
          <c:showSerName val="0"/>
          <c:showPercent val="0"/>
          <c:showBubbleSize val="0"/>
        </c:dLbls>
        <c:gapWidth val="219"/>
        <c:overlap val="-27"/>
        <c:axId val="527264336"/>
        <c:axId val="527259632"/>
      </c:barChart>
      <c:catAx>
        <c:axId val="527264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59632"/>
        <c:crosses val="autoZero"/>
        <c:auto val="1"/>
        <c:lblAlgn val="ctr"/>
        <c:lblOffset val="100"/>
        <c:noMultiLvlLbl val="0"/>
      </c:catAx>
      <c:valAx>
        <c:axId val="52725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27264336"/>
        <c:crosses val="autoZero"/>
        <c:crossBetween val="between"/>
      </c:valAx>
      <c:spPr>
        <a:noFill/>
        <a:ln>
          <a:noFill/>
        </a:ln>
        <a:effectLst/>
      </c:spPr>
    </c:plotArea>
    <c:legend>
      <c:legendPos val="b"/>
      <c:layout>
        <c:manualLayout>
          <c:xMode val="edge"/>
          <c:yMode val="edge"/>
          <c:x val="1.6233607808284693E-3"/>
          <c:y val="0.92846051953786146"/>
          <c:w val="0.99837663921917152"/>
          <c:h val="5.284789167709176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3433149389686945E-3"/>
          <c:y val="4.0689988020191789E-2"/>
          <c:w val="0.98572754138732044"/>
          <c:h val="0.85973051402493883"/>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FOD!$D$3:$D$26</c:f>
              <c:numCache>
                <c:formatCode>0</c:formatCode>
                <c:ptCount val="13"/>
                <c:pt idx="0">
                  <c:v>5</c:v>
                </c:pt>
                <c:pt idx="1">
                  <c:v>20</c:v>
                </c:pt>
                <c:pt idx="2">
                  <c:v>8</c:v>
                </c:pt>
                <c:pt idx="3">
                  <c:v>12</c:v>
                </c:pt>
                <c:pt idx="4">
                  <c:v>12</c:v>
                </c:pt>
                <c:pt idx="5">
                  <c:v>8</c:v>
                </c:pt>
                <c:pt idx="6">
                  <c:v>13</c:v>
                </c:pt>
                <c:pt idx="7">
                  <c:v>12</c:v>
                </c:pt>
                <c:pt idx="8">
                  <c:v>6</c:v>
                </c:pt>
                <c:pt idx="9">
                  <c:v>3</c:v>
                </c:pt>
                <c:pt idx="10">
                  <c:v>4</c:v>
                </c:pt>
                <c:pt idx="11">
                  <c:v>3</c:v>
                </c:pt>
                <c:pt idx="12">
                  <c:v>9</c:v>
                </c:pt>
              </c:numCache>
            </c:numRef>
          </c:val>
          <c:extLst>
            <c:ext xmlns:c16="http://schemas.microsoft.com/office/drawing/2014/chart" uri="{C3380CC4-5D6E-409C-BE32-E72D297353CC}">
              <c16:uniqueId val="{00000000-4271-4129-8B71-ACF55386D686}"/>
            </c:ext>
          </c:extLst>
        </c:ser>
        <c:dLbls>
          <c:showLegendKey val="0"/>
          <c:showVal val="0"/>
          <c:showCatName val="0"/>
          <c:showSerName val="0"/>
          <c:showPercent val="0"/>
          <c:showBubbleSize val="0"/>
        </c:dLbls>
        <c:gapWidth val="150"/>
        <c:axId val="532688864"/>
        <c:axId val="532690824"/>
      </c:barChart>
      <c:lineChart>
        <c:grouping val="standard"/>
        <c:varyColors val="0"/>
        <c:ser>
          <c:idx val="1"/>
          <c:order val="1"/>
          <c:spPr>
            <a:ln w="28575">
              <a:solidFill>
                <a:srgbClr val="7030A0"/>
              </a:solidFill>
            </a:ln>
          </c:spPr>
          <c:marker>
            <c:symbol val="none"/>
          </c:marker>
          <c:dLbls>
            <c:dLbl>
              <c:idx val="0"/>
              <c:layout>
                <c:manualLayout>
                  <c:x val="-6.4655212735779635E-2"/>
                  <c:y val="-2.922280957813787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4271-4129-8B71-ACF55386D686}"/>
                </c:ext>
              </c:extLst>
            </c:dLbl>
            <c:dLbl>
              <c:idx val="3"/>
              <c:layout>
                <c:manualLayout>
                  <c:x val="-6.170260316966758E-2"/>
                  <c:y val="-8.614350688289682E-2"/>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1-4271-4129-8B71-ACF55386D686}"/>
                </c:ext>
              </c:extLst>
            </c:dLbl>
            <c:dLbl>
              <c:idx val="4"/>
              <c:layout>
                <c:manualLayout>
                  <c:x val="-4.8614172194283566E-2"/>
                  <c:y val="-0.13188342204195708"/>
                </c:manualLayout>
              </c:layout>
              <c:dLblPos val="r"/>
              <c:showLegendKey val="0"/>
              <c:showVal val="1"/>
              <c:showCatName val="0"/>
              <c:showSerName val="0"/>
              <c:showPercent val="0"/>
              <c:showBubbleSize val="0"/>
              <c:extLst xmlns:c15="http://schemas.microsoft.com/office/drawing/2012/chart">
                <c:ext xmlns:c15="http://schemas.microsoft.com/office/drawing/2012/chart" uri="{CE6537A1-D6FC-4f65-9D91-7224C49458BB}"/>
                <c:ext xmlns:c16="http://schemas.microsoft.com/office/drawing/2014/chart" uri="{C3380CC4-5D6E-409C-BE32-E72D297353CC}">
                  <c16:uniqueId val="{00000002-4271-4129-8B71-ACF55386D686}"/>
                </c:ext>
              </c:extLst>
            </c:dLbl>
            <c:dLbl>
              <c:idx val="12"/>
              <c:layout>
                <c:manualLayout>
                  <c:x val="-5.0483948047909843E-2"/>
                  <c:y val="-5.3109123712464408E-2"/>
                </c:manualLayout>
              </c:layout>
              <c:dLblPos val="r"/>
              <c:showLegendKey val="0"/>
              <c:showVal val="1"/>
              <c:showCatName val="0"/>
              <c:showSerName val="0"/>
              <c:showPercent val="0"/>
              <c:showBubbleSize val="0"/>
              <c:extLst xmlns:c16="http://schemas.microsoft.com/office/drawing/2014/chart" xmlns:c15="http://schemas.microsoft.com/office/drawing/2012/chart">
                <c:ext xmlns:c15="http://schemas.microsoft.com/office/drawing/2012/chart" uri="{CE6537A1-D6FC-4f65-9D91-7224C49458BB}"/>
                <c:ext xmlns:c16="http://schemas.microsoft.com/office/drawing/2014/chart" uri="{C3380CC4-5D6E-409C-BE32-E72D297353CC}">
                  <c16:uniqueId val="{00000003-4271-4129-8B71-ACF55386D686}"/>
                </c:ext>
              </c:extLst>
            </c:dLbl>
            <c:spPr>
              <a:noFill/>
              <a:ln>
                <a:noFill/>
              </a:ln>
              <a:effectLst/>
            </c:spPr>
            <c:txPr>
              <a:bodyPr wrap="square" lIns="38100" tIns="19050" rIns="38100" bIns="19050" anchor="ctr">
                <a:spAutoFit/>
              </a:bodyPr>
              <a:lstStyle/>
              <a:p>
                <a:pPr>
                  <a:defRPr sz="1200" b="1">
                    <a:solidFill>
                      <a:srgbClr val="7030A0"/>
                    </a:solidFill>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FOD!$E$3:$E$26</c:f>
              <c:numCache>
                <c:formatCode>0.00</c:formatCode>
                <c:ptCount val="13"/>
                <c:pt idx="0">
                  <c:v>4.8614487117160916</c:v>
                </c:pt>
                <c:pt idx="1">
                  <c:v>19.694731659281143</c:v>
                </c:pt>
                <c:pt idx="2">
                  <c:v>6.9013112491373363</c:v>
                </c:pt>
                <c:pt idx="3">
                  <c:v>9.250693802035153</c:v>
                </c:pt>
                <c:pt idx="4">
                  <c:v>10.218853785233756</c:v>
                </c:pt>
                <c:pt idx="5">
                  <c:v>8.5625602055014447</c:v>
                </c:pt>
                <c:pt idx="6">
                  <c:v>13.626834381551364</c:v>
                </c:pt>
                <c:pt idx="7">
                  <c:v>12.106537530266344</c:v>
                </c:pt>
                <c:pt idx="8">
                  <c:v>5.2160306007128572</c:v>
                </c:pt>
                <c:pt idx="9">
                  <c:v>2.5004167361226872</c:v>
                </c:pt>
                <c:pt idx="10">
                  <c:v>3.6416605972323381</c:v>
                </c:pt>
                <c:pt idx="11">
                  <c:v>2.6721296873608265</c:v>
                </c:pt>
                <c:pt idx="12">
                  <c:v>7.9865116691809392</c:v>
                </c:pt>
              </c:numCache>
            </c:numRef>
          </c:val>
          <c:smooth val="0"/>
          <c:extLst>
            <c:ext xmlns:c16="http://schemas.microsoft.com/office/drawing/2014/chart" uri="{C3380CC4-5D6E-409C-BE32-E72D297353CC}">
              <c16:uniqueId val="{00000004-4271-4129-8B71-ACF55386D686}"/>
            </c:ext>
          </c:extLst>
        </c:ser>
        <c:ser>
          <c:idx val="2"/>
          <c:order val="2"/>
          <c:spPr>
            <a:ln w="28575">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271-4129-8B71-ACF55386D686}"/>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4271-4129-8B71-ACF55386D686}"/>
                </c:ext>
              </c:extLst>
            </c:dLbl>
            <c:spPr>
              <a:solidFill>
                <a:srgbClr val="00B0F0"/>
              </a:solidFill>
              <a:ln>
                <a:solidFill>
                  <a:srgbClr val="00B0F0"/>
                </a:solid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FOD!$F$3:$F$26</c:f>
              <c:numCache>
                <c:formatCode>0.00</c:formatCode>
                <c:ptCount val="13"/>
                <c:pt idx="0">
                  <c:v>10.210000000000001</c:v>
                </c:pt>
                <c:pt idx="1">
                  <c:v>10.210000000000001</c:v>
                </c:pt>
                <c:pt idx="2">
                  <c:v>10.210000000000001</c:v>
                </c:pt>
                <c:pt idx="3">
                  <c:v>10.210000000000001</c:v>
                </c:pt>
                <c:pt idx="4">
                  <c:v>10.210000000000001</c:v>
                </c:pt>
                <c:pt idx="5">
                  <c:v>10.210000000000001</c:v>
                </c:pt>
                <c:pt idx="6">
                  <c:v>10.210000000000001</c:v>
                </c:pt>
                <c:pt idx="7">
                  <c:v>10.210000000000001</c:v>
                </c:pt>
                <c:pt idx="8">
                  <c:v>10.210000000000001</c:v>
                </c:pt>
                <c:pt idx="9">
                  <c:v>10.210000000000001</c:v>
                </c:pt>
                <c:pt idx="10">
                  <c:v>10.210000000000001</c:v>
                </c:pt>
                <c:pt idx="11">
                  <c:v>10.210000000000001</c:v>
                </c:pt>
                <c:pt idx="12">
                  <c:v>10.210000000000001</c:v>
                </c:pt>
              </c:numCache>
            </c:numRef>
          </c:val>
          <c:smooth val="0"/>
          <c:extLst>
            <c:ext xmlns:c16="http://schemas.microsoft.com/office/drawing/2014/chart" uri="{C3380CC4-5D6E-409C-BE32-E72D297353CC}">
              <c16:uniqueId val="{00000006-4271-4129-8B71-ACF55386D686}"/>
            </c:ext>
          </c:extLst>
        </c:ser>
        <c:ser>
          <c:idx val="3"/>
          <c:order val="3"/>
          <c:spPr>
            <a:ln w="28575">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271-4129-8B71-ACF55386D686}"/>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4271-4129-8B71-ACF55386D686}"/>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FOD!$G$3:$G$26</c:f>
              <c:numCache>
                <c:formatCode>0.00</c:formatCode>
                <c:ptCount val="13"/>
                <c:pt idx="0">
                  <c:v>12.71</c:v>
                </c:pt>
                <c:pt idx="1">
                  <c:v>12.71</c:v>
                </c:pt>
                <c:pt idx="2">
                  <c:v>12.71</c:v>
                </c:pt>
                <c:pt idx="3">
                  <c:v>12.71</c:v>
                </c:pt>
                <c:pt idx="4">
                  <c:v>12.71</c:v>
                </c:pt>
                <c:pt idx="5">
                  <c:v>12.71</c:v>
                </c:pt>
                <c:pt idx="6">
                  <c:v>12.71</c:v>
                </c:pt>
                <c:pt idx="7">
                  <c:v>12.71</c:v>
                </c:pt>
                <c:pt idx="8">
                  <c:v>12.71</c:v>
                </c:pt>
                <c:pt idx="9">
                  <c:v>12.71</c:v>
                </c:pt>
                <c:pt idx="10">
                  <c:v>12.71</c:v>
                </c:pt>
                <c:pt idx="11">
                  <c:v>12.71</c:v>
                </c:pt>
                <c:pt idx="12">
                  <c:v>12.71</c:v>
                </c:pt>
              </c:numCache>
            </c:numRef>
          </c:val>
          <c:smooth val="0"/>
          <c:extLst>
            <c:ext xmlns:c16="http://schemas.microsoft.com/office/drawing/2014/chart" uri="{C3380CC4-5D6E-409C-BE32-E72D297353CC}">
              <c16:uniqueId val="{00000008-4271-4129-8B71-ACF55386D686}"/>
            </c:ext>
          </c:extLst>
        </c:ser>
        <c:ser>
          <c:idx val="4"/>
          <c:order val="4"/>
          <c:spPr>
            <a:ln w="28575">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271-4129-8B71-ACF55386D686}"/>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271-4129-8B71-ACF55386D686}"/>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FOD!$H$3:$H$26</c:f>
              <c:numCache>
                <c:formatCode>0.00</c:formatCode>
                <c:ptCount val="13"/>
                <c:pt idx="0">
                  <c:v>15.22</c:v>
                </c:pt>
                <c:pt idx="1">
                  <c:v>15.22</c:v>
                </c:pt>
                <c:pt idx="2">
                  <c:v>15.22</c:v>
                </c:pt>
                <c:pt idx="3">
                  <c:v>15.22</c:v>
                </c:pt>
                <c:pt idx="4">
                  <c:v>15.22</c:v>
                </c:pt>
                <c:pt idx="5">
                  <c:v>15.22</c:v>
                </c:pt>
                <c:pt idx="6">
                  <c:v>15.22</c:v>
                </c:pt>
                <c:pt idx="7">
                  <c:v>15.22</c:v>
                </c:pt>
                <c:pt idx="8">
                  <c:v>15.22</c:v>
                </c:pt>
                <c:pt idx="9">
                  <c:v>15.22</c:v>
                </c:pt>
                <c:pt idx="10">
                  <c:v>15.22</c:v>
                </c:pt>
                <c:pt idx="11">
                  <c:v>15.22</c:v>
                </c:pt>
                <c:pt idx="12">
                  <c:v>15.22</c:v>
                </c:pt>
              </c:numCache>
            </c:numRef>
          </c:val>
          <c:smooth val="0"/>
          <c:extLst>
            <c:ext xmlns:c16="http://schemas.microsoft.com/office/drawing/2014/chart" uri="{C3380CC4-5D6E-409C-BE32-E72D297353CC}">
              <c16:uniqueId val="{0000000A-4271-4129-8B71-ACF55386D686}"/>
            </c:ext>
          </c:extLst>
        </c:ser>
        <c:ser>
          <c:idx val="5"/>
          <c:order val="5"/>
          <c:spPr>
            <a:ln w="28575">
              <a:solidFill>
                <a:srgbClr val="00B05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271-4129-8B71-ACF55386D686}"/>
                </c:ext>
              </c:extLst>
            </c:dLbl>
            <c:dLbl>
              <c:idx val="9"/>
              <c:spPr>
                <a:solidFill>
                  <a:srgbClr val="00B050"/>
                </a:solidFill>
                <a:ln>
                  <a:noFill/>
                </a:ln>
                <a:effectLst/>
              </c:spPr>
              <c:txPr>
                <a:bodyPr wrap="square" lIns="38100" tIns="19050" rIns="38100" bIns="19050" anchor="ctr">
                  <a:no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271-4129-8B71-ACF55386D686}"/>
                </c:ext>
              </c:extLst>
            </c:dLbl>
            <c:dLbl>
              <c:idx val="10"/>
              <c:delete val="1"/>
              <c:extLst>
                <c:ext xmlns:c15="http://schemas.microsoft.com/office/drawing/2012/chart" uri="{CE6537A1-D6FC-4f65-9D91-7224C49458BB}"/>
                <c:ext xmlns:c16="http://schemas.microsoft.com/office/drawing/2014/chart" uri="{C3380CC4-5D6E-409C-BE32-E72D297353CC}">
                  <c16:uniqueId val="{0000000C-4271-4129-8B71-ACF55386D686}"/>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4271-4129-8B71-ACF55386D686}"/>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strRef>
              <c:f>FOD!$B$3:$B$26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FOD!$I$3:$I$26</c:f>
              <c:numCache>
                <c:formatCode>0.00</c:formatCode>
                <c:ptCount val="13"/>
                <c:pt idx="0">
                  <c:v>7.6964519356576622</c:v>
                </c:pt>
                <c:pt idx="1">
                  <c:v>7.6964519356576622</c:v>
                </c:pt>
                <c:pt idx="2">
                  <c:v>7.6964519356576622</c:v>
                </c:pt>
                <c:pt idx="3">
                  <c:v>7.6964519356576622</c:v>
                </c:pt>
                <c:pt idx="4">
                  <c:v>7.6964519356576622</c:v>
                </c:pt>
                <c:pt idx="5">
                  <c:v>7.6964519356576622</c:v>
                </c:pt>
                <c:pt idx="6">
                  <c:v>7.6964519356576622</c:v>
                </c:pt>
                <c:pt idx="7">
                  <c:v>7.6964519356576622</c:v>
                </c:pt>
                <c:pt idx="8">
                  <c:v>7.6964519356576622</c:v>
                </c:pt>
                <c:pt idx="9">
                  <c:v>7.6964519356576622</c:v>
                </c:pt>
                <c:pt idx="10">
                  <c:v>7.6964519356576622</c:v>
                </c:pt>
                <c:pt idx="11">
                  <c:v>7.6964519356576622</c:v>
                </c:pt>
                <c:pt idx="12">
                  <c:v>7.6964519356576622</c:v>
                </c:pt>
              </c:numCache>
            </c:numRef>
          </c:val>
          <c:smooth val="0"/>
          <c:extLst>
            <c:ext xmlns:c16="http://schemas.microsoft.com/office/drawing/2014/chart" uri="{C3380CC4-5D6E-409C-BE32-E72D297353CC}">
              <c16:uniqueId val="{0000000D-4271-4129-8B71-ACF55386D686}"/>
            </c:ext>
          </c:extLst>
        </c:ser>
        <c:dLbls>
          <c:showLegendKey val="0"/>
          <c:showVal val="1"/>
          <c:showCatName val="0"/>
          <c:showSerName val="0"/>
          <c:showPercent val="0"/>
          <c:showBubbleSize val="0"/>
        </c:dLbls>
        <c:marker val="1"/>
        <c:smooth val="0"/>
        <c:axId val="532688864"/>
        <c:axId val="532690824"/>
      </c:lineChart>
      <c:catAx>
        <c:axId val="532688864"/>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2690824"/>
        <c:crosses val="autoZero"/>
        <c:auto val="1"/>
        <c:lblAlgn val="ctr"/>
        <c:lblOffset val="100"/>
        <c:noMultiLvlLbl val="0"/>
      </c:catAx>
      <c:valAx>
        <c:axId val="532690824"/>
        <c:scaling>
          <c:orientation val="minMax"/>
        </c:scaling>
        <c:delete val="1"/>
        <c:axPos val="l"/>
        <c:numFmt formatCode="0" sourceLinked="1"/>
        <c:majorTickMark val="out"/>
        <c:minorTickMark val="none"/>
        <c:tickLblPos val="nextTo"/>
        <c:crossAx val="532688864"/>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000"/>
              <a:t>VỤ VIỆC FOD</a:t>
            </a:r>
          </a:p>
        </c:rich>
      </c:tx>
      <c:layout>
        <c:manualLayout>
          <c:xMode val="edge"/>
          <c:yMode val="edge"/>
          <c:x val="0.371748131197851"/>
          <c:y val="3.8585209003215437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6.1220131213157288E-2"/>
          <c:y val="0.13529559207028383"/>
          <c:w val="0.89625708633320644"/>
          <c:h val="0.68785958427222316"/>
        </c:manualLayout>
      </c:layout>
      <c:barChart>
        <c:barDir val="col"/>
        <c:grouping val="clustered"/>
        <c:varyColors val="0"/>
        <c:ser>
          <c:idx val="0"/>
          <c:order val="0"/>
          <c:tx>
            <c:strRef>
              <c:f>FOD!$AA$3</c:f>
              <c:strCache>
                <c:ptCount val="1"/>
                <c:pt idx="0">
                  <c:v>Năm 2024</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FOD!$AA$4:$AA$5</c:f>
              <c:numCache>
                <c:formatCode>0.00</c:formatCode>
                <c:ptCount val="2"/>
                <c:pt idx="0" formatCode="0">
                  <c:v>19</c:v>
                </c:pt>
                <c:pt idx="1">
                  <c:v>4.3466325036603219</c:v>
                </c:pt>
              </c:numCache>
            </c:numRef>
          </c:val>
          <c:extLst>
            <c:ext xmlns:c16="http://schemas.microsoft.com/office/drawing/2014/chart" uri="{C3380CC4-5D6E-409C-BE32-E72D297353CC}">
              <c16:uniqueId val="{00000000-6866-4FA8-9A58-8BA0C9B6832F}"/>
            </c:ext>
          </c:extLst>
        </c:ser>
        <c:ser>
          <c:idx val="1"/>
          <c:order val="1"/>
          <c:tx>
            <c:strRef>
              <c:f>FOD!$AB$3</c:f>
              <c:strCache>
                <c:ptCount val="1"/>
                <c:pt idx="0">
                  <c:v>Năm 2025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FOD!$Z$4:$Z$5</c:f>
              <c:strCache>
                <c:ptCount val="2"/>
                <c:pt idx="0">
                  <c:v>Số vụ</c:v>
                </c:pt>
                <c:pt idx="1">
                  <c:v>Tỷ lệ/10000CB</c:v>
                </c:pt>
              </c:strCache>
            </c:strRef>
          </c:cat>
          <c:val>
            <c:numRef>
              <c:f>FOD!$AB$4:$AB$5</c:f>
              <c:numCache>
                <c:formatCode>0.00</c:formatCode>
                <c:ptCount val="2"/>
                <c:pt idx="0" formatCode="0">
                  <c:v>19</c:v>
                </c:pt>
                <c:pt idx="1">
                  <c:v>4.1778442323760938</c:v>
                </c:pt>
              </c:numCache>
            </c:numRef>
          </c:val>
          <c:extLst>
            <c:ext xmlns:c16="http://schemas.microsoft.com/office/drawing/2014/chart" uri="{C3380CC4-5D6E-409C-BE32-E72D297353CC}">
              <c16:uniqueId val="{00000001-6866-4FA8-9A58-8BA0C9B6832F}"/>
            </c:ext>
          </c:extLst>
        </c:ser>
        <c:dLbls>
          <c:showLegendKey val="0"/>
          <c:showVal val="0"/>
          <c:showCatName val="0"/>
          <c:showSerName val="0"/>
          <c:showPercent val="0"/>
          <c:showBubbleSize val="0"/>
        </c:dLbls>
        <c:gapWidth val="219"/>
        <c:overlap val="-27"/>
        <c:axId val="532691608"/>
        <c:axId val="532696312"/>
      </c:barChart>
      <c:catAx>
        <c:axId val="532691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6312"/>
        <c:crosses val="autoZero"/>
        <c:auto val="1"/>
        <c:lblAlgn val="ctr"/>
        <c:lblOffset val="100"/>
        <c:noMultiLvlLbl val="0"/>
      </c:catAx>
      <c:valAx>
        <c:axId val="5326963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32691608"/>
        <c:crosses val="autoZero"/>
        <c:crossBetween val="between"/>
      </c:valAx>
      <c:spPr>
        <a:noFill/>
        <a:ln>
          <a:noFill/>
        </a:ln>
        <a:effectLst/>
      </c:spPr>
    </c:plotArea>
    <c:legend>
      <c:legendPos val="b"/>
      <c:layout>
        <c:manualLayout>
          <c:xMode val="edge"/>
          <c:yMode val="edge"/>
          <c:x val="3.1976756944170023E-3"/>
          <c:y val="0.91329847836544553"/>
          <c:w val="0.99680232430558302"/>
          <c:h val="6.507552446654627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6350" cap="flat" cmpd="sng" algn="ctr">
      <a:solidFill>
        <a:schemeClr val="tx1"/>
      </a:solidFill>
      <a:round/>
    </a:ln>
    <a:effectLst/>
  </c:spPr>
  <c:txPr>
    <a:bodyPr/>
    <a:lstStyle/>
    <a:p>
      <a:pPr>
        <a:defRPr sz="1000" b="0">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682129813403704E-3"/>
          <c:y val="4.8452132969023239E-2"/>
          <c:w val="0.9852111014056153"/>
          <c:h val="0.83297228343769447"/>
        </c:manualLayout>
      </c:layout>
      <c:barChart>
        <c:barDir val="col"/>
        <c:grouping val="clustered"/>
        <c:varyColors val="0"/>
        <c:ser>
          <c:idx val="0"/>
          <c:order val="0"/>
          <c:invertIfNegative val="0"/>
          <c:dLbls>
            <c:spPr>
              <a:solidFill>
                <a:schemeClr val="accent4">
                  <a:lumMod val="40000"/>
                  <a:lumOff val="60000"/>
                </a:schemeClr>
              </a:solidFill>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IFSD!$D$3:$D$26</c:f>
              <c:numCache>
                <c:formatCode>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extLst>
            <c:ext xmlns:c16="http://schemas.microsoft.com/office/drawing/2014/chart" uri="{C3380CC4-5D6E-409C-BE32-E72D297353CC}">
              <c16:uniqueId val="{00000000-F848-41D4-952A-361EE9C9E3B9}"/>
            </c:ext>
          </c:extLst>
        </c:ser>
        <c:dLbls>
          <c:showLegendKey val="0"/>
          <c:showVal val="0"/>
          <c:showCatName val="0"/>
          <c:showSerName val="0"/>
          <c:showPercent val="0"/>
          <c:showBubbleSize val="0"/>
        </c:dLbls>
        <c:gapWidth val="150"/>
        <c:axId val="532698272"/>
        <c:axId val="532698664"/>
      </c:barChart>
      <c:lineChart>
        <c:grouping val="standard"/>
        <c:varyColors val="0"/>
        <c:ser>
          <c:idx val="1"/>
          <c:order val="1"/>
          <c:spPr>
            <a:ln w="28575">
              <a:solidFill>
                <a:srgbClr val="7030A0"/>
              </a:solidFill>
            </a:ln>
          </c:spPr>
          <c:marker>
            <c:symbol val="none"/>
          </c:marker>
          <c:dLbls>
            <c:delete val="1"/>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IFSD!$E$3:$E$26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4-F848-41D4-952A-361EE9C9E3B9}"/>
            </c:ext>
          </c:extLst>
        </c:ser>
        <c:ser>
          <c:idx val="2"/>
          <c:order val="2"/>
          <c:spPr>
            <a:ln w="19050">
              <a:solidFill>
                <a:srgbClr val="00B0F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F848-41D4-952A-361EE9C9E3B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F848-41D4-952A-361EE9C9E3B9}"/>
                </c:ext>
              </c:extLst>
            </c:dLbl>
            <c:spPr>
              <a:solidFill>
                <a:srgbClr val="00B0F0"/>
              </a:solidFill>
              <a:ln>
                <a:solidFill>
                  <a:srgbClr val="00B0F0"/>
                </a:solid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IFSD!$F$3:$F$26</c:f>
              <c:numCache>
                <c:formatCode>0.00</c:formatCode>
                <c:ptCount val="13"/>
                <c:pt idx="0">
                  <c:v>0.16</c:v>
                </c:pt>
                <c:pt idx="1">
                  <c:v>0.16</c:v>
                </c:pt>
                <c:pt idx="2">
                  <c:v>0.16</c:v>
                </c:pt>
                <c:pt idx="3">
                  <c:v>0.16</c:v>
                </c:pt>
                <c:pt idx="4">
                  <c:v>0.16</c:v>
                </c:pt>
                <c:pt idx="5">
                  <c:v>0.16</c:v>
                </c:pt>
                <c:pt idx="6">
                  <c:v>0.16</c:v>
                </c:pt>
                <c:pt idx="7">
                  <c:v>0.16</c:v>
                </c:pt>
                <c:pt idx="8">
                  <c:v>0.16</c:v>
                </c:pt>
                <c:pt idx="9">
                  <c:v>0.16</c:v>
                </c:pt>
                <c:pt idx="10">
                  <c:v>0.16</c:v>
                </c:pt>
                <c:pt idx="11">
                  <c:v>0.16</c:v>
                </c:pt>
                <c:pt idx="12">
                  <c:v>0.16</c:v>
                </c:pt>
              </c:numCache>
            </c:numRef>
          </c:val>
          <c:smooth val="0"/>
          <c:extLst>
            <c:ext xmlns:c16="http://schemas.microsoft.com/office/drawing/2014/chart" uri="{C3380CC4-5D6E-409C-BE32-E72D297353CC}">
              <c16:uniqueId val="{00000006-F848-41D4-952A-361EE9C9E3B9}"/>
            </c:ext>
          </c:extLst>
        </c:ser>
        <c:ser>
          <c:idx val="3"/>
          <c:order val="3"/>
          <c:spPr>
            <a:ln>
              <a:solidFill>
                <a:srgbClr val="FFC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F848-41D4-952A-361EE9C9E3B9}"/>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848-41D4-952A-361EE9C9E3B9}"/>
                </c:ext>
              </c:extLst>
            </c:dLbl>
            <c:spPr>
              <a:solidFill>
                <a:srgbClr val="FFC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dLblPos val="l"/>
            <c:showLegendKey val="0"/>
            <c:showVal val="0"/>
            <c:showCatName val="0"/>
            <c:showSerName val="0"/>
            <c:showPercent val="0"/>
            <c:showBubbleSize val="0"/>
            <c:extLst>
              <c:ext xmlns:c15="http://schemas.microsoft.com/office/drawing/2012/chart" uri="{CE6537A1-D6FC-4f65-9D91-7224C49458BB}">
                <c15:showLeaderLines val="1"/>
              </c:ext>
            </c:extLst>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IFSD!$G$3:$G$26</c:f>
              <c:numCache>
                <c:formatCode>0.00</c:formatCode>
                <c:ptCount val="13"/>
                <c:pt idx="0">
                  <c:v>0.32</c:v>
                </c:pt>
                <c:pt idx="1">
                  <c:v>0.32</c:v>
                </c:pt>
                <c:pt idx="2">
                  <c:v>0.32</c:v>
                </c:pt>
                <c:pt idx="3">
                  <c:v>0.32</c:v>
                </c:pt>
                <c:pt idx="4">
                  <c:v>0.32</c:v>
                </c:pt>
                <c:pt idx="5">
                  <c:v>0.32</c:v>
                </c:pt>
                <c:pt idx="6">
                  <c:v>0.32</c:v>
                </c:pt>
                <c:pt idx="7">
                  <c:v>0.32</c:v>
                </c:pt>
                <c:pt idx="8">
                  <c:v>0.32</c:v>
                </c:pt>
                <c:pt idx="9">
                  <c:v>0.32</c:v>
                </c:pt>
                <c:pt idx="10">
                  <c:v>0.32</c:v>
                </c:pt>
                <c:pt idx="11">
                  <c:v>0.32</c:v>
                </c:pt>
                <c:pt idx="12">
                  <c:v>0.32</c:v>
                </c:pt>
              </c:numCache>
            </c:numRef>
          </c:val>
          <c:smooth val="0"/>
          <c:extLst>
            <c:ext xmlns:c16="http://schemas.microsoft.com/office/drawing/2014/chart" uri="{C3380CC4-5D6E-409C-BE32-E72D297353CC}">
              <c16:uniqueId val="{00000008-F848-41D4-952A-361EE9C9E3B9}"/>
            </c:ext>
          </c:extLst>
        </c:ser>
        <c:ser>
          <c:idx val="4"/>
          <c:order val="4"/>
          <c:spPr>
            <a:ln>
              <a:solidFill>
                <a:srgbClr val="FF000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F848-41D4-952A-361EE9C9E3B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F848-41D4-952A-361EE9C9E3B9}"/>
                </c:ext>
              </c:extLst>
            </c:dLbl>
            <c:spPr>
              <a:solidFill>
                <a:srgbClr val="FF000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IFSD!$H$3:$H$26</c:f>
              <c:numCache>
                <c:formatCode>0.00</c:formatCode>
                <c:ptCount val="13"/>
                <c:pt idx="0">
                  <c:v>0.48</c:v>
                </c:pt>
                <c:pt idx="1">
                  <c:v>0.48</c:v>
                </c:pt>
                <c:pt idx="2">
                  <c:v>0.48</c:v>
                </c:pt>
                <c:pt idx="3">
                  <c:v>0.48</c:v>
                </c:pt>
                <c:pt idx="4">
                  <c:v>0.48</c:v>
                </c:pt>
                <c:pt idx="5">
                  <c:v>0.48</c:v>
                </c:pt>
                <c:pt idx="6">
                  <c:v>0.48</c:v>
                </c:pt>
                <c:pt idx="7">
                  <c:v>0.48</c:v>
                </c:pt>
                <c:pt idx="8">
                  <c:v>0.48</c:v>
                </c:pt>
                <c:pt idx="9">
                  <c:v>0.48</c:v>
                </c:pt>
                <c:pt idx="10">
                  <c:v>0.48</c:v>
                </c:pt>
                <c:pt idx="11">
                  <c:v>0.48</c:v>
                </c:pt>
                <c:pt idx="12">
                  <c:v>0.48</c:v>
                </c:pt>
              </c:numCache>
            </c:numRef>
          </c:val>
          <c:smooth val="0"/>
          <c:extLst>
            <c:ext xmlns:c16="http://schemas.microsoft.com/office/drawing/2014/chart" uri="{C3380CC4-5D6E-409C-BE32-E72D297353CC}">
              <c16:uniqueId val="{0000000A-F848-41D4-952A-361EE9C9E3B9}"/>
            </c:ext>
          </c:extLst>
        </c:ser>
        <c:ser>
          <c:idx val="5"/>
          <c:order val="5"/>
          <c:spPr>
            <a:ln w="19050">
              <a:solidFill>
                <a:srgbClr val="00B050"/>
              </a:solidFill>
            </a:ln>
          </c:spPr>
          <c:marker>
            <c:symbol val="none"/>
          </c:marker>
          <c:dLbls>
            <c:dLbl>
              <c:idx val="0"/>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F848-41D4-952A-361EE9C9E3B9}"/>
                </c:ext>
              </c:extLst>
            </c:dLbl>
            <c:dLbl>
              <c:idx val="1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F848-41D4-952A-361EE9C9E3B9}"/>
                </c:ext>
              </c:extLst>
            </c:dLbl>
            <c:spPr>
              <a:solidFill>
                <a:srgbClr val="00B050"/>
              </a:solidFill>
              <a:ln>
                <a:noFill/>
              </a:ln>
              <a:effectLst/>
            </c:spPr>
            <c:txPr>
              <a:bodyPr wrap="square" lIns="38100" tIns="19050" rIns="38100" bIns="19050" anchor="ctr">
                <a:spAutoFit/>
              </a:bodyPr>
              <a:lstStyle/>
              <a:p>
                <a:pPr>
                  <a:defRPr sz="1200" b="1">
                    <a:latin typeface="Times New Roman" panose="02020603050405020304" pitchFamily="18" charset="0"/>
                    <a:cs typeface="Times New Roman" panose="02020603050405020304" pitchFamily="18"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IFSD!$B$3:$B$26</c:f>
              <c:strCache>
                <c:ptCount val="13"/>
                <c:pt idx="0">
                  <c:v>Apr.24</c:v>
                </c:pt>
                <c:pt idx="1">
                  <c:v>May.24</c:v>
                </c:pt>
                <c:pt idx="2">
                  <c:v>Jun.24</c:v>
                </c:pt>
                <c:pt idx="3">
                  <c:v>Jul.24</c:v>
                </c:pt>
                <c:pt idx="4">
                  <c:v>Aug.24</c:v>
                </c:pt>
                <c:pt idx="5">
                  <c:v>Sep.24</c:v>
                </c:pt>
                <c:pt idx="6">
                  <c:v>Oct.24</c:v>
                </c:pt>
                <c:pt idx="7">
                  <c:v>Nov.24</c:v>
                </c:pt>
                <c:pt idx="8">
                  <c:v>Dec.24</c:v>
                </c:pt>
                <c:pt idx="9">
                  <c:v>Jan.25</c:v>
                </c:pt>
                <c:pt idx="10">
                  <c:v>Feb.25</c:v>
                </c:pt>
                <c:pt idx="11">
                  <c:v>Mar.25</c:v>
                </c:pt>
                <c:pt idx="12">
                  <c:v>Apr.25</c:v>
                </c:pt>
              </c:strCache>
            </c:strRef>
          </c:cat>
          <c:val>
            <c:numRef>
              <c:f>IFSD!$I$3:$I$26</c:f>
              <c:numCache>
                <c:formatCode>0.00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C-F848-41D4-952A-361EE9C9E3B9}"/>
            </c:ext>
          </c:extLst>
        </c:ser>
        <c:dLbls>
          <c:showLegendKey val="0"/>
          <c:showVal val="1"/>
          <c:showCatName val="0"/>
          <c:showSerName val="0"/>
          <c:showPercent val="0"/>
          <c:showBubbleSize val="0"/>
        </c:dLbls>
        <c:marker val="1"/>
        <c:smooth val="0"/>
        <c:axId val="532698272"/>
        <c:axId val="532698664"/>
      </c:lineChart>
      <c:catAx>
        <c:axId val="532698272"/>
        <c:scaling>
          <c:orientation val="minMax"/>
        </c:scaling>
        <c:delete val="0"/>
        <c:axPos val="b"/>
        <c:numFmt formatCode="General" sourceLinked="0"/>
        <c:majorTickMark val="none"/>
        <c:minorTickMark val="none"/>
        <c:tickLblPos val="nextTo"/>
        <c:txPr>
          <a:bodyPr/>
          <a:lstStyle/>
          <a:p>
            <a:pPr>
              <a:defRPr sz="1200" b="1">
                <a:latin typeface="Times New Roman" panose="02020603050405020304" pitchFamily="18" charset="0"/>
                <a:cs typeface="Times New Roman" panose="02020603050405020304" pitchFamily="18" charset="0"/>
              </a:defRPr>
            </a:pPr>
            <a:endParaRPr lang="en-US"/>
          </a:p>
        </c:txPr>
        <c:crossAx val="532698664"/>
        <c:crosses val="autoZero"/>
        <c:auto val="1"/>
        <c:lblAlgn val="ctr"/>
        <c:lblOffset val="100"/>
        <c:noMultiLvlLbl val="0"/>
      </c:catAx>
      <c:valAx>
        <c:axId val="532698664"/>
        <c:scaling>
          <c:orientation val="minMax"/>
        </c:scaling>
        <c:delete val="1"/>
        <c:axPos val="l"/>
        <c:numFmt formatCode="0" sourceLinked="1"/>
        <c:majorTickMark val="out"/>
        <c:minorTickMark val="none"/>
        <c:tickLblPos val="nextTo"/>
        <c:crossAx val="532698272"/>
        <c:crosses val="autoZero"/>
        <c:crossBetween val="between"/>
      </c:valAx>
    </c:plotArea>
    <c:plotVisOnly val="1"/>
    <c:dispBlanksAs val="gap"/>
    <c:showDLblsOverMax val="0"/>
  </c:chart>
  <c:spPr>
    <a:ln w="6350">
      <a:solidFill>
        <a:sysClr val="windowText" lastClr="000000"/>
      </a:solidFill>
    </a:ln>
  </c:sp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6A5CFD06-F301-42B5-A596-FD2537B4E69B}" type="datetimeFigureOut">
              <a:rPr lang="en-US" smtClean="0"/>
              <a:pPr/>
              <a:t>5/16/2025</a:t>
            </a:fld>
            <a:endParaRPr lang="en-US" dirty="0"/>
          </a:p>
        </p:txBody>
      </p:sp>
      <p:sp>
        <p:nvSpPr>
          <p:cNvPr id="4" name="Slide Image Placeholder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D27FAC9D-6C4D-45A1-835A-6091318B370B}" type="slidenum">
              <a:rPr lang="en-US" smtClean="0"/>
              <a:pPr/>
              <a:t>‹#›</a:t>
            </a:fld>
            <a:endParaRPr lang="en-US" dirty="0"/>
          </a:p>
        </p:txBody>
      </p:sp>
    </p:spTree>
    <p:extLst>
      <p:ext uri="{BB962C8B-B14F-4D97-AF65-F5344CB8AC3E}">
        <p14:creationId xmlns:p14="http://schemas.microsoft.com/office/powerpoint/2010/main" val="91498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216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81774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620382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764610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57114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815173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888425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Vụ</a:t>
            </a:r>
            <a:r>
              <a:rPr lang="en-US" dirty="0"/>
              <a:t> B225 </a:t>
            </a:r>
            <a:r>
              <a:rPr lang="en-US" dirty="0" err="1"/>
              <a:t>quên</a:t>
            </a:r>
            <a:r>
              <a:rPr lang="en-US" dirty="0"/>
              <a:t> </a:t>
            </a:r>
            <a:r>
              <a:rPr lang="en-US" dirty="0" err="1"/>
              <a:t>rút</a:t>
            </a:r>
            <a:r>
              <a:rPr lang="en-US" dirty="0"/>
              <a:t> </a:t>
            </a:r>
            <a:r>
              <a:rPr lang="en-US" dirty="0" err="1"/>
              <a:t>chèn</a:t>
            </a:r>
            <a:r>
              <a:rPr lang="en-US" dirty="0"/>
              <a:t> </a:t>
            </a:r>
            <a:r>
              <a:rPr lang="en-US" dirty="0" err="1"/>
              <a:t>và</a:t>
            </a:r>
            <a:r>
              <a:rPr lang="en-US" dirty="0"/>
              <a:t> B218 </a:t>
            </a:r>
            <a:r>
              <a:rPr lang="en-US" dirty="0" err="1"/>
              <a:t>ấn</a:t>
            </a:r>
            <a:r>
              <a:rPr lang="en-US" dirty="0"/>
              <a:t> </a:t>
            </a:r>
            <a:r>
              <a:rPr lang="en-US" dirty="0" err="1"/>
              <a:t>nhầm</a:t>
            </a:r>
            <a:r>
              <a:rPr lang="en-US" dirty="0"/>
              <a:t> </a:t>
            </a:r>
            <a:r>
              <a:rPr lang="en-US" dirty="0" err="1"/>
              <a:t>dập</a:t>
            </a:r>
            <a:r>
              <a:rPr lang="en-US" dirty="0"/>
              <a:t> </a:t>
            </a:r>
            <a:r>
              <a:rPr lang="en-US" dirty="0" err="1"/>
              <a:t>cháy</a:t>
            </a:r>
            <a:r>
              <a:rPr lang="en-US" dirty="0"/>
              <a:t> </a:t>
            </a:r>
            <a:r>
              <a:rPr lang="en-US" dirty="0" err="1"/>
              <a:t>động</a:t>
            </a:r>
            <a:r>
              <a:rPr lang="en-US" dirty="0"/>
              <a:t> c</a:t>
            </a:r>
            <a:r>
              <a:rPr lang="vi-VN" dirty="0"/>
              <a:t>ơ</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980367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54543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7 B787; 9 A321; 3 AMP Task </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802757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816819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7 B787; 9 A321; 3 AMP Task </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986464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RTO: B223 TO </a:t>
            </a:r>
            <a:r>
              <a:rPr lang="en-US" dirty="0" err="1"/>
              <a:t>Configue</a:t>
            </a:r>
            <a:endParaRPr dirty="0"/>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34679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098630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471555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781577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3606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510662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588136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091287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234749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310968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505519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538583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80379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89156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436536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4024304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23274980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8408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5390059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32</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13170492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33</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314426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vi" sz="1400" b="0" i="0" u="none" strike="noStrike" kern="0" cap="none" spc="0" normalizeH="0" baseline="0" noProof="0">
                <a:ln>
                  <a:noFill/>
                </a:ln>
                <a:solidFill>
                  <a:srgbClr val="000000"/>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34</a:t>
            </a:fld>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extLst>
      <p:ext uri="{BB962C8B-B14F-4D97-AF65-F5344CB8AC3E}">
        <p14:creationId xmlns:p14="http://schemas.microsoft.com/office/powerpoint/2010/main" val="3982191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97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2594033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0AC98E-3FEB-4E50-8334-7A70AE8B47B8}"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167336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16319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964304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0AC98E-3FEB-4E50-8334-7A70AE8B47B8}" type="datetimeFigureOut">
              <a:rPr lang="en-US" smtClean="0"/>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475903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0AC98E-3FEB-4E50-8334-7A70AE8B47B8}" type="datetimeFigureOut">
              <a:rPr lang="en-US" smtClean="0"/>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655596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0AC98E-3FEB-4E50-8334-7A70AE8B47B8}" type="datetimeFigureOut">
              <a:rPr lang="en-US" smtClean="0"/>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495211-54F8-4BE7-BA6E-BF7D21A5D47B}" type="slidenum">
              <a:rPr lang="en-US" smtClean="0"/>
              <a:t>‹#›</a:t>
            </a:fld>
            <a:endParaRPr lang="en-US"/>
          </a:p>
        </p:txBody>
      </p:sp>
    </p:spTree>
    <p:extLst>
      <p:ext uri="{BB962C8B-B14F-4D97-AF65-F5344CB8AC3E}">
        <p14:creationId xmlns:p14="http://schemas.microsoft.com/office/powerpoint/2010/main" val="122737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4525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222400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9220199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8865529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1674031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2898021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647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89684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927605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39576375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02498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621482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a:defRPr/>
            </a:pPr>
            <a:r>
              <a:rPr lang="en-GB" dirty="0"/>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6304567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5"/>
          </a:xfrm>
        </p:spPr>
        <p:txBody>
          <a:bodyPr/>
          <a:lstStyle>
            <a:lvl1pPr>
              <a:defRPr b="1">
                <a:solidFill>
                  <a:srgbClr val="D1930F"/>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2724791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4074947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3737054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4365239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5643284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3838268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283784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42044638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120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29437595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876155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5"/>
          </a:xfrm>
        </p:spPr>
        <p:txBody>
          <a:bodyPr/>
          <a:lstStyle>
            <a:lvl1pPr>
              <a:defRPr b="1">
                <a:solidFill>
                  <a:srgbClr val="D1930F"/>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269850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a:defRPr/>
            </a:pPr>
            <a:r>
              <a:rPr lang="en-GB" dirty="0"/>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5900004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7814199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9279851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3369862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084985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8558265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1297314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25088973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6968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2903191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5593564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0"/>
            <a:ext cx="10363200" cy="1470025"/>
          </a:xfrm>
        </p:spPr>
        <p:txBody>
          <a:bodyPr/>
          <a:lstStyle>
            <a:lvl1pPr>
              <a:defRPr b="1">
                <a:solidFill>
                  <a:srgbClr val="D1930F"/>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9429882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6354926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39072500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975E5-8340-4038-B75C-40ECE39D49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0CC60EDC-4E72-4807-9842-B51E7008A4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11A845EB-161D-4CBB-8823-02DB81C2F398}"/>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257FE6A9-E027-4BC3-B46B-4AEF3E670F7C}"/>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E0F90453-0244-410B-AA23-352A6203FA8D}"/>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0089168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E540-8E47-47CA-817D-5C41DBA956C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E9CF5BA-1C1A-42E8-88AB-E0883383D3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CD4C42C-464E-4848-8B46-3A83C654F8BA}"/>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BC76BEFA-046C-4026-8070-27DB5AD58369}"/>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3F6179AE-1F96-4D5B-915F-51463251950F}"/>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122586031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9CD88-F817-4DB3-AAC2-0F4E3FD905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8702FA1B-4CF8-4150-BD2A-6821DD36B8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9645778-61E8-4F43-9E6B-25A2748BB236}"/>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1CC592ED-3D77-437A-8335-CED53B5F30FF}"/>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598B969C-EE97-457C-87BC-E6EBD1A16AE2}"/>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30044975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7FC2-1395-418C-8D15-9698E26670C8}"/>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F12E201-A30B-4540-82E7-CBF10D0CF94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86DAAF12-08E7-4CC2-9886-6F91091E6C0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493E2FA-CB31-4DD0-AC2A-ECBD789F6FD0}"/>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6" name="Footer Placeholder 5">
            <a:extLst>
              <a:ext uri="{FF2B5EF4-FFF2-40B4-BE49-F238E27FC236}">
                <a16:creationId xmlns:a16="http://schemas.microsoft.com/office/drawing/2014/main" id="{57437BC7-5ABD-47F5-A9A1-766C0A8C9043}"/>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7" name="Slide Number Placeholder 6">
            <a:extLst>
              <a:ext uri="{FF2B5EF4-FFF2-40B4-BE49-F238E27FC236}">
                <a16:creationId xmlns:a16="http://schemas.microsoft.com/office/drawing/2014/main" id="{C819A088-40D2-4929-A857-CD393B48CAF7}"/>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5700582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0184B-CDD2-41A9-AD3E-F7C89E8B339B}"/>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C6069976-928D-46CC-BC89-94ECFC0AE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42A145-3422-466A-9857-70EFBB5F96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C475CC59-D789-4D8E-B170-2F412CD12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34F8E3B-D077-446D-8B69-ACAAFA10989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FCD7F80C-6CAC-4336-AB16-7CAF45B59DDE}"/>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8" name="Footer Placeholder 7">
            <a:extLst>
              <a:ext uri="{FF2B5EF4-FFF2-40B4-BE49-F238E27FC236}">
                <a16:creationId xmlns:a16="http://schemas.microsoft.com/office/drawing/2014/main" id="{F1A4CC87-89C4-4C4F-8D6E-BEE3E771DDE6}"/>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9" name="Slide Number Placeholder 8">
            <a:extLst>
              <a:ext uri="{FF2B5EF4-FFF2-40B4-BE49-F238E27FC236}">
                <a16:creationId xmlns:a16="http://schemas.microsoft.com/office/drawing/2014/main" id="{11F6AF86-0CE3-4E28-9E5C-19803695716A}"/>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1664802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88365-7D6A-4174-A210-983BC80E91A2}"/>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7D6F99C6-E8F9-4473-BD5F-37357E4986C3}"/>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4" name="Footer Placeholder 3">
            <a:extLst>
              <a:ext uri="{FF2B5EF4-FFF2-40B4-BE49-F238E27FC236}">
                <a16:creationId xmlns:a16="http://schemas.microsoft.com/office/drawing/2014/main" id="{82CBD4AE-1ECC-4E4C-B7B7-E6C5FF30B076}"/>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5" name="Slide Number Placeholder 4">
            <a:extLst>
              <a:ext uri="{FF2B5EF4-FFF2-40B4-BE49-F238E27FC236}">
                <a16:creationId xmlns:a16="http://schemas.microsoft.com/office/drawing/2014/main" id="{AED8FD38-694B-4025-9D30-E5BFA70F2287}"/>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8528410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E05EF5-1D7E-459E-BBA7-34756A5BC2F6}"/>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3" name="Footer Placeholder 2">
            <a:extLst>
              <a:ext uri="{FF2B5EF4-FFF2-40B4-BE49-F238E27FC236}">
                <a16:creationId xmlns:a16="http://schemas.microsoft.com/office/drawing/2014/main" id="{39F41D4A-3A51-4AE3-BE04-1DBDE840BF42}"/>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4" name="Slide Number Placeholder 3">
            <a:extLst>
              <a:ext uri="{FF2B5EF4-FFF2-40B4-BE49-F238E27FC236}">
                <a16:creationId xmlns:a16="http://schemas.microsoft.com/office/drawing/2014/main" id="{1FB6D16C-F8ED-46EC-B285-E0ADB867EA8E}"/>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458413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310A-517E-4F7D-A057-3936BBBC97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CBD7286C-2F66-4120-A2D0-EAD4AAD783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AA2A3F1-0FEF-4F4C-B3BC-1A81EB030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734210-6075-4257-90D0-FE9027A4EC34}"/>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6" name="Footer Placeholder 5">
            <a:extLst>
              <a:ext uri="{FF2B5EF4-FFF2-40B4-BE49-F238E27FC236}">
                <a16:creationId xmlns:a16="http://schemas.microsoft.com/office/drawing/2014/main" id="{B9C41E7F-6CA7-4F69-B922-BA053024FCD0}"/>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7" name="Slide Number Placeholder 6">
            <a:extLst>
              <a:ext uri="{FF2B5EF4-FFF2-40B4-BE49-F238E27FC236}">
                <a16:creationId xmlns:a16="http://schemas.microsoft.com/office/drawing/2014/main" id="{7859743E-74A6-4623-91F1-F78D62BF11E7}"/>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725922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348C0-4679-47FF-898B-31C18C7B66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69D66835-A21C-48FD-9ED8-FB315EDD98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422FF2E3-47EF-47DB-AA59-09D07AB333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EE338B5-B248-4F12-B0B7-B3FDACFC6F58}"/>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6" name="Footer Placeholder 5">
            <a:extLst>
              <a:ext uri="{FF2B5EF4-FFF2-40B4-BE49-F238E27FC236}">
                <a16:creationId xmlns:a16="http://schemas.microsoft.com/office/drawing/2014/main" id="{7DBA3DAE-6D17-4539-97F6-FF47FEEED7ED}"/>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7" name="Slide Number Placeholder 6">
            <a:extLst>
              <a:ext uri="{FF2B5EF4-FFF2-40B4-BE49-F238E27FC236}">
                <a16:creationId xmlns:a16="http://schemas.microsoft.com/office/drawing/2014/main" id="{467ADE51-D391-4146-AC22-F87B3605968B}"/>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22160259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C271-08F4-4195-813D-121732B95577}"/>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880DB39F-F018-4813-B4C0-AD4C9DC4889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3E9C1F7-CDC7-4A36-8555-A83FE360EB46}"/>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C41C0D49-C774-4D65-B2B2-EAD87F2663DD}"/>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C936B6CB-87CD-4E71-9088-80C1B2349F0D}"/>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7391690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043032-42EF-4C73-9D14-FA194D6E4D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47818099-87EC-41BD-9B97-26814109031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DFB54F1-D8F6-4540-9D32-273360CFD682}"/>
              </a:ext>
            </a:extLst>
          </p:cNvPr>
          <p:cNvSpPr>
            <a:spLocks noGrp="1"/>
          </p:cNvSpPr>
          <p:nvPr>
            <p:ph type="dt" sz="half" idx="10"/>
          </p:nvPr>
        </p:nvSpPr>
        <p:spPr/>
        <p:txBody>
          <a:bodyPr/>
          <a:lstStyle>
            <a:lvl1pPr>
              <a:defRPr>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E677438B-0432-4F18-98FE-E77F9630C379}"/>
              </a:ext>
            </a:extLst>
          </p:cNvPr>
          <p:cNvSpPr>
            <a:spLocks noGrp="1"/>
          </p:cNvSpPr>
          <p:nvPr>
            <p:ph type="ftr" sz="quarter" idx="11"/>
          </p:nvPr>
        </p:nvSpPr>
        <p:spPr/>
        <p:txBody>
          <a:bodyPr/>
          <a:lstStyle>
            <a:lvl1pPr>
              <a:defRPr>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59132A2D-E9A9-484B-8F81-D4F545D017C1}"/>
              </a:ext>
            </a:extLst>
          </p:cNvPr>
          <p:cNvSpPr>
            <a:spLocks noGrp="1"/>
          </p:cNvSpPr>
          <p:nvPr>
            <p:ph type="sldNum" sz="quarter" idx="12"/>
          </p:nvPr>
        </p:nvSpPr>
        <p:spPr/>
        <p:txBody>
          <a:bodyPr/>
          <a:lstStyle>
            <a:lvl1pPr>
              <a:defRPr>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42454557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6993492"/>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0759961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82864345"/>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9481824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160484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1897253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defRPr>
            </a:lvl1pPr>
          </a:lstStyle>
          <a:p>
            <a:pPr>
              <a:defRPr/>
            </a:pPr>
            <a:fld id="{FF495211-54F8-4BE7-BA6E-BF7D21A5D47B}"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4113010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4428706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lvl1pPr>
              <a:defRPr>
                <a:latin typeface="Times New Roman" panose="02020603050405020304" pitchFamily="18" charset="0"/>
              </a:defRPr>
            </a:lvl1p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60694261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5240923"/>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23002486"/>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3785551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367066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5600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7577399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7054644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4507182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804873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5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7435837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a:defRPr/>
            </a:pPr>
            <a:r>
              <a:rPr lang="en-GB" dirty="0"/>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413862597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98196427"/>
      </p:ext>
    </p:extLst>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0AC98E-3FEB-4E50-8334-7A70AE8B47B8}" type="datetimeFigureOut">
              <a:rPr lang="en-US" smtClean="0"/>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88230769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81815748"/>
      </p:ext>
    </p:extLst>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61598696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0AC98E-3FEB-4E50-8334-7A70AE8B47B8}" type="datetimeFigureOut">
              <a:rPr lang="en-US" smtClean="0"/>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5437433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0AC98E-3FEB-4E50-8334-7A70AE8B47B8}" type="datetimeFigureOut">
              <a:rPr lang="en-US" smtClean="0"/>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0531947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0AC98E-3FEB-4E50-8334-7A70AE8B47B8}" type="datetimeFigureOut">
              <a:rPr lang="en-US" smtClean="0"/>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495211-54F8-4BE7-BA6E-BF7D21A5D47B}" type="slidenum">
              <a:rPr lang="en-US" smtClean="0"/>
              <a:t>‹#›</a:t>
            </a:fld>
            <a:endParaRPr lang="en-US"/>
          </a:p>
        </p:txBody>
      </p:sp>
    </p:spTree>
    <p:extLst>
      <p:ext uri="{BB962C8B-B14F-4D97-AF65-F5344CB8AC3E}">
        <p14:creationId xmlns:p14="http://schemas.microsoft.com/office/powerpoint/2010/main" val="359189965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38623932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0AC98E-3FEB-4E50-8334-7A70AE8B47B8}" type="datetimeFigureOut">
              <a:rPr lang="en-US" smtClean="0"/>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a:defRPr/>
            </a:pPr>
            <a:fld id="{6C6B6B8D-D74E-47CD-B5EE-156060B7CD17}" type="slidenum">
              <a:rPr lang="en-US" smtClean="0">
                <a:solidFill>
                  <a:srgbClr val="D2A43B"/>
                </a:solidFill>
              </a:rPr>
              <a:pPr>
                <a:defRPr/>
              </a:pPr>
              <a:t>‹#›</a:t>
            </a:fld>
            <a:endParaRPr lang="en-US" dirty="0">
              <a:solidFill>
                <a:srgbClr val="D2A43B"/>
              </a:solidFill>
            </a:endParaRPr>
          </a:p>
        </p:txBody>
      </p:sp>
      <p:pic>
        <p:nvPicPr>
          <p:cNvPr id="8" name="Picture 7">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72589056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39246775"/>
      </p:ext>
    </p:extLst>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08527453"/>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6656417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41927282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53043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29497808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42718962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223099690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424105348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5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a:defRPr/>
            </a:pPr>
            <a:fld id="{6C6B6B8D-D74E-47CD-B5EE-156060B7CD17}" type="slidenum">
              <a:rPr lang="en-US" smtClean="0"/>
              <a:pPr>
                <a:defRPr/>
              </a:pPr>
              <a:t>‹#›</a:t>
            </a:fld>
            <a:endParaRPr lang="en-US" dirty="0"/>
          </a:p>
        </p:txBody>
      </p:sp>
    </p:spTree>
    <p:extLst>
      <p:ext uri="{BB962C8B-B14F-4D97-AF65-F5344CB8AC3E}">
        <p14:creationId xmlns:p14="http://schemas.microsoft.com/office/powerpoint/2010/main" val="26347918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a:defRPr/>
            </a:pPr>
            <a:r>
              <a:rPr lang="en-GB" dirty="0"/>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266286622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15236077"/>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50321585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77145483"/>
      </p:ext>
    </p:extLst>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6214434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87928671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5" name="Slide Number Placeholder 4"/>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2693636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495211-54F8-4BE7-BA6E-BF7D21A5D47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2320335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128238122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8" name="Picture 7">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4628884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15572915"/>
      </p:ext>
    </p:extLst>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90487957"/>
      </p:ext>
    </p:extLst>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284686034"/>
      </p:ext>
    </p:extLst>
  </p:cSld>
  <p:clrMapOvr>
    <a:masterClrMapping/>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2997187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396955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84889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2766968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202868053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307567867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29162360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5_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825626"/>
            <a:ext cx="10515600" cy="388296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7043369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 name="Title Placeholder 1"/>
          <p:cNvSpPr>
            <a:spLocks noGrp="1"/>
          </p:cNvSpPr>
          <p:nvPr>
            <p:ph type="title"/>
          </p:nvPr>
        </p:nvSpPr>
        <p:spPr bwMode="auto">
          <a:xfrm>
            <a:off x="609600" y="152400"/>
            <a:ext cx="10972800" cy="1143000"/>
          </a:xfrm>
          <a:prstGeom prst="rect">
            <a:avLst/>
          </a:prstGeom>
          <a:noFill/>
          <a:ln>
            <a:noFill/>
          </a:ln>
          <a:extLst>
            <a:ext uri="{FAA26D3D-D897-4be2-8F04-BA451C77F1D7}"/>
          </a:extLst>
        </p:spPr>
        <p:txBody>
          <a:bodyPr/>
          <a:lstStyle>
            <a:lvl1pPr algn="l">
              <a:defRPr b="1">
                <a:solidFill>
                  <a:srgbClr val="D1930F"/>
                </a:solidFill>
              </a:defRPr>
            </a:lvl1pPr>
          </a:lstStyle>
          <a:p>
            <a:pPr lvl="0"/>
            <a:r>
              <a:rPr lang="en-US"/>
              <a:t>Click to edit Master title style</a:t>
            </a:r>
            <a:endParaRPr lang="en-GB" dirty="0"/>
          </a:p>
        </p:txBody>
      </p:sp>
      <p:sp>
        <p:nvSpPr>
          <p:cNvPr id="10" name="Content Placeholder 9"/>
          <p:cNvSpPr>
            <a:spLocks noGrp="1"/>
          </p:cNvSpPr>
          <p:nvPr>
            <p:ph sz="quarter" idx="13"/>
          </p:nvPr>
        </p:nvSpPr>
        <p:spPr>
          <a:xfrm>
            <a:off x="609600" y="1447800"/>
            <a:ext cx="109728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4"/>
          </p:nvPr>
        </p:nvSpPr>
        <p:spPr>
          <a:xfrm>
            <a:off x="609600" y="6465899"/>
            <a:ext cx="2844800" cy="365125"/>
          </a:xfrm>
        </p:spPr>
        <p:txBody>
          <a:bodyPr/>
          <a:lstStyle>
            <a:lvl1pPr>
              <a:defRPr>
                <a:solidFill>
                  <a:srgbClr val="D1930F"/>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3B3A2B3-42B6-4DFB-B469-DAF824AB628B}" type="datetime1">
              <a:rPr kumimoji="0" lang="vi-VN" altLang="en-US" sz="1200" b="0" i="0" u="none" strike="noStrike" kern="1200" cap="none" spc="0" normalizeH="0" baseline="0" noProof="0" smtClean="0">
                <a:ln>
                  <a:noFill/>
                </a:ln>
                <a:solidFill>
                  <a:srgbClr val="D1930F"/>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
        <p:nvSpPr>
          <p:cNvPr id="5" name="Footer Placeholder 3"/>
          <p:cNvSpPr>
            <a:spLocks noGrp="1"/>
          </p:cNvSpPr>
          <p:nvPr>
            <p:ph type="ftr" sz="quarter" idx="15"/>
          </p:nvPr>
        </p:nvSpPr>
        <p:spPr>
          <a:xfrm>
            <a:off x="4165600" y="6465899"/>
            <a:ext cx="3860800" cy="365125"/>
          </a:xfrm>
        </p:spPr>
        <p:txBody>
          <a:bodyPr/>
          <a:lstStyle>
            <a:lvl1pPr>
              <a:defRPr>
                <a:solidFill>
                  <a:srgbClr val="D1930F"/>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D1930F"/>
                </a:solidFill>
                <a:effectLst/>
                <a:uLnTx/>
                <a:uFillTx/>
                <a:latin typeface="Times New Roman" panose="02020603050405020304" pitchFamily="18" charset="0"/>
                <a:ea typeface="+mn-ea"/>
                <a:cs typeface="+mn-cs"/>
              </a:rPr>
              <a:t>Technical Department</a:t>
            </a:r>
          </a:p>
        </p:txBody>
      </p:sp>
      <p:sp>
        <p:nvSpPr>
          <p:cNvPr id="7" name="Slide Number Placeholder 4"/>
          <p:cNvSpPr>
            <a:spLocks noGrp="1"/>
          </p:cNvSpPr>
          <p:nvPr>
            <p:ph type="sldNum" sz="quarter" idx="16"/>
          </p:nvPr>
        </p:nvSpPr>
        <p:spPr>
          <a:xfrm>
            <a:off x="8839200" y="6465899"/>
            <a:ext cx="2032000" cy="365125"/>
          </a:xfrm>
        </p:spPr>
        <p:txBody>
          <a:bodyPr/>
          <a:lstStyle>
            <a:lvl1pPr>
              <a:defRPr>
                <a:solidFill>
                  <a:srgbClr val="D1930F"/>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8535EE-03B8-4F0C-A452-C8FAADC6AC8A}" type="slidenum">
              <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srgbClr val="D1930F"/>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43319482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6955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image" Target="../media/image4.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image" Target="../media/image4.jpeg"/><Relationship Id="rId5" Type="http://schemas.openxmlformats.org/officeDocument/2006/relationships/theme" Target="../theme/theme4.xml"/><Relationship Id="rId4"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5" Type="http://schemas.openxmlformats.org/officeDocument/2006/relationships/image" Target="../media/image4.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7.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21" Type="http://schemas.openxmlformats.org/officeDocument/2006/relationships/theme" Target="../theme/theme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21" Type="http://schemas.openxmlformats.org/officeDocument/2006/relationships/theme" Target="../theme/theme9.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3" Type="http://schemas.openxmlformats.org/officeDocument/2006/relationships/slideLayout" Target="../slideLayouts/slideLayout100.xml"/><Relationship Id="rId21" Type="http://schemas.openxmlformats.org/officeDocument/2006/relationships/slideLayout" Target="../slideLayouts/slideLayout118.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20" Type="http://schemas.openxmlformats.org/officeDocument/2006/relationships/slideLayout" Target="../slideLayouts/slideLayout117.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10" Type="http://schemas.openxmlformats.org/officeDocument/2006/relationships/slideLayout" Target="../slideLayouts/slideLayout107.xml"/><Relationship Id="rId19" Type="http://schemas.openxmlformats.org/officeDocument/2006/relationships/slideLayout" Target="../slideLayouts/slideLayout116.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 Id="rId2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6F0AC98E-3FEB-4E50-8334-7A70AE8B47B8}" type="datetimeFigureOut">
              <a:rPr lang="en-US" smtClean="0"/>
              <a:pPr/>
              <a:t>5/16/2025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FF495211-54F8-4BE7-BA6E-BF7D21A5D47B}" type="slidenum">
              <a:rPr lang="en-US" smtClean="0"/>
              <a:pPr/>
              <a:t>‹#›</a:t>
            </a:fld>
            <a:endParaRPr lang="en-US" dirty="0"/>
          </a:p>
        </p:txBody>
      </p:sp>
    </p:spTree>
    <p:extLst>
      <p:ext uri="{BB962C8B-B14F-4D97-AF65-F5344CB8AC3E}">
        <p14:creationId xmlns:p14="http://schemas.microsoft.com/office/powerpoint/2010/main" val="4138404780"/>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666" r:id="rId12"/>
    <p:sldLayoutId id="2147483667" r:id="rId13"/>
    <p:sldLayoutId id="2147483671" r:id="rId14"/>
    <p:sldLayoutId id="2147483672" r:id="rId15"/>
    <p:sldLayoutId id="2147483673" r:id="rId16"/>
    <p:sldLayoutId id="2147483663" r:id="rId17"/>
    <p:sldLayoutId id="2147483720" r:id="rId18"/>
    <p:sldLayoutId id="2147483721" r:id="rId19"/>
    <p:sldLayoutId id="2147483685" r:id="rId20"/>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3"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4098"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099" name="Text Placeholder 2"/>
          <p:cNvSpPr>
            <a:spLocks noGrp="1"/>
          </p:cNvSpPr>
          <p:nvPr>
            <p:ph type="body" idx="1"/>
          </p:nvPr>
        </p:nvSpPr>
        <p:spPr bwMode="auto">
          <a:xfrm>
            <a:off x="609600" y="1600204"/>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609600" y="635636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prstClr val="white"/>
                </a:solidFill>
                <a:latin typeface="Times New Roman" panose="02020603050405020304" pitchFamily="18"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2F6FCD1-7885-4E09-98D9-02FC4FA4F49F}" type="datetime1">
              <a:rPr kumimoji="0" lang="vi-VN" altLang="en-US" sz="1200" b="0" i="0" u="none" strike="noStrike" kern="1200" cap="none" spc="0" normalizeH="0" baseline="0" noProof="0" smtClean="0">
                <a:ln>
                  <a:noFill/>
                </a:ln>
                <a:solidFill>
                  <a:prstClr val="white"/>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
        <p:nvSpPr>
          <p:cNvPr id="5" name="Footer Placeholder 4"/>
          <p:cNvSpPr>
            <a:spLocks noGrp="1"/>
          </p:cNvSpPr>
          <p:nvPr>
            <p:ph type="ftr" sz="quarter" idx="3"/>
          </p:nvPr>
        </p:nvSpPr>
        <p:spPr>
          <a:xfrm>
            <a:off x="4165600" y="635636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prstClr val="white"/>
                </a:solidFill>
                <a:latin typeface="Times New Roman" panose="02020603050405020304" pitchFamily="18" charset="0"/>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mn-cs"/>
              </a:rPr>
              <a:t>Technical Department</a:t>
            </a:r>
          </a:p>
        </p:txBody>
      </p:sp>
      <p:sp>
        <p:nvSpPr>
          <p:cNvPr id="6" name="Slide Number Placeholder 5"/>
          <p:cNvSpPr>
            <a:spLocks noGrp="1"/>
          </p:cNvSpPr>
          <p:nvPr>
            <p:ph type="sldNum" sz="quarter" idx="4"/>
          </p:nvPr>
        </p:nvSpPr>
        <p:spPr>
          <a:xfrm>
            <a:off x="8737600" y="635636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prstClr val="white"/>
                </a:solidFill>
                <a:latin typeface="Times New Roman" panose="02020603050405020304" pitchFamily="18"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10EDF98-D0F8-4E1C-9B79-F4868842A262}" type="slidenum">
              <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3745358963"/>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Lst>
  <p:hf hdr="0"/>
  <p:txStyles>
    <p:titleStyle>
      <a:lvl1pPr algn="ctr" rtl="0" eaLnBrk="1" fontAlgn="base" hangingPunct="1">
        <a:spcBef>
          <a:spcPct val="0"/>
        </a:spcBef>
        <a:spcAft>
          <a:spcPct val="0"/>
        </a:spcAft>
        <a:defRPr sz="4400" kern="1200">
          <a:solidFill>
            <a:srgbClr val="404040"/>
          </a:solidFill>
          <a:latin typeface="Times New Roman" panose="02020603050405020304" pitchFamily="18" charset="0"/>
          <a:ea typeface="MS PGothic" panose="020B0600070205080204" pitchFamily="34" charset="-128"/>
          <a:cs typeface="ＭＳ Ｐゴシック" charset="0"/>
        </a:defRPr>
      </a:lvl1pPr>
      <a:lvl2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2pPr>
      <a:lvl3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3pPr>
      <a:lvl4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4pPr>
      <a:lvl5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rgbClr val="404040"/>
          </a:solidFill>
          <a:latin typeface="Times New Roman" panose="02020603050405020304" pitchFamily="18" charset="0"/>
          <a:ea typeface="MS PGothic" panose="020B0600070205080204" pitchFamily="34" charset="-128"/>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rgbClr val="404040"/>
          </a:solidFill>
          <a:latin typeface="Times New Roman" panose="02020603050405020304" pitchFamily="18" charset="0"/>
          <a:ea typeface="MS PGothic" panose="020B0600070205080204" pitchFamily="34" charset="-128"/>
          <a:cs typeface="+mn-cs"/>
        </a:defRPr>
      </a:lvl2pPr>
      <a:lvl3pPr marL="1143000" indent="-228600" algn="l" rtl="0" eaLnBrk="1" fontAlgn="base" hangingPunct="1">
        <a:spcBef>
          <a:spcPct val="20000"/>
        </a:spcBef>
        <a:spcAft>
          <a:spcPct val="0"/>
        </a:spcAft>
        <a:buFont typeface="Arial" charset="0"/>
        <a:buChar char="•"/>
        <a:defRPr sz="2400" kern="1200">
          <a:solidFill>
            <a:srgbClr val="404040"/>
          </a:solidFill>
          <a:latin typeface="Times New Roman" panose="02020603050405020304" pitchFamily="18" charset="0"/>
          <a:ea typeface="MS PGothic" panose="020B0600070205080204" pitchFamily="34" charset="-128"/>
          <a:cs typeface="+mn-cs"/>
        </a:defRPr>
      </a:lvl3pPr>
      <a:lvl4pPr marL="16002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4pPr>
      <a:lvl5pPr marL="20574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wrap="square" rtlCol="0">
            <a:spAutoFit/>
          </a:bodyPr>
          <a:lstStyle/>
          <a:p>
            <a:pPr algn="ctr"/>
            <a:r>
              <a:rPr lang="en-US" sz="2400" b="1" dirty="0">
                <a:solidFill>
                  <a:srgbClr val="CFCFCF"/>
                </a:solidFill>
                <a:latin typeface="Times New Roman" panose="02020603050405020304" pitchFamily="18" charset="0"/>
              </a:rPr>
              <a:t>www.9slide.vn</a:t>
            </a: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759527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3"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4098"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4099" name="Text Placeholder 2"/>
          <p:cNvSpPr>
            <a:spLocks noGrp="1"/>
          </p:cNvSpPr>
          <p:nvPr>
            <p:ph type="body" idx="1"/>
          </p:nvPr>
        </p:nvSpPr>
        <p:spPr bwMode="auto">
          <a:xfrm>
            <a:off x="609600" y="1600204"/>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6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prstClr val="white"/>
                </a:solidFill>
                <a:latin typeface="Times New Roman" panose="02020603050405020304" pitchFamily="18"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2F6FCD1-7885-4E09-98D9-02FC4FA4F49F}" type="datetime1">
              <a:rPr kumimoji="0" lang="vi-VN" altLang="en-US" sz="1200" b="0" i="0" u="none" strike="noStrike" kern="1200" cap="none" spc="0" normalizeH="0" baseline="0" noProof="0" smtClean="0">
                <a:ln>
                  <a:noFill/>
                </a:ln>
                <a:solidFill>
                  <a:prstClr val="white"/>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
        <p:nvSpPr>
          <p:cNvPr id="5" name="Footer Placeholder 4"/>
          <p:cNvSpPr>
            <a:spLocks noGrp="1"/>
          </p:cNvSpPr>
          <p:nvPr>
            <p:ph type="ftr" sz="quarter" idx="3"/>
          </p:nvPr>
        </p:nvSpPr>
        <p:spPr>
          <a:xfrm>
            <a:off x="4165600" y="635636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prstClr val="white"/>
                </a:solidFill>
                <a:latin typeface="Times New Roman" panose="02020603050405020304" pitchFamily="18" charset="0"/>
                <a:ea typeface="+mn-ea"/>
                <a:cs typeface="+mn-cs"/>
              </a:defRPr>
            </a:lvl1pPr>
          </a:lstStyle>
          <a:p>
            <a:pPr>
              <a:defRPr/>
            </a:pPr>
            <a:r>
              <a:rPr lang="en-GB" dirty="0"/>
              <a:t>Technical Department</a:t>
            </a:r>
          </a:p>
        </p:txBody>
      </p:sp>
      <p:sp>
        <p:nvSpPr>
          <p:cNvPr id="6" name="Slide Number Placeholder 5"/>
          <p:cNvSpPr>
            <a:spLocks noGrp="1"/>
          </p:cNvSpPr>
          <p:nvPr>
            <p:ph type="sldNum" sz="quarter" idx="4"/>
          </p:nvPr>
        </p:nvSpPr>
        <p:spPr>
          <a:xfrm>
            <a:off x="8737600" y="635636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prstClr val="white"/>
                </a:solidFill>
                <a:latin typeface="Times New Roman" panose="02020603050405020304" pitchFamily="18"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10EDF98-D0F8-4E1C-9B79-F4868842A262}" type="slidenum">
              <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3522534842"/>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Lst>
  <p:hf hdr="0"/>
  <p:txStyles>
    <p:titleStyle>
      <a:lvl1pPr algn="ctr" rtl="0" eaLnBrk="1" fontAlgn="base" hangingPunct="1">
        <a:spcBef>
          <a:spcPct val="0"/>
        </a:spcBef>
        <a:spcAft>
          <a:spcPct val="0"/>
        </a:spcAft>
        <a:defRPr sz="4400" kern="1200">
          <a:solidFill>
            <a:srgbClr val="404040"/>
          </a:solidFill>
          <a:latin typeface="Times New Roman" panose="02020603050405020304" pitchFamily="18" charset="0"/>
          <a:ea typeface="MS PGothic" panose="020B0600070205080204" pitchFamily="34" charset="-128"/>
          <a:cs typeface="ＭＳ Ｐゴシック" charset="0"/>
        </a:defRPr>
      </a:lvl1pPr>
      <a:lvl2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2pPr>
      <a:lvl3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3pPr>
      <a:lvl4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4pPr>
      <a:lvl5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rgbClr val="404040"/>
          </a:solidFill>
          <a:latin typeface="Times New Roman" panose="02020603050405020304" pitchFamily="18" charset="0"/>
          <a:ea typeface="MS PGothic" panose="020B0600070205080204" pitchFamily="34" charset="-128"/>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rgbClr val="404040"/>
          </a:solidFill>
          <a:latin typeface="Times New Roman" panose="02020603050405020304" pitchFamily="18" charset="0"/>
          <a:ea typeface="MS PGothic" panose="020B0600070205080204" pitchFamily="34" charset="-128"/>
          <a:cs typeface="+mn-cs"/>
        </a:defRPr>
      </a:lvl2pPr>
      <a:lvl3pPr marL="1143000" indent="-228600" algn="l" rtl="0" eaLnBrk="1" fontAlgn="base" hangingPunct="1">
        <a:spcBef>
          <a:spcPct val="20000"/>
        </a:spcBef>
        <a:spcAft>
          <a:spcPct val="0"/>
        </a:spcAft>
        <a:buFont typeface="Arial" charset="0"/>
        <a:buChar char="•"/>
        <a:defRPr sz="2400" kern="1200">
          <a:solidFill>
            <a:srgbClr val="404040"/>
          </a:solidFill>
          <a:latin typeface="Times New Roman" panose="02020603050405020304" pitchFamily="18" charset="0"/>
          <a:ea typeface="MS PGothic" panose="020B0600070205080204" pitchFamily="34" charset="-128"/>
          <a:cs typeface="+mn-cs"/>
        </a:defRPr>
      </a:lvl3pPr>
      <a:lvl4pPr marL="16002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4pPr>
      <a:lvl5pPr marL="20574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wrap="square" rtlCol="0">
            <a:spAutoFit/>
          </a:bodyPr>
          <a:lstStyle/>
          <a:p>
            <a:pPr algn="ctr"/>
            <a:r>
              <a:rPr lang="en-US" sz="2400" b="1" dirty="0">
                <a:solidFill>
                  <a:srgbClr val="CFCFCF"/>
                </a:solidFill>
                <a:latin typeface="Times New Roman" panose="02020603050405020304" pitchFamily="18" charset="0"/>
              </a:rPr>
              <a:t>www.9slide.vn</a:t>
            </a: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pPr>
              <a:defRPr/>
            </a:pPr>
            <a:fld id="{EE876FE3-6897-AC45-A781-6CFE41690726}" type="datetime1">
              <a:rPr lang="en-US" smtClean="0">
                <a:solidFill>
                  <a:prstClr val="black">
                    <a:tint val="75000"/>
                  </a:prstClr>
                </a:solidFill>
              </a:rPr>
              <a:pPr>
                <a:defRPr/>
              </a:pPr>
              <a:t>5/16/2025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pPr>
              <a:defRPr/>
            </a:pPr>
            <a:fld id="{6C6B6B8D-D74E-47CD-B5EE-156060B7CD1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1081086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3"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4098"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099" name="Text Placeholder 2"/>
          <p:cNvSpPr>
            <a:spLocks noGrp="1"/>
          </p:cNvSpPr>
          <p:nvPr>
            <p:ph type="body" idx="1"/>
          </p:nvPr>
        </p:nvSpPr>
        <p:spPr bwMode="auto">
          <a:xfrm>
            <a:off x="609600" y="1600204"/>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609600" y="635636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prstClr val="white"/>
                </a:solidFill>
                <a:latin typeface="Times New Roman" panose="02020603050405020304" pitchFamily="18"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2F6FCD1-7885-4E09-98D9-02FC4FA4F49F}" type="datetime1">
              <a:rPr kumimoji="0" lang="vi-VN" altLang="en-US" sz="1200" b="0" i="0" u="none" strike="noStrike" kern="1200" cap="none" spc="0" normalizeH="0" baseline="0" noProof="0" smtClean="0">
                <a:ln>
                  <a:noFill/>
                </a:ln>
                <a:solidFill>
                  <a:prstClr val="white"/>
                </a:solidFill>
                <a:effectLst/>
                <a:uLnTx/>
                <a:uFillTx/>
                <a:latin typeface="Times New Roman" panose="02020603050405020304" pitchFamily="18" charset="0"/>
                <a:ea typeface="MS PGothic" pitchFamily="34"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16/05/2025</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
        <p:nvSpPr>
          <p:cNvPr id="5" name="Footer Placeholder 4"/>
          <p:cNvSpPr>
            <a:spLocks noGrp="1"/>
          </p:cNvSpPr>
          <p:nvPr>
            <p:ph type="ftr" sz="quarter" idx="3"/>
          </p:nvPr>
        </p:nvSpPr>
        <p:spPr>
          <a:xfrm>
            <a:off x="4165600" y="635636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prstClr val="white"/>
                </a:solidFill>
                <a:latin typeface="Times New Roman" panose="02020603050405020304" pitchFamily="18" charset="0"/>
                <a:ea typeface="+mn-ea"/>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mn-cs"/>
              </a:rPr>
              <a:t>Technical Department</a:t>
            </a:r>
          </a:p>
        </p:txBody>
      </p:sp>
      <p:sp>
        <p:nvSpPr>
          <p:cNvPr id="6" name="Slide Number Placeholder 5"/>
          <p:cNvSpPr>
            <a:spLocks noGrp="1"/>
          </p:cNvSpPr>
          <p:nvPr>
            <p:ph type="sldNum" sz="quarter" idx="4"/>
          </p:nvPr>
        </p:nvSpPr>
        <p:spPr>
          <a:xfrm>
            <a:off x="8737600" y="635636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prstClr val="white"/>
                </a:solidFill>
                <a:latin typeface="Times New Roman" panose="02020603050405020304" pitchFamily="18"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10EDF98-D0F8-4E1C-9B79-F4868842A262}" type="slidenum">
              <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white"/>
              </a:solidFill>
              <a:effectLst/>
              <a:uLnTx/>
              <a:uFillTx/>
              <a:latin typeface="Times New Roman" panose="02020603050405020304" pitchFamily="18" charset="0"/>
              <a:ea typeface="MS PGothic" pitchFamily="34" charset="-128"/>
              <a:cs typeface="+mn-cs"/>
            </a:endParaRPr>
          </a:p>
        </p:txBody>
      </p:sp>
    </p:spTree>
    <p:extLst>
      <p:ext uri="{BB962C8B-B14F-4D97-AF65-F5344CB8AC3E}">
        <p14:creationId xmlns:p14="http://schemas.microsoft.com/office/powerpoint/2010/main" val="1336236150"/>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Lst>
  <p:hf hdr="0"/>
  <p:txStyles>
    <p:titleStyle>
      <a:lvl1pPr algn="ctr" rtl="0" eaLnBrk="1" fontAlgn="base" hangingPunct="1">
        <a:spcBef>
          <a:spcPct val="0"/>
        </a:spcBef>
        <a:spcAft>
          <a:spcPct val="0"/>
        </a:spcAft>
        <a:defRPr sz="4400" kern="1200">
          <a:solidFill>
            <a:srgbClr val="404040"/>
          </a:solidFill>
          <a:latin typeface="Times New Roman" panose="02020603050405020304" pitchFamily="18" charset="0"/>
          <a:ea typeface="MS PGothic" panose="020B0600070205080204" pitchFamily="34" charset="-128"/>
          <a:cs typeface="ＭＳ Ｐゴシック" charset="0"/>
        </a:defRPr>
      </a:lvl1pPr>
      <a:lvl2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2pPr>
      <a:lvl3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3pPr>
      <a:lvl4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4pPr>
      <a:lvl5pPr algn="ctr" rtl="0" eaLnBrk="1" fontAlgn="base" hangingPunct="1">
        <a:spcBef>
          <a:spcPct val="0"/>
        </a:spcBef>
        <a:spcAft>
          <a:spcPct val="0"/>
        </a:spcAft>
        <a:defRPr sz="4400">
          <a:solidFill>
            <a:srgbClr val="404040"/>
          </a:solidFill>
          <a:latin typeface="Calibri"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rgbClr val="404040"/>
          </a:solidFill>
          <a:latin typeface="Times New Roman" panose="02020603050405020304" pitchFamily="18" charset="0"/>
          <a:ea typeface="MS PGothic" panose="020B0600070205080204" pitchFamily="34" charset="-128"/>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rgbClr val="404040"/>
          </a:solidFill>
          <a:latin typeface="Times New Roman" panose="02020603050405020304" pitchFamily="18" charset="0"/>
          <a:ea typeface="MS PGothic" panose="020B0600070205080204" pitchFamily="34" charset="-128"/>
          <a:cs typeface="+mn-cs"/>
        </a:defRPr>
      </a:lvl2pPr>
      <a:lvl3pPr marL="1143000" indent="-228600" algn="l" rtl="0" eaLnBrk="1" fontAlgn="base" hangingPunct="1">
        <a:spcBef>
          <a:spcPct val="20000"/>
        </a:spcBef>
        <a:spcAft>
          <a:spcPct val="0"/>
        </a:spcAft>
        <a:buFont typeface="Arial" charset="0"/>
        <a:buChar char="•"/>
        <a:defRPr sz="2400" kern="1200">
          <a:solidFill>
            <a:srgbClr val="404040"/>
          </a:solidFill>
          <a:latin typeface="Times New Roman" panose="02020603050405020304" pitchFamily="18" charset="0"/>
          <a:ea typeface="MS PGothic" panose="020B0600070205080204" pitchFamily="34" charset="-128"/>
          <a:cs typeface="+mn-cs"/>
        </a:defRPr>
      </a:lvl3pPr>
      <a:lvl4pPr marL="16002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4pPr>
      <a:lvl5pPr marL="2057400" indent="-228600" algn="l" rtl="0" eaLnBrk="1" fontAlgn="base" hangingPunct="1">
        <a:spcBef>
          <a:spcPct val="20000"/>
        </a:spcBef>
        <a:spcAft>
          <a:spcPct val="0"/>
        </a:spcAft>
        <a:buFont typeface="Arial" charset="0"/>
        <a:buChar char="»"/>
        <a:defRPr sz="2000" kern="1200">
          <a:solidFill>
            <a:srgbClr val="404040"/>
          </a:solidFill>
          <a:latin typeface="Times New Roman" panose="02020603050405020304" pitchFamily="18" charset="0"/>
          <a:ea typeface="MS PGothic" panose="020B0600070205080204"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2" name="Title Placeholder 1">
            <a:extLst>
              <a:ext uri="{FF2B5EF4-FFF2-40B4-BE49-F238E27FC236}">
                <a16:creationId xmlns:a16="http://schemas.microsoft.com/office/drawing/2014/main" id="{D847ABCA-148B-4631-9804-423922071B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x-none" dirty="0"/>
          </a:p>
        </p:txBody>
      </p:sp>
      <p:sp>
        <p:nvSpPr>
          <p:cNvPr id="3" name="Text Placeholder 2">
            <a:extLst>
              <a:ext uri="{FF2B5EF4-FFF2-40B4-BE49-F238E27FC236}">
                <a16:creationId xmlns:a16="http://schemas.microsoft.com/office/drawing/2014/main" id="{A7998D76-653E-473C-933F-2960187770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x-none" dirty="0"/>
          </a:p>
        </p:txBody>
      </p:sp>
      <p:sp>
        <p:nvSpPr>
          <p:cNvPr id="4" name="Date Placeholder 3">
            <a:extLst>
              <a:ext uri="{FF2B5EF4-FFF2-40B4-BE49-F238E27FC236}">
                <a16:creationId xmlns:a16="http://schemas.microsoft.com/office/drawing/2014/main" id="{60AE9B66-DEAB-428F-94D0-3532EFEEB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pPr>
              <a:defRPr/>
            </a:pPr>
            <a:fld id="{6DFB41BE-2357-4667-9DB0-547558ED25AA}" type="datetimeFigureOut">
              <a:rPr lang="x-none" smtClean="0">
                <a:solidFill>
                  <a:prstClr val="black">
                    <a:tint val="75000"/>
                  </a:prstClr>
                </a:solidFill>
              </a:rPr>
              <a:pPr>
                <a:defRPr/>
              </a:pPr>
              <a:t>5/16/2025</a:t>
            </a:fld>
            <a:endParaRPr lang="x-none" dirty="0">
              <a:solidFill>
                <a:prstClr val="black">
                  <a:tint val="75000"/>
                </a:prstClr>
              </a:solidFill>
            </a:endParaRPr>
          </a:p>
        </p:txBody>
      </p:sp>
      <p:sp>
        <p:nvSpPr>
          <p:cNvPr id="5" name="Footer Placeholder 4">
            <a:extLst>
              <a:ext uri="{FF2B5EF4-FFF2-40B4-BE49-F238E27FC236}">
                <a16:creationId xmlns:a16="http://schemas.microsoft.com/office/drawing/2014/main" id="{721AF94D-A83D-4363-B098-770A740F09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pPr>
              <a:defRPr/>
            </a:pPr>
            <a:endParaRPr lang="x-none" dirty="0">
              <a:solidFill>
                <a:prstClr val="black">
                  <a:tint val="75000"/>
                </a:prstClr>
              </a:solidFill>
            </a:endParaRPr>
          </a:p>
        </p:txBody>
      </p:sp>
      <p:sp>
        <p:nvSpPr>
          <p:cNvPr id="6" name="Slide Number Placeholder 5">
            <a:extLst>
              <a:ext uri="{FF2B5EF4-FFF2-40B4-BE49-F238E27FC236}">
                <a16:creationId xmlns:a16="http://schemas.microsoft.com/office/drawing/2014/main" id="{F684B156-229B-45BE-8487-7E9BB02807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pPr>
              <a:defRPr/>
            </a:pPr>
            <a:fld id="{84709C4D-69E6-4501-8040-B2A9AAF948FD}" type="slidenum">
              <a:rPr lang="x-none" smtClean="0">
                <a:solidFill>
                  <a:prstClr val="black">
                    <a:tint val="75000"/>
                  </a:prstClr>
                </a:solidFill>
              </a:rPr>
              <a:pPr>
                <a:defRPr/>
              </a:pPr>
              <a:t>‹#›</a:t>
            </a:fld>
            <a:endParaRPr lang="x-none" dirty="0">
              <a:solidFill>
                <a:prstClr val="black">
                  <a:tint val="75000"/>
                </a:prstClr>
              </a:solidFill>
            </a:endParaRPr>
          </a:p>
        </p:txBody>
      </p:sp>
    </p:spTree>
    <p:extLst>
      <p:ext uri="{BB962C8B-B14F-4D97-AF65-F5344CB8AC3E}">
        <p14:creationId xmlns:p14="http://schemas.microsoft.com/office/powerpoint/2010/main" val="3718614015"/>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rtlCol="0">
            <a:spAutoFit/>
          </a:bodyPr>
          <a:lstStyle/>
          <a:p>
            <a:pPr algn="ctr"/>
            <a:r>
              <a:rPr lang="en-US" sz="2400" dirty="0">
                <a:solidFill>
                  <a:srgbClr val="CFCFCF"/>
                </a:solidFill>
                <a:latin typeface="Times New Roman" panose="02020603050405020304" pitchFamily="18" charset="0"/>
              </a:rPr>
              <a:t>www.9slide.vn</a:t>
            </a: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pPr>
              <a:defRPr/>
            </a:pPr>
            <a:fld id="{6F0AC98E-3FEB-4E50-8334-7A70AE8B47B8}" type="datetimeFigureOut">
              <a:rPr lang="en-US" smtClean="0">
                <a:solidFill>
                  <a:prstClr val="black">
                    <a:tint val="75000"/>
                  </a:prstClr>
                </a:solidFill>
              </a:rPr>
              <a:pPr>
                <a:defRPr/>
              </a:pPr>
              <a:t>5/16/2025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pPr>
              <a:defRPr/>
            </a:pPr>
            <a:fld id="{FF495211-54F8-4BE7-BA6E-BF7D21A5D47B}"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693736166"/>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 id="2147484061" r:id="rId13"/>
    <p:sldLayoutId id="2147484062" r:id="rId14"/>
    <p:sldLayoutId id="2147484063" r:id="rId15"/>
    <p:sldLayoutId id="2147484064" r:id="rId16"/>
    <p:sldLayoutId id="2147484065" r:id="rId17"/>
    <p:sldLayoutId id="2147484066" r:id="rId18"/>
    <p:sldLayoutId id="2147484067" r:id="rId19"/>
    <p:sldLayoutId id="2147484068" r:id="rId20"/>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6F0AC98E-3FEB-4E50-8334-7A70AE8B47B8}" type="datetimeFigureOut">
              <a:rPr lang="en-US" smtClean="0"/>
              <a:pPr/>
              <a:t>5/16/2025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FF495211-54F8-4BE7-BA6E-BF7D21A5D47B}" type="slidenum">
              <a:rPr lang="en-US" smtClean="0"/>
              <a:pPr/>
              <a:t>‹#›</a:t>
            </a:fld>
            <a:endParaRPr lang="en-US" dirty="0"/>
          </a:p>
        </p:txBody>
      </p:sp>
    </p:spTree>
    <p:extLst>
      <p:ext uri="{BB962C8B-B14F-4D97-AF65-F5344CB8AC3E}">
        <p14:creationId xmlns:p14="http://schemas.microsoft.com/office/powerpoint/2010/main" val="2403633546"/>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10" r:id="rId4"/>
    <p:sldLayoutId id="2147484111" r:id="rId5"/>
    <p:sldLayoutId id="2147484112" r:id="rId6"/>
    <p:sldLayoutId id="2147484113" r:id="rId7"/>
    <p:sldLayoutId id="2147484114" r:id="rId8"/>
    <p:sldLayoutId id="2147484115" r:id="rId9"/>
    <p:sldLayoutId id="2147484116" r:id="rId10"/>
    <p:sldLayoutId id="2147484117" r:id="rId11"/>
    <p:sldLayoutId id="2147484118" r:id="rId12"/>
    <p:sldLayoutId id="2147484119" r:id="rId13"/>
    <p:sldLayoutId id="2147484120" r:id="rId14"/>
    <p:sldLayoutId id="2147484121" r:id="rId15"/>
    <p:sldLayoutId id="2147484122" r:id="rId16"/>
    <p:sldLayoutId id="2147484123" r:id="rId17"/>
    <p:sldLayoutId id="2147484124" r:id="rId18"/>
    <p:sldLayoutId id="2147484125" r:id="rId19"/>
    <p:sldLayoutId id="2147484126" r:id="rId20"/>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9Slide.vn - 2019"/>
          <p:cNvSpPr txBox="1"/>
          <p:nvPr userDrawn="1"/>
        </p:nvSpPr>
        <p:spPr>
          <a:xfrm>
            <a:off x="0" y="-804565"/>
            <a:ext cx="12192000" cy="461665"/>
          </a:xfrm>
          <a:prstGeom prst="rect">
            <a:avLst/>
          </a:prstGeom>
          <a:noFill/>
        </p:spPr>
        <p:txBody>
          <a:bodyPr vert="horz"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CFCFCF"/>
                </a:solidFill>
                <a:effectLst/>
                <a:uLnTx/>
                <a:uFillTx/>
                <a:latin typeface="Calibri"/>
                <a:ea typeface="+mn-ea"/>
                <a:cs typeface="+mn-cs"/>
              </a:rPr>
              <a:t>www.9slide.vn</a:t>
            </a: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F0AC98E-3FEB-4E50-8334-7A70AE8B47B8}" type="datetimeFigureOut">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5/16/2025</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F495211-54F8-4BE7-BA6E-BF7D21A5D47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94497227"/>
      </p:ext>
    </p:extLst>
  </p:cSld>
  <p:clrMap bg1="lt1" tx1="dk1" bg2="lt2" tx2="dk2" accent1="accent1" accent2="accent2" accent3="accent3" accent4="accent4" accent5="accent5" accent6="accent6" hlink="hlink" folHlink="folHlink"/>
  <p:sldLayoutIdLst>
    <p:sldLayoutId id="2147484178" r:id="rId1"/>
    <p:sldLayoutId id="2147484179" r:id="rId2"/>
    <p:sldLayoutId id="2147484180" r:id="rId3"/>
    <p:sldLayoutId id="2147484181" r:id="rId4"/>
    <p:sldLayoutId id="2147484182" r:id="rId5"/>
    <p:sldLayoutId id="2147484183" r:id="rId6"/>
    <p:sldLayoutId id="2147484184" r:id="rId7"/>
    <p:sldLayoutId id="2147484185" r:id="rId8"/>
    <p:sldLayoutId id="2147484186" r:id="rId9"/>
    <p:sldLayoutId id="2147484187" r:id="rId10"/>
    <p:sldLayoutId id="2147484188" r:id="rId11"/>
    <p:sldLayoutId id="2147484189" r:id="rId12"/>
    <p:sldLayoutId id="2147484190" r:id="rId13"/>
    <p:sldLayoutId id="2147484191" r:id="rId14"/>
    <p:sldLayoutId id="2147484192" r:id="rId15"/>
    <p:sldLayoutId id="2147484193" r:id="rId16"/>
    <p:sldLayoutId id="2147484194" r:id="rId17"/>
    <p:sldLayoutId id="2147484195" r:id="rId18"/>
    <p:sldLayoutId id="2147484196" r:id="rId19"/>
    <p:sldLayoutId id="2147484197" r:id="rId20"/>
    <p:sldLayoutId id="2147484198" r:id="rId2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smtClean="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a:t>
            </a:fld>
            <a:endParaRPr kumimoji="0" lang="vi"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2646174943"/>
      </p:ext>
    </p:extLst>
  </p:cSld>
  <p:clrMap bg1="lt1" tx1="dk1" bg2="dk2" tx2="lt2" accent1="accent1" accent2="accent2" accent3="accent3" accent4="accent4" accent5="accent5" accent6="accent6" hlink="hlink" folHlink="folHlink"/>
  <p:sldLayoutIdLst>
    <p:sldLayoutId id="214748420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19.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1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19.xml"/><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1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19.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9.xml"/><Relationship Id="rId5" Type="http://schemas.openxmlformats.org/officeDocument/2006/relationships/chart" Target="../charts/chart6.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9.xml"/><Relationship Id="rId5" Type="http://schemas.openxmlformats.org/officeDocument/2006/relationships/chart" Target="../charts/chart8.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9.xml"/><Relationship Id="rId5" Type="http://schemas.openxmlformats.org/officeDocument/2006/relationships/chart" Target="../charts/chart10.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1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19.xml"/><Relationship Id="rId5" Type="http://schemas.openxmlformats.org/officeDocument/2006/relationships/chart" Target="../charts/chart12.xml"/><Relationship Id="rId4" Type="http://schemas.openxmlformats.org/officeDocument/2006/relationships/chart" Target="../charts/chart1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19.xml"/><Relationship Id="rId5" Type="http://schemas.openxmlformats.org/officeDocument/2006/relationships/chart" Target="../charts/chart14.xml"/><Relationship Id="rId4" Type="http://schemas.openxmlformats.org/officeDocument/2006/relationships/chart" Target="../charts/char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19.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1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1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19.xml"/><Relationship Id="rId4" Type="http://schemas.openxmlformats.org/officeDocument/2006/relationships/chart" Target="../charts/chart1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19.xml"/><Relationship Id="rId5" Type="http://schemas.openxmlformats.org/officeDocument/2006/relationships/chart" Target="../charts/chart17.xml"/><Relationship Id="rId4" Type="http://schemas.openxmlformats.org/officeDocument/2006/relationships/chart" Target="../charts/chart1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19.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19.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19.xml"/><Relationship Id="rId5" Type="http://schemas.openxmlformats.org/officeDocument/2006/relationships/chart" Target="../charts/chart19.xml"/><Relationship Id="rId4" Type="http://schemas.openxmlformats.org/officeDocument/2006/relationships/chart" Target="../charts/chart18.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19.xml"/><Relationship Id="rId5" Type="http://schemas.openxmlformats.org/officeDocument/2006/relationships/chart" Target="../charts/chart21.xml"/><Relationship Id="rId4" Type="http://schemas.openxmlformats.org/officeDocument/2006/relationships/chart" Target="../charts/chart20.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19.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19.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19.xml"/><Relationship Id="rId4" Type="http://schemas.openxmlformats.org/officeDocument/2006/relationships/chart" Target="../charts/chart2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19.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19.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19.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19.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19.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19.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547855" y="-699715"/>
            <a:ext cx="15478540" cy="8735833"/>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7" name="TextBox 1"/>
          <p:cNvSpPr txBox="1">
            <a:spLocks noChangeArrowheads="1"/>
          </p:cNvSpPr>
          <p:nvPr/>
        </p:nvSpPr>
        <p:spPr bwMode="auto">
          <a:xfrm>
            <a:off x="4143514" y="508566"/>
            <a:ext cx="7709357" cy="1323632"/>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ỦY BAN AN TOÀN HÀNG KHÔNG</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TỔ CÔNG TÁC AN </a:t>
            </a:r>
            <a:r>
              <a:rPr kumimoji="0" lang="en-US" altLang="en-US" sz="2400"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26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 KỸ THUẬT - SAG2</a:t>
            </a: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Wingdings"/>
              </a:rPr>
              <a:t></a:t>
            </a:r>
            <a:endParaRPr kumimoji="0" lang="en-US" altLang="en-US" sz="2667" b="0" i="0" u="none" strike="noStrike" kern="0" cap="none" spc="0" normalizeH="0" baseline="0" noProof="0" dirty="0">
              <a:ln>
                <a:noFill/>
              </a:ln>
              <a:solidFill>
                <a:srgbClr val="FFFFFF"/>
              </a:solidFill>
              <a:effectLst/>
              <a:uLnTx/>
              <a:uFillTx/>
              <a:latin typeface="Arial"/>
              <a:ea typeface="+mn-ea"/>
              <a:cs typeface="Arial" panose="020B0604020202020204" pitchFamily="34" charset="0"/>
              <a:sym typeface="Arial"/>
            </a:endParaRPr>
          </a:p>
        </p:txBody>
      </p:sp>
      <p:sp>
        <p:nvSpPr>
          <p:cNvPr id="8" name="Title 4">
            <a:extLst>
              <a:ext uri="{FF2B5EF4-FFF2-40B4-BE49-F238E27FC236}">
                <a16:creationId xmlns:a16="http://schemas.microsoft.com/office/drawing/2014/main" id="{6249D37E-0AC3-024F-BE7A-B0B092B12FC4}"/>
              </a:ext>
            </a:extLst>
          </p:cNvPr>
          <p:cNvSpPr>
            <a:spLocks noGrp="1"/>
          </p:cNvSpPr>
          <p:nvPr>
            <p:ph type="title"/>
          </p:nvPr>
        </p:nvSpPr>
        <p:spPr>
          <a:xfrm>
            <a:off x="1344460" y="2590800"/>
            <a:ext cx="10134816" cy="4151623"/>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lvl1pPr>
              <a:defRPr b="1" i="0">
                <a:solidFill>
                  <a:srgbClr val="D2A43B"/>
                </a:solidFill>
                <a:latin typeface="Montserrat" pitchFamily="2" charset="77"/>
              </a:defRPr>
            </a:lvl1pPr>
          </a:lstStyle>
          <a:p>
            <a:pPr algn="ctr"/>
            <a:r>
              <a:rPr lang="en-US" altLang="vi-VN" sz="4400">
                <a:solidFill>
                  <a:schemeClr val="accent1"/>
                </a:solidFill>
                <a:latin typeface="Times New Roman" panose="02020603050405020304" pitchFamily="18" charset="0"/>
                <a:cs typeface="Times New Roman" panose="02020603050405020304" pitchFamily="18" charset="0"/>
              </a:rPr>
              <a:t>BÁO CÁO QUẢN LÝ AN TOÀN</a:t>
            </a:r>
            <a:br>
              <a:rPr lang="en-US" altLang="vi-VN" sz="4400">
                <a:solidFill>
                  <a:schemeClr val="accent1"/>
                </a:solidFill>
                <a:latin typeface="Times New Roman" panose="02020603050405020304" pitchFamily="18" charset="0"/>
                <a:cs typeface="Times New Roman" panose="02020603050405020304" pitchFamily="18" charset="0"/>
              </a:rPr>
            </a:br>
            <a:r>
              <a:rPr lang="en-US" altLang="vi-VN" sz="4400">
                <a:solidFill>
                  <a:schemeClr val="accent1"/>
                </a:solidFill>
                <a:latin typeface="Times New Roman" panose="02020603050405020304" pitchFamily="18" charset="0"/>
                <a:cs typeface="Times New Roman" panose="02020603050405020304" pitchFamily="18" charset="0"/>
              </a:rPr>
              <a:t>THÁNG </a:t>
            </a:r>
            <a:r>
              <a:rPr lang="en-US" altLang="vi-VN" sz="4400" smtClean="0">
                <a:solidFill>
                  <a:schemeClr val="accent1"/>
                </a:solidFill>
                <a:latin typeface="Times New Roman" panose="02020603050405020304" pitchFamily="18" charset="0"/>
                <a:cs typeface="Times New Roman" panose="02020603050405020304" pitchFamily="18" charset="0"/>
              </a:rPr>
              <a:t>04 </a:t>
            </a:r>
            <a:r>
              <a:rPr lang="en-US" altLang="vi-VN" sz="4400">
                <a:solidFill>
                  <a:schemeClr val="accent1"/>
                </a:solidFill>
                <a:latin typeface="Times New Roman" panose="02020603050405020304" pitchFamily="18" charset="0"/>
                <a:cs typeface="Times New Roman" panose="02020603050405020304" pitchFamily="18" charset="0"/>
              </a:rPr>
              <a:t>NĂM 2025</a:t>
            </a:r>
            <a:r>
              <a:rPr lang="en-US" altLang="vi-VN" sz="4400" dirty="0">
                <a:solidFill>
                  <a:schemeClr val="accent1"/>
                </a:solidFill>
                <a:latin typeface="Times New Roman" panose="02020603050405020304" pitchFamily="18" charset="0"/>
                <a:cs typeface="Times New Roman" panose="02020603050405020304" pitchFamily="18" charset="0"/>
              </a:rPr>
              <a:t/>
            </a:r>
            <a:br>
              <a:rPr lang="en-US" altLang="vi-VN" sz="4400" dirty="0">
                <a:solidFill>
                  <a:schemeClr val="accent1"/>
                </a:solidFill>
                <a:latin typeface="Times New Roman" panose="02020603050405020304" pitchFamily="18" charset="0"/>
                <a:cs typeface="Times New Roman" panose="02020603050405020304" pitchFamily="18" charset="0"/>
              </a:rPr>
            </a:br>
            <a:r>
              <a:rPr lang="en-US" altLang="vi-VN" sz="2667" dirty="0">
                <a:solidFill>
                  <a:srgbClr val="404040"/>
                </a:solidFill>
                <a:latin typeface="Times New Roman" panose="02020603050405020304" pitchFamily="18" charset="0"/>
                <a:cs typeface="Times New Roman" panose="02020603050405020304" pitchFamily="18" charset="0"/>
              </a:rPr>
              <a:t/>
            </a:r>
            <a:br>
              <a:rPr lang="en-US" altLang="vi-VN" sz="2667" dirty="0">
                <a:solidFill>
                  <a:srgbClr val="404040"/>
                </a:solidFill>
                <a:latin typeface="Times New Roman" panose="02020603050405020304" pitchFamily="18" charset="0"/>
                <a:cs typeface="Times New Roman" panose="02020603050405020304" pitchFamily="18" charset="0"/>
              </a:rPr>
            </a:br>
            <a:r>
              <a:rPr lang="en-US" altLang="vi-VN" sz="2400" b="0" dirty="0">
                <a:solidFill>
                  <a:schemeClr val="bg1"/>
                </a:solidFill>
                <a:latin typeface="Times New Roman" panose="02020603050405020304" pitchFamily="18" charset="0"/>
                <a:cs typeface="Times New Roman" panose="02020603050405020304" pitchFamily="18" charset="0"/>
              </a:rPr>
              <a:t>(LĨNH VỰC KỸ THUẬT VÀ BẢO DƯỠNG TÀU BAY) </a:t>
            </a:r>
            <a:r>
              <a:rPr lang="en-US" altLang="vi-VN" sz="2400" dirty="0">
                <a:solidFill>
                  <a:schemeClr val="bg1"/>
                </a:solidFill>
                <a:latin typeface="Times New Roman" panose="02020603050405020304" pitchFamily="18" charset="0"/>
                <a:cs typeface="Times New Roman" panose="02020603050405020304" pitchFamily="18" charset="0"/>
              </a:rPr>
              <a:t/>
            </a:r>
            <a:br>
              <a:rPr lang="en-US" altLang="vi-VN" sz="2400" dirty="0">
                <a:solidFill>
                  <a:schemeClr val="bg1"/>
                </a:solidFill>
                <a:latin typeface="Times New Roman" panose="02020603050405020304" pitchFamily="18" charset="0"/>
                <a:cs typeface="Times New Roman" panose="02020603050405020304" pitchFamily="18" charset="0"/>
              </a:rPr>
            </a:br>
            <a:r>
              <a:rPr lang="en-US" altLang="vi-VN" sz="2667" b="0" dirty="0">
                <a:solidFill>
                  <a:srgbClr val="00FF00"/>
                </a:solidFill>
                <a:latin typeface="Times New Roman" panose="02020603050405020304" pitchFamily="18" charset="0"/>
                <a:cs typeface="Times New Roman" panose="02020603050405020304" pitchFamily="18" charset="0"/>
              </a:rPr>
              <a:t>            </a:t>
            </a:r>
            <a:br>
              <a:rPr lang="en-US" altLang="vi-VN" sz="2667" b="0" dirty="0">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br>
              <a:rPr lang="en-US" altLang="vi-VN" sz="2667">
                <a:solidFill>
                  <a:srgbClr val="00FF00"/>
                </a:solidFill>
                <a:latin typeface="Times New Roman" panose="02020603050405020304" pitchFamily="18" charset="0"/>
                <a:cs typeface="Times New Roman" panose="02020603050405020304" pitchFamily="18" charset="0"/>
              </a:rPr>
            </a:br>
            <a:r>
              <a:rPr lang="en-US" altLang="vi-VN" sz="2667">
                <a:solidFill>
                  <a:srgbClr val="00FF00"/>
                </a:solidFill>
                <a:latin typeface="Times New Roman" panose="02020603050405020304" pitchFamily="18" charset="0"/>
                <a:cs typeface="Times New Roman" panose="02020603050405020304" pitchFamily="18" charset="0"/>
              </a:rPr>
              <a:t>                                                         </a:t>
            </a:r>
            <a:r>
              <a:rPr lang="en-US" altLang="vi-VN" sz="2667" smtClean="0">
                <a:solidFill>
                  <a:srgbClr val="00FF00"/>
                </a:solidFill>
                <a:latin typeface="Times New Roman" panose="02020603050405020304" pitchFamily="18" charset="0"/>
                <a:cs typeface="Times New Roman" panose="02020603050405020304" pitchFamily="18" charset="0"/>
              </a:rPr>
              <a:t/>
            </a:r>
            <a:br>
              <a:rPr lang="en-US" altLang="vi-VN" sz="2667" smtClean="0">
                <a:solidFill>
                  <a:srgbClr val="00FF00"/>
                </a:solidFill>
                <a:latin typeface="Times New Roman" panose="02020603050405020304" pitchFamily="18" charset="0"/>
                <a:cs typeface="Times New Roman" panose="02020603050405020304" pitchFamily="18" charset="0"/>
              </a:rPr>
            </a:br>
            <a:r>
              <a:rPr lang="en-US" altLang="vi-VN" sz="2667" smtClean="0">
                <a:solidFill>
                  <a:srgbClr val="00FF00"/>
                </a:solidFill>
                <a:latin typeface="Times New Roman" panose="02020603050405020304" pitchFamily="18" charset="0"/>
                <a:cs typeface="Times New Roman" panose="02020603050405020304" pitchFamily="18" charset="0"/>
              </a:rPr>
              <a:t>                                                           </a:t>
            </a:r>
            <a:r>
              <a:rPr lang="en-US" altLang="vi-VN" sz="2000" b="0" i="1" smtClean="0">
                <a:solidFill>
                  <a:schemeClr val="bg1"/>
                </a:solidFill>
                <a:latin typeface="Times New Roman" panose="02020603050405020304" pitchFamily="18" charset="0"/>
                <a:cs typeface="Times New Roman" panose="02020603050405020304" pitchFamily="18" charset="0"/>
              </a:rPr>
              <a:t>Hà </a:t>
            </a:r>
            <a:r>
              <a:rPr lang="en-US" altLang="vi-VN" sz="2000" b="0" i="1" dirty="0" err="1">
                <a:solidFill>
                  <a:schemeClr val="bg1"/>
                </a:solidFill>
                <a:latin typeface="Times New Roman" panose="02020603050405020304" pitchFamily="18" charset="0"/>
                <a:cs typeface="Times New Roman" panose="02020603050405020304" pitchFamily="18" charset="0"/>
              </a:rPr>
              <a:t>Nội</a:t>
            </a:r>
            <a:r>
              <a:rPr lang="en-US" altLang="vi-VN" sz="2000" b="0" i="1">
                <a:solidFill>
                  <a:schemeClr val="bg1"/>
                </a:solidFill>
                <a:latin typeface="Times New Roman" panose="02020603050405020304" pitchFamily="18" charset="0"/>
                <a:cs typeface="Times New Roman" panose="02020603050405020304" pitchFamily="18" charset="0"/>
              </a:rPr>
              <a:t>, ngày </a:t>
            </a:r>
            <a:r>
              <a:rPr lang="en-US" altLang="vi-VN" sz="2000" b="0" i="1" smtClean="0">
                <a:solidFill>
                  <a:schemeClr val="bg1"/>
                </a:solidFill>
                <a:latin typeface="Times New Roman" panose="02020603050405020304" pitchFamily="18" charset="0"/>
                <a:cs typeface="Times New Roman" panose="02020603050405020304" pitchFamily="18" charset="0"/>
              </a:rPr>
              <a:t>08 tháng 05 </a:t>
            </a:r>
            <a:r>
              <a:rPr lang="en-US" altLang="vi-VN" sz="2000" b="0" i="1" err="1">
                <a:solidFill>
                  <a:schemeClr val="bg1"/>
                </a:solidFill>
                <a:latin typeface="Times New Roman" panose="02020603050405020304" pitchFamily="18" charset="0"/>
                <a:cs typeface="Times New Roman" panose="02020603050405020304" pitchFamily="18" charset="0"/>
              </a:rPr>
              <a:t>năm</a:t>
            </a:r>
            <a:r>
              <a:rPr lang="en-US" altLang="vi-VN" sz="2000" b="0" i="1">
                <a:solidFill>
                  <a:schemeClr val="bg1"/>
                </a:solidFill>
                <a:latin typeface="Times New Roman" panose="02020603050405020304" pitchFamily="18" charset="0"/>
                <a:cs typeface="Times New Roman" panose="02020603050405020304" pitchFamily="18" charset="0"/>
              </a:rPr>
              <a:t> 2025</a:t>
            </a:r>
            <a:r>
              <a:rPr lang="en-US" altLang="vi-VN" sz="2667" b="0" dirty="0">
                <a:solidFill>
                  <a:srgbClr val="00FF00"/>
                </a:solidFill>
                <a:latin typeface="Times New Roman" panose="02020603050405020304" pitchFamily="18" charset="0"/>
                <a:cs typeface="Times New Roman" panose="02020603050405020304" pitchFamily="18" charset="0"/>
              </a:rPr>
              <a:t>	</a:t>
            </a:r>
            <a:endParaRPr lang="en-US" sz="26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4216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p:cNvSpPr txBox="1">
            <a:spLocks noChangeArrowheads="1"/>
          </p:cNvSpPr>
          <p:nvPr/>
        </p:nvSpPr>
        <p:spPr bwMode="auto">
          <a:xfrm>
            <a:off x="1109134" y="863660"/>
            <a:ext cx="10286999" cy="74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4267" b="1" i="0" u="none" strike="noStrike" kern="0" cap="none" spc="0" normalizeH="0" baseline="0" noProof="0" dirty="0">
                <a:ln>
                  <a:noFill/>
                </a:ln>
                <a:solidFill>
                  <a:srgbClr val="F4981C"/>
                </a:solidFill>
                <a:effectLst/>
                <a:uLnTx/>
                <a:uFillTx/>
                <a:latin typeface="Times New Roman" panose="02020603050405020304" pitchFamily="18" charset="0"/>
                <a:ea typeface="+mn-ea"/>
                <a:cs typeface="Times New Roman" panose="02020603050405020304" pitchFamily="18" charset="0"/>
                <a:sym typeface="Arial"/>
              </a:rPr>
              <a:t>NỘI DUNG BÁO CÁO </a:t>
            </a:r>
          </a:p>
        </p:txBody>
      </p:sp>
      <p:sp>
        <p:nvSpPr>
          <p:cNvPr id="5" name="TextBox 1"/>
          <p:cNvSpPr txBox="1">
            <a:spLocks noChangeArrowheads="1"/>
          </p:cNvSpPr>
          <p:nvPr/>
        </p:nvSpPr>
        <p:spPr bwMode="auto">
          <a:xfrm>
            <a:off x="1109134" y="2093417"/>
            <a:ext cx="10096905" cy="4072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Bộ</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thực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hiện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KPIs.</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khác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an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toàn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lượng</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soát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TBKL </a:t>
            </a:r>
            <a:r>
              <a:rPr kumimoji="0" lang="en-US" altLang="en-US" sz="3200" b="0" i="0" u="none" strike="noStrike" kern="0" cap="none" spc="-20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SAG 2 </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Đề</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xuất</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kiến</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nghị</a:t>
            </a:r>
            <a:endPar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800"/>
              </a:spcAft>
              <a:buClr>
                <a:srgbClr val="000000"/>
              </a:buClr>
              <a:buSzTx/>
              <a:buFontTx/>
              <a:buAutoNum type="arabicPeriod"/>
              <a:tabLst/>
              <a:defRPr/>
            </a:pP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Phụ</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3200" b="0" i="0" u="none" strike="noStrike" kern="0" cap="none" spc="-20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lục</a:t>
            </a:r>
            <a:r>
              <a:rPr kumimoji="0" lang="en-US" altLang="en-US" sz="3200" b="0" i="0" u="none" strike="noStrike" kern="0" cap="none" spc="-20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p:txBody>
      </p:sp>
    </p:spTree>
    <p:extLst>
      <p:ext uri="{BB962C8B-B14F-4D97-AF65-F5344CB8AC3E}">
        <p14:creationId xmlns:p14="http://schemas.microsoft.com/office/powerpoint/2010/main" val="677744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0" y="1005810"/>
            <a:ext cx="960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1.1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MỨC A</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 C, D LĨNH VỰC KỸ THUẬT</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2" y="5061518"/>
            <a:ext cx="10726921" cy="1631216"/>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 sự cố mức D, tăng 02 vụ so với tháng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02 vụ so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lang="en-US" sz="1400" kern="0" smtClean="0">
                <a:solidFill>
                  <a:srgbClr val="000000"/>
                </a:solidFill>
                <a:latin typeface="Times New Roman" panose="02020603050405020304" pitchFamily="18" charset="0"/>
                <a:cs typeface="Times New Roman" panose="02020603050405020304" pitchFamily="18" charset="0"/>
                <a:sym typeface="Arial"/>
              </a:rPr>
              <a:t>1</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.77 sự cố/10000 B</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a:t>
            </a:r>
            <a:r>
              <a:rPr lang="en-US" sz="1400" kern="0" smtClean="0">
                <a:solidFill>
                  <a:srgbClr val="000000"/>
                </a:solidFill>
                <a:latin typeface="Times New Roman" panose="02020603050405020304" pitchFamily="18" charset="0"/>
                <a:cs typeface="Times New Roman" panose="02020603050405020304" pitchFamily="18" charset="0"/>
                <a:sym typeface="Arial"/>
              </a:rPr>
              <a:t>1.77</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điểm so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1.77 điểm so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0.15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 CB</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mức D,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tương ứng tăng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0.66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4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0.66, không </a:t>
            </a:r>
            <a:r>
              <a:rPr kumimoji="0" lang="en-US" sz="14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Note: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Tính</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cả</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các</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liên</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quan</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đến</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sai</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lỗi</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con ng</a:t>
            </a:r>
            <a:r>
              <a:rPr kumimoji="0" lang="vi-VN"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4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ời</a:t>
            </a:r>
            <a:r>
              <a:rPr kumimoji="0" lang="en-US" sz="1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FOD….</a:t>
            </a:r>
          </a:p>
        </p:txBody>
      </p:sp>
      <p:graphicFrame>
        <p:nvGraphicFramePr>
          <p:cNvPr id="10" name="Chart 9">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933983603"/>
              </p:ext>
            </p:extLst>
          </p:nvPr>
        </p:nvGraphicFramePr>
        <p:xfrm>
          <a:off x="985381" y="1785183"/>
          <a:ext cx="8058866" cy="311106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2B24350F-4546-41B6-BA84-7A454B646DAE}"/>
              </a:ext>
            </a:extLst>
          </p:cNvPr>
          <p:cNvGraphicFramePr>
            <a:graphicFrameLocks/>
          </p:cNvGraphicFramePr>
          <p:nvPr>
            <p:extLst>
              <p:ext uri="{D42A27DB-BD31-4B8C-83A1-F6EECF244321}">
                <p14:modId xmlns:p14="http://schemas.microsoft.com/office/powerpoint/2010/main" val="3989107522"/>
              </p:ext>
            </p:extLst>
          </p:nvPr>
        </p:nvGraphicFramePr>
        <p:xfrm>
          <a:off x="9227127" y="1785182"/>
          <a:ext cx="2313518" cy="311106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1215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ext uri="{D42A27DB-BD31-4B8C-83A1-F6EECF244321}">
                <p14:modId xmlns:p14="http://schemas.microsoft.com/office/powerpoint/2010/main" val="2136604296"/>
              </p:ext>
            </p:extLst>
          </p:nvPr>
        </p:nvGraphicFramePr>
        <p:xfrm>
          <a:off x="876561" y="1066792"/>
          <a:ext cx="10721496" cy="2536349"/>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7307376">
                  <a:extLst>
                    <a:ext uri="{9D8B030D-6E8A-4147-A177-3AD203B41FA5}">
                      <a16:colId xmlns:a16="http://schemas.microsoft.com/office/drawing/2014/main" val="20003"/>
                    </a:ext>
                  </a:extLst>
                </a:gridCol>
                <a:gridCol w="785068">
                  <a:extLst>
                    <a:ext uri="{9D8B030D-6E8A-4147-A177-3AD203B41FA5}">
                      <a16:colId xmlns:a16="http://schemas.microsoft.com/office/drawing/2014/main" val="20004"/>
                    </a:ext>
                  </a:extLst>
                </a:gridCol>
              </a:tblGrid>
              <a:tr h="633566">
                <a:tc>
                  <a:txBody>
                    <a:bodyPr/>
                    <a:lstStyle/>
                    <a:p>
                      <a:pPr algn="ctr">
                        <a:spcAft>
                          <a:spcPts val="0"/>
                        </a:spcAft>
                      </a:pPr>
                      <a:r>
                        <a:rPr lang="de-DE" sz="120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0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0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Nội dung sự cố</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Phân loại</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75209">
                <a:tc>
                  <a:txBody>
                    <a:bodyPr/>
                    <a:lstStyle/>
                    <a:p>
                      <a:pPr algn="ctr">
                        <a:spcAft>
                          <a:spcPts val="0"/>
                        </a:spcAft>
                      </a:pPr>
                      <a:r>
                        <a:rPr lang="en-SG" sz="1250" b="0" smtClean="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SG" sz="125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13/04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A350</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VN-A899</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VN607</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SGN-BKK</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Theo báo cáo của cơ trưởng, trong khi bay bằng, cảnh báo "ENG 1 STALL” xuất hiện trong 3 giây. Tổ bay quyết định cho tàu quay lại SGN để kiểm tra. Thực hiện VISUAL CHECK động cơ số 1 không phát hiện hỏng hóc. Tiến hành C/O BSI OF ENG #1 AFTER STALL, phát hiện hỏng hóc tại HPC STG 3 BLADE. Tàu dừng bay chờ thay động cơ (REF.BSI REPORT #BSI02-250219)</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5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5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422877"/>
                  </a:ext>
                </a:extLst>
              </a:tr>
              <a:tr h="827574">
                <a:tc>
                  <a:txBody>
                    <a:bodyPr/>
                    <a:lstStyle/>
                    <a:p>
                      <a:pPr algn="ctr">
                        <a:spcAft>
                          <a:spcPts val="0"/>
                        </a:spcAft>
                      </a:pPr>
                      <a:r>
                        <a:rPr lang="en-SG" sz="1250" b="0" smtClean="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SG" sz="125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20/04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A321</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VN-A621</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VN1715</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HAN-VII</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Cơ trưởng báo cáo, trong khi lấy độ cao, xuất hiện cảnh báo "ENG 1 HIGH VIBRATION" và VIB WAS 7.5 AT 8000 FT.</a:t>
                      </a: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ENG 1 INSPECTION WAS DEPLOYED &amp; FOUND ONE BLADE OF HPT1 WAS MISSING MATERIAL IN AREA A AND B; A/C GROUNDED FOR ENGINE CHANGE./. </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50" b="1" smtClean="0">
                          <a:effectLst/>
                          <a:latin typeface="Times New Roman" panose="02020603050405020304" pitchFamily="18" charset="0"/>
                          <a:ea typeface="Calibri" panose="020F0502020204030204" pitchFamily="34" charset="0"/>
                          <a:cs typeface="Times New Roman" panose="02020603050405020304" pitchFamily="18" charset="0"/>
                        </a:rPr>
                        <a:t>D</a:t>
                      </a:r>
                      <a:endParaRPr lang="en-SG" sz="125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1900150"/>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mức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D 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1977230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1.2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LỆ VỤ VIỆC MỨC E</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2" y="5125063"/>
            <a:ext cx="10726921"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 vụ việc phải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cáo</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vụ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01 vụ việc so với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1.77 vụ việc/10000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0.01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0.80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4.10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vụ việc, giảm 01 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10" name="Chart 9">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4265653524"/>
              </p:ext>
            </p:extLst>
          </p:nvPr>
        </p:nvGraphicFramePr>
        <p:xfrm>
          <a:off x="985381" y="1511363"/>
          <a:ext cx="8006219" cy="332430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2B24350F-4546-41B6-BA84-7A454B646DAE}"/>
              </a:ext>
            </a:extLst>
          </p:cNvPr>
          <p:cNvGraphicFramePr>
            <a:graphicFrameLocks/>
          </p:cNvGraphicFramePr>
          <p:nvPr>
            <p:extLst/>
          </p:nvPr>
        </p:nvGraphicFramePr>
        <p:xfrm>
          <a:off x="9131300" y="1511363"/>
          <a:ext cx="2409344" cy="332430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587225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nvPr>
        </p:nvGraphicFramePr>
        <p:xfrm>
          <a:off x="876561" y="1066792"/>
          <a:ext cx="10721496" cy="2527308"/>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7307376">
                  <a:extLst>
                    <a:ext uri="{9D8B030D-6E8A-4147-A177-3AD203B41FA5}">
                      <a16:colId xmlns:a16="http://schemas.microsoft.com/office/drawing/2014/main" val="20003"/>
                    </a:ext>
                  </a:extLst>
                </a:gridCol>
                <a:gridCol w="785068">
                  <a:extLst>
                    <a:ext uri="{9D8B030D-6E8A-4147-A177-3AD203B41FA5}">
                      <a16:colId xmlns:a16="http://schemas.microsoft.com/office/drawing/2014/main" val="20004"/>
                    </a:ext>
                  </a:extLst>
                </a:gridCol>
              </a:tblGrid>
              <a:tr h="583364">
                <a:tc>
                  <a:txBody>
                    <a:bodyPr/>
                    <a:lstStyle/>
                    <a:p>
                      <a:pPr algn="ctr">
                        <a:spcAft>
                          <a:spcPts val="0"/>
                        </a:spcAft>
                      </a:pPr>
                      <a:r>
                        <a:rPr lang="de-DE" sz="120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0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0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Nội dung sự cố</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00" b="1" dirty="0">
                          <a:solidFill>
                            <a:srgbClr val="000000"/>
                          </a:solidFill>
                          <a:effectLst/>
                          <a:latin typeface="Times New Roman" panose="02020603050405020304" pitchFamily="18" charset="0"/>
                          <a:ea typeface="Times New Roman"/>
                          <a:cs typeface="Times New Roman" panose="02020603050405020304" pitchFamily="18" charset="0"/>
                        </a:rPr>
                        <a:t>Phân loại</a:t>
                      </a:r>
                      <a:endParaRPr lang="en-US" sz="120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9092">
                <a:tc>
                  <a:txBody>
                    <a:bodyPr/>
                    <a:lstStyle/>
                    <a:p>
                      <a:pPr algn="ctr">
                        <a:spcAft>
                          <a:spcPts val="0"/>
                        </a:spcAft>
                      </a:pPr>
                      <a:r>
                        <a:rPr lang="en-SG" sz="1250" b="0">
                          <a:effectLst/>
                          <a:latin typeface="Times New Roman" panose="02020603050405020304" pitchFamily="18" charset="0"/>
                          <a:ea typeface="Times New Roman" panose="02020603050405020304" pitchFamily="18" charset="0"/>
                        </a:rPr>
                        <a:t>1</a:t>
                      </a: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05/04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ATR72</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VN-B223</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VN1884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VCS-SGN</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Cơ trưởng báo cáo, trong quá trình T/O, xuất hiện cảnh báo "CONFIG" + "FLT CTL". Cơ trưởng quyết định hủy T/O. Thực hiện thay thế LH TRIM ELEVATOR. Tàu bay đưa vào tiếp tục khai thác ngày 06/04/2025.</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50" b="1" smtClean="0">
                          <a:effectLst/>
                          <a:latin typeface="Times New Roman" panose="02020603050405020304" pitchFamily="18" charset="0"/>
                          <a:ea typeface="Calibri" panose="020F0502020204030204" pitchFamily="34" charset="0"/>
                          <a:cs typeface="Times New Roman" panose="02020603050405020304" pitchFamily="18" charset="0"/>
                        </a:rPr>
                        <a:t>E</a:t>
                      </a:r>
                      <a:endParaRPr lang="en-SG" sz="125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422877"/>
                  </a:ext>
                </a:extLst>
              </a:tr>
              <a:tr h="1181944">
                <a:tc>
                  <a:txBody>
                    <a:bodyPr/>
                    <a:lstStyle/>
                    <a:p>
                      <a:pPr algn="ctr">
                        <a:spcAft>
                          <a:spcPts val="0"/>
                        </a:spcAft>
                      </a:pPr>
                      <a:r>
                        <a:rPr lang="en-SG" sz="1250" b="0" smtClean="0">
                          <a:effectLst/>
                          <a:latin typeface="Times New Roman" panose="02020603050405020304" pitchFamily="18" charset="0"/>
                          <a:ea typeface="Times New Roman" panose="02020603050405020304" pitchFamily="18" charset="0"/>
                        </a:rPr>
                        <a:t>2</a:t>
                      </a:r>
                      <a:endParaRPr lang="en-SG" sz="1250" b="0">
                        <a:effectLst/>
                        <a:latin typeface="Times New Roman" panose="02020603050405020304" pitchFamily="18" charset="0"/>
                        <a:ea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16/04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A321</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VN-A357</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VN486</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Aft>
                          <a:spcPts val="0"/>
                        </a:spcAft>
                      </a:pPr>
                      <a:r>
                        <a:rPr lang="en-US" sz="1250">
                          <a:effectLst/>
                          <a:latin typeface="Times New Roman" panose="02020603050405020304" pitchFamily="18" charset="0"/>
                          <a:ea typeface="Calibri" panose="020F0502020204030204" pitchFamily="34" charset="0"/>
                          <a:cs typeface="Times New Roman" panose="02020603050405020304" pitchFamily="18" charset="0"/>
                        </a:rPr>
                        <a:t>CXR-NKG</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Quá trình khởi động động cơ</a:t>
                      </a: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SPARK AND SMOKE WERE OBSERVED AT THE LOWER SECTION OF ENGINE #1. Thực hiện  C/O INSPECTION phát hiện AIR STARTER MOTOR FAILURE. Tiến hành thay thế</a:t>
                      </a:r>
                      <a:r>
                        <a:rPr lang="en-US" sz="125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5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STARTER MOTER OF ENG 1 IAW AMM:80-13-000/400-010-B REV 01FEB25. Thực hiện ENG 1 RUN UP CHECKED AND LEAK CHECK SATIS REF AMM:71-00-00-710-022-B. Tàu bay tiếp tục đưa vào khai thác cùng ngày. </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SG" sz="1250" b="1" smtClean="0">
                          <a:effectLst/>
                          <a:latin typeface="Times New Roman" panose="02020603050405020304" pitchFamily="18" charset="0"/>
                          <a:ea typeface="Calibri" panose="020F0502020204030204" pitchFamily="34" charset="0"/>
                          <a:cs typeface="Times New Roman" panose="02020603050405020304" pitchFamily="18" charset="0"/>
                        </a:rPr>
                        <a:t>E</a:t>
                      </a:r>
                      <a:endParaRPr lang="en-SG" sz="125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4094317"/>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mức E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2525676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2999" y="1005810"/>
            <a:ext cx="960120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1.3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SỰ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VỤ VIỆC TRONG BẢO DƯỠNG TÀU BAY</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0" y="4963723"/>
            <a:ext cx="10726921"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00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trong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bảo dưỡng,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sự cố so với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sự cố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0.00 báo cáo/10000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điểm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Đạt 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0.22 báo cáo/10000 CB</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00 sự cố vụ việc,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0.46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0.00,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 </a:t>
            </a:r>
          </a:p>
        </p:txBody>
      </p:sp>
      <p:graphicFrame>
        <p:nvGraphicFramePr>
          <p:cNvPr id="10" name="Chart 9">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2807313856"/>
              </p:ext>
            </p:extLst>
          </p:nvPr>
        </p:nvGraphicFramePr>
        <p:xfrm>
          <a:off x="985381" y="1563546"/>
          <a:ext cx="7968119" cy="3284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2B24350F-4546-41B6-BA84-7A454B646DAE}"/>
              </a:ext>
            </a:extLst>
          </p:cNvPr>
          <p:cNvGraphicFramePr>
            <a:graphicFrameLocks/>
          </p:cNvGraphicFramePr>
          <p:nvPr>
            <p:extLst/>
          </p:nvPr>
        </p:nvGraphicFramePr>
        <p:xfrm>
          <a:off x="9118600" y="1563546"/>
          <a:ext cx="2351142" cy="328459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991032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1143001" y="1005810"/>
            <a:ext cx="9601200"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SỐ 1.4 </a:t>
            </a:r>
            <a:r>
              <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TỶ LỆ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VỤ VIỆC DO SAI LỖI CON NGƯỜI</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99552" y="5063082"/>
            <a:ext cx="10726921" cy="1569660"/>
          </a:xfrm>
          <a:prstGeom prst="rect">
            <a:avLst/>
          </a:prstGeom>
          <a:noFill/>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01 sự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cố do sai lỗi con người</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tăng 01 sự cố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01 sự cố so với cùng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0.89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0.89 điểm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0.89 điểm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1.02 sự cố/10000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cố,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02 sự cố tương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0.66,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0" name="Chart 9">
            <a:extLst>
              <a:ext uri="{FF2B5EF4-FFF2-40B4-BE49-F238E27FC236}">
                <a16:creationId xmlns:a16="http://schemas.microsoft.com/office/drawing/2014/main" id="{00000000-0008-0000-0100-000002000000}"/>
              </a:ext>
            </a:extLst>
          </p:cNvPr>
          <p:cNvGraphicFramePr>
            <a:graphicFrameLocks/>
          </p:cNvGraphicFramePr>
          <p:nvPr>
            <p:extLst>
              <p:ext uri="{D42A27DB-BD31-4B8C-83A1-F6EECF244321}">
                <p14:modId xmlns:p14="http://schemas.microsoft.com/office/powerpoint/2010/main" val="1574386137"/>
              </p:ext>
            </p:extLst>
          </p:nvPr>
        </p:nvGraphicFramePr>
        <p:xfrm>
          <a:off x="985381" y="1511365"/>
          <a:ext cx="7777619" cy="342581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2B24350F-4546-41B6-BA84-7A454B646DAE}"/>
              </a:ext>
            </a:extLst>
          </p:cNvPr>
          <p:cNvGraphicFramePr>
            <a:graphicFrameLocks/>
          </p:cNvGraphicFramePr>
          <p:nvPr>
            <p:extLst/>
          </p:nvPr>
        </p:nvGraphicFramePr>
        <p:xfrm>
          <a:off x="8940800" y="1511365"/>
          <a:ext cx="2479804" cy="342581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34409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graphicFrame>
        <p:nvGraphicFramePr>
          <p:cNvPr id="5" name="Table 4">
            <a:extLst>
              <a:ext uri="{FF2B5EF4-FFF2-40B4-BE49-F238E27FC236}">
                <a16:creationId xmlns:a16="http://schemas.microsoft.com/office/drawing/2014/main" id="{391D7B56-DDD6-448C-843A-C5B1338CC229}"/>
              </a:ext>
            </a:extLst>
          </p:cNvPr>
          <p:cNvGraphicFramePr>
            <a:graphicFrameLocks noGrp="1"/>
          </p:cNvGraphicFramePr>
          <p:nvPr>
            <p:extLst/>
          </p:nvPr>
        </p:nvGraphicFramePr>
        <p:xfrm>
          <a:off x="876561" y="1066792"/>
          <a:ext cx="10721496" cy="1216798"/>
        </p:xfrm>
        <a:graphic>
          <a:graphicData uri="http://schemas.openxmlformats.org/drawingml/2006/table">
            <a:tbl>
              <a:tblPr firstRow="1" firstCol="1" lastRow="1" lastCol="1" bandRow="1" bandCol="1"/>
              <a:tblGrid>
                <a:gridCol w="381065">
                  <a:extLst>
                    <a:ext uri="{9D8B030D-6E8A-4147-A177-3AD203B41FA5}">
                      <a16:colId xmlns:a16="http://schemas.microsoft.com/office/drawing/2014/main" val="20000"/>
                    </a:ext>
                  </a:extLst>
                </a:gridCol>
                <a:gridCol w="809636">
                  <a:extLst>
                    <a:ext uri="{9D8B030D-6E8A-4147-A177-3AD203B41FA5}">
                      <a16:colId xmlns:a16="http://schemas.microsoft.com/office/drawing/2014/main" val="20001"/>
                    </a:ext>
                  </a:extLst>
                </a:gridCol>
                <a:gridCol w="1438351">
                  <a:extLst>
                    <a:ext uri="{9D8B030D-6E8A-4147-A177-3AD203B41FA5}">
                      <a16:colId xmlns:a16="http://schemas.microsoft.com/office/drawing/2014/main" val="20002"/>
                    </a:ext>
                  </a:extLst>
                </a:gridCol>
                <a:gridCol w="8092444">
                  <a:extLst>
                    <a:ext uri="{9D8B030D-6E8A-4147-A177-3AD203B41FA5}">
                      <a16:colId xmlns:a16="http://schemas.microsoft.com/office/drawing/2014/main" val="20003"/>
                    </a:ext>
                  </a:extLst>
                </a:gridCol>
              </a:tblGrid>
              <a:tr h="583364">
                <a:tc>
                  <a:txBody>
                    <a:bodyPr/>
                    <a:lstStyle/>
                    <a:p>
                      <a:pPr algn="ctr">
                        <a:spcAft>
                          <a:spcPts val="0"/>
                        </a:spcAft>
                      </a:pPr>
                      <a:r>
                        <a:rPr lang="de-DE" sz="1250" b="1">
                          <a:solidFill>
                            <a:srgbClr val="000000"/>
                          </a:solidFill>
                          <a:effectLst/>
                          <a:latin typeface="Times New Roman" panose="02020603050405020304" pitchFamily="18" charset="0"/>
                          <a:ea typeface="Times New Roman"/>
                          <a:cs typeface="Times New Roman" panose="02020603050405020304" pitchFamily="18" charset="0"/>
                        </a:rPr>
                        <a:t>TT</a:t>
                      </a:r>
                      <a:endParaRPr lang="en-US" sz="125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Thời gian</a:t>
                      </a:r>
                      <a:endParaRPr lang="en-US" sz="125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Loại tầu bay/ </a:t>
                      </a:r>
                    </a:p>
                    <a:p>
                      <a:pPr algn="ctr">
                        <a:spcAft>
                          <a:spcPts val="0"/>
                        </a:spcAft>
                      </a:pP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Số </a:t>
                      </a:r>
                      <a:r>
                        <a:rPr lang="de-DE" sz="1250" b="1">
                          <a:solidFill>
                            <a:srgbClr val="000000"/>
                          </a:solidFill>
                          <a:effectLst/>
                          <a:latin typeface="Times New Roman" panose="02020603050405020304" pitchFamily="18" charset="0"/>
                          <a:ea typeface="Times New Roman"/>
                          <a:cs typeface="Times New Roman" panose="02020603050405020304" pitchFamily="18" charset="0"/>
                        </a:rPr>
                        <a:t>đăng ký</a:t>
                      </a: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a:t>
                      </a:r>
                    </a:p>
                    <a:p>
                      <a:pPr algn="ctr">
                        <a:spcAft>
                          <a:spcPts val="0"/>
                        </a:spcAft>
                      </a:pP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Chặng</a:t>
                      </a:r>
                      <a:r>
                        <a:rPr lang="de-DE" sz="1250" b="1" baseline="0" dirty="0">
                          <a:solidFill>
                            <a:srgbClr val="000000"/>
                          </a:solidFill>
                          <a:effectLst/>
                          <a:latin typeface="Times New Roman" panose="02020603050405020304" pitchFamily="18" charset="0"/>
                          <a:ea typeface="Times New Roman"/>
                          <a:cs typeface="Times New Roman" panose="02020603050405020304" pitchFamily="18" charset="0"/>
                        </a:rPr>
                        <a:t> bay</a:t>
                      </a:r>
                      <a:endParaRPr lang="en-US" sz="125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de-DE" sz="1250" b="1" dirty="0">
                          <a:solidFill>
                            <a:srgbClr val="000000"/>
                          </a:solidFill>
                          <a:effectLst/>
                          <a:latin typeface="Times New Roman" panose="02020603050405020304" pitchFamily="18" charset="0"/>
                          <a:ea typeface="Times New Roman"/>
                          <a:cs typeface="Times New Roman" panose="02020603050405020304" pitchFamily="18" charset="0"/>
                        </a:rPr>
                        <a:t>Nội dung </a:t>
                      </a:r>
                      <a:r>
                        <a:rPr lang="de-DE" sz="1250" b="1">
                          <a:solidFill>
                            <a:srgbClr val="000000"/>
                          </a:solidFill>
                          <a:effectLst/>
                          <a:latin typeface="Times New Roman" panose="02020603050405020304" pitchFamily="18" charset="0"/>
                          <a:ea typeface="Times New Roman"/>
                          <a:cs typeface="Times New Roman" panose="02020603050405020304" pitchFamily="18" charset="0"/>
                        </a:rPr>
                        <a:t>sự </a:t>
                      </a:r>
                      <a:r>
                        <a:rPr lang="de-DE" sz="1250" b="1" smtClean="0">
                          <a:solidFill>
                            <a:srgbClr val="000000"/>
                          </a:solidFill>
                          <a:effectLst/>
                          <a:latin typeface="Times New Roman" panose="02020603050405020304" pitchFamily="18" charset="0"/>
                          <a:ea typeface="Times New Roman"/>
                          <a:cs typeface="Times New Roman" panose="02020603050405020304" pitchFamily="18" charset="0"/>
                        </a:rPr>
                        <a:t>cố</a:t>
                      </a:r>
                      <a:endParaRPr lang="en-US" sz="1250" dirty="0">
                        <a:effectLst/>
                        <a:latin typeface="Times New Roman" panose="02020603050405020304" pitchFamily="18" charset="0"/>
                        <a:ea typeface="Times New Roman"/>
                        <a:cs typeface="Times New Roman" panose="02020603050405020304" pitchFamily="18" charset="0"/>
                      </a:endParaRPr>
                    </a:p>
                  </a:txBody>
                  <a:tcPr marL="30416" marR="304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633434">
                <a:tc>
                  <a:txBody>
                    <a:bodyPr/>
                    <a:lstStyle/>
                    <a:p>
                      <a:pPr algn="ctr">
                        <a:spcAft>
                          <a:spcPts val="0"/>
                        </a:spcAft>
                      </a:pPr>
                      <a:r>
                        <a:rPr lang="en-SG" sz="1250" b="0" smtClean="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SG" sz="125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0960" marR="6096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smtClean="0">
                          <a:effectLst/>
                          <a:latin typeface="Times New Roman" panose="02020603050405020304" pitchFamily="18" charset="0"/>
                          <a:ea typeface="Calibri" panose="020F0502020204030204" pitchFamily="34" charset="0"/>
                          <a:cs typeface="Times New Roman" panose="02020603050405020304" pitchFamily="18" charset="0"/>
                        </a:rPr>
                        <a:t>17/04</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50" smtClean="0">
                          <a:effectLst/>
                          <a:latin typeface="Times New Roman" panose="02020603050405020304" pitchFamily="18" charset="0"/>
                          <a:ea typeface="Times New Roman" panose="02020603050405020304" pitchFamily="18" charset="0"/>
                          <a:cs typeface="Times New Roman" panose="02020603050405020304" pitchFamily="18" charset="0"/>
                        </a:rPr>
                        <a:t>A350</a:t>
                      </a:r>
                    </a:p>
                    <a:p>
                      <a:pPr algn="ctr">
                        <a:spcAft>
                          <a:spcPts val="0"/>
                        </a:spcAft>
                      </a:pPr>
                      <a:r>
                        <a:rPr lang="en-US" sz="1250" smtClean="0">
                          <a:effectLst/>
                          <a:latin typeface="Times New Roman" panose="02020603050405020304" pitchFamily="18" charset="0"/>
                          <a:ea typeface="Times New Roman" panose="02020603050405020304" pitchFamily="18" charset="0"/>
                          <a:cs typeface="Times New Roman" panose="02020603050405020304" pitchFamily="18" charset="0"/>
                        </a:rPr>
                        <a:t>VN-A899</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50" kern="1200" smtClean="0">
                          <a:solidFill>
                            <a:schemeClr val="dk1"/>
                          </a:solidFill>
                          <a:effectLst/>
                          <a:latin typeface="Times New Roman" panose="02020603050405020304" pitchFamily="18" charset="0"/>
                          <a:ea typeface="+mn-ea"/>
                          <a:cs typeface="Times New Roman" panose="02020603050405020304" pitchFamily="18" charset="0"/>
                        </a:rPr>
                        <a:t>Nhân</a:t>
                      </a:r>
                      <a:r>
                        <a:rPr lang="en-US" sz="1250" kern="1200" baseline="0" smtClean="0">
                          <a:solidFill>
                            <a:schemeClr val="dk1"/>
                          </a:solidFill>
                          <a:effectLst/>
                          <a:latin typeface="Times New Roman" panose="02020603050405020304" pitchFamily="18" charset="0"/>
                          <a:ea typeface="+mn-ea"/>
                          <a:cs typeface="Times New Roman" panose="02020603050405020304" pitchFamily="18" charset="0"/>
                        </a:rPr>
                        <a:t> viên</a:t>
                      </a:r>
                      <a:r>
                        <a:rPr lang="en-US" sz="1250" kern="1200" smtClean="0">
                          <a:solidFill>
                            <a:schemeClr val="dk1"/>
                          </a:solidFill>
                          <a:effectLst/>
                          <a:latin typeface="Times New Roman" panose="02020603050405020304" pitchFamily="18" charset="0"/>
                          <a:ea typeface="+mn-ea"/>
                          <a:cs typeface="Times New Roman" panose="02020603050405020304" pitchFamily="18" charset="0"/>
                        </a:rPr>
                        <a:t> lái xe kéo tàu bay VN-A899 từ HG#1 tới bãi đỗ số 4A thuộc sân đỗ VAECO HCM. NV chỉ huy kéo đẩy kiểm</a:t>
                      </a:r>
                      <a:r>
                        <a:rPr lang="en-US" sz="1250" kern="1200" baseline="0" smtClean="0">
                          <a:solidFill>
                            <a:schemeClr val="dk1"/>
                          </a:solidFill>
                          <a:effectLst/>
                          <a:latin typeface="Times New Roman" panose="02020603050405020304" pitchFamily="18" charset="0"/>
                          <a:ea typeface="+mn-ea"/>
                          <a:cs typeface="Times New Roman" panose="02020603050405020304" pitchFamily="18" charset="0"/>
                        </a:rPr>
                        <a:t> tra và </a:t>
                      </a:r>
                      <a:r>
                        <a:rPr lang="en-US" sz="1250" kern="1200" smtClean="0">
                          <a:solidFill>
                            <a:schemeClr val="dk1"/>
                          </a:solidFill>
                          <a:effectLst/>
                          <a:latin typeface="Times New Roman" panose="02020603050405020304" pitchFamily="18" charset="0"/>
                          <a:ea typeface="+mn-ea"/>
                          <a:cs typeface="Times New Roman" panose="02020603050405020304" pitchFamily="18" charset="0"/>
                        </a:rPr>
                        <a:t>phát hiện có</a:t>
                      </a:r>
                      <a:r>
                        <a:rPr lang="en-US" sz="1250" kern="1200" baseline="0" smtClean="0">
                          <a:solidFill>
                            <a:schemeClr val="dk1"/>
                          </a:solidFill>
                          <a:effectLst/>
                          <a:latin typeface="Times New Roman" panose="02020603050405020304" pitchFamily="18" charset="0"/>
                          <a:ea typeface="+mn-ea"/>
                          <a:cs typeface="Times New Roman" panose="02020603050405020304" pitchFamily="18" charset="0"/>
                        </a:rPr>
                        <a:t> dấu hiệu over steering (</a:t>
                      </a:r>
                      <a:r>
                        <a:rPr lang="en-US" sz="1250" kern="1200" smtClean="0">
                          <a:solidFill>
                            <a:schemeClr val="dk1"/>
                          </a:solidFill>
                          <a:effectLst/>
                          <a:latin typeface="Times New Roman" panose="02020603050405020304" pitchFamily="18" charset="0"/>
                          <a:ea typeface="+mn-ea"/>
                          <a:cs typeface="Times New Roman" panose="02020603050405020304" pitchFamily="18" charset="0"/>
                        </a:rPr>
                        <a:t>oversteer bracket đã bị cong) do khi kéo vượt quá giới hạn góc kéo cho phép. Sau</a:t>
                      </a:r>
                      <a:r>
                        <a:rPr lang="en-US" sz="1250" kern="1200" baseline="0" smtClean="0">
                          <a:solidFill>
                            <a:schemeClr val="dk1"/>
                          </a:solidFill>
                          <a:effectLst/>
                          <a:latin typeface="Times New Roman" panose="02020603050405020304" pitchFamily="18" charset="0"/>
                          <a:ea typeface="+mn-ea"/>
                          <a:cs typeface="Times New Roman" panose="02020603050405020304" pitchFamily="18" charset="0"/>
                        </a:rPr>
                        <a:t> khi quá trình kéo đẩy tàu bay hoàn tất, càng mũi được tiếp tục kiểm tra thêm và chỉ cần thay thế </a:t>
                      </a:r>
                      <a:r>
                        <a:rPr lang="en-US" sz="1250" kern="1200" smtClean="0">
                          <a:solidFill>
                            <a:schemeClr val="dk1"/>
                          </a:solidFill>
                          <a:effectLst/>
                          <a:latin typeface="Times New Roman" panose="02020603050405020304" pitchFamily="18" charset="0"/>
                          <a:ea typeface="+mn-ea"/>
                          <a:cs typeface="Times New Roman" panose="02020603050405020304" pitchFamily="18" charset="0"/>
                        </a:rPr>
                        <a:t>oversteer bracket bị cong</a:t>
                      </a:r>
                      <a:endParaRPr lang="vi-VN" sz="125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094317"/>
                  </a:ext>
                </a:extLst>
              </a:tr>
            </a:tbl>
          </a:graphicData>
        </a:graphic>
      </p:graphicFrame>
      <p:sp>
        <p:nvSpPr>
          <p:cNvPr id="8" name="Rectangle 7">
            <a:extLst>
              <a:ext uri="{FF2B5EF4-FFF2-40B4-BE49-F238E27FC236}">
                <a16:creationId xmlns:a16="http://schemas.microsoft.com/office/drawing/2014/main" id="{390C36C0-A577-4B52-B73F-6CE05F198329}"/>
              </a:ext>
            </a:extLst>
          </p:cNvPr>
          <p:cNvSpPr/>
          <p:nvPr/>
        </p:nvSpPr>
        <p:spPr>
          <a:xfrm>
            <a:off x="784704" y="507399"/>
            <a:ext cx="10721496"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sai lỗi bảo dưỡng do con người 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Tree>
    <p:extLst>
      <p:ext uri="{BB962C8B-B14F-4D97-AF65-F5344CB8AC3E}">
        <p14:creationId xmlns:p14="http://schemas.microsoft.com/office/powerpoint/2010/main" val="960340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55526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2.1 </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LỆ NHÂN NHƯỢNG TÀU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BAY LOẠI 1</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MEL, CDL, AMM, SRM)</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5093504"/>
            <a:ext cx="10660112"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đã cấp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(02KT+05VT</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tháng trước và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46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cùng kỳ năm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6.21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NN/10000 CB,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2.70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a:t>
            </a:r>
            <a:r>
              <a:rPr kumimoji="0" lang="vi-VN"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ớc và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45.32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Đạt mục tiêu năm 2025 là 25.21 NN/10000CB.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đã cấp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139 NN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32.23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10.55,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9" name="Chart 8">
            <a:extLst>
              <a:ext uri="{FF2B5EF4-FFF2-40B4-BE49-F238E27FC236}">
                <a16:creationId xmlns:a16="http://schemas.microsoft.com/office/drawing/2014/main" id="{00000000-0008-0000-0200-000009000000}"/>
              </a:ext>
            </a:extLst>
          </p:cNvPr>
          <p:cNvGraphicFramePr>
            <a:graphicFrameLocks/>
          </p:cNvGraphicFramePr>
          <p:nvPr>
            <p:extLst>
              <p:ext uri="{D42A27DB-BD31-4B8C-83A1-F6EECF244321}">
                <p14:modId xmlns:p14="http://schemas.microsoft.com/office/powerpoint/2010/main" val="1870440381"/>
              </p:ext>
            </p:extLst>
          </p:nvPr>
        </p:nvGraphicFramePr>
        <p:xfrm>
          <a:off x="985380" y="1537281"/>
          <a:ext cx="8033929" cy="338667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5A4ADDF6-D5F0-44AE-BD9E-BDBB2B8BDDF6}"/>
              </a:ext>
            </a:extLst>
          </p:cNvPr>
          <p:cNvGraphicFramePr>
            <a:graphicFrameLocks/>
          </p:cNvGraphicFramePr>
          <p:nvPr>
            <p:extLst/>
          </p:nvPr>
        </p:nvGraphicFramePr>
        <p:xfrm>
          <a:off x="9160625" y="1537281"/>
          <a:ext cx="2380020" cy="338667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09771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extBox 3">
            <a:extLst>
              <a:ext uri="{FF2B5EF4-FFF2-40B4-BE49-F238E27FC236}">
                <a16:creationId xmlns:a16="http://schemas.microsoft.com/office/drawing/2014/main" id="{0F1D4589-DA8C-4079-B9A4-00C42685A90E}"/>
              </a:ext>
            </a:extLst>
          </p:cNvPr>
          <p:cNvSpPr txBox="1"/>
          <p:nvPr/>
        </p:nvSpPr>
        <p:spPr>
          <a:xfrm>
            <a:off x="910224" y="742905"/>
            <a:ext cx="10839769" cy="379656"/>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nhượng</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loại 1 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910224" y="1326225"/>
          <a:ext cx="10839770" cy="4146410"/>
        </p:xfrm>
        <a:graphic>
          <a:graphicData uri="http://schemas.openxmlformats.org/drawingml/2006/table">
            <a:tbl>
              <a:tblPr>
                <a:tableStyleId>{5C22544A-7EE6-4342-B048-85BDC9FD1C3A}</a:tableStyleId>
              </a:tblPr>
              <a:tblGrid>
                <a:gridCol w="383511">
                  <a:extLst>
                    <a:ext uri="{9D8B030D-6E8A-4147-A177-3AD203B41FA5}">
                      <a16:colId xmlns:a16="http://schemas.microsoft.com/office/drawing/2014/main" val="2775948120"/>
                    </a:ext>
                  </a:extLst>
                </a:gridCol>
                <a:gridCol w="691623">
                  <a:extLst>
                    <a:ext uri="{9D8B030D-6E8A-4147-A177-3AD203B41FA5}">
                      <a16:colId xmlns:a16="http://schemas.microsoft.com/office/drawing/2014/main" val="3142476265"/>
                    </a:ext>
                  </a:extLst>
                </a:gridCol>
                <a:gridCol w="1855165">
                  <a:extLst>
                    <a:ext uri="{9D8B030D-6E8A-4147-A177-3AD203B41FA5}">
                      <a16:colId xmlns:a16="http://schemas.microsoft.com/office/drawing/2014/main" val="1826772911"/>
                    </a:ext>
                  </a:extLst>
                </a:gridCol>
                <a:gridCol w="731476">
                  <a:extLst>
                    <a:ext uri="{9D8B030D-6E8A-4147-A177-3AD203B41FA5}">
                      <a16:colId xmlns:a16="http://schemas.microsoft.com/office/drawing/2014/main" val="2425298528"/>
                    </a:ext>
                  </a:extLst>
                </a:gridCol>
                <a:gridCol w="671339">
                  <a:extLst>
                    <a:ext uri="{9D8B030D-6E8A-4147-A177-3AD203B41FA5}">
                      <a16:colId xmlns:a16="http://schemas.microsoft.com/office/drawing/2014/main" val="3144982089"/>
                    </a:ext>
                  </a:extLst>
                </a:gridCol>
                <a:gridCol w="749883">
                  <a:extLst>
                    <a:ext uri="{9D8B030D-6E8A-4147-A177-3AD203B41FA5}">
                      <a16:colId xmlns:a16="http://schemas.microsoft.com/office/drawing/2014/main" val="1552011708"/>
                    </a:ext>
                  </a:extLst>
                </a:gridCol>
                <a:gridCol w="1516000">
                  <a:extLst>
                    <a:ext uri="{9D8B030D-6E8A-4147-A177-3AD203B41FA5}">
                      <a16:colId xmlns:a16="http://schemas.microsoft.com/office/drawing/2014/main" val="2189097087"/>
                    </a:ext>
                  </a:extLst>
                </a:gridCol>
                <a:gridCol w="2625379">
                  <a:extLst>
                    <a:ext uri="{9D8B030D-6E8A-4147-A177-3AD203B41FA5}">
                      <a16:colId xmlns:a16="http://schemas.microsoft.com/office/drawing/2014/main" val="74169935"/>
                    </a:ext>
                  </a:extLst>
                </a:gridCol>
                <a:gridCol w="990570">
                  <a:extLst>
                    <a:ext uri="{9D8B030D-6E8A-4147-A177-3AD203B41FA5}">
                      <a16:colId xmlns:a16="http://schemas.microsoft.com/office/drawing/2014/main" val="3478438467"/>
                    </a:ext>
                  </a:extLst>
                </a:gridCol>
                <a:gridCol w="624824">
                  <a:extLst>
                    <a:ext uri="{9D8B030D-6E8A-4147-A177-3AD203B41FA5}">
                      <a16:colId xmlns:a16="http://schemas.microsoft.com/office/drawing/2014/main" val="2325188638"/>
                    </a:ext>
                  </a:extLst>
                </a:gridCol>
              </a:tblGrid>
              <a:tr h="461880">
                <a:tc>
                  <a:txBody>
                    <a:bodyPr/>
                    <a:lstStyle/>
                    <a:p>
                      <a:pPr algn="ctr" fontAlgn="ctr">
                        <a:lnSpc>
                          <a:spcPct val="150000"/>
                        </a:lnSpc>
                      </a:pPr>
                      <a:r>
                        <a:rPr lang="en-SG" sz="1200" b="0" i="0" u="none" strike="noStrike">
                          <a:solidFill>
                            <a:srgbClr val="000000"/>
                          </a:solidFill>
                          <a:effectLst/>
                          <a:latin typeface="Times New Roman" panose="02020603050405020304" pitchFamily="18" charset="0"/>
                          <a:cs typeface="Times New Roman" panose="02020603050405020304" pitchFamily="18" charset="0"/>
                        </a:rPr>
                        <a:t>ID</a:t>
                      </a:r>
                      <a:endParaRPr lang="en-SG"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A/C Reg</a:t>
                      </a:r>
                      <a:r>
                        <a:rPr lang="en-SG" sz="1200" u="none" strike="noStrike" dirty="0">
                          <a:effectLst/>
                          <a:latin typeface="Times New Roman" panose="02020603050405020304" pitchFamily="18" charset="0"/>
                          <a:cs typeface="Times New Roman" panose="02020603050405020304" pitchFamily="18" charset="0"/>
                        </a:rPr>
                        <a:t>.</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err="1">
                          <a:effectLst/>
                          <a:latin typeface="Times New Roman" panose="02020603050405020304" pitchFamily="18" charset="0"/>
                          <a:cs typeface="Times New Roman" panose="02020603050405020304" pitchFamily="18" charset="0"/>
                        </a:rPr>
                        <a:t>Concess</a:t>
                      </a:r>
                      <a:r>
                        <a:rPr lang="en-SG" sz="1200" u="none" strike="noStrike" dirty="0">
                          <a:effectLst/>
                          <a:latin typeface="Times New Roman" panose="02020603050405020304" pitchFamily="18" charset="0"/>
                          <a:cs typeface="Times New Roman" panose="02020603050405020304" pitchFamily="18" charset="0"/>
                        </a:rPr>
                        <a:t>.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Reason</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a:effectLst/>
                          <a:latin typeface="Times New Roman" panose="02020603050405020304" pitchFamily="18" charset="0"/>
                          <a:cs typeface="Times New Roman" panose="02020603050405020304" pitchFamily="18" charset="0"/>
                        </a:rPr>
                        <a:t>Conc. Type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ADD No</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REF</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Contents</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ctr">
                        <a:lnSpc>
                          <a:spcPct val="150000"/>
                        </a:lnSpc>
                      </a:pPr>
                      <a:r>
                        <a:rPr lang="en-SG" sz="1200" u="none" strike="noStrike" dirty="0">
                          <a:effectLst/>
                          <a:latin typeface="Times New Roman" panose="02020603050405020304" pitchFamily="18" charset="0"/>
                          <a:cs typeface="Times New Roman" panose="02020603050405020304" pitchFamily="18" charset="0"/>
                        </a:rPr>
                        <a:t>Issue Date</a:t>
                      </a:r>
                      <a:endParaRPr lang="en-SG"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ctr" latinLnBrk="0" hangingPunct="1">
                        <a:lnSpc>
                          <a:spcPct val="150000"/>
                        </a:lnSpc>
                        <a:spcBef>
                          <a:spcPts val="0"/>
                        </a:spcBef>
                        <a:spcAft>
                          <a:spcPts val="0"/>
                        </a:spcAft>
                        <a:buClrTx/>
                        <a:buSzTx/>
                        <a:buFontTx/>
                        <a:buNone/>
                        <a:tabLst/>
                        <a:defRPr/>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Issue by</a:t>
                      </a:r>
                    </a:p>
                  </a:txBody>
                  <a:tcPr marL="12143" marR="12143" marT="121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211553877"/>
                  </a:ext>
                </a:extLst>
              </a:tr>
              <a:tr h="405433">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VN-A879-HVN-14Apr2025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B567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MEL 24-22-01-03A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STS MSG: ELEC GEN SYS L2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14 April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0088016"/>
                  </a:ext>
                </a:extLst>
              </a:tr>
              <a:tr h="488859">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2</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879-03/25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B566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MEL25-63-02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FASTEN SEATBELT SIGNS INDICATOR AT SEAT 4A INOP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17 April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9077216"/>
                  </a:ext>
                </a:extLst>
              </a:tr>
              <a:tr h="276155">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3</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862-05/25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B1331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MEL 28-22-02A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pt-BR" sz="1200" b="0" i="0" u="none" strike="noStrike">
                          <a:solidFill>
                            <a:srgbClr val="000000"/>
                          </a:solidFill>
                          <a:effectLst/>
                          <a:latin typeface="Times New Roman" panose="02020603050405020304" pitchFamily="18" charset="0"/>
                          <a:cs typeface="Times New Roman" panose="02020603050405020304" pitchFamily="18" charset="0"/>
                        </a:rPr>
                        <a:t>STS MSG FUEL PUMP CENTER 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19 April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4786720"/>
                  </a:ext>
                </a:extLst>
              </a:tr>
              <a:tr h="558512">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4</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A619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HVN/VN-A619/2025-04-25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B794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MCDL 27-15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SEAL OF FIX FAIRING 633EB, 631EB, 531EB, 532EB, 533EB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DAMAGED</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 April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6833777"/>
                  </a:ext>
                </a:extLst>
              </a:tr>
              <a:tr h="589021">
                <a:tc>
                  <a:txBody>
                    <a:bodyPr/>
                    <a:lstStyle/>
                    <a:p>
                      <a:pPr algn="ctr" fontAlgn="ctr"/>
                      <a:r>
                        <a:rPr lang="en-US" sz="1200" b="0" i="0" u="none" strike="noStrike">
                          <a:solidFill>
                            <a:schemeClr val="tx1"/>
                          </a:solidFill>
                          <a:effectLst/>
                          <a:latin typeface="Times New Roman" panose="02020603050405020304" pitchFamily="18" charset="0"/>
                          <a:cs typeface="Times New Roman" panose="02020603050405020304" pitchFamily="18" charset="0"/>
                        </a:rPr>
                        <a:t>5</a:t>
                      </a: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A862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HVN/VN-A862/2025-04-24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Part Long Lead Time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B1331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MEL 28-22-02A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FUEL PUMP CENTER 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 April 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7501275"/>
                  </a:ext>
                </a:extLst>
              </a:tr>
              <a:tr h="589021">
                <a:tc>
                  <a:txBody>
                    <a:bodyPr/>
                    <a:lstStyle/>
                    <a:p>
                      <a:pPr algn="ctr" fontAlgn="ctr"/>
                      <a:r>
                        <a:rPr lang="en-US" sz="12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2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A396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396-02/25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Difficult troubleshooting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B1048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MEL 52-07-01A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CABIN DOOR 2R PERMANETLY INDICATOR OPEN ON THE DOOR/OXY SD PAGE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29/Apr/2025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SQD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6689979"/>
                  </a:ext>
                </a:extLst>
              </a:tr>
              <a:tr h="589021">
                <a:tc>
                  <a:txBody>
                    <a:bodyPr/>
                    <a:lstStyle/>
                    <a:p>
                      <a:pPr algn="ctr" fontAlgn="ctr"/>
                      <a:r>
                        <a:rPr lang="en-US" sz="1200" b="0" i="0" u="none" strike="noStrike" smtClean="0">
                          <a:solidFill>
                            <a:schemeClr val="tx1"/>
                          </a:solidFill>
                          <a:effectLst/>
                          <a:latin typeface="Times New Roman" panose="02020603050405020304" pitchFamily="18" charset="0"/>
                          <a:cs typeface="Times New Roman" panose="02020603050405020304" pitchFamily="18" charset="0"/>
                        </a:rPr>
                        <a:t>7</a:t>
                      </a:r>
                      <a:endParaRPr lang="en-US" sz="12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A862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HVN/VN-A862/2025-04-29/02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Other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Loại 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B1331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MEL 28-22-02A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l"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FUEL PUMP CENTER 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29/Apr/2025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R="0" algn="ctr" rtl="0" fontAlgn="ctr">
                        <a:lnSpc>
                          <a:spcPct val="100000"/>
                        </a:lnSpc>
                        <a:spcBef>
                          <a:spcPts val="0"/>
                        </a:spcBef>
                        <a:spcAft>
                          <a:spcPts val="0"/>
                        </a:spcAft>
                        <a:buClr>
                          <a:srgbClr val="000000"/>
                        </a:buClr>
                        <a:buFont typeface="Arial"/>
                      </a:pPr>
                      <a:r>
                        <a:rPr lang="en-US" sz="1200" b="0" i="0" u="none" strike="noStrike" cap="none">
                          <a:solidFill>
                            <a:srgbClr val="000000"/>
                          </a:solidFill>
                          <a:effectLst/>
                          <a:latin typeface="Times New Roman" panose="02020603050405020304" pitchFamily="18" charset="0"/>
                          <a:ea typeface="+mn-ea"/>
                          <a:cs typeface="Times New Roman" panose="02020603050405020304" pitchFamily="18" charset="0"/>
                          <a:sym typeface="Arial"/>
                        </a:rPr>
                        <a:t>CAAV</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5148013"/>
                  </a:ext>
                </a:extLst>
              </a:tr>
            </a:tbl>
          </a:graphicData>
        </a:graphic>
      </p:graphicFrame>
    </p:spTree>
    <p:extLst>
      <p:ext uri="{BB962C8B-B14F-4D97-AF65-F5344CB8AC3E}">
        <p14:creationId xmlns:p14="http://schemas.microsoft.com/office/powerpoint/2010/main" val="934147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555264"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2.2 </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TỶ LỆ NHÂN NHƯỢNG TÀU </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BAY LOẠI 2…7</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(AMS, CMS, MME, AMP…)</a:t>
            </a:r>
            <a:r>
              <a:rPr kumimoji="0" lang="en-US" altLang="en-US" sz="18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3" y="5093504"/>
            <a:ext cx="10660112"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đã cấp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22 NN, giảm 09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tháng trước và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so với cùng kỳ năm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19.52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NN/10000 CB,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8.09 điểm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tháng tr</a:t>
            </a:r>
            <a:r>
              <a:rPr kumimoji="0" lang="vi-VN"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ư</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ớc và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32.01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24.20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NN/10000CB.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đã cấp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114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NN,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17.71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25.07,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mục tiêu.</a:t>
            </a:r>
          </a:p>
        </p:txBody>
      </p:sp>
      <p:graphicFrame>
        <p:nvGraphicFramePr>
          <p:cNvPr id="9" name="Chart 8">
            <a:extLst>
              <a:ext uri="{FF2B5EF4-FFF2-40B4-BE49-F238E27FC236}">
                <a16:creationId xmlns:a16="http://schemas.microsoft.com/office/drawing/2014/main" id="{00000000-0008-0000-0200-000009000000}"/>
              </a:ext>
            </a:extLst>
          </p:cNvPr>
          <p:cNvGraphicFramePr>
            <a:graphicFrameLocks/>
          </p:cNvGraphicFramePr>
          <p:nvPr>
            <p:extLst>
              <p:ext uri="{D42A27DB-BD31-4B8C-83A1-F6EECF244321}">
                <p14:modId xmlns:p14="http://schemas.microsoft.com/office/powerpoint/2010/main" val="3010375542"/>
              </p:ext>
            </p:extLst>
          </p:nvPr>
        </p:nvGraphicFramePr>
        <p:xfrm>
          <a:off x="985381" y="1543725"/>
          <a:ext cx="8175244" cy="33876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5A4ADDF6-D5F0-44AE-BD9E-BDBB2B8BDDF6}"/>
              </a:ext>
            </a:extLst>
          </p:cNvPr>
          <p:cNvGraphicFramePr>
            <a:graphicFrameLocks/>
          </p:cNvGraphicFramePr>
          <p:nvPr>
            <p:extLst/>
          </p:nvPr>
        </p:nvGraphicFramePr>
        <p:xfrm>
          <a:off x="9326880" y="1543724"/>
          <a:ext cx="2104459" cy="338760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984233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3"/>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3 – TỶ LỆ SỰ CỐ, VỤ VIỆC GIÁN ĐOẠN KHAI THÁC VÌ LÝ DO KỸ THUẬT</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85379" y="4924584"/>
            <a:ext cx="10596578" cy="1815882"/>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xảy</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ra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07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việc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tàu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bay GĐKT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vì</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lý</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do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(01R/TO+06GTB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02 vụ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02 vụ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6.21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/10000CB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1.76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trước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2.54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2024</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tiêu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2025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7.28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10000 CB</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 kiện GĐKT,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1.20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7.26, 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11" name="Chart 10">
            <a:extLst>
              <a:ext uri="{FF2B5EF4-FFF2-40B4-BE49-F238E27FC236}">
                <a16:creationId xmlns:a16="http://schemas.microsoft.com/office/drawing/2014/main" id="{00000000-0008-0000-0300-000002000000}"/>
              </a:ext>
            </a:extLst>
          </p:cNvPr>
          <p:cNvGraphicFramePr>
            <a:graphicFrameLocks/>
          </p:cNvGraphicFramePr>
          <p:nvPr>
            <p:extLst>
              <p:ext uri="{D42A27DB-BD31-4B8C-83A1-F6EECF244321}">
                <p14:modId xmlns:p14="http://schemas.microsoft.com/office/powerpoint/2010/main" val="2659538576"/>
              </p:ext>
            </p:extLst>
          </p:nvPr>
        </p:nvGraphicFramePr>
        <p:xfrm>
          <a:off x="985378" y="1653689"/>
          <a:ext cx="8004075" cy="312582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029E13A4-1973-4FA2-913F-0486F9630CBD}"/>
              </a:ext>
            </a:extLst>
          </p:cNvPr>
          <p:cNvGraphicFramePr>
            <a:graphicFrameLocks/>
          </p:cNvGraphicFramePr>
          <p:nvPr>
            <p:extLst/>
          </p:nvPr>
        </p:nvGraphicFramePr>
        <p:xfrm>
          <a:off x="9131121" y="1653688"/>
          <a:ext cx="2409524" cy="312582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846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145025"/>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221955" y="697631"/>
          <a:ext cx="10507900" cy="6086411"/>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856388">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1</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FRA</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VN36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FRA-HAN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1000" b="0" i="0" u="none" strike="noStrike">
                          <a:solidFill>
                            <a:srgbClr val="000000"/>
                          </a:solidFill>
                          <a:effectLst/>
                          <a:latin typeface="Times New Roman" panose="02020603050405020304" pitchFamily="18" charset="0"/>
                          <a:cs typeface="Times New Roman" panose="02020603050405020304" pitchFamily="18" charset="0"/>
                        </a:rPr>
                        <a:t>REPORT EICAS "CREW OXYGEN LOW" A/C GTB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000" b="0" i="0" u="none" strike="noStrike">
                          <a:solidFill>
                            <a:srgbClr val="000000"/>
                          </a:solidFill>
                          <a:effectLst/>
                          <a:latin typeface="Times New Roman" panose="02020603050405020304" pitchFamily="18" charset="0"/>
                          <a:cs typeface="Times New Roman" panose="02020603050405020304" pitchFamily="18" charset="0"/>
                        </a:rPr>
                        <a:t>CHK FCOM LIMIT -SATIS. C/O RAISED ADD "CREW OXYGEN LOW</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35</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Tàu hiện thỉ áp suất là 590psi, thấp hơn ngưỡng cảnh bảo đặt AHM là 600psi, dẫn đến cảnh báo ""CREW OXYGEN LOW"" phải mở MEL và có yêu cầu Main: Kiểm tra áp suất oxy trên Gauge đảm bảo trên mức yêu cầu cho tổ bay.</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Kiểm </a:t>
                      </a:r>
                      <a:r>
                        <a:rPr lang="vi-VN" sz="1000" b="0" i="0" u="none" strike="noStrike">
                          <a:solidFill>
                            <a:srgbClr val="000000"/>
                          </a:solidFill>
                          <a:effectLst/>
                          <a:latin typeface="Times New Roman" panose="02020603050405020304" pitchFamily="18" charset="0"/>
                          <a:cs typeface="Times New Roman" panose="02020603050405020304" pitchFamily="18" charset="0"/>
                        </a:rPr>
                        <a:t>tra leak, không phát hiện bất thường. Thay 2 OXYGEN CYLINDER; Captain Mask và Stowage theo dõi cho kêt quả tốt.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ĐTC:  Lịch sử có trường hợp crew oxy leak gây Delay cho tàu A866 Oct2021 do mất nhiều thời gian khi thay bottle, mask và kiểm tra leak.</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Bình oxy đã từng thay US 58 khối, tuy nhiên trong hoạt động khai thác, quá trình test thực hiện trước mỗi chuyến bay sẽ làm leak oxy. MCC theo dõi AHM, khi thấy áp suất gần ngưỡng 800 psi (dưới 800 sẽ có alert, 600 có Advisory) sẽ thực hiện thay khi tàu ở Mainbay.</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Mask đã từng thay 07 khối, MTBUR 115,385 lớn hơn RSPL 50000</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Stowage đã từng thay 15 khối, MTBUR 75,273 lớn hơn RSPL 40000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438062"/>
                  </a:ext>
                </a:extLst>
              </a:tr>
              <a:tr h="993527">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2</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VN157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RTO</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a:t>
                      </a:r>
                      <a:r>
                        <a:rPr lang="en-US" sz="10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GTB </a:t>
                      </a:r>
                      <a:r>
                        <a:rPr lang="en-US" sz="1000" b="0" i="0" u="none" strike="noStrike">
                          <a:solidFill>
                            <a:srgbClr val="000000"/>
                          </a:solidFill>
                          <a:effectLst/>
                          <a:latin typeface="Times New Roman" panose="02020603050405020304" pitchFamily="18" charset="0"/>
                          <a:cs typeface="Times New Roman" panose="02020603050405020304" pitchFamily="18" charset="0"/>
                        </a:rPr>
                        <a:t>DUE TO APPEAR MSG ”FUEL ENG 2 LP VALVE FAULT</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00" b="0" i="0" u="none" strike="noStrike">
                          <a:solidFill>
                            <a:srgbClr val="000000"/>
                          </a:solidFill>
                          <a:effectLst/>
                          <a:latin typeface="Times New Roman" panose="02020603050405020304" pitchFamily="18" charset="0"/>
                          <a:cs typeface="Times New Roman" panose="02020603050405020304" pitchFamily="18" charset="0"/>
                        </a:rPr>
                        <a:t>REPLACED FUEL LPV ACT AND PMA. C/O ENG 2 RUN UP -&gt; CHECK SATIS.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79</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Động cơ V16402 có TSN/CSN = 32666/18818; TSO/CSO = 10598/7380. Khối PMA bị hỏng là gốc của động cơ, chưa sửa chữa lần nào. Thiết bị có độ tin cậy cao. Theo thống kê từ năm 2021 tới 2024 chỉ có 3 trường hợp tháo ngoài kế hoạch được xác định do hỏng hóc phải gửi đi sửa chữa. Ban KT đang yêu cầu cung cấp QAR chuyến VN157 cho P&amp;W để làm rõ nguyên nhân hỏng hóc. Sẽ tiếp tục cập nhật.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449205"/>
                  </a:ext>
                </a:extLst>
              </a:tr>
              <a:tr h="913116">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3</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A512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23/04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VN7197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000" b="0" i="0" u="none" strike="noStrike">
                          <a:solidFill>
                            <a:srgbClr val="000000"/>
                          </a:solidFill>
                          <a:effectLst/>
                          <a:latin typeface="Times New Roman" panose="02020603050405020304" pitchFamily="18" charset="0"/>
                          <a:cs typeface="Times New Roman" panose="02020603050405020304" pitchFamily="18" charset="0"/>
                        </a:rPr>
                        <a:t>pushback appeared MSG: ENG#1 start vlv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fault (</a:t>
                      </a:r>
                      <a:r>
                        <a:rPr lang="en-US" sz="1000" b="0" i="0" u="none" strike="noStrike">
                          <a:solidFill>
                            <a:srgbClr val="000000"/>
                          </a:solidFill>
                          <a:effectLst/>
                          <a:latin typeface="Times New Roman" panose="02020603050405020304" pitchFamily="18" charset="0"/>
                          <a:cs typeface="Times New Roman" panose="02020603050405020304" pitchFamily="18" charset="0"/>
                        </a:rPr>
                        <a:t>start vlv not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closed)</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00" b="0" i="0" u="none" strike="noStrike">
                          <a:solidFill>
                            <a:srgbClr val="000000"/>
                          </a:solidFill>
                          <a:effectLst/>
                          <a:latin typeface="Times New Roman" panose="02020603050405020304" pitchFamily="18" charset="0"/>
                          <a:cs typeface="Times New Roman" panose="02020603050405020304" pitchFamily="18" charset="0"/>
                        </a:rPr>
                        <a:t>REPLACED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STARTER </a:t>
                      </a:r>
                      <a:r>
                        <a:rPr lang="en-US" sz="1000" b="0" i="0" u="none" strike="noStrike">
                          <a:solidFill>
                            <a:srgbClr val="000000"/>
                          </a:solidFill>
                          <a:effectLst/>
                          <a:latin typeface="Times New Roman" panose="02020603050405020304" pitchFamily="18" charset="0"/>
                          <a:cs typeface="Times New Roman" panose="02020603050405020304" pitchFamily="18" charset="0"/>
                        </a:rPr>
                        <a:t>VALVE IAW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AMM</a:t>
                      </a:r>
                      <a:r>
                        <a:rPr lang="en-US" sz="10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80-11-03-000/400-801-A </a:t>
                      </a:r>
                      <a:r>
                        <a:rPr lang="en-US" sz="1000" b="0" i="0" u="none" strike="noStrike">
                          <a:solidFill>
                            <a:srgbClr val="000000"/>
                          </a:solidFill>
                          <a:effectLst/>
                          <a:latin typeface="Times New Roman" panose="02020603050405020304" pitchFamily="18" charset="0"/>
                          <a:cs typeface="Times New Roman" panose="02020603050405020304" pitchFamily="18" charset="0"/>
                        </a:rPr>
                        <a:t>(REV:01/FEB/2025)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80</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Dữ </a:t>
                      </a:r>
                      <a:r>
                        <a:rPr lang="vi-VN" sz="1000" b="0" i="0" u="none" strike="noStrike">
                          <a:solidFill>
                            <a:srgbClr val="000000"/>
                          </a:solidFill>
                          <a:effectLst/>
                          <a:latin typeface="Times New Roman" panose="02020603050405020304" pitchFamily="18" charset="0"/>
                          <a:cs typeface="Times New Roman" panose="02020603050405020304" pitchFamily="18" charset="0"/>
                        </a:rPr>
                        <a:t>liệu độ tin cậy.</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Từ 2015-nay khối SAV được thay 17 lần ngoài KH (2020, 2021: 2, 2022: 1, 2023: 8, 2024: 3, 2025: 1). MTBUR = 10,400 FH. Trong đó có 1 số lần thay chủ động theo yêu cầu AD CAAV-28-07-2020 R03 liên quan đến hệ thống khởi động.</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Khối SAV trên ENG#1 A512 hỏng hóc có S/N: 3MNAJ00159,  TSN/CSN = 5957 FH/3068 FC, TSR/CSR = 2236 FH /1163 FC được lắp lên tàu từ T9/2024. Trước đó SAV này được gửi đi sửa chữa do phát hiện vết dent trên body Valve.</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Đối </a:t>
                      </a:r>
                      <a:r>
                        <a:rPr lang="vi-VN" sz="1000" b="0" i="0" u="none" strike="noStrike">
                          <a:solidFill>
                            <a:srgbClr val="000000"/>
                          </a:solidFill>
                          <a:effectLst/>
                          <a:latin typeface="Times New Roman" panose="02020603050405020304" pitchFamily="18" charset="0"/>
                          <a:cs typeface="Times New Roman" panose="02020603050405020304" pitchFamily="18" charset="0"/>
                        </a:rPr>
                        <a:t>với trường hợp này, VAECO đã tiến hành kiểm tra khối SAV không phát hiện hỏng hóc bên ngoài và không phát hiện FOD, và động thời quay manually không được. Ngoài ra động cơ này đã được thực hiện nâng cấp HPV Seal từ tháng 9/2024 để tránh việc bong và rơi seal gây kẹt Valve à do đó khả năng hỏng hóc cơ cấu cơ bên trong SAV, it xảy ra. Tiếp tục theo dõi và phối hợp ban QLVT lấy SFR để xác định nguyên nhân.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879334"/>
                  </a:ext>
                </a:extLst>
              </a:tr>
            </a:tbl>
          </a:graphicData>
        </a:graphic>
      </p:graphicFrame>
    </p:spTree>
    <p:extLst>
      <p:ext uri="{BB962C8B-B14F-4D97-AF65-F5344CB8AC3E}">
        <p14:creationId xmlns:p14="http://schemas.microsoft.com/office/powerpoint/2010/main" val="1976640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492754"/>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154511" y="1238543"/>
          <a:ext cx="10507900" cy="3790886"/>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856388">
                <a:tc>
                  <a:txBody>
                    <a:bodyPr/>
                    <a:lstStyle/>
                    <a:p>
                      <a:pPr algn="ctr" fontAlgn="ct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16/04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PNH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VN920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PNH-VTE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OGTB</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a:t>
                      </a:r>
                      <a:r>
                        <a:rPr lang="en-US" sz="10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MSG </a:t>
                      </a:r>
                      <a:r>
                        <a:rPr lang="en-US" sz="1000" b="0" i="0" u="none" strike="noStrike">
                          <a:solidFill>
                            <a:srgbClr val="000000"/>
                          </a:solidFill>
                          <a:effectLst/>
                          <a:latin typeface="Times New Roman" panose="02020603050405020304" pitchFamily="18" charset="0"/>
                          <a:cs typeface="Times New Roman" panose="02020603050405020304" pitchFamily="18" charset="0"/>
                        </a:rPr>
                        <a:t>PACK 1 REGULAR FAULT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CRS </a:t>
                      </a:r>
                      <a:r>
                        <a:rPr lang="en-US" sz="1000" b="0" i="0" u="none" strike="noStrike">
                          <a:solidFill>
                            <a:srgbClr val="000000"/>
                          </a:solidFill>
                          <a:effectLst/>
                          <a:latin typeface="Times New Roman" panose="02020603050405020304" pitchFamily="18" charset="0"/>
                          <a:cs typeface="Times New Roman" panose="02020603050405020304" pitchFamily="18" charset="0"/>
                        </a:rPr>
                        <a:t>OF K6 C/O RESET,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MGS GONE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21</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indent="0" algn="l" defTabSz="914400" rtl="0" eaLnBrk="1" fontAlgn="ctr" latinLnBrk="0" hangingPunct="1">
                        <a:lnSpc>
                          <a:spcPct val="100000"/>
                        </a:lnSpc>
                        <a:spcBef>
                          <a:spcPts val="0"/>
                        </a:spcBef>
                        <a:spcAft>
                          <a:spcPts val="0"/>
                        </a:spcAft>
                        <a:buClr>
                          <a:srgbClr val="000000"/>
                        </a:buClr>
                        <a:buSzTx/>
                        <a:buFont typeface="Arial"/>
                        <a:buNone/>
                        <a:tabLst/>
                        <a:defRPr/>
                      </a:pPr>
                      <a:r>
                        <a:rPr lang="vi-VN" sz="1000" b="0" i="0" u="none" strike="noStrike" cap="none" smtClean="0">
                          <a:solidFill>
                            <a:srgbClr val="000000"/>
                          </a:solidFill>
                          <a:effectLst/>
                          <a:latin typeface="Times New Roman" panose="02020603050405020304" pitchFamily="18" charset="0"/>
                          <a:ea typeface="+mn-ea"/>
                          <a:cs typeface="Times New Roman" panose="02020603050405020304" pitchFamily="18" charset="0"/>
                          <a:sym typeface="Arial"/>
                        </a:rPr>
                        <a:t>Theo báo cáo, khi xuất hiện msg thì TSV đã hướng dẫn tổ bay reset để tránh quay lại tuy nhiên tổ bay vẫn quyết định quay lại. Trong quá trình quay lại, tổ bay thực hiện reset thì msg biến mất. Thợ máy đã tiến hành kiểm tra và không phát hiện failuire msg, tàu khai thác bình thường và chưa xuất hiện lại. Đánh giá trường hợp này có thể là báo giả và do chưa có sự phối hợp tốt giữa tổ bay và trực TSV. Cần rút kinh nghiệm thêm với tổ bay</a:t>
                      </a:r>
                      <a:r>
                        <a:rPr lang="en-US" sz="1000" b="0" i="0" u="none" strike="noStrike" cap="none" smtClean="0">
                          <a:solidFill>
                            <a:srgbClr val="000000"/>
                          </a:solidFill>
                          <a:effectLst/>
                          <a:latin typeface="Times New Roman" panose="02020603050405020304" pitchFamily="18" charset="0"/>
                          <a:ea typeface="+mn-ea"/>
                          <a:cs typeface="Times New Roman" panose="02020603050405020304" pitchFamily="18" charset="0"/>
                          <a:sym typeface="Arial"/>
                        </a:rPr>
                        <a:t>.</a:t>
                      </a: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438062"/>
                  </a:ext>
                </a:extLst>
              </a:tr>
              <a:tr h="993527">
                <a:tc>
                  <a:txBody>
                    <a:bodyPr/>
                    <a:lstStyle/>
                    <a:p>
                      <a:pPr algn="ctr" fontAlgn="ctr"/>
                      <a:r>
                        <a:rPr lang="en-US" sz="1000" b="0" i="0" u="none" strike="noStrike">
                          <a:solidFill>
                            <a:schemeClr val="tx1"/>
                          </a:solidFill>
                          <a:effectLst/>
                          <a:latin typeface="Times New Roman" panose="02020603050405020304" pitchFamily="18" charset="0"/>
                          <a:cs typeface="Times New Roman" panose="02020603050405020304" pitchFamily="18" charset="0"/>
                        </a:rPr>
                        <a:t>5</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14/04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VN980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DEL-HAN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VN980 </a:t>
                      </a:r>
                      <a:r>
                        <a:rPr lang="en-US" sz="1000" b="0" i="0" u="none" strike="noStrike">
                          <a:solidFill>
                            <a:srgbClr val="000000"/>
                          </a:solidFill>
                          <a:effectLst/>
                          <a:latin typeface="Times New Roman" panose="02020603050405020304" pitchFamily="18" charset="0"/>
                          <a:cs typeface="Times New Roman" panose="02020603050405020304" pitchFamily="18" charset="0"/>
                        </a:rPr>
                        <a:t>DEL-HAN ON GROUND TURN BACK DUE TO LEFT RAM AIR FAN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FAULT.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A/C </a:t>
                      </a:r>
                      <a:r>
                        <a:rPr lang="en-US" sz="1000" b="0" i="0" u="none" strike="noStrike">
                          <a:solidFill>
                            <a:srgbClr val="000000"/>
                          </a:solidFill>
                          <a:effectLst/>
                          <a:latin typeface="Times New Roman" panose="02020603050405020304" pitchFamily="18" charset="0"/>
                          <a:cs typeface="Times New Roman" panose="02020603050405020304" pitchFamily="18" charset="0"/>
                        </a:rPr>
                        <a:t>DISPATCH WITH MEL 21-52-12-01 FOR L/H RAM AIR FAN INOP AND ADD MORE FUEL (2509KG</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21</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"Thực hiện thay RAF đê khắc phục. Khối tháo xuống SN 7200800 là khối còn trong bảo hành.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Trước đó, để chuẩn bị tàu VIP, ngày 4Apr tàu đã được làm nôi dung kiểm tra RAF, đo dòng khi qua RAF</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Trươc đó cũng không có các MMG đến RAF. Cần có thêm SFR để đánh giá thêm hỏng hóc của SN này.</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của RAF có thể do khai thác ở môi trường high dust, insects, FOD, pollution gây tắc dòng khí ở HX (gây thiếu dòng khí cho RAF) hoặc là RAF hoạt động với cường độ cao và làm hỏng RAF.</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Giải pháp hiện là kiểm tra và rửa HX: EO-2020-2265/66 B787 -9: ở interval 2000FH.</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787-SL-21-003/006 (ban hành FON 20/36) reduce pack operation, sử dụng ground air.</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Tàu cũng đã rủa bằng phương pháp ACTIVE FLUSH ngày 4Mar2025"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9449205"/>
                  </a:ext>
                </a:extLst>
              </a:tr>
            </a:tbl>
          </a:graphicData>
        </a:graphic>
      </p:graphicFrame>
    </p:spTree>
    <p:extLst>
      <p:ext uri="{BB962C8B-B14F-4D97-AF65-F5344CB8AC3E}">
        <p14:creationId xmlns:p14="http://schemas.microsoft.com/office/powerpoint/2010/main" val="2065928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Rectangle 3"/>
          <p:cNvSpPr/>
          <p:nvPr/>
        </p:nvSpPr>
        <p:spPr>
          <a:xfrm>
            <a:off x="1112459" y="398947"/>
            <a:ext cx="10549952" cy="379656"/>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Bảng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tổng</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hợp</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sự</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kiện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đoạn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khai</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thác do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nguyên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nhân</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kỹ</a:t>
            </a:r>
            <a:r>
              <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thuật</a:t>
            </a: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04/2025</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133485" y="1277181"/>
          <a:ext cx="10507900" cy="3943286"/>
        </p:xfrm>
        <a:graphic>
          <a:graphicData uri="http://schemas.openxmlformats.org/drawingml/2006/table">
            <a:tbl>
              <a:tblPr/>
              <a:tblGrid>
                <a:gridCol w="294548">
                  <a:extLst>
                    <a:ext uri="{9D8B030D-6E8A-4147-A177-3AD203B41FA5}">
                      <a16:colId xmlns:a16="http://schemas.microsoft.com/office/drawing/2014/main" val="597640897"/>
                    </a:ext>
                  </a:extLst>
                </a:gridCol>
                <a:gridCol w="375781">
                  <a:extLst>
                    <a:ext uri="{9D8B030D-6E8A-4147-A177-3AD203B41FA5}">
                      <a16:colId xmlns:a16="http://schemas.microsoft.com/office/drawing/2014/main" val="3112661825"/>
                    </a:ext>
                  </a:extLst>
                </a:gridCol>
                <a:gridCol w="379536">
                  <a:extLst>
                    <a:ext uri="{9D8B030D-6E8A-4147-A177-3AD203B41FA5}">
                      <a16:colId xmlns:a16="http://schemas.microsoft.com/office/drawing/2014/main" val="2452639611"/>
                    </a:ext>
                  </a:extLst>
                </a:gridCol>
                <a:gridCol w="403312">
                  <a:extLst>
                    <a:ext uri="{9D8B030D-6E8A-4147-A177-3AD203B41FA5}">
                      <a16:colId xmlns:a16="http://schemas.microsoft.com/office/drawing/2014/main" val="3132563159"/>
                    </a:ext>
                  </a:extLst>
                </a:gridCol>
                <a:gridCol w="324229">
                  <a:extLst>
                    <a:ext uri="{9D8B030D-6E8A-4147-A177-3AD203B41FA5}">
                      <a16:colId xmlns:a16="http://schemas.microsoft.com/office/drawing/2014/main" val="1049592144"/>
                    </a:ext>
                  </a:extLst>
                </a:gridCol>
                <a:gridCol w="481239">
                  <a:extLst>
                    <a:ext uri="{9D8B030D-6E8A-4147-A177-3AD203B41FA5}">
                      <a16:colId xmlns:a16="http://schemas.microsoft.com/office/drawing/2014/main" val="2971342196"/>
                    </a:ext>
                  </a:extLst>
                </a:gridCol>
                <a:gridCol w="684453">
                  <a:extLst>
                    <a:ext uri="{9D8B030D-6E8A-4147-A177-3AD203B41FA5}">
                      <a16:colId xmlns:a16="http://schemas.microsoft.com/office/drawing/2014/main" val="2844994950"/>
                    </a:ext>
                  </a:extLst>
                </a:gridCol>
                <a:gridCol w="517689">
                  <a:extLst>
                    <a:ext uri="{9D8B030D-6E8A-4147-A177-3AD203B41FA5}">
                      <a16:colId xmlns:a16="http://schemas.microsoft.com/office/drawing/2014/main" val="2647951519"/>
                    </a:ext>
                  </a:extLst>
                </a:gridCol>
                <a:gridCol w="1351041">
                  <a:extLst>
                    <a:ext uri="{9D8B030D-6E8A-4147-A177-3AD203B41FA5}">
                      <a16:colId xmlns:a16="http://schemas.microsoft.com/office/drawing/2014/main" val="3725708236"/>
                    </a:ext>
                  </a:extLst>
                </a:gridCol>
                <a:gridCol w="1717167">
                  <a:extLst>
                    <a:ext uri="{9D8B030D-6E8A-4147-A177-3AD203B41FA5}">
                      <a16:colId xmlns:a16="http://schemas.microsoft.com/office/drawing/2014/main" val="1457096139"/>
                    </a:ext>
                  </a:extLst>
                </a:gridCol>
                <a:gridCol w="371677">
                  <a:extLst>
                    <a:ext uri="{9D8B030D-6E8A-4147-A177-3AD203B41FA5}">
                      <a16:colId xmlns:a16="http://schemas.microsoft.com/office/drawing/2014/main" val="1899391533"/>
                    </a:ext>
                  </a:extLst>
                </a:gridCol>
                <a:gridCol w="3607228">
                  <a:extLst>
                    <a:ext uri="{9D8B030D-6E8A-4147-A177-3AD203B41FA5}">
                      <a16:colId xmlns:a16="http://schemas.microsoft.com/office/drawing/2014/main" val="1162097116"/>
                    </a:ext>
                  </a:extLst>
                </a:gridCol>
              </a:tblGrid>
              <a:tr h="266636">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Engneering Assessment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764583858"/>
                  </a:ext>
                </a:extLst>
              </a:tr>
              <a:tr h="913116">
                <a:tc>
                  <a:txBody>
                    <a:bodyPr/>
                    <a:lstStyle/>
                    <a:p>
                      <a:pPr algn="ctr" fontAlgn="ct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05/04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VCS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VN1884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SGN-VCS </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000" b="0" i="0" u="none" strike="noStrike">
                          <a:solidFill>
                            <a:srgbClr val="000000"/>
                          </a:solidFill>
                          <a:effectLst/>
                          <a:latin typeface="Times New Roman" panose="02020603050405020304" pitchFamily="18" charset="0"/>
                          <a:cs typeface="Times New Roman" panose="02020603050405020304" pitchFamily="18" charset="0"/>
                        </a:rPr>
                        <a:t>TAKE OFF CAPT INFORMED A/C HAS WARNING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CONFIG; </a:t>
                      </a:r>
                      <a:r>
                        <a:rPr lang="en-US" sz="1000" b="0" i="0" u="none" strike="noStrike">
                          <a:solidFill>
                            <a:srgbClr val="000000"/>
                          </a:solidFill>
                          <a:effectLst/>
                          <a:latin typeface="Times New Roman" panose="02020603050405020304" pitchFamily="18" charset="0"/>
                          <a:cs typeface="Times New Roman" panose="02020603050405020304" pitchFamily="18" charset="0"/>
                        </a:rPr>
                        <a:t>FLT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CONTROL  </a:t>
                      </a:r>
                      <a:r>
                        <a:rPr lang="en-US" sz="1000" b="0" i="0" u="none" strike="noStrike">
                          <a:solidFill>
                            <a:srgbClr val="000000"/>
                          </a:solidFill>
                          <a:effectLst/>
                          <a:latin typeface="Times New Roman" panose="02020603050405020304" pitchFamily="18" charset="0"/>
                          <a:cs typeface="Times New Roman" panose="02020603050405020304" pitchFamily="18" charset="0"/>
                        </a:rPr>
                        <a:t>APPEARED, A/C REJECT TAKE OFF AND THEN DEFECT DISAPPEAR , A/C NORMAL AND CAPT DECIDED RETURN TO THE RUNWAY FOR TAKE OFF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AGAIN</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000" b="0" i="0" u="none" strike="noStrike">
                          <a:solidFill>
                            <a:srgbClr val="000000"/>
                          </a:solidFill>
                          <a:effectLst/>
                          <a:latin typeface="Times New Roman" panose="02020603050405020304" pitchFamily="18" charset="0"/>
                          <a:cs typeface="Times New Roman" panose="02020603050405020304" pitchFamily="18" charset="0"/>
                        </a:rPr>
                        <a:t>REPLACEMENT LH TRIM ELEVATOR IAW MP ATR-A-27-32-40-00001-520A-A ; ATR-A-27-32-40-00001-720A-A. CHECKED SATIS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ENG #1 : START A : IGNITER RPLD REF : 74-21-60-A1001-520/720A REV 01/2025 CHK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27</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Hỏng hóc chỉ xảy ra trên B223, đã thực hiện nhiều lần theo hướng dẫn của ATR như thay thế các thiết bị, kiểm tra dây, connector nhưng không khắc phục được hỏng hóc.</a:t>
                      </a:r>
                    </a:p>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 Với 02 lần GTB ngày 09/12/2024 và 04/01/2025: Nghi ngờ do Inverter 1 bị lỗi gây ảnh hưởng đến cấp nguồn điện. Khối inverter này đang gửi đi shop và chờ SFR</a:t>
                      </a:r>
                    </a:p>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 Với 01 lần RTO ngày 16/02/2025: Nguyên nhân do khối trim indicator trong kho bị lỗi, theo SFR =&gt; Fault confirmed</a:t>
                      </a:r>
                    </a:p>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 Với 01 RTO ngày 06/04/2025: Nghi ngờ do khối LH elevator trim actuator lắp lên từ ngày 14/01/2025 có vấn đề (Do khi thợ máy thực hiện test thì phát hiện khối này bị nóng lên và hoạt động không ổn định khi pitch trim có giá trị lớn hơn hoặc bằng 1.3 ).  Khối này được Ban QLVT mua cũ từ đối tác, lần đi shop gần nhất là thực hiện OVH vào May/2024 (TSN &amp;CSN =UNK)  =&gt; Đang chờ SFR khối này.</a:t>
                      </a: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879334"/>
                  </a:ext>
                </a:extLst>
              </a:tr>
              <a:tr h="913116">
                <a:tc>
                  <a:txBody>
                    <a:bodyPr/>
                    <a:lstStyle/>
                    <a:p>
                      <a:pPr algn="ctr" fontAlgn="ctr"/>
                      <a:r>
                        <a:rPr lang="en-US" sz="1000" b="0" i="0" u="none" strike="noStrike" smtClean="0">
                          <a:solidFill>
                            <a:schemeClr val="tx1"/>
                          </a:solidFill>
                          <a:effectLst/>
                          <a:latin typeface="Times New Roman" panose="02020603050405020304" pitchFamily="18" charset="0"/>
                          <a:cs typeface="Times New Roman" panose="02020603050405020304" pitchFamily="18" charset="0"/>
                        </a:rPr>
                        <a:t>7</a:t>
                      </a:r>
                      <a:endParaRPr lang="en-US" sz="1000" b="0" i="0" u="none" strike="noStrike">
                        <a:solidFill>
                          <a:schemeClr val="tx1"/>
                        </a:solidFill>
                        <a:effectLst/>
                        <a:latin typeface="Times New Roman" panose="02020603050405020304" pitchFamily="18" charset="0"/>
                        <a:cs typeface="Times New Roman" panose="02020603050405020304" pitchFamily="18" charset="0"/>
                      </a:endParaRP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03/04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VN307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NRT-SGN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OGTB</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A879 (GTB) NO GO MSG: ELEC P200 PANEL, A/C RETURN TO GATE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RESET </a:t>
                      </a:r>
                      <a:r>
                        <a:rPr lang="en-US" sz="1000" b="0" i="0" u="none" strike="noStrike">
                          <a:solidFill>
                            <a:srgbClr val="000000"/>
                          </a:solidFill>
                          <a:effectLst/>
                          <a:latin typeface="Times New Roman" panose="02020603050405020304" pitchFamily="18" charset="0"/>
                          <a:cs typeface="Times New Roman" panose="02020603050405020304" pitchFamily="18" charset="0"/>
                        </a:rPr>
                        <a:t>CONTACTOR CK2143501 THEN CARRY OUT SYSTEM TEST FOUND ALL PASSED. THE MSG HAS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GONE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24</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MSG intermittent, đã thực hiện reset được sau khi RTG. Tuy nhiên sau đó đã cho thay contactor (CK2143501 EXH FAN- FWD CARGO HT) để đánh chặn hỏng hóc. Hiện không có issue worldwide về contactor này. Thống kê tháo lắp trong các năm gần đây (2022: 1, 2023:0, 2024: 2, 2025: 1). Ngoài ra từ khi khai thác, có khoảng 100 sự vụ có liên quan đến FDE: ELEC P200, tuy nhiên đa số đều reset được, kiểm tra dây không có finding. Nhiều trường hợp FDE: ELEC P200 gắn với FDE và MMSG khác nên có nhiều nguyên nhân hỏng hóc khác nhau. Những trường hợp phải thay contactor ít. TIếp tục theo dõi.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952229"/>
                  </a:ext>
                </a:extLst>
              </a:tr>
            </a:tbl>
          </a:graphicData>
        </a:graphic>
      </p:graphicFrame>
    </p:spTree>
    <p:extLst>
      <p:ext uri="{BB962C8B-B14F-4D97-AF65-F5344CB8AC3E}">
        <p14:creationId xmlns:p14="http://schemas.microsoft.com/office/powerpoint/2010/main" val="984483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4 – CHỈ SỐ BÁO CÁO TỰ NGUYỆN</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9" name="Rectangle 8"/>
          <p:cNvSpPr/>
          <p:nvPr/>
        </p:nvSpPr>
        <p:spPr>
          <a:xfrm>
            <a:off x="1672672" y="1349368"/>
            <a:ext cx="9623939" cy="584775"/>
          </a:xfrm>
          <a:prstGeom prst="rect">
            <a:avLst/>
          </a:prstGeom>
        </p:spPr>
        <p:txBody>
          <a:bodyPr wrap="square">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Char char="-"/>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62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trong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đó</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Hệ</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thống</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QLAT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VAECO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ghi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nhận</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50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SQD chủ động báo cáo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12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 theo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CV3245, các </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được</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phân</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loại</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như</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sau</a:t>
            </a: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8" name="Rectangle 7"/>
          <p:cNvSpPr/>
          <p:nvPr/>
        </p:nvSpPr>
        <p:spPr>
          <a:xfrm>
            <a:off x="1672672" y="6141469"/>
            <a:ext cx="10523832" cy="338554"/>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 </a:t>
            </a:r>
            <a:r>
              <a:rPr kumimoji="0" lang="en-US" sz="16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53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BCTN</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01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p>
        </p:txBody>
      </p:sp>
      <p:graphicFrame>
        <p:nvGraphicFramePr>
          <p:cNvPr id="10" name="Chart 9"/>
          <p:cNvGraphicFramePr>
            <a:graphicFrameLocks/>
          </p:cNvGraphicFramePr>
          <p:nvPr>
            <p:extLst/>
          </p:nvPr>
        </p:nvGraphicFramePr>
        <p:xfrm>
          <a:off x="3039414" y="2112136"/>
          <a:ext cx="6335466" cy="365135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92706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5 - TỶ LỆ CẮT LỐP TÀU BAY</a:t>
            </a:r>
            <a:endParaRPr kumimoji="0" lang="en-US" alt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1066800" y="5215635"/>
            <a:ext cx="10557351"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tàu bay bị cắt lốp,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04 vụ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3.55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 CB,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3.58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4.23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5,67 vụ/ 10000 CB.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3.74,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0" name="Chart 9">
            <a:extLst>
              <a:ext uri="{FF2B5EF4-FFF2-40B4-BE49-F238E27FC236}">
                <a16:creationId xmlns:a16="http://schemas.microsoft.com/office/drawing/2014/main" id="{00000000-0008-0000-0400-000002000000}"/>
              </a:ext>
            </a:extLst>
          </p:cNvPr>
          <p:cNvGraphicFramePr>
            <a:graphicFrameLocks/>
          </p:cNvGraphicFramePr>
          <p:nvPr>
            <p:extLst>
              <p:ext uri="{D42A27DB-BD31-4B8C-83A1-F6EECF244321}">
                <p14:modId xmlns:p14="http://schemas.microsoft.com/office/powerpoint/2010/main" val="2053449577"/>
              </p:ext>
            </p:extLst>
          </p:nvPr>
        </p:nvGraphicFramePr>
        <p:xfrm>
          <a:off x="1160720" y="1553226"/>
          <a:ext cx="7665780" cy="354167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05930E83-BF54-42B2-B143-96E69E24AE6F}"/>
              </a:ext>
            </a:extLst>
          </p:cNvPr>
          <p:cNvGraphicFramePr>
            <a:graphicFrameLocks/>
          </p:cNvGraphicFramePr>
          <p:nvPr>
            <p:extLst/>
          </p:nvPr>
        </p:nvGraphicFramePr>
        <p:xfrm>
          <a:off x="9004300" y="1553226"/>
          <a:ext cx="2536345" cy="354157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324331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816839" y="646420"/>
            <a:ext cx="10845572" cy="468569"/>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1867"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lốp cắt </a:t>
            </a:r>
            <a:r>
              <a:rPr kumimoji="0" lang="en-US" altLang="en-US" sz="1867"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tháng 04/2025</a:t>
            </a:r>
            <a:endParaRPr kumimoji="0" lang="en-US" sz="1867"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816838" y="1230569"/>
          <a:ext cx="10845573" cy="2033567"/>
        </p:xfrm>
        <a:graphic>
          <a:graphicData uri="http://schemas.openxmlformats.org/drawingml/2006/table">
            <a:tbl>
              <a:tblPr>
                <a:tableStyleId>{5C22544A-7EE6-4342-B048-85BDC9FD1C3A}</a:tableStyleId>
              </a:tblPr>
              <a:tblGrid>
                <a:gridCol w="262867">
                  <a:extLst>
                    <a:ext uri="{9D8B030D-6E8A-4147-A177-3AD203B41FA5}">
                      <a16:colId xmlns:a16="http://schemas.microsoft.com/office/drawing/2014/main" val="2556146720"/>
                    </a:ext>
                  </a:extLst>
                </a:gridCol>
                <a:gridCol w="703709">
                  <a:extLst>
                    <a:ext uri="{9D8B030D-6E8A-4147-A177-3AD203B41FA5}">
                      <a16:colId xmlns:a16="http://schemas.microsoft.com/office/drawing/2014/main" val="280978439"/>
                    </a:ext>
                  </a:extLst>
                </a:gridCol>
                <a:gridCol w="347041">
                  <a:extLst>
                    <a:ext uri="{9D8B030D-6E8A-4147-A177-3AD203B41FA5}">
                      <a16:colId xmlns:a16="http://schemas.microsoft.com/office/drawing/2014/main" val="1746553157"/>
                    </a:ext>
                  </a:extLst>
                </a:gridCol>
                <a:gridCol w="347041">
                  <a:extLst>
                    <a:ext uri="{9D8B030D-6E8A-4147-A177-3AD203B41FA5}">
                      <a16:colId xmlns:a16="http://schemas.microsoft.com/office/drawing/2014/main" val="789722712"/>
                    </a:ext>
                  </a:extLst>
                </a:gridCol>
                <a:gridCol w="470435">
                  <a:extLst>
                    <a:ext uri="{9D8B030D-6E8A-4147-A177-3AD203B41FA5}">
                      <a16:colId xmlns:a16="http://schemas.microsoft.com/office/drawing/2014/main" val="2014199728"/>
                    </a:ext>
                  </a:extLst>
                </a:gridCol>
                <a:gridCol w="358548">
                  <a:extLst>
                    <a:ext uri="{9D8B030D-6E8A-4147-A177-3AD203B41FA5}">
                      <a16:colId xmlns:a16="http://schemas.microsoft.com/office/drawing/2014/main" val="2145532655"/>
                    </a:ext>
                  </a:extLst>
                </a:gridCol>
                <a:gridCol w="353859">
                  <a:extLst>
                    <a:ext uri="{9D8B030D-6E8A-4147-A177-3AD203B41FA5}">
                      <a16:colId xmlns:a16="http://schemas.microsoft.com/office/drawing/2014/main" val="1204552570"/>
                    </a:ext>
                  </a:extLst>
                </a:gridCol>
                <a:gridCol w="556061">
                  <a:extLst>
                    <a:ext uri="{9D8B030D-6E8A-4147-A177-3AD203B41FA5}">
                      <a16:colId xmlns:a16="http://schemas.microsoft.com/office/drawing/2014/main" val="2320246163"/>
                    </a:ext>
                  </a:extLst>
                </a:gridCol>
                <a:gridCol w="798707">
                  <a:extLst>
                    <a:ext uri="{9D8B030D-6E8A-4147-A177-3AD203B41FA5}">
                      <a16:colId xmlns:a16="http://schemas.microsoft.com/office/drawing/2014/main" val="1665281072"/>
                    </a:ext>
                  </a:extLst>
                </a:gridCol>
                <a:gridCol w="647055">
                  <a:extLst>
                    <a:ext uri="{9D8B030D-6E8A-4147-A177-3AD203B41FA5}">
                      <a16:colId xmlns:a16="http://schemas.microsoft.com/office/drawing/2014/main" val="2420637937"/>
                    </a:ext>
                  </a:extLst>
                </a:gridCol>
                <a:gridCol w="556061">
                  <a:extLst>
                    <a:ext uri="{9D8B030D-6E8A-4147-A177-3AD203B41FA5}">
                      <a16:colId xmlns:a16="http://schemas.microsoft.com/office/drawing/2014/main" val="1784441051"/>
                    </a:ext>
                  </a:extLst>
                </a:gridCol>
                <a:gridCol w="444849">
                  <a:extLst>
                    <a:ext uri="{9D8B030D-6E8A-4147-A177-3AD203B41FA5}">
                      <a16:colId xmlns:a16="http://schemas.microsoft.com/office/drawing/2014/main" val="2454518777"/>
                    </a:ext>
                  </a:extLst>
                </a:gridCol>
                <a:gridCol w="606612">
                  <a:extLst>
                    <a:ext uri="{9D8B030D-6E8A-4147-A177-3AD203B41FA5}">
                      <a16:colId xmlns:a16="http://schemas.microsoft.com/office/drawing/2014/main" val="1946257698"/>
                    </a:ext>
                  </a:extLst>
                </a:gridCol>
                <a:gridCol w="687496">
                  <a:extLst>
                    <a:ext uri="{9D8B030D-6E8A-4147-A177-3AD203B41FA5}">
                      <a16:colId xmlns:a16="http://schemas.microsoft.com/office/drawing/2014/main" val="3539464948"/>
                    </a:ext>
                  </a:extLst>
                </a:gridCol>
                <a:gridCol w="606612">
                  <a:extLst>
                    <a:ext uri="{9D8B030D-6E8A-4147-A177-3AD203B41FA5}">
                      <a16:colId xmlns:a16="http://schemas.microsoft.com/office/drawing/2014/main" val="81123186"/>
                    </a:ext>
                  </a:extLst>
                </a:gridCol>
                <a:gridCol w="606612">
                  <a:extLst>
                    <a:ext uri="{9D8B030D-6E8A-4147-A177-3AD203B41FA5}">
                      <a16:colId xmlns:a16="http://schemas.microsoft.com/office/drawing/2014/main" val="2598074248"/>
                    </a:ext>
                  </a:extLst>
                </a:gridCol>
                <a:gridCol w="326055">
                  <a:extLst>
                    <a:ext uri="{9D8B030D-6E8A-4147-A177-3AD203B41FA5}">
                      <a16:colId xmlns:a16="http://schemas.microsoft.com/office/drawing/2014/main" val="3970312533"/>
                    </a:ext>
                  </a:extLst>
                </a:gridCol>
                <a:gridCol w="667273">
                  <a:extLst>
                    <a:ext uri="{9D8B030D-6E8A-4147-A177-3AD203B41FA5}">
                      <a16:colId xmlns:a16="http://schemas.microsoft.com/office/drawing/2014/main" val="3774492039"/>
                    </a:ext>
                  </a:extLst>
                </a:gridCol>
                <a:gridCol w="434741">
                  <a:extLst>
                    <a:ext uri="{9D8B030D-6E8A-4147-A177-3AD203B41FA5}">
                      <a16:colId xmlns:a16="http://schemas.microsoft.com/office/drawing/2014/main" val="637771663"/>
                    </a:ext>
                  </a:extLst>
                </a:gridCol>
                <a:gridCol w="1063939">
                  <a:extLst>
                    <a:ext uri="{9D8B030D-6E8A-4147-A177-3AD203B41FA5}">
                      <a16:colId xmlns:a16="http://schemas.microsoft.com/office/drawing/2014/main" val="3535789250"/>
                    </a:ext>
                  </a:extLst>
                </a:gridCol>
              </a:tblGrid>
              <a:tr h="589918">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STT</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Occur Date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A/C</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 Type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A/C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err="1">
                          <a:effectLst/>
                          <a:latin typeface="Times New Roman" panose="02020603050405020304" pitchFamily="18" charset="0"/>
                          <a:cs typeface="Times New Roman" panose="02020603050405020304" pitchFamily="18" charset="0"/>
                        </a:rPr>
                        <a:t>Reg</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FLT No</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DEP</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ARR</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Station</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Location</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Phase</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Tire </a:t>
                      </a:r>
                      <a:r>
                        <a:rPr lang="en-US" sz="1100" u="none" strike="noStrike" dirty="0" err="1">
                          <a:effectLst/>
                          <a:latin typeface="Times New Roman" panose="02020603050405020304" pitchFamily="18" charset="0"/>
                          <a:cs typeface="Times New Roman" panose="02020603050405020304" pitchFamily="18" charset="0"/>
                        </a:rPr>
                        <a:t>Pos</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a:effectLst/>
                          <a:latin typeface="Times New Roman" panose="02020603050405020304" pitchFamily="18" charset="0"/>
                          <a:cs typeface="Times New Roman" panose="02020603050405020304" pitchFamily="18" charset="0"/>
                        </a:rPr>
                        <a:t>Áp suất </a:t>
                      </a:r>
                      <a:br>
                        <a:rPr lang="en-US" sz="1100" u="none" strike="noStrike">
                          <a:effectLst/>
                          <a:latin typeface="Times New Roman" panose="02020603050405020304" pitchFamily="18" charset="0"/>
                          <a:cs typeface="Times New Roman" panose="02020603050405020304" pitchFamily="18" charset="0"/>
                        </a:rPr>
                      </a:br>
                      <a:r>
                        <a:rPr lang="en-US" sz="1100" u="none" strike="noStrike">
                          <a:effectLst/>
                          <a:latin typeface="Times New Roman" panose="02020603050405020304" pitchFamily="18" charset="0"/>
                          <a:cs typeface="Times New Roman" panose="02020603050405020304" pitchFamily="18" charset="0"/>
                        </a:rPr>
                        <a:t>(psi)</a:t>
                      </a:r>
                      <a:endParaRPr lang="en-US" sz="1100" b="1" i="0" u="none" strike="noStrike">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P/N WHEEL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OFF</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S/N WHEEL </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OFF</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P/N</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TIRE OFF </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S/N</a:t>
                      </a:r>
                      <a:br>
                        <a:rPr lang="en-US" sz="1100" u="none" strike="noStrike" dirty="0">
                          <a:effectLst/>
                          <a:latin typeface="Times New Roman" panose="02020603050405020304" pitchFamily="18" charset="0"/>
                          <a:cs typeface="Times New Roman" panose="02020603050405020304" pitchFamily="18" charset="0"/>
                        </a:rPr>
                      </a:br>
                      <a:r>
                        <a:rPr lang="en-US" sz="1100" u="none" strike="noStrike" dirty="0">
                          <a:effectLst/>
                          <a:latin typeface="Times New Roman" panose="02020603050405020304" pitchFamily="18" charset="0"/>
                          <a:cs typeface="Times New Roman" panose="02020603050405020304" pitchFamily="18" charset="0"/>
                        </a:rPr>
                        <a:t>TIRE OFF </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R/N</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Tire </a:t>
                      </a:r>
                      <a:r>
                        <a:rPr lang="en-US" sz="1100" u="none" strike="noStrike" dirty="0" err="1">
                          <a:effectLst/>
                          <a:latin typeface="Times New Roman" panose="02020603050405020304" pitchFamily="18" charset="0"/>
                          <a:cs typeface="Times New Roman" panose="02020603050405020304" pitchFamily="18" charset="0"/>
                        </a:rPr>
                        <a:t>manufacrer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err="1">
                          <a:effectLst/>
                          <a:latin typeface="Times New Roman" panose="02020603050405020304" pitchFamily="18" charset="0"/>
                          <a:cs typeface="Times New Roman" panose="02020603050405020304" pitchFamily="18" charset="0"/>
                        </a:rPr>
                        <a:t>Sô</a:t>
                      </a:r>
                      <a:r>
                        <a:rPr lang="en-US" sz="1100" u="none" strike="noStrike" dirty="0">
                          <a:effectLst/>
                          <a:latin typeface="Times New Roman" panose="02020603050405020304" pitchFamily="18" charset="0"/>
                          <a:cs typeface="Times New Roman" panose="02020603050405020304" pitchFamily="18" charset="0"/>
                        </a:rPr>
                        <a:t>́ CY</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fontAlgn="ctr"/>
                      <a:r>
                        <a:rPr lang="en-US" sz="1100" u="none" strike="noStrike" dirty="0">
                          <a:effectLst/>
                          <a:latin typeface="Times New Roman" panose="02020603050405020304" pitchFamily="18" charset="0"/>
                          <a:cs typeface="Times New Roman" panose="02020603050405020304" pitchFamily="18" charset="0"/>
                        </a:rPr>
                        <a:t>Detailed Cut</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773" marR="9773" marT="977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291912203"/>
                  </a:ext>
                </a:extLst>
              </a:tr>
              <a:tr h="422716">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5-Apr-25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A507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PVG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#94-TSN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C20500100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40842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M20101-01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3098T313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965566"/>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26-Apr-25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VN1395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UIH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#22-TSN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RH NW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3-1531-3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A2187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M08201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3173T118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794787"/>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27-Apr-25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VN7373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HUI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#39-TSN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C20500100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56267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M20101-01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3340T142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622773"/>
                  </a:ext>
                </a:extLst>
              </a:tr>
              <a:tr h="340311">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27-Apr-25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A513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VN1548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HUI</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HAN LINE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PARKING #82-NBA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TX CHECK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MW #3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C20195162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70299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M01103-02AMDTC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2077T0960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R3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Michellin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CUT OUT OF LIMIT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108791"/>
                  </a:ext>
                </a:extLst>
              </a:tr>
            </a:tbl>
          </a:graphicData>
        </a:graphic>
      </p:graphicFrame>
    </p:spTree>
    <p:extLst>
      <p:ext uri="{BB962C8B-B14F-4D97-AF65-F5344CB8AC3E}">
        <p14:creationId xmlns:p14="http://schemas.microsoft.com/office/powerpoint/2010/main" val="37364801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759111" y="1001892"/>
            <a:ext cx="10865043"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6 - TỶ LỆ DỮ LIỆU ĐẦU VÀO CHO HỆ THỐNG AGS/LOMS</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graphicFrame>
        <p:nvGraphicFramePr>
          <p:cNvPr id="9" name="Table 8"/>
          <p:cNvGraphicFramePr>
            <a:graphicFrameLocks noGrp="1"/>
          </p:cNvGraphicFramePr>
          <p:nvPr>
            <p:extLst/>
          </p:nvPr>
        </p:nvGraphicFramePr>
        <p:xfrm>
          <a:off x="745254" y="5663096"/>
          <a:ext cx="10860874" cy="1079327"/>
        </p:xfrm>
        <a:graphic>
          <a:graphicData uri="http://schemas.openxmlformats.org/drawingml/2006/table">
            <a:tbl>
              <a:tblPr firstRow="1" bandRow="1">
                <a:tableStyleId>{5C22544A-7EE6-4342-B048-85BDC9FD1C3A}</a:tableStyleId>
              </a:tblPr>
              <a:tblGrid>
                <a:gridCol w="374651">
                  <a:extLst>
                    <a:ext uri="{9D8B030D-6E8A-4147-A177-3AD203B41FA5}">
                      <a16:colId xmlns:a16="http://schemas.microsoft.com/office/drawing/2014/main" val="20000"/>
                    </a:ext>
                  </a:extLst>
                </a:gridCol>
                <a:gridCol w="1795459">
                  <a:extLst>
                    <a:ext uri="{9D8B030D-6E8A-4147-A177-3AD203B41FA5}">
                      <a16:colId xmlns:a16="http://schemas.microsoft.com/office/drawing/2014/main" val="20001"/>
                    </a:ext>
                  </a:extLst>
                </a:gridCol>
                <a:gridCol w="413876">
                  <a:extLst>
                    <a:ext uri="{9D8B030D-6E8A-4147-A177-3AD203B41FA5}">
                      <a16:colId xmlns:a16="http://schemas.microsoft.com/office/drawing/2014/main" val="20002"/>
                    </a:ext>
                  </a:extLst>
                </a:gridCol>
                <a:gridCol w="2337184">
                  <a:extLst>
                    <a:ext uri="{9D8B030D-6E8A-4147-A177-3AD203B41FA5}">
                      <a16:colId xmlns:a16="http://schemas.microsoft.com/office/drawing/2014/main" val="20003"/>
                    </a:ext>
                  </a:extLst>
                </a:gridCol>
                <a:gridCol w="421992">
                  <a:extLst>
                    <a:ext uri="{9D8B030D-6E8A-4147-A177-3AD203B41FA5}">
                      <a16:colId xmlns:a16="http://schemas.microsoft.com/office/drawing/2014/main" val="20004"/>
                    </a:ext>
                  </a:extLst>
                </a:gridCol>
                <a:gridCol w="2556295">
                  <a:extLst>
                    <a:ext uri="{9D8B030D-6E8A-4147-A177-3AD203B41FA5}">
                      <a16:colId xmlns:a16="http://schemas.microsoft.com/office/drawing/2014/main" val="20005"/>
                    </a:ext>
                  </a:extLst>
                </a:gridCol>
                <a:gridCol w="421992">
                  <a:extLst>
                    <a:ext uri="{9D8B030D-6E8A-4147-A177-3AD203B41FA5}">
                      <a16:colId xmlns:a16="http://schemas.microsoft.com/office/drawing/2014/main" val="20006"/>
                    </a:ext>
                  </a:extLst>
                </a:gridCol>
                <a:gridCol w="2539425">
                  <a:extLst>
                    <a:ext uri="{9D8B030D-6E8A-4147-A177-3AD203B41FA5}">
                      <a16:colId xmlns:a16="http://schemas.microsoft.com/office/drawing/2014/main" val="20007"/>
                    </a:ext>
                  </a:extLst>
                </a:gridCol>
              </a:tblGrid>
              <a:tr h="1079327">
                <a:tc>
                  <a:txBody>
                    <a:bodyPr/>
                    <a:lstStyle/>
                    <a:p>
                      <a:endParaRPr lang="en-US" sz="2100" dirty="0">
                        <a:solidFill>
                          <a:schemeClr val="tx1"/>
                        </a:solidFill>
                      </a:endParaRPr>
                    </a:p>
                  </a:txBody>
                  <a:tcPr marL="121920" marR="121920" marT="60960" marB="6096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Đạt</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Tiếp</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theo</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không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cần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hành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động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bổ</a:t>
                      </a:r>
                      <a:r>
                        <a:rPr lang="en-US" sz="1300" b="0" baseline="0" dirty="0">
                          <a:solidFill>
                            <a:schemeClr val="tx1"/>
                          </a:solidFill>
                          <a:latin typeface="Times New Roman" panose="02020603050405020304" pitchFamily="18" charset="0"/>
                          <a:cs typeface="Times New Roman" panose="02020603050405020304" pitchFamily="18" charset="0"/>
                        </a:rPr>
                        <a:t> sung.</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đến</a:t>
                      </a:r>
                      <a:r>
                        <a:rPr lang="en-US" sz="1300" b="1" baseline="0" dirty="0">
                          <a:solidFill>
                            <a:schemeClr val="tx1"/>
                          </a:solidFill>
                          <a:latin typeface="Times New Roman" panose="02020603050405020304" pitchFamily="18" charset="0"/>
                          <a:cs typeface="Times New Roman" panose="02020603050405020304" pitchFamily="18" charset="0"/>
                        </a:rPr>
                        <a:t> 5%.</a:t>
                      </a:r>
                    </a:p>
                    <a:p>
                      <a:pPr algn="just"/>
                      <a:r>
                        <a:rPr lang="en-US" sz="1300" b="0" baseline="0" dirty="0">
                          <a:solidFill>
                            <a:schemeClr val="tx1"/>
                          </a:solidFill>
                          <a:latin typeface="Times New Roman" panose="02020603050405020304" pitchFamily="18" charset="0"/>
                          <a:cs typeface="Times New Roman" panose="02020603050405020304" pitchFamily="18" charset="0"/>
                        </a:rPr>
                        <a:t>Theo </a:t>
                      </a:r>
                      <a:r>
                        <a:rPr lang="en-US" sz="1300" b="0" baseline="0" dirty="0" err="1">
                          <a:solidFill>
                            <a:schemeClr val="tx1"/>
                          </a:solidFill>
                          <a:latin typeface="Times New Roman" panose="02020603050405020304" pitchFamily="18" charset="0"/>
                          <a:cs typeface="Times New Roman" panose="02020603050405020304" pitchFamily="18" charset="0"/>
                        </a:rPr>
                        <a:t>dõi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3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just"/>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6-10%.</a:t>
                      </a:r>
                    </a:p>
                    <a:p>
                      <a:pPr algn="just"/>
                      <a:r>
                        <a:rPr lang="en-US" sz="1300" b="0" baseline="0" dirty="0" err="1">
                          <a:solidFill>
                            <a:schemeClr val="tx1"/>
                          </a:solidFill>
                          <a:latin typeface="Times New Roman" panose="02020603050405020304" pitchFamily="18" charset="0"/>
                          <a:cs typeface="Times New Roman" panose="02020603050405020304" pitchFamily="18" charset="0"/>
                        </a:rPr>
                        <a:t>Nếu</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2 </a:t>
                      </a:r>
                      <a:r>
                        <a:rPr lang="en-US" sz="1300" b="0" baseline="0" dirty="0" err="1">
                          <a:solidFill>
                            <a:schemeClr val="tx1"/>
                          </a:solidFill>
                          <a:latin typeface="Times New Roman" panose="02020603050405020304" pitchFamily="18" charset="0"/>
                          <a:cs typeface="Times New Roman" panose="02020603050405020304" pitchFamily="18" charset="0"/>
                        </a:rPr>
                        <a:t>tháng</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liên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tục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thì</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tìm</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 </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endParaRPr lang="en-US" sz="1300" b="0" dirty="0">
                        <a:latin typeface="Times New Roman" panose="02020603050405020304" pitchFamily="18" charset="0"/>
                        <a:cs typeface="Times New Roman" panose="02020603050405020304" pitchFamily="18" charset="0"/>
                      </a:endParaRPr>
                    </a:p>
                  </a:txBody>
                  <a:tcPr marL="121920" marR="121920" marT="60960" marB="6096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300" b="1" dirty="0" err="1">
                          <a:solidFill>
                            <a:schemeClr val="tx1"/>
                          </a:solidFill>
                          <a:latin typeface="Times New Roman" panose="02020603050405020304" pitchFamily="18" charset="0"/>
                          <a:cs typeface="Times New Roman" panose="02020603050405020304" pitchFamily="18" charset="0"/>
                        </a:rPr>
                        <a:t>Thấp</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hơn</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mục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tiêu</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từ</a:t>
                      </a:r>
                      <a:r>
                        <a:rPr lang="en-US" sz="1300" b="1" baseline="0" dirty="0">
                          <a:solidFill>
                            <a:schemeClr val="tx1"/>
                          </a:solidFill>
                          <a:latin typeface="Times New Roman" panose="02020603050405020304" pitchFamily="18" charset="0"/>
                          <a:cs typeface="Times New Roman" panose="02020603050405020304" pitchFamily="18" charset="0"/>
                        </a:rPr>
                        <a:t> 11%.</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300" b="0" baseline="0" dirty="0" err="1">
                          <a:solidFill>
                            <a:schemeClr val="tx1"/>
                          </a:solidFill>
                          <a:latin typeface="Times New Roman" panose="02020603050405020304" pitchFamily="18" charset="0"/>
                          <a:cs typeface="Times New Roman" panose="02020603050405020304" pitchFamily="18" charset="0"/>
                        </a:rPr>
                        <a:t>Khi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xảy</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ra</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xác</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định</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nguyên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nhân</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và</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có</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giải</a:t>
                      </a:r>
                      <a:r>
                        <a:rPr lang="en-US" sz="1300" b="0" baseline="0" dirty="0">
                          <a:solidFill>
                            <a:schemeClr val="tx1"/>
                          </a:solidFill>
                          <a:latin typeface="Times New Roman" panose="02020603050405020304" pitchFamily="18" charset="0"/>
                          <a:cs typeface="Times New Roman" panose="02020603050405020304" pitchFamily="18" charset="0"/>
                        </a:rPr>
                        <a:t> </a:t>
                      </a:r>
                      <a:r>
                        <a:rPr lang="en-US" sz="1300" b="0" baseline="0" dirty="0" err="1">
                          <a:solidFill>
                            <a:schemeClr val="tx1"/>
                          </a:solidFill>
                          <a:latin typeface="Times New Roman" panose="02020603050405020304" pitchFamily="18" charset="0"/>
                          <a:cs typeface="Times New Roman" panose="02020603050405020304" pitchFamily="18" charset="0"/>
                        </a:rPr>
                        <a:t>pháp</a:t>
                      </a:r>
                      <a:r>
                        <a:rPr lang="en-US" sz="1300" b="0" baseline="0" dirty="0">
                          <a:solidFill>
                            <a:schemeClr val="tx1"/>
                          </a:solidFill>
                          <a:latin typeface="Times New Roman" panose="02020603050405020304" pitchFamily="18" charset="0"/>
                          <a:cs typeface="Times New Roman" panose="02020603050405020304" pitchFamily="18" charset="0"/>
                        </a:rPr>
                        <a:t>.</a:t>
                      </a:r>
                      <a:endParaRPr lang="en-US" sz="13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076832154"/>
              </p:ext>
            </p:extLst>
          </p:nvPr>
        </p:nvGraphicFramePr>
        <p:xfrm>
          <a:off x="759109" y="1462227"/>
          <a:ext cx="10823570" cy="4105995"/>
        </p:xfrm>
        <a:graphic>
          <a:graphicData uri="http://schemas.openxmlformats.org/drawingml/2006/table">
            <a:tbl>
              <a:tblPr firstRow="1" bandRow="1">
                <a:tableStyleId>{5C22544A-7EE6-4342-B048-85BDC9FD1C3A}</a:tableStyleId>
              </a:tblPr>
              <a:tblGrid>
                <a:gridCol w="693909">
                  <a:extLst>
                    <a:ext uri="{9D8B030D-6E8A-4147-A177-3AD203B41FA5}">
                      <a16:colId xmlns:a16="http://schemas.microsoft.com/office/drawing/2014/main" val="20000"/>
                    </a:ext>
                  </a:extLst>
                </a:gridCol>
                <a:gridCol w="826719">
                  <a:extLst>
                    <a:ext uri="{9D8B030D-6E8A-4147-A177-3AD203B41FA5}">
                      <a16:colId xmlns:a16="http://schemas.microsoft.com/office/drawing/2014/main" val="20001"/>
                    </a:ext>
                  </a:extLst>
                </a:gridCol>
                <a:gridCol w="634652">
                  <a:extLst>
                    <a:ext uri="{9D8B030D-6E8A-4147-A177-3AD203B41FA5}">
                      <a16:colId xmlns:a16="http://schemas.microsoft.com/office/drawing/2014/main" val="20002"/>
                    </a:ext>
                  </a:extLst>
                </a:gridCol>
                <a:gridCol w="509392">
                  <a:extLst>
                    <a:ext uri="{9D8B030D-6E8A-4147-A177-3AD203B41FA5}">
                      <a16:colId xmlns:a16="http://schemas.microsoft.com/office/drawing/2014/main" val="20003"/>
                    </a:ext>
                  </a:extLst>
                </a:gridCol>
                <a:gridCol w="542795">
                  <a:extLst>
                    <a:ext uri="{9D8B030D-6E8A-4147-A177-3AD203B41FA5}">
                      <a16:colId xmlns:a16="http://schemas.microsoft.com/office/drawing/2014/main" val="20004"/>
                    </a:ext>
                  </a:extLst>
                </a:gridCol>
                <a:gridCol w="630408">
                  <a:extLst>
                    <a:ext uri="{9D8B030D-6E8A-4147-A177-3AD203B41FA5}">
                      <a16:colId xmlns:a16="http://schemas.microsoft.com/office/drawing/2014/main" val="20005"/>
                    </a:ext>
                  </a:extLst>
                </a:gridCol>
                <a:gridCol w="518478">
                  <a:extLst>
                    <a:ext uri="{9D8B030D-6E8A-4147-A177-3AD203B41FA5}">
                      <a16:colId xmlns:a16="http://schemas.microsoft.com/office/drawing/2014/main" val="20006"/>
                    </a:ext>
                  </a:extLst>
                </a:gridCol>
                <a:gridCol w="543723">
                  <a:extLst>
                    <a:ext uri="{9D8B030D-6E8A-4147-A177-3AD203B41FA5}">
                      <a16:colId xmlns:a16="http://schemas.microsoft.com/office/drawing/2014/main" val="20007"/>
                    </a:ext>
                  </a:extLst>
                </a:gridCol>
                <a:gridCol w="641105">
                  <a:extLst>
                    <a:ext uri="{9D8B030D-6E8A-4147-A177-3AD203B41FA5}">
                      <a16:colId xmlns:a16="http://schemas.microsoft.com/office/drawing/2014/main" val="20008"/>
                    </a:ext>
                  </a:extLst>
                </a:gridCol>
                <a:gridCol w="608644">
                  <a:extLst>
                    <a:ext uri="{9D8B030D-6E8A-4147-A177-3AD203B41FA5}">
                      <a16:colId xmlns:a16="http://schemas.microsoft.com/office/drawing/2014/main" val="20009"/>
                    </a:ext>
                  </a:extLst>
                </a:gridCol>
                <a:gridCol w="592413">
                  <a:extLst>
                    <a:ext uri="{9D8B030D-6E8A-4147-A177-3AD203B41FA5}">
                      <a16:colId xmlns:a16="http://schemas.microsoft.com/office/drawing/2014/main" val="20010"/>
                    </a:ext>
                  </a:extLst>
                </a:gridCol>
                <a:gridCol w="624875">
                  <a:extLst>
                    <a:ext uri="{9D8B030D-6E8A-4147-A177-3AD203B41FA5}">
                      <a16:colId xmlns:a16="http://schemas.microsoft.com/office/drawing/2014/main" val="20011"/>
                    </a:ext>
                  </a:extLst>
                </a:gridCol>
                <a:gridCol w="543723">
                  <a:extLst>
                    <a:ext uri="{9D8B030D-6E8A-4147-A177-3AD203B41FA5}">
                      <a16:colId xmlns:a16="http://schemas.microsoft.com/office/drawing/2014/main" val="20012"/>
                    </a:ext>
                  </a:extLst>
                </a:gridCol>
                <a:gridCol w="559952">
                  <a:extLst>
                    <a:ext uri="{9D8B030D-6E8A-4147-A177-3AD203B41FA5}">
                      <a16:colId xmlns:a16="http://schemas.microsoft.com/office/drawing/2014/main" val="20013"/>
                    </a:ext>
                  </a:extLst>
                </a:gridCol>
                <a:gridCol w="608643">
                  <a:extLst>
                    <a:ext uri="{9D8B030D-6E8A-4147-A177-3AD203B41FA5}">
                      <a16:colId xmlns:a16="http://schemas.microsoft.com/office/drawing/2014/main" val="20014"/>
                    </a:ext>
                  </a:extLst>
                </a:gridCol>
                <a:gridCol w="665451">
                  <a:extLst>
                    <a:ext uri="{9D8B030D-6E8A-4147-A177-3AD203B41FA5}">
                      <a16:colId xmlns:a16="http://schemas.microsoft.com/office/drawing/2014/main" val="20015"/>
                    </a:ext>
                  </a:extLst>
                </a:gridCol>
                <a:gridCol w="1078688">
                  <a:extLst>
                    <a:ext uri="{9D8B030D-6E8A-4147-A177-3AD203B41FA5}">
                      <a16:colId xmlns:a16="http://schemas.microsoft.com/office/drawing/2014/main" val="20016"/>
                    </a:ext>
                  </a:extLst>
                </a:gridCol>
              </a:tblGrid>
              <a:tr h="364836">
                <a:tc rowSpan="2" gridSpan="2">
                  <a:txBody>
                    <a:bodyPr/>
                    <a:lstStyle/>
                    <a:p>
                      <a:pPr algn="ctr"/>
                      <a:r>
                        <a:rPr lang="en-US" sz="1200" b="1" dirty="0" err="1">
                          <a:solidFill>
                            <a:schemeClr val="tx1"/>
                          </a:solidFill>
                          <a:latin typeface="Times New Roman" panose="02020603050405020304" pitchFamily="18" charset="0"/>
                          <a:cs typeface="Times New Roman" panose="02020603050405020304" pitchFamily="18" charset="0"/>
                        </a:rPr>
                        <a:t>Đội</a:t>
                      </a:r>
                      <a:r>
                        <a:rPr lang="en-US" sz="1200" b="1" baseline="0" dirty="0">
                          <a:solidFill>
                            <a:schemeClr val="tx1"/>
                          </a:solidFill>
                          <a:latin typeface="Times New Roman" panose="02020603050405020304" pitchFamily="18" charset="0"/>
                          <a:cs typeface="Times New Roman" panose="02020603050405020304" pitchFamily="18" charset="0"/>
                        </a:rPr>
                        <a:t> bay</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ctr"/>
                      <a:endParaRPr lang="en-US" sz="1600" dirty="0"/>
                    </a:p>
                  </a:txBody>
                  <a:tcPr anchor="ctr"/>
                </a:tc>
                <a:tc rowSpan="2">
                  <a:txBody>
                    <a:bodyPr/>
                    <a:lstStyle/>
                    <a:p>
                      <a:pPr algn="ctr"/>
                      <a:r>
                        <a:rPr lang="en-US" sz="1200" b="1" dirty="0">
                          <a:solidFill>
                            <a:schemeClr val="tx1"/>
                          </a:solidFill>
                          <a:latin typeface="Times New Roman" panose="02020603050405020304" pitchFamily="18" charset="0"/>
                          <a:cs typeface="Times New Roman" panose="02020603050405020304" pitchFamily="18" charset="0"/>
                        </a:rPr>
                        <a:t>MT</a:t>
                      </a:r>
                    </a:p>
                    <a:p>
                      <a:pPr algn="ctr"/>
                      <a:r>
                        <a:rPr lang="en-US" sz="1200" b="1">
                          <a:solidFill>
                            <a:schemeClr val="tx1"/>
                          </a:solidFill>
                          <a:latin typeface="Times New Roman" panose="02020603050405020304" pitchFamily="18" charset="0"/>
                          <a:cs typeface="Times New Roman" panose="02020603050405020304" pitchFamily="18" charset="0"/>
                        </a:rPr>
                        <a:t>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algn="ctr"/>
                      <a:r>
                        <a:rPr lang="en-US" sz="1300" b="1" dirty="0" err="1">
                          <a:solidFill>
                            <a:schemeClr val="tx1"/>
                          </a:solidFill>
                          <a:latin typeface="Times New Roman" panose="02020603050405020304" pitchFamily="18" charset="0"/>
                          <a:cs typeface="Times New Roman" panose="02020603050405020304" pitchFamily="18" charset="0"/>
                        </a:rPr>
                        <a:t>Giá</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trị</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thực</a:t>
                      </a:r>
                      <a:r>
                        <a:rPr lang="en-US" sz="1300" b="1" baseline="0" dirty="0">
                          <a:solidFill>
                            <a:schemeClr val="tx1"/>
                          </a:solidFill>
                          <a:latin typeface="Times New Roman" panose="02020603050405020304" pitchFamily="18" charset="0"/>
                          <a:cs typeface="Times New Roman" panose="02020603050405020304" pitchFamily="18" charset="0"/>
                        </a:rPr>
                        <a:t> </a:t>
                      </a:r>
                      <a:r>
                        <a:rPr lang="en-US" sz="1300" b="1" baseline="0" dirty="0" err="1">
                          <a:solidFill>
                            <a:schemeClr val="tx1"/>
                          </a:solidFill>
                          <a:latin typeface="Times New Roman" panose="02020603050405020304" pitchFamily="18" charset="0"/>
                          <a:cs typeface="Times New Roman" panose="02020603050405020304" pitchFamily="18" charset="0"/>
                        </a:rPr>
                        <a:t>hiện</a:t>
                      </a:r>
                      <a:r>
                        <a:rPr lang="en-US" sz="1300" b="1" baseline="0" dirty="0">
                          <a:solidFill>
                            <a:schemeClr val="tx1"/>
                          </a:solidFill>
                          <a:latin typeface="Times New Roman" panose="02020603050405020304" pitchFamily="18" charset="0"/>
                          <a:cs typeface="Times New Roman" panose="02020603050405020304" pitchFamily="18" charset="0"/>
                        </a:rPr>
                        <a:t>  (%)</a:t>
                      </a:r>
                      <a:endParaRPr lang="en-US" sz="13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hMerge="1">
                  <a:txBody>
                    <a:bodyPr/>
                    <a:lstStyle/>
                    <a:p>
                      <a:pPr algn="ctr"/>
                      <a:endParaRPr lang="en-US" sz="1600" dirty="0"/>
                    </a:p>
                  </a:txBody>
                  <a:tcPr/>
                </a:tc>
                <a:tc rowSpan="2">
                  <a:txBody>
                    <a:bodyPr/>
                    <a:lstStyle/>
                    <a:p>
                      <a:pPr algn="ctr"/>
                      <a:r>
                        <a:rPr lang="en-US" sz="1200" b="1">
                          <a:solidFill>
                            <a:schemeClr val="tx1"/>
                          </a:solidFill>
                          <a:latin typeface="Times New Roman" panose="02020603050405020304" pitchFamily="18" charset="0"/>
                          <a:cs typeface="Times New Roman" panose="02020603050405020304" pitchFamily="18" charset="0"/>
                        </a:rPr>
                        <a:t>MT</a:t>
                      </a:r>
                      <a:endParaRPr lang="en-US" sz="1200" b="1" dirty="0">
                        <a:solidFill>
                          <a:schemeClr val="tx1"/>
                        </a:solidFill>
                        <a:latin typeface="Times New Roman" panose="02020603050405020304" pitchFamily="18" charset="0"/>
                        <a:cs typeface="Times New Roman" panose="02020603050405020304" pitchFamily="18" charset="0"/>
                      </a:endParaRPr>
                    </a:p>
                    <a:p>
                      <a:pPr algn="ctr"/>
                      <a:r>
                        <a:rPr lang="en-US" sz="1200" b="1">
                          <a:solidFill>
                            <a:schemeClr val="tx1"/>
                          </a:solidFill>
                          <a:latin typeface="Times New Roman" panose="02020603050405020304" pitchFamily="18" charset="0"/>
                          <a:cs typeface="Times New Roman" panose="02020603050405020304" pitchFamily="18" charset="0"/>
                        </a:rPr>
                        <a:t>2024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1200" b="1" err="1">
                          <a:solidFill>
                            <a:schemeClr val="tx1"/>
                          </a:solidFill>
                          <a:latin typeface="Times New Roman" panose="02020603050405020304" pitchFamily="18" charset="0"/>
                          <a:cs typeface="Times New Roman" panose="02020603050405020304" pitchFamily="18" charset="0"/>
                        </a:rPr>
                        <a:t>Đánh</a:t>
                      </a:r>
                      <a:r>
                        <a:rPr lang="en-US" sz="1200" b="1" baseline="0">
                          <a:solidFill>
                            <a:schemeClr val="tx1"/>
                          </a:solidFill>
                          <a:latin typeface="Times New Roman" panose="02020603050405020304" pitchFamily="18" charset="0"/>
                          <a:cs typeface="Times New Roman" panose="02020603050405020304" pitchFamily="18" charset="0"/>
                        </a:rPr>
                        <a:t> giá 2025</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1103">
                <a:tc gridSpan="2" vMerge="1">
                  <a:txBody>
                    <a:bodyPr/>
                    <a:lstStyle/>
                    <a:p>
                      <a:endParaRPr lang="en-US" dirty="0"/>
                    </a:p>
                  </a:txBody>
                  <a:tcPr/>
                </a:tc>
                <a:tc hMerge="1" vMerge="1">
                  <a:txBody>
                    <a:bodyPr/>
                    <a:lstStyle/>
                    <a:p>
                      <a:endParaRPr lang="en-US" dirty="0"/>
                    </a:p>
                  </a:txBody>
                  <a:tcPr/>
                </a:tc>
                <a:tc vMerge="1">
                  <a:txBody>
                    <a:bodyPr/>
                    <a:lstStyle/>
                    <a:p>
                      <a:endParaRPr lang="en-US" dirty="0"/>
                    </a:p>
                  </a:txBody>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Jan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Feb</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Apr</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May</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Jul</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Aug</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Sep</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Oct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Nov</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1" dirty="0">
                          <a:solidFill>
                            <a:schemeClr val="tx1"/>
                          </a:solidFill>
                          <a:latin typeface="Times New Roman" panose="02020603050405020304" pitchFamily="18" charset="0"/>
                          <a:cs typeface="Times New Roman" panose="02020603050405020304" pitchFamily="18" charset="0"/>
                        </a:rPr>
                        <a:t>Dec</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001"/>
                  </a:ext>
                </a:extLst>
              </a:tr>
              <a:tr h="436498">
                <a:tc gridSpan="2">
                  <a:txBody>
                    <a:bodyPr/>
                    <a:lstStyle/>
                    <a:p>
                      <a:r>
                        <a:rPr lang="en-US" sz="1200" b="1">
                          <a:latin typeface="Times New Roman" panose="02020603050405020304" pitchFamily="18" charset="0"/>
                          <a:cs typeface="Times New Roman" panose="02020603050405020304" pitchFamily="18" charset="0"/>
                        </a:rPr>
                        <a:t>B787</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89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93</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36498">
                <a:tc gridSpan="2">
                  <a:txBody>
                    <a:bodyPr/>
                    <a:lstStyle/>
                    <a:p>
                      <a:pPr marL="0" algn="l" defTabSz="914400" rtl="0" eaLnBrk="1" latinLnBrk="0" hangingPunct="1"/>
                      <a:r>
                        <a:rPr lang="en-US" sz="1200" b="1">
                          <a:latin typeface="Times New Roman" panose="02020603050405020304" pitchFamily="18" charset="0"/>
                          <a:cs typeface="Times New Roman" panose="02020603050405020304" pitchFamily="18" charset="0"/>
                        </a:rPr>
                        <a:t>A350</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98</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100</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96</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42952">
                <a:tc>
                  <a:txBody>
                    <a:bodyPr/>
                    <a:lstStyle/>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QAR</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smtClean="0">
                          <a:solidFill>
                            <a:srgbClr val="00B050"/>
                          </a:solidFill>
                          <a:effectLst/>
                          <a:latin typeface="Times New Roman" panose="02020603050405020304" pitchFamily="18" charset="0"/>
                          <a:ea typeface="Calibri"/>
                          <a:cs typeface="Times New Roman" panose="02020603050405020304" pitchFamily="18" charset="0"/>
                        </a:rPr>
                        <a:t>90%</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91</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90</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90%</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2560689"/>
                  </a:ext>
                </a:extLst>
              </a:tr>
              <a:tr h="542952">
                <a:tc>
                  <a:txBody>
                    <a:bodyPr/>
                    <a:lstStyle/>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R="0" algn="l" rtl="0">
                        <a:lnSpc>
                          <a:spcPct val="100000"/>
                        </a:lnSpc>
                        <a:spcBef>
                          <a:spcPts val="0"/>
                        </a:spcBef>
                        <a:spcAft>
                          <a:spcPts val="0"/>
                        </a:spcAft>
                        <a:buClr>
                          <a:srgbClr val="000000"/>
                        </a:buClr>
                        <a:buFont typeface="Arial"/>
                      </a:pPr>
                      <a:r>
                        <a:rPr lang="en-US" sz="1200" b="1" i="0" u="none" strike="noStrike" cap="none" smtClean="0">
                          <a:solidFill>
                            <a:schemeClr val="dk1"/>
                          </a:solidFill>
                          <a:latin typeface="Times New Roman" panose="02020603050405020304" pitchFamily="18" charset="0"/>
                          <a:ea typeface="+mn-ea"/>
                          <a:cs typeface="Times New Roman" panose="02020603050405020304" pitchFamily="18" charset="0"/>
                          <a:sym typeface="Arial"/>
                        </a:rPr>
                        <a:t>WQAR</a:t>
                      </a:r>
                      <a:endParaRPr lang="en-US" sz="1200" b="1"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smtClean="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96</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Không 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78026">
                <a:tc>
                  <a:txBody>
                    <a:bodyPr/>
                    <a:lstStyle/>
                    <a:p>
                      <a:r>
                        <a:rPr lang="en-US" sz="1300" b="1" smtClean="0">
                          <a:latin typeface="Times New Roman" panose="02020603050405020304" pitchFamily="18" charset="0"/>
                          <a:cs typeface="Times New Roman" panose="02020603050405020304" pitchFamily="18" charset="0"/>
                        </a:rPr>
                        <a:t>A320</a:t>
                      </a:r>
                    </a:p>
                    <a:p>
                      <a:r>
                        <a:rPr lang="en-US" sz="1300" b="1" smtClean="0">
                          <a:latin typeface="Times New Roman" panose="02020603050405020304" pitchFamily="18" charset="0"/>
                          <a:cs typeface="Times New Roman" panose="02020603050405020304" pitchFamily="18" charset="0"/>
                        </a:rPr>
                        <a:t>A321</a:t>
                      </a:r>
                      <a:endParaRPr lang="en-US" sz="1300" b="1"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200" b="1">
                          <a:latin typeface="Times New Roman" panose="02020603050405020304" pitchFamily="18" charset="0"/>
                          <a:cs typeface="Times New Roman" panose="02020603050405020304" pitchFamily="18" charset="0"/>
                        </a:rPr>
                        <a:t>NEO</a:t>
                      </a:r>
                      <a:endParaRPr lang="en-US" sz="1200" b="1" dirty="0">
                        <a:solidFill>
                          <a:srgbClr val="0070C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93</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92</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94</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36498">
                <a:tc gridSpan="2">
                  <a:txBody>
                    <a:bodyPr/>
                    <a:lstStyle/>
                    <a:p>
                      <a:r>
                        <a:rPr lang="en-US" sz="1200" b="1">
                          <a:latin typeface="Times New Roman" panose="02020603050405020304" pitchFamily="18" charset="0"/>
                          <a:cs typeface="Times New Roman" panose="02020603050405020304" pitchFamily="18" charset="0"/>
                        </a:rPr>
                        <a:t>ATR</a:t>
                      </a:r>
                      <a:endParaRPr lang="en-US" sz="1200" b="1" kern="1200" dirty="0">
                        <a:solidFill>
                          <a:srgbClr val="0070C0"/>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font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200" b="1" kern="1200">
                          <a:solidFill>
                            <a:srgbClr val="000000"/>
                          </a:solidFill>
                          <a:effectLst/>
                          <a:latin typeface="Times New Roman" panose="02020603050405020304" pitchFamily="18" charset="0"/>
                          <a:ea typeface="Calibri"/>
                          <a:cs typeface="Times New Roman" panose="02020603050405020304" pitchFamily="18" charset="0"/>
                        </a:rPr>
                        <a:t>99</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smtClean="0">
                          <a:solidFill>
                            <a:schemeClr val="tx1"/>
                          </a:solidFill>
                          <a:latin typeface="Times New Roman" panose="02020603050405020304" pitchFamily="18" charset="0"/>
                          <a:cs typeface="Times New Roman" panose="02020603050405020304" pitchFamily="18" charset="0"/>
                        </a:rPr>
                        <a:t>99</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r>
                        <a:rPr lang="en-US" sz="1200" b="1" kern="1200" smtClean="0">
                          <a:solidFill>
                            <a:schemeClr val="tx1"/>
                          </a:solidFill>
                          <a:latin typeface="Times New Roman" panose="02020603050405020304" pitchFamily="18" charset="0"/>
                          <a:ea typeface="+mn-ea"/>
                          <a:cs typeface="Times New Roman" panose="02020603050405020304" pitchFamily="18" charset="0"/>
                        </a:rPr>
                        <a:t>95</a:t>
                      </a: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95%</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36498">
                <a:tc gridSpan="2">
                  <a:txBody>
                    <a:bodyPr/>
                    <a:lstStyle/>
                    <a:p>
                      <a:r>
                        <a:rPr lang="en-US" sz="1200" b="1" i="1">
                          <a:latin typeface="Times New Roman" panose="02020603050405020304" pitchFamily="18" charset="0"/>
                          <a:cs typeface="Times New Roman" panose="02020603050405020304" pitchFamily="18" charset="0"/>
                        </a:rPr>
                        <a:t>Total</a:t>
                      </a:r>
                      <a:endParaRPr lang="en-US" sz="1200" b="1" i="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a:txBody>
                    <a:bodyPr/>
                    <a:lstStyle/>
                    <a:p>
                      <a:pPr algn="ctr"/>
                      <a:r>
                        <a:rPr lang="en-US" sz="1200" b="1" kern="1200">
                          <a:solidFill>
                            <a:srgbClr val="00B05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B05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a:solidFill>
                            <a:schemeClr val="tx1"/>
                          </a:solidFill>
                          <a:latin typeface="Times New Roman" panose="02020603050405020304" pitchFamily="18" charset="0"/>
                          <a:cs typeface="Times New Roman" panose="02020603050405020304" pitchFamily="18" charset="0"/>
                        </a:rPr>
                        <a:t>94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15000"/>
                        </a:lnSpc>
                        <a:spcAft>
                          <a:spcPts val="0"/>
                        </a:spcAft>
                      </a:pPr>
                      <a:r>
                        <a:rPr lang="en-US" sz="1200" b="1" kern="1200" smtClean="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algn="ctr" defTabSz="914400" rtl="0" eaLnBrk="1" latinLnBrk="0" hangingPunct="1">
                        <a:lnSpc>
                          <a:spcPct val="115000"/>
                        </a:lnSpc>
                        <a:spcAft>
                          <a:spcPts val="0"/>
                        </a:spcAft>
                      </a:pPr>
                      <a:r>
                        <a:rPr lang="en-US" sz="1200" b="1" kern="1200" smtClean="0">
                          <a:solidFill>
                            <a:schemeClr val="tx1"/>
                          </a:solidFill>
                          <a:effectLst/>
                          <a:latin typeface="Times New Roman" panose="02020603050405020304" pitchFamily="18" charset="0"/>
                          <a:ea typeface="Calibri"/>
                          <a:cs typeface="Times New Roman" panose="02020603050405020304" pitchFamily="18" charset="0"/>
                        </a:rPr>
                        <a:t>94</a:t>
                      </a: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sz="1200" b="1" smtClean="0">
                          <a:solidFill>
                            <a:schemeClr val="tx1"/>
                          </a:solidFill>
                          <a:latin typeface="Times New Roman" panose="02020603050405020304" pitchFamily="18" charset="0"/>
                          <a:cs typeface="Times New Roman" panose="02020603050405020304" pitchFamily="18" charset="0"/>
                        </a:rPr>
                        <a:t>94</a:t>
                      </a:r>
                      <a:endParaRPr lang="en-US" sz="1200" b="1"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b="1" kern="1200">
                          <a:solidFill>
                            <a:srgbClr val="000000"/>
                          </a:solidFill>
                          <a:effectLst/>
                          <a:latin typeface="Times New Roman" panose="02020603050405020304" pitchFamily="18" charset="0"/>
                          <a:ea typeface="Calibri"/>
                          <a:cs typeface="Times New Roman" panose="02020603050405020304" pitchFamily="18" charset="0"/>
                        </a:rPr>
                        <a:t>94%</a:t>
                      </a:r>
                      <a:endParaRPr lang="en-US" sz="1200" b="1" kern="1200" dirty="0">
                        <a:solidFill>
                          <a:srgbClr val="000000"/>
                        </a:solidFill>
                        <a:effectLst/>
                        <a:latin typeface="Times New Roman" panose="02020603050405020304" pitchFamily="18" charset="0"/>
                        <a:ea typeface="Calibri"/>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40336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7 - TỶ LỆ VỤ VIỆC THIẾT BỊ R</a:t>
            </a:r>
            <a:r>
              <a:rPr kumimoji="0" lang="vi-VN"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MÁY BAY (PDA)</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880534" y="5183709"/>
            <a:ext cx="10743619"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thiết bị r</a:t>
            </a:r>
            <a:r>
              <a:rPr kumimoji="0" lang="vi-VN"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ơ</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 khỏi tàu bay,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vụ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01 vụ so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với 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0.00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vụ/10000CB,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bắng số điểm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so với tháng trước và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Đạt mục tiêu năm 2025 là 1.69 vụ/10000CB.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03 vụ việc,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tương ứng giảm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0.66,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3" name="Chart 12">
            <a:extLst>
              <a:ext uri="{FF2B5EF4-FFF2-40B4-BE49-F238E27FC236}">
                <a16:creationId xmlns:a16="http://schemas.microsoft.com/office/drawing/2014/main" id="{27C5D5AD-8D42-4015-9AB5-CEAD88A7C484}"/>
              </a:ext>
            </a:extLst>
          </p:cNvPr>
          <p:cNvGraphicFramePr>
            <a:graphicFrameLocks/>
          </p:cNvGraphicFramePr>
          <p:nvPr>
            <p:extLst>
              <p:ext uri="{D42A27DB-BD31-4B8C-83A1-F6EECF244321}">
                <p14:modId xmlns:p14="http://schemas.microsoft.com/office/powerpoint/2010/main" val="1587602856"/>
              </p:ext>
            </p:extLst>
          </p:nvPr>
        </p:nvGraphicFramePr>
        <p:xfrm>
          <a:off x="985380" y="1605545"/>
          <a:ext cx="8092117" cy="338951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EBE1F88D-F545-4B51-B0C1-D6E2B55435D3}"/>
              </a:ext>
            </a:extLst>
          </p:cNvPr>
          <p:cNvGraphicFramePr>
            <a:graphicFrameLocks/>
          </p:cNvGraphicFramePr>
          <p:nvPr>
            <p:extLst/>
          </p:nvPr>
        </p:nvGraphicFramePr>
        <p:xfrm>
          <a:off x="9285316" y="1605545"/>
          <a:ext cx="2157290" cy="338951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744014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985381" y="301289"/>
            <a:ext cx="10555264"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001892"/>
            <a:ext cx="10638772"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8 - TỶ LỆ VỤ VIỆC FOD</a:t>
            </a:r>
            <a:endPar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85380" y="5172763"/>
            <a:ext cx="10439018" cy="1569660"/>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FOD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chim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va)</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fr-FR"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06 </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so với tháng trước và </a:t>
            </a:r>
            <a:r>
              <a:rPr kumimoji="0" lang="fr-FR"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04 </a:t>
            </a:r>
            <a:r>
              <a:rPr kumimoji="0" lang="fr-FR"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so với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cùng kỳ 2024. </a:t>
            </a: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7.99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vụ/10000CB,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5.32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tháng trước và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tăng 3.13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2024.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Không đạt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mục tiêu năm 2025 là 7,70 vụ/10000CB. </a:t>
            </a:r>
            <a:endPar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tháng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đầu năm 2025 có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19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vụ việc,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bằng số vụ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tương ứng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giảm 4.17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điểm so với cùng kỳ năm 2024. KPI năm 2025 là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4.18,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đạt mục tiêu.</a:t>
            </a:r>
          </a:p>
        </p:txBody>
      </p:sp>
      <p:graphicFrame>
        <p:nvGraphicFramePr>
          <p:cNvPr id="12" name="Chart 11">
            <a:extLst>
              <a:ext uri="{FF2B5EF4-FFF2-40B4-BE49-F238E27FC236}">
                <a16:creationId xmlns:a16="http://schemas.microsoft.com/office/drawing/2014/main" id="{D3F15087-8C48-45D9-A684-D1D86CBD9C67}"/>
              </a:ext>
            </a:extLst>
          </p:cNvPr>
          <p:cNvGraphicFramePr>
            <a:graphicFrameLocks/>
          </p:cNvGraphicFramePr>
          <p:nvPr>
            <p:extLst>
              <p:ext uri="{D42A27DB-BD31-4B8C-83A1-F6EECF244321}">
                <p14:modId xmlns:p14="http://schemas.microsoft.com/office/powerpoint/2010/main" val="3635621064"/>
              </p:ext>
            </p:extLst>
          </p:nvPr>
        </p:nvGraphicFramePr>
        <p:xfrm>
          <a:off x="1060754" y="1560516"/>
          <a:ext cx="8008431" cy="34332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EBE1F88D-F545-4B51-B0C1-D6E2B55435D3}"/>
              </a:ext>
            </a:extLst>
          </p:cNvPr>
          <p:cNvGraphicFramePr>
            <a:graphicFrameLocks/>
          </p:cNvGraphicFramePr>
          <p:nvPr>
            <p:extLst/>
          </p:nvPr>
        </p:nvGraphicFramePr>
        <p:xfrm>
          <a:off x="9227127" y="1560515"/>
          <a:ext cx="2197270" cy="341431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13927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1133814" y="487937"/>
            <a:ext cx="10401840" cy="457197"/>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FOD </a:t>
            </a:r>
            <a:r>
              <a:rPr kumimoji="0" lang="en-US" altLang="en-US" sz="2133"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tháng 04/ </a:t>
            </a: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2025</a:t>
            </a:r>
            <a:endParaRPr kumimoji="0" lang="en-US" sz="2133"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206569" y="1145470"/>
          <a:ext cx="10401841" cy="5334553"/>
        </p:xfrm>
        <a:graphic>
          <a:graphicData uri="http://schemas.openxmlformats.org/drawingml/2006/table">
            <a:tbl>
              <a:tblPr/>
              <a:tblGrid>
                <a:gridCol w="343472">
                  <a:extLst>
                    <a:ext uri="{9D8B030D-6E8A-4147-A177-3AD203B41FA5}">
                      <a16:colId xmlns:a16="http://schemas.microsoft.com/office/drawing/2014/main" val="1214785010"/>
                    </a:ext>
                  </a:extLst>
                </a:gridCol>
                <a:gridCol w="421048">
                  <a:extLst>
                    <a:ext uri="{9D8B030D-6E8A-4147-A177-3AD203B41FA5}">
                      <a16:colId xmlns:a16="http://schemas.microsoft.com/office/drawing/2014/main" val="465361344"/>
                    </a:ext>
                  </a:extLst>
                </a:gridCol>
                <a:gridCol w="460347">
                  <a:extLst>
                    <a:ext uri="{9D8B030D-6E8A-4147-A177-3AD203B41FA5}">
                      <a16:colId xmlns:a16="http://schemas.microsoft.com/office/drawing/2014/main" val="2775212924"/>
                    </a:ext>
                  </a:extLst>
                </a:gridCol>
                <a:gridCol w="538941">
                  <a:extLst>
                    <a:ext uri="{9D8B030D-6E8A-4147-A177-3AD203B41FA5}">
                      <a16:colId xmlns:a16="http://schemas.microsoft.com/office/drawing/2014/main" val="1629208302"/>
                    </a:ext>
                  </a:extLst>
                </a:gridCol>
                <a:gridCol w="412713">
                  <a:extLst>
                    <a:ext uri="{9D8B030D-6E8A-4147-A177-3AD203B41FA5}">
                      <a16:colId xmlns:a16="http://schemas.microsoft.com/office/drawing/2014/main" val="534488100"/>
                    </a:ext>
                  </a:extLst>
                </a:gridCol>
                <a:gridCol w="636931">
                  <a:extLst>
                    <a:ext uri="{9D8B030D-6E8A-4147-A177-3AD203B41FA5}">
                      <a16:colId xmlns:a16="http://schemas.microsoft.com/office/drawing/2014/main" val="2392973619"/>
                    </a:ext>
                  </a:extLst>
                </a:gridCol>
                <a:gridCol w="677760">
                  <a:extLst>
                    <a:ext uri="{9D8B030D-6E8A-4147-A177-3AD203B41FA5}">
                      <a16:colId xmlns:a16="http://schemas.microsoft.com/office/drawing/2014/main" val="1661087426"/>
                    </a:ext>
                  </a:extLst>
                </a:gridCol>
                <a:gridCol w="2800861">
                  <a:extLst>
                    <a:ext uri="{9D8B030D-6E8A-4147-A177-3AD203B41FA5}">
                      <a16:colId xmlns:a16="http://schemas.microsoft.com/office/drawing/2014/main" val="2980937143"/>
                    </a:ext>
                  </a:extLst>
                </a:gridCol>
                <a:gridCol w="3258145">
                  <a:extLst>
                    <a:ext uri="{9D8B030D-6E8A-4147-A177-3AD203B41FA5}">
                      <a16:colId xmlns:a16="http://schemas.microsoft.com/office/drawing/2014/main" val="654224780"/>
                    </a:ext>
                  </a:extLst>
                </a:gridCol>
                <a:gridCol w="851623">
                  <a:extLst>
                    <a:ext uri="{9D8B030D-6E8A-4147-A177-3AD203B41FA5}">
                      <a16:colId xmlns:a16="http://schemas.microsoft.com/office/drawing/2014/main" val="3916574977"/>
                    </a:ext>
                  </a:extLst>
                </a:gridCol>
              </a:tblGrid>
              <a:tr h="371335">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ID</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CAT.</a:t>
                      </a:r>
                    </a:p>
                  </a:txBody>
                  <a:tcPr marL="10219" marR="10219" marT="102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19762196"/>
                  </a:ext>
                </a:extLst>
              </a:tr>
              <a:tr h="427031">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1</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28/04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VN600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BKK-SGN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BKK-SGN VN600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1100" b="0" i="0" u="none" strike="noStrike">
                          <a:solidFill>
                            <a:srgbClr val="000000"/>
                          </a:solidFill>
                          <a:effectLst/>
                          <a:latin typeface="Times New Roman" panose="02020603050405020304" pitchFamily="18" charset="0"/>
                          <a:cs typeface="Times New Roman" panose="02020603050405020304" pitchFamily="18" charset="0"/>
                        </a:rPr>
                        <a:t>REPORT ON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TECHLOG: </a:t>
                      </a:r>
                      <a:r>
                        <a:rPr lang="en-US" sz="1100" b="0" i="0" u="none" strike="noStrike">
                          <a:solidFill>
                            <a:srgbClr val="000000"/>
                          </a:solidFill>
                          <a:effectLst/>
                          <a:latin typeface="Times New Roman" panose="02020603050405020304" pitchFamily="18" charset="0"/>
                          <a:cs typeface="Times New Roman" panose="02020603050405020304" pitchFamily="18" charset="0"/>
                        </a:rPr>
                        <a:t>BIRD STRIKE ON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LEFT </a:t>
                      </a:r>
                      <a:r>
                        <a:rPr lang="en-US" sz="1100" b="0" i="0" u="none" strike="noStrike">
                          <a:solidFill>
                            <a:srgbClr val="000000"/>
                          </a:solidFill>
                          <a:effectLst/>
                          <a:latin typeface="Times New Roman" panose="02020603050405020304" pitchFamily="18" charset="0"/>
                          <a:cs typeface="Times New Roman" panose="02020603050405020304" pitchFamily="18" charset="0"/>
                        </a:rPr>
                        <a:t>WINDSHIELD AT PARKING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10</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DO </a:t>
                      </a:r>
                      <a:r>
                        <a:rPr lang="en-US" sz="1100" b="0" i="0" u="none" strike="noStrike">
                          <a:solidFill>
                            <a:srgbClr val="000000"/>
                          </a:solidFill>
                          <a:effectLst/>
                          <a:latin typeface="Times New Roman" panose="02020603050405020304" pitchFamily="18" charset="0"/>
                          <a:cs typeface="Times New Roman" panose="02020603050405020304" pitchFamily="18" charset="0"/>
                        </a:rPr>
                        <a:t>INSPECTION A/C AFTER BIRD STRIKE IAW AMM TASK 05-51-14-200-803-A. C/O CLEANED AND CHECK NO  DAMAGE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FOUND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38815"/>
                  </a:ext>
                </a:extLst>
              </a:tr>
              <a:tr h="55695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2</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CDG</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CDG-HAN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FOUND BIRD STRIKE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RADOME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en-US" sz="1100" b="0" i="0" u="none" strike="noStrike">
                          <a:solidFill>
                            <a:srgbClr val="000000"/>
                          </a:solidFill>
                          <a:effectLst/>
                          <a:latin typeface="Times New Roman" panose="02020603050405020304" pitchFamily="18" charset="0"/>
                          <a:cs typeface="Times New Roman" panose="02020603050405020304" pitchFamily="18" charset="0"/>
                        </a:rPr>
                        <a:t>NEW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RADOME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930229"/>
                  </a:ext>
                </a:extLst>
              </a:tr>
              <a:tr h="448887">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3</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A513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VN1824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PQC-SGN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CAPT </a:t>
                      </a:r>
                      <a:r>
                        <a:rPr lang="en-US" sz="1100" b="0" i="0" u="none" strike="noStrike">
                          <a:solidFill>
                            <a:srgbClr val="000000"/>
                          </a:solidFill>
                          <a:effectLst/>
                          <a:latin typeface="Times New Roman" panose="02020603050405020304" pitchFamily="18" charset="0"/>
                          <a:cs typeface="Times New Roman" panose="02020603050405020304" pitchFamily="18" charset="0"/>
                        </a:rPr>
                        <a:t>REPORT ON TECHLOG : BIRD STRIKE INTO CAPT WINDSHIELD</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DO </a:t>
                      </a:r>
                      <a:r>
                        <a:rPr lang="en-US" sz="1100" b="0" i="0" u="none" strike="noStrike">
                          <a:solidFill>
                            <a:srgbClr val="000000"/>
                          </a:solidFill>
                          <a:effectLst/>
                          <a:latin typeface="Times New Roman" panose="02020603050405020304" pitchFamily="18" charset="0"/>
                          <a:cs typeface="Times New Roman" panose="02020603050405020304" pitchFamily="18" charset="0"/>
                        </a:rPr>
                        <a:t>INSPECTION A/C AFTER BIRD STRIKE IAW AMM TASK 05-51-14-200-803-A. C/O CLEANED AND CHECK NO OTHER DAMAGE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FOUND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7960"/>
                  </a:ext>
                </a:extLst>
              </a:tr>
              <a:tr h="448888">
                <a:tc>
                  <a:txBody>
                    <a:bodyPr/>
                    <a:lstStyle/>
                    <a:p>
                      <a:pPr algn="ctr" fontAlgn="ctr"/>
                      <a:r>
                        <a:rPr lang="en-US" sz="11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11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A397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21/04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VN1269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VII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-SGN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FLT VN1269 VII-SGN, TERM CHECK FOUND BIRD STRIKE AT LH SLAT #3 OUT OF LIMIT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LxWxD </a:t>
                      </a:r>
                      <a:r>
                        <a:rPr lang="en-US" sz="1100" b="0" i="0" u="none" strike="noStrike">
                          <a:solidFill>
                            <a:srgbClr val="000000"/>
                          </a:solidFill>
                          <a:effectLst/>
                          <a:latin typeface="Times New Roman" panose="02020603050405020304" pitchFamily="18" charset="0"/>
                          <a:cs typeface="Times New Roman" panose="02020603050405020304" pitchFamily="18" charset="0"/>
                        </a:rPr>
                        <a:t>180x80x16mm</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REPLACED SLAT #3 (ROB FROM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A509)</a:t>
                      </a:r>
                      <a:r>
                        <a:rPr lang="en-US" sz="11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TEST 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723697"/>
                  </a:ext>
                </a:extLst>
              </a:tr>
              <a:tr h="621650">
                <a:tc>
                  <a:txBody>
                    <a:bodyPr/>
                    <a:lstStyle/>
                    <a:p>
                      <a:pPr algn="ctr" fontAlgn="ctr"/>
                      <a:r>
                        <a:rPr lang="en-US" sz="1100" b="0" i="0" u="none" strike="noStrike" smtClean="0">
                          <a:solidFill>
                            <a:schemeClr val="tx1"/>
                          </a:solidFill>
                          <a:effectLst/>
                          <a:latin typeface="Times New Roman" panose="02020603050405020304" pitchFamily="18" charset="0"/>
                          <a:cs typeface="Times New Roman" panose="02020603050405020304" pitchFamily="18" charset="0"/>
                        </a:rPr>
                        <a:t>5</a:t>
                      </a:r>
                      <a:endParaRPr lang="en-US" sz="11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A513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14/04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UIH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VN1623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HAN-UIH</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VN1623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FOUND </a:t>
                      </a:r>
                      <a:r>
                        <a:rPr lang="en-US" sz="1100" b="0" i="0" u="none" strike="noStrike">
                          <a:solidFill>
                            <a:srgbClr val="000000"/>
                          </a:solidFill>
                          <a:effectLst/>
                          <a:latin typeface="Times New Roman" panose="02020603050405020304" pitchFamily="18" charset="0"/>
                          <a:cs typeface="Times New Roman" panose="02020603050405020304" pitchFamily="18" charset="0"/>
                        </a:rPr>
                        <a:t>BIRD STRIKE ON ENG#1 AND DENT LIP SKINN SLAT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RPL </a:t>
                      </a:r>
                      <a:r>
                        <a:rPr lang="en-US" sz="1100" b="0" i="0" u="none" strike="noStrike">
                          <a:solidFill>
                            <a:srgbClr val="000000"/>
                          </a:solidFill>
                          <a:effectLst/>
                          <a:latin typeface="Times New Roman" panose="02020603050405020304" pitchFamily="18" charset="0"/>
                          <a:cs typeface="Times New Roman" panose="02020603050405020304" pitchFamily="18" charset="0"/>
                        </a:rPr>
                        <a:t>LH SLAT#1 IAW AMM27-84-03-000/400-001-A (FEB 2025).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 </a:t>
                      </a:r>
                      <a:r>
                        <a:rPr lang="en-US" sz="1100" b="0" i="0" u="none" strike="noStrike">
                          <a:solidFill>
                            <a:srgbClr val="000000"/>
                          </a:solidFill>
                          <a:effectLst/>
                          <a:latin typeface="Times New Roman" panose="02020603050405020304" pitchFamily="18" charset="0"/>
                          <a:cs typeface="Times New Roman" panose="02020603050405020304" pitchFamily="18" charset="0"/>
                        </a:rPr>
                        <a:t>RPLED ENG 1 INLET COWL IAW AMM71-61-10-000/400-801-A (FEB 2025).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 RPLED </a:t>
                      </a:r>
                      <a:r>
                        <a:rPr lang="en-US" sz="1100" b="0" i="0" u="none" strike="noStrike">
                          <a:solidFill>
                            <a:srgbClr val="000000"/>
                          </a:solidFill>
                          <a:effectLst/>
                          <a:latin typeface="Times New Roman" panose="02020603050405020304" pitchFamily="18" charset="0"/>
                          <a:cs typeface="Times New Roman" panose="02020603050405020304" pitchFamily="18" charset="0"/>
                        </a:rPr>
                        <a:t>1 FEGV ON ENG#1 IAW AMM72-21-12-000/400-801-A (FEB 2025</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a:solidFill>
                            <a:srgbClr val="000000"/>
                          </a:solidFill>
                          <a:effectLst/>
                          <a:latin typeface="Times New Roman" panose="02020603050405020304" pitchFamily="18" charset="0"/>
                          <a:cs typeface="Times New Roman" panose="02020603050405020304" pitchFamily="18" charset="0"/>
                        </a:rPr>
                        <a:t>SATIS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Bird strike</a:t>
                      </a:r>
                      <a:endParaRPr kumimoji="0" lang="en-US" sz="11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478706"/>
                  </a:ext>
                </a:extLst>
              </a:tr>
              <a:tr h="621650">
                <a:tc>
                  <a:txBody>
                    <a:bodyPr/>
                    <a:lstStyle/>
                    <a:p>
                      <a:pPr algn="ctr" fontAlgn="ctr"/>
                      <a:r>
                        <a:rPr lang="en-US" sz="11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100" b="0" i="0" u="none" strike="noStrike">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08/04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VN197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HAN-DAD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TERM CHECK FOUND BIRD STRIKE ON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ENG#2</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INSPECT I.A.W 05-51-14-200-803A AND AMM 72-00-00-200-010 (REV FEB 25) NO DAMAGE TO FUSELAGE AND ENGINE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ADD </a:t>
                      </a:r>
                      <a:r>
                        <a:rPr lang="en-US" sz="1100" b="0" i="0" u="none" strike="noStrike">
                          <a:solidFill>
                            <a:srgbClr val="000000"/>
                          </a:solidFill>
                          <a:effectLst/>
                          <a:latin typeface="Times New Roman" panose="02020603050405020304" pitchFamily="18" charset="0"/>
                          <a:cs typeface="Times New Roman" panose="02020603050405020304" pitchFamily="18" charset="0"/>
                        </a:rPr>
                        <a:t>B748: ENGINE 2 NEED TO BE CLEANED GAS PATH IS RAISED IAW AMM 72-00-00-200-010A, REV FEB 2025. DEADLINE: 27274FH&amp;#160;&lt;br /&gt;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ADD B749: ENGINE 2 NEED TO BORESCOPE LP COMP 1.5 AND 2.5; HP COMP STAGE 3 AND 6 IS RAISED IAW AMM 72-00-00-200-010A, REV FEB 2025.DEADLINE: 27259FH OR 19623 FC, WHICHEVER OCCUR FIRST&lt;br /&gt;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Bird strike</a:t>
                      </a:r>
                      <a:endParaRPr kumimoji="0" lang="en-US" sz="11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475073"/>
                  </a:ext>
                </a:extLst>
              </a:tr>
            </a:tbl>
          </a:graphicData>
        </a:graphic>
      </p:graphicFrame>
    </p:spTree>
    <p:extLst>
      <p:ext uri="{BB962C8B-B14F-4D97-AF65-F5344CB8AC3E}">
        <p14:creationId xmlns:p14="http://schemas.microsoft.com/office/powerpoint/2010/main" val="3016184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Content Placeholder 4"/>
          <p:cNvSpPr txBox="1">
            <a:spLocks/>
          </p:cNvSpPr>
          <p:nvPr/>
        </p:nvSpPr>
        <p:spPr>
          <a:xfrm>
            <a:off x="1146693" y="1096136"/>
            <a:ext cx="10401840" cy="457197"/>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1219170" rtl="0" eaLnBrk="1" fontAlgn="auto" latinLnBrk="0" hangingPunct="1">
              <a:lnSpc>
                <a:spcPct val="100000"/>
              </a:lnSpc>
              <a:spcBef>
                <a:spcPts val="0"/>
              </a:spcBef>
              <a:spcAft>
                <a:spcPts val="0"/>
              </a:spcAft>
              <a:buClr>
                <a:srgbClr val="000000"/>
              </a:buClr>
              <a:buSzTx/>
              <a:buFont typeface="Arial"/>
              <a:buNone/>
              <a:tabLst/>
              <a:defRPr/>
            </a:pP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Bảng tổng hợp sự kiện FOD </a:t>
            </a:r>
            <a:r>
              <a:rPr kumimoji="0" lang="en-US" altLang="en-US" sz="2133"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tháng 04/ </a:t>
            </a:r>
            <a:r>
              <a:rPr kumimoji="0" lang="en-US" altLang="en-US" sz="2133" b="1"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2025</a:t>
            </a:r>
            <a:endParaRPr kumimoji="0" lang="en-US" sz="2133" b="0" i="1"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graphicFrame>
        <p:nvGraphicFramePr>
          <p:cNvPr id="5" name="Table 4"/>
          <p:cNvGraphicFramePr>
            <a:graphicFrameLocks noGrp="1"/>
          </p:cNvGraphicFramePr>
          <p:nvPr>
            <p:extLst/>
          </p:nvPr>
        </p:nvGraphicFramePr>
        <p:xfrm>
          <a:off x="1260570" y="1728703"/>
          <a:ext cx="10401841" cy="2959018"/>
        </p:xfrm>
        <a:graphic>
          <a:graphicData uri="http://schemas.openxmlformats.org/drawingml/2006/table">
            <a:tbl>
              <a:tblPr/>
              <a:tblGrid>
                <a:gridCol w="343472">
                  <a:extLst>
                    <a:ext uri="{9D8B030D-6E8A-4147-A177-3AD203B41FA5}">
                      <a16:colId xmlns:a16="http://schemas.microsoft.com/office/drawing/2014/main" val="1214785010"/>
                    </a:ext>
                  </a:extLst>
                </a:gridCol>
                <a:gridCol w="421048">
                  <a:extLst>
                    <a:ext uri="{9D8B030D-6E8A-4147-A177-3AD203B41FA5}">
                      <a16:colId xmlns:a16="http://schemas.microsoft.com/office/drawing/2014/main" val="465361344"/>
                    </a:ext>
                  </a:extLst>
                </a:gridCol>
                <a:gridCol w="460347">
                  <a:extLst>
                    <a:ext uri="{9D8B030D-6E8A-4147-A177-3AD203B41FA5}">
                      <a16:colId xmlns:a16="http://schemas.microsoft.com/office/drawing/2014/main" val="2775212924"/>
                    </a:ext>
                  </a:extLst>
                </a:gridCol>
                <a:gridCol w="538941">
                  <a:extLst>
                    <a:ext uri="{9D8B030D-6E8A-4147-A177-3AD203B41FA5}">
                      <a16:colId xmlns:a16="http://schemas.microsoft.com/office/drawing/2014/main" val="1629208302"/>
                    </a:ext>
                  </a:extLst>
                </a:gridCol>
                <a:gridCol w="412713">
                  <a:extLst>
                    <a:ext uri="{9D8B030D-6E8A-4147-A177-3AD203B41FA5}">
                      <a16:colId xmlns:a16="http://schemas.microsoft.com/office/drawing/2014/main" val="534488100"/>
                    </a:ext>
                  </a:extLst>
                </a:gridCol>
                <a:gridCol w="636931">
                  <a:extLst>
                    <a:ext uri="{9D8B030D-6E8A-4147-A177-3AD203B41FA5}">
                      <a16:colId xmlns:a16="http://schemas.microsoft.com/office/drawing/2014/main" val="2392973619"/>
                    </a:ext>
                  </a:extLst>
                </a:gridCol>
                <a:gridCol w="677760">
                  <a:extLst>
                    <a:ext uri="{9D8B030D-6E8A-4147-A177-3AD203B41FA5}">
                      <a16:colId xmlns:a16="http://schemas.microsoft.com/office/drawing/2014/main" val="1661087426"/>
                    </a:ext>
                  </a:extLst>
                </a:gridCol>
                <a:gridCol w="2800861">
                  <a:extLst>
                    <a:ext uri="{9D8B030D-6E8A-4147-A177-3AD203B41FA5}">
                      <a16:colId xmlns:a16="http://schemas.microsoft.com/office/drawing/2014/main" val="2980937143"/>
                    </a:ext>
                  </a:extLst>
                </a:gridCol>
                <a:gridCol w="3258145">
                  <a:extLst>
                    <a:ext uri="{9D8B030D-6E8A-4147-A177-3AD203B41FA5}">
                      <a16:colId xmlns:a16="http://schemas.microsoft.com/office/drawing/2014/main" val="654224780"/>
                    </a:ext>
                  </a:extLst>
                </a:gridCol>
                <a:gridCol w="851623">
                  <a:extLst>
                    <a:ext uri="{9D8B030D-6E8A-4147-A177-3AD203B41FA5}">
                      <a16:colId xmlns:a16="http://schemas.microsoft.com/office/drawing/2014/main" val="3916574977"/>
                    </a:ext>
                  </a:extLst>
                </a:gridCol>
              </a:tblGrid>
              <a:tr h="371335">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ID</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10249" marR="10249" marT="1024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CAT.</a:t>
                      </a:r>
                    </a:p>
                  </a:txBody>
                  <a:tcPr marL="10219" marR="10219" marT="1021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19762196"/>
                  </a:ext>
                </a:extLst>
              </a:tr>
              <a:tr h="427031">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7</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28/04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VN7822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PQC-SGN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PQC-SGN VN7822 , FOUND BIRD STRIKE INTO CORE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ENG 2</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1. DO INSPECTION A/C AFTER BIRD STRIKE IAW AMM TASK 05-51-14-200-803-A REV01/FEB/25 NO OTHER DAMAGE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FOUND</a:t>
                      </a: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VISUAL EXAMINATION (AFTER BIRD STRIKE (FOREIGN OBJECT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DAMAGE) REF </a:t>
                      </a:r>
                      <a:r>
                        <a:rPr lang="en-US" sz="1100" b="0" i="0" u="none" strike="noStrike">
                          <a:solidFill>
                            <a:srgbClr val="000000"/>
                          </a:solidFill>
                          <a:effectLst/>
                          <a:latin typeface="Times New Roman" panose="02020603050405020304" pitchFamily="18" charset="0"/>
                          <a:cs typeface="Times New Roman" panose="02020603050405020304" pitchFamily="18" charset="0"/>
                        </a:rPr>
                        <a:t>AMM TASK 72-00-00-210-807-A REF BSI02-250187 CHECK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38815"/>
                  </a:ext>
                </a:extLst>
              </a:tr>
              <a:tr h="556953">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8</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VN1171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HPH-SGN</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HPH-SGN VN1171, FOUND BIRDSTRIKE ON ENG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vi-VN" sz="1100" b="0" i="0" u="none" strike="noStrike">
                          <a:solidFill>
                            <a:srgbClr val="000000"/>
                          </a:solidFill>
                          <a:effectLst/>
                          <a:latin typeface="Times New Roman" panose="02020603050405020304" pitchFamily="18" charset="0"/>
                          <a:cs typeface="Times New Roman" panose="02020603050405020304" pitchFamily="18" charset="0"/>
                        </a:rPr>
                        <a:t>WP A339-050425-BASE-MCC-ENG, RPLD ENG #1 SATIS. A/C </a:t>
                      </a:r>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vi-V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a:effectLst/>
                          <a:latin typeface="Times New Roman" panose="02020603050405020304" pitchFamily="18" charset="0"/>
                          <a:cs typeface="Times New Roman" panose="02020603050405020304" pitchFamily="18" charset="0"/>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930229"/>
                  </a:ext>
                </a:extLst>
              </a:tr>
              <a:tr h="448887">
                <a:tc>
                  <a:txBody>
                    <a:bodyPr/>
                    <a:lstStyle/>
                    <a:p>
                      <a:pPr algn="ctr" fontAlgn="ctr"/>
                      <a:r>
                        <a:rPr lang="en-US" sz="1100" b="0" i="0" u="none" strike="noStrike">
                          <a:solidFill>
                            <a:schemeClr val="tx1"/>
                          </a:solidFill>
                          <a:effectLst/>
                          <a:latin typeface="Times New Roman" panose="02020603050405020304" pitchFamily="18" charset="0"/>
                          <a:cs typeface="Times New Roman" panose="02020603050405020304" pitchFamily="18" charset="0"/>
                        </a:rPr>
                        <a:t>9</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24/04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VN608</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BKK-SGN </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AFTER </a:t>
                      </a:r>
                      <a:r>
                        <a:rPr lang="en-US" sz="1100" b="0" i="0" u="none" strike="noStrike">
                          <a:solidFill>
                            <a:srgbClr val="000000"/>
                          </a:solidFill>
                          <a:effectLst/>
                          <a:latin typeface="Times New Roman" panose="02020603050405020304" pitchFamily="18" charset="0"/>
                          <a:cs typeface="Times New Roman" panose="02020603050405020304" pitchFamily="18" charset="0"/>
                        </a:rPr>
                        <a:t>VN608 BKK-SGN, CAPT REPORT ON TECHLOG &amp;#34; BIRDSTRIKE SUSPECTED DURING CLIMB ( RADOME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AREA)</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INPSECTION A/C I.A.W AMM 05-51-14-200-803A FOUND DENT ON L/H OF THE RADOME ( L=150MM, W=60MM) IN LIMIT. ADD B1860 "THE RADOME HAS A DENT ON LEFT SIDE (L=150MM, W=60MM)" RAISED&lt;/p&gt;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Bird strike</a:t>
                      </a:r>
                    </a:p>
                  </a:txBody>
                  <a:tcPr marL="12700" marR="12700" marT="1270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17960"/>
                  </a:ext>
                </a:extLst>
              </a:tr>
            </a:tbl>
          </a:graphicData>
        </a:graphic>
      </p:graphicFrame>
    </p:spTree>
    <p:extLst>
      <p:ext uri="{BB962C8B-B14F-4D97-AF65-F5344CB8AC3E}">
        <p14:creationId xmlns:p14="http://schemas.microsoft.com/office/powerpoint/2010/main" val="1463012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027135" y="922221"/>
            <a:ext cx="9953978" cy="609600"/>
          </a:xfrm>
          <a:ln w="3175">
            <a:noFill/>
          </a:ln>
        </p:spPr>
        <p:txBody>
          <a:bodyPr>
            <a:noAutofit/>
          </a:bodyPr>
          <a:lstStyle/>
          <a:p>
            <a:r>
              <a:rPr lang="en-US" altLang="en-US" sz="3200">
                <a:solidFill>
                  <a:schemeClr val="accent1"/>
                </a:solidFill>
                <a:latin typeface="Times New Roman" panose="02020603050405020304" pitchFamily="18" charset="0"/>
                <a:cs typeface="Times New Roman" panose="02020603050405020304" pitchFamily="18" charset="0"/>
              </a:rPr>
              <a:t>1. Tình hình sự cố, vụ việc an toàn (MOR M&amp;E) &amp; KPI</a:t>
            </a:r>
            <a:endParaRPr lang="en-US" altLang="en-US" sz="3200" dirty="0">
              <a:solidFill>
                <a:schemeClr val="accent1"/>
              </a:solidFill>
              <a:latin typeface="Times New Roman" panose="02020603050405020304" pitchFamily="18" charset="0"/>
              <a:cs typeface="Times New Roman" panose="02020603050405020304" pitchFamily="18" charset="0"/>
            </a:endParaRPr>
          </a:p>
        </p:txBody>
      </p:sp>
      <p:sp>
        <p:nvSpPr>
          <p:cNvPr id="5" name="TextBox 2"/>
          <p:cNvSpPr txBox="1">
            <a:spLocks noChangeArrowheads="1"/>
          </p:cNvSpPr>
          <p:nvPr/>
        </p:nvSpPr>
        <p:spPr bwMode="auto">
          <a:xfrm>
            <a:off x="985381" y="1676070"/>
            <a:ext cx="10638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1219170" rtl="0" eaLnBrk="0" fontAlgn="auto" latinLnBrk="0" hangingPunct="0">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CHỈ SỐ 9 – CHỈ SỐ TẮT ĐỘNG CƠ TRÊN KHÔNG</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6" name="Rectangle 5"/>
          <p:cNvSpPr/>
          <p:nvPr/>
        </p:nvSpPr>
        <p:spPr>
          <a:xfrm>
            <a:off x="918792" y="5271046"/>
            <a:ext cx="10743619" cy="830997"/>
          </a:xfrm>
          <a:prstGeom prst="rect">
            <a:avLst/>
          </a:prstGeom>
        </p:spPr>
        <p:txBody>
          <a:bodyPr wrap="square">
            <a:spAutoFit/>
          </a:bodyPr>
          <a:lstStyle/>
          <a:p>
            <a:pPr marL="0" marR="0" lvl="0" indent="0" algn="just" defTabSz="1219170" rtl="0" eaLnBrk="1" fontAlgn="auto" latinLnBrk="0" hangingPunct="1">
              <a:lnSpc>
                <a:spcPct val="100000"/>
              </a:lnSpc>
              <a:spcBef>
                <a:spcPts val="0"/>
              </a:spcBef>
              <a:spcAft>
                <a:spcPts val="0"/>
              </a:spcAft>
              <a:buClr>
                <a:srgbClr val="000000"/>
              </a:buClr>
              <a:buSzTx/>
              <a:buFontTx/>
              <a:buNone/>
              <a:tabLst/>
              <a:defRPr/>
            </a:pP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sz="16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endPar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04/2025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có 00 vụ việc tắt động cơ trên không.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tháng 4 là 0.00 vụ/10000CB, đạt mục tiêu.</a:t>
            </a: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380990" marR="0" lvl="0" indent="-380990" algn="just" defTabSz="1219170" rtl="0" eaLnBrk="1" fontAlgn="auto" latinLnBrk="0" hangingPunct="1">
              <a:lnSpc>
                <a:spcPct val="100000"/>
              </a:lnSpc>
              <a:spcBef>
                <a:spcPts val="0"/>
              </a:spcBef>
              <a:spcAft>
                <a:spcPts val="0"/>
              </a:spcAft>
              <a:buClr>
                <a:srgbClr val="000000"/>
              </a:buClr>
              <a:buSzTx/>
              <a:buFontTx/>
              <a:buChar char="-"/>
              <a:tabLst/>
              <a:defRPr/>
            </a:pP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KPI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04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tháng </a:t>
            </a:r>
            <a:r>
              <a:rPr kumimoji="0" lang="en-US" sz="16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năm </a:t>
            </a:r>
            <a:r>
              <a:rPr kumimoji="0" lang="en-US" sz="16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2025 là 0,00 vụ/10000CB, đạt mục tiêu. </a:t>
            </a:r>
          </a:p>
        </p:txBody>
      </p:sp>
      <p:graphicFrame>
        <p:nvGraphicFramePr>
          <p:cNvPr id="8" name="Chart 7">
            <a:extLst>
              <a:ext uri="{FF2B5EF4-FFF2-40B4-BE49-F238E27FC236}">
                <a16:creationId xmlns:a16="http://schemas.microsoft.com/office/drawing/2014/main" id="{D3F15087-8C48-45D9-A684-D1D86CBD9C67}"/>
              </a:ext>
            </a:extLst>
          </p:cNvPr>
          <p:cNvGraphicFramePr>
            <a:graphicFrameLocks/>
          </p:cNvGraphicFramePr>
          <p:nvPr>
            <p:extLst>
              <p:ext uri="{D42A27DB-BD31-4B8C-83A1-F6EECF244321}">
                <p14:modId xmlns:p14="http://schemas.microsoft.com/office/powerpoint/2010/main" val="218648589"/>
              </p:ext>
            </p:extLst>
          </p:nvPr>
        </p:nvGraphicFramePr>
        <p:xfrm>
          <a:off x="2699871" y="2152381"/>
          <a:ext cx="6792257" cy="28832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44210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26</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a:spLocks noGrp="1"/>
          </p:cNvSpPr>
          <p:nvPr>
            <p:ph type="title"/>
          </p:nvPr>
        </p:nvSpPr>
        <p:spPr>
          <a:xfrm>
            <a:off x="1130530" y="583927"/>
            <a:ext cx="10543799" cy="714901"/>
          </a:xfrm>
        </p:spPr>
        <p:txBody>
          <a:bodyPr>
            <a:noAutofit/>
          </a:bodyPr>
          <a:lstStyle/>
          <a:p>
            <a:pPr algn="l"/>
            <a:r>
              <a:rPr lang="en-US" altLang="en-US" sz="3200">
                <a:solidFill>
                  <a:schemeClr val="accent1"/>
                </a:solidFill>
                <a:latin typeface="Times New Roman" panose="02020603050405020304" pitchFamily="18" charset="0"/>
                <a:cs typeface="Times New Roman" panose="02020603050405020304" pitchFamily="18" charset="0"/>
              </a:rPr>
              <a:t>2. </a:t>
            </a:r>
            <a:r>
              <a:rPr lang="en-US" sz="3200">
                <a:solidFill>
                  <a:schemeClr val="accent1"/>
                </a:solidFill>
                <a:latin typeface="Times New Roman" panose="02020603050405020304" pitchFamily="18" charset="0"/>
                <a:ea typeface="Times New Roman"/>
                <a:cs typeface="Times New Roman" panose="02020603050405020304" pitchFamily="18" charset="0"/>
                <a:sym typeface="Times New Roman"/>
              </a:rPr>
              <a:t>Các vụ việc an toàn khác tháng </a:t>
            </a:r>
            <a:r>
              <a:rPr lang="en-US" sz="3200" smtClean="0">
                <a:solidFill>
                  <a:schemeClr val="accent1"/>
                </a:solidFill>
                <a:latin typeface="Times New Roman" panose="02020603050405020304" pitchFamily="18" charset="0"/>
                <a:ea typeface="Times New Roman"/>
                <a:cs typeface="Times New Roman" panose="02020603050405020304" pitchFamily="18" charset="0"/>
                <a:sym typeface="Times New Roman"/>
              </a:rPr>
              <a:t>04.2025</a:t>
            </a:r>
            <a:endParaRPr lang="en-US" sz="3200" dirty="0">
              <a:ln w="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1130529" y="1330963"/>
          <a:ext cx="10528073" cy="5349240"/>
        </p:xfrm>
        <a:graphic>
          <a:graphicData uri="http://schemas.openxmlformats.org/drawingml/2006/table">
            <a:tbl>
              <a:tblPr firstRow="1" bandRow="1">
                <a:tableStyleId>{5C22544A-7EE6-4342-B048-85BDC9FD1C3A}</a:tableStyleId>
              </a:tblPr>
              <a:tblGrid>
                <a:gridCol w="5041671">
                  <a:extLst>
                    <a:ext uri="{9D8B030D-6E8A-4147-A177-3AD203B41FA5}">
                      <a16:colId xmlns:a16="http://schemas.microsoft.com/office/drawing/2014/main" val="3521703937"/>
                    </a:ext>
                  </a:extLst>
                </a:gridCol>
                <a:gridCol w="2667000">
                  <a:extLst>
                    <a:ext uri="{9D8B030D-6E8A-4147-A177-3AD203B41FA5}">
                      <a16:colId xmlns:a16="http://schemas.microsoft.com/office/drawing/2014/main" val="4294047070"/>
                    </a:ext>
                  </a:extLst>
                </a:gridCol>
                <a:gridCol w="2819402">
                  <a:extLst>
                    <a:ext uri="{9D8B030D-6E8A-4147-A177-3AD203B41FA5}">
                      <a16:colId xmlns:a16="http://schemas.microsoft.com/office/drawing/2014/main" val="3319095434"/>
                    </a:ext>
                  </a:extLst>
                </a:gridCol>
              </a:tblGrid>
              <a:tr h="366567">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smtClean="0">
                          <a:solidFill>
                            <a:schemeClr val="tx1"/>
                          </a:solidFill>
                          <a:latin typeface="Times New Roman" panose="02020603050405020304" pitchFamily="18" charset="0"/>
                          <a:ea typeface="+mn-ea"/>
                          <a:cs typeface="Times New Roman" panose="02020603050405020304" pitchFamily="18" charset="0"/>
                        </a:rPr>
                        <a:t>VN-A899 oversteer bracket bị cong do NV lái xe kéo đẩy tàu bay quá giới hạn góc cho phép </a:t>
                      </a:r>
                      <a:endParaRPr lang="en-US" sz="18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7108425"/>
                  </a:ext>
                </a:extLst>
              </a:tr>
              <a:tr h="324271">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Mô</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tả</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Nguyên</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nhân</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500" b="1" kern="1200" dirty="0" err="1">
                          <a:solidFill>
                            <a:schemeClr val="tx1"/>
                          </a:solidFill>
                          <a:latin typeface="Times New Roman" panose="02020603050405020304" pitchFamily="18" charset="0"/>
                          <a:ea typeface="+mn-ea"/>
                          <a:cs typeface="Times New Roman" panose="02020603050405020304" pitchFamily="18" charset="0"/>
                        </a:rPr>
                        <a:t>Khắc</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phục</a:t>
                      </a:r>
                      <a:r>
                        <a:rPr lang="en-US" sz="1500" b="1" kern="1200" dirty="0">
                          <a:solidFill>
                            <a:schemeClr val="tx1"/>
                          </a:solidFill>
                          <a:latin typeface="Times New Roman" panose="02020603050405020304" pitchFamily="18" charset="0"/>
                          <a:ea typeface="+mn-ea"/>
                          <a:cs typeface="Times New Roman" panose="02020603050405020304" pitchFamily="18" charset="0"/>
                        </a:rPr>
                        <a:t> – </a:t>
                      </a:r>
                      <a:r>
                        <a:rPr lang="en-US" sz="1500" b="1" kern="1200" dirty="0" err="1">
                          <a:solidFill>
                            <a:schemeClr val="tx1"/>
                          </a:solidFill>
                          <a:latin typeface="Times New Roman" panose="02020603050405020304" pitchFamily="18" charset="0"/>
                          <a:ea typeface="+mn-ea"/>
                          <a:cs typeface="Times New Roman" panose="02020603050405020304" pitchFamily="18" charset="0"/>
                        </a:rPr>
                        <a:t>Phòng</a:t>
                      </a:r>
                      <a:r>
                        <a:rPr lang="en-US" sz="1500" b="1" kern="1200" dirty="0">
                          <a:solidFill>
                            <a:schemeClr val="tx1"/>
                          </a:solidFill>
                          <a:latin typeface="Times New Roman" panose="02020603050405020304" pitchFamily="18" charset="0"/>
                          <a:ea typeface="+mn-ea"/>
                          <a:cs typeface="Times New Roman" panose="02020603050405020304" pitchFamily="18" charset="0"/>
                        </a:rPr>
                        <a:t> </a:t>
                      </a:r>
                      <a:r>
                        <a:rPr lang="en-US" sz="1500" b="1" kern="1200" dirty="0" err="1">
                          <a:solidFill>
                            <a:schemeClr val="tx1"/>
                          </a:solidFill>
                          <a:latin typeface="Times New Roman" panose="02020603050405020304" pitchFamily="18" charset="0"/>
                          <a:ea typeface="+mn-ea"/>
                          <a:cs typeface="Times New Roman" panose="02020603050405020304" pitchFamily="18" charset="0"/>
                        </a:rPr>
                        <a:t>ngừa</a:t>
                      </a:r>
                      <a:endParaRPr 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1495605"/>
                  </a:ext>
                </a:extLst>
              </a:tr>
              <a:tr h="4455199">
                <a:tc>
                  <a:txBody>
                    <a:bodyPr/>
                    <a:lstStyle/>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Sáng</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n</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gày 17/04/2025, NV lái xe nhận được yêu cầu kéo tàu bay VN-A899 từ HG#1 tới bãi đỗ số 4A thuộc sân đỗ VAECO HCM từ bộ phận trực điều hành của TTBD NgT HCM. </a:t>
                      </a:r>
                    </a:p>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Trong quá trình kéo, khi đến đoạn rẽ vào vị trí đỗ số 4A, NV lái xe nhận thấy tàu bay bị lệch khỏi tim đường lăn dẫn vào vị trí đỗ</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nên đã điều chỉnh lại</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hướng kéo. </a:t>
                      </a:r>
                    </a:p>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Tuy nhiên,</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t</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rong quá trình điều chỉnh lại</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hướng kéo, cùng</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nhận</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thấy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đèn cảnh báo hệ thống lái trên</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càng mũi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sáng lên, ngay lập tức NV chỉ huy kéo đẩy và</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NV lái xe đã cho dừng tàu bay lại.</a:t>
                      </a:r>
                      <a:endParaRPr lang="en-US" sz="1400" kern="1200" baseline="0" smtClean="0">
                        <a:solidFill>
                          <a:schemeClr val="dk1"/>
                        </a:solidFill>
                        <a:effectLst/>
                        <a:latin typeface="Times New Roman" panose="02020603050405020304" pitchFamily="18" charset="0"/>
                        <a:ea typeface="+mn-ea"/>
                        <a:cs typeface="Times New Roman" panose="02020603050405020304" pitchFamily="18" charset="0"/>
                      </a:endParaRPr>
                    </a:p>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Cũng</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t</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ại thời điểm này, NV trên buồng lái phát hiện một cảnh báo hiển thi trên màn</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hình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ECAM: “N/W steer angle limit exceeded”</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nên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đã</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thông báo và</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yêu cầu NV chỉ huy kéo đẩy kiểm tra tình</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trạng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càng mũi. </a:t>
                      </a:r>
                    </a:p>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NV chỉ huy kéo đẩy kiểm</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tra và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phát hiện có</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dấu hiệu over steering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oversteer bracket đã bị cong) do khi kéo vượt quá giới hạn góc kéo cho phép. Đ</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ánh giá sơ bộ hỏng hóc không ảnh hưởng đến kết cấu của càng mũi,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NV chỉ huy kéo đẩy phối</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hợp với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NV lái xe điều chỉnh lại hướng kéo và tiếp tục kéo tàu bay vào vị trí đỗ số 4A.</a:t>
                      </a:r>
                    </a:p>
                    <a:p>
                      <a:pPr marL="174625" lvl="0" indent="-174625" algn="just">
                        <a:buFontTx/>
                        <a:buChar char="-"/>
                      </a:pPr>
                      <a:r>
                        <a:rPr lang="en-US" sz="1400" kern="1200" smtClean="0">
                          <a:solidFill>
                            <a:schemeClr val="dk1"/>
                          </a:solidFill>
                          <a:effectLst/>
                          <a:latin typeface="Times New Roman" panose="02020603050405020304" pitchFamily="18" charset="0"/>
                          <a:ea typeface="+mn-ea"/>
                          <a:cs typeface="Times New Roman" panose="02020603050405020304" pitchFamily="18" charset="0"/>
                        </a:rPr>
                        <a:t>Sau</a:t>
                      </a:r>
                      <a:r>
                        <a:rPr lang="en-US" sz="1400" kern="1200" baseline="0" smtClean="0">
                          <a:solidFill>
                            <a:schemeClr val="dk1"/>
                          </a:solidFill>
                          <a:effectLst/>
                          <a:latin typeface="Times New Roman" panose="02020603050405020304" pitchFamily="18" charset="0"/>
                          <a:ea typeface="+mn-ea"/>
                          <a:cs typeface="Times New Roman" panose="02020603050405020304" pitchFamily="18" charset="0"/>
                        </a:rPr>
                        <a:t> khi quá trình kéo đẩy tàu bay hoàn tất, càng mũi được tiếp tục kiểm tra thêm và chỉ cần thay thế </a:t>
                      </a:r>
                      <a:r>
                        <a:rPr lang="en-US" sz="1400" kern="1200" smtClean="0">
                          <a:solidFill>
                            <a:schemeClr val="dk1"/>
                          </a:solidFill>
                          <a:effectLst/>
                          <a:latin typeface="Times New Roman" panose="02020603050405020304" pitchFamily="18" charset="0"/>
                          <a:ea typeface="+mn-ea"/>
                          <a:cs typeface="Times New Roman" panose="02020603050405020304" pitchFamily="18" charset="0"/>
                        </a:rPr>
                        <a:t>oversteer bracket bị cong.</a:t>
                      </a:r>
                      <a:endParaRPr lang="en-US" sz="1400" kern="1200" dirty="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228600" rtl="0" eaLnBrk="1" fontAlgn="auto" latinLnBrk="0" hangingPunct="1">
                        <a:lnSpc>
                          <a:spcPct val="100000"/>
                        </a:lnSpc>
                        <a:spcBef>
                          <a:spcPts val="0"/>
                        </a:spcBef>
                        <a:spcAft>
                          <a:spcPts val="0"/>
                        </a:spcAft>
                        <a:buClrTx/>
                        <a:buSzTx/>
                        <a:buFontTx/>
                        <a:buNone/>
                        <a:tabLst>
                          <a:tab pos="173038" algn="l"/>
                        </a:tabLst>
                        <a:defRPr/>
                      </a:pPr>
                      <a:r>
                        <a:rPr lang="vi-VN" sz="1400" b="0" kern="1200" baseline="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Nguyên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nhân</a:t>
                      </a:r>
                      <a:r>
                        <a:rPr lang="en-US"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 </a:t>
                      </a:r>
                      <a:r>
                        <a:rPr lang="vi-VN" sz="1400" b="0" kern="1200" baseline="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chính:</a:t>
                      </a:r>
                    </a:p>
                    <a:p>
                      <a:pPr marL="285750" marR="0" indent="-285750" algn="just" defTabSz="173038" rtl="0" eaLnBrk="1" fontAlgn="auto" latinLnBrk="0" hangingPunct="1">
                        <a:lnSpc>
                          <a:spcPct val="100000"/>
                        </a:lnSpc>
                        <a:spcBef>
                          <a:spcPts val="0"/>
                        </a:spcBef>
                        <a:spcAft>
                          <a:spcPts val="0"/>
                        </a:spcAft>
                        <a:buClrTx/>
                        <a:buSzTx/>
                        <a:buFontTx/>
                        <a:buChar char="-"/>
                        <a:tabLst/>
                        <a:defRPr/>
                      </a:pPr>
                      <a:r>
                        <a:rPr lang="vi-VN" sz="1400" b="0" kern="1200" baseline="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rPr>
                        <a:t>NV lái xe thiếu tập trung, không thực hiện việc giám sát góc kéo của tàu bay.</a:t>
                      </a:r>
                      <a:endParaRPr lang="en-US" sz="1400" b="0" kern="1200" baseline="0" dirty="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Khắc phục:</a:t>
                      </a:r>
                    </a:p>
                    <a:p>
                      <a:pPr marL="228600" lvl="0" indent="-228600" algn="just">
                        <a:buFontTx/>
                        <a:buChar char="-"/>
                        <a:tabLst>
                          <a:tab pos="119063" algn="l"/>
                        </a:tabLst>
                      </a:pPr>
                      <a:r>
                        <a:rPr lang="en-US" sz="1400" kern="1200" baseline="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Thay thế oversteer bracket.</a:t>
                      </a:r>
                      <a:endPar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u="none" strike="noStrike" kern="1200" cap="none" baseline="0" noProof="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Phòng ngừa</a:t>
                      </a:r>
                      <a:r>
                        <a:rPr lang="en-US" sz="1400" b="0" i="0" u="none" strike="noStrike" kern="1200" cap="none" baseline="0" noProof="0" smtClean="0">
                          <a:solidFill>
                            <a:schemeClr val="tx1"/>
                          </a:solidFill>
                          <a:uFillTx/>
                          <a:latin typeface="Times New Roman" panose="02020603050405020304" pitchFamily="18" charset="0"/>
                          <a:ea typeface="Cambria" panose="02040503050406030204" pitchFamily="18" charset="0"/>
                          <a:cs typeface="Times New Roman" panose="02020603050405020304" pitchFamily="18" charset="0"/>
                          <a:sym typeface="Arial"/>
                        </a:rPr>
                        <a:t>:</a:t>
                      </a:r>
                      <a:endParaRPr lang="en-US" sz="1400" kern="1200" baseline="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228600" indent="-228600" algn="just">
                        <a:buFontTx/>
                        <a:buChar char="-"/>
                      </a:pPr>
                      <a:r>
                        <a:rPr lang="en-US" sz="1400" b="0" i="0" u="none" strike="noStrike" kern="1200" cap="none" baseline="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Arial"/>
                        </a:rPr>
                        <a:t>Yêu cầu các NV lái xe tuân thủ đúng quy trình kéo/ đẩy tàu bay SOP 4.19.6.1 (2).</a:t>
                      </a:r>
                    </a:p>
                    <a:p>
                      <a:pPr marL="228600" indent="-228600" algn="just">
                        <a:buFontTx/>
                        <a:buChar char="-"/>
                      </a:pPr>
                      <a:r>
                        <a:rPr lang="en-US" sz="1400" b="0" i="0" u="none" strike="noStrike" kern="1200" cap="none" baseline="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Arial"/>
                        </a:rPr>
                        <a:t>NVKT liên quan đọc hiểu báo cáo điều tra để rút kinh nghiệm.</a:t>
                      </a:r>
                    </a:p>
                    <a:p>
                      <a:pPr marL="228600" indent="-228600" algn="just">
                        <a:buFontTx/>
                        <a:buChar char="-"/>
                      </a:pPr>
                      <a:r>
                        <a:rPr lang="en-US" sz="1400" b="0" i="0" u="none" strike="noStrike" kern="1200" cap="none" baseline="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Arial"/>
                        </a:rPr>
                        <a:t>Phổ biến báo cáo điều tra đến tất cả NVKT của Công ty. </a:t>
                      </a:r>
                      <a:endParaRPr lang="vi-VN" sz="1400" b="0" i="0" u="none" strike="noStrike" kern="1200" cap="none" baseline="0" dirty="0" smtClean="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Arial"/>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02729"/>
                  </a:ext>
                </a:extLst>
              </a:tr>
            </a:tbl>
          </a:graphicData>
        </a:graphic>
      </p:graphicFrame>
    </p:spTree>
    <p:extLst>
      <p:ext uri="{BB962C8B-B14F-4D97-AF65-F5344CB8AC3E}">
        <p14:creationId xmlns:p14="http://schemas.microsoft.com/office/powerpoint/2010/main" val="1706247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27</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113403"/>
            <a:ext cx="10254641" cy="4842351"/>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04/2025, Cục HKVN đã tiến hành gia hạn Giấy chứng nhận đủ điều kiện bay cho 08 tàu bay của TCT đã được kiểm tra trong tháng 04/2025 </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theo định kỳ: VN-A332, VN-A507, VN-A614, VN-A864, VN-A869, VN-A888, VN-A890</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04/2025, Cục HKVN đã tiến hành kiểm tra gia hạn Giấy chứng nhận đủ điều kiện bay cho 07 tàu bay của TCT hết hạn CoA vào 28/05/2025</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VN-A396, VN-A512, VN-A608, VN-A618, VN-A870, VN-A877, VN-A894</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Sau khi kiểm tra Cục HKVN đã đưa ra 09 Finding về các hư hại trên tàu bay chưa được kiểm soát và hồ sơ tàu bay. Hiện nay, Ban ATCL đang phối hợp cùng Ban KT và VAECO khắc phục, đưa ra các biện pháp phòng ngừa và báo cáo Cục HKVN.</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Ngoài ra, trong tháng 04/2025, Cục HKVN đã kiểm tra và gia hạn cho tàu bay VN-A617 sau khi tháo bảo quản dừng bay ngày 15/04/2025</a:t>
            </a:r>
          </a:p>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Tháng 05/025, Ban ATCL tiếp tục phối hợp với Cục HKVN kiểm tra CoA cho 10 tàu bay hết hạn vào tháng 06/2025: 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A514,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A515,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A324,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A357,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A395,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A397,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A615,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A865,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A889, </a:t>
            </a: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t>
            </a:r>
            <a:r>
              <a:rPr kumimoji="0" lang="pt-BR"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A891.</a:t>
            </a:r>
            <a:endPar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65789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28</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853294" y="418447"/>
            <a:ext cx="8320951"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p:nvPr/>
        </p:nvSpPr>
        <p:spPr>
          <a:xfrm>
            <a:off x="1252604" y="1054507"/>
            <a:ext cx="10254641" cy="1744004"/>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3.1.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dirty="0">
              <a:ln>
                <a:noFill/>
              </a:ln>
              <a:solidFill>
                <a:srgbClr val="F4981C">
                  <a:lumMod val="50000"/>
                </a:srgbClr>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 of </a:t>
            </a: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a:t>
            </a:r>
            <a:endParaRPr kumimoji="0" lang="pt-BR" altLang="en-US" sz="1867"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457189" marR="0" lvl="0" indent="-457189" algn="just" defTabSz="1219170" rtl="0" eaLnBrk="1" fontAlgn="auto" latinLnBrk="0" hangingPunct="1">
              <a:lnSpc>
                <a:spcPct val="100000"/>
              </a:lnSpc>
              <a:spcBef>
                <a:spcPts val="800"/>
              </a:spcBef>
              <a:spcAft>
                <a:spcPts val="0"/>
              </a:spcAft>
              <a:buClr>
                <a:srgbClr val="000000"/>
              </a:buClr>
              <a:buSzTx/>
              <a:buFontTx/>
              <a:buChar char="-"/>
              <a:tabLst/>
              <a:defRPr/>
            </a:pPr>
            <a:r>
              <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số finding đáng chú ý trong đợt kiểm tra CoA vừa qua</a:t>
            </a:r>
            <a:r>
              <a:rPr kumimoji="0" lang="en-SG"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SG"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endParaRPr kumimoji="0" lang="pt-BR" altLang="en-US" sz="2133"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0" name="Rectangle 9"/>
          <p:cNvSpPr/>
          <p:nvPr/>
        </p:nvSpPr>
        <p:spPr>
          <a:xfrm>
            <a:off x="5628068" y="5260737"/>
            <a:ext cx="5879177"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VN-A608 HEAT SHIELD SEALANT </a:t>
            </a:r>
            <a:r>
              <a:rPr kumimoji="0" lang="en-US" sz="12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C-DUCT </a:t>
            </a:r>
            <a:r>
              <a:rPr kumimoji="0" lang="en-US"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 BOTH ENG DAMAGE</a:t>
            </a:r>
            <a:endParaRPr kumimoji="0" lang="vi-VN"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13"/>
          <p:cNvSpPr/>
          <p:nvPr/>
        </p:nvSpPr>
        <p:spPr>
          <a:xfrm>
            <a:off x="1754819" y="5190770"/>
            <a:ext cx="3255062"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VN-A396 HEAT SHIELD </a:t>
            </a:r>
            <a:r>
              <a:rPr kumimoji="0" lang="en-US" sz="12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SEALANT AT </a:t>
            </a:r>
            <a:r>
              <a:rPr kumimoji="0" lang="en-US"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C-DUCT OF ENG#1 DAMAGE</a:t>
            </a:r>
            <a:endParaRPr kumimoji="0" lang="vi-VN" sz="12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13" name="Picture 12"/>
          <p:cNvPicPr/>
          <p:nvPr/>
        </p:nvPicPr>
        <p:blipFill>
          <a:blip r:embed="rId4"/>
          <a:stretch>
            <a:fillRect/>
          </a:stretch>
        </p:blipFill>
        <p:spPr>
          <a:xfrm>
            <a:off x="1754820" y="2598395"/>
            <a:ext cx="3255062" cy="2411059"/>
          </a:xfrm>
          <a:prstGeom prst="rect">
            <a:avLst/>
          </a:prstGeom>
        </p:spPr>
      </p:pic>
      <p:pic>
        <p:nvPicPr>
          <p:cNvPr id="15" name="Picture 14"/>
          <p:cNvPicPr/>
          <p:nvPr/>
        </p:nvPicPr>
        <p:blipFill>
          <a:blip r:embed="rId5"/>
          <a:stretch>
            <a:fillRect/>
          </a:stretch>
        </p:blipFill>
        <p:spPr>
          <a:xfrm>
            <a:off x="5628068" y="2598395"/>
            <a:ext cx="3022453" cy="2411059"/>
          </a:xfrm>
          <a:prstGeom prst="rect">
            <a:avLst/>
          </a:prstGeom>
        </p:spPr>
      </p:pic>
      <p:pic>
        <p:nvPicPr>
          <p:cNvPr id="16" name="Picture 15"/>
          <p:cNvPicPr/>
          <p:nvPr/>
        </p:nvPicPr>
        <p:blipFill>
          <a:blip r:embed="rId6"/>
          <a:stretch>
            <a:fillRect/>
          </a:stretch>
        </p:blipFill>
        <p:spPr>
          <a:xfrm>
            <a:off x="8754297" y="2598395"/>
            <a:ext cx="2752948" cy="2411059"/>
          </a:xfrm>
          <a:prstGeom prst="rect">
            <a:avLst/>
          </a:prstGeom>
        </p:spPr>
      </p:pic>
      <p:sp>
        <p:nvSpPr>
          <p:cNvPr id="17" name="Rectangle 16"/>
          <p:cNvSpPr/>
          <p:nvPr/>
        </p:nvSpPr>
        <p:spPr>
          <a:xfrm>
            <a:off x="1754819" y="5949885"/>
            <a:ext cx="9752426" cy="646331"/>
          </a:xfrm>
          <a:prstGeom prst="rect">
            <a:avLst/>
          </a:prstGeom>
        </p:spPr>
        <p:txBody>
          <a:bodyPr wrap="square">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Công tác sửa chữa các hỏng hóc liên quan tới heat shield trên động cơ V2500 chưa đạt yêu cầu mặc dù các hỏng hóc này vừa được khắc phục trước khi kiểm tra.</a:t>
            </a:r>
          </a:p>
        </p:txBody>
      </p:sp>
    </p:spTree>
    <p:extLst>
      <p:ext uri="{BB962C8B-B14F-4D97-AF65-F5344CB8AC3E}">
        <p14:creationId xmlns:p14="http://schemas.microsoft.com/office/powerpoint/2010/main" val="3703387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29</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914400" y="385395"/>
            <a:ext cx="8176480"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a:spLocks noChangeArrowheads="1"/>
          </p:cNvSpPr>
          <p:nvPr/>
        </p:nvSpPr>
        <p:spPr bwMode="auto">
          <a:xfrm>
            <a:off x="1308835" y="1065616"/>
            <a:ext cx="9987776" cy="502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ban SQD</a:t>
            </a:r>
          </a:p>
        </p:txBody>
      </p:sp>
      <p:sp>
        <p:nvSpPr>
          <p:cNvPr id="6" name="TextBox 5"/>
          <p:cNvSpPr txBox="1"/>
          <p:nvPr/>
        </p:nvSpPr>
        <p:spPr>
          <a:xfrm>
            <a:off x="1308835" y="1599096"/>
            <a:ext cx="10123253" cy="2318648"/>
          </a:xfrm>
          <a:prstGeom prst="rect">
            <a:avLst/>
          </a:prstGeom>
          <a:noFill/>
          <a:ln w="6350">
            <a:no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CMR:</a:t>
            </a: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tháng 04, Ban ATCL đã thực hiện gia hạn Chứng chỉ CMR cho 15 tàu bay (VN-A396, VN-A506, VN-A508, VN-A512, VN-A515, VN-A608, VN-A616, VN-A617, VN-A618, VN-A620, VN-A870, VN-A871, VN-A877, VN-A894, VN-A899) hết hạn tháng 04/2025</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Ban ATCL đã tiến hành kiểm tra hồ sơ và thực tế 18 tàu bay hết hạn trong tháng 05/2025 (VN-A324, VN-A325, VN-A326, VN-A327, VN-A334, VN-A335, VN-A357, VN-A395, VN-A397, VN-A501, VN-A513, VN-A514, VN-A615, VN-A861, VN-A865, VN-A889, VN-A891, VN-A895).</a:t>
            </a: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583290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30</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914400" y="385395"/>
            <a:ext cx="8176480"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p:cNvSpPr txBox="1">
            <a:spLocks noChangeArrowheads="1"/>
          </p:cNvSpPr>
          <p:nvPr/>
        </p:nvSpPr>
        <p:spPr bwMode="auto">
          <a:xfrm>
            <a:off x="1308835" y="1065616"/>
            <a:ext cx="9987776" cy="502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just" defTabSz="1219170" rtl="0" eaLnBrk="1" fontAlgn="auto" latinLnBrk="0" hangingPunct="1">
              <a:lnSpc>
                <a:spcPct val="100000"/>
              </a:lnSpc>
              <a:spcBef>
                <a:spcPts val="800"/>
              </a:spcBef>
              <a:spcAft>
                <a:spcPts val="0"/>
              </a:spcAft>
              <a:buClr>
                <a:srgbClr val="000000"/>
              </a:buClr>
              <a:buSzTx/>
              <a:buFontTx/>
              <a:buNone/>
              <a:tabLst/>
              <a:defRPr/>
            </a:pP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3.2.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giá</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a:t>
            </a:r>
            <a:r>
              <a:rPr kumimoji="0" lang="en-US" altLang="en-US" sz="2667"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của</a:t>
            </a:r>
            <a:r>
              <a:rPr kumimoji="0" lang="en-US" altLang="en-US" sz="2667"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 ban SQD</a:t>
            </a:r>
          </a:p>
        </p:txBody>
      </p:sp>
      <p:sp>
        <p:nvSpPr>
          <p:cNvPr id="6" name="TextBox 5"/>
          <p:cNvSpPr txBox="1"/>
          <p:nvPr/>
        </p:nvSpPr>
        <p:spPr>
          <a:xfrm>
            <a:off x="1308835" y="1599096"/>
            <a:ext cx="10123253" cy="656655"/>
          </a:xfrm>
          <a:prstGeom prst="rect">
            <a:avLst/>
          </a:prstGeom>
          <a:noFill/>
          <a:ln w="6350">
            <a:no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1867"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CMR</a:t>
            </a:r>
            <a:r>
              <a:rPr kumimoji="0" lang="en-US" sz="1867"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Tx/>
              <a:buChar char="-"/>
              <a:tabLst/>
              <a:defRPr/>
            </a:pPr>
            <a:r>
              <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Một số Finding đáng chú ý</a:t>
            </a:r>
            <a:r>
              <a:rPr kumimoji="0" lang="en-US" altLang="en-US" sz="1800" b="0"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endParaRPr kumimoji="0" lang="en-US" alt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13" name="Rectangle 12"/>
          <p:cNvSpPr/>
          <p:nvPr/>
        </p:nvSpPr>
        <p:spPr>
          <a:xfrm>
            <a:off x="1353449" y="5391416"/>
            <a:ext cx="3468806"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VN-A324 </a:t>
            </a:r>
            <a:r>
              <a:rPr kumimoji="0" lang="da-DK"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ENG 2:</a:t>
            </a:r>
            <a:r>
              <a:rPr kumimoji="0" 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DUCT FROM FAN AIR TO PRE-COOLER DAMAGED</a:t>
            </a:r>
            <a:r>
              <a:rPr kumimoji="0" 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vi-VN" sz="1400" b="1" i="0" u="none" strike="noStrike" kern="1200" cap="none" spc="0" normalizeH="0" baseline="0" noProof="0">
              <a:ln>
                <a:noFill/>
              </a:ln>
              <a:solidFill>
                <a:srgbClr val="F4981C">
                  <a:lumMod val="50000"/>
                </a:srgbClr>
              </a:solidFill>
              <a:effectLst/>
              <a:uLnTx/>
              <a:uFillTx/>
              <a:latin typeface="Arial" panose="020B0604020202020204" pitchFamily="34" charset="0"/>
              <a:ea typeface="+mn-ea"/>
              <a:cs typeface="Times New Roman" panose="02020603050405020304" pitchFamily="18" charset="0"/>
            </a:endParaRPr>
          </a:p>
        </p:txBody>
      </p:sp>
      <p:sp>
        <p:nvSpPr>
          <p:cNvPr id="14" name="Rectangle 13"/>
          <p:cNvSpPr/>
          <p:nvPr/>
        </p:nvSpPr>
        <p:spPr>
          <a:xfrm>
            <a:off x="5385528" y="5386433"/>
            <a:ext cx="2648115"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VN-A395 ENG 1: FLEXIABLE HOSE DAMAGED</a:t>
            </a:r>
            <a:r>
              <a:rPr kumimoji="0" lang="en-US" sz="1400" b="0" i="0" u="none" strike="noStrike" kern="1200" cap="none" spc="0" normalizeH="0" baseline="0" noProof="0" smtClean="0">
                <a:ln>
                  <a:noFill/>
                </a:ln>
                <a:solidFill>
                  <a:srgbClr val="F4981C">
                    <a:lumMod val="50000"/>
                  </a:srgbClr>
                </a:solidFill>
                <a:effectLst/>
                <a:uLnTx/>
                <a:uFillTx/>
                <a:latin typeface="Arial"/>
                <a:ea typeface="+mn-ea"/>
                <a:cs typeface="Times New Roman" panose="02020603050405020304" pitchFamily="18" charset="0"/>
              </a:rPr>
              <a:t>.</a:t>
            </a:r>
            <a:endParaRPr kumimoji="0" lang="vi-VN" sz="1400" b="1" i="0" u="none" strike="noStrike" kern="1200" cap="none" spc="0" normalizeH="0" baseline="0" noProof="0">
              <a:ln>
                <a:noFill/>
              </a:ln>
              <a:solidFill>
                <a:srgbClr val="F4981C">
                  <a:lumMod val="50000"/>
                </a:srgbClr>
              </a:solidFill>
              <a:effectLst/>
              <a:uLnTx/>
              <a:uFillTx/>
              <a:latin typeface="Arial" panose="020B0604020202020204" pitchFamily="34" charset="0"/>
              <a:ea typeface="+mn-ea"/>
              <a:cs typeface="Times New Roman" panose="02020603050405020304" pitchFamily="18" charset="0"/>
            </a:endParaRPr>
          </a:p>
        </p:txBody>
      </p:sp>
      <p:pic>
        <p:nvPicPr>
          <p:cNvPr id="15" name="Picture 14"/>
          <p:cNvPicPr/>
          <p:nvPr/>
        </p:nvPicPr>
        <p:blipFill>
          <a:blip r:embed="rId4"/>
          <a:stretch>
            <a:fillRect/>
          </a:stretch>
        </p:blipFill>
        <p:spPr>
          <a:xfrm>
            <a:off x="1331150" y="2451785"/>
            <a:ext cx="1705186" cy="2669272"/>
          </a:xfrm>
          <a:prstGeom prst="rect">
            <a:avLst/>
          </a:prstGeom>
        </p:spPr>
      </p:pic>
      <p:pic>
        <p:nvPicPr>
          <p:cNvPr id="16" name="Picture 15"/>
          <p:cNvPicPr/>
          <p:nvPr/>
        </p:nvPicPr>
        <p:blipFill>
          <a:blip r:embed="rId5"/>
          <a:stretch>
            <a:fillRect/>
          </a:stretch>
        </p:blipFill>
        <p:spPr>
          <a:xfrm>
            <a:off x="3036336" y="2451785"/>
            <a:ext cx="1988453" cy="2669272"/>
          </a:xfrm>
          <a:prstGeom prst="rect">
            <a:avLst/>
          </a:prstGeom>
        </p:spPr>
      </p:pic>
      <p:pic>
        <p:nvPicPr>
          <p:cNvPr id="17" name="Picture 16"/>
          <p:cNvPicPr/>
          <p:nvPr/>
        </p:nvPicPr>
        <p:blipFill>
          <a:blip r:embed="rId6"/>
          <a:stretch>
            <a:fillRect/>
          </a:stretch>
        </p:blipFill>
        <p:spPr>
          <a:xfrm>
            <a:off x="5401181" y="2451785"/>
            <a:ext cx="2764025" cy="2669272"/>
          </a:xfrm>
          <a:prstGeom prst="rect">
            <a:avLst/>
          </a:prstGeom>
        </p:spPr>
      </p:pic>
      <p:pic>
        <p:nvPicPr>
          <p:cNvPr id="18" name="Picture 17"/>
          <p:cNvPicPr/>
          <p:nvPr/>
        </p:nvPicPr>
        <p:blipFill rotWithShape="1">
          <a:blip r:embed="rId7"/>
          <a:srcRect t="5034" b="34525"/>
          <a:stretch/>
        </p:blipFill>
        <p:spPr bwMode="auto">
          <a:xfrm>
            <a:off x="8425687" y="2451784"/>
            <a:ext cx="3073718" cy="2669273"/>
          </a:xfrm>
          <a:prstGeom prst="rect">
            <a:avLst/>
          </a:prstGeom>
          <a:ln>
            <a:noFill/>
          </a:ln>
          <a:extLst>
            <a:ext uri="{53640926-AAD7-44D8-BBD7-CCE9431645EC}">
              <a14:shadowObscured xmlns:a14="http://schemas.microsoft.com/office/drawing/2010/main"/>
            </a:ext>
          </a:extLst>
        </p:spPr>
      </p:pic>
      <p:sp>
        <p:nvSpPr>
          <p:cNvPr id="19" name="Rectangle 18"/>
          <p:cNvSpPr/>
          <p:nvPr/>
        </p:nvSpPr>
        <p:spPr>
          <a:xfrm>
            <a:off x="8425687" y="5386433"/>
            <a:ext cx="3073718"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VN-A865 SEAL LAND ANGLE BRACKET DAMAGED</a:t>
            </a:r>
            <a:r>
              <a:rPr kumimoji="0" 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vi-VN" sz="1400" b="1" i="0" u="none" strike="noStrike" kern="1200" cap="none" spc="0" normalizeH="0" baseline="0" noProof="0">
              <a:ln>
                <a:noFill/>
              </a:ln>
              <a:solidFill>
                <a:srgbClr val="F4981C">
                  <a:lumMod val="50000"/>
                </a:srgbClr>
              </a:solidFill>
              <a:effectLst/>
              <a:uLnTx/>
              <a:uFillTx/>
              <a:latin typeface="Arial" panose="020B0604020202020204" pitchFamily="34" charset="0"/>
              <a:ea typeface="+mn-ea"/>
              <a:cs typeface="Times New Roman" panose="02020603050405020304" pitchFamily="18" charset="0"/>
            </a:endParaRPr>
          </a:p>
        </p:txBody>
      </p:sp>
      <p:sp>
        <p:nvSpPr>
          <p:cNvPr id="20" name="Rectangle 19"/>
          <p:cNvSpPr/>
          <p:nvPr/>
        </p:nvSpPr>
        <p:spPr>
          <a:xfrm>
            <a:off x="1331150" y="6060662"/>
            <a:ext cx="10203872" cy="646331"/>
          </a:xfrm>
          <a:prstGeom prst="rect">
            <a:avLst/>
          </a:prstGeom>
        </p:spPr>
        <p:txBody>
          <a:bodyPr wrap="square">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SG" alt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Động cơ trên các tàu VN-A324, VN-A395, VN-A865 xuất hiện nhiều hỏng hóc, hư hại cần khắc phục (Các tàu này sẽ được Cục HKVN kiểm tra CoA trong tháng 06/2025).</a:t>
            </a:r>
            <a:endParaRPr kumimoji="0" lang="en-SG"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61326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31</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5" name="TextBox 4">
            <a:extLst>
              <a:ext uri="{FF2B5EF4-FFF2-40B4-BE49-F238E27FC236}">
                <a16:creationId xmlns:a16="http://schemas.microsoft.com/office/drawing/2014/main" id="{6B0B1C0E-A6D2-430E-B998-576FFBFC494D}"/>
              </a:ext>
            </a:extLst>
          </p:cNvPr>
          <p:cNvSpPr txBox="1"/>
          <p:nvPr/>
        </p:nvSpPr>
        <p:spPr>
          <a:xfrm>
            <a:off x="1488439" y="997877"/>
            <a:ext cx="10080468" cy="461665"/>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3.3.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Chương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trình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đánh</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giá</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của</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Cục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Hàng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không</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nước</a:t>
            </a:r>
            <a:r>
              <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 </a:t>
            </a:r>
            <a:r>
              <a:rPr kumimoji="0" lang="en-US" sz="2400" b="1" i="0" u="none" strike="noStrike" kern="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ngoài</a:t>
            </a:r>
            <a:r>
              <a:rPr kumimoji="0" lang="en-US" sz="2400" b="1" i="0" u="none" strike="noStrike" kern="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a:t>
            </a:r>
            <a:endParaRPr kumimoji="0" lang="en-US" sz="2400" b="1" i="0" u="none" strike="noStrike" kern="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p:txBody>
      </p:sp>
      <p:sp>
        <p:nvSpPr>
          <p:cNvPr id="7" name="Rectangle 6"/>
          <p:cNvSpPr/>
          <p:nvPr/>
        </p:nvSpPr>
        <p:spPr>
          <a:xfrm>
            <a:off x="2044930" y="1395675"/>
            <a:ext cx="9445453" cy="830997"/>
          </a:xfrm>
          <a:prstGeom prst="rect">
            <a:avLst/>
          </a:prstGeom>
        </p:spPr>
        <p:txBody>
          <a:bodyPr wrap="square">
            <a:spAutoFit/>
          </a:bodyPr>
          <a:lstStyle/>
          <a:p>
            <a:pPr marL="342900" marR="0" lvl="0" indent="-342900" algn="just" defTabSz="914400" rtl="0" eaLnBrk="1" fontAlgn="auto" latinLnBrk="0" hangingPunct="1">
              <a:lnSpc>
                <a:spcPct val="100000"/>
              </a:lnSpc>
              <a:spcBef>
                <a:spcPts val="600"/>
              </a:spcBef>
              <a:spcAft>
                <a:spcPts val="0"/>
              </a:spcAft>
              <a:buClrTx/>
              <a:buSzTx/>
              <a:buFontTx/>
              <a:buChar char="-"/>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Ngày </a:t>
            </a:r>
            <a:r>
              <a:rPr kumimoji="0" lang="en-US" altLang="en-US" sz="16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29/04/2025</a:t>
            </a: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SG"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trong khi kiểm tra tàu bay </a:t>
            </a:r>
            <a:r>
              <a:rPr kumimoji="0" lang="en-SG" altLang="en-US" sz="16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A863 </a:t>
            </a:r>
            <a:r>
              <a:rPr kumimoji="0" lang="en-SG"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của TCT tại sân bay MUC, Nhà chức trách Hàng không Đức đã đưa ra </a:t>
            </a:r>
            <a:r>
              <a:rPr kumimoji="0" lang="en-SG" altLang="en-US" sz="16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02 </a:t>
            </a:r>
            <a:r>
              <a:rPr kumimoji="0" lang="en-SG"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khuyến nghị liên quan tới tính trạng kỹ thuật tàu bay. </a:t>
            </a:r>
            <a:r>
              <a:rPr kumimoji="0" lang="en-SG" altLang="en-US" sz="16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Hiện Ban ATCL đang phối hợp cùng Ban KT và VAECO khắc phục và báo cáo Nhà chức trách HK Đức.</a:t>
            </a:r>
            <a:endParaRPr kumimoji="0" lang="en-SG" altLang="en-US"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2460567" y="2319005"/>
            <a:ext cx="8894617" cy="1854872"/>
          </a:xfrm>
          <a:prstGeom prst="rect">
            <a:avLst/>
          </a:prstGeom>
          <a:ln w="6350">
            <a:solidFill>
              <a:schemeClr val="tx1"/>
            </a:solidFill>
          </a:ln>
        </p:spPr>
      </p:pic>
      <p:pic>
        <p:nvPicPr>
          <p:cNvPr id="10" name="Picture 9"/>
          <p:cNvPicPr>
            <a:picLocks noChangeAspect="1"/>
          </p:cNvPicPr>
          <p:nvPr/>
        </p:nvPicPr>
        <p:blipFill>
          <a:blip r:embed="rId5"/>
          <a:stretch>
            <a:fillRect/>
          </a:stretch>
        </p:blipFill>
        <p:spPr>
          <a:xfrm>
            <a:off x="2460568" y="4483003"/>
            <a:ext cx="3890356" cy="2259419"/>
          </a:xfrm>
          <a:prstGeom prst="rect">
            <a:avLst/>
          </a:prstGeom>
        </p:spPr>
      </p:pic>
      <p:pic>
        <p:nvPicPr>
          <p:cNvPr id="11" name="Picture 10"/>
          <p:cNvPicPr>
            <a:picLocks noChangeAspect="1"/>
          </p:cNvPicPr>
          <p:nvPr/>
        </p:nvPicPr>
        <p:blipFill>
          <a:blip r:embed="rId6"/>
          <a:stretch>
            <a:fillRect/>
          </a:stretch>
        </p:blipFill>
        <p:spPr>
          <a:xfrm>
            <a:off x="6854970" y="4543223"/>
            <a:ext cx="4001451" cy="2199200"/>
          </a:xfrm>
          <a:prstGeom prst="rect">
            <a:avLst/>
          </a:prstGeom>
        </p:spPr>
      </p:pic>
    </p:spTree>
    <p:extLst>
      <p:ext uri="{BB962C8B-B14F-4D97-AF65-F5344CB8AC3E}">
        <p14:creationId xmlns:p14="http://schemas.microsoft.com/office/powerpoint/2010/main" val="3564637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32</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016001" y="354778"/>
            <a:ext cx="8110689" cy="69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3.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Chương</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trình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đánh</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giá</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ATCL</a:t>
            </a:r>
          </a:p>
        </p:txBody>
      </p:sp>
      <p:sp>
        <p:nvSpPr>
          <p:cNvPr id="8" name="TextBox 7">
            <a:extLst>
              <a:ext uri="{FF2B5EF4-FFF2-40B4-BE49-F238E27FC236}">
                <a16:creationId xmlns:a16="http://schemas.microsoft.com/office/drawing/2014/main" id="{6B0B1C0E-A6D2-430E-B998-576FFBFC494D}"/>
              </a:ext>
            </a:extLst>
          </p:cNvPr>
          <p:cNvSpPr txBox="1"/>
          <p:nvPr/>
        </p:nvSpPr>
        <p:spPr>
          <a:xfrm>
            <a:off x="1430250" y="1168134"/>
            <a:ext cx="10080468" cy="1036181"/>
          </a:xfrm>
          <a:prstGeom prst="rect">
            <a:avLst/>
          </a:prstGeom>
          <a:noFill/>
        </p:spPr>
        <p:txBody>
          <a:bodyPr wrap="square" rtlCol="0">
            <a:spAutoFit/>
          </a:bodyPr>
          <a:lstStyle/>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3.4. </a:t>
            </a:r>
            <a:r>
              <a:rPr kumimoji="0" lang="en-US" alt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Báo cáo Quản lý rủi ro an toàn: </a:t>
            </a:r>
          </a:p>
          <a:p>
            <a:pPr marL="0" marR="0" lvl="0" indent="0" algn="just" defTabSz="1219170" rtl="0" eaLnBrk="1" fontAlgn="auto" latinLnBrk="0" hangingPunct="1">
              <a:lnSpc>
                <a:spcPct val="100000"/>
              </a:lnSpc>
              <a:spcBef>
                <a:spcPts val="800"/>
              </a:spcBef>
              <a:spcAft>
                <a:spcPts val="800"/>
              </a:spcAft>
              <a:buClr>
                <a:srgbClr val="000000"/>
              </a:buClr>
              <a:buSzTx/>
              <a:buFontTx/>
              <a:buNone/>
              <a:tabLst/>
              <a:defRPr/>
            </a:pPr>
            <a:r>
              <a:rPr kumimoji="0" lang="en-US" sz="2400" b="1" i="0" u="none" strike="noStrike" kern="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3.5. Chương trình đánh giá ATCL nội bộ</a:t>
            </a:r>
            <a:r>
              <a:rPr kumimoji="0" lang="en-US" sz="2400" b="1" i="0" u="none" strike="noStrike" kern="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t>
            </a:r>
          </a:p>
        </p:txBody>
      </p:sp>
    </p:spTree>
    <p:extLst>
      <p:ext uri="{BB962C8B-B14F-4D97-AF65-F5344CB8AC3E}">
        <p14:creationId xmlns:p14="http://schemas.microsoft.com/office/powerpoint/2010/main" val="4032377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33</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4" name="Title 1"/>
          <p:cNvSpPr txBox="1">
            <a:spLocks/>
          </p:cNvSpPr>
          <p:nvPr/>
        </p:nvSpPr>
        <p:spPr bwMode="auto">
          <a:xfrm>
            <a:off x="1190445" y="501901"/>
            <a:ext cx="841114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ctr" anchorCtr="0" compatLnSpc="1">
            <a:prstTxWarp prst="textNoShape">
              <a:avLst/>
            </a:prstTxWarp>
          </a:bodyPr>
          <a:lstStyle>
            <a:lvl1pPr algn="ctr" rtl="0" eaLnBrk="0" fontAlgn="base" hangingPunct="0">
              <a:spcBef>
                <a:spcPct val="0"/>
              </a:spcBef>
              <a:spcAft>
                <a:spcPct val="0"/>
              </a:spcAft>
              <a:defRPr sz="4400" b="1" kern="1200">
                <a:solidFill>
                  <a:srgbClr val="D1930F"/>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rgbClr val="404040"/>
                </a:solidFill>
                <a:latin typeface="Calibri" panose="020F0502020204030204" pitchFamily="34" charset="0"/>
                <a:ea typeface="MS PGothic" panose="020B0600070205080204" pitchFamily="34" charset="-128"/>
                <a:cs typeface="ＭＳ Ｐゴシック" charset="0"/>
              </a:defRPr>
            </a:lvl5pPr>
            <a:lvl6pPr marL="457200" algn="ctr" rtl="0" eaLnBrk="1" fontAlgn="base" hangingPunct="1">
              <a:spcBef>
                <a:spcPct val="0"/>
              </a:spcBef>
              <a:spcAft>
                <a:spcPct val="0"/>
              </a:spcAft>
              <a:defRPr sz="4400">
                <a:solidFill>
                  <a:schemeClr val="bg1"/>
                </a:solidFill>
                <a:latin typeface="Calibri" pitchFamily="34" charset="0"/>
              </a:defRPr>
            </a:lvl6pPr>
            <a:lvl7pPr marL="914400" algn="ctr" rtl="0" eaLnBrk="1" fontAlgn="base" hangingPunct="1">
              <a:spcBef>
                <a:spcPct val="0"/>
              </a:spcBef>
              <a:spcAft>
                <a:spcPct val="0"/>
              </a:spcAft>
              <a:defRPr sz="4400">
                <a:solidFill>
                  <a:schemeClr val="bg1"/>
                </a:solidFill>
                <a:latin typeface="Calibri" pitchFamily="34" charset="0"/>
              </a:defRPr>
            </a:lvl7pPr>
            <a:lvl8pPr marL="1371600" algn="ctr" rtl="0" eaLnBrk="1" fontAlgn="base" hangingPunct="1">
              <a:spcBef>
                <a:spcPct val="0"/>
              </a:spcBef>
              <a:spcAft>
                <a:spcPct val="0"/>
              </a:spcAft>
              <a:defRPr sz="4400">
                <a:solidFill>
                  <a:schemeClr val="bg1"/>
                </a:solidFill>
                <a:latin typeface="Calibri" pitchFamily="34" charset="0"/>
              </a:defRPr>
            </a:lvl8pPr>
            <a:lvl9pPr marL="1828800" algn="ctr" rtl="0" eaLnBrk="1" fontAlgn="base" hangingPunct="1">
              <a:spcBef>
                <a:spcPct val="0"/>
              </a:spcBef>
              <a:spcAft>
                <a:spcPct val="0"/>
              </a:spcAft>
              <a:defRPr sz="4400">
                <a:solidFill>
                  <a:schemeClr val="bg1"/>
                </a:solidFill>
                <a:latin typeface="Calibri" pitchFamily="34" charset="0"/>
              </a:defRPr>
            </a:lvl9pPr>
          </a:lstStyle>
          <a:p>
            <a:pPr marL="0" marR="0" lvl="0" indent="0" algn="l" defTabSz="1219170" rtl="0" eaLnBrk="1" fontAlgn="base" latinLnBrk="0" hangingPunct="1">
              <a:lnSpc>
                <a:spcPct val="100000"/>
              </a:lnSpc>
              <a:spcBef>
                <a:spcPct val="0"/>
              </a:spcBef>
              <a:spcAft>
                <a:spcPct val="0"/>
              </a:spcAft>
              <a:buClr>
                <a:srgbClr val="000000"/>
              </a:buClr>
              <a:buSzTx/>
              <a:buFontTx/>
              <a:buNone/>
              <a:tabLst/>
              <a:defRPr/>
            </a:pP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4.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Rà</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soát</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thực</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dirty="0" err="1">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hiện</a:t>
            </a:r>
            <a:r>
              <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 </a:t>
            </a:r>
            <a:r>
              <a:rPr kumimoji="0" lang="en-US" altLang="en-US" sz="3200" b="1" i="0" u="none" strike="noStrike" kern="1200" cap="none" spc="0" normalizeH="0" baseline="0" noProof="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rPr>
              <a:t>TBKL SAG2</a:t>
            </a:r>
            <a:endParaRPr kumimoji="0" lang="en-US" altLang="en-US" sz="3200" b="1" i="0" u="none" strike="noStrike" kern="1200" cap="none" spc="0" normalizeH="0" baseline="0" noProof="0" dirty="0">
              <a:ln>
                <a:noFill/>
              </a:ln>
              <a:solidFill>
                <a:srgbClr val="F4981C"/>
              </a:solidFill>
              <a:effectLst/>
              <a:uLnTx/>
              <a:uFillTx/>
              <a:latin typeface="Times New Roman" panose="02020603050405020304" pitchFamily="18" charset="0"/>
              <a:ea typeface="MS PGothic" panose="020B0600070205080204" pitchFamily="34" charset="-128"/>
              <a:cs typeface="Times New Roman" panose="02020603050405020304" pitchFamily="18" charset="0"/>
              <a:sym typeface="Arial"/>
            </a:endParaRPr>
          </a:p>
        </p:txBody>
      </p:sp>
      <p:sp>
        <p:nvSpPr>
          <p:cNvPr id="5" name="Content Placeholder 1">
            <a:extLst>
              <a:ext uri="{FF2B5EF4-FFF2-40B4-BE49-F238E27FC236}">
                <a16:creationId xmlns:a16="http://schemas.microsoft.com/office/drawing/2014/main" id="{A48FD03A-A3A2-400F-9862-F7429338E7A7}"/>
              </a:ext>
            </a:extLst>
          </p:cNvPr>
          <p:cNvSpPr txBox="1">
            <a:spLocks/>
          </p:cNvSpPr>
          <p:nvPr/>
        </p:nvSpPr>
        <p:spPr>
          <a:xfrm>
            <a:off x="1286468" y="1337631"/>
            <a:ext cx="10175729" cy="5243474"/>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719657" marR="0" lvl="0" indent="-342900" algn="just" defTabSz="1219170" rtl="0" eaLnBrk="1" fontAlgn="auto" latinLnBrk="0" hangingPunct="1">
              <a:lnSpc>
                <a:spcPct val="100000"/>
              </a:lnSpc>
              <a:spcBef>
                <a:spcPts val="0"/>
              </a:spcBef>
              <a:spcAft>
                <a:spcPts val="0"/>
              </a:spcAft>
              <a:buClr>
                <a:srgbClr val="000000"/>
              </a:buClr>
              <a:buSzTx/>
              <a:buFont typeface="+mj-lt"/>
              <a:buAutoNum type="arabicPeriod"/>
              <a:tabLst/>
              <a:defRPr/>
            </a:pP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SAG2-04/2025-01</a:t>
            </a:r>
            <a:r>
              <a:rPr kumimoji="0" lang="en-US" sz="18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Đối với công tác báo cáo, giải trình các khuyến cáo COA với </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CHK:</a:t>
            </a:r>
          </a:p>
          <a:p>
            <a:pPr marL="1176857" marR="0" lvl="1" indent="-342900" algn="just"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Đối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với công tác báo cáo, giải trình các khuyến cáo COA với CHK: VAECO đã phối hợp với SQD VNA đánh giá, tìm nguyên nhân gốc và đề ra các giải pháp khắc phục hiệu quả </a:t>
            </a:r>
            <a:r>
              <a:rPr kumimoji="0" lang="en-US" sz="18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25.</a:t>
            </a:r>
          </a:p>
          <a:p>
            <a:pPr marL="1176857" marR="0" lvl="1" indent="-342900" algn="just" defTabSz="1219170" rtl="0" eaLnBrk="1" fontAlgn="auto" latinLnBrk="0" hangingPunct="1">
              <a:lnSpc>
                <a:spcPct val="100000"/>
              </a:lnSpc>
              <a:spcBef>
                <a:spcPts val="0"/>
              </a:spcBef>
              <a:spcAft>
                <a:spcPts val="0"/>
              </a:spcAft>
              <a:buClr>
                <a:srgbClr val="000000"/>
              </a:buClr>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Đối với công tác CMR: VAECO nhắc nhở các NVKT chủ động, nâng cao chất lượng báo cáo, giải trình khắc phục các khuyến cáo đùng hạn</a:t>
            </a:r>
          </a:p>
          <a:p>
            <a:pPr marL="719657" marR="0" lvl="0" indent="-342900" algn="just" defTabSz="1219170" rtl="0" eaLnBrk="1" fontAlgn="auto" latinLnBrk="0" hangingPunct="1">
              <a:lnSpc>
                <a:spcPct val="100000"/>
              </a:lnSpc>
              <a:spcBef>
                <a:spcPts val="0"/>
              </a:spcBef>
              <a:spcAft>
                <a:spcPts val="0"/>
              </a:spcAft>
              <a:buClr>
                <a:srgbClr val="000000"/>
              </a:buClr>
              <a:buSzTx/>
              <a:buFont typeface="+mj-lt"/>
              <a:buAutoNum type="arabicPeriod"/>
              <a:tabLst/>
              <a:defRPr/>
            </a:pPr>
            <a:endParaRPr kumimoji="0" lang="en-US" sz="18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684212" marR="0" lvl="0" indent="-342900" algn="just" defTabSz="914400" rtl="0" eaLnBrk="1" fontAlgn="auto" latinLnBrk="0" hangingPunct="1">
              <a:lnSpc>
                <a:spcPct val="100000"/>
              </a:lnSpc>
              <a:spcBef>
                <a:spcPts val="300"/>
              </a:spcBef>
              <a:spcAft>
                <a:spcPts val="0"/>
              </a:spcAft>
              <a:buClr>
                <a:srgbClr val="000000"/>
              </a:buClr>
              <a:buSzTx/>
              <a:buFont typeface="+mj-lt"/>
              <a:buAutoNum type="arabicPeriod"/>
              <a:tabLst/>
              <a:defRPr/>
            </a:pPr>
            <a:r>
              <a:rPr kumimoji="0" lang="en-US" sz="1800" b="1"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SAG2-04/2025-02: </a:t>
            </a:r>
            <a:r>
              <a:rPr kumimoji="0" lang="en-US" sz="18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rPr>
              <a:t>Đối với chỉ số nhân nhượng loại 2 (CMS,MME,AMP…) chưa đạt mục tiêu</a:t>
            </a: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sym typeface="Arial"/>
              </a:rPr>
              <a:t>: Ban KT đã phối hợp với VAECO và Ban QLVT đánh giá task, thay đổi kế hoạch bảo dưỡng sớm hạn chế xin nhân nhượng.</a:t>
            </a:r>
            <a:endParaRPr kumimoji="0" lang="en-US" sz="1400" b="0" i="0" u="none" strike="noStrike" kern="120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endParaRPr>
          </a:p>
          <a:p>
            <a:pPr marL="1291146" marR="0" lvl="1" indent="-457189" algn="just" defTabSz="1219170" rtl="0" eaLnBrk="1" fontAlgn="auto" latinLnBrk="0" hangingPunct="1">
              <a:lnSpc>
                <a:spcPct val="120000"/>
              </a:lnSpc>
              <a:spcBef>
                <a:spcPts val="800"/>
              </a:spcBef>
              <a:spcAft>
                <a:spcPts val="800"/>
              </a:spcAft>
              <a:buClr>
                <a:srgbClr val="000000"/>
              </a:buClr>
              <a:buSzTx/>
              <a:buFont typeface="+mj-lt"/>
              <a:buAutoNum type="arabicPeriod"/>
              <a:tabLst/>
              <a:defRPr/>
            </a:pPr>
            <a:endParaRPr kumimoji="0" lang="en-US" sz="1600" b="0" i="0" u="none" strike="noStrike" kern="0" cap="none" spc="0" normalizeH="0" baseline="0" noProof="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270200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34</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
        <p:nvSpPr>
          <p:cNvPr id="6" name="Title 1"/>
          <p:cNvSpPr>
            <a:spLocks noGrp="1"/>
          </p:cNvSpPr>
          <p:nvPr>
            <p:ph type="title"/>
          </p:nvPr>
        </p:nvSpPr>
        <p:spPr>
          <a:xfrm>
            <a:off x="953668" y="802843"/>
            <a:ext cx="9759821" cy="658791"/>
          </a:xfrm>
        </p:spPr>
        <p:txBody>
          <a:bodyPr>
            <a:noAutofit/>
          </a:bodyPr>
          <a:lstStyle/>
          <a:p>
            <a:r>
              <a:rPr lang="en-US" altLang="en-US" sz="3200" dirty="0">
                <a:solidFill>
                  <a:schemeClr val="accent1"/>
                </a:solidFill>
                <a:latin typeface="Times New Roman" panose="02020603050405020304" pitchFamily="18" charset="0"/>
                <a:cs typeface="Times New Roman" panose="02020603050405020304" pitchFamily="18" charset="0"/>
              </a:rPr>
              <a:t>5. </a:t>
            </a:r>
            <a:r>
              <a:rPr lang="en-US" altLang="en-US" sz="3200" err="1">
                <a:solidFill>
                  <a:schemeClr val="accent1"/>
                </a:solidFill>
                <a:latin typeface="Times New Roman" panose="02020603050405020304" pitchFamily="18" charset="0"/>
                <a:cs typeface="Times New Roman" panose="02020603050405020304" pitchFamily="18" charset="0"/>
              </a:rPr>
              <a:t>Đề</a:t>
            </a:r>
            <a:r>
              <a:rPr lang="en-US" altLang="en-US" sz="3200">
                <a:solidFill>
                  <a:schemeClr val="accent1"/>
                </a:solidFill>
                <a:latin typeface="Times New Roman" panose="02020603050405020304" pitchFamily="18" charset="0"/>
                <a:cs typeface="Times New Roman" panose="02020603050405020304" pitchFamily="18" charset="0"/>
              </a:rPr>
              <a:t> </a:t>
            </a:r>
            <a:r>
              <a:rPr lang="en-US" altLang="en-US" sz="3200" smtClean="0">
                <a:solidFill>
                  <a:schemeClr val="accent1"/>
                </a:solidFill>
                <a:latin typeface="Times New Roman" panose="02020603050405020304" pitchFamily="18" charset="0"/>
                <a:cs typeface="Times New Roman" panose="02020603050405020304" pitchFamily="18" charset="0"/>
              </a:rPr>
              <a:t>xuất</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dirty="0" err="1">
                <a:solidFill>
                  <a:schemeClr val="accent1"/>
                </a:solidFill>
                <a:latin typeface="Times New Roman" panose="02020603050405020304" pitchFamily="18" charset="0"/>
                <a:cs typeface="Times New Roman" panose="02020603050405020304" pitchFamily="18" charset="0"/>
              </a:rPr>
              <a:t>kiến</a:t>
            </a:r>
            <a:r>
              <a:rPr lang="en-US" altLang="en-US" sz="3200" dirty="0">
                <a:solidFill>
                  <a:schemeClr val="accent1"/>
                </a:solidFill>
                <a:latin typeface="Times New Roman" panose="02020603050405020304" pitchFamily="18" charset="0"/>
                <a:cs typeface="Times New Roman" panose="02020603050405020304" pitchFamily="18" charset="0"/>
              </a:rPr>
              <a:t> </a:t>
            </a:r>
            <a:r>
              <a:rPr lang="en-US" altLang="en-US" sz="3200" err="1">
                <a:solidFill>
                  <a:schemeClr val="accent1"/>
                </a:solidFill>
                <a:latin typeface="Times New Roman" panose="02020603050405020304" pitchFamily="18" charset="0"/>
                <a:cs typeface="Times New Roman" panose="02020603050405020304" pitchFamily="18" charset="0"/>
              </a:rPr>
              <a:t>nghị</a:t>
            </a:r>
            <a:r>
              <a:rPr lang="en-US" altLang="en-US" sz="3200" smtClean="0">
                <a:solidFill>
                  <a:schemeClr val="accent1"/>
                </a:solidFill>
                <a:latin typeface="Times New Roman" panose="02020603050405020304" pitchFamily="18" charset="0"/>
                <a:cs typeface="Times New Roman" panose="02020603050405020304" pitchFamily="18" charset="0"/>
              </a:rPr>
              <a:t>:</a:t>
            </a:r>
            <a:endParaRPr lang="en-US" sz="1600" b="0" dirty="0">
              <a:ln w="0"/>
              <a:solidFill>
                <a:schemeClr val="tx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Box 7"/>
          <p:cNvSpPr txBox="1"/>
          <p:nvPr/>
        </p:nvSpPr>
        <p:spPr>
          <a:xfrm>
            <a:off x="1365162" y="1671065"/>
            <a:ext cx="10148552" cy="6463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t>Ban ATCL đề nghị Ban KT phối hợp cùng VAECO khắc phục các khuyến cáo trong đợt CMR tháng 04/2025 để chuẩn bị cho đợt kiểm tra CoA của Cục HKVN ngay sau đợt nghỉ lễ 30/4-01/5.</a:t>
            </a: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08078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vi" sz="8800" b="1" i="1" u="none" strike="noStrike" kern="0" cap="none" spc="0" normalizeH="0" baseline="0" noProof="0">
                <a:ln>
                  <a:noFill/>
                </a:ln>
                <a:solidFill>
                  <a:srgbClr val="FFFFFF"/>
                </a:solidFill>
                <a:effectLst/>
                <a:uLnTx/>
                <a:uFillTx/>
                <a:latin typeface="Montserrat SemiBold"/>
                <a:ea typeface="Montserrat SemiBold"/>
                <a:cs typeface="Montserrat SemiBold"/>
                <a:sym typeface="Montserrat SemiBold"/>
              </a:rPr>
              <a:t>THANK YOU</a:t>
            </a:r>
            <a:endParaRPr kumimoji="0" sz="8800" b="1" i="1" u="none" strike="noStrike" kern="0" cap="none" spc="0" normalizeH="0" baseline="0" noProof="0">
              <a:ln>
                <a:noFill/>
              </a:ln>
              <a:solidFill>
                <a:srgbClr val="FFFFFF"/>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vi" sz="1333" b="0" i="0" u="none" strike="noStrike" kern="0" cap="none" spc="0" normalizeH="0" baseline="0" noProof="0">
                <a:ln>
                  <a:noFill/>
                </a:ln>
                <a:solidFill>
                  <a:srgbClr val="595959"/>
                </a:solidFill>
                <a:effectLst/>
                <a:uLnTx/>
                <a:uFillTx/>
                <a:latin typeface="Arial"/>
                <a:ea typeface="+mn-ea"/>
                <a:cs typeface="Arial"/>
                <a:sym typeface="Arial"/>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35</a:t>
            </a:fld>
            <a:endParaRPr kumimoji="0" sz="1333" b="0" i="0" u="none" strike="noStrike" kern="0" cap="none" spc="0" normalizeH="0" baseline="0" noProof="0">
              <a:ln>
                <a:noFill/>
              </a:ln>
              <a:solidFill>
                <a:srgbClr val="595959"/>
              </a:solidFill>
              <a:effectLst/>
              <a:uLnTx/>
              <a:uFillTx/>
              <a:latin typeface="Arial"/>
              <a:ea typeface="+mn-ea"/>
              <a:cs typeface="Arial"/>
              <a:sym typeface="Arial"/>
            </a:endParaRPr>
          </a:p>
        </p:txBody>
      </p:sp>
    </p:spTree>
    <p:extLst>
      <p:ext uri="{BB962C8B-B14F-4D97-AF65-F5344CB8AC3E}">
        <p14:creationId xmlns:p14="http://schemas.microsoft.com/office/powerpoint/2010/main" val="1438274215"/>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62C4D0B-4776-4B9F-BFF4-14AD9C064BEC}" vid="{EA26718F-40DF-485E-8FDB-B96BA292128A}"/>
    </a:ext>
  </a:extLst>
</a:theme>
</file>

<file path=ppt/theme/theme2.xml><?xml version="1.0" encoding="utf-8"?>
<a:theme xmlns:a="http://schemas.openxmlformats.org/drawingml/2006/main" name="4_PowerPoint Master Template 2015 final_1672015_1028_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Master Template 2015 final.potx" id="{5EFD6593-F448-4BAC-916E-A23054C3F549}" vid="{39D11665-5681-4729-BA29-5E99D4B28A25}"/>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Read-Only)" id="{51302CA3-94BA-A64F-9952-FCC845B2353F}" vid="{A1500935-33A5-5140-ABF7-B64B65B1FE0E}"/>
    </a:ext>
  </a:extLst>
</a:theme>
</file>

<file path=ppt/theme/theme4.xml><?xml version="1.0" encoding="utf-8"?>
<a:theme xmlns:a="http://schemas.openxmlformats.org/drawingml/2006/main" name="5_PowerPoint Master Template 2015 final_1672015_1028_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Master Template 2015 final.potx" id="{5EFD6593-F448-4BAC-916E-A23054C3F549}" vid="{39D11665-5681-4729-BA29-5E99D4B28A25}"/>
    </a:ext>
  </a:extLst>
</a:theme>
</file>

<file path=ppt/theme/theme5.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Read-Only)" id="{51302CA3-94BA-A64F-9952-FCC845B2353F}" vid="{A1500935-33A5-5140-ABF7-B64B65B1FE0E}"/>
    </a:ext>
  </a:extLst>
</a:theme>
</file>

<file path=ppt/theme/theme6.xml><?xml version="1.0" encoding="utf-8"?>
<a:theme xmlns:a="http://schemas.openxmlformats.org/drawingml/2006/main" name="6_PowerPoint Master Template 2015 final_1672015_1028_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Master Template 2015 final.potx" id="{5EFD6593-F448-4BAC-916E-A23054C3F549}" vid="{39D11665-5681-4729-BA29-5E99D4B28A25}"/>
    </a:ext>
  </a:extLst>
</a:theme>
</file>

<file path=ppt/theme/theme7.xml><?xml version="1.0" encoding="utf-8"?>
<a:theme xmlns:a="http://schemas.openxmlformats.org/drawingml/2006/main" name="1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62C4D0B-4776-4B9F-BFF4-14AD9C064BEC}" vid="{EA26718F-40DF-485E-8FDB-B96BA292128A}"/>
    </a:ext>
  </a:extLst>
</a:theme>
</file>

<file path=ppt/theme/theme9.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62C4D0B-4776-4B9F-BFF4-14AD9C064BEC}" vid="{EA26718F-40DF-485E-8FDB-B96BA292128A}"/>
    </a:ext>
  </a:extLst>
</a:theme>
</file>

<file path=ppt/theme/theme10.xml><?xml version="1.0" encoding="utf-8"?>
<a:theme xmlns:a="http://schemas.openxmlformats.org/drawingml/2006/main" name="3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062C4D0B-4776-4B9F-BFF4-14AD9C064BEC}" vid="{EA26718F-40DF-485E-8FDB-B96BA292128A}"/>
    </a:ext>
  </a:extLst>
</a:theme>
</file>

<file path=ppt/theme/theme11.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4981C"/>
      </a:accent1>
      <a:accent2>
        <a:srgbClr val="212121"/>
      </a:accent2>
      <a:accent3>
        <a:srgbClr val="9CD6DF"/>
      </a:accent3>
      <a:accent4>
        <a:srgbClr val="FFBD0E"/>
      </a:accent4>
      <a:accent5>
        <a:srgbClr val="0097A7"/>
      </a:accent5>
      <a:accent6>
        <a:srgbClr val="DEA610"/>
      </a:accent6>
      <a:hlink>
        <a:srgbClr val="00688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9Slide.vn</Template>
  <TotalTime>71591</TotalTime>
  <Words>5474</Words>
  <Application>Microsoft Office PowerPoint</Application>
  <PresentationFormat>Widescreen</PresentationFormat>
  <Paragraphs>795</Paragraphs>
  <Slides>35</Slides>
  <Notes>35</Notes>
  <HiddenSlides>10</HiddenSlides>
  <MMClips>0</MMClips>
  <ScaleCrop>false</ScaleCrop>
  <HeadingPairs>
    <vt:vector size="6" baseType="variant">
      <vt:variant>
        <vt:lpstr>Fonts Used</vt:lpstr>
      </vt:variant>
      <vt:variant>
        <vt:i4>10</vt:i4>
      </vt:variant>
      <vt:variant>
        <vt:lpstr>Theme</vt:lpstr>
      </vt:variant>
      <vt:variant>
        <vt:i4>11</vt:i4>
      </vt:variant>
      <vt:variant>
        <vt:lpstr>Slide Titles</vt:lpstr>
      </vt:variant>
      <vt:variant>
        <vt:i4>35</vt:i4>
      </vt:variant>
    </vt:vector>
  </HeadingPairs>
  <TitlesOfParts>
    <vt:vector size="56" baseType="lpstr">
      <vt:lpstr>ＭＳ Ｐゴシック</vt:lpstr>
      <vt:lpstr>ＭＳ Ｐゴシック</vt:lpstr>
      <vt:lpstr>Arial</vt:lpstr>
      <vt:lpstr>Calibri</vt:lpstr>
      <vt:lpstr>Cambria</vt:lpstr>
      <vt:lpstr>Montserrat</vt:lpstr>
      <vt:lpstr>Montserrat SemiBold</vt:lpstr>
      <vt:lpstr>Tahoma</vt:lpstr>
      <vt:lpstr>Times New Roman</vt:lpstr>
      <vt:lpstr>Wingdings</vt:lpstr>
      <vt:lpstr>Theme1</vt:lpstr>
      <vt:lpstr>4_PowerPoint Master Template 2015 final_1672015_1028_15</vt:lpstr>
      <vt:lpstr>1_Office Theme</vt:lpstr>
      <vt:lpstr>5_PowerPoint Master Template 2015 final_1672015_1028_15</vt:lpstr>
      <vt:lpstr>8_Office Theme</vt:lpstr>
      <vt:lpstr>6_PowerPoint Master Template 2015 final_1672015_1028_15</vt:lpstr>
      <vt:lpstr>12_Office Theme</vt:lpstr>
      <vt:lpstr>2_Theme1</vt:lpstr>
      <vt:lpstr>1_Theme1</vt:lpstr>
      <vt:lpstr>3_Theme1</vt:lpstr>
      <vt:lpstr>1_Simple Light</vt:lpstr>
      <vt:lpstr>BÁO CÁO QUẢN LÝ AN TOÀN THÁNG 04 NĂM 2025  (LĨNH VỰC KỸ THUẬT VÀ BẢO DƯỠNG TÀU BAY)                                                                                                                                                                                     Hà Nội, ngày 08 tháng 05 năm 2025 </vt:lpstr>
      <vt:lpstr>PowerPoint Presentation</vt:lpstr>
      <vt:lpstr>1. Tình hình sự cố, vụ việc an toàn (MOR M&amp;E) &amp; KPI</vt:lpstr>
      <vt:lpstr>PowerPoint Presentation</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PowerPoint Presentation</vt:lpstr>
      <vt:lpstr>PowerPoint Presentation</vt:lpstr>
      <vt:lpstr>PowerPoint Presentation</vt:lpstr>
      <vt:lpstr>1. Tình hình sự cố, vụ việc an toàn (MOR M&amp;E) &amp; KPI</vt:lpstr>
      <vt:lpstr>1. Tình hình sự cố, vụ việc an toàn (MOR M&amp;E) &amp; KPI</vt:lpstr>
      <vt:lpstr>PowerPoint Presentation</vt:lpstr>
      <vt:lpstr>1. Tình hình sự cố, vụ việc an toàn (MOR M&amp;E) &amp; KPI</vt:lpstr>
      <vt:lpstr>1. Tình hình sự cố, vụ việc an toàn (MOR M&amp;E) &amp; KPI</vt:lpstr>
      <vt:lpstr>1. Tình hình sự cố, vụ việc an toàn (MOR M&amp;E) &amp; KPI</vt:lpstr>
      <vt:lpstr>PowerPoint Presentation</vt:lpstr>
      <vt:lpstr>PowerPoint Presentation</vt:lpstr>
      <vt:lpstr>1. Tình hình sự cố, vụ việc an toàn (MOR M&amp;E) &amp; KPI</vt:lpstr>
      <vt:lpstr>2. Các vụ việc an toàn khác tháng 04.2025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Đề xuất, kiến nghị:</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ADMIN</dc:creator>
  <dc:description>9Slide.vn</dc:description>
  <cp:lastModifiedBy>Thang Nguyen Chien</cp:lastModifiedBy>
  <cp:revision>3228</cp:revision>
  <cp:lastPrinted>2022-02-07T08:21:51Z</cp:lastPrinted>
  <dcterms:created xsi:type="dcterms:W3CDTF">2020-06-30T09:16:03Z</dcterms:created>
  <dcterms:modified xsi:type="dcterms:W3CDTF">2025-05-16T07:03:08Z</dcterms:modified>
  <cp:category>9Slide.vn</cp:category>
</cp:coreProperties>
</file>