
<file path=[Content_Types].xml><?xml version="1.0" encoding="utf-8"?>
<Types xmlns="http://schemas.openxmlformats.org/package/2006/content-types">
  <Default Extension="png" ContentType="image/png"/>
  <Default Extension="bin" ContentType="image/unknown"/>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charts/chart7.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3.xml" ContentType="application/vnd.openxmlformats-officedocument.drawingml.chart+xml"/>
  <Override PartName="/ppt/notesSlides/notesSlide37.xml" ContentType="application/vnd.openxmlformats-officedocument.presentationml.notesSlide+xml"/>
  <Override PartName="/ppt/charts/chart14.xml" ContentType="application/vnd.openxmlformats-officedocument.drawingml.chart+xml"/>
  <Override PartName="/ppt/charts/style8.xml" ContentType="application/vnd.ms-office.chartstyle+xml"/>
  <Override PartName="/ppt/charts/colors8.xml" ContentType="application/vnd.ms-office.chartcolorstyle+xml"/>
  <Override PartName="/ppt/theme/themeOverride2.xml" ContentType="application/vnd.openxmlformats-officedocument.themeOverride+xml"/>
  <Override PartName="/ppt/notesSlides/notesSlide38.xml" ContentType="application/vnd.openxmlformats-officedocument.presentationml.notesSlide+xml"/>
  <Override PartName="/ppt/charts/chart15.xml" ContentType="application/vnd.openxmlformats-officedocument.drawingml.chart+xml"/>
  <Override PartName="/ppt/charts/style9.xml" ContentType="application/vnd.ms-office.chartstyle+xml"/>
  <Override PartName="/ppt/charts/colors9.xml" ContentType="application/vnd.ms-office.chartcolorstyle+xml"/>
  <Override PartName="/ppt/theme/themeOverride3.xml" ContentType="application/vnd.openxmlformats-officedocument.themeOverride+xml"/>
  <Override PartName="/ppt/notesSlides/notesSlide39.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4.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 id="2147483741" r:id="rId5"/>
  </p:sldMasterIdLst>
  <p:notesMasterIdLst>
    <p:notesMasterId r:id="rId75"/>
  </p:notesMasterIdLst>
  <p:sldIdLst>
    <p:sldId id="11486" r:id="rId6"/>
    <p:sldId id="11487" r:id="rId7"/>
    <p:sldId id="11488" r:id="rId8"/>
    <p:sldId id="12707" r:id="rId9"/>
    <p:sldId id="11493" r:id="rId10"/>
    <p:sldId id="12708" r:id="rId11"/>
    <p:sldId id="12709" r:id="rId12"/>
    <p:sldId id="12710" r:id="rId13"/>
    <p:sldId id="12573" r:id="rId14"/>
    <p:sldId id="12711" r:id="rId15"/>
    <p:sldId id="12712" r:id="rId16"/>
    <p:sldId id="12713" r:id="rId17"/>
    <p:sldId id="12714" r:id="rId18"/>
    <p:sldId id="12715" r:id="rId19"/>
    <p:sldId id="12701" r:id="rId20"/>
    <p:sldId id="12702" r:id="rId21"/>
    <p:sldId id="12716" r:id="rId22"/>
    <p:sldId id="12717" r:id="rId23"/>
    <p:sldId id="12718" r:id="rId24"/>
    <p:sldId id="12703" r:id="rId25"/>
    <p:sldId id="12704" r:id="rId26"/>
    <p:sldId id="12689" r:id="rId27"/>
    <p:sldId id="12690" r:id="rId28"/>
    <p:sldId id="12612" r:id="rId29"/>
    <p:sldId id="12691" r:id="rId30"/>
    <p:sldId id="12584" r:id="rId31"/>
    <p:sldId id="12538" r:id="rId32"/>
    <p:sldId id="12539" r:id="rId33"/>
    <p:sldId id="12541" r:id="rId34"/>
    <p:sldId id="12692" r:id="rId35"/>
    <p:sldId id="12693" r:id="rId36"/>
    <p:sldId id="12694" r:id="rId37"/>
    <p:sldId id="12695" r:id="rId38"/>
    <p:sldId id="12696" r:id="rId39"/>
    <p:sldId id="12697" r:id="rId40"/>
    <p:sldId id="12698" r:id="rId41"/>
    <p:sldId id="12699" r:id="rId42"/>
    <p:sldId id="12700" r:id="rId43"/>
    <p:sldId id="12705" r:id="rId44"/>
    <p:sldId id="12706" r:id="rId45"/>
    <p:sldId id="12683" r:id="rId46"/>
    <p:sldId id="12684" r:id="rId47"/>
    <p:sldId id="12685" r:id="rId48"/>
    <p:sldId id="11545" r:id="rId49"/>
    <p:sldId id="12686" r:id="rId50"/>
    <p:sldId id="12687" r:id="rId51"/>
    <p:sldId id="12688" r:id="rId52"/>
    <p:sldId id="12663" r:id="rId53"/>
    <p:sldId id="12664" r:id="rId54"/>
    <p:sldId id="12665" r:id="rId55"/>
    <p:sldId id="12666" r:id="rId56"/>
    <p:sldId id="12667" r:id="rId57"/>
    <p:sldId id="12668" r:id="rId58"/>
    <p:sldId id="12669" r:id="rId59"/>
    <p:sldId id="12670" r:id="rId60"/>
    <p:sldId id="12671" r:id="rId61"/>
    <p:sldId id="12672" r:id="rId62"/>
    <p:sldId id="12673" r:id="rId63"/>
    <p:sldId id="12674" r:id="rId64"/>
    <p:sldId id="12675" r:id="rId65"/>
    <p:sldId id="12676" r:id="rId66"/>
    <p:sldId id="12677" r:id="rId67"/>
    <p:sldId id="12678" r:id="rId68"/>
    <p:sldId id="12679" r:id="rId69"/>
    <p:sldId id="12680" r:id="rId70"/>
    <p:sldId id="12681" r:id="rId71"/>
    <p:sldId id="12682" r:id="rId72"/>
    <p:sldId id="12637" r:id="rId73"/>
    <p:sldId id="11888" r:id="rId74"/>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5F6E"/>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32" autoAdjust="0"/>
    <p:restoredTop sz="94374" autoAdjust="0"/>
  </p:normalViewPr>
  <p:slideViewPr>
    <p:cSldViewPr>
      <p:cViewPr varScale="1">
        <p:scale>
          <a:sx n="84" d="100"/>
          <a:sy n="84" d="100"/>
        </p:scale>
        <p:origin x="490" y="82"/>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slide" Target="slides/slide69.xml"/><Relationship Id="rId79"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commentAuthors" Target="commentAuthor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charts/_rels/chart1.xml.rels><?xml version="1.0" encoding="UTF-8" standalone="yes"?>
<Relationships xmlns="http://schemas.openxmlformats.org/package/2006/relationships"><Relationship Id="rId2" Type="http://schemas.openxmlformats.org/officeDocument/2006/relationships/oleObject" Target="file:///D:\Documents\01.%20VNA\01.%20MOC\02.%20C&#244;ng%20vi&#7879;c%20chung\03.%20B&#225;o%20c&#225;o%20tu&#7847;n\2025%20W26\W26%20(23-29.06.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6\W26%20(23-29.06.2025).xlsx" TargetMode="External"/></Relationships>
</file>

<file path=ppt/charts/_rels/chart3.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26\W26%20(23-29.06.2025).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oleObject" Target="file:///D:\Documents\01.%20VNA\01.%20MOC\02.%20C&#244;ng%20vi&#7879;c%20chung\03.%20B&#225;o%20c&#225;o%20tu&#7847;n\2025%20W26\W26%20(23-29.06.2025).xlsx"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6\W26%20(23-29.06.2025).xlsx"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6\W26%20(23-29.06.2025).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GOOGLE%20DRIVE-cty\BAO%20CAO%20DO%20TIN%20CAY\BAO%20CAO%20TUAN\BC%20chu%20nhat\2025\26\DR-W26.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1" Type="http://schemas.openxmlformats.org/officeDocument/2006/relationships/oleObject" Target="file:///D:\Documents\01.%20VNA\01.%20MOC\02.%20C&#244;ng%20vi&#7879;c%20chung\03.%20B&#225;o%20c&#225;o%20tu&#7847;n\2025%20W26\W26%20(23-29.06.2025).xlsx" TargetMode="External"/></Relationships>
</file>

<file path=ppt/charts/_rels/chart1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8.xml"/><Relationship Id="rId1" Type="http://schemas.microsoft.com/office/2011/relationships/chartStyle" Target="style8.xml"/><Relationship Id="rId4" Type="http://schemas.openxmlformats.org/officeDocument/2006/relationships/oleObject" Target="file:///D:\P.MOC\B&#225;o%20c&#225;o%20tu&#7847;n\L&#7883;ch%20bay%20h&#224;ng%20tu&#7847;n%202025%201.xlsx" TargetMode="External"/></Relationships>
</file>

<file path=ppt/charts/_rels/chart1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9.xml"/><Relationship Id="rId1" Type="http://schemas.microsoft.com/office/2011/relationships/chartStyle" Target="style9.xml"/><Relationship Id="rId4" Type="http://schemas.openxmlformats.org/officeDocument/2006/relationships/oleObject" Target="file:///D:\P.MOC\B&#225;o%20c&#225;o%20tu&#7847;n\L&#7883;ch%20bay%20h&#224;ng%20tu&#7847;n%202025%201.xlsx" TargetMode="Externa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201.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13</c:v>
                </c:pt>
                <c:pt idx="2">
                  <c:v>0</c:v>
                </c:pt>
                <c:pt idx="3">
                  <c:v>1</c:v>
                </c:pt>
                <c:pt idx="4">
                  <c:v>0</c:v>
                </c:pt>
                <c:pt idx="5">
                  <c:v>14</c:v>
                </c:pt>
              </c:numCache>
            </c:numRef>
          </c:val>
          <c:extLst xmlns:c15="http://schemas.microsoft.com/office/drawing/2012/chart">
            <c:ext xmlns:c16="http://schemas.microsoft.com/office/drawing/2014/chart" uri="{C3380CC4-5D6E-409C-BE32-E72D297353CC}">
              <c16:uniqueId val="{00000000-77E0-4EE2-8F19-DE9A26D3DC1B}"/>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5</c:v>
                </c:pt>
                <c:pt idx="2">
                  <c:v>1</c:v>
                </c:pt>
                <c:pt idx="3">
                  <c:v>1</c:v>
                </c:pt>
                <c:pt idx="4">
                  <c:v>2</c:v>
                </c:pt>
                <c:pt idx="5">
                  <c:v>9</c:v>
                </c:pt>
              </c:numCache>
            </c:numRef>
          </c:val>
          <c:extLst>
            <c:ext xmlns:c16="http://schemas.microsoft.com/office/drawing/2014/chart" uri="{C3380CC4-5D6E-409C-BE32-E72D297353CC}">
              <c16:uniqueId val="{00000001-77E0-4EE2-8F19-DE9A26D3DC1B}"/>
            </c:ext>
          </c:extLst>
        </c:ser>
        <c:dLbls>
          <c:dLblPos val="outEnd"/>
          <c:showLegendKey val="0"/>
          <c:showVal val="1"/>
          <c:showCatName val="0"/>
          <c:showSerName val="0"/>
          <c:showPercent val="0"/>
          <c:showBubbleSize val="0"/>
        </c:dLbls>
        <c:gapWidth val="219"/>
        <c:overlap val="-27"/>
        <c:axId val="338769072"/>
        <c:axId val="338766720"/>
        <c:extLst/>
      </c:barChart>
      <c:catAx>
        <c:axId val="3387690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6720"/>
        <c:crosses val="autoZero"/>
        <c:auto val="1"/>
        <c:lblAlgn val="ctr"/>
        <c:lblOffset val="100"/>
        <c:noMultiLvlLbl val="0"/>
      </c:catAx>
      <c:valAx>
        <c:axId val="3387667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38769072"/>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layout/>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2</c:v>
                </c:pt>
                <c:pt idx="2">
                  <c:v>0</c:v>
                </c:pt>
                <c:pt idx="3">
                  <c:v>0</c:v>
                </c:pt>
                <c:pt idx="4">
                  <c:v>0</c:v>
                </c:pt>
                <c:pt idx="5">
                  <c:v>2</c:v>
                </c:pt>
              </c:numCache>
            </c:numRef>
          </c:val>
          <c:extLst xmlns:c15="http://schemas.microsoft.com/office/drawing/2012/chart">
            <c:ext xmlns:c16="http://schemas.microsoft.com/office/drawing/2014/chart" uri="{C3380CC4-5D6E-409C-BE32-E72D297353CC}">
              <c16:uniqueId val="{00000000-0E12-4CF0-8CFD-9713A247AA9E}"/>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0</c:v>
                </c:pt>
                <c:pt idx="2">
                  <c:v>0</c:v>
                </c:pt>
                <c:pt idx="3">
                  <c:v>0</c:v>
                </c:pt>
                <c:pt idx="4">
                  <c:v>1</c:v>
                </c:pt>
                <c:pt idx="5">
                  <c:v>1</c:v>
                </c:pt>
              </c:numCache>
            </c:numRef>
          </c:val>
          <c:extLst>
            <c:ext xmlns:c16="http://schemas.microsoft.com/office/drawing/2014/chart" uri="{C3380CC4-5D6E-409C-BE32-E72D297353CC}">
              <c16:uniqueId val="{00000001-0E12-4CF0-8CFD-9713A247AA9E}"/>
            </c:ext>
          </c:extLst>
        </c:ser>
        <c:dLbls>
          <c:showLegendKey val="0"/>
          <c:showVal val="0"/>
          <c:showCatName val="0"/>
          <c:showSerName val="0"/>
          <c:showPercent val="0"/>
          <c:showBubbleSize val="0"/>
        </c:dLbls>
        <c:gapWidth val="219"/>
        <c:overlap val="-27"/>
        <c:axId val="338762408"/>
        <c:axId val="338765152"/>
        <c:extLst/>
      </c:barChart>
      <c:catAx>
        <c:axId val="338762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5152"/>
        <c:crosses val="autoZero"/>
        <c:auto val="1"/>
        <c:lblAlgn val="ctr"/>
        <c:lblOffset val="100"/>
        <c:noMultiLvlLbl val="0"/>
      </c:catAx>
      <c:valAx>
        <c:axId val="3387651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876240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4</c:v>
                </c:pt>
                <c:pt idx="2">
                  <c:v>0</c:v>
                </c:pt>
                <c:pt idx="3">
                  <c:v>0</c:v>
                </c:pt>
                <c:pt idx="4">
                  <c:v>0</c:v>
                </c:pt>
                <c:pt idx="5">
                  <c:v>4</c:v>
                </c:pt>
              </c:numCache>
            </c:numRef>
          </c:val>
          <c:extLst xmlns:c15="http://schemas.microsoft.com/office/drawing/2012/chart">
            <c:ext xmlns:c16="http://schemas.microsoft.com/office/drawing/2014/chart" uri="{C3380CC4-5D6E-409C-BE32-E72D297353CC}">
              <c16:uniqueId val="{00000000-BB71-46E7-82FA-B0B9787F6B29}"/>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0</c:v>
                </c:pt>
                <c:pt idx="2">
                  <c:v>2</c:v>
                </c:pt>
                <c:pt idx="3">
                  <c:v>0</c:v>
                </c:pt>
                <c:pt idx="4">
                  <c:v>1</c:v>
                </c:pt>
                <c:pt idx="5">
                  <c:v>3</c:v>
                </c:pt>
              </c:numCache>
            </c:numRef>
          </c:val>
          <c:extLst>
            <c:ext xmlns:c16="http://schemas.microsoft.com/office/drawing/2014/chart" uri="{C3380CC4-5D6E-409C-BE32-E72D297353CC}">
              <c16:uniqueId val="{00000001-BB71-46E7-82FA-B0B9787F6B29}"/>
            </c:ext>
          </c:extLst>
        </c:ser>
        <c:dLbls>
          <c:dLblPos val="outEnd"/>
          <c:showLegendKey val="0"/>
          <c:showVal val="1"/>
          <c:showCatName val="0"/>
          <c:showSerName val="0"/>
          <c:showPercent val="0"/>
          <c:showBubbleSize val="0"/>
        </c:dLbls>
        <c:gapWidth val="219"/>
        <c:overlap val="-27"/>
        <c:axId val="339892808"/>
        <c:axId val="339894376"/>
        <c:extLst/>
      </c:barChart>
      <c:catAx>
        <c:axId val="3398928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4376"/>
        <c:crosses val="autoZero"/>
        <c:auto val="1"/>
        <c:lblAlgn val="ctr"/>
        <c:lblOffset val="100"/>
        <c:noMultiLvlLbl val="0"/>
      </c:catAx>
      <c:valAx>
        <c:axId val="339894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92808"/>
        <c:crosses val="autoZero"/>
        <c:crossBetween val="between"/>
        <c:majorUnit val="3"/>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0</c:v>
                </c:pt>
                <c:pt idx="3">
                  <c:v>0</c:v>
                </c:pt>
                <c:pt idx="4">
                  <c:v>0</c:v>
                </c:pt>
                <c:pt idx="5">
                  <c:v>0</c:v>
                </c:pt>
              </c:numCache>
            </c:numRef>
          </c:val>
          <c:extLst xmlns:c15="http://schemas.microsoft.com/office/drawing/2012/chart">
            <c:ext xmlns:c16="http://schemas.microsoft.com/office/drawing/2014/chart" uri="{C3380CC4-5D6E-409C-BE32-E72D297353CC}">
              <c16:uniqueId val="{00000000-2A45-4859-96EC-8D2B4178BBEA}"/>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2A45-4859-96EC-8D2B4178BBEA}"/>
            </c:ext>
          </c:extLst>
        </c:ser>
        <c:dLbls>
          <c:showLegendKey val="0"/>
          <c:showVal val="0"/>
          <c:showCatName val="0"/>
          <c:showSerName val="0"/>
          <c:showPercent val="0"/>
          <c:showBubbleSize val="0"/>
        </c:dLbls>
        <c:gapWidth val="219"/>
        <c:overlap val="-27"/>
        <c:axId val="339888104"/>
        <c:axId val="339889672"/>
        <c:extLst/>
      </c:barChart>
      <c:catAx>
        <c:axId val="3398881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9672"/>
        <c:crosses val="autoZero"/>
        <c:auto val="1"/>
        <c:lblAlgn val="ctr"/>
        <c:lblOffset val="100"/>
        <c:noMultiLvlLbl val="0"/>
      </c:catAx>
      <c:valAx>
        <c:axId val="3398896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9888104"/>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layout/>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'[W26 (23-29.06.2025).xlsx]Thống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'[W26 (23-29.06.2025).xlsx]Thống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3178-4682-9B63-5E1D8AC67AD7}"/>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'[W26 (23-29.06.2025).xlsx]Thống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'[W26 (23-29.06.2025).xlsx]Thống kê ATB, GTB'!$F$3:$F$54</c:f>
              <c:numCache>
                <c:formatCode>General</c:formatCode>
                <c:ptCount val="52"/>
                <c:pt idx="0">
                  <c:v>0</c:v>
                </c:pt>
                <c:pt idx="1">
                  <c:v>0</c:v>
                </c:pt>
                <c:pt idx="2">
                  <c:v>0</c:v>
                </c:pt>
                <c:pt idx="3">
                  <c:v>0</c:v>
                </c:pt>
                <c:pt idx="4">
                  <c:v>0</c:v>
                </c:pt>
                <c:pt idx="5">
                  <c:v>0</c:v>
                </c:pt>
                <c:pt idx="6">
                  <c:v>0</c:v>
                </c:pt>
                <c:pt idx="7">
                  <c:v>0</c:v>
                </c:pt>
                <c:pt idx="8">
                  <c:v>0</c:v>
                </c:pt>
                <c:pt idx="9">
                  <c:v>1</c:v>
                </c:pt>
                <c:pt idx="10">
                  <c:v>0</c:v>
                </c:pt>
                <c:pt idx="11">
                  <c:v>0</c:v>
                </c:pt>
                <c:pt idx="12">
                  <c:v>0</c:v>
                </c:pt>
                <c:pt idx="13">
                  <c:v>0</c:v>
                </c:pt>
                <c:pt idx="14">
                  <c:v>1</c:v>
                </c:pt>
                <c:pt idx="15">
                  <c:v>0</c:v>
                </c:pt>
                <c:pt idx="16">
                  <c:v>0</c:v>
                </c:pt>
                <c:pt idx="17">
                  <c:v>0</c:v>
                </c:pt>
                <c:pt idx="18">
                  <c:v>2</c:v>
                </c:pt>
                <c:pt idx="19">
                  <c:v>1</c:v>
                </c:pt>
                <c:pt idx="20">
                  <c:v>0</c:v>
                </c:pt>
                <c:pt idx="21">
                  <c:v>0</c:v>
                </c:pt>
                <c:pt idx="22">
                  <c:v>0</c:v>
                </c:pt>
                <c:pt idx="23">
                  <c:v>0</c:v>
                </c:pt>
                <c:pt idx="24">
                  <c:v>0</c:v>
                </c:pt>
                <c:pt idx="25">
                  <c:v>0</c:v>
                </c:pt>
              </c:numCache>
            </c:numRef>
          </c:val>
          <c:smooth val="0"/>
          <c:extLst>
            <c:ext xmlns:c16="http://schemas.microsoft.com/office/drawing/2014/chart" uri="{C3380CC4-5D6E-409C-BE32-E72D297353CC}">
              <c16:uniqueId val="{00000001-3178-4682-9B63-5E1D8AC67AD7}"/>
            </c:ext>
          </c:extLst>
        </c:ser>
        <c:dLbls>
          <c:showLegendKey val="0"/>
          <c:showVal val="0"/>
          <c:showCatName val="0"/>
          <c:showSerName val="0"/>
          <c:showPercent val="0"/>
          <c:showBubbleSize val="0"/>
        </c:dLbls>
        <c:marker val="1"/>
        <c:smooth val="0"/>
        <c:axId val="333287248"/>
        <c:axId val="333290384"/>
      </c:lineChart>
      <c:catAx>
        <c:axId val="3332872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90384"/>
        <c:crosses val="autoZero"/>
        <c:auto val="1"/>
        <c:lblAlgn val="ctr"/>
        <c:lblOffset val="100"/>
        <c:noMultiLvlLbl val="0"/>
      </c:catAx>
      <c:valAx>
        <c:axId val="3332903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7248"/>
        <c:crosses val="autoZero"/>
        <c:crossBetween val="between"/>
        <c:majorUnit val="1"/>
        <c:minorUnit val="1"/>
      </c:valAx>
      <c:spPr>
        <a:noFill/>
        <a:ln>
          <a:solidFill>
            <a:schemeClr val="tx1">
              <a:lumMod val="25000"/>
              <a:lumOff val="75000"/>
            </a:schemeClr>
          </a:solid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layout/>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'[W26 (23-29.06.2025).xlsx]Thống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E494-4E46-B4E5-92FFF0930E53}"/>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'[W26 (23-29.06.2025).xlsx]Thống kê ATB, GTB'!$G$3:$G$54</c:f>
              <c:numCache>
                <c:formatCode>General</c:formatCode>
                <c:ptCount val="52"/>
                <c:pt idx="0">
                  <c:v>1</c:v>
                </c:pt>
                <c:pt idx="1">
                  <c:v>2</c:v>
                </c:pt>
                <c:pt idx="2">
                  <c:v>1</c:v>
                </c:pt>
                <c:pt idx="3">
                  <c:v>3</c:v>
                </c:pt>
                <c:pt idx="4">
                  <c:v>3</c:v>
                </c:pt>
                <c:pt idx="5">
                  <c:v>1</c:v>
                </c:pt>
                <c:pt idx="6">
                  <c:v>3</c:v>
                </c:pt>
                <c:pt idx="7">
                  <c:v>2</c:v>
                </c:pt>
                <c:pt idx="8">
                  <c:v>4</c:v>
                </c:pt>
                <c:pt idx="9">
                  <c:v>3</c:v>
                </c:pt>
                <c:pt idx="10">
                  <c:v>1</c:v>
                </c:pt>
                <c:pt idx="11">
                  <c:v>1</c:v>
                </c:pt>
                <c:pt idx="12">
                  <c:v>0</c:v>
                </c:pt>
                <c:pt idx="13">
                  <c:v>3</c:v>
                </c:pt>
                <c:pt idx="14">
                  <c:v>0</c:v>
                </c:pt>
                <c:pt idx="15">
                  <c:v>3</c:v>
                </c:pt>
                <c:pt idx="16">
                  <c:v>3</c:v>
                </c:pt>
                <c:pt idx="17">
                  <c:v>0</c:v>
                </c:pt>
                <c:pt idx="18">
                  <c:v>2</c:v>
                </c:pt>
                <c:pt idx="19">
                  <c:v>2</c:v>
                </c:pt>
                <c:pt idx="20">
                  <c:v>2</c:v>
                </c:pt>
                <c:pt idx="21">
                  <c:v>2</c:v>
                </c:pt>
                <c:pt idx="22">
                  <c:v>3</c:v>
                </c:pt>
                <c:pt idx="23">
                  <c:v>5</c:v>
                </c:pt>
                <c:pt idx="24">
                  <c:v>2</c:v>
                </c:pt>
                <c:pt idx="25">
                  <c:v>1</c:v>
                </c:pt>
              </c:numCache>
            </c:numRef>
          </c:val>
          <c:smooth val="0"/>
          <c:extLst>
            <c:ext xmlns:c16="http://schemas.microsoft.com/office/drawing/2014/chart" uri="{C3380CC4-5D6E-409C-BE32-E72D297353CC}">
              <c16:uniqueId val="{00000001-E494-4E46-B4E5-92FFF0930E53}"/>
            </c:ext>
          </c:extLst>
        </c:ser>
        <c:dLbls>
          <c:showLegendKey val="0"/>
          <c:showVal val="0"/>
          <c:showCatName val="0"/>
          <c:showSerName val="0"/>
          <c:showPercent val="0"/>
          <c:showBubbleSize val="0"/>
        </c:dLbls>
        <c:marker val="1"/>
        <c:smooth val="0"/>
        <c:axId val="333289992"/>
        <c:axId val="333286464"/>
      </c:lineChart>
      <c:catAx>
        <c:axId val="333289992"/>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6464"/>
        <c:crosses val="autoZero"/>
        <c:auto val="1"/>
        <c:lblAlgn val="ctr"/>
        <c:lblOffset val="100"/>
        <c:noMultiLvlLbl val="0"/>
      </c:catAx>
      <c:valAx>
        <c:axId val="33328646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332899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W25</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D66F-4E6C-A45A-4479F3A6C389}"/>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99.450333725952106</c:v>
                </c:pt>
                <c:pt idx="1">
                  <c:v>100</c:v>
                </c:pt>
                <c:pt idx="2">
                  <c:v>99.513381995133827</c:v>
                </c:pt>
                <c:pt idx="3">
                  <c:v>100</c:v>
                </c:pt>
              </c:numCache>
            </c:numRef>
          </c:val>
          <c:extLst>
            <c:ext xmlns:c16="http://schemas.microsoft.com/office/drawing/2014/chart" uri="{C3380CC4-5D6E-409C-BE32-E72D297353CC}">
              <c16:uniqueId val="{00000001-D66F-4E6C-A45A-4479F3A6C389}"/>
            </c:ext>
          </c:extLst>
        </c:ser>
        <c:ser>
          <c:idx val="1"/>
          <c:order val="1"/>
          <c:tx>
            <c:strRef>
              <c:f>DR!$D$3</c:f>
              <c:strCache>
                <c:ptCount val="1"/>
                <c:pt idx="0">
                  <c:v>W26</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99.844115354637566</c:v>
                </c:pt>
                <c:pt idx="1">
                  <c:v>99.090909090909093</c:v>
                </c:pt>
                <c:pt idx="2">
                  <c:v>99.75</c:v>
                </c:pt>
                <c:pt idx="3">
                  <c:v>98.514851485148512</c:v>
                </c:pt>
              </c:numCache>
            </c:numRef>
          </c:val>
          <c:extLst>
            <c:ext xmlns:c16="http://schemas.microsoft.com/office/drawing/2014/chart" uri="{C3380CC4-5D6E-409C-BE32-E72D297353CC}">
              <c16:uniqueId val="{00000002-D66F-4E6C-A45A-4479F3A6C389}"/>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66F-4E6C-A45A-4479F3A6C389}"/>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4-D66F-4E6C-A45A-4479F3A6C389}"/>
            </c:ext>
          </c:extLst>
        </c:ser>
        <c:dLbls>
          <c:showLegendKey val="0"/>
          <c:showVal val="0"/>
          <c:showCatName val="0"/>
          <c:showSerName val="0"/>
          <c:showPercent val="0"/>
          <c:showBubbleSize val="0"/>
        </c:dLbls>
        <c:gapWidth val="219"/>
        <c:overlap val="-27"/>
        <c:axId val="-1877735920"/>
        <c:axId val="-187774244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5-D66F-4E6C-A45A-4479F3A6C389}"/>
                  </c:ext>
                </c:extLst>
              </c15:ser>
            </c15:filteredBarSeries>
          </c:ext>
        </c:extLst>
      </c:barChart>
      <c:catAx>
        <c:axId val="-1877735920"/>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1877742448"/>
        <c:crosses val="autoZero"/>
        <c:auto val="1"/>
        <c:lblAlgn val="ctr"/>
        <c:lblOffset val="100"/>
        <c:noMultiLvlLbl val="0"/>
      </c:catAx>
      <c:valAx>
        <c:axId val="-187774244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1877735920"/>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Sheet1!$D$8:$BC$8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Sheet1!$D$9:$BC$9</c:f>
              <c:numCache>
                <c:formatCode>General</c:formatCode>
                <c:ptCount val="12"/>
                <c:pt idx="0">
                  <c:v>25</c:v>
                </c:pt>
                <c:pt idx="1">
                  <c:v>24</c:v>
                </c:pt>
                <c:pt idx="2">
                  <c:v>24</c:v>
                </c:pt>
                <c:pt idx="3">
                  <c:v>24</c:v>
                </c:pt>
                <c:pt idx="4">
                  <c:v>24</c:v>
                </c:pt>
                <c:pt idx="5">
                  <c:v>22</c:v>
                </c:pt>
                <c:pt idx="6">
                  <c:v>20</c:v>
                </c:pt>
                <c:pt idx="7">
                  <c:v>20</c:v>
                </c:pt>
                <c:pt idx="8">
                  <c:v>19</c:v>
                </c:pt>
                <c:pt idx="9">
                  <c:v>20</c:v>
                </c:pt>
                <c:pt idx="10">
                  <c:v>21</c:v>
                </c:pt>
                <c:pt idx="11">
                  <c:v>22</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Sheet1!$D$10:$BC$10</c:f>
              <c:numCache>
                <c:formatCode>General</c:formatCode>
                <c:ptCount val="12"/>
                <c:pt idx="0">
                  <c:v>4</c:v>
                </c:pt>
                <c:pt idx="1">
                  <c:v>4</c:v>
                </c:pt>
                <c:pt idx="2">
                  <c:v>3</c:v>
                </c:pt>
                <c:pt idx="3">
                  <c:v>2</c:v>
                </c:pt>
                <c:pt idx="4">
                  <c:v>2</c:v>
                </c:pt>
                <c:pt idx="5">
                  <c:v>2</c:v>
                </c:pt>
                <c:pt idx="6">
                  <c:v>2</c:v>
                </c:pt>
                <c:pt idx="7">
                  <c:v>1</c:v>
                </c:pt>
                <c:pt idx="8">
                  <c:v>0</c:v>
                </c:pt>
                <c:pt idx="9">
                  <c:v>1</c:v>
                </c:pt>
                <c:pt idx="10">
                  <c:v>1</c:v>
                </c:pt>
                <c:pt idx="11">
                  <c:v>1</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Sheet1!$D$11:$BC$11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ysClr val="windowText" lastClr="000000"/>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Sheet1!$D$7:$BC$7</c:f>
              <c:strCache>
                <c:ptCount val="12"/>
                <c:pt idx="0">
                  <c:v>June-W1</c:v>
                </c:pt>
                <c:pt idx="1">
                  <c:v>June-W2</c:v>
                </c:pt>
                <c:pt idx="2">
                  <c:v>June-W3</c:v>
                </c:pt>
                <c:pt idx="3">
                  <c:v>June-W4</c:v>
                </c:pt>
                <c:pt idx="4">
                  <c:v>July-W1</c:v>
                </c:pt>
                <c:pt idx="5">
                  <c:v>July-W2</c:v>
                </c:pt>
                <c:pt idx="6">
                  <c:v>July-W3</c:v>
                </c:pt>
                <c:pt idx="7">
                  <c:v>July-W4</c:v>
                </c:pt>
                <c:pt idx="8">
                  <c:v>Aug-W1</c:v>
                </c:pt>
                <c:pt idx="9">
                  <c:v>Aug-W2</c:v>
                </c:pt>
                <c:pt idx="10">
                  <c:v>Aug-W3</c:v>
                </c:pt>
                <c:pt idx="11">
                  <c:v>Aug-W4</c:v>
                </c:pt>
              </c:strCache>
            </c:strRef>
          </c:cat>
          <c:val>
            <c:numRef>
              <c:f>Sheet1!$D$12:$BC$12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630326240"/>
        <c:axId val="630315360"/>
      </c:lineChart>
      <c:catAx>
        <c:axId val="6303262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15360"/>
        <c:crosses val="autoZero"/>
        <c:auto val="1"/>
        <c:lblAlgn val="ctr"/>
        <c:lblOffset val="100"/>
        <c:tickMarkSkip val="1"/>
        <c:noMultiLvlLbl val="0"/>
      </c:catAx>
      <c:valAx>
        <c:axId val="630315360"/>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630326240"/>
        <c:crosses val="autoZero"/>
        <c:crossBetween val="between"/>
      </c:valAx>
      <c:spPr>
        <a:noFill/>
        <a:ln>
          <a:noFill/>
        </a:ln>
        <a:effectLst/>
      </c:spPr>
    </c:plotArea>
    <c:legend>
      <c:legendPos val="b"/>
      <c:layout>
        <c:manualLayout>
          <c:xMode val="edge"/>
          <c:yMode val="edge"/>
          <c:x val="0.64598125529584383"/>
          <c:y val="0.49764284272158282"/>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Sheet1!$C$22:$C$33</c:f>
              <c:numCache>
                <c:formatCode>General</c:formatCode>
                <c:ptCount val="12"/>
                <c:pt idx="0">
                  <c:v>14.25</c:v>
                </c:pt>
                <c:pt idx="1">
                  <c:v>13.75</c:v>
                </c:pt>
                <c:pt idx="2">
                  <c:v>15.25</c:v>
                </c:pt>
                <c:pt idx="3">
                  <c:v>15</c:v>
                </c:pt>
                <c:pt idx="4">
                  <c:v>14.5</c:v>
                </c:pt>
                <c:pt idx="5">
                  <c:v>12.25</c:v>
                </c:pt>
                <c:pt idx="6">
                  <c:v>11.5</c:v>
                </c:pt>
                <c:pt idx="7">
                  <c:v>11.5</c:v>
                </c:pt>
                <c:pt idx="8">
                  <c:v>11.75</c:v>
                </c:pt>
                <c:pt idx="9">
                  <c:v>11</c:v>
                </c:pt>
                <c:pt idx="10">
                  <c:v>12</c:v>
                </c:pt>
                <c:pt idx="11">
                  <c:v>12</c:v>
                </c:pt>
              </c:numCache>
            </c:numRef>
          </c:val>
          <c:smooth val="0"/>
          <c:extLst>
            <c:ext xmlns:c16="http://schemas.microsoft.com/office/drawing/2014/chart" uri="{C3380CC4-5D6E-409C-BE32-E72D297353CC}">
              <c16:uniqueId val="{00000001-6D6A-460E-8E11-3C956E9EF4D8}"/>
            </c:ext>
          </c:extLst>
        </c:ser>
        <c:ser>
          <c:idx val="0"/>
          <c:order val="1"/>
          <c:tx>
            <c:strRef>
              <c:f>Sheet1!$D$1</c:f>
              <c:strCache>
                <c:ptCount val="1"/>
                <c:pt idx="0">
                  <c:v>Add 02 Lease giữa T7</c:v>
                </c:pt>
              </c:strCache>
            </c:strRef>
          </c:tx>
          <c:spPr>
            <a:ln w="28575" cap="rnd">
              <a:solidFill>
                <a:srgbClr val="005F6E"/>
              </a:solidFill>
              <a:round/>
            </a:ln>
            <a:effectLst/>
          </c:spPr>
          <c:marker>
            <c:symbol val="circle"/>
            <c:size val="25"/>
            <c:spPr>
              <a:solidFill>
                <a:srgbClr val="005F6E"/>
              </a:solidFill>
              <a:ln w="9525">
                <a:solidFill>
                  <a:srgbClr val="005F6E"/>
                </a:solidFill>
              </a:ln>
              <a:effectLst/>
            </c:spPr>
          </c:marker>
          <c:dPt>
            <c:idx val="5"/>
            <c:marker>
              <c:symbol val="circle"/>
              <c:size val="25"/>
              <c:spPr>
                <a:noFill/>
                <a:ln w="9525">
                  <a:noFill/>
                </a:ln>
                <a:effectLst/>
              </c:spPr>
            </c:marker>
            <c:bubble3D val="0"/>
            <c:spPr>
              <a:ln w="28575" cap="rnd">
                <a:noFill/>
                <a:round/>
              </a:ln>
              <a:effectLst/>
            </c:spPr>
            <c:extLst>
              <c:ext xmlns:c16="http://schemas.microsoft.com/office/drawing/2014/chart" uri="{C3380CC4-5D6E-409C-BE32-E72D297353CC}">
                <c16:uniqueId val="{00000002-BADC-4A39-B3FA-08B2A3E82B11}"/>
              </c:ext>
            </c:extLst>
          </c:dPt>
          <c:dLbls>
            <c:dLbl>
              <c:idx val="5"/>
              <c:delete val="1"/>
              <c:extLst>
                <c:ext xmlns:c15="http://schemas.microsoft.com/office/drawing/2012/chart" uri="{CE6537A1-D6FC-4f65-9D91-7224C49458BB}"/>
                <c:ext xmlns:c16="http://schemas.microsoft.com/office/drawing/2014/chart" uri="{C3380CC4-5D6E-409C-BE32-E72D297353CC}">
                  <c16:uniqueId val="{00000002-BADC-4A39-B3FA-08B2A3E82B11}"/>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Sheet1!$A$22:$A$33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Sheet1!$D$22:$D$33</c:f>
              <c:numCache>
                <c:formatCode>General</c:formatCode>
                <c:ptCount val="12"/>
                <c:pt idx="5">
                  <c:v>12.25</c:v>
                </c:pt>
                <c:pt idx="6">
                  <c:v>10.75</c:v>
                </c:pt>
                <c:pt idx="7">
                  <c:v>10.5</c:v>
                </c:pt>
                <c:pt idx="8">
                  <c:v>10.75</c:v>
                </c:pt>
                <c:pt idx="9">
                  <c:v>10</c:v>
                </c:pt>
                <c:pt idx="10">
                  <c:v>11</c:v>
                </c:pt>
                <c:pt idx="11">
                  <c:v>11</c:v>
                </c:pt>
              </c:numCache>
            </c:numRef>
          </c:val>
          <c:smooth val="0"/>
          <c:extLst>
            <c:ext xmlns:c16="http://schemas.microsoft.com/office/drawing/2014/chart" uri="{C3380CC4-5D6E-409C-BE32-E72D297353CC}">
              <c16:uniqueId val="{00000001-BADC-4A39-B3FA-08B2A3E82B11}"/>
            </c:ext>
          </c:extLst>
        </c:ser>
        <c:dLbls>
          <c:dLblPos val="ctr"/>
          <c:showLegendKey val="0"/>
          <c:showVal val="1"/>
          <c:showCatName val="0"/>
          <c:showSerName val="0"/>
          <c:showPercent val="0"/>
          <c:showBubbleSize val="0"/>
        </c:dLbls>
        <c:marker val="1"/>
        <c:smooth val="0"/>
        <c:axId val="630318080"/>
        <c:axId val="630326784"/>
      </c:lineChart>
      <c:catAx>
        <c:axId val="630318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6784"/>
        <c:crosses val="autoZero"/>
        <c:auto val="1"/>
        <c:lblAlgn val="ctr"/>
        <c:lblOffset val="100"/>
        <c:noMultiLvlLbl val="0"/>
      </c:catAx>
      <c:valAx>
        <c:axId val="630326784"/>
        <c:scaling>
          <c:orientation val="minMax"/>
          <c:max val="16"/>
          <c:min val="9"/>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18080"/>
        <c:crosses val="autoZero"/>
        <c:crossBetween val="between"/>
        <c:majorUnit val="1"/>
      </c:valAx>
      <c:spPr>
        <a:noFill/>
        <a:ln>
          <a:noFill/>
        </a:ln>
        <a:effectLst/>
      </c:spPr>
    </c:plotArea>
    <c:legend>
      <c:legendPos val="r"/>
      <c:layout>
        <c:manualLayout>
          <c:xMode val="edge"/>
          <c:yMode val="edge"/>
          <c:x val="0.6014428597681637"/>
          <c:y val="0.17217252125015778"/>
          <c:w val="0.29325237236090818"/>
          <c:h val="0.1374579457963205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5482037403852709"/>
        </c:manualLayout>
      </c:layout>
      <c:lineChart>
        <c:grouping val="standard"/>
        <c:varyColors val="0"/>
        <c:ser>
          <c:idx val="5"/>
          <c:order val="0"/>
          <c:tx>
            <c:strRef>
              <c:f>Sheet1!$B$1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Sheet1!$A$14:$A$29</c:f>
              <c:strCache>
                <c:ptCount val="16"/>
                <c:pt idx="0">
                  <c:v>Jun-W1</c:v>
                </c:pt>
                <c:pt idx="1">
                  <c:v>Jun-W2</c:v>
                </c:pt>
                <c:pt idx="2">
                  <c:v>Jun-W3</c:v>
                </c:pt>
                <c:pt idx="3">
                  <c:v>Jun-W4</c:v>
                </c:pt>
                <c:pt idx="4">
                  <c:v>Jul-W1</c:v>
                </c:pt>
                <c:pt idx="5">
                  <c:v>Jul-W2</c:v>
                </c:pt>
                <c:pt idx="6">
                  <c:v>Jul-W3</c:v>
                </c:pt>
                <c:pt idx="7">
                  <c:v>Jul-W4</c:v>
                </c:pt>
                <c:pt idx="8">
                  <c:v>Aug-W1</c:v>
                </c:pt>
                <c:pt idx="9">
                  <c:v>Aug-W2</c:v>
                </c:pt>
                <c:pt idx="10">
                  <c:v>Aug-W3</c:v>
                </c:pt>
                <c:pt idx="11">
                  <c:v>Aug-W4</c:v>
                </c:pt>
                <c:pt idx="12">
                  <c:v>Sep-W1</c:v>
                </c:pt>
                <c:pt idx="13">
                  <c:v>Sep-W2</c:v>
                </c:pt>
                <c:pt idx="14">
                  <c:v>Sep-W3</c:v>
                </c:pt>
                <c:pt idx="15">
                  <c:v>Sep-W4</c:v>
                </c:pt>
              </c:strCache>
            </c:strRef>
          </c:cat>
          <c:val>
            <c:numRef>
              <c:f>Sheet1!$B$14:$B$29</c:f>
              <c:numCache>
                <c:formatCode>General</c:formatCode>
                <c:ptCount val="16"/>
                <c:pt idx="0">
                  <c:v>17</c:v>
                </c:pt>
                <c:pt idx="1">
                  <c:v>17</c:v>
                </c:pt>
                <c:pt idx="2">
                  <c:v>17</c:v>
                </c:pt>
                <c:pt idx="3">
                  <c:v>17</c:v>
                </c:pt>
                <c:pt idx="4">
                  <c:v>17</c:v>
                </c:pt>
                <c:pt idx="5">
                  <c:v>17</c:v>
                </c:pt>
                <c:pt idx="6">
                  <c:v>17</c:v>
                </c:pt>
                <c:pt idx="7">
                  <c:v>17</c:v>
                </c:pt>
                <c:pt idx="8">
                  <c:v>17</c:v>
                </c:pt>
                <c:pt idx="9">
                  <c:v>17</c:v>
                </c:pt>
                <c:pt idx="10">
                  <c:v>17</c:v>
                </c:pt>
                <c:pt idx="11">
                  <c:v>17</c:v>
                </c:pt>
                <c:pt idx="12">
                  <c:v>17</c:v>
                </c:pt>
                <c:pt idx="13">
                  <c:v>17</c:v>
                </c:pt>
                <c:pt idx="14">
                  <c:v>17</c:v>
                </c:pt>
                <c:pt idx="15">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630327328"/>
        <c:axId val="630318624"/>
      </c:lineChart>
      <c:catAx>
        <c:axId val="630327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630318624"/>
        <c:crosses val="autoZero"/>
        <c:auto val="1"/>
        <c:lblAlgn val="ctr"/>
        <c:lblOffset val="100"/>
        <c:noMultiLvlLbl val="0"/>
      </c:catAx>
      <c:valAx>
        <c:axId val="630318624"/>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73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lineChart>
        <c:grouping val="standard"/>
        <c:varyColors val="0"/>
        <c:ser>
          <c:idx val="4"/>
          <c:order val="0"/>
          <c:tx>
            <c:strRef>
              <c:f>Sheet1!$C$1</c:f>
              <c:strCache>
                <c:ptCount val="1"/>
                <c:pt idx="0">
                  <c:v>KB Hiện tại</c:v>
                </c:pt>
              </c:strCache>
            </c:strRef>
          </c:tx>
          <c:spPr>
            <a:ln w="28575" cap="rnd">
              <a:solidFill>
                <a:srgbClr val="ED0000"/>
              </a:solidFill>
              <a:round/>
            </a:ln>
            <a:effectLst/>
          </c:spPr>
          <c:marker>
            <c:symbol val="circle"/>
            <c:size val="25"/>
            <c:spPr>
              <a:solidFill>
                <a:srgbClr val="ED0000"/>
              </a:solidFill>
              <a:ln w="9525">
                <a:solidFill>
                  <a:srgbClr val="ED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bg1"/>
                    </a:solidFill>
                    <a:latin typeface="Arial Narrow" panose="020B060602020203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Sheet1!$C$10:$C$33</c:f>
              <c:numCache>
                <c:formatCode>General</c:formatCode>
                <c:ptCount val="12"/>
                <c:pt idx="0">
                  <c:v>4</c:v>
                </c:pt>
                <c:pt idx="1">
                  <c:v>4</c:v>
                </c:pt>
                <c:pt idx="2">
                  <c:v>4</c:v>
                </c:pt>
                <c:pt idx="3">
                  <c:v>4.5</c:v>
                </c:pt>
                <c:pt idx="4">
                  <c:v>3</c:v>
                </c:pt>
                <c:pt idx="5">
                  <c:v>1.75</c:v>
                </c:pt>
                <c:pt idx="6">
                  <c:v>1.25</c:v>
                </c:pt>
                <c:pt idx="7">
                  <c:v>1.5</c:v>
                </c:pt>
                <c:pt idx="8">
                  <c:v>1.5</c:v>
                </c:pt>
                <c:pt idx="9">
                  <c:v>2</c:v>
                </c:pt>
                <c:pt idx="10">
                  <c:v>2</c:v>
                </c:pt>
                <c:pt idx="11">
                  <c:v>1</c:v>
                </c:pt>
              </c:numCache>
            </c:numRef>
          </c:val>
          <c:smooth val="0"/>
          <c:extLst>
            <c:ext xmlns:c16="http://schemas.microsoft.com/office/drawing/2014/chart" uri="{C3380CC4-5D6E-409C-BE32-E72D297353CC}">
              <c16:uniqueId val="{00000001-6D6A-460E-8E11-3C956E9EF4D8}"/>
            </c:ext>
          </c:extLst>
        </c:ser>
        <c:dLbls>
          <c:dLblPos val="ctr"/>
          <c:showLegendKey val="0"/>
          <c:showVal val="1"/>
          <c:showCatName val="0"/>
          <c:showSerName val="0"/>
          <c:showPercent val="0"/>
          <c:showBubbleSize val="0"/>
        </c:dLbls>
        <c:marker val="1"/>
        <c:smooth val="0"/>
        <c:axId val="767025936"/>
        <c:axId val="767022672"/>
      </c:lineChart>
      <c:catAx>
        <c:axId val="7670259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767022672"/>
        <c:crosses val="autoZero"/>
        <c:auto val="1"/>
        <c:lblAlgn val="ctr"/>
        <c:lblOffset val="100"/>
        <c:noMultiLvlLbl val="0"/>
      </c:catAx>
      <c:valAx>
        <c:axId val="767022672"/>
        <c:scaling>
          <c:orientation val="minMax"/>
          <c:max val="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767025936"/>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rgbClr val="00B050"/>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8232-42A9-B081-335E4E0E9C0E}"/>
            </c:ext>
          </c:extLst>
        </c:ser>
        <c:dLbls>
          <c:dLblPos val="ctr"/>
          <c:showLegendKey val="0"/>
          <c:showVal val="1"/>
          <c:showCatName val="0"/>
          <c:showSerName val="0"/>
          <c:showPercent val="0"/>
          <c:showBubbleSize val="0"/>
        </c:dLbls>
        <c:gapWidth val="150"/>
        <c:axId val="630322432"/>
        <c:axId val="630322976"/>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5</c:v>
                </c:pt>
                <c:pt idx="7">
                  <c:v>5</c:v>
                </c:pt>
                <c:pt idx="8">
                  <c:v>5</c:v>
                </c:pt>
                <c:pt idx="9">
                  <c:v>5</c:v>
                </c:pt>
                <c:pt idx="10">
                  <c:v>5</c:v>
                </c:pt>
                <c:pt idx="11">
                  <c:v>6</c:v>
                </c:pt>
              </c:numCache>
            </c:numRef>
          </c:val>
          <c:smooth val="0"/>
          <c:extLst>
            <c:ext xmlns:c16="http://schemas.microsoft.com/office/drawing/2014/chart" uri="{C3380CC4-5D6E-409C-BE32-E72D297353CC}">
              <c16:uniqueId val="{00000001-8232-42A9-B081-335E4E0E9C0E}"/>
            </c:ext>
          </c:extLst>
        </c:ser>
        <c:dLbls>
          <c:showLegendKey val="0"/>
          <c:showVal val="0"/>
          <c:showCatName val="0"/>
          <c:showSerName val="0"/>
          <c:showPercent val="0"/>
          <c:showBubbleSize val="0"/>
        </c:dLbls>
        <c:marker val="1"/>
        <c:smooth val="0"/>
        <c:axId val="630322432"/>
        <c:axId val="630322976"/>
      </c:lineChart>
      <c:catAx>
        <c:axId val="6303224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630322976"/>
        <c:crosses val="autoZero"/>
        <c:auto val="1"/>
        <c:lblAlgn val="ctr"/>
        <c:lblOffset val="100"/>
        <c:noMultiLvlLbl val="0"/>
      </c:catAx>
      <c:valAx>
        <c:axId val="630322976"/>
        <c:scaling>
          <c:orientation val="minMax"/>
          <c:max val="7"/>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630322432"/>
        <c:crosses val="autoZero"/>
        <c:crossBetween val="between"/>
      </c:valAx>
      <c:spPr>
        <a:noFill/>
        <a:ln>
          <a:noFill/>
        </a:ln>
        <a:effectLst/>
      </c:spPr>
    </c:plotArea>
    <c:legend>
      <c:legendPos val="r"/>
      <c:legendEntry>
        <c:idx val="0"/>
        <c:delete val="1"/>
      </c:legendEntry>
      <c:layout>
        <c:manualLayout>
          <c:xMode val="edge"/>
          <c:yMode val="edge"/>
          <c:x val="0.64913379864755461"/>
          <c:y val="0.43544805434948713"/>
          <c:w val="0.27516470592973569"/>
          <c:h val="0.14353259168408308"/>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600"/>
            </a:pPr>
            <a:r>
              <a:rPr lang="en-US" sz="1600"/>
              <a:t>Số nhân nhượng theo tuần</a:t>
            </a:r>
            <a:endParaRPr lang="vi-VN" sz="1600"/>
          </a:p>
        </c:rich>
      </c:tx>
      <c:layout/>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3</c:v>
                </c:pt>
                <c:pt idx="2">
                  <c:v>5</c:v>
                </c:pt>
                <c:pt idx="3">
                  <c:v>2</c:v>
                </c:pt>
                <c:pt idx="4">
                  <c:v>0</c:v>
                </c:pt>
                <c:pt idx="5" formatCode="0">
                  <c:v>10</c:v>
                </c:pt>
              </c:numCache>
            </c:numRef>
          </c:val>
          <c:extLst>
            <c:ext xmlns:c16="http://schemas.microsoft.com/office/drawing/2014/chart" uri="{C3380CC4-5D6E-409C-BE32-E72D297353CC}">
              <c16:uniqueId val="{00000000-0470-4FA5-B444-CA2D14CFFE72}"/>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1</c:v>
                </c:pt>
                <c:pt idx="2">
                  <c:v>2</c:v>
                </c:pt>
                <c:pt idx="3">
                  <c:v>4</c:v>
                </c:pt>
                <c:pt idx="4">
                  <c:v>0</c:v>
                </c:pt>
                <c:pt idx="5" formatCode="0">
                  <c:v>7</c:v>
                </c:pt>
              </c:numCache>
            </c:numRef>
          </c:val>
          <c:extLst>
            <c:ext xmlns:c16="http://schemas.microsoft.com/office/drawing/2014/chart" uri="{C3380CC4-5D6E-409C-BE32-E72D297353CC}">
              <c16:uniqueId val="{00000001-0470-4FA5-B444-CA2D14CFFE72}"/>
            </c:ext>
          </c:extLst>
        </c:ser>
        <c:dLbls>
          <c:showLegendKey val="0"/>
          <c:showVal val="0"/>
          <c:showCatName val="0"/>
          <c:showSerName val="0"/>
          <c:showPercent val="0"/>
          <c:showBubbleSize val="0"/>
        </c:dLbls>
        <c:gapWidth val="150"/>
        <c:axId val="338767112"/>
        <c:axId val="338763976"/>
      </c:barChart>
      <c:catAx>
        <c:axId val="338767112"/>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38763976"/>
        <c:crosses val="autoZero"/>
        <c:auto val="1"/>
        <c:lblAlgn val="ctr"/>
        <c:lblOffset val="100"/>
        <c:noMultiLvlLbl val="0"/>
      </c:catAx>
      <c:valAx>
        <c:axId val="338763976"/>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38767112"/>
        <c:crosses val="autoZero"/>
        <c:crossBetween val="between"/>
        <c:majorUnit val="4"/>
        <c:minorUnit val="2"/>
      </c:valAx>
    </c:plotArea>
    <c:legend>
      <c:legendPos val="b"/>
      <c:layout/>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6.2229707252162349E-2</c:v>
                </c:pt>
                <c:pt idx="1">
                  <c:v>7.8073658269441404E-2</c:v>
                </c:pt>
                <c:pt idx="2">
                  <c:v>8.2923741435805831E-2</c:v>
                </c:pt>
                <c:pt idx="3">
                  <c:v>0.17745159932659937</c:v>
                </c:pt>
                <c:pt idx="4">
                  <c:v>0.24749729437229476</c:v>
                </c:pt>
                <c:pt idx="5">
                  <c:v>0.26116276400367322</c:v>
                </c:pt>
                <c:pt idx="6">
                  <c:v>0.13721001221001219</c:v>
                </c:pt>
                <c:pt idx="7">
                  <c:v>0.12784426713948013</c:v>
                </c:pt>
                <c:pt idx="8">
                  <c:v>4.2599502487562245E-2</c:v>
                </c:pt>
              </c:numCache>
            </c:numRef>
          </c:val>
          <c:extLst>
            <c:ext xmlns:c16="http://schemas.microsoft.com/office/drawing/2014/chart" uri="{C3380CC4-5D6E-409C-BE32-E72D297353CC}">
              <c16:uniqueId val="{00000000-92CB-44EB-A3ED-0A5DD4468240}"/>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6.2520305393112444E-2</c:v>
                </c:pt>
                <c:pt idx="1">
                  <c:v>7.6741352883336195E-2</c:v>
                </c:pt>
                <c:pt idx="2">
                  <c:v>8.5941689008042971E-2</c:v>
                </c:pt>
                <c:pt idx="3">
                  <c:v>0.14197916666666674</c:v>
                </c:pt>
                <c:pt idx="4">
                  <c:v>0.26586410512308745</c:v>
                </c:pt>
                <c:pt idx="5">
                  <c:v>0.28181216931216946</c:v>
                </c:pt>
                <c:pt idx="6">
                  <c:v>0.14900030525030525</c:v>
                </c:pt>
                <c:pt idx="7">
                  <c:v>0.12313928761297213</c:v>
                </c:pt>
                <c:pt idx="8">
                  <c:v>4.3462059620596266E-2</c:v>
                </c:pt>
              </c:numCache>
            </c:numRef>
          </c:val>
          <c:extLst>
            <c:ext xmlns:c16="http://schemas.microsoft.com/office/drawing/2014/chart" uri="{C3380CC4-5D6E-409C-BE32-E72D297353CC}">
              <c16:uniqueId val="{00000001-92CB-44EB-A3ED-0A5DD4468240}"/>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7.9523809523809534</c:v>
                </c:pt>
                <c:pt idx="1">
                  <c:v>6.6886446886446889</c:v>
                </c:pt>
                <c:pt idx="2">
                  <c:v>6.6607142857142856</c:v>
                </c:pt>
                <c:pt idx="3">
                  <c:v>2.6190476190476191</c:v>
                </c:pt>
                <c:pt idx="4">
                  <c:v>3.3613445378151257</c:v>
                </c:pt>
                <c:pt idx="5">
                  <c:v>5.742857142857142</c:v>
                </c:pt>
              </c:numCache>
            </c:numRef>
          </c:val>
          <c:extLst>
            <c:ext xmlns:c16="http://schemas.microsoft.com/office/drawing/2014/chart" uri="{C3380CC4-5D6E-409C-BE32-E72D297353CC}">
              <c16:uniqueId val="{00000000-3793-4BC1-B9FA-B7039E89C3F1}"/>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8.1428571428571441</c:v>
                </c:pt>
                <c:pt idx="1">
                  <c:v>7.0366300366300365</c:v>
                </c:pt>
                <c:pt idx="2">
                  <c:v>6.6607142857142856</c:v>
                </c:pt>
                <c:pt idx="3">
                  <c:v>2.9340659340659339</c:v>
                </c:pt>
                <c:pt idx="4">
                  <c:v>3.6160714285714284</c:v>
                </c:pt>
                <c:pt idx="5">
                  <c:v>5.8571428571428568</c:v>
                </c:pt>
              </c:numCache>
            </c:numRef>
          </c:val>
          <c:extLst>
            <c:ext xmlns:c16="http://schemas.microsoft.com/office/drawing/2014/chart" uri="{C3380CC4-5D6E-409C-BE32-E72D297353CC}">
              <c16:uniqueId val="{00000001-3793-4BC1-B9FA-B7039E89C3F1}"/>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A88D-4566-BEF0-052E4E0045CB}"/>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A88D-4566-BEF0-052E4E0045CB}"/>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A88D-4566-BEF0-052E4E0045CB}"/>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A88D-4566-BEF0-052E4E0045CB}"/>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A88D-4566-BEF0-052E4E0045CB}"/>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A88D-4566-BEF0-052E4E0045CB}"/>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A88D-4566-BEF0-052E4E0045CB}"/>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A88D-4566-BEF0-052E4E0045CB}"/>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Week!$B$35:$BP$35</c:f>
              <c:numCache>
                <c:formatCode>d\-mmm</c:formatCode>
                <c:ptCount val="67"/>
                <c:pt idx="0">
                  <c:v>45831</c:v>
                </c:pt>
                <c:pt idx="1">
                  <c:v>45832</c:v>
                </c:pt>
                <c:pt idx="2">
                  <c:v>45833</c:v>
                </c:pt>
                <c:pt idx="3">
                  <c:v>45834</c:v>
                </c:pt>
                <c:pt idx="4">
                  <c:v>45835</c:v>
                </c:pt>
                <c:pt idx="5">
                  <c:v>45836</c:v>
                </c:pt>
                <c:pt idx="6">
                  <c:v>45837</c:v>
                </c:pt>
                <c:pt idx="7">
                  <c:v>45838</c:v>
                </c:pt>
                <c:pt idx="8">
                  <c:v>45839</c:v>
                </c:pt>
                <c:pt idx="9">
                  <c:v>45840</c:v>
                </c:pt>
                <c:pt idx="10">
                  <c:v>45841</c:v>
                </c:pt>
                <c:pt idx="11">
                  <c:v>45842</c:v>
                </c:pt>
                <c:pt idx="12">
                  <c:v>45843</c:v>
                </c:pt>
                <c:pt idx="13">
                  <c:v>45844</c:v>
                </c:pt>
                <c:pt idx="14">
                  <c:v>45845</c:v>
                </c:pt>
                <c:pt idx="15">
                  <c:v>45846</c:v>
                </c:pt>
                <c:pt idx="16">
                  <c:v>45847</c:v>
                </c:pt>
                <c:pt idx="17">
                  <c:v>45848</c:v>
                </c:pt>
                <c:pt idx="18">
                  <c:v>45849</c:v>
                </c:pt>
                <c:pt idx="19">
                  <c:v>45850</c:v>
                </c:pt>
                <c:pt idx="20">
                  <c:v>45851</c:v>
                </c:pt>
                <c:pt idx="21">
                  <c:v>45852</c:v>
                </c:pt>
                <c:pt idx="22">
                  <c:v>45853</c:v>
                </c:pt>
                <c:pt idx="23">
                  <c:v>45854</c:v>
                </c:pt>
                <c:pt idx="24">
                  <c:v>45855</c:v>
                </c:pt>
                <c:pt idx="25">
                  <c:v>45856</c:v>
                </c:pt>
                <c:pt idx="26">
                  <c:v>45857</c:v>
                </c:pt>
                <c:pt idx="27">
                  <c:v>45858</c:v>
                </c:pt>
                <c:pt idx="28">
                  <c:v>45859</c:v>
                </c:pt>
                <c:pt idx="29">
                  <c:v>45860</c:v>
                </c:pt>
                <c:pt idx="30">
                  <c:v>45861</c:v>
                </c:pt>
                <c:pt idx="31">
                  <c:v>45862</c:v>
                </c:pt>
                <c:pt idx="32">
                  <c:v>45863</c:v>
                </c:pt>
                <c:pt idx="33">
                  <c:v>45864</c:v>
                </c:pt>
                <c:pt idx="34">
                  <c:v>45865</c:v>
                </c:pt>
                <c:pt idx="35">
                  <c:v>45866</c:v>
                </c:pt>
                <c:pt idx="36">
                  <c:v>45867</c:v>
                </c:pt>
                <c:pt idx="37">
                  <c:v>45868</c:v>
                </c:pt>
                <c:pt idx="38">
                  <c:v>45869</c:v>
                </c:pt>
              </c:numCache>
            </c:numRef>
          </c:cat>
          <c:val>
            <c:numRef>
              <c:f>Week!$B$36:$BP$36</c:f>
              <c:numCache>
                <c:formatCode>General</c:formatCode>
                <c:ptCount val="67"/>
                <c:pt idx="0">
                  <c:v>472</c:v>
                </c:pt>
                <c:pt idx="1">
                  <c:v>462</c:v>
                </c:pt>
                <c:pt idx="2">
                  <c:v>477</c:v>
                </c:pt>
                <c:pt idx="3">
                  <c:v>484</c:v>
                </c:pt>
                <c:pt idx="4">
                  <c:v>504</c:v>
                </c:pt>
                <c:pt idx="5">
                  <c:v>483</c:v>
                </c:pt>
                <c:pt idx="6">
                  <c:v>506</c:v>
                </c:pt>
                <c:pt idx="7">
                  <c:v>502</c:v>
                </c:pt>
                <c:pt idx="8">
                  <c:v>502</c:v>
                </c:pt>
                <c:pt idx="9">
                  <c:v>499</c:v>
                </c:pt>
                <c:pt idx="10">
                  <c:v>503</c:v>
                </c:pt>
                <c:pt idx="11">
                  <c:v>522</c:v>
                </c:pt>
                <c:pt idx="12">
                  <c:v>526</c:v>
                </c:pt>
                <c:pt idx="13">
                  <c:v>528</c:v>
                </c:pt>
                <c:pt idx="14">
                  <c:v>510</c:v>
                </c:pt>
                <c:pt idx="15">
                  <c:v>508</c:v>
                </c:pt>
                <c:pt idx="16">
                  <c:v>518</c:v>
                </c:pt>
                <c:pt idx="17">
                  <c:v>518</c:v>
                </c:pt>
                <c:pt idx="18">
                  <c:v>545</c:v>
                </c:pt>
                <c:pt idx="19">
                  <c:v>552</c:v>
                </c:pt>
                <c:pt idx="20">
                  <c:v>544</c:v>
                </c:pt>
                <c:pt idx="21">
                  <c:v>542</c:v>
                </c:pt>
                <c:pt idx="22">
                  <c:v>509</c:v>
                </c:pt>
                <c:pt idx="23">
                  <c:v>511</c:v>
                </c:pt>
                <c:pt idx="24">
                  <c:v>510</c:v>
                </c:pt>
                <c:pt idx="25">
                  <c:v>522</c:v>
                </c:pt>
                <c:pt idx="26">
                  <c:v>530</c:v>
                </c:pt>
                <c:pt idx="27">
                  <c:v>534</c:v>
                </c:pt>
                <c:pt idx="28">
                  <c:v>520</c:v>
                </c:pt>
                <c:pt idx="29">
                  <c:v>512</c:v>
                </c:pt>
                <c:pt idx="30">
                  <c:v>520</c:v>
                </c:pt>
                <c:pt idx="31">
                  <c:v>518</c:v>
                </c:pt>
                <c:pt idx="32">
                  <c:v>529</c:v>
                </c:pt>
                <c:pt idx="33">
                  <c:v>538</c:v>
                </c:pt>
                <c:pt idx="34">
                  <c:v>530</c:v>
                </c:pt>
                <c:pt idx="35">
                  <c:v>521</c:v>
                </c:pt>
                <c:pt idx="36">
                  <c:v>519</c:v>
                </c:pt>
                <c:pt idx="37">
                  <c:v>519</c:v>
                </c:pt>
                <c:pt idx="38">
                  <c:v>526</c:v>
                </c:pt>
              </c:numCache>
            </c:numRef>
          </c:val>
          <c:extLst>
            <c:ext xmlns:c16="http://schemas.microsoft.com/office/drawing/2014/chart" uri="{C3380CC4-5D6E-409C-BE32-E72D297353CC}">
              <c16:uniqueId val="{00000010-A88D-4566-BEF0-052E4E0045CB}"/>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570"/>
          <c:min val="38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6/29/2025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77508-6FCD-C332-2C63-EC96CA868FBA}"/>
            </a:ext>
          </a:extLst>
        </p:cNvPr>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CC86E7A9-D037-13F3-9FD5-5D4213D1B7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a:extLst>
              <a:ext uri="{FF2B5EF4-FFF2-40B4-BE49-F238E27FC236}">
                <a16:creationId xmlns:a16="http://schemas.microsoft.com/office/drawing/2014/main" id="{DC9D1E90-5E87-E9CE-D197-CE4F629E5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a:extLst>
              <a:ext uri="{FF2B5EF4-FFF2-40B4-BE49-F238E27FC236}">
                <a16:creationId xmlns:a16="http://schemas.microsoft.com/office/drawing/2014/main" id="{0AB9E5D2-9481-7A05-B3F0-D52FF02319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058877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4</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7911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E5C52A9-F11A-9CE6-0CE1-9E64FEE3F42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DBF3F5-1C05-CB30-F454-590CD03FA8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EF74A1F-F4C8-2797-865F-45ED69FB659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2E29862-6BCD-743A-166B-45530C0B91F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711294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71277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92FDBAA-D20B-0D98-FF4C-152E58A75FD3}"/>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B065BEB-CE8B-C724-96BA-7FA576A505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794765E-00D5-154B-D761-A287E538D9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CA497829-9B7D-A848-4AA2-1B4D11C784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47022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9678B2FD-7FB9-9A5B-D8D8-8088C3299AC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57E5462E-ACD7-D871-B3C5-DC22923B60A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AC4A13E-1EEE-FCC3-7CE0-2C383A1842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BC06A660-C140-DC2B-6809-17CB61E7501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01767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05A1-350D-AFC0-D3D8-C68CDC8A4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F8FF6-4C57-6C13-5D0B-8DABB91310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EB4FF-5A63-D61B-FA51-81EF3E5D0F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dirty="0"/>
          </a:p>
        </p:txBody>
      </p:sp>
      <p:sp>
        <p:nvSpPr>
          <p:cNvPr id="4" name="Slide Number Placeholder 3">
            <a:extLst>
              <a:ext uri="{FF2B5EF4-FFF2-40B4-BE49-F238E27FC236}">
                <a16:creationId xmlns:a16="http://schemas.microsoft.com/office/drawing/2014/main" id="{4D09957B-56C2-C588-85CA-F886BE433611}"/>
              </a:ext>
            </a:extLst>
          </p:cNvPr>
          <p:cNvSpPr>
            <a:spLocks noGrp="1"/>
          </p:cNvSpPr>
          <p:nvPr>
            <p:ph type="sldNum" sz="quarter" idx="10"/>
          </p:nvPr>
        </p:nvSpPr>
        <p:spPr/>
        <p:txBody>
          <a:bodyPr/>
          <a:lstStyle/>
          <a:p>
            <a:fld id="{D27FAC9D-6C4D-45A1-835A-6091318B370B}" type="slidenum">
              <a:rPr lang="en-US" smtClean="0"/>
              <a:pPr/>
              <a:t>10</a:t>
            </a:fld>
            <a:endParaRPr lang="en-US" dirty="0"/>
          </a:p>
        </p:txBody>
      </p:sp>
    </p:spTree>
    <p:extLst>
      <p:ext uri="{BB962C8B-B14F-4D97-AF65-F5344CB8AC3E}">
        <p14:creationId xmlns:p14="http://schemas.microsoft.com/office/powerpoint/2010/main" val="42298149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B0099F4-A6AA-1C82-AAA9-F4C16415E15A}"/>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EDD0A0F-2843-10D4-1F1B-9C5663D8CA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35D672C-C5B7-A85B-F4BA-65B80143A5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B24DE777-8CE1-232E-7346-C0409DCB572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56164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648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7826A92F-1075-87AE-4441-4AF5F7433634}"/>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6EB29F2-14A9-66EF-FED7-9B2B468DD9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282CB7D-8739-42F0-5B54-C67A495E6E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F204584A-85CE-287F-E8A5-2CF1915DBE1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610340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14</a:t>
            </a:fld>
            <a:endParaRPr/>
          </a:p>
        </p:txBody>
      </p:sp>
    </p:spTree>
    <p:extLst>
      <p:ext uri="{BB962C8B-B14F-4D97-AF65-F5344CB8AC3E}">
        <p14:creationId xmlns:p14="http://schemas.microsoft.com/office/powerpoint/2010/main" val="3754805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15</a:t>
            </a:fld>
            <a:endParaRPr/>
          </a:p>
        </p:txBody>
      </p:sp>
    </p:spTree>
    <p:extLst>
      <p:ext uri="{BB962C8B-B14F-4D97-AF65-F5344CB8AC3E}">
        <p14:creationId xmlns:p14="http://schemas.microsoft.com/office/powerpoint/2010/main" val="3457857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82AD1BA-7980-D2AB-AF97-9739819A6D4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9BF89387-A6B2-92D6-CFD9-908E5C524B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AE1CCD5E-6C2E-C6AB-5E13-B5722951D5A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5EBD236-E737-5464-B0EE-53D226E1B24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79122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6012674-B955-2074-FCF5-27DCE06FCE3B}"/>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98D6E3AD-086D-EB49-4AF3-D1D60B651A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DB3C2901-4345-231F-630E-B6AAE28216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AB9B06A3-6948-CA9B-D6A9-4829F42DE6A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9388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19</a:t>
            </a:fld>
            <a:endParaRPr/>
          </a:p>
        </p:txBody>
      </p:sp>
    </p:spTree>
    <p:extLst>
      <p:ext uri="{BB962C8B-B14F-4D97-AF65-F5344CB8AC3E}">
        <p14:creationId xmlns:p14="http://schemas.microsoft.com/office/powerpoint/2010/main" val="42405242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6134337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07ED5419-F250-1981-ABC6-FEBBDBCC252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BE901FB2-89E8-85B4-9EA0-987FC2D3F0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BD2CF2BB-0C8E-A742-7160-91F58AEEEF2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1D6DD79-FEB7-5633-D8D1-04D5FFEAF8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0427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1ED2E1CC-0860-916F-E50A-F2B4ECABEF4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A61C2E2C-D8DC-3E2B-F721-107A5B709AF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AEF52AA3-8C8C-3584-FBC0-B488AB122BD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D4BD7999-E104-2EC8-3EEF-B2D7AC9C4CF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90411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141825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07939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25</a:t>
            </a:fld>
            <a:endParaRPr/>
          </a:p>
        </p:txBody>
      </p:sp>
    </p:spTree>
    <p:extLst>
      <p:ext uri="{BB962C8B-B14F-4D97-AF65-F5344CB8AC3E}">
        <p14:creationId xmlns:p14="http://schemas.microsoft.com/office/powerpoint/2010/main" val="5085080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26</a:t>
            </a:fld>
            <a:endParaRPr/>
          </a:p>
        </p:txBody>
      </p:sp>
    </p:spTree>
    <p:extLst>
      <p:ext uri="{BB962C8B-B14F-4D97-AF65-F5344CB8AC3E}">
        <p14:creationId xmlns:p14="http://schemas.microsoft.com/office/powerpoint/2010/main" val="41542205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27</a:t>
            </a:fld>
            <a:endParaRPr/>
          </a:p>
        </p:txBody>
      </p:sp>
    </p:spTree>
    <p:extLst>
      <p:ext uri="{BB962C8B-B14F-4D97-AF65-F5344CB8AC3E}">
        <p14:creationId xmlns:p14="http://schemas.microsoft.com/office/powerpoint/2010/main" val="37282656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603759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35378052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30</a:t>
            </a:fld>
            <a:endParaRPr/>
          </a:p>
        </p:txBody>
      </p:sp>
    </p:spTree>
    <p:extLst>
      <p:ext uri="{BB962C8B-B14F-4D97-AF65-F5344CB8AC3E}">
        <p14:creationId xmlns:p14="http://schemas.microsoft.com/office/powerpoint/2010/main" val="19138975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36</a:t>
            </a:fld>
            <a:endParaRPr lang="en-US"/>
          </a:p>
        </p:txBody>
      </p:sp>
    </p:spTree>
    <p:extLst>
      <p:ext uri="{BB962C8B-B14F-4D97-AF65-F5344CB8AC3E}">
        <p14:creationId xmlns:p14="http://schemas.microsoft.com/office/powerpoint/2010/main" val="42554035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38</a:t>
            </a:fld>
            <a:endParaRPr/>
          </a:p>
        </p:txBody>
      </p:sp>
    </p:spTree>
    <p:extLst>
      <p:ext uri="{BB962C8B-B14F-4D97-AF65-F5344CB8AC3E}">
        <p14:creationId xmlns:p14="http://schemas.microsoft.com/office/powerpoint/2010/main" val="42454589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extLst>
      <p:ext uri="{BB962C8B-B14F-4D97-AF65-F5344CB8AC3E}">
        <p14:creationId xmlns:p14="http://schemas.microsoft.com/office/powerpoint/2010/main" val="3521257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40</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085508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41</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28541387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43</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19953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886063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44522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47</a:t>
            </a:fld>
            <a:endParaRPr/>
          </a:p>
        </p:txBody>
      </p:sp>
    </p:spTree>
    <p:extLst>
      <p:ext uri="{BB962C8B-B14F-4D97-AF65-F5344CB8AC3E}">
        <p14:creationId xmlns:p14="http://schemas.microsoft.com/office/powerpoint/2010/main" val="11766241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b80f439b0_0_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4b80f439b0_0_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4b80f439b0_0_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48</a:t>
            </a:fld>
            <a:endParaRPr/>
          </a:p>
        </p:txBody>
      </p:sp>
    </p:spTree>
    <p:extLst>
      <p:ext uri="{BB962C8B-B14F-4D97-AF65-F5344CB8AC3E}">
        <p14:creationId xmlns:p14="http://schemas.microsoft.com/office/powerpoint/2010/main" val="41629421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49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332743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5f1b08c610_0_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0" name="Google Shape;180;g35f1b08c610_0_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g35f1b08c610_0_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1243709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51</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284051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52</a:t>
            </a:fld>
            <a:endParaRPr/>
          </a:p>
        </p:txBody>
      </p:sp>
    </p:spTree>
    <p:extLst>
      <p:ext uri="{BB962C8B-B14F-4D97-AF65-F5344CB8AC3E}">
        <p14:creationId xmlns:p14="http://schemas.microsoft.com/office/powerpoint/2010/main" val="9082040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003630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1070156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55</a:t>
            </a:fld>
            <a:endParaRPr/>
          </a:p>
        </p:txBody>
      </p:sp>
    </p:spTree>
    <p:extLst>
      <p:ext uri="{BB962C8B-B14F-4D97-AF65-F5344CB8AC3E}">
        <p14:creationId xmlns:p14="http://schemas.microsoft.com/office/powerpoint/2010/main" val="967323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4" name="Google Shape;234;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406583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57</a:t>
            </a:fld>
            <a:endParaRPr/>
          </a:p>
        </p:txBody>
      </p:sp>
    </p:spTree>
    <p:extLst>
      <p:ext uri="{BB962C8B-B14F-4D97-AF65-F5344CB8AC3E}">
        <p14:creationId xmlns:p14="http://schemas.microsoft.com/office/powerpoint/2010/main" val="83969070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784732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59</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7935009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7" name="Google Shape;267;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60</a:t>
            </a:fld>
            <a:endParaRPr sz="1200">
              <a:latin typeface="Calibri"/>
              <a:ea typeface="Calibri"/>
              <a:cs typeface="Calibri"/>
              <a:sym typeface="Calibri"/>
            </a:endParaRPr>
          </a:p>
        </p:txBody>
      </p:sp>
    </p:spTree>
    <p:extLst>
      <p:ext uri="{BB962C8B-B14F-4D97-AF65-F5344CB8AC3E}">
        <p14:creationId xmlns:p14="http://schemas.microsoft.com/office/powerpoint/2010/main" val="3066390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61</a:t>
            </a:fld>
            <a:endParaRPr sz="1200">
              <a:latin typeface="Calibri"/>
              <a:ea typeface="Calibri"/>
              <a:cs typeface="Calibri"/>
              <a:sym typeface="Calibri"/>
            </a:endParaRPr>
          </a:p>
        </p:txBody>
      </p:sp>
    </p:spTree>
    <p:extLst>
      <p:ext uri="{BB962C8B-B14F-4D97-AF65-F5344CB8AC3E}">
        <p14:creationId xmlns:p14="http://schemas.microsoft.com/office/powerpoint/2010/main" val="22881530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62</a:t>
            </a:fld>
            <a:endParaRPr sz="1200">
              <a:latin typeface="Calibri"/>
              <a:ea typeface="Calibri"/>
              <a:cs typeface="Calibri"/>
              <a:sym typeface="Calibri"/>
            </a:endParaRPr>
          </a:p>
        </p:txBody>
      </p:sp>
    </p:spTree>
    <p:extLst>
      <p:ext uri="{BB962C8B-B14F-4D97-AF65-F5344CB8AC3E}">
        <p14:creationId xmlns:p14="http://schemas.microsoft.com/office/powerpoint/2010/main" val="31572280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63</a:t>
            </a:fld>
            <a:endParaRPr sz="1200">
              <a:latin typeface="Calibri"/>
              <a:ea typeface="Calibri"/>
              <a:cs typeface="Calibri"/>
              <a:sym typeface="Calibri"/>
            </a:endParaRPr>
          </a:p>
        </p:txBody>
      </p:sp>
    </p:spTree>
    <p:extLst>
      <p:ext uri="{BB962C8B-B14F-4D97-AF65-F5344CB8AC3E}">
        <p14:creationId xmlns:p14="http://schemas.microsoft.com/office/powerpoint/2010/main" val="39888614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64</a:t>
            </a:fld>
            <a:endParaRPr sz="1200">
              <a:latin typeface="Calibri"/>
              <a:ea typeface="Calibri"/>
              <a:cs typeface="Calibri"/>
              <a:sym typeface="Calibri"/>
            </a:endParaRPr>
          </a:p>
        </p:txBody>
      </p:sp>
    </p:spTree>
    <p:extLst>
      <p:ext uri="{BB962C8B-B14F-4D97-AF65-F5344CB8AC3E}">
        <p14:creationId xmlns:p14="http://schemas.microsoft.com/office/powerpoint/2010/main" val="34690160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6" name="Google Shape;306;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7" name="Google Shape;307;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65</a:t>
            </a:fld>
            <a:endParaRPr sz="1200">
              <a:latin typeface="Calibri"/>
              <a:ea typeface="Calibri"/>
              <a:cs typeface="Calibri"/>
              <a:sym typeface="Calibri"/>
            </a:endParaRPr>
          </a:p>
        </p:txBody>
      </p:sp>
    </p:spTree>
    <p:extLst>
      <p:ext uri="{BB962C8B-B14F-4D97-AF65-F5344CB8AC3E}">
        <p14:creationId xmlns:p14="http://schemas.microsoft.com/office/powerpoint/2010/main" val="15929199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4667328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38eea6c084_0_0: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g338eea6c084_0_0: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g338eea6c084_0_0: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67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642678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f5ae314a_0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g301f5ae314a_0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191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49547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A3A1DAE-E79D-4DA5-B482-81DDF4B01157}" type="slidenum">
              <a:rPr lang="en-VN" sz="1200" smtClean="0">
                <a:solidFill>
                  <a:schemeClr val="bg1"/>
                </a:solidFill>
                <a:latin typeface="Exo"/>
              </a:rPr>
              <a:t>‹#›</a:t>
            </a:fld>
            <a:endParaRPr lang="en-VN" sz="1200" dirty="0">
              <a:solidFill>
                <a:schemeClr val="bg1"/>
              </a:solidFill>
              <a:latin typeface="Exo"/>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3524769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72F6E-3103-4337-AA9B-C02B25149E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475643-7C42-417A-AE82-10267CF7E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B134947-6D19-4A72-A4A4-85EEC32ECF72}"/>
              </a:ext>
            </a:extLst>
          </p:cNvPr>
          <p:cNvSpPr>
            <a:spLocks noGrp="1"/>
          </p:cNvSpPr>
          <p:nvPr>
            <p:ph type="dt" sz="half" idx="10"/>
          </p:nvPr>
        </p:nvSpPr>
        <p:spPr/>
        <p:txBody>
          <a:bodyPr/>
          <a:lstStyle/>
          <a:p>
            <a:fld id="{2670022F-57A7-4E53-9ECF-221FABE1E4FB}" type="datetimeFigureOut">
              <a:rPr lang="en-US" smtClean="0"/>
              <a:t>6/29/2025</a:t>
            </a:fld>
            <a:endParaRPr lang="en-US"/>
          </a:p>
        </p:txBody>
      </p:sp>
      <p:sp>
        <p:nvSpPr>
          <p:cNvPr id="5" name="Footer Placeholder 4">
            <a:extLst>
              <a:ext uri="{FF2B5EF4-FFF2-40B4-BE49-F238E27FC236}">
                <a16:creationId xmlns:a16="http://schemas.microsoft.com/office/drawing/2014/main" id="{A4F468A3-E59D-474C-BEE3-262C89B62B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5A5A3-3C4E-4908-926B-BD738061D2B3}"/>
              </a:ext>
            </a:extLst>
          </p:cNvPr>
          <p:cNvSpPr>
            <a:spLocks noGrp="1"/>
          </p:cNvSpPr>
          <p:nvPr>
            <p:ph type="sldNum" sz="quarter" idx="12"/>
          </p:nvPr>
        </p:nvSpPr>
        <p:spPr/>
        <p:txBody>
          <a:bodyPr/>
          <a:lstStyle/>
          <a:p>
            <a:fld id="{F4B603F9-097D-4F9C-A227-767C2AD9C263}" type="slidenum">
              <a:rPr lang="en-US" smtClean="0"/>
              <a:t>‹#›</a:t>
            </a:fld>
            <a:endParaRPr lang="en-US"/>
          </a:p>
        </p:txBody>
      </p:sp>
    </p:spTree>
    <p:extLst>
      <p:ext uri="{BB962C8B-B14F-4D97-AF65-F5344CB8AC3E}">
        <p14:creationId xmlns:p14="http://schemas.microsoft.com/office/powerpoint/2010/main" val="11469607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D2A43B"/>
              </a:solidFill>
              <a:effectLst/>
              <a:uLnTx/>
              <a:uFillTx/>
              <a:latin typeface="Montserrat"/>
              <a:sym typeface="Montserrat"/>
            </a:endParaRPr>
          </a:p>
        </p:txBody>
      </p:sp>
    </p:spTree>
    <p:extLst>
      <p:ext uri="{BB962C8B-B14F-4D97-AF65-F5344CB8AC3E}">
        <p14:creationId xmlns:p14="http://schemas.microsoft.com/office/powerpoint/2010/main" val="1253467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2"/>
        <p:cNvGrpSpPr/>
        <p:nvPr/>
      </p:nvGrpSpPr>
      <p:grpSpPr>
        <a:xfrm>
          <a:off x="0" y="0"/>
          <a:ext cx="0" cy="0"/>
          <a:chOff x="0" y="0"/>
          <a:chExt cx="0" cy="0"/>
        </a:xfrm>
      </p:grpSpPr>
      <p:sp>
        <p:nvSpPr>
          <p:cNvPr id="83" name="Google Shape;83;g31ccdae391d_0_421"/>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g31ccdae391d_0_421"/>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85" name="Google Shape;85;g31ccdae391d_0_42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6" name="Google Shape;86;g31ccdae391d_0_4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87" name="Google Shape;87;g31ccdae391d_0_42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78712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88"/>
        <p:cNvGrpSpPr/>
        <p:nvPr/>
      </p:nvGrpSpPr>
      <p:grpSpPr>
        <a:xfrm>
          <a:off x="0" y="0"/>
          <a:ext cx="0" cy="0"/>
          <a:chOff x="0" y="0"/>
          <a:chExt cx="0" cy="0"/>
        </a:xfrm>
      </p:grpSpPr>
      <p:sp>
        <p:nvSpPr>
          <p:cNvPr id="89" name="Google Shape;89;g31ccdae391d_0_4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g31ccdae391d_0_427"/>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g31ccdae391d_0_4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2" name="Google Shape;92;g31ccdae391d_0_4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3" name="Google Shape;93;g31ccdae391d_0_4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4869265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4"/>
        <p:cNvGrpSpPr/>
        <p:nvPr/>
      </p:nvGrpSpPr>
      <p:grpSpPr>
        <a:xfrm>
          <a:off x="0" y="0"/>
          <a:ext cx="0" cy="0"/>
          <a:chOff x="0" y="0"/>
          <a:chExt cx="0" cy="0"/>
        </a:xfrm>
      </p:grpSpPr>
      <p:sp>
        <p:nvSpPr>
          <p:cNvPr id="95" name="Google Shape;95;g31ccdae391d_0_433"/>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g31ccdae391d_0_433"/>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97" name="Google Shape;97;g31ccdae391d_0_43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8" name="Google Shape;98;g31ccdae391d_0_43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99" name="Google Shape;99;g31ccdae391d_0_43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0297236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100"/>
        <p:cNvGrpSpPr/>
        <p:nvPr/>
      </p:nvGrpSpPr>
      <p:grpSpPr>
        <a:xfrm>
          <a:off x="0" y="0"/>
          <a:ext cx="0" cy="0"/>
          <a:chOff x="0" y="0"/>
          <a:chExt cx="0" cy="0"/>
        </a:xfrm>
      </p:grpSpPr>
      <p:sp>
        <p:nvSpPr>
          <p:cNvPr id="101" name="Google Shape;101;g31ccdae391d_0_43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g31ccdae391d_0_43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g31ccdae391d_0_43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g31ccdae391d_0_43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5" name="Google Shape;105;g31ccdae391d_0_43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06" name="Google Shape;106;g31ccdae391d_0_43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1453640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107"/>
        <p:cNvGrpSpPr/>
        <p:nvPr/>
      </p:nvGrpSpPr>
      <p:grpSpPr>
        <a:xfrm>
          <a:off x="0" y="0"/>
          <a:ext cx="0" cy="0"/>
          <a:chOff x="0" y="0"/>
          <a:chExt cx="0" cy="0"/>
        </a:xfrm>
      </p:grpSpPr>
      <p:sp>
        <p:nvSpPr>
          <p:cNvPr id="108" name="Google Shape;108;g31ccdae391d_0_44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9" name="Google Shape;109;g31ccdae391d_0_44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0" name="Google Shape;110;g31ccdae391d_0_44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g31ccdae391d_0_44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2" name="Google Shape;112;g31ccdae391d_0_44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g31ccdae391d_0_44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4" name="Google Shape;114;g31ccdae391d_0_44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5" name="Google Shape;115;g31ccdae391d_0_44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1252449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16"/>
        <p:cNvGrpSpPr/>
        <p:nvPr/>
      </p:nvGrpSpPr>
      <p:grpSpPr>
        <a:xfrm>
          <a:off x="0" y="0"/>
          <a:ext cx="0" cy="0"/>
          <a:chOff x="0" y="0"/>
          <a:chExt cx="0" cy="0"/>
        </a:xfrm>
      </p:grpSpPr>
      <p:sp>
        <p:nvSpPr>
          <p:cNvPr id="117" name="Google Shape;117;g31ccdae391d_0_45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g31ccdae391d_0_45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19" name="Google Shape;119;g31ccdae391d_0_45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0" name="Google Shape;120;g31ccdae391d_0_45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100966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1"/>
        <p:cNvGrpSpPr/>
        <p:nvPr/>
      </p:nvGrpSpPr>
      <p:grpSpPr>
        <a:xfrm>
          <a:off x="0" y="0"/>
          <a:ext cx="0" cy="0"/>
          <a:chOff x="0" y="0"/>
          <a:chExt cx="0" cy="0"/>
        </a:xfrm>
      </p:grpSpPr>
      <p:sp>
        <p:nvSpPr>
          <p:cNvPr id="122" name="Google Shape;122;g31ccdae391d_0_46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3" name="Google Shape;123;g31ccdae391d_0_46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24" name="Google Shape;124;g31ccdae391d_0_46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30520086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25"/>
        <p:cNvGrpSpPr/>
        <p:nvPr/>
      </p:nvGrpSpPr>
      <p:grpSpPr>
        <a:xfrm>
          <a:off x="0" y="0"/>
          <a:ext cx="0" cy="0"/>
          <a:chOff x="0" y="0"/>
          <a:chExt cx="0" cy="0"/>
        </a:xfrm>
      </p:grpSpPr>
      <p:sp>
        <p:nvSpPr>
          <p:cNvPr id="126" name="Google Shape;126;g31ccdae391d_0_46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7" name="Google Shape;127;g31ccdae391d_0_464"/>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28" name="Google Shape;128;g31ccdae391d_0_464"/>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9" name="Google Shape;129;g31ccdae391d_0_46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0" name="Google Shape;130;g31ccdae391d_0_46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1" name="Google Shape;131;g31ccdae391d_0_46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4125227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32"/>
        <p:cNvGrpSpPr/>
        <p:nvPr/>
      </p:nvGrpSpPr>
      <p:grpSpPr>
        <a:xfrm>
          <a:off x="0" y="0"/>
          <a:ext cx="0" cy="0"/>
          <a:chOff x="0" y="0"/>
          <a:chExt cx="0" cy="0"/>
        </a:xfrm>
      </p:grpSpPr>
      <p:sp>
        <p:nvSpPr>
          <p:cNvPr id="133" name="Google Shape;133;g31ccdae391d_0_471"/>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g31ccdae391d_0_471"/>
          <p:cNvSpPr>
            <a:spLocks noGrp="1"/>
          </p:cNvSpPr>
          <p:nvPr>
            <p:ph type="pic" idx="2"/>
          </p:nvPr>
        </p:nvSpPr>
        <p:spPr>
          <a:xfrm>
            <a:off x="5183188" y="987425"/>
            <a:ext cx="6172200" cy="4873500"/>
          </a:xfrm>
          <a:prstGeom prst="rect">
            <a:avLst/>
          </a:prstGeom>
          <a:noFill/>
          <a:ln>
            <a:noFill/>
          </a:ln>
        </p:spPr>
      </p:sp>
      <p:sp>
        <p:nvSpPr>
          <p:cNvPr id="135" name="Google Shape;135;g31ccdae391d_0_471"/>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6" name="Google Shape;136;g31ccdae391d_0_47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7" name="Google Shape;137;g31ccdae391d_0_47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38" name="Google Shape;138;g31ccdae391d_0_47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5042853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39"/>
        <p:cNvGrpSpPr/>
        <p:nvPr/>
      </p:nvGrpSpPr>
      <p:grpSpPr>
        <a:xfrm>
          <a:off x="0" y="0"/>
          <a:ext cx="0" cy="0"/>
          <a:chOff x="0" y="0"/>
          <a:chExt cx="0" cy="0"/>
        </a:xfrm>
      </p:grpSpPr>
      <p:sp>
        <p:nvSpPr>
          <p:cNvPr id="140" name="Google Shape;140;g31ccdae391d_0_478"/>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g31ccdae391d_0_478"/>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g31ccdae391d_0_47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3" name="Google Shape;143;g31ccdae391d_0_47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4" name="Google Shape;144;g31ccdae391d_0_47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233983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45"/>
        <p:cNvGrpSpPr/>
        <p:nvPr/>
      </p:nvGrpSpPr>
      <p:grpSpPr>
        <a:xfrm>
          <a:off x="0" y="0"/>
          <a:ext cx="0" cy="0"/>
          <a:chOff x="0" y="0"/>
          <a:chExt cx="0" cy="0"/>
        </a:xfrm>
      </p:grpSpPr>
      <p:sp>
        <p:nvSpPr>
          <p:cNvPr id="146" name="Google Shape;146;g31ccdae391d_0_484"/>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g31ccdae391d_0_484"/>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8" name="Google Shape;148;g31ccdae391d_0_48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49" name="Google Shape;149;g31ccdae391d_0_48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150" name="Google Shape;150;g31ccdae391d_0_48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48565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6.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6/29/2025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54" r:id="rId11"/>
    <p:sldLayoutId id="2147483755" r:id="rId12"/>
    <p:sldLayoutId id="214748375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72"/>
        <p:cNvGrpSpPr/>
        <p:nvPr/>
      </p:nvGrpSpPr>
      <p:grpSpPr>
        <a:xfrm>
          <a:off x="0" y="0"/>
          <a:ext cx="0" cy="0"/>
          <a:chOff x="0" y="0"/>
          <a:chExt cx="0" cy="0"/>
        </a:xfrm>
      </p:grpSpPr>
      <p:sp>
        <p:nvSpPr>
          <p:cNvPr id="73" name="Google Shape;73;g31ccdae391d_0_4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g31ccdae391d_0_41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g31ccdae391d_0_4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6" name="Google Shape;76;g31ccdae391d_0_4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200" b="0" i="0" u="none" strike="noStrike" kern="0" cap="none" spc="0" normalizeH="0" baseline="0" noProof="0">
              <a:ln>
                <a:noFill/>
              </a:ln>
              <a:solidFill>
                <a:srgbClr val="888888"/>
              </a:solidFill>
              <a:effectLst/>
              <a:uLnTx/>
              <a:uFillTx/>
              <a:latin typeface="Arial"/>
              <a:cs typeface="Arial"/>
              <a:sym typeface="Arial"/>
            </a:endParaRPr>
          </a:p>
        </p:txBody>
      </p:sp>
      <p:sp>
        <p:nvSpPr>
          <p:cNvPr id="77" name="Google Shape;77;g31ccdae391d_0_4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a:t>
            </a:fld>
            <a:endParaRPr kumimoji="0" sz="1200" b="0" i="0" u="none" strike="noStrike" kern="0" cap="none" spc="0" normalizeH="0" baseline="0" noProof="0">
              <a:ln>
                <a:noFill/>
              </a:ln>
              <a:solidFill>
                <a:srgbClr val="888888"/>
              </a:solidFill>
              <a:effectLst/>
              <a:uLnTx/>
              <a:uFillTx/>
              <a:latin typeface="Arial"/>
              <a:cs typeface="Arial"/>
              <a:sym typeface="Arial"/>
            </a:endParaRPr>
          </a:p>
        </p:txBody>
      </p:sp>
    </p:spTree>
    <p:extLst>
      <p:ext uri="{BB962C8B-B14F-4D97-AF65-F5344CB8AC3E}">
        <p14:creationId xmlns:p14="http://schemas.microsoft.com/office/powerpoint/2010/main" val="1177441438"/>
      </p:ext>
    </p:extLst>
  </p:cSld>
  <p:clrMap bg1="lt1" tx1="dk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8" Type="http://schemas.openxmlformats.org/officeDocument/2006/relationships/image" Target="../media/image19.jp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image" Target="../media/image25.jpg"/><Relationship Id="rId5" Type="http://schemas.openxmlformats.org/officeDocument/2006/relationships/image" Target="../media/image24.emf"/><Relationship Id="rId4" Type="http://schemas.openxmlformats.org/officeDocument/2006/relationships/image" Target="../media/image23.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0.xml"/><Relationship Id="rId1" Type="http://schemas.openxmlformats.org/officeDocument/2006/relationships/tags" Target="../tags/tag2.xml"/><Relationship Id="rId4" Type="http://schemas.openxmlformats.org/officeDocument/2006/relationships/chart" Target="../charts/char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10.xml"/><Relationship Id="rId4" Type="http://schemas.openxmlformats.org/officeDocument/2006/relationships/chart" Target="../charts/chart14.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10.xml"/><Relationship Id="rId4" Type="http://schemas.openxmlformats.org/officeDocument/2006/relationships/chart" Target="../charts/chart15.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4.xml"/></Relationships>
</file>

<file path=ppt/slides/_rels/slide6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26</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23/06/2025</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29</a:t>
            </a:r>
            <a:r>
              <a:rPr lang="vi-VN" sz="4000" smtClean="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06</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9" name="Chart 8">
            <a:extLst>
              <a:ext uri="{FF2B5EF4-FFF2-40B4-BE49-F238E27FC236}">
                <a16:creationId xmlns:a16="http://schemas.microsoft.com/office/drawing/2014/main" id="{00000000-0008-0000-0900-000004000000}"/>
              </a:ext>
            </a:extLst>
          </p:cNvPr>
          <p:cNvGraphicFramePr>
            <a:graphicFrameLocks/>
          </p:cNvGraphicFramePr>
          <p:nvPr>
            <p:extLst>
              <p:ext uri="{D42A27DB-BD31-4B8C-83A1-F6EECF244321}">
                <p14:modId xmlns:p14="http://schemas.microsoft.com/office/powerpoint/2010/main" val="755996096"/>
              </p:ext>
            </p:extLst>
          </p:nvPr>
        </p:nvGraphicFramePr>
        <p:xfrm>
          <a:off x="6340994" y="879323"/>
          <a:ext cx="4176000" cy="2376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00000000-0008-0000-0900-000005000000}"/>
              </a:ext>
            </a:extLst>
          </p:cNvPr>
          <p:cNvGraphicFramePr>
            <a:graphicFrameLocks/>
          </p:cNvGraphicFramePr>
          <p:nvPr>
            <p:extLst>
              <p:ext uri="{D42A27DB-BD31-4B8C-83A1-F6EECF244321}">
                <p14:modId xmlns:p14="http://schemas.microsoft.com/office/powerpoint/2010/main" val="4167587988"/>
              </p:ext>
            </p:extLst>
          </p:nvPr>
        </p:nvGraphicFramePr>
        <p:xfrm>
          <a:off x="1669020" y="3616808"/>
          <a:ext cx="4097655" cy="237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1" name="Chart 10">
            <a:extLst>
              <a:ext uri="{FF2B5EF4-FFF2-40B4-BE49-F238E27FC236}">
                <a16:creationId xmlns:a16="http://schemas.microsoft.com/office/drawing/2014/main" id="{00000000-0008-0000-0900-00000F000000}"/>
              </a:ext>
            </a:extLst>
          </p:cNvPr>
          <p:cNvGraphicFramePr>
            <a:graphicFrameLocks/>
          </p:cNvGraphicFramePr>
          <p:nvPr>
            <p:extLst>
              <p:ext uri="{D42A27DB-BD31-4B8C-83A1-F6EECF244321}">
                <p14:modId xmlns:p14="http://schemas.microsoft.com/office/powerpoint/2010/main" val="2514411128"/>
              </p:ext>
            </p:extLst>
          </p:nvPr>
        </p:nvGraphicFramePr>
        <p:xfrm>
          <a:off x="1701405" y="856463"/>
          <a:ext cx="4116705" cy="2376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8347F7AA-5E77-475C-B68E-49E6EF5DA0A7}"/>
              </a:ext>
            </a:extLst>
          </p:cNvPr>
          <p:cNvGraphicFramePr>
            <a:graphicFrameLocks/>
          </p:cNvGraphicFramePr>
          <p:nvPr>
            <p:extLst>
              <p:ext uri="{D42A27DB-BD31-4B8C-83A1-F6EECF244321}">
                <p14:modId xmlns:p14="http://schemas.microsoft.com/office/powerpoint/2010/main" val="2797262482"/>
              </p:ext>
            </p:extLst>
          </p:nvPr>
        </p:nvGraphicFramePr>
        <p:xfrm>
          <a:off x="6346980" y="3625537"/>
          <a:ext cx="4176000" cy="23760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997899049"/>
              </p:ext>
            </p:extLst>
          </p:nvPr>
        </p:nvGraphicFramePr>
        <p:xfrm>
          <a:off x="1295400" y="914400"/>
          <a:ext cx="962025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903946963"/>
              </p:ext>
            </p:extLst>
          </p:nvPr>
        </p:nvGraphicFramePr>
        <p:xfrm>
          <a:off x="1293640" y="3830955"/>
          <a:ext cx="9609945" cy="274319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A9AD-1F36-71AD-79EA-A60339FB5026}"/>
            </a:ext>
          </a:extLst>
        </p:cNvPr>
        <p:cNvGrpSpPr/>
        <p:nvPr/>
      </p:nvGrpSpPr>
      <p:grpSpPr>
        <a:xfrm>
          <a:off x="0" y="0"/>
          <a:ext cx="0" cy="0"/>
          <a:chOff x="0" y="0"/>
          <a:chExt cx="0" cy="0"/>
        </a:xfrm>
      </p:grpSpPr>
      <p:sp>
        <p:nvSpPr>
          <p:cNvPr id="21507" name="Slide Number Placeholder 3">
            <a:extLst>
              <a:ext uri="{FF2B5EF4-FFF2-40B4-BE49-F238E27FC236}">
                <a16:creationId xmlns:a16="http://schemas.microsoft.com/office/drawing/2014/main" id="{909AAD87-9B2B-3997-F3A5-296858406FB3}"/>
              </a:ext>
            </a:extLst>
          </p:cNvPr>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a:extLst>
              <a:ext uri="{FF2B5EF4-FFF2-40B4-BE49-F238E27FC236}">
                <a16:creationId xmlns:a16="http://schemas.microsoft.com/office/drawing/2014/main" id="{3045FD90-1673-FBCF-7889-FA2822771FA2}"/>
              </a:ext>
            </a:extLst>
          </p:cNvPr>
          <p:cNvSpPr>
            <a:spLocks noGrp="1"/>
          </p:cNvSpPr>
          <p:nvPr>
            <p:ph type="title"/>
          </p:nvPr>
        </p:nvSpPr>
        <p:spPr>
          <a:xfrm>
            <a:off x="76200" y="76200"/>
            <a:ext cx="5131938" cy="636530"/>
          </a:xfrm>
        </p:spPr>
        <p:txBody>
          <a:bodyPr>
            <a:normAutofit/>
          </a:bodyPr>
          <a:lstStyle/>
          <a:p>
            <a:pPr algn="ctr" eaLnBrk="1" hangingPunct="1"/>
            <a:r>
              <a:rPr lang="en-US"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E0D23D1-C1A6-8EB2-BEF6-B9530B0AE7E1}"/>
              </a:ext>
            </a:extLst>
          </p:cNvPr>
          <p:cNvSpPr txBox="1"/>
          <p:nvPr/>
        </p:nvSpPr>
        <p:spPr>
          <a:xfrm>
            <a:off x="333918" y="609600"/>
            <a:ext cx="114008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a:t>
            </a:r>
            <a:r>
              <a:rPr kumimoji="0" lang="en-US" sz="1800" b="1" i="0" u="none" strike="noStrike" kern="1200" cap="none" spc="0" normalizeH="0" baseline="0" noProof="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vi-VN" sz="18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01</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DIV: 00</a:t>
            </a:r>
          </a:p>
        </p:txBody>
      </p:sp>
      <p:graphicFrame>
        <p:nvGraphicFramePr>
          <p:cNvPr id="2" name="Table 1">
            <a:extLst>
              <a:ext uri="{FF2B5EF4-FFF2-40B4-BE49-F238E27FC236}">
                <a16:creationId xmlns:a16="http://schemas.microsoft.com/office/drawing/2014/main" id="{BC7B7C08-CD30-40EC-8450-FF432FB889C5}"/>
              </a:ext>
            </a:extLst>
          </p:cNvPr>
          <p:cNvGraphicFramePr>
            <a:graphicFrameLocks noGrp="1"/>
          </p:cNvGraphicFramePr>
          <p:nvPr>
            <p:extLst/>
          </p:nvPr>
        </p:nvGraphicFramePr>
        <p:xfrm>
          <a:off x="333918" y="978932"/>
          <a:ext cx="11400882" cy="1977516"/>
        </p:xfrm>
        <a:graphic>
          <a:graphicData uri="http://schemas.openxmlformats.org/drawingml/2006/table">
            <a:tbl>
              <a:tblPr/>
              <a:tblGrid>
                <a:gridCol w="361933">
                  <a:extLst>
                    <a:ext uri="{9D8B030D-6E8A-4147-A177-3AD203B41FA5}">
                      <a16:colId xmlns:a16="http://schemas.microsoft.com/office/drawing/2014/main" val="3674260455"/>
                    </a:ext>
                  </a:extLst>
                </a:gridCol>
                <a:gridCol w="361933">
                  <a:extLst>
                    <a:ext uri="{9D8B030D-6E8A-4147-A177-3AD203B41FA5}">
                      <a16:colId xmlns:a16="http://schemas.microsoft.com/office/drawing/2014/main" val="3448990162"/>
                    </a:ext>
                  </a:extLst>
                </a:gridCol>
                <a:gridCol w="618616">
                  <a:extLst>
                    <a:ext uri="{9D8B030D-6E8A-4147-A177-3AD203B41FA5}">
                      <a16:colId xmlns:a16="http://schemas.microsoft.com/office/drawing/2014/main" val="3824527478"/>
                    </a:ext>
                  </a:extLst>
                </a:gridCol>
                <a:gridCol w="609600">
                  <a:extLst>
                    <a:ext uri="{9D8B030D-6E8A-4147-A177-3AD203B41FA5}">
                      <a16:colId xmlns:a16="http://schemas.microsoft.com/office/drawing/2014/main" val="3595271746"/>
                    </a:ext>
                  </a:extLst>
                </a:gridCol>
                <a:gridCol w="609600">
                  <a:extLst>
                    <a:ext uri="{9D8B030D-6E8A-4147-A177-3AD203B41FA5}">
                      <a16:colId xmlns:a16="http://schemas.microsoft.com/office/drawing/2014/main" val="3043790494"/>
                    </a:ext>
                  </a:extLst>
                </a:gridCol>
                <a:gridCol w="609600">
                  <a:extLst>
                    <a:ext uri="{9D8B030D-6E8A-4147-A177-3AD203B41FA5}">
                      <a16:colId xmlns:a16="http://schemas.microsoft.com/office/drawing/2014/main" val="3999979373"/>
                    </a:ext>
                  </a:extLst>
                </a:gridCol>
                <a:gridCol w="1828800">
                  <a:extLst>
                    <a:ext uri="{9D8B030D-6E8A-4147-A177-3AD203B41FA5}">
                      <a16:colId xmlns:a16="http://schemas.microsoft.com/office/drawing/2014/main" val="2189223672"/>
                    </a:ext>
                  </a:extLst>
                </a:gridCol>
                <a:gridCol w="3321858">
                  <a:extLst>
                    <a:ext uri="{9D8B030D-6E8A-4147-A177-3AD203B41FA5}">
                      <a16:colId xmlns:a16="http://schemas.microsoft.com/office/drawing/2014/main" val="3129152884"/>
                    </a:ext>
                  </a:extLst>
                </a:gridCol>
                <a:gridCol w="402148">
                  <a:extLst>
                    <a:ext uri="{9D8B030D-6E8A-4147-A177-3AD203B41FA5}">
                      <a16:colId xmlns:a16="http://schemas.microsoft.com/office/drawing/2014/main" val="3211525834"/>
                    </a:ext>
                  </a:extLst>
                </a:gridCol>
                <a:gridCol w="2676794">
                  <a:extLst>
                    <a:ext uri="{9D8B030D-6E8A-4147-A177-3AD203B41FA5}">
                      <a16:colId xmlns:a16="http://schemas.microsoft.com/office/drawing/2014/main" val="493277285"/>
                    </a:ext>
                  </a:extLst>
                </a:gridCol>
              </a:tblGrid>
              <a:tr h="352250">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ROUTE</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DATE</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EVENT</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REASON</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 TAKEN</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a:solidFill>
                            <a:srgbClr val="000000"/>
                          </a:solidFill>
                          <a:effectLst/>
                          <a:latin typeface="Times New Roman" panose="02020603050405020304" pitchFamily="18" charset="0"/>
                          <a:cs typeface="Times New Roman" panose="02020603050405020304" pitchFamily="18" charset="0"/>
                        </a:rPr>
                        <a:t>ATA</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961" marR="6961" marT="696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12024615"/>
                  </a:ext>
                </a:extLst>
              </a:tr>
              <a:tr h="1604795">
                <a:tc>
                  <a:txBody>
                    <a:bodyPr/>
                    <a:lstStyle/>
                    <a:p>
                      <a:pPr algn="l" fontAlgn="b"/>
                      <a:r>
                        <a:rPr lang="en-US" sz="1100" b="0" i="0" u="none" strike="noStrike">
                          <a:solidFill>
                            <a:srgbClr val="000000"/>
                          </a:solidFill>
                          <a:effectLst/>
                          <a:latin typeface="Calibri" panose="020F0502020204030204" pitchFamily="34" charset="0"/>
                        </a:rPr>
                        <a:t>B219</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0V8067</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SGN -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10:02 24/06/2025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 RTO</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Calibri" panose="020F0502020204030204" pitchFamily="34" charset="0"/>
                        </a:rPr>
                        <a:t>AFTER </a:t>
                      </a:r>
                      <a:r>
                        <a:rPr lang="en-US" sz="1100" b="0" i="0" u="none" strike="noStrike" dirty="0">
                          <a:solidFill>
                            <a:srgbClr val="000000"/>
                          </a:solidFill>
                          <a:effectLst/>
                          <a:latin typeface="Calibri" panose="020F0502020204030204" pitchFamily="34" charset="0"/>
                        </a:rPr>
                        <a:t>TAXING TO RUNWAY, PREPARE FOR TAKE OFF, CAPT CALL VHF INFORM ITT ENG 2 HIGH, CAPT </a:t>
                      </a:r>
                      <a:r>
                        <a:rPr lang="en-US" sz="1100" b="0" i="0" u="none" strike="noStrike">
                          <a:solidFill>
                            <a:srgbClr val="000000"/>
                          </a:solidFill>
                          <a:effectLst/>
                          <a:latin typeface="Calibri" panose="020F0502020204030204" pitchFamily="34" charset="0"/>
                        </a:rPr>
                        <a:t>DECIDE </a:t>
                      </a:r>
                      <a:r>
                        <a:rPr lang="en-US" sz="1100" b="0" i="0" u="none" strike="noStrike" smtClean="0">
                          <a:solidFill>
                            <a:srgbClr val="000000"/>
                          </a:solidFill>
                          <a:effectLst/>
                          <a:latin typeface="Calibri" panose="020F0502020204030204" pitchFamily="34" charset="0"/>
                        </a:rPr>
                        <a:t>GTB</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smtClean="0">
                          <a:solidFill>
                            <a:srgbClr val="000000"/>
                          </a:solidFill>
                          <a:effectLst/>
                          <a:latin typeface="Calibri" panose="020F0502020204030204" pitchFamily="34" charset="0"/>
                        </a:rPr>
                        <a:t>FINAL </a:t>
                      </a:r>
                      <a:r>
                        <a:rPr lang="en-US" sz="1100" b="0" i="0" u="none" strike="noStrike" dirty="0">
                          <a:solidFill>
                            <a:srgbClr val="000000"/>
                          </a:solidFill>
                          <a:effectLst/>
                          <a:latin typeface="Calibri" panose="020F0502020204030204" pitchFamily="34" charset="0"/>
                        </a:rPr>
                        <a:t>ACTION: C/O RPLD HBV AND SEAL OF HANDLING BLEED DUCT, C/O ERU FOUND SATIS, </a:t>
                      </a:r>
                      <a:r>
                        <a:rPr lang="en-US" sz="1100" b="0" i="0" u="none" strike="noStrike">
                          <a:solidFill>
                            <a:srgbClr val="000000"/>
                          </a:solidFill>
                          <a:effectLst/>
                          <a:latin typeface="Calibri" panose="020F0502020204030204" pitchFamily="34" charset="0"/>
                        </a:rPr>
                        <a:t>A/C </a:t>
                      </a:r>
                      <a:r>
                        <a:rPr lang="en-US" sz="1100" b="0" i="0" u="none" strike="noStrike" smtClean="0">
                          <a:solidFill>
                            <a:srgbClr val="000000"/>
                          </a:solidFill>
                          <a:effectLst/>
                          <a:latin typeface="Calibri" panose="020F0502020204030204" pitchFamily="34" charset="0"/>
                        </a:rPr>
                        <a:t>SERV</a:t>
                      </a: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Phát hiện có hỏng hóc ở SEAL OF HANDLING BLEED DUCT P/N RA50A54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Tàu bay B219 thực hiện Y08 (12/05- 23/06), trong quá trình thực hiện định kỳ có thay seal RA50A54 theo chương trình đánh chặn chủ động thông qua AMP task  VNA-21-CHK-10000-1, 361100-RAI-10000-2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Nghi ngờ sai lỗi bảo dưỡng của VAECO khi lắp seal này trong quá trình định kỳ</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1332929"/>
                  </a:ext>
                </a:extLst>
              </a:tr>
            </a:tbl>
          </a:graphicData>
        </a:graphic>
      </p:graphicFrame>
    </p:spTree>
    <p:custDataLst>
      <p:tags r:id="rId1"/>
    </p:custDataLst>
    <p:extLst>
      <p:ext uri="{BB962C8B-B14F-4D97-AF65-F5344CB8AC3E}">
        <p14:creationId xmlns:p14="http://schemas.microsoft.com/office/powerpoint/2010/main" val="3014957217"/>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sp>
        <p:nvSpPr>
          <p:cNvPr id="5" name="TextBox 4">
            <a:extLst>
              <a:ext uri="{FF2B5EF4-FFF2-40B4-BE49-F238E27FC236}">
                <a16:creationId xmlns:a16="http://schemas.microsoft.com/office/drawing/2014/main" id="{92DF34E4-5EAF-DD7F-DEE2-26E7FBD9CDA2}"/>
              </a:ext>
            </a:extLst>
          </p:cNvPr>
          <p:cNvSpPr txBox="1"/>
          <p:nvPr/>
        </p:nvSpPr>
        <p:spPr>
          <a:xfrm>
            <a:off x="207979" y="2101066"/>
            <a:ext cx="1119836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 (</a:t>
            </a:r>
            <a:r>
              <a:rPr lang="en-US" sz="1600" b="1" dirty="0" err="1">
                <a:solidFill>
                  <a:prstClr val="black"/>
                </a:solidFill>
                <a:latin typeface="Times New Roman" panose="02020603050405020304" pitchFamily="18" charset="0"/>
                <a:cs typeface="Times New Roman" panose="02020603050405020304" pitchFamily="18" charset="0"/>
              </a:rPr>
              <a:t>Không</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tính</a:t>
            </a:r>
            <a:r>
              <a:rPr lang="en-US" sz="1600" b="1" dirty="0">
                <a:solidFill>
                  <a:prstClr val="black"/>
                </a:solidFill>
                <a:latin typeface="Times New Roman" panose="02020603050405020304" pitchFamily="18" charset="0"/>
                <a:cs typeface="Times New Roman" panose="02020603050405020304" pitchFamily="18" charset="0"/>
              </a:rPr>
              <a:t> </a:t>
            </a:r>
            <a:r>
              <a:rPr lang="en-US" sz="1600" b="1" dirty="0" err="1">
                <a:solidFill>
                  <a:prstClr val="black"/>
                </a:solidFill>
                <a:latin typeface="Times New Roman" panose="02020603050405020304" pitchFamily="18" charset="0"/>
                <a:cs typeface="Times New Roman" panose="02020603050405020304" pitchFamily="18" charset="0"/>
              </a:rPr>
              <a:t>vào</a:t>
            </a:r>
            <a:r>
              <a:rPr lang="en-US" sz="1600" b="1" dirty="0">
                <a:solidFill>
                  <a:prstClr val="black"/>
                </a:solidFill>
                <a:latin typeface="Times New Roman" panose="02020603050405020304" pitchFamily="18" charset="0"/>
                <a:cs typeface="Times New Roman" panose="02020603050405020304" pitchFamily="18" charset="0"/>
              </a:rPr>
              <a:t> chỉ </a:t>
            </a:r>
            <a:r>
              <a:rPr lang="en-US" sz="1600" b="1" dirty="0" err="1">
                <a:solidFill>
                  <a:prstClr val="black"/>
                </a:solidFill>
                <a:latin typeface="Times New Roman" panose="02020603050405020304" pitchFamily="18" charset="0"/>
                <a:cs typeface="Times New Roman" panose="02020603050405020304" pitchFamily="18" charset="0"/>
              </a:rPr>
              <a:t>sô</a:t>
            </a:r>
            <a:r>
              <a:rPr lang="en-US" sz="1600" b="1" dirty="0">
                <a:solidFill>
                  <a:prstClr val="black"/>
                </a:solidFill>
                <a:latin typeface="Times New Roman" panose="02020603050405020304" pitchFamily="18" charset="0"/>
                <a:cs typeface="Times New Roman" panose="02020603050405020304" pitchFamily="18" charset="0"/>
              </a:rPr>
              <a:t>́ delay)</a:t>
            </a:r>
          </a:p>
        </p:txBody>
      </p:sp>
      <p:graphicFrame>
        <p:nvGraphicFramePr>
          <p:cNvPr id="10" name="Table 9"/>
          <p:cNvGraphicFramePr>
            <a:graphicFrameLocks noGrp="1"/>
          </p:cNvGraphicFramePr>
          <p:nvPr>
            <p:extLst>
              <p:ext uri="{D42A27DB-BD31-4B8C-83A1-F6EECF244321}">
                <p14:modId xmlns:p14="http://schemas.microsoft.com/office/powerpoint/2010/main" val="3497855822"/>
              </p:ext>
            </p:extLst>
          </p:nvPr>
        </p:nvGraphicFramePr>
        <p:xfrm>
          <a:off x="381000" y="1121945"/>
          <a:ext cx="11383818" cy="699904"/>
        </p:xfrm>
        <a:graphic>
          <a:graphicData uri="http://schemas.openxmlformats.org/drawingml/2006/table">
            <a:tbl>
              <a:tblPr/>
              <a:tblGrid>
                <a:gridCol w="417031">
                  <a:extLst>
                    <a:ext uri="{9D8B030D-6E8A-4147-A177-3AD203B41FA5}">
                      <a16:colId xmlns:a16="http://schemas.microsoft.com/office/drawing/2014/main" val="20000"/>
                    </a:ext>
                  </a:extLst>
                </a:gridCol>
                <a:gridCol w="518471">
                  <a:extLst>
                    <a:ext uri="{9D8B030D-6E8A-4147-A177-3AD203B41FA5}">
                      <a16:colId xmlns:a16="http://schemas.microsoft.com/office/drawing/2014/main" val="20001"/>
                    </a:ext>
                  </a:extLst>
                </a:gridCol>
                <a:gridCol w="371947">
                  <a:extLst>
                    <a:ext uri="{9D8B030D-6E8A-4147-A177-3AD203B41FA5}">
                      <a16:colId xmlns:a16="http://schemas.microsoft.com/office/drawing/2014/main" val="20002"/>
                    </a:ext>
                  </a:extLst>
                </a:gridCol>
                <a:gridCol w="1127111">
                  <a:extLst>
                    <a:ext uri="{9D8B030D-6E8A-4147-A177-3AD203B41FA5}">
                      <a16:colId xmlns:a16="http://schemas.microsoft.com/office/drawing/2014/main" val="20003"/>
                    </a:ext>
                  </a:extLst>
                </a:gridCol>
                <a:gridCol w="383217">
                  <a:extLst>
                    <a:ext uri="{9D8B030D-6E8A-4147-A177-3AD203B41FA5}">
                      <a16:colId xmlns:a16="http://schemas.microsoft.com/office/drawing/2014/main" val="20004"/>
                    </a:ext>
                  </a:extLst>
                </a:gridCol>
                <a:gridCol w="935502">
                  <a:extLst>
                    <a:ext uri="{9D8B030D-6E8A-4147-A177-3AD203B41FA5}">
                      <a16:colId xmlns:a16="http://schemas.microsoft.com/office/drawing/2014/main" val="20005"/>
                    </a:ext>
                  </a:extLst>
                </a:gridCol>
                <a:gridCol w="642453">
                  <a:extLst>
                    <a:ext uri="{9D8B030D-6E8A-4147-A177-3AD203B41FA5}">
                      <a16:colId xmlns:a16="http://schemas.microsoft.com/office/drawing/2014/main" val="20006"/>
                    </a:ext>
                  </a:extLst>
                </a:gridCol>
                <a:gridCol w="755164">
                  <a:extLst>
                    <a:ext uri="{9D8B030D-6E8A-4147-A177-3AD203B41FA5}">
                      <a16:colId xmlns:a16="http://schemas.microsoft.com/office/drawing/2014/main" val="20007"/>
                    </a:ext>
                  </a:extLst>
                </a:gridCol>
                <a:gridCol w="2344390">
                  <a:extLst>
                    <a:ext uri="{9D8B030D-6E8A-4147-A177-3AD203B41FA5}">
                      <a16:colId xmlns:a16="http://schemas.microsoft.com/office/drawing/2014/main" val="20008"/>
                    </a:ext>
                  </a:extLst>
                </a:gridCol>
                <a:gridCol w="3888532">
                  <a:extLst>
                    <a:ext uri="{9D8B030D-6E8A-4147-A177-3AD203B41FA5}">
                      <a16:colId xmlns:a16="http://schemas.microsoft.com/office/drawing/2014/main" val="20009"/>
                    </a:ext>
                  </a:extLst>
                </a:gridCol>
              </a:tblGrid>
              <a:tr h="228143">
                <a:tc>
                  <a:txBody>
                    <a:bodyPr/>
                    <a:lstStyle/>
                    <a:p>
                      <a:pPr algn="ctr" fontAlgn="ctr"/>
                      <a:r>
                        <a:rPr lang="en-US" sz="1000" b="1" i="0" u="none" strike="noStrike" dirty="0">
                          <a:solidFill>
                            <a:srgbClr val="000000"/>
                          </a:solidFill>
                          <a:effectLst/>
                          <a:latin typeface="Times New Roman" panose="02020603050405020304" pitchFamily="18" charset="0"/>
                        </a:rPr>
                        <a:t>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FLEET</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A/C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DATE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STA</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MINUTES</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FLIGHT NO</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ROUTINE</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DESC</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000" b="1" i="0" u="none" strike="noStrike">
                          <a:solidFill>
                            <a:srgbClr val="000000"/>
                          </a:solidFill>
                          <a:effectLst/>
                          <a:latin typeface="Times New Roman" panose="02020603050405020304" pitchFamily="18" charset="0"/>
                        </a:rPr>
                        <a:t>DELAY ACTION</a:t>
                      </a:r>
                    </a:p>
                  </a:txBody>
                  <a:tcPr marL="6247" marR="6247" marT="62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88857">
                <a:tc>
                  <a:txBody>
                    <a:bodyPr/>
                    <a:lstStyle/>
                    <a:p>
                      <a:pPr algn="l" fontAlgn="ctr"/>
                      <a:r>
                        <a:rPr lang="en-US" sz="1100" b="0" i="0" u="none" strike="noStrike">
                          <a:solidFill>
                            <a:srgbClr val="000000"/>
                          </a:solidFill>
                          <a:effectLst/>
                          <a:latin typeface="Calibri" panose="020F0502020204030204" pitchFamily="34" charset="0"/>
                        </a:rPr>
                        <a:t>NIL</a:t>
                      </a: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dirty="0">
                        <a:solidFill>
                          <a:srgbClr val="000000"/>
                        </a:solidFill>
                        <a:effectLst/>
                        <a:latin typeface="Calibri" panose="020F050202020403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100" b="0" i="0" u="none" strike="noStrike">
                        <a:solidFill>
                          <a:srgbClr val="000000"/>
                        </a:solidFill>
                        <a:effectLst/>
                        <a:latin typeface="Calibri" panose="020F0502020204030204" pitchFamily="34" charset="0"/>
                      </a:endParaRPr>
                    </a:p>
                  </a:txBody>
                  <a:tcPr marL="6824" marR="6824" marT="682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82363743"/>
              </p:ext>
            </p:extLst>
          </p:nvPr>
        </p:nvGraphicFramePr>
        <p:xfrm>
          <a:off x="381000" y="2590800"/>
          <a:ext cx="11383817" cy="1944100"/>
        </p:xfrm>
        <a:graphic>
          <a:graphicData uri="http://schemas.openxmlformats.org/drawingml/2006/table">
            <a:tbl>
              <a:tblPr/>
              <a:tblGrid>
                <a:gridCol w="249099">
                  <a:extLst>
                    <a:ext uri="{9D8B030D-6E8A-4147-A177-3AD203B41FA5}">
                      <a16:colId xmlns:a16="http://schemas.microsoft.com/office/drawing/2014/main" val="1307524450"/>
                    </a:ext>
                  </a:extLst>
                </a:gridCol>
                <a:gridCol w="473288">
                  <a:extLst>
                    <a:ext uri="{9D8B030D-6E8A-4147-A177-3AD203B41FA5}">
                      <a16:colId xmlns:a16="http://schemas.microsoft.com/office/drawing/2014/main" val="4088859418"/>
                    </a:ext>
                  </a:extLst>
                </a:gridCol>
                <a:gridCol w="448378">
                  <a:extLst>
                    <a:ext uri="{9D8B030D-6E8A-4147-A177-3AD203B41FA5}">
                      <a16:colId xmlns:a16="http://schemas.microsoft.com/office/drawing/2014/main" val="1749740493"/>
                    </a:ext>
                  </a:extLst>
                </a:gridCol>
                <a:gridCol w="1208129">
                  <a:extLst>
                    <a:ext uri="{9D8B030D-6E8A-4147-A177-3AD203B41FA5}">
                      <a16:colId xmlns:a16="http://schemas.microsoft.com/office/drawing/2014/main" val="1542231867"/>
                    </a:ext>
                  </a:extLst>
                </a:gridCol>
                <a:gridCol w="448378">
                  <a:extLst>
                    <a:ext uri="{9D8B030D-6E8A-4147-A177-3AD203B41FA5}">
                      <a16:colId xmlns:a16="http://schemas.microsoft.com/office/drawing/2014/main" val="2662129742"/>
                    </a:ext>
                  </a:extLst>
                </a:gridCol>
                <a:gridCol w="734842">
                  <a:extLst>
                    <a:ext uri="{9D8B030D-6E8A-4147-A177-3AD203B41FA5}">
                      <a16:colId xmlns:a16="http://schemas.microsoft.com/office/drawing/2014/main" val="2222610826"/>
                    </a:ext>
                  </a:extLst>
                </a:gridCol>
                <a:gridCol w="809571">
                  <a:extLst>
                    <a:ext uri="{9D8B030D-6E8A-4147-A177-3AD203B41FA5}">
                      <a16:colId xmlns:a16="http://schemas.microsoft.com/office/drawing/2014/main" val="3172529667"/>
                    </a:ext>
                  </a:extLst>
                </a:gridCol>
                <a:gridCol w="946575">
                  <a:extLst>
                    <a:ext uri="{9D8B030D-6E8A-4147-A177-3AD203B41FA5}">
                      <a16:colId xmlns:a16="http://schemas.microsoft.com/office/drawing/2014/main" val="1499666745"/>
                    </a:ext>
                  </a:extLst>
                </a:gridCol>
                <a:gridCol w="3151100">
                  <a:extLst>
                    <a:ext uri="{9D8B030D-6E8A-4147-A177-3AD203B41FA5}">
                      <a16:colId xmlns:a16="http://schemas.microsoft.com/office/drawing/2014/main" val="254540477"/>
                    </a:ext>
                  </a:extLst>
                </a:gridCol>
                <a:gridCol w="2914457">
                  <a:extLst>
                    <a:ext uri="{9D8B030D-6E8A-4147-A177-3AD203B41FA5}">
                      <a16:colId xmlns:a16="http://schemas.microsoft.com/office/drawing/2014/main" val="2271363113"/>
                    </a:ext>
                  </a:extLst>
                </a:gridCol>
              </a:tblGrid>
              <a:tr h="317539">
                <a:tc>
                  <a:txBody>
                    <a:bodyPr/>
                    <a:lstStyle/>
                    <a:p>
                      <a:pPr algn="l" fontAlgn="t"/>
                      <a:r>
                        <a:rPr lang="en-US" sz="1050" b="0" i="0" u="none" strike="noStrike">
                          <a:solidFill>
                            <a:srgbClr val="000000"/>
                          </a:solidFill>
                          <a:effectLst/>
                          <a:latin typeface="Cambria" panose="02040503050406030204" pitchFamily="18" charset="0"/>
                        </a:rPr>
                        <a:t>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FLEET</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A/C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DATE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STA</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MINUTES</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FLIGHT NO</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ROUTE</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DESC</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t"/>
                      <a:r>
                        <a:rPr lang="en-US" sz="1050" b="0" i="0" u="none" strike="noStrike">
                          <a:solidFill>
                            <a:srgbClr val="000000"/>
                          </a:solidFill>
                          <a:effectLst/>
                          <a:latin typeface="Cambria" panose="02040503050406030204" pitchFamily="18" charset="0"/>
                        </a:rPr>
                        <a:t>DELAY ACTION</a:t>
                      </a:r>
                    </a:p>
                  </a:txBody>
                  <a:tcPr marL="6903" marR="6903" marT="690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830022682"/>
                  </a:ext>
                </a:extLst>
              </a:tr>
              <a:tr h="317539">
                <a:tc>
                  <a:txBody>
                    <a:bodyPr/>
                    <a:lstStyle/>
                    <a:p>
                      <a:pPr algn="ctr" fontAlgn="ctr"/>
                      <a:r>
                        <a:rPr lang="en-150" sz="1050" b="0" i="0" u="none" strike="noStrike">
                          <a:solidFill>
                            <a:srgbClr val="000000"/>
                          </a:solidFill>
                          <a:effectLst/>
                          <a:latin typeface="Times New Roman" panose="02020603050405020304" pitchFamily="18" charset="0"/>
                        </a:rPr>
                        <a:t>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A321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A356</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20:42 28/06/2025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10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VN197</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HAN-DAD</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A356 VN174/VN197 DAD-HAN-DAD (TRANSIT): FOUND LH N/W WORN TO 0.3 MM</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ACTION: C/O REPLACED NEW ONE -&gt; SATIS.</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0282906"/>
                  </a:ext>
                </a:extLst>
              </a:tr>
              <a:tr h="476308">
                <a:tc>
                  <a:txBody>
                    <a:bodyPr/>
                    <a:lstStyle/>
                    <a:p>
                      <a:pPr algn="ctr" fontAlgn="ctr"/>
                      <a:r>
                        <a:rPr lang="en-150" sz="1050" b="0" i="0" u="none" strike="noStrike">
                          <a:solidFill>
                            <a:srgbClr val="000000"/>
                          </a:solidFill>
                          <a:effectLst/>
                          <a:latin typeface="Times New Roman" panose="02020603050405020304" pitchFamily="18" charset="0"/>
                        </a:rPr>
                        <a:t>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A321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A324</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24/06/2025 12:45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DAD</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45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VN1911</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DAD-DAD</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TRANSIT CHK FOUND MW #2 OUTER SHOULDER CORD EXPOSED, REMAINING SHOULDER GROOVE DEPTH IS 1.2 MM</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 RPLD NEW MW EVENT CLOSED </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07728231"/>
                  </a:ext>
                </a:extLst>
              </a:tr>
              <a:tr h="317539">
                <a:tc>
                  <a:txBody>
                    <a:bodyPr/>
                    <a:lstStyle/>
                    <a:p>
                      <a:pPr algn="ctr" fontAlgn="ctr"/>
                      <a:r>
                        <a:rPr lang="en-150" sz="1050" b="0" i="0" u="none" strike="noStrike">
                          <a:solidFill>
                            <a:srgbClr val="000000"/>
                          </a:solidFill>
                          <a:effectLst/>
                          <a:latin typeface="Times New Roman" panose="02020603050405020304" pitchFamily="18" charset="0"/>
                        </a:rPr>
                        <a:t>2</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B787</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A878</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23/06/2025 17:00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25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VN7248</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SGN-HAN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T/X FOUND RH NW WORN TO LIMIT CENTER GROOVE DEPTH REMAINING LESS THAN 1 MM.</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FINAL ACTION: C/O REPLACED NEW RH NW. </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7844544"/>
                  </a:ext>
                </a:extLst>
              </a:tr>
              <a:tr h="476308">
                <a:tc>
                  <a:txBody>
                    <a:bodyPr/>
                    <a:lstStyle/>
                    <a:p>
                      <a:pPr algn="ctr" fontAlgn="ctr"/>
                      <a:r>
                        <a:rPr lang="en-150" sz="1050" b="0" i="0" u="none" strike="noStrike">
                          <a:solidFill>
                            <a:srgbClr val="000000"/>
                          </a:solidFill>
                          <a:effectLst/>
                          <a:latin typeface="Times New Roman" panose="02020603050405020304" pitchFamily="18" charset="0"/>
                        </a:rPr>
                        <a:t>3</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A320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A514</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23/06/2025 13:10</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150" sz="1050" b="0" i="0" u="none" strike="noStrike">
                          <a:solidFill>
                            <a:srgbClr val="000000"/>
                          </a:solidFill>
                          <a:effectLst/>
                          <a:latin typeface="Times New Roman" panose="02020603050405020304" pitchFamily="18" charset="0"/>
                        </a:rPr>
                        <a:t>35</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VN1266</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SGN-VII</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T/X CHECK FOUND MW #1 INNER SHOULDER CORD EXPOSED, REMAINING SHOULDER ~1.3MM</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FINAL ACTION: C/O REPLACED NEW MW#1 </a:t>
                      </a:r>
                    </a:p>
                  </a:txBody>
                  <a:tcPr marL="6903" marR="6903" marT="690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4084728"/>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 </a:t>
            </a:r>
            <a:r>
              <a:rPr lang="vi-VN" sz="1600" b="1" dirty="0">
                <a:solidFill>
                  <a:srgbClr val="FF0000"/>
                </a:solidFill>
                <a:ea typeface="MS PGothic" panose="020B0600070205080204" pitchFamily="34" charset="-128"/>
                <a:cs typeface="Times New Roman" panose="02020603050405020304" pitchFamily="18" charset="0"/>
              </a:rPr>
              <a:t>(non-tech)</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D8A6B6E7-802B-28F6-5A71-3330ACB11301}"/>
              </a:ext>
            </a:extLst>
          </p:cNvPr>
          <p:cNvGraphicFramePr>
            <a:graphicFrameLocks noGrp="1"/>
          </p:cNvGraphicFramePr>
          <p:nvPr>
            <p:extLst/>
          </p:nvPr>
        </p:nvGraphicFramePr>
        <p:xfrm>
          <a:off x="134289" y="1519622"/>
          <a:ext cx="11688715" cy="122357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851680">
                <a:tc>
                  <a:txBody>
                    <a:bodyPr/>
                    <a:lstStyle/>
                    <a:p>
                      <a:pPr algn="l" fontAlgn="b"/>
                      <a:r>
                        <a:rPr lang="en-US" sz="1100" b="0" i="0" u="none" strike="noStrike">
                          <a:solidFill>
                            <a:srgbClr val="000000"/>
                          </a:solidFill>
                          <a:effectLst/>
                          <a:latin typeface="Calibri" panose="020F0502020204030204" pitchFamily="34" charset="0"/>
                        </a:rPr>
                        <a:t>A338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15:00 27/06/2025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13:30 28/06/2025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RUDDER AND VERTICAL FIN DAMAGE OUT </a:t>
                      </a:r>
                      <a:r>
                        <a:rPr lang="en-US" sz="1100" b="0" i="0" u="none" strike="noStrike">
                          <a:solidFill>
                            <a:srgbClr val="000000"/>
                          </a:solidFill>
                          <a:effectLst/>
                          <a:latin typeface="Calibri" panose="020F0502020204030204" pitchFamily="34" charset="0"/>
                        </a:rPr>
                        <a:t>OF </a:t>
                      </a:r>
                      <a:r>
                        <a:rPr lang="en-US" sz="1100" b="0" i="0" u="none" strike="noStrike" smtClean="0">
                          <a:solidFill>
                            <a:srgbClr val="000000"/>
                          </a:solidFill>
                          <a:effectLst/>
                          <a:latin typeface="Calibri" panose="020F0502020204030204" pitchFamily="34" charset="0"/>
                        </a:rPr>
                        <a:t>LIMIT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HANDOVER </a:t>
                      </a:r>
                      <a:r>
                        <a:rPr lang="en-US" sz="1100" b="0" i="0" u="none" strike="noStrike">
                          <a:solidFill>
                            <a:srgbClr val="000000"/>
                          </a:solidFill>
                          <a:effectLst/>
                          <a:latin typeface="Calibri" panose="020F0502020204030204" pitchFamily="34" charset="0"/>
                        </a:rPr>
                        <a:t>TO </a:t>
                      </a:r>
                      <a:r>
                        <a:rPr lang="en-US" sz="1100" b="0" i="0" u="none" strike="noStrike" smtClean="0">
                          <a:solidFill>
                            <a:srgbClr val="000000"/>
                          </a:solidFill>
                          <a:effectLst/>
                          <a:latin typeface="Calibri" panose="020F0502020204030204" pitchFamily="34" charset="0"/>
                        </a:rPr>
                        <a:t>BASE </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Non tech. Đã tiến hành tháo rudder theo hướng dẫn. Chi tiết tại slide sau.</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483119"/>
                  </a:ext>
                </a:extLst>
              </a:tr>
            </a:tbl>
          </a:graphicData>
        </a:graphic>
      </p:graphicFrame>
      <p:sp>
        <p:nvSpPr>
          <p:cNvPr id="7" name="TextBox 6">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noProof="0"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05</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4668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929AABA-7AF1-3DF2-143F-F74E91406812}"/>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1B142E3-33C2-9C1A-F1DA-3AF216396E37}"/>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783937CE-4C6A-9617-0278-FFA52065B438}"/>
              </a:ext>
            </a:extLst>
          </p:cNvPr>
          <p:cNvSpPr>
            <a:spLocks noGrp="1"/>
          </p:cNvSpPr>
          <p:nvPr>
            <p:ph type="title"/>
          </p:nvPr>
        </p:nvSpPr>
        <p:spPr>
          <a:xfrm>
            <a:off x="134289" y="104490"/>
            <a:ext cx="11706825" cy="666169"/>
          </a:xfrm>
        </p:spPr>
        <p:txBody>
          <a:bodyPr rtlCol="0">
            <a:normAutofit/>
          </a:bodyPr>
          <a:lstStyle/>
          <a:p>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A338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HỎNG HÓC RUDDER VÀ THS</a:t>
            </a:r>
          </a:p>
        </p:txBody>
      </p:sp>
      <p:sp>
        <p:nvSpPr>
          <p:cNvPr id="3" name="TextBox 2">
            <a:extLst>
              <a:ext uri="{FF2B5EF4-FFF2-40B4-BE49-F238E27FC236}">
                <a16:creationId xmlns:a16="http://schemas.microsoft.com/office/drawing/2014/main" id="{4E48A174-70E6-24AA-E63E-6EDC788E2C41}"/>
              </a:ext>
            </a:extLst>
          </p:cNvPr>
          <p:cNvSpPr txBox="1"/>
          <p:nvPr/>
        </p:nvSpPr>
        <p:spPr>
          <a:xfrm>
            <a:off x="134289" y="990600"/>
            <a:ext cx="6400800" cy="5355312"/>
          </a:xfrm>
          <a:prstGeom prst="rect">
            <a:avLst/>
          </a:prstGeom>
          <a:noFill/>
        </p:spPr>
        <p:txBody>
          <a:bodyPr wrap="square" rtlCol="0">
            <a:spAutoFit/>
          </a:bodyPr>
          <a:lstStyle/>
          <a:p>
            <a:r>
              <a:rPr lang="vi-VN" b="1" dirty="0"/>
              <a:t>Tiến độ khắc phục hỏng hóc:</a:t>
            </a:r>
          </a:p>
          <a:p>
            <a:pPr marL="285750" indent="-285750">
              <a:buFontTx/>
              <a:buChar char="-"/>
            </a:pPr>
            <a:r>
              <a:rPr lang="vi-VN" dirty="0"/>
              <a:t>Chờ kết quả phân tích tải, các khuyến cáo tiếp theo từ Airbus.</a:t>
            </a:r>
            <a:endParaRPr lang="vi-VN" sz="4000" b="1" dirty="0">
              <a:solidFill>
                <a:srgbClr val="D2A43B"/>
              </a:solidFill>
              <a:latin typeface="Montserrat" pitchFamily="2" charset="77"/>
            </a:endParaRPr>
          </a:p>
          <a:p>
            <a:pPr marL="285750" indent="-285750">
              <a:buFontTx/>
              <a:buChar char="-"/>
            </a:pPr>
            <a:r>
              <a:rPr lang="vi-VN" dirty="0"/>
              <a:t>VAECO đã tháo xong Rudder. Cần phải thay Panel, Actuator...</a:t>
            </a:r>
          </a:p>
          <a:p>
            <a:pPr marL="285750" indent="-285750">
              <a:buFontTx/>
              <a:buChar char="-"/>
            </a:pPr>
            <a:r>
              <a:rPr lang="en-US" dirty="0" err="1"/>
              <a:t>Hỏng</a:t>
            </a:r>
            <a:r>
              <a:rPr lang="en-US" dirty="0"/>
              <a:t> </a:t>
            </a:r>
            <a:r>
              <a:rPr lang="en-US" dirty="0" err="1"/>
              <a:t>hóc</a:t>
            </a:r>
            <a:r>
              <a:rPr lang="en-US" dirty="0"/>
              <a:t> </a:t>
            </a:r>
            <a:r>
              <a:rPr lang="en-US" dirty="0" err="1"/>
              <a:t>các</a:t>
            </a:r>
            <a:r>
              <a:rPr lang="en-US" dirty="0"/>
              <a:t> component </a:t>
            </a:r>
            <a:r>
              <a:rPr lang="en-US" dirty="0" err="1"/>
              <a:t>bên</a:t>
            </a:r>
            <a:r>
              <a:rPr lang="en-US" dirty="0"/>
              <a:t> </a:t>
            </a:r>
            <a:r>
              <a:rPr lang="en-US" dirty="0" err="1"/>
              <a:t>trong</a:t>
            </a:r>
            <a:r>
              <a:rPr lang="en-US" dirty="0"/>
              <a:t> </a:t>
            </a:r>
            <a:r>
              <a:rPr lang="vi-VN" dirty="0"/>
              <a:t>Rudder:</a:t>
            </a:r>
          </a:p>
          <a:p>
            <a:pPr marL="742950" lvl="1" indent="-285750">
              <a:buFont typeface="Wingdings" panose="05000000000000000000" pitchFamily="2" charset="2"/>
              <a:buChar char="§"/>
            </a:pPr>
            <a:r>
              <a:rPr lang="en-US" dirty="0"/>
              <a:t>Hydraulic pipe </a:t>
            </a:r>
            <a:r>
              <a:rPr lang="en-US" dirty="0" err="1"/>
              <a:t>biến</a:t>
            </a:r>
            <a:r>
              <a:rPr lang="en-US" dirty="0"/>
              <a:t> </a:t>
            </a:r>
            <a:r>
              <a:rPr lang="en-US" dirty="0" err="1"/>
              <a:t>dạng</a:t>
            </a:r>
            <a:endParaRPr lang="en-US" dirty="0"/>
          </a:p>
          <a:p>
            <a:pPr marL="742950" lvl="1" indent="-285750">
              <a:buFont typeface="Wingdings" panose="05000000000000000000" pitchFamily="2" charset="2"/>
              <a:buChar char="§"/>
            </a:pPr>
            <a:r>
              <a:rPr lang="en-US" dirty="0"/>
              <a:t>Rod / bracket </a:t>
            </a:r>
            <a:r>
              <a:rPr lang="en-US" dirty="0" err="1"/>
              <a:t>bị</a:t>
            </a:r>
            <a:r>
              <a:rPr lang="en-US" dirty="0"/>
              <a:t> </a:t>
            </a:r>
            <a:r>
              <a:rPr lang="en-US" dirty="0" err="1"/>
              <a:t>gãy</a:t>
            </a:r>
            <a:endParaRPr lang="en-US" dirty="0"/>
          </a:p>
          <a:p>
            <a:pPr marL="742950" lvl="1" indent="-285750">
              <a:buFont typeface="Wingdings" panose="05000000000000000000" pitchFamily="2" charset="2"/>
              <a:buChar char="§"/>
            </a:pPr>
            <a:r>
              <a:rPr lang="en-US" dirty="0"/>
              <a:t>Housing actuator chafing</a:t>
            </a:r>
          </a:p>
          <a:p>
            <a:pPr marL="742950" lvl="1" indent="-285750">
              <a:buFont typeface="Wingdings" panose="05000000000000000000" pitchFamily="2" charset="2"/>
              <a:buChar char="§"/>
            </a:pPr>
            <a:r>
              <a:rPr lang="en-US" dirty="0"/>
              <a:t>Harness/wiring </a:t>
            </a:r>
            <a:r>
              <a:rPr lang="en-US" dirty="0" err="1"/>
              <a:t>bị</a:t>
            </a:r>
            <a:r>
              <a:rPr lang="en-US" dirty="0"/>
              <a:t> </a:t>
            </a:r>
            <a:r>
              <a:rPr lang="en-US" dirty="0" err="1"/>
              <a:t>đứt</a:t>
            </a:r>
            <a:endParaRPr lang="en-US" dirty="0"/>
          </a:p>
          <a:p>
            <a:pPr lvl="1"/>
            <a:endParaRPr lang="vi-VN" dirty="0"/>
          </a:p>
          <a:p>
            <a:r>
              <a:rPr lang="vi-VN" b="1" dirty="0"/>
              <a:t>Nội dung cần thực hiện:</a:t>
            </a:r>
          </a:p>
          <a:p>
            <a:pPr marL="285750" indent="-285750">
              <a:buFontTx/>
              <a:buChar char="-"/>
            </a:pPr>
            <a:r>
              <a:rPr lang="vi-VN" dirty="0"/>
              <a:t>VAECO:</a:t>
            </a:r>
          </a:p>
          <a:p>
            <a:pPr marL="742950" lvl="1" indent="-285750">
              <a:buFontTx/>
              <a:buChar char="-"/>
            </a:pPr>
            <a:r>
              <a:rPr lang="vi-VN" dirty="0"/>
              <a:t>Tiếp tục triển khai tháo, kiểm tra, thay thế các hỏng hóc đã nhận diện. Cung cấp danh mục PTVT cần thiết.</a:t>
            </a:r>
          </a:p>
          <a:p>
            <a:pPr marL="285750" indent="-285750">
              <a:buFontTx/>
              <a:buChar char="-"/>
            </a:pPr>
            <a:r>
              <a:rPr lang="vi-VN" dirty="0"/>
              <a:t>BKT VNA: Phối hợp VAECO cập nhật tiến độ và làm việc với Airbus/Ban PC/ BH.</a:t>
            </a:r>
          </a:p>
          <a:p>
            <a:pPr marL="285750" indent="-285750">
              <a:buFontTx/>
              <a:buChar char="-"/>
            </a:pPr>
            <a:r>
              <a:rPr lang="vi-VN" dirty="0"/>
              <a:t>QLVT VNA: Rà soát danh mục và đặt hàng.</a:t>
            </a:r>
            <a:endParaRPr lang="en-US" dirty="0"/>
          </a:p>
          <a:p>
            <a:pPr marL="285750" indent="-285750">
              <a:buFontTx/>
              <a:buChar char="-"/>
            </a:pPr>
            <a:endParaRPr lang="vi-VN" dirty="0"/>
          </a:p>
          <a:p>
            <a:r>
              <a:rPr lang="vi-VN" dirty="0"/>
              <a:t>Dự kiến tiến độ: phụ thuộc vào kết quả phân tích tải của AIB. Tạm thời tàu dừng tới 2/7.</a:t>
            </a:r>
          </a:p>
        </p:txBody>
      </p:sp>
      <p:pic>
        <p:nvPicPr>
          <p:cNvPr id="7" name="Picture 6">
            <a:extLst>
              <a:ext uri="{FF2B5EF4-FFF2-40B4-BE49-F238E27FC236}">
                <a16:creationId xmlns:a16="http://schemas.microsoft.com/office/drawing/2014/main" id="{F2E9F4D7-C771-9D96-C603-2C3B3C81CCD5}"/>
              </a:ext>
            </a:extLst>
          </p:cNvPr>
          <p:cNvPicPr>
            <a:picLocks noChangeAspect="1"/>
          </p:cNvPicPr>
          <p:nvPr/>
        </p:nvPicPr>
        <p:blipFill>
          <a:blip r:embed="rId3"/>
          <a:stretch>
            <a:fillRect/>
          </a:stretch>
        </p:blipFill>
        <p:spPr>
          <a:xfrm>
            <a:off x="6477001" y="914400"/>
            <a:ext cx="2209800" cy="2922922"/>
          </a:xfrm>
          <a:prstGeom prst="rect">
            <a:avLst/>
          </a:prstGeom>
        </p:spPr>
      </p:pic>
      <p:pic>
        <p:nvPicPr>
          <p:cNvPr id="11" name="Picture 10">
            <a:extLst>
              <a:ext uri="{FF2B5EF4-FFF2-40B4-BE49-F238E27FC236}">
                <a16:creationId xmlns:a16="http://schemas.microsoft.com/office/drawing/2014/main" id="{C6DD7845-F970-246A-BD62-3C3FAA939842}"/>
              </a:ext>
            </a:extLst>
          </p:cNvPr>
          <p:cNvPicPr>
            <a:picLocks noChangeAspect="1"/>
          </p:cNvPicPr>
          <p:nvPr/>
        </p:nvPicPr>
        <p:blipFill>
          <a:blip r:embed="rId4"/>
          <a:stretch>
            <a:fillRect/>
          </a:stretch>
        </p:blipFill>
        <p:spPr>
          <a:xfrm>
            <a:off x="8762999" y="914400"/>
            <a:ext cx="3368503" cy="3048000"/>
          </a:xfrm>
          <a:prstGeom prst="rect">
            <a:avLst/>
          </a:prstGeom>
        </p:spPr>
      </p:pic>
      <p:pic>
        <p:nvPicPr>
          <p:cNvPr id="12" name="Picture 11">
            <a:extLst>
              <a:ext uri="{FF2B5EF4-FFF2-40B4-BE49-F238E27FC236}">
                <a16:creationId xmlns:a16="http://schemas.microsoft.com/office/drawing/2014/main" id="{65B740FA-8947-7279-DFD5-EE86EE4283E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77000" y="3962400"/>
            <a:ext cx="2660725" cy="2776509"/>
          </a:xfrm>
          <a:prstGeom prst="rect">
            <a:avLst/>
          </a:prstGeom>
        </p:spPr>
      </p:pic>
      <p:pic>
        <p:nvPicPr>
          <p:cNvPr id="13" name="Picture 12">
            <a:extLst>
              <a:ext uri="{FF2B5EF4-FFF2-40B4-BE49-F238E27FC236}">
                <a16:creationId xmlns:a16="http://schemas.microsoft.com/office/drawing/2014/main" id="{05BE2E75-F676-DA64-3221-2DA143379FD7}"/>
              </a:ext>
            </a:extLst>
          </p:cNvPr>
          <p:cNvPicPr>
            <a:picLocks noChangeAspect="1"/>
          </p:cNvPicPr>
          <p:nvPr/>
        </p:nvPicPr>
        <p:blipFill>
          <a:blip r:embed="rId6"/>
          <a:stretch>
            <a:fillRect/>
          </a:stretch>
        </p:blipFill>
        <p:spPr>
          <a:xfrm>
            <a:off x="9242187" y="3962400"/>
            <a:ext cx="2041831" cy="2776509"/>
          </a:xfrm>
          <a:prstGeom prst="rect">
            <a:avLst/>
          </a:prstGeom>
        </p:spPr>
      </p:pic>
    </p:spTree>
    <p:extLst>
      <p:ext uri="{BB962C8B-B14F-4D97-AF65-F5344CB8AC3E}">
        <p14:creationId xmlns:p14="http://schemas.microsoft.com/office/powerpoint/2010/main" val="93920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8A5CA59D-1563-95A2-E011-B5B47BF70573}"/>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05</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20237352-D4C4-3150-33AC-3486E1B1B470}"/>
              </a:ext>
            </a:extLst>
          </p:cNvPr>
          <p:cNvGraphicFramePr>
            <a:graphicFrameLocks noGrp="1"/>
          </p:cNvGraphicFramePr>
          <p:nvPr>
            <p:extLst/>
          </p:nvPr>
        </p:nvGraphicFramePr>
        <p:xfrm>
          <a:off x="116182" y="1521019"/>
          <a:ext cx="11853157" cy="4555000"/>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838200">
                  <a:extLst>
                    <a:ext uri="{9D8B030D-6E8A-4147-A177-3AD203B41FA5}">
                      <a16:colId xmlns:a16="http://schemas.microsoft.com/office/drawing/2014/main" val="422459560"/>
                    </a:ext>
                  </a:extLst>
                </a:gridCol>
                <a:gridCol w="1676400">
                  <a:extLst>
                    <a:ext uri="{9D8B030D-6E8A-4147-A177-3AD203B41FA5}">
                      <a16:colId xmlns:a16="http://schemas.microsoft.com/office/drawing/2014/main" val="2573721533"/>
                    </a:ext>
                  </a:extLst>
                </a:gridCol>
                <a:gridCol w="2667000">
                  <a:extLst>
                    <a:ext uri="{9D8B030D-6E8A-4147-A177-3AD203B41FA5}">
                      <a16:colId xmlns:a16="http://schemas.microsoft.com/office/drawing/2014/main" val="1326284677"/>
                    </a:ext>
                  </a:extLst>
                </a:gridCol>
                <a:gridCol w="452104">
                  <a:extLst>
                    <a:ext uri="{9D8B030D-6E8A-4147-A177-3AD203B41FA5}">
                      <a16:colId xmlns:a16="http://schemas.microsoft.com/office/drawing/2014/main" val="3053691605"/>
                    </a:ext>
                  </a:extLst>
                </a:gridCol>
                <a:gridCol w="3293700">
                  <a:extLst>
                    <a:ext uri="{9D8B030D-6E8A-4147-A177-3AD203B41FA5}">
                      <a16:colId xmlns:a16="http://schemas.microsoft.com/office/drawing/2014/main" val="3407010750"/>
                    </a:ext>
                  </a:extLst>
                </a:gridCol>
              </a:tblGrid>
              <a:tr h="259548">
                <a:tc>
                  <a:txBody>
                    <a:bodyPr/>
                    <a:lstStyle/>
                    <a:p>
                      <a:pPr algn="ctr" fontAlgn="ctr"/>
                      <a:r>
                        <a:rPr lang="vi-VN" sz="1100" b="1" i="0" u="none" strike="noStrike">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a:solidFill>
                            <a:srgbClr val="000000"/>
                          </a:solidFill>
                          <a:effectLst/>
                          <a:latin typeface="Calibri" panose="020F0502020204030204" pitchFamily="34" charset="0"/>
                        </a:rPr>
                        <a:t>A608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09:35 28/06/2025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VN7100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SGN-DAD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RPL ENG 2 FUEL FILTER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Calibri" panose="020F0502020204030204" pitchFamily="34" charset="0"/>
                        </a:rPr>
                        <a:t>FINAL </a:t>
                      </a:r>
                      <a:r>
                        <a:rPr lang="vi-VN" sz="1100" b="0" i="0" u="none" strike="noStrike" dirty="0">
                          <a:solidFill>
                            <a:srgbClr val="000000"/>
                          </a:solidFill>
                          <a:effectLst/>
                          <a:latin typeface="Calibri" panose="020F0502020204030204" pitchFamily="34" charset="0"/>
                        </a:rPr>
                        <a:t>ACTION: C/O RPLD ENG 2 </a:t>
                      </a:r>
                      <a:r>
                        <a:rPr lang="vi-VN" sz="1100" b="0" i="0" u="none" strike="noStrike">
                          <a:solidFill>
                            <a:srgbClr val="000000"/>
                          </a:solidFill>
                          <a:effectLst/>
                          <a:latin typeface="Calibri" panose="020F0502020204030204" pitchFamily="34" charset="0"/>
                        </a:rPr>
                        <a:t>FUEL </a:t>
                      </a:r>
                      <a:r>
                        <a:rPr lang="vi-VN" sz="1100" b="0" i="0" u="none" strike="noStrike" smtClean="0">
                          <a:solidFill>
                            <a:srgbClr val="000000"/>
                          </a:solidFill>
                          <a:effectLst/>
                          <a:latin typeface="Calibri" panose="020F0502020204030204" pitchFamily="34" charset="0"/>
                        </a:rPr>
                        <a:t>FILTER; </a:t>
                      </a:r>
                      <a:r>
                        <a:rPr lang="vi-VN" sz="1100" b="0" i="0" u="none" strike="noStrike" dirty="0">
                          <a:solidFill>
                            <a:srgbClr val="000000"/>
                          </a:solidFill>
                          <a:effectLst/>
                          <a:latin typeface="Calibri" panose="020F0502020204030204" pitchFamily="34" charset="0"/>
                        </a:rPr>
                        <a:t>C/O E.R.U CHECK SATIS. </a:t>
                      </a:r>
                      <a:r>
                        <a:rPr lang="vi-VN" sz="1100" b="0" i="0" u="none" strike="noStrike">
                          <a:solidFill>
                            <a:srgbClr val="000000"/>
                          </a:solidFill>
                          <a:effectLst/>
                          <a:latin typeface="Calibri" panose="020F0502020204030204" pitchFamily="34" charset="0"/>
                        </a:rPr>
                        <a:t>A/C </a:t>
                      </a:r>
                      <a:r>
                        <a:rPr lang="vi-VN" sz="1100" b="0" i="0" u="none" strike="noStrike" smtClean="0">
                          <a:solidFill>
                            <a:srgbClr val="000000"/>
                          </a:solidFill>
                          <a:effectLst/>
                          <a:latin typeface="Calibri" panose="020F0502020204030204" pitchFamily="34" charset="0"/>
                        </a:rPr>
                        <a:t>SERVICEABLE</a:t>
                      </a:r>
                      <a:endParaRPr lang="vi-VN"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73-00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V16402 có TSN/CSN = 33305/19268; TSO/CSO = 11237/7830. Các thông số động cơ trên ADEM không có gì bất thường. Hỏng hóc được khắc phục sau khi thay Fuel Filter. Tiếp tục theo dõi thêm.</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89151509"/>
                  </a:ext>
                </a:extLst>
              </a:tr>
              <a:tr h="515354">
                <a:tc>
                  <a:txBody>
                    <a:bodyPr/>
                    <a:lstStyle/>
                    <a:p>
                      <a:pPr algn="l" fontAlgn="b"/>
                      <a:r>
                        <a:rPr lang="en-US" sz="1100" b="0" i="0" u="none" strike="noStrike">
                          <a:solidFill>
                            <a:srgbClr val="000000"/>
                          </a:solidFill>
                          <a:effectLst/>
                          <a:latin typeface="Calibri" panose="020F0502020204030204" pitchFamily="34" charset="0"/>
                        </a:rPr>
                        <a:t>A608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07:00 28/06/2025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VN107</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MSG ENG 2 FUEL FILTER CLOGGED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ENG </a:t>
                      </a:r>
                      <a:r>
                        <a:rPr lang="en-US" sz="1100" b="0" i="0" u="none" strike="noStrike">
                          <a:solidFill>
                            <a:srgbClr val="000000"/>
                          </a:solidFill>
                          <a:effectLst/>
                          <a:latin typeface="Calibri" panose="020F0502020204030204" pitchFamily="34" charset="0"/>
                        </a:rPr>
                        <a:t>2 RUN UP. PARAMETER NML. MSG GONE EVENT </a:t>
                      </a:r>
                      <a:r>
                        <a:rPr lang="en-US" sz="1100" b="0" i="0" u="none" strike="noStrike" smtClean="0">
                          <a:solidFill>
                            <a:srgbClr val="000000"/>
                          </a:solidFill>
                          <a:effectLst/>
                          <a:latin typeface="Calibri" panose="020F0502020204030204" pitchFamily="34" charset="0"/>
                        </a:rPr>
                        <a:t>CLOSED</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73-00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Động cơ V16402 có TSN/CSN = 33305/19268; TSO/CSO = 11237/7830. Các thông số động cơ trên ADEM không có gì bất thường. Hỏng hóc được khắc phục sau khi thay Fuel Filter. Tiếp tục theo dõi thêm.</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48025029"/>
                  </a:ext>
                </a:extLst>
              </a:tr>
              <a:tr h="515354">
                <a:tc>
                  <a:txBody>
                    <a:bodyPr/>
                    <a:lstStyle/>
                    <a:p>
                      <a:pPr algn="l" fontAlgn="b"/>
                      <a:r>
                        <a:rPr lang="en-US" sz="1100" b="0" i="0" u="none" strike="noStrike">
                          <a:solidFill>
                            <a:srgbClr val="000000"/>
                          </a:solidFill>
                          <a:effectLst/>
                          <a:latin typeface="Calibri" panose="020F0502020204030204" pitchFamily="34" charset="0"/>
                        </a:rPr>
                        <a:t>A324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20:25 27/06/2025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VN187</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HAN-DAD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ENG#1 REVERSER FAULT &lt;p&gt;TRANSIT FOUND ENG#1 REVERSER FAULT&lt;/p&gt;</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 </a:t>
                      </a:r>
                      <a:r>
                        <a:rPr lang="en-US" sz="1100" b="0" i="0" u="none" strike="noStrike">
                          <a:solidFill>
                            <a:srgbClr val="000000"/>
                          </a:solidFill>
                          <a:effectLst/>
                          <a:latin typeface="Calibri" panose="020F0502020204030204" pitchFamily="34" charset="0"/>
                        </a:rPr>
                        <a:t>C/O RAISED ADD </a:t>
                      </a:r>
                      <a:r>
                        <a:rPr lang="en-US" sz="1100" b="0" i="0" u="none" strike="noStrike" smtClean="0">
                          <a:solidFill>
                            <a:srgbClr val="000000"/>
                          </a:solidFill>
                          <a:effectLst/>
                          <a:latin typeface="Calibri" panose="020F0502020204030204" pitchFamily="34" charset="0"/>
                        </a:rPr>
                        <a:t>B1609: “ENG#1 </a:t>
                      </a:r>
                      <a:r>
                        <a:rPr lang="en-US" sz="1100" b="0" i="0" u="none" strike="noStrike">
                          <a:solidFill>
                            <a:srgbClr val="000000"/>
                          </a:solidFill>
                          <a:effectLst/>
                          <a:latin typeface="Calibri" panose="020F0502020204030204" pitchFamily="34" charset="0"/>
                        </a:rPr>
                        <a:t>REVERSER </a:t>
                      </a:r>
                      <a:r>
                        <a:rPr lang="en-US" sz="1100" b="0" i="0" u="none" strike="noStrike" smtClean="0">
                          <a:solidFill>
                            <a:srgbClr val="000000"/>
                          </a:solidFill>
                          <a:effectLst/>
                          <a:latin typeface="Calibri" panose="020F0502020204030204" pitchFamily="34" charset="0"/>
                        </a:rPr>
                        <a:t>FAULT”</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C/O DEACTIVATED AND SERCURED REVERSER OF ENG#1 .</a:t>
                      </a:r>
                      <a:r>
                        <a:rPr lang="en-US" sz="1100" b="0" i="0" u="none" strike="noStrike" smtClean="0">
                          <a:solidFill>
                            <a:srgbClr val="000000"/>
                          </a:solidFill>
                          <a:effectLst/>
                          <a:latin typeface="Calibri" panose="020F0502020204030204" pitchFamily="34" charset="0"/>
                        </a:rPr>
                        <a:t>SATIS.</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78-30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Sau khi thực hiện kiểm tra ops test ko phát hiện lỗi, ko có dấu hiệu HCU bị quá nhiệt. Ban KT đã triển khai chương trình thay conjucntion cho TM, hiện Vaeco đang đặt hàng để thay</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07307346"/>
                  </a:ext>
                </a:extLst>
              </a:tr>
              <a:tr h="515354">
                <a:tc>
                  <a:txBody>
                    <a:bodyPr/>
                    <a:lstStyle/>
                    <a:p>
                      <a:pPr algn="l" fontAlgn="b"/>
                      <a:r>
                        <a:rPr lang="en-US" sz="1100" b="0" i="0" u="none" strike="noStrike" dirty="0">
                          <a:solidFill>
                            <a:srgbClr val="000000"/>
                          </a:solidFill>
                          <a:effectLst/>
                          <a:latin typeface="Calibri" panose="020F0502020204030204" pitchFamily="34" charset="0"/>
                        </a:rPr>
                        <a:t>A515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10:00 25/06/2025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VCL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85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VN1641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HAN-VCL</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AFTER BOARDING ECAM MSG VENT AVNCS SYS FAULT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 </a:t>
                      </a:r>
                      <a:r>
                        <a:rPr lang="en-US" sz="1100" b="0" i="0" u="none" strike="noStrike">
                          <a:solidFill>
                            <a:srgbClr val="000000"/>
                          </a:solidFill>
                          <a:effectLst/>
                          <a:latin typeface="Calibri" panose="020F0502020204030204" pitchFamily="34" charset="0"/>
                        </a:rPr>
                        <a:t>RESET TAKING LONG TIME BUT NIL </a:t>
                      </a:r>
                      <a:r>
                        <a:rPr lang="en-US" sz="1100" b="0" i="0" u="none" strike="noStrike" smtClean="0">
                          <a:solidFill>
                            <a:srgbClr val="000000"/>
                          </a:solidFill>
                          <a:effectLst/>
                          <a:latin typeface="Calibri" panose="020F0502020204030204" pitchFamily="34" charset="0"/>
                        </a:rPr>
                        <a:t>HELPS</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ADD B046 “SKIN AIR INLET VALVE FAULT” IS RAISED IAW MEL 21-26-05B (REV TMP28MAR25), CAT C, DEADLINE: 05/07/25</a:t>
                      </a:r>
                      <a:r>
                        <a:rPr lang="en-US" sz="1100" b="0" i="0" u="none" strike="noStrike" smtClean="0">
                          <a:solidFill>
                            <a:srgbClr val="000000"/>
                          </a:solidFill>
                          <a:effectLst/>
                          <a:latin typeface="Calibri" panose="020F0502020204030204" pitchFamily="34" charset="0"/>
                        </a:rPr>
                        <a:t>.</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C/O MAINT PROC IAW AMM 21-26-00-040-014A (REV </a:t>
                      </a:r>
                      <a:r>
                        <a:rPr lang="en-US" sz="1100" b="0" i="0" u="none" strike="noStrike" smtClean="0">
                          <a:solidFill>
                            <a:srgbClr val="000000"/>
                          </a:solidFill>
                          <a:effectLst/>
                          <a:latin typeface="Calibri" panose="020F0502020204030204" pitchFamily="34" charset="0"/>
                        </a:rPr>
                        <a:t>01/05/25</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21-26</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Hỏng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hóc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liên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quan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đến</a:t>
                      </a:r>
                      <a:r>
                        <a:rPr lang="en-US" sz="1100" b="0" i="0" u="none" strike="noStrike" dirty="0">
                          <a:solidFill>
                            <a:srgbClr val="000000"/>
                          </a:solidFill>
                          <a:effectLst/>
                          <a:latin typeface="Calibri" panose="020F0502020204030204" pitchFamily="34" charset="0"/>
                        </a:rPr>
                        <a:t> SAIV,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A515 </a:t>
                      </a:r>
                      <a:r>
                        <a:rPr lang="en-US" sz="1100" b="0" i="0" u="none" strike="noStrike" dirty="0" err="1">
                          <a:solidFill>
                            <a:srgbClr val="000000"/>
                          </a:solidFill>
                          <a:effectLst/>
                          <a:latin typeface="Calibri" panose="020F0502020204030204" pitchFamily="34" charset="0"/>
                        </a:rPr>
                        <a:t>là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tàu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mới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nhận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nên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giờ</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thiết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bị</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còn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thấp</a:t>
                      </a:r>
                      <a:r>
                        <a:rPr lang="en-US" sz="1100" b="0" i="0" u="none" strike="noStrike" dirty="0">
                          <a:solidFill>
                            <a:srgbClr val="000000"/>
                          </a:solidFill>
                          <a:effectLst/>
                          <a:latin typeface="Calibri" panose="020F0502020204030204" pitchFamily="34" charset="0"/>
                        </a:rPr>
                        <a:t>. Ban KT </a:t>
                      </a:r>
                      <a:r>
                        <a:rPr lang="en-US" sz="1100" b="0" i="0" u="none" strike="noStrike" dirty="0" err="1">
                          <a:solidFill>
                            <a:srgbClr val="000000"/>
                          </a:solidFill>
                          <a:effectLst/>
                          <a:latin typeface="Calibri" panose="020F0502020204030204" pitchFamily="34" charset="0"/>
                        </a:rPr>
                        <a:t>sẽ</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Ban QLVT claim </a:t>
                      </a:r>
                      <a:r>
                        <a:rPr lang="en-US" sz="1100" b="0" i="0" u="none" strike="noStrike" dirty="0" err="1">
                          <a:solidFill>
                            <a:srgbClr val="000000"/>
                          </a:solidFill>
                          <a:effectLst/>
                          <a:latin typeface="Calibri" panose="020F0502020204030204" pitchFamily="34" charset="0"/>
                        </a:rPr>
                        <a:t>bảo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hành</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3226606"/>
                  </a:ext>
                </a:extLst>
              </a:tr>
              <a:tr h="515354">
                <a:tc>
                  <a:txBody>
                    <a:bodyPr/>
                    <a:lstStyle/>
                    <a:p>
                      <a:pPr algn="l" fontAlgn="b"/>
                      <a:r>
                        <a:rPr lang="en-US" sz="1100" b="0" i="0" u="none" strike="noStrike">
                          <a:solidFill>
                            <a:srgbClr val="000000"/>
                          </a:solidFill>
                          <a:effectLst/>
                          <a:latin typeface="Calibri" panose="020F0502020204030204" pitchFamily="34" charset="0"/>
                        </a:rPr>
                        <a:t>A331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11:07 23/06/2025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VN7621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HAN-UIH</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VN579/VN7621 </a:t>
                      </a:r>
                      <a:r>
                        <a:rPr lang="en-US" sz="1100" b="0" i="0" u="none" strike="noStrike">
                          <a:solidFill>
                            <a:srgbClr val="000000"/>
                          </a:solidFill>
                          <a:effectLst/>
                          <a:latin typeface="Calibri" panose="020F0502020204030204" pitchFamily="34" charset="0"/>
                        </a:rPr>
                        <a:t>TPE-HAN-UIH (TRANSIT) CAPT REPORT “ENG 1 COMPRESSOR VANE</a:t>
                      </a:r>
                      <a:r>
                        <a:rPr lang="en-US" sz="1100" b="0" i="0" u="none" strike="noStrike" smtClean="0">
                          <a:solidFill>
                            <a:srgbClr val="000000"/>
                          </a:solidFill>
                          <a:effectLst/>
                          <a:latin typeface="Calibri" panose="020F0502020204030204" pitchFamily="34" charset="0"/>
                        </a:rPr>
                        <a:t>”.</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C/O </a:t>
                      </a:r>
                      <a:r>
                        <a:rPr lang="en-US" sz="1100" b="0" i="0" u="none" strike="noStrike" dirty="0">
                          <a:solidFill>
                            <a:srgbClr val="000000"/>
                          </a:solidFill>
                          <a:effectLst/>
                          <a:latin typeface="Calibri" panose="020F0502020204030204" pitchFamily="34" charset="0"/>
                        </a:rPr>
                        <a:t>ENGINES RUN UP WITHIN 5 MINS -&gt; FOUND NO MSG. </a:t>
                      </a:r>
                      <a:r>
                        <a:rPr lang="en-US" sz="1100" b="0" i="0" u="none" strike="noStrike">
                          <a:solidFill>
                            <a:srgbClr val="000000"/>
                          </a:solidFill>
                          <a:effectLst/>
                          <a:latin typeface="Calibri" panose="020F0502020204030204" pitchFamily="34" charset="0"/>
                        </a:rPr>
                        <a:t>A/C </a:t>
                      </a:r>
                      <a:r>
                        <a:rPr lang="en-US" sz="1100" b="0" i="0" u="none" strike="noStrike" smtClean="0">
                          <a:solidFill>
                            <a:srgbClr val="000000"/>
                          </a:solidFill>
                          <a:effectLst/>
                          <a:latin typeface="Calibri" panose="020F0502020204030204" pitchFamily="34" charset="0"/>
                        </a:rPr>
                        <a:t>SERVICEABLE</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V16801 có TSN/CSN = 25157/18001; TSO/CSO = 13115/9672. Các thông số động cơ trên ADEM không có dấu hiệu bất thường. Sau khi nổ máy lại thì cảnh báo biến mất. Vaeco đã triển khai bôi trơn LPC 2.5 khi tàu N/S. Động cơ bị lỗi tương tự ngày 18/07/2024. Tiếp tục theo dõi thêm, nếu bị lại sẽ cho bôi trơn chủ động tần suất 120 ngày.</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7424282"/>
                  </a:ext>
                </a:extLst>
              </a:tr>
            </a:tbl>
          </a:graphicData>
        </a:graphic>
      </p:graphicFrame>
      <p:sp>
        <p:nvSpPr>
          <p:cNvPr id="8" name="TextBox 7">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lang="vi-VN" sz="1600" b="1" dirty="0">
                <a:solidFill>
                  <a:prstClr val="black"/>
                </a:solidFill>
                <a:ea typeface="MS PGothic" panose="020B0600070205080204" pitchFamily="34" charset="-128"/>
                <a:cs typeface="Times New Roman" panose="02020603050405020304" pitchFamily="18" charset="0"/>
              </a:rPr>
              <a:t>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05</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97808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39366FD-FA82-81DD-0D32-477661959F5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6864F89F-1EEC-A0B9-EA0A-EB9B3BE66DA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6954780-B04A-D569-A447-89E2973EC6D3}"/>
              </a:ext>
            </a:extLst>
          </p:cNvPr>
          <p:cNvSpPr>
            <a:spLocks noGrp="1"/>
          </p:cNvSpPr>
          <p:nvPr>
            <p:ph type="title"/>
          </p:nvPr>
        </p:nvSpPr>
        <p:spPr>
          <a:xfrm>
            <a:off x="990600" y="152400"/>
            <a:ext cx="10481849"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3" name="Rectangle 2">
            <a:extLst>
              <a:ext uri="{FF2B5EF4-FFF2-40B4-BE49-F238E27FC236}">
                <a16:creationId xmlns:a16="http://schemas.microsoft.com/office/drawing/2014/main" id="{AB864C9B-F2A7-3A8D-F6D4-239EB854DC82}"/>
              </a:ext>
            </a:extLst>
          </p:cNvPr>
          <p:cNvSpPr/>
          <p:nvPr/>
        </p:nvSpPr>
        <p:spPr>
          <a:xfrm>
            <a:off x="1066800" y="1066800"/>
            <a:ext cx="5791200" cy="3600986"/>
          </a:xfrm>
          <a:prstGeom prst="rect">
            <a:avLst/>
          </a:prstGeom>
        </p:spPr>
        <p:txBody>
          <a:bodyPr wrap="square">
            <a:spAutoFit/>
          </a:bodyPr>
          <a:lstStyle/>
          <a:p>
            <a:pPr algn="just">
              <a:buClrTx/>
              <a:buFontTx/>
              <a:buNone/>
            </a:pPr>
            <a:r>
              <a:rPr lang="en-US" b="1" dirty="0" err="1">
                <a:solidFill>
                  <a:prstClr val="black"/>
                </a:solidFill>
                <a:latin typeface="Times New Roman" panose="02020603050405020304" pitchFamily="18" charset="0"/>
                <a:cs typeface="Times New Roman" panose="02020603050405020304" pitchFamily="18" charset="0"/>
              </a:rPr>
              <a:t>Hỏng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hóc</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nổi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cộm</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tàu</a:t>
            </a:r>
            <a:r>
              <a:rPr lang="en-US" b="1" dirty="0">
                <a:solidFill>
                  <a:prstClr val="black"/>
                </a:solidFill>
                <a:latin typeface="Times New Roman" panose="02020603050405020304" pitchFamily="18" charset="0"/>
                <a:cs typeface="Times New Roman" panose="02020603050405020304" pitchFamily="18" charset="0"/>
              </a:rPr>
              <a:t> A321: </a:t>
            </a:r>
          </a:p>
          <a:p>
            <a:pPr marL="342900" indent="-342900" algn="just">
              <a:buFont typeface="+mj-lt"/>
              <a:buAutoNum type="arabicPeriod"/>
            </a:pPr>
            <a:r>
              <a:rPr lang="en-US" sz="1400">
                <a:latin typeface="Times New Roman" panose="02020603050405020304" pitchFamily="18" charset="0"/>
                <a:cs typeface="Times New Roman" panose="02020603050405020304" pitchFamily="18" charset="0"/>
              </a:rPr>
              <a:t>Trong tuần 25 đội bay phát sinh nhiều hỏng hóc (5 trường hợp AOG, 02 trường hợp GTB), trong đó có một số hỏng hóc thuộc TOP OI, cụ thể:</a:t>
            </a:r>
          </a:p>
          <a:p>
            <a:pPr marL="342900" lvl="0" indent="-342900" algn="just">
              <a:buFont typeface="+mj-lt"/>
              <a:buAutoNum type="arabicPeriod"/>
            </a:pPr>
            <a:r>
              <a:rPr lang="en-US" sz="1400">
                <a:latin typeface="Times New Roman" panose="02020603050405020304" pitchFamily="18" charset="0"/>
                <a:cs typeface="Times New Roman" panose="02020603050405020304" pitchFamily="18" charset="0"/>
              </a:rPr>
              <a:t>A356 AOG/GTB do ENG #2 FADEC B FAULT, tàu đã reset hết mess.</a:t>
            </a:r>
          </a:p>
          <a:p>
            <a:pPr marL="342900" lvl="0" indent="-342900" algn="just">
              <a:buFont typeface="+mj-lt"/>
              <a:buAutoNum type="arabicPeriod"/>
            </a:pPr>
            <a:r>
              <a:rPr lang="en-US" sz="1400">
                <a:latin typeface="Times New Roman" panose="02020603050405020304" pitchFamily="18" charset="0"/>
                <a:cs typeface="Times New Roman" panose="02020603050405020304" pitchFamily="18" charset="0"/>
              </a:rPr>
              <a:t>A357 AOG/GTB do xuất hiện mess báo giả ENG 1 EGT OVER LIMIT (TOP OI do harness bị ẩm vì trời mưa to) và có một số tham số vượt ngưỡng phải hỏi NSX, tàu sau đó đã thực hiện thay harness. Ban KT đã làm việc với VAECO để thực hiện sấy harness khi trời mưa to để tránh các hỏng hóc tương tự.</a:t>
            </a:r>
          </a:p>
          <a:p>
            <a:pPr marL="342900" lvl="0" indent="-342900" algn="just">
              <a:buFont typeface="+mj-lt"/>
              <a:buAutoNum type="arabicPeriod"/>
            </a:pPr>
            <a:r>
              <a:rPr lang="en-US" sz="1400">
                <a:latin typeface="Times New Roman" panose="02020603050405020304" pitchFamily="18" charset="0"/>
                <a:cs typeface="Times New Roman" panose="02020603050405020304" pitchFamily="18" charset="0"/>
              </a:rPr>
              <a:t>Một số hỏng hóc điển hình khác như leak thủy lực do seal càng mũi bị cũ (A339/AOG), hỏng clamp khi thay lốp (A332/AOG) và hỏng rotating mech (TOP OI) khi thay lốp (A356/AOG) là các hỏng hóc điển hình, dễ xảy ra do các vị trí này dễ bị ảnh hưởng bởi tác động bên ngoài theo thời gian</a:t>
            </a:r>
          </a:p>
          <a:p>
            <a:pPr marL="342900" lvl="0" indent="-342900" algn="just">
              <a:buFont typeface="+mj-lt"/>
              <a:buAutoNum type="arabicPeriod"/>
            </a:pPr>
            <a:r>
              <a:rPr lang="en-US" sz="1400">
                <a:latin typeface="Times New Roman" panose="02020603050405020304" pitchFamily="18" charset="0"/>
                <a:cs typeface="Times New Roman" panose="02020603050405020304" pitchFamily="18" charset="0"/>
              </a:rPr>
              <a:t>Ngoài ra, A392 khi nổ máy sau check EA05 phát hiện ENG#2 VIB phải cân chỉnh lại lá </a:t>
            </a:r>
            <a:r>
              <a:rPr lang="en-US" sz="1400" smtClean="0">
                <a:latin typeface="Times New Roman" panose="02020603050405020304" pitchFamily="18" charset="0"/>
                <a:cs typeface="Times New Roman" panose="02020603050405020304" pitchFamily="18" charset="0"/>
              </a:rPr>
              <a:t>cánh.</a:t>
            </a:r>
            <a:endParaRPr lang="vi-VN" sz="1400" dirty="0">
              <a:solidFill>
                <a:prstClr val="black"/>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80C0838-9051-64A0-0A76-F05871117C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3561" y="1066800"/>
            <a:ext cx="4315088" cy="2700000"/>
          </a:xfrm>
          <a:prstGeom prst="rect">
            <a:avLst/>
          </a:prstGeom>
        </p:spPr>
      </p:pic>
    </p:spTree>
    <p:extLst>
      <p:ext uri="{BB962C8B-B14F-4D97-AF65-F5344CB8AC3E}">
        <p14:creationId xmlns:p14="http://schemas.microsoft.com/office/powerpoint/2010/main" val="730154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B477FBC-7AED-B3B5-2457-5D0A21A8853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5743933E-51B3-1E94-5055-BB0553DE4B3F}"/>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6C226F5-8D7E-AF36-EF5D-AC7BA85DC14F}"/>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472469E7-DA50-0E0E-57CB-61F8E633290F}"/>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F96DEFB-57C5-7A64-0120-753868E4DDDC}"/>
              </a:ext>
            </a:extLst>
          </p:cNvPr>
          <p:cNvGraphicFramePr>
            <a:graphicFrameLocks noGrp="1"/>
          </p:cNvGraphicFramePr>
          <p:nvPr>
            <p:extLst>
              <p:ext uri="{D42A27DB-BD31-4B8C-83A1-F6EECF244321}">
                <p14:modId xmlns:p14="http://schemas.microsoft.com/office/powerpoint/2010/main" val="4116115742"/>
              </p:ext>
            </p:extLst>
          </p:nvPr>
        </p:nvGraphicFramePr>
        <p:xfrm>
          <a:off x="134289" y="1519622"/>
          <a:ext cx="11688715" cy="3394181"/>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851680">
                <a:tc>
                  <a:txBody>
                    <a:bodyPr/>
                    <a:lstStyle/>
                    <a:p>
                      <a:pPr algn="l" fontAlgn="b"/>
                      <a:r>
                        <a:rPr lang="en-US" sz="1100" b="0" i="0" u="none" strike="noStrike">
                          <a:solidFill>
                            <a:srgbClr val="000000"/>
                          </a:solidFill>
                          <a:effectLst/>
                          <a:latin typeface="Calibri" panose="020F0502020204030204" pitchFamily="34" charset="0"/>
                        </a:rPr>
                        <a:t>A892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16:55 26/06/2025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Finger </a:t>
                      </a:r>
                      <a:r>
                        <a:rPr lang="en-US" sz="1100" b="0" i="0" u="none" strike="noStrike">
                          <a:solidFill>
                            <a:srgbClr val="000000"/>
                          </a:solidFill>
                          <a:effectLst/>
                          <a:latin typeface="Calibri" panose="020F0502020204030204" pitchFamily="34" charset="0"/>
                        </a:rPr>
                        <a:t>seal at both sides ENG1, and L/H side ENG2 damage out of limit, nil spare at HAN</a:t>
                      </a:r>
                      <a:r>
                        <a:rPr lang="en-US" sz="1100" b="0" i="0" u="none" strike="noStrike" smtClean="0">
                          <a:solidFill>
                            <a:srgbClr val="000000"/>
                          </a:solidFill>
                          <a:effectLst/>
                          <a:latin typeface="Calibri" panose="020F0502020204030204" pitchFamily="34" charset="0"/>
                        </a:rPr>
                        <a:t>.</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r>
                        <a:rPr lang="en-US" sz="1100" b="0" i="0" u="none" strike="noStrike" smtClean="0">
                          <a:solidFill>
                            <a:srgbClr val="000000"/>
                          </a:solidFill>
                          <a:effectLst/>
                          <a:latin typeface="Calibri" panose="020F0502020204030204" pitchFamily="34" charset="0"/>
                        </a:rPr>
                        <a:t>AIB đã cấp RDAF cho bay 50FC</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78-32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Hỏng hóc Turkey feather seals (finger seals #6) trên thổi ngược bị mẻ. seal bị hỏng nằm ở aft edge của tấm bond panel trên khối Inner Fixed Structure (IFS). Hỏng hóc xuất hiện ở cả hai bên của T/R ENG 1 và L/H T/R của ENG 2.</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Tần suất thay seal do hỏng hóc: 2025 3 trường hợp (A892, A887, A894), 2024 4 trường hợp (A899, A896, A898, A895), 2023 4 trường hợp (A899, A892, A895, A894)</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Nguyên nhân: Theo TFU 78.32.00029, nguyên nhân do vùng tiếp xúc giữa Aft Pylong Fairing (APF) và finger seal không đủ khoảng cách, dẫn tới việc cạnh sắc của APF plate cứa vào seal trong trạng thái thổi ngược đóng, gây ra hỏng hóc. Cả hai bên L/H và R/H đều bị ảnh hưởng.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Khắc phục: Hỏng hóc được khắc phục bằng cách thay finger seal mới, ngoài ra có thể xin RDAF bay fly-on 50 FC với seal hỏng.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Giải pháp: NSX Airbus và OEM Collins đều đã ban hành SB A350-54-P010 thay thế seal landing trên APF với profile mới (cạnh plate ít sắc hơn) và VSB RA35978-077 thay loại seal mới chống mòn. Tiến độ thực hiện: SB đã thực hiện 6 tàu (A890, A891, A896, A897, A898, A899), VSB đã thực hiện 4 tàu (A890, A897, A898, A899).</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483119"/>
                  </a:ext>
                </a:extLst>
              </a:tr>
            </a:tbl>
          </a:graphicData>
        </a:graphic>
      </p:graphicFrame>
      <p:sp>
        <p:nvSpPr>
          <p:cNvPr id="7" name="TextBox 6">
            <a:extLst>
              <a:ext uri="{FF2B5EF4-FFF2-40B4-BE49-F238E27FC236}">
                <a16:creationId xmlns:a16="http://schemas.microsoft.com/office/drawing/2014/main" id="{C93C1045-22D5-220A-299A-09D6A7B59986}"/>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512541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92260-660D-D027-A580-1ACF85D8EC9B}"/>
            </a:ext>
          </a:extLst>
        </p:cNvPr>
        <p:cNvGrpSpPr/>
        <p:nvPr/>
      </p:nvGrpSpPr>
      <p:grpSpPr>
        <a:xfrm>
          <a:off x="0" y="0"/>
          <a:ext cx="0" cy="0"/>
          <a:chOff x="0" y="0"/>
          <a:chExt cx="0" cy="0"/>
        </a:xfrm>
      </p:grpSpPr>
      <p:pic>
        <p:nvPicPr>
          <p:cNvPr id="72" name="Picture 71" descr="A drawing of a boat&#10;&#10;AI-generated content may be incorrect.">
            <a:extLst>
              <a:ext uri="{FF2B5EF4-FFF2-40B4-BE49-F238E27FC236}">
                <a16:creationId xmlns:a16="http://schemas.microsoft.com/office/drawing/2014/main" id="{FD6620B3-1FD4-9E1B-BA68-12587DDEB3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86514" y="4018380"/>
            <a:ext cx="2671592" cy="2561848"/>
          </a:xfrm>
          <a:prstGeom prst="rect">
            <a:avLst/>
          </a:prstGeom>
        </p:spPr>
      </p:pic>
      <p:pic>
        <p:nvPicPr>
          <p:cNvPr id="2" name="Picture 1">
            <a:extLst>
              <a:ext uri="{FF2B5EF4-FFF2-40B4-BE49-F238E27FC236}">
                <a16:creationId xmlns:a16="http://schemas.microsoft.com/office/drawing/2014/main" id="{7C55A4EA-8E16-EC6D-7F6A-E84C04DFB348}"/>
              </a:ext>
            </a:extLst>
          </p:cNvPr>
          <p:cNvPicPr>
            <a:picLocks noChangeAspect="1"/>
          </p:cNvPicPr>
          <p:nvPr/>
        </p:nvPicPr>
        <p:blipFill>
          <a:blip r:embed="rId4"/>
          <a:srcRect l="9521" r="45239" b="63368"/>
          <a:stretch>
            <a:fillRect/>
          </a:stretch>
        </p:blipFill>
        <p:spPr>
          <a:xfrm>
            <a:off x="5690673" y="2432392"/>
            <a:ext cx="2304082" cy="1914827"/>
          </a:xfrm>
          <a:prstGeom prst="rect">
            <a:avLst/>
          </a:prstGeom>
        </p:spPr>
      </p:pic>
      <p:sp>
        <p:nvSpPr>
          <p:cNvPr id="21" name="TextBox 20">
            <a:extLst>
              <a:ext uri="{FF2B5EF4-FFF2-40B4-BE49-F238E27FC236}">
                <a16:creationId xmlns:a16="http://schemas.microsoft.com/office/drawing/2014/main" id="{41E2D192-73BA-CFC8-4835-6636B4250492}"/>
              </a:ext>
            </a:extLst>
          </p:cNvPr>
          <p:cNvSpPr txBox="1"/>
          <p:nvPr/>
        </p:nvSpPr>
        <p:spPr>
          <a:xfrm>
            <a:off x="737417" y="168860"/>
            <a:ext cx="10293572" cy="523220"/>
          </a:xfrm>
          <a:prstGeom prst="rect">
            <a:avLst/>
          </a:prstGeom>
          <a:noFill/>
        </p:spPr>
        <p:txBody>
          <a:bodyPr wrap="square" rtlCol="0">
            <a:spAutoFit/>
          </a:bodyPr>
          <a:lstStyle/>
          <a:p>
            <a:pPr algn="just"/>
            <a:r>
              <a:rPr lang="vi-VN" sz="2800" b="1" dirty="0">
                <a:solidFill>
                  <a:srgbClr val="DEA610"/>
                </a:solidFill>
                <a:latin typeface="Times New Roman" panose="02020603050405020304" pitchFamily="18" charset="0"/>
                <a:cs typeface="Times New Roman" panose="02020603050405020304" pitchFamily="18" charset="0"/>
              </a:rPr>
              <a:t>A350</a:t>
            </a:r>
            <a:r>
              <a:rPr lang="en-US" sz="2800" b="1" dirty="0">
                <a:solidFill>
                  <a:srgbClr val="DEA610"/>
                </a:solidFill>
                <a:latin typeface="Times New Roman" panose="02020603050405020304" pitchFamily="18" charset="0"/>
                <a:cs typeface="Times New Roman" panose="02020603050405020304" pitchFamily="18" charset="0"/>
              </a:rPr>
              <a:t> – </a:t>
            </a:r>
            <a:r>
              <a:rPr lang="vi-VN" sz="2800" b="1" dirty="0">
                <a:solidFill>
                  <a:srgbClr val="DEA610"/>
                </a:solidFill>
                <a:latin typeface="Times New Roman" panose="02020603050405020304" pitchFamily="18" charset="0"/>
                <a:cs typeface="Times New Roman" panose="02020603050405020304" pitchFamily="18" charset="0"/>
              </a:rPr>
              <a:t>ATA 78 – Turkey Feather Seal</a:t>
            </a:r>
            <a:endParaRPr lang="en-US" sz="2800" b="1" dirty="0">
              <a:solidFill>
                <a:srgbClr val="DEA610"/>
              </a:solidFill>
              <a:latin typeface="Times New Roman" panose="02020603050405020304" pitchFamily="18" charset="0"/>
              <a:cs typeface="Times New Roman" panose="02020603050405020304" pitchFamily="18" charset="0"/>
            </a:endParaRPr>
          </a:p>
        </p:txBody>
      </p:sp>
      <p:sp>
        <p:nvSpPr>
          <p:cNvPr id="25" name="Rectangle: Single Corner Rounded 24">
            <a:extLst>
              <a:ext uri="{FF2B5EF4-FFF2-40B4-BE49-F238E27FC236}">
                <a16:creationId xmlns:a16="http://schemas.microsoft.com/office/drawing/2014/main" id="{95BF05C0-A2A7-2A67-8125-09DAFA8350AB}"/>
              </a:ext>
            </a:extLst>
          </p:cNvPr>
          <p:cNvSpPr/>
          <p:nvPr/>
        </p:nvSpPr>
        <p:spPr>
          <a:xfrm flipH="1" flipV="1">
            <a:off x="346708" y="666492"/>
            <a:ext cx="5385488"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22BCB92-960C-9B1F-952A-1AB21E9CB305}"/>
              </a:ext>
            </a:extLst>
          </p:cNvPr>
          <p:cNvSpPr/>
          <p:nvPr/>
        </p:nvSpPr>
        <p:spPr>
          <a:xfrm>
            <a:off x="385630" y="678389"/>
            <a:ext cx="5320877" cy="830997"/>
          </a:xfrm>
          <a:prstGeom prst="rect">
            <a:avLst/>
          </a:prstGeom>
        </p:spPr>
        <p:txBody>
          <a:bodyPr wrap="square">
            <a:spAutoFit/>
          </a:bodyPr>
          <a:lstStyle/>
          <a:p>
            <a:pPr lvl="0">
              <a:defRPr/>
            </a:pPr>
            <a:r>
              <a:rPr kumimoji="0" lang="vi-VN"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A892 AOG Turkey Feather Seals damaged.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	</a:t>
            </a:r>
          </a:p>
        </p:txBody>
      </p:sp>
      <p:sp>
        <p:nvSpPr>
          <p:cNvPr id="27" name="Rectangle 26">
            <a:extLst>
              <a:ext uri="{FF2B5EF4-FFF2-40B4-BE49-F238E27FC236}">
                <a16:creationId xmlns:a16="http://schemas.microsoft.com/office/drawing/2014/main" id="{685F8813-AF5A-3FB6-27D0-2523F6866983}"/>
              </a:ext>
            </a:extLst>
          </p:cNvPr>
          <p:cNvSpPr/>
          <p:nvPr/>
        </p:nvSpPr>
        <p:spPr>
          <a:xfrm>
            <a:off x="385630" y="1122967"/>
            <a:ext cx="5167445" cy="738664"/>
          </a:xfrm>
          <a:prstGeom prst="rect">
            <a:avLst/>
          </a:prstGeom>
        </p:spPr>
        <p:txBody>
          <a:bodyPr wrap="square">
            <a:spAutoFit/>
          </a:bodyPr>
          <a:lstStyle/>
          <a:p>
            <a:pPr marL="285750" indent="-285750">
              <a:spcBef>
                <a:spcPts val="600"/>
              </a:spcBef>
              <a:buFont typeface="Arial" panose="020B0604020202020204" pitchFamily="34" charset="0"/>
              <a:buChar char="•"/>
            </a:pPr>
            <a:r>
              <a:rPr lang="vi-VN"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VN210 A892 28/06/2025 AOG due to C of A findings: Found Turkey Feather Seals (finger seal #6) damaged on both sides of T/R ENG 1 and L/H of T/R ENG 2</a:t>
            </a:r>
          </a:p>
        </p:txBody>
      </p:sp>
      <p:sp>
        <p:nvSpPr>
          <p:cNvPr id="39" name="TextBox 38">
            <a:extLst>
              <a:ext uri="{FF2B5EF4-FFF2-40B4-BE49-F238E27FC236}">
                <a16:creationId xmlns:a16="http://schemas.microsoft.com/office/drawing/2014/main" id="{715F3207-FF08-D52C-5BE2-5463DB5D45D8}"/>
              </a:ext>
            </a:extLst>
          </p:cNvPr>
          <p:cNvSpPr txBox="1"/>
          <p:nvPr/>
        </p:nvSpPr>
        <p:spPr>
          <a:xfrm>
            <a:off x="904804" y="2026412"/>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79864F8F-A08D-94D5-BC91-5E98657C9062}"/>
              </a:ext>
            </a:extLst>
          </p:cNvPr>
          <p:cNvSpPr txBox="1"/>
          <p:nvPr/>
        </p:nvSpPr>
        <p:spPr>
          <a:xfrm>
            <a:off x="812604" y="2367294"/>
            <a:ext cx="4919592" cy="1908215"/>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vi-VN" sz="1200" dirty="0">
                <a:latin typeface="+mj-lt"/>
              </a:rPr>
              <a:t>Phần seal bị hỏng nằm tại aft edge ở bond panel của khối Inner Fixed Structure trên thổi ngược. Hỏng hóc thường được phát hiện trong các check định kỳ, sau khi đóng/mở thổi ngược.</a:t>
            </a:r>
          </a:p>
          <a:p>
            <a:pPr marL="285750" indent="-285750" algn="just">
              <a:spcBef>
                <a:spcPts val="1200"/>
              </a:spcBef>
              <a:buFont typeface="Arial" panose="020B0604020202020204" pitchFamily="34" charset="0"/>
              <a:buChar char="•"/>
              <a:defRPr/>
            </a:pPr>
            <a:r>
              <a:rPr lang="vi-VN" sz="1200" dirty="0">
                <a:latin typeface="+mj-lt"/>
              </a:rPr>
              <a:t>Theo TFU 78.32.00029, nguyên nhân do va chạm giữa turkey feather seal và Aft Pylon Fairing (APF) seal landing. Khi đóng thổi ngược, phần seal sẽ tiếp xúc tới cạnh góc seal landing của APF, tuy nhiên do khoảng cách vùng tiếp xúc (seal land) giữa 2 parts không đủ lớn, gây va chạm. Tiếp đó, cạnh góc của APF seal landing khá săc, cứa vào phần seal, gây mẻ seal.</a:t>
            </a:r>
            <a:endParaRPr lang="en-US" sz="1200" dirty="0">
              <a:solidFill>
                <a:srgbClr val="203864"/>
              </a:solidFill>
              <a:latin typeface="Times New Roman" panose="02020603050405020304" pitchFamily="18" charset="0"/>
              <a:cs typeface="Times New Roman" panose="02020603050405020304" pitchFamily="18" charset="0"/>
            </a:endParaRPr>
          </a:p>
        </p:txBody>
      </p:sp>
      <p:pic>
        <p:nvPicPr>
          <p:cNvPr id="105" name="Picture 104">
            <a:extLst>
              <a:ext uri="{FF2B5EF4-FFF2-40B4-BE49-F238E27FC236}">
                <a16:creationId xmlns:a16="http://schemas.microsoft.com/office/drawing/2014/main" id="{40EDF8E2-0489-3DE1-8456-E2824B828DE1}"/>
              </a:ext>
            </a:extLst>
          </p:cNvPr>
          <p:cNvPicPr>
            <a:picLocks noChangeAspect="1"/>
          </p:cNvPicPr>
          <p:nvPr/>
        </p:nvPicPr>
        <p:blipFill>
          <a:blip r:embed="rId5"/>
          <a:stretch>
            <a:fillRect/>
          </a:stretch>
        </p:blipFill>
        <p:spPr>
          <a:xfrm>
            <a:off x="385630" y="1986858"/>
            <a:ext cx="510877" cy="512345"/>
          </a:xfrm>
          <a:prstGeom prst="rect">
            <a:avLst/>
          </a:prstGeom>
        </p:spPr>
      </p:pic>
      <p:grpSp>
        <p:nvGrpSpPr>
          <p:cNvPr id="43" name="Group 42">
            <a:extLst>
              <a:ext uri="{FF2B5EF4-FFF2-40B4-BE49-F238E27FC236}">
                <a16:creationId xmlns:a16="http://schemas.microsoft.com/office/drawing/2014/main" id="{0EF8F251-F156-C4FC-73ED-2B171DE7EE71}"/>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371BB7EC-FDD8-F2A4-8180-55BED4FDF11F}"/>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D8C366F0-9773-F0E9-D64F-37571869389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18" name="TextBox 17">
            <a:extLst>
              <a:ext uri="{FF2B5EF4-FFF2-40B4-BE49-F238E27FC236}">
                <a16:creationId xmlns:a16="http://schemas.microsoft.com/office/drawing/2014/main" id="{8876A72E-A71B-06CB-9230-06CDBE67DCF7}"/>
              </a:ext>
            </a:extLst>
          </p:cNvPr>
          <p:cNvSpPr txBox="1"/>
          <p:nvPr/>
        </p:nvSpPr>
        <p:spPr>
          <a:xfrm>
            <a:off x="1034173" y="4160214"/>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51154793-8FC7-AE28-14E9-1BD7F96B811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5623" y="4018380"/>
            <a:ext cx="550890" cy="512346"/>
          </a:xfrm>
          <a:prstGeom prst="rect">
            <a:avLst/>
          </a:prstGeom>
        </p:spPr>
      </p:pic>
      <p:pic>
        <p:nvPicPr>
          <p:cNvPr id="4" name="Picture 3" descr="A metal object with a metal surface&#10;&#10;AI-generated content may be incorrect.">
            <a:extLst>
              <a:ext uri="{FF2B5EF4-FFF2-40B4-BE49-F238E27FC236}">
                <a16:creationId xmlns:a16="http://schemas.microsoft.com/office/drawing/2014/main" id="{07056F61-D906-B3CA-408F-0D72729BC93B}"/>
              </a:ext>
            </a:extLst>
          </p:cNvPr>
          <p:cNvPicPr>
            <a:picLocks noChangeAspect="1"/>
          </p:cNvPicPr>
          <p:nvPr/>
        </p:nvPicPr>
        <p:blipFill>
          <a:blip r:embed="rId8" cstate="print">
            <a:extLst>
              <a:ext uri="{28A0092B-C50C-407E-A947-70E740481C1C}">
                <a14:useLocalDpi xmlns:a14="http://schemas.microsoft.com/office/drawing/2010/main" val="0"/>
              </a:ext>
            </a:extLst>
          </a:blip>
          <a:srcRect l="33624" t="16546" r="23378" b="42040"/>
          <a:stretch>
            <a:fillRect/>
          </a:stretch>
        </p:blipFill>
        <p:spPr>
          <a:xfrm>
            <a:off x="5776643" y="666492"/>
            <a:ext cx="2688548" cy="1456562"/>
          </a:xfrm>
          <a:prstGeom prst="rect">
            <a:avLst/>
          </a:prstGeom>
        </p:spPr>
      </p:pic>
      <p:sp>
        <p:nvSpPr>
          <p:cNvPr id="5" name="Oval 4">
            <a:extLst>
              <a:ext uri="{FF2B5EF4-FFF2-40B4-BE49-F238E27FC236}">
                <a16:creationId xmlns:a16="http://schemas.microsoft.com/office/drawing/2014/main" id="{7865E874-DC11-005B-52A3-CE589ED3AA10}"/>
              </a:ext>
            </a:extLst>
          </p:cNvPr>
          <p:cNvSpPr/>
          <p:nvPr/>
        </p:nvSpPr>
        <p:spPr>
          <a:xfrm>
            <a:off x="7112999" y="1552806"/>
            <a:ext cx="309563" cy="29703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560AE923-69EC-2D75-396A-83110A04B271}"/>
              </a:ext>
            </a:extLst>
          </p:cNvPr>
          <p:cNvSpPr txBox="1"/>
          <p:nvPr/>
        </p:nvSpPr>
        <p:spPr>
          <a:xfrm>
            <a:off x="795408" y="4474461"/>
            <a:ext cx="4919592" cy="2400657"/>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vi-VN" sz="1200" dirty="0">
                <a:latin typeface="Times New Roman" panose="02020603050405020304" pitchFamily="18" charset="0"/>
                <a:cs typeface="Times New Roman" panose="02020603050405020304" pitchFamily="18" charset="0"/>
              </a:rPr>
              <a:t>Khắc phục tạm thời bằng cách thay seal mới. (RDAF for 50 FC fly-on with damaged seals available)</a:t>
            </a:r>
          </a:p>
          <a:p>
            <a:pPr marL="285750" indent="-285750" algn="just">
              <a:spcBef>
                <a:spcPts val="1200"/>
              </a:spcBef>
              <a:buFont typeface="Arial" panose="020B0604020202020204" pitchFamily="34" charset="0"/>
              <a:buChar char="•"/>
              <a:defRPr/>
            </a:pPr>
            <a:r>
              <a:rPr lang="vi-VN" sz="1200" dirty="0">
                <a:latin typeface="+mj-lt"/>
                <a:cs typeface="Times New Roman" panose="02020603050405020304" pitchFamily="18" charset="0"/>
              </a:rPr>
              <a:t>Thực hiện SB A350-54-P010, thay khối APF seal landing mới, với khoảng trống được chừa ra để hạn chế tiếp xúc với finger seal, ngoài ra cạnh của seal landing cũng được mài để hạn chế cứa vào seal của T/R . </a:t>
            </a:r>
          </a:p>
          <a:p>
            <a:pPr marL="285750" indent="-285750" algn="just">
              <a:spcBef>
                <a:spcPts val="1200"/>
              </a:spcBef>
              <a:buFont typeface="Arial" panose="020B0604020202020204" pitchFamily="34" charset="0"/>
              <a:buChar char="•"/>
              <a:defRPr/>
            </a:pPr>
            <a:r>
              <a:rPr lang="vi-VN" sz="1200" dirty="0">
                <a:latin typeface="+mj-lt"/>
                <a:cs typeface="Times New Roman" panose="02020603050405020304" pitchFamily="18" charset="0"/>
              </a:rPr>
              <a:t>Thực hiện VSB RA35078-077 thay loại turkey feather seal mới wear resistent. </a:t>
            </a:r>
          </a:p>
          <a:p>
            <a:pPr marL="285750" indent="-285750" algn="just">
              <a:spcBef>
                <a:spcPts val="1200"/>
              </a:spcBef>
              <a:buFont typeface="Arial" panose="020B0604020202020204" pitchFamily="34" charset="0"/>
              <a:buChar char="•"/>
              <a:defRPr/>
            </a:pPr>
            <a:r>
              <a:rPr lang="vi-VN" sz="1200" dirty="0">
                <a:latin typeface="Times New Roman" panose="02020603050405020304" pitchFamily="18" charset="0"/>
                <a:cs typeface="Times New Roman" panose="02020603050405020304" pitchFamily="18" charset="0"/>
              </a:rPr>
              <a:t>Airbus khuyến cáo nên thực hiện cả SB và VSB để hạn chế hỏng hóc. VNA đã thực hiện SB cho 6 tàu </a:t>
            </a:r>
            <a:r>
              <a:rPr lang="pt-BR" sz="1200" dirty="0">
                <a:latin typeface="Times New Roman" panose="02020603050405020304" pitchFamily="18" charset="0"/>
                <a:cs typeface="Times New Roman" panose="02020603050405020304" pitchFamily="18" charset="0"/>
              </a:rPr>
              <a:t>(A890, A891, A896, A897, A898, A899)</a:t>
            </a:r>
            <a:r>
              <a:rPr lang="vi-VN" sz="1200" dirty="0">
                <a:latin typeface="Times New Roman" panose="02020603050405020304" pitchFamily="18" charset="0"/>
                <a:cs typeface="Times New Roman" panose="02020603050405020304" pitchFamily="18" charset="0"/>
              </a:rPr>
              <a:t> và VSB cho 4 tàu  </a:t>
            </a:r>
            <a:r>
              <a:rPr lang="pt-BR" sz="1200" dirty="0">
                <a:latin typeface="Times New Roman" panose="02020603050405020304" pitchFamily="18" charset="0"/>
                <a:cs typeface="Times New Roman" panose="02020603050405020304" pitchFamily="18" charset="0"/>
              </a:rPr>
              <a:t>(A890, A891, A896, A897, A898, A899)</a:t>
            </a:r>
            <a:endParaRPr lang="vi-VN" sz="12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433F82C5-2F8F-457E-3338-C18B28F09B20}"/>
              </a:ext>
            </a:extLst>
          </p:cNvPr>
          <p:cNvPicPr>
            <a:picLocks noChangeAspect="1"/>
          </p:cNvPicPr>
          <p:nvPr/>
        </p:nvPicPr>
        <p:blipFill>
          <a:blip r:embed="rId9"/>
          <a:srcRect l="7689" t="13092" r="34023" b="2089"/>
          <a:stretch>
            <a:fillRect/>
          </a:stretch>
        </p:blipFill>
        <p:spPr>
          <a:xfrm>
            <a:off x="7899802" y="1122967"/>
            <a:ext cx="4292198" cy="2623169"/>
          </a:xfrm>
          <a:prstGeom prst="rect">
            <a:avLst/>
          </a:prstGeom>
          <a:ln w="9525">
            <a:solidFill>
              <a:schemeClr val="tx1"/>
            </a:solidFill>
          </a:ln>
        </p:spPr>
      </p:pic>
      <p:pic>
        <p:nvPicPr>
          <p:cNvPr id="13" name="Picture 12">
            <a:extLst>
              <a:ext uri="{FF2B5EF4-FFF2-40B4-BE49-F238E27FC236}">
                <a16:creationId xmlns:a16="http://schemas.microsoft.com/office/drawing/2014/main" id="{6EB57AAA-850F-E509-3DE0-CFDB2A9C6516}"/>
              </a:ext>
            </a:extLst>
          </p:cNvPr>
          <p:cNvPicPr>
            <a:picLocks noChangeAspect="1"/>
          </p:cNvPicPr>
          <p:nvPr/>
        </p:nvPicPr>
        <p:blipFill>
          <a:blip r:embed="rId10"/>
          <a:srcRect l="4122" t="9594" r="19691" b="7002"/>
          <a:stretch>
            <a:fillRect/>
          </a:stretch>
        </p:blipFill>
        <p:spPr>
          <a:xfrm>
            <a:off x="5964617" y="4654939"/>
            <a:ext cx="2895862" cy="1914827"/>
          </a:xfrm>
          <a:prstGeom prst="rect">
            <a:avLst/>
          </a:prstGeom>
        </p:spPr>
      </p:pic>
      <p:cxnSp>
        <p:nvCxnSpPr>
          <p:cNvPr id="22" name="Straight Arrow Connector 21">
            <a:extLst>
              <a:ext uri="{FF2B5EF4-FFF2-40B4-BE49-F238E27FC236}">
                <a16:creationId xmlns:a16="http://schemas.microsoft.com/office/drawing/2014/main" id="{9EDAB0B2-31B0-B6E0-C9C4-66866433B3E6}"/>
              </a:ext>
            </a:extLst>
          </p:cNvPr>
          <p:cNvCxnSpPr>
            <a:cxnSpLocks/>
            <a:stCxn id="30" idx="3"/>
            <a:endCxn id="5" idx="3"/>
          </p:cNvCxnSpPr>
          <p:nvPr/>
        </p:nvCxnSpPr>
        <p:spPr>
          <a:xfrm flipV="1">
            <a:off x="6360223" y="1806345"/>
            <a:ext cx="798110" cy="561827"/>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97689393-93BC-0C82-E84C-61D15A6398EB}"/>
              </a:ext>
            </a:extLst>
          </p:cNvPr>
          <p:cNvCxnSpPr>
            <a:cxnSpLocks/>
            <a:stCxn id="30" idx="3"/>
          </p:cNvCxnSpPr>
          <p:nvPr/>
        </p:nvCxnSpPr>
        <p:spPr>
          <a:xfrm>
            <a:off x="6360223" y="2368172"/>
            <a:ext cx="47820" cy="55074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EA1F85E-38EE-12BE-0437-711D5EDE8CAD}"/>
              </a:ext>
            </a:extLst>
          </p:cNvPr>
          <p:cNvSpPr txBox="1"/>
          <p:nvPr/>
        </p:nvSpPr>
        <p:spPr>
          <a:xfrm>
            <a:off x="5670667" y="2183506"/>
            <a:ext cx="689556" cy="369332"/>
          </a:xfrm>
          <a:prstGeom prst="rect">
            <a:avLst/>
          </a:prstGeom>
          <a:noFill/>
        </p:spPr>
        <p:txBody>
          <a:bodyPr wrap="square" rtlCol="0">
            <a:spAutoFit/>
          </a:bodyPr>
          <a:lstStyle/>
          <a:p>
            <a:r>
              <a:rPr lang="vi-VN" sz="900" dirty="0">
                <a:solidFill>
                  <a:srgbClr val="FF0000"/>
                </a:solidFill>
              </a:rPr>
              <a:t>Damage location</a:t>
            </a:r>
            <a:endParaRPr lang="en-CA" sz="900" dirty="0">
              <a:solidFill>
                <a:srgbClr val="FF0000"/>
              </a:solidFill>
            </a:endParaRPr>
          </a:p>
        </p:txBody>
      </p:sp>
      <p:sp>
        <p:nvSpPr>
          <p:cNvPr id="35" name="Oval 34">
            <a:extLst>
              <a:ext uri="{FF2B5EF4-FFF2-40B4-BE49-F238E27FC236}">
                <a16:creationId xmlns:a16="http://schemas.microsoft.com/office/drawing/2014/main" id="{F926B012-2B3D-EAF8-691C-B58842A4BBB2}"/>
              </a:ext>
            </a:extLst>
          </p:cNvPr>
          <p:cNvSpPr/>
          <p:nvPr/>
        </p:nvSpPr>
        <p:spPr>
          <a:xfrm>
            <a:off x="8595623" y="1551454"/>
            <a:ext cx="300727" cy="225956"/>
          </a:xfrm>
          <a:prstGeom prst="ellipse">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Oval 35">
            <a:extLst>
              <a:ext uri="{FF2B5EF4-FFF2-40B4-BE49-F238E27FC236}">
                <a16:creationId xmlns:a16="http://schemas.microsoft.com/office/drawing/2014/main" id="{63C5878D-18DE-749F-AAB1-D83E78823E5D}"/>
              </a:ext>
            </a:extLst>
          </p:cNvPr>
          <p:cNvSpPr/>
          <p:nvPr/>
        </p:nvSpPr>
        <p:spPr>
          <a:xfrm>
            <a:off x="9031785" y="2418106"/>
            <a:ext cx="221753" cy="150309"/>
          </a:xfrm>
          <a:prstGeom prst="ellipse">
            <a:avLst/>
          </a:prstGeom>
          <a:no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Box 48">
            <a:extLst>
              <a:ext uri="{FF2B5EF4-FFF2-40B4-BE49-F238E27FC236}">
                <a16:creationId xmlns:a16="http://schemas.microsoft.com/office/drawing/2014/main" id="{32423BAE-B21A-FB73-1FC5-43108F461B15}"/>
              </a:ext>
            </a:extLst>
          </p:cNvPr>
          <p:cNvSpPr txBox="1"/>
          <p:nvPr/>
        </p:nvSpPr>
        <p:spPr>
          <a:xfrm>
            <a:off x="8069904" y="1579386"/>
            <a:ext cx="790575" cy="230832"/>
          </a:xfrm>
          <a:prstGeom prst="rect">
            <a:avLst/>
          </a:prstGeom>
          <a:noFill/>
        </p:spPr>
        <p:txBody>
          <a:bodyPr wrap="square" rtlCol="0">
            <a:spAutoFit/>
          </a:bodyPr>
          <a:lstStyle/>
          <a:p>
            <a:r>
              <a:rPr lang="vi-VN" sz="900" b="1" dirty="0">
                <a:solidFill>
                  <a:schemeClr val="accent4">
                    <a:lumMod val="60000"/>
                    <a:lumOff val="40000"/>
                  </a:schemeClr>
                </a:solidFill>
              </a:rPr>
              <a:t>TF seal</a:t>
            </a:r>
            <a:endParaRPr lang="en-CA" sz="900" b="1" dirty="0">
              <a:solidFill>
                <a:schemeClr val="accent4">
                  <a:lumMod val="60000"/>
                  <a:lumOff val="40000"/>
                </a:schemeClr>
              </a:solidFill>
            </a:endParaRPr>
          </a:p>
        </p:txBody>
      </p:sp>
      <p:sp>
        <p:nvSpPr>
          <p:cNvPr id="50" name="TextBox 49">
            <a:extLst>
              <a:ext uri="{FF2B5EF4-FFF2-40B4-BE49-F238E27FC236}">
                <a16:creationId xmlns:a16="http://schemas.microsoft.com/office/drawing/2014/main" id="{F0C8986B-0F0C-0C36-72E4-8BCFB92BF364}"/>
              </a:ext>
            </a:extLst>
          </p:cNvPr>
          <p:cNvSpPr txBox="1"/>
          <p:nvPr/>
        </p:nvSpPr>
        <p:spPr>
          <a:xfrm>
            <a:off x="9229705" y="2623995"/>
            <a:ext cx="971846" cy="507831"/>
          </a:xfrm>
          <a:prstGeom prst="rect">
            <a:avLst/>
          </a:prstGeom>
          <a:noFill/>
        </p:spPr>
        <p:txBody>
          <a:bodyPr wrap="square" rtlCol="0">
            <a:spAutoFit/>
          </a:bodyPr>
          <a:lstStyle/>
          <a:p>
            <a:r>
              <a:rPr lang="vi-VN" sz="900" b="1" dirty="0">
                <a:solidFill>
                  <a:schemeClr val="accent4">
                    <a:lumMod val="60000"/>
                    <a:lumOff val="40000"/>
                  </a:schemeClr>
                </a:solidFill>
              </a:rPr>
              <a:t>APF seal landing corner</a:t>
            </a:r>
            <a:endParaRPr lang="en-CA" sz="900" b="1" dirty="0">
              <a:solidFill>
                <a:schemeClr val="accent4">
                  <a:lumMod val="60000"/>
                  <a:lumOff val="40000"/>
                </a:schemeClr>
              </a:solidFill>
            </a:endParaRPr>
          </a:p>
        </p:txBody>
      </p:sp>
      <p:sp>
        <p:nvSpPr>
          <p:cNvPr id="55" name="TextBox 54">
            <a:extLst>
              <a:ext uri="{FF2B5EF4-FFF2-40B4-BE49-F238E27FC236}">
                <a16:creationId xmlns:a16="http://schemas.microsoft.com/office/drawing/2014/main" id="{45283315-20C1-556C-1943-A48BABD76130}"/>
              </a:ext>
            </a:extLst>
          </p:cNvPr>
          <p:cNvSpPr txBox="1"/>
          <p:nvPr/>
        </p:nvSpPr>
        <p:spPr>
          <a:xfrm>
            <a:off x="10905094" y="2526046"/>
            <a:ext cx="1387199" cy="369332"/>
          </a:xfrm>
          <a:prstGeom prst="rect">
            <a:avLst/>
          </a:prstGeom>
          <a:noFill/>
        </p:spPr>
        <p:txBody>
          <a:bodyPr wrap="square" rtlCol="0">
            <a:spAutoFit/>
          </a:bodyPr>
          <a:lstStyle/>
          <a:p>
            <a:r>
              <a:rPr lang="vi-VN" sz="900" b="1" dirty="0">
                <a:solidFill>
                  <a:schemeClr val="accent4">
                    <a:lumMod val="60000"/>
                    <a:lumOff val="40000"/>
                  </a:schemeClr>
                </a:solidFill>
              </a:rPr>
              <a:t>Contact seal – APF sean landing</a:t>
            </a:r>
            <a:endParaRPr lang="en-CA" sz="900" b="1" dirty="0">
              <a:solidFill>
                <a:schemeClr val="accent4">
                  <a:lumMod val="60000"/>
                  <a:lumOff val="40000"/>
                </a:schemeClr>
              </a:solidFill>
            </a:endParaRPr>
          </a:p>
        </p:txBody>
      </p:sp>
      <p:sp>
        <p:nvSpPr>
          <p:cNvPr id="56" name="Oval 55">
            <a:extLst>
              <a:ext uri="{FF2B5EF4-FFF2-40B4-BE49-F238E27FC236}">
                <a16:creationId xmlns:a16="http://schemas.microsoft.com/office/drawing/2014/main" id="{C8255850-E8D4-67EE-5987-C07577451AE9}"/>
              </a:ext>
            </a:extLst>
          </p:cNvPr>
          <p:cNvSpPr/>
          <p:nvPr/>
        </p:nvSpPr>
        <p:spPr>
          <a:xfrm>
            <a:off x="9552132" y="6033151"/>
            <a:ext cx="311150" cy="16192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58" name="Straight Connector 57">
            <a:extLst>
              <a:ext uri="{FF2B5EF4-FFF2-40B4-BE49-F238E27FC236}">
                <a16:creationId xmlns:a16="http://schemas.microsoft.com/office/drawing/2014/main" id="{AFF94C50-DF79-AADD-0CB1-6DDBC632A327}"/>
              </a:ext>
            </a:extLst>
          </p:cNvPr>
          <p:cNvCxnSpPr>
            <a:cxnSpLocks/>
          </p:cNvCxnSpPr>
          <p:nvPr/>
        </p:nvCxnSpPr>
        <p:spPr>
          <a:xfrm flipH="1" flipV="1">
            <a:off x="8857253" y="4654939"/>
            <a:ext cx="887557" cy="137821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84627632-94E7-5064-FE55-0C1D7A452C1E}"/>
              </a:ext>
            </a:extLst>
          </p:cNvPr>
          <p:cNvCxnSpPr>
            <a:cxnSpLocks/>
            <a:stCxn id="56" idx="4"/>
          </p:cNvCxnSpPr>
          <p:nvPr/>
        </p:nvCxnSpPr>
        <p:spPr>
          <a:xfrm flipH="1">
            <a:off x="8857253" y="6195076"/>
            <a:ext cx="850454" cy="36634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522609F2-4BE0-E9FC-C64A-E5806A0FC11E}"/>
              </a:ext>
            </a:extLst>
          </p:cNvPr>
          <p:cNvSpPr txBox="1"/>
          <p:nvPr/>
        </p:nvSpPr>
        <p:spPr>
          <a:xfrm>
            <a:off x="6051936" y="6262352"/>
            <a:ext cx="2157412" cy="261610"/>
          </a:xfrm>
          <a:prstGeom prst="rect">
            <a:avLst/>
          </a:prstGeom>
          <a:noFill/>
        </p:spPr>
        <p:txBody>
          <a:bodyPr wrap="square" rtlCol="0">
            <a:spAutoFit/>
          </a:bodyPr>
          <a:lstStyle/>
          <a:p>
            <a:r>
              <a:rPr lang="vi-VN" sz="1100" b="1" dirty="0">
                <a:solidFill>
                  <a:srgbClr val="FF0000"/>
                </a:solidFill>
              </a:rPr>
              <a:t>New APF seal landing corner</a:t>
            </a:r>
            <a:endParaRPr lang="en-CA" sz="1100" b="1" dirty="0">
              <a:solidFill>
                <a:srgbClr val="FF0000"/>
              </a:solidFill>
            </a:endParaRPr>
          </a:p>
        </p:txBody>
      </p:sp>
      <p:sp>
        <p:nvSpPr>
          <p:cNvPr id="70" name="TextBox 69">
            <a:extLst>
              <a:ext uri="{FF2B5EF4-FFF2-40B4-BE49-F238E27FC236}">
                <a16:creationId xmlns:a16="http://schemas.microsoft.com/office/drawing/2014/main" id="{9E3FC357-AE99-7B12-F06B-AB11D9A016A1}"/>
              </a:ext>
            </a:extLst>
          </p:cNvPr>
          <p:cNvSpPr txBox="1"/>
          <p:nvPr/>
        </p:nvSpPr>
        <p:spPr>
          <a:xfrm>
            <a:off x="9608544" y="5308169"/>
            <a:ext cx="1074497" cy="338554"/>
          </a:xfrm>
          <a:prstGeom prst="rect">
            <a:avLst/>
          </a:prstGeom>
          <a:noFill/>
        </p:spPr>
        <p:txBody>
          <a:bodyPr wrap="square" rtlCol="0">
            <a:spAutoFit/>
          </a:bodyPr>
          <a:lstStyle/>
          <a:p>
            <a:r>
              <a:rPr lang="vi-VN" sz="800" dirty="0">
                <a:solidFill>
                  <a:srgbClr val="FF0000"/>
                </a:solidFill>
              </a:rPr>
              <a:t>Replacement of the APF seal landing</a:t>
            </a:r>
            <a:endParaRPr lang="en-CA" sz="800" dirty="0">
              <a:solidFill>
                <a:srgbClr val="FF0000"/>
              </a:solidFill>
            </a:endParaRPr>
          </a:p>
        </p:txBody>
      </p:sp>
    </p:spTree>
    <p:extLst>
      <p:ext uri="{BB962C8B-B14F-4D97-AF65-F5344CB8AC3E}">
        <p14:creationId xmlns:p14="http://schemas.microsoft.com/office/powerpoint/2010/main" val="391646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7CCBD60F-7AA0-F5CD-F1DC-088B378887DF}"/>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7AC17E89-42E5-CE37-A6E4-A5D228FE234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29A770FC-C3D3-DCF6-D314-10E632124C3F}"/>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DA6F13FE-2ADD-25D9-F726-A6BDD2A5F74B}"/>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FDF2E289-7ED3-52E6-92D6-02D0486910EE}"/>
              </a:ext>
            </a:extLst>
          </p:cNvPr>
          <p:cNvGraphicFramePr>
            <a:graphicFrameLocks noGrp="1"/>
          </p:cNvGraphicFramePr>
          <p:nvPr>
            <p:extLst>
              <p:ext uri="{D42A27DB-BD31-4B8C-83A1-F6EECF244321}">
                <p14:modId xmlns:p14="http://schemas.microsoft.com/office/powerpoint/2010/main" val="1107957426"/>
              </p:ext>
            </p:extLst>
          </p:nvPr>
        </p:nvGraphicFramePr>
        <p:xfrm>
          <a:off x="134289" y="1519622"/>
          <a:ext cx="11688715" cy="3561821"/>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851680">
                <a:tc>
                  <a:txBody>
                    <a:bodyPr/>
                    <a:lstStyle/>
                    <a:p>
                      <a:pPr algn="l" fontAlgn="b"/>
                      <a:r>
                        <a:rPr lang="en-US" sz="1100" b="0" i="0" u="none" strike="noStrike">
                          <a:solidFill>
                            <a:srgbClr val="000000"/>
                          </a:solidFill>
                          <a:effectLst/>
                          <a:latin typeface="Calibri" panose="020F0502020204030204" pitchFamily="34" charset="0"/>
                        </a:rPr>
                        <a:t>A896</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17:53 23/06/2025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CDG</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AFTER </a:t>
                      </a:r>
                      <a:r>
                        <a:rPr lang="en-US" sz="1100" b="0" i="0" u="none" strike="noStrike">
                          <a:solidFill>
                            <a:srgbClr val="000000"/>
                          </a:solidFill>
                          <a:effectLst/>
                          <a:latin typeface="Calibri" panose="020F0502020204030204" pitchFamily="34" charset="0"/>
                        </a:rPr>
                        <a:t>VN19 HAN-CDG, DM: ENG 1 </a:t>
                      </a:r>
                      <a:r>
                        <a:rPr lang="en-US" sz="1100" b="0" i="0" u="none" strike="noStrike" smtClean="0">
                          <a:solidFill>
                            <a:srgbClr val="000000"/>
                          </a:solidFill>
                          <a:effectLst/>
                          <a:latin typeface="Calibri" panose="020F0502020204030204" pitchFamily="34" charset="0"/>
                        </a:rPr>
                        <a:t>STALL</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Calibri" panose="020F0502020204030204" pitchFamily="34" charset="0"/>
                        </a:rPr>
                        <a:t>RR đã gửi email confirm hỏng hóc của ENG1 của A896 là do nước ở trong P30, CDG đã check &amp; drain nước trong P30. RR không yêu cầu làm gì thêm tại CDG</a:t>
                      </a:r>
                      <a:r>
                        <a:rPr lang="en-US" sz="1100" b="0" i="0" u="none" strike="noStrike" smtClean="0">
                          <a:solidFill>
                            <a:srgbClr val="000000"/>
                          </a:solidFill>
                          <a:effectLst/>
                          <a:latin typeface="Calibri" panose="020F0502020204030204" pitchFamily="34" charset="0"/>
                        </a:rPr>
                        <a: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72-00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Động cơ số 1 A896 21169 có TSN/CSN = 29084/5573, TSLSV/CSLSV = 2714/443.</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Ngày 20/06, tàu A896 bay cruise ở độ cao 41k ft thì có cảnh báo ENG 1 STALL/SURGE trong vài giây rồi tự hết. Các thông số khác của động cơ bình thường. Tàu được kiểm tra ngay sau khi hạ cánh xuống CDG.</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Thực hiện kiểm tra theo AMM phát hiện có 2ml nước đọng ở P30 Senseline. Phía RR sau khi phân tích dữ liệu QAR và SAR34 xác nhận trường hợp này là báo giả và cho phép tàu tiếp tục khai thác, đồng thời khuyến cáo thay thế khối EEC khi về HAN.</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P30 là đường ống dẫn khí từ sau HPC vào EEC để đo áp suất đầu ra của máy nén, tham số được dùng trong việc điều khiển động cơ. Đường ống này có khả năng bị đọng nước dẫn đến đo sai thông số, đặc biệt khi nước bị đóng băng. Thông thường nếu thông số này bị đo lỗi sẽ dẫn đến cảnh báo ENGINE CONTROL SYSTEM FAULT, sự kiện tàu A896 là trường hợp đầu tiên P30 đo lỗi dẫn đến cảnh báo ENGINE STALL.</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Hiện đội bay của VNA có thực hiện kiểm tra và drain nước đọng định kỳ theo SB 73-H925 với tần suất kiểm tra 150 cycles. Sau event A896, Ban KT đã phối hợp VAECO kiểm tra toàn fleet trước ngày 10/07, và tăng tần suất kiểm tra chủ động thành 100 cycles.</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483119"/>
                  </a:ext>
                </a:extLst>
              </a:tr>
            </a:tbl>
          </a:graphicData>
        </a:graphic>
      </p:graphicFrame>
      <p:sp>
        <p:nvSpPr>
          <p:cNvPr id="7" name="TextBox 6">
            <a:extLst>
              <a:ext uri="{FF2B5EF4-FFF2-40B4-BE49-F238E27FC236}">
                <a16:creationId xmlns:a16="http://schemas.microsoft.com/office/drawing/2014/main" id="{123344C8-0DF8-9267-CED9-CA43FE3C02A9}"/>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01</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232448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7" name="Picture 6">
            <a:extLst>
              <a:ext uri="{FF2B5EF4-FFF2-40B4-BE49-F238E27FC236}">
                <a16:creationId xmlns:a16="http://schemas.microsoft.com/office/drawing/2014/main" id="{7330D2F5-A489-808E-D411-865BDECA166D}"/>
              </a:ext>
            </a:extLst>
          </p:cNvPr>
          <p:cNvPicPr>
            <a:picLocks noChangeAspect="1"/>
          </p:cNvPicPr>
          <p:nvPr/>
        </p:nvPicPr>
        <p:blipFill>
          <a:blip r:embed="rId3"/>
          <a:stretch>
            <a:fillRect/>
          </a:stretch>
        </p:blipFill>
        <p:spPr>
          <a:xfrm>
            <a:off x="6908853" y="1834660"/>
            <a:ext cx="2766400" cy="1772611"/>
          </a:xfrm>
          <a:prstGeom prst="rect">
            <a:avLst/>
          </a:prstGeom>
        </p:spPr>
      </p:pic>
      <p:sp>
        <p:nvSpPr>
          <p:cNvPr id="64" name="Isosceles Triangle 63">
            <a:extLst>
              <a:ext uri="{FF2B5EF4-FFF2-40B4-BE49-F238E27FC236}">
                <a16:creationId xmlns:a16="http://schemas.microsoft.com/office/drawing/2014/main" id="{D22DFB51-F009-E3E6-D42E-4BF6DFFE7959}"/>
              </a:ext>
            </a:extLst>
          </p:cNvPr>
          <p:cNvSpPr/>
          <p:nvPr/>
        </p:nvSpPr>
        <p:spPr>
          <a:xfrm>
            <a:off x="7888728" y="2704629"/>
            <a:ext cx="1696720" cy="1643887"/>
          </a:xfrm>
          <a:prstGeom prst="triangle">
            <a:avLst>
              <a:gd name="adj" fmla="val 41524"/>
            </a:avLst>
          </a:prstGeom>
          <a:gradFill>
            <a:gsLst>
              <a:gs pos="69000">
                <a:schemeClr val="bg1">
                  <a:alpha val="49000"/>
                </a:schemeClr>
              </a:gs>
              <a:gs pos="100000">
                <a:schemeClr val="accent1">
                  <a:lumMod val="5000"/>
                  <a:lumOff val="95000"/>
                </a:schemeClr>
              </a:gs>
              <a:gs pos="0">
                <a:srgbClr val="FF0000">
                  <a:alpha val="40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65" name="Google Shape;65;p6"/>
          <p:cNvSpPr txBox="1"/>
          <p:nvPr/>
        </p:nvSpPr>
        <p:spPr>
          <a:xfrm>
            <a:off x="0" y="1661"/>
            <a:ext cx="4592320" cy="420524"/>
          </a:xfrm>
          <a:prstGeom prst="rect">
            <a:avLst/>
          </a:prstGeom>
          <a:noFill/>
          <a:ln>
            <a:noFill/>
          </a:ln>
        </p:spPr>
        <p:txBody>
          <a:bodyPr spcFirstLastPara="1" wrap="square" lIns="91433" tIns="45700" rIns="91433" bIns="45700" anchor="t" anchorCtr="0">
            <a:spAutoFit/>
          </a:bodyPr>
          <a:lstStyle/>
          <a:p>
            <a:r>
              <a:rPr lang="en-US" sz="2133" b="1" dirty="0" err="1">
                <a:solidFill>
                  <a:srgbClr val="DEA610"/>
                </a:solidFill>
                <a:latin typeface="Montserrat SemiBold"/>
                <a:ea typeface="Montserrat SemiBold"/>
                <a:cs typeface="Montserrat SemiBold"/>
                <a:sym typeface="Montserrat SemiBold"/>
              </a:rPr>
              <a:t>A896</a:t>
            </a:r>
            <a:r>
              <a:rPr lang="en-US" sz="2133" b="1" dirty="0">
                <a:solidFill>
                  <a:srgbClr val="DEA610"/>
                </a:solidFill>
                <a:latin typeface="Montserrat SemiBold"/>
                <a:ea typeface="Montserrat SemiBold"/>
                <a:cs typeface="Montserrat SemiBold"/>
                <a:sym typeface="Montserrat SemiBold"/>
              </a:rPr>
              <a:t> – ENGINE STALL</a:t>
            </a:r>
            <a:endParaRPr sz="1200" dirty="0"/>
          </a:p>
        </p:txBody>
      </p:sp>
      <p:sp>
        <p:nvSpPr>
          <p:cNvPr id="73" name="Google Shape;73;p6"/>
          <p:cNvSpPr txBox="1"/>
          <p:nvPr/>
        </p:nvSpPr>
        <p:spPr>
          <a:xfrm>
            <a:off x="185831" y="421384"/>
            <a:ext cx="11842380" cy="1241582"/>
          </a:xfrm>
          <a:prstGeom prst="rect">
            <a:avLst/>
          </a:prstGeom>
          <a:noFill/>
          <a:ln>
            <a:noFill/>
          </a:ln>
        </p:spPr>
        <p:txBody>
          <a:bodyPr spcFirstLastPara="1" wrap="square" lIns="91433" tIns="45700" rIns="91433" bIns="45700" anchor="t" anchorCtr="0">
            <a:spAutoFit/>
          </a:bodyPr>
          <a:lstStyle/>
          <a:p>
            <a:pPr algn="just"/>
            <a:r>
              <a:rPr lang="en-US" sz="1600" b="1" dirty="0" err="1">
                <a:solidFill>
                  <a:srgbClr val="DEA610"/>
                </a:solidFill>
                <a:latin typeface="Exo"/>
                <a:ea typeface="Exo"/>
                <a:cs typeface="Exo"/>
                <a:sym typeface="Exo"/>
              </a:rPr>
              <a:t>Sự</a:t>
            </a:r>
            <a:r>
              <a:rPr lang="en-US" sz="1600" b="1" dirty="0">
                <a:solidFill>
                  <a:srgbClr val="DEA610"/>
                </a:solidFill>
                <a:latin typeface="Exo"/>
                <a:ea typeface="Exo"/>
                <a:cs typeface="Exo"/>
                <a:sym typeface="Exo"/>
              </a:rPr>
              <a:t> </a:t>
            </a:r>
            <a:r>
              <a:rPr lang="en-US" sz="1600" b="1" dirty="0" err="1">
                <a:solidFill>
                  <a:srgbClr val="DEA610"/>
                </a:solidFill>
                <a:latin typeface="Exo"/>
                <a:ea typeface="Exo"/>
                <a:cs typeface="Exo"/>
                <a:sym typeface="Exo"/>
              </a:rPr>
              <a:t>kiện</a:t>
            </a:r>
            <a:endParaRPr lang="en-US" sz="1600" b="1" dirty="0">
              <a:solidFill>
                <a:srgbClr val="DEA610"/>
              </a:solidFill>
              <a:latin typeface="Exo"/>
              <a:ea typeface="Exo"/>
              <a:cs typeface="Exo"/>
              <a:sym typeface="Exo"/>
            </a:endParaRP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Ngày 20/06, tàu A896 bay cruise ở độ cao 41k ft thì có cảnh báo ENG 1 STALL/SURGE trong vài giây rồi tự hết. Các thông số khác của động cơ bình thường, màn hình vẫn hiển thị Dispatch Message ENG 1 STALL. Tàu được kiểm tra ngay sau khi hạ cánh xuống CDG.</a:t>
            </a: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Thực hiện kiểm tra theo AMM phát hiện có 2ml nước đọng ở P30 Senseline. Phía RR sau khi phân tích dữ liệu QAR và SAR34 cũng xác nhận trường hợp này là báo giả và cho phép tàu tiếp tục khai thác</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Tàu</a:t>
            </a:r>
            <a:r>
              <a:rPr lang="en-US" sz="1467" dirty="0">
                <a:solidFill>
                  <a:srgbClr val="008BA7"/>
                </a:solidFill>
                <a:latin typeface="Exo"/>
                <a:ea typeface="Exo"/>
                <a:cs typeface="Exo"/>
                <a:sym typeface="Exo"/>
              </a:rPr>
              <a:t> A896 </a:t>
            </a:r>
            <a:r>
              <a:rPr lang="en-US" sz="1467" dirty="0" err="1">
                <a:solidFill>
                  <a:srgbClr val="008BA7"/>
                </a:solidFill>
                <a:latin typeface="Exo"/>
                <a:ea typeface="Exo"/>
                <a:cs typeface="Exo"/>
                <a:sym typeface="Exo"/>
              </a:rPr>
              <a:t>sau</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khi</a:t>
            </a:r>
            <a:r>
              <a:rPr lang="en-US" sz="1467" dirty="0">
                <a:solidFill>
                  <a:srgbClr val="008BA7"/>
                </a:solidFill>
                <a:latin typeface="Exo"/>
                <a:ea typeface="Exo"/>
                <a:cs typeface="Exo"/>
                <a:sym typeface="Exo"/>
              </a:rPr>
              <a:t> bay </a:t>
            </a:r>
            <a:r>
              <a:rPr lang="en-US" sz="1467" dirty="0" err="1">
                <a:solidFill>
                  <a:srgbClr val="008BA7"/>
                </a:solidFill>
                <a:latin typeface="Exo"/>
                <a:ea typeface="Exo"/>
                <a:cs typeface="Exo"/>
                <a:sym typeface="Exo"/>
              </a:rPr>
              <a:t>về</a:t>
            </a:r>
            <a:r>
              <a:rPr lang="en-US" sz="1467" dirty="0">
                <a:solidFill>
                  <a:srgbClr val="008BA7"/>
                </a:solidFill>
                <a:latin typeface="Exo"/>
                <a:ea typeface="Exo"/>
                <a:cs typeface="Exo"/>
                <a:sym typeface="Exo"/>
              </a:rPr>
              <a:t> HAN </a:t>
            </a:r>
            <a:r>
              <a:rPr lang="en-US" sz="1467" dirty="0" err="1">
                <a:solidFill>
                  <a:srgbClr val="008BA7"/>
                </a:solidFill>
                <a:latin typeface="Exo"/>
                <a:ea typeface="Exo"/>
                <a:cs typeface="Exo"/>
                <a:sym typeface="Exo"/>
              </a:rPr>
              <a:t>đã</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thay</a:t>
            </a:r>
            <a:r>
              <a:rPr lang="en-US" sz="1467" dirty="0">
                <a:solidFill>
                  <a:srgbClr val="008BA7"/>
                </a:solidFill>
                <a:latin typeface="Exo"/>
                <a:ea typeface="Exo"/>
                <a:cs typeface="Exo"/>
                <a:sym typeface="Exo"/>
              </a:rPr>
              <a:t> EEC </a:t>
            </a:r>
            <a:r>
              <a:rPr lang="en-US" sz="1467" dirty="0" err="1">
                <a:solidFill>
                  <a:srgbClr val="008BA7"/>
                </a:solidFill>
                <a:latin typeface="Exo"/>
                <a:ea typeface="Exo"/>
                <a:cs typeface="Exo"/>
                <a:sym typeface="Exo"/>
              </a:rPr>
              <a:t>theo</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khuyến</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cáo</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của</a:t>
            </a:r>
            <a:r>
              <a:rPr lang="en-US" sz="1467" dirty="0">
                <a:solidFill>
                  <a:srgbClr val="008BA7"/>
                </a:solidFill>
                <a:latin typeface="Exo"/>
                <a:ea typeface="Exo"/>
                <a:cs typeface="Exo"/>
                <a:sym typeface="Exo"/>
              </a:rPr>
              <a:t> RR (P30 </a:t>
            </a:r>
            <a:r>
              <a:rPr lang="en-US" sz="1467" dirty="0" err="1">
                <a:solidFill>
                  <a:srgbClr val="008BA7"/>
                </a:solidFill>
                <a:latin typeface="Exo"/>
                <a:ea typeface="Exo"/>
                <a:cs typeface="Exo"/>
                <a:sym typeface="Exo"/>
              </a:rPr>
              <a:t>nằm</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trong</a:t>
            </a:r>
            <a:r>
              <a:rPr lang="en-US" sz="1467" dirty="0">
                <a:solidFill>
                  <a:srgbClr val="008BA7"/>
                </a:solidFill>
                <a:latin typeface="Exo"/>
                <a:ea typeface="Exo"/>
                <a:cs typeface="Exo"/>
                <a:sym typeface="Exo"/>
              </a:rPr>
              <a:t> EEC).</a:t>
            </a:r>
            <a:endParaRPr lang="vi-VN" sz="1467" dirty="0">
              <a:solidFill>
                <a:srgbClr val="008BA7"/>
              </a:solidFill>
              <a:latin typeface="Exo"/>
              <a:ea typeface="Exo"/>
              <a:cs typeface="Exo"/>
              <a:sym typeface="Exo"/>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12</a:t>
            </a:fld>
            <a:endParaRPr dirty="0"/>
          </a:p>
        </p:txBody>
      </p:sp>
      <p:pic>
        <p:nvPicPr>
          <p:cNvPr id="8" name="Picture 7">
            <a:extLst>
              <a:ext uri="{FF2B5EF4-FFF2-40B4-BE49-F238E27FC236}">
                <a16:creationId xmlns:a16="http://schemas.microsoft.com/office/drawing/2014/main" id="{27C7A1AD-82B9-72F1-FB48-756CF16FB07F}"/>
              </a:ext>
            </a:extLst>
          </p:cNvPr>
          <p:cNvPicPr>
            <a:picLocks noChangeAspect="1"/>
          </p:cNvPicPr>
          <p:nvPr/>
        </p:nvPicPr>
        <p:blipFill>
          <a:blip r:embed="rId4"/>
          <a:stretch>
            <a:fillRect/>
          </a:stretch>
        </p:blipFill>
        <p:spPr>
          <a:xfrm>
            <a:off x="10162927" y="1834661"/>
            <a:ext cx="1966320" cy="1519329"/>
          </a:xfrm>
          <a:prstGeom prst="rect">
            <a:avLst/>
          </a:prstGeom>
        </p:spPr>
      </p:pic>
      <p:sp>
        <p:nvSpPr>
          <p:cNvPr id="14" name="Freeform: Shape 13">
            <a:extLst>
              <a:ext uri="{FF2B5EF4-FFF2-40B4-BE49-F238E27FC236}">
                <a16:creationId xmlns:a16="http://schemas.microsoft.com/office/drawing/2014/main" id="{A7C0186F-145A-E0D5-C67E-54F607D76EEA}"/>
              </a:ext>
            </a:extLst>
          </p:cNvPr>
          <p:cNvSpPr/>
          <p:nvPr/>
        </p:nvSpPr>
        <p:spPr>
          <a:xfrm>
            <a:off x="8589767" y="1687560"/>
            <a:ext cx="2532027" cy="749731"/>
          </a:xfrm>
          <a:custGeom>
            <a:avLst/>
            <a:gdLst>
              <a:gd name="connsiteX0" fmla="*/ 0 w 2232660"/>
              <a:gd name="connsiteY0" fmla="*/ 617220 h 617220"/>
              <a:gd name="connsiteX1" fmla="*/ 0 w 2232660"/>
              <a:gd name="connsiteY1" fmla="*/ 0 h 617220"/>
              <a:gd name="connsiteX2" fmla="*/ 2232660 w 2232660"/>
              <a:gd name="connsiteY2" fmla="*/ 0 h 617220"/>
              <a:gd name="connsiteX3" fmla="*/ 2232660 w 2232660"/>
              <a:gd name="connsiteY3" fmla="*/ 373380 h 617220"/>
            </a:gdLst>
            <a:ahLst/>
            <a:cxnLst>
              <a:cxn ang="0">
                <a:pos x="connsiteX0" y="connsiteY0"/>
              </a:cxn>
              <a:cxn ang="0">
                <a:pos x="connsiteX1" y="connsiteY1"/>
              </a:cxn>
              <a:cxn ang="0">
                <a:pos x="connsiteX2" y="connsiteY2"/>
              </a:cxn>
              <a:cxn ang="0">
                <a:pos x="connsiteX3" y="connsiteY3"/>
              </a:cxn>
            </a:cxnLst>
            <a:rect l="l" t="t" r="r" b="b"/>
            <a:pathLst>
              <a:path w="2232660" h="617220">
                <a:moveTo>
                  <a:pt x="0" y="617220"/>
                </a:moveTo>
                <a:lnTo>
                  <a:pt x="0" y="0"/>
                </a:lnTo>
                <a:lnTo>
                  <a:pt x="2232660" y="0"/>
                </a:lnTo>
                <a:lnTo>
                  <a:pt x="2232660" y="373380"/>
                </a:lnTo>
              </a:path>
            </a:pathLst>
          </a:custGeom>
          <a:noFill/>
          <a:ln w="53975" cmpd="dbl">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2400"/>
          </a:p>
        </p:txBody>
      </p:sp>
      <p:pic>
        <p:nvPicPr>
          <p:cNvPr id="27" name="Picture 26">
            <a:extLst>
              <a:ext uri="{FF2B5EF4-FFF2-40B4-BE49-F238E27FC236}">
                <a16:creationId xmlns:a16="http://schemas.microsoft.com/office/drawing/2014/main" id="{5D149E18-B990-D873-3F73-46CEAE310B25}"/>
              </a:ext>
            </a:extLst>
          </p:cNvPr>
          <p:cNvPicPr>
            <a:picLocks noChangeAspect="1"/>
          </p:cNvPicPr>
          <p:nvPr/>
        </p:nvPicPr>
        <p:blipFill>
          <a:blip r:embed="rId5"/>
          <a:stretch>
            <a:fillRect/>
          </a:stretch>
        </p:blipFill>
        <p:spPr>
          <a:xfrm>
            <a:off x="7756158" y="3411747"/>
            <a:ext cx="1961861" cy="1898389"/>
          </a:xfrm>
          <a:prstGeom prst="ellipse">
            <a:avLst/>
          </a:prstGeom>
          <a:ln>
            <a:noFill/>
          </a:ln>
          <a:effectLst>
            <a:softEdge rad="112500"/>
          </a:effectLst>
        </p:spPr>
      </p:pic>
      <p:sp>
        <p:nvSpPr>
          <p:cNvPr id="79" name="Google Shape;73;p6">
            <a:extLst>
              <a:ext uri="{FF2B5EF4-FFF2-40B4-BE49-F238E27FC236}">
                <a16:creationId xmlns:a16="http://schemas.microsoft.com/office/drawing/2014/main" id="{AEC2E0FC-6C64-2803-8E61-F6547A006C99}"/>
              </a:ext>
            </a:extLst>
          </p:cNvPr>
          <p:cNvSpPr txBox="1"/>
          <p:nvPr/>
        </p:nvSpPr>
        <p:spPr>
          <a:xfrm>
            <a:off x="177428" y="3502149"/>
            <a:ext cx="7071357" cy="1693115"/>
          </a:xfrm>
          <a:prstGeom prst="rect">
            <a:avLst/>
          </a:prstGeom>
          <a:noFill/>
          <a:ln>
            <a:noFill/>
          </a:ln>
        </p:spPr>
        <p:txBody>
          <a:bodyPr spcFirstLastPara="1" wrap="square" lIns="91433" tIns="45700" rIns="91433" bIns="45700" anchor="t" anchorCtr="0">
            <a:spAutoFit/>
          </a:bodyPr>
          <a:lstStyle/>
          <a:p>
            <a:r>
              <a:rPr lang="en-US" sz="1600" b="1" dirty="0">
                <a:solidFill>
                  <a:srgbClr val="DEA610"/>
                </a:solidFill>
                <a:latin typeface="Exo"/>
                <a:ea typeface="Exo"/>
                <a:cs typeface="Exo"/>
                <a:sym typeface="Exo"/>
              </a:rPr>
              <a:t>NGUYÊN NHÂN</a:t>
            </a: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P30 là đường ống dẫn khí từ sau HPC vào EEC để đo áp suất đầu ra của máy nén, tham số được dùng trong việc điều khiển động cơ. Đường ống này có khả năng bị đọng nước dẫn đến đo sai thông số, đặc biệt khi nước bị đóng băng.</a:t>
            </a: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Thông thường nếu thông số này bị đo lỗi sẽ dẫn đến cảnh báo </a:t>
            </a:r>
            <a:r>
              <a:rPr lang="vi-VN" sz="1467" b="1" dirty="0">
                <a:solidFill>
                  <a:srgbClr val="008BA7"/>
                </a:solidFill>
                <a:latin typeface="Exo"/>
                <a:ea typeface="Exo"/>
                <a:cs typeface="Exo"/>
                <a:sym typeface="Exo"/>
              </a:rPr>
              <a:t>ENGINE CONTROL SYSTEM FAULT, </a:t>
            </a:r>
            <a:r>
              <a:rPr lang="vi-VN" sz="1467" dirty="0">
                <a:solidFill>
                  <a:srgbClr val="008BA7"/>
                </a:solidFill>
                <a:latin typeface="Exo"/>
                <a:ea typeface="Exo"/>
                <a:cs typeface="Exo"/>
                <a:sym typeface="Exo"/>
              </a:rPr>
              <a:t>sự kiện tàu A896 là trường hợp đầu tiên P30 đo lỗi dẫn đến cảnh báo </a:t>
            </a:r>
            <a:r>
              <a:rPr lang="vi-VN" sz="1467" b="1" dirty="0">
                <a:solidFill>
                  <a:srgbClr val="008BA7"/>
                </a:solidFill>
                <a:latin typeface="Exo"/>
                <a:ea typeface="Exo"/>
                <a:cs typeface="Exo"/>
                <a:sym typeface="Exo"/>
              </a:rPr>
              <a:t>ENGINE STALL</a:t>
            </a:r>
            <a:r>
              <a:rPr lang="vi-VN" sz="1467" dirty="0">
                <a:solidFill>
                  <a:srgbClr val="008BA7"/>
                </a:solidFill>
                <a:latin typeface="Exo"/>
                <a:ea typeface="Exo"/>
                <a:cs typeface="Exo"/>
                <a:sym typeface="Exo"/>
              </a:rPr>
              <a:t>.</a:t>
            </a:r>
          </a:p>
        </p:txBody>
      </p:sp>
      <p:sp>
        <p:nvSpPr>
          <p:cNvPr id="87" name="TextBox 86">
            <a:extLst>
              <a:ext uri="{FF2B5EF4-FFF2-40B4-BE49-F238E27FC236}">
                <a16:creationId xmlns:a16="http://schemas.microsoft.com/office/drawing/2014/main" id="{2C6C2DE8-24C6-3001-50F0-9E012163C1EA}"/>
              </a:ext>
            </a:extLst>
          </p:cNvPr>
          <p:cNvSpPr txBox="1"/>
          <p:nvPr/>
        </p:nvSpPr>
        <p:spPr>
          <a:xfrm>
            <a:off x="9087909" y="1723585"/>
            <a:ext cx="1310615" cy="276999"/>
          </a:xfrm>
          <a:prstGeom prst="rect">
            <a:avLst/>
          </a:prstGeom>
          <a:noFill/>
        </p:spPr>
        <p:txBody>
          <a:bodyPr wrap="square" rtlCol="0">
            <a:spAutoFit/>
          </a:bodyPr>
          <a:lstStyle/>
          <a:p>
            <a:r>
              <a:rPr lang="en-US" sz="1200" b="1" dirty="0"/>
              <a:t>P30 air tube</a:t>
            </a:r>
            <a:endParaRPr lang="en-GB" sz="1200" b="1" dirty="0"/>
          </a:p>
        </p:txBody>
      </p:sp>
      <p:sp>
        <p:nvSpPr>
          <p:cNvPr id="88" name="TextBox 87">
            <a:extLst>
              <a:ext uri="{FF2B5EF4-FFF2-40B4-BE49-F238E27FC236}">
                <a16:creationId xmlns:a16="http://schemas.microsoft.com/office/drawing/2014/main" id="{DC93FF62-CDFA-6093-F61C-4A281A19FD91}"/>
              </a:ext>
            </a:extLst>
          </p:cNvPr>
          <p:cNvSpPr txBox="1"/>
          <p:nvPr/>
        </p:nvSpPr>
        <p:spPr>
          <a:xfrm>
            <a:off x="11121793" y="1528942"/>
            <a:ext cx="635216" cy="318100"/>
          </a:xfrm>
          <a:prstGeom prst="rect">
            <a:avLst/>
          </a:prstGeom>
          <a:noFill/>
        </p:spPr>
        <p:txBody>
          <a:bodyPr wrap="square" rtlCol="0">
            <a:spAutoFit/>
          </a:bodyPr>
          <a:lstStyle/>
          <a:p>
            <a:r>
              <a:rPr lang="en-US" sz="1467" b="1" dirty="0"/>
              <a:t>EEC</a:t>
            </a:r>
            <a:endParaRPr lang="en-GB" sz="1467" b="1" dirty="0"/>
          </a:p>
        </p:txBody>
      </p:sp>
      <p:sp>
        <p:nvSpPr>
          <p:cNvPr id="89" name="TextBox 88">
            <a:extLst>
              <a:ext uri="{FF2B5EF4-FFF2-40B4-BE49-F238E27FC236}">
                <a16:creationId xmlns:a16="http://schemas.microsoft.com/office/drawing/2014/main" id="{924917AF-2759-8413-E1A7-122C3CBDE36E}"/>
              </a:ext>
            </a:extLst>
          </p:cNvPr>
          <p:cNvSpPr txBox="1"/>
          <p:nvPr/>
        </p:nvSpPr>
        <p:spPr>
          <a:xfrm>
            <a:off x="8041685" y="2063811"/>
            <a:ext cx="645904" cy="256545"/>
          </a:xfrm>
          <a:prstGeom prst="rect">
            <a:avLst/>
          </a:prstGeom>
          <a:noFill/>
        </p:spPr>
        <p:txBody>
          <a:bodyPr wrap="square" rtlCol="0">
            <a:spAutoFit/>
          </a:bodyPr>
          <a:lstStyle/>
          <a:p>
            <a:r>
              <a:rPr lang="en-US" sz="1067" b="1" dirty="0"/>
              <a:t>HPC</a:t>
            </a:r>
            <a:endParaRPr lang="en-GB" sz="1067" b="1" dirty="0"/>
          </a:p>
        </p:txBody>
      </p:sp>
      <p:pic>
        <p:nvPicPr>
          <p:cNvPr id="3" name="Picture 2">
            <a:extLst>
              <a:ext uri="{FF2B5EF4-FFF2-40B4-BE49-F238E27FC236}">
                <a16:creationId xmlns:a16="http://schemas.microsoft.com/office/drawing/2014/main" id="{7209AEF3-9D6B-4120-B48F-00227C879AB0}"/>
              </a:ext>
            </a:extLst>
          </p:cNvPr>
          <p:cNvPicPr>
            <a:picLocks noChangeAspect="1"/>
          </p:cNvPicPr>
          <p:nvPr/>
        </p:nvPicPr>
        <p:blipFill rotWithShape="1">
          <a:blip r:embed="rId6"/>
          <a:srcRect b="33951"/>
          <a:stretch/>
        </p:blipFill>
        <p:spPr>
          <a:xfrm>
            <a:off x="10064635" y="3708832"/>
            <a:ext cx="1057159" cy="1241325"/>
          </a:xfrm>
          <a:prstGeom prst="rect">
            <a:avLst/>
          </a:prstGeom>
        </p:spPr>
      </p:pic>
      <p:sp>
        <p:nvSpPr>
          <p:cNvPr id="4" name="Arrow: Right 3">
            <a:extLst>
              <a:ext uri="{FF2B5EF4-FFF2-40B4-BE49-F238E27FC236}">
                <a16:creationId xmlns:a16="http://schemas.microsoft.com/office/drawing/2014/main" id="{7BDBF906-20BC-4655-AB29-CBE3FBAB49BE}"/>
              </a:ext>
            </a:extLst>
          </p:cNvPr>
          <p:cNvSpPr/>
          <p:nvPr/>
        </p:nvSpPr>
        <p:spPr>
          <a:xfrm>
            <a:off x="9236274" y="4361352"/>
            <a:ext cx="612641" cy="178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2400"/>
          </a:p>
        </p:txBody>
      </p:sp>
      <p:sp>
        <p:nvSpPr>
          <p:cNvPr id="86" name="Google Shape;73;p6">
            <a:extLst>
              <a:ext uri="{FF2B5EF4-FFF2-40B4-BE49-F238E27FC236}">
                <a16:creationId xmlns:a16="http://schemas.microsoft.com/office/drawing/2014/main" id="{AF1D068D-566B-C665-A0B6-0173453F7A3D}"/>
              </a:ext>
            </a:extLst>
          </p:cNvPr>
          <p:cNvSpPr txBox="1"/>
          <p:nvPr/>
        </p:nvSpPr>
        <p:spPr>
          <a:xfrm>
            <a:off x="177428" y="5305000"/>
            <a:ext cx="11951819" cy="1241582"/>
          </a:xfrm>
          <a:prstGeom prst="rect">
            <a:avLst/>
          </a:prstGeom>
          <a:solidFill>
            <a:srgbClr val="FFFFFF"/>
          </a:solidFill>
          <a:ln>
            <a:solidFill>
              <a:schemeClr val="accent3">
                <a:lumMod val="50000"/>
              </a:schemeClr>
            </a:solidFill>
          </a:ln>
        </p:spPr>
        <p:txBody>
          <a:bodyPr spcFirstLastPara="1" wrap="square" lIns="91433" tIns="45700" rIns="91433" bIns="45700" anchor="t" anchorCtr="0">
            <a:spAutoFit/>
          </a:bodyPr>
          <a:lstStyle/>
          <a:p>
            <a:r>
              <a:rPr lang="en-US" sz="1600" b="1" dirty="0" err="1">
                <a:solidFill>
                  <a:srgbClr val="DEA610"/>
                </a:solidFill>
                <a:latin typeface="Exo"/>
                <a:ea typeface="Exo"/>
                <a:cs typeface="Exo"/>
                <a:sym typeface="Exo"/>
              </a:rPr>
              <a:t>GIẢI</a:t>
            </a:r>
            <a:r>
              <a:rPr lang="en-US" sz="1600" b="1" dirty="0">
                <a:solidFill>
                  <a:srgbClr val="DEA610"/>
                </a:solidFill>
                <a:latin typeface="Exo"/>
                <a:ea typeface="Exo"/>
                <a:cs typeface="Exo"/>
                <a:sym typeface="Exo"/>
              </a:rPr>
              <a:t> </a:t>
            </a:r>
            <a:r>
              <a:rPr lang="en-US" sz="1600" b="1" dirty="0" err="1">
                <a:solidFill>
                  <a:srgbClr val="DEA610"/>
                </a:solidFill>
                <a:latin typeface="Exo"/>
                <a:ea typeface="Exo"/>
                <a:cs typeface="Exo"/>
                <a:sym typeface="Exo"/>
              </a:rPr>
              <a:t>PHÁP</a:t>
            </a:r>
            <a:endParaRPr lang="en-US" sz="1600" b="1" dirty="0">
              <a:solidFill>
                <a:srgbClr val="DEA610"/>
              </a:solidFill>
              <a:latin typeface="Exo"/>
              <a:ea typeface="Exo"/>
              <a:cs typeface="Exo"/>
              <a:sym typeface="Exo"/>
            </a:endParaRP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Nâng cấp EEC Software 6.1.1 giúp phát hiện sớm đọng nước và kiểm tra sớm khi EHM phát hiện: đã áp dụng trên đội bay VNA. </a:t>
            </a:r>
          </a:p>
          <a:p>
            <a:pPr marL="228594" indent="-228594" algn="just">
              <a:buFont typeface="Arial" panose="020B0604020202020204" pitchFamily="34" charset="0"/>
              <a:buChar char="•"/>
            </a:pPr>
            <a:r>
              <a:rPr lang="vi-VN" sz="1467" dirty="0">
                <a:solidFill>
                  <a:srgbClr val="008BA7"/>
                </a:solidFill>
                <a:latin typeface="Exo"/>
                <a:ea typeface="Exo"/>
                <a:cs typeface="Exo"/>
                <a:sym typeface="Exo"/>
              </a:rPr>
              <a:t>Kiểm tra và drain nước đọng định kỳ</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theo</a:t>
            </a:r>
            <a:r>
              <a:rPr lang="en-US" sz="1467" dirty="0">
                <a:solidFill>
                  <a:srgbClr val="008BA7"/>
                </a:solidFill>
                <a:latin typeface="Exo"/>
                <a:ea typeface="Exo"/>
                <a:cs typeface="Exo"/>
                <a:sym typeface="Exo"/>
              </a:rPr>
              <a:t> SB 73-</a:t>
            </a:r>
            <a:r>
              <a:rPr lang="en-US" sz="1467" dirty="0" err="1">
                <a:solidFill>
                  <a:srgbClr val="008BA7"/>
                </a:solidFill>
                <a:latin typeface="Exo"/>
                <a:ea typeface="Exo"/>
                <a:cs typeface="Exo"/>
                <a:sym typeface="Exo"/>
              </a:rPr>
              <a:t>H925</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Thống</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kê</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cho</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thấy</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năm</a:t>
            </a:r>
            <a:r>
              <a:rPr lang="en-US" sz="1467" dirty="0">
                <a:solidFill>
                  <a:srgbClr val="008BA7"/>
                </a:solidFill>
                <a:latin typeface="Exo"/>
                <a:ea typeface="Exo"/>
                <a:cs typeface="Exo"/>
                <a:sym typeface="Exo"/>
              </a:rPr>
              <a:t> 2024 </a:t>
            </a:r>
            <a:r>
              <a:rPr lang="en-US" sz="1467" dirty="0" err="1">
                <a:solidFill>
                  <a:srgbClr val="008BA7"/>
                </a:solidFill>
                <a:latin typeface="Exo"/>
                <a:ea typeface="Exo"/>
                <a:cs typeface="Exo"/>
                <a:sym typeface="Exo"/>
              </a:rPr>
              <a:t>có</a:t>
            </a:r>
            <a:r>
              <a:rPr lang="en-US" sz="1467" dirty="0">
                <a:solidFill>
                  <a:srgbClr val="008BA7"/>
                </a:solidFill>
                <a:latin typeface="Exo"/>
                <a:ea typeface="Exo"/>
                <a:cs typeface="Exo"/>
                <a:sym typeface="Exo"/>
              </a:rPr>
              <a:t> 04 event OI, do </a:t>
            </a:r>
            <a:r>
              <a:rPr lang="en-US" sz="1467" dirty="0" err="1">
                <a:solidFill>
                  <a:srgbClr val="008BA7"/>
                </a:solidFill>
                <a:latin typeface="Exo"/>
                <a:ea typeface="Exo"/>
                <a:cs typeface="Exo"/>
                <a:sym typeface="Exo"/>
              </a:rPr>
              <a:t>vậy</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từ</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T1</a:t>
            </a:r>
            <a:r>
              <a:rPr lang="en-US" sz="1467" dirty="0">
                <a:solidFill>
                  <a:srgbClr val="008BA7"/>
                </a:solidFill>
                <a:latin typeface="Exo"/>
                <a:ea typeface="Exo"/>
                <a:cs typeface="Exo"/>
                <a:sym typeface="Exo"/>
              </a:rPr>
              <a:t>/2025 </a:t>
            </a:r>
            <a:r>
              <a:rPr lang="en-US" sz="1467" dirty="0" err="1">
                <a:solidFill>
                  <a:srgbClr val="008BA7"/>
                </a:solidFill>
                <a:latin typeface="Exo"/>
                <a:ea typeface="Exo"/>
                <a:cs typeface="Exo"/>
                <a:sym typeface="Exo"/>
              </a:rPr>
              <a:t>KTMB</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đã</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đề</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nghị</a:t>
            </a:r>
            <a:r>
              <a:rPr lang="en-US" sz="1467" dirty="0">
                <a:solidFill>
                  <a:srgbClr val="008BA7"/>
                </a:solidFill>
                <a:latin typeface="Exo"/>
                <a:ea typeface="Exo"/>
                <a:cs typeface="Exo"/>
                <a:sym typeface="Exo"/>
              </a:rPr>
              <a:t> VAECO </a:t>
            </a:r>
            <a:r>
              <a:rPr lang="en-US" sz="1467" dirty="0" err="1">
                <a:solidFill>
                  <a:srgbClr val="008BA7"/>
                </a:solidFill>
                <a:latin typeface="Exo"/>
                <a:ea typeface="Exo"/>
                <a:cs typeface="Exo"/>
                <a:sym typeface="Exo"/>
              </a:rPr>
              <a:t>tăng</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tần</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suất</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kiểm</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tra</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thành</a:t>
            </a:r>
            <a:r>
              <a:rPr lang="en-US" sz="1467" dirty="0">
                <a:solidFill>
                  <a:srgbClr val="008BA7"/>
                </a:solidFill>
                <a:latin typeface="Exo"/>
                <a:ea typeface="Exo"/>
                <a:cs typeface="Exo"/>
                <a:sym typeface="Exo"/>
              </a:rPr>
              <a:t> 150 cycles. </a:t>
            </a:r>
            <a:r>
              <a:rPr lang="en-US" sz="1467" dirty="0" err="1">
                <a:solidFill>
                  <a:srgbClr val="008BA7"/>
                </a:solidFill>
                <a:latin typeface="Exo"/>
                <a:ea typeface="Exo"/>
                <a:cs typeface="Exo"/>
                <a:sym typeface="Exo"/>
              </a:rPr>
              <a:t>Tuy</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nhiên</a:t>
            </a:r>
            <a:r>
              <a:rPr lang="en-US" sz="1467" dirty="0">
                <a:solidFill>
                  <a:srgbClr val="008BA7"/>
                </a:solidFill>
                <a:latin typeface="Exo"/>
                <a:ea typeface="Exo"/>
                <a:cs typeface="Exo"/>
                <a:sym typeface="Exo"/>
              </a:rPr>
              <a:t> </a:t>
            </a:r>
            <a:r>
              <a:rPr lang="en-US" sz="1467" dirty="0" err="1">
                <a:solidFill>
                  <a:srgbClr val="008BA7"/>
                </a:solidFill>
                <a:latin typeface="Exo"/>
                <a:ea typeface="Exo"/>
                <a:cs typeface="Exo"/>
                <a:sym typeface="Exo"/>
              </a:rPr>
              <a:t>sau</a:t>
            </a:r>
            <a:r>
              <a:rPr lang="en-US" sz="1467" dirty="0">
                <a:solidFill>
                  <a:srgbClr val="008BA7"/>
                </a:solidFill>
                <a:latin typeface="Exo"/>
                <a:ea typeface="Exo"/>
                <a:cs typeface="Exo"/>
                <a:sym typeface="Exo"/>
              </a:rPr>
              <a:t> event </a:t>
            </a:r>
            <a:r>
              <a:rPr lang="en-US" sz="1467" dirty="0" err="1">
                <a:solidFill>
                  <a:srgbClr val="008BA7"/>
                </a:solidFill>
                <a:latin typeface="Exo"/>
                <a:ea typeface="Exo"/>
                <a:cs typeface="Exo"/>
                <a:sym typeface="Exo"/>
              </a:rPr>
              <a:t>A896</a:t>
            </a:r>
            <a:r>
              <a:rPr lang="en-US" sz="1467" dirty="0">
                <a:solidFill>
                  <a:srgbClr val="008BA7"/>
                </a:solidFill>
                <a:latin typeface="Exo"/>
                <a:ea typeface="Exo"/>
                <a:cs typeface="Exo"/>
                <a:sym typeface="Exo"/>
              </a:rPr>
              <a:t>, </a:t>
            </a:r>
            <a:r>
              <a:rPr lang="en-US" sz="1467" dirty="0">
                <a:solidFill>
                  <a:srgbClr val="FF0000"/>
                </a:solidFill>
                <a:latin typeface="Exo"/>
                <a:ea typeface="Exo"/>
                <a:cs typeface="Exo"/>
                <a:sym typeface="Exo"/>
              </a:rPr>
              <a:t>Ban </a:t>
            </a:r>
            <a:r>
              <a:rPr lang="en-US" sz="1467" dirty="0" err="1">
                <a:solidFill>
                  <a:srgbClr val="FF0000"/>
                </a:solidFill>
                <a:latin typeface="Exo"/>
                <a:ea typeface="Exo"/>
                <a:cs typeface="Exo"/>
                <a:sym typeface="Exo"/>
              </a:rPr>
              <a:t>KT</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đã</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phối</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hợp</a:t>
            </a:r>
            <a:r>
              <a:rPr lang="en-US" sz="1467" dirty="0">
                <a:solidFill>
                  <a:srgbClr val="FF0000"/>
                </a:solidFill>
                <a:latin typeface="Exo"/>
                <a:ea typeface="Exo"/>
                <a:cs typeface="Exo"/>
                <a:sym typeface="Exo"/>
              </a:rPr>
              <a:t> VAECO </a:t>
            </a:r>
            <a:r>
              <a:rPr lang="en-US" sz="1467" dirty="0" err="1">
                <a:solidFill>
                  <a:srgbClr val="FF0000"/>
                </a:solidFill>
                <a:latin typeface="Exo"/>
                <a:ea typeface="Exo"/>
                <a:cs typeface="Exo"/>
                <a:sym typeface="Exo"/>
              </a:rPr>
              <a:t>kiểm</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tra</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toàn</a:t>
            </a:r>
            <a:r>
              <a:rPr lang="en-US" sz="1467" dirty="0">
                <a:solidFill>
                  <a:srgbClr val="FF0000"/>
                </a:solidFill>
                <a:latin typeface="Exo"/>
                <a:ea typeface="Exo"/>
                <a:cs typeface="Exo"/>
                <a:sym typeface="Exo"/>
              </a:rPr>
              <a:t> fleet, </a:t>
            </a:r>
            <a:r>
              <a:rPr lang="en-US" sz="1467" dirty="0" err="1">
                <a:solidFill>
                  <a:srgbClr val="FF0000"/>
                </a:solidFill>
                <a:latin typeface="Exo"/>
                <a:ea typeface="Exo"/>
                <a:cs typeface="Exo"/>
                <a:sym typeface="Exo"/>
              </a:rPr>
              <a:t>và</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tăng</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tần</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suất</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kiểm</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tra</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chủ</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động</a:t>
            </a:r>
            <a:r>
              <a:rPr lang="en-US" sz="1467" dirty="0">
                <a:solidFill>
                  <a:srgbClr val="FF0000"/>
                </a:solidFill>
                <a:latin typeface="Exo"/>
                <a:ea typeface="Exo"/>
                <a:cs typeface="Exo"/>
                <a:sym typeface="Exo"/>
              </a:rPr>
              <a:t> </a:t>
            </a:r>
            <a:r>
              <a:rPr lang="en-US" sz="1467" dirty="0" err="1">
                <a:solidFill>
                  <a:srgbClr val="FF0000"/>
                </a:solidFill>
                <a:latin typeface="Exo"/>
                <a:ea typeface="Exo"/>
                <a:cs typeface="Exo"/>
                <a:sym typeface="Exo"/>
              </a:rPr>
              <a:t>thành</a:t>
            </a:r>
            <a:r>
              <a:rPr lang="en-US" sz="1467" dirty="0">
                <a:solidFill>
                  <a:srgbClr val="FF0000"/>
                </a:solidFill>
                <a:latin typeface="Exo"/>
                <a:ea typeface="Exo"/>
                <a:cs typeface="Exo"/>
                <a:sym typeface="Exo"/>
              </a:rPr>
              <a:t> 100 cycles. </a:t>
            </a:r>
          </a:p>
        </p:txBody>
      </p:sp>
      <p:pic>
        <p:nvPicPr>
          <p:cNvPr id="9" name="Picture 8">
            <a:extLst>
              <a:ext uri="{FF2B5EF4-FFF2-40B4-BE49-F238E27FC236}">
                <a16:creationId xmlns:a16="http://schemas.microsoft.com/office/drawing/2014/main" id="{A0725383-1EC5-4AF1-A784-F4BB8389ADE8}"/>
              </a:ext>
            </a:extLst>
          </p:cNvPr>
          <p:cNvPicPr>
            <a:picLocks noChangeAspect="1"/>
          </p:cNvPicPr>
          <p:nvPr/>
        </p:nvPicPr>
        <p:blipFill>
          <a:blip r:embed="rId7"/>
          <a:stretch>
            <a:fillRect/>
          </a:stretch>
        </p:blipFill>
        <p:spPr>
          <a:xfrm>
            <a:off x="526581" y="1701120"/>
            <a:ext cx="5910192" cy="1727881"/>
          </a:xfrm>
          <a:prstGeom prst="rect">
            <a:avLst/>
          </a:prstGeom>
        </p:spPr>
      </p:pic>
    </p:spTree>
    <p:extLst>
      <p:ext uri="{BB962C8B-B14F-4D97-AF65-F5344CB8AC3E}">
        <p14:creationId xmlns:p14="http://schemas.microsoft.com/office/powerpoint/2010/main" val="1330939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406A8E43-4731-4A28-3092-0442A47E4D57}"/>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3FC18FB-F7E5-144F-9743-B287FD2B2B0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A59D18BB-E0EB-AF3E-1406-425E898CAF1A}"/>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A350</a:t>
            </a:r>
          </a:p>
        </p:txBody>
      </p:sp>
      <p:sp>
        <p:nvSpPr>
          <p:cNvPr id="4" name="TextBox 3">
            <a:extLst>
              <a:ext uri="{FF2B5EF4-FFF2-40B4-BE49-F238E27FC236}">
                <a16:creationId xmlns:a16="http://schemas.microsoft.com/office/drawing/2014/main" id="{6EBB6930-35AC-0AA5-CF2A-C710B15D448B}"/>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4C3C447-FFFA-E979-744B-7E9146B1DD67}"/>
              </a:ext>
            </a:extLst>
          </p:cNvPr>
          <p:cNvGraphicFramePr>
            <a:graphicFrameLocks noGrp="1"/>
          </p:cNvGraphicFramePr>
          <p:nvPr>
            <p:extLst>
              <p:ext uri="{D42A27DB-BD31-4B8C-83A1-F6EECF244321}">
                <p14:modId xmlns:p14="http://schemas.microsoft.com/office/powerpoint/2010/main" val="2636854502"/>
              </p:ext>
            </p:extLst>
          </p:nvPr>
        </p:nvGraphicFramePr>
        <p:xfrm>
          <a:off x="116182" y="1521019"/>
          <a:ext cx="11853157" cy="1686068"/>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755935">
                  <a:extLst>
                    <a:ext uri="{9D8B030D-6E8A-4147-A177-3AD203B41FA5}">
                      <a16:colId xmlns:a16="http://schemas.microsoft.com/office/drawing/2014/main" val="673348196"/>
                    </a:ext>
                  </a:extLst>
                </a:gridCol>
                <a:gridCol w="691865">
                  <a:extLst>
                    <a:ext uri="{9D8B030D-6E8A-4147-A177-3AD203B41FA5}">
                      <a16:colId xmlns:a16="http://schemas.microsoft.com/office/drawing/2014/main" val="422459560"/>
                    </a:ext>
                  </a:extLst>
                </a:gridCol>
                <a:gridCol w="1447800">
                  <a:extLst>
                    <a:ext uri="{9D8B030D-6E8A-4147-A177-3AD203B41FA5}">
                      <a16:colId xmlns:a16="http://schemas.microsoft.com/office/drawing/2014/main" val="2573721533"/>
                    </a:ext>
                  </a:extLst>
                </a:gridCol>
                <a:gridCol w="34290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29777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dirty="0">
                          <a:solidFill>
                            <a:srgbClr val="000000"/>
                          </a:solidFill>
                          <a:effectLst/>
                          <a:latin typeface="Calibri" panose="020F0502020204030204" pitchFamily="34" charset="0"/>
                        </a:rPr>
                        <a:t>A893</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05:00 23/06/2025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VN7210</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MSG:ELEC CABIN POWER PROTECTION DEGRADED, ELEC RH CABIN LOST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RESET </a:t>
                      </a:r>
                      <a:r>
                        <a:rPr lang="en-US" sz="1100" b="0" i="0" u="none" strike="noStrike" dirty="0">
                          <a:solidFill>
                            <a:srgbClr val="000000"/>
                          </a:solidFill>
                          <a:effectLst/>
                          <a:latin typeface="Calibri" panose="020F0502020204030204" pitchFamily="34" charset="0"/>
                        </a:rPr>
                        <a:t>TEST SATIS, MSG GONE, </a:t>
                      </a:r>
                      <a:r>
                        <a:rPr lang="en-US" sz="1100" b="0" i="0" u="none" strike="noStrike">
                          <a:solidFill>
                            <a:srgbClr val="000000"/>
                          </a:solidFill>
                          <a:effectLst/>
                          <a:latin typeface="Calibri" panose="020F0502020204030204" pitchFamily="34" charset="0"/>
                        </a:rPr>
                        <a:t>A/C </a:t>
                      </a:r>
                      <a:r>
                        <a:rPr lang="en-US" sz="1100" b="0" i="0" u="none" strike="noStrike" smtClean="0">
                          <a:solidFill>
                            <a:srgbClr val="000000"/>
                          </a:solidFill>
                          <a:effectLst/>
                          <a:latin typeface="Calibri" panose="020F0502020204030204" pitchFamily="34" charset="0"/>
                        </a:rPr>
                        <a:t>SERVICEABLE</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phát sinh trong khi làm scheduled WO thay SSPC-PCB PN 224CE06L13Y11 để T/S msg liên quan đến Elec system xuất hiện trên chuyến bay SFO-SGN trước đó, sau khi reset hỏng hóc biến mất, không xuất hiện lại cho đến nay.</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Đánh giá là cảnh báo giả.</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Đồng thời cũng do thời gian downtime ngắn nên không kịp xử lý phát sinh khi làm WO dẫn đến delay.</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4589701"/>
                  </a:ext>
                </a:extLst>
              </a:tr>
            </a:tbl>
          </a:graphicData>
        </a:graphic>
      </p:graphicFrame>
      <p:sp>
        <p:nvSpPr>
          <p:cNvPr id="8" name="TextBox 7">
            <a:extLst>
              <a:ext uri="{FF2B5EF4-FFF2-40B4-BE49-F238E27FC236}">
                <a16:creationId xmlns:a16="http://schemas.microsoft.com/office/drawing/2014/main" id="{05266051-B9F5-45E2-7040-D6C5864DB3C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434975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7272E045-BD1F-1073-2CD0-F034856B8426}"/>
              </a:ext>
            </a:extLst>
          </p:cNvPr>
          <p:cNvGraphicFramePr>
            <a:graphicFrameLocks noGrp="1"/>
          </p:cNvGraphicFramePr>
          <p:nvPr>
            <p:extLst/>
          </p:nvPr>
        </p:nvGraphicFramePr>
        <p:xfrm>
          <a:off x="187349" y="565159"/>
          <a:ext cx="11840862" cy="6179966"/>
        </p:xfrm>
        <a:graphic>
          <a:graphicData uri="http://schemas.openxmlformats.org/drawingml/2006/table">
            <a:tbl>
              <a:tblPr/>
              <a:tblGrid>
                <a:gridCol w="496593">
                  <a:extLst>
                    <a:ext uri="{9D8B030D-6E8A-4147-A177-3AD203B41FA5}">
                      <a16:colId xmlns:a16="http://schemas.microsoft.com/office/drawing/2014/main" val="3758857697"/>
                    </a:ext>
                  </a:extLst>
                </a:gridCol>
                <a:gridCol w="574908">
                  <a:extLst>
                    <a:ext uri="{9D8B030D-6E8A-4147-A177-3AD203B41FA5}">
                      <a16:colId xmlns:a16="http://schemas.microsoft.com/office/drawing/2014/main" val="1471041875"/>
                    </a:ext>
                  </a:extLst>
                </a:gridCol>
                <a:gridCol w="1328233">
                  <a:extLst>
                    <a:ext uri="{9D8B030D-6E8A-4147-A177-3AD203B41FA5}">
                      <a16:colId xmlns:a16="http://schemas.microsoft.com/office/drawing/2014/main" val="3701652939"/>
                    </a:ext>
                  </a:extLst>
                </a:gridCol>
                <a:gridCol w="941659">
                  <a:extLst>
                    <a:ext uri="{9D8B030D-6E8A-4147-A177-3AD203B41FA5}">
                      <a16:colId xmlns:a16="http://schemas.microsoft.com/office/drawing/2014/main" val="3119100018"/>
                    </a:ext>
                  </a:extLst>
                </a:gridCol>
                <a:gridCol w="1407532">
                  <a:extLst>
                    <a:ext uri="{9D8B030D-6E8A-4147-A177-3AD203B41FA5}">
                      <a16:colId xmlns:a16="http://schemas.microsoft.com/office/drawing/2014/main" val="2732246950"/>
                    </a:ext>
                  </a:extLst>
                </a:gridCol>
                <a:gridCol w="7091937">
                  <a:extLst>
                    <a:ext uri="{9D8B030D-6E8A-4147-A177-3AD203B41FA5}">
                      <a16:colId xmlns:a16="http://schemas.microsoft.com/office/drawing/2014/main" val="3875605279"/>
                    </a:ext>
                  </a:extLst>
                </a:gridCol>
              </a:tblGrid>
              <a:tr h="205980">
                <a:tc>
                  <a:txBody>
                    <a:bodyPr/>
                    <a:lstStyle/>
                    <a:p>
                      <a:pPr algn="ctr" fontAlgn="ctr"/>
                      <a:r>
                        <a:rPr lang="en-US" sz="1300" b="0" i="0" u="none" strike="noStrike">
                          <a:solidFill>
                            <a:srgbClr val="000000"/>
                          </a:solidFill>
                          <a:effectLst/>
                          <a:latin typeface="Calibri" panose="020F0502020204030204" pitchFamily="34" charset="0"/>
                        </a:rPr>
                        <a:t>Fleet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2385035"/>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A886</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45839830"/>
                  </a:ext>
                </a:extLst>
              </a:tr>
              <a:tr h="6123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A887</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1. Không chọn chuyên cơ do động cơ số 2 S/N 21369 tiêu hao dầu nhờn cao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2. ADD C1270 RAISED CHILLER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3. ADD B1281 RAISED APU INOP</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7265321"/>
                  </a:ext>
                </a:extLst>
              </a:tr>
              <a:tr h="633513">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A888</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21682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ENG1 LOW OIL LEVEL. FC: 7321F7FB/7321F3WV intm appeare during take off phasse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C1236 RAISED CHILLER SYS INOP</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5234475"/>
                  </a:ext>
                </a:extLst>
              </a:tr>
              <a:tr h="633513">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A889</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21088 giảm tần suất soi HPT blade 600FH/75FC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FM: ENG2 LOW OIL LEVEL. FC: 7321FAZT/7321FEJ9 intm appeare during take off phasse</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ADD B1288 ENG 1 SINGLE IGNITION</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6951665"/>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da-DK" sz="1300" b="0" i="0" u="none" strike="noStrike">
                          <a:solidFill>
                            <a:srgbClr val="000000"/>
                          </a:solidFill>
                          <a:effectLst/>
                          <a:latin typeface="Calibri" panose="020F0502020204030204" pitchFamily="34" charset="0"/>
                        </a:rPr>
                        <a:t>1. DM: ENG 1 REVERSER MINOR FAULT </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3077344"/>
                  </a:ext>
                </a:extLst>
              </a:tr>
              <a:tr h="4091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A891</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ENGINE: #1/21598 ON AIRCRAFT VN-A891 P25 MEASUREMENT ERROR -&gt; đã làm MAINT &amp; feedback cho RR -&gt; Chờ RR feedback kết quả monitor</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4787901"/>
                  </a:ext>
                </a:extLst>
              </a:tr>
              <a:tr h="10187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A892</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ENGINE: #2/21368 ON AIRCRAFT VN-A892: P25 MEASUREMENT ERROR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ADD C1203 RAISED CHILLER SYS INOP </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4. ADD B1597 IS RAISED REF RDAF 81614899/009/2025#A FOR DAMAGED AT TURKEY FEATHER SEALS  AT ENG#1 &amp; ENG#2.SEAL MUST BE REPLACED AFTER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5. ADD B1582 RAISED SLAT TRACK CLOSING PLATE SLAT 2 LH INB MISSING FOR 50 F/C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236509"/>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A893</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2. ADD C1191 RAISED CHILLER AT AFT CREWREST INOP</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5475964"/>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A894</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1 21317  giảm tần suất soi IPC blade root 100FC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10834875"/>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A895</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BQDB</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en-US" sz="1300" b="0" i="0" u="none" strike="noStrike">
                        <a:solidFill>
                          <a:srgbClr val="000000"/>
                        </a:solidFill>
                        <a:effectLst/>
                        <a:latin typeface="Calibri" panose="020F0502020204030204" pitchFamily="34" charset="0"/>
                      </a:endParaRP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9080360"/>
                  </a:ext>
                </a:extLst>
              </a:tr>
              <a:tr h="4091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A896</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C855 RAISED CHILLER SYSTEM INOP</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2. B1074 : ENG 1 SINGLE IGN</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5073858"/>
                  </a:ext>
                </a:extLst>
              </a:tr>
              <a:tr h="6123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A897</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21214 giảm tần suất soi heatshield 2400FH/400FC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A897 có logo Skyteam</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3. PROBE 4-N1 TURBINE SPEED,ENG2(4088KS42)</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5746855"/>
                  </a:ext>
                </a:extLst>
              </a:tr>
              <a:tr h="4091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A898</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1. Eng 2 21268 giảm tần suất soi HPT blade 800FH/100FC, soi IPC blade root 100FC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2. ENGINE: #1/21422 ON AIRCRAFT VN-A898: P25 MEASUREMENT ERROR (đã tsm chờ phản hồi RR)</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0378399"/>
                  </a:ext>
                </a:extLst>
              </a:tr>
              <a:tr h="205980">
                <a:tc>
                  <a:txBody>
                    <a:bodyPr/>
                    <a:lstStyle/>
                    <a:p>
                      <a:pPr algn="ctr" fontAlgn="ctr"/>
                      <a:r>
                        <a:rPr lang="en-US" sz="1300" b="0" i="0" u="none" strike="noStrike">
                          <a:solidFill>
                            <a:srgbClr val="000000"/>
                          </a:solidFill>
                          <a:effectLst/>
                          <a:latin typeface="Calibri" panose="020F0502020204030204" pitchFamily="34" charset="0"/>
                        </a:rPr>
                        <a:t>A350</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A899</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1. ADD B1041 RAISED LAVATORY CALL AT LAV 62 INOP</a:t>
                      </a:r>
                    </a:p>
                  </a:txBody>
                  <a:tcPr marL="2780" marR="2780" marT="2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4863699"/>
                  </a:ext>
                </a:extLst>
              </a:tr>
            </a:tbl>
          </a:graphicData>
        </a:graphic>
      </p:graphicFrame>
    </p:spTree>
    <p:extLst>
      <p:ext uri="{BB962C8B-B14F-4D97-AF65-F5344CB8AC3E}">
        <p14:creationId xmlns:p14="http://schemas.microsoft.com/office/powerpoint/2010/main" val="2270519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69386" y="476426"/>
            <a:ext cx="11910532" cy="6494085"/>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không tốt với 02 TH AOG.</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latin typeface="Times New Roman" panose="02020603050405020304" pitchFamily="18" charset="0"/>
                <a:cs typeface="Times New Roman" panose="02020603050405020304" pitchFamily="18" charset="0"/>
              </a:rPr>
              <a:t>+ A896 AOG ngày 23/06 tại CDG do cảnh báo ENG 1 STALL-&gt; RR phân tích xác định báo giả do đọng nước ở đường ống P30</a:t>
            </a:r>
          </a:p>
          <a:p>
            <a:pPr marL="609585" lvl="1" algn="just"/>
            <a:r>
              <a:rPr lang="vi-VN" sz="1600">
                <a:solidFill>
                  <a:srgbClr val="FF0000"/>
                </a:solidFill>
                <a:latin typeface="Times New Roman" panose="02020603050405020304" pitchFamily="18" charset="0"/>
                <a:cs typeface="Times New Roman" panose="02020603050405020304" pitchFamily="18" charset="0"/>
              </a:rPr>
              <a:t>Động cơ số 1 A896 21169 có TSN/CSN = 29084/5573, TSLSV/CSLSV = 2714/443. Ngày 20/06, tàu A896 bay cruise ở độ cao 41k ft thì có cảnh báo ENG 1 STALL/SURGE trong vài giây rồi tự hết. Các thông số khác của động cơ bình thường. Tàu được kiểm tra ngay sau khi hạ cánh xuống CDG. Thực hiện kiểm tra theo AMM phát hiện có 2ml nước đọng ở P30 Senseline. Phía RR sau khi phân tích dữ liệu QAR và SAR34 xác nhận trường hợp này là báo giả và cho phép tàu tiếp tục khai thác, đồng thời khuyến cáo thay thế khối EEC khi về HAN. P30 là đường ống dẫn khí từ sau HPC vào EEC để đo áp suất đầu ra của máy nén, tham số được dùng trong việc điều khiển động cơ. Đường ống này có khả năng bị đọng nước dẫn đến đo sai thông số, đặc biệt khi nước bị đóng băng. Thông thường nếu thông số này bị đo lỗi sẽ dẫn đến cảnh báo ENGINE CONTROL SYSTEM FAULT, sự kiện tàu A896 là trường hợp đầu tiên P30 đo lỗi dẫn đến cảnh báo ENGINE STALL. Hiện đội bay của VNA có thực hiện kiểm tra và drain nước đọng định kỳ theo SB 73-H925 với tần suất kiểm tra 150 cycles. Sau event A896, Ban KT đã phối hợp VAECO kiểm tra toàn fleet trước ngày 10/07, và tăng tần suất kiểm tra chủ động thành 100 cycles.</a:t>
            </a:r>
            <a:endParaRPr lang="en-US" sz="1600">
              <a:solidFill>
                <a:srgbClr val="FF0000"/>
              </a:solidFill>
              <a:latin typeface="Times New Roman" panose="02020603050405020304" pitchFamily="18" charset="0"/>
              <a:cs typeface="Times New Roman" panose="02020603050405020304" pitchFamily="18" charset="0"/>
            </a:endParaRPr>
          </a:p>
          <a:p>
            <a:pPr marL="609585" lvl="1" algn="just"/>
            <a:endParaRPr lang="en-US" sz="1600">
              <a:latin typeface="Times New Roman" panose="02020603050405020304" pitchFamily="18" charset="0"/>
              <a:cs typeface="Times New Roman" panose="02020603050405020304" pitchFamily="18" charset="0"/>
            </a:endParaRPr>
          </a:p>
          <a:p>
            <a:pPr marL="609585" lvl="1" algn="just"/>
            <a:r>
              <a:rPr lang="en-US" sz="1600">
                <a:latin typeface="Times New Roman" panose="02020603050405020304" pitchFamily="18" charset="0"/>
                <a:cs typeface="Times New Roman" panose="02020603050405020304" pitchFamily="18" charset="0"/>
              </a:rPr>
              <a:t>+ A892 AOG ngày 26/06 tại HAN khi kiểm trai CoA phát hiện </a:t>
            </a:r>
            <a:r>
              <a:rPr lang="en-SG" sz="1600">
                <a:latin typeface="Times New Roman" panose="02020603050405020304" pitchFamily="18" charset="0"/>
                <a:cs typeface="Times New Roman" panose="02020603050405020304" pitchFamily="18" charset="0"/>
              </a:rPr>
              <a:t>FINGER SEAL AT BOTH SIDES ENG1, AND L/H SIDE ENG2 DAMAGED -&gt; Xin RDAF bay 50FC chờ cung ứng Seal để thay thế.</a:t>
            </a:r>
          </a:p>
          <a:p>
            <a:pPr marL="609585" lvl="1" algn="just"/>
            <a:r>
              <a:rPr lang="vi-VN" sz="1600">
                <a:solidFill>
                  <a:srgbClr val="FF0000"/>
                </a:solidFill>
                <a:latin typeface="Times New Roman" panose="02020603050405020304" pitchFamily="18" charset="0"/>
                <a:cs typeface="Times New Roman" panose="02020603050405020304" pitchFamily="18" charset="0"/>
              </a:rPr>
              <a:t>Hỏng hóc: Hỏng hóc Turkey feather seals (finger seals #6) trên thổi ngược bị mẻ. seal bị hỏng nằm ở aft edge của tấm bond panel trên khối Inner Fixed Structure (IFS). Hỏng hóc xuất hiện ở cả hai bên của T/R ENG 1 và L/H T/R của ENG 2. Tần suất thay seal do hỏng hóc: 2025 3 trường hợp (A892, A887, A894), 2024 4 trường hợp (A899, A896, A898, A895), 2023 4 trường hợp (A899, A892, A895, A894) Nguyên nhân: Theo TFU 78.32.00029, nguyên nhân do vùng tiếp xúc giữa Aft Pylong Fairing (APF) và finger seal không đủ khoảng cách, dẫn tới việc cạnh sắc của APF plate cứa vào seal trong trạng thái thổi ngược đóng, gây ra hỏng hóc. Cả hai bên L/H và R/H đều bị ảnh hưởng. Khắc phục: Hỏng hóc được khắc phục bằng cách thay finger seal mới, ngoài ra có thể xin RDAF bay fly-on 50 FC với seal hỏng. Giải pháp: NSX Airbus và OEM Collins đều đã ban hành SB A350-54-P010 thay thế seal landing trên APF với profile mới (cạnh plate ít sắc hơn) và VSB RA35978-077 thay loại seal mới chống mòn. Tiến độ thực hiện: SB đã thực hiện 6 tàu (A890, A891, A896, A897, A898, A899), VSB đã thực hiện 4 tàu (A890, A897, A898, A899).</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1601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18A2A7D1-F835-0F37-4356-8BBB96B53B1E}"/>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FFB689BF-3804-E3B9-DEAF-A73AEC26CC5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BF7A3CDF-3F27-F942-2931-3D8A0F5EE011}"/>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B787</a:t>
            </a:r>
          </a:p>
        </p:txBody>
      </p:sp>
      <p:sp>
        <p:nvSpPr>
          <p:cNvPr id="4" name="TextBox 3">
            <a:extLst>
              <a:ext uri="{FF2B5EF4-FFF2-40B4-BE49-F238E27FC236}">
                <a16:creationId xmlns:a16="http://schemas.microsoft.com/office/drawing/2014/main" id="{983A3D68-AC47-6B5B-25BF-D4970DC1BAB7}"/>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 </a:t>
            </a:r>
            <a:r>
              <a:rPr lang="vi-VN" sz="1600" b="1" dirty="0">
                <a:solidFill>
                  <a:srgbClr val="FF0000"/>
                </a:solidFill>
                <a:ea typeface="MS PGothic" panose="020B0600070205080204" pitchFamily="34" charset="-128"/>
                <a:cs typeface="Times New Roman" panose="02020603050405020304" pitchFamily="18" charset="0"/>
              </a:rPr>
              <a:t>(non-tech)</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 </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E959FDF-EB3D-4520-178E-844149F0C90F}"/>
              </a:ext>
            </a:extLst>
          </p:cNvPr>
          <p:cNvGraphicFramePr>
            <a:graphicFrameLocks noGrp="1"/>
          </p:cNvGraphicFramePr>
          <p:nvPr>
            <p:extLst>
              <p:ext uri="{D42A27DB-BD31-4B8C-83A1-F6EECF244321}">
                <p14:modId xmlns:p14="http://schemas.microsoft.com/office/powerpoint/2010/main" val="1103828371"/>
              </p:ext>
            </p:extLst>
          </p:nvPr>
        </p:nvGraphicFramePr>
        <p:xfrm>
          <a:off x="134289" y="1519622"/>
          <a:ext cx="11688715" cy="1223578"/>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851680">
                <a:tc>
                  <a:txBody>
                    <a:bodyPr/>
                    <a:lstStyle/>
                    <a:p>
                      <a:pPr algn="l" fontAlgn="b"/>
                      <a:r>
                        <a:rPr lang="en-US" sz="1100" b="0" i="0" u="none" strike="noStrike">
                          <a:solidFill>
                            <a:srgbClr val="000000"/>
                          </a:solidFill>
                          <a:effectLst/>
                          <a:latin typeface="Calibri" panose="020F0502020204030204" pitchFamily="34" charset="0"/>
                        </a:rPr>
                        <a:t>A863</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15:00 27/06/2025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RH WING TIP AND SLAT 12 DAMAGE OUT OF LIMIT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A/C AOG DUE TO&amp;#160;RH WING TIP AND SLAT 12 DAMAGE OUT </a:t>
                      </a:r>
                      <a:r>
                        <a:rPr lang="en-US" sz="1100" b="0" i="0" u="none" strike="noStrike">
                          <a:solidFill>
                            <a:srgbClr val="000000"/>
                          </a:solidFill>
                          <a:effectLst/>
                          <a:latin typeface="Calibri" panose="020F0502020204030204" pitchFamily="34" charset="0"/>
                        </a:rPr>
                        <a:t>OF </a:t>
                      </a:r>
                      <a:r>
                        <a:rPr lang="en-US" sz="1100" b="0" i="0" u="none" strike="noStrike" smtClean="0">
                          <a:solidFill>
                            <a:srgbClr val="000000"/>
                          </a:solidFill>
                          <a:effectLst/>
                          <a:latin typeface="Calibri" panose="020F0502020204030204" pitchFamily="34" charset="0"/>
                        </a:rPr>
                        <a:t>LIMIT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r>
                        <a:rPr lang="en-US" sz="1100" b="0" i="0" u="none" strike="noStrike" smtClean="0">
                          <a:solidFill>
                            <a:srgbClr val="000000"/>
                          </a:solidFill>
                          <a:effectLst/>
                          <a:latin typeface="Calibri" panose="020F0502020204030204" pitchFamily="34" charset="0"/>
                        </a:rPr>
                        <a:t>HANDOVER TO BASE REPAIR</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Non-Tech</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AOG BOE team </a:t>
                      </a:r>
                      <a:r>
                        <a:rPr lang="en-US" sz="1100" b="0" i="0" u="none" strike="noStrike" dirty="0" err="1">
                          <a:solidFill>
                            <a:srgbClr val="000000"/>
                          </a:solidFill>
                          <a:effectLst/>
                          <a:latin typeface="Calibri" panose="020F0502020204030204" pitchFamily="34" charset="0"/>
                        </a:rPr>
                        <a:t>thực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hiện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đánh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giá</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sửa</a:t>
                      </a:r>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chữa. Chi tiết tại slide sau.</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483119"/>
                  </a:ext>
                </a:extLst>
              </a:tr>
            </a:tbl>
          </a:graphicData>
        </a:graphic>
      </p:graphicFrame>
      <p:sp>
        <p:nvSpPr>
          <p:cNvPr id="7" name="TextBox 6">
            <a:extLst>
              <a:ext uri="{FF2B5EF4-FFF2-40B4-BE49-F238E27FC236}">
                <a16:creationId xmlns:a16="http://schemas.microsoft.com/office/drawing/2014/main" id="{4645DCDA-22B5-F53B-6D2B-9AAB42D5F0DE}"/>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lang="vi-VN" sz="1600" b="1" dirty="0">
                <a:solidFill>
                  <a:prstClr val="black"/>
                </a:solidFill>
                <a:ea typeface="MS PGothic" panose="020B0600070205080204" pitchFamily="34" charset="-128"/>
                <a:cs typeface="Times New Roman" panose="02020603050405020304" pitchFamily="18" charset="0"/>
              </a:rPr>
              <a:t> (non-tech)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933769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53DB0B5-1BED-4536-8D51-84659161F4F3}"/>
              </a:ext>
            </a:extLst>
          </p:cNvPr>
          <p:cNvSpPr txBox="1"/>
          <p:nvPr/>
        </p:nvSpPr>
        <p:spPr>
          <a:xfrm>
            <a:off x="0" y="0"/>
            <a:ext cx="12049955" cy="523220"/>
          </a:xfrm>
          <a:prstGeom prst="rect">
            <a:avLst/>
          </a:prstGeom>
          <a:noFill/>
        </p:spPr>
        <p:txBody>
          <a:bodyPr wrap="square" rtlCol="0">
            <a:spAutoFit/>
          </a:bodyPr>
          <a:lstStyle/>
          <a:p>
            <a:r>
              <a:rPr lang="en-US" sz="28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rPr>
              <a:t>A863- HỎNG HÓC WINGTIP &amp; SLAT 12</a:t>
            </a:r>
          </a:p>
        </p:txBody>
      </p:sp>
      <p:sp>
        <p:nvSpPr>
          <p:cNvPr id="6" name="Rectangle 5"/>
          <p:cNvSpPr/>
          <p:nvPr/>
        </p:nvSpPr>
        <p:spPr>
          <a:xfrm>
            <a:off x="385012" y="4385770"/>
            <a:ext cx="4336277" cy="2031325"/>
          </a:xfrm>
          <a:prstGeom prst="rect">
            <a:avLst/>
          </a:prstGeom>
        </p:spPr>
        <p:txBody>
          <a:bodyPr wrap="square">
            <a:spAutoFit/>
          </a:bodyPr>
          <a:lstStyle/>
          <a:p>
            <a:pPr algn="just"/>
            <a:r>
              <a:rPr lang="en-US" sz="1400" b="1" dirty="0" err="1">
                <a:latin typeface="Times New Roman" panose="02020603050405020304" pitchFamily="18" charset="0"/>
                <a:ea typeface="Arial" panose="020B0604020202020204" pitchFamily="34" charset="0"/>
              </a:rPr>
              <a:t>Hiện</a:t>
            </a:r>
            <a:r>
              <a:rPr lang="en-US" sz="1400" b="1" dirty="0">
                <a:latin typeface="Times New Roman" panose="02020603050405020304" pitchFamily="18" charset="0"/>
                <a:ea typeface="Arial" panose="020B0604020202020204" pitchFamily="34" charset="0"/>
              </a:rPr>
              <a:t> </a:t>
            </a:r>
            <a:r>
              <a:rPr lang="en-US" sz="1400" b="1" dirty="0" err="1">
                <a:latin typeface="Times New Roman" panose="02020603050405020304" pitchFamily="18" charset="0"/>
                <a:ea typeface="Arial" panose="020B0604020202020204" pitchFamily="34" charset="0"/>
              </a:rPr>
              <a:t>trạng</a:t>
            </a:r>
            <a:r>
              <a:rPr lang="en-US" sz="1400" b="1" dirty="0">
                <a:latin typeface="Times New Roman" panose="02020603050405020304" pitchFamily="18" charset="0"/>
                <a:ea typeface="Arial" panose="020B0604020202020204" pitchFamily="34" charset="0"/>
              </a:rPr>
              <a:t>:</a:t>
            </a:r>
          </a:p>
          <a:p>
            <a:pPr algn="just"/>
            <a:r>
              <a:rPr lang="vi-VN" sz="1400" dirty="0">
                <a:latin typeface="Times New Roman" panose="02020603050405020304" pitchFamily="18" charset="0"/>
                <a:ea typeface="Arial" panose="020B0604020202020204" pitchFamily="34" charset="0"/>
              </a:rPr>
              <a:t>Hỏng hóc slat#12; </a:t>
            </a:r>
            <a:r>
              <a:rPr lang="en-US" sz="1400" dirty="0" err="1">
                <a:latin typeface="Times New Roman" panose="02020603050405020304" pitchFamily="18" charset="0"/>
                <a:ea typeface="Arial" panose="020B0604020202020204" pitchFamily="34" charset="0"/>
              </a:rPr>
              <a:t>phải</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thay</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thế</a:t>
            </a:r>
            <a:endParaRPr lang="en-US" sz="1400" dirty="0">
              <a:latin typeface="Times New Roman" panose="02020603050405020304" pitchFamily="18" charset="0"/>
              <a:ea typeface="Arial" panose="020B0604020202020204" pitchFamily="34" charset="0"/>
            </a:endParaRPr>
          </a:p>
          <a:p>
            <a:pPr algn="just"/>
            <a:r>
              <a:rPr lang="en-US" sz="1400" dirty="0">
                <a:latin typeface="Times New Roman" panose="02020603050405020304" pitchFamily="18" charset="0"/>
                <a:ea typeface="Arial" panose="020B0604020202020204" pitchFamily="34" charset="0"/>
              </a:rPr>
              <a:t>H</a:t>
            </a:r>
            <a:r>
              <a:rPr lang="vi-VN" sz="1400" dirty="0">
                <a:latin typeface="Times New Roman" panose="02020603050405020304" pitchFamily="18" charset="0"/>
                <a:ea typeface="Arial" panose="020B0604020202020204" pitchFamily="34" charset="0"/>
              </a:rPr>
              <a:t>ỏng toàn bộ leading edge của Wingtip, có một số điểm hỏng front spar của wingtip, do đó có thể phai thay cả wingtip. </a:t>
            </a:r>
            <a:endParaRPr lang="en-US" sz="1400" dirty="0">
              <a:latin typeface="Times New Roman" panose="02020603050405020304" pitchFamily="18" charset="0"/>
              <a:ea typeface="Arial" panose="020B0604020202020204" pitchFamily="34" charset="0"/>
            </a:endParaRPr>
          </a:p>
          <a:p>
            <a:pPr algn="just"/>
            <a:r>
              <a:rPr lang="en-US" sz="1400" b="1" dirty="0" err="1">
                <a:latin typeface="Times New Roman" panose="02020603050405020304" pitchFamily="18" charset="0"/>
              </a:rPr>
              <a:t>Tiến</a:t>
            </a:r>
            <a:r>
              <a:rPr lang="en-US" sz="1400" b="1" dirty="0">
                <a:latin typeface="Times New Roman" panose="02020603050405020304" pitchFamily="18" charset="0"/>
              </a:rPr>
              <a:t> </a:t>
            </a:r>
            <a:r>
              <a:rPr lang="en-US" sz="1400" b="1" dirty="0" err="1">
                <a:latin typeface="Times New Roman" panose="02020603050405020304" pitchFamily="18" charset="0"/>
              </a:rPr>
              <a:t>độ</a:t>
            </a:r>
            <a:r>
              <a:rPr lang="en-US" sz="1400" b="1" dirty="0">
                <a:latin typeface="Times New Roman" panose="02020603050405020304" pitchFamily="18" charset="0"/>
              </a:rPr>
              <a:t>:</a:t>
            </a:r>
          </a:p>
          <a:p>
            <a:pPr algn="just"/>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Đã</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tháo</a:t>
            </a:r>
            <a:r>
              <a:rPr lang="en-US" sz="1400" dirty="0">
                <a:latin typeface="Times New Roman" panose="02020603050405020304" pitchFamily="18" charset="0"/>
                <a:ea typeface="Arial" panose="020B0604020202020204" pitchFamily="34" charset="0"/>
              </a:rPr>
              <a:t> slat#12</a:t>
            </a:r>
          </a:p>
          <a:p>
            <a:pPr algn="just"/>
            <a:r>
              <a:rPr lang="en-US" sz="1400" dirty="0">
                <a:latin typeface="Times New Roman" panose="02020603050405020304" pitchFamily="18" charset="0"/>
                <a:ea typeface="Arial" panose="020B0604020202020204" pitchFamily="34" charset="0"/>
              </a:rPr>
              <a:t>- AOG BOE Team </a:t>
            </a:r>
            <a:r>
              <a:rPr lang="en-US" sz="1400" dirty="0" err="1">
                <a:latin typeface="Times New Roman" panose="02020603050405020304" pitchFamily="18" charset="0"/>
                <a:ea typeface="Arial" panose="020B0604020202020204" pitchFamily="34" charset="0"/>
              </a:rPr>
              <a:t>dự</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kiến</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bắt</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đầu</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thực</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hiện</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kiểm</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tra</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từ</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chiều</a:t>
            </a:r>
            <a:r>
              <a:rPr lang="en-US" sz="1400" dirty="0">
                <a:latin typeface="Times New Roman" panose="02020603050405020304" pitchFamily="18" charset="0"/>
                <a:ea typeface="Arial" panose="020B0604020202020204" pitchFamily="34" charset="0"/>
              </a:rPr>
              <a:t> </a:t>
            </a:r>
            <a:r>
              <a:rPr lang="en-US" sz="1400" dirty="0" err="1">
                <a:latin typeface="Times New Roman" panose="02020603050405020304" pitchFamily="18" charset="0"/>
                <a:ea typeface="Arial" panose="020B0604020202020204" pitchFamily="34" charset="0"/>
              </a:rPr>
              <a:t>thứ</a:t>
            </a:r>
            <a:r>
              <a:rPr lang="en-US" sz="1400" dirty="0">
                <a:latin typeface="Times New Roman" panose="02020603050405020304" pitchFamily="18" charset="0"/>
                <a:ea typeface="Arial" panose="020B0604020202020204" pitchFamily="34" charset="0"/>
              </a:rPr>
              <a:t> 2 </a:t>
            </a:r>
            <a:r>
              <a:rPr lang="en-US" sz="1400" dirty="0" err="1">
                <a:latin typeface="Times New Roman" panose="02020603050405020304" pitchFamily="18" charset="0"/>
                <a:ea typeface="Arial" panose="020B0604020202020204" pitchFamily="34" charset="0"/>
              </a:rPr>
              <a:t>ngày</a:t>
            </a:r>
            <a:r>
              <a:rPr lang="en-US" sz="1400" dirty="0">
                <a:latin typeface="Times New Roman" panose="02020603050405020304" pitchFamily="18" charset="0"/>
                <a:ea typeface="Arial" panose="020B0604020202020204" pitchFamily="34" charset="0"/>
              </a:rPr>
              <a:t> 30/6</a:t>
            </a:r>
          </a:p>
        </p:txBody>
      </p:sp>
      <p:pic>
        <p:nvPicPr>
          <p:cNvPr id="7" name="Picture 6"/>
          <p:cNvPicPr>
            <a:picLocks noChangeAspect="1"/>
          </p:cNvPicPr>
          <p:nvPr/>
        </p:nvPicPr>
        <p:blipFill>
          <a:blip r:embed="rId2"/>
          <a:stretch>
            <a:fillRect/>
          </a:stretch>
        </p:blipFill>
        <p:spPr>
          <a:xfrm>
            <a:off x="4514867" y="566900"/>
            <a:ext cx="7028452" cy="3447711"/>
          </a:xfrm>
          <a:prstGeom prst="rect">
            <a:avLst/>
          </a:prstGeom>
        </p:spPr>
      </p:pic>
      <p:sp>
        <p:nvSpPr>
          <p:cNvPr id="8" name="Rectangle 7"/>
          <p:cNvSpPr/>
          <p:nvPr/>
        </p:nvSpPr>
        <p:spPr>
          <a:xfrm>
            <a:off x="5110065" y="4278000"/>
            <a:ext cx="6433254" cy="1600438"/>
          </a:xfrm>
          <a:prstGeom prst="rect">
            <a:avLst/>
          </a:prstGeom>
        </p:spPr>
        <p:txBody>
          <a:bodyPr wrap="square">
            <a:spAutoFit/>
          </a:bodyPr>
          <a:lstStyle/>
          <a:p>
            <a:pPr algn="just"/>
            <a:r>
              <a:rPr lang="en-US" sz="1400" b="1" dirty="0" err="1">
                <a:latin typeface="Times New Roman" panose="02020603050405020304" pitchFamily="18" charset="0"/>
                <a:cs typeface="Times New Roman" panose="02020603050405020304" pitchFamily="18" charset="0"/>
              </a:rPr>
              <a:t>Kê</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hoạch</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dự</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kiến</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của</a:t>
            </a:r>
            <a:r>
              <a:rPr lang="en-US" sz="1400" b="1" dirty="0">
                <a:latin typeface="Times New Roman" panose="02020603050405020304" pitchFamily="18" charset="0"/>
                <a:cs typeface="Times New Roman" panose="02020603050405020304" pitchFamily="18" charset="0"/>
              </a:rPr>
              <a:t> AOG TEAM</a:t>
            </a:r>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 Khảo sát dự kiến kéo dài 2–3 ngày, tùy thuộc vào việc tiếp cận máy bay, hiện trường </a:t>
            </a:r>
            <a:endParaRPr lang="en-US" sz="1400" dirty="0">
              <a:latin typeface="Times New Roman" panose="02020603050405020304" pitchFamily="18" charset="0"/>
              <a:cs typeface="Times New Roman" panose="02020603050405020304" pitchFamily="18" charset="0"/>
            </a:endParaRPr>
          </a:p>
          <a:p>
            <a:pPr algn="just"/>
            <a:r>
              <a:rPr lang="vi-VN" sz="1400" dirty="0">
                <a:latin typeface="Times New Roman" panose="02020603050405020304" pitchFamily="18" charset="0"/>
                <a:cs typeface="Times New Roman" panose="02020603050405020304" pitchFamily="18" charset="0"/>
              </a:rPr>
              <a:t>- Sau khi hoàn tất tài liệu, nhóm hiện trường sẽ báo cáo cho đội tại trụ sở qua cuộc họp trực tuyến.</a:t>
            </a:r>
          </a:p>
          <a:p>
            <a:pPr algn="just"/>
            <a:r>
              <a:rPr lang="en-US" sz="1400" dirty="0">
                <a:latin typeface="Times New Roman" panose="02020603050405020304" pitchFamily="18" charset="0"/>
                <a:cs typeface="Times New Roman" panose="02020603050405020304" pitchFamily="18" charset="0"/>
              </a:rPr>
              <a:t>- </a:t>
            </a:r>
            <a:r>
              <a:rPr lang="vi-VN" sz="1400" dirty="0">
                <a:latin typeface="Times New Roman" panose="02020603050405020304" pitchFamily="18" charset="0"/>
                <a:cs typeface="Times New Roman" panose="02020603050405020304" pitchFamily="18" charset="0"/>
              </a:rPr>
              <a:t>Sau khi xác minh đầy đủ thông tin, kết quả sẽ được trình bày cho Vietnam Airlines.</a:t>
            </a:r>
          </a:p>
          <a:p>
            <a:pPr algn="just"/>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Sửa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chữa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kéo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dài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khoảng</a:t>
            </a:r>
            <a:r>
              <a:rPr lang="en-US" sz="1400" dirty="0">
                <a:latin typeface="Times New Roman" panose="02020603050405020304" pitchFamily="18" charset="0"/>
                <a:cs typeface="Times New Roman" panose="02020603050405020304" pitchFamily="18" charset="0"/>
              </a:rPr>
              <a:t> 7-10 </a:t>
            </a:r>
            <a:r>
              <a:rPr lang="en-US" sz="1400" dirty="0" err="1">
                <a:latin typeface="Times New Roman" panose="02020603050405020304" pitchFamily="18" charset="0"/>
                <a:cs typeface="Times New Roman" panose="02020603050405020304" pitchFamily="18" charset="0"/>
              </a:rPr>
              <a:t>ngày</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Dự</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kiến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khai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thác</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trở</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lại</a:t>
            </a:r>
            <a:r>
              <a:rPr lang="en-US" sz="1400" dirty="0">
                <a:latin typeface="Times New Roman" panose="02020603050405020304" pitchFamily="18" charset="0"/>
                <a:cs typeface="Times New Roman" panose="02020603050405020304" pitchFamily="18" charset="0"/>
              </a:rPr>
              <a:t> : 11/7</a:t>
            </a:r>
          </a:p>
          <a:p>
            <a:pPr algn="just"/>
            <a:r>
              <a:rPr lang="en-US" sz="1400" dirty="0">
                <a:latin typeface="Times New Roman" panose="02020603050405020304" pitchFamily="18" charset="0"/>
                <a:cs typeface="Times New Roman" panose="02020603050405020304" pitchFamily="18" charset="0"/>
              </a:rPr>
              <a:t> </a:t>
            </a:r>
          </a:p>
        </p:txBody>
      </p:sp>
      <p:graphicFrame>
        <p:nvGraphicFramePr>
          <p:cNvPr id="10" name="Table 9"/>
          <p:cNvGraphicFramePr>
            <a:graphicFrameLocks noGrp="1"/>
          </p:cNvGraphicFramePr>
          <p:nvPr/>
        </p:nvGraphicFramePr>
        <p:xfrm>
          <a:off x="5269135" y="5777017"/>
          <a:ext cx="6207517" cy="849270"/>
        </p:xfrm>
        <a:graphic>
          <a:graphicData uri="http://schemas.openxmlformats.org/drawingml/2006/table">
            <a:tbl>
              <a:tblPr/>
              <a:tblGrid>
                <a:gridCol w="1314059">
                  <a:extLst>
                    <a:ext uri="{9D8B030D-6E8A-4147-A177-3AD203B41FA5}">
                      <a16:colId xmlns:a16="http://schemas.microsoft.com/office/drawing/2014/main" val="3052845015"/>
                    </a:ext>
                  </a:extLst>
                </a:gridCol>
                <a:gridCol w="902910">
                  <a:extLst>
                    <a:ext uri="{9D8B030D-6E8A-4147-A177-3AD203B41FA5}">
                      <a16:colId xmlns:a16="http://schemas.microsoft.com/office/drawing/2014/main" val="2430185597"/>
                    </a:ext>
                  </a:extLst>
                </a:gridCol>
                <a:gridCol w="3990548">
                  <a:extLst>
                    <a:ext uri="{9D8B030D-6E8A-4147-A177-3AD203B41FA5}">
                      <a16:colId xmlns:a16="http://schemas.microsoft.com/office/drawing/2014/main" val="4105395510"/>
                    </a:ext>
                  </a:extLst>
                </a:gridCol>
              </a:tblGrid>
              <a:tr h="283090">
                <a:tc>
                  <a:txBody>
                    <a:bodyPr/>
                    <a:lstStyle/>
                    <a:p>
                      <a:pPr rtl="0" fontAlgn="ctr"/>
                      <a:r>
                        <a:rPr lang="en-US" sz="900" b="1">
                          <a:solidFill>
                            <a:schemeClr val="tx1"/>
                          </a:solidFill>
                          <a:effectLst/>
                          <a:latin typeface="Times New Roman" panose="02020603050405020304" pitchFamily="18" charset="0"/>
                          <a:cs typeface="Times New Roman" panose="02020603050405020304" pitchFamily="18" charset="0"/>
                        </a:rPr>
                        <a:t>PN</a:t>
                      </a:r>
                    </a:p>
                  </a:txBody>
                  <a:tcPr marL="17693" marR="17693" marT="11795" marB="11795"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00FF00"/>
                    </a:solidFill>
                  </a:tcPr>
                </a:tc>
                <a:tc>
                  <a:txBody>
                    <a:bodyPr/>
                    <a:lstStyle/>
                    <a:p>
                      <a:pPr rtl="0" fontAlgn="ctr"/>
                      <a:r>
                        <a:rPr lang="en-US" sz="900" b="1" dirty="0">
                          <a:solidFill>
                            <a:schemeClr val="tx1"/>
                          </a:solidFill>
                          <a:effectLst/>
                          <a:latin typeface="Times New Roman" panose="02020603050405020304" pitchFamily="18" charset="0"/>
                          <a:cs typeface="Times New Roman" panose="02020603050405020304" pitchFamily="18" charset="0"/>
                        </a:rPr>
                        <a:t>DES</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00FF00"/>
                    </a:solidFill>
                  </a:tcPr>
                </a:tc>
                <a:tc>
                  <a:txBody>
                    <a:bodyPr/>
                    <a:lstStyle/>
                    <a:p>
                      <a:pPr rtl="0" fontAlgn="ctr"/>
                      <a:r>
                        <a:rPr lang="en-US" sz="900" b="1" dirty="0">
                          <a:solidFill>
                            <a:schemeClr val="tx1"/>
                          </a:solidFill>
                          <a:effectLst/>
                          <a:latin typeface="Times New Roman" panose="02020603050405020304" pitchFamily="18" charset="0"/>
                          <a:cs typeface="Times New Roman" panose="02020603050405020304" pitchFamily="18" charset="0"/>
                        </a:rPr>
                        <a:t>COMMENT QLVT</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9900"/>
                    </a:solidFill>
                  </a:tcPr>
                </a:tc>
                <a:extLst>
                  <a:ext uri="{0D108BD9-81ED-4DB2-BD59-A6C34878D82A}">
                    <a16:rowId xmlns:a16="http://schemas.microsoft.com/office/drawing/2014/main" val="3215566835"/>
                  </a:ext>
                </a:extLst>
              </a:tr>
              <a:tr h="283090">
                <a:tc>
                  <a:txBody>
                    <a:bodyPr/>
                    <a:lstStyle/>
                    <a:p>
                      <a:pPr rtl="0" fontAlgn="ctr"/>
                      <a:r>
                        <a:rPr lang="en-US" sz="900">
                          <a:solidFill>
                            <a:schemeClr val="tx1"/>
                          </a:solidFill>
                          <a:effectLst/>
                          <a:latin typeface="Times New Roman" panose="02020603050405020304" pitchFamily="18" charset="0"/>
                          <a:cs typeface="Times New Roman" panose="02020603050405020304" pitchFamily="18" charset="0"/>
                        </a:rPr>
                        <a:t>141Z0201-504-2</a:t>
                      </a:r>
                    </a:p>
                  </a:txBody>
                  <a:tcPr marL="17693" marR="17693" marT="11795" marB="11795"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ctr"/>
                      <a:r>
                        <a:rPr lang="en-US" sz="900" dirty="0">
                          <a:solidFill>
                            <a:schemeClr val="tx1"/>
                          </a:solidFill>
                          <a:effectLst/>
                          <a:latin typeface="Times New Roman" panose="02020603050405020304" pitchFamily="18" charset="0"/>
                          <a:cs typeface="Times New Roman" panose="02020603050405020304" pitchFamily="18" charset="0"/>
                        </a:rPr>
                        <a:t>RH SLAT 12 CSA</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tc>
                  <a:txBody>
                    <a:bodyPr/>
                    <a:lstStyle/>
                    <a:p>
                      <a:pPr rtl="0" fontAlgn="ctr"/>
                      <a:r>
                        <a:rPr lang="en-US" sz="900" dirty="0">
                          <a:solidFill>
                            <a:schemeClr val="tx1"/>
                          </a:solidFill>
                          <a:effectLst/>
                          <a:latin typeface="Times New Roman" panose="02020603050405020304" pitchFamily="18" charset="0"/>
                          <a:cs typeface="Times New Roman" panose="02020603050405020304" pitchFamily="18" charset="0"/>
                        </a:rPr>
                        <a:t>Boeing NOT STK, </a:t>
                      </a:r>
                      <a:r>
                        <a:rPr lang="en-US" sz="900" dirty="0" err="1">
                          <a:solidFill>
                            <a:schemeClr val="tx1"/>
                          </a:solidFill>
                          <a:effectLst/>
                          <a:latin typeface="Times New Roman" panose="02020603050405020304" pitchFamily="18" charset="0"/>
                          <a:cs typeface="Times New Roman" panose="02020603050405020304" pitchFamily="18" charset="0"/>
                        </a:rPr>
                        <a:t>qlvt</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chờ</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có</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đủ</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thông</a:t>
                      </a:r>
                      <a:r>
                        <a:rPr lang="en-US" sz="900" dirty="0">
                          <a:solidFill>
                            <a:schemeClr val="tx1"/>
                          </a:solidFill>
                          <a:effectLst/>
                          <a:latin typeface="Times New Roman" panose="02020603050405020304" pitchFamily="18" charset="0"/>
                          <a:cs typeface="Times New Roman" panose="02020603050405020304" pitchFamily="18" charset="0"/>
                        </a:rPr>
                        <a:t> tin </a:t>
                      </a:r>
                      <a:r>
                        <a:rPr lang="en-US" sz="900" dirty="0" err="1">
                          <a:solidFill>
                            <a:schemeClr val="tx1"/>
                          </a:solidFill>
                          <a:effectLst/>
                          <a:latin typeface="Times New Roman" panose="02020603050405020304" pitchFamily="18" charset="0"/>
                          <a:cs typeface="Times New Roman" panose="02020603050405020304" pitchFamily="18" charset="0"/>
                        </a:rPr>
                        <a:t>sẽ</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làm</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việc</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với</a:t>
                      </a:r>
                      <a:r>
                        <a:rPr lang="en-US" sz="900" dirty="0">
                          <a:solidFill>
                            <a:schemeClr val="tx1"/>
                          </a:solidFill>
                          <a:effectLst/>
                          <a:latin typeface="Times New Roman" panose="02020603050405020304" pitchFamily="18" charset="0"/>
                          <a:cs typeface="Times New Roman" panose="02020603050405020304" pitchFamily="18" charset="0"/>
                        </a:rPr>
                        <a:t> Boeing </a:t>
                      </a:r>
                      <a:r>
                        <a:rPr lang="en-US" sz="900" dirty="0" err="1">
                          <a:solidFill>
                            <a:schemeClr val="tx1"/>
                          </a:solidFill>
                          <a:effectLst/>
                          <a:latin typeface="Times New Roman" panose="02020603050405020304" pitchFamily="18" charset="0"/>
                          <a:cs typeface="Times New Roman" panose="02020603050405020304" pitchFamily="18" charset="0"/>
                        </a:rPr>
                        <a:t>và</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cập</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nhật</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tiếp</a:t>
                      </a:r>
                      <a:r>
                        <a:rPr lang="en-US" sz="900" dirty="0">
                          <a:solidFill>
                            <a:schemeClr val="tx1"/>
                          </a:solidFill>
                          <a:effectLst/>
                          <a:latin typeface="Times New Roman" panose="02020603050405020304" pitchFamily="18" charset="0"/>
                          <a:cs typeface="Times New Roman" panose="02020603050405020304" pitchFamily="18" charset="0"/>
                        </a:rPr>
                        <a:t> </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977205284"/>
                  </a:ext>
                </a:extLst>
              </a:tr>
              <a:tr h="283090">
                <a:tc>
                  <a:txBody>
                    <a:bodyPr/>
                    <a:lstStyle/>
                    <a:p>
                      <a:pPr rtl="0" fontAlgn="ctr"/>
                      <a:r>
                        <a:rPr lang="en-US" sz="900">
                          <a:solidFill>
                            <a:schemeClr val="tx1"/>
                          </a:solidFill>
                          <a:effectLst/>
                          <a:latin typeface="Times New Roman" panose="02020603050405020304" pitchFamily="18" charset="0"/>
                          <a:cs typeface="Times New Roman" panose="02020603050405020304" pitchFamily="18" charset="0"/>
                        </a:rPr>
                        <a:t>192Z1000-508</a:t>
                      </a:r>
                    </a:p>
                  </a:txBody>
                  <a:tcPr marL="17693" marR="17693" marT="11795" marB="11795" anchor="ctr">
                    <a:lnL w="7620" cap="flat" cmpd="sng" algn="ctr">
                      <a:solidFill>
                        <a:srgbClr val="000000"/>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rtl="0" fontAlgn="ctr"/>
                      <a:r>
                        <a:rPr lang="en-US" sz="900" dirty="0">
                          <a:solidFill>
                            <a:schemeClr val="tx1"/>
                          </a:solidFill>
                          <a:effectLst/>
                          <a:latin typeface="Times New Roman" panose="02020603050405020304" pitchFamily="18" charset="0"/>
                          <a:cs typeface="Times New Roman" panose="02020603050405020304" pitchFamily="18" charset="0"/>
                        </a:rPr>
                        <a:t>WING TIP</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tc>
                  <a:txBody>
                    <a:bodyPr/>
                    <a:lstStyle/>
                    <a:p>
                      <a:pPr rtl="0" fontAlgn="ctr"/>
                      <a:r>
                        <a:rPr lang="en-US" sz="900" dirty="0">
                          <a:solidFill>
                            <a:schemeClr val="tx1"/>
                          </a:solidFill>
                          <a:effectLst/>
                          <a:latin typeface="Times New Roman" panose="02020603050405020304" pitchFamily="18" charset="0"/>
                          <a:cs typeface="Times New Roman" panose="02020603050405020304" pitchFamily="18" charset="0"/>
                        </a:rPr>
                        <a:t>Boeing NOT STK, </a:t>
                      </a:r>
                      <a:r>
                        <a:rPr lang="en-US" sz="900" dirty="0" err="1">
                          <a:solidFill>
                            <a:schemeClr val="tx1"/>
                          </a:solidFill>
                          <a:effectLst/>
                          <a:latin typeface="Times New Roman" panose="02020603050405020304" pitchFamily="18" charset="0"/>
                          <a:cs typeface="Times New Roman" panose="02020603050405020304" pitchFamily="18" charset="0"/>
                        </a:rPr>
                        <a:t>qlvt</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chờ</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có</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đủ</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thông</a:t>
                      </a:r>
                      <a:r>
                        <a:rPr lang="en-US" sz="900" dirty="0">
                          <a:solidFill>
                            <a:schemeClr val="tx1"/>
                          </a:solidFill>
                          <a:effectLst/>
                          <a:latin typeface="Times New Roman" panose="02020603050405020304" pitchFamily="18" charset="0"/>
                          <a:cs typeface="Times New Roman" panose="02020603050405020304" pitchFamily="18" charset="0"/>
                        </a:rPr>
                        <a:t> tin </a:t>
                      </a:r>
                      <a:r>
                        <a:rPr lang="en-US" sz="900" dirty="0" err="1">
                          <a:solidFill>
                            <a:schemeClr val="tx1"/>
                          </a:solidFill>
                          <a:effectLst/>
                          <a:latin typeface="Times New Roman" panose="02020603050405020304" pitchFamily="18" charset="0"/>
                          <a:cs typeface="Times New Roman" panose="02020603050405020304" pitchFamily="18" charset="0"/>
                        </a:rPr>
                        <a:t>sẽ</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làm</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việc</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với</a:t>
                      </a:r>
                      <a:r>
                        <a:rPr lang="en-US" sz="900" dirty="0">
                          <a:solidFill>
                            <a:schemeClr val="tx1"/>
                          </a:solidFill>
                          <a:effectLst/>
                          <a:latin typeface="Times New Roman" panose="02020603050405020304" pitchFamily="18" charset="0"/>
                          <a:cs typeface="Times New Roman" panose="02020603050405020304" pitchFamily="18" charset="0"/>
                        </a:rPr>
                        <a:t> Boeing </a:t>
                      </a:r>
                      <a:r>
                        <a:rPr lang="en-US" sz="900" dirty="0" err="1">
                          <a:solidFill>
                            <a:schemeClr val="tx1"/>
                          </a:solidFill>
                          <a:effectLst/>
                          <a:latin typeface="Times New Roman" panose="02020603050405020304" pitchFamily="18" charset="0"/>
                          <a:cs typeface="Times New Roman" panose="02020603050405020304" pitchFamily="18" charset="0"/>
                        </a:rPr>
                        <a:t>và</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cập</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nhật</a:t>
                      </a:r>
                      <a:r>
                        <a:rPr lang="en-US" sz="900" dirty="0">
                          <a:solidFill>
                            <a:schemeClr val="tx1"/>
                          </a:solidFill>
                          <a:effectLst/>
                          <a:latin typeface="Times New Roman" panose="02020603050405020304" pitchFamily="18" charset="0"/>
                          <a:cs typeface="Times New Roman" panose="02020603050405020304" pitchFamily="18" charset="0"/>
                        </a:rPr>
                        <a:t> </a:t>
                      </a:r>
                      <a:r>
                        <a:rPr lang="en-US" sz="900" dirty="0" err="1">
                          <a:solidFill>
                            <a:schemeClr val="tx1"/>
                          </a:solidFill>
                          <a:effectLst/>
                          <a:latin typeface="Times New Roman" panose="02020603050405020304" pitchFamily="18" charset="0"/>
                          <a:cs typeface="Times New Roman" panose="02020603050405020304" pitchFamily="18" charset="0"/>
                        </a:rPr>
                        <a:t>tiếp</a:t>
                      </a:r>
                      <a:r>
                        <a:rPr lang="en-US" sz="900" dirty="0">
                          <a:solidFill>
                            <a:schemeClr val="tx1"/>
                          </a:solidFill>
                          <a:effectLst/>
                          <a:latin typeface="Times New Roman" panose="02020603050405020304" pitchFamily="18" charset="0"/>
                          <a:cs typeface="Times New Roman" panose="02020603050405020304" pitchFamily="18" charset="0"/>
                        </a:rPr>
                        <a:t> </a:t>
                      </a:r>
                    </a:p>
                  </a:txBody>
                  <a:tcPr marL="17693" marR="17693" marT="11795" marB="11795" anchor="ctr">
                    <a:lnL w="7620" cap="flat" cmpd="sng" algn="ctr">
                      <a:solidFill>
                        <a:srgbClr val="CCCCCC"/>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2552502"/>
                  </a:ext>
                </a:extLst>
              </a:tr>
            </a:tbl>
          </a:graphicData>
        </a:graphic>
      </p:graphicFrame>
      <p:pic>
        <p:nvPicPr>
          <p:cNvPr id="11" name="Picture 10"/>
          <p:cNvPicPr>
            <a:picLocks noChangeAspect="1"/>
          </p:cNvPicPr>
          <p:nvPr/>
        </p:nvPicPr>
        <p:blipFill>
          <a:blip r:embed="rId3"/>
          <a:stretch>
            <a:fillRect/>
          </a:stretch>
        </p:blipFill>
        <p:spPr>
          <a:xfrm>
            <a:off x="373590" y="968116"/>
            <a:ext cx="4058452" cy="2736137"/>
          </a:xfrm>
          <a:prstGeom prst="rect">
            <a:avLst/>
          </a:prstGeom>
        </p:spPr>
      </p:pic>
      <p:sp>
        <p:nvSpPr>
          <p:cNvPr id="12" name="Rectangle 11"/>
          <p:cNvSpPr/>
          <p:nvPr/>
        </p:nvSpPr>
        <p:spPr>
          <a:xfrm>
            <a:off x="449608" y="3744055"/>
            <a:ext cx="3676969" cy="292388"/>
          </a:xfrm>
          <a:prstGeom prst="rect">
            <a:avLst/>
          </a:prstGeom>
        </p:spPr>
        <p:txBody>
          <a:bodyPr wrap="none">
            <a:spAutoFit/>
          </a:bodyPr>
          <a:lstStyle/>
          <a:p>
            <a:pPr lvl="0"/>
            <a:r>
              <a:rPr lang="en-US" sz="1300" dirty="0">
                <a:solidFill>
                  <a:prstClr val="black"/>
                </a:solidFill>
                <a:latin typeface="Times New Roman" panose="02020603050405020304" pitchFamily="18" charset="0"/>
                <a:cs typeface="Times New Roman" panose="02020603050405020304" pitchFamily="18" charset="0"/>
              </a:rPr>
              <a:t>SLAT 12 – leading edge </a:t>
            </a:r>
            <a:r>
              <a:rPr lang="en-US" sz="1300" dirty="0" err="1">
                <a:solidFill>
                  <a:prstClr val="black"/>
                </a:solidFill>
                <a:latin typeface="Times New Roman" panose="02020603050405020304" pitchFamily="18" charset="0"/>
                <a:cs typeface="Times New Roman" panose="02020603050405020304" pitchFamily="18" charset="0"/>
              </a:rPr>
              <a:t>và</a:t>
            </a:r>
            <a:r>
              <a:rPr lang="en-US" sz="1300" dirty="0">
                <a:solidFill>
                  <a:prstClr val="black"/>
                </a:solidFill>
                <a:latin typeface="Times New Roman" panose="02020603050405020304" pitchFamily="18" charset="0"/>
                <a:cs typeface="Times New Roman" panose="02020603050405020304" pitchFamily="18" charset="0"/>
              </a:rPr>
              <a:t> upper surface </a:t>
            </a:r>
            <a:r>
              <a:rPr lang="en-US" sz="1300" dirty="0" err="1">
                <a:solidFill>
                  <a:prstClr val="black"/>
                </a:solidFill>
                <a:latin typeface="Times New Roman" panose="02020603050405020304" pitchFamily="18" charset="0"/>
                <a:cs typeface="Times New Roman" panose="02020603050405020304" pitchFamily="18" charset="0"/>
              </a:rPr>
              <a:t>bị</a:t>
            </a:r>
            <a:r>
              <a:rPr lang="en-US" sz="1300" dirty="0">
                <a:solidFill>
                  <a:prstClr val="black"/>
                </a:solidFill>
                <a:latin typeface="Times New Roman" panose="02020603050405020304" pitchFamily="18" charset="0"/>
                <a:cs typeface="Times New Roman" panose="02020603050405020304" pitchFamily="18" charset="0"/>
              </a:rPr>
              <a:t> damage</a:t>
            </a:r>
          </a:p>
        </p:txBody>
      </p:sp>
    </p:spTree>
    <p:extLst>
      <p:ext uri="{BB962C8B-B14F-4D97-AF65-F5344CB8AC3E}">
        <p14:creationId xmlns:p14="http://schemas.microsoft.com/office/powerpoint/2010/main" val="1362752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E843FEF2-B797-156F-B13F-96AC9E3E1F3A}"/>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4B6F32B8-109E-A5D6-50F4-AEEB6F5302F1}"/>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733B044-70C3-D23B-90E7-648F2554A47E}"/>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B787</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B85BE6DB-9D39-2B21-453F-86F1B520EEB5}"/>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lang="en-US" sz="1600" b="1">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t>
            </a:r>
            <a:r>
              <a:rPr kumimoji="0" lang="en-US" sz="16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F79966F-1CD2-ADC2-0D2C-374C8F5282B6}"/>
              </a:ext>
            </a:extLst>
          </p:cNvPr>
          <p:cNvGraphicFramePr>
            <a:graphicFrameLocks noGrp="1"/>
          </p:cNvGraphicFramePr>
          <p:nvPr>
            <p:extLst>
              <p:ext uri="{D42A27DB-BD31-4B8C-83A1-F6EECF244321}">
                <p14:modId xmlns:p14="http://schemas.microsoft.com/office/powerpoint/2010/main" val="347410541"/>
              </p:ext>
            </p:extLst>
          </p:nvPr>
        </p:nvGraphicFramePr>
        <p:xfrm>
          <a:off x="116182" y="1521019"/>
          <a:ext cx="11853157" cy="2369062"/>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533400">
                  <a:extLst>
                    <a:ext uri="{9D8B030D-6E8A-4147-A177-3AD203B41FA5}">
                      <a16:colId xmlns:a16="http://schemas.microsoft.com/office/drawing/2014/main" val="673348196"/>
                    </a:ext>
                  </a:extLst>
                </a:gridCol>
                <a:gridCol w="381000">
                  <a:extLst>
                    <a:ext uri="{9D8B030D-6E8A-4147-A177-3AD203B41FA5}">
                      <a16:colId xmlns:a16="http://schemas.microsoft.com/office/drawing/2014/main" val="422459560"/>
                    </a:ext>
                  </a:extLst>
                </a:gridCol>
                <a:gridCol w="1524000">
                  <a:extLst>
                    <a:ext uri="{9D8B030D-6E8A-4147-A177-3AD203B41FA5}">
                      <a16:colId xmlns:a16="http://schemas.microsoft.com/office/drawing/2014/main" val="2573721533"/>
                    </a:ext>
                  </a:extLst>
                </a:gridCol>
                <a:gridCol w="32004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36635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a:solidFill>
                            <a:srgbClr val="000000"/>
                          </a:solidFill>
                          <a:effectLst/>
                          <a:latin typeface="Calibri" panose="020F0502020204030204" pitchFamily="34" charset="0"/>
                        </a:rPr>
                        <a:t>A872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16:07 25/06/2025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VN7158</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DIFFERENT BTW FUEL BOWSER AND FUEL ONBOARD IS 438KG </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FUNCTIONAL </a:t>
                      </a:r>
                      <a:r>
                        <a:rPr lang="en-US" sz="1100" b="0" i="0" u="none" strike="noStrike">
                          <a:solidFill>
                            <a:srgbClr val="000000"/>
                          </a:solidFill>
                          <a:effectLst/>
                          <a:latin typeface="Calibri" panose="020F0502020204030204" pitchFamily="34" charset="0"/>
                        </a:rPr>
                        <a:t>TEST OF FUEL QUANTITY IND SYS SATIS EVENT </a:t>
                      </a:r>
                      <a:r>
                        <a:rPr lang="en-US" sz="1100" b="0" i="0" u="none" strike="noStrike" smtClean="0">
                          <a:solidFill>
                            <a:srgbClr val="000000"/>
                          </a:solidFill>
                          <a:effectLst/>
                          <a:latin typeface="Calibri" panose="020F0502020204030204" pitchFamily="34" charset="0"/>
                        </a:rPr>
                        <a:t>CLOSED</a:t>
                      </a:r>
                      <a:endParaRPr lang="en-US" sz="1100" b="0" i="0" u="none" strike="noStrike">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28-41</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smtClean="0">
                          <a:solidFill>
                            <a:srgbClr val="000000"/>
                          </a:solidFill>
                          <a:effectLst/>
                          <a:latin typeface="Calibri" panose="020F0502020204030204" pitchFamily="34" charset="0"/>
                        </a:rPr>
                        <a:t>Thực </a:t>
                      </a:r>
                      <a:r>
                        <a:rPr lang="vi-VN" sz="1100" b="0" i="0" u="none" strike="noStrike">
                          <a:solidFill>
                            <a:srgbClr val="000000"/>
                          </a:solidFill>
                          <a:effectLst/>
                          <a:latin typeface="Calibri" panose="020F0502020204030204" pitchFamily="34" charset="0"/>
                        </a:rPr>
                        <a:t>hiện Opt test thì hiển thị lại bình thường. Cần theo dõi thêm</a:t>
                      </a:r>
                      <a:r>
                        <a:rPr lang="vi-VN" sz="1100" b="0" i="0" u="none" strike="noStrike" smtClean="0">
                          <a:solidFill>
                            <a:srgbClr val="000000"/>
                          </a:solidFill>
                          <a:effectLst/>
                          <a:latin typeface="Calibri" panose="020F0502020204030204" pitchFamily="34" charset="0"/>
                        </a:rPr>
                        <a:t>.</a:t>
                      </a:r>
                      <a:endParaRPr lang="en-US" sz="1100" b="0" i="0" u="none" strike="noStrike" smtClean="0">
                        <a:solidFill>
                          <a:srgbClr val="000000"/>
                        </a:solidFill>
                        <a:effectLst/>
                        <a:latin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smtClean="0">
                          <a:solidFill>
                            <a:srgbClr val="000000"/>
                          </a:solidFill>
                          <a:effectLst/>
                          <a:latin typeface="Calibri" panose="020F0502020204030204" pitchFamily="34" charset="0"/>
                        </a:rPr>
                        <a:t>Delay &lt; 15 mins =&gt;</a:t>
                      </a:r>
                      <a:r>
                        <a:rPr lang="en-US" sz="1100" b="0" i="0" u="none" strike="noStrike" baseline="0" smtClean="0">
                          <a:solidFill>
                            <a:srgbClr val="000000"/>
                          </a:solidFill>
                          <a:effectLst/>
                          <a:latin typeface="Calibri" panose="020F0502020204030204" pitchFamily="34" charset="0"/>
                        </a:rPr>
                        <a:t> Không tính KPI.</a:t>
                      </a:r>
                      <a:endParaRPr lang="en-US" sz="1100" b="0" i="0" u="none" strike="noStrike" smtClean="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792896"/>
                  </a:ext>
                </a:extLst>
              </a:tr>
              <a:tr h="515354">
                <a:tc>
                  <a:txBody>
                    <a:bodyPr/>
                    <a:lstStyle/>
                    <a:p>
                      <a:pPr algn="l" fontAlgn="b"/>
                      <a:r>
                        <a:rPr lang="en-US" sz="1100" b="0" i="0" u="none" strike="noStrike">
                          <a:solidFill>
                            <a:srgbClr val="000000"/>
                          </a:solidFill>
                          <a:effectLst/>
                          <a:latin typeface="Calibri" panose="020F0502020204030204" pitchFamily="34" charset="0"/>
                        </a:rPr>
                        <a:t>A877</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11:45 25/06/2025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45</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VN244</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HAN-SGN</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WHEEL #8 CHINRING DAMAGED (PIECE MISSING)</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REPLACED </a:t>
                      </a:r>
                      <a:r>
                        <a:rPr lang="en-US" sz="1100" b="0" i="0" u="none" strike="noStrike" dirty="0">
                          <a:solidFill>
                            <a:srgbClr val="000000"/>
                          </a:solidFill>
                          <a:effectLst/>
                          <a:latin typeface="Calibri" panose="020F0502020204030204" pitchFamily="34" charset="0"/>
                        </a:rPr>
                        <a:t>WHEEL 8, CHECK SATIS </a:t>
                      </a:r>
                      <a:r>
                        <a:rPr lang="en-US" sz="1100" b="0" i="0" u="none" strike="noStrike">
                          <a:solidFill>
                            <a:srgbClr val="000000"/>
                          </a:solidFill>
                          <a:effectLst/>
                          <a:latin typeface="Calibri" panose="020F0502020204030204" pitchFamily="34" charset="0"/>
                        </a:rPr>
                        <a:t>EVENT </a:t>
                      </a:r>
                      <a:r>
                        <a:rPr lang="en-US" sz="1100" b="0" i="0" u="none" strike="noStrike" smtClean="0">
                          <a:solidFill>
                            <a:srgbClr val="000000"/>
                          </a:solidFill>
                          <a:effectLst/>
                          <a:latin typeface="Calibri" panose="020F0502020204030204" pitchFamily="34" charset="0"/>
                        </a:rPr>
                        <a:t>CLOSED TOTAL DELAY 45MIN, TECH 25MIN&lt;/p&gt;</a:t>
                      </a:r>
                      <a:endParaRPr lang="en-US" sz="1100" b="0" i="0" u="none" strike="noStrike" dirty="0">
                        <a:solidFill>
                          <a:srgbClr val="000000"/>
                        </a:solidFill>
                        <a:effectLst/>
                        <a:latin typeface="Calibri" panose="020F0502020204030204" pitchFamily="34" charset="0"/>
                      </a:endParaRP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32</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là Chin ring của Wheel bị crack tại vị trí bắt bolts và bung ra cọ sát và làm hỏng lốp. Thống kê hỏng hóc, fleet đã từng ghi nhận 10 trường hợp Chin ring bị crack/ missing/ disengage với wheel và phải thay wheel để khắc phục. Khi wheel được thay lốp shop, chinring này cũng đã được kiểm tra và thay thế các khối bị crack. Từ năm 2023-may 2025, shop đã thay 90 chinring. Nội dung kiêm tra chinring cũng có trong Termcheck. Ngày 20Jun2025, Ban KT đã email yêu cầu VAE ban hành QN để thợ máy lưu ý kiểm tra chinring để phát hiện sớm crack.</a:t>
                      </a:r>
                    </a:p>
                  </a:txBody>
                  <a:tcPr marL="4763" marR="4763" marT="476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9239587"/>
                  </a:ext>
                </a:extLst>
              </a:tr>
            </a:tbl>
          </a:graphicData>
        </a:graphic>
      </p:graphicFrame>
      <p:sp>
        <p:nvSpPr>
          <p:cNvPr id="8" name="TextBox 7">
            <a:extLst>
              <a:ext uri="{FF2B5EF4-FFF2-40B4-BE49-F238E27FC236}">
                <a16:creationId xmlns:a16="http://schemas.microsoft.com/office/drawing/2014/main" id="{FCB2E84C-571E-B4A9-5963-B0AE234EBA5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vi-VN" sz="1600" b="1" dirty="0">
                <a:solidFill>
                  <a:prstClr val="black"/>
                </a:solidFill>
                <a:ea typeface="MS PGothic" panose="020B0600070205080204" pitchFamily="34" charset="-128"/>
                <a:cs typeface="Times New Roman" panose="02020603050405020304" pitchFamily="18" charset="0"/>
              </a:rPr>
              <a:t>(non-tech)</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 </a:t>
            </a:r>
            <a:r>
              <a:rPr lang="en-US" sz="1600" b="1" smtClean="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611895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19</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3" name="Table 2">
            <a:extLst>
              <a:ext uri="{FF2B5EF4-FFF2-40B4-BE49-F238E27FC236}">
                <a16:creationId xmlns:a16="http://schemas.microsoft.com/office/drawing/2014/main" id="{F730E66C-C9AE-56A6-0448-B0724969C4A8}"/>
              </a:ext>
            </a:extLst>
          </p:cNvPr>
          <p:cNvGraphicFramePr>
            <a:graphicFrameLocks noGrp="1"/>
          </p:cNvGraphicFramePr>
          <p:nvPr>
            <p:extLst/>
          </p:nvPr>
        </p:nvGraphicFramePr>
        <p:xfrm>
          <a:off x="175690" y="501465"/>
          <a:ext cx="11840621" cy="6380002"/>
        </p:xfrm>
        <a:graphic>
          <a:graphicData uri="http://schemas.openxmlformats.org/drawingml/2006/table">
            <a:tbl>
              <a:tblPr/>
              <a:tblGrid>
                <a:gridCol w="379393">
                  <a:extLst>
                    <a:ext uri="{9D8B030D-6E8A-4147-A177-3AD203B41FA5}">
                      <a16:colId xmlns:a16="http://schemas.microsoft.com/office/drawing/2014/main" val="1908676237"/>
                    </a:ext>
                  </a:extLst>
                </a:gridCol>
                <a:gridCol w="505523">
                  <a:extLst>
                    <a:ext uri="{9D8B030D-6E8A-4147-A177-3AD203B41FA5}">
                      <a16:colId xmlns:a16="http://schemas.microsoft.com/office/drawing/2014/main" val="293513657"/>
                    </a:ext>
                  </a:extLst>
                </a:gridCol>
                <a:gridCol w="555083">
                  <a:extLst>
                    <a:ext uri="{9D8B030D-6E8A-4147-A177-3AD203B41FA5}">
                      <a16:colId xmlns:a16="http://schemas.microsoft.com/office/drawing/2014/main" val="408030732"/>
                    </a:ext>
                  </a:extLst>
                </a:gridCol>
                <a:gridCol w="1338147">
                  <a:extLst>
                    <a:ext uri="{9D8B030D-6E8A-4147-A177-3AD203B41FA5}">
                      <a16:colId xmlns:a16="http://schemas.microsoft.com/office/drawing/2014/main" val="2237186653"/>
                    </a:ext>
                  </a:extLst>
                </a:gridCol>
                <a:gridCol w="1139901">
                  <a:extLst>
                    <a:ext uri="{9D8B030D-6E8A-4147-A177-3AD203B41FA5}">
                      <a16:colId xmlns:a16="http://schemas.microsoft.com/office/drawing/2014/main" val="3880475537"/>
                    </a:ext>
                  </a:extLst>
                </a:gridCol>
                <a:gridCol w="1467005">
                  <a:extLst>
                    <a:ext uri="{9D8B030D-6E8A-4147-A177-3AD203B41FA5}">
                      <a16:colId xmlns:a16="http://schemas.microsoft.com/office/drawing/2014/main" val="4006583211"/>
                    </a:ext>
                  </a:extLst>
                </a:gridCol>
                <a:gridCol w="6455569">
                  <a:extLst>
                    <a:ext uri="{9D8B030D-6E8A-4147-A177-3AD203B41FA5}">
                      <a16:colId xmlns:a16="http://schemas.microsoft.com/office/drawing/2014/main" val="1615000730"/>
                    </a:ext>
                  </a:extLst>
                </a:gridCol>
              </a:tblGrid>
              <a:tr h="207689">
                <a:tc>
                  <a:txBody>
                    <a:bodyPr/>
                    <a:lstStyle/>
                    <a:p>
                      <a:pPr algn="ctr" fontAlgn="ctr"/>
                      <a:r>
                        <a:rPr lang="en-US" sz="1300" b="0" i="0" u="none" strike="noStrike">
                          <a:solidFill>
                            <a:srgbClr val="000000"/>
                          </a:solidFill>
                          <a:effectLst/>
                          <a:latin typeface="Calibri" panose="020F0502020204030204" pitchFamily="34" charset="0"/>
                        </a:rPr>
                        <a:t>No</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4385773"/>
                  </a:ext>
                </a:extLst>
              </a:tr>
              <a:tr h="410889">
                <a:tc>
                  <a:txBody>
                    <a:bodyPr/>
                    <a:lstStyle/>
                    <a:p>
                      <a:pPr algn="ctr" fontAlgn="ctr"/>
                      <a:r>
                        <a:rPr lang="en-US" sz="1300" b="0" i="0" u="none" strike="noStrike">
                          <a:solidFill>
                            <a:srgbClr val="000000"/>
                          </a:solidFill>
                          <a:effectLst/>
                          <a:latin typeface="Calibri" panose="020F0502020204030204" pitchFamily="34" charset="0"/>
                        </a:rPr>
                        <a:t>1</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B1605 BRAKE 3 WORN OUT</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B1607 INTEGRATED CLG RECIRC AIR</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14507602"/>
                  </a:ext>
                </a:extLst>
              </a:tr>
              <a:tr h="410889">
                <a:tc>
                  <a:txBody>
                    <a:bodyPr/>
                    <a:lstStyle/>
                    <a:p>
                      <a:pPr algn="ctr" fontAlgn="ctr"/>
                      <a:r>
                        <a:rPr lang="en-US" sz="1300" b="0" i="0" u="none" strike="noStrike">
                          <a:solidFill>
                            <a:srgbClr val="000000"/>
                          </a:solidFill>
                          <a:effectLst/>
                          <a:latin typeface="Calibri" panose="020F0502020204030204" pitchFamily="34" charset="0"/>
                        </a:rPr>
                        <a:t>2</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B1381 WEATHER RADAR SYS R</a:t>
                      </a:r>
                      <a:br>
                        <a:rPr lang="en-SG" sz="1300" b="0" i="0" u="none" strike="noStrike">
                          <a:solidFill>
                            <a:srgbClr val="000000"/>
                          </a:solidFill>
                          <a:effectLst/>
                          <a:latin typeface="Calibri" panose="020F0502020204030204" pitchFamily="34" charset="0"/>
                        </a:rPr>
                      </a:br>
                      <a:r>
                        <a:rPr lang="en-SG" sz="1300" b="0" i="0" u="none" strike="noStrike">
                          <a:solidFill>
                            <a:srgbClr val="000000"/>
                          </a:solidFill>
                          <a:effectLst/>
                          <a:latin typeface="Calibri" panose="020F0502020204030204" pitchFamily="34" charset="0"/>
                        </a:rPr>
                        <a:t>B1385 RAISED: 01 SEAT MOUNTED PROXIMITY LIGHT AT SEAT 10F MISSING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83581694"/>
                  </a:ext>
                </a:extLst>
              </a:tr>
              <a:tr h="207689">
                <a:tc>
                  <a:txBody>
                    <a:bodyPr/>
                    <a:lstStyle/>
                    <a:p>
                      <a:pPr algn="ctr" fontAlgn="ctr"/>
                      <a:r>
                        <a:rPr lang="en-US" sz="1300" b="0" i="0" u="none" strike="noStrike">
                          <a:solidFill>
                            <a:srgbClr val="000000"/>
                          </a:solidFill>
                          <a:effectLst/>
                          <a:latin typeface="Calibri" panose="020F0502020204030204" pitchFamily="34" charset="0"/>
                        </a:rPr>
                        <a:t>3</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AOG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37585333"/>
                  </a:ext>
                </a:extLst>
              </a:tr>
              <a:tr h="207689">
                <a:tc>
                  <a:txBody>
                    <a:bodyPr/>
                    <a:lstStyle/>
                    <a:p>
                      <a:pPr algn="ctr" fontAlgn="ctr"/>
                      <a:r>
                        <a:rPr lang="en-US" sz="1300" b="0" i="0" u="none" strike="noStrike">
                          <a:solidFill>
                            <a:srgbClr val="000000"/>
                          </a:solidFill>
                          <a:effectLst/>
                          <a:latin typeface="Calibri" panose="020F0502020204030204" pitchFamily="34" charset="0"/>
                        </a:rPr>
                        <a:t>4</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3819485"/>
                  </a:ext>
                </a:extLst>
              </a:tr>
              <a:tr h="207689">
                <a:tc>
                  <a:txBody>
                    <a:bodyPr/>
                    <a:lstStyle/>
                    <a:p>
                      <a:pPr algn="ctr" fontAlgn="ctr"/>
                      <a:r>
                        <a:rPr lang="en-US" sz="1300" b="0" i="0" u="none" strike="noStrike">
                          <a:solidFill>
                            <a:srgbClr val="000000"/>
                          </a:solidFill>
                          <a:effectLst/>
                          <a:latin typeface="Calibri" panose="020F0502020204030204" pitchFamily="34" charset="0"/>
                        </a:rPr>
                        <a:t>5</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5707202"/>
                  </a:ext>
                </a:extLst>
              </a:tr>
              <a:tr h="410889">
                <a:tc>
                  <a:txBody>
                    <a:bodyPr/>
                    <a:lstStyle/>
                    <a:p>
                      <a:pPr algn="ctr" fontAlgn="ctr"/>
                      <a:r>
                        <a:rPr lang="en-US" sz="1300" b="0" i="0" u="none" strike="noStrike">
                          <a:solidFill>
                            <a:srgbClr val="000000"/>
                          </a:solidFill>
                          <a:effectLst/>
                          <a:latin typeface="Calibri" panose="020F0502020204030204" pitchFamily="34" charset="0"/>
                        </a:rPr>
                        <a:t>6</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B1359 WEATHER RADAR SYS</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8439377"/>
                  </a:ext>
                </a:extLst>
              </a:tr>
              <a:tr h="410889">
                <a:tc>
                  <a:txBody>
                    <a:bodyPr/>
                    <a:lstStyle/>
                    <a:p>
                      <a:pPr algn="ctr" fontAlgn="ctr"/>
                      <a:r>
                        <a:rPr lang="en-US" sz="1300" b="0" i="0" u="none" strike="noStrike">
                          <a:solidFill>
                            <a:srgbClr val="000000"/>
                          </a:solidFill>
                          <a:effectLst/>
                          <a:latin typeface="Calibri" panose="020F0502020204030204" pitchFamily="34" charset="0"/>
                        </a:rPr>
                        <a:t>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B1604 RAISED "STATUS MSG: CABIN AIR CPRSR L1"</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0527335"/>
                  </a:ext>
                </a:extLst>
              </a:tr>
              <a:tr h="207689">
                <a:tc>
                  <a:txBody>
                    <a:bodyPr/>
                    <a:lstStyle/>
                    <a:p>
                      <a:pPr algn="ctr" fontAlgn="ctr"/>
                      <a:r>
                        <a:rPr lang="en-US" sz="1300" b="0" i="0" u="none" strike="noStrike">
                          <a:solidFill>
                            <a:srgbClr val="000000"/>
                          </a:solidFill>
                          <a:effectLst/>
                          <a:latin typeface="Calibri" panose="020F0502020204030204" pitchFamily="34" charset="0"/>
                        </a:rPr>
                        <a:t>8</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329248"/>
                  </a:ext>
                </a:extLst>
              </a:tr>
              <a:tr h="817289">
                <a:tc>
                  <a:txBody>
                    <a:bodyPr/>
                    <a:lstStyle/>
                    <a:p>
                      <a:pPr algn="ctr" fontAlgn="ctr"/>
                      <a:r>
                        <a:rPr lang="en-US" sz="1300" b="0" i="0" u="none" strike="noStrike">
                          <a:solidFill>
                            <a:srgbClr val="000000"/>
                          </a:solidFill>
                          <a:effectLst/>
                          <a:latin typeface="Calibri" panose="020F0502020204030204" pitchFamily="34" charset="0"/>
                        </a:rPr>
                        <a:t>9</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B1063 TAIL AIRFLOW SYS</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B1066 LOWER DISPLAY UNIT INOP</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8018523"/>
                  </a:ext>
                </a:extLst>
              </a:tr>
              <a:tr h="207689">
                <a:tc>
                  <a:txBody>
                    <a:bodyPr/>
                    <a:lstStyle/>
                    <a:p>
                      <a:pPr algn="ctr" fontAlgn="ctr"/>
                      <a:r>
                        <a:rPr lang="en-US" sz="1300" b="0" i="0" u="none" strike="noStrike">
                          <a:solidFill>
                            <a:srgbClr val="000000"/>
                          </a:solidFill>
                          <a:effectLst/>
                          <a:latin typeface="Calibri" panose="020F0502020204030204" pitchFamily="34" charset="0"/>
                        </a:rPr>
                        <a:t>10</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8299349"/>
                  </a:ext>
                </a:extLst>
              </a:tr>
              <a:tr h="410889">
                <a:tc>
                  <a:txBody>
                    <a:bodyPr/>
                    <a:lstStyle/>
                    <a:p>
                      <a:pPr algn="ctr" fontAlgn="ctr"/>
                      <a:r>
                        <a:rPr lang="en-US" sz="1300" b="0" i="0" u="none" strike="noStrike">
                          <a:solidFill>
                            <a:srgbClr val="000000"/>
                          </a:solidFill>
                          <a:effectLst/>
                          <a:latin typeface="Calibri" panose="020F0502020204030204" pitchFamily="34" charset="0"/>
                        </a:rPr>
                        <a:t>11</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B2324 HYD VLV AUTO BLEED RSVR R</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B2330 BRAKE #3 INOP</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6281319"/>
                  </a:ext>
                </a:extLst>
              </a:tr>
              <a:tr h="207689">
                <a:tc>
                  <a:txBody>
                    <a:bodyPr/>
                    <a:lstStyle/>
                    <a:p>
                      <a:pPr algn="ctr" fontAlgn="ctr"/>
                      <a:r>
                        <a:rPr lang="en-US" sz="1300" b="0" i="0" u="none" strike="noStrike">
                          <a:solidFill>
                            <a:srgbClr val="000000"/>
                          </a:solidFill>
                          <a:effectLst/>
                          <a:latin typeface="Calibri" panose="020F0502020204030204" pitchFamily="34" charset="0"/>
                        </a:rPr>
                        <a:t>12</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B1304 01 RED LH POSITION LIGHT INOP</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0063724"/>
                  </a:ext>
                </a:extLst>
              </a:tr>
              <a:tr h="207689">
                <a:tc>
                  <a:txBody>
                    <a:bodyPr/>
                    <a:lstStyle/>
                    <a:p>
                      <a:pPr algn="ctr" fontAlgn="ctr"/>
                      <a:r>
                        <a:rPr lang="en-US" sz="1300" b="0" i="0" u="none" strike="noStrike">
                          <a:solidFill>
                            <a:srgbClr val="000000"/>
                          </a:solidFill>
                          <a:effectLst/>
                          <a:latin typeface="Calibri" panose="020F0502020204030204" pitchFamily="34" charset="0"/>
                        </a:rPr>
                        <a:t>13</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B562 R/H TAIL STROBE LIGHT DOES NOT COME ON</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4530901"/>
                  </a:ext>
                </a:extLst>
              </a:tr>
              <a:tr h="207689">
                <a:tc>
                  <a:txBody>
                    <a:bodyPr/>
                    <a:lstStyle/>
                    <a:p>
                      <a:pPr algn="ctr" fontAlgn="ctr"/>
                      <a:r>
                        <a:rPr lang="en-US" sz="1300" b="0" i="0" u="none" strike="noStrike">
                          <a:solidFill>
                            <a:srgbClr val="000000"/>
                          </a:solidFill>
                          <a:effectLst/>
                          <a:latin typeface="Calibri" panose="020F0502020204030204" pitchFamily="34" charset="0"/>
                        </a:rPr>
                        <a:t>14</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7929407"/>
                  </a:ext>
                </a:extLst>
              </a:tr>
              <a:tr h="817289">
                <a:tc>
                  <a:txBody>
                    <a:bodyPr/>
                    <a:lstStyle/>
                    <a:p>
                      <a:pPr algn="ctr" fontAlgn="ctr"/>
                      <a:r>
                        <a:rPr lang="en-US" sz="1300" b="0" i="0" u="none" strike="noStrike">
                          <a:solidFill>
                            <a:srgbClr val="000000"/>
                          </a:solidFill>
                          <a:effectLst/>
                          <a:latin typeface="Calibri" panose="020F0502020204030204" pitchFamily="34" charset="0"/>
                        </a:rPr>
                        <a:t>15</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B071 RAISED FOR BRAKE 6 DEACTIVATED</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B075 FLIGHT RECORDED SYS AFT</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B076 COCKPIT VOICE RECORDER SYS AFT</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B077 DATALINK RECORDER SYS AFT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26981612"/>
                  </a:ext>
                </a:extLst>
              </a:tr>
              <a:tr h="207689">
                <a:tc>
                  <a:txBody>
                    <a:bodyPr/>
                    <a:lstStyle/>
                    <a:p>
                      <a:pPr algn="ctr" fontAlgn="ctr"/>
                      <a:r>
                        <a:rPr lang="en-US" sz="1300" b="0" i="0" u="none" strike="noStrike">
                          <a:solidFill>
                            <a:srgbClr val="000000"/>
                          </a:solidFill>
                          <a:effectLst/>
                          <a:latin typeface="Calibri" panose="020F0502020204030204" pitchFamily="34" charset="0"/>
                        </a:rPr>
                        <a:t>16</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1131986"/>
                  </a:ext>
                </a:extLst>
              </a:tr>
              <a:tr h="614089">
                <a:tc>
                  <a:txBody>
                    <a:bodyPr/>
                    <a:lstStyle/>
                    <a:p>
                      <a:pPr algn="ctr" fontAlgn="ctr"/>
                      <a:r>
                        <a:rPr lang="en-US" sz="1300" b="0" i="0" u="none" strike="noStrike">
                          <a:solidFill>
                            <a:srgbClr val="000000"/>
                          </a:solidFill>
                          <a:effectLst/>
                          <a:latin typeface="Calibri" panose="020F0502020204030204" pitchFamily="34" charset="0"/>
                        </a:rPr>
                        <a:t>17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B594 ELEC APU STARTER R</a:t>
                      </a:r>
                    </a:p>
                  </a:txBody>
                  <a:tcPr marL="4489" marR="4489" marT="44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389124"/>
                  </a:ext>
                </a:extLst>
              </a:tr>
            </a:tbl>
          </a:graphicData>
        </a:graphic>
      </p:graphicFrame>
    </p:spTree>
    <p:extLst>
      <p:ext uri="{BB962C8B-B14F-4D97-AF65-F5344CB8AC3E}">
        <p14:creationId xmlns:p14="http://schemas.microsoft.com/office/powerpoint/2010/main" val="2021188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49" y="594264"/>
            <a:ext cx="11941351" cy="1323439"/>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a:t>
            </a:r>
            <a:r>
              <a:rPr lang="en-US" sz="1600">
                <a:solidFill>
                  <a:prstClr val="black"/>
                </a:solidFill>
                <a:latin typeface="Times New Roman" panose="02020603050405020304" pitchFamily="18" charset="0"/>
                <a:cs typeface="Times New Roman" panose="02020603050405020304" pitchFamily="18" charset="0"/>
              </a:rPr>
              <a:t>A863 va chạm với A338 tại HAN ngày 27/06 phát sinh </a:t>
            </a:r>
            <a:r>
              <a:rPr lang="en-SG" sz="1600">
                <a:solidFill>
                  <a:prstClr val="black"/>
                </a:solidFill>
                <a:latin typeface="Times New Roman" panose="02020603050405020304" pitchFamily="18" charset="0"/>
                <a:cs typeface="Times New Roman" panose="02020603050405020304" pitchFamily="18" charset="0"/>
              </a:rPr>
              <a:t>RH WING TIP AND SLAT 12 DAMAGE OUT OF LIMIT -&gt; Tạm AOG hết 12/07 chờ team AOG Boeing khắc phục.</a:t>
            </a:r>
            <a:r>
              <a:rPr lang="en-US" sz="1600">
                <a:solidFill>
                  <a:prstClr val="black"/>
                </a:solidFill>
                <a:latin typeface="Times New Roman" panose="02020603050405020304" pitchFamily="18" charset="0"/>
                <a:cs typeface="Times New Roman" panose="02020603050405020304" pitchFamily="18" charset="0"/>
              </a:rPr>
              <a:t> </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9855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66A1A4DA-5404-8AE3-9CA5-ED8F18DD50BC}"/>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49CA139-88A6-36AB-3BCF-1F78FCF4547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5C3D4B4-4E3F-272B-9817-3B5A741685A8}"/>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4" name="TextBox 3">
            <a:extLst>
              <a:ext uri="{FF2B5EF4-FFF2-40B4-BE49-F238E27FC236}">
                <a16:creationId xmlns:a16="http://schemas.microsoft.com/office/drawing/2014/main" id="{14C6844D-9B4E-E961-0C09-4E846252BDC4}"/>
              </a:ext>
            </a:extLst>
          </p:cNvPr>
          <p:cNvSpPr txBox="1"/>
          <p:nvPr/>
        </p:nvSpPr>
        <p:spPr>
          <a:xfrm>
            <a:off x="134289"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AOG:</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6" name="Table 5">
            <a:extLst>
              <a:ext uri="{FF2B5EF4-FFF2-40B4-BE49-F238E27FC236}">
                <a16:creationId xmlns:a16="http://schemas.microsoft.com/office/drawing/2014/main" id="{5E0A09DB-994B-FD3B-4856-6CC86F06BFB3}"/>
              </a:ext>
            </a:extLst>
          </p:cNvPr>
          <p:cNvGraphicFramePr>
            <a:graphicFrameLocks noGrp="1"/>
          </p:cNvGraphicFramePr>
          <p:nvPr>
            <p:extLst/>
          </p:nvPr>
        </p:nvGraphicFramePr>
        <p:xfrm>
          <a:off x="134289" y="1519622"/>
          <a:ext cx="11688715" cy="1382501"/>
        </p:xfrm>
        <a:graphic>
          <a:graphicData uri="http://schemas.openxmlformats.org/drawingml/2006/table">
            <a:tbl>
              <a:tblPr/>
              <a:tblGrid>
                <a:gridCol w="475311">
                  <a:extLst>
                    <a:ext uri="{9D8B030D-6E8A-4147-A177-3AD203B41FA5}">
                      <a16:colId xmlns:a16="http://schemas.microsoft.com/office/drawing/2014/main" val="2473118882"/>
                    </a:ext>
                  </a:extLst>
                </a:gridCol>
                <a:gridCol w="807264">
                  <a:extLst>
                    <a:ext uri="{9D8B030D-6E8A-4147-A177-3AD203B41FA5}">
                      <a16:colId xmlns:a16="http://schemas.microsoft.com/office/drawing/2014/main" val="3392135331"/>
                    </a:ext>
                  </a:extLst>
                </a:gridCol>
                <a:gridCol w="955109">
                  <a:extLst>
                    <a:ext uri="{9D8B030D-6E8A-4147-A177-3AD203B41FA5}">
                      <a16:colId xmlns:a16="http://schemas.microsoft.com/office/drawing/2014/main" val="2196282914"/>
                    </a:ext>
                  </a:extLst>
                </a:gridCol>
                <a:gridCol w="371227">
                  <a:extLst>
                    <a:ext uri="{9D8B030D-6E8A-4147-A177-3AD203B41FA5}">
                      <a16:colId xmlns:a16="http://schemas.microsoft.com/office/drawing/2014/main" val="3375762913"/>
                    </a:ext>
                  </a:extLst>
                </a:gridCol>
                <a:gridCol w="1676400">
                  <a:extLst>
                    <a:ext uri="{9D8B030D-6E8A-4147-A177-3AD203B41FA5}">
                      <a16:colId xmlns:a16="http://schemas.microsoft.com/office/drawing/2014/main" val="1905667060"/>
                    </a:ext>
                  </a:extLst>
                </a:gridCol>
                <a:gridCol w="2743200">
                  <a:extLst>
                    <a:ext uri="{9D8B030D-6E8A-4147-A177-3AD203B41FA5}">
                      <a16:colId xmlns:a16="http://schemas.microsoft.com/office/drawing/2014/main" val="59642537"/>
                    </a:ext>
                  </a:extLst>
                </a:gridCol>
                <a:gridCol w="381000">
                  <a:extLst>
                    <a:ext uri="{9D8B030D-6E8A-4147-A177-3AD203B41FA5}">
                      <a16:colId xmlns:a16="http://schemas.microsoft.com/office/drawing/2014/main" val="3935706781"/>
                    </a:ext>
                  </a:extLst>
                </a:gridCol>
                <a:gridCol w="4279204">
                  <a:extLst>
                    <a:ext uri="{9D8B030D-6E8A-4147-A177-3AD203B41FA5}">
                      <a16:colId xmlns:a16="http://schemas.microsoft.com/office/drawing/2014/main" val="63803871"/>
                    </a:ext>
                  </a:extLst>
                </a:gridCol>
              </a:tblGrid>
              <a:tr h="330190">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OPEN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CLOSED DATE</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DEFECT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ACTION</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ATA</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Engineering Assessment</a:t>
                      </a:r>
                    </a:p>
                  </a:txBody>
                  <a:tcPr marL="6138" marR="6138" marT="613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496725487"/>
                  </a:ext>
                </a:extLst>
              </a:tr>
              <a:tr h="851680">
                <a:tc>
                  <a:txBody>
                    <a:bodyPr/>
                    <a:lstStyle/>
                    <a:p>
                      <a:pPr algn="l" fontAlgn="b"/>
                      <a:r>
                        <a:rPr lang="en-US" sz="1100" b="0" i="0" u="none" strike="noStrike">
                          <a:solidFill>
                            <a:srgbClr val="000000"/>
                          </a:solidFill>
                          <a:effectLst/>
                          <a:latin typeface="Calibri" panose="020F0502020204030204" pitchFamily="34" charset="0"/>
                        </a:rPr>
                        <a:t>B219</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10:02 24/06/2025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13:59 24/06/2025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AFTER </a:t>
                      </a:r>
                      <a:r>
                        <a:rPr lang="en-US" sz="1100" b="0" i="0" u="none" strike="noStrike">
                          <a:solidFill>
                            <a:srgbClr val="000000"/>
                          </a:solidFill>
                          <a:effectLst/>
                          <a:latin typeface="Calibri" panose="020F0502020204030204" pitchFamily="34" charset="0"/>
                        </a:rPr>
                        <a:t>TAXING TO RUNWAY, PREPARE FOR TAKE OFF, CAPT CALL VHF INFORM ITT ENG 2 HIGH, CAPT DECIDE </a:t>
                      </a:r>
                      <a:r>
                        <a:rPr lang="en-US" sz="1100" b="0" i="0" u="none" strike="noStrike" smtClean="0">
                          <a:solidFill>
                            <a:srgbClr val="000000"/>
                          </a:solidFill>
                          <a:effectLst/>
                          <a:latin typeface="Calibri" panose="020F0502020204030204" pitchFamily="34" charset="0"/>
                        </a:rPr>
                        <a:t>GTB</a:t>
                      </a:r>
                      <a:endParaRPr lang="en-US" sz="1100" b="0" i="0" u="none" strike="noStrike">
                        <a:solidFill>
                          <a:srgbClr val="000000"/>
                        </a:solidFill>
                        <a:effectLst/>
                        <a:latin typeface="Calibri" panose="020F0502020204030204" pitchFamily="34" charset="0"/>
                      </a:endParaRP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FINAL </a:t>
                      </a:r>
                      <a:r>
                        <a:rPr lang="en-US" sz="1100" b="0" i="0" u="none" strike="noStrike">
                          <a:solidFill>
                            <a:srgbClr val="000000"/>
                          </a:solidFill>
                          <a:effectLst/>
                          <a:latin typeface="Calibri" panose="020F0502020204030204" pitchFamily="34" charset="0"/>
                        </a:rPr>
                        <a:t>ACTION: C/O RPLD HBV AND SEAL OF HANDLING BLEED DUCT, C/O ERU FOUND SATIS, A/C </a:t>
                      </a:r>
                      <a:r>
                        <a:rPr lang="en-US" sz="1100" b="0" i="0" u="none" strike="noStrike" smtClean="0">
                          <a:solidFill>
                            <a:srgbClr val="000000"/>
                          </a:solidFill>
                          <a:effectLst/>
                          <a:latin typeface="Calibri" panose="020F0502020204030204" pitchFamily="34" charset="0"/>
                        </a:rPr>
                        <a:t>SERV</a:t>
                      </a:r>
                      <a:endParaRPr lang="en-US" sz="1100" b="0" i="0" u="none" strike="noStrike">
                        <a:solidFill>
                          <a:srgbClr val="000000"/>
                        </a:solidFill>
                        <a:effectLst/>
                        <a:latin typeface="Calibri" panose="020F0502020204030204" pitchFamily="34" charset="0"/>
                      </a:endParaRP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Phát hiện có hỏng hóc ở SEAL OF HANDLING BLEED DUCT P/N RA50A54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Tàu bay B219 thực hiện Y08 (12/05- 23/06), trong quá trình thực hiện định kỳ có thay seal RA50A54 theo chương trình đánh chặn chủ động thông qua AMP task  VNA-21-CHK-10000-1, 361100-RAI-10000-2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Nghi ngờ sai lỗi bảo dưỡng của VAECO khi lắp seal này trong quá trình định kỳ</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1483119"/>
                  </a:ext>
                </a:extLst>
              </a:tr>
            </a:tbl>
          </a:graphicData>
        </a:graphic>
      </p:graphicFrame>
      <p:sp>
        <p:nvSpPr>
          <p:cNvPr id="7" name="TextBox 6">
            <a:extLst>
              <a:ext uri="{FF2B5EF4-FFF2-40B4-BE49-F238E27FC236}">
                <a16:creationId xmlns:a16="http://schemas.microsoft.com/office/drawing/2014/main" id="{9FD4AB25-2D78-D08F-17FA-70DA4FE8281D}"/>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vi-VN"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02</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059700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F40E87D-E833-433A-9108-834E4B3943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BA0F5FD-3618-A62F-1010-1516826DC78B}"/>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9DC09853-2004-A439-146A-064D91EC0AAB}"/>
              </a:ext>
            </a:extLst>
          </p:cNvPr>
          <p:cNvSpPr>
            <a:spLocks noGrp="1"/>
          </p:cNvSpPr>
          <p:nvPr>
            <p:ph type="title"/>
          </p:nvPr>
        </p:nvSpPr>
        <p:spPr>
          <a:xfrm>
            <a:off x="134289" y="-48959"/>
            <a:ext cx="11706825"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
            </a:r>
            <a:r>
              <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ATR72</a:t>
            </a:r>
          </a:p>
        </p:txBody>
      </p:sp>
      <p:sp>
        <p:nvSpPr>
          <p:cNvPr id="4" name="TextBox 3">
            <a:extLst>
              <a:ext uri="{FF2B5EF4-FFF2-40B4-BE49-F238E27FC236}">
                <a16:creationId xmlns:a16="http://schemas.microsoft.com/office/drawing/2014/main" id="{3E4FF86D-8BAC-0B51-DC34-3F10278ED048}"/>
              </a:ext>
            </a:extLst>
          </p:cNvPr>
          <p:cNvSpPr txBox="1"/>
          <p:nvPr/>
        </p:nvSpPr>
        <p:spPr>
          <a:xfrm>
            <a:off x="165098" y="1069115"/>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Delay:</a:t>
            </a: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F115B202-5234-2A17-769C-9472C99526EB}"/>
              </a:ext>
            </a:extLst>
          </p:cNvPr>
          <p:cNvGraphicFramePr>
            <a:graphicFrameLocks noGrp="1"/>
          </p:cNvGraphicFramePr>
          <p:nvPr>
            <p:extLst/>
          </p:nvPr>
        </p:nvGraphicFramePr>
        <p:xfrm>
          <a:off x="116182" y="1521019"/>
          <a:ext cx="11853157" cy="1530862"/>
        </p:xfrm>
        <a:graphic>
          <a:graphicData uri="http://schemas.openxmlformats.org/drawingml/2006/table">
            <a:tbl>
              <a:tblPr/>
              <a:tblGrid>
                <a:gridCol w="417218">
                  <a:extLst>
                    <a:ext uri="{9D8B030D-6E8A-4147-A177-3AD203B41FA5}">
                      <a16:colId xmlns:a16="http://schemas.microsoft.com/office/drawing/2014/main" val="3467514978"/>
                    </a:ext>
                  </a:extLst>
                </a:gridCol>
                <a:gridCol w="762000">
                  <a:extLst>
                    <a:ext uri="{9D8B030D-6E8A-4147-A177-3AD203B41FA5}">
                      <a16:colId xmlns:a16="http://schemas.microsoft.com/office/drawing/2014/main" val="3513956334"/>
                    </a:ext>
                  </a:extLst>
                </a:gridCol>
                <a:gridCol w="304800">
                  <a:extLst>
                    <a:ext uri="{9D8B030D-6E8A-4147-A177-3AD203B41FA5}">
                      <a16:colId xmlns:a16="http://schemas.microsoft.com/office/drawing/2014/main" val="524048857"/>
                    </a:ext>
                  </a:extLst>
                </a:gridCol>
                <a:gridCol w="685800">
                  <a:extLst>
                    <a:ext uri="{9D8B030D-6E8A-4147-A177-3AD203B41FA5}">
                      <a16:colId xmlns:a16="http://schemas.microsoft.com/office/drawing/2014/main" val="259133430"/>
                    </a:ext>
                  </a:extLst>
                </a:gridCol>
                <a:gridCol w="533400">
                  <a:extLst>
                    <a:ext uri="{9D8B030D-6E8A-4147-A177-3AD203B41FA5}">
                      <a16:colId xmlns:a16="http://schemas.microsoft.com/office/drawing/2014/main" val="673348196"/>
                    </a:ext>
                  </a:extLst>
                </a:gridCol>
                <a:gridCol w="381000">
                  <a:extLst>
                    <a:ext uri="{9D8B030D-6E8A-4147-A177-3AD203B41FA5}">
                      <a16:colId xmlns:a16="http://schemas.microsoft.com/office/drawing/2014/main" val="422459560"/>
                    </a:ext>
                  </a:extLst>
                </a:gridCol>
                <a:gridCol w="1524000">
                  <a:extLst>
                    <a:ext uri="{9D8B030D-6E8A-4147-A177-3AD203B41FA5}">
                      <a16:colId xmlns:a16="http://schemas.microsoft.com/office/drawing/2014/main" val="2573721533"/>
                    </a:ext>
                  </a:extLst>
                </a:gridCol>
                <a:gridCol w="3200400">
                  <a:extLst>
                    <a:ext uri="{9D8B030D-6E8A-4147-A177-3AD203B41FA5}">
                      <a16:colId xmlns:a16="http://schemas.microsoft.com/office/drawing/2014/main" val="1326284677"/>
                    </a:ext>
                  </a:extLst>
                </a:gridCol>
                <a:gridCol w="381000">
                  <a:extLst>
                    <a:ext uri="{9D8B030D-6E8A-4147-A177-3AD203B41FA5}">
                      <a16:colId xmlns:a16="http://schemas.microsoft.com/office/drawing/2014/main" val="3053691605"/>
                    </a:ext>
                  </a:extLst>
                </a:gridCol>
                <a:gridCol w="3663539">
                  <a:extLst>
                    <a:ext uri="{9D8B030D-6E8A-4147-A177-3AD203B41FA5}">
                      <a16:colId xmlns:a16="http://schemas.microsoft.com/office/drawing/2014/main" val="3407010750"/>
                    </a:ext>
                  </a:extLst>
                </a:gridCol>
              </a:tblGrid>
              <a:tr h="259548">
                <a:tc>
                  <a:txBody>
                    <a:bodyPr/>
                    <a:lstStyle/>
                    <a:p>
                      <a:pPr algn="ctr" fontAlgn="ctr"/>
                      <a:r>
                        <a:rPr lang="vi-VN" sz="1100" b="1" i="0" u="none" strike="noStrike" dirty="0">
                          <a:solidFill>
                            <a:srgbClr val="000000"/>
                          </a:solidFill>
                          <a:effectLst/>
                          <a:latin typeface="+mn-lt"/>
                        </a:rPr>
                        <a:t>A/C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DELAY DATE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STA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MINUTES</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FLIGHT NO</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ROUTINE</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DESC</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DELAY ACTION</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a:solidFill>
                            <a:srgbClr val="000000"/>
                          </a:solidFill>
                          <a:effectLst/>
                          <a:latin typeface="+mn-lt"/>
                        </a:rPr>
                        <a:t>ATA</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vi-VN" sz="1100" b="1" i="0" u="none" strike="noStrike" dirty="0">
                          <a:solidFill>
                            <a:srgbClr val="000000"/>
                          </a:solidFill>
                          <a:effectLst/>
                          <a:latin typeface="+mn-lt"/>
                        </a:rPr>
                        <a:t>Engineering Assessment</a:t>
                      </a:r>
                    </a:p>
                  </a:txBody>
                  <a:tcPr marL="4905" marR="4905" marT="49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568723607"/>
                  </a:ext>
                </a:extLst>
              </a:tr>
              <a:tr h="515354">
                <a:tc>
                  <a:txBody>
                    <a:bodyPr/>
                    <a:lstStyle/>
                    <a:p>
                      <a:pPr algn="l" fontAlgn="b"/>
                      <a:r>
                        <a:rPr lang="en-US" sz="1100" b="0" i="0" u="none" strike="noStrike">
                          <a:solidFill>
                            <a:srgbClr val="000000"/>
                          </a:solidFill>
                          <a:effectLst/>
                          <a:latin typeface="Calibri" panose="020F0502020204030204" pitchFamily="34" charset="0"/>
                        </a:rPr>
                        <a:t>B221</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11:00 25/06/2025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0V8075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VCA-PQC</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AFTER CLOSED ALL DOOR, "BRK TEMP HOT" APPEAR </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RESET; ”BRK </a:t>
                      </a:r>
                      <a:r>
                        <a:rPr lang="en-US" sz="1100" b="0" i="0" u="none" strike="noStrike">
                          <a:solidFill>
                            <a:srgbClr val="000000"/>
                          </a:solidFill>
                          <a:effectLst/>
                          <a:latin typeface="Calibri" panose="020F0502020204030204" pitchFamily="34" charset="0"/>
                        </a:rPr>
                        <a:t>TEMP </a:t>
                      </a:r>
                      <a:r>
                        <a:rPr lang="en-US" sz="1100" b="0" i="0" u="none" strike="noStrike" smtClean="0">
                          <a:solidFill>
                            <a:srgbClr val="000000"/>
                          </a:solidFill>
                          <a:effectLst/>
                          <a:latin typeface="Calibri" panose="020F0502020204030204" pitchFamily="34" charset="0"/>
                        </a:rPr>
                        <a:t>HOT” </a:t>
                      </a:r>
                      <a:r>
                        <a:rPr lang="en-US" sz="1100" b="0" i="0" u="none" strike="noStrike">
                          <a:solidFill>
                            <a:srgbClr val="000000"/>
                          </a:solidFill>
                          <a:effectLst/>
                          <a:latin typeface="Calibri" panose="020F0502020204030204" pitchFamily="34" charset="0"/>
                        </a:rPr>
                        <a:t>MSS </a:t>
                      </a:r>
                      <a:r>
                        <a:rPr lang="en-US" sz="1100" b="0" i="0" u="none" strike="noStrike" smtClean="0">
                          <a:solidFill>
                            <a:srgbClr val="000000"/>
                          </a:solidFill>
                          <a:effectLst/>
                          <a:latin typeface="Calibri" panose="020F0502020204030204" pitchFamily="34" charset="0"/>
                        </a:rPr>
                        <a:t>DISSAPPEAR</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32-00</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r>
                        <a:rPr lang="vi-VN" sz="1100" b="0" i="0" u="none" strike="noStrike" dirty="0">
                          <a:solidFill>
                            <a:srgbClr val="000000"/>
                          </a:solidFill>
                          <a:effectLst/>
                          <a:latin typeface="Calibri" panose="020F0502020204030204" pitchFamily="34" charset="0"/>
                        </a:rPr>
                        <a:t>Cảnh báo giả, khi tàu bay đang dừng.</a:t>
                      </a:r>
                    </a:p>
                    <a:p>
                      <a:pPr algn="l" fontAlgn="b"/>
                      <a:r>
                        <a:rPr lang="vi-VN" sz="1100" b="0" i="0" u="none" strike="noStrike" dirty="0">
                          <a:solidFill>
                            <a:srgbClr val="000000"/>
                          </a:solidFill>
                          <a:effectLst/>
                          <a:latin typeface="Calibri" panose="020F0502020204030204" pitchFamily="34" charset="0"/>
                        </a:rPr>
                        <a:t>Thợ máy reset được MSG.</a:t>
                      </a:r>
                    </a:p>
                    <a:p>
                      <a:pPr algn="l" fontAlgn="b"/>
                      <a:r>
                        <a:rPr lang="vi-VN" sz="1100" b="0" i="0" u="none" strike="noStrike" dirty="0">
                          <a:solidFill>
                            <a:srgbClr val="000000"/>
                          </a:solidFill>
                          <a:effectLst/>
                          <a:latin typeface="Calibri" panose="020F0502020204030204" pitchFamily="34" charset="0"/>
                        </a:rPr>
                        <a:t>Hỏng hóc hiếm khi xảy ra, cần theo dõi thêm</a:t>
                      </a:r>
                      <a:endParaRPr lang="en-US" sz="1100" b="0" i="0" u="none" strike="noStrike" dirty="0">
                        <a:solidFill>
                          <a:srgbClr val="000000"/>
                        </a:solidFill>
                        <a:effectLst/>
                        <a:latin typeface="Calibri" panose="020F0502020204030204" pitchFamily="34" charset="0"/>
                      </a:endParaRP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2792896"/>
                  </a:ext>
                </a:extLst>
              </a:tr>
              <a:tr h="515354">
                <a:tc>
                  <a:txBody>
                    <a:bodyPr/>
                    <a:lstStyle/>
                    <a:p>
                      <a:pPr algn="l" fontAlgn="b"/>
                      <a:r>
                        <a:rPr lang="en-US" sz="1100" b="0" i="0" u="none" strike="noStrike">
                          <a:solidFill>
                            <a:srgbClr val="000000"/>
                          </a:solidFill>
                          <a:effectLst/>
                          <a:latin typeface="Calibri" panose="020F0502020204030204" pitchFamily="34" charset="0"/>
                        </a:rPr>
                        <a:t>B219</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09:30 25/06/2025</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30</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0V8067</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SGN-VCS</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APM FAULT, FDAU FAULT , TAS + ALT INPUT FAIL ON GNSS </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smtClean="0">
                          <a:solidFill>
                            <a:srgbClr val="000000"/>
                          </a:solidFill>
                          <a:effectLst/>
                          <a:latin typeface="Calibri" panose="020F0502020204030204" pitchFamily="34" charset="0"/>
                        </a:rPr>
                        <a:t>FINAL </a:t>
                      </a:r>
                      <a:r>
                        <a:rPr lang="en-US" sz="1100" b="0" i="0" u="none" strike="noStrike">
                          <a:solidFill>
                            <a:srgbClr val="000000"/>
                          </a:solidFill>
                          <a:effectLst/>
                          <a:latin typeface="Calibri" panose="020F0502020204030204" pitchFamily="34" charset="0"/>
                        </a:rPr>
                        <a:t>ACTION</a:t>
                      </a:r>
                      <a:r>
                        <a:rPr lang="en-US" sz="1100" b="0" i="0" u="none" strike="noStrike" smtClean="0">
                          <a:solidFill>
                            <a:srgbClr val="000000"/>
                          </a:solidFill>
                          <a:effectLst/>
                          <a:latin typeface="Calibri" panose="020F0502020204030204" pitchFamily="34" charset="0"/>
                        </a:rPr>
                        <a:t>:</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RESET </a:t>
                      </a:r>
                      <a:r>
                        <a:rPr lang="en-US" sz="1100" b="0" i="0" u="none" strike="noStrike" smtClean="0">
                          <a:solidFill>
                            <a:srgbClr val="000000"/>
                          </a:solidFill>
                          <a:effectLst/>
                          <a:latin typeface="Calibri" panose="020F0502020204030204" pitchFamily="34" charset="0"/>
                        </a:rPr>
                        <a:t>FDAU; </a:t>
                      </a:r>
                      <a:r>
                        <a:rPr lang="en-US" sz="1100" b="0" i="0" u="none" strike="noStrike">
                          <a:solidFill>
                            <a:srgbClr val="000000"/>
                          </a:solidFill>
                          <a:effectLst/>
                          <a:latin typeface="Calibri" panose="020F0502020204030204" pitchFamily="34" charset="0"/>
                        </a:rPr>
                        <a:t>MPC </a:t>
                      </a:r>
                      <a:r>
                        <a:rPr lang="en-US" sz="1100" b="0" i="0" u="none" strike="noStrike" smtClean="0">
                          <a:solidFill>
                            <a:srgbClr val="000000"/>
                          </a:solidFill>
                          <a:effectLst/>
                          <a:latin typeface="Calibri" panose="020F0502020204030204" pitchFamily="34" charset="0"/>
                        </a:rPr>
                        <a:t>SATIS</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RAISED ADD B685: GPS-GNSS </a:t>
                      </a:r>
                      <a:r>
                        <a:rPr lang="en-US" sz="1100" b="0" i="0" u="none" strike="noStrike" smtClean="0">
                          <a:solidFill>
                            <a:srgbClr val="000000"/>
                          </a:solidFill>
                          <a:effectLst/>
                          <a:latin typeface="Calibri" panose="020F0502020204030204" pitchFamily="34" charset="0"/>
                        </a:rPr>
                        <a:t>INOP</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 </a:t>
                      </a:r>
                      <a:r>
                        <a:rPr lang="en-US" sz="1100" b="0" i="0" u="none" strike="noStrike" smtClean="0">
                          <a:solidFill>
                            <a:srgbClr val="000000"/>
                          </a:solidFill>
                          <a:effectLst/>
                          <a:latin typeface="Calibri" panose="020F0502020204030204" pitchFamily="34" charset="0"/>
                        </a:rPr>
                        <a:t>SERVICEABLE</a:t>
                      </a:r>
                      <a:endParaRPr lang="en-US" sz="1100" b="0" i="0" u="none" strike="noStrike">
                        <a:solidFill>
                          <a:srgbClr val="000000"/>
                        </a:solidFill>
                        <a:effectLst/>
                        <a:latin typeface="Calibri" panose="020F0502020204030204" pitchFamily="34" charset="0"/>
                      </a:endParaRP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phải thay Relay FIN 153FL2 (Relay của hệ thống Navigation) để khắc phục, đây là hỏng hóc hiếm gặp. Đánh giá là hỏng hóc đơn lẻ, theo dõi thêm.</a:t>
                      </a:r>
                    </a:p>
                  </a:txBody>
                  <a:tcPr marL="4763" marR="4763" marT="476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99239587"/>
                  </a:ext>
                </a:extLst>
              </a:tr>
            </a:tbl>
          </a:graphicData>
        </a:graphic>
      </p:graphicFrame>
      <p:sp>
        <p:nvSpPr>
          <p:cNvPr id="8" name="TextBox 7">
            <a:extLst>
              <a:ext uri="{FF2B5EF4-FFF2-40B4-BE49-F238E27FC236}">
                <a16:creationId xmlns:a16="http://schemas.microsoft.com/office/drawing/2014/main" id="{FF03F27A-6542-2882-667D-A90D6D5959E1}"/>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lvl="0" algn="ctr">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smtClean="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1</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2732255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914400" y="609600"/>
            <a:ext cx="10341784"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Rectangle 4">
            <a:extLst>
              <a:ext uri="{FF2B5EF4-FFF2-40B4-BE49-F238E27FC236}">
                <a16:creationId xmlns:a16="http://schemas.microsoft.com/office/drawing/2014/main" id="{795CC2F9-72E9-47BD-A040-3231760CEEDB}"/>
              </a:ext>
            </a:extLst>
          </p:cNvPr>
          <p:cNvSpPr/>
          <p:nvPr/>
        </p:nvSpPr>
        <p:spPr>
          <a:xfrm>
            <a:off x="920839" y="1447800"/>
            <a:ext cx="8956013" cy="1384995"/>
          </a:xfrm>
          <a:prstGeom prst="rect">
            <a:avLst/>
          </a:prstGeom>
        </p:spPr>
        <p:txBody>
          <a:bodyPr wrap="square">
            <a:spAutoFit/>
          </a:bodyPr>
          <a:lstStyle/>
          <a:p>
            <a:pPr algn="just">
              <a:buClrTx/>
              <a:buFontTx/>
              <a:buNone/>
            </a:pPr>
            <a:r>
              <a:rPr lang="en-US" sz="1400" b="1" kern="1200" err="1">
                <a:solidFill>
                  <a:prstClr val="black"/>
                </a:solidFill>
                <a:latin typeface="Times New Roman" panose="02020603050405020304" pitchFamily="18" charset="0"/>
                <a:ea typeface="+mn-ea"/>
                <a:cs typeface="Times New Roman" panose="02020603050405020304" pitchFamily="18" charset="0"/>
              </a:rPr>
              <a:t>Nhận</a:t>
            </a:r>
            <a:r>
              <a:rPr lang="en-US" sz="1400" b="1" kern="1200">
                <a:solidFill>
                  <a:prstClr val="black"/>
                </a:solidFill>
                <a:latin typeface="Times New Roman" panose="02020603050405020304" pitchFamily="18" charset="0"/>
                <a:ea typeface="+mn-ea"/>
                <a:cs typeface="Times New Roman" panose="02020603050405020304" pitchFamily="18" charset="0"/>
              </a:rPr>
              <a:t> </a:t>
            </a:r>
            <a:r>
              <a:rPr lang="en-US" sz="1400" b="1" kern="1200" err="1">
                <a:solidFill>
                  <a:prstClr val="black"/>
                </a:solidFill>
                <a:latin typeface="Times New Roman" panose="02020603050405020304" pitchFamily="18" charset="0"/>
                <a:ea typeface="+mn-ea"/>
                <a:cs typeface="Times New Roman" panose="02020603050405020304" pitchFamily="18" charset="0"/>
              </a:rPr>
              <a:t>xét</a:t>
            </a:r>
            <a:r>
              <a:rPr lang="en-US" sz="1400" b="1" kern="1200">
                <a:solidFill>
                  <a:prstClr val="black"/>
                </a:solidFill>
                <a:latin typeface="Times New Roman" panose="02020603050405020304" pitchFamily="18" charset="0"/>
                <a:ea typeface="+mn-ea"/>
                <a:cs typeface="Times New Roman" panose="02020603050405020304" pitchFamily="18" charset="0"/>
              </a:rPr>
              <a:t>: </a:t>
            </a:r>
            <a:r>
              <a:rPr lang="vi-VN" sz="1400" kern="1200" smtClean="0">
                <a:solidFill>
                  <a:prstClr val="black"/>
                </a:solidFill>
                <a:latin typeface="Times New Roman" panose="02020603050405020304" pitchFamily="18" charset="0"/>
                <a:ea typeface="+mn-ea"/>
                <a:cs typeface="Times New Roman" panose="02020603050405020304" pitchFamily="18" charset="0"/>
              </a:rPr>
              <a:t>Tình </a:t>
            </a:r>
            <a:r>
              <a:rPr lang="vi-VN" sz="1400" kern="1200">
                <a:solidFill>
                  <a:prstClr val="black"/>
                </a:solidFill>
                <a:latin typeface="Times New Roman" panose="02020603050405020304" pitchFamily="18" charset="0"/>
                <a:ea typeface="+mn-ea"/>
                <a:cs typeface="Times New Roman" panose="02020603050405020304" pitchFamily="18" charset="0"/>
              </a:rPr>
              <a:t>hình kỹ thuật đội bay </a:t>
            </a:r>
            <a:r>
              <a:rPr lang="en-US" sz="1400" kern="1200" smtClean="0">
                <a:solidFill>
                  <a:prstClr val="black"/>
                </a:solidFill>
                <a:latin typeface="Times New Roman" panose="02020603050405020304" pitchFamily="18" charset="0"/>
                <a:ea typeface="+mn-ea"/>
                <a:cs typeface="Times New Roman" panose="02020603050405020304" pitchFamily="18" charset="0"/>
              </a:rPr>
              <a:t>ATR72 trong </a:t>
            </a:r>
            <a:r>
              <a:rPr lang="en-US" sz="1400" kern="1200" smtClean="0">
                <a:solidFill>
                  <a:prstClr val="black"/>
                </a:solidFill>
                <a:latin typeface="Times New Roman" panose="02020603050405020304" pitchFamily="18" charset="0"/>
                <a:ea typeface="+mn-ea"/>
                <a:cs typeface="Times New Roman" panose="02020603050405020304" pitchFamily="18" charset="0"/>
              </a:rPr>
              <a:t>tuần không </a:t>
            </a:r>
            <a:r>
              <a:rPr lang="en-US" sz="1400" kern="1200">
                <a:solidFill>
                  <a:prstClr val="black"/>
                </a:solidFill>
                <a:latin typeface="Times New Roman" panose="02020603050405020304" pitchFamily="18" charset="0"/>
                <a:ea typeface="+mn-ea"/>
                <a:cs typeface="Times New Roman" panose="02020603050405020304" pitchFamily="18" charset="0"/>
              </a:rPr>
              <a:t>tốt</a:t>
            </a:r>
            <a:r>
              <a:rPr lang="en-US" sz="1400" kern="1200" smtClean="0">
                <a:solidFill>
                  <a:prstClr val="black"/>
                </a:solidFill>
                <a:latin typeface="Times New Roman" panose="02020603050405020304" pitchFamily="18" charset="0"/>
                <a:ea typeface="+mn-ea"/>
                <a:cs typeface="Times New Roman" panose="02020603050405020304" pitchFamily="18" charset="0"/>
              </a:rPr>
              <a:t>. Nổi cộm xảy ra các hỏng hóc liên tiếp trên tàu B219 vừa ra check, gây ra:</a:t>
            </a:r>
          </a:p>
          <a:p>
            <a:pPr marL="285750" indent="-285750" algn="just">
              <a:buClrTx/>
              <a:buFontTx/>
              <a:buChar char="-"/>
            </a:pPr>
            <a:r>
              <a:rPr lang="en-US" sz="1400" kern="1200" smtClean="0">
                <a:solidFill>
                  <a:prstClr val="black"/>
                </a:solidFill>
                <a:latin typeface="Times New Roman" panose="02020603050405020304" pitchFamily="18" charset="0"/>
                <a:ea typeface="+mn-ea"/>
                <a:cs typeface="Times New Roman" panose="02020603050405020304" pitchFamily="18" charset="0"/>
              </a:rPr>
              <a:t>01 RTO/AOG do lỗi ITT Eng 2 high, phải thay HBV và Seal của handling bleed duct để khắc phục.</a:t>
            </a:r>
          </a:p>
          <a:p>
            <a:pPr marL="285750" indent="-285750" algn="just">
              <a:buClrTx/>
              <a:buFontTx/>
              <a:buChar char="-"/>
            </a:pPr>
            <a:r>
              <a:rPr lang="en-US" sz="1400" smtClean="0">
                <a:solidFill>
                  <a:prstClr val="black"/>
                </a:solidFill>
                <a:latin typeface="Times New Roman" panose="02020603050405020304" pitchFamily="18" charset="0"/>
                <a:cs typeface="Times New Roman" panose="02020603050405020304" pitchFamily="18" charset="0"/>
              </a:rPr>
              <a:t>01 Delay do lỗi hệ thống Navigation, phải raise ADD để khai thác.</a:t>
            </a:r>
          </a:p>
          <a:p>
            <a:pPr marL="285750" indent="-285750" algn="just">
              <a:buClrTx/>
              <a:buFontTx/>
              <a:buChar char="-"/>
            </a:pPr>
            <a:endParaRPr lang="en-US" sz="1400" kern="1200">
              <a:solidFill>
                <a:prstClr val="black"/>
              </a:solidFill>
              <a:latin typeface="Times New Roman" panose="02020603050405020304" pitchFamily="18" charset="0"/>
              <a:ea typeface="+mn-ea"/>
              <a:cs typeface="Times New Roman" panose="02020603050405020304" pitchFamily="18" charset="0"/>
            </a:endParaRPr>
          </a:p>
          <a:p>
            <a:pPr algn="just">
              <a:buClrTx/>
            </a:pPr>
            <a:r>
              <a:rPr lang="en-US" sz="1400">
                <a:solidFill>
                  <a:prstClr val="black"/>
                </a:solidFill>
                <a:latin typeface="Times New Roman" panose="02020603050405020304" pitchFamily="18" charset="0"/>
                <a:cs typeface="Times New Roman" panose="02020603050405020304" pitchFamily="18" charset="0"/>
              </a:rPr>
              <a:t>Ngoài ra còn xảy ra 1 TH Delay nghi do báo giả của B221 với lỗi “BRK </a:t>
            </a:r>
            <a:r>
              <a:rPr lang="en-US" sz="1400">
                <a:solidFill>
                  <a:prstClr val="black"/>
                </a:solidFill>
                <a:latin typeface="Times New Roman" panose="02020603050405020304" pitchFamily="18" charset="0"/>
                <a:cs typeface="Times New Roman" panose="02020603050405020304" pitchFamily="18" charset="0"/>
              </a:rPr>
              <a:t>TEMP </a:t>
            </a:r>
            <a:r>
              <a:rPr lang="en-US" sz="1400" smtClean="0">
                <a:solidFill>
                  <a:prstClr val="black"/>
                </a:solidFill>
                <a:latin typeface="Times New Roman" panose="02020603050405020304" pitchFamily="18" charset="0"/>
                <a:cs typeface="Times New Roman" panose="02020603050405020304" pitchFamily="18" charset="0"/>
              </a:rPr>
              <a:t>HOT”, đã được reset hết lỗi.</a:t>
            </a:r>
            <a:endParaRPr lang="en-US" sz="1400" kern="1200">
              <a:solidFill>
                <a:prstClr val="black"/>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8939568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W26 (23/06/2025-29/06/20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04074" cy="181588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26/2025 </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a:t>
            </a:r>
            <a:r>
              <a:rPr kumimoji="0" lang="en-US" sz="14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tin cậy</a:t>
            </a:r>
            <a:r>
              <a:rPr kumimoji="0" lang="en-US" sz="1400" b="0" i="0" u="none" strike="noStrike" kern="1200" cap="none" spc="0" normalizeH="0" noProof="0">
                <a:ln>
                  <a:noFill/>
                </a:ln>
                <a:solidFill>
                  <a:prstClr val="black"/>
                </a:solidFill>
                <a:effectLst/>
                <a:uLnTx/>
                <a:uFillTx/>
                <a:latin typeface="Times New Roman" panose="02020603050405020304" pitchFamily="18" charset="0"/>
                <a:cs typeface="Times New Roman" panose="02020603050405020304" pitchFamily="18" charset="0"/>
              </a:rPr>
              <a:t> cất cánh </a:t>
            </a:r>
            <a:r>
              <a:rPr lang="en-US" sz="1400" noProof="0">
                <a:solidFill>
                  <a:prstClr val="black"/>
                </a:solidFill>
                <a:latin typeface="Times New Roman" panose="02020603050405020304" pitchFamily="18" charset="0"/>
                <a:cs typeface="Times New Roman" panose="02020603050405020304" pitchFamily="18" charset="0"/>
              </a:rPr>
              <a:t>đội các đội </a:t>
            </a:r>
            <a:r>
              <a:rPr lang="en-US" sz="1400">
                <a:solidFill>
                  <a:prstClr val="black"/>
                </a:solidFill>
                <a:latin typeface="Times New Roman" panose="02020603050405020304" pitchFamily="18" charset="0"/>
                <a:cs typeface="Times New Roman" panose="02020603050405020304" pitchFamily="18" charset="0"/>
              </a:rPr>
              <a:t>A321</a:t>
            </a:r>
            <a:r>
              <a:rPr lang="en-US" sz="1400" noProof="0">
                <a:solidFill>
                  <a:prstClr val="black"/>
                </a:solidFill>
                <a:latin typeface="Times New Roman" panose="02020603050405020304" pitchFamily="18" charset="0"/>
                <a:cs typeface="Times New Roman" panose="02020603050405020304" pitchFamily="18" charset="0"/>
              </a:rPr>
              <a:t>, B787 đạt mục tiêu, đội A350 v ATR72 không đạt mục tiêu</a:t>
            </a:r>
            <a:r>
              <a:rPr lang="en-US" sz="1400">
                <a:solidFill>
                  <a:prstClr val="black"/>
                </a:solidFill>
                <a:latin typeface="Times New Roman" panose="02020603050405020304" pitchFamily="18" charset="0"/>
                <a:cs typeface="Times New Roman" panose="02020603050405020304" pitchFamily="18" charset="0"/>
              </a:rPr>
              <a:t>:</a:t>
            </a:r>
            <a:endParaRPr kumimoji="0" lang="en-US" sz="1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dirty="0">
                <a:solidFill>
                  <a:prstClr val="black"/>
                </a:solidFill>
                <a:latin typeface="Times New Roman" panose="02020603050405020304" pitchFamily="18" charset="0"/>
                <a:cs typeface="Times New Roman" panose="02020603050405020304" pitchFamily="18" charset="0"/>
              </a:rPr>
              <a:t>A3</a:t>
            </a:r>
            <a:r>
              <a:rPr lang="vi-VN" sz="1400" dirty="0">
                <a:solidFill>
                  <a:prstClr val="black"/>
                </a:solidFill>
                <a:latin typeface="Times New Roman" panose="02020603050405020304" pitchFamily="18" charset="0"/>
                <a:cs typeface="Times New Roman" panose="02020603050405020304" pitchFamily="18" charset="0"/>
              </a:rPr>
              <a:t>21</a:t>
            </a:r>
            <a:r>
              <a:rPr lang="en-US" sz="1400">
                <a:solidFill>
                  <a:prstClr val="black"/>
                </a:solidFill>
                <a:latin typeface="Times New Roman" panose="02020603050405020304" pitchFamily="18" charset="0"/>
                <a:cs typeface="Times New Roman" panose="02020603050405020304" pitchFamily="18" charset="0"/>
              </a:rPr>
              <a:t>: 99,84% cao hơn 0,21%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A350: 99,09% thấp hơn 0,35%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a:t>
            </a:r>
            <a:r>
              <a:rPr lang="pt-BR" sz="1400">
                <a:solidFill>
                  <a:prstClr val="black"/>
                </a:solidFill>
                <a:latin typeface="Times New Roman" panose="02020603050405020304" pitchFamily="18" charset="0"/>
                <a:cs typeface="Times New Roman" panose="02020603050405020304" pitchFamily="18" charset="0"/>
              </a:rPr>
              <a:t> do có 02 sự kiện tàu A893 có cảnh báo ELEC CABIN POWER PROTECTION và A896 báo ENG STALL.</a:t>
            </a:r>
            <a:endParaRPr lang="en-US" sz="140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B787: 99,75% cao</a:t>
            </a:r>
            <a:r>
              <a:rPr lang="en-US" sz="1400">
                <a:latin typeface="Times New Roman" panose="02020603050405020304" pitchFamily="18" charset="0"/>
                <a:cs typeface="Times New Roman" panose="02020603050405020304" pitchFamily="18" charset="0"/>
              </a:rPr>
              <a:t> hơn 0,39% so với mục tiêu.</a:t>
            </a:r>
          </a:p>
          <a:p>
            <a:pPr marL="285750" indent="-285750">
              <a:buFont typeface="Wingdings" panose="05000000000000000000" pitchFamily="2" charset="2"/>
              <a:buChar char="v"/>
              <a:defRPr/>
            </a:pPr>
            <a:r>
              <a:rPr lang="en-US" sz="1400">
                <a:solidFill>
                  <a:prstClr val="black"/>
                </a:solidFill>
                <a:latin typeface="Times New Roman" panose="02020603050405020304" pitchFamily="18" charset="0"/>
                <a:cs typeface="Times New Roman" panose="02020603050405020304" pitchFamily="18" charset="0"/>
              </a:rPr>
              <a:t>ATR72: 98,51% thấp hơn 1,14% </a:t>
            </a:r>
            <a:r>
              <a:rPr lang="en-US" sz="1400" dirty="0">
                <a:solidFill>
                  <a:prstClr val="black"/>
                </a:solidFill>
                <a:latin typeface="Times New Roman" panose="02020603050405020304" pitchFamily="18" charset="0"/>
                <a:cs typeface="Times New Roman" panose="02020603050405020304" pitchFamily="18" charset="0"/>
              </a:rPr>
              <a:t>so với </a:t>
            </a:r>
            <a:r>
              <a:rPr lang="en-US" sz="1400">
                <a:solidFill>
                  <a:prstClr val="black"/>
                </a:solidFill>
                <a:latin typeface="Times New Roman" panose="02020603050405020304" pitchFamily="18" charset="0"/>
                <a:cs typeface="Times New Roman" panose="02020603050405020304" pitchFamily="18" charset="0"/>
              </a:rPr>
              <a:t>mục tiêu do có 03 sự kiện liên quan tới hệ thống: Brake Temp, Relay hệ thống Navigation, cảnh báo ITT ENG 2 HIGH.</a:t>
            </a:r>
            <a:endParaRPr lang="en-US" sz="14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2566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10" name="Chart 9">
            <a:extLst>
              <a:ext uri="{FF2B5EF4-FFF2-40B4-BE49-F238E27FC236}">
                <a16:creationId xmlns:a16="http://schemas.microsoft.com/office/drawing/2014/main" id="{00000000-0008-0000-0000-000006000000}"/>
              </a:ext>
            </a:extLst>
          </p:cNvPr>
          <p:cNvGraphicFramePr>
            <a:graphicFrameLocks/>
          </p:cNvGraphicFramePr>
          <p:nvPr/>
        </p:nvGraphicFramePr>
        <p:xfrm>
          <a:off x="552665" y="1060201"/>
          <a:ext cx="11155680" cy="3219450"/>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2197622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25</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727784584"/>
              </p:ext>
            </p:extLst>
          </p:nvPr>
        </p:nvGraphicFramePr>
        <p:xfrm>
          <a:off x="156783" y="606959"/>
          <a:ext cx="11878434" cy="591221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451209">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46876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2024: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13.5k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2025-2026, CAP 90M.</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 slot.</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telecon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SSA 2024 CAP, Lease engine 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thuê</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xem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xét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CAP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vượt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14-16 slot induct.</a:t>
                      </a:r>
                    </a:p>
                    <a:p>
                      <a:pPr marL="742950" marR="0" lvl="1" indent="-285750" algn="l" defTabSz="914400" rtl="0" eaLnBrk="1" fontAlgn="b" latinLnBrk="0" hangingPunct="1">
                        <a:lnSpc>
                          <a:spcPct val="100000"/>
                        </a:lnSpc>
                        <a:spcBef>
                          <a:spcPts val="0"/>
                        </a:spcBef>
                        <a:spcAft>
                          <a:spcPts val="0"/>
                        </a:spcAft>
                        <a:buClrTx/>
                        <a:buSzTx/>
                        <a:buFont typeface="Arial" panose="020B0604020202020204" pitchFamily="34" charset="0"/>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follow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induct, Lease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tịch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07/06/2025.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199876">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Thực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KH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08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04 slots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Caledonian do TAT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ngắn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vì</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GEEVES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Loan)</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LLP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hủy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visit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thư</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support.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EVP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lãnh</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đạo</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mn-lt"/>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IATA.</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234389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Động c</a:t>
                      </a:r>
                      <a:r>
                        <a:rPr lang="vi-VN" sz="1300" kern="1200">
                          <a:solidFill>
                            <a:schemeClr val="tx1"/>
                          </a:solidFill>
                          <a:effectLst/>
                          <a:latin typeface="Times New Roman" panose="02020603050405020304" pitchFamily="18" charset="0"/>
                          <a:ea typeface="+mn-ea"/>
                          <a:cs typeface="Times New Roman" panose="02020603050405020304" pitchFamily="18" charset="0"/>
                        </a:rPr>
                        <a:t>ơ</a:t>
                      </a:r>
                      <a:r>
                        <a:rPr lang="en-US" sz="1300" kern="1200">
                          <a:solidFill>
                            <a:schemeClr val="tx1"/>
                          </a:solidFill>
                          <a:effectLst/>
                          <a:latin typeface="Times New Roman" panose="02020603050405020304" pitchFamily="18" charset="0"/>
                          <a:ea typeface="+mn-ea"/>
                          <a:cs typeface="Times New Roman" panose="02020603050405020304" pitchFamily="18" charset="0"/>
                        </a:rPr>
                        <a:t> TrentXWB-84</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kern="1200">
                          <a:solidFill>
                            <a:schemeClr val="tx1"/>
                          </a:solidFill>
                          <a:effectLst/>
                          <a:latin typeface="Times New Roman" panose="02020603050405020304" pitchFamily="18" charset="0"/>
                          <a:ea typeface="+mn-ea"/>
                          <a:cs typeface="Times New Roman" panose="02020603050405020304" pitchFamily="18" charset="0"/>
                        </a:rPr>
                        <a:t>Các nội dung cần làm việc với RR</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104M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bù</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theo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đồng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TCA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sở</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định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gửi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tin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PC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cứu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điều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khoản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1"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1"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tập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trung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dung claim: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SV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16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chỉ</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 do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slot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2026;</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đ</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ợc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nhiên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tốc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càng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chậm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đẩy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Q3-Q4.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Không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N3: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shop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(standard 200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HAESL)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ờng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xuyên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delay 30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Updater 18/5: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14/5 SVP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của</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CEO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nghị</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số</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dừng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bằng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02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có</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thêm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buổi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VP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tính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toán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lại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dài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nhằm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án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542925" marR="0" lvl="1"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03/07 VP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EVP VNA,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sẽ</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tiếp</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tục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claim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
        <p:nvSpPr>
          <p:cNvPr id="4" name="Title 2">
            <a:extLst>
              <a:ext uri="{FF2B5EF4-FFF2-40B4-BE49-F238E27FC236}">
                <a16:creationId xmlns:a16="http://schemas.microsoft.com/office/drawing/2014/main" id="{4F4E3F3C-6D60-BAB3-BB99-B4FE045FBB56}"/>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8973847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26</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45891106"/>
              </p:ext>
            </p:extLst>
          </p:nvPr>
        </p:nvGraphicFramePr>
        <p:xfrm>
          <a:off x="156782" y="444125"/>
          <a:ext cx="11878434" cy="639291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524548">
                  <a:extLst>
                    <a:ext uri="{9D8B030D-6E8A-4147-A177-3AD203B41FA5}">
                      <a16:colId xmlns:a16="http://schemas.microsoft.com/office/drawing/2014/main" val="426833219"/>
                    </a:ext>
                  </a:extLst>
                </a:gridCol>
                <a:gridCol w="1748216">
                  <a:extLst>
                    <a:ext uri="{9D8B030D-6E8A-4147-A177-3AD203B41FA5}">
                      <a16:colId xmlns:a16="http://schemas.microsoft.com/office/drawing/2014/main" val="3649942957"/>
                    </a:ext>
                  </a:extLst>
                </a:gridCol>
              </a:tblGrid>
              <a:tr h="41375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53618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4</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E-</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Techlog</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lvl="1" indent="0" defTabSz="457200">
                        <a:buFont typeface="Arial" panose="020B0604020202020204" pitchFamily="34" charset="0"/>
                        <a:buNone/>
                      </a:pPr>
                      <a:r>
                        <a:rPr lang="en-US" sz="1300" dirty="0">
                          <a:solidFill>
                            <a:srgbClr val="FF0000"/>
                          </a:solidFill>
                          <a:latin typeface="Times New Roman" panose="02020603050405020304" pitchFamily="18" charset="0"/>
                          <a:cs typeface="Times New Roman" panose="02020603050405020304" pitchFamily="18" charset="0"/>
                        </a:rPr>
                        <a:t>VAECO </a:t>
                      </a:r>
                      <a:r>
                        <a:rPr lang="en-US" sz="1300" dirty="0" err="1">
                          <a:solidFill>
                            <a:srgbClr val="FF0000"/>
                          </a:solidFill>
                          <a:latin typeface="Times New Roman" panose="02020603050405020304" pitchFamily="18" charset="0"/>
                          <a:cs typeface="Times New Roman" panose="02020603050405020304" pitchFamily="18" charset="0"/>
                        </a:rPr>
                        <a:t>đã</a:t>
                      </a:r>
                      <a:r>
                        <a:rPr lang="en-US" sz="1300" dirty="0">
                          <a:solidFill>
                            <a:srgbClr val="FF0000"/>
                          </a:solidFill>
                          <a:latin typeface="Times New Roman" panose="02020603050405020304" pitchFamily="18" charset="0"/>
                          <a:cs typeface="Times New Roman" panose="02020603050405020304" pitchFamily="18" charset="0"/>
                        </a:rPr>
                        <a:t> </a:t>
                      </a:r>
                      <a:r>
                        <a:rPr lang="en-US" sz="1300" dirty="0" err="1">
                          <a:solidFill>
                            <a:srgbClr val="FF0000"/>
                          </a:solidFill>
                          <a:latin typeface="Times New Roman" panose="02020603050405020304" pitchFamily="18" charset="0"/>
                          <a:cs typeface="Times New Roman" panose="02020603050405020304" pitchFamily="18" charset="0"/>
                        </a:rPr>
                        <a:t>trình</a:t>
                      </a:r>
                      <a:r>
                        <a:rPr lang="en-US" sz="1300" dirty="0">
                          <a:solidFill>
                            <a:srgbClr val="FF0000"/>
                          </a:solidFill>
                          <a:latin typeface="Times New Roman" panose="02020603050405020304" pitchFamily="18" charset="0"/>
                          <a:cs typeface="Times New Roman" panose="02020603050405020304" pitchFamily="18" charset="0"/>
                        </a:rPr>
                        <a:t> HĐTV </a:t>
                      </a:r>
                      <a:r>
                        <a:rPr lang="en-US" sz="1300" dirty="0" err="1">
                          <a:solidFill>
                            <a:srgbClr val="FF0000"/>
                          </a:solidFill>
                          <a:latin typeface="Times New Roman" panose="02020603050405020304" pitchFamily="18" charset="0"/>
                          <a:cs typeface="Times New Roman" panose="02020603050405020304" pitchFamily="18" charset="0"/>
                        </a:rPr>
                        <a:t>bản</a:t>
                      </a:r>
                      <a:r>
                        <a:rPr lang="en-US" sz="1300" dirty="0">
                          <a:solidFill>
                            <a:srgbClr val="FF0000"/>
                          </a:solidFill>
                          <a:latin typeface="Times New Roman" panose="02020603050405020304" pitchFamily="18" charset="0"/>
                          <a:cs typeface="Times New Roman" panose="02020603050405020304" pitchFamily="18" charset="0"/>
                        </a:rPr>
                        <a:t> </a:t>
                      </a:r>
                      <a:r>
                        <a:rPr lang="en-US" sz="1300" dirty="0" err="1">
                          <a:solidFill>
                            <a:srgbClr val="FF0000"/>
                          </a:solidFill>
                          <a:latin typeface="Times New Roman" panose="02020603050405020304" pitchFamily="18" charset="0"/>
                          <a:cs typeface="Times New Roman" panose="02020603050405020304" pitchFamily="18" charset="0"/>
                        </a:rPr>
                        <a:t>sửa</a:t>
                      </a:r>
                      <a:r>
                        <a:rPr lang="en-US" sz="1300" dirty="0">
                          <a:solidFill>
                            <a:srgbClr val="FF0000"/>
                          </a:solidFill>
                          <a:latin typeface="Times New Roman" panose="02020603050405020304" pitchFamily="18" charset="0"/>
                          <a:cs typeface="Times New Roman" panose="02020603050405020304" pitchFamily="18" charset="0"/>
                        </a:rPr>
                        <a:t> </a:t>
                      </a:r>
                      <a:r>
                        <a:rPr lang="en-US" sz="1300" dirty="0" err="1">
                          <a:solidFill>
                            <a:srgbClr val="FF0000"/>
                          </a:solidFill>
                          <a:latin typeface="Times New Roman" panose="02020603050405020304" pitchFamily="18" charset="0"/>
                          <a:cs typeface="Times New Roman" panose="02020603050405020304" pitchFamily="18" charset="0"/>
                        </a:rPr>
                        <a:t>đổi</a:t>
                      </a:r>
                      <a:r>
                        <a:rPr lang="en-US" sz="1300" dirty="0">
                          <a:solidFill>
                            <a:srgbClr val="FF0000"/>
                          </a:solidFill>
                          <a:latin typeface="Times New Roman" panose="02020603050405020304" pitchFamily="18" charset="0"/>
                          <a:cs typeface="Times New Roman" panose="02020603050405020304" pitchFamily="18" charset="0"/>
                        </a:rPr>
                        <a:t> HĐ. </a:t>
                      </a:r>
                      <a:endPar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Sau</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khi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VAECO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sửa</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đổi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HĐ AMOS, VNA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sẽ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ký</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HĐ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eTL</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300" b="0" i="0" u="none" strike="noStrike" dirty="0" err="1">
                          <a:solidFill>
                            <a:schemeClr val="tx1"/>
                          </a:solidFill>
                          <a:effectLst/>
                          <a:latin typeface="Times New Roman" panose="02020603050405020304" pitchFamily="18" charset="0"/>
                          <a:cs typeface="Times New Roman" panose="02020603050405020304" pitchFamily="18" charset="0"/>
                        </a:rPr>
                        <a:t>với</a:t>
                      </a:r>
                      <a:r>
                        <a:rPr lang="en-US" sz="1300" b="0" i="0" u="none" strike="noStrike" dirty="0">
                          <a:solidFill>
                            <a:schemeClr val="tx1"/>
                          </a:solidFill>
                          <a:effectLst/>
                          <a:latin typeface="Times New Roman" panose="02020603050405020304" pitchFamily="18" charset="0"/>
                          <a:cs typeface="Times New Roman" panose="02020603050405020304" pitchFamily="18" charset="0"/>
                        </a:rPr>
                        <a:t> SAS</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53618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5</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WQAR</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defTabSz="457200">
                        <a:buFont typeface="Arial" panose="020B0604020202020204" pitchFamily="34" charset="0"/>
                        <a:buNone/>
                      </a:pP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Đang</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chờ</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Ban PC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thẩm</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định</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KHLCNCC,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đồng</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thời</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làm</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việc</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với</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Airbus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cập</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nhật</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PN WQAR 3G/4G </a:t>
                      </a:r>
                      <a:r>
                        <a:rPr lang="en-US" sz="1300" dirty="0" err="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vào</a:t>
                      </a:r>
                      <a:r>
                        <a:rPr lang="en-US" sz="1300"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IPC</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Airbus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đối</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tác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cung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thiết</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dịch</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vụ</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WQAR</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466469">
                <a:tc>
                  <a:txBody>
                    <a:bodyPr/>
                    <a:lstStyle/>
                    <a:p>
                      <a:pPr algn="ctr" fontAlgn="b"/>
                      <a:r>
                        <a:rPr lang="en-US" sz="1400" b="0" i="0" u="none" strike="noStrike" dirty="0">
                          <a:solidFill>
                            <a:schemeClr val="tx1"/>
                          </a:solidFill>
                          <a:effectLst/>
                          <a:latin typeface="Times New Roman" panose="02020603050405020304" pitchFamily="18" charset="0"/>
                          <a:cs typeface="Times New Roman" panose="02020603050405020304" pitchFamily="18" charset="0"/>
                        </a:rPr>
                        <a:t>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dirty="0">
                          <a:solidFill>
                            <a:schemeClr val="tx1"/>
                          </a:solidFill>
                          <a:latin typeface="Times New Roman" panose="02020603050405020304" pitchFamily="18" charset="0"/>
                          <a:cs typeface="Times New Roman" panose="02020603050405020304" pitchFamily="18" charset="0"/>
                        </a:rPr>
                        <a:t>IFC 10 </a:t>
                      </a:r>
                      <a:r>
                        <a:rPr lang="en-US" sz="1400" b="0" dirty="0" err="1">
                          <a:solidFill>
                            <a:schemeClr val="tx1"/>
                          </a:solidFill>
                          <a:latin typeface="Times New Roman" panose="02020603050405020304" pitchFamily="18" charset="0"/>
                          <a:cs typeface="Times New Roman" panose="02020603050405020304" pitchFamily="18" charset="0"/>
                        </a:rPr>
                        <a:t>tàu</a:t>
                      </a:r>
                      <a:r>
                        <a:rPr lang="en-US" sz="1400" b="0" dirty="0">
                          <a:solidFill>
                            <a:schemeClr val="tx1"/>
                          </a:solidFill>
                          <a:latin typeface="Times New Roman" panose="02020603050405020304" pitchFamily="18" charset="0"/>
                          <a:cs typeface="Times New Roman" panose="02020603050405020304" pitchFamily="18" charset="0"/>
                        </a:rPr>
                        <a:t> A350</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đã</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HW (on-wing/off-wing): A891, A899, A893 </a:t>
                      </a:r>
                      <a:r>
                        <a:rPr lang="en-US" sz="1400" dirty="0" err="1">
                          <a:solidFill>
                            <a:schemeClr val="tx1"/>
                          </a:solidFill>
                          <a:latin typeface="Times New Roman" panose="02020603050405020304" pitchFamily="18" charset="0"/>
                          <a:cs typeface="Times New Roman" panose="02020603050405020304" pitchFamily="18" charset="0"/>
                        </a:rPr>
                        <a:t>và</a:t>
                      </a:r>
                      <a:r>
                        <a:rPr lang="en-US" sz="1400" dirty="0">
                          <a:solidFill>
                            <a:schemeClr val="tx1"/>
                          </a:solidFill>
                          <a:latin typeface="Times New Roman" panose="02020603050405020304" pitchFamily="18" charset="0"/>
                          <a:cs typeface="Times New Roman" panose="02020603050405020304" pitchFamily="18" charset="0"/>
                        </a:rPr>
                        <a:t> A896</a:t>
                      </a:r>
                    </a:p>
                    <a:p>
                      <a:pPr marL="176213" lvl="1" indent="-176213">
                        <a:lnSpc>
                          <a:spcPct val="130000"/>
                        </a:lnSpc>
                        <a:buFontTx/>
                        <a:buChar char="-"/>
                      </a:pPr>
                      <a:r>
                        <a:rPr lang="en-US" sz="1400" dirty="0">
                          <a:solidFill>
                            <a:schemeClr val="tx1"/>
                          </a:solidFill>
                          <a:latin typeface="Times New Roman" panose="02020603050405020304" pitchFamily="18" charset="0"/>
                          <a:cs typeface="Times New Roman" panose="02020603050405020304" pitchFamily="18" charset="0"/>
                        </a:rPr>
                        <a:t>KH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 SW activation 04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hoàn</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thành</a:t>
                      </a:r>
                      <a:r>
                        <a:rPr lang="en-US" sz="1400" b="1" dirty="0">
                          <a:solidFill>
                            <a:srgbClr val="FF0000"/>
                          </a:solidFill>
                          <a:latin typeface="Times New Roman" panose="02020603050405020304" pitchFamily="18" charset="0"/>
                          <a:cs typeface="Times New Roman" panose="02020603050405020304" pitchFamily="18" charset="0"/>
                        </a:rPr>
                        <a:t> A893, A899, A891, A896. </a:t>
                      </a:r>
                    </a:p>
                    <a:p>
                      <a:pPr marL="176213" lvl="1" indent="-176213">
                        <a:lnSpc>
                          <a:spcPct val="130000"/>
                        </a:lnSpc>
                        <a:buFontTx/>
                        <a:buChar char="-"/>
                      </a:pPr>
                      <a:r>
                        <a:rPr lang="en-US" sz="1400" b="1" dirty="0">
                          <a:solidFill>
                            <a:schemeClr val="tx1"/>
                          </a:solidFill>
                          <a:latin typeface="Times New Roman" panose="02020603050405020304" pitchFamily="18" charset="0"/>
                          <a:cs typeface="Times New Roman" panose="02020603050405020304" pitchFamily="18" charset="0"/>
                        </a:rPr>
                        <a:t>Test dich </a:t>
                      </a:r>
                      <a:r>
                        <a:rPr lang="en-US" sz="1400" b="1" dirty="0" err="1">
                          <a:solidFill>
                            <a:schemeClr val="tx1"/>
                          </a:solidFill>
                          <a:latin typeface="Times New Roman" panose="02020603050405020304" pitchFamily="18" charset="0"/>
                          <a:cs typeface="Times New Roman" panose="02020603050405020304" pitchFamily="18" charset="0"/>
                        </a:rPr>
                        <a:t>vụ</a:t>
                      </a:r>
                      <a:r>
                        <a:rPr lang="en-US" sz="1400" b="1" dirty="0">
                          <a:solidFill>
                            <a:schemeClr val="tx1"/>
                          </a:solidFill>
                          <a:latin typeface="Times New Roman" panose="02020603050405020304" pitchFamily="18" charset="0"/>
                          <a:cs typeface="Times New Roman" panose="02020603050405020304" pitchFamily="18" charset="0"/>
                        </a:rPr>
                        <a:t> IFC:</a:t>
                      </a:r>
                    </a:p>
                    <a:p>
                      <a:pPr marL="0" lvl="1" indent="0">
                        <a:lnSpc>
                          <a:spcPct val="130000"/>
                        </a:lnSpc>
                        <a:buFontTx/>
                        <a:buNone/>
                      </a:pPr>
                      <a:r>
                        <a:rPr lang="en-US" sz="1400" b="1" dirty="0">
                          <a:solidFill>
                            <a:schemeClr val="tx1"/>
                          </a:solidFill>
                          <a:latin typeface="Times New Roman" panose="02020603050405020304" pitchFamily="18" charset="0"/>
                          <a:cs typeface="Times New Roman" panose="02020603050405020304" pitchFamily="18" charset="0"/>
                        </a:rPr>
                        <a:t> =&gt; Test </a:t>
                      </a:r>
                      <a:r>
                        <a:rPr lang="en-US" sz="1400" b="1" dirty="0" err="1">
                          <a:solidFill>
                            <a:schemeClr val="tx1"/>
                          </a:solidFill>
                          <a:latin typeface="Times New Roman" panose="02020603050405020304" pitchFamily="18" charset="0"/>
                          <a:cs typeface="Times New Roman" panose="02020603050405020304" pitchFamily="18" charset="0"/>
                        </a:rPr>
                        <a:t>dịch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vụ</a:t>
                      </a:r>
                      <a:r>
                        <a:rPr lang="en-US" sz="1400" b="1" dirty="0">
                          <a:solidFill>
                            <a:schemeClr val="tx1"/>
                          </a:solidFill>
                          <a:latin typeface="Times New Roman" panose="02020603050405020304" pitchFamily="18" charset="0"/>
                          <a:cs typeface="Times New Roman" panose="02020603050405020304" pitchFamily="18" charset="0"/>
                        </a:rPr>
                        <a:t> A899 failed </a:t>
                      </a:r>
                      <a:r>
                        <a:rPr lang="en-US" sz="1400" b="1" dirty="0" err="1">
                          <a:solidFill>
                            <a:schemeClr val="tx1"/>
                          </a:solidFill>
                          <a:latin typeface="Times New Roman" panose="02020603050405020304" pitchFamily="18" charset="0"/>
                          <a:cs typeface="Times New Roman" panose="02020603050405020304" pitchFamily="18" charset="0"/>
                        </a:rPr>
                        <a:t>lần</a:t>
                      </a:r>
                      <a:r>
                        <a:rPr lang="en-US" sz="1400" b="1" dirty="0">
                          <a:solidFill>
                            <a:schemeClr val="tx1"/>
                          </a:solidFill>
                          <a:latin typeface="Times New Roman" panose="02020603050405020304" pitchFamily="18" charset="0"/>
                          <a:cs typeface="Times New Roman" panose="02020603050405020304" pitchFamily="18" charset="0"/>
                        </a:rPr>
                        <a:t> 2. Thales &amp; HON </a:t>
                      </a:r>
                      <a:r>
                        <a:rPr lang="en-US" sz="1400" b="1" dirty="0" err="1">
                          <a:solidFill>
                            <a:schemeClr val="tx1"/>
                          </a:solidFill>
                          <a:latin typeface="Times New Roman" panose="02020603050405020304" pitchFamily="18" charset="0"/>
                          <a:cs typeface="Times New Roman" panose="02020603050405020304" pitchFamily="18" charset="0"/>
                        </a:rPr>
                        <a:t>đang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phần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tich</a:t>
                      </a:r>
                      <a:r>
                        <a:rPr lang="en-US" sz="1400" b="1" dirty="0">
                          <a:solidFill>
                            <a:schemeClr val="tx1"/>
                          </a:solidFill>
                          <a:latin typeface="Times New Roman" panose="02020603050405020304" pitchFamily="18" charset="0"/>
                          <a:cs typeface="Times New Roman" panose="02020603050405020304" pitchFamily="18" charset="0"/>
                        </a:rPr>
                        <a:t> log </a:t>
                      </a:r>
                      <a:r>
                        <a:rPr lang="en-US" sz="1400" b="1" dirty="0" err="1">
                          <a:solidFill>
                            <a:schemeClr val="tx1"/>
                          </a:solidFill>
                          <a:latin typeface="Times New Roman" panose="02020603050405020304" pitchFamily="18" charset="0"/>
                          <a:cs typeface="Times New Roman" panose="02020603050405020304" pitchFamily="18" charset="0"/>
                        </a:rPr>
                        <a:t>xác</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đinh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nguyên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nhân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có</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thê</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hỏng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modman</a:t>
                      </a:r>
                      <a:r>
                        <a:rPr lang="en-US" sz="1400" b="1" dirty="0">
                          <a:solidFill>
                            <a:schemeClr val="tx1"/>
                          </a:solidFill>
                          <a:latin typeface="Times New Roman" panose="02020603050405020304" pitchFamily="18" charset="0"/>
                          <a:cs typeface="Times New Roman" panose="02020603050405020304" pitchFamily="18" charset="0"/>
                        </a:rPr>
                        <a:t>/ cable) </a:t>
                      </a:r>
                      <a:br>
                        <a:rPr lang="en-US" sz="1400" b="1" dirty="0">
                          <a:solidFill>
                            <a:schemeClr val="tx1"/>
                          </a:solidFill>
                          <a:latin typeface="Times New Roman" panose="02020603050405020304" pitchFamily="18" charset="0"/>
                          <a:cs typeface="Times New Roman" panose="02020603050405020304" pitchFamily="18" charset="0"/>
                        </a:rPr>
                      </a:br>
                      <a:r>
                        <a:rPr lang="en-US" sz="1400" b="1" dirty="0">
                          <a:solidFill>
                            <a:schemeClr val="tx1"/>
                          </a:solidFill>
                          <a:latin typeface="Times New Roman" panose="02020603050405020304" pitchFamily="18" charset="0"/>
                          <a:cs typeface="Times New Roman" panose="02020603050405020304" pitchFamily="18" charset="0"/>
                        </a:rPr>
                        <a:t>=&gt; Test </a:t>
                      </a:r>
                      <a:r>
                        <a:rPr lang="en-US" sz="1400" b="1" dirty="0" err="1">
                          <a:solidFill>
                            <a:schemeClr val="tx1"/>
                          </a:solidFill>
                          <a:latin typeface="Times New Roman" panose="02020603050405020304" pitchFamily="18" charset="0"/>
                          <a:cs typeface="Times New Roman" panose="02020603050405020304" pitchFamily="18" charset="0"/>
                        </a:rPr>
                        <a:t>dịch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vụ</a:t>
                      </a:r>
                      <a:r>
                        <a:rPr lang="en-US" sz="1400" b="1" dirty="0">
                          <a:solidFill>
                            <a:schemeClr val="tx1"/>
                          </a:solidFill>
                          <a:latin typeface="Times New Roman" panose="02020603050405020304" pitchFamily="18" charset="0"/>
                          <a:cs typeface="Times New Roman" panose="02020603050405020304" pitchFamily="18" charset="0"/>
                        </a:rPr>
                        <a:t> A893 passed.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sẵn</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sàng</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kịch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hoạt</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dịch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vụ</a:t>
                      </a:r>
                      <a:endParaRPr lang="en-US" sz="1400" b="1" dirty="0">
                        <a:solidFill>
                          <a:schemeClr val="tx1"/>
                        </a:solidFill>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2729005">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7</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IFC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a:t>
                      </a:r>
                      <a:r>
                        <a:rPr lang="en-US" sz="14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4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 </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1.6trUSD/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Intelsat: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đang</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đánh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giá</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24-36MO;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1.5-1.8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trUSD</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chưa</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có</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lộ</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phê</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chuẩn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 TBD);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1.4trUSD/</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lvl="1" indent="0">
                        <a:lnSpc>
                          <a:spcPct val="130000"/>
                        </a:lnSpc>
                        <a:buFontTx/>
                        <a:buNone/>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Chờ</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bản</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chào</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Boeing (T8/2025)</a:t>
                      </a:r>
                    </a:p>
                    <a:p>
                      <a:pPr marL="0" lvl="1" indent="0">
                        <a:lnSpc>
                          <a:spcPct val="130000"/>
                        </a:lnSpc>
                        <a:buFontTx/>
                        <a:buNone/>
                      </a:pP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2.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Giải</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pháp</a:t>
                      </a:r>
                      <a:r>
                        <a:rPr kumimoji="0" lang="en-US" sz="1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15MO;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STC: 350K/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(Starlink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yêu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cầu</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ký</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A321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B787)</a:t>
                      </a: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Panasonic/Intelsat: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500K/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Viasat</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HW&amp; SB: 400K/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lvl="1" indent="-342900">
                        <a:lnSpc>
                          <a:spcPct val="130000"/>
                        </a:lnSpc>
                        <a:buFontTx/>
                        <a:buAutoNum type="alphaLcPeriod"/>
                      </a:pP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Safran: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leadtime</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12 MO; chi </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phí</a:t>
                      </a:r>
                      <a:r>
                        <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HW &amp; SB: 830K/</a:t>
                      </a:r>
                      <a:r>
                        <a:rPr kumimoji="0" lang="en-US" sz="1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endParaRPr kumimoji="0" lang="en-US"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4038974"/>
                  </a:ext>
                </a:extLst>
              </a:tr>
            </a:tbl>
          </a:graphicData>
        </a:graphic>
      </p:graphicFrame>
    </p:spTree>
    <p:extLst>
      <p:ext uri="{BB962C8B-B14F-4D97-AF65-F5344CB8AC3E}">
        <p14:creationId xmlns:p14="http://schemas.microsoft.com/office/powerpoint/2010/main" val="165110328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27</a:t>
            </a:fld>
            <a:endParaRPr>
              <a:latin typeface="Times New Roman" panose="02020603050405020304" pitchFamily="18" charset="0"/>
              <a:cs typeface="Times New Roman" panose="02020603050405020304" pitchFamily="18" charset="0"/>
            </a:endParaRP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extLst>
              <p:ext uri="{D42A27DB-BD31-4B8C-83A1-F6EECF244321}">
                <p14:modId xmlns:p14="http://schemas.microsoft.com/office/powerpoint/2010/main" val="3106775730"/>
              </p:ext>
            </p:extLst>
          </p:nvPr>
        </p:nvGraphicFramePr>
        <p:xfrm>
          <a:off x="228600" y="656502"/>
          <a:ext cx="11612515" cy="4922391"/>
        </p:xfrm>
        <a:graphic>
          <a:graphicData uri="http://schemas.openxmlformats.org/drawingml/2006/table">
            <a:tbl>
              <a:tblPr>
                <a:tableStyleId>{5C22544A-7EE6-4342-B048-85BDC9FD1C3A}</a:tableStyleId>
              </a:tblPr>
              <a:tblGrid>
                <a:gridCol w="413264">
                  <a:extLst>
                    <a:ext uri="{9D8B030D-6E8A-4147-A177-3AD203B41FA5}">
                      <a16:colId xmlns:a16="http://schemas.microsoft.com/office/drawing/2014/main" val="2758273930"/>
                    </a:ext>
                  </a:extLst>
                </a:gridCol>
                <a:gridCol w="1720336">
                  <a:extLst>
                    <a:ext uri="{9D8B030D-6E8A-4147-A177-3AD203B41FA5}">
                      <a16:colId xmlns:a16="http://schemas.microsoft.com/office/drawing/2014/main" val="221963637"/>
                    </a:ext>
                  </a:extLst>
                </a:gridCol>
                <a:gridCol w="8458200">
                  <a:extLst>
                    <a:ext uri="{9D8B030D-6E8A-4147-A177-3AD203B41FA5}">
                      <a16:colId xmlns:a16="http://schemas.microsoft.com/office/drawing/2014/main" val="426833219"/>
                    </a:ext>
                  </a:extLst>
                </a:gridCol>
                <a:gridCol w="1020715">
                  <a:extLst>
                    <a:ext uri="{9D8B030D-6E8A-4147-A177-3AD203B41FA5}">
                      <a16:colId xmlns:a16="http://schemas.microsoft.com/office/drawing/2014/main" val="3649942957"/>
                    </a:ext>
                  </a:extLst>
                </a:gridCol>
              </a:tblGrid>
              <a:tr h="386208">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818864">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8</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solidFill>
                            <a:schemeClr val="tx1"/>
                          </a:solidFill>
                          <a:latin typeface="Times New Roman" panose="02020603050405020304" pitchFamily="18" charset="0"/>
                          <a:cs typeface="Times New Roman" panose="02020603050405020304" pitchFamily="18" charset="0"/>
                        </a:rPr>
                        <a:t>CĐCH </a:t>
                      </a:r>
                      <a:r>
                        <a:rPr lang="en-US" sz="1300" b="0" dirty="0" err="1">
                          <a:solidFill>
                            <a:schemeClr val="tx1"/>
                          </a:solidFill>
                          <a:latin typeface="Times New Roman" panose="02020603050405020304" pitchFamily="18" charset="0"/>
                          <a:cs typeface="Times New Roman" panose="02020603050405020304" pitchFamily="18" charset="0"/>
                        </a:rPr>
                        <a:t>ghế</a:t>
                      </a:r>
                      <a:r>
                        <a:rPr lang="en-US" sz="1300" b="0" dirty="0">
                          <a:solidFill>
                            <a:schemeClr val="tx1"/>
                          </a:solidFill>
                          <a:latin typeface="Times New Roman" panose="02020603050405020304" pitchFamily="18" charset="0"/>
                          <a:cs typeface="Times New Roman" panose="02020603050405020304" pitchFamily="18" charset="0"/>
                        </a:rPr>
                        <a:t> 23 </a:t>
                      </a:r>
                      <a:r>
                        <a:rPr lang="en-US" sz="1300" b="0" dirty="0" err="1">
                          <a:solidFill>
                            <a:schemeClr val="tx1"/>
                          </a:solidFill>
                          <a:latin typeface="Times New Roman" panose="02020603050405020304" pitchFamily="18" charset="0"/>
                          <a:cs typeface="Times New Roman" panose="02020603050405020304" pitchFamily="18" charset="0"/>
                        </a:rPr>
                        <a:t>tàu</a:t>
                      </a:r>
                      <a:r>
                        <a:rPr lang="en-US" sz="1300" b="0" dirty="0">
                          <a:solidFill>
                            <a:schemeClr val="tx1"/>
                          </a:solidFill>
                          <a:latin typeface="Times New Roman" panose="02020603050405020304" pitchFamily="18" charset="0"/>
                          <a:cs typeface="Times New Roman" panose="02020603050405020304" pitchFamily="18" charset="0"/>
                        </a:rPr>
                        <a:t> A321CEO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6213" lvl="1" indent="-176213">
                        <a:lnSpc>
                          <a:spcPct val="130000"/>
                        </a:lnSpc>
                        <a:buFontTx/>
                        <a:buChar char="-"/>
                      </a:pPr>
                      <a:r>
                        <a:rPr lang="en-US" sz="1200" smtClean="0">
                          <a:solidFill>
                            <a:schemeClr val="tx1"/>
                          </a:solidFill>
                          <a:latin typeface="Times New Roman" panose="02020603050405020304" pitchFamily="18" charset="0"/>
                          <a:cs typeface="Times New Roman" panose="02020603050405020304" pitchFamily="18" charset="0"/>
                        </a:rPr>
                        <a:t>HĐQT đã thông quả kết quả LC NCC ghế và SB</a:t>
                      </a:r>
                    </a:p>
                    <a:p>
                      <a:pPr marL="176213" lvl="1" indent="-176213">
                        <a:lnSpc>
                          <a:spcPct val="130000"/>
                        </a:lnSpc>
                        <a:buFontTx/>
                        <a:buChar char="-"/>
                      </a:pPr>
                      <a:r>
                        <a:rPr lang="en-US" sz="1200" smtClean="0">
                          <a:solidFill>
                            <a:schemeClr val="tx1"/>
                          </a:solidFill>
                          <a:latin typeface="Times New Roman" panose="02020603050405020304" pitchFamily="18" charset="0"/>
                          <a:cs typeface="Times New Roman" panose="02020603050405020304" pitchFamily="18" charset="0"/>
                        </a:rPr>
                        <a:t>Họp ICMT mùng 2-3 tháng 7</a:t>
                      </a:r>
                    </a:p>
                    <a:p>
                      <a:pPr marL="176213" lvl="1" indent="-176213">
                        <a:lnSpc>
                          <a:spcPct val="130000"/>
                        </a:lnSpc>
                        <a:buFontTx/>
                        <a:buChar char="-"/>
                      </a:pPr>
                      <a:r>
                        <a:rPr lang="en-US" sz="1200" smtClean="0">
                          <a:solidFill>
                            <a:schemeClr val="tx1"/>
                          </a:solidFill>
                          <a:latin typeface="Times New Roman" panose="02020603050405020304" pitchFamily="18" charset="0"/>
                          <a:cs typeface="Times New Roman" panose="02020603050405020304" pitchFamily="18" charset="0"/>
                        </a:rPr>
                        <a:t>Tổ tiếp tục thủ tục triển khai các gói còn lại: vải áo ghế, vận chuyển, thiết bị khẩn nguy.</a:t>
                      </a:r>
                    </a:p>
                    <a:p>
                      <a:pPr marL="176213" lvl="1" indent="-176213">
                        <a:lnSpc>
                          <a:spcPct val="130000"/>
                        </a:lnSpc>
                        <a:buFontTx/>
                        <a:buChar char="-"/>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KH triển khai dự kiến từ T12/2025 – Q1/2026</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r h="818864">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9</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ghế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nSpc>
                          <a:spcPct val="130000"/>
                        </a:lnSpc>
                        <a:buFontTx/>
                        <a:buNone/>
                      </a:pPr>
                      <a:r>
                        <a:rPr kumimoji="0" lang="en-US" sz="12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Giải pháp: </a:t>
                      </a:r>
                    </a:p>
                    <a:p>
                      <a:pPr marL="342900" lvl="1" indent="-342900">
                        <a:lnSpc>
                          <a:spcPct val="130000"/>
                        </a:lnSpc>
                        <a:buFontTx/>
                        <a:buAutoNum type="alphaLcPeriod"/>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Local mod:  tự nghiên cứu và phê chuẩn mod thực hiện</a:t>
                      </a:r>
                    </a:p>
                    <a:p>
                      <a:pPr marL="0" lvl="1" indent="0">
                        <a:lnSpc>
                          <a:spcPct val="130000"/>
                        </a:lnSpc>
                        <a:buFontTx/>
                        <a:buNone/>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và VAECO đã thực hiện khảo sát và tháo các chi tiết ghế để đánh giá khả năng thực hiện local mod.</a:t>
                      </a:r>
                    </a:p>
                    <a:p>
                      <a:pPr marL="0" lvl="1" indent="0">
                        <a:lnSpc>
                          <a:spcPct val="130000"/>
                        </a:lnSpc>
                        <a:buFontTx/>
                        <a:buNone/>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=&gt; VAECO đánh giá không thể thực hiện</a:t>
                      </a:r>
                    </a:p>
                    <a:p>
                      <a:pPr marL="342900" lvl="1" indent="-342900">
                        <a:lnSpc>
                          <a:spcPct val="130000"/>
                        </a:lnSpc>
                        <a:buFontTx/>
                        <a:buAutoNum type="alphaLcPeriod"/>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Mua Mod và phê chuẩn EASA</a:t>
                      </a:r>
                    </a:p>
                    <a:p>
                      <a:pPr marL="0" lvl="1" indent="0">
                        <a:lnSpc>
                          <a:spcPct val="130000"/>
                        </a:lnSpc>
                        <a:buFontTx/>
                        <a:buNone/>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đã  làm việc với một số đôi tác trong đó có OEM Safran. Hiện có DOA regent đồng ý nghiên cứu và chào phương án sửa đổi ghế C để lắp vách ngăn ghế C</a:t>
                      </a:r>
                    </a:p>
                    <a:p>
                      <a:pPr marL="0" lvl="1" indent="0">
                        <a:lnSpc>
                          <a:spcPct val="130000"/>
                        </a:lnSpc>
                        <a:buFontTx/>
                        <a:buNone/>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      - VNA đã cung cấp tài liệu, ảnh chụp, video và thông tin cấu trúc ghế cho Regent </a:t>
                      </a:r>
                      <a:r>
                        <a:rPr kumimoji="0" lang="en-US" sz="12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Regent đã cung cấp thiết kế. KT đang hỏi ý kiến DVHK về design vách ngăn trước khi triển khai mua giải pháp</a:t>
                      </a:r>
                      <a:endPar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8133713"/>
                  </a:ext>
                </a:extLst>
              </a:tr>
              <a:tr h="818864">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10</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Lắp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rèm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khoang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lvl="1" indent="-342900">
                        <a:lnSpc>
                          <a:spcPct val="130000"/>
                        </a:lnSpc>
                        <a:buFontTx/>
                        <a:buAutoNum type="alphaLcPeriod"/>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phê chuẩn local mode cho 20 tàu A321 (thiết kế dựa trên mẫu của Boeing/Airbus)</a:t>
                      </a:r>
                    </a:p>
                    <a:p>
                      <a:pPr marL="342900" lvl="1" indent="-342900">
                        <a:lnSpc>
                          <a:spcPct val="130000"/>
                        </a:lnSpc>
                        <a:buFontTx/>
                        <a:buAutoNum type="alphaLcPeriod"/>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Đã mua vật tư đủ cho 20 tàu bay và đang triển khai lắp trên tàu bay theo nhu cầu sử dụng từ OCC. Tiến độ thực hiện: 4/20 tàu. Tàu thực hiện làm mod khi vào check</a:t>
                      </a:r>
                    </a:p>
                    <a:p>
                      <a:pPr marL="0" lvl="1" indent="0">
                        <a:lnSpc>
                          <a:spcPct val="130000"/>
                        </a:lnSpc>
                        <a:buFontTx/>
                        <a:buNone/>
                      </a:pPr>
                      <a: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DVHK có ý kiến việc lắp rèm ảnh hưởng tới thẩm mỹ và di chuyển của hành khách. Đã tổ chức họp các đơn vị đánh giá nhu cầu, giải pháp</a:t>
                      </a:r>
                      <a:br>
                        <a:rPr kumimoji="0" 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sz="1200" b="1" i="0" u="none" strike="noStrike" kern="1200" cap="none" spc="0" normalizeH="0" baseline="0" noProof="0" smtClean="0">
                          <a:ln>
                            <a:noFill/>
                          </a:ln>
                          <a:solidFill>
                            <a:prstClr val="black"/>
                          </a:solidFill>
                          <a:effectLst/>
                          <a:uLnTx/>
                          <a:uFillTx/>
                          <a:latin typeface="Times New Roman" panose="02020603050405020304" pitchFamily="18" charset="0"/>
                          <a:ea typeface="+mn-ea"/>
                          <a:cs typeface="Times New Roman" panose="02020603050405020304" pitchFamily="18" charset="0"/>
                        </a:rPr>
                        <a:t>=&gt; Triển khai cải tiến (thu ngắn, dán placard warning trên khung rèm)</a:t>
                      </a:r>
                      <a:endParaRPr kumimoji="0" lang="en-US" sz="1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0607578"/>
                  </a:ext>
                </a:extLst>
              </a:tr>
            </a:tbl>
          </a:graphicData>
        </a:graphic>
      </p:graphicFrame>
      <p:sp>
        <p:nvSpPr>
          <p:cNvPr id="4" name="Title 2">
            <a:extLst>
              <a:ext uri="{FF2B5EF4-FFF2-40B4-BE49-F238E27FC236}">
                <a16:creationId xmlns:a16="http://schemas.microsoft.com/office/drawing/2014/main" id="{FACEB69C-56AE-B38C-0158-3330884CC48E}"/>
              </a:ext>
            </a:extLst>
          </p:cNvPr>
          <p:cNvSpPr>
            <a:spLocks noGrp="1"/>
          </p:cNvSpPr>
          <p:nvPr>
            <p:ph type="title"/>
          </p:nvPr>
        </p:nvSpPr>
        <p:spPr>
          <a:xfrm>
            <a:off x="156782" y="0"/>
            <a:ext cx="11878435"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spTree>
    <p:extLst>
      <p:ext uri="{BB962C8B-B14F-4D97-AF65-F5344CB8AC3E}">
        <p14:creationId xmlns:p14="http://schemas.microsoft.com/office/powerpoint/2010/main" val="35752032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6" name="Title 2">
            <a:extLst>
              <a:ext uri="{FF2B5EF4-FFF2-40B4-BE49-F238E27FC236}">
                <a16:creationId xmlns:a16="http://schemas.microsoft.com/office/drawing/2014/main" id="{A54B3B80-6D5D-62F3-88B2-C803136634FB}"/>
              </a:ext>
            </a:extLst>
          </p:cNvPr>
          <p:cNvSpPr>
            <a:spLocks noGrp="1"/>
          </p:cNvSpPr>
          <p:nvPr>
            <p:ph type="title"/>
          </p:nvPr>
        </p:nvSpPr>
        <p:spPr>
          <a:xfrm>
            <a:off x="562978" y="334357"/>
            <a:ext cx="11487298" cy="508000"/>
          </a:xfrm>
        </p:spPr>
        <p:txBody>
          <a:bodyPr>
            <a:noAutofit/>
          </a:bodyPr>
          <a:lstStyle/>
          <a:p>
            <a:pPr algn="ctr" eaLnBrk="1" hangingPunct="1"/>
            <a:r>
              <a:rPr lang="en-US" altLang="en-US" sz="2400" dirty="0">
                <a:solidFill>
                  <a:srgbClr val="FFC000"/>
                </a:solidFill>
                <a:latin typeface="Times New Roman" panose="02020603050405020304" pitchFamily="18" charset="0"/>
                <a:cs typeface="Times New Roman" panose="02020603050405020304" pitchFamily="18" charset="0"/>
              </a:rPr>
              <a:t>CÁC CÔNG VIỆC TRỌNG ĐIỂM TRONG TUẦN</a:t>
            </a:r>
          </a:p>
        </p:txBody>
      </p:sp>
      <p:graphicFrame>
        <p:nvGraphicFramePr>
          <p:cNvPr id="2" name="Table 1"/>
          <p:cNvGraphicFramePr>
            <a:graphicFrameLocks noGrp="1"/>
          </p:cNvGraphicFramePr>
          <p:nvPr>
            <p:extLst>
              <p:ext uri="{D42A27DB-BD31-4B8C-83A1-F6EECF244321}">
                <p14:modId xmlns:p14="http://schemas.microsoft.com/office/powerpoint/2010/main" val="4065834169"/>
              </p:ext>
            </p:extLst>
          </p:nvPr>
        </p:nvGraphicFramePr>
        <p:xfrm>
          <a:off x="562978" y="1042734"/>
          <a:ext cx="11487298" cy="4821682"/>
        </p:xfrm>
        <a:graphic>
          <a:graphicData uri="http://schemas.openxmlformats.org/drawingml/2006/table">
            <a:tbl>
              <a:tblPr>
                <a:tableStyleId>{5C22544A-7EE6-4342-B048-85BDC9FD1C3A}</a:tableStyleId>
              </a:tblPr>
              <a:tblGrid>
                <a:gridCol w="408808">
                  <a:extLst>
                    <a:ext uri="{9D8B030D-6E8A-4147-A177-3AD203B41FA5}">
                      <a16:colId xmlns:a16="http://schemas.microsoft.com/office/drawing/2014/main" val="3304650821"/>
                    </a:ext>
                  </a:extLst>
                </a:gridCol>
                <a:gridCol w="1701786">
                  <a:extLst>
                    <a:ext uri="{9D8B030D-6E8A-4147-A177-3AD203B41FA5}">
                      <a16:colId xmlns:a16="http://schemas.microsoft.com/office/drawing/2014/main" val="1220325190"/>
                    </a:ext>
                  </a:extLst>
                </a:gridCol>
                <a:gridCol w="8024007">
                  <a:extLst>
                    <a:ext uri="{9D8B030D-6E8A-4147-A177-3AD203B41FA5}">
                      <a16:colId xmlns:a16="http://schemas.microsoft.com/office/drawing/2014/main" val="3909604654"/>
                    </a:ext>
                  </a:extLst>
                </a:gridCol>
                <a:gridCol w="1352697">
                  <a:extLst>
                    <a:ext uri="{9D8B030D-6E8A-4147-A177-3AD203B41FA5}">
                      <a16:colId xmlns:a16="http://schemas.microsoft.com/office/drawing/2014/main" val="1269662541"/>
                    </a:ext>
                  </a:extLst>
                </a:gridCol>
              </a:tblGrid>
              <a:tr h="239526">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Trạng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thái</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698940">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11</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TÀU THUÊ KHÔ/ƯỚT VỚI K6</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00000"/>
                        </a:lnSpc>
                        <a:spcBef>
                          <a:spcPts val="0"/>
                        </a:spcBef>
                        <a:spcAft>
                          <a:spcPts val="0"/>
                        </a:spcAft>
                        <a:buClrTx/>
                        <a:buSzTx/>
                        <a:buFontTx/>
                        <a:buChar char="-"/>
                        <a:tabLst/>
                        <a:defRPr/>
                      </a:pPr>
                      <a:r>
                        <a:rPr lang="en-US" sz="1300" smtClean="0">
                          <a:latin typeface="Times New Roman" panose="02020603050405020304" pitchFamily="18" charset="0"/>
                          <a:cs typeface="Times New Roman" panose="02020603050405020304" pitchFamily="18" charset="0"/>
                        </a:rPr>
                        <a:t>VNA đang cho K6 thuê khô 01 tàu ATR72 MSN 890 VN-B220, hết hạn thuê vào ngày </a:t>
                      </a:r>
                      <a:r>
                        <a:rPr lang="en-US" sz="1300" b="0" smtClean="0">
                          <a:latin typeface="Times New Roman" panose="02020603050405020304" pitchFamily="18" charset="0"/>
                          <a:cs typeface="Times New Roman" panose="02020603050405020304" pitchFamily="18" charset="0"/>
                        </a:rPr>
                        <a:t>25/06/2025</a:t>
                      </a:r>
                      <a:r>
                        <a:rPr lang="en-US" sz="1300" smtClean="0">
                          <a:latin typeface="Times New Roman" panose="02020603050405020304" pitchFamily="18" charset="0"/>
                          <a:cs typeface="Times New Roman" panose="02020603050405020304" pitchFamily="18" charset="0"/>
                        </a:rPr>
                        <a:t>. TGĐ đã phê duyệt gia hạn thuê đến 30/11/2025. </a:t>
                      </a:r>
                    </a:p>
                    <a:p>
                      <a:pPr marL="285750" marR="0" indent="-285750" algn="just" defTabSz="914400" rtl="0" eaLnBrk="1" fontAlgn="auto" latinLnBrk="0" hangingPunct="1">
                        <a:lnSpc>
                          <a:spcPct val="100000"/>
                        </a:lnSpc>
                        <a:spcBef>
                          <a:spcPts val="0"/>
                        </a:spcBef>
                        <a:spcAft>
                          <a:spcPts val="0"/>
                        </a:spcAft>
                        <a:buClrTx/>
                        <a:buSzTx/>
                        <a:buFontTx/>
                        <a:buChar char="-"/>
                        <a:tabLst/>
                        <a:defRPr/>
                      </a:pPr>
                      <a:r>
                        <a:rPr lang="en-US" sz="1300" smtClean="0">
                          <a:latin typeface="Times New Roman" panose="02020603050405020304" pitchFamily="18" charset="0"/>
                          <a:cs typeface="Times New Roman" panose="02020603050405020304" pitchFamily="18" charset="0"/>
                        </a:rPr>
                        <a:t>VNA cho K6 thuê khô thêm 01 tàu ATR 72 B225 thời gian từ 15/06/2025 đến 25/10/2025  đã hoàn thành bàn giao cho K6 thuê vào 26/06/2025. </a:t>
                      </a:r>
                    </a:p>
                    <a:p>
                      <a:pPr marL="285750" indent="-285750" algn="just">
                        <a:lnSpc>
                          <a:spcPct val="100000"/>
                        </a:lnSpc>
                        <a:buFontTx/>
                        <a:buChar char="-"/>
                        <a:defRPr/>
                      </a:pPr>
                      <a:r>
                        <a:rPr lang="en-US" sz="1300" smtClean="0">
                          <a:latin typeface="Times New Roman" panose="02020603050405020304" pitchFamily="18" charset="0"/>
                          <a:cs typeface="Times New Roman" panose="02020603050405020304" pitchFamily="18" charset="0"/>
                        </a:rPr>
                        <a:t>VNA thuê ướt XU-350(A321) từ K6: </a:t>
                      </a:r>
                      <a:r>
                        <a:rPr lang="vi-VN" sz="1300" smtClean="0">
                          <a:latin typeface="+mn-lt"/>
                          <a:cs typeface="Times New Roman" panose="02020603050405020304" pitchFamily="18" charset="0"/>
                        </a:rPr>
                        <a:t> </a:t>
                      </a:r>
                      <a:r>
                        <a:rPr lang="en-US" sz="1300" smtClean="0">
                          <a:latin typeface="Times New Roman" panose="02020603050405020304" pitchFamily="18" charset="0"/>
                          <a:cs typeface="Times New Roman" panose="02020603050405020304" pitchFamily="18" charset="0"/>
                        </a:rPr>
                        <a:t>Đã bắt đầu khai thác VNA từ 26/06/2025.</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968683"/>
                  </a:ext>
                </a:extLst>
              </a:tr>
              <a:tr h="685800">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12</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03 TÀU A321 CEO CHO PA THUÊ KHÔ A354, A359,</a:t>
                      </a:r>
                      <a:r>
                        <a:rPr lang="en-US" sz="1300" b="0" baseline="0" dirty="0">
                          <a:latin typeface="Times New Roman" panose="02020603050405020304" pitchFamily="18" charset="0"/>
                          <a:cs typeface="Times New Roman" panose="02020603050405020304" pitchFamily="18" charset="0"/>
                        </a:rPr>
                        <a:t> </a:t>
                      </a:r>
                      <a:r>
                        <a:rPr lang="en-US" sz="1300" b="0" dirty="0">
                          <a:latin typeface="Times New Roman" panose="02020603050405020304" pitchFamily="18" charset="0"/>
                          <a:cs typeface="Times New Roman" panose="02020603050405020304" pitchFamily="18" charset="0"/>
                        </a:rPr>
                        <a:t>A363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lvl="0" indent="-285750" algn="just">
                        <a:buFontTx/>
                        <a:buChar char="-"/>
                      </a:pPr>
                      <a:r>
                        <a:rPr lang="en-US" sz="1300" smtClean="0">
                          <a:latin typeface="Times New Roman" panose="02020603050405020304" pitchFamily="18" charset="0"/>
                          <a:cs typeface="Times New Roman" panose="02020603050405020304" pitchFamily="18" charset="0"/>
                        </a:rPr>
                        <a:t>03 tàu bay hết hạn thuê tháng 06,07,10 năm 2025 cần gia hạn duy trì khai thác AOC cho PA. PA và VNA đã đồng ý gia hạn thuê tiếp 03 tàu A354, A359, A363 đến hết 24/06/2026.</a:t>
                      </a:r>
                    </a:p>
                    <a:p>
                      <a:pPr marL="285750" lvl="0" indent="-285750" algn="just">
                        <a:buFontTx/>
                        <a:buChar char="-"/>
                      </a:pPr>
                      <a:r>
                        <a:rPr lang="en-US" sz="1300" smtClean="0">
                          <a:latin typeface="Times New Roman" panose="02020603050405020304" pitchFamily="18" charset="0"/>
                          <a:cs typeface="Times New Roman" panose="02020603050405020304" pitchFamily="18" charset="0"/>
                        </a:rPr>
                        <a:t>Ban KT đã triển khai họp với PA/VAECO thống nhất các nội dung hỗ trợ PA thực hiện C check của các tàu đến hạn tại VAECO theo yêu cầu của HĐ hợp tác dịch vụ khai thác chuyến bay.</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87746"/>
                  </a:ext>
                </a:extLst>
              </a:tr>
              <a:tr h="685800">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13</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50000"/>
                        </a:lnSpc>
                        <a:spcBef>
                          <a:spcPts val="0"/>
                        </a:spcBef>
                        <a:spcAft>
                          <a:spcPts val="0"/>
                        </a:spcAft>
                        <a:buClrTx/>
                        <a:buSzTx/>
                        <a:buFontTx/>
                        <a:buNone/>
                        <a:tabLst/>
                        <a:defRPr/>
                      </a:pPr>
                      <a:r>
                        <a:rPr lang="en-US" sz="1300" b="0" dirty="0">
                          <a:latin typeface="Times New Roman" panose="02020603050405020304" pitchFamily="18" charset="0"/>
                          <a:cs typeface="Times New Roman" panose="02020603050405020304" pitchFamily="18" charset="0"/>
                        </a:rPr>
                        <a:t>GIA HẠN THUÊ 10 TÀU VALC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ct val="150000"/>
                        </a:lnSpc>
                      </a:pPr>
                      <a:r>
                        <a:rPr lang="en-US" sz="1300" smtClean="0">
                          <a:latin typeface="Times New Roman" panose="02020603050405020304" pitchFamily="18" charset="0"/>
                          <a:cs typeface="Times New Roman" panose="02020603050405020304" pitchFamily="18" charset="0"/>
                        </a:rPr>
                        <a:t>- Thủ tục bán tàu của VALC chậm nên VNA và VALC đã đồng ý và ký kết gia hạn hợp đồng thuê tiếp 10 tàu bay A321CEO 3 tháng đến hết 30/06/2025 đang triển khai gia hạn thuê tiếp đến hết tháng 12/2025.</a:t>
                      </a:r>
                    </a:p>
                    <a:p>
                      <a:pPr algn="just">
                        <a:lnSpc>
                          <a:spcPct val="150000"/>
                        </a:lnSpc>
                      </a:pPr>
                      <a:r>
                        <a:rPr lang="en-US" sz="1300" smtClean="0">
                          <a:latin typeface="Times New Roman" panose="02020603050405020304" pitchFamily="18" charset="0"/>
                          <a:cs typeface="Times New Roman" panose="02020603050405020304" pitchFamily="18" charset="0"/>
                        </a:rPr>
                        <a:t>- Hiện tại VNA đang chờ kết quả bán tàu từ VALC, tiếp theo sẽ cần triển khai đàm phán hợp đồng thuê trong tr</a:t>
                      </a:r>
                      <a:r>
                        <a:rPr lang="vi-VN" sz="1300" smtClean="0">
                          <a:latin typeface="+mn-lt"/>
                          <a:cs typeface="Times New Roman" panose="02020603050405020304" pitchFamily="18" charset="0"/>
                        </a:rPr>
                        <a:t>ư</a:t>
                      </a:r>
                      <a:r>
                        <a:rPr lang="en-US" sz="1300" smtClean="0">
                          <a:latin typeface="Times New Roman" panose="02020603050405020304" pitchFamily="18" charset="0"/>
                          <a:cs typeface="Times New Roman" panose="02020603050405020304" pitchFamily="18" charset="0"/>
                        </a:rPr>
                        <a:t>ờng hợp chuyển đổi chủ sở hữu tàu bay. </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baseline="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11416754"/>
                  </a:ext>
                </a:extLst>
              </a:tr>
              <a:tr h="685800">
                <a:tc>
                  <a:txBody>
                    <a:bodyPr/>
                    <a:lstStyle/>
                    <a:p>
                      <a:pPr algn="ctr" fontAlgn="b"/>
                      <a:r>
                        <a:rPr lang="en-US" sz="1300" b="0" i="0" u="none" strike="noStrike" smtClean="0">
                          <a:solidFill>
                            <a:schemeClr val="tx1"/>
                          </a:solidFill>
                          <a:effectLst/>
                          <a:latin typeface="Times New Roman" panose="02020603050405020304" pitchFamily="18" charset="0"/>
                          <a:cs typeface="Times New Roman" panose="02020603050405020304" pitchFamily="18" charset="0"/>
                        </a:rPr>
                        <a:t>14</a:t>
                      </a:r>
                      <a:endParaRPr lang="en-US"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300" b="0" dirty="0">
                          <a:latin typeface="Times New Roman" panose="02020603050405020304" pitchFamily="18" charset="0"/>
                          <a:cs typeface="Times New Roman" panose="02020603050405020304" pitchFamily="18" charset="0"/>
                        </a:rPr>
                        <a:t>DỰ ÁN THUÊ KHÔ 05 TÀU GAT</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smtClean="0">
                          <a:latin typeface="Times New Roman" panose="02020603050405020304" pitchFamily="18" charset="0"/>
                          <a:cs typeface="Times New Roman" panose="02020603050405020304" pitchFamily="18" charset="0"/>
                        </a:rPr>
                        <a:t>GAT offer bản chào mới nhất cho VNA thuê 3 tàu A320 CEO(sản xuất 2015, giá thuê 250k/1month) và 2 tàu A321 CEO (sản xuất 2017, giá thuê 285K/1 month) thuê khô với thời hạn 84 tháng. Giao 03 tàu trong 2025(T11/T12) và 2 tàu trong 2026(T1/T4). Có đóng quỹ LDG/6Y/12Y/APU .</a:t>
                      </a:r>
                    </a:p>
                    <a:p>
                      <a:pPr marL="285750" marR="0" indent="-285750" algn="just" defTabSz="914400" rtl="0" eaLnBrk="1" fontAlgn="auto" latinLnBrk="0" hangingPunct="1">
                        <a:lnSpc>
                          <a:spcPct val="150000"/>
                        </a:lnSpc>
                        <a:spcBef>
                          <a:spcPts val="0"/>
                        </a:spcBef>
                        <a:spcAft>
                          <a:spcPts val="0"/>
                        </a:spcAft>
                        <a:buClrTx/>
                        <a:buSzTx/>
                        <a:buFontTx/>
                        <a:buChar char="-"/>
                        <a:tabLst/>
                        <a:defRPr/>
                      </a:pPr>
                      <a:r>
                        <a:rPr lang="en-US" sz="1300" smtClean="0">
                          <a:latin typeface="Times New Roman" panose="02020603050405020304" pitchFamily="18" charset="0"/>
                          <a:cs typeface="Times New Roman" panose="02020603050405020304" pitchFamily="18" charset="0"/>
                        </a:rPr>
                        <a:t>TFM đang tiếp tục đánh giá specs và nội dung bản chào hợp đồng thuê, sơ bộ cần làm toàn bộ 6Y/12Y/LDG change/Engines SV trong thời gian thuê ngoài ra các điều kiện trả đang chặt hơn điều kiện nhân tàu bay.</a:t>
                      </a:r>
                      <a:endParaRPr lang="en-US" sz="1300" dirty="0">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3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b="0" kern="1200" dirty="0" err="1">
                          <a:solidFill>
                            <a:schemeClr val="tx1"/>
                          </a:solidFill>
                          <a:effectLst/>
                          <a:latin typeface="Times New Roman" panose="02020603050405020304" pitchFamily="18" charset="0"/>
                          <a:ea typeface="+mn-ea"/>
                          <a:cs typeface="Times New Roman" panose="02020603050405020304" pitchFamily="18" charset="0"/>
                        </a:rPr>
                        <a:t>khai</a:t>
                      </a:r>
                      <a:endParaRPr lang="en-US" sz="13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3849073"/>
                  </a:ext>
                </a:extLst>
              </a:tr>
            </a:tbl>
          </a:graphicData>
        </a:graphic>
      </p:graphicFrame>
    </p:spTree>
    <p:extLst>
      <p:ext uri="{BB962C8B-B14F-4D97-AF65-F5344CB8AC3E}">
        <p14:creationId xmlns:p14="http://schemas.microsoft.com/office/powerpoint/2010/main" val="4567772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552066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30</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FLEET T5-T8/2025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381000" y="592815"/>
          <a:ext cx="11811000" cy="626518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3668469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31</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24/06/2025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01/07/2025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29/08/2025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09/08)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12/08/2025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19/08/2025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07/07/2025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14/07/2025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V11696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27/09/2025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09/10/2025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05/10/2025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12/10/2025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17/10/2025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24/10/2025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V11752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20/10/2025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27/10/2025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20/11/2025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02/12/2025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13/11/2025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20/11/2025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V15935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23/11/2025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02/12/2025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1624019"/>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26-29/06/2025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Tháo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424800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06-08/07/2025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V16799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149846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023496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V16563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A363#1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16-18/08/2025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V16517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98572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V15999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22-24/08/2025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V16610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A605#1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29-31/08/2025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232600"/>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621286"/>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3283523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C6B6B8D-D74E-47CD-B5EE-156060B7CD17}" type="slidenum">
              <a:rPr kumimoji="0" lang="en-US" sz="1600" b="0" i="0" u="none" strike="noStrike" kern="1200" cap="none" spc="0" normalizeH="0" baseline="0" noProof="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600" b="0" i="0" u="none" strike="noStrike" kern="1200" cap="none" spc="0" normalizeH="0" baseline="0" noProof="0" dirty="0">
              <a:ln>
                <a:noFill/>
              </a:ln>
              <a:solidFill>
                <a:srgbClr val="D2A43B"/>
              </a:solidFill>
              <a:effectLst/>
              <a:uLnTx/>
              <a:uFillTx/>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6683100" cy="502766"/>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667" b="1" i="0" u="none" strike="noStrike" kern="1200" cap="none" spc="0" normalizeH="0" baseline="0" noProof="0" dirty="0">
                <a:ln w="0"/>
                <a:solidFill>
                  <a:srgbClr val="FBAC00"/>
                </a:solidFill>
                <a:effectLst/>
                <a:uLnTx/>
                <a:uFillTx/>
                <a:latin typeface="Times New Roman" panose="02020603050405020304" pitchFamily="18" charset="0"/>
                <a:ea typeface="+mn-ea"/>
                <a:cs typeface="Times New Roman" panose="02020603050405020304" pitchFamily="18" charset="0"/>
              </a:rPr>
              <a:t>TÌNH TRẠNG ĐỘNG CƠ A321NEO</a:t>
            </a:r>
          </a:p>
        </p:txBody>
      </p:sp>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Các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động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cơ</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GB"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đang</a:t>
            </a:r>
            <a:r>
              <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s</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ửa</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chữa</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76948" y="2404954"/>
            <a:ext cx="5167083" cy="538609"/>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Số</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err="1">
                <a:ln>
                  <a:noFill/>
                </a:ln>
                <a:solidFill>
                  <a:srgbClr val="002060"/>
                </a:solidFill>
                <a:effectLst/>
                <a:uLnTx/>
                <a:uFillTx/>
                <a:latin typeface="Times New Roman" panose="02020603050405020304" pitchFamily="18" charset="0"/>
                <a:ea typeface="+mn-ea"/>
                <a:cs typeface="Times New Roman" panose="02020603050405020304" pitchFamily="18" charset="0"/>
              </a:rPr>
              <a:t>tàu</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AOG do thiếu động c</a:t>
            </a:r>
            <a:r>
              <a:rPr kumimoji="0" lang="vi-VN"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ơ</a:t>
            </a:r>
            <a:r>
              <a:rPr kumimoji="0" lang="en-US" sz="18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*Không tính thời gian lắp + RTS + định kỳ</a:t>
            </a:r>
            <a:endParaRPr kumimoji="0" lang="en-GB" sz="1100" b="0" i="1"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61046" y="5123606"/>
          <a:ext cx="5765457" cy="1653456"/>
        </p:xfrm>
        <a:graphic>
          <a:graphicData uri="http://schemas.openxmlformats.org/drawingml/2006/table">
            <a:tbl>
              <a:tblPr firstRow="1" bandRow="1">
                <a:tableStyleId>{93296810-A885-4BE3-A3E7-6D5BEEA58F35}</a:tableStyleId>
              </a:tblPr>
              <a:tblGrid>
                <a:gridCol w="740896">
                  <a:extLst>
                    <a:ext uri="{9D8B030D-6E8A-4147-A177-3AD203B41FA5}">
                      <a16:colId xmlns:a16="http://schemas.microsoft.com/office/drawing/2014/main" val="1930757539"/>
                    </a:ext>
                  </a:extLst>
                </a:gridCol>
                <a:gridCol w="5024561">
                  <a:extLst>
                    <a:ext uri="{9D8B030D-6E8A-4147-A177-3AD203B41FA5}">
                      <a16:colId xmlns:a16="http://schemas.microsoft.com/office/drawing/2014/main" val="1674463010"/>
                    </a:ext>
                  </a:extLst>
                </a:gridCol>
              </a:tblGrid>
              <a:tr h="451468">
                <a:tc>
                  <a:txBody>
                    <a:bodyPr/>
                    <a:lstStyle/>
                    <a:p>
                      <a:r>
                        <a:rPr lang="en-US" sz="1200" dirty="0" err="1">
                          <a:latin typeface="Times New Roman" panose="02020603050405020304" pitchFamily="18" charset="0"/>
                          <a:cs typeface="Times New Roman" panose="02020603050405020304" pitchFamily="18" charset="0"/>
                        </a:rPr>
                        <a:t>Tàu</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err="1">
                          <a:latin typeface="Times New Roman" panose="02020603050405020304" pitchFamily="18" charset="0"/>
                          <a:cs typeface="Times New Roman" panose="02020603050405020304" pitchFamily="18" charset="0"/>
                        </a:rPr>
                        <a:t>Tình</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trạng</a:t>
                      </a:r>
                      <a:r>
                        <a:rPr lang="en-GB" sz="1200" dirty="0">
                          <a:latin typeface="Times New Roman" panose="02020603050405020304" pitchFamily="18" charset="0"/>
                          <a:cs typeface="Times New Roman" panose="02020603050405020304" pitchFamily="18" charset="0"/>
                        </a:rPr>
                        <a:t> </a:t>
                      </a:r>
                      <a:r>
                        <a:rPr lang="en-GB" sz="1200" dirty="0" err="1">
                          <a:latin typeface="Times New Roman" panose="02020603050405020304" pitchFamily="18" charset="0"/>
                          <a:cs typeface="Times New Roman" panose="02020603050405020304" pitchFamily="18" charset="0"/>
                        </a:rPr>
                        <a:t>động</a:t>
                      </a:r>
                      <a:r>
                        <a:rPr lang="en-GB"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600994">
                <a:tc>
                  <a:txBody>
                    <a:bodyPr/>
                    <a:lstStyle/>
                    <a:p>
                      <a:r>
                        <a:rPr lang="en-US" sz="1200" b="1" dirty="0">
                          <a:latin typeface="Times New Roman" panose="02020603050405020304" pitchFamily="18" charset="0"/>
                          <a:cs typeface="Times New Roman" panose="02020603050405020304" pitchFamily="18" charset="0"/>
                        </a:rPr>
                        <a:t>A508</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Times New Roman" panose="02020603050405020304" pitchFamily="18" charset="0"/>
                          <a:cs typeface="Times New Roman" panose="02020603050405020304" pitchFamily="18" charset="0"/>
                        </a:rPr>
                        <a:t>11/07 </a:t>
                      </a:r>
                      <a:r>
                        <a:rPr lang="en-US" sz="1200" dirty="0" err="1">
                          <a:solidFill>
                            <a:srgbClr val="FF0000"/>
                          </a:solidFill>
                          <a:latin typeface="Times New Roman" panose="02020603050405020304" pitchFamily="18" charset="0"/>
                          <a:cs typeface="Times New Roman" panose="02020603050405020304" pitchFamily="18" charset="0"/>
                        </a:rPr>
                        <a:t>đủ</a:t>
                      </a:r>
                      <a:r>
                        <a:rPr lang="en-US" sz="1200" dirty="0">
                          <a:solidFill>
                            <a:srgbClr val="FF0000"/>
                          </a:solidFill>
                          <a:latin typeface="Times New Roman" panose="02020603050405020304" pitchFamily="18" charset="0"/>
                          <a:cs typeface="Times New Roman" panose="02020603050405020304" pitchFamily="18" charset="0"/>
                        </a:rPr>
                        <a:t> 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c</a:t>
                      </a:r>
                      <a:r>
                        <a:rPr lang="vi-VN" sz="1200" dirty="0">
                          <a:solidFill>
                            <a:srgbClr val="FF0000"/>
                          </a:solidFill>
                          <a:latin typeface="+mn-lt"/>
                          <a:cs typeface="Times New Roman" panose="02020603050405020304" pitchFamily="18" charset="0"/>
                        </a:rPr>
                        <a:t>ơ</a:t>
                      </a:r>
                      <a:r>
                        <a:rPr lang="en-US" sz="1200" dirty="0">
                          <a:solidFill>
                            <a:srgbClr val="FF0000"/>
                          </a:solidFill>
                          <a:latin typeface="Times New Roman" panose="02020603050405020304" pitchFamily="18" charset="0"/>
                          <a:cs typeface="Times New Roman" panose="02020603050405020304" pitchFamily="18" charset="0"/>
                        </a:rPr>
                        <a:t> (P771387 &amp; P771041).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11 AOG.</a:t>
                      </a:r>
                    </a:p>
                  </a:txBody>
                  <a:tcPr marL="121920" marR="121920" marT="60960" marB="60960" anchor="ctr"/>
                </a:tc>
                <a:extLst>
                  <a:ext uri="{0D108BD9-81ED-4DB2-BD59-A6C34878D82A}">
                    <a16:rowId xmlns:a16="http://schemas.microsoft.com/office/drawing/2014/main" val="1764342503"/>
                  </a:ext>
                </a:extLst>
              </a:tr>
              <a:tr h="600994">
                <a:tc>
                  <a:txBody>
                    <a:bodyPr/>
                    <a:lstStyle/>
                    <a:p>
                      <a:r>
                        <a:rPr lang="en-US" sz="1200" b="1">
                          <a:latin typeface="Times New Roman" panose="02020603050405020304" pitchFamily="18" charset="0"/>
                          <a:cs typeface="Times New Roman" panose="02020603050405020304" pitchFamily="18" charset="0"/>
                        </a:rPr>
                        <a:t>A622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Dự</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kiến</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sử</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dụng</a:t>
                      </a:r>
                      <a:r>
                        <a:rPr lang="en-US" sz="1200" dirty="0">
                          <a:solidFill>
                            <a:srgbClr val="FF0000"/>
                          </a:solidFill>
                          <a:latin typeface="Times New Roman" panose="02020603050405020304" pitchFamily="18" charset="0"/>
                          <a:cs typeface="Times New Roman" panose="02020603050405020304" pitchFamily="18" charset="0"/>
                        </a:rPr>
                        <a:t> 02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cơ</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thuê</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của</a:t>
                      </a:r>
                      <a:r>
                        <a:rPr lang="en-US" sz="1200" dirty="0">
                          <a:solidFill>
                            <a:srgbClr val="FF0000"/>
                          </a:solidFill>
                          <a:latin typeface="Times New Roman" panose="02020603050405020304" pitchFamily="18" charset="0"/>
                          <a:cs typeface="Times New Roman" panose="02020603050405020304" pitchFamily="18" charset="0"/>
                        </a:rPr>
                        <a:t> MAM. 15/07 </a:t>
                      </a:r>
                      <a:r>
                        <a:rPr lang="en-US" sz="1200" dirty="0" err="1">
                          <a:solidFill>
                            <a:srgbClr val="FF0000"/>
                          </a:solidFill>
                          <a:latin typeface="Times New Roman" panose="02020603050405020304" pitchFamily="18" charset="0"/>
                          <a:cs typeface="Times New Roman" panose="02020603050405020304" pitchFamily="18" charset="0"/>
                        </a:rPr>
                        <a:t>đủ</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động</a:t>
                      </a:r>
                      <a:r>
                        <a:rPr lang="en-US" sz="1200" dirty="0">
                          <a:solidFill>
                            <a:srgbClr val="FF0000"/>
                          </a:solidFill>
                          <a:latin typeface="Times New Roman" panose="02020603050405020304" pitchFamily="18" charset="0"/>
                          <a:cs typeface="Times New Roman" panose="02020603050405020304" pitchFamily="18" charset="0"/>
                        </a:rPr>
                        <a:t> </a:t>
                      </a:r>
                      <a:r>
                        <a:rPr lang="en-US" sz="1200" dirty="0" err="1">
                          <a:solidFill>
                            <a:srgbClr val="FF0000"/>
                          </a:solidFill>
                          <a:latin typeface="Times New Roman" panose="02020603050405020304" pitchFamily="18" charset="0"/>
                          <a:cs typeface="Times New Roman" panose="02020603050405020304" pitchFamily="18" charset="0"/>
                        </a:rPr>
                        <a:t>cơ</a:t>
                      </a:r>
                      <a:endParaRPr lang="en-US" sz="1200" dirty="0">
                        <a:solidFill>
                          <a:srgbClr val="FF0000"/>
                        </a:solidFill>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FF0000"/>
                          </a:solidFill>
                          <a:latin typeface="Times New Roman" panose="02020603050405020304" pitchFamily="18" charset="0"/>
                          <a:cs typeface="Times New Roman" panose="02020603050405020304" pitchFamily="18" charset="0"/>
                        </a:rPr>
                        <a:t>Còn</a:t>
                      </a:r>
                      <a:r>
                        <a:rPr lang="en-US" sz="1200" dirty="0">
                          <a:solidFill>
                            <a:srgbClr val="FF0000"/>
                          </a:solidFill>
                          <a:latin typeface="Times New Roman" panose="02020603050405020304" pitchFamily="18" charset="0"/>
                          <a:cs typeface="Times New Roman" panose="02020603050405020304" pitchFamily="18" charset="0"/>
                        </a:rPr>
                        <a:t> 10 AOG.</a:t>
                      </a:r>
                    </a:p>
                  </a:txBody>
                  <a:tcPr marL="121920" marR="121920" marT="60960" marB="60960" anchor="ctr"/>
                </a:tc>
                <a:extLst>
                  <a:ext uri="{0D108BD9-81ED-4DB2-BD59-A6C34878D82A}">
                    <a16:rowId xmlns:a16="http://schemas.microsoft.com/office/drawing/2014/main" val="1074696803"/>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304800" y="3352800"/>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066216"/>
          <a:ext cx="5909514" cy="3676208"/>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31181" y="609600"/>
            <a:ext cx="5909513" cy="1672702"/>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về</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muộn</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Hiện</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còn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RTS trong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giai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đoạn</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cao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điểm</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(A508, A623)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phụ</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thuộc</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vào</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2 động cơ thuê và 2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động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t>
            </a:r>
            <a:r>
              <a:rPr kumimoji="0" lang="vi-VN"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ơ</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shop </a:t>
            </a:r>
            <a:r>
              <a:rPr kumimoji="0" lang="en-US" sz="1467"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về</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(P771387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và</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P771041),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delay. </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357188" rtl="0" eaLnBrk="1" fontAlgn="auto" latinLnBrk="0" hangingPunct="1">
              <a:lnSpc>
                <a:spcPct val="100000"/>
              </a:lnSpc>
              <a:spcBef>
                <a:spcPts val="0"/>
              </a:spcBef>
              <a:spcAft>
                <a:spcPts val="0"/>
              </a:spcAft>
              <a:buClrTx/>
              <a:buSzTx/>
              <a:buFontTx/>
              <a:buNone/>
              <a:tabLst/>
              <a:defRPr/>
            </a:pP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357188"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2.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Rủi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ro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tháo</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động</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c</a:t>
            </a:r>
            <a:r>
              <a:rPr kumimoji="0" lang="vi-VN"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ơ</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a:t>
            </a:r>
            <a:r>
              <a:rPr kumimoji="0" lang="en-US" sz="1467" b="1" i="0" u="none" strike="noStrike" kern="1200" cap="none" spc="0" normalizeH="0" baseline="0" noProof="0" dirty="0" err="1">
                <a:ln>
                  <a:noFill/>
                </a:ln>
                <a:solidFill>
                  <a:srgbClr val="FF0000"/>
                </a:solidFill>
                <a:effectLst/>
                <a:uLnTx/>
                <a:uFillTx/>
                <a:latin typeface="Times New Roman" panose="02020603050405020304" pitchFamily="18" charset="0"/>
                <a:ea typeface="+mn-ea"/>
                <a:cs typeface="Times New Roman" panose="02020603050405020304" pitchFamily="18" charset="0"/>
              </a:rPr>
              <a:t>ngoài</a:t>
            </a:r>
            <a:r>
              <a:rPr kumimoji="0" lang="en-US" sz="1467"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 KH: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Rủi</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tháo</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do </a:t>
            </a:r>
            <a:r>
              <a:rPr kumimoji="0" lang="en-US" sz="1467"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hỏng</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HPT Blade </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(A625 S/N P772905 &amp; A621 S/N P771710 675 FH/337 FC); A621 S/N P771710 Ground Stall; Oil </a:t>
            </a:r>
            <a:r>
              <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leak #3DFS (all </a:t>
            </a:r>
            <a:r>
              <a:rPr kumimoji="0" lang="en-US" sz="1467"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fleet);</a:t>
            </a:r>
            <a:endParaRPr kumimoji="0" lang="en-US" sz="1467"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7" name="TextBox 16">
            <a:extLst>
              <a:ext uri="{FF2B5EF4-FFF2-40B4-BE49-F238E27FC236}">
                <a16:creationId xmlns:a16="http://schemas.microsoft.com/office/drawing/2014/main" id="{8C24F927-43FE-43A1-80E2-A11360025336}"/>
              </a:ext>
            </a:extLst>
          </p:cNvPr>
          <p:cNvSpPr txBox="1"/>
          <p:nvPr/>
        </p:nvSpPr>
        <p:spPr>
          <a:xfrm>
            <a:off x="5867400" y="196038"/>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Rủi</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ro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cao</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điểm</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Hè</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8" name="Table 7">
            <a:extLst>
              <a:ext uri="{FF2B5EF4-FFF2-40B4-BE49-F238E27FC236}">
                <a16:creationId xmlns:a16="http://schemas.microsoft.com/office/drawing/2014/main" id="{800D410E-4A58-4273-B625-070B85B3D830}"/>
              </a:ext>
            </a:extLst>
          </p:cNvPr>
          <p:cNvGraphicFramePr>
            <a:graphicFrameLocks noGrp="1"/>
          </p:cNvGraphicFramePr>
          <p:nvPr/>
        </p:nvGraphicFramePr>
        <p:xfrm>
          <a:off x="173504" y="708743"/>
          <a:ext cx="5765458" cy="3908137"/>
        </p:xfrm>
        <a:graphic>
          <a:graphicData uri="http://schemas.openxmlformats.org/drawingml/2006/table">
            <a:tbl>
              <a:tblPr firstRow="1" bandRow="1">
                <a:tableStyleId>{5C22544A-7EE6-4342-B048-85BDC9FD1C3A}</a:tableStyleId>
              </a:tblPr>
              <a:tblGrid>
                <a:gridCol w="793078">
                  <a:extLst>
                    <a:ext uri="{9D8B030D-6E8A-4147-A177-3AD203B41FA5}">
                      <a16:colId xmlns:a16="http://schemas.microsoft.com/office/drawing/2014/main" val="3123040184"/>
                    </a:ext>
                  </a:extLst>
                </a:gridCol>
                <a:gridCol w="890615">
                  <a:extLst>
                    <a:ext uri="{9D8B030D-6E8A-4147-A177-3AD203B41FA5}">
                      <a16:colId xmlns:a16="http://schemas.microsoft.com/office/drawing/2014/main" val="2204338324"/>
                    </a:ext>
                  </a:extLst>
                </a:gridCol>
                <a:gridCol w="820738">
                  <a:extLst>
                    <a:ext uri="{9D8B030D-6E8A-4147-A177-3AD203B41FA5}">
                      <a16:colId xmlns:a16="http://schemas.microsoft.com/office/drawing/2014/main" val="1128924154"/>
                    </a:ext>
                  </a:extLst>
                </a:gridCol>
                <a:gridCol w="933075">
                  <a:extLst>
                    <a:ext uri="{9D8B030D-6E8A-4147-A177-3AD203B41FA5}">
                      <a16:colId xmlns:a16="http://schemas.microsoft.com/office/drawing/2014/main" val="2627377997"/>
                    </a:ext>
                  </a:extLst>
                </a:gridCol>
                <a:gridCol w="2327952">
                  <a:extLst>
                    <a:ext uri="{9D8B030D-6E8A-4147-A177-3AD203B41FA5}">
                      <a16:colId xmlns:a16="http://schemas.microsoft.com/office/drawing/2014/main" val="1687818387"/>
                    </a:ext>
                  </a:extLst>
                </a:gridCol>
              </a:tblGrid>
              <a:tr h="257652">
                <a:tc>
                  <a:txBody>
                    <a:bodyPr/>
                    <a:lstStyle/>
                    <a:p>
                      <a:pPr algn="l" rtl="0" fontAlgn="ctr"/>
                      <a:r>
                        <a:rPr lang="vi-VN" sz="1100" b="1" u="none" strike="noStrike" dirty="0">
                          <a:solidFill>
                            <a:srgbClr val="FFFFFF"/>
                          </a:solidFill>
                          <a:effectLst/>
                          <a:latin typeface="+mn-lt"/>
                        </a:rPr>
                        <a:t>Động cơ</a:t>
                      </a:r>
                      <a:endParaRPr lang="vi-VN" sz="1100" b="1" i="0" u="none" strike="noStrike" dirty="0">
                        <a:solidFill>
                          <a:srgbClr val="FFFFFF"/>
                        </a:solidFill>
                        <a:effectLst/>
                        <a:latin typeface="+mn-lt"/>
                      </a:endParaRPr>
                    </a:p>
                  </a:txBody>
                  <a:tcPr marL="47527" marR="5281" marT="5281" marB="0" anchor="ctr"/>
                </a:tc>
                <a:tc>
                  <a:txBody>
                    <a:bodyPr/>
                    <a:lstStyle/>
                    <a:p>
                      <a:pPr algn="ctr" rtl="0" fontAlgn="ctr"/>
                      <a:r>
                        <a:rPr lang="en-GB" sz="1100" b="1" u="none" strike="noStrike">
                          <a:solidFill>
                            <a:srgbClr val="FFFFFF"/>
                          </a:solidFill>
                          <a:effectLst/>
                          <a:latin typeface="+mn-lt"/>
                        </a:rPr>
                        <a:t>Induction</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Dự kiến về</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KH Sử dụng</a:t>
                      </a:r>
                      <a:endParaRPr lang="en-GB" sz="1100" b="1" i="0" u="none" strike="noStrike">
                        <a:solidFill>
                          <a:srgbClr val="FFFFFF"/>
                        </a:solidFill>
                        <a:effectLst/>
                        <a:latin typeface="+mn-lt"/>
                      </a:endParaRPr>
                    </a:p>
                  </a:txBody>
                  <a:tcPr marL="5281" marR="5281" marT="5281" marB="0" anchor="ctr"/>
                </a:tc>
                <a:tc>
                  <a:txBody>
                    <a:bodyPr/>
                    <a:lstStyle/>
                    <a:p>
                      <a:pPr algn="ctr" rtl="0" fontAlgn="ctr"/>
                      <a:r>
                        <a:rPr lang="en-GB" sz="1100" b="1" u="none" strike="noStrike">
                          <a:solidFill>
                            <a:srgbClr val="FFFFFF"/>
                          </a:solidFill>
                          <a:effectLst/>
                          <a:latin typeface="+mn-lt"/>
                        </a:rPr>
                        <a:t>Remark</a:t>
                      </a:r>
                      <a:endParaRPr lang="en-GB" sz="1100" b="1" i="0" u="none" strike="noStrike">
                        <a:solidFill>
                          <a:srgbClr val="FFFFFF"/>
                        </a:solidFill>
                        <a:effectLst/>
                        <a:latin typeface="+mn-lt"/>
                      </a:endParaRPr>
                    </a:p>
                  </a:txBody>
                  <a:tcPr marL="5281" marR="5281" marT="5281" marB="0" anchor="ctr"/>
                </a:tc>
                <a:extLst>
                  <a:ext uri="{0D108BD9-81ED-4DB2-BD59-A6C34878D82A}">
                    <a16:rowId xmlns:a16="http://schemas.microsoft.com/office/drawing/2014/main" val="1673130687"/>
                  </a:ext>
                </a:extLst>
              </a:tr>
              <a:tr h="469317">
                <a:tc>
                  <a:txBody>
                    <a:bodyPr/>
                    <a:lstStyle/>
                    <a:p>
                      <a:pPr algn="ctr" rtl="0" fontAlgn="ctr"/>
                      <a:r>
                        <a:rPr lang="en-GB" sz="1100" b="0" i="0" u="none" strike="noStrike" dirty="0">
                          <a:solidFill>
                            <a:schemeClr val="tx1">
                              <a:lumMod val="85000"/>
                              <a:lumOff val="15000"/>
                            </a:schemeClr>
                          </a:solidFill>
                          <a:effectLst/>
                          <a:latin typeface="+mn-lt"/>
                        </a:rPr>
                        <a:t>2 Spare</a:t>
                      </a:r>
                    </a:p>
                    <a:p>
                      <a:pPr algn="ctr" rtl="0" fontAlgn="ctr"/>
                      <a:r>
                        <a:rPr lang="en-GB" sz="1100" b="0" i="0" u="none" strike="noStrike" baseline="0">
                          <a:solidFill>
                            <a:schemeClr val="tx1">
                              <a:lumMod val="85000"/>
                              <a:lumOff val="15000"/>
                            </a:schemeClr>
                          </a:solidFill>
                          <a:effectLst/>
                          <a:latin typeface="+mn-lt"/>
                        </a:rPr>
                        <a:t>Marathon</a:t>
                      </a:r>
                      <a:endParaRPr lang="en-GB" sz="1100" b="0" i="0" u="none" strike="noStrike" dirty="0">
                        <a:solidFill>
                          <a:schemeClr val="tx1">
                            <a:lumMod val="85000"/>
                            <a:lumOff val="15000"/>
                          </a:schemeClr>
                        </a:solidFill>
                        <a:effectLst/>
                        <a:latin typeface="+mn-lt"/>
                      </a:endParaRPr>
                    </a:p>
                  </a:txBody>
                  <a:tcPr marL="5281" marR="5281" marT="5281" marB="0" anchor="ctr"/>
                </a:tc>
                <a:tc>
                  <a:txBody>
                    <a:bodyPr/>
                    <a:lstStyle/>
                    <a:p>
                      <a:pPr algn="ctr" rtl="0" fontAlgn="ctr"/>
                      <a:r>
                        <a:rPr lang="en-GB" sz="1100" b="0" i="0" u="none" strike="noStrike" dirty="0">
                          <a:solidFill>
                            <a:schemeClr val="tx1">
                              <a:lumMod val="85000"/>
                              <a:lumOff val="15000"/>
                            </a:schemeClr>
                          </a:solidFill>
                          <a:effectLst/>
                          <a:latin typeface="+mn-lt"/>
                        </a:rPr>
                        <a:t>N/A</a:t>
                      </a:r>
                    </a:p>
                  </a:txBody>
                  <a:tcPr marL="5281" marR="5281" marT="5281" marB="0" anchor="ctr"/>
                </a:tc>
                <a:tc>
                  <a:txBody>
                    <a:bodyPr/>
                    <a:lstStyle/>
                    <a:p>
                      <a:pPr algn="ctr" rtl="0" fontAlgn="ctr"/>
                      <a:r>
                        <a:rPr lang="en-GB" sz="1100" b="0" u="none" strike="noStrike">
                          <a:solidFill>
                            <a:schemeClr val="tx1">
                              <a:lumMod val="85000"/>
                              <a:lumOff val="15000"/>
                            </a:schemeClr>
                          </a:solidFill>
                          <a:effectLst/>
                          <a:latin typeface="+mn-lt"/>
                        </a:rPr>
                        <a:t>15/07/2025</a:t>
                      </a:r>
                      <a:endParaRPr lang="en-GB" sz="1100" b="0" u="none" strike="noStrike" dirty="0">
                        <a:solidFill>
                          <a:schemeClr val="tx1">
                            <a:lumMod val="85000"/>
                            <a:lumOff val="15000"/>
                          </a:schemeClr>
                        </a:solidFill>
                        <a:effectLst/>
                        <a:latin typeface="+mn-lt"/>
                      </a:endParaRP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RTS A622</a:t>
                      </a:r>
                      <a:endParaRPr lang="en-GB" sz="1100" b="0" i="0" u="none" strike="noStrike" dirty="0">
                        <a:solidFill>
                          <a:schemeClr val="tx1">
                            <a:lumMod val="85000"/>
                            <a:lumOff val="15000"/>
                          </a:schemeClr>
                        </a:solidFill>
                        <a:effectLst/>
                        <a:latin typeface="+mn-lt"/>
                      </a:endParaRPr>
                    </a:p>
                  </a:txBody>
                  <a:tcPr marL="5281" marR="5281" marT="5281" marB="0" anchor="ctr"/>
                </a:tc>
                <a:tc>
                  <a:txBody>
                    <a:bodyPr/>
                    <a:lstStyle/>
                    <a:p>
                      <a:pPr algn="l" rtl="0" fontAlgn="ct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10001"/>
                  </a:ext>
                </a:extLst>
              </a:tr>
              <a:tr h="545488">
                <a:tc>
                  <a:txBody>
                    <a:bodyPr/>
                    <a:lstStyle/>
                    <a:p>
                      <a:pPr algn="ctr" rtl="0" fontAlgn="ctr"/>
                      <a:r>
                        <a:rPr lang="en-GB" sz="1100" b="0" u="none" strike="noStrike">
                          <a:solidFill>
                            <a:schemeClr val="tx1"/>
                          </a:solidFill>
                          <a:effectLst/>
                          <a:latin typeface="+mn-lt"/>
                        </a:rPr>
                        <a:t>P771387</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05/11/2024</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lumMod val="85000"/>
                              <a:lumOff val="15000"/>
                            </a:schemeClr>
                          </a:solidFill>
                          <a:effectLst/>
                          <a:latin typeface="+mn-lt"/>
                        </a:rPr>
                        <a:t>07/07/2025</a:t>
                      </a:r>
                      <a:endParaRPr lang="en-GB" sz="1100" b="0" u="none" strike="noStrike" dirty="0">
                        <a:solidFill>
                          <a:schemeClr val="tx1">
                            <a:lumMod val="85000"/>
                            <a:lumOff val="15000"/>
                          </a:schemeClr>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RTS A508</a:t>
                      </a:r>
                      <a:endParaRPr lang="en-GB" sz="1100" b="0" i="0" u="none" strike="noStrike" dirty="0">
                        <a:solidFill>
                          <a:schemeClr val="tx1"/>
                        </a:solidFill>
                        <a:effectLst/>
                        <a:latin typeface="+mn-lt"/>
                      </a:endParaRPr>
                    </a:p>
                  </a:txBody>
                  <a:tcPr marL="5281" marR="5281" marT="5281" marB="0" anchor="ctr"/>
                </a:tc>
                <a:tc>
                  <a:txBody>
                    <a:bodyPr/>
                    <a:lstStyle/>
                    <a:p>
                      <a:pPr algn="l" rtl="0" fontAlgn="ctr"/>
                      <a:r>
                        <a:rPr lang="en-GB" sz="1100" b="0" i="0" u="none" strike="noStrike">
                          <a:solidFill>
                            <a:schemeClr val="tx1"/>
                          </a:solidFill>
                          <a:effectLst/>
                          <a:latin typeface="+mn-lt"/>
                        </a:rPr>
                        <a:t>Động cơ không có QEC</a:t>
                      </a:r>
                    </a:p>
                    <a:p>
                      <a:pPr algn="l" rtl="0" fontAlgn="ctr"/>
                      <a:r>
                        <a:rPr lang="en-GB" sz="1100" b="0" i="0" u="none" strike="noStrike">
                          <a:solidFill>
                            <a:schemeClr val="tx1"/>
                          </a:solidFill>
                          <a:effectLst/>
                          <a:latin typeface="+mn-lt"/>
                        </a:rPr>
                        <a:t>Cần lắp QEC tại VAECO</a:t>
                      </a:r>
                      <a:endParaRPr lang="en-GB" sz="1100" b="0" i="0" u="none" strike="noStrike" dirty="0">
                        <a:solidFill>
                          <a:schemeClr val="tx1"/>
                        </a:solidFill>
                        <a:effectLst/>
                        <a:latin typeface="+mn-lt"/>
                      </a:endParaRPr>
                    </a:p>
                  </a:txBody>
                  <a:tcPr marL="5281" marR="5281" marT="5281" marB="0" anchor="ctr"/>
                </a:tc>
                <a:extLst>
                  <a:ext uri="{0D108BD9-81ED-4DB2-BD59-A6C34878D82A}">
                    <a16:rowId xmlns:a16="http://schemas.microsoft.com/office/drawing/2014/main" val="135326823"/>
                  </a:ext>
                </a:extLst>
              </a:tr>
              <a:tr h="381000">
                <a:tc>
                  <a:txBody>
                    <a:bodyPr/>
                    <a:lstStyle/>
                    <a:p>
                      <a:pPr algn="ctr" rtl="0" fontAlgn="ctr"/>
                      <a:r>
                        <a:rPr lang="en-GB" sz="1100" b="0" u="none" strike="noStrike">
                          <a:solidFill>
                            <a:schemeClr val="tx1"/>
                          </a:solidFill>
                          <a:effectLst/>
                          <a:latin typeface="+mn-lt"/>
                        </a:rPr>
                        <a:t>P771041</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19/03/2025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11/07/2025</a:t>
                      </a:r>
                    </a:p>
                  </a:txBody>
                  <a:tcPr marL="5281" marR="5281" marT="5281" marB="0" anchor="ctr"/>
                </a:tc>
                <a:tc>
                  <a:txBody>
                    <a:bodyPr/>
                    <a:lstStyle/>
                    <a:p>
                      <a:pPr algn="ctr" rtl="0" fontAlgn="ctr"/>
                      <a:r>
                        <a:rPr lang="en-GB" sz="1100" b="0" u="none" strike="noStrike">
                          <a:solidFill>
                            <a:schemeClr val="tx1"/>
                          </a:solidFill>
                          <a:effectLst/>
                          <a:latin typeface="+mn-lt"/>
                        </a:rPr>
                        <a:t>RTS A508</a:t>
                      </a:r>
                      <a:endParaRPr lang="en-GB" sz="1100" b="0" i="0" u="none" strike="noStrike" dirty="0">
                        <a:solidFill>
                          <a:schemeClr val="tx1"/>
                        </a:solidFill>
                        <a:effectLst/>
                        <a:latin typeface="+mn-lt"/>
                      </a:endParaRPr>
                    </a:p>
                  </a:txBody>
                  <a:tcPr marL="5281" marR="5281" marT="5281" marB="0" anchor="ctr"/>
                </a:tc>
                <a:tc>
                  <a:txBody>
                    <a:bodyPr/>
                    <a:lstStyle/>
                    <a:p>
                      <a:pPr algn="l" rtl="0" fontAlgn="ctr"/>
                      <a:endParaRPr lang="en-GB" sz="1100" b="0" i="0" u="none" strike="noStrike" dirty="0">
                        <a:solidFill>
                          <a:schemeClr val="tx1"/>
                        </a:solidFill>
                        <a:effectLst/>
                        <a:latin typeface="+mn-lt"/>
                      </a:endParaRPr>
                    </a:p>
                  </a:txBody>
                  <a:tcPr marL="5281" marR="5281" marT="5281" marB="0" anchor="ctr"/>
                </a:tc>
                <a:extLst>
                  <a:ext uri="{0D108BD9-81ED-4DB2-BD59-A6C34878D82A}">
                    <a16:rowId xmlns:a16="http://schemas.microsoft.com/office/drawing/2014/main" val="236595682"/>
                  </a:ext>
                </a:extLst>
              </a:tr>
              <a:tr h="482034">
                <a:tc>
                  <a:txBody>
                    <a:bodyPr/>
                    <a:lstStyle/>
                    <a:p>
                      <a:pPr algn="ctr" rtl="0" fontAlgn="ctr"/>
                      <a:r>
                        <a:rPr lang="en-GB" sz="1100" b="0" u="none" strike="noStrike">
                          <a:solidFill>
                            <a:schemeClr val="tx1"/>
                          </a:solidFill>
                          <a:effectLst/>
                          <a:latin typeface="+mn-lt"/>
                        </a:rPr>
                        <a:t>P771423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15/04/2025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30/07/2025</a:t>
                      </a:r>
                    </a:p>
                  </a:txBody>
                  <a:tcPr marL="5281" marR="5281" marT="5281" marB="0" anchor="ctr"/>
                </a:tc>
                <a:tc>
                  <a:txBody>
                    <a:bodyPr/>
                    <a:lstStyle/>
                    <a:p>
                      <a:pPr algn="ctr" rtl="0" fontAlgn="ctr"/>
                      <a:r>
                        <a:rPr lang="en-GB" sz="1100" b="0" i="0" u="none" strike="noStrike">
                          <a:solidFill>
                            <a:schemeClr val="tx1">
                              <a:lumMod val="85000"/>
                              <a:lumOff val="15000"/>
                            </a:schemeClr>
                          </a:solidFill>
                          <a:effectLst/>
                          <a:latin typeface="+mn-lt"/>
                        </a:rPr>
                        <a:t>A621#2</a:t>
                      </a:r>
                      <a:endParaRPr lang="en-GB" sz="1100" b="0" i="0" u="none" strike="noStrike" dirty="0">
                        <a:solidFill>
                          <a:schemeClr val="tx1"/>
                        </a:solidFill>
                        <a:effectLst/>
                        <a:latin typeface="+mn-lt"/>
                      </a:endParaRPr>
                    </a:p>
                  </a:txBody>
                  <a:tcPr marL="5281" marR="5281" marT="5281" marB="0" anchor="ct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lang="en-GB" sz="1100" b="0" i="0" u="none" strike="noStrike">
                          <a:solidFill>
                            <a:schemeClr val="tx1">
                              <a:lumMod val="85000"/>
                              <a:lumOff val="15000"/>
                            </a:schemeClr>
                          </a:solidFill>
                          <a:effectLst/>
                          <a:latin typeface="+mn-lt"/>
                        </a:rPr>
                        <a:t>ESN P771710 AD due 15-Aug</a:t>
                      </a:r>
                      <a:endParaRPr lang="en-GB" sz="1100" b="0" i="0" u="none" strike="noStrike" dirty="0">
                        <a:solidFill>
                          <a:schemeClr val="tx1">
                            <a:lumMod val="85000"/>
                            <a:lumOff val="15000"/>
                          </a:schemeClr>
                        </a:solidFill>
                        <a:effectLst/>
                        <a:latin typeface="+mn-lt"/>
                      </a:endParaRPr>
                    </a:p>
                  </a:txBody>
                  <a:tcPr marL="5281" marR="5281" marT="5281" marB="0" anchor="ctr"/>
                </a:tc>
                <a:extLst>
                  <a:ext uri="{0D108BD9-81ED-4DB2-BD59-A6C34878D82A}">
                    <a16:rowId xmlns:a16="http://schemas.microsoft.com/office/drawing/2014/main" val="871960572"/>
                  </a:ext>
                </a:extLst>
              </a:tr>
              <a:tr h="469317">
                <a:tc>
                  <a:txBody>
                    <a:bodyPr/>
                    <a:lstStyle/>
                    <a:p>
                      <a:pPr algn="ctr" rtl="0" fontAlgn="ctr"/>
                      <a:r>
                        <a:rPr lang="en-GB" sz="1100" b="0" u="none" strike="noStrike">
                          <a:solidFill>
                            <a:schemeClr val="tx1"/>
                          </a:solidFill>
                          <a:effectLst/>
                          <a:latin typeface="+mn-lt"/>
                        </a:rPr>
                        <a:t>P771373</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20/02/2025</a:t>
                      </a:r>
                      <a:endParaRPr lang="en-GB" sz="1100" b="0" i="0" u="none" strike="noStrike">
                        <a:solidFill>
                          <a:schemeClr val="tx1"/>
                        </a:solidFill>
                        <a:effectLst/>
                        <a:latin typeface="+mn-lt"/>
                      </a:endParaRPr>
                    </a:p>
                  </a:txBody>
                  <a:tcPr marL="5281" marR="5281" marT="5281" marB="0" anchor="ctr"/>
                </a:tc>
                <a:tc>
                  <a:txBody>
                    <a:bodyPr/>
                    <a:lstStyle/>
                    <a:p>
                      <a:pPr algn="ctr" rtl="0" fontAlgn="ctr"/>
                      <a:r>
                        <a:rPr lang="en-GB" sz="1100" b="0" u="none" strike="noStrike">
                          <a:solidFill>
                            <a:schemeClr val="tx1"/>
                          </a:solidFill>
                          <a:effectLst/>
                          <a:latin typeface="+mn-lt"/>
                        </a:rPr>
                        <a:t>04/09/2025</a:t>
                      </a:r>
                    </a:p>
                  </a:txBody>
                  <a:tcPr marL="5281" marR="5281" marT="5281" marB="0" anchor="ctr"/>
                </a:tc>
                <a:tc>
                  <a:txBody>
                    <a:bodyPr/>
                    <a:lstStyle/>
                    <a:p>
                      <a:pPr algn="ctr" rtl="0" fontAlgn="ctr"/>
                      <a:r>
                        <a:rPr lang="en-GB" sz="1100" b="0" u="none" strike="noStrike" dirty="0">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r>
                        <a:rPr lang="en-GB" sz="1100" b="0" i="0" u="none" strike="noStrike">
                          <a:solidFill>
                            <a:schemeClr val="tx1"/>
                          </a:solidFill>
                          <a:effectLst/>
                          <a:latin typeface="+mn-lt"/>
                        </a:rPr>
                        <a:t>Động cơ không có QEC</a:t>
                      </a:r>
                    </a:p>
                    <a:p>
                      <a:pPr algn="l" rtl="0" fontAlgn="ctr"/>
                      <a:r>
                        <a:rPr lang="en-GB" sz="1100" b="0" i="0" u="none" strike="noStrike">
                          <a:solidFill>
                            <a:schemeClr val="tx1"/>
                          </a:solidFill>
                          <a:effectLst/>
                          <a:latin typeface="+mn-lt"/>
                        </a:rPr>
                        <a:t>Cần lắp QEC tại VAECO</a:t>
                      </a:r>
                    </a:p>
                  </a:txBody>
                  <a:tcPr marL="5281" marR="5281" marT="5281" marB="0" anchor="ctr"/>
                </a:tc>
                <a:extLst>
                  <a:ext uri="{0D108BD9-81ED-4DB2-BD59-A6C34878D82A}">
                    <a16:rowId xmlns:a16="http://schemas.microsoft.com/office/drawing/2014/main" val="3042752024"/>
                  </a:ext>
                </a:extLst>
              </a:tr>
              <a:tr h="434443">
                <a:tc>
                  <a:txBody>
                    <a:bodyPr/>
                    <a:lstStyle/>
                    <a:p>
                      <a:pPr algn="ctr" rtl="0" fontAlgn="ctr"/>
                      <a:r>
                        <a:rPr lang="en-GB" sz="1100" b="0" i="0" u="none" strike="noStrike">
                          <a:solidFill>
                            <a:schemeClr val="tx1"/>
                          </a:solidFill>
                          <a:effectLst/>
                          <a:latin typeface="+mn-lt"/>
                        </a:rPr>
                        <a:t>P771079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15/05/2025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algn="l" rtl="0" fontAlgn="ctr"/>
                      <a:r>
                        <a:rPr lang="en-GB" sz="1100" b="0" i="0" u="none" strike="noStrike">
                          <a:solidFill>
                            <a:schemeClr val="tx1"/>
                          </a:solidFill>
                          <a:effectLst/>
                          <a:latin typeface="+mn-lt"/>
                        </a:rPr>
                        <a:t>WSC FIV. Expect target build 6500 FC</a:t>
                      </a:r>
                    </a:p>
                  </a:txBody>
                  <a:tcPr marL="5281" marR="5281" marT="5281" marB="0" anchor="ctr"/>
                </a:tc>
                <a:extLst>
                  <a:ext uri="{0D108BD9-81ED-4DB2-BD59-A6C34878D82A}">
                    <a16:rowId xmlns:a16="http://schemas.microsoft.com/office/drawing/2014/main" val="3826051407"/>
                  </a:ext>
                </a:extLst>
              </a:tr>
              <a:tr h="434443">
                <a:tc>
                  <a:txBody>
                    <a:bodyPr/>
                    <a:lstStyle/>
                    <a:p>
                      <a:pPr algn="ctr" rtl="0" fontAlgn="ctr"/>
                      <a:r>
                        <a:rPr lang="en-GB" sz="1100" b="0" i="0" u="none" strike="noStrike">
                          <a:solidFill>
                            <a:schemeClr val="tx1"/>
                          </a:solidFill>
                          <a:effectLst/>
                          <a:latin typeface="+mn-lt"/>
                        </a:rPr>
                        <a:t>P771119</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17/06/2025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mn-lt"/>
                          <a:ea typeface="+mn-ea"/>
                          <a:cs typeface="+mn-cs"/>
                        </a:rPr>
                        <a:t>WSC FIV. </a:t>
                      </a:r>
                      <a:r>
                        <a:rPr lang="en-GB" sz="1100" b="0" i="0" u="none" strike="noStrike">
                          <a:solidFill>
                            <a:schemeClr val="tx1"/>
                          </a:solidFill>
                          <a:effectLst/>
                          <a:latin typeface="+mn-lt"/>
                        </a:rPr>
                        <a:t>Expect target build 6500 FC</a:t>
                      </a: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2247301018"/>
                  </a:ext>
                </a:extLst>
              </a:tr>
              <a:tr h="434443">
                <a:tc>
                  <a:txBody>
                    <a:bodyPr/>
                    <a:lstStyle/>
                    <a:p>
                      <a:pPr algn="ctr" rtl="0" fontAlgn="ctr"/>
                      <a:r>
                        <a:rPr lang="en-GB" sz="1100" b="0" i="0" u="none" strike="noStrike">
                          <a:solidFill>
                            <a:schemeClr val="tx1"/>
                          </a:solidFill>
                          <a:effectLst/>
                          <a:latin typeface="+mn-lt"/>
                        </a:rPr>
                        <a:t>P771463</a:t>
                      </a:r>
                    </a:p>
                  </a:txBody>
                  <a:tcPr marL="5281" marR="5281" marT="5281" marB="0" anchor="ctr"/>
                </a:tc>
                <a:tc>
                  <a:txBody>
                    <a:bodyPr/>
                    <a:lstStyle/>
                    <a:p>
                      <a:pPr algn="ctr" rtl="0" fontAlgn="ctr"/>
                      <a:r>
                        <a:rPr lang="en-GB" sz="1100" b="0" u="none" strike="noStrike" kern="1200">
                          <a:solidFill>
                            <a:schemeClr val="tx1"/>
                          </a:solidFill>
                          <a:effectLst/>
                          <a:latin typeface="+mn-lt"/>
                          <a:ea typeface="+mn-ea"/>
                          <a:cs typeface="+mn-cs"/>
                        </a:rPr>
                        <a:t>19/06/2025</a:t>
                      </a:r>
                    </a:p>
                  </a:txBody>
                  <a:tcPr marL="5281" marR="5281" marT="5281" marB="0" anchor="ctr"/>
                </a:tc>
                <a:tc>
                  <a:txBody>
                    <a:bodyPr/>
                    <a:lstStyle/>
                    <a:p>
                      <a:pPr algn="ctr" rtl="0" fontAlgn="ctr"/>
                      <a:r>
                        <a:rPr lang="en-GB" sz="1100" b="0" u="none" strike="noStrike">
                          <a:solidFill>
                            <a:schemeClr val="tx1"/>
                          </a:solidFill>
                          <a:effectLst/>
                          <a:latin typeface="+mn-lt"/>
                        </a:rPr>
                        <a:t>TBD</a:t>
                      </a:r>
                    </a:p>
                  </a:txBody>
                  <a:tcPr marL="5281" marR="5281" marT="5281" marB="0" anchor="ctr"/>
                </a:tc>
                <a:tc>
                  <a:txBody>
                    <a:bodyPr/>
                    <a:lstStyle/>
                    <a:p>
                      <a:pPr algn="ctr" rtl="0" fontAlgn="ctr"/>
                      <a:r>
                        <a:rPr lang="en-GB" sz="1100" b="0" i="0" u="none" strike="noStrike">
                          <a:solidFill>
                            <a:schemeClr val="tx1"/>
                          </a:solidFill>
                          <a:effectLst/>
                          <a:latin typeface="+mn-lt"/>
                        </a:rPr>
                        <a:t>RTS</a:t>
                      </a:r>
                      <a:endParaRPr lang="en-GB" sz="1100" b="0" i="0" u="none" strike="noStrike" dirty="0">
                        <a:solidFill>
                          <a:schemeClr val="tx1"/>
                        </a:solidFill>
                        <a:effectLst/>
                        <a:latin typeface="+mn-lt"/>
                      </a:endParaRPr>
                    </a:p>
                  </a:txBody>
                  <a:tcPr marL="5281" marR="5281" marT="52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mn-lt"/>
                          <a:ea typeface="+mn-ea"/>
                          <a:cs typeface="+mn-cs"/>
                        </a:rPr>
                        <a:t>WSC FIV</a:t>
                      </a:r>
                      <a:r>
                        <a:rPr lang="en-GB" sz="1100" b="0" i="0" u="none" strike="noStrike">
                          <a:solidFill>
                            <a:schemeClr val="tx1"/>
                          </a:solidFill>
                          <a:effectLst/>
                          <a:latin typeface="+mn-lt"/>
                        </a:rPr>
                        <a:t>. Expect target build 6500 FC</a:t>
                      </a:r>
                      <a:endParaRPr kumimoji="0" lang="en-GB" sz="1100" b="0" i="0" u="none" strike="noStrike" kern="1200" cap="none" spc="0" normalizeH="0" baseline="0" noProof="0">
                        <a:ln>
                          <a:noFill/>
                        </a:ln>
                        <a:solidFill>
                          <a:schemeClr val="tx1"/>
                        </a:solidFill>
                        <a:effectLst/>
                        <a:uLnTx/>
                        <a:uFillTx/>
                        <a:latin typeface="+mn-lt"/>
                        <a:ea typeface="+mn-ea"/>
                        <a:cs typeface="+mn-cs"/>
                      </a:endParaRPr>
                    </a:p>
                  </a:txBody>
                  <a:tcPr marL="5281" marR="5281" marT="5281" marB="0" anchor="ctr"/>
                </a:tc>
                <a:extLst>
                  <a:ext uri="{0D108BD9-81ED-4DB2-BD59-A6C34878D82A}">
                    <a16:rowId xmlns:a16="http://schemas.microsoft.com/office/drawing/2014/main" val="784712550"/>
                  </a:ext>
                </a:extLst>
              </a:tr>
            </a:tbl>
          </a:graphicData>
        </a:graphic>
      </p:graphicFrame>
      <p:sp>
        <p:nvSpPr>
          <p:cNvPr id="14" name="TextBox 13">
            <a:extLst>
              <a:ext uri="{FF2B5EF4-FFF2-40B4-BE49-F238E27FC236}">
                <a16:creationId xmlns:a16="http://schemas.microsoft.com/office/drawing/2014/main" id="{3665DF89-9C1E-039A-24B3-2AC39417A7A0}"/>
              </a:ext>
            </a:extLst>
          </p:cNvPr>
          <p:cNvSpPr txBox="1"/>
          <p:nvPr/>
        </p:nvSpPr>
        <p:spPr>
          <a:xfrm>
            <a:off x="-438596" y="4754274"/>
            <a:ext cx="6705299" cy="369332"/>
          </a:xfrm>
          <a:prstGeom prst="rect">
            <a:avLst/>
          </a:prstGeom>
          <a:noFill/>
        </p:spPr>
        <p:txBody>
          <a:bodyPr wrap="square" rtlCol="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Kế</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srgbClr val="002060"/>
                </a:solidFill>
                <a:effectLst/>
                <a:uLnTx/>
                <a:uFillTx/>
                <a:latin typeface="Times New Roman" panose="02020603050405020304" pitchFamily="18" charset="0"/>
                <a:ea typeface="+mn-ea"/>
                <a:cs typeface="Times New Roman" panose="02020603050405020304" pitchFamily="18" charset="0"/>
              </a:rPr>
              <a:t>hoạch</a:t>
            </a:r>
            <a:r>
              <a:rPr kumimoji="0" lang="en-US"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rPr>
              <a:t> RTS</a:t>
            </a:r>
            <a:endParaRPr kumimoji="0" lang="en-GB" sz="18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04340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33</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33</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248401" y="502765"/>
          <a:ext cx="5855025" cy="3764435"/>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4419600"/>
            <a:ext cx="6054134" cy="21242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956569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SGN</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 &amp; </a:t>
            </a:r>
            <a:r>
              <a:rPr lang="en-US" sz="1467" b="1" dirty="0" err="1">
                <a:solidFill>
                  <a:schemeClr val="tx1"/>
                </a:solidFill>
                <a:latin typeface="Times New Roman" panose="02020603050405020304" pitchFamily="18" charset="0"/>
                <a:cs typeface="Times New Roman" panose="02020603050405020304" pitchFamily="18" charset="0"/>
              </a:rPr>
              <a:t>Hạn</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chế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khai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thác</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chemeClr val="tx1"/>
                </a:solidFill>
                <a:cs typeface="Times New Roman" panose="02020603050405020304" pitchFamily="18" charset="0"/>
              </a:rPr>
              <a:t>7 </a:t>
            </a:r>
            <a:r>
              <a:rPr lang="en-US" sz="1467" dirty="0" err="1">
                <a:solidFill>
                  <a:schemeClr val="tx1"/>
                </a:solidFill>
                <a:cs typeface="Times New Roman" panose="02020603050405020304" pitchFamily="18" charset="0"/>
              </a:rPr>
              <a:t>động</a:t>
            </a:r>
            <a:r>
              <a:rPr lang="en-US" sz="1467" dirty="0">
                <a:solidFill>
                  <a:schemeClr val="tx1"/>
                </a:solidFill>
                <a:cs typeface="Times New Roman" panose="02020603050405020304" pitchFamily="18" charset="0"/>
              </a:rPr>
              <a:t> c</a:t>
            </a:r>
            <a:r>
              <a:rPr lang="vi-VN" sz="1467" dirty="0">
                <a:solidFill>
                  <a:schemeClr val="tx1"/>
                </a:solidFill>
                <a:cs typeface="Times New Roman" panose="02020603050405020304" pitchFamily="18" charset="0"/>
              </a:rPr>
              <a:t>ơ</a:t>
            </a:r>
            <a:r>
              <a:rPr lang="en-US" sz="1467" dirty="0">
                <a:solidFill>
                  <a:schemeClr val="tx1"/>
                </a:solidFill>
                <a:cs typeface="Times New Roman" panose="02020603050405020304" pitchFamily="18" charset="0"/>
              </a:rPr>
              <a:t> on-watch 50 – 250FC</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958438 </a:t>
            </a:r>
            <a:r>
              <a:rPr lang="en-US" sz="1467" dirty="0" err="1">
                <a:solidFill>
                  <a:schemeClr val="tx1"/>
                </a:solidFill>
                <a:latin typeface="Times New Roman" panose="02020603050405020304" pitchFamily="18" charset="0"/>
                <a:cs typeface="Times New Roman" panose="02020603050405020304" pitchFamily="18" charset="0"/>
              </a:rPr>
              <a:t>trên</a:t>
            </a:r>
            <a:r>
              <a:rPr lang="en-US" sz="1467" dirty="0">
                <a:solidFill>
                  <a:schemeClr val="tx1"/>
                </a:solidFill>
                <a:latin typeface="Times New Roman" panose="02020603050405020304" pitchFamily="18" charset="0"/>
                <a:cs typeface="Times New Roman" panose="02020603050405020304" pitchFamily="18" charset="0"/>
              </a:rPr>
              <a:t> A873 </a:t>
            </a:r>
            <a:r>
              <a:rPr lang="en-US" sz="1467" dirty="0" err="1">
                <a:solidFill>
                  <a:schemeClr val="tx1"/>
                </a:solidFill>
                <a:latin typeface="Times New Roman" panose="02020603050405020304" pitchFamily="18" charset="0"/>
                <a:cs typeface="Times New Roman" panose="02020603050405020304" pitchFamily="18" charset="0"/>
              </a:rPr>
              <a:t>được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khai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5500 FC </a:t>
            </a:r>
            <a:r>
              <a:rPr lang="en-US" sz="1467" dirty="0" err="1">
                <a:solidFill>
                  <a:schemeClr val="tx1"/>
                </a:solidFill>
                <a:latin typeface="Times New Roman" panose="02020603050405020304" pitchFamily="18" charset="0"/>
                <a:cs typeface="Times New Roman" panose="02020603050405020304" pitchFamily="18" charset="0"/>
              </a:rPr>
              <a:t>để</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đảm</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bảo</a:t>
            </a:r>
            <a:r>
              <a:rPr lang="en-US" sz="1467" dirty="0">
                <a:solidFill>
                  <a:schemeClr val="tx1"/>
                </a:solidFill>
                <a:latin typeface="Times New Roman" panose="02020603050405020304" pitchFamily="18" charset="0"/>
                <a:cs typeface="Times New Roman" panose="02020603050405020304" pitchFamily="18" charset="0"/>
              </a:rPr>
              <a:t> WSC (</a:t>
            </a:r>
            <a:r>
              <a:rPr lang="en-US" sz="1467" dirty="0" err="1">
                <a:solidFill>
                  <a:schemeClr val="tx1"/>
                </a:solidFill>
                <a:latin typeface="Times New Roman" panose="02020603050405020304" pitchFamily="18" charset="0"/>
                <a:cs typeface="Times New Roman" panose="02020603050405020304" pitchFamily="18" charset="0"/>
              </a:rPr>
              <a:t>đến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cuối</a:t>
            </a:r>
            <a:r>
              <a:rPr lang="en-US" sz="1467" dirty="0">
                <a:solidFill>
                  <a:schemeClr val="tx1"/>
                </a:solidFill>
                <a:latin typeface="Times New Roman" panose="02020603050405020304" pitchFamily="18" charset="0"/>
                <a:cs typeface="Times New Roman" panose="02020603050405020304" pitchFamily="18" charset="0"/>
              </a:rPr>
              <a:t> T7)</a:t>
            </a:r>
            <a:endParaRPr lang="en-US" sz="1467" b="1" dirty="0">
              <a:solidFill>
                <a:schemeClr val="tx1"/>
              </a:solidFill>
              <a:latin typeface="Times New Roman" panose="02020603050405020304" pitchFamily="18" charset="0"/>
              <a:cs typeface="Times New Roman" panose="02020603050405020304" pitchFamily="18" charset="0"/>
            </a:endParaRP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Rủi</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ro</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và</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việc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 2H 2025:</a:t>
            </a:r>
            <a:endParaRPr lang="en-US" sz="1467" dirty="0">
              <a:solidFill>
                <a:schemeClr val="tx1"/>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c</a:t>
            </a:r>
            <a:r>
              <a:rPr lang="vi-VN" sz="1467" dirty="0">
                <a:solidFill>
                  <a:schemeClr val="tx1"/>
                </a:solidFill>
                <a:latin typeface="Times New Roman" panose="02020603050405020304" pitchFamily="18" charset="0"/>
                <a:cs typeface="Times New Roman" panose="02020603050405020304" pitchFamily="18" charset="0"/>
              </a:rPr>
              <a:t>ơ</a:t>
            </a:r>
            <a:r>
              <a:rPr lang="en-US" sz="1467" dirty="0">
                <a:solidFill>
                  <a:schemeClr val="tx1"/>
                </a:solidFill>
                <a:latin typeface="Times New Roman" panose="02020603050405020304" pitchFamily="18" charset="0"/>
                <a:cs typeface="Times New Roman" panose="02020603050405020304" pitchFamily="18" charset="0"/>
              </a:rPr>
              <a:t> on-watch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rủi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ro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tháo</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sớm</a:t>
            </a:r>
            <a:r>
              <a:rPr lang="en-US" sz="1467" dirty="0">
                <a:solidFill>
                  <a:schemeClr val="tx1"/>
                </a:solidFill>
                <a:latin typeface="Times New Roman" panose="02020603050405020304" pitchFamily="18" charset="0"/>
                <a:cs typeface="Times New Roman" panose="02020603050405020304" pitchFamily="18" charset="0"/>
              </a:rPr>
              <a:t>. Các </a:t>
            </a:r>
            <a:r>
              <a:rPr lang="en-US" sz="1467" dirty="0" err="1">
                <a:solidFill>
                  <a:schemeClr val="tx1"/>
                </a:solidFill>
                <a:latin typeface="Times New Roman" panose="02020603050405020304" pitchFamily="18" charset="0"/>
                <a:cs typeface="Times New Roman" panose="02020603050405020304" pitchFamily="18" charset="0"/>
              </a:rPr>
              <a:t>động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cơ</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sẽ</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lượt</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tháng</a:t>
            </a:r>
            <a:r>
              <a:rPr lang="en-US" sz="1467" dirty="0">
                <a:solidFill>
                  <a:schemeClr val="tx1"/>
                </a:solidFill>
                <a:latin typeface="Times New Roman" panose="02020603050405020304" pitchFamily="18" charset="0"/>
                <a:cs typeface="Times New Roman" panose="02020603050405020304" pitchFamily="18" charset="0"/>
              </a:rPr>
              <a:t> 7– 8 </a:t>
            </a:r>
            <a:r>
              <a:rPr lang="en-US" sz="1467" dirty="0" err="1">
                <a:solidFill>
                  <a:schemeClr val="tx1"/>
                </a:solidFill>
                <a:latin typeface="Times New Roman" panose="02020603050405020304" pitchFamily="18" charset="0"/>
                <a:cs typeface="Times New Roman" panose="02020603050405020304" pitchFamily="18" charset="0"/>
              </a:rPr>
              <a:t>tuy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nhiên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thể</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bị</a:t>
            </a:r>
            <a:r>
              <a:rPr lang="en-US" sz="1467" dirty="0">
                <a:solidFill>
                  <a:schemeClr val="tx1"/>
                </a:solidFill>
                <a:latin typeface="Times New Roman" panose="02020603050405020304" pitchFamily="18" charset="0"/>
                <a:cs typeface="Times New Roman" panose="02020603050405020304" pitchFamily="18" charset="0"/>
              </a:rPr>
              <a:t> delay. </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958266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lịch</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trả</a:t>
            </a:r>
            <a:r>
              <a:rPr lang="en-US" sz="1467" dirty="0">
                <a:solidFill>
                  <a:schemeClr val="tx1"/>
                </a:solidFill>
                <a:latin typeface="Times New Roman" panose="02020603050405020304" pitchFamily="18" charset="0"/>
                <a:cs typeface="Times New Roman" panose="02020603050405020304" pitchFamily="18" charset="0"/>
              </a:rPr>
              <a:t> T9/2025 – </a:t>
            </a:r>
            <a:r>
              <a:rPr lang="en-US" sz="1467" dirty="0" err="1">
                <a:solidFill>
                  <a:schemeClr val="tx1"/>
                </a:solidFill>
                <a:latin typeface="Times New Roman" panose="02020603050405020304" pitchFamily="18" charset="0"/>
                <a:cs typeface="Times New Roman" panose="02020603050405020304" pitchFamily="18" charset="0"/>
              </a:rPr>
              <a:t>dự</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kiến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dùng</a:t>
            </a:r>
            <a:r>
              <a:rPr lang="en-US" sz="1467" dirty="0">
                <a:solidFill>
                  <a:schemeClr val="tx1"/>
                </a:solidFill>
                <a:latin typeface="Times New Roman" panose="02020603050405020304" pitchFamily="18" charset="0"/>
                <a:cs typeface="Times New Roman" panose="02020603050405020304" pitchFamily="18" charset="0"/>
              </a:rPr>
              <a:t> spare </a:t>
            </a:r>
            <a:r>
              <a:rPr lang="en-US" sz="1467" dirty="0" err="1">
                <a:solidFill>
                  <a:schemeClr val="tx1"/>
                </a:solidFill>
                <a:latin typeface="Times New Roman" panose="02020603050405020304" pitchFamily="18" charset="0"/>
                <a:cs typeface="Times New Roman" panose="02020603050405020304" pitchFamily="18" charset="0"/>
              </a:rPr>
              <a:t>đổi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Aercap</a:t>
            </a:r>
            <a:r>
              <a:rPr lang="en-US" sz="1467" dirty="0">
                <a:solidFill>
                  <a:schemeClr val="tx1"/>
                </a:solidFill>
                <a:latin typeface="Times New Roman" panose="02020603050405020304" pitchFamily="18" charset="0"/>
                <a:cs typeface="Times New Roman" panose="02020603050405020304" pitchFamily="18" charset="0"/>
              </a:rPr>
              <a:t>. </a:t>
            </a:r>
            <a:endParaRPr lang="en-US" sz="1467" dirty="0">
              <a:solidFill>
                <a:srgbClr val="FF0000"/>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3" y="502766"/>
          <a:ext cx="6054135" cy="3764435"/>
        </p:xfrm>
        <a:graphic>
          <a:graphicData uri="http://schemas.openxmlformats.org/drawingml/2006/table">
            <a:tbl>
              <a:tblPr firstRow="1" bandRow="1">
                <a:tableStyleId>{7DF18680-E054-41AD-8BC1-D1AEF772440D}</a:tableStyleId>
              </a:tblPr>
              <a:tblGrid>
                <a:gridCol w="679825">
                  <a:extLst>
                    <a:ext uri="{9D8B030D-6E8A-4147-A177-3AD203B41FA5}">
                      <a16:colId xmlns:a16="http://schemas.microsoft.com/office/drawing/2014/main" val="1598605427"/>
                    </a:ext>
                  </a:extLst>
                </a:gridCol>
                <a:gridCol w="668877">
                  <a:extLst>
                    <a:ext uri="{9D8B030D-6E8A-4147-A177-3AD203B41FA5}">
                      <a16:colId xmlns:a16="http://schemas.microsoft.com/office/drawing/2014/main" val="3845954792"/>
                    </a:ext>
                  </a:extLst>
                </a:gridCol>
                <a:gridCol w="923652">
                  <a:extLst>
                    <a:ext uri="{9D8B030D-6E8A-4147-A177-3AD203B41FA5}">
                      <a16:colId xmlns:a16="http://schemas.microsoft.com/office/drawing/2014/main" val="3803391337"/>
                    </a:ext>
                  </a:extLst>
                </a:gridCol>
                <a:gridCol w="1636438">
                  <a:extLst>
                    <a:ext uri="{9D8B030D-6E8A-4147-A177-3AD203B41FA5}">
                      <a16:colId xmlns:a16="http://schemas.microsoft.com/office/drawing/2014/main" val="2148822928"/>
                    </a:ext>
                  </a:extLst>
                </a:gridCol>
                <a:gridCol w="955635">
                  <a:extLst>
                    <a:ext uri="{9D8B030D-6E8A-4147-A177-3AD203B41FA5}">
                      <a16:colId xmlns:a16="http://schemas.microsoft.com/office/drawing/2014/main" val="1106888684"/>
                    </a:ext>
                  </a:extLst>
                </a:gridCol>
                <a:gridCol w="1189708">
                  <a:extLst>
                    <a:ext uri="{9D8B030D-6E8A-4147-A177-3AD203B41FA5}">
                      <a16:colId xmlns:a16="http://schemas.microsoft.com/office/drawing/2014/main" val="558551088"/>
                    </a:ext>
                  </a:extLst>
                </a:gridCol>
              </a:tblGrid>
              <a:tr h="406810">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a:solidFill>
                            <a:schemeClr val="bg1"/>
                          </a:solidFill>
                          <a:effectLst/>
                          <a:latin typeface="+mn-lt"/>
                          <a:cs typeface="Times New Roman" panose="02020603050405020304" pitchFamily="18" charset="0"/>
                        </a:rPr>
                        <a:t>KH </a:t>
                      </a:r>
                      <a:r>
                        <a:rPr lang="en-US" sz="1200" b="1" i="0" u="none" strike="noStrike" dirty="0" err="1">
                          <a:solidFill>
                            <a:schemeClr val="bg1"/>
                          </a:solidFill>
                          <a:effectLst/>
                          <a:latin typeface="+mn-lt"/>
                          <a:cs typeface="Times New Roman" panose="02020603050405020304" pitchFamily="18" charset="0"/>
                        </a:rPr>
                        <a:t>tháo</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tiếp</a:t>
                      </a:r>
                      <a:r>
                        <a:rPr lang="en-US" sz="1200" b="1" i="0" u="none" strike="noStrike" dirty="0">
                          <a:solidFill>
                            <a:schemeClr val="bg1"/>
                          </a:solidFill>
                          <a:effectLst/>
                          <a:latin typeface="+mn-lt"/>
                          <a:cs typeface="Times New Roman" panose="02020603050405020304" pitchFamily="18" charset="0"/>
                        </a:rPr>
                        <a:t> </a:t>
                      </a:r>
                      <a:r>
                        <a:rPr lang="en-US" sz="1200" b="1" i="0" u="none" strike="noStrike" dirty="0" err="1">
                          <a:solidFill>
                            <a:schemeClr val="bg1"/>
                          </a:solidFill>
                          <a:effectLst/>
                          <a:latin typeface="+mn-lt"/>
                          <a:cs typeface="Times New Roman" panose="02020603050405020304" pitchFamily="18" charset="0"/>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286071">
                <a:tc>
                  <a:txBody>
                    <a:bodyPr/>
                    <a:lstStyle/>
                    <a:p>
                      <a:pPr algn="ctr" fontAlgn="ctr"/>
                      <a:r>
                        <a:rPr lang="en-US" sz="1200" b="0" u="none" strike="noStrike" dirty="0">
                          <a:solidFill>
                            <a:schemeClr val="tx1"/>
                          </a:solidFill>
                          <a:effectLst/>
                          <a:latin typeface="+mn-lt"/>
                        </a:rPr>
                        <a:t>956577</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24/03/2025</a:t>
                      </a:r>
                    </a:p>
                  </a:txBody>
                  <a:tcPr marL="12700" marR="12700" marT="12700" marB="0" anchor="ctr"/>
                </a:tc>
                <a:tc>
                  <a:txBody>
                    <a:bodyPr/>
                    <a:lstStyle/>
                    <a:p>
                      <a:pPr algn="ctr" fontAlgn="ctr"/>
                      <a:r>
                        <a:rPr lang="en-US" sz="1200" u="none" strike="noStrike" dirty="0">
                          <a:solidFill>
                            <a:schemeClr val="tx1"/>
                          </a:solidFill>
                          <a:effectLst/>
                          <a:latin typeface="+mn-lt"/>
                        </a:rPr>
                        <a:t>TBD</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210231">
                <a:tc>
                  <a:txBody>
                    <a:bodyPr/>
                    <a:lstStyle/>
                    <a:p>
                      <a:pPr algn="ctr" fontAlgn="ctr"/>
                      <a:r>
                        <a:rPr lang="en-US" sz="1200" b="0" i="0" u="none" strike="noStrike" dirty="0">
                          <a:solidFill>
                            <a:schemeClr val="tx1"/>
                          </a:solidFill>
                          <a:effectLst/>
                          <a:latin typeface="+mn-lt"/>
                          <a:cs typeface="Times New Roman" panose="02020603050405020304" pitchFamily="18" charset="0"/>
                        </a:rPr>
                        <a:t>956769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08/04/2025</a:t>
                      </a: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Induction 22/07/2025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93248472"/>
                  </a:ext>
                </a:extLst>
              </a:tr>
              <a:tr h="210231">
                <a:tc>
                  <a:txBody>
                    <a:bodyPr/>
                    <a:lstStyle/>
                    <a:p>
                      <a:pPr algn="ctr" fontAlgn="ctr"/>
                      <a:r>
                        <a:rPr lang="en-US" sz="1200" b="0" u="none" strike="noStrike" dirty="0">
                          <a:solidFill>
                            <a:schemeClr val="tx1"/>
                          </a:solidFill>
                          <a:effectLst/>
                          <a:latin typeface="+mn-lt"/>
                        </a:rPr>
                        <a:t>956913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11/05/2024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Induction 24/06/2025</a:t>
                      </a:r>
                    </a:p>
                  </a:txBody>
                  <a:tcPr marL="12700" marR="12700" marT="12700" marB="0" anchor="ctr"/>
                </a:tc>
                <a:tc>
                  <a:txBody>
                    <a:bodyPr/>
                    <a:lstStyle/>
                    <a:p>
                      <a:pPr marL="0" algn="ctr" defTabSz="914400" rtl="0" eaLnBrk="1" fontAlgn="ctr" latinLnBrk="0" hangingPunct="1"/>
                      <a:r>
                        <a:rPr lang="en-US" sz="1200" b="0" i="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603390">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err="1">
                          <a:solidFill>
                            <a:srgbClr val="BA0000"/>
                          </a:solidFill>
                          <a:effectLst/>
                          <a:latin typeface="+mn-lt"/>
                          <a:cs typeface="Times New Roman" panose="02020603050405020304" pitchFamily="18" charset="0"/>
                        </a:rPr>
                        <a:t>Đã</a:t>
                      </a:r>
                      <a:r>
                        <a:rPr lang="en-US" sz="1200" b="1" u="none" strike="noStrike" dirty="0">
                          <a:solidFill>
                            <a:srgbClr val="BA0000"/>
                          </a:solidFill>
                          <a:effectLst/>
                          <a:latin typeface="+mn-lt"/>
                          <a:cs typeface="Times New Roman" panose="02020603050405020304" pitchFamily="18" charset="0"/>
                        </a:rPr>
                        <a:t> </a:t>
                      </a:r>
                      <a:r>
                        <a:rPr lang="en-US" sz="1200" b="1" u="none" strike="noStrike" dirty="0" err="1">
                          <a:solidFill>
                            <a:srgbClr val="BA0000"/>
                          </a:solidFill>
                          <a:effectLst/>
                          <a:latin typeface="+mn-lt"/>
                          <a:cs typeface="Times New Roman" panose="02020603050405020304" pitchFamily="18" charset="0"/>
                        </a:rPr>
                        <a:t>về</a:t>
                      </a:r>
                      <a:endParaRPr lang="en-US" sz="1200" b="1" u="none" strike="noStrike" dirty="0">
                        <a:solidFill>
                          <a:srgbClr val="BA0000"/>
                        </a:solidFill>
                        <a:effectLst/>
                        <a:latin typeface="+mn-lt"/>
                        <a:cs typeface="Times New Roman" panose="02020603050405020304" pitchFamily="18" charset="0"/>
                      </a:endParaRPr>
                    </a:p>
                    <a:p>
                      <a:pPr algn="ctr" fontAlgn="ctr"/>
                      <a:r>
                        <a:rPr lang="en-US" sz="1200" b="0" u="none" strike="noStrike" dirty="0">
                          <a:solidFill>
                            <a:schemeClr val="tx1"/>
                          </a:solidFill>
                          <a:effectLst/>
                          <a:latin typeface="+mn-lt"/>
                          <a:cs typeface="Times New Roman" panose="02020603050405020304" pitchFamily="18" charset="0"/>
                        </a:rPr>
                        <a:t>Inducted 12/11/2024</a:t>
                      </a:r>
                    </a:p>
                  </a:txBody>
                  <a:tcPr marL="12700" marR="12700" marT="12700" marB="0" anchor="ctr"/>
                </a:tc>
                <a:tc>
                  <a:txBody>
                    <a:bodyPr/>
                    <a:lstStyle/>
                    <a:p>
                      <a:pPr marL="0" algn="ctr" defTabSz="914400" rtl="0" eaLnBrk="1" fontAlgn="ctr" latinLnBrk="0" hangingPunct="1"/>
                      <a:r>
                        <a:rPr lang="en-US" sz="1200" b="1" i="0" u="none" strike="noStrike" kern="1200" dirty="0" err="1">
                          <a:solidFill>
                            <a:srgbClr val="BA0000"/>
                          </a:solidFill>
                          <a:effectLst/>
                          <a:latin typeface="+mn-lt"/>
                          <a:ea typeface="+mn-ea"/>
                          <a:cs typeface="Times New Roman" panose="02020603050405020304" pitchFamily="18" charset="0"/>
                        </a:rPr>
                        <a:t>Đã</a:t>
                      </a:r>
                      <a:r>
                        <a:rPr lang="en-US" sz="1200" b="1" i="0" u="none" strike="noStrike" kern="1200" dirty="0">
                          <a:solidFill>
                            <a:srgbClr val="BA0000"/>
                          </a:solidFill>
                          <a:effectLst/>
                          <a:latin typeface="+mn-lt"/>
                          <a:ea typeface="+mn-ea"/>
                          <a:cs typeface="Times New Roman" panose="02020603050405020304" pitchFamily="18" charset="0"/>
                        </a:rPr>
                        <a:t> </a:t>
                      </a:r>
                      <a:r>
                        <a:rPr lang="en-US" sz="1200" b="1" i="0" u="none" strike="noStrike" kern="1200" dirty="0" err="1">
                          <a:solidFill>
                            <a:srgbClr val="BA0000"/>
                          </a:solidFill>
                          <a:effectLst/>
                          <a:latin typeface="+mn-lt"/>
                          <a:ea typeface="+mn-ea"/>
                          <a:cs typeface="Times New Roman" panose="02020603050405020304" pitchFamily="18" charset="0"/>
                        </a:rPr>
                        <a:t>về</a:t>
                      </a:r>
                      <a:endParaRPr lang="en-US" sz="1200" b="1" i="0" u="none" strike="noStrike" kern="1200" dirty="0">
                        <a:solidFill>
                          <a:srgbClr val="BA0000"/>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A873 (958438)</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t>
                      </a:r>
                      <a:r>
                        <a:rPr lang="en-US" sz="1200" b="0" i="0" u="none" strike="noStrike" dirty="0" err="1">
                          <a:solidFill>
                            <a:schemeClr val="tx1"/>
                          </a:solidFill>
                          <a:effectLst/>
                          <a:latin typeface="+mn-lt"/>
                          <a:cs typeface="Times New Roman" panose="02020603050405020304" pitchFamily="18" charset="0"/>
                        </a:rPr>
                        <a:t>hoặc</a:t>
                      </a:r>
                      <a:r>
                        <a:rPr lang="en-US" sz="1200" b="0" i="0" u="none" strike="noStrike" dirty="0">
                          <a:solidFill>
                            <a:schemeClr val="tx1"/>
                          </a:solidFill>
                          <a:effectLst/>
                          <a:latin typeface="+mn-lt"/>
                          <a:cs typeface="Times New Roman" panose="02020603050405020304" pitchFamily="18" charset="0"/>
                        </a:rPr>
                        <a:t> A863 958170 </a:t>
                      </a:r>
                      <a:r>
                        <a:rPr lang="en-US" sz="1200" b="0" i="0" u="none" strike="noStrike" dirty="0" err="1">
                          <a:solidFill>
                            <a:schemeClr val="tx1"/>
                          </a:solidFill>
                          <a:effectLst/>
                          <a:latin typeface="+mn-lt"/>
                          <a:cs typeface="Times New Roman" panose="02020603050405020304" pitchFamily="18" charset="0"/>
                        </a:rPr>
                        <a:t>nếu</a:t>
                      </a:r>
                      <a:r>
                        <a:rPr lang="en-US" sz="1200" b="0" i="0" u="none" strike="noStrike" dirty="0">
                          <a:solidFill>
                            <a:schemeClr val="tx1"/>
                          </a:solidFill>
                          <a:effectLst/>
                          <a:latin typeface="+mn-lt"/>
                          <a:cs typeface="Times New Roman" panose="02020603050405020304" pitchFamily="18" charset="0"/>
                        </a:rPr>
                        <a:t> UER)</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406810">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03/07/2025</a:t>
                      </a:r>
                    </a:p>
                    <a:p>
                      <a:pPr algn="ctr" fontAlgn="ctr"/>
                      <a:r>
                        <a:rPr lang="en-US" sz="1200" b="0" u="none" strike="noStrike" dirty="0">
                          <a:solidFill>
                            <a:schemeClr val="tx1"/>
                          </a:solidFill>
                          <a:effectLst/>
                          <a:latin typeface="+mn-lt"/>
                          <a:cs typeface="Times New Roman" panose="02020603050405020304" pitchFamily="18" charset="0"/>
                        </a:rPr>
                        <a:t>Inducted 26/11/2024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10/07/2025</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A863 </a:t>
                      </a:r>
                      <a:r>
                        <a:rPr lang="en-US" sz="1200" b="0" i="0" u="none" strike="noStrike" dirty="0" err="1">
                          <a:solidFill>
                            <a:schemeClr val="tx1"/>
                          </a:solidFill>
                          <a:effectLst/>
                          <a:latin typeface="+mn-lt"/>
                          <a:cs typeface="Times New Roman" panose="02020603050405020304" pitchFamily="18" charset="0"/>
                        </a:rPr>
                        <a:t>hoặc</a:t>
                      </a:r>
                      <a:r>
                        <a:rPr lang="en-US" sz="1200" b="0" i="0" u="none" strike="noStrike" dirty="0">
                          <a:solidFill>
                            <a:schemeClr val="tx1"/>
                          </a:solidFill>
                          <a:effectLst/>
                          <a:latin typeface="+mn-lt"/>
                          <a:cs typeface="Times New Roman" panose="02020603050405020304" pitchFamily="18" charset="0"/>
                        </a:rPr>
                        <a:t> A873</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210231">
                <a:tc>
                  <a:txBody>
                    <a:bodyPr/>
                    <a:lstStyle/>
                    <a:p>
                      <a:pPr algn="ctr" fontAlgn="ctr"/>
                      <a:r>
                        <a:rPr lang="en-US" sz="1200" b="0" i="0" u="none" strike="noStrike" dirty="0">
                          <a:solidFill>
                            <a:schemeClr val="tx1"/>
                          </a:solidFill>
                          <a:effectLst/>
                          <a:latin typeface="+mn-lt"/>
                          <a:cs typeface="Times New Roman" panose="02020603050405020304" pitchFamily="18" charset="0"/>
                        </a:rPr>
                        <a:t>956638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11/03/2025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Induction 27/05/2025</a:t>
                      </a:r>
                    </a:p>
                  </a:txBody>
                  <a:tcPr marL="12700" marR="12700" marT="12700" marB="0" anchor="ctr"/>
                </a:tc>
                <a:tc>
                  <a:txBody>
                    <a:bodyPr/>
                    <a:lstStyle/>
                    <a:p>
                      <a:pPr algn="ctr" fontAlgn="ctr"/>
                      <a:r>
                        <a:rPr lang="en-US" sz="1200" b="0" u="none" strike="noStrike" kern="1200" dirty="0">
                          <a:solidFill>
                            <a:schemeClr val="tx1"/>
                          </a:solidFill>
                          <a:effectLst/>
                          <a:latin typeface="+mn-lt"/>
                          <a:ea typeface="+mn-ea"/>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406810">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13/09/2025</a:t>
                      </a:r>
                    </a:p>
                    <a:p>
                      <a:pPr algn="ctr" fontAlgn="ctr"/>
                      <a:r>
                        <a:rPr lang="en-US" sz="1200" b="0" u="none" strike="noStrike" dirty="0">
                          <a:solidFill>
                            <a:schemeClr val="tx1"/>
                          </a:solidFill>
                          <a:effectLst/>
                          <a:latin typeface="+mn-lt"/>
                          <a:cs typeface="Times New Roman" panose="02020603050405020304" pitchFamily="18" charset="0"/>
                        </a:rPr>
                        <a:t>Inducted 04/03/2025       </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210231">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Inducted 15/04/2025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406810">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15/08/2025</a:t>
                      </a:r>
                    </a:p>
                    <a:p>
                      <a:pPr algn="ctr" fontAlgn="ctr"/>
                      <a:r>
                        <a:rPr lang="en-US" sz="1200" b="0" u="none" strike="noStrike" dirty="0">
                          <a:solidFill>
                            <a:schemeClr val="tx1"/>
                          </a:solidFill>
                          <a:effectLst/>
                          <a:latin typeface="+mn-lt"/>
                          <a:cs typeface="Times New Roman" panose="02020603050405020304" pitchFamily="18" charset="0"/>
                        </a:rPr>
                        <a:t>Inducted 05/05/2025</a:t>
                      </a:r>
                    </a:p>
                  </a:txBody>
                  <a:tcPr marL="12700" marR="12700" marT="12700" marB="0" anchor="ctr"/>
                </a:tc>
                <a:tc>
                  <a:txBody>
                    <a:bodyPr/>
                    <a:lstStyle/>
                    <a:p>
                      <a:pPr algn="ctr" fontAlgn="ctr"/>
                      <a:r>
                        <a:rPr lang="en-US" sz="1200" b="0"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chemeClr val="tx1"/>
                          </a:solidFill>
                          <a:effectLst/>
                          <a:latin typeface="+mn-lt"/>
                          <a:cs typeface="Times New Roman" panose="02020603050405020304" pitchFamily="18" charset="0"/>
                        </a:rPr>
                        <a:t>A862 (956600)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49697906"/>
                  </a:ext>
                </a:extLst>
              </a:tr>
              <a:tr h="406810">
                <a:tc>
                  <a:txBody>
                    <a:bodyPr/>
                    <a:lstStyle/>
                    <a:p>
                      <a:pPr algn="ctr" fontAlgn="ctr"/>
                      <a:r>
                        <a:rPr lang="en-US" sz="1200" b="0" i="0" u="none" strike="noStrike" dirty="0">
                          <a:solidFill>
                            <a:schemeClr val="tx1"/>
                          </a:solidFill>
                          <a:effectLst/>
                          <a:latin typeface="+mn-lt"/>
                          <a:cs typeface="Times New Roman" panose="02020603050405020304" pitchFamily="18" charset="0"/>
                        </a:rPr>
                        <a:t>956677</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AERCAP</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N/A</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0" u="none" strike="noStrike" dirty="0">
                        <a:solidFill>
                          <a:schemeClr val="tx1"/>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u="none" strike="noStrike" dirty="0" err="1">
                          <a:solidFill>
                            <a:schemeClr val="tx1"/>
                          </a:solidFill>
                          <a:effectLst/>
                          <a:latin typeface="+mn-lt"/>
                          <a:cs typeface="Times New Roman" panose="02020603050405020304" pitchFamily="18" charset="0"/>
                        </a:rPr>
                        <a:t>Cuối</a:t>
                      </a:r>
                      <a:r>
                        <a:rPr lang="en-US" sz="1200" b="0" u="none" strike="noStrike" dirty="0">
                          <a:solidFill>
                            <a:schemeClr val="tx1"/>
                          </a:solidFill>
                          <a:effectLst/>
                          <a:latin typeface="+mn-lt"/>
                          <a:cs typeface="Times New Roman" panose="02020603050405020304" pitchFamily="18" charset="0"/>
                        </a:rPr>
                        <a:t> T7- </a:t>
                      </a:r>
                      <a:r>
                        <a:rPr lang="en-US" sz="1200" b="0" u="none" strike="noStrike" dirty="0" err="1">
                          <a:solidFill>
                            <a:schemeClr val="tx1"/>
                          </a:solidFill>
                          <a:effectLst/>
                          <a:latin typeface="+mn-lt"/>
                          <a:cs typeface="Times New Roman" panose="02020603050405020304" pitchFamily="18" charset="0"/>
                        </a:rPr>
                        <a:t>Đầu</a:t>
                      </a:r>
                      <a:r>
                        <a:rPr lang="en-US" sz="1200" b="0" u="none" strike="noStrike" dirty="0">
                          <a:solidFill>
                            <a:schemeClr val="tx1"/>
                          </a:solidFill>
                          <a:effectLst/>
                          <a:latin typeface="+mn-lt"/>
                          <a:cs typeface="Times New Roman" panose="02020603050405020304" pitchFamily="18" charset="0"/>
                        </a:rPr>
                        <a:t> T8</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err="1">
                          <a:solidFill>
                            <a:schemeClr val="tx1"/>
                          </a:solidFill>
                          <a:effectLst/>
                          <a:latin typeface="+mn-lt"/>
                          <a:cs typeface="Times New Roman" panose="02020603050405020304" pitchFamily="18" charset="0"/>
                        </a:rPr>
                        <a:t>Thuê</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Aercap</a:t>
                      </a:r>
                      <a:r>
                        <a:rPr lang="en-US" sz="1200" b="0" i="0" u="none" strike="noStrike" dirty="0">
                          <a:solidFill>
                            <a:schemeClr val="tx1"/>
                          </a:solidFill>
                          <a:effectLst/>
                          <a:latin typeface="+mn-lt"/>
                          <a:cs typeface="Times New Roman" panose="02020603050405020304" pitchFamily="18" charset="0"/>
                        </a:rPr>
                        <a:t> </a:t>
                      </a:r>
                      <a:r>
                        <a:rPr lang="en-US" sz="1200" b="0" i="0" u="none" strike="noStrike" dirty="0" err="1">
                          <a:solidFill>
                            <a:schemeClr val="tx1"/>
                          </a:solidFill>
                          <a:effectLst/>
                          <a:latin typeface="+mn-lt"/>
                          <a:cs typeface="Times New Roman" panose="02020603050405020304" pitchFamily="18" charset="0"/>
                        </a:rPr>
                        <a:t>đổi</a:t>
                      </a:r>
                      <a:r>
                        <a:rPr lang="en-US" sz="1200" b="0" i="0" u="none" strike="noStrike" dirty="0">
                          <a:solidFill>
                            <a:schemeClr val="tx1"/>
                          </a:solidFill>
                          <a:effectLst/>
                          <a:latin typeface="+mn-lt"/>
                          <a:cs typeface="Times New Roman" panose="02020603050405020304" pitchFamily="18" charset="0"/>
                        </a:rPr>
                        <a:t> 958266</a:t>
                      </a: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8071698"/>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A9D91912-17CF-433C-B165-5E5AB289CBE4}"/>
              </a:ext>
            </a:extLst>
          </p:cNvPr>
          <p:cNvGraphicFramePr>
            <a:graphicFrameLocks noGrp="1"/>
          </p:cNvGraphicFramePr>
          <p:nvPr/>
        </p:nvGraphicFramePr>
        <p:xfrm>
          <a:off x="6203332" y="4419600"/>
          <a:ext cx="5885504" cy="2377440"/>
        </p:xfrm>
        <a:graphic>
          <a:graphicData uri="http://schemas.openxmlformats.org/drawingml/2006/table">
            <a:tbl>
              <a:tblPr firstRow="1" bandRow="1">
                <a:tableStyleId>{93296810-A885-4BE3-A3E7-6D5BEEA58F35}</a:tableStyleId>
              </a:tblPr>
              <a:tblGrid>
                <a:gridCol w="459580">
                  <a:extLst>
                    <a:ext uri="{9D8B030D-6E8A-4147-A177-3AD203B41FA5}">
                      <a16:colId xmlns:a16="http://schemas.microsoft.com/office/drawing/2014/main" val="3292621586"/>
                    </a:ext>
                  </a:extLst>
                </a:gridCol>
                <a:gridCol w="919160">
                  <a:extLst>
                    <a:ext uri="{9D8B030D-6E8A-4147-A177-3AD203B41FA5}">
                      <a16:colId xmlns:a16="http://schemas.microsoft.com/office/drawing/2014/main" val="3587079032"/>
                    </a:ext>
                  </a:extLst>
                </a:gridCol>
                <a:gridCol w="612773">
                  <a:extLst>
                    <a:ext uri="{9D8B030D-6E8A-4147-A177-3AD203B41FA5}">
                      <a16:colId xmlns:a16="http://schemas.microsoft.com/office/drawing/2014/main" val="3691161886"/>
                    </a:ext>
                  </a:extLst>
                </a:gridCol>
                <a:gridCol w="1225547">
                  <a:extLst>
                    <a:ext uri="{9D8B030D-6E8A-4147-A177-3AD203B41FA5}">
                      <a16:colId xmlns:a16="http://schemas.microsoft.com/office/drawing/2014/main" val="1199058238"/>
                    </a:ext>
                  </a:extLst>
                </a:gridCol>
                <a:gridCol w="2668444">
                  <a:extLst>
                    <a:ext uri="{9D8B030D-6E8A-4147-A177-3AD203B41FA5}">
                      <a16:colId xmlns:a16="http://schemas.microsoft.com/office/drawing/2014/main" val="2279892850"/>
                    </a:ext>
                  </a:extLst>
                </a:gridCol>
              </a:tblGrid>
              <a:tr h="226220">
                <a:tc>
                  <a:txBody>
                    <a:bodyPr/>
                    <a:lstStyle/>
                    <a:p>
                      <a:endParaRPr lang="en-US" sz="1200"/>
                    </a:p>
                  </a:txBody>
                  <a:tcPr/>
                </a:tc>
                <a:tc>
                  <a:txBody>
                    <a:bodyPr/>
                    <a:lstStyle/>
                    <a:p>
                      <a:r>
                        <a:rPr lang="en-US" sz="1200"/>
                        <a:t>ESN</a:t>
                      </a:r>
                    </a:p>
                  </a:txBody>
                  <a:tcPr/>
                </a:tc>
                <a:tc>
                  <a:txBody>
                    <a:bodyPr/>
                    <a:lstStyle/>
                    <a:p>
                      <a:r>
                        <a:rPr lang="en-US" sz="1200"/>
                        <a:t>AC</a:t>
                      </a:r>
                    </a:p>
                  </a:txBody>
                  <a:tcPr/>
                </a:tc>
                <a:tc>
                  <a:txBody>
                    <a:bodyPr/>
                    <a:lstStyle/>
                    <a:p>
                      <a:r>
                        <a:rPr lang="en-US" sz="1200"/>
                        <a:t>Interval</a:t>
                      </a:r>
                    </a:p>
                  </a:txBody>
                  <a:tcPr/>
                </a:tc>
                <a:tc>
                  <a:txBody>
                    <a:bodyPr/>
                    <a:lstStyle/>
                    <a:p>
                      <a:r>
                        <a:rPr lang="en-US" sz="1200"/>
                        <a:t>Remark</a:t>
                      </a:r>
                    </a:p>
                  </a:txBody>
                  <a:tcPr/>
                </a:tc>
                <a:extLst>
                  <a:ext uri="{0D108BD9-81ED-4DB2-BD59-A6C34878D82A}">
                    <a16:rowId xmlns:a16="http://schemas.microsoft.com/office/drawing/2014/main" val="2389571425"/>
                  </a:ext>
                </a:extLst>
              </a:tr>
              <a:tr h="352095">
                <a:tc>
                  <a:txBody>
                    <a:bodyPr/>
                    <a:lstStyle/>
                    <a:p>
                      <a:r>
                        <a:rPr lang="en-US" sz="1200"/>
                        <a:t>1</a:t>
                      </a:r>
                    </a:p>
                  </a:txBody>
                  <a:tcPr/>
                </a:tc>
                <a:tc>
                  <a:txBody>
                    <a:bodyPr/>
                    <a:lstStyle/>
                    <a:p>
                      <a:r>
                        <a:rPr lang="en-US" sz="1200" dirty="0"/>
                        <a:t>958170</a:t>
                      </a:r>
                    </a:p>
                  </a:txBody>
                  <a:tcPr/>
                </a:tc>
                <a:tc>
                  <a:txBody>
                    <a:bodyPr/>
                    <a:lstStyle/>
                    <a:p>
                      <a:r>
                        <a:rPr lang="en-US" sz="1200"/>
                        <a:t>A863</a:t>
                      </a:r>
                    </a:p>
                  </a:txBody>
                  <a:tcPr/>
                </a:tc>
                <a:tc>
                  <a:txBody>
                    <a:bodyPr/>
                    <a:lstStyle/>
                    <a:p>
                      <a:r>
                        <a:rPr lang="en-US" sz="1200"/>
                        <a:t>50FC</a:t>
                      </a:r>
                    </a:p>
                  </a:txBody>
                  <a:tcPr/>
                </a:tc>
                <a:tc>
                  <a:txBody>
                    <a:bodyPr/>
                    <a:lstStyle/>
                    <a:p>
                      <a:r>
                        <a:rPr lang="en-US" sz="1200" dirty="0" err="1"/>
                        <a:t>Đã</a:t>
                      </a:r>
                      <a:r>
                        <a:rPr lang="en-US" sz="1200" dirty="0"/>
                        <a:t> </a:t>
                      </a:r>
                      <a:r>
                        <a:rPr lang="en-US" sz="1200" dirty="0" err="1"/>
                        <a:t>yêu</a:t>
                      </a:r>
                      <a:r>
                        <a:rPr lang="en-US" sz="1200" dirty="0"/>
                        <a:t> </a:t>
                      </a:r>
                      <a:r>
                        <a:rPr lang="en-US" sz="1200" dirty="0" err="1"/>
                        <a:t>cầu</a:t>
                      </a:r>
                      <a:r>
                        <a:rPr lang="en-US" sz="1200" dirty="0"/>
                        <a:t> soi </a:t>
                      </a:r>
                      <a:r>
                        <a:rPr lang="en-US" sz="1200" dirty="0" err="1"/>
                        <a:t>sớm</a:t>
                      </a:r>
                      <a:r>
                        <a:rPr lang="en-US" sz="1200" dirty="0"/>
                        <a:t> </a:t>
                      </a:r>
                      <a:r>
                        <a:rPr lang="en-US" sz="1200" dirty="0" err="1"/>
                        <a:t>khi</a:t>
                      </a:r>
                      <a:r>
                        <a:rPr lang="en-US" sz="1200" dirty="0"/>
                        <a:t> </a:t>
                      </a:r>
                      <a:r>
                        <a:rPr lang="en-US" sz="1200" dirty="0" err="1"/>
                        <a:t>tàu</a:t>
                      </a:r>
                      <a:r>
                        <a:rPr lang="en-US" sz="1200" dirty="0"/>
                        <a:t> AOG (</a:t>
                      </a:r>
                      <a:r>
                        <a:rPr lang="en-US" sz="1200" dirty="0" err="1"/>
                        <a:t>đang</a:t>
                      </a:r>
                      <a:r>
                        <a:rPr lang="en-US" sz="1200" dirty="0"/>
                        <a:t> </a:t>
                      </a:r>
                      <a:r>
                        <a:rPr lang="en-US" sz="1200" dirty="0" err="1"/>
                        <a:t>chờ</a:t>
                      </a:r>
                      <a:r>
                        <a:rPr lang="en-US" sz="1200" dirty="0"/>
                        <a:t> Boeing </a:t>
                      </a:r>
                      <a:r>
                        <a:rPr lang="en-US" sz="1200" dirty="0" err="1"/>
                        <a:t>phản</a:t>
                      </a:r>
                      <a:r>
                        <a:rPr lang="en-US" sz="1200" dirty="0"/>
                        <a:t> </a:t>
                      </a:r>
                      <a:r>
                        <a:rPr lang="en-US" sz="1200" dirty="0" err="1"/>
                        <a:t>hồi</a:t>
                      </a:r>
                      <a:r>
                        <a:rPr lang="en-US" sz="1200" dirty="0"/>
                        <a:t>). </a:t>
                      </a:r>
                    </a:p>
                  </a:txBody>
                  <a:tcPr/>
                </a:tc>
                <a:extLst>
                  <a:ext uri="{0D108BD9-81ED-4DB2-BD59-A6C34878D82A}">
                    <a16:rowId xmlns:a16="http://schemas.microsoft.com/office/drawing/2014/main" val="3899119871"/>
                  </a:ext>
                </a:extLst>
              </a:tr>
              <a:tr h="226220">
                <a:tc>
                  <a:txBody>
                    <a:bodyPr/>
                    <a:lstStyle/>
                    <a:p>
                      <a:r>
                        <a:rPr lang="en-US" sz="1200"/>
                        <a:t>2</a:t>
                      </a:r>
                    </a:p>
                  </a:txBody>
                  <a:tcPr/>
                </a:tc>
                <a:tc>
                  <a:txBody>
                    <a:bodyPr/>
                    <a:lstStyle/>
                    <a:p>
                      <a:r>
                        <a:rPr lang="en-US" sz="1200"/>
                        <a:t>958266</a:t>
                      </a:r>
                    </a:p>
                  </a:txBody>
                  <a:tcPr/>
                </a:tc>
                <a:tc>
                  <a:txBody>
                    <a:bodyPr/>
                    <a:lstStyle/>
                    <a:p>
                      <a:r>
                        <a:rPr lang="en-US" sz="1200"/>
                        <a:t>A874</a:t>
                      </a:r>
                    </a:p>
                  </a:txBody>
                  <a:tcPr/>
                </a:tc>
                <a:tc>
                  <a:txBody>
                    <a:bodyPr/>
                    <a:lstStyle/>
                    <a:p>
                      <a:r>
                        <a:rPr lang="en-US" sz="1200"/>
                        <a:t>100FC</a:t>
                      </a:r>
                    </a:p>
                  </a:txBody>
                  <a:tcPr/>
                </a:tc>
                <a:tc>
                  <a:txBody>
                    <a:bodyPr/>
                    <a:lstStyle/>
                    <a:p>
                      <a:r>
                        <a:rPr lang="en-US" sz="1200" dirty="0"/>
                        <a:t>Thay </a:t>
                      </a:r>
                      <a:r>
                        <a:rPr lang="en-US" sz="1200" dirty="0" err="1"/>
                        <a:t>giữa</a:t>
                      </a:r>
                      <a:r>
                        <a:rPr lang="en-US" sz="1200" dirty="0"/>
                        <a:t> T8 </a:t>
                      </a:r>
                      <a:r>
                        <a:rPr lang="en-US" sz="1200" dirty="0" err="1"/>
                        <a:t>bằng</a:t>
                      </a:r>
                      <a:r>
                        <a:rPr lang="en-US" sz="1200" dirty="0"/>
                        <a:t> </a:t>
                      </a:r>
                      <a:r>
                        <a:rPr lang="en-US" sz="1200" dirty="0" err="1"/>
                        <a:t>động</a:t>
                      </a:r>
                      <a:r>
                        <a:rPr lang="en-US" sz="1200" dirty="0"/>
                        <a:t> </a:t>
                      </a:r>
                      <a:r>
                        <a:rPr lang="en-US" sz="1200" dirty="0" err="1"/>
                        <a:t>cơ</a:t>
                      </a:r>
                      <a:r>
                        <a:rPr lang="en-US" sz="1200" dirty="0"/>
                        <a:t> </a:t>
                      </a:r>
                      <a:r>
                        <a:rPr lang="en-US" sz="1200" dirty="0" err="1"/>
                        <a:t>trả</a:t>
                      </a:r>
                      <a:endParaRPr lang="en-US" sz="1200" dirty="0"/>
                    </a:p>
                  </a:txBody>
                  <a:tcPr/>
                </a:tc>
                <a:extLst>
                  <a:ext uri="{0D108BD9-81ED-4DB2-BD59-A6C34878D82A}">
                    <a16:rowId xmlns:a16="http://schemas.microsoft.com/office/drawing/2014/main" val="3244585303"/>
                  </a:ext>
                </a:extLst>
              </a:tr>
              <a:tr h="226220">
                <a:tc>
                  <a:txBody>
                    <a:bodyPr/>
                    <a:lstStyle/>
                    <a:p>
                      <a:r>
                        <a:rPr lang="en-US" sz="1200"/>
                        <a:t>3</a:t>
                      </a:r>
                    </a:p>
                  </a:txBody>
                  <a:tcPr/>
                </a:tc>
                <a:tc>
                  <a:txBody>
                    <a:bodyPr/>
                    <a:lstStyle/>
                    <a:p>
                      <a:r>
                        <a:rPr lang="en-US" sz="1200"/>
                        <a:t>956600</a:t>
                      </a:r>
                    </a:p>
                  </a:txBody>
                  <a:tcPr/>
                </a:tc>
                <a:tc>
                  <a:txBody>
                    <a:bodyPr/>
                    <a:lstStyle/>
                    <a:p>
                      <a:r>
                        <a:rPr lang="en-US" sz="1200"/>
                        <a:t>A862</a:t>
                      </a:r>
                    </a:p>
                  </a:txBody>
                  <a:tcPr/>
                </a:tc>
                <a:tc>
                  <a:txBody>
                    <a:bodyPr/>
                    <a:lstStyle/>
                    <a:p>
                      <a:r>
                        <a:rPr lang="en-US" sz="1200"/>
                        <a:t>100FC</a:t>
                      </a:r>
                    </a:p>
                  </a:txBody>
                  <a:tcPr/>
                </a:tc>
                <a:tc>
                  <a:txBody>
                    <a:bodyPr/>
                    <a:lstStyle/>
                    <a:p>
                      <a:r>
                        <a:rPr lang="en-US" sz="1200" dirty="0"/>
                        <a:t>T8 </a:t>
                      </a:r>
                      <a:r>
                        <a:rPr lang="en-US" sz="1200" dirty="0" err="1"/>
                        <a:t>có</a:t>
                      </a:r>
                      <a:r>
                        <a:rPr lang="en-US" sz="1200" dirty="0"/>
                        <a:t> spare </a:t>
                      </a:r>
                      <a:r>
                        <a:rPr lang="en-US" sz="1200" dirty="0" err="1"/>
                        <a:t>thay</a:t>
                      </a:r>
                      <a:endParaRPr lang="en-US" sz="1200" dirty="0"/>
                    </a:p>
                  </a:txBody>
                  <a:tcPr/>
                </a:tc>
                <a:extLst>
                  <a:ext uri="{0D108BD9-81ED-4DB2-BD59-A6C34878D82A}">
                    <a16:rowId xmlns:a16="http://schemas.microsoft.com/office/drawing/2014/main" val="2820853633"/>
                  </a:ext>
                </a:extLst>
              </a:tr>
              <a:tr h="226220">
                <a:tc>
                  <a:txBody>
                    <a:bodyPr/>
                    <a:lstStyle/>
                    <a:p>
                      <a:r>
                        <a:rPr lang="en-US" sz="1200"/>
                        <a:t>4</a:t>
                      </a:r>
                    </a:p>
                  </a:txBody>
                  <a:tcPr/>
                </a:tc>
                <a:tc>
                  <a:txBody>
                    <a:bodyPr/>
                    <a:lstStyle/>
                    <a:p>
                      <a:r>
                        <a:rPr lang="en-US" sz="1200"/>
                        <a:t>958438</a:t>
                      </a:r>
                    </a:p>
                  </a:txBody>
                  <a:tcPr/>
                </a:tc>
                <a:tc>
                  <a:txBody>
                    <a:bodyPr/>
                    <a:lstStyle/>
                    <a:p>
                      <a:r>
                        <a:rPr lang="en-US" sz="1200"/>
                        <a:t>A873</a:t>
                      </a:r>
                    </a:p>
                  </a:txBody>
                  <a:tcPr/>
                </a:tc>
                <a:tc>
                  <a:txBody>
                    <a:bodyPr/>
                    <a:lstStyle/>
                    <a:p>
                      <a:r>
                        <a:rPr lang="en-US" sz="1200" dirty="0"/>
                        <a:t>100FC</a:t>
                      </a:r>
                    </a:p>
                  </a:txBody>
                  <a:tcPr/>
                </a:tc>
                <a:tc>
                  <a:txBody>
                    <a:bodyPr/>
                    <a:lstStyle/>
                    <a:p>
                      <a:r>
                        <a:rPr lang="en-US" sz="1200" dirty="0"/>
                        <a:t>Limit 5500FC (</a:t>
                      </a:r>
                      <a:r>
                        <a:rPr lang="en-US" sz="1200" dirty="0" err="1"/>
                        <a:t>hết</a:t>
                      </a:r>
                      <a:r>
                        <a:rPr lang="en-US" sz="1200" dirty="0"/>
                        <a:t> </a:t>
                      </a:r>
                      <a:r>
                        <a:rPr lang="en-US" sz="1200" dirty="0" err="1"/>
                        <a:t>hạn</a:t>
                      </a:r>
                      <a:r>
                        <a:rPr lang="en-US" sz="1200" dirty="0"/>
                        <a:t> </a:t>
                      </a:r>
                      <a:r>
                        <a:rPr lang="en-US" sz="1200" dirty="0" err="1"/>
                        <a:t>cuối</a:t>
                      </a:r>
                      <a:r>
                        <a:rPr lang="en-US" sz="1200" dirty="0"/>
                        <a:t> T7)</a:t>
                      </a:r>
                    </a:p>
                  </a:txBody>
                  <a:tcPr/>
                </a:tc>
                <a:extLst>
                  <a:ext uri="{0D108BD9-81ED-4DB2-BD59-A6C34878D82A}">
                    <a16:rowId xmlns:a16="http://schemas.microsoft.com/office/drawing/2014/main" val="3676968406"/>
                  </a:ext>
                </a:extLst>
              </a:tr>
              <a:tr h="226220">
                <a:tc>
                  <a:txBody>
                    <a:bodyPr/>
                    <a:lstStyle/>
                    <a:p>
                      <a:r>
                        <a:rPr lang="en-US" sz="1200"/>
                        <a:t>5</a:t>
                      </a:r>
                    </a:p>
                  </a:txBody>
                  <a:tcPr/>
                </a:tc>
                <a:tc>
                  <a:txBody>
                    <a:bodyPr/>
                    <a:lstStyle/>
                    <a:p>
                      <a:r>
                        <a:rPr lang="en-US" sz="1200"/>
                        <a:t>956639</a:t>
                      </a:r>
                    </a:p>
                  </a:txBody>
                  <a:tcPr/>
                </a:tc>
                <a:tc>
                  <a:txBody>
                    <a:bodyPr/>
                    <a:lstStyle/>
                    <a:p>
                      <a:r>
                        <a:rPr lang="en-US" sz="1200"/>
                        <a:t>A865</a:t>
                      </a:r>
                    </a:p>
                  </a:txBody>
                  <a:tcPr/>
                </a:tc>
                <a:tc>
                  <a:txBody>
                    <a:bodyPr/>
                    <a:lstStyle/>
                    <a:p>
                      <a:r>
                        <a:rPr lang="en-US" sz="1200"/>
                        <a:t>250FC</a:t>
                      </a:r>
                    </a:p>
                  </a:txBody>
                  <a:tcPr/>
                </a:tc>
                <a:tc>
                  <a:txBody>
                    <a:bodyPr/>
                    <a:lstStyle/>
                    <a:p>
                      <a:endParaRPr lang="en-US" sz="1200"/>
                    </a:p>
                  </a:txBody>
                  <a:tcPr/>
                </a:tc>
                <a:extLst>
                  <a:ext uri="{0D108BD9-81ED-4DB2-BD59-A6C34878D82A}">
                    <a16:rowId xmlns:a16="http://schemas.microsoft.com/office/drawing/2014/main" val="1805137390"/>
                  </a:ext>
                </a:extLst>
              </a:tr>
              <a:tr h="226220">
                <a:tc>
                  <a:txBody>
                    <a:bodyPr/>
                    <a:lstStyle/>
                    <a:p>
                      <a:r>
                        <a:rPr lang="en-US" sz="1200"/>
                        <a:t>6</a:t>
                      </a:r>
                    </a:p>
                  </a:txBody>
                  <a:tcPr/>
                </a:tc>
                <a:tc>
                  <a:txBody>
                    <a:bodyPr/>
                    <a:lstStyle/>
                    <a:p>
                      <a:r>
                        <a:rPr lang="en-US" sz="1200"/>
                        <a:t>958374</a:t>
                      </a:r>
                    </a:p>
                  </a:txBody>
                  <a:tcPr/>
                </a:tc>
                <a:tc>
                  <a:txBody>
                    <a:bodyPr/>
                    <a:lstStyle/>
                    <a:p>
                      <a:r>
                        <a:rPr lang="en-US" sz="1200"/>
                        <a:t>A861</a:t>
                      </a:r>
                    </a:p>
                  </a:txBody>
                  <a:tcPr/>
                </a:tc>
                <a:tc>
                  <a:txBody>
                    <a:bodyPr/>
                    <a:lstStyle/>
                    <a:p>
                      <a:r>
                        <a:rPr lang="en-US" sz="1200"/>
                        <a:t>250FC</a:t>
                      </a:r>
                    </a:p>
                  </a:txBody>
                  <a:tcPr/>
                </a:tc>
                <a:tc>
                  <a:txBody>
                    <a:bodyPr/>
                    <a:lstStyle/>
                    <a:p>
                      <a:r>
                        <a:rPr lang="en-US" sz="1200" dirty="0"/>
                        <a:t>T9 </a:t>
                      </a:r>
                      <a:r>
                        <a:rPr lang="en-US" sz="1200" dirty="0" err="1"/>
                        <a:t>có</a:t>
                      </a:r>
                      <a:r>
                        <a:rPr lang="en-US" sz="1200" dirty="0"/>
                        <a:t> spare </a:t>
                      </a:r>
                      <a:r>
                        <a:rPr lang="en-US" sz="1200" dirty="0" err="1"/>
                        <a:t>thay</a:t>
                      </a:r>
                      <a:endParaRPr lang="en-US" sz="1200" dirty="0"/>
                    </a:p>
                  </a:txBody>
                  <a:tcPr/>
                </a:tc>
                <a:extLst>
                  <a:ext uri="{0D108BD9-81ED-4DB2-BD59-A6C34878D82A}">
                    <a16:rowId xmlns:a16="http://schemas.microsoft.com/office/drawing/2014/main" val="1886295833"/>
                  </a:ext>
                </a:extLst>
              </a:tr>
              <a:tr h="226220">
                <a:tc>
                  <a:txBody>
                    <a:bodyPr/>
                    <a:lstStyle/>
                    <a:p>
                      <a:r>
                        <a:rPr lang="en-US" sz="1200" dirty="0"/>
                        <a:t>7</a:t>
                      </a:r>
                    </a:p>
                  </a:txBody>
                  <a:tcPr/>
                </a:tc>
                <a:tc>
                  <a:txBody>
                    <a:bodyPr/>
                    <a:lstStyle/>
                    <a:p>
                      <a:r>
                        <a:rPr lang="en-US" sz="1200" dirty="0"/>
                        <a:t>956555</a:t>
                      </a:r>
                    </a:p>
                  </a:txBody>
                  <a:tcPr/>
                </a:tc>
                <a:tc>
                  <a:txBody>
                    <a:bodyPr/>
                    <a:lstStyle/>
                    <a:p>
                      <a:r>
                        <a:rPr lang="en-US" sz="1200" dirty="0"/>
                        <a:t>A862</a:t>
                      </a:r>
                    </a:p>
                  </a:txBody>
                  <a:tcPr/>
                </a:tc>
                <a:tc>
                  <a:txBody>
                    <a:bodyPr/>
                    <a:lstStyle/>
                    <a:p>
                      <a:r>
                        <a:rPr lang="en-US" sz="1200" dirty="0"/>
                        <a:t>250FC</a:t>
                      </a:r>
                    </a:p>
                  </a:txBody>
                  <a:tcPr/>
                </a:tc>
                <a:tc>
                  <a:txBody>
                    <a:bodyPr/>
                    <a:lstStyle/>
                    <a:p>
                      <a:endParaRPr lang="en-US" sz="1200" dirty="0"/>
                    </a:p>
                  </a:txBody>
                  <a:tcPr/>
                </a:tc>
                <a:extLst>
                  <a:ext uri="{0D108BD9-81ED-4DB2-BD59-A6C34878D82A}">
                    <a16:rowId xmlns:a16="http://schemas.microsoft.com/office/drawing/2014/main" val="3981139605"/>
                  </a:ext>
                </a:extLst>
              </a:tr>
            </a:tbl>
          </a:graphicData>
        </a:graphic>
      </p:graphicFrame>
    </p:spTree>
    <p:extLst>
      <p:ext uri="{BB962C8B-B14F-4D97-AF65-F5344CB8AC3E}">
        <p14:creationId xmlns:p14="http://schemas.microsoft.com/office/powerpoint/2010/main" val="3726454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34</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34</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173504" y="-55345"/>
            <a:ext cx="5122010"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151306" y="707662"/>
          <a:ext cx="5787655" cy="4961726"/>
        </p:xfrm>
        <a:graphic>
          <a:graphicData uri="http://schemas.openxmlformats.org/drawingml/2006/table">
            <a:tbl>
              <a:tblPr firstRow="1" bandRow="1">
                <a:tableStyleId>{5C22544A-7EE6-4342-B048-85BDC9FD1C3A}</a:tableStyleId>
              </a:tblPr>
              <a:tblGrid>
                <a:gridCol w="686894">
                  <a:extLst>
                    <a:ext uri="{9D8B030D-6E8A-4147-A177-3AD203B41FA5}">
                      <a16:colId xmlns:a16="http://schemas.microsoft.com/office/drawing/2014/main" val="1930757539"/>
                    </a:ext>
                  </a:extLst>
                </a:gridCol>
                <a:gridCol w="685800">
                  <a:extLst>
                    <a:ext uri="{9D8B030D-6E8A-4147-A177-3AD203B41FA5}">
                      <a16:colId xmlns:a16="http://schemas.microsoft.com/office/drawing/2014/main" val="1674463010"/>
                    </a:ext>
                  </a:extLst>
                </a:gridCol>
                <a:gridCol w="533400">
                  <a:extLst>
                    <a:ext uri="{9D8B030D-6E8A-4147-A177-3AD203B41FA5}">
                      <a16:colId xmlns:a16="http://schemas.microsoft.com/office/drawing/2014/main" val="1549944897"/>
                    </a:ext>
                  </a:extLst>
                </a:gridCol>
                <a:gridCol w="2057400">
                  <a:extLst>
                    <a:ext uri="{9D8B030D-6E8A-4147-A177-3AD203B41FA5}">
                      <a16:colId xmlns:a16="http://schemas.microsoft.com/office/drawing/2014/main" val="3687717734"/>
                    </a:ext>
                  </a:extLst>
                </a:gridCol>
                <a:gridCol w="1824161">
                  <a:extLst>
                    <a:ext uri="{9D8B030D-6E8A-4147-A177-3AD203B41FA5}">
                      <a16:colId xmlns:a16="http://schemas.microsoft.com/office/drawing/2014/main" val="4100307886"/>
                    </a:ext>
                  </a:extLst>
                </a:gridCol>
              </a:tblGrid>
              <a:tr h="363427">
                <a:tc>
                  <a:txBody>
                    <a:bodyPr/>
                    <a:lstStyle/>
                    <a:p>
                      <a:r>
                        <a:rPr lang="en-US" sz="1100" dirty="0" err="1"/>
                        <a:t>Động</a:t>
                      </a:r>
                      <a:r>
                        <a:rPr lang="en-US" sz="1100" dirty="0"/>
                        <a:t> c</a:t>
                      </a:r>
                      <a:r>
                        <a:rPr lang="vi-VN" sz="1100" dirty="0"/>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a:t>Status</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a:t>TAT</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Ngày</a:t>
                      </a:r>
                      <a:r>
                        <a:rPr lang="en-US" sz="1100" dirty="0"/>
                        <a:t> </a:t>
                      </a:r>
                      <a:r>
                        <a:rPr lang="en-US" sz="1100" dirty="0" err="1"/>
                        <a:t>về</a:t>
                      </a:r>
                      <a:r>
                        <a:rPr lang="en-US" sz="1100" dirty="0"/>
                        <a:t> </a:t>
                      </a:r>
                      <a:r>
                        <a:rPr lang="en-US" sz="1100" dirty="0" err="1"/>
                        <a:t>dự</a:t>
                      </a:r>
                      <a:r>
                        <a:rPr lang="en-US" sz="1100" dirty="0"/>
                        <a:t> </a:t>
                      </a:r>
                      <a:r>
                        <a:rPr lang="en-US" sz="1100" dirty="0" err="1"/>
                        <a:t>kiến</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100" dirty="0" err="1"/>
                        <a:t>Kế</a:t>
                      </a:r>
                      <a:r>
                        <a:rPr lang="en-US" sz="1100" dirty="0"/>
                        <a:t> </a:t>
                      </a:r>
                      <a:r>
                        <a:rPr lang="en-US" sz="1100" dirty="0" err="1"/>
                        <a:t>hoạch</a:t>
                      </a:r>
                      <a:r>
                        <a:rPr lang="en-US" sz="1100" dirty="0"/>
                        <a:t> </a:t>
                      </a:r>
                      <a:r>
                        <a:rPr lang="en-US" sz="1100" dirty="0" err="1"/>
                        <a:t>sử</a:t>
                      </a:r>
                      <a:r>
                        <a:rPr lang="en-US" sz="1100" dirty="0"/>
                        <a:t> </a:t>
                      </a:r>
                      <a:r>
                        <a:rPr lang="en-US" sz="1100" dirty="0" err="1"/>
                        <a:t>dụng</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420810">
                <a:tc>
                  <a:txBody>
                    <a:bodyPr/>
                    <a:lstStyle/>
                    <a:p>
                      <a:pPr algn="ctr" fontAlgn="ctr"/>
                      <a:r>
                        <a:rPr lang="en-GB" sz="1100" b="0" u="none" strike="noStrike" dirty="0">
                          <a:solidFill>
                            <a:schemeClr val="tx1"/>
                          </a:solidFill>
                          <a:effectLst/>
                        </a:rPr>
                        <a:t>21040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HAESL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15/06/2025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a:solidFill>
                            <a:schemeClr val="tx1"/>
                          </a:solidFill>
                        </a:rPr>
                        <a:t>Đã giao. A886#1 </a:t>
                      </a:r>
                      <a:r>
                        <a:rPr lang="en-US" sz="1100" b="0" dirty="0">
                          <a:solidFill>
                            <a:schemeClr val="tx1"/>
                          </a:solidFill>
                        </a:rPr>
                        <a:t>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394394">
                <a:tc>
                  <a:txBody>
                    <a:bodyPr/>
                    <a:lstStyle/>
                    <a:p>
                      <a:pPr algn="ctr" fontAlgn="ctr"/>
                      <a:r>
                        <a:rPr lang="en-GB" sz="1100" b="0" u="none" strike="noStrike" dirty="0">
                          <a:solidFill>
                            <a:schemeClr val="tx1"/>
                          </a:solidFill>
                          <a:effectLst/>
                        </a:rPr>
                        <a:t>21584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SAESL</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120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26/06/2025</a:t>
                      </a:r>
                      <a:endParaRPr lang="en-GB" sz="1100" b="0" u="none" strike="noStrike" dirty="0">
                        <a:solidFill>
                          <a:schemeClr val="tx1"/>
                        </a:solidFill>
                        <a:effectLst/>
                      </a:endParaRPr>
                    </a:p>
                  </a:txBody>
                  <a:tcPr marL="0" marR="0" marT="0" marB="0" anchor="ctr"/>
                </a:tc>
                <a:tc>
                  <a:txBody>
                    <a:bodyPr/>
                    <a:lstStyle/>
                    <a:p>
                      <a:r>
                        <a:rPr lang="en-US" sz="1100" b="0" dirty="0">
                          <a:solidFill>
                            <a:schemeClr val="tx1"/>
                          </a:solidFill>
                        </a:rPr>
                        <a:t>A886#2 RTS</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363427">
                <a:tc>
                  <a:txBody>
                    <a:bodyPr/>
                    <a:lstStyle/>
                    <a:p>
                      <a:pPr algn="ctr" fontAlgn="ctr"/>
                      <a:r>
                        <a:rPr lang="en-GB" sz="1100" b="0" u="none" strike="noStrike">
                          <a:solidFill>
                            <a:schemeClr val="tx1"/>
                          </a:solidFill>
                          <a:effectLst/>
                        </a:rPr>
                        <a:t>21136</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75</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05/07/2025</a:t>
                      </a:r>
                      <a:endParaRPr lang="en-GB" sz="1100" b="0" i="0" u="none" strike="noStrike" dirty="0">
                        <a:solidFill>
                          <a:schemeClr val="tx1"/>
                        </a:solidFill>
                        <a:effectLst/>
                        <a:latin typeface="Times New Roman" panose="02020603050405020304" pitchFamily="18" charset="0"/>
                      </a:endParaRPr>
                    </a:p>
                  </a:txBody>
                  <a:tcPr marL="0" marR="0" marT="0" marB="0" anchor="ctr"/>
                </a:tc>
                <a:tc rowSpan="5">
                  <a:txBody>
                    <a:bodyPr/>
                    <a:lstStyle/>
                    <a:p>
                      <a:r>
                        <a:rPr lang="en-US" sz="1100" b="0" dirty="0">
                          <a:solidFill>
                            <a:schemeClr val="tx1"/>
                          </a:solidFill>
                          <a:latin typeface="Times New Roman" panose="02020603050405020304" pitchFamily="18" charset="0"/>
                          <a:cs typeface="Times New Roman" panose="02020603050405020304" pitchFamily="18" charset="0"/>
                        </a:rPr>
                        <a:t>05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sẽ</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sử</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dụng</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cho</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A890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15/07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A898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24/07</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A894 </a:t>
                      </a:r>
                      <a:r>
                        <a:rPr lang="en-US" sz="1100" b="0" dirty="0" err="1">
                          <a:solidFill>
                            <a:schemeClr val="tx1"/>
                          </a:solidFill>
                          <a:latin typeface="Times New Roman" panose="02020603050405020304" pitchFamily="18" charset="0"/>
                          <a:cs typeface="Times New Roman" panose="02020603050405020304" pitchFamily="18" charset="0"/>
                        </a:rPr>
                        <a:t>đến</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hạn</a:t>
                      </a:r>
                      <a:r>
                        <a:rPr lang="en-US" sz="1100" b="0" dirty="0">
                          <a:solidFill>
                            <a:schemeClr val="tx1"/>
                          </a:solidFill>
                          <a:latin typeface="Times New Roman" panose="02020603050405020304" pitchFamily="18" charset="0"/>
                          <a:cs typeface="Times New Roman" panose="02020603050405020304" pitchFamily="18" charset="0"/>
                        </a:rPr>
                        <a:t> 03/08</a:t>
                      </a:r>
                    </a:p>
                    <a:p>
                      <a:pPr marL="0" indent="0">
                        <a:buFontTx/>
                        <a:buNone/>
                      </a:pPr>
                      <a:r>
                        <a:rPr lang="en-US" sz="1100" b="0" dirty="0">
                          <a:solidFill>
                            <a:schemeClr val="tx1"/>
                          </a:solidFill>
                          <a:latin typeface="Times New Roman" panose="02020603050405020304" pitchFamily="18" charset="0"/>
                          <a:cs typeface="Times New Roman" panose="02020603050405020304" pitchFamily="18" charset="0"/>
                        </a:rPr>
                        <a:t>(</a:t>
                      </a:r>
                      <a:r>
                        <a:rPr lang="en-US" sz="1100" b="0" dirty="0" err="1">
                          <a:solidFill>
                            <a:schemeClr val="tx1"/>
                          </a:solidFill>
                          <a:latin typeface="Times New Roman" panose="02020603050405020304" pitchFamily="18" charset="0"/>
                          <a:cs typeface="Times New Roman" panose="02020603050405020304" pitchFamily="18" charset="0"/>
                        </a:rPr>
                        <a:t>ước</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baseline="0" dirty="0" err="1">
                          <a:solidFill>
                            <a:schemeClr val="tx1"/>
                          </a:solidFill>
                          <a:latin typeface="Times New Roman" panose="02020603050405020304" pitchFamily="18" charset="0"/>
                          <a:cs typeface="Times New Roman" panose="02020603050405020304" pitchFamily="18" charset="0"/>
                        </a:rPr>
                        <a:t>lượng</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ngày</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tháo</a:t>
                      </a:r>
                      <a:r>
                        <a:rPr lang="en-US" sz="1100" b="0" baseline="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ch</a:t>
                      </a:r>
                      <a:r>
                        <a:rPr lang="vi-VN" sz="1100" b="0" dirty="0">
                          <a:solidFill>
                            <a:schemeClr val="tx1"/>
                          </a:solidFill>
                          <a:latin typeface="Times New Roman" panose="02020603050405020304" pitchFamily="18" charset="0"/>
                          <a:cs typeface="Times New Roman" panose="02020603050405020304" pitchFamily="18" charset="0"/>
                        </a:rPr>
                        <a:t>ư</a:t>
                      </a:r>
                      <a:r>
                        <a:rPr lang="en-US" sz="1100" b="0" dirty="0">
                          <a:solidFill>
                            <a:schemeClr val="tx1"/>
                          </a:solidFill>
                          <a:latin typeface="Times New Roman" panose="02020603050405020304" pitchFamily="18" charset="0"/>
                          <a:cs typeface="Times New Roman" panose="02020603050405020304" pitchFamily="18" charset="0"/>
                        </a:rPr>
                        <a:t>a </a:t>
                      </a:r>
                      <a:r>
                        <a:rPr lang="en-US" sz="1100" b="0" dirty="0" err="1">
                          <a:solidFill>
                            <a:schemeClr val="tx1"/>
                          </a:solidFill>
                          <a:latin typeface="Times New Roman" panose="02020603050405020304" pitchFamily="18" charset="0"/>
                          <a:cs typeface="Times New Roman" panose="02020603050405020304" pitchFamily="18" charset="0"/>
                        </a:rPr>
                        <a:t>tính</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giữ</a:t>
                      </a:r>
                      <a:r>
                        <a:rPr lang="en-US" sz="1100" b="0" dirty="0">
                          <a:solidFill>
                            <a:schemeClr val="tx1"/>
                          </a:solidFill>
                          <a:latin typeface="Times New Roman" panose="02020603050405020304" pitchFamily="18" charset="0"/>
                          <a:cs typeface="Times New Roman" panose="02020603050405020304" pitchFamily="18" charset="0"/>
                        </a:rPr>
                        <a:t> </a:t>
                      </a:r>
                      <a:r>
                        <a:rPr lang="en-US" sz="1100" b="0" dirty="0" err="1">
                          <a:solidFill>
                            <a:schemeClr val="tx1"/>
                          </a:solidFill>
                          <a:latin typeface="Times New Roman" panose="02020603050405020304" pitchFamily="18" charset="0"/>
                          <a:cs typeface="Times New Roman" panose="02020603050405020304" pitchFamily="18" charset="0"/>
                        </a:rPr>
                        <a:t>giờ</a:t>
                      </a:r>
                      <a:r>
                        <a:rPr lang="en-US" sz="1100" b="0" dirty="0">
                          <a:solidFill>
                            <a:schemeClr val="tx1"/>
                          </a:solidFill>
                          <a:latin typeface="Times New Roman" panose="02020603050405020304" pitchFamily="18" charset="0"/>
                          <a:cs typeface="Times New Roman" panose="02020603050405020304" pitchFamily="18" charset="0"/>
                        </a:rPr>
                        <a:t>)</a:t>
                      </a:r>
                    </a:p>
                    <a:p>
                      <a:pPr marL="171450" indent="-171450">
                        <a:buFontTx/>
                        <a:buChar char="-"/>
                      </a:pPr>
                      <a:r>
                        <a:rPr lang="en-US" sz="1100" b="0" dirty="0">
                          <a:solidFill>
                            <a:schemeClr val="tx1"/>
                          </a:solidFill>
                          <a:latin typeface="Times New Roman" panose="02020603050405020304" pitchFamily="18" charset="0"/>
                          <a:cs typeface="Times New Roman" panose="02020603050405020304" pitchFamily="18" charset="0"/>
                        </a:rPr>
                        <a:t>A895 </a:t>
                      </a:r>
                      <a:r>
                        <a:rPr lang="en-US" sz="1100" b="0" dirty="0" err="1">
                          <a:solidFill>
                            <a:schemeClr val="tx1"/>
                          </a:solidFill>
                          <a:latin typeface="Times New Roman" panose="02020603050405020304" pitchFamily="18" charset="0"/>
                          <a:cs typeface="Times New Roman" panose="02020603050405020304" pitchFamily="18" charset="0"/>
                        </a:rPr>
                        <a:t>thiếu</a:t>
                      </a:r>
                      <a:r>
                        <a:rPr lang="en-US" sz="1100" b="0" dirty="0">
                          <a:solidFill>
                            <a:schemeClr val="tx1"/>
                          </a:solidFill>
                          <a:latin typeface="Times New Roman" panose="02020603050405020304" pitchFamily="18" charset="0"/>
                          <a:cs typeface="Times New Roman" panose="02020603050405020304" pitchFamily="18" charset="0"/>
                        </a:rPr>
                        <a:t> 2 </a:t>
                      </a:r>
                      <a:r>
                        <a:rPr lang="en-US" sz="1100" b="0" dirty="0" err="1">
                          <a:solidFill>
                            <a:schemeClr val="tx1"/>
                          </a:solidFill>
                          <a:latin typeface="Times New Roman" panose="02020603050405020304" pitchFamily="18" charset="0"/>
                          <a:cs typeface="Times New Roman" panose="02020603050405020304" pitchFamily="18" charset="0"/>
                        </a:rPr>
                        <a:t>động</a:t>
                      </a:r>
                      <a:r>
                        <a:rPr lang="en-US" sz="1100" b="0" dirty="0">
                          <a:solidFill>
                            <a:schemeClr val="tx1"/>
                          </a:solidFill>
                          <a:latin typeface="Times New Roman" panose="02020603050405020304" pitchFamily="18" charset="0"/>
                          <a:cs typeface="Times New Roman" panose="02020603050405020304" pitchFamily="18" charset="0"/>
                        </a:rPr>
                        <a:t> c</a:t>
                      </a:r>
                      <a:r>
                        <a:rPr lang="vi-VN" sz="1100" b="0" dirty="0">
                          <a:solidFill>
                            <a:schemeClr val="tx1"/>
                          </a:solidFill>
                          <a:latin typeface="Times New Roman" panose="02020603050405020304" pitchFamily="18" charset="0"/>
                          <a:cs typeface="Times New Roman" panose="02020603050405020304" pitchFamily="18" charset="0"/>
                        </a:rPr>
                        <a:t>ơ</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420810">
                <a:tc>
                  <a:txBody>
                    <a:bodyPr/>
                    <a:lstStyle/>
                    <a:p>
                      <a:pPr algn="ctr" fontAlgn="ctr"/>
                      <a:r>
                        <a:rPr lang="en-GB" sz="1100" b="0" u="none" strike="noStrike">
                          <a:solidFill>
                            <a:schemeClr val="tx1"/>
                          </a:solidFill>
                          <a:effectLst/>
                        </a:rPr>
                        <a:t>21043</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257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1" u="none" strike="noStrike" dirty="0">
                          <a:solidFill>
                            <a:srgbClr val="FF0000"/>
                          </a:solidFill>
                          <a:effectLst/>
                        </a:rPr>
                        <a:t>09/08/2025</a:t>
                      </a:r>
                    </a:p>
                    <a:p>
                      <a:pPr algn="ctr" fontAlgn="ctr"/>
                      <a:r>
                        <a:rPr lang="en-GB" sz="1100" b="0" u="none" strike="noStrike" dirty="0">
                          <a:solidFill>
                            <a:srgbClr val="FF0000"/>
                          </a:solidFill>
                          <a:effectLst/>
                        </a:rPr>
                        <a:t>(+6 </a:t>
                      </a:r>
                      <a:r>
                        <a:rPr lang="en-GB" sz="1100" b="0" u="none" strike="noStrike" dirty="0" err="1">
                          <a:solidFill>
                            <a:srgbClr val="FF0000"/>
                          </a:solidFill>
                          <a:effectLst/>
                        </a:rPr>
                        <a:t>ngày</a:t>
                      </a:r>
                      <a:r>
                        <a:rPr lang="en-GB" sz="1100" b="0" u="none" strike="noStrike" dirty="0">
                          <a:solidFill>
                            <a:srgbClr val="FF0000"/>
                          </a:solidFill>
                          <a:effectLst/>
                        </a:rPr>
                        <a:t> so v</a:t>
                      </a:r>
                      <a:r>
                        <a:rPr lang="en-US" sz="1100" b="0" u="none" strike="noStrike" dirty="0" err="1">
                          <a:solidFill>
                            <a:srgbClr val="FF0000"/>
                          </a:solidFill>
                          <a:effectLst/>
                        </a:rPr>
                        <a:t>ới</a:t>
                      </a:r>
                      <a:r>
                        <a:rPr lang="en-US" sz="1100" b="0" u="none" strike="noStrike" dirty="0">
                          <a:solidFill>
                            <a:srgbClr val="FF0000"/>
                          </a:solidFill>
                          <a:effectLst/>
                        </a:rPr>
                        <a:t> </a:t>
                      </a:r>
                      <a:r>
                        <a:rPr lang="en-US" sz="1100" b="0" u="none" strike="noStrike" dirty="0" err="1">
                          <a:solidFill>
                            <a:srgbClr val="FF0000"/>
                          </a:solidFill>
                          <a:effectLst/>
                        </a:rPr>
                        <a:t>tuần</a:t>
                      </a:r>
                      <a:r>
                        <a:rPr lang="en-US" sz="1100" b="0" u="none" strike="noStrike" dirty="0">
                          <a:solidFill>
                            <a:srgbClr val="FF0000"/>
                          </a:solidFill>
                          <a:effectLst/>
                        </a:rPr>
                        <a:t> tr</a:t>
                      </a:r>
                      <a:r>
                        <a:rPr lang="vi-VN" sz="1100" b="0" u="none" strike="noStrike" dirty="0">
                          <a:solidFill>
                            <a:srgbClr val="FF0000"/>
                          </a:solidFill>
                          <a:effectLst/>
                        </a:rPr>
                        <a:t>ư</a:t>
                      </a:r>
                      <a:r>
                        <a:rPr lang="en-US" sz="1100" b="0" u="none" strike="noStrike" dirty="0" err="1">
                          <a:solidFill>
                            <a:srgbClr val="FF0000"/>
                          </a:solidFill>
                          <a:effectLst/>
                        </a:rPr>
                        <a:t>ớc</a:t>
                      </a:r>
                      <a:r>
                        <a:rPr lang="en-US" sz="1100" b="0" u="none" strike="noStrike" dirty="0">
                          <a:solidFill>
                            <a:srgbClr val="FF0000"/>
                          </a:solidFill>
                          <a:effectLst/>
                        </a:rPr>
                        <a:t>,</a:t>
                      </a:r>
                    </a:p>
                    <a:p>
                      <a:pPr algn="ctr" fontAlgn="ctr"/>
                      <a:r>
                        <a:rPr lang="en-US" sz="1100" b="0" u="none" strike="noStrike" dirty="0" err="1">
                          <a:solidFill>
                            <a:srgbClr val="FF0000"/>
                          </a:solidFill>
                          <a:effectLst/>
                        </a:rPr>
                        <a:t>tổng</a:t>
                      </a:r>
                      <a:r>
                        <a:rPr lang="en-US" sz="1100" b="0" u="none" strike="noStrike" dirty="0">
                          <a:solidFill>
                            <a:srgbClr val="FF0000"/>
                          </a:solidFill>
                          <a:effectLst/>
                        </a:rPr>
                        <a:t> TAT delay 57 </a:t>
                      </a:r>
                      <a:r>
                        <a:rPr lang="en-US" sz="1100" b="0" u="none" strike="noStrike" dirty="0" err="1">
                          <a:solidFill>
                            <a:srgbClr val="FF0000"/>
                          </a:solidFill>
                          <a:effectLst/>
                        </a:rPr>
                        <a:t>ngày</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r h="363427">
                <a:tc>
                  <a:txBody>
                    <a:bodyPr/>
                    <a:lstStyle/>
                    <a:p>
                      <a:pPr algn="ctr" fontAlgn="ctr"/>
                      <a:r>
                        <a:rPr lang="en-GB" sz="1100" b="0" u="none" strike="noStrike" dirty="0">
                          <a:solidFill>
                            <a:schemeClr val="tx1"/>
                          </a:solidFill>
                          <a:effectLst/>
                        </a:rPr>
                        <a:t>21414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06/08/2025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chemeClr val="tx1"/>
                          </a:solidFill>
                          <a:effectLst/>
                        </a:rPr>
                        <a:t>(+10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baseline="0" dirty="0">
                          <a:solidFill>
                            <a:schemeClr val="tx1"/>
                          </a:solidFill>
                          <a:effectLst/>
                        </a:rPr>
                        <a:t> </a:t>
                      </a:r>
                      <a:r>
                        <a:rPr lang="en-GB" sz="1100" b="0" u="none" strike="noStrike" baseline="0" dirty="0" err="1">
                          <a:solidFill>
                            <a:schemeClr val="tx1"/>
                          </a:solidFill>
                          <a:effectLst/>
                        </a:rPr>
                        <a:t>KH</a:t>
                      </a:r>
                      <a:r>
                        <a:rPr lang="en-GB" sz="1100" b="0" u="none" strike="noStrike" baseline="0" dirty="0">
                          <a:solidFill>
                            <a:schemeClr val="tx1"/>
                          </a:solidFill>
                          <a:effectLst/>
                        </a:rPr>
                        <a:t> </a:t>
                      </a:r>
                      <a:r>
                        <a:rPr lang="en-GB" sz="1100" b="0" u="none" strike="noStrike" baseline="0" dirty="0" err="1">
                          <a:solidFill>
                            <a:schemeClr val="tx1"/>
                          </a:solidFill>
                          <a:effectLst/>
                        </a:rPr>
                        <a:t>gốc</a:t>
                      </a:r>
                      <a:r>
                        <a:rPr lang="en-GB" sz="1100" b="0" u="none" strike="noStrike" dirty="0">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587742417"/>
                  </a:ext>
                </a:extLst>
              </a:tr>
              <a:tr h="420810">
                <a:tc>
                  <a:txBody>
                    <a:bodyPr/>
                    <a:lstStyle/>
                    <a:p>
                      <a:pPr algn="ctr" fontAlgn="ctr"/>
                      <a:r>
                        <a:rPr lang="en-GB" sz="1100" b="0" u="none" strike="noStrike" dirty="0">
                          <a:solidFill>
                            <a:schemeClr val="tx1"/>
                          </a:solidFill>
                          <a:effectLst/>
                        </a:rPr>
                        <a:t>21137</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dirty="0">
                          <a:solidFill>
                            <a:schemeClr val="tx1"/>
                          </a:solidFill>
                          <a:effectLst/>
                          <a:latin typeface="Times New Roman" panose="02020603050405020304" pitchFamily="18" charset="0"/>
                        </a:rPr>
                        <a:t>247</a:t>
                      </a:r>
                    </a:p>
                  </a:txBody>
                  <a:tcPr marL="0" marR="0" marT="0" marB="0" anchor="ctr"/>
                </a:tc>
                <a:tc>
                  <a:txBody>
                    <a:bodyPr/>
                    <a:lstStyle/>
                    <a:p>
                      <a:pPr algn="ctr" fontAlgn="ctr"/>
                      <a:r>
                        <a:rPr lang="en-GB" sz="1100" b="1" u="none" strike="noStrike" dirty="0">
                          <a:solidFill>
                            <a:srgbClr val="FF0000"/>
                          </a:solidFill>
                          <a:effectLst/>
                        </a:rPr>
                        <a:t>(17/08/2025)</a:t>
                      </a:r>
                    </a:p>
                    <a:p>
                      <a:pPr algn="ctr" fontAlgn="ctr"/>
                      <a:r>
                        <a:rPr lang="en-GB" sz="1100" b="0" u="none" strike="noStrike" dirty="0">
                          <a:solidFill>
                            <a:srgbClr val="FF0000"/>
                          </a:solidFill>
                          <a:effectLst/>
                        </a:rPr>
                        <a:t>(+5 </a:t>
                      </a:r>
                      <a:r>
                        <a:rPr lang="en-GB" sz="1100" b="0" u="none" strike="noStrike" dirty="0" err="1">
                          <a:solidFill>
                            <a:srgbClr val="FF0000"/>
                          </a:solidFill>
                          <a:effectLst/>
                        </a:rPr>
                        <a:t>ngày</a:t>
                      </a:r>
                      <a:r>
                        <a:rPr lang="en-GB" sz="1100" b="0" u="none" strike="noStrike" dirty="0">
                          <a:solidFill>
                            <a:srgbClr val="FF0000"/>
                          </a:solidFill>
                          <a:effectLst/>
                        </a:rPr>
                        <a:t> so v</a:t>
                      </a:r>
                      <a:r>
                        <a:rPr lang="en-US" sz="1100" b="0" u="none" strike="noStrike" dirty="0" err="1">
                          <a:solidFill>
                            <a:srgbClr val="FF0000"/>
                          </a:solidFill>
                          <a:effectLst/>
                        </a:rPr>
                        <a:t>ới</a:t>
                      </a:r>
                      <a:r>
                        <a:rPr lang="en-US" sz="1100" b="0" u="none" strike="noStrike" dirty="0">
                          <a:solidFill>
                            <a:srgbClr val="FF0000"/>
                          </a:solidFill>
                          <a:effectLst/>
                        </a:rPr>
                        <a:t> </a:t>
                      </a:r>
                      <a:r>
                        <a:rPr lang="en-US" sz="1100" b="0" u="none" strike="noStrike" dirty="0" err="1">
                          <a:solidFill>
                            <a:srgbClr val="FF0000"/>
                          </a:solidFill>
                          <a:effectLst/>
                        </a:rPr>
                        <a:t>tuần</a:t>
                      </a:r>
                      <a:r>
                        <a:rPr lang="en-US" sz="1100" b="0" u="none" strike="noStrike" dirty="0">
                          <a:solidFill>
                            <a:srgbClr val="FF0000"/>
                          </a:solidFill>
                          <a:effectLst/>
                        </a:rPr>
                        <a:t> tr</a:t>
                      </a:r>
                      <a:r>
                        <a:rPr lang="vi-VN" sz="1100" b="0" u="none" strike="noStrike" dirty="0">
                          <a:solidFill>
                            <a:srgbClr val="FF0000"/>
                          </a:solidFill>
                          <a:effectLst/>
                        </a:rPr>
                        <a:t>ư</a:t>
                      </a:r>
                      <a:r>
                        <a:rPr lang="en-US" sz="1100" b="0" u="none" strike="noStrike" dirty="0" err="1">
                          <a:solidFill>
                            <a:srgbClr val="FF0000"/>
                          </a:solidFill>
                          <a:effectLst/>
                        </a:rPr>
                        <a:t>ớc</a:t>
                      </a:r>
                      <a:r>
                        <a:rPr lang="en-US" sz="1100" b="0" u="none" strike="noStrike" dirty="0">
                          <a:solidFill>
                            <a:srgbClr val="FF0000"/>
                          </a:solidFill>
                          <a:effectLst/>
                        </a:rPr>
                        <a:t>,</a:t>
                      </a:r>
                    </a:p>
                    <a:p>
                      <a:pPr algn="ctr" fontAlgn="ctr"/>
                      <a:r>
                        <a:rPr lang="en-US" sz="1100" b="0" u="none" strike="noStrike" dirty="0" err="1">
                          <a:solidFill>
                            <a:srgbClr val="FF0000"/>
                          </a:solidFill>
                          <a:effectLst/>
                        </a:rPr>
                        <a:t>tổng</a:t>
                      </a:r>
                      <a:r>
                        <a:rPr lang="en-US" sz="1100" b="0" u="none" strike="noStrike" dirty="0">
                          <a:solidFill>
                            <a:srgbClr val="FF0000"/>
                          </a:solidFill>
                          <a:effectLst/>
                        </a:rPr>
                        <a:t> TAT delay 47 </a:t>
                      </a:r>
                      <a:r>
                        <a:rPr lang="en-US" sz="1100" b="0" u="none" strike="noStrike" dirty="0" err="1">
                          <a:solidFill>
                            <a:srgbClr val="FF0000"/>
                          </a:solidFill>
                          <a:effectLst/>
                        </a:rPr>
                        <a:t>ngày</a:t>
                      </a:r>
                      <a:r>
                        <a:rPr lang="en-GB" sz="1100" b="0" u="none" strike="noStrike" dirty="0">
                          <a:solidFill>
                            <a:srgbClr val="FF0000"/>
                          </a:solidFill>
                          <a:effectLst/>
                        </a:rPr>
                        <a:t>)</a:t>
                      </a:r>
                      <a:endParaRPr lang="en-GB" sz="1100" b="0" i="0" u="none" strike="noStrike" dirty="0">
                        <a:solidFill>
                          <a:srgbClr val="FF0000"/>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034618264"/>
                  </a:ext>
                </a:extLst>
              </a:tr>
              <a:tr h="363427">
                <a:tc>
                  <a:txBody>
                    <a:bodyPr/>
                    <a:lstStyle/>
                    <a:p>
                      <a:pPr algn="ctr" fontAlgn="ctr"/>
                      <a:r>
                        <a:rPr lang="en-GB" sz="1100" b="0" u="none" strike="noStrike" dirty="0">
                          <a:solidFill>
                            <a:schemeClr val="tx1"/>
                          </a:solidFill>
                          <a:effectLst/>
                        </a:rPr>
                        <a:t>21604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SAESL</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a:solidFill>
                            <a:schemeClr val="tx1"/>
                          </a:solidFill>
                          <a:effectLst/>
                        </a:rPr>
                        <a:t>120</a:t>
                      </a:r>
                      <a:endParaRPr lang="en-GB" sz="1100" b="0" i="0" u="none" strike="noStrike">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20/08/2025</a:t>
                      </a:r>
                    </a:p>
                    <a:p>
                      <a:pPr marL="0" marR="0" lvl="0" indent="0" algn="ctr" defTabSz="914400" rtl="0" eaLnBrk="1" fontAlgn="ctr" latinLnBrk="0" hangingPunct="1">
                        <a:lnSpc>
                          <a:spcPct val="100000"/>
                        </a:lnSpc>
                        <a:spcBef>
                          <a:spcPts val="0"/>
                        </a:spcBef>
                        <a:spcAft>
                          <a:spcPts val="0"/>
                        </a:spcAft>
                        <a:buClrTx/>
                        <a:buSzTx/>
                        <a:buFontTx/>
                        <a:buNone/>
                        <a:tabLst/>
                        <a:defRPr/>
                      </a:pPr>
                      <a:r>
                        <a:rPr lang="en-GB" sz="1100" b="0" u="none" strike="noStrike" dirty="0">
                          <a:solidFill>
                            <a:schemeClr val="tx1"/>
                          </a:solidFill>
                          <a:effectLst/>
                        </a:rPr>
                        <a:t>(+7 </a:t>
                      </a:r>
                      <a:r>
                        <a:rPr lang="en-GB" sz="1100" b="0" u="none" strike="noStrike" dirty="0" err="1">
                          <a:solidFill>
                            <a:schemeClr val="tx1"/>
                          </a:solidFill>
                          <a:effectLst/>
                        </a:rPr>
                        <a:t>ngày</a:t>
                      </a:r>
                      <a:r>
                        <a:rPr lang="en-GB" sz="1100" b="0" u="none" strike="noStrike" dirty="0">
                          <a:solidFill>
                            <a:schemeClr val="tx1"/>
                          </a:solidFill>
                          <a:effectLst/>
                        </a:rPr>
                        <a:t> so v</a:t>
                      </a:r>
                      <a:r>
                        <a:rPr lang="en-US" sz="1100" b="0" u="none" strike="noStrike" dirty="0" err="1">
                          <a:solidFill>
                            <a:schemeClr val="tx1"/>
                          </a:solidFill>
                          <a:effectLst/>
                        </a:rPr>
                        <a:t>ới</a:t>
                      </a:r>
                      <a:r>
                        <a:rPr lang="en-US" sz="1100" b="0" u="none" strike="noStrike" dirty="0">
                          <a:solidFill>
                            <a:schemeClr val="tx1"/>
                          </a:solidFill>
                          <a:effectLst/>
                        </a:rPr>
                        <a:t> </a:t>
                      </a:r>
                      <a:r>
                        <a:rPr lang="en-US" sz="1100" b="0" u="none" strike="noStrike" dirty="0" err="1">
                          <a:solidFill>
                            <a:schemeClr val="tx1"/>
                          </a:solidFill>
                          <a:effectLst/>
                        </a:rPr>
                        <a:t>tuần</a:t>
                      </a:r>
                      <a:r>
                        <a:rPr lang="en-US" sz="1100" b="0" u="none" strike="noStrike" dirty="0">
                          <a:solidFill>
                            <a:schemeClr val="tx1"/>
                          </a:solidFill>
                          <a:effectLst/>
                        </a:rPr>
                        <a:t> tr</a:t>
                      </a:r>
                      <a:r>
                        <a:rPr lang="vi-VN" sz="1100" b="0" u="none" strike="noStrike" dirty="0">
                          <a:solidFill>
                            <a:schemeClr val="tx1"/>
                          </a:solidFill>
                          <a:effectLst/>
                        </a:rPr>
                        <a:t>ư</a:t>
                      </a:r>
                      <a:r>
                        <a:rPr lang="en-US" sz="1100" b="0" u="none" strike="noStrike" dirty="0" err="1">
                          <a:solidFill>
                            <a:schemeClr val="tx1"/>
                          </a:solidFill>
                          <a:effectLst/>
                        </a:rPr>
                        <a:t>ớc</a:t>
                      </a:r>
                      <a:r>
                        <a:rPr lang="en-US" sz="1100" b="0" u="none" strike="noStrike" dirty="0">
                          <a:solidFill>
                            <a:schemeClr val="tx1"/>
                          </a:solidFill>
                          <a:effectLst/>
                        </a:rPr>
                        <a:t>, </a:t>
                      </a:r>
                      <a:r>
                        <a:rPr lang="en-GB" sz="1100" b="0" u="none" strike="noStrike" dirty="0" err="1">
                          <a:solidFill>
                            <a:schemeClr val="tx1"/>
                          </a:solidFill>
                          <a:effectLst/>
                        </a:rPr>
                        <a:t>tổng</a:t>
                      </a:r>
                      <a:r>
                        <a:rPr lang="en-GB" sz="1100" b="0" u="none" strike="noStrike" dirty="0">
                          <a:solidFill>
                            <a:schemeClr val="tx1"/>
                          </a:solidFill>
                          <a:effectLst/>
                        </a:rPr>
                        <a:t> 12 </a:t>
                      </a:r>
                      <a:r>
                        <a:rPr lang="en-GB" sz="1100" b="0" u="none" strike="noStrike" dirty="0" err="1">
                          <a:solidFill>
                            <a:schemeClr val="tx1"/>
                          </a:solidFill>
                          <a:effectLst/>
                        </a:rPr>
                        <a:t>ngày</a:t>
                      </a:r>
                      <a:r>
                        <a:rPr lang="en-GB" sz="1100" b="0" u="none" strike="noStrike" dirty="0">
                          <a:solidFill>
                            <a:schemeClr val="tx1"/>
                          </a:solidFill>
                          <a:effectLst/>
                        </a:rPr>
                        <a:t> so </a:t>
                      </a:r>
                      <a:r>
                        <a:rPr lang="en-GB" sz="1100" b="0" u="none" strike="noStrike" dirty="0" err="1">
                          <a:solidFill>
                            <a:schemeClr val="tx1"/>
                          </a:solidFill>
                          <a:effectLst/>
                        </a:rPr>
                        <a:t>với</a:t>
                      </a:r>
                      <a:r>
                        <a:rPr lang="en-GB" sz="1100" b="0" u="none" strike="noStrike" baseline="0" dirty="0">
                          <a:solidFill>
                            <a:schemeClr val="tx1"/>
                          </a:solidFill>
                          <a:effectLst/>
                        </a:rPr>
                        <a:t> </a:t>
                      </a:r>
                      <a:r>
                        <a:rPr lang="en-GB" sz="1100" b="0" u="none" strike="noStrike" baseline="0" dirty="0" err="1">
                          <a:solidFill>
                            <a:schemeClr val="tx1"/>
                          </a:solidFill>
                          <a:effectLst/>
                        </a:rPr>
                        <a:t>KH</a:t>
                      </a:r>
                      <a:r>
                        <a:rPr lang="en-GB" sz="1100" b="0" u="none" strike="noStrike" baseline="0" dirty="0">
                          <a:solidFill>
                            <a:schemeClr val="tx1"/>
                          </a:solidFill>
                          <a:effectLst/>
                        </a:rPr>
                        <a:t> </a:t>
                      </a:r>
                      <a:r>
                        <a:rPr lang="en-GB" sz="1100" b="0" u="none" strike="noStrike" baseline="0" dirty="0" err="1">
                          <a:solidFill>
                            <a:schemeClr val="tx1"/>
                          </a:solidFill>
                          <a:effectLst/>
                        </a:rPr>
                        <a:t>gốc</a:t>
                      </a:r>
                      <a:r>
                        <a:rPr lang="en-GB" sz="1100" b="0" u="none" strike="noStrike" dirty="0">
                          <a:solidFill>
                            <a:schemeClr val="tx1"/>
                          </a:solidFill>
                          <a:effectLst/>
                        </a:rPr>
                        <a:t>)</a:t>
                      </a:r>
                      <a:endParaRPr lang="en-GB" sz="1100" b="0" i="0" u="none" strike="noStrike" dirty="0">
                        <a:solidFill>
                          <a:schemeClr val="tx1"/>
                        </a:solidFill>
                        <a:effectLst/>
                        <a:latin typeface="Times New Roman" panose="02020603050405020304" pitchFamily="18" charset="0"/>
                      </a:endParaRPr>
                    </a:p>
                  </a:txBody>
                  <a:tcPr marL="0" marR="0" marT="0" marB="0"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45775366"/>
                  </a:ext>
                </a:extLst>
              </a:tr>
              <a:tr h="363427">
                <a:tc>
                  <a:txBody>
                    <a:bodyPr/>
                    <a:lstStyle/>
                    <a:p>
                      <a:pPr algn="ctr" fontAlgn="ctr"/>
                      <a:r>
                        <a:rPr lang="en-GB" sz="1100" b="0" u="none" strike="noStrike" dirty="0">
                          <a:solidFill>
                            <a:schemeClr val="tx1"/>
                          </a:solidFill>
                          <a:effectLst/>
                        </a:rPr>
                        <a:t>21048</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u="none" strike="noStrike" dirty="0">
                          <a:solidFill>
                            <a:schemeClr val="tx1"/>
                          </a:solidFill>
                          <a:effectLst/>
                        </a:rPr>
                        <a:t>08/11/2025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430177177"/>
                  </a:ext>
                </a:extLst>
              </a:tr>
              <a:tr h="363427">
                <a:tc>
                  <a:txBody>
                    <a:bodyPr/>
                    <a:lstStyle/>
                    <a:p>
                      <a:pPr algn="ctr" fontAlgn="ctr"/>
                      <a:r>
                        <a:rPr lang="en-US" sz="1100" b="0" u="none" strike="noStrike" dirty="0">
                          <a:solidFill>
                            <a:schemeClr val="tx1"/>
                          </a:solidFill>
                          <a:effectLst/>
                        </a:rPr>
                        <a:t>21024</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N3</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190</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dirty="0">
                          <a:solidFill>
                            <a:schemeClr val="tx1"/>
                          </a:solidFill>
                          <a:effectLst/>
                        </a:rPr>
                        <a:t>01/12/2025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287308911"/>
                  </a:ext>
                </a:extLst>
              </a:tr>
              <a:tr h="363427">
                <a:tc>
                  <a:txBody>
                    <a:bodyPr/>
                    <a:lstStyle/>
                    <a:p>
                      <a:pPr algn="ctr" fontAlgn="ctr"/>
                      <a:r>
                        <a:rPr lang="en-US" sz="1100" b="0" u="none" strike="noStrike" dirty="0">
                          <a:solidFill>
                            <a:schemeClr val="tx1"/>
                          </a:solidFill>
                          <a:effectLst/>
                        </a:rPr>
                        <a:t>21035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i="0" u="none" strike="noStrike">
                          <a:solidFill>
                            <a:schemeClr val="tx1"/>
                          </a:solidFill>
                          <a:effectLst/>
                          <a:latin typeface="Times New Roman" panose="02020603050405020304" pitchFamily="18" charset="0"/>
                        </a:rPr>
                        <a:t>OFF</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US" sz="1100" b="0" u="none" strike="noStrike">
                          <a:solidFill>
                            <a:schemeClr val="tx1"/>
                          </a:solidFill>
                          <a:effectLst/>
                        </a:rPr>
                        <a:t>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3439476"/>
                  </a:ext>
                </a:extLst>
              </a:tr>
              <a:tr h="363427">
                <a:tc>
                  <a:txBody>
                    <a:bodyPr/>
                    <a:lstStyle/>
                    <a:p>
                      <a:pPr algn="ctr" fontAlgn="ctr"/>
                      <a:r>
                        <a:rPr lang="en-GB" sz="1100" b="0" i="0" u="none" strike="noStrike">
                          <a:solidFill>
                            <a:schemeClr val="tx1"/>
                          </a:solidFill>
                          <a:effectLst/>
                          <a:latin typeface="Times New Roman" panose="02020603050405020304" pitchFamily="18" charset="0"/>
                        </a:rPr>
                        <a:t>21425</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OFF</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TBD</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pPr algn="ctr" fontAlgn="ctr"/>
                      <a:r>
                        <a:rPr lang="en-GB" sz="1100" b="0" i="0" u="none" strike="noStrike">
                          <a:solidFill>
                            <a:schemeClr val="tx1"/>
                          </a:solidFill>
                          <a:effectLst/>
                          <a:latin typeface="Times New Roman" panose="02020603050405020304" pitchFamily="18" charset="0"/>
                        </a:rPr>
                        <a:t>2026</a:t>
                      </a:r>
                      <a:endParaRPr lang="en-GB" sz="1100" b="0" i="0" u="none" strike="noStrike" dirty="0">
                        <a:solidFill>
                          <a:schemeClr val="tx1"/>
                        </a:solidFill>
                        <a:effectLst/>
                        <a:latin typeface="Times New Roman" panose="02020603050405020304" pitchFamily="18" charset="0"/>
                      </a:endParaRPr>
                    </a:p>
                  </a:txBody>
                  <a:tcPr marL="0" marR="0" marT="0" marB="0" anchor="ctr"/>
                </a:tc>
                <a:tc>
                  <a:txBody>
                    <a:bodyPr/>
                    <a:lstStyle/>
                    <a:p>
                      <a:r>
                        <a:rPr lang="en-US" sz="1100" b="0" dirty="0">
                          <a:solidFill>
                            <a:schemeClr val="tx1"/>
                          </a:solidFill>
                        </a:rPr>
                        <a:t>TBD</a:t>
                      </a:r>
                      <a:endParaRPr lang="en-US" sz="11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23524369"/>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38596" y="316468"/>
            <a:ext cx="6705299" cy="369332"/>
          </a:xfrm>
          <a:prstGeom prst="rect">
            <a:avLst/>
          </a:prstGeom>
          <a:noFill/>
        </p:spPr>
        <p:txBody>
          <a:bodyPr wrap="square" rtlCol="0">
            <a:spAutoFit/>
          </a:bodyPr>
          <a:lstStyle/>
          <a:p>
            <a:pPr algn="ctr" defTabSz="1219170">
              <a:defRPr/>
            </a:pPr>
            <a:r>
              <a:rPr lang="en-GB" b="1" dirty="0">
                <a:solidFill>
                  <a:srgbClr val="002060"/>
                </a:solidFill>
                <a:latin typeface="Times New Roman" panose="02020603050405020304" pitchFamily="18" charset="0"/>
                <a:cs typeface="Times New Roman" panose="02020603050405020304" pitchFamily="18" charset="0"/>
              </a:rPr>
              <a:t>Các </a:t>
            </a:r>
            <a:r>
              <a:rPr lang="en-GB" b="1" dirty="0" err="1">
                <a:solidFill>
                  <a:srgbClr val="002060"/>
                </a:solidFill>
                <a:latin typeface="Times New Roman" panose="02020603050405020304" pitchFamily="18" charset="0"/>
                <a:cs typeface="Times New Roman" panose="02020603050405020304" pitchFamily="18" charset="0"/>
              </a:rPr>
              <a:t>động</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cơ</a:t>
            </a:r>
            <a:r>
              <a:rPr lang="en-GB" b="1" dirty="0">
                <a:solidFill>
                  <a:srgbClr val="002060"/>
                </a:solidFill>
                <a:latin typeface="Times New Roman" panose="02020603050405020304" pitchFamily="18" charset="0"/>
                <a:cs typeface="Times New Roman" panose="02020603050405020304" pitchFamily="18" charset="0"/>
              </a:rPr>
              <a:t> </a:t>
            </a:r>
            <a:r>
              <a:rPr lang="en-GB" b="1" dirty="0" err="1">
                <a:solidFill>
                  <a:srgbClr val="002060"/>
                </a:solidFill>
                <a:latin typeface="Times New Roman" panose="02020603050405020304" pitchFamily="18" charset="0"/>
                <a:cs typeface="Times New Roman" panose="02020603050405020304" pitchFamily="18" charset="0"/>
              </a:rPr>
              <a:t>đang</a:t>
            </a:r>
            <a:r>
              <a:rPr lang="en-GB" b="1" dirty="0">
                <a:solidFill>
                  <a:srgbClr val="002060"/>
                </a:solidFill>
                <a:latin typeface="Times New Roman" panose="02020603050405020304" pitchFamily="18" charset="0"/>
                <a:cs typeface="Times New Roman" panose="02020603050405020304" pitchFamily="18" charset="0"/>
              </a:rPr>
              <a:t> s</a:t>
            </a:r>
            <a:r>
              <a:rPr lang="en-US" b="1" dirty="0" err="1">
                <a:solidFill>
                  <a:srgbClr val="002060"/>
                </a:solidFill>
                <a:latin typeface="Times New Roman" panose="02020603050405020304" pitchFamily="18" charset="0"/>
                <a:cs typeface="Times New Roman" panose="02020603050405020304" pitchFamily="18" charset="0"/>
              </a:rPr>
              <a:t>ửa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chữa</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chờ</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sửa</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740906"/>
            <a:ext cx="5167083" cy="553998"/>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Số</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AOG do </a:t>
            </a:r>
            <a:r>
              <a:rPr lang="en-US" b="1" dirty="0" err="1">
                <a:solidFill>
                  <a:srgbClr val="002060"/>
                </a:solidFill>
                <a:latin typeface="Times New Roman" panose="02020603050405020304" pitchFamily="18" charset="0"/>
                <a:cs typeface="Times New Roman" panose="02020603050405020304" pitchFamily="18" charset="0"/>
              </a:rPr>
              <a:t>thiếu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c</a:t>
            </a:r>
            <a:r>
              <a:rPr lang="vi-VN" b="1" dirty="0">
                <a:solidFill>
                  <a:srgbClr val="002060"/>
                </a:solidFill>
                <a:cs typeface="Times New Roman" panose="02020603050405020304" pitchFamily="18" charset="0"/>
              </a:rPr>
              <a:t>ơ</a:t>
            </a:r>
            <a:r>
              <a:rPr lang="en-US" b="1" dirty="0">
                <a:solidFill>
                  <a:srgbClr val="002060"/>
                </a:solidFill>
                <a:latin typeface="Times New Roman" panose="02020603050405020304" pitchFamily="18" charset="0"/>
                <a:cs typeface="Times New Roman" panose="02020603050405020304" pitchFamily="18" charset="0"/>
              </a:rPr>
              <a:t>*</a:t>
            </a:r>
          </a:p>
          <a:p>
            <a:pPr algn="ctr" defTabSz="1219170">
              <a:defRPr/>
            </a:pPr>
            <a:r>
              <a:rPr lang="en-US" sz="1100" i="1">
                <a:solidFill>
                  <a:srgbClr val="002060"/>
                </a:solidFill>
                <a:latin typeface="Times New Roman" panose="02020603050405020304" pitchFamily="18" charset="0"/>
                <a:cs typeface="Times New Roman" panose="02020603050405020304" pitchFamily="18" charset="0"/>
              </a:rPr>
              <a:t>*Không tính thời gian lắp + RTS + định kỳ</a:t>
            </a:r>
            <a:endParaRPr lang="en-GB" sz="1100" i="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173504" y="5924699"/>
          <a:ext cx="5765457" cy="868680"/>
        </p:xfrm>
        <a:graphic>
          <a:graphicData uri="http://schemas.openxmlformats.org/drawingml/2006/table">
            <a:tbl>
              <a:tblPr firstRow="1" bandRow="1">
                <a:tableStyleId>{93296810-A885-4BE3-A3E7-6D5BEEA58F35}</a:tableStyleId>
              </a:tblPr>
              <a:tblGrid>
                <a:gridCol w="1029611">
                  <a:extLst>
                    <a:ext uri="{9D8B030D-6E8A-4147-A177-3AD203B41FA5}">
                      <a16:colId xmlns:a16="http://schemas.microsoft.com/office/drawing/2014/main" val="1930757539"/>
                    </a:ext>
                  </a:extLst>
                </a:gridCol>
                <a:gridCol w="4735846">
                  <a:extLst>
                    <a:ext uri="{9D8B030D-6E8A-4147-A177-3AD203B41FA5}">
                      <a16:colId xmlns:a16="http://schemas.microsoft.com/office/drawing/2014/main" val="1674463010"/>
                    </a:ext>
                  </a:extLst>
                </a:gridCol>
              </a:tblGrid>
              <a:tr h="0">
                <a:tc>
                  <a:txBody>
                    <a:bodyPr/>
                    <a:lstStyle/>
                    <a:p>
                      <a:r>
                        <a:rPr lang="en-US" sz="1100" dirty="0" err="1">
                          <a:latin typeface="Times New Roman" panose="02020603050405020304" pitchFamily="18" charset="0"/>
                          <a:cs typeface="Times New Roman" panose="02020603050405020304" pitchFamily="18" charset="0"/>
                        </a:rPr>
                        <a:t>Tàu</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100" dirty="0" err="1">
                          <a:latin typeface="Times New Roman" panose="02020603050405020304" pitchFamily="18" charset="0"/>
                          <a:cs typeface="Times New Roman" panose="02020603050405020304" pitchFamily="18" charset="0"/>
                        </a:rPr>
                        <a:t>Tình</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trạng</a:t>
                      </a:r>
                      <a:r>
                        <a:rPr lang="en-GB" sz="1100" dirty="0">
                          <a:latin typeface="Times New Roman" panose="02020603050405020304" pitchFamily="18" charset="0"/>
                          <a:cs typeface="Times New Roman" panose="02020603050405020304" pitchFamily="18" charset="0"/>
                        </a:rPr>
                        <a:t> </a:t>
                      </a:r>
                      <a:r>
                        <a:rPr lang="en-GB" sz="1100" dirty="0" err="1">
                          <a:latin typeface="Times New Roman" panose="02020603050405020304" pitchFamily="18" charset="0"/>
                          <a:cs typeface="Times New Roman" panose="02020603050405020304" pitchFamily="18" charset="0"/>
                        </a:rPr>
                        <a:t>động</a:t>
                      </a:r>
                      <a:r>
                        <a:rPr lang="en-GB"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100" dirty="0" err="1">
                          <a:latin typeface="Times New Roman" panose="02020603050405020304" pitchFamily="18" charset="0"/>
                          <a:cs typeface="Times New Roman" panose="02020603050405020304" pitchFamily="18" charset="0"/>
                        </a:rPr>
                        <a:t>A886</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Đã</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có</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US" sz="11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0">
                <a:tc>
                  <a:txBody>
                    <a:bodyPr/>
                    <a:lstStyle/>
                    <a:p>
                      <a:r>
                        <a:rPr lang="en-US" sz="1100" dirty="0">
                          <a:latin typeface="Times New Roman" panose="02020603050405020304" pitchFamily="18" charset="0"/>
                          <a:cs typeface="Times New Roman" panose="02020603050405020304" pitchFamily="18" charset="0"/>
                        </a:rPr>
                        <a:t>A895</a:t>
                      </a:r>
                      <a:endParaRPr lang="en-US" sz="11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latin typeface="Times New Roman" panose="02020603050405020304" pitchFamily="18" charset="0"/>
                          <a:cs typeface="Times New Roman" panose="02020603050405020304" pitchFamily="18" charset="0"/>
                        </a:rPr>
                        <a:t>Trống</a:t>
                      </a:r>
                      <a:r>
                        <a:rPr lang="en-US" sz="1100" dirty="0">
                          <a:latin typeface="Times New Roman" panose="02020603050405020304" pitchFamily="18" charset="0"/>
                          <a:cs typeface="Times New Roman" panose="02020603050405020304" pitchFamily="18" charset="0"/>
                        </a:rPr>
                        <a:t> 2 </a:t>
                      </a:r>
                      <a:r>
                        <a:rPr lang="en-US" sz="1100" dirty="0" err="1">
                          <a:latin typeface="Times New Roman" panose="02020603050405020304" pitchFamily="18" charset="0"/>
                          <a:cs typeface="Times New Roman" panose="02020603050405020304" pitchFamily="18" charset="0"/>
                        </a:rPr>
                        <a:t>động</a:t>
                      </a:r>
                      <a:r>
                        <a:rPr lang="en-US" sz="1100" dirty="0">
                          <a:latin typeface="Times New Roman" panose="02020603050405020304" pitchFamily="18" charset="0"/>
                          <a:cs typeface="Times New Roman" panose="02020603050405020304" pitchFamily="18" charset="0"/>
                        </a:rPr>
                        <a:t> c</a:t>
                      </a:r>
                      <a:r>
                        <a:rPr lang="vi-VN" sz="1100" dirty="0">
                          <a:latin typeface="Times New Roman" panose="02020603050405020304" pitchFamily="18" charset="0"/>
                          <a:cs typeface="Times New Roman" panose="02020603050405020304" pitchFamily="18" charset="0"/>
                        </a:rPr>
                        <a:t>ơ</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đủ</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vào</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cuối</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T8</a:t>
                      </a:r>
                      <a:r>
                        <a:rPr lang="en-US" sz="1100" dirty="0">
                          <a:latin typeface="Times New Roman" panose="02020603050405020304" pitchFamily="18" charset="0"/>
                          <a:cs typeface="Times New Roman" panose="02020603050405020304" pitchFamily="18" charset="0"/>
                        </a:rPr>
                        <a:t>)</a:t>
                      </a:r>
                    </a:p>
                  </a:txBody>
                  <a:tcPr marL="121920" marR="121920" marT="60960" marB="60960" anchor="ctr"/>
                </a:tc>
                <a:extLst>
                  <a:ext uri="{0D108BD9-81ED-4DB2-BD59-A6C34878D82A}">
                    <a16:rowId xmlns:a16="http://schemas.microsoft.com/office/drawing/2014/main" val="321888471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173504" y="5555367"/>
            <a:ext cx="5787655" cy="369332"/>
          </a:xfrm>
          <a:prstGeom prst="rect">
            <a:avLst/>
          </a:prstGeom>
          <a:noFill/>
        </p:spPr>
        <p:txBody>
          <a:bodyPr wrap="square" rtlCol="0">
            <a:spAutoFit/>
          </a:bodyPr>
          <a:lstStyle/>
          <a:p>
            <a:pPr algn="ctr" defTabSz="1219170">
              <a:defRPr/>
            </a:pPr>
            <a:r>
              <a:rPr lang="en-US" b="1" dirty="0">
                <a:solidFill>
                  <a:srgbClr val="002060"/>
                </a:solidFill>
                <a:latin typeface="Times New Roman" panose="02020603050405020304" pitchFamily="18" charset="0"/>
                <a:cs typeface="Times New Roman" panose="02020603050405020304" pitchFamily="18" charset="0"/>
              </a:rPr>
              <a:t>Các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AOG </a:t>
            </a:r>
            <a:r>
              <a:rPr lang="en-US" b="1">
                <a:solidFill>
                  <a:srgbClr val="002060"/>
                </a:solidFill>
                <a:latin typeface="Times New Roman" panose="02020603050405020304" pitchFamily="18" charset="0"/>
                <a:cs typeface="Times New Roman" panose="02020603050405020304" pitchFamily="18" charset="0"/>
              </a:rPr>
              <a:t>(02 </a:t>
            </a:r>
            <a:r>
              <a:rPr lang="en-US" b="1" dirty="0" err="1">
                <a:solidFill>
                  <a:srgbClr val="002060"/>
                </a:solidFill>
                <a:latin typeface="Times New Roman" panose="02020603050405020304" pitchFamily="18" charset="0"/>
                <a:cs typeface="Times New Roman" panose="02020603050405020304" pitchFamily="18" charset="0"/>
              </a:rPr>
              <a:t>tàu</a:t>
            </a:r>
            <a:r>
              <a:rPr lang="en-US" b="1" dirty="0">
                <a:solidFill>
                  <a:srgbClr val="002060"/>
                </a:solidFill>
                <a:latin typeface="Times New Roman" panose="02020603050405020304" pitchFamily="18" charset="0"/>
                <a:cs typeface="Times New Roman" panose="02020603050405020304" pitchFamily="18" charset="0"/>
              </a:rPr>
              <a:t>)</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5" name="Chart 14">
            <a:extLst>
              <a:ext uri="{FF2B5EF4-FFF2-40B4-BE49-F238E27FC236}">
                <a16:creationId xmlns:a16="http://schemas.microsoft.com/office/drawing/2014/main" id="{CCB8BC50-9C48-4077-8FF9-51F8FD309974}"/>
              </a:ext>
            </a:extLst>
          </p:cNvPr>
          <p:cNvGraphicFramePr/>
          <p:nvPr/>
        </p:nvGraphicFramePr>
        <p:xfrm>
          <a:off x="6131180" y="3429000"/>
          <a:ext cx="5909514" cy="3313423"/>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a:extLst>
              <a:ext uri="{FF2B5EF4-FFF2-40B4-BE49-F238E27FC236}">
                <a16:creationId xmlns:a16="http://schemas.microsoft.com/office/drawing/2014/main" id="{3820863C-A0D5-40A0-8221-0CDAF77AC842}"/>
              </a:ext>
            </a:extLst>
          </p:cNvPr>
          <p:cNvSpPr txBox="1"/>
          <p:nvPr/>
        </p:nvSpPr>
        <p:spPr>
          <a:xfrm>
            <a:off x="6124112" y="842032"/>
            <a:ext cx="5909513" cy="175432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về</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muộn</a:t>
            </a:r>
            <a:r>
              <a:rPr lang="en-US" sz="1200" b="1" dirty="0">
                <a:solidFill>
                  <a:srgbClr val="FF0000"/>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Hiện</a:t>
            </a:r>
            <a:r>
              <a:rPr lang="en-US" sz="1200" dirty="0">
                <a:solidFill>
                  <a:schemeClr val="tx1"/>
                </a:solidFill>
                <a:latin typeface="Times New Roman" panose="02020603050405020304" pitchFamily="18" charset="0"/>
                <a:cs typeface="Times New Roman" panose="02020603050405020304" pitchFamily="18" charset="0"/>
              </a:rPr>
              <a:t> 3 </a:t>
            </a:r>
            <a:r>
              <a:rPr lang="en-US" sz="1200" dirty="0" err="1">
                <a:solidFill>
                  <a:schemeClr val="tx1"/>
                </a:solidFill>
                <a:latin typeface="Times New Roman" panose="02020603050405020304" pitchFamily="18" charset="0"/>
                <a:cs typeface="Times New Roman" panose="02020603050405020304" pitchFamily="18" charset="0"/>
              </a:rPr>
              <a:t>tàu</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thay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cơ</a:t>
            </a:r>
            <a:r>
              <a:rPr lang="en-US" sz="1200" dirty="0">
                <a:solidFill>
                  <a:schemeClr val="tx1"/>
                </a:solidFill>
                <a:latin typeface="Times New Roman" panose="02020603050405020304" pitchFamily="18" charset="0"/>
                <a:cs typeface="Times New Roman" panose="02020603050405020304" pitchFamily="18" charset="0"/>
              </a:rPr>
              <a:t> (A890,  A898, A894) </a:t>
            </a:r>
            <a:r>
              <a:rPr lang="en-US" sz="1200" dirty="0" err="1">
                <a:solidFill>
                  <a:schemeClr val="tx1"/>
                </a:solidFill>
                <a:latin typeface="Times New Roman" panose="02020603050405020304" pitchFamily="18" charset="0"/>
                <a:cs typeface="Times New Roman" panose="02020603050405020304" pitchFamily="18" charset="0"/>
              </a:rPr>
              <a:t>cần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động</a:t>
            </a:r>
            <a:r>
              <a:rPr lang="en-US" sz="1200" dirty="0">
                <a:solidFill>
                  <a:schemeClr val="tx1"/>
                </a:solidFill>
                <a:latin typeface="Times New Roman" panose="02020603050405020304" pitchFamily="18" charset="0"/>
                <a:cs typeface="Times New Roman" panose="02020603050405020304" pitchFamily="18" charset="0"/>
              </a:rPr>
              <a:t> c</a:t>
            </a:r>
            <a:r>
              <a:rPr lang="vi-VN" sz="1200" dirty="0">
                <a:solidFill>
                  <a:schemeClr val="tx1"/>
                </a:solidFill>
                <a:latin typeface="Times New Roman" panose="02020603050405020304" pitchFamily="18" charset="0"/>
                <a:cs typeface="Times New Roman" panose="02020603050405020304" pitchFamily="18" charset="0"/>
              </a:rPr>
              <a:t>ơ</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về</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thay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có</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rủi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ro</a:t>
            </a:r>
            <a:r>
              <a:rPr lang="en-US" sz="1200" dirty="0">
                <a:solidFill>
                  <a:schemeClr val="tx1"/>
                </a:solidFill>
                <a:latin typeface="Times New Roman" panose="02020603050405020304" pitchFamily="18" charset="0"/>
                <a:cs typeface="Times New Roman" panose="02020603050405020304" pitchFamily="18" charset="0"/>
              </a:rPr>
              <a:t> delay </a:t>
            </a:r>
            <a:r>
              <a:rPr lang="en-US" sz="1200" dirty="0" err="1">
                <a:solidFill>
                  <a:schemeClr val="tx1"/>
                </a:solidFill>
                <a:latin typeface="Times New Roman" panose="02020603050405020304" pitchFamily="18" charset="0"/>
                <a:cs typeface="Times New Roman" panose="02020603050405020304" pitchFamily="18" charset="0"/>
              </a:rPr>
              <a:t>rất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cao</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thực</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tế</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đã</a:t>
            </a:r>
            <a:r>
              <a:rPr lang="en-US" sz="1200" dirty="0">
                <a:solidFill>
                  <a:schemeClr val="tx1"/>
                </a:solidFill>
                <a:latin typeface="Times New Roman" panose="02020603050405020304" pitchFamily="18" charset="0"/>
                <a:cs typeface="Times New Roman" panose="02020603050405020304" pitchFamily="18" charset="0"/>
              </a:rPr>
              <a:t> delay </a:t>
            </a:r>
            <a:r>
              <a:rPr lang="en-US" sz="1200" dirty="0" err="1">
                <a:solidFill>
                  <a:schemeClr val="tx1"/>
                </a:solidFill>
                <a:latin typeface="Times New Roman" panose="02020603050405020304" pitchFamily="18" charset="0"/>
                <a:cs typeface="Times New Roman" panose="02020603050405020304" pitchFamily="18" charset="0"/>
              </a:rPr>
              <a:t>gây</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ảnh</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hưởng</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phải</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giữ</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giờ</a:t>
            </a:r>
            <a:r>
              <a:rPr lang="en-US" sz="1200" dirty="0">
                <a:solidFill>
                  <a:schemeClr val="tx1"/>
                </a:solidFill>
                <a:latin typeface="Times New Roman" panose="02020603050405020304" pitchFamily="18" charset="0"/>
                <a:cs typeface="Times New Roman" panose="02020603050405020304" pitchFamily="18" charset="0"/>
              </a:rPr>
              <a:t>). </a:t>
            </a:r>
          </a:p>
          <a:p>
            <a:pPr marL="342900" indent="-342900" defTabSz="1219170">
              <a:buAutoNum type="arabicPeriod"/>
              <a:defRPr/>
            </a:pPr>
            <a:endParaRPr lang="en-US" sz="1200" dirty="0">
              <a:solidFill>
                <a:schemeClr val="tx1"/>
              </a:solidFill>
              <a:latin typeface="Times New Roman" panose="02020603050405020304" pitchFamily="18" charset="0"/>
              <a:cs typeface="Times New Roman" panose="02020603050405020304" pitchFamily="18" charset="0"/>
            </a:endParaRPr>
          </a:p>
          <a:p>
            <a:pPr marL="342900" indent="-342900" defTabSz="1219170">
              <a:buAutoNum type="arabicPeriod"/>
              <a:defRPr/>
            </a:pPr>
            <a:r>
              <a:rPr lang="en-US" sz="1200" b="1" dirty="0" err="1">
                <a:solidFill>
                  <a:srgbClr val="FF0000"/>
                </a:solidFill>
                <a:latin typeface="Times New Roman" panose="02020603050405020304" pitchFamily="18" charset="0"/>
                <a:cs typeface="Times New Roman" panose="02020603050405020304" pitchFamily="18" charset="0"/>
              </a:rPr>
              <a:t>Rủi</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ro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tháo</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động</a:t>
            </a:r>
            <a:r>
              <a:rPr lang="en-US" sz="1200" b="1" dirty="0">
                <a:solidFill>
                  <a:srgbClr val="FF0000"/>
                </a:solidFill>
                <a:latin typeface="Times New Roman" panose="02020603050405020304" pitchFamily="18" charset="0"/>
                <a:cs typeface="Times New Roman" panose="02020603050405020304" pitchFamily="18" charset="0"/>
              </a:rPr>
              <a:t> c</a:t>
            </a:r>
            <a:r>
              <a:rPr lang="vi-VN" sz="1200" b="1" dirty="0">
                <a:solidFill>
                  <a:srgbClr val="FF0000"/>
                </a:solidFill>
                <a:latin typeface="Times New Roman" panose="02020603050405020304" pitchFamily="18" charset="0"/>
                <a:cs typeface="Times New Roman" panose="02020603050405020304" pitchFamily="18" charset="0"/>
              </a:rPr>
              <a:t>ơ</a:t>
            </a:r>
            <a:r>
              <a:rPr lang="en-US" sz="1200" b="1" dirty="0">
                <a:solidFill>
                  <a:srgbClr val="FF0000"/>
                </a:solidFill>
                <a:latin typeface="Times New Roman" panose="02020603050405020304" pitchFamily="18" charset="0"/>
                <a:cs typeface="Times New Roman" panose="02020603050405020304" pitchFamily="18" charset="0"/>
              </a:rPr>
              <a:t> </a:t>
            </a:r>
            <a:r>
              <a:rPr lang="en-US" sz="1200" b="1" dirty="0" err="1">
                <a:solidFill>
                  <a:srgbClr val="FF0000"/>
                </a:solidFill>
                <a:latin typeface="Times New Roman" panose="02020603050405020304" pitchFamily="18" charset="0"/>
                <a:cs typeface="Times New Roman" panose="02020603050405020304" pitchFamily="18" charset="0"/>
              </a:rPr>
              <a:t>ngoài</a:t>
            </a:r>
            <a:r>
              <a:rPr lang="en-US" sz="1200" b="1" dirty="0">
                <a:solidFill>
                  <a:srgbClr val="FF0000"/>
                </a:solidFill>
                <a:latin typeface="Times New Roman" panose="02020603050405020304" pitchFamily="18" charset="0"/>
                <a:cs typeface="Times New Roman" panose="02020603050405020304" pitchFamily="18" charset="0"/>
              </a:rPr>
              <a:t> KH: </a:t>
            </a:r>
          </a:p>
          <a:p>
            <a:pPr marL="742950" lvl="1" indent="-285750" defTabSz="1219170">
              <a:buFont typeface="Arial" panose="020B0604020202020204" pitchFamily="34" charset="0"/>
              <a:buChar char="•"/>
              <a:defRPr/>
            </a:pPr>
            <a:r>
              <a:rPr lang="en-US" sz="1200" dirty="0" err="1">
                <a:solidFill>
                  <a:schemeClr val="tx1"/>
                </a:solidFill>
                <a:latin typeface="Times New Roman" panose="02020603050405020304" pitchFamily="18" charset="0"/>
                <a:cs typeface="Times New Roman" panose="02020603050405020304" pitchFamily="18" charset="0"/>
              </a:rPr>
              <a:t>Hỏng</a:t>
            </a:r>
            <a:r>
              <a:rPr lang="en-US" sz="1200" dirty="0">
                <a:solidFill>
                  <a:schemeClr val="tx1"/>
                </a:solidFill>
                <a:latin typeface="Times New Roman" panose="02020603050405020304" pitchFamily="18" charset="0"/>
                <a:cs typeface="Times New Roman" panose="02020603050405020304" pitchFamily="18" charset="0"/>
              </a:rPr>
              <a:t> HPT Blade (A889#1 </a:t>
            </a:r>
            <a:r>
              <a:rPr lang="en-US" sz="1200">
                <a:solidFill>
                  <a:schemeClr val="tx1"/>
                </a:solidFill>
                <a:latin typeface="Times New Roman" panose="02020603050405020304" pitchFamily="18" charset="0"/>
                <a:cs typeface="Times New Roman" panose="02020603050405020304" pitchFamily="18" charset="0"/>
              </a:rPr>
              <a:t>21088 75FC</a:t>
            </a:r>
            <a:r>
              <a:rPr lang="en-US" sz="1200" dirty="0">
                <a:solidFill>
                  <a:schemeClr val="tx1"/>
                </a:solidFill>
                <a:latin typeface="Times New Roman" panose="02020603050405020304" pitchFamily="18" charset="0"/>
                <a:cs typeface="Times New Roman" panose="02020603050405020304" pitchFamily="18" charset="0"/>
              </a:rPr>
              <a:t>); A898#2 21268 100FC;</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Crack IPC (A898#2 21268 </a:t>
            </a:r>
            <a:r>
              <a:rPr lang="en-US" sz="1200" dirty="0" err="1">
                <a:solidFill>
                  <a:schemeClr val="tx1"/>
                </a:solidFill>
                <a:latin typeface="Times New Roman" panose="02020603050405020304" pitchFamily="18" charset="0"/>
                <a:cs typeface="Times New Roman" panose="02020603050405020304" pitchFamily="18" charset="0"/>
              </a:rPr>
              <a:t>và</a:t>
            </a:r>
            <a:r>
              <a:rPr lang="en-US" sz="1200" dirty="0">
                <a:solidFill>
                  <a:schemeClr val="tx1"/>
                </a:solidFill>
                <a:latin typeface="Times New Roman" panose="02020603050405020304" pitchFamily="18" charset="0"/>
                <a:cs typeface="Times New Roman" panose="02020603050405020304" pitchFamily="18" charset="0"/>
              </a:rPr>
              <a:t> A894#1 21317 </a:t>
            </a:r>
            <a:r>
              <a:rPr lang="en-US" sz="1200" dirty="0" err="1">
                <a:solidFill>
                  <a:schemeClr val="tx1"/>
                </a:solidFill>
                <a:latin typeface="Times New Roman" panose="02020603050405020304" pitchFamily="18" charset="0"/>
                <a:cs typeface="Times New Roman" panose="02020603050405020304" pitchFamily="18" charset="0"/>
              </a:rPr>
              <a:t>phát</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hiện</a:t>
            </a:r>
            <a:r>
              <a:rPr lang="en-US" sz="1200" dirty="0">
                <a:solidFill>
                  <a:schemeClr val="tx1"/>
                </a:solidFill>
                <a:latin typeface="Times New Roman" panose="02020603050405020304" pitchFamily="18" charset="0"/>
                <a:cs typeface="Times New Roman" panose="02020603050405020304" pitchFamily="18" charset="0"/>
              </a:rPr>
              <a:t> crack soi </a:t>
            </a:r>
            <a:r>
              <a:rPr lang="en-US" sz="1200" dirty="0" err="1">
                <a:solidFill>
                  <a:schemeClr val="tx1"/>
                </a:solidFill>
                <a:latin typeface="Times New Roman" panose="02020603050405020304" pitchFamily="18" charset="0"/>
                <a:cs typeface="Times New Roman" panose="02020603050405020304" pitchFamily="18" charset="0"/>
              </a:rPr>
              <a:t>tần</a:t>
            </a:r>
            <a:r>
              <a:rPr lang="en-US" sz="1200" dirty="0">
                <a:solidFill>
                  <a:schemeClr val="tx1"/>
                </a:solidFill>
                <a:latin typeface="Times New Roman" panose="02020603050405020304" pitchFamily="18" charset="0"/>
                <a:cs typeface="Times New Roman" panose="02020603050405020304" pitchFamily="18" charset="0"/>
              </a:rPr>
              <a:t> </a:t>
            </a:r>
            <a:r>
              <a:rPr lang="en-US" sz="1200" dirty="0" err="1">
                <a:solidFill>
                  <a:schemeClr val="tx1"/>
                </a:solidFill>
                <a:latin typeface="Times New Roman" panose="02020603050405020304" pitchFamily="18" charset="0"/>
                <a:cs typeface="Times New Roman" panose="02020603050405020304" pitchFamily="18" charset="0"/>
              </a:rPr>
              <a:t>suất</a:t>
            </a:r>
            <a:r>
              <a:rPr lang="en-US" sz="1200" dirty="0">
                <a:solidFill>
                  <a:schemeClr val="tx1"/>
                </a:solidFill>
                <a:latin typeface="Times New Roman" panose="02020603050405020304" pitchFamily="18" charset="0"/>
                <a:cs typeface="Times New Roman" panose="02020603050405020304" pitchFamily="18" charset="0"/>
              </a:rPr>
              <a:t> 100FC, A889#1 21088 interval 200FC); </a:t>
            </a:r>
          </a:p>
          <a:p>
            <a:pPr marL="742950" lvl="1" indent="-285750" defTabSz="1219170">
              <a:buFont typeface="Arial" panose="020B0604020202020204" pitchFamily="34" charset="0"/>
              <a:buChar char="•"/>
              <a:defRPr/>
            </a:pPr>
            <a:r>
              <a:rPr lang="en-US" sz="1200" dirty="0">
                <a:solidFill>
                  <a:schemeClr val="tx1"/>
                </a:solidFill>
                <a:latin typeface="Times New Roman" panose="02020603050405020304" pitchFamily="18" charset="0"/>
                <a:cs typeface="Times New Roman" panose="02020603050405020304" pitchFamily="18" charset="0"/>
              </a:rPr>
              <a:t>High Oil Consumption (A887#2 21369); Oil Hiding (A889#2 21034, A888#1 21052)</a:t>
            </a:r>
          </a:p>
        </p:txBody>
      </p:sp>
      <p:sp>
        <p:nvSpPr>
          <p:cNvPr id="17" name="TextBox 16">
            <a:extLst>
              <a:ext uri="{FF2B5EF4-FFF2-40B4-BE49-F238E27FC236}">
                <a16:creationId xmlns:a16="http://schemas.microsoft.com/office/drawing/2014/main" id="{8C24F927-43FE-43A1-80E2-A11360025336}"/>
              </a:ext>
            </a:extLst>
          </p:cNvPr>
          <p:cNvSpPr txBox="1"/>
          <p:nvPr/>
        </p:nvSpPr>
        <p:spPr>
          <a:xfrm>
            <a:off x="5869870" y="335369"/>
            <a:ext cx="6705299" cy="369332"/>
          </a:xfrm>
          <a:prstGeom prst="rect">
            <a:avLst/>
          </a:prstGeom>
          <a:noFill/>
        </p:spPr>
        <p:txBody>
          <a:bodyPr wrap="square" rtlCol="0">
            <a:spAutoFit/>
          </a:bodyPr>
          <a:lstStyle/>
          <a:p>
            <a:pPr algn="ctr" defTabSz="1219170">
              <a:defRPr/>
            </a:pPr>
            <a:r>
              <a:rPr lang="en-US" b="1" dirty="0" err="1">
                <a:solidFill>
                  <a:srgbClr val="002060"/>
                </a:solidFill>
                <a:latin typeface="Times New Roman" panose="02020603050405020304" pitchFamily="18" charset="0"/>
                <a:cs typeface="Times New Roman" panose="02020603050405020304" pitchFamily="18" charset="0"/>
              </a:rPr>
              <a:t>Rủi</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ro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cao</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điểm</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Hè</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BA759F6-D850-4EB4-AD1E-1FF6AF20FC2A}"/>
              </a:ext>
            </a:extLst>
          </p:cNvPr>
          <p:cNvSpPr/>
          <p:nvPr/>
        </p:nvSpPr>
        <p:spPr>
          <a:xfrm>
            <a:off x="6934200" y="5743545"/>
            <a:ext cx="2971800" cy="400110"/>
          </a:xfrm>
          <a:prstGeom prst="rect">
            <a:avLst/>
          </a:prstGeom>
        </p:spPr>
        <p:txBody>
          <a:bodyPr wrap="square">
            <a:spAutoFit/>
          </a:bodyPr>
          <a:lstStyle/>
          <a:p>
            <a:pPr algn="ctr" defTabSz="1219170">
              <a:defRPr/>
            </a:pPr>
            <a:r>
              <a:rPr lang="en-US" sz="1000" i="1" dirty="0">
                <a:solidFill>
                  <a:srgbClr val="FF0000"/>
                </a:solidFill>
                <a:latin typeface="Times New Roman" panose="02020603050405020304" pitchFamily="18" charset="0"/>
                <a:cs typeface="Times New Roman" panose="02020603050405020304" pitchFamily="18" charset="0"/>
              </a:rPr>
              <a:t>T8 </a:t>
            </a:r>
            <a:r>
              <a:rPr lang="en-US" sz="1000" i="1" dirty="0" err="1">
                <a:solidFill>
                  <a:srgbClr val="FF0000"/>
                </a:solidFill>
                <a:latin typeface="Times New Roman" panose="02020603050405020304" pitchFamily="18" charset="0"/>
                <a:cs typeface="Times New Roman" panose="02020603050405020304" pitchFamily="18" charset="0"/>
              </a:rPr>
              <a:t>tăng</a:t>
            </a:r>
            <a:r>
              <a:rPr lang="en-US" sz="1000" i="1" dirty="0">
                <a:solidFill>
                  <a:srgbClr val="FF0000"/>
                </a:solidFill>
                <a:latin typeface="Times New Roman" panose="02020603050405020304" pitchFamily="18" charset="0"/>
                <a:cs typeface="Times New Roman" panose="02020603050405020304" pitchFamily="18" charset="0"/>
              </a:rPr>
              <a:t> 1 </a:t>
            </a:r>
            <a:r>
              <a:rPr lang="en-US" sz="1000" i="1" dirty="0" err="1">
                <a:solidFill>
                  <a:srgbClr val="FF0000"/>
                </a:solidFill>
                <a:latin typeface="Times New Roman" panose="02020603050405020304" pitchFamily="18" charset="0"/>
                <a:cs typeface="Times New Roman" panose="02020603050405020304" pitchFamily="18" charset="0"/>
              </a:rPr>
              <a:t>tuần</a:t>
            </a:r>
            <a:r>
              <a:rPr lang="en-US" sz="1000" i="1" dirty="0">
                <a:solidFill>
                  <a:srgbClr val="FF0000"/>
                </a:solidFill>
                <a:latin typeface="Times New Roman" panose="02020603050405020304" pitchFamily="18" charset="0"/>
                <a:cs typeface="Times New Roman" panose="02020603050405020304" pitchFamily="18" charset="0"/>
              </a:rPr>
              <a:t> AOG do </a:t>
            </a:r>
            <a:r>
              <a:rPr lang="en-US" sz="1000" i="1" dirty="0" err="1">
                <a:solidFill>
                  <a:srgbClr val="FF0000"/>
                </a:solidFill>
                <a:latin typeface="Times New Roman" panose="02020603050405020304" pitchFamily="18" charset="0"/>
                <a:cs typeface="Times New Roman" panose="02020603050405020304" pitchFamily="18" charset="0"/>
              </a:rPr>
              <a:t>động</a:t>
            </a:r>
            <a:r>
              <a:rPr lang="en-US" sz="1000" i="1" dirty="0">
                <a:solidFill>
                  <a:srgbClr val="FF0000"/>
                </a:solidFill>
                <a:latin typeface="Times New Roman" panose="02020603050405020304" pitchFamily="18" charset="0"/>
                <a:cs typeface="Times New Roman" panose="02020603050405020304" pitchFamily="18" charset="0"/>
              </a:rPr>
              <a:t> c</a:t>
            </a:r>
            <a:r>
              <a:rPr lang="vi-VN" sz="1000" i="1" dirty="0">
                <a:solidFill>
                  <a:srgbClr val="FF0000"/>
                </a:solidFill>
                <a:latin typeface="Times New Roman" panose="02020603050405020304" pitchFamily="18" charset="0"/>
                <a:cs typeface="Times New Roman" panose="02020603050405020304" pitchFamily="18" charset="0"/>
              </a:rPr>
              <a:t>ơ</a:t>
            </a:r>
            <a:r>
              <a:rPr lang="en-US" sz="1000" i="1" dirty="0">
                <a:solidFill>
                  <a:srgbClr val="FF0000"/>
                </a:solidFill>
                <a:latin typeface="Times New Roman" panose="02020603050405020304" pitchFamily="18" charset="0"/>
                <a:cs typeface="Times New Roman" panose="02020603050405020304" pitchFamily="18" charset="0"/>
              </a:rPr>
              <a:t> 21043 </a:t>
            </a:r>
            <a:r>
              <a:rPr lang="en-US" sz="1000" i="1" dirty="0" err="1">
                <a:solidFill>
                  <a:srgbClr val="FF0000"/>
                </a:solidFill>
                <a:latin typeface="Times New Roman" panose="02020603050405020304" pitchFamily="18" charset="0"/>
                <a:cs typeface="Times New Roman" panose="02020603050405020304" pitchFamily="18" charset="0"/>
              </a:rPr>
              <a:t>và</a:t>
            </a:r>
            <a:r>
              <a:rPr lang="en-US" sz="1000" i="1" dirty="0">
                <a:solidFill>
                  <a:srgbClr val="FF0000"/>
                </a:solidFill>
                <a:latin typeface="Times New Roman" panose="02020603050405020304" pitchFamily="18" charset="0"/>
                <a:cs typeface="Times New Roman" panose="02020603050405020304" pitchFamily="18" charset="0"/>
              </a:rPr>
              <a:t> 21604 </a:t>
            </a:r>
            <a:r>
              <a:rPr lang="en-US" sz="1000" i="1" dirty="0" err="1">
                <a:solidFill>
                  <a:srgbClr val="FF0000"/>
                </a:solidFill>
                <a:latin typeface="Times New Roman" panose="02020603050405020304" pitchFamily="18" charset="0"/>
                <a:cs typeface="Times New Roman" panose="02020603050405020304" pitchFamily="18" charset="0"/>
              </a:rPr>
              <a:t>về</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muộn</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cần</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hạn</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chế</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khai</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thác</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để</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khắc</a:t>
            </a:r>
            <a:r>
              <a:rPr lang="en-US" sz="1000" i="1" dirty="0">
                <a:solidFill>
                  <a:srgbClr val="FF0000"/>
                </a:solidFill>
                <a:latin typeface="Times New Roman" panose="02020603050405020304" pitchFamily="18" charset="0"/>
                <a:cs typeface="Times New Roman" panose="02020603050405020304" pitchFamily="18" charset="0"/>
              </a:rPr>
              <a:t> </a:t>
            </a:r>
            <a:r>
              <a:rPr lang="en-US" sz="1000" i="1" dirty="0" err="1">
                <a:solidFill>
                  <a:srgbClr val="FF0000"/>
                </a:solidFill>
                <a:latin typeface="Times New Roman" panose="02020603050405020304" pitchFamily="18" charset="0"/>
                <a:cs typeface="Times New Roman" panose="02020603050405020304" pitchFamily="18" charset="0"/>
              </a:rPr>
              <a:t>phục</a:t>
            </a:r>
            <a:r>
              <a:rPr lang="en-US" sz="1000" i="1" dirty="0">
                <a:solidFill>
                  <a:srgbClr val="FF0000"/>
                </a:solidFill>
                <a:latin typeface="Times New Roman" panose="02020603050405020304" pitchFamily="18" charset="0"/>
                <a:cs typeface="Times New Roman" panose="02020603050405020304" pitchFamily="18" charset="0"/>
              </a:rPr>
              <a:t>. </a:t>
            </a:r>
            <a:endParaRPr lang="en-GB" sz="1000"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8557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35</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a:t>
            </a:r>
            <a:r>
              <a:rPr lang="en-US" sz="2400" b="1">
                <a:solidFill>
                  <a:srgbClr val="DAA600"/>
                </a:solidFill>
                <a:latin typeface="Times New Roman" panose="02020603050405020304" pitchFamily="18" charset="0"/>
                <a:cs typeface="Times New Roman" panose="02020603050405020304" pitchFamily="18" charset="0"/>
              </a:rPr>
              <a:t>BAY ATR72</a:t>
            </a:r>
            <a:endParaRPr lang="en-GB" sz="2400" b="1" dirty="0">
              <a:solidFill>
                <a:srgbClr val="DAA6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65B7C68-FAE0-542E-3B49-CC53ADF9B04A}"/>
              </a:ext>
            </a:extLst>
          </p:cNvPr>
          <p:cNvSpPr txBox="1"/>
          <p:nvPr/>
        </p:nvSpPr>
        <p:spPr>
          <a:xfrm>
            <a:off x="7196001" y="530656"/>
            <a:ext cx="2858475"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err="1">
                <a:solidFill>
                  <a:srgbClr val="002060"/>
                </a:solidFill>
                <a:latin typeface="Times New Roman" panose="02020603050405020304" pitchFamily="18" charset="0"/>
                <a:cs typeface="Times New Roman" panose="02020603050405020304" pitchFamily="18" charset="0"/>
              </a:rPr>
              <a:t>hoạch</a:t>
            </a:r>
            <a:r>
              <a:rPr lang="en-US" b="1">
                <a:solidFill>
                  <a:srgbClr val="002060"/>
                </a:solidFill>
                <a:latin typeface="Times New Roman" panose="02020603050405020304" pitchFamily="18" charset="0"/>
                <a:cs typeface="Times New Roman" panose="02020603050405020304" pitchFamily="18" charset="0"/>
              </a:rPr>
              <a:t> tháo Q2-Q3/2025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550674"/>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638799" y="1028139"/>
          <a:ext cx="6207275" cy="22672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541578">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86781906"/>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EB0115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12-14/07/2025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giữ trong kho,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ED0239 </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1498463"/>
                  </a:ext>
                </a:extLst>
              </a:tr>
              <a:tr h="431413">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ED0177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B219#2</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10-13/08/2025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Stagger, lắp ED0238</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0234962"/>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3</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ED0213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20-21/09/2025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Hết LLP sửa HSI, lắp ED0177</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31413">
                <a:tc>
                  <a:txBody>
                    <a:bodyPr/>
                    <a:lstStyle/>
                    <a:p>
                      <a:pPr algn="ctr" rtl="0" fontAlgn="ctr"/>
                      <a:r>
                        <a:rPr lang="en-US" sz="1200" b="0" i="0" u="none" strike="noStrike">
                          <a:solidFill>
                            <a:srgbClr val="000000"/>
                          </a:solidFill>
                          <a:effectLst/>
                          <a:latin typeface="Times New Roman" panose="02020603050405020304" pitchFamily="18" charset="0"/>
                          <a:cs typeface="Times New Roman" panose="02020603050405020304" pitchFamily="18" charset="0"/>
                        </a:rPr>
                        <a:t>4</a:t>
                      </a: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B223#2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05-06/10/2025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Tháo trả động cơ thuê</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7654"/>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1394090" y="3336844"/>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113144" y="3793658"/>
          <a:ext cx="5144653" cy="1715864"/>
        </p:xfrm>
        <a:graphic>
          <a:graphicData uri="http://schemas.openxmlformats.org/drawingml/2006/table">
            <a:tbl>
              <a:tblPr firstRow="1" bandRow="1">
                <a:tableStyleId>{93296810-A885-4BE3-A3E7-6D5BEEA58F35}</a:tableStyleId>
              </a:tblPr>
              <a:tblGrid>
                <a:gridCol w="444575">
                  <a:extLst>
                    <a:ext uri="{9D8B030D-6E8A-4147-A177-3AD203B41FA5}">
                      <a16:colId xmlns:a16="http://schemas.microsoft.com/office/drawing/2014/main" val="4292553957"/>
                    </a:ext>
                  </a:extLst>
                </a:gridCol>
                <a:gridCol w="692815">
                  <a:extLst>
                    <a:ext uri="{9D8B030D-6E8A-4147-A177-3AD203B41FA5}">
                      <a16:colId xmlns:a16="http://schemas.microsoft.com/office/drawing/2014/main" val="4057841190"/>
                    </a:ext>
                  </a:extLst>
                </a:gridCol>
                <a:gridCol w="685117">
                  <a:extLst>
                    <a:ext uri="{9D8B030D-6E8A-4147-A177-3AD203B41FA5}">
                      <a16:colId xmlns:a16="http://schemas.microsoft.com/office/drawing/2014/main" val="4208667331"/>
                    </a:ext>
                  </a:extLst>
                </a:gridCol>
                <a:gridCol w="1046921">
                  <a:extLst>
                    <a:ext uri="{9D8B030D-6E8A-4147-A177-3AD203B41FA5}">
                      <a16:colId xmlns:a16="http://schemas.microsoft.com/office/drawing/2014/main" val="4243809776"/>
                    </a:ext>
                  </a:extLst>
                </a:gridCol>
                <a:gridCol w="2275225">
                  <a:extLst>
                    <a:ext uri="{9D8B030D-6E8A-4147-A177-3AD203B41FA5}">
                      <a16:colId xmlns:a16="http://schemas.microsoft.com/office/drawing/2014/main" val="1351526185"/>
                    </a:ext>
                  </a:extLst>
                </a:gridCol>
              </a:tblGrid>
              <a:tr h="506192">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86781906"/>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ED0321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31/12/2025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 T11/2025. Do động cơ sửa chữa về muộn.</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30173039"/>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ED0715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Willis</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21/12/2025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T4/2026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1627351"/>
                  </a:ext>
                </a:extLst>
              </a:tr>
              <a:tr h="403224">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ED0036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09/06/2025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Dự kiến gia hạn đến T8/2026</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0710773"/>
                  </a:ext>
                </a:extLst>
              </a:tr>
            </a:tbl>
          </a:graphicData>
        </a:graphic>
      </p:graphicFrame>
      <p:graphicFrame>
        <p:nvGraphicFramePr>
          <p:cNvPr id="13" name="Table 2">
            <a:extLst>
              <a:ext uri="{FF2B5EF4-FFF2-40B4-BE49-F238E27FC236}">
                <a16:creationId xmlns:a16="http://schemas.microsoft.com/office/drawing/2014/main" id="{12E9DFFC-602F-448B-A136-90CCBFC742F5}"/>
              </a:ext>
            </a:extLst>
          </p:cNvPr>
          <p:cNvGraphicFramePr>
            <a:graphicFrameLocks noGrp="1"/>
          </p:cNvGraphicFramePr>
          <p:nvPr/>
        </p:nvGraphicFramePr>
        <p:xfrm>
          <a:off x="113146" y="1000567"/>
          <a:ext cx="5144652" cy="2294801"/>
        </p:xfrm>
        <a:graphic>
          <a:graphicData uri="http://schemas.openxmlformats.org/drawingml/2006/table">
            <a:tbl>
              <a:tblPr firstRow="1" bandRow="1">
                <a:tableStyleId>{5C22544A-7EE6-4342-B048-85BDC9FD1C3A}</a:tableStyleId>
              </a:tblPr>
              <a:tblGrid>
                <a:gridCol w="420254">
                  <a:extLst>
                    <a:ext uri="{9D8B030D-6E8A-4147-A177-3AD203B41FA5}">
                      <a16:colId xmlns:a16="http://schemas.microsoft.com/office/drawing/2014/main" val="1598605427"/>
                    </a:ext>
                  </a:extLst>
                </a:gridCol>
                <a:gridCol w="728215">
                  <a:extLst>
                    <a:ext uri="{9D8B030D-6E8A-4147-A177-3AD203B41FA5}">
                      <a16:colId xmlns:a16="http://schemas.microsoft.com/office/drawing/2014/main" val="3845954792"/>
                    </a:ext>
                  </a:extLst>
                </a:gridCol>
                <a:gridCol w="643385">
                  <a:extLst>
                    <a:ext uri="{9D8B030D-6E8A-4147-A177-3AD203B41FA5}">
                      <a16:colId xmlns:a16="http://schemas.microsoft.com/office/drawing/2014/main" val="2148822928"/>
                    </a:ext>
                  </a:extLst>
                </a:gridCol>
                <a:gridCol w="1042797">
                  <a:extLst>
                    <a:ext uri="{9D8B030D-6E8A-4147-A177-3AD203B41FA5}">
                      <a16:colId xmlns:a16="http://schemas.microsoft.com/office/drawing/2014/main" val="2136763095"/>
                    </a:ext>
                  </a:extLst>
                </a:gridCol>
                <a:gridCol w="1197778">
                  <a:extLst>
                    <a:ext uri="{9D8B030D-6E8A-4147-A177-3AD203B41FA5}">
                      <a16:colId xmlns:a16="http://schemas.microsoft.com/office/drawing/2014/main" val="1185879436"/>
                    </a:ext>
                  </a:extLst>
                </a:gridCol>
                <a:gridCol w="1112223">
                  <a:extLst>
                    <a:ext uri="{9D8B030D-6E8A-4147-A177-3AD203B41FA5}">
                      <a16:colId xmlns:a16="http://schemas.microsoft.com/office/drawing/2014/main" val="3807119371"/>
                    </a:ext>
                  </a:extLst>
                </a:gridCol>
              </a:tblGrid>
              <a:tr h="378535">
                <a:tc>
                  <a:txBody>
                    <a:bodyPr/>
                    <a:lstStyle/>
                    <a:p>
                      <a:pPr algn="ctr"/>
                      <a:r>
                        <a:rPr lang="en-GB" sz="1100">
                          <a:latin typeface="Times New Roman" panose="02020603050405020304" pitchFamily="18" charset="0"/>
                          <a:cs typeface="Times New Roman" panose="02020603050405020304" pitchFamily="18" charset="0"/>
                        </a:rPr>
                        <a:t>No</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extLst>
                  <a:ext uri="{0D108BD9-81ED-4DB2-BD59-A6C34878D82A}">
                    <a16:rowId xmlns:a16="http://schemas.microsoft.com/office/drawing/2014/main" val="1234812354"/>
                  </a:ext>
                </a:extLst>
              </a:tr>
              <a:tr h="359374">
                <a:tc>
                  <a:txBody>
                    <a:bodyPr/>
                    <a:lstStyle/>
                    <a:p>
                      <a:pPr algn="ctr"/>
                      <a:r>
                        <a:rPr lang="vi-VN"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16/10/2024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12/07/2025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Lắp cho B220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7979002"/>
                  </a:ext>
                </a:extLst>
              </a:tr>
              <a:tr h="470399">
                <a:tc>
                  <a:txBody>
                    <a:bodyPr/>
                    <a:lstStyle/>
                    <a:p>
                      <a:pPr algn="ctr"/>
                      <a:r>
                        <a:rPr lang="vi-VN" sz="1100">
                          <a:latin typeface="Times New Roman" panose="02020603050405020304" pitchFamily="18" charset="0"/>
                          <a:cs typeface="Times New Roman" panose="02020603050405020304" pitchFamily="18" charset="0"/>
                        </a:rPr>
                        <a:t>2</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ED0238</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SEA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24/01/2025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08/2025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7893171"/>
                  </a:ext>
                </a:extLst>
              </a:tr>
              <a:tr h="470399">
                <a:tc>
                  <a:txBody>
                    <a:bodyPr/>
                    <a:lstStyle/>
                    <a:p>
                      <a:pPr algn="ctr"/>
                      <a:r>
                        <a:rPr lang="en-GB" sz="110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ED0217</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20/03/2025</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Stagger/Engine change</a:t>
                      </a:r>
                      <a:endPar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4517888"/>
                  </a:ext>
                </a:extLst>
              </a:tr>
              <a:tr h="308047">
                <a:tc>
                  <a:txBody>
                    <a:bodyPr/>
                    <a:lstStyle/>
                    <a:p>
                      <a:pPr algn="ctr"/>
                      <a:r>
                        <a:rPr lang="en-GB" sz="1100">
                          <a:latin typeface="Times New Roman" panose="02020603050405020304" pitchFamily="18" charset="0"/>
                          <a:cs typeface="Times New Roman" panose="02020603050405020304" pitchFamily="18" charset="0"/>
                        </a:rPr>
                        <a:t>4</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ED0233</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26/03/2025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132875"/>
                  </a:ext>
                </a:extLst>
              </a:tr>
              <a:tr h="308047">
                <a:tc>
                  <a:txBody>
                    <a:bodyPr/>
                    <a:lstStyle/>
                    <a:p>
                      <a:pPr algn="ctr"/>
                      <a:r>
                        <a:rPr lang="en-GB" sz="1100">
                          <a:latin typeface="Times New Roman" panose="02020603050405020304" pitchFamily="18" charset="0"/>
                          <a:cs typeface="Times New Roman" panose="02020603050405020304" pitchFamily="18" charset="0"/>
                        </a:rPr>
                        <a:t>5</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ED0214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21/04/2025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US" sz="1100" b="0" kern="1200">
                        <a:solidFill>
                          <a:schemeClr val="tx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TBD</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55896"/>
                  </a:ext>
                </a:extLst>
              </a:tr>
            </a:tbl>
          </a:graphicData>
        </a:graphic>
      </p:graphicFrame>
      <p:graphicFrame>
        <p:nvGraphicFramePr>
          <p:cNvPr id="14" name="Chart 13">
            <a:extLst>
              <a:ext uri="{FF2B5EF4-FFF2-40B4-BE49-F238E27FC236}">
                <a16:creationId xmlns:a16="http://schemas.microsoft.com/office/drawing/2014/main" id="{12EC0F78-C4A2-42EE-A935-C574AFA9F1D2}"/>
              </a:ext>
            </a:extLst>
          </p:cNvPr>
          <p:cNvGraphicFramePr/>
          <p:nvPr/>
        </p:nvGraphicFramePr>
        <p:xfrm>
          <a:off x="5638799" y="3773237"/>
          <a:ext cx="6207275" cy="1760311"/>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FBF3E88B-260D-4CB0-BF3A-953A10CF3EB4}"/>
              </a:ext>
            </a:extLst>
          </p:cNvPr>
          <p:cNvSpPr txBox="1"/>
          <p:nvPr/>
        </p:nvSpPr>
        <p:spPr>
          <a:xfrm>
            <a:off x="7835598" y="3336844"/>
            <a:ext cx="1579278" cy="369332"/>
          </a:xfrm>
          <a:prstGeom prst="rect">
            <a:avLst/>
          </a:prstGeom>
          <a:noFill/>
        </p:spPr>
        <p:txBody>
          <a:bodyPr wrap="none" rtlCol="0">
            <a:spAutoFit/>
          </a:bodyPr>
          <a:lstStyle/>
          <a:p>
            <a:r>
              <a:rPr lang="en-US" b="1">
                <a:solidFill>
                  <a:srgbClr val="002060"/>
                </a:solidFill>
                <a:latin typeface="Times New Roman" panose="02020603050405020304" pitchFamily="18" charset="0"/>
                <a:cs typeface="Times New Roman" panose="02020603050405020304" pitchFamily="18" charset="0"/>
              </a:rPr>
              <a:t>Nguồn lực tàu</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53283F5F-6E60-4E6E-998E-F7759A36C7D1}"/>
              </a:ext>
            </a:extLst>
          </p:cNvPr>
          <p:cNvSpPr txBox="1"/>
          <p:nvPr/>
        </p:nvSpPr>
        <p:spPr>
          <a:xfrm>
            <a:off x="113144" y="5645447"/>
            <a:ext cx="11772189" cy="875048"/>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Theo thông tin từ ban QLVT 03 động cơ sửa OVH  dk extend TAT~40 days so với KH ban đầu</a:t>
            </a:r>
            <a:r>
              <a:rPr lang="en-US" sz="140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a:t>
            </a:r>
            <a:r>
              <a:rPr lang="en-US" sz="1400">
                <a:solidFill>
                  <a:schemeClr val="tx1"/>
                </a:solidFill>
                <a:latin typeface="Times New Roman" panose="02020603050405020304" pitchFamily="18" charset="0"/>
                <a:cs typeface="Times New Roman" panose="02020603050405020304" pitchFamily="18" charset="0"/>
              </a:rPr>
              <a:t>rủi ro thiếu 01 động cơ GĐ cuối T9-T10. Tiếp tục phối hợp với ban QLVT làm việc với Shop rút ngắn TAT hạn chế ảnh hưởng nguồn lực</a:t>
            </a:r>
            <a:r>
              <a:rPr lang="en-US" sz="1400">
                <a:solidFill>
                  <a:srgbClr val="ED0000"/>
                </a:solidFill>
                <a:latin typeface="Times New Roman" panose="02020603050405020304" pitchFamily="18" charset="0"/>
                <a:cs typeface="Times New Roman" panose="02020603050405020304" pitchFamily="18" charset="0"/>
              </a:rPr>
              <a:t>.</a:t>
            </a:r>
          </a:p>
          <a:p>
            <a:pPr marL="380990" indent="-380990" defTabSz="1219170">
              <a:lnSpc>
                <a:spcPct val="125000"/>
              </a:lnSpc>
              <a:buFont typeface="Arial" panose="020B0604020202020204" pitchFamily="34" charset="0"/>
              <a:buChar char="•"/>
              <a:defRPr/>
            </a:pPr>
            <a:r>
              <a:rPr lang="en-US" sz="1400">
                <a:solidFill>
                  <a:schemeClr val="tx1"/>
                </a:solidFill>
                <a:latin typeface="Times New Roman" panose="02020603050405020304" pitchFamily="18" charset="0"/>
                <a:cs typeface="Times New Roman" panose="02020603050405020304" pitchFamily="18" charset="0"/>
              </a:rPr>
              <a:t>Đã  bàn giao cho K6 thuê khô tàu B225 từ 28/06/2025 – 25/10/2025 và đang triển khai thủ tục gia hạn cho K6 thuê tàu B220 từ T7/2025 đến T11/2025.</a:t>
            </a:r>
          </a:p>
        </p:txBody>
      </p:sp>
    </p:spTree>
    <p:extLst>
      <p:ext uri="{BB962C8B-B14F-4D97-AF65-F5344CB8AC3E}">
        <p14:creationId xmlns:p14="http://schemas.microsoft.com/office/powerpoint/2010/main" val="3964806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extLst/>
          </p:nvPr>
        </p:nvGraphicFramePr>
        <p:xfrm>
          <a:off x="548320" y="609601"/>
          <a:ext cx="11169547" cy="3784804"/>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398005">
                <a:tc>
                  <a:txBody>
                    <a:bodyPr/>
                    <a:lstStyle/>
                    <a:p>
                      <a:pPr algn="ctr" fontAlgn="ctr"/>
                      <a:r>
                        <a:rPr lang="en-US" sz="1500" u="none" strike="noStrike" dirty="0">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HANGDA</a:t>
                      </a:r>
                      <a:endPar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06-Jun-25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A332</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15-</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Jul-25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A393</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P-6032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27-Mar-25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vi-VN" sz="1500" b="0" i="0" u="none" strike="noStrike" dirty="0">
                          <a:solidFill>
                            <a:schemeClr val="tx1"/>
                          </a:solidFill>
                          <a:effectLst/>
                          <a:latin typeface="Times New Roman" panose="02020603050405020304" pitchFamily="18" charset="0"/>
                          <a:cs typeface="Times New Roman" panose="02020603050405020304" pitchFamily="18" charset="0"/>
                        </a:rPr>
                        <a:t>5</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t>
                      </a:r>
                      <a:r>
                        <a:rPr lang="vi-VN" sz="1500" b="0" i="0" u="none" strike="noStrike" dirty="0">
                          <a:solidFill>
                            <a:schemeClr val="tx1"/>
                          </a:solidFill>
                          <a:effectLst/>
                          <a:latin typeface="Times New Roman" panose="02020603050405020304" pitchFamily="18" charset="0"/>
                          <a:cs typeface="Times New Roman" panose="02020603050405020304" pitchFamily="18" charset="0"/>
                        </a:rPr>
                        <a:t>Jul</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A620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P-5706</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04-May-25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25-Jul-25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A605</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408124847"/>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P-8054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13-May-25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10-Aug-25</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A616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643634888"/>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P-8607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AMECO</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16-Apr-25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1">
                        <a:lumMod val="20000"/>
                        <a:lumOff val="80000"/>
                      </a:schemeClr>
                    </a:solidFill>
                  </a:tcPr>
                </a:tc>
                <a:tc>
                  <a:txBody>
                    <a:bodyPr/>
                    <a:lstStyle/>
                    <a:p>
                      <a:pPr algn="ctr" fontAlgn="ctr"/>
                      <a:r>
                        <a:rPr lang="en-US" sz="1500" b="0" i="0" u="none" strike="noStrike" dirty="0">
                          <a:solidFill>
                            <a:srgbClr val="FF0000"/>
                          </a:solidFill>
                          <a:effectLst/>
                          <a:latin typeface="Times New Roman" panose="02020603050405020304" pitchFamily="18" charset="0"/>
                          <a:cs typeface="Times New Roman" panose="02020603050405020304" pitchFamily="18" charset="0"/>
                        </a:rPr>
                        <a:t>APU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bảo</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a:t>
                      </a:r>
                      <a:r>
                        <a:rPr lang="en-US" sz="1500" b="0" i="0" u="none" strike="noStrike" dirty="0" err="1">
                          <a:solidFill>
                            <a:srgbClr val="FF0000"/>
                          </a:solidFill>
                          <a:effectLst/>
                          <a:latin typeface="Times New Roman" panose="02020603050405020304" pitchFamily="18" charset="0"/>
                          <a:cs typeface="Times New Roman" panose="02020603050405020304" pitchFamily="18" charset="0"/>
                        </a:rPr>
                        <a:t>hành</a:t>
                      </a:r>
                      <a:r>
                        <a:rPr lang="en-US" sz="1500" b="0" i="0" u="none" strike="noStrike" dirty="0">
                          <a:solidFill>
                            <a:srgbClr val="FF0000"/>
                          </a:solidFill>
                          <a:effectLst/>
                          <a:latin typeface="Times New Roman" panose="02020603050405020304" pitchFamily="18" charset="0"/>
                          <a:cs typeface="Times New Roman" panose="02020603050405020304" pitchFamily="18" charset="0"/>
                        </a:rPr>
                        <a:t> ở AMECO</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1694765632"/>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Z925603</a:t>
                      </a:r>
                      <a:endParaRPr lang="en-US" sz="15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23-Jun-25</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rgbClr val="FF0000"/>
                          </a:solidFill>
                          <a:effectLst/>
                          <a:latin typeface="Times New Roman" panose="02020603050405020304" pitchFamily="18" charset="0"/>
                          <a:cs typeface="Times New Roman" panose="02020603050405020304" pitchFamily="18" charset="0"/>
                        </a:rPr>
                        <a:t>TBD</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A862</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P-00113</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08-May-25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15-Jul-25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A892 (</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trả</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 APU </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thuê</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sau</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0" i="0" u="none" strike="noStrike" dirty="0" err="1">
                          <a:solidFill>
                            <a:schemeClr val="tx1"/>
                          </a:solidFill>
                          <a:effectLst/>
                          <a:latin typeface="Times New Roman" panose="02020603050405020304" pitchFamily="18" charset="0"/>
                          <a:cs typeface="Times New Roman" panose="02020603050405020304" pitchFamily="18" charset="0"/>
                        </a:rPr>
                        <a:t>hè</a:t>
                      </a:r>
                      <a:r>
                        <a:rPr lang="en-US" sz="1500" b="0" i="0" u="none" strike="noStrike" dirty="0">
                          <a:solidFill>
                            <a:schemeClr val="tx1"/>
                          </a:solidFill>
                          <a:effectLst/>
                          <a:latin typeface="Times New Roman" panose="02020603050405020304" pitchFamily="18" charset="0"/>
                          <a:cs typeface="Times New Roman" panose="02020603050405020304" pitchFamily="18" charset="0"/>
                        </a:rPr>
                        <a:t>)</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3237182100"/>
                  </a:ext>
                </a:extLst>
              </a:tr>
              <a:tr h="376311">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P-00391</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23-May-25</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01-Aug-25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A898</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2040546296"/>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48319" y="4394409"/>
            <a:ext cx="11567481" cy="1200329"/>
          </a:xfrm>
          <a:prstGeom prst="rect">
            <a:avLst/>
          </a:prstGeom>
          <a:noFill/>
        </p:spPr>
        <p:txBody>
          <a:bodyPr wrap="square" rtlCol="0">
            <a:spAutoFit/>
          </a:bodyPr>
          <a:lstStyle/>
          <a:p>
            <a:pPr defTabSz="1219170">
              <a:defRPr/>
            </a:pPr>
            <a:r>
              <a:rPr lang="en-US" b="1" dirty="0" err="1">
                <a:solidFill>
                  <a:prstClr val="black"/>
                </a:solidFill>
                <a:latin typeface="Times New Roman" panose="02020603050405020304" pitchFamily="18" charset="0"/>
                <a:cs typeface="Times New Roman" panose="02020603050405020304" pitchFamily="18" charset="0"/>
              </a:rPr>
              <a:t>Đánh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giá</a:t>
            </a:r>
            <a:r>
              <a:rPr lang="en-US" b="1" dirty="0">
                <a:solidFill>
                  <a:prstClr val="black"/>
                </a:solidFill>
                <a:latin typeface="Times New Roman" panose="02020603050405020304" pitchFamily="18" charset="0"/>
                <a:cs typeface="Times New Roman" panose="02020603050405020304" pitchFamily="18" charset="0"/>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rPr>
              <a:t>Đội</a:t>
            </a:r>
            <a:r>
              <a:rPr lang="en-US" b="1" dirty="0">
                <a:solidFill>
                  <a:prstClr val="black"/>
                </a:solidFill>
                <a:latin typeface="Times New Roman" panose="02020603050405020304" pitchFamily="18" charset="0"/>
                <a:cs typeface="Times New Roman" panose="02020603050405020304" pitchFamily="18" charset="0"/>
              </a:rPr>
              <a:t> bay A321: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533375" indent="-380990" defTabSz="1219170">
              <a:buFont typeface="Arial" panose="020B0604020202020204" pitchFamily="34" charset="0"/>
              <a:buChar char="•"/>
              <a:defRPr/>
            </a:pPr>
            <a:r>
              <a:rPr lang="en-US" b="1"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b="1"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Hiện</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QLVT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đã</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thuê</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01 APU spare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cho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cao</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điểm</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hè</a:t>
            </a:r>
            <a:r>
              <a:rPr lang="en-US"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45981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445416"/>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23</a:t>
            </a:r>
            <a:r>
              <a:rPr lang="en-US" sz="1600" dirty="0">
                <a:solidFill>
                  <a:prstClr val="black"/>
                </a:solidFill>
                <a:latin typeface="Times New Roman" panose="02020603050405020304" pitchFamily="18" charset="0"/>
                <a:cs typeface="Times New Roman" panose="02020603050405020304" pitchFamily="18" charset="0"/>
              </a:rPr>
              <a:t>/06/2025 – </a:t>
            </a:r>
            <a:r>
              <a:rPr lang="vi-VN" sz="1600" dirty="0">
                <a:solidFill>
                  <a:prstClr val="black"/>
                </a:solidFill>
                <a:latin typeface="Times New Roman" panose="02020603050405020304" pitchFamily="18" charset="0"/>
                <a:cs typeface="Times New Roman" panose="02020603050405020304" pitchFamily="18" charset="0"/>
              </a:rPr>
              <a:t>29</a:t>
            </a:r>
            <a:r>
              <a:rPr lang="en-US" sz="1600" dirty="0">
                <a:solidFill>
                  <a:prstClr val="black"/>
                </a:solidFill>
                <a:latin typeface="Times New Roman" panose="02020603050405020304" pitchFamily="18" charset="0"/>
                <a:cs typeface="Times New Roman" panose="02020603050405020304" pitchFamily="18" charset="0"/>
              </a:rPr>
              <a:t>/06/2025: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cs typeface="Times New Roman" panose="02020603050405020304" pitchFamily="18" charset="0"/>
              </a:rPr>
              <a:t>A887 (),</a:t>
            </a:r>
            <a:endParaRPr lang="en-US" sz="1600" dirty="0">
              <a:solidFill>
                <a:prstClr val="black"/>
              </a:solidFill>
              <a:latin typeface="Times New Roman" panose="02020603050405020304" pitchFamily="18" charset="0"/>
              <a:cs typeface="Times New Roman" panose="02020603050405020304" pitchFamily="18" charset="0"/>
            </a:endParaRP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a:t>
            </a:r>
            <a:r>
              <a:rPr lang="vi-VN" sz="1600" dirty="0">
                <a:solidFill>
                  <a:prstClr val="black"/>
                </a:solidFill>
                <a:latin typeface="Times New Roman" panose="02020603050405020304" pitchFamily="18" charset="0"/>
                <a:cs typeface="Times New Roman" panose="02020603050405020304" pitchFamily="18" charset="0"/>
              </a:rPr>
              <a:t>A604 (ops test), A606 (), A605 (LOP switch), A329 (clean, check leak)</a:t>
            </a:r>
            <a:endParaRPr lang="en-US" sz="1600" dirty="0">
              <a:solidFill>
                <a:prstClr val="black"/>
              </a:solidFill>
              <a:latin typeface="Times New Roman" panose="02020603050405020304" pitchFamily="18" charset="0"/>
              <a:cs typeface="Times New Roman" panose="02020603050405020304" pitchFamily="18" charset="0"/>
            </a:endParaRP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01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vi-VN" sz="1600" dirty="0">
                <a:solidFill>
                  <a:prstClr val="black"/>
                </a:solidFill>
                <a:latin typeface="Times New Roman" panose="02020603050405020304" pitchFamily="18" charset="0"/>
                <a:cs typeface="Times New Roman" panose="02020603050405020304" pitchFamily="18" charset="0"/>
              </a:rPr>
              <a:t>A887</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9"/>
          <a:ext cx="12054615" cy="3888146"/>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260200">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57301">
                <a:tc>
                  <a:txBody>
                    <a:bodyPr/>
                    <a:lstStyle/>
                    <a:p>
                      <a:pPr marL="0" marR="0" algn="ctr">
                        <a:spcBef>
                          <a:spcPts val="0"/>
                        </a:spcBef>
                        <a:spcAft>
                          <a:spcPts val="0"/>
                        </a:spcAft>
                      </a:pPr>
                      <a:r>
                        <a:rPr lang="vi-VN"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A887</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INOP</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228600">
                        <a:buNone/>
                      </a:pP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chiều</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24/06 =&gt; REQ DT </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rob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khí</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tài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A895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khắc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phục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5h-10h30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sáng</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26/6</a:t>
                      </a:r>
                    </a:p>
                    <a:p>
                      <a:pPr indent="-228600">
                        <a:buNone/>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Sáng 26/07: Sáng 26/06 CLR,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tuy</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chiều</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bị</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lại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sẽ</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triển</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lấy</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PTVT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VIP KIT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thay</a:t>
                      </a: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p>
                      <a:pPr indent="-228600">
                        <a:buNone/>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Sáng 27/06: T/S HAN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27/06</a:t>
                      </a:r>
                    </a:p>
                    <a:p>
                      <a:pPr indent="-228600">
                        <a:buNone/>
                      </a:pP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Đêm</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27/06: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rob 3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khí</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tài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phòng</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mới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chờ</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DT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khắc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phục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t>
                      </a:r>
                      <a:endParaRPr lang="vi-VN"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p>
                      <a:pPr marL="0" indent="-228600" algn="l" defTabSz="914400" rtl="0" eaLnBrk="1" latinLnBrk="0" hangingPunct="1">
                        <a:buNone/>
                      </a:pP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Tối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28/06: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Xếp</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19h 29/06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0h20 30/06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tại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SGN (do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ưu</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tiên</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A864/SGN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khắc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phục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leak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thủy</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lực</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càng</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i="0" strike="noStrike" kern="1200" dirty="0" err="1">
                          <a:solidFill>
                            <a:schemeClr val="tx1"/>
                          </a:solidFill>
                          <a:effectLst/>
                          <a:latin typeface="Times New Roman" panose="02020603050405020304" pitchFamily="18" charset="0"/>
                          <a:ea typeface="+mn-ea"/>
                          <a:cs typeface="Times New Roman" panose="02020603050405020304" pitchFamily="18" charset="0"/>
                        </a:rPr>
                        <a:t>mũi</a:t>
                      </a: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BQDB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swap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sử</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dụng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trên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trường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hợp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còn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từ</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A886.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thuê</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trong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6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tàu</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A892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đã</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giờ</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cho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cao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điểm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hè</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916330">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23620"/>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45114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38</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781051" y="740535"/>
            <a:ext cx="11068012" cy="7031865"/>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300" b="1" dirty="0">
                <a:cs typeface="Times New Roman" panose="02020603050405020304" pitchFamily="18" charset="0"/>
              </a:rPr>
              <a:t>I. A321: </a:t>
            </a:r>
          </a:p>
          <a:p>
            <a:pPr marL="12700" indent="0" algn="just">
              <a:lnSpc>
                <a:spcPct val="100000"/>
              </a:lnSpc>
              <a:spcBef>
                <a:spcPts val="600"/>
              </a:spcBef>
              <a:buSzPts val="1100"/>
              <a:buNone/>
            </a:pPr>
            <a:r>
              <a:rPr lang="es-ES" sz="1300" b="1" dirty="0">
                <a:solidFill>
                  <a:srgbClr val="FF0000"/>
                </a:solidFill>
                <a:cs typeface="Times New Roman" panose="02020603050405020304" pitchFamily="18" charset="0"/>
                <a:sym typeface="Wingdings" panose="05000000000000000000" pitchFamily="2" charset="2"/>
              </a:rPr>
              <a:t>    1. </a:t>
            </a:r>
            <a:r>
              <a:rPr lang="en-US" sz="1300" b="1" dirty="0">
                <a:solidFill>
                  <a:srgbClr val="FF0000"/>
                </a:solidFill>
                <a:cs typeface="Times New Roman" panose="02020603050405020304" pitchFamily="18" charset="0"/>
                <a:sym typeface="Wingdings" panose="05000000000000000000" pitchFamily="2" charset="2"/>
              </a:rPr>
              <a:t>A508_HAN_ ENG# 1, 2CHG, C01, C03, Y01, Y06, EA22-EA02 _21/5-28/6: Est </a:t>
            </a:r>
            <a:r>
              <a:rPr lang="en-US" sz="1300" b="1" dirty="0" smtClean="0">
                <a:solidFill>
                  <a:srgbClr val="FF0000"/>
                </a:solidFill>
                <a:cs typeface="Times New Roman" panose="02020603050405020304" pitchFamily="18" charset="0"/>
                <a:sym typeface="Wingdings" panose="05000000000000000000" pitchFamily="2" charset="2"/>
              </a:rPr>
              <a:t>17/7, </a:t>
            </a:r>
            <a:r>
              <a:rPr lang="en-US" sz="1300" b="1" dirty="0" err="1" smtClean="0">
                <a:solidFill>
                  <a:srgbClr val="FF0000"/>
                </a:solidFill>
                <a:cs typeface="Times New Roman" panose="02020603050405020304" pitchFamily="18" charset="0"/>
                <a:sym typeface="Wingdings" panose="05000000000000000000" pitchFamily="2" charset="2"/>
              </a:rPr>
              <a:t>Chơ</a:t>
            </a:r>
            <a:r>
              <a:rPr lang="en-US" sz="1300" b="1" dirty="0" smtClean="0">
                <a:solidFill>
                  <a:srgbClr val="FF0000"/>
                </a:solidFill>
                <a:cs typeface="Times New Roman" panose="02020603050405020304" pitchFamily="18" charset="0"/>
                <a:sym typeface="Wingdings" panose="05000000000000000000" pitchFamily="2" charset="2"/>
              </a:rPr>
              <a:t>̀ KH ENG</a:t>
            </a:r>
          </a:p>
          <a:p>
            <a:pPr marL="12700" indent="0" algn="just">
              <a:lnSpc>
                <a:spcPct val="100000"/>
              </a:lnSpc>
              <a:spcBef>
                <a:spcPts val="600"/>
              </a:spcBef>
              <a:buSzPts val="1100"/>
              <a:buNone/>
            </a:pPr>
            <a:r>
              <a:rPr lang="en-US" sz="1300" b="1" dirty="0">
                <a:solidFill>
                  <a:srgbClr val="FF0000"/>
                </a:solidFill>
                <a:cs typeface="Times New Roman" panose="02020603050405020304" pitchFamily="18" charset="0"/>
                <a:sym typeface="Wingdings" panose="05000000000000000000" pitchFamily="2" charset="2"/>
              </a:rPr>
              <a:t> </a:t>
            </a:r>
            <a:r>
              <a:rPr lang="en-US" sz="1300" b="1" dirty="0" smtClean="0">
                <a:solidFill>
                  <a:srgbClr val="FF0000"/>
                </a:solidFill>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Dư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mới</a:t>
            </a:r>
            <a:r>
              <a:rPr lang="en-US" sz="1300" dirty="0">
                <a:cs typeface="Times New Roman" panose="02020603050405020304" pitchFamily="18" charset="0"/>
                <a:sym typeface="Wingdings" panose="05000000000000000000" pitchFamily="2" charset="2"/>
              </a:rPr>
              <a:t> ENG Avail </a:t>
            </a:r>
            <a:r>
              <a:rPr lang="en-US" sz="1300" dirty="0" smtClean="0">
                <a:cs typeface="Times New Roman" panose="02020603050405020304" pitchFamily="18" charset="0"/>
                <a:sym typeface="Wingdings" panose="05000000000000000000" pitchFamily="2" charset="2"/>
              </a:rPr>
              <a:t>07 </a:t>
            </a:r>
            <a:r>
              <a:rPr lang="en-US" sz="1300" dirty="0">
                <a:cs typeface="Times New Roman" panose="02020603050405020304" pitchFamily="18" charset="0"/>
                <a:sym typeface="Wingdings" panose="05000000000000000000" pitchFamily="2" charset="2"/>
              </a:rPr>
              <a:t>&amp; 12/7</a:t>
            </a:r>
            <a:r>
              <a:rPr lang="en-US" sz="1300" dirty="0" smtClean="0">
                <a:cs typeface="Times New Roman" panose="02020603050405020304" pitchFamily="18" charset="0"/>
                <a:sym typeface="Wingdings" panose="05000000000000000000" pitchFamily="2" charset="2"/>
              </a:rPr>
              <a:t>, </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 </a:t>
            </a:r>
            <a:r>
              <a:rPr lang="en-US" sz="1300" dirty="0" err="1" smtClean="0">
                <a:cs typeface="Times New Roman" panose="02020603050405020304" pitchFamily="18" charset="0"/>
                <a:sym typeface="Wingdings" panose="05000000000000000000" pitchFamily="2" charset="2"/>
              </a:rPr>
              <a:t>Cần</a:t>
            </a:r>
            <a:r>
              <a:rPr lang="en-US" sz="1300" dirty="0" smtClean="0">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bay </a:t>
            </a:r>
            <a:r>
              <a:rPr lang="en-US" sz="1300" dirty="0" err="1">
                <a:cs typeface="Times New Roman" panose="02020603050405020304" pitchFamily="18" charset="0"/>
                <a:sym typeface="Wingdings" panose="05000000000000000000" pitchFamily="2" charset="2"/>
              </a:rPr>
              <a:t>thư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va</a:t>
            </a:r>
            <a:r>
              <a:rPr lang="en-US" sz="1300" dirty="0">
                <a:cs typeface="Times New Roman" panose="02020603050405020304" pitchFamily="18" charset="0"/>
                <a:sym typeface="Wingdings" panose="05000000000000000000" pitchFamily="2" charset="2"/>
              </a:rPr>
              <a:t>̀ Renew </a:t>
            </a:r>
            <a:r>
              <a:rPr lang="en-US" sz="1300" dirty="0" err="1">
                <a:cs typeface="Times New Roman" panose="02020603050405020304" pitchFamily="18" charset="0"/>
                <a:sym typeface="Wingdings" panose="05000000000000000000" pitchFamily="2" charset="2"/>
              </a:rPr>
              <a:t>CofA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trước</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khai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thác</a:t>
            </a:r>
            <a:r>
              <a:rPr lang="en-US" sz="13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 &gt; Đ/n VAECO </a:t>
            </a:r>
            <a:r>
              <a:rPr lang="en-US" sz="1300" dirty="0" err="1" smtClean="0">
                <a:cs typeface="Times New Roman" panose="02020603050405020304" pitchFamily="18" charset="0"/>
                <a:sym typeface="Wingdings" panose="05000000000000000000" pitchFamily="2" charset="2"/>
              </a:rPr>
              <a:t>đánh</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gia</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phương</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án</a:t>
            </a:r>
            <a:r>
              <a:rPr lang="en-US" sz="1300" dirty="0" smtClean="0">
                <a:cs typeface="Times New Roman" panose="02020603050405020304" pitchFamily="18" charset="0"/>
                <a:sym typeface="Wingdings" panose="05000000000000000000" pitchFamily="2" charset="2"/>
              </a:rPr>
              <a:t> hạ ENG </a:t>
            </a:r>
            <a:r>
              <a:rPr lang="en-US" sz="1300" dirty="0" err="1" smtClean="0">
                <a:cs typeface="Times New Roman" panose="02020603050405020304" pitchFamily="18" charset="0"/>
                <a:sym typeface="Wingdings" panose="05000000000000000000" pitchFamily="2" charset="2"/>
              </a:rPr>
              <a:t>trước</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khi</a:t>
            </a:r>
            <a:r>
              <a:rPr lang="en-US" sz="1300" dirty="0" smtClean="0">
                <a:cs typeface="Times New Roman" panose="02020603050405020304" pitchFamily="18" charset="0"/>
                <a:sym typeface="Wingdings" panose="05000000000000000000" pitchFamily="2" charset="2"/>
              </a:rPr>
              <a:t> ENG </a:t>
            </a:r>
            <a:r>
              <a:rPr lang="en-US" sz="1300" dirty="0" err="1" smtClean="0">
                <a:cs typeface="Times New Roman" panose="02020603050405020304" pitchFamily="18" charset="0"/>
                <a:sym typeface="Wingdings" panose="05000000000000000000" pitchFamily="2" charset="2"/>
              </a:rPr>
              <a:t>mới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va</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tăng</a:t>
            </a:r>
            <a:r>
              <a:rPr lang="en-US" sz="1300" dirty="0" smtClean="0">
                <a:cs typeface="Times New Roman" panose="02020603050405020304" pitchFamily="18" charset="0"/>
                <a:sym typeface="Wingdings" panose="05000000000000000000" pitchFamily="2" charset="2"/>
              </a:rPr>
              <a:t> ca </a:t>
            </a:r>
            <a:r>
              <a:rPr lang="en-US" sz="1300" dirty="0" err="1" smtClean="0">
                <a:cs typeface="Times New Roman" panose="02020603050405020304" pitchFamily="18" charset="0"/>
                <a:sym typeface="Wingdings" panose="05000000000000000000" pitchFamily="2" charset="2"/>
              </a:rPr>
              <a:t>đê</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giảm</a:t>
            </a:r>
            <a:r>
              <a:rPr lang="en-US" sz="1300" dirty="0" smtClean="0">
                <a:cs typeface="Times New Roman" panose="02020603050405020304" pitchFamily="18" charset="0"/>
                <a:sym typeface="Wingdings" panose="05000000000000000000" pitchFamily="2" charset="2"/>
              </a:rPr>
              <a:t> TAT </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endParaRPr lang="en-US" sz="1300" b="1" dirty="0" smtClean="0">
              <a:solidFill>
                <a:srgbClr val="FF0000"/>
              </a:solidFill>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s-ES" sz="1300" b="1" dirty="0" smtClean="0">
                <a:solidFill>
                  <a:srgbClr val="FF0000"/>
                </a:solidFill>
                <a:cs typeface="Times New Roman" panose="02020603050405020304" pitchFamily="18" charset="0"/>
                <a:sym typeface="Wingdings" panose="05000000000000000000" pitchFamily="2" charset="2"/>
              </a:rPr>
              <a:t>    2. </a:t>
            </a:r>
            <a:r>
              <a:rPr lang="en-US" sz="1300" b="1" dirty="0">
                <a:solidFill>
                  <a:srgbClr val="FF0000"/>
                </a:solidFill>
                <a:cs typeface="Times New Roman" panose="02020603050405020304" pitchFamily="18" charset="0"/>
                <a:sym typeface="Wingdings" panose="05000000000000000000" pitchFamily="2" charset="2"/>
              </a:rPr>
              <a:t>A622_ EA09, EA10, EA11, MO18, INSTALL ENG#1,2, RTS _12/04-13/05, EST: </a:t>
            </a:r>
            <a:r>
              <a:rPr lang="en-US" sz="1300" b="1" dirty="0" smtClean="0">
                <a:solidFill>
                  <a:srgbClr val="FF0000"/>
                </a:solidFill>
                <a:cs typeface="Times New Roman" panose="02020603050405020304" pitchFamily="18" charset="0"/>
                <a:sym typeface="Wingdings" panose="05000000000000000000" pitchFamily="2" charset="2"/>
              </a:rPr>
              <a:t>22/07 </a:t>
            </a:r>
            <a:r>
              <a:rPr lang="en-US" sz="1300" b="1" dirty="0" err="1">
                <a:solidFill>
                  <a:srgbClr val="FF0000"/>
                </a:solidFill>
                <a:cs typeface="Times New Roman" panose="02020603050405020304" pitchFamily="18" charset="0"/>
                <a:sym typeface="Wingdings" panose="05000000000000000000" pitchFamily="2" charset="2"/>
              </a:rPr>
              <a:t>chơ</a:t>
            </a:r>
            <a:r>
              <a:rPr lang="en-US" sz="1300" b="1" dirty="0">
                <a:solidFill>
                  <a:srgbClr val="FF0000"/>
                </a:solidFill>
                <a:cs typeface="Times New Roman" panose="02020603050405020304" pitchFamily="18" charset="0"/>
                <a:sym typeface="Wingdings" panose="05000000000000000000" pitchFamily="2" charset="2"/>
              </a:rPr>
              <a:t>̀ KH ENG</a:t>
            </a:r>
            <a:endParaRPr lang="en-US" sz="1300" b="1" dirty="0" smtClean="0">
              <a:solidFill>
                <a:srgbClr val="FF0000"/>
              </a:solidFill>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dirty="0" smtClean="0">
                <a:cs typeface="Times New Roman" panose="02020603050405020304" pitchFamily="18" charset="0"/>
                <a:sym typeface="Wingdings" panose="05000000000000000000" pitchFamily="2" charset="2"/>
              </a:rPr>
              <a:t>    </a:t>
            </a:r>
            <a:r>
              <a:rPr lang="en-US" sz="1300" dirty="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Dư</a:t>
            </a:r>
            <a:r>
              <a:rPr lang="en-US" sz="1300" dirty="0" smtClean="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kiến</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mới</a:t>
            </a:r>
            <a:r>
              <a:rPr lang="en-US" sz="1300" dirty="0">
                <a:cs typeface="Times New Roman" panose="02020603050405020304" pitchFamily="18" charset="0"/>
                <a:sym typeface="Wingdings" panose="05000000000000000000" pitchFamily="2" charset="2"/>
              </a:rPr>
              <a:t> ENG Avail </a:t>
            </a:r>
            <a:r>
              <a:rPr lang="en-US" sz="1300" dirty="0" smtClean="0">
                <a:cs typeface="Times New Roman" panose="02020603050405020304" pitchFamily="18" charset="0"/>
                <a:sym typeface="Wingdings" panose="05000000000000000000" pitchFamily="2" charset="2"/>
              </a:rPr>
              <a:t>12 </a:t>
            </a:r>
            <a:r>
              <a:rPr lang="en-US" sz="1300" dirty="0">
                <a:cs typeface="Times New Roman" panose="02020603050405020304" pitchFamily="18" charset="0"/>
                <a:sym typeface="Wingdings" panose="05000000000000000000" pitchFamily="2" charset="2"/>
              </a:rPr>
              <a:t>&amp; </a:t>
            </a:r>
            <a:r>
              <a:rPr lang="en-US" sz="1300" dirty="0" smtClean="0">
                <a:cs typeface="Times New Roman" panose="02020603050405020304" pitchFamily="18" charset="0"/>
                <a:sym typeface="Wingdings" panose="05000000000000000000" pitchFamily="2" charset="2"/>
              </a:rPr>
              <a:t>15/7</a:t>
            </a:r>
            <a:r>
              <a:rPr lang="en-US" sz="1300" dirty="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chưa</a:t>
            </a:r>
            <a:r>
              <a:rPr lang="en-US" sz="1300" dirty="0" smtClean="0">
                <a:cs typeface="Times New Roman" panose="02020603050405020304" pitchFamily="18" charset="0"/>
                <a:sym typeface="Wingdings" panose="05000000000000000000" pitchFamily="2" charset="2"/>
              </a:rPr>
              <a:t> có </a:t>
            </a:r>
            <a:r>
              <a:rPr lang="en-US" sz="1300" dirty="0" err="1" smtClean="0">
                <a:cs typeface="Times New Roman" panose="02020603050405020304" pitchFamily="18" charset="0"/>
                <a:sym typeface="Wingdings" panose="05000000000000000000" pitchFamily="2" charset="2"/>
              </a:rPr>
              <a:t>thông</a:t>
            </a:r>
            <a:r>
              <a:rPr lang="en-US" sz="1300" dirty="0" smtClean="0">
                <a:cs typeface="Times New Roman" panose="02020603050405020304" pitchFamily="18" charset="0"/>
                <a:sym typeface="Wingdings" panose="05000000000000000000" pitchFamily="2" charset="2"/>
              </a:rPr>
              <a:t> tin MPL, </a:t>
            </a:r>
            <a:r>
              <a:rPr lang="en-US" sz="1300" dirty="0" err="1" smtClean="0">
                <a:cs typeface="Times New Roman" panose="02020603050405020304" pitchFamily="18" charset="0"/>
                <a:sym typeface="Wingdings" panose="05000000000000000000" pitchFamily="2" charset="2"/>
              </a:rPr>
              <a:t>đồng</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thời</a:t>
            </a:r>
            <a:r>
              <a:rPr lang="en-US" sz="1300" dirty="0" smtClean="0">
                <a:cs typeface="Times New Roman" panose="02020603050405020304" pitchFamily="18" charset="0"/>
                <a:sym typeface="Wingdings" panose="05000000000000000000" pitchFamily="2" charset="2"/>
              </a:rPr>
              <a:t> ENG </a:t>
            </a:r>
            <a:r>
              <a:rPr lang="en-US" sz="1300" dirty="0" err="1" smtClean="0">
                <a:cs typeface="Times New Roman" panose="02020603050405020304" pitchFamily="18" charset="0"/>
                <a:sym typeface="Wingdings" panose="05000000000000000000" pitchFamily="2" charset="2"/>
              </a:rPr>
              <a:t>thuê</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dư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kiến</a:t>
            </a:r>
            <a:r>
              <a:rPr lang="en-US" sz="1300" dirty="0" smtClean="0">
                <a:cs typeface="Times New Roman" panose="02020603050405020304" pitchFamily="18" charset="0"/>
                <a:sym typeface="Wingdings" panose="05000000000000000000" pitchFamily="2" charset="2"/>
              </a:rPr>
              <a:t> sẽ </a:t>
            </a:r>
            <a:r>
              <a:rPr lang="en-US" sz="1300" dirty="0" err="1" smtClean="0">
                <a:cs typeface="Times New Roman" panose="02020603050405020304" pitchFamily="18" charset="0"/>
                <a:sym typeface="Wingdings" panose="05000000000000000000" pitchFamily="2" charset="2"/>
              </a:rPr>
              <a:t>cần</a:t>
            </a:r>
            <a:r>
              <a:rPr lang="en-US" sz="1300" dirty="0" smtClean="0">
                <a:cs typeface="Times New Roman" panose="02020603050405020304" pitchFamily="18" charset="0"/>
                <a:sym typeface="Wingdings" panose="05000000000000000000" pitchFamily="2" charset="2"/>
              </a:rPr>
              <a:t> 2 </a:t>
            </a:r>
            <a:r>
              <a:rPr lang="en-US" sz="1300" dirty="0" err="1" smtClean="0">
                <a:cs typeface="Times New Roman" panose="02020603050405020304" pitchFamily="18" charset="0"/>
                <a:sym typeface="Wingdings" panose="05000000000000000000" pitchFamily="2" charset="2"/>
              </a:rPr>
              <a:t>ngày</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đê</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soi</a:t>
            </a:r>
            <a:r>
              <a:rPr lang="en-US" sz="1300" dirty="0" smtClean="0">
                <a:cs typeface="Times New Roman" panose="02020603050405020304" pitchFamily="18" charset="0"/>
                <a:sym typeface="Wingdings" panose="05000000000000000000" pitchFamily="2" charset="2"/>
              </a:rPr>
              <a:t> full.</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 </a:t>
            </a:r>
            <a:r>
              <a:rPr lang="en-US" sz="1300" dirty="0" err="1">
                <a:cs typeface="Times New Roman" panose="02020603050405020304" pitchFamily="18" charset="0"/>
                <a:sym typeface="Wingdings" panose="05000000000000000000" pitchFamily="2" charset="2"/>
              </a:rPr>
              <a:t>Cần</a:t>
            </a:r>
            <a:r>
              <a:rPr lang="en-US" sz="1300" dirty="0">
                <a:cs typeface="Times New Roman" panose="02020603050405020304" pitchFamily="18" charset="0"/>
                <a:sym typeface="Wingdings" panose="05000000000000000000" pitchFamily="2" charset="2"/>
              </a:rPr>
              <a:t> bay </a:t>
            </a:r>
            <a:r>
              <a:rPr lang="en-US" sz="1300" dirty="0" err="1">
                <a:cs typeface="Times New Roman" panose="02020603050405020304" pitchFamily="18" charset="0"/>
                <a:sym typeface="Wingdings" panose="05000000000000000000" pitchFamily="2" charset="2"/>
              </a:rPr>
              <a:t>thư</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va</a:t>
            </a:r>
            <a:r>
              <a:rPr lang="en-US" sz="1300" dirty="0">
                <a:cs typeface="Times New Roman" panose="02020603050405020304" pitchFamily="18" charset="0"/>
                <a:sym typeface="Wingdings" panose="05000000000000000000" pitchFamily="2" charset="2"/>
              </a:rPr>
              <a:t>̀ Renew </a:t>
            </a:r>
            <a:r>
              <a:rPr lang="en-US" sz="1300" dirty="0" err="1">
                <a:cs typeface="Times New Roman" panose="02020603050405020304" pitchFamily="18" charset="0"/>
                <a:sym typeface="Wingdings" panose="05000000000000000000" pitchFamily="2" charset="2"/>
              </a:rPr>
              <a:t>CofA</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trước</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khai</a:t>
            </a:r>
            <a:r>
              <a:rPr lang="en-US" sz="1300" dirty="0">
                <a:cs typeface="Times New Roman" panose="02020603050405020304" pitchFamily="18" charset="0"/>
                <a:sym typeface="Wingdings" panose="05000000000000000000" pitchFamily="2" charset="2"/>
              </a:rPr>
              <a:t> </a:t>
            </a:r>
            <a:r>
              <a:rPr lang="en-US" sz="1300" dirty="0" err="1">
                <a:cs typeface="Times New Roman" panose="02020603050405020304" pitchFamily="18" charset="0"/>
                <a:sym typeface="Wingdings" panose="05000000000000000000" pitchFamily="2" charset="2"/>
              </a:rPr>
              <a:t>thác</a:t>
            </a:r>
            <a:r>
              <a:rPr lang="en-US" sz="1300" dirty="0" smtClean="0">
                <a:cs typeface="Times New Roman" panose="02020603050405020304" pitchFamily="18" charset="0"/>
                <a:sym typeface="Wingdings" panose="05000000000000000000" pitchFamily="2" charset="2"/>
              </a:rPr>
              <a:t>,</a:t>
            </a:r>
          </a:p>
          <a:p>
            <a:pPr marL="12700" indent="0" algn="just">
              <a:lnSpc>
                <a:spcPct val="100000"/>
              </a:lnSpc>
              <a:spcBef>
                <a:spcPts val="600"/>
              </a:spcBef>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 </a:t>
            </a:r>
            <a:r>
              <a:rPr lang="vi-VN" sz="1300" dirty="0" smtClean="0">
                <a:cs typeface="Times New Roman" panose="02020603050405020304" pitchFamily="18" charset="0"/>
                <a:sym typeface="Wingdings" panose="05000000000000000000" pitchFamily="2" charset="2"/>
              </a:rPr>
              <a:t>A622 </a:t>
            </a:r>
            <a:r>
              <a:rPr lang="vi-VN" sz="1300" dirty="0">
                <a:cs typeface="Times New Roman" panose="02020603050405020304" pitchFamily="18" charset="0"/>
                <a:sym typeface="Wingdings" panose="05000000000000000000" pitchFamily="2" charset="2"/>
              </a:rPr>
              <a:t>có hỏng hóc  “FOUND FUEL LEAK AT DRY BAY R/H WING” = &gt; Đ/n VAECO cho khắc phục sớm tránh kéo dài check RTS.</a:t>
            </a:r>
            <a:endParaRPr lang="en-US"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r>
              <a:rPr lang="en-US" sz="1300" dirty="0" smtClean="0">
                <a:cs typeface="Times New Roman" panose="02020603050405020304" pitchFamily="18" charset="0"/>
                <a:sym typeface="Wingdings" panose="05000000000000000000" pitchFamily="2" charset="2"/>
              </a:rPr>
              <a:t>   = &gt; Đ/n QLVT confirm </a:t>
            </a:r>
            <a:r>
              <a:rPr lang="en-US" sz="1300" dirty="0" err="1" smtClean="0">
                <a:cs typeface="Times New Roman" panose="02020603050405020304" pitchFamily="18" charset="0"/>
                <a:sym typeface="Wingdings" panose="05000000000000000000" pitchFamily="2" charset="2"/>
              </a:rPr>
              <a:t>sớm</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thông</a:t>
            </a:r>
            <a:r>
              <a:rPr lang="en-US" sz="1300" dirty="0" smtClean="0">
                <a:cs typeface="Times New Roman" panose="02020603050405020304" pitchFamily="18" charset="0"/>
                <a:sym typeface="Wingdings" panose="05000000000000000000" pitchFamily="2" charset="2"/>
              </a:rPr>
              <a:t> tin ENG.</a:t>
            </a:r>
          </a:p>
          <a:p>
            <a:pPr marL="12700" indent="0" algn="just">
              <a:lnSpc>
                <a:spcPct val="150000"/>
              </a:lnSpc>
              <a:buSzPts val="1100"/>
              <a:buNone/>
            </a:pPr>
            <a:r>
              <a:rPr lang="es-ES" sz="1300" b="1" dirty="0" smtClean="0">
                <a:cs typeface="Times New Roman" panose="02020603050405020304" pitchFamily="18" charset="0"/>
                <a:sym typeface="Wingdings" panose="05000000000000000000" pitchFamily="2" charset="2"/>
              </a:rPr>
              <a:t>II</a:t>
            </a:r>
            <a:r>
              <a:rPr lang="es-ES" sz="1300" b="1" dirty="0">
                <a:cs typeface="Times New Roman" panose="02020603050405020304" pitchFamily="18" charset="0"/>
                <a:sym typeface="Wingdings" panose="05000000000000000000" pitchFamily="2" charset="2"/>
              </a:rPr>
              <a:t>. B787:</a:t>
            </a:r>
          </a:p>
          <a:p>
            <a:pPr marL="12700" indent="0" algn="just">
              <a:lnSpc>
                <a:spcPct val="150000"/>
              </a:lnSpc>
              <a:spcBef>
                <a:spcPts val="0"/>
              </a:spcBef>
              <a:buSzPts val="1100"/>
              <a:buNone/>
            </a:pPr>
            <a:r>
              <a:rPr lang="en-US" sz="1300" b="1" dirty="0">
                <a:solidFill>
                  <a:srgbClr val="FF0000"/>
                </a:solidFill>
                <a:cs typeface="Times New Roman" panose="02020603050405020304" pitchFamily="18" charset="0"/>
                <a:sym typeface="Wingdings" panose="05000000000000000000" pitchFamily="2" charset="2"/>
              </a:rPr>
              <a:t> </a:t>
            </a:r>
            <a:r>
              <a:rPr lang="en-US" sz="1300" b="1" dirty="0" smtClean="0">
                <a:solidFill>
                  <a:srgbClr val="FF0000"/>
                </a:solidFill>
                <a:cs typeface="Times New Roman" panose="02020603050405020304" pitchFamily="18" charset="0"/>
                <a:sym typeface="Wingdings" panose="05000000000000000000" pitchFamily="2" charset="2"/>
              </a:rPr>
              <a:t>Nil</a:t>
            </a:r>
            <a:endParaRPr lang="fr-FR" sz="1300" dirty="0">
              <a:cs typeface="Times New Roman" panose="02020603050405020304" pitchFamily="18" charset="0"/>
              <a:sym typeface="Wingdings" panose="05000000000000000000" pitchFamily="2" charset="2"/>
            </a:endParaRPr>
          </a:p>
          <a:p>
            <a:pPr marL="12700" indent="0" algn="just">
              <a:lnSpc>
                <a:spcPct val="100000"/>
              </a:lnSpc>
              <a:spcBef>
                <a:spcPts val="600"/>
              </a:spcBef>
              <a:buSzPts val="1100"/>
              <a:buNone/>
            </a:pPr>
            <a:endParaRPr lang="en-US" sz="1500" dirty="0" smtClean="0">
              <a:cs typeface="Times New Roman" panose="02020603050405020304" pitchFamily="18" charset="0"/>
              <a:sym typeface="Wingdings" panose="05000000000000000000" pitchFamily="2" charset="2"/>
            </a:endParaRPr>
          </a:p>
          <a:p>
            <a:pPr marL="12700" indent="0">
              <a:lnSpc>
                <a:spcPct val="120000"/>
              </a:lnSpc>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32821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39</a:t>
            </a:fld>
            <a:endParaRPr dirty="0"/>
          </a:p>
        </p:txBody>
      </p:sp>
      <p:sp>
        <p:nvSpPr>
          <p:cNvPr id="76" name="Google Shape;76;p2"/>
          <p:cNvSpPr txBox="1">
            <a:spLocks noGrp="1"/>
          </p:cNvSpPr>
          <p:nvPr>
            <p:ph type="title"/>
          </p:nvPr>
        </p:nvSpPr>
        <p:spPr>
          <a:xfrm>
            <a:off x="838200" y="152400"/>
            <a:ext cx="9777833" cy="6096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a:t>
            </a:r>
            <a:r>
              <a:rPr lang="en-US" sz="2400" b="1" dirty="0" smtClean="0">
                <a:solidFill>
                  <a:srgbClr val="FFC000"/>
                </a:solidFill>
                <a:latin typeface="Times New Roman" panose="02020603050405020304" pitchFamily="18" charset="0"/>
                <a:cs typeface="Times New Roman" panose="02020603050405020304" pitchFamily="18" charset="0"/>
              </a:rPr>
              <a:t>BẢO DƯỠNG</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312CF2C2-6EB0-B14C-95A4-C4BAAE6ACB25}"/>
              </a:ext>
            </a:extLst>
          </p:cNvPr>
          <p:cNvSpPr txBox="1">
            <a:spLocks/>
          </p:cNvSpPr>
          <p:nvPr/>
        </p:nvSpPr>
        <p:spPr>
          <a:xfrm>
            <a:off x="838200" y="609600"/>
            <a:ext cx="10591800" cy="62484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lnSpc>
                <a:spcPct val="120000"/>
              </a:lnSpc>
              <a:buSzPts val="1100"/>
              <a:buNone/>
            </a:pPr>
            <a:r>
              <a:rPr lang="es-ES" sz="1300" b="1" dirty="0" smtClean="0">
                <a:sym typeface="Wingdings" panose="05000000000000000000" pitchFamily="2" charset="2"/>
              </a:rPr>
              <a:t>III. ATR72:</a:t>
            </a:r>
          </a:p>
          <a:p>
            <a:pPr marL="12700" indent="0" algn="just">
              <a:lnSpc>
                <a:spcPct val="120000"/>
              </a:lnSpc>
              <a:buSzPts val="1100"/>
              <a:buNone/>
            </a:pPr>
            <a:r>
              <a:rPr lang="en-US" sz="1300" b="1" dirty="0" smtClean="0">
                <a:solidFill>
                  <a:srgbClr val="FF0000"/>
                </a:solidFill>
                <a:sym typeface="Wingdings" panose="05000000000000000000" pitchFamily="2" charset="2"/>
              </a:rPr>
              <a:t>Nil</a:t>
            </a:r>
            <a:endParaRPr lang="en-US" sz="1300" dirty="0" smtClean="0">
              <a:cs typeface="Times New Roman" panose="02020603050405020304" pitchFamily="18" charset="0"/>
              <a:sym typeface="Wingdings" panose="05000000000000000000" pitchFamily="2" charset="2"/>
            </a:endParaRPr>
          </a:p>
          <a:p>
            <a:pPr marL="12700" indent="0">
              <a:lnSpc>
                <a:spcPct val="120000"/>
              </a:lnSpc>
              <a:buSzPts val="1100"/>
              <a:buNone/>
            </a:pPr>
            <a:r>
              <a:rPr lang="en-US" sz="1300" b="1" dirty="0" smtClean="0">
                <a:cs typeface="Times New Roman" panose="02020603050405020304" pitchFamily="18" charset="0"/>
              </a:rPr>
              <a:t>IV. </a:t>
            </a:r>
            <a:r>
              <a:rPr lang="en-US" sz="1300" b="1" dirty="0">
                <a:cs typeface="Times New Roman" panose="02020603050405020304" pitchFamily="18" charset="0"/>
              </a:rPr>
              <a:t>A350:</a:t>
            </a:r>
            <a:r>
              <a:rPr lang="es-ES" sz="1300" i="1" dirty="0">
                <a:cs typeface="Times New Roman" panose="02020603050405020304" pitchFamily="18" charset="0"/>
                <a:sym typeface="Wingdings" panose="05000000000000000000" pitchFamily="2" charset="2"/>
              </a:rPr>
              <a:t> </a:t>
            </a:r>
          </a:p>
          <a:p>
            <a:pPr marL="355600" indent="-342900" algn="just">
              <a:lnSpc>
                <a:spcPct val="120000"/>
              </a:lnSpc>
              <a:buSzPts val="1100"/>
              <a:buAutoNum type="arabicPeriod"/>
            </a:pPr>
            <a:r>
              <a:rPr lang="en-US" sz="1300" b="1" dirty="0" smtClean="0">
                <a:solidFill>
                  <a:srgbClr val="FF0000"/>
                </a:solidFill>
                <a:cs typeface="Times New Roman" panose="02020603050405020304" pitchFamily="18" charset="0"/>
                <a:sym typeface="Wingdings" panose="05000000000000000000" pitchFamily="2" charset="2"/>
              </a:rPr>
              <a:t>A886_HAN</a:t>
            </a:r>
            <a:r>
              <a:rPr lang="en-US" sz="1300" b="1" dirty="0">
                <a:solidFill>
                  <a:srgbClr val="FF0000"/>
                </a:solidFill>
                <a:cs typeface="Times New Roman" panose="02020603050405020304" pitchFamily="18" charset="0"/>
                <a:sym typeface="Wingdings" panose="05000000000000000000" pitchFamily="2" charset="2"/>
              </a:rPr>
              <a:t>_ A03-A06, C01, INSTALL ENG 1,2 +RTS_25/05-05/07</a:t>
            </a:r>
            <a:r>
              <a:rPr lang="en-US" sz="1300" b="1" dirty="0" smtClean="0">
                <a:solidFill>
                  <a:srgbClr val="FF0000"/>
                </a:solidFill>
                <a:cs typeface="Times New Roman" panose="02020603050405020304" pitchFamily="18" charset="0"/>
                <a:sym typeface="Wingdings" panose="05000000000000000000" pitchFamily="2" charset="2"/>
              </a:rPr>
              <a:t>: Est 02 - 04/7</a:t>
            </a:r>
          </a:p>
          <a:p>
            <a:pPr marL="12700" indent="0" algn="just">
              <a:lnSpc>
                <a:spcPct val="120000"/>
              </a:lnSpc>
              <a:buSzPts val="1100"/>
              <a:buNone/>
            </a:pPr>
            <a:r>
              <a:rPr lang="vi-VN" sz="1300" dirty="0" smtClean="0">
                <a:cs typeface="Times New Roman" panose="02020603050405020304" pitchFamily="18" charset="0"/>
                <a:sym typeface="Wingdings" panose="05000000000000000000" pitchFamily="2" charset="2"/>
              </a:rPr>
              <a:t>    - </a:t>
            </a:r>
            <a:r>
              <a:rPr lang="en-US" sz="1300" dirty="0" err="1" smtClean="0">
                <a:cs typeface="Times New Roman" panose="02020603050405020304" pitchFamily="18" charset="0"/>
                <a:sym typeface="Wingdings" panose="05000000000000000000" pitchFamily="2" charset="2"/>
              </a:rPr>
              <a:t>Chơ</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kích</a:t>
            </a:r>
            <a:r>
              <a:rPr lang="en-US" sz="1300" dirty="0" smtClean="0">
                <a:cs typeface="Times New Roman" panose="02020603050405020304" pitchFamily="18" charset="0"/>
                <a:sym typeface="Wingdings" panose="05000000000000000000" pitchFamily="2" charset="2"/>
              </a:rPr>
              <a:t> Test </a:t>
            </a:r>
            <a:r>
              <a:rPr lang="en-US" sz="1300" dirty="0" err="1" smtClean="0">
                <a:cs typeface="Times New Roman" panose="02020603050405020304" pitchFamily="18" charset="0"/>
                <a:sym typeface="Wingdings" panose="05000000000000000000" pitchFamily="2" charset="2"/>
              </a:rPr>
              <a:t>thu</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tha</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hoàn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thiện</a:t>
            </a:r>
            <a:r>
              <a:rPr lang="en-US" sz="1300" dirty="0" smtClean="0">
                <a:cs typeface="Times New Roman" panose="02020603050405020304" pitchFamily="18" charset="0"/>
                <a:sym typeface="Wingdings" panose="05000000000000000000" pitchFamily="2" charset="2"/>
              </a:rPr>
              <a:t> TM.</a:t>
            </a:r>
            <a:endParaRPr lang="vi-VN" sz="1300" dirty="0" smtClean="0">
              <a:cs typeface="Times New Roman" panose="02020603050405020304" pitchFamily="18" charset="0"/>
              <a:sym typeface="Wingdings" panose="05000000000000000000" pitchFamily="2" charset="2"/>
            </a:endParaRPr>
          </a:p>
          <a:p>
            <a:pPr marL="12700" indent="0" algn="just">
              <a:lnSpc>
                <a:spcPct val="120000"/>
              </a:lnSpc>
              <a:buSzPts val="1100"/>
              <a:buNone/>
            </a:pPr>
            <a:r>
              <a:rPr lang="vi-VN" sz="1300" dirty="0" smtClean="0">
                <a:cs typeface="Times New Roman" panose="02020603050405020304" pitchFamily="18" charset="0"/>
                <a:sym typeface="Wingdings" panose="05000000000000000000" pitchFamily="2" charset="2"/>
              </a:rPr>
              <a:t>    </a:t>
            </a:r>
            <a:r>
              <a:rPr lang="vi-VN"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VAECO </a:t>
            </a:r>
            <a:r>
              <a:rPr lang="en-US" sz="1300" dirty="0" err="1" smtClean="0">
                <a:cs typeface="Times New Roman" panose="02020603050405020304" pitchFamily="18" charset="0"/>
                <a:sym typeface="Wingdings" panose="05000000000000000000" pitchFamily="2" charset="2"/>
              </a:rPr>
              <a:t>tập</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trung</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nguồn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lực</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tăng</a:t>
            </a:r>
            <a:r>
              <a:rPr lang="en-US" sz="1300" dirty="0" smtClean="0">
                <a:cs typeface="Times New Roman" panose="02020603050405020304" pitchFamily="18" charset="0"/>
                <a:sym typeface="Wingdings" panose="05000000000000000000" pitchFamily="2" charset="2"/>
              </a:rPr>
              <a:t> ca </a:t>
            </a:r>
            <a:r>
              <a:rPr lang="en-US" sz="1300" dirty="0" err="1" smtClean="0">
                <a:cs typeface="Times New Roman" panose="02020603050405020304" pitchFamily="18" charset="0"/>
                <a:sym typeface="Wingdings" panose="05000000000000000000" pitchFamily="2" charset="2"/>
              </a:rPr>
              <a:t>đê</a:t>
            </a:r>
            <a:r>
              <a:rPr lang="en-US" sz="1300" dirty="0" smtClean="0">
                <a:cs typeface="Times New Roman" panose="02020603050405020304" pitchFamily="18" charset="0"/>
                <a:sym typeface="Wingdings" panose="05000000000000000000" pitchFamily="2" charset="2"/>
              </a:rPr>
              <a:t>̉ có </a:t>
            </a:r>
            <a:r>
              <a:rPr lang="en-US" sz="1300" dirty="0" err="1" smtClean="0">
                <a:cs typeface="Times New Roman" panose="02020603050405020304" pitchFamily="18" charset="0"/>
                <a:sym typeface="Wingdings" panose="05000000000000000000" pitchFamily="2" charset="2"/>
              </a:rPr>
              <a:t>thê</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hoàn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thiện</a:t>
            </a:r>
            <a:r>
              <a:rPr lang="en-US" sz="1300" dirty="0" smtClean="0">
                <a:cs typeface="Times New Roman" panose="02020603050405020304" pitchFamily="18" charset="0"/>
                <a:sym typeface="Wingdings" panose="05000000000000000000" pitchFamily="2" charset="2"/>
              </a:rPr>
              <a:t> Check 02/7, </a:t>
            </a:r>
            <a:r>
              <a:rPr lang="en-US" sz="1300" dirty="0" err="1" smtClean="0">
                <a:cs typeface="Times New Roman" panose="02020603050405020304" pitchFamily="18" charset="0"/>
                <a:sym typeface="Wingdings" panose="05000000000000000000" pitchFamily="2" charset="2"/>
              </a:rPr>
              <a:t>tuy</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nhiên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Vật</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tư</a:t>
            </a:r>
            <a:r>
              <a:rPr lang="en-US" sz="1300" dirty="0" smtClean="0">
                <a:cs typeface="Times New Roman" panose="02020603050405020304" pitchFamily="18" charset="0"/>
                <a:sym typeface="Wingdings" panose="05000000000000000000" pitchFamily="2" charset="2"/>
              </a:rPr>
              <a:t> Fuel Pump, </a:t>
            </a:r>
            <a:r>
              <a:rPr lang="en-US" sz="1300" dirty="0">
                <a:cs typeface="Times New Roman" panose="02020603050405020304" pitchFamily="18" charset="0"/>
                <a:sym typeface="Wingdings" panose="05000000000000000000" pitchFamily="2" charset="2"/>
              </a:rPr>
              <a:t>PN: </a:t>
            </a:r>
            <a:r>
              <a:rPr lang="en-US" sz="1300" dirty="0" smtClean="0">
                <a:cs typeface="Times New Roman" panose="02020603050405020304" pitchFamily="18" charset="0"/>
                <a:sym typeface="Wingdings" panose="05000000000000000000" pitchFamily="2" charset="2"/>
              </a:rPr>
              <a:t>850200-2/3 shop Test </a:t>
            </a:r>
            <a:r>
              <a:rPr lang="en-US" sz="1300" dirty="0" err="1" smtClean="0">
                <a:cs typeface="Times New Roman" panose="02020603050405020304" pitchFamily="18" charset="0"/>
                <a:sym typeface="Wingdings" panose="05000000000000000000" pitchFamily="2" charset="2"/>
              </a:rPr>
              <a:t>lỗi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dư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kiến</a:t>
            </a:r>
            <a:r>
              <a:rPr lang="en-US" sz="1300" dirty="0" smtClean="0">
                <a:cs typeface="Times New Roman" panose="02020603050405020304" pitchFamily="18" charset="0"/>
                <a:sym typeface="Wingdings" panose="05000000000000000000" pitchFamily="2" charset="2"/>
              </a:rPr>
              <a:t> 02/7 </a:t>
            </a:r>
            <a:r>
              <a:rPr lang="en-US" sz="1300" dirty="0" err="1" smtClean="0">
                <a:cs typeface="Times New Roman" panose="02020603050405020304" pitchFamily="18" charset="0"/>
                <a:sym typeface="Wingdings" panose="05000000000000000000" pitchFamily="2" charset="2"/>
              </a:rPr>
              <a:t>mới</a:t>
            </a:r>
            <a:r>
              <a:rPr lang="en-US" sz="1300" dirty="0" smtClean="0">
                <a:cs typeface="Times New Roman" panose="02020603050405020304" pitchFamily="18" charset="0"/>
                <a:sym typeface="Wingdings" panose="05000000000000000000" pitchFamily="2" charset="2"/>
              </a:rPr>
              <a:t> Repair </a:t>
            </a:r>
            <a:r>
              <a:rPr lang="en-US" sz="1300" dirty="0" err="1" smtClean="0">
                <a:cs typeface="Times New Roman" panose="02020603050405020304" pitchFamily="18" charset="0"/>
                <a:sym typeface="Wingdings" panose="05000000000000000000" pitchFamily="2" charset="2"/>
              </a:rPr>
              <a:t>xong</a:t>
            </a:r>
            <a:r>
              <a:rPr lang="en-US" sz="1300" dirty="0" smtClean="0">
                <a:cs typeface="Times New Roman" panose="02020603050405020304" pitchFamily="18" charset="0"/>
                <a:sym typeface="Wingdings" panose="05000000000000000000" pitchFamily="2" charset="2"/>
              </a:rPr>
              <a:t>, QLVT </a:t>
            </a:r>
            <a:r>
              <a:rPr lang="en-US" sz="1300" dirty="0" err="1" smtClean="0">
                <a:cs typeface="Times New Roman" panose="02020603050405020304" pitchFamily="18" charset="0"/>
                <a:sym typeface="Wingdings" panose="05000000000000000000" pitchFamily="2" charset="2"/>
              </a:rPr>
              <a:t>đang</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tìm</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nguồn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tư</a:t>
            </a:r>
            <a:r>
              <a:rPr lang="en-US" sz="1300" dirty="0" smtClean="0">
                <a:cs typeface="Times New Roman" panose="02020603050405020304" pitchFamily="18" charset="0"/>
                <a:sym typeface="Wingdings" panose="05000000000000000000" pitchFamily="2" charset="2"/>
              </a:rPr>
              <a:t>̀ U/S ENG ở </a:t>
            </a:r>
            <a:r>
              <a:rPr lang="en-US" sz="1300" dirty="0" err="1" smtClean="0">
                <a:cs typeface="Times New Roman" panose="02020603050405020304" pitchFamily="18" charset="0"/>
                <a:sym typeface="Wingdings" panose="05000000000000000000" pitchFamily="2" charset="2"/>
              </a:rPr>
              <a:t>các</a:t>
            </a:r>
            <a:r>
              <a:rPr lang="en-US" sz="1300" dirty="0" smtClean="0">
                <a:cs typeface="Times New Roman" panose="02020603050405020304" pitchFamily="18" charset="0"/>
                <a:sym typeface="Wingdings" panose="05000000000000000000" pitchFamily="2" charset="2"/>
              </a:rPr>
              <a:t> shop </a:t>
            </a:r>
            <a:r>
              <a:rPr lang="en-US" sz="1300" dirty="0" err="1" smtClean="0">
                <a:cs typeface="Times New Roman" panose="02020603050405020304" pitchFamily="18" charset="0"/>
                <a:sym typeface="Wingdings" panose="05000000000000000000" pitchFamily="2" charset="2"/>
              </a:rPr>
              <a:t>khác</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chơ</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đối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tác</a:t>
            </a:r>
            <a:r>
              <a:rPr lang="en-US" sz="1300" dirty="0" smtClean="0">
                <a:cs typeface="Times New Roman" panose="02020603050405020304" pitchFamily="18" charset="0"/>
                <a:sym typeface="Wingdings" panose="05000000000000000000" pitchFamily="2" charset="2"/>
              </a:rPr>
              <a:t> confirm 30/6.</a:t>
            </a:r>
            <a:r>
              <a:rPr lang="vi-VN" sz="1300" dirty="0" smtClean="0">
                <a:cs typeface="Times New Roman" panose="02020603050405020304" pitchFamily="18" charset="0"/>
                <a:sym typeface="Wingdings" panose="05000000000000000000" pitchFamily="2" charset="2"/>
              </a:rPr>
              <a:t>.</a:t>
            </a:r>
            <a:r>
              <a:rPr lang="en-US" sz="1300" dirty="0" smtClean="0">
                <a:cs typeface="Times New Roman" panose="02020603050405020304" pitchFamily="18" charset="0"/>
                <a:sym typeface="Wingdings" panose="05000000000000000000" pitchFamily="2" charset="2"/>
              </a:rPr>
              <a:t> </a:t>
            </a:r>
          </a:p>
          <a:p>
            <a:pPr marL="12700" indent="0" algn="just">
              <a:lnSpc>
                <a:spcPct val="120000"/>
              </a:lnSpc>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 Oven</a:t>
            </a:r>
            <a:r>
              <a:rPr lang="en-US" sz="1300" dirty="0">
                <a:cs typeface="Times New Roman" panose="02020603050405020304" pitchFamily="18" charset="0"/>
                <a:sym typeface="Wingdings" panose="05000000000000000000" pitchFamily="2" charset="2"/>
              </a:rPr>
              <a:t>, Fire Feather Seal At Engine </a:t>
            </a:r>
            <a:r>
              <a:rPr lang="en-US" sz="1300" dirty="0" smtClean="0">
                <a:cs typeface="Times New Roman" panose="02020603050405020304" pitchFamily="18" charset="0"/>
                <a:sym typeface="Wingdings" panose="05000000000000000000" pitchFamily="2" charset="2"/>
              </a:rPr>
              <a:t>TR </a:t>
            </a:r>
            <a:r>
              <a:rPr lang="en-US" sz="1300" dirty="0" err="1" smtClean="0">
                <a:cs typeface="Times New Roman" panose="02020603050405020304" pitchFamily="18" charset="0"/>
                <a:sym typeface="Wingdings" panose="05000000000000000000" pitchFamily="2" charset="2"/>
              </a:rPr>
              <a:t>dư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kiến</a:t>
            </a:r>
            <a:r>
              <a:rPr lang="en-US" sz="1300" dirty="0" smtClean="0">
                <a:cs typeface="Times New Roman" panose="02020603050405020304" pitchFamily="18" charset="0"/>
                <a:sym typeface="Wingdings" panose="05000000000000000000" pitchFamily="2" charset="2"/>
              </a:rPr>
              <a:t> Avail 03/7. </a:t>
            </a:r>
            <a:r>
              <a:rPr lang="en-US" sz="1300" dirty="0" err="1" smtClean="0">
                <a:cs typeface="Times New Roman" panose="02020603050405020304" pitchFamily="18" charset="0"/>
                <a:sym typeface="Wingdings" panose="05000000000000000000" pitchFamily="2" charset="2"/>
              </a:rPr>
              <a:t>Nếu</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tàu</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kịp</a:t>
            </a:r>
            <a:r>
              <a:rPr lang="en-US" sz="1300" dirty="0" smtClean="0">
                <a:cs typeface="Times New Roman" panose="02020603050405020304" pitchFamily="18" charset="0"/>
                <a:sym typeface="Wingdings" panose="05000000000000000000" pitchFamily="2" charset="2"/>
              </a:rPr>
              <a:t> bay </a:t>
            </a:r>
            <a:r>
              <a:rPr lang="en-US" sz="1300" dirty="0" err="1" smtClean="0">
                <a:cs typeface="Times New Roman" panose="02020603050405020304" pitchFamily="18" charset="0"/>
                <a:sym typeface="Wingdings" panose="05000000000000000000" pitchFamily="2" charset="2"/>
              </a:rPr>
              <a:t>thư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sáng</a:t>
            </a:r>
            <a:r>
              <a:rPr lang="en-US" sz="1300" dirty="0" smtClean="0">
                <a:cs typeface="Times New Roman" panose="02020603050405020304" pitchFamily="18" charset="0"/>
                <a:sym typeface="Wingdings" panose="05000000000000000000" pitchFamily="2" charset="2"/>
              </a:rPr>
              <a:t> 03/7 = &gt; </a:t>
            </a:r>
            <a:r>
              <a:rPr lang="en-US" sz="1300" dirty="0" err="1" smtClean="0">
                <a:cs typeface="Times New Roman" panose="02020603050405020304" pitchFamily="18" charset="0"/>
                <a:sym typeface="Wingdings" panose="05000000000000000000" pitchFamily="2" charset="2"/>
              </a:rPr>
              <a:t>Cần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xin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phép</a:t>
            </a:r>
            <a:r>
              <a:rPr lang="en-US" sz="1300" dirty="0" smtClean="0">
                <a:cs typeface="Times New Roman" panose="02020603050405020304" pitchFamily="18" charset="0"/>
                <a:sym typeface="Wingdings" panose="05000000000000000000" pitchFamily="2" charset="2"/>
              </a:rPr>
              <a:t> CAAV bay </a:t>
            </a:r>
            <a:r>
              <a:rPr lang="en-US" sz="1300" dirty="0" err="1" smtClean="0">
                <a:cs typeface="Times New Roman" panose="02020603050405020304" pitchFamily="18" charset="0"/>
                <a:sym typeface="Wingdings" panose="05000000000000000000" pitchFamily="2" charset="2"/>
              </a:rPr>
              <a:t>thư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với</a:t>
            </a:r>
            <a:r>
              <a:rPr lang="en-US" sz="1300" dirty="0" smtClean="0">
                <a:cs typeface="Times New Roman" panose="02020603050405020304" pitchFamily="18" charset="0"/>
                <a:sym typeface="Wingdings" panose="05000000000000000000" pitchFamily="2" charset="2"/>
              </a:rPr>
              <a:t> missing Oven </a:t>
            </a:r>
            <a:r>
              <a:rPr lang="en-US" sz="1300" dirty="0" err="1" smtClean="0">
                <a:cs typeface="Times New Roman" panose="02020603050405020304" pitchFamily="18" charset="0"/>
                <a:sym typeface="Wingdings" panose="05000000000000000000" pitchFamily="2" charset="2"/>
              </a:rPr>
              <a:t>va</a:t>
            </a:r>
            <a:r>
              <a:rPr lang="en-US" sz="1300" dirty="0" smtClean="0">
                <a:cs typeface="Times New Roman" panose="02020603050405020304" pitchFamily="18" charset="0"/>
                <a:sym typeface="Wingdings" panose="05000000000000000000" pitchFamily="2" charset="2"/>
              </a:rPr>
              <a:t>̀ Seal </a:t>
            </a:r>
            <a:r>
              <a:rPr lang="en-US" sz="1300" dirty="0" err="1" smtClean="0">
                <a:cs typeface="Times New Roman" panose="02020603050405020304" pitchFamily="18" charset="0"/>
                <a:sym typeface="Wingdings" panose="05000000000000000000" pitchFamily="2" charset="2"/>
              </a:rPr>
              <a:t>như</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hiện</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tại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Khi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tàu</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khai</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thác</a:t>
            </a:r>
            <a:r>
              <a:rPr lang="en-US" sz="1300" dirty="0" smtClean="0">
                <a:cs typeface="Times New Roman" panose="02020603050405020304" pitchFamily="18" charset="0"/>
                <a:sym typeface="Wingdings" panose="05000000000000000000" pitchFamily="2" charset="2"/>
              </a:rPr>
              <a:t> sẽ </a:t>
            </a:r>
            <a:r>
              <a:rPr lang="en-US" sz="1300" dirty="0" err="1" smtClean="0">
                <a:cs typeface="Times New Roman" panose="02020603050405020304" pitchFamily="18" charset="0"/>
                <a:sym typeface="Wingdings" panose="05000000000000000000" pitchFamily="2" charset="2"/>
              </a:rPr>
              <a:t>bô</a:t>
            </a:r>
            <a:r>
              <a:rPr lang="en-US" sz="1300" dirty="0" smtClean="0">
                <a:cs typeface="Times New Roman" panose="02020603050405020304" pitchFamily="18" charset="0"/>
                <a:sym typeface="Wingdings" panose="05000000000000000000" pitchFamily="2" charset="2"/>
              </a:rPr>
              <a:t>̉ sung Oven </a:t>
            </a:r>
            <a:r>
              <a:rPr lang="en-US" sz="1300" dirty="0" err="1" smtClean="0">
                <a:cs typeface="Times New Roman" panose="02020603050405020304" pitchFamily="18" charset="0"/>
                <a:sym typeface="Wingdings" panose="05000000000000000000" pitchFamily="2" charset="2"/>
              </a:rPr>
              <a:t>va</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thay</a:t>
            </a:r>
            <a:r>
              <a:rPr lang="en-US" sz="1300" dirty="0" smtClean="0">
                <a:cs typeface="Times New Roman" panose="02020603050405020304" pitchFamily="18" charset="0"/>
                <a:sym typeface="Wingdings" panose="05000000000000000000" pitchFamily="2" charset="2"/>
              </a:rPr>
              <a:t> </a:t>
            </a:r>
            <a:r>
              <a:rPr lang="en-US" sz="1300" dirty="0" err="1" smtClean="0">
                <a:cs typeface="Times New Roman" panose="02020603050405020304" pitchFamily="18" charset="0"/>
                <a:sym typeface="Wingdings" panose="05000000000000000000" pitchFamily="2" charset="2"/>
              </a:rPr>
              <a:t>thê</a:t>
            </a:r>
            <a:r>
              <a:rPr lang="en-US" sz="1300" dirty="0" smtClean="0">
                <a:cs typeface="Times New Roman" panose="02020603050405020304" pitchFamily="18" charset="0"/>
                <a:sym typeface="Wingdings" panose="05000000000000000000" pitchFamily="2" charset="2"/>
              </a:rPr>
              <a:t>́ Seal </a:t>
            </a:r>
            <a:r>
              <a:rPr lang="en-US" sz="1300" dirty="0" err="1" smtClean="0">
                <a:cs typeface="Times New Roman" panose="02020603050405020304" pitchFamily="18" charset="0"/>
                <a:sym typeface="Wingdings" panose="05000000000000000000" pitchFamily="2" charset="2"/>
              </a:rPr>
              <a:t>mới</a:t>
            </a:r>
            <a:r>
              <a:rPr lang="en-US" sz="1300" dirty="0" smtClean="0">
                <a:cs typeface="Times New Roman" panose="02020603050405020304" pitchFamily="18" charset="0"/>
                <a:sym typeface="Wingdings" panose="05000000000000000000" pitchFamily="2" charset="2"/>
              </a:rPr>
              <a:t>.</a:t>
            </a:r>
          </a:p>
          <a:p>
            <a:pPr marL="12700" indent="0" algn="just">
              <a:lnSpc>
                <a:spcPct val="120000"/>
              </a:lnSpc>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a:t>
            </a:r>
            <a:r>
              <a:rPr lang="vi-VN" sz="1300" dirty="0" smtClean="0">
                <a:cs typeface="Times New Roman" panose="02020603050405020304" pitchFamily="18" charset="0"/>
                <a:sym typeface="Wingdings" panose="05000000000000000000" pitchFamily="2" charset="2"/>
              </a:rPr>
              <a:t> </a:t>
            </a:r>
            <a:r>
              <a:rPr lang="vi-VN" sz="1300" dirty="0">
                <a:cs typeface="Times New Roman" panose="02020603050405020304" pitchFamily="18" charset="0"/>
                <a:sym typeface="Wingdings" panose="05000000000000000000" pitchFamily="2" charset="2"/>
              </a:rPr>
              <a:t>- Cần bay thử sau Check và renew CofA</a:t>
            </a:r>
            <a:r>
              <a:rPr lang="vi-VN" sz="1300" dirty="0" smtClean="0">
                <a:cs typeface="Times New Roman" panose="02020603050405020304" pitchFamily="18" charset="0"/>
                <a:sym typeface="Wingdings" panose="05000000000000000000" pitchFamily="2" charset="2"/>
              </a:rPr>
              <a:t>.</a:t>
            </a:r>
            <a:r>
              <a:rPr lang="en-US" sz="1300" dirty="0" smtClean="0">
                <a:cs typeface="Times New Roman" panose="02020603050405020304" pitchFamily="18" charset="0"/>
                <a:sym typeface="Wingdings" panose="05000000000000000000" pitchFamily="2" charset="2"/>
              </a:rPr>
              <a:t> </a:t>
            </a:r>
          </a:p>
          <a:p>
            <a:pPr marL="12700" indent="0" algn="just">
              <a:lnSpc>
                <a:spcPct val="120000"/>
              </a:lnSpc>
              <a:buSzPts val="1100"/>
              <a:buNone/>
            </a:pPr>
            <a:r>
              <a:rPr lang="en-US" sz="1300" dirty="0">
                <a:cs typeface="Times New Roman" panose="02020603050405020304" pitchFamily="18" charset="0"/>
                <a:sym typeface="Wingdings" panose="05000000000000000000" pitchFamily="2" charset="2"/>
              </a:rPr>
              <a:t> </a:t>
            </a:r>
            <a:r>
              <a:rPr lang="en-US" sz="1300" dirty="0" smtClean="0">
                <a:cs typeface="Times New Roman" panose="02020603050405020304" pitchFamily="18" charset="0"/>
                <a:sym typeface="Wingdings" panose="05000000000000000000" pitchFamily="2" charset="2"/>
              </a:rPr>
              <a:t>  </a:t>
            </a:r>
            <a:r>
              <a:rPr lang="en-US" sz="1300" b="1" dirty="0" smtClean="0">
                <a:cs typeface="Times New Roman" panose="02020603050405020304" pitchFamily="18" charset="0"/>
                <a:sym typeface="Wingdings" panose="05000000000000000000" pitchFamily="2" charset="2"/>
              </a:rPr>
              <a:t>= &gt; </a:t>
            </a:r>
            <a:r>
              <a:rPr lang="en-US" sz="1300" b="1" dirty="0" err="1" smtClean="0">
                <a:cs typeface="Times New Roman" panose="02020603050405020304" pitchFamily="18" charset="0"/>
                <a:sym typeface="Wingdings" panose="05000000000000000000" pitchFamily="2" charset="2"/>
              </a:rPr>
              <a:t>Tiến</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đô</a:t>
            </a:r>
            <a:r>
              <a:rPr lang="en-US" sz="1300" b="1" dirty="0" smtClean="0">
                <a:cs typeface="Times New Roman" panose="02020603050405020304" pitchFamily="18" charset="0"/>
                <a:sym typeface="Wingdings" panose="05000000000000000000" pitchFamily="2" charset="2"/>
              </a:rPr>
              <a:t>̣ release Check </a:t>
            </a:r>
            <a:r>
              <a:rPr lang="en-US" sz="1300" b="1" dirty="0" err="1" smtClean="0">
                <a:cs typeface="Times New Roman" panose="02020603050405020304" pitchFamily="18" charset="0"/>
                <a:sym typeface="Wingdings" panose="05000000000000000000" pitchFamily="2" charset="2"/>
              </a:rPr>
              <a:t>phu</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thuộc</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vào</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việc</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Cung</a:t>
            </a:r>
            <a:r>
              <a:rPr lang="en-US" sz="1300" b="1" dirty="0" smtClean="0">
                <a:cs typeface="Times New Roman" panose="02020603050405020304" pitchFamily="18" charset="0"/>
                <a:sym typeface="Wingdings" panose="05000000000000000000" pitchFamily="2" charset="2"/>
              </a:rPr>
              <a:t> </a:t>
            </a:r>
            <a:r>
              <a:rPr lang="en-US" sz="1300" b="1" dirty="0" err="1" smtClean="0">
                <a:cs typeface="Times New Roman" panose="02020603050405020304" pitchFamily="18" charset="0"/>
                <a:sym typeface="Wingdings" panose="05000000000000000000" pitchFamily="2" charset="2"/>
              </a:rPr>
              <a:t>ứng</a:t>
            </a:r>
            <a:r>
              <a:rPr lang="en-US" sz="1300" b="1" dirty="0" smtClean="0">
                <a:cs typeface="Times New Roman" panose="02020603050405020304" pitchFamily="18" charset="0"/>
                <a:sym typeface="Wingdings" panose="05000000000000000000" pitchFamily="2" charset="2"/>
              </a:rPr>
              <a:t> Fuel Pump.</a:t>
            </a:r>
            <a:endParaRPr lang="fr-FR" sz="1600" b="1" dirty="0" smtClean="0">
              <a:cs typeface="Times New Roman" panose="02020603050405020304" pitchFamily="18" charset="0"/>
              <a:sym typeface="Wingdings" panose="05000000000000000000" pitchFamily="2" charset="2"/>
            </a:endParaRPr>
          </a:p>
          <a:p>
            <a:pPr marL="12700" indent="0" algn="just">
              <a:lnSpc>
                <a:spcPct val="150000"/>
              </a:lnSpc>
              <a:buSzPts val="1100"/>
              <a:buNone/>
            </a:pPr>
            <a:endParaRPr lang="fr-FR" sz="14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172505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a:extLst>
              <a:ext uri="{FF2B5EF4-FFF2-40B4-BE49-F238E27FC236}">
                <a16:creationId xmlns:a16="http://schemas.microsoft.com/office/drawing/2014/main" id="{530291ED-CDCD-369C-5D13-A6EB63B4AAB2}"/>
              </a:ext>
            </a:extLst>
          </p:cNvPr>
          <p:cNvGraphicFramePr>
            <a:graphicFrameLocks noGrp="1"/>
          </p:cNvGraphicFramePr>
          <p:nvPr>
            <p:extLst/>
          </p:nvPr>
        </p:nvGraphicFramePr>
        <p:xfrm>
          <a:off x="369436" y="1143000"/>
          <a:ext cx="11593965" cy="5333999"/>
        </p:xfrm>
        <a:graphic>
          <a:graphicData uri="http://schemas.openxmlformats.org/drawingml/2006/table">
            <a:tbl>
              <a:tblPr/>
              <a:tblGrid>
                <a:gridCol w="353807">
                  <a:extLst>
                    <a:ext uri="{9D8B030D-6E8A-4147-A177-3AD203B41FA5}">
                      <a16:colId xmlns:a16="http://schemas.microsoft.com/office/drawing/2014/main" val="1232590451"/>
                    </a:ext>
                  </a:extLst>
                </a:gridCol>
                <a:gridCol w="2394998">
                  <a:extLst>
                    <a:ext uri="{9D8B030D-6E8A-4147-A177-3AD203B41FA5}">
                      <a16:colId xmlns:a16="http://schemas.microsoft.com/office/drawing/2014/main" val="2015501210"/>
                    </a:ext>
                  </a:extLst>
                </a:gridCol>
                <a:gridCol w="544318">
                  <a:extLst>
                    <a:ext uri="{9D8B030D-6E8A-4147-A177-3AD203B41FA5}">
                      <a16:colId xmlns:a16="http://schemas.microsoft.com/office/drawing/2014/main" val="3989426089"/>
                    </a:ext>
                  </a:extLst>
                </a:gridCol>
                <a:gridCol w="517102">
                  <a:extLst>
                    <a:ext uri="{9D8B030D-6E8A-4147-A177-3AD203B41FA5}">
                      <a16:colId xmlns:a16="http://schemas.microsoft.com/office/drawing/2014/main" val="377223658"/>
                    </a:ext>
                  </a:extLst>
                </a:gridCol>
                <a:gridCol w="557925">
                  <a:extLst>
                    <a:ext uri="{9D8B030D-6E8A-4147-A177-3AD203B41FA5}">
                      <a16:colId xmlns:a16="http://schemas.microsoft.com/office/drawing/2014/main" val="820131544"/>
                    </a:ext>
                  </a:extLst>
                </a:gridCol>
                <a:gridCol w="544318">
                  <a:extLst>
                    <a:ext uri="{9D8B030D-6E8A-4147-A177-3AD203B41FA5}">
                      <a16:colId xmlns:a16="http://schemas.microsoft.com/office/drawing/2014/main" val="1114214585"/>
                    </a:ext>
                  </a:extLst>
                </a:gridCol>
                <a:gridCol w="557925">
                  <a:extLst>
                    <a:ext uri="{9D8B030D-6E8A-4147-A177-3AD203B41FA5}">
                      <a16:colId xmlns:a16="http://schemas.microsoft.com/office/drawing/2014/main" val="3588415562"/>
                    </a:ext>
                  </a:extLst>
                </a:gridCol>
                <a:gridCol w="557925">
                  <a:extLst>
                    <a:ext uri="{9D8B030D-6E8A-4147-A177-3AD203B41FA5}">
                      <a16:colId xmlns:a16="http://schemas.microsoft.com/office/drawing/2014/main" val="3387548652"/>
                    </a:ext>
                  </a:extLst>
                </a:gridCol>
                <a:gridCol w="557925">
                  <a:extLst>
                    <a:ext uri="{9D8B030D-6E8A-4147-A177-3AD203B41FA5}">
                      <a16:colId xmlns:a16="http://schemas.microsoft.com/office/drawing/2014/main" val="326691348"/>
                    </a:ext>
                  </a:extLst>
                </a:gridCol>
                <a:gridCol w="5007722">
                  <a:extLst>
                    <a:ext uri="{9D8B030D-6E8A-4147-A177-3AD203B41FA5}">
                      <a16:colId xmlns:a16="http://schemas.microsoft.com/office/drawing/2014/main" val="3596985382"/>
                    </a:ext>
                  </a:extLst>
                </a:gridCol>
              </a:tblGrid>
              <a:tr h="463481">
                <a:tc gridSpan="10">
                  <a:txBody>
                    <a:bodyPr/>
                    <a:lstStyle/>
                    <a:p>
                      <a:pPr algn="ctr" fontAlgn="ctr"/>
                      <a:r>
                        <a:rPr lang="en-US" sz="1400" b="1" i="0" u="none" strike="noStrike" dirty="0">
                          <a:solidFill>
                            <a:srgbClr val="000000"/>
                          </a:solidFill>
                          <a:effectLst/>
                          <a:latin typeface="Times New Roman" panose="02020603050405020304" pitchFamily="18" charset="0"/>
                        </a:rPr>
                        <a:t>NGUỒN LỰC KỸ THUÂT FLEET A321 (CẬP NHẬT 29/06)</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43437500"/>
                  </a:ext>
                </a:extLst>
              </a:tr>
              <a:tr h="561796">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2429318810"/>
                  </a:ext>
                </a:extLst>
              </a:tr>
              <a:tr h="1398625">
                <a:tc>
                  <a:txBody>
                    <a:bodyPr/>
                    <a:lstStyle/>
                    <a:p>
                      <a:pPr algn="ctr" fontAlgn="ctr"/>
                      <a:r>
                        <a:rPr lang="en-US" sz="1200" b="1" i="0" u="none" strike="noStrike">
                          <a:solidFill>
                            <a:srgbClr val="000000"/>
                          </a:solidFill>
                          <a:effectLst/>
                          <a:latin typeface="Times New Roman" panose="02020603050405020304" pitchFamily="18" charset="0"/>
                        </a:rPr>
                        <a:t>1</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12.00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10.75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10.50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10.75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11.00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a:solidFill>
                            <a:srgbClr val="000000"/>
                          </a:solidFill>
                          <a:effectLst/>
                          <a:latin typeface="Times New Roman" panose="02020603050405020304" pitchFamily="18" charset="0"/>
                        </a:rPr>
                        <a:t>- 06/2025: tăng 0.5 tàu do hủy thuê ENG BBAM</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- 07/2025: tăng 0.25 tàu do 2 ENG sửa dự kiến về 12/07 (muộn 5 ngày so với kh cũ).</a:t>
                      </a:r>
                      <a:br>
                        <a:rPr lang="en-US" sz="1200" b="0" i="0" u="none" strike="noStrike">
                          <a:solidFill>
                            <a:srgbClr val="000000"/>
                          </a:solidFill>
                          <a:effectLst/>
                          <a:latin typeface="Times New Roman" panose="02020603050405020304" pitchFamily="18" charset="0"/>
                        </a:rPr>
                      </a:br>
                      <a:r>
                        <a:rPr lang="en-US" sz="1200" b="0" i="0" u="none" strike="noStrike">
                          <a:solidFill>
                            <a:srgbClr val="000000"/>
                          </a:solidFill>
                          <a:effectLst/>
                          <a:latin typeface="Times New Roman" panose="02020603050405020304" pitchFamily="18" charset="0"/>
                        </a:rPr>
                        <a:t>- Thuê 3 ENG NEO: 1 PW ENG về 31/05, 2 ENG, dự kiến về đầu tháng 7</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049911"/>
                  </a:ext>
                </a:extLst>
              </a:tr>
              <a:tr h="485952">
                <a:tc>
                  <a:txBody>
                    <a:bodyPr/>
                    <a:lstStyle/>
                    <a:p>
                      <a:pPr algn="ctr" fontAlgn="ctr"/>
                      <a:r>
                        <a:rPr lang="en-US" sz="1200" b="1" i="0" u="none" strike="noStrike">
                          <a:solidFill>
                            <a:srgbClr val="000000"/>
                          </a:solidFill>
                          <a:effectLst/>
                          <a:latin typeface="Times New Roman" panose="02020603050405020304" pitchFamily="18" charset="0"/>
                        </a:rPr>
                        <a:t>2</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536981256"/>
                  </a:ext>
                </a:extLst>
              </a:tr>
              <a:tr h="1839878">
                <a:tc>
                  <a:txBody>
                    <a:bodyPr/>
                    <a:lstStyle/>
                    <a:p>
                      <a:pPr algn="ctr" fontAlgn="ctr"/>
                      <a:r>
                        <a:rPr lang="en-US" sz="1200" b="1" i="0" u="none" strike="noStrike">
                          <a:solidFill>
                            <a:srgbClr val="000000"/>
                          </a:solidFill>
                          <a:effectLst/>
                          <a:latin typeface="Times New Roman" panose="02020603050405020304" pitchFamily="18" charset="0"/>
                        </a:rPr>
                        <a:t>3</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EE0000"/>
                          </a:solidFill>
                          <a:effectLst/>
                          <a:latin typeface="Times New Roman" panose="02020603050405020304" pitchFamily="18" charset="0"/>
                        </a:rPr>
                        <a:t>1.10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FF0000"/>
                          </a:solidFill>
                          <a:effectLst/>
                          <a:latin typeface="Times New Roman" panose="02020603050405020304" pitchFamily="18" charset="0"/>
                        </a:rPr>
                        <a:t>3.60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EE0000"/>
                          </a:solidFill>
                          <a:effectLst/>
                          <a:latin typeface="Times New Roman" panose="02020603050405020304" pitchFamily="18" charset="0"/>
                        </a:rPr>
                        <a:t>- 07/2025: </a:t>
                      </a:r>
                      <a:r>
                        <a:rPr lang="en-US" sz="1200" b="0" i="0" u="none" strike="noStrike" dirty="0" err="1">
                          <a:solidFill>
                            <a:srgbClr val="EE0000"/>
                          </a:solidFill>
                          <a:effectLst/>
                          <a:latin typeface="Times New Roman" panose="02020603050405020304" pitchFamily="18" charset="0"/>
                        </a:rPr>
                        <a:t>tăng</a:t>
                      </a:r>
                      <a:r>
                        <a:rPr lang="en-US" sz="1200" b="0" i="0" u="none" strike="noStrike" dirty="0">
                          <a:solidFill>
                            <a:srgbClr val="EE0000"/>
                          </a:solidFill>
                          <a:effectLst/>
                          <a:latin typeface="Times New Roman" panose="02020603050405020304" pitchFamily="18" charset="0"/>
                        </a:rPr>
                        <a:t> 0.2 </a:t>
                      </a:r>
                      <a:r>
                        <a:rPr lang="en-US" sz="1200" b="0" i="0" u="none" strike="noStrike" dirty="0" err="1">
                          <a:solidFill>
                            <a:srgbClr val="EE0000"/>
                          </a:solidFill>
                          <a:effectLst/>
                          <a:latin typeface="Times New Roman" panose="02020603050405020304" pitchFamily="18" charset="0"/>
                        </a:rPr>
                        <a:t>tàu</a:t>
                      </a:r>
                      <a:r>
                        <a:rPr lang="en-US" sz="1200" b="0" i="0" u="none" strike="noStrike" dirty="0">
                          <a:solidFill>
                            <a:srgbClr val="EE0000"/>
                          </a:solidFill>
                          <a:effectLst/>
                          <a:latin typeface="Times New Roman" panose="02020603050405020304" pitchFamily="18" charset="0"/>
                        </a:rPr>
                        <a:t> do </a:t>
                      </a:r>
                      <a:r>
                        <a:rPr lang="en-US" sz="1200" b="0" i="0" u="none" strike="noStrike" dirty="0" err="1">
                          <a:solidFill>
                            <a:srgbClr val="EE0000"/>
                          </a:solidFill>
                          <a:effectLst/>
                          <a:latin typeface="Times New Roman" panose="02020603050405020304" pitchFamily="18" charset="0"/>
                        </a:rPr>
                        <a:t>lùi</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thay</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càng</a:t>
                      </a:r>
                      <a:r>
                        <a:rPr lang="en-US" sz="1200" b="0" i="0" u="none" strike="noStrike" dirty="0">
                          <a:solidFill>
                            <a:srgbClr val="EE0000"/>
                          </a:solidFill>
                          <a:effectLst/>
                          <a:latin typeface="Times New Roman" panose="02020603050405020304" pitchFamily="18" charset="0"/>
                        </a:rPr>
                        <a:t> A613 bay </a:t>
                      </a:r>
                      <a:r>
                        <a:rPr lang="en-US" sz="1200" b="0" i="0" u="none" strike="noStrike" dirty="0" err="1">
                          <a:solidFill>
                            <a:srgbClr val="EE0000"/>
                          </a:solidFill>
                          <a:effectLst/>
                          <a:latin typeface="Times New Roman" panose="02020603050405020304" pitchFamily="18" charset="0"/>
                        </a:rPr>
                        <a:t>thay</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cho</a:t>
                      </a:r>
                      <a:r>
                        <a:rPr lang="en-US" sz="1200" b="0" i="0" u="none" strike="noStrike" dirty="0">
                          <a:solidFill>
                            <a:srgbClr val="EE0000"/>
                          </a:solidFill>
                          <a:effectLst/>
                          <a:latin typeface="Times New Roman" panose="02020603050405020304" pitchFamily="18" charset="0"/>
                        </a:rPr>
                        <a:t> A338 AOG </a:t>
                      </a:r>
                      <a:r>
                        <a:rPr lang="en-US" sz="1200" b="0" i="0" u="none" strike="noStrike" dirty="0" err="1">
                          <a:solidFill>
                            <a:srgbClr val="EE0000"/>
                          </a:solidFill>
                          <a:effectLst/>
                          <a:latin typeface="Times New Roman" panose="02020603050405020304" pitchFamily="18" charset="0"/>
                        </a:rPr>
                        <a:t>ngày</a:t>
                      </a:r>
                      <a:r>
                        <a:rPr lang="en-US" sz="1200" b="0" i="0" u="none" strike="noStrike" dirty="0">
                          <a:solidFill>
                            <a:srgbClr val="EE0000"/>
                          </a:solidFill>
                          <a:effectLst/>
                          <a:latin typeface="Times New Roman" panose="02020603050405020304" pitchFamily="18" charset="0"/>
                        </a:rPr>
                        <a:t> 27/06 (</a:t>
                      </a:r>
                      <a:r>
                        <a:rPr lang="en-US" sz="1200" b="0" i="0" u="none" strike="noStrike" dirty="0" err="1">
                          <a:solidFill>
                            <a:srgbClr val="EE0000"/>
                          </a:solidFill>
                          <a:effectLst/>
                          <a:latin typeface="Times New Roman" panose="02020603050405020304" pitchFamily="18" charset="0"/>
                        </a:rPr>
                        <a:t>tạm</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dự</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kiến</a:t>
                      </a:r>
                      <a:r>
                        <a:rPr lang="en-US" sz="1200" b="0" i="0" u="none" strike="noStrike" dirty="0">
                          <a:solidFill>
                            <a:srgbClr val="EE0000"/>
                          </a:solidFill>
                          <a:effectLst/>
                          <a:latin typeface="Times New Roman" panose="02020603050405020304" pitchFamily="18" charset="0"/>
                        </a:rPr>
                        <a:t> 1 </a:t>
                      </a:r>
                      <a:r>
                        <a:rPr lang="en-US" sz="1200" b="0" i="0" u="none" strike="noStrike" dirty="0" err="1">
                          <a:solidFill>
                            <a:srgbClr val="EE0000"/>
                          </a:solidFill>
                          <a:effectLst/>
                          <a:latin typeface="Times New Roman" panose="02020603050405020304" pitchFamily="18" charset="0"/>
                        </a:rPr>
                        <a:t>tuần</a:t>
                      </a:r>
                      <a:r>
                        <a:rPr lang="en-US" sz="1200" b="0" i="0" u="none" strike="noStrike" dirty="0">
                          <a:solidFill>
                            <a:srgbClr val="EE0000"/>
                          </a:solidFill>
                          <a:effectLst/>
                          <a:latin typeface="Times New Roman" panose="02020603050405020304" pitchFamily="18" charset="0"/>
                        </a:rPr>
                        <a:t>) do </a:t>
                      </a:r>
                      <a:r>
                        <a:rPr lang="en-US" sz="1200" b="0" i="0" u="none" strike="noStrike" dirty="0" err="1">
                          <a:solidFill>
                            <a:srgbClr val="EE0000"/>
                          </a:solidFill>
                          <a:effectLst/>
                          <a:latin typeface="Times New Roman" panose="02020603050405020304" pitchFamily="18" charset="0"/>
                        </a:rPr>
                        <a:t>va</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chạm</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với</a:t>
                      </a:r>
                      <a:r>
                        <a:rPr lang="en-US" sz="1200" b="0" i="0" u="none" strike="noStrike" dirty="0">
                          <a:solidFill>
                            <a:srgbClr val="EE0000"/>
                          </a:solidFill>
                          <a:effectLst/>
                          <a:latin typeface="Times New Roman" panose="02020603050405020304" pitchFamily="18" charset="0"/>
                        </a:rPr>
                        <a:t> A863;</a:t>
                      </a:r>
                    </a:p>
                    <a:p>
                      <a:pPr algn="l" fontAlgn="ctr"/>
                      <a:r>
                        <a:rPr lang="en-US" sz="1200" b="0" i="0" u="none" strike="noStrike" dirty="0">
                          <a:solidFill>
                            <a:srgbClr val="EE0000"/>
                          </a:solidFill>
                          <a:effectLst/>
                          <a:latin typeface="Times New Roman" panose="02020603050405020304" pitchFamily="18" charset="0"/>
                        </a:rPr>
                        <a:t>- 08/2025: </a:t>
                      </a:r>
                      <a:r>
                        <a:rPr lang="en-US" sz="1200" b="0" i="0" u="none" strike="noStrike" dirty="0" err="1">
                          <a:solidFill>
                            <a:srgbClr val="EE0000"/>
                          </a:solidFill>
                          <a:effectLst/>
                          <a:latin typeface="Times New Roman" panose="02020603050405020304" pitchFamily="18" charset="0"/>
                        </a:rPr>
                        <a:t>tăng</a:t>
                      </a:r>
                      <a:r>
                        <a:rPr lang="en-US" sz="1200" b="0" i="0" u="none" strike="noStrike" dirty="0">
                          <a:solidFill>
                            <a:srgbClr val="EE0000"/>
                          </a:solidFill>
                          <a:effectLst/>
                          <a:latin typeface="Times New Roman" panose="02020603050405020304" pitchFamily="18" charset="0"/>
                        </a:rPr>
                        <a:t> 0.1 do </a:t>
                      </a:r>
                      <a:r>
                        <a:rPr lang="en-US" sz="1200" b="0" i="0" u="none" strike="noStrike" dirty="0" err="1">
                          <a:solidFill>
                            <a:srgbClr val="EE0000"/>
                          </a:solidFill>
                          <a:effectLst/>
                          <a:latin typeface="Times New Roman" panose="02020603050405020304" pitchFamily="18" charset="0"/>
                        </a:rPr>
                        <a:t>lùi</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lịch</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thay</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càng</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tàu</a:t>
                      </a:r>
                      <a:r>
                        <a:rPr lang="en-US" sz="1200" b="0" i="0" u="none" strike="noStrike" dirty="0">
                          <a:solidFill>
                            <a:srgbClr val="EE0000"/>
                          </a:solidFill>
                          <a:effectLst/>
                          <a:latin typeface="Times New Roman" panose="02020603050405020304" pitchFamily="18" charset="0"/>
                        </a:rPr>
                        <a:t> A338 </a:t>
                      </a:r>
                      <a:r>
                        <a:rPr lang="en-US" sz="1200" b="0" i="0" u="none" strike="noStrike" dirty="0" err="1">
                          <a:solidFill>
                            <a:srgbClr val="EE0000"/>
                          </a:solidFill>
                          <a:effectLst/>
                          <a:latin typeface="Times New Roman" panose="02020603050405020304" pitchFamily="18" charset="0"/>
                        </a:rPr>
                        <a:t>từ</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tháng</a:t>
                      </a:r>
                      <a:r>
                        <a:rPr lang="en-US" sz="1200" b="0" i="0" u="none" strike="noStrike" dirty="0">
                          <a:solidFill>
                            <a:srgbClr val="EE0000"/>
                          </a:solidFill>
                          <a:effectLst/>
                          <a:latin typeface="Times New Roman" panose="02020603050405020304" pitchFamily="18" charset="0"/>
                        </a:rPr>
                        <a:t> 7 sang </a:t>
                      </a:r>
                      <a:r>
                        <a:rPr lang="en-US" sz="1200" b="0" i="0" u="none" strike="noStrike" dirty="0" err="1">
                          <a:solidFill>
                            <a:srgbClr val="EE0000"/>
                          </a:solidFill>
                          <a:effectLst/>
                          <a:latin typeface="Times New Roman" panose="02020603050405020304" pitchFamily="18" charset="0"/>
                        </a:rPr>
                        <a:t>tháng</a:t>
                      </a:r>
                      <a:r>
                        <a:rPr lang="en-US" sz="1200" b="0" i="0" u="none" strike="noStrike" dirty="0">
                          <a:solidFill>
                            <a:srgbClr val="EE0000"/>
                          </a:solidFill>
                          <a:effectLst/>
                          <a:latin typeface="Times New Roman" panose="02020603050405020304" pitchFamily="18" charset="0"/>
                        </a:rPr>
                        <a:t> 8. </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5062259"/>
                  </a:ext>
                </a:extLst>
              </a:tr>
              <a:tr h="584267">
                <a:tc>
                  <a:txBody>
                    <a:bodyPr/>
                    <a:lstStyle/>
                    <a:p>
                      <a:pPr algn="ctr" fontAlgn="ctr"/>
                      <a:r>
                        <a:rPr lang="en-US" sz="1200" b="1" i="0" u="none" strike="noStrike">
                          <a:solidFill>
                            <a:srgbClr val="000000"/>
                          </a:solidFill>
                          <a:effectLst/>
                          <a:latin typeface="Times New Roman" panose="02020603050405020304" pitchFamily="18" charset="0"/>
                        </a:rPr>
                        <a:t>4</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13.30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11.85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14.75</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14.00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15.00</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7405" marR="7405" marT="740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62733420"/>
                  </a:ext>
                </a:extLst>
              </a:tr>
            </a:tbl>
          </a:graphicData>
        </a:graphic>
      </p:graphicFrame>
    </p:spTree>
    <p:extLst>
      <p:ext uri="{BB962C8B-B14F-4D97-AF65-F5344CB8AC3E}">
        <p14:creationId xmlns:p14="http://schemas.microsoft.com/office/powerpoint/2010/main" val="509992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304800" y="54848"/>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a:extLst>
              <a:ext uri="{FF2B5EF4-FFF2-40B4-BE49-F238E27FC236}">
                <a16:creationId xmlns:a16="http://schemas.microsoft.com/office/drawing/2014/main" id="{5EB5BC34-A17E-C8F5-5BD7-F0BD219FB019}"/>
              </a:ext>
            </a:extLst>
          </p:cNvPr>
          <p:cNvGraphicFramePr>
            <a:graphicFrameLocks noGrp="1"/>
          </p:cNvGraphicFramePr>
          <p:nvPr>
            <p:extLst/>
          </p:nvPr>
        </p:nvGraphicFramePr>
        <p:xfrm>
          <a:off x="304800" y="762000"/>
          <a:ext cx="11506201" cy="5906625"/>
        </p:xfrm>
        <a:graphic>
          <a:graphicData uri="http://schemas.openxmlformats.org/drawingml/2006/table">
            <a:tbl>
              <a:tblPr/>
              <a:tblGrid>
                <a:gridCol w="382717">
                  <a:extLst>
                    <a:ext uri="{9D8B030D-6E8A-4147-A177-3AD203B41FA5}">
                      <a16:colId xmlns:a16="http://schemas.microsoft.com/office/drawing/2014/main" val="2630856041"/>
                    </a:ext>
                  </a:extLst>
                </a:gridCol>
                <a:gridCol w="2617289">
                  <a:extLst>
                    <a:ext uri="{9D8B030D-6E8A-4147-A177-3AD203B41FA5}">
                      <a16:colId xmlns:a16="http://schemas.microsoft.com/office/drawing/2014/main" val="4006343398"/>
                    </a:ext>
                  </a:extLst>
                </a:gridCol>
                <a:gridCol w="506175">
                  <a:extLst>
                    <a:ext uri="{9D8B030D-6E8A-4147-A177-3AD203B41FA5}">
                      <a16:colId xmlns:a16="http://schemas.microsoft.com/office/drawing/2014/main" val="1860570814"/>
                    </a:ext>
                  </a:extLst>
                </a:gridCol>
                <a:gridCol w="469136">
                  <a:extLst>
                    <a:ext uri="{9D8B030D-6E8A-4147-A177-3AD203B41FA5}">
                      <a16:colId xmlns:a16="http://schemas.microsoft.com/office/drawing/2014/main" val="3116384134"/>
                    </a:ext>
                  </a:extLst>
                </a:gridCol>
                <a:gridCol w="530865">
                  <a:extLst>
                    <a:ext uri="{9D8B030D-6E8A-4147-A177-3AD203B41FA5}">
                      <a16:colId xmlns:a16="http://schemas.microsoft.com/office/drawing/2014/main" val="3525422703"/>
                    </a:ext>
                  </a:extLst>
                </a:gridCol>
                <a:gridCol w="506175">
                  <a:extLst>
                    <a:ext uri="{9D8B030D-6E8A-4147-A177-3AD203B41FA5}">
                      <a16:colId xmlns:a16="http://schemas.microsoft.com/office/drawing/2014/main" val="4242706486"/>
                    </a:ext>
                  </a:extLst>
                </a:gridCol>
                <a:gridCol w="506175">
                  <a:extLst>
                    <a:ext uri="{9D8B030D-6E8A-4147-A177-3AD203B41FA5}">
                      <a16:colId xmlns:a16="http://schemas.microsoft.com/office/drawing/2014/main" val="3635072688"/>
                    </a:ext>
                  </a:extLst>
                </a:gridCol>
                <a:gridCol w="530865">
                  <a:extLst>
                    <a:ext uri="{9D8B030D-6E8A-4147-A177-3AD203B41FA5}">
                      <a16:colId xmlns:a16="http://schemas.microsoft.com/office/drawing/2014/main" val="426424477"/>
                    </a:ext>
                  </a:extLst>
                </a:gridCol>
                <a:gridCol w="506175">
                  <a:extLst>
                    <a:ext uri="{9D8B030D-6E8A-4147-A177-3AD203B41FA5}">
                      <a16:colId xmlns:a16="http://schemas.microsoft.com/office/drawing/2014/main" val="3712577292"/>
                    </a:ext>
                  </a:extLst>
                </a:gridCol>
                <a:gridCol w="4950629">
                  <a:extLst>
                    <a:ext uri="{9D8B030D-6E8A-4147-A177-3AD203B41FA5}">
                      <a16:colId xmlns:a16="http://schemas.microsoft.com/office/drawing/2014/main" val="2481741334"/>
                    </a:ext>
                  </a:extLst>
                </a:gridCol>
              </a:tblGrid>
              <a:tr h="313409">
                <a:tc gridSpan="10">
                  <a:txBody>
                    <a:bodyPr/>
                    <a:lstStyle/>
                    <a:p>
                      <a:pPr algn="ctr" fontAlgn="ctr"/>
                      <a:r>
                        <a:rPr lang="en-US" sz="1400" b="1" i="0" u="none" strike="noStrike" dirty="0">
                          <a:solidFill>
                            <a:srgbClr val="000000"/>
                          </a:solidFill>
                          <a:effectLst/>
                          <a:latin typeface="Times New Roman" panose="02020603050405020304" pitchFamily="18" charset="0"/>
                        </a:rPr>
                        <a:t>NGUỒN LỰC KỸ THUÂT A350/B787 (CẬP NHẬT 29/06)</a:t>
                      </a:r>
                    </a:p>
                  </a:txBody>
                  <a:tcPr marL="5635" marR="5635" marT="5635"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24909518"/>
                  </a:ext>
                </a:extLst>
              </a:tr>
              <a:tr h="296314">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640948805"/>
                  </a:ext>
                </a:extLst>
              </a:tr>
              <a:tr h="864250">
                <a:tc>
                  <a:txBody>
                    <a:bodyPr/>
                    <a:lstStyle/>
                    <a:p>
                      <a:pPr algn="ctr" fontAlgn="ctr"/>
                      <a:r>
                        <a:rPr lang="en-US" sz="1200" b="0" i="0" u="none" strike="noStrike">
                          <a:solidFill>
                            <a:srgbClr val="000000"/>
                          </a:solidFill>
                          <a:effectLst/>
                          <a:latin typeface="Times New Roman" panose="02020603050405020304" pitchFamily="18" charset="0"/>
                        </a:rPr>
                        <a:t>1</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vi-VN" sz="1200" b="0" i="0" u="none" strike="noStrike">
                          <a:solidFill>
                            <a:srgbClr val="000000"/>
                          </a:solidFill>
                          <a:effectLst/>
                          <a:latin typeface="Times New Roman" panose="02020603050405020304" pitchFamily="18" charset="0"/>
                        </a:rPr>
                        <a:t>- 07/2025: tăng 0.5 tàu do ENG về muộn  =&gt; A895 RTS muộn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- 08/2025: tăng 0.25 tàu do ENG về muộn</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- 09,10/2025: giảm và tăng tương ứng 0.5 tàu do ảnh hưởng việc stagger</a:t>
                      </a:r>
                      <a:br>
                        <a:rPr lang="vi-VN" sz="1200" b="0" i="0" u="none" strike="noStrike">
                          <a:solidFill>
                            <a:srgbClr val="000000"/>
                          </a:solidFill>
                          <a:effectLst/>
                          <a:latin typeface="Times New Roman" panose="02020603050405020304" pitchFamily="18" charset="0"/>
                        </a:rPr>
                      </a:br>
                      <a:r>
                        <a:rPr lang="vi-VN" sz="1200" b="0" i="0" u="none" strike="noStrike">
                          <a:solidFill>
                            <a:srgbClr val="000000"/>
                          </a:solidFill>
                          <a:effectLst/>
                          <a:latin typeface="Times New Roman" panose="02020603050405020304" pitchFamily="18" charset="0"/>
                        </a:rPr>
                        <a:t>- 12/2025: giảm 1 tàu do về thêm 1 ENG quick turn</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68275463"/>
                  </a:ext>
                </a:extLst>
              </a:tr>
              <a:tr h="1063692">
                <a:tc>
                  <a:txBody>
                    <a:bodyPr/>
                    <a:lstStyle/>
                    <a:p>
                      <a:pPr algn="ctr" fontAlgn="ctr"/>
                      <a:r>
                        <a:rPr lang="en-US" sz="1200" b="0" i="0" u="none" strike="noStrike">
                          <a:solidFill>
                            <a:srgbClr val="000000"/>
                          </a:solidFill>
                          <a:effectLst/>
                          <a:latin typeface="Times New Roman" panose="02020603050405020304" pitchFamily="18" charset="0"/>
                        </a:rPr>
                        <a:t>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EE0000"/>
                          </a:solidFill>
                          <a:effectLst/>
                          <a:latin typeface="Times New Roman" panose="02020603050405020304" pitchFamily="18" charset="0"/>
                        </a:rPr>
                        <a:t>0.5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dirty="0">
                          <a:solidFill>
                            <a:srgbClr val="000000"/>
                          </a:solidFill>
                          <a:effectLst/>
                          <a:latin typeface="Times New Roman" panose="02020603050405020304" pitchFamily="18" charset="0"/>
                        </a:rPr>
                        <a:t>1.5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vi-VN" sz="1200" b="0" i="0" u="none" strike="noStrike" dirty="0">
                          <a:solidFill>
                            <a:srgbClr val="FF0000"/>
                          </a:solidFill>
                          <a:effectLst/>
                          <a:latin typeface="+mn-lt"/>
                        </a:rPr>
                        <a:t>'07/2025: Giảm 0.1 tàu dừng</a:t>
                      </a:r>
                    </a:p>
                    <a:p>
                      <a:pPr algn="l" fontAlgn="ctr"/>
                      <a:r>
                        <a:rPr lang="vi-VN" sz="1200" b="0" i="0" u="none" strike="noStrike" dirty="0">
                          <a:solidFill>
                            <a:srgbClr val="FF0000"/>
                          </a:solidFill>
                          <a:effectLst/>
                          <a:latin typeface="+mn-lt"/>
                        </a:rPr>
                        <a:t>- Sau 12/07: phát sinh thêm 0.2 tàu d</a:t>
                      </a:r>
                      <a:r>
                        <a:rPr lang="en-US" sz="1200" b="0" i="0" u="none" strike="noStrike" dirty="0">
                          <a:solidFill>
                            <a:srgbClr val="FF0000"/>
                          </a:solidFill>
                          <a:effectLst/>
                          <a:latin typeface="+mn-lt"/>
                        </a:rPr>
                        <a:t>ừ</a:t>
                      </a:r>
                      <a:r>
                        <a:rPr lang="vi-VN" sz="1200" b="0" i="0" u="none" strike="noStrike" dirty="0">
                          <a:solidFill>
                            <a:srgbClr val="FF0000"/>
                          </a:solidFill>
                          <a:effectLst/>
                          <a:latin typeface="+mn-lt"/>
                        </a:rPr>
                        <a:t>ng do lùi định kỳ A894</a:t>
                      </a:r>
                      <a:r>
                        <a:rPr lang="en-US" sz="1200" b="0" i="0" u="none" strike="noStrike" dirty="0">
                          <a:solidFill>
                            <a:srgbClr val="FF0000"/>
                          </a:solidFill>
                          <a:effectLst/>
                          <a:latin typeface="+mn-lt"/>
                        </a:rPr>
                        <a:t>_</a:t>
                      </a:r>
                      <a:r>
                        <a:rPr lang="vi-VN" sz="1200" b="0" i="0" u="none" strike="noStrike" dirty="0">
                          <a:solidFill>
                            <a:srgbClr val="FF0000"/>
                          </a:solidFill>
                          <a:effectLst/>
                          <a:latin typeface="+mn-lt"/>
                        </a:rPr>
                        <a:t>A08, A892</a:t>
                      </a:r>
                      <a:r>
                        <a:rPr lang="en-US" sz="1200" b="0" i="0" u="none" strike="noStrike" dirty="0">
                          <a:solidFill>
                            <a:srgbClr val="FF0000"/>
                          </a:solidFill>
                          <a:effectLst/>
                          <a:latin typeface="+mn-lt"/>
                        </a:rPr>
                        <a:t>_</a:t>
                      </a:r>
                      <a:r>
                        <a:rPr lang="vi-VN" sz="1200" b="0" i="0" u="none" strike="noStrike" dirty="0">
                          <a:solidFill>
                            <a:srgbClr val="FF0000"/>
                          </a:solidFill>
                          <a:effectLst/>
                          <a:latin typeface="+mn-lt"/>
                        </a:rPr>
                        <a:t>A07 (Xin NN, chỉ làm gói MIN WS</a:t>
                      </a:r>
                      <a:r>
                        <a:rPr lang="en-US" sz="1200" b="0" i="0" u="none" strike="noStrike" dirty="0">
                          <a:solidFill>
                            <a:srgbClr val="FF0000"/>
                          </a:solidFill>
                          <a:effectLst/>
                          <a:latin typeface="+mn-lt"/>
                        </a:rPr>
                        <a:t> – </a:t>
                      </a:r>
                      <a:r>
                        <a:rPr lang="en-US" sz="1200" b="0" i="0" u="none" strike="noStrike" dirty="0" err="1">
                          <a:solidFill>
                            <a:srgbClr val="FF0000"/>
                          </a:solidFill>
                          <a:effectLst/>
                          <a:latin typeface="+mn-lt"/>
                        </a:rPr>
                        <a:t>dự</a:t>
                      </a:r>
                      <a:r>
                        <a:rPr lang="en-US" sz="1200" b="0" i="0" u="none" strike="noStrike" dirty="0">
                          <a:solidFill>
                            <a:srgbClr val="FF0000"/>
                          </a:solidFill>
                          <a:effectLst/>
                          <a:latin typeface="+mn-lt"/>
                        </a:rPr>
                        <a:t> </a:t>
                      </a:r>
                      <a:r>
                        <a:rPr lang="en-US" sz="1200" b="0" i="0" u="none" strike="noStrike" dirty="0" err="1">
                          <a:solidFill>
                            <a:srgbClr val="FF0000"/>
                          </a:solidFill>
                          <a:effectLst/>
                          <a:latin typeface="+mn-lt"/>
                        </a:rPr>
                        <a:t>kiến</a:t>
                      </a:r>
                      <a:r>
                        <a:rPr lang="en-US" sz="1200" b="0" i="0" u="none" strike="noStrike" dirty="0">
                          <a:solidFill>
                            <a:srgbClr val="FF0000"/>
                          </a:solidFill>
                          <a:effectLst/>
                          <a:latin typeface="+mn-lt"/>
                        </a:rPr>
                        <a:t> </a:t>
                      </a:r>
                      <a:r>
                        <a:rPr lang="en-US" sz="1200" b="0" i="0" u="none" strike="noStrike" dirty="0" err="1">
                          <a:solidFill>
                            <a:srgbClr val="FF0000"/>
                          </a:solidFill>
                          <a:effectLst/>
                          <a:latin typeface="+mn-lt"/>
                        </a:rPr>
                        <a:t>dừng</a:t>
                      </a:r>
                      <a:r>
                        <a:rPr lang="en-US" sz="1200" b="0" i="0" u="none" strike="noStrike" dirty="0">
                          <a:solidFill>
                            <a:srgbClr val="FF0000"/>
                          </a:solidFill>
                          <a:effectLst/>
                          <a:latin typeface="+mn-lt"/>
                        </a:rPr>
                        <a:t> 1 </a:t>
                      </a:r>
                      <a:r>
                        <a:rPr lang="en-US" sz="1200" b="0" i="0" u="none" strike="noStrike" dirty="0" err="1">
                          <a:solidFill>
                            <a:srgbClr val="FF0000"/>
                          </a:solidFill>
                          <a:effectLst/>
                          <a:latin typeface="+mn-lt"/>
                        </a:rPr>
                        <a:t>ngày</a:t>
                      </a:r>
                      <a:r>
                        <a:rPr lang="en-US" sz="1200" b="0" i="0" u="none" strike="noStrike" dirty="0">
                          <a:solidFill>
                            <a:srgbClr val="FF0000"/>
                          </a:solidFill>
                          <a:effectLst/>
                          <a:latin typeface="+mn-lt"/>
                        </a:rPr>
                        <a:t> </a:t>
                      </a:r>
                      <a:r>
                        <a:rPr lang="en-US" sz="1200" b="0" i="0" u="none" strike="noStrike" dirty="0" err="1">
                          <a:solidFill>
                            <a:srgbClr val="FF0000"/>
                          </a:solidFill>
                          <a:effectLst/>
                          <a:latin typeface="+mn-lt"/>
                        </a:rPr>
                        <a:t>làm</a:t>
                      </a:r>
                      <a:r>
                        <a:rPr lang="en-US" sz="1200" b="0" i="0" u="none" strike="noStrike" dirty="0">
                          <a:solidFill>
                            <a:srgbClr val="FF0000"/>
                          </a:solidFill>
                          <a:effectLst/>
                          <a:latin typeface="+mn-lt"/>
                        </a:rPr>
                        <a:t> 3 ca</a:t>
                      </a:r>
                      <a:r>
                        <a:rPr lang="vi-VN" sz="1200" b="0" i="0" u="none" strike="noStrike" dirty="0">
                          <a:solidFill>
                            <a:srgbClr val="FF0000"/>
                          </a:solidFill>
                          <a:effectLst/>
                          <a:latin typeface="+mn-lt"/>
                        </a:rPr>
                        <a:t>) để bay thay A863</a:t>
                      </a:r>
                      <a:r>
                        <a:rPr lang="en-US" sz="1200" b="0" i="0" u="none" strike="noStrike" dirty="0">
                          <a:solidFill>
                            <a:srgbClr val="FF0000"/>
                          </a:solidFill>
                          <a:effectLst/>
                          <a:latin typeface="+mn-lt"/>
                        </a:rPr>
                        <a:t>;</a:t>
                      </a:r>
                      <a:endParaRPr lang="vi-VN" sz="1200" b="0" i="0" u="none" strike="noStrike" dirty="0">
                        <a:solidFill>
                          <a:srgbClr val="FF0000"/>
                        </a:solidFill>
                        <a:effectLst/>
                        <a:latin typeface="+mn-lt"/>
                      </a:endParaRPr>
                    </a:p>
                    <a:p>
                      <a:pPr algn="l" fontAlgn="ctr"/>
                      <a:r>
                        <a:rPr lang="vi-VN" sz="1200" b="0" i="0" u="none" strike="noStrike" dirty="0">
                          <a:solidFill>
                            <a:srgbClr val="FF0000"/>
                          </a:solidFill>
                          <a:effectLst/>
                          <a:latin typeface="+mn-lt"/>
                        </a:rPr>
                        <a:t>- Trước 12/07: giảm 0.</a:t>
                      </a:r>
                      <a:r>
                        <a:rPr lang="en-US" sz="1200" b="0" i="0" u="none" strike="noStrike" dirty="0">
                          <a:solidFill>
                            <a:srgbClr val="FF0000"/>
                          </a:solidFill>
                          <a:effectLst/>
                          <a:latin typeface="+mn-lt"/>
                        </a:rPr>
                        <a:t>2</a:t>
                      </a:r>
                      <a:r>
                        <a:rPr lang="vi-VN" sz="1200" b="0" i="0" u="none" strike="noStrike" dirty="0">
                          <a:solidFill>
                            <a:srgbClr val="FF0000"/>
                          </a:solidFill>
                          <a:effectLst/>
                          <a:latin typeface="+mn-lt"/>
                        </a:rPr>
                        <a:t> tàu dừng do lùi Check A894, A897 và rút ngắt RTS A886 3 ngày, dự kiến hết 02/07 (KH cũ 05/07)</a:t>
                      </a:r>
                      <a:endParaRPr lang="vi-VN" sz="1200" b="0" i="0" u="none" strike="noStrike" dirty="0">
                        <a:solidFill>
                          <a:srgbClr val="FF0000"/>
                        </a:solidFill>
                        <a:effectLst/>
                        <a:latin typeface="Times New Roman" panose="02020603050405020304" pitchFamily="18" charset="0"/>
                      </a:endParaRP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10654227"/>
                  </a:ext>
                </a:extLst>
              </a:tr>
              <a:tr h="379890">
                <a:tc>
                  <a:txBody>
                    <a:bodyPr/>
                    <a:lstStyle/>
                    <a:p>
                      <a:pPr algn="ctr" fontAlgn="ctr"/>
                      <a:r>
                        <a:rPr lang="en-US" sz="1200" b="0" i="0" u="none" strike="noStrike">
                          <a:solidFill>
                            <a:srgbClr val="000000"/>
                          </a:solidFill>
                          <a:effectLst/>
                          <a:latin typeface="Times New Roman" panose="02020603050405020304" pitchFamily="18" charset="0"/>
                        </a:rPr>
                        <a:t>3</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2.2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imes New Roman" panose="02020603050405020304" pitchFamily="18" charset="0"/>
                        </a:rPr>
                        <a:t>2.0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4895143"/>
                  </a:ext>
                </a:extLst>
              </a:tr>
              <a:tr h="379890">
                <a:tc>
                  <a:txBody>
                    <a:bodyPr/>
                    <a:lstStyle/>
                    <a:p>
                      <a:pPr algn="ctr" fontAlgn="ctr"/>
                      <a:r>
                        <a:rPr lang="en-US" sz="1200" b="0" i="0" u="none" strike="noStrike">
                          <a:solidFill>
                            <a:srgbClr val="000000"/>
                          </a:solidFill>
                          <a:effectLst/>
                          <a:latin typeface="Times New Roman" panose="02020603050405020304" pitchFamily="18" charset="0"/>
                        </a:rPr>
                        <a:t>4</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11.8</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87699568"/>
                  </a:ext>
                </a:extLst>
              </a:tr>
              <a:tr h="379890">
                <a:tc>
                  <a:txBody>
                    <a:bodyPr/>
                    <a:lstStyle/>
                    <a:p>
                      <a:pPr algn="ctr" fontAlgn="ctr"/>
                      <a:r>
                        <a:rPr lang="en-US" sz="1200" b="0" i="0" u="none" strike="noStrike">
                          <a:solidFill>
                            <a:srgbClr val="000000"/>
                          </a:solidFill>
                          <a:effectLst/>
                          <a:latin typeface="Times New Roman" panose="02020603050405020304" pitchFamily="18" charset="0"/>
                        </a:rPr>
                        <a:t>5</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Rủi</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ro</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phát</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sinh</a:t>
                      </a:r>
                      <a:r>
                        <a:rPr lang="en-US" sz="1200" b="0" i="0" u="none" strike="noStrike" dirty="0">
                          <a:solidFill>
                            <a:srgbClr val="000000"/>
                          </a:solidFill>
                          <a:effectLst/>
                          <a:latin typeface="Times New Roman" panose="02020603050405020304" pitchFamily="18" charset="0"/>
                        </a:rPr>
                        <a:t> </a:t>
                      </a:r>
                      <a:r>
                        <a:rPr lang="en-US" sz="1200" b="0" i="0" u="none" strike="noStrike" dirty="0" err="1">
                          <a:solidFill>
                            <a:srgbClr val="000000"/>
                          </a:solidFill>
                          <a:effectLst/>
                          <a:latin typeface="Times New Roman" panose="02020603050405020304" pitchFamily="18" charset="0"/>
                        </a:rPr>
                        <a:t>tàu</a:t>
                      </a:r>
                      <a:r>
                        <a:rPr lang="en-US" sz="1200" b="0" i="0" u="none" strike="noStrike" dirty="0">
                          <a:solidFill>
                            <a:srgbClr val="000000"/>
                          </a:solidFill>
                          <a:effectLst/>
                          <a:latin typeface="Times New Roman" panose="02020603050405020304" pitchFamily="18" charset="0"/>
                        </a:rPr>
                        <a:t> AOG do ENG A863 BSI 50CY.</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7942198"/>
                  </a:ext>
                </a:extLst>
              </a:tr>
              <a:tr h="1050397">
                <a:tc>
                  <a:txBody>
                    <a:bodyPr/>
                    <a:lstStyle/>
                    <a:p>
                      <a:pPr algn="ctr" fontAlgn="ctr"/>
                      <a:r>
                        <a:rPr lang="en-US" sz="1200" b="0" i="0" u="none" strike="noStrike">
                          <a:solidFill>
                            <a:srgbClr val="000000"/>
                          </a:solidFill>
                          <a:effectLst/>
                          <a:latin typeface="Times New Roman" panose="02020603050405020304" pitchFamily="18" charset="0"/>
                        </a:rPr>
                        <a:t>6</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EE0000"/>
                          </a:solidFill>
                          <a:effectLst/>
                          <a:latin typeface="Times New Roman" panose="02020603050405020304" pitchFamily="18" charset="0"/>
                        </a:rPr>
                        <a:t>0.7</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EE0000"/>
                          </a:solidFill>
                          <a:effectLst/>
                          <a:latin typeface="Times New Roman" panose="02020603050405020304" pitchFamily="18" charset="0"/>
                        </a:rPr>
                        <a:t>07/2025: </a:t>
                      </a:r>
                      <a:r>
                        <a:rPr lang="en-US" sz="1200" b="0" i="0" u="none" strike="noStrike" dirty="0" err="1">
                          <a:solidFill>
                            <a:srgbClr val="EE0000"/>
                          </a:solidFill>
                          <a:effectLst/>
                          <a:latin typeface="Times New Roman" panose="02020603050405020304" pitchFamily="18" charset="0"/>
                        </a:rPr>
                        <a:t>tăng</a:t>
                      </a:r>
                      <a:r>
                        <a:rPr lang="en-US" sz="1200" b="0" i="0" u="none" strike="noStrike" dirty="0">
                          <a:solidFill>
                            <a:srgbClr val="EE0000"/>
                          </a:solidFill>
                          <a:effectLst/>
                          <a:latin typeface="Times New Roman" panose="02020603050405020304" pitchFamily="18" charset="0"/>
                        </a:rPr>
                        <a:t> 0.3 </a:t>
                      </a:r>
                      <a:r>
                        <a:rPr lang="en-US" sz="1200" b="0" i="0" u="none" strike="noStrike" dirty="0" err="1">
                          <a:solidFill>
                            <a:srgbClr val="EE0000"/>
                          </a:solidFill>
                          <a:effectLst/>
                          <a:latin typeface="Times New Roman" panose="02020603050405020304" pitchFamily="18" charset="0"/>
                        </a:rPr>
                        <a:t>tàu</a:t>
                      </a:r>
                      <a:r>
                        <a:rPr lang="en-US" sz="1200" b="0" i="0" u="none" strike="noStrike" dirty="0">
                          <a:solidFill>
                            <a:srgbClr val="EE0000"/>
                          </a:solidFill>
                          <a:effectLst/>
                          <a:latin typeface="Times New Roman" panose="02020603050405020304" pitchFamily="18" charset="0"/>
                        </a:rPr>
                        <a:t> do A863 AOG </a:t>
                      </a:r>
                      <a:r>
                        <a:rPr lang="en-US" sz="1200" b="0" i="0" u="none" strike="noStrike" dirty="0" err="1">
                          <a:solidFill>
                            <a:srgbClr val="EE0000"/>
                          </a:solidFill>
                          <a:effectLst/>
                          <a:latin typeface="Times New Roman" panose="02020603050405020304" pitchFamily="18" charset="0"/>
                        </a:rPr>
                        <a:t>từ</a:t>
                      </a:r>
                      <a:r>
                        <a:rPr lang="en-US" sz="1200" b="0" i="0" u="none" strike="noStrike" dirty="0">
                          <a:solidFill>
                            <a:srgbClr val="EE0000"/>
                          </a:solidFill>
                          <a:effectLst/>
                          <a:latin typeface="Times New Roman" panose="02020603050405020304" pitchFamily="18" charset="0"/>
                        </a:rPr>
                        <a:t> 27/06 (</a:t>
                      </a:r>
                      <a:r>
                        <a:rPr lang="en-US" sz="1200" b="0" i="0" u="none" strike="noStrike" dirty="0" err="1">
                          <a:solidFill>
                            <a:srgbClr val="EE0000"/>
                          </a:solidFill>
                          <a:effectLst/>
                          <a:latin typeface="Times New Roman" panose="02020603050405020304" pitchFamily="18" charset="0"/>
                        </a:rPr>
                        <a:t>tạm</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dự</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kiến</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hết</a:t>
                      </a:r>
                      <a:r>
                        <a:rPr lang="en-US" sz="1200" b="0" i="0" u="none" strike="noStrike" dirty="0">
                          <a:solidFill>
                            <a:srgbClr val="EE0000"/>
                          </a:solidFill>
                          <a:effectLst/>
                          <a:latin typeface="Times New Roman" panose="02020603050405020304" pitchFamily="18" charset="0"/>
                        </a:rPr>
                        <a:t> 09/07) do </a:t>
                      </a:r>
                      <a:r>
                        <a:rPr lang="en-US" sz="1200" b="0" i="0" u="none" strike="noStrike" dirty="0" err="1">
                          <a:solidFill>
                            <a:srgbClr val="EE0000"/>
                          </a:solidFill>
                          <a:effectLst/>
                          <a:latin typeface="Times New Roman" panose="02020603050405020304" pitchFamily="18" charset="0"/>
                        </a:rPr>
                        <a:t>va</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chạm</a:t>
                      </a:r>
                      <a:r>
                        <a:rPr lang="en-US" sz="1200" b="0" i="0" u="none" strike="noStrike" dirty="0">
                          <a:solidFill>
                            <a:srgbClr val="EE0000"/>
                          </a:solidFill>
                          <a:effectLst/>
                          <a:latin typeface="Times New Roman" panose="02020603050405020304" pitchFamily="18" charset="0"/>
                        </a:rPr>
                        <a:t> </a:t>
                      </a:r>
                      <a:r>
                        <a:rPr lang="en-US" sz="1200" b="0" i="0" u="none" strike="noStrike" dirty="0" err="1">
                          <a:solidFill>
                            <a:srgbClr val="EE0000"/>
                          </a:solidFill>
                          <a:effectLst/>
                          <a:latin typeface="Times New Roman" panose="02020603050405020304" pitchFamily="18" charset="0"/>
                        </a:rPr>
                        <a:t>với</a:t>
                      </a:r>
                      <a:r>
                        <a:rPr lang="en-US" sz="1200" b="0" i="0" u="none" strike="noStrike">
                          <a:solidFill>
                            <a:srgbClr val="EE0000"/>
                          </a:solidFill>
                          <a:effectLst/>
                          <a:latin typeface="Times New Roman" panose="02020603050405020304" pitchFamily="18" charset="0"/>
                        </a:rPr>
                        <a:t> A338.</a:t>
                      </a:r>
                      <a:endParaRPr lang="en-US" sz="1200" b="0" i="0" u="none" strike="noStrike" dirty="0">
                        <a:solidFill>
                          <a:srgbClr val="EE0000"/>
                        </a:solidFill>
                        <a:effectLst/>
                        <a:latin typeface="Times New Roman" panose="02020603050405020304" pitchFamily="18" charset="0"/>
                      </a:endParaRP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4072921782"/>
                  </a:ext>
                </a:extLst>
              </a:tr>
              <a:tr h="379890">
                <a:tc>
                  <a:txBody>
                    <a:bodyPr/>
                    <a:lstStyle/>
                    <a:p>
                      <a:pPr algn="ctr" fontAlgn="ctr"/>
                      <a:r>
                        <a:rPr lang="en-US" sz="1200" b="0" i="0" u="none" strike="noStrike">
                          <a:solidFill>
                            <a:srgbClr val="000000"/>
                          </a:solidFill>
                          <a:effectLst/>
                          <a:latin typeface="Times New Roman" panose="02020603050405020304" pitchFamily="18" charset="0"/>
                        </a:rPr>
                        <a:t>7</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0.7</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450098"/>
                  </a:ext>
                </a:extLst>
              </a:tr>
              <a:tr h="379890">
                <a:tc>
                  <a:txBody>
                    <a:bodyPr/>
                    <a:lstStyle/>
                    <a:p>
                      <a:pPr algn="ctr" fontAlgn="ctr"/>
                      <a:r>
                        <a:rPr lang="en-US" sz="1200" b="0" i="0" u="none" strike="noStrike">
                          <a:solidFill>
                            <a:srgbClr val="000000"/>
                          </a:solidFill>
                          <a:effectLst/>
                          <a:latin typeface="Times New Roman" panose="02020603050405020304" pitchFamily="18" charset="0"/>
                        </a:rPr>
                        <a:t>8</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16.3</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201373833"/>
                  </a:ext>
                </a:extLst>
              </a:tr>
              <a:tr h="379890">
                <a:tc>
                  <a:txBody>
                    <a:bodyPr/>
                    <a:lstStyle/>
                    <a:p>
                      <a:pPr algn="ctr" fontAlgn="ctr"/>
                      <a:r>
                        <a:rPr lang="en-US" sz="1200" b="0" i="0" u="none" strike="noStrike">
                          <a:solidFill>
                            <a:srgbClr val="000000"/>
                          </a:solidFill>
                          <a:effectLst/>
                          <a:latin typeface="Times New Roman" panose="02020603050405020304" pitchFamily="18" charset="0"/>
                        </a:rPr>
                        <a:t>9</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FF0000"/>
                          </a:solidFill>
                          <a:effectLst/>
                          <a:latin typeface="Times New Roman" panose="02020603050405020304" pitchFamily="18" charset="0"/>
                        </a:rPr>
                        <a:t>2.2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3.2</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4.0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4.0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chemeClr val="tx1"/>
                          </a:solidFill>
                          <a:effectLst/>
                          <a:latin typeface="Times New Roman" panose="02020603050405020304" pitchFamily="18" charset="0"/>
                        </a:rPr>
                        <a:t>4.0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imes New Roman" panose="02020603050405020304" pitchFamily="18" charset="0"/>
                        </a:rPr>
                        <a:t> </a:t>
                      </a:r>
                    </a:p>
                  </a:txBody>
                  <a:tcPr marL="5635" marR="5635" marT="56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89312484"/>
                  </a:ext>
                </a:extLst>
              </a:tr>
            </a:tbl>
          </a:graphicData>
        </a:graphic>
      </p:graphicFrame>
    </p:spTree>
    <p:extLst>
      <p:ext uri="{BB962C8B-B14F-4D97-AF65-F5344CB8AC3E}">
        <p14:creationId xmlns:p14="http://schemas.microsoft.com/office/powerpoint/2010/main" val="30848262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670778"/>
            <a:ext cx="2743200" cy="365125"/>
          </a:xfrm>
        </p:spPr>
        <p:txBody>
          <a:bodyPr>
            <a:normAutofit/>
          </a:bodyPr>
          <a:lstStyle/>
          <a:p>
            <a:fld id="{6C6B6B8D-D74E-47CD-B5EE-156060B7CD17}" type="slidenum">
              <a:rPr lang="en-US" sz="1100" smtClean="0"/>
              <a:pPr/>
              <a:t>42</a:t>
            </a:fld>
            <a:endParaRPr lang="en-US" sz="1100" dirty="0"/>
          </a:p>
        </p:txBody>
      </p:sp>
      <p:sp>
        <p:nvSpPr>
          <p:cNvPr id="21" name="TextBox 20"/>
          <p:cNvSpPr txBox="1"/>
          <p:nvPr/>
        </p:nvSpPr>
        <p:spPr>
          <a:xfrm>
            <a:off x="685800" y="59329"/>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26</a:t>
            </a:r>
            <a:endParaRPr lang="vi-VN" sz="2700" dirty="0"/>
          </a:p>
        </p:txBody>
      </p:sp>
      <p:sp>
        <p:nvSpPr>
          <p:cNvPr id="22" name="TextBox 21"/>
          <p:cNvSpPr txBox="1"/>
          <p:nvPr/>
        </p:nvSpPr>
        <p:spPr>
          <a:xfrm>
            <a:off x="375591" y="3657600"/>
            <a:ext cx="11674151" cy="328532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Galley:</a:t>
            </a:r>
          </a:p>
          <a:p>
            <a:pPr marL="285750" indent="-285750">
              <a:lnSpc>
                <a:spcPct val="150000"/>
              </a:lnSpc>
              <a:buFontTx/>
              <a:buChar char="-"/>
            </a:pPr>
            <a:r>
              <a:rPr lang="en-US" sz="1400" b="1" dirty="0">
                <a:latin typeface="Times New Roman" panose="02020603050405020304" pitchFamily="18" charset="0"/>
                <a:cs typeface="Times New Roman" panose="02020603050405020304" pitchFamily="18" charset="0"/>
              </a:rPr>
              <a:t>Hỏng hóc wine chiller</a:t>
            </a:r>
            <a:r>
              <a:rPr lang="en-US" sz="1400" dirty="0">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19a,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19ea. </a:t>
            </a:r>
            <a:r>
              <a:rPr lang="en-US" sz="1400" dirty="0" err="1">
                <a:solidFill>
                  <a:schemeClr val="tx1"/>
                </a:solidFill>
                <a:latin typeface="Times New Roman" panose="02020603050405020304" pitchFamily="18" charset="0"/>
                <a:cs typeface="Times New Roman" panose="02020603050405020304" pitchFamily="18" charset="0"/>
              </a:rPr>
              <a:t>Tiến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độ</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sửa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chữa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tại</a:t>
            </a:r>
            <a:r>
              <a:rPr lang="en-US" sz="14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B787: </a:t>
            </a:r>
            <a:r>
              <a:rPr lang="en-US" sz="1400" dirty="0">
                <a:latin typeface="Times New Roman" panose="02020603050405020304" pitchFamily="18" charset="0"/>
                <a:cs typeface="Times New Roman" panose="02020603050405020304" pitchFamily="18" charset="0"/>
              </a:rPr>
              <a:t>10</a:t>
            </a:r>
            <a:r>
              <a:rPr lang="vi-VN" sz="1400" dirty="0">
                <a:latin typeface="Times New Roman" panose="02020603050405020304" pitchFamily="18" charset="0"/>
                <a:cs typeface="Times New Roman" panose="02020603050405020304" pitchFamily="18" charset="0"/>
              </a:rPr>
              <a:t> ADD; </a:t>
            </a:r>
            <a:r>
              <a:rPr lang="en-US" sz="1400" dirty="0">
                <a:latin typeface="Times New Roman"/>
                <a:ea typeface="Times New Roman"/>
                <a:cs typeface="Times New Roman"/>
                <a:sym typeface="Times New Roman"/>
              </a:rPr>
              <a:t>04RO </a:t>
            </a:r>
            <a:r>
              <a:rPr lang="vi-VN" sz="1400" dirty="0">
                <a:latin typeface="Times New Roman" panose="02020603050405020304" pitchFamily="18" charset="0"/>
                <a:cs typeface="Times New Roman" panose="02020603050405020304" pitchFamily="18" charset="0"/>
              </a:rPr>
              <a:t>chưa có EDD</a:t>
            </a:r>
            <a:r>
              <a:rPr lang="en-US" sz="1400" dirty="0">
                <a:latin typeface="Times New Roman" panose="02020603050405020304" pitchFamily="18" charset="0"/>
                <a:cs typeface="Times New Roman" panose="02020603050405020304" pitchFamily="18" charset="0"/>
              </a:rPr>
              <a:t>, </a:t>
            </a:r>
            <a:endParaRPr lang="en-US" sz="14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vi-VN" sz="1400" dirty="0">
                <a:latin typeface="Times New Roman" panose="02020603050405020304" pitchFamily="18" charset="0"/>
                <a:cs typeface="Times New Roman" panose="02020603050405020304" pitchFamily="18" charset="0"/>
              </a:rPr>
              <a:t>Chiller A350: </a:t>
            </a:r>
            <a:r>
              <a:rPr lang="en-US" sz="1400" dirty="0">
                <a:latin typeface="Times New Roman" panose="02020603050405020304" pitchFamily="18" charset="0"/>
                <a:cs typeface="Times New Roman" panose="02020603050405020304" pitchFamily="18" charset="0"/>
              </a:rPr>
              <a:t>09  ADD; </a:t>
            </a:r>
            <a:r>
              <a:rPr lang="en-US" sz="1400" dirty="0">
                <a:latin typeface="Times New Roman"/>
                <a:cs typeface="Times New Roman"/>
                <a:sym typeface="Times New Roman"/>
              </a:rPr>
              <a:t>05</a:t>
            </a:r>
            <a:r>
              <a:rPr lang="en-US" sz="1400" dirty="0">
                <a:latin typeface="Times New Roman"/>
                <a:ea typeface="Times New Roman"/>
                <a:cs typeface="Times New Roman"/>
                <a:sym typeface="Times New Roman"/>
              </a:rPr>
              <a:t> RO, </a:t>
            </a:r>
            <a:r>
              <a:rPr lang="vi-VN" sz="1400" dirty="0">
                <a:latin typeface="Times New Roman" panose="02020603050405020304" pitchFamily="18" charset="0"/>
                <a:cs typeface="Times New Roman" panose="02020603050405020304" pitchFamily="18" charset="0"/>
              </a:rPr>
              <a:t>chưa có EDD</a:t>
            </a:r>
            <a:endParaRPr lang="en-US" sz="1400" dirty="0">
              <a:latin typeface="Times New Roman" panose="02020603050405020304" pitchFamily="18" charset="0"/>
              <a:cs typeface="Times New Roman" panose="02020603050405020304" pitchFamily="18" charset="0"/>
            </a:endParaRPr>
          </a:p>
          <a:p>
            <a:pPr marL="742950" lvl="1" indent="-285750">
              <a:lnSpc>
                <a:spcPct val="150000"/>
              </a:lnSpc>
              <a:buClr>
                <a:srgbClr val="000000"/>
              </a:buClr>
              <a:buSzPts val="130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sym typeface="Times New Roman"/>
              </a:rPr>
              <a:t>A886 </a:t>
            </a:r>
            <a:r>
              <a:rPr lang="en-US" sz="1400" dirty="0" err="1">
                <a:latin typeface="Times New Roman" panose="02020603050405020304" pitchFamily="18" charset="0"/>
                <a:cs typeface="Times New Roman" panose="02020603050405020304" pitchFamily="18" charset="0"/>
                <a:sym typeface="Times New Roman"/>
              </a:rPr>
              <a:t>cần</a:t>
            </a:r>
            <a:r>
              <a:rPr lang="en-US" sz="1400" dirty="0">
                <a:latin typeface="Times New Roman" panose="02020603050405020304" pitchFamily="18" charset="0"/>
                <a:cs typeface="Times New Roman" panose="02020603050405020304" pitchFamily="18" charset="0"/>
                <a:sym typeface="Times New Roman"/>
              </a:rPr>
              <a:t> 02 chiller RTS: </a:t>
            </a:r>
            <a:r>
              <a:rPr lang="en-US" sz="1400" dirty="0" err="1">
                <a:latin typeface="Times New Roman" panose="02020603050405020304" pitchFamily="18" charset="0"/>
                <a:cs typeface="Times New Roman" panose="02020603050405020304" pitchFamily="18" charset="0"/>
                <a:sym typeface="Times New Roman"/>
              </a:rPr>
              <a:t>hiện</a:t>
            </a:r>
            <a:r>
              <a:rPr lang="en-US" sz="1400" dirty="0">
                <a:latin typeface="Times New Roman" panose="02020603050405020304" pitchFamily="18" charset="0"/>
                <a:cs typeface="Times New Roman" panose="02020603050405020304" pitchFamily="18" charset="0"/>
                <a:sym typeface="Times New Roman"/>
              </a:rPr>
              <a:t> </a:t>
            </a:r>
            <a:r>
              <a:rPr lang="en-US" sz="1400" dirty="0" err="1">
                <a:latin typeface="Times New Roman" panose="02020603050405020304" pitchFamily="18" charset="0"/>
                <a:cs typeface="Times New Roman" panose="02020603050405020304" pitchFamily="18" charset="0"/>
                <a:sym typeface="Times New Roman"/>
              </a:rPr>
              <a:t>đã</a:t>
            </a:r>
            <a:r>
              <a:rPr lang="en-US" sz="1400" dirty="0">
                <a:latin typeface="Times New Roman" panose="02020603050405020304" pitchFamily="18" charset="0"/>
                <a:cs typeface="Times New Roman" panose="02020603050405020304" pitchFamily="18" charset="0"/>
                <a:sym typeface="Times New Roman"/>
              </a:rPr>
              <a:t> </a:t>
            </a:r>
            <a:r>
              <a:rPr lang="en-US" sz="1400" dirty="0" err="1">
                <a:latin typeface="Times New Roman" panose="02020603050405020304" pitchFamily="18" charset="0"/>
                <a:cs typeface="Times New Roman" panose="02020603050405020304" pitchFamily="18" charset="0"/>
                <a:sym typeface="Times New Roman"/>
              </a:rPr>
              <a:t>có</a:t>
            </a:r>
            <a:r>
              <a:rPr lang="en-US" sz="1400" dirty="0">
                <a:latin typeface="Times New Roman" panose="02020603050405020304" pitchFamily="18" charset="0"/>
                <a:cs typeface="Times New Roman" panose="02020603050405020304" pitchFamily="18" charset="0"/>
                <a:sym typeface="Times New Roman"/>
              </a:rPr>
              <a:t> </a:t>
            </a:r>
            <a:r>
              <a:rPr lang="en-US" sz="1400" dirty="0" err="1">
                <a:latin typeface="Times New Roman" panose="02020603050405020304" pitchFamily="18" charset="0"/>
                <a:cs typeface="Times New Roman" panose="02020603050405020304" pitchFamily="18" charset="0"/>
                <a:sym typeface="Times New Roman"/>
              </a:rPr>
              <a:t>đủ</a:t>
            </a:r>
            <a:endParaRPr lang="en-US" sz="1400" dirty="0">
              <a:latin typeface="Times New Roman"/>
              <a:cs typeface="Times New Roman"/>
              <a:sym typeface="Times New Roman"/>
            </a:endParaRPr>
          </a:p>
          <a:p>
            <a:pPr marL="285750" indent="-285750">
              <a:lnSpc>
                <a:spcPct val="150000"/>
              </a:lnSpc>
              <a:buClr>
                <a:srgbClr val="000000"/>
              </a:buClr>
              <a:buSzPts val="1300"/>
              <a:buFont typeface="Times New Roman" panose="02020603050405020304" pitchFamily="18" charset="0"/>
              <a:buChar char="⁃"/>
            </a:pPr>
            <a:r>
              <a:rPr lang="en-US" sz="1400" b="1" dirty="0">
                <a:latin typeface="Times New Roman" panose="02020603050405020304" pitchFamily="18" charset="0"/>
                <a:cs typeface="Times New Roman" panose="02020603050405020304" pitchFamily="18" charset="0"/>
              </a:rPr>
              <a:t>Hỏng hóc oven: </a:t>
            </a:r>
            <a:r>
              <a:rPr lang="en-US" sz="1400" dirty="0">
                <a:solidFill>
                  <a:schemeClr val="tx1"/>
                </a:solidFill>
                <a:latin typeface="Times New Roman" panose="02020603050405020304" pitchFamily="18" charset="0"/>
                <a:cs typeface="Times New Roman" panose="02020603050405020304" pitchFamily="18" charset="0"/>
              </a:rPr>
              <a:t>hỏng </a:t>
            </a:r>
            <a:r>
              <a:rPr lang="en-US" sz="1400" dirty="0" err="1">
                <a:solidFill>
                  <a:schemeClr val="tx1"/>
                </a:solidFill>
                <a:latin typeface="Times New Roman" panose="02020603050405020304" pitchFamily="18" charset="0"/>
                <a:cs typeface="Times New Roman" panose="02020603050405020304" pitchFamily="18" charset="0"/>
              </a:rPr>
              <a:t>hóc</a:t>
            </a:r>
            <a:r>
              <a:rPr lang="en-US" sz="1400" dirty="0">
                <a:solidFill>
                  <a:schemeClr val="tx1"/>
                </a:solidFill>
                <a:latin typeface="Times New Roman" panose="02020603050405020304" pitchFamily="18" charset="0"/>
                <a:cs typeface="Times New Roman" panose="02020603050405020304" pitchFamily="18" charset="0"/>
              </a:rPr>
              <a:t> 21ea, khắc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19ea </a:t>
            </a:r>
          </a:p>
          <a:p>
            <a:pPr marL="742950" lvl="1" indent="-285750">
              <a:lnSpc>
                <a:spcPct val="15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Safran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12ea. </a:t>
            </a:r>
            <a:r>
              <a:rPr lang="en-US" sz="1400" dirty="0" err="1">
                <a:solidFill>
                  <a:schemeClr val="tx1"/>
                </a:solidFill>
                <a:latin typeface="Times New Roman" panose="02020603050405020304" pitchFamily="18" charset="0"/>
                <a:cs typeface="Times New Roman" panose="02020603050405020304" pitchFamily="18" charset="0"/>
              </a:rPr>
              <a:t>Hiện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đang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dồn</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cho</a:t>
            </a:r>
            <a:r>
              <a:rPr lang="en-US" sz="1400" dirty="0">
                <a:solidFill>
                  <a:schemeClr val="tx1"/>
                </a:solidFill>
                <a:latin typeface="Times New Roman" panose="02020603050405020304" pitchFamily="18" charset="0"/>
                <a:cs typeface="Times New Roman" panose="02020603050405020304" pitchFamily="18" charset="0"/>
              </a:rPr>
              <a:t> A886 </a:t>
            </a:r>
            <a:r>
              <a:rPr lang="en-US" sz="1400" dirty="0" err="1">
                <a:solidFill>
                  <a:schemeClr val="tx1"/>
                </a:solidFill>
                <a:latin typeface="Times New Roman" panose="02020603050405020304" pitchFamily="18" charset="0"/>
                <a:cs typeface="Times New Roman" panose="02020603050405020304" pitchFamily="18" charset="0"/>
              </a:rPr>
              <a:t>ra</a:t>
            </a:r>
            <a:r>
              <a:rPr lang="en-US" sz="1400" dirty="0">
                <a:solidFill>
                  <a:schemeClr val="tx1"/>
                </a:solidFill>
                <a:latin typeface="Times New Roman" panose="02020603050405020304" pitchFamily="18" charset="0"/>
                <a:cs typeface="Times New Roman" panose="02020603050405020304" pitchFamily="18" charset="0"/>
              </a:rPr>
              <a:t> check (Oven </a:t>
            </a:r>
            <a:r>
              <a:rPr lang="en-US" sz="1400" dirty="0" err="1">
                <a:solidFill>
                  <a:schemeClr val="tx1"/>
                </a:solidFill>
                <a:latin typeface="Times New Roman" panose="02020603050405020304" pitchFamily="18" charset="0"/>
                <a:cs typeface="Times New Roman" panose="02020603050405020304" pitchFamily="18" charset="0"/>
              </a:rPr>
              <a:t>tàu</a:t>
            </a:r>
            <a:r>
              <a:rPr lang="en-US" sz="1400" dirty="0">
                <a:solidFill>
                  <a:schemeClr val="tx1"/>
                </a:solidFill>
                <a:latin typeface="Times New Roman" panose="02020603050405020304" pitchFamily="18" charset="0"/>
                <a:cs typeface="Times New Roman" panose="02020603050405020304" pitchFamily="18" charset="0"/>
              </a:rPr>
              <a:t> A350A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nhiều</a:t>
            </a:r>
            <a:r>
              <a:rPr lang="en-US" sz="1400" dirty="0">
                <a:solidFill>
                  <a:schemeClr val="tx1"/>
                </a:solidFill>
                <a:latin typeface="Times New Roman" panose="02020603050405020304" pitchFamily="18" charset="0"/>
                <a:cs typeface="Times New Roman" panose="02020603050405020304" pitchFamily="18" charset="0"/>
              </a:rPr>
              <a:t>, obsolete =&gt; Safran </a:t>
            </a:r>
            <a:r>
              <a:rPr lang="en-US" sz="1400" dirty="0" err="1">
                <a:solidFill>
                  <a:schemeClr val="tx1"/>
                </a:solidFill>
                <a:latin typeface="Times New Roman" panose="02020603050405020304" pitchFamily="18" charset="0"/>
                <a:cs typeface="Times New Roman" panose="02020603050405020304" pitchFamily="18" charset="0"/>
              </a:rPr>
              <a:t>phương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án</a:t>
            </a:r>
            <a:r>
              <a:rPr lang="en-US" sz="1400" dirty="0">
                <a:solidFill>
                  <a:schemeClr val="tx1"/>
                </a:solidFill>
                <a:latin typeface="Times New Roman" panose="02020603050405020304" pitchFamily="18" charset="0"/>
                <a:cs typeface="Times New Roman" panose="02020603050405020304" pitchFamily="18" charset="0"/>
              </a:rPr>
              <a:t> retrofit – T10/2025)</a:t>
            </a:r>
          </a:p>
          <a:p>
            <a:pPr marL="742950" lvl="1" indent="-285750">
              <a:lnSpc>
                <a:spcPct val="15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Oven A321 </a:t>
            </a:r>
            <a:r>
              <a:rPr lang="en-US" sz="1400" b="1" dirty="0" err="1">
                <a:solidFill>
                  <a:schemeClr val="tx1"/>
                </a:solidFill>
                <a:latin typeface="Times New Roman" panose="02020603050405020304" pitchFamily="18" charset="0"/>
                <a:cs typeface="Times New Roman" panose="02020603050405020304" pitchFamily="18" charset="0"/>
              </a:rPr>
              <a:t>tàu</a:t>
            </a:r>
            <a:r>
              <a:rPr lang="en-US" sz="1400" b="1" dirty="0">
                <a:solidFill>
                  <a:schemeClr val="tx1"/>
                </a:solidFill>
                <a:latin typeface="Times New Roman" panose="02020603050405020304" pitchFamily="18" charset="0"/>
                <a:cs typeface="Times New Roman" panose="02020603050405020304" pitchFamily="18" charset="0"/>
              </a:rPr>
              <a:t> A35X: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6 oven =&gt;  QLVT </a:t>
            </a:r>
            <a:r>
              <a:rPr lang="en-US" sz="1400" dirty="0" err="1">
                <a:solidFill>
                  <a:schemeClr val="tx1"/>
                </a:solidFill>
                <a:latin typeface="Times New Roman" panose="02020603050405020304" pitchFamily="18" charset="0"/>
                <a:cs typeface="Times New Roman" panose="02020603050405020304" pitchFamily="18" charset="0"/>
              </a:rPr>
              <a:t>tìm</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mua</a:t>
            </a:r>
            <a:r>
              <a:rPr lang="en-US" sz="1400" dirty="0">
                <a:solidFill>
                  <a:schemeClr val="tx1"/>
                </a:solidFill>
                <a:latin typeface="Times New Roman" panose="02020603050405020304" pitchFamily="18" charset="0"/>
                <a:cs typeface="Times New Roman" panose="02020603050405020304" pitchFamily="18" charset="0"/>
              </a:rPr>
              <a:t> used part </a:t>
            </a:r>
            <a:r>
              <a:rPr lang="en-US" sz="1400" dirty="0" err="1">
                <a:solidFill>
                  <a:schemeClr val="tx1"/>
                </a:solidFill>
                <a:latin typeface="Times New Roman" panose="02020603050405020304" pitchFamily="18" charset="0"/>
                <a:cs typeface="Times New Roman" panose="02020603050405020304" pitchFamily="18" charset="0"/>
              </a:rPr>
              <a:t>hoặc</a:t>
            </a:r>
            <a:r>
              <a:rPr lang="en-US" sz="1400" dirty="0">
                <a:solidFill>
                  <a:schemeClr val="tx1"/>
                </a:solidFill>
                <a:latin typeface="Times New Roman" panose="02020603050405020304" pitchFamily="18" charset="0"/>
                <a:cs typeface="Times New Roman" panose="02020603050405020304" pitchFamily="18" charset="0"/>
              </a:rPr>
              <a:t> new part (</a:t>
            </a:r>
            <a:r>
              <a:rPr lang="en-US" sz="1400" dirty="0" err="1">
                <a:solidFill>
                  <a:schemeClr val="tx1"/>
                </a:solidFill>
                <a:latin typeface="Times New Roman" panose="02020603050405020304" pitchFamily="18" charset="0"/>
                <a:cs typeface="Times New Roman" panose="02020603050405020304" pitchFamily="18" charset="0"/>
              </a:rPr>
              <a:t>có</a:t>
            </a:r>
            <a:r>
              <a:rPr lang="en-US" sz="1400" dirty="0">
                <a:solidFill>
                  <a:schemeClr val="tx1"/>
                </a:solidFill>
                <a:latin typeface="Times New Roman" panose="02020603050405020304" pitchFamily="18" charset="0"/>
                <a:cs typeface="Times New Roman" panose="02020603050405020304" pitchFamily="18" charset="0"/>
              </a:rPr>
              <a:t> SB </a:t>
            </a:r>
            <a:r>
              <a:rPr lang="en-US" sz="1400" dirty="0" err="1">
                <a:solidFill>
                  <a:schemeClr val="tx1"/>
                </a:solidFill>
                <a:latin typeface="Times New Roman" panose="02020603050405020304" pitchFamily="18" charset="0"/>
                <a:cs typeface="Times New Roman" panose="02020603050405020304" pitchFamily="18" charset="0"/>
              </a:rPr>
              <a:t>nâng</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cấp</a:t>
            </a:r>
            <a:r>
              <a:rPr lang="en-US" sz="1400" dirty="0">
                <a:solidFill>
                  <a:schemeClr val="tx1"/>
                </a:solidFill>
                <a:latin typeface="Times New Roman" panose="02020603050405020304" pitchFamily="18" charset="0"/>
                <a:cs typeface="Times New Roman" panose="02020603050405020304" pitchFamily="18" charset="0"/>
              </a:rPr>
              <a:t>)</a:t>
            </a:r>
          </a:p>
          <a:p>
            <a:pPr marL="742950" lvl="1" indent="-285750">
              <a:lnSpc>
                <a:spcPct val="150000"/>
              </a:lnSpc>
              <a:buClr>
                <a:srgbClr val="000000"/>
              </a:buClr>
              <a:buSzPts val="1300"/>
              <a:buFont typeface="Wingdings" panose="05000000000000000000" pitchFamily="2" charset="2"/>
              <a:buChar char="§"/>
            </a:pPr>
            <a:r>
              <a:rPr lang="en-US" sz="1400" b="1" dirty="0">
                <a:solidFill>
                  <a:schemeClr val="tx1"/>
                </a:solidFill>
                <a:latin typeface="Times New Roman" panose="02020603050405020304" pitchFamily="18" charset="0"/>
                <a:cs typeface="Times New Roman" panose="02020603050405020304" pitchFamily="18" charset="0"/>
              </a:rPr>
              <a:t>A886 </a:t>
            </a:r>
            <a:r>
              <a:rPr lang="en-US" sz="1400" b="1" dirty="0" err="1">
                <a:solidFill>
                  <a:schemeClr val="tx1"/>
                </a:solidFill>
                <a:latin typeface="Times New Roman" panose="02020603050405020304" pitchFamily="18" charset="0"/>
                <a:cs typeface="Times New Roman" panose="02020603050405020304" pitchFamily="18" charset="0"/>
              </a:rPr>
              <a:t>cần</a:t>
            </a:r>
            <a:r>
              <a:rPr lang="en-US" sz="1400" b="1" dirty="0">
                <a:solidFill>
                  <a:schemeClr val="tx1"/>
                </a:solidFill>
                <a:latin typeface="Times New Roman" panose="02020603050405020304" pitchFamily="18" charset="0"/>
                <a:cs typeface="Times New Roman" panose="02020603050405020304" pitchFamily="18" charset="0"/>
              </a:rPr>
              <a:t> 10 oven RTS: </a:t>
            </a:r>
            <a:r>
              <a:rPr lang="en-US" sz="1400" b="1" dirty="0" err="1">
                <a:solidFill>
                  <a:schemeClr val="tx1"/>
                </a:solidFill>
                <a:latin typeface="Times New Roman" panose="02020603050405020304" pitchFamily="18" charset="0"/>
                <a:cs typeface="Times New Roman" panose="02020603050405020304" pitchFamily="18" charset="0"/>
              </a:rPr>
              <a:t>lịch</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vật</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tư</a:t>
            </a:r>
            <a:r>
              <a:rPr lang="en-US" sz="1400" b="1" dirty="0">
                <a:solidFill>
                  <a:schemeClr val="tx1"/>
                </a:solidFill>
                <a:latin typeface="Times New Roman" panose="02020603050405020304" pitchFamily="18" charset="0"/>
                <a:cs typeface="Times New Roman" panose="02020603050405020304" pitchFamily="18" charset="0"/>
              </a:rPr>
              <a:t>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- 03ea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30/06, 04ea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02/07, 03ea </a:t>
            </a:r>
            <a:r>
              <a:rPr lang="en-US" sz="1400" b="1" dirty="0" err="1">
                <a:solidFill>
                  <a:schemeClr val="tx1"/>
                </a:solidFill>
                <a:latin typeface="Times New Roman" panose="02020603050405020304" pitchFamily="18" charset="0"/>
                <a:cs typeface="Times New Roman" panose="02020603050405020304" pitchFamily="18" charset="0"/>
              </a:rPr>
              <a:t>giao</a:t>
            </a:r>
            <a:r>
              <a:rPr lang="en-US" sz="1400" b="1" dirty="0">
                <a:solidFill>
                  <a:schemeClr val="tx1"/>
                </a:solidFill>
                <a:latin typeface="Times New Roman" panose="02020603050405020304" pitchFamily="18" charset="0"/>
                <a:cs typeface="Times New Roman" panose="02020603050405020304" pitchFamily="18" charset="0"/>
              </a:rPr>
              <a:t> 03/07</a:t>
            </a:r>
          </a:p>
          <a:p>
            <a:pPr marL="285750" indent="-285750">
              <a:lnSpc>
                <a:spcPct val="150000"/>
              </a:lnSpc>
              <a:buClr>
                <a:srgbClr val="000000"/>
              </a:buClr>
              <a:buSzPts val="1300"/>
              <a:buFont typeface="Times New Roman" panose="02020603050405020304" pitchFamily="18" charset="0"/>
              <a:buChar char="⁃"/>
            </a:pPr>
            <a:r>
              <a:rPr lang="en-US" sz="1400" b="1" dirty="0">
                <a:solidFill>
                  <a:schemeClr val="tx1"/>
                </a:solidFill>
                <a:latin typeface="Times New Roman" panose="02020603050405020304" pitchFamily="18" charset="0"/>
                <a:cs typeface="Times New Roman" panose="02020603050405020304" pitchFamily="18" charset="0"/>
              </a:rPr>
              <a:t>Boiler: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02ea,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3" name="TextBox 22"/>
          <p:cNvSpPr txBox="1"/>
          <p:nvPr/>
        </p:nvSpPr>
        <p:spPr>
          <a:xfrm>
            <a:off x="376712" y="1761280"/>
            <a:ext cx="11674150" cy="102290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a:latin typeface="Times New Roman" panose="02020603050405020304" pitchFamily="18" charset="0"/>
                <a:cs typeface="Times New Roman" panose="02020603050405020304" pitchFamily="18" charset="0"/>
              </a:rPr>
              <a:t>IFE: Thales SVDU (A350/B787): </a:t>
            </a:r>
            <a:r>
              <a:rPr lang="en-US" sz="1400" dirty="0">
                <a:latin typeface="Times New Roman" panose="02020603050405020304" pitchFamily="18" charset="0"/>
                <a:cs typeface="Times New Roman" panose="02020603050405020304" pitchFamily="18" charset="0"/>
              </a:rPr>
              <a:t>replaced </a:t>
            </a:r>
            <a:r>
              <a:rPr lang="en-GB" sz="1400" b="1" dirty="0">
                <a:solidFill>
                  <a:schemeClr val="tx1"/>
                </a:solidFill>
                <a:latin typeface="Times New Roman" panose="02020603050405020304" pitchFamily="18" charset="0"/>
                <a:cs typeface="Times New Roman" panose="02020603050405020304" pitchFamily="18" charset="0"/>
              </a:rPr>
              <a:t>3251/3347</a:t>
            </a:r>
            <a:r>
              <a:rPr lang="en-GB" sz="1400" dirty="0">
                <a:solidFill>
                  <a:schemeClr val="tx1"/>
                </a:solidFill>
                <a:latin typeface="Times New Roman" panose="02020603050405020304" pitchFamily="18" charset="0"/>
                <a:cs typeface="Times New Roman" panose="02020603050405020304" pitchFamily="18" charset="0"/>
              </a:rPr>
              <a:t> </a:t>
            </a:r>
            <a:r>
              <a:rPr lang="en-GB" sz="1400" b="1" dirty="0">
                <a:solidFill>
                  <a:schemeClr val="tx1"/>
                </a:solidFill>
                <a:latin typeface="Times New Roman" panose="02020603050405020304" pitchFamily="18" charset="0"/>
                <a:cs typeface="Times New Roman" panose="02020603050405020304" pitchFamily="18" charset="0"/>
              </a:rPr>
              <a:t>SVDU</a:t>
            </a:r>
            <a:r>
              <a:rPr lang="en-US" sz="1400" b="1" dirty="0">
                <a:latin typeface="Times New Roman" panose="02020603050405020304" pitchFamily="18" charset="0"/>
                <a:cs typeface="Times New Roman" panose="02020603050405020304" pitchFamily="18" charset="0"/>
              </a:rPr>
              <a:t> (</a:t>
            </a:r>
            <a:r>
              <a:rPr lang="en-US" sz="1400" b="1" dirty="0" err="1">
                <a:latin typeface="Times New Roman" panose="02020603050405020304" pitchFamily="18" charset="0"/>
                <a:cs typeface="Times New Roman" panose="02020603050405020304" pitchFamily="18" charset="0"/>
              </a:rPr>
              <a:t>còn</a:t>
            </a:r>
            <a:r>
              <a:rPr lang="en-US" sz="1400" b="1" dirty="0">
                <a:latin typeface="Times New Roman" panose="02020603050405020304" pitchFamily="18" charset="0"/>
                <a:cs typeface="Times New Roman" panose="02020603050405020304" pitchFamily="18" charset="0"/>
              </a:rPr>
              <a:t> 96 INOP SVDU). </a:t>
            </a:r>
            <a:r>
              <a:rPr lang="en-US" sz="1400" dirty="0">
                <a:solidFill>
                  <a:schemeClr val="tx1"/>
                </a:solidFill>
                <a:latin typeface="Times New Roman" panose="02020603050405020304" pitchFamily="18" charset="0"/>
                <a:cs typeface="Times New Roman" panose="02020603050405020304" pitchFamily="18" charset="0"/>
              </a:rPr>
              <a:t>Trong </a:t>
            </a:r>
            <a:r>
              <a:rPr lang="en-US" sz="1400" dirty="0" err="1">
                <a:solidFill>
                  <a:schemeClr val="tx1"/>
                </a:solidFill>
                <a:latin typeface="Times New Roman" panose="02020603050405020304" pitchFamily="18" charset="0"/>
                <a:cs typeface="Times New Roman" panose="02020603050405020304" pitchFamily="18" charset="0"/>
              </a:rPr>
              <a:t>tuần</a:t>
            </a:r>
            <a:r>
              <a:rPr lang="en-US" sz="1400" dirty="0">
                <a:solidFill>
                  <a:schemeClr val="tx1"/>
                </a:solidFill>
                <a:latin typeface="Times New Roman" panose="02020603050405020304" pitchFamily="18" charset="0"/>
                <a:cs typeface="Times New Roman" panose="02020603050405020304" pitchFamily="18" charset="0"/>
              </a:rPr>
              <a:t> 25:  hỏng </a:t>
            </a:r>
            <a:r>
              <a:rPr lang="en-US" sz="1400" dirty="0" err="1">
                <a:solidFill>
                  <a:schemeClr val="tx1"/>
                </a:solidFill>
                <a:latin typeface="Times New Roman" panose="02020603050405020304" pitchFamily="18" charset="0"/>
                <a:cs typeface="Times New Roman" panose="02020603050405020304" pitchFamily="18" charset="0"/>
              </a:rPr>
              <a:t>mới</a:t>
            </a:r>
            <a:r>
              <a:rPr lang="en-US" sz="1400" dirty="0">
                <a:solidFill>
                  <a:schemeClr val="tx1"/>
                </a:solidFill>
                <a:latin typeface="Times New Roman" panose="02020603050405020304" pitchFamily="18" charset="0"/>
                <a:cs typeface="Times New Roman" panose="02020603050405020304" pitchFamily="18" charset="0"/>
              </a:rPr>
              <a:t> 15 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33ea. </a:t>
            </a:r>
            <a:endParaRPr lang="en-GB" sz="14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1400" dirty="0">
                <a:latin typeface="Times New Roman" panose="02020603050405020304" pitchFamily="18" charset="0"/>
                <a:cs typeface="Times New Roman" panose="02020603050405020304" pitchFamily="18" charset="0"/>
              </a:rPr>
              <a:t>=&gt; </a:t>
            </a:r>
            <a:r>
              <a:rPr lang="vi-VN" sz="1400" dirty="0"/>
              <a:t>Hỏng hóc</a:t>
            </a:r>
            <a:r>
              <a:rPr lang="en-US" sz="1400" dirty="0"/>
              <a:t> </a:t>
            </a:r>
            <a:r>
              <a:rPr lang="en-US" sz="1400" dirty="0" err="1"/>
              <a:t>tăng</a:t>
            </a:r>
            <a:r>
              <a:rPr lang="en-US" sz="1400" dirty="0"/>
              <a:t> </a:t>
            </a:r>
            <a:r>
              <a:rPr lang="en-US" sz="1400" dirty="0" err="1"/>
              <a:t>trở</a:t>
            </a:r>
            <a:r>
              <a:rPr lang="en-US" sz="1400" dirty="0"/>
              <a:t> </a:t>
            </a:r>
            <a:r>
              <a:rPr lang="en-US" sz="1400" dirty="0" err="1"/>
              <a:t>lại</a:t>
            </a:r>
            <a:r>
              <a:rPr lang="en-US" sz="1400" dirty="0"/>
              <a:t> </a:t>
            </a:r>
            <a:r>
              <a:rPr lang="en-US" sz="1400" dirty="0" err="1"/>
              <a:t>các</a:t>
            </a:r>
            <a:r>
              <a:rPr lang="en-US" sz="1400" dirty="0"/>
              <a:t> </a:t>
            </a:r>
            <a:r>
              <a:rPr lang="en-US" sz="1400" dirty="0" err="1"/>
              <a:t>khối</a:t>
            </a:r>
            <a:r>
              <a:rPr lang="en-US" sz="1400" dirty="0"/>
              <a:t> pre-mod intermittent</a:t>
            </a:r>
            <a:br>
              <a:rPr lang="en-US" sz="1400" dirty="0"/>
            </a:br>
            <a:r>
              <a:rPr lang="en-US" sz="1400" dirty="0"/>
              <a:t>=&gt; </a:t>
            </a:r>
            <a:r>
              <a:rPr lang="en-US" sz="1400" dirty="0" err="1"/>
              <a:t>Vật</a:t>
            </a:r>
            <a:r>
              <a:rPr lang="en-US" sz="1400" dirty="0"/>
              <a:t> </a:t>
            </a:r>
            <a:r>
              <a:rPr lang="en-US" sz="1400" dirty="0" err="1"/>
              <a:t>tư</a:t>
            </a:r>
            <a:r>
              <a:rPr lang="en-US" sz="1400" dirty="0"/>
              <a:t> quay </a:t>
            </a:r>
            <a:r>
              <a:rPr lang="en-US" sz="1400" dirty="0" err="1"/>
              <a:t>vòng</a:t>
            </a:r>
            <a:r>
              <a:rPr lang="en-US" sz="1400" dirty="0"/>
              <a:t> it (130 </a:t>
            </a:r>
            <a:r>
              <a:rPr lang="en-US" sz="1400" dirty="0" err="1"/>
              <a:t>ea</a:t>
            </a:r>
            <a:r>
              <a:rPr lang="en-US" sz="1400" dirty="0"/>
              <a:t>) do </a:t>
            </a:r>
            <a:r>
              <a:rPr lang="en-US" sz="1400" dirty="0" err="1"/>
              <a:t>tàu</a:t>
            </a:r>
            <a:r>
              <a:rPr lang="en-US" sz="1400" dirty="0"/>
              <a:t> A898 </a:t>
            </a:r>
            <a:r>
              <a:rPr lang="en-US" sz="1400" dirty="0" err="1"/>
              <a:t>đã</a:t>
            </a:r>
            <a:r>
              <a:rPr lang="en-US" sz="1400" dirty="0"/>
              <a:t> RTS =&gt; </a:t>
            </a:r>
            <a:r>
              <a:rPr lang="en-US" sz="1400" dirty="0" err="1"/>
              <a:t>cần</a:t>
            </a:r>
            <a:r>
              <a:rPr lang="en-US" sz="1400" dirty="0"/>
              <a:t> </a:t>
            </a:r>
            <a:r>
              <a:rPr lang="en-US" sz="1400" dirty="0" err="1"/>
              <a:t>cân</a:t>
            </a:r>
            <a:r>
              <a:rPr lang="en-US" sz="1400" dirty="0"/>
              <a:t> </a:t>
            </a:r>
            <a:r>
              <a:rPr lang="en-US" sz="1400" dirty="0" err="1"/>
              <a:t>đối</a:t>
            </a:r>
            <a:r>
              <a:rPr lang="en-US" sz="1400" dirty="0"/>
              <a:t> </a:t>
            </a:r>
            <a:r>
              <a:rPr lang="en-US" sz="1400" dirty="0" err="1"/>
              <a:t>vật</a:t>
            </a:r>
            <a:r>
              <a:rPr lang="en-US" sz="1400" dirty="0"/>
              <a:t> </a:t>
            </a:r>
            <a:r>
              <a:rPr lang="en-US" sz="1400" dirty="0" err="1"/>
              <a:t>tư</a:t>
            </a:r>
            <a:r>
              <a:rPr lang="en-US" sz="1400" dirty="0"/>
              <a:t> </a:t>
            </a:r>
            <a:r>
              <a:rPr lang="en-US" sz="1400" dirty="0" err="1"/>
              <a:t>khắc</a:t>
            </a:r>
            <a:r>
              <a:rPr lang="en-US" sz="1400" dirty="0"/>
              <a:t> </a:t>
            </a:r>
            <a:r>
              <a:rPr lang="en-US" sz="1400" dirty="0" err="1"/>
              <a:t>phục</a:t>
            </a:r>
            <a:r>
              <a:rPr lang="en-US" sz="1400" dirty="0"/>
              <a:t> </a:t>
            </a:r>
            <a:r>
              <a:rPr lang="en-US" sz="1400" dirty="0" err="1"/>
              <a:t>hỏng</a:t>
            </a:r>
            <a:r>
              <a:rPr lang="en-US" sz="1400" dirty="0"/>
              <a:t> </a:t>
            </a:r>
            <a:r>
              <a:rPr lang="en-US" sz="1400" dirty="0" err="1"/>
              <a:t>hóc</a:t>
            </a:r>
            <a:r>
              <a:rPr lang="en-US" sz="1400" dirty="0"/>
              <a:t> </a:t>
            </a:r>
            <a:r>
              <a:rPr lang="en-US" sz="1400" dirty="0" err="1"/>
              <a:t>và</a:t>
            </a:r>
            <a:r>
              <a:rPr lang="en-US" sz="1400" dirty="0"/>
              <a:t> </a:t>
            </a:r>
            <a:r>
              <a:rPr lang="en-US" sz="1400" dirty="0" err="1"/>
              <a:t>chuẩn</a:t>
            </a:r>
            <a:r>
              <a:rPr lang="en-US" sz="1400" dirty="0"/>
              <a:t> </a:t>
            </a:r>
            <a:r>
              <a:rPr lang="en-US" sz="1400" dirty="0" err="1"/>
              <a:t>bị</a:t>
            </a:r>
            <a:r>
              <a:rPr lang="en-US" sz="1400" dirty="0"/>
              <a:t> RTS A895 (</a:t>
            </a:r>
            <a:r>
              <a:rPr lang="en-US" sz="1400" dirty="0" err="1"/>
              <a:t>đang</a:t>
            </a:r>
            <a:r>
              <a:rPr lang="en-US" sz="1400" dirty="0"/>
              <a:t> </a:t>
            </a:r>
            <a:r>
              <a:rPr lang="en-US" sz="1400" dirty="0" err="1"/>
              <a:t>thiếu</a:t>
            </a:r>
            <a:r>
              <a:rPr lang="en-US" sz="1400" dirty="0"/>
              <a:t> 150 SVDU).</a:t>
            </a:r>
            <a:endParaRPr lang="en-US" sz="1400" dirty="0">
              <a:latin typeface="Times New Roman" panose="02020603050405020304" pitchFamily="18" charset="0"/>
              <a:cs typeface="Times New Roman" panose="02020603050405020304" pitchFamily="18" charset="0"/>
            </a:endParaRPr>
          </a:p>
        </p:txBody>
      </p:sp>
      <p:sp>
        <p:nvSpPr>
          <p:cNvPr id="25" name="TextBox 24"/>
          <p:cNvSpPr txBox="1"/>
          <p:nvPr/>
        </p:nvSpPr>
        <p:spPr>
          <a:xfrm>
            <a:off x="376712" y="2751880"/>
            <a:ext cx="11673030" cy="95410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LAV:</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Toilet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07 </a:t>
            </a:r>
            <a:r>
              <a:rPr lang="en-US" sz="1400" dirty="0" err="1">
                <a:solidFill>
                  <a:schemeClr val="tx1"/>
                </a:solidFill>
                <a:latin typeface="Times New Roman" panose="02020603050405020304" pitchFamily="18" charset="0"/>
                <a:cs typeface="Times New Roman" panose="02020603050405020304" pitchFamily="18" charset="0"/>
              </a:rPr>
              <a:t>ea</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03ea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Faucet Assy: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04ea,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00ea,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04ea</a:t>
            </a:r>
          </a:p>
          <a:p>
            <a:pPr marL="285750" indent="-285750">
              <a:buFontTx/>
              <a:buChar char="-"/>
            </a:pPr>
            <a:r>
              <a:rPr lang="en-US" sz="1400" b="1" dirty="0">
                <a:solidFill>
                  <a:schemeClr val="tx1"/>
                </a:solidFill>
                <a:latin typeface="Times New Roman" panose="02020603050405020304" pitchFamily="18" charset="0"/>
                <a:cs typeface="Times New Roman" panose="02020603050405020304" pitchFamily="18" charset="0"/>
              </a:rPr>
              <a:t>Basin: </a:t>
            </a:r>
            <a:r>
              <a:rPr lang="en-US" sz="1400" dirty="0" err="1">
                <a:solidFill>
                  <a:schemeClr val="tx1"/>
                </a:solidFill>
                <a:latin typeface="Times New Roman" panose="02020603050405020304" pitchFamily="18" charset="0"/>
                <a:cs typeface="Times New Roman" panose="02020603050405020304" pitchFamily="18" charset="0"/>
              </a:rPr>
              <a:t>hỏng</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khắc</a:t>
            </a:r>
            <a:r>
              <a:rPr lang="en-US" sz="1400" dirty="0">
                <a:solidFill>
                  <a:schemeClr val="tx1"/>
                </a:solidFill>
                <a:latin typeface="Times New Roman" panose="02020603050405020304" pitchFamily="18" charset="0"/>
                <a:cs typeface="Times New Roman" panose="02020603050405020304" pitchFamily="18" charset="0"/>
              </a:rPr>
              <a:t> </a:t>
            </a:r>
            <a:r>
              <a:rPr lang="en-US" sz="1400" dirty="0" err="1">
                <a:solidFill>
                  <a:schemeClr val="tx1"/>
                </a:solidFill>
                <a:latin typeface="Times New Roman" panose="02020603050405020304" pitchFamily="18" charset="0"/>
                <a:cs typeface="Times New Roman" panose="02020603050405020304" pitchFamily="18" charset="0"/>
              </a:rPr>
              <a:t>phục</a:t>
            </a:r>
            <a:r>
              <a:rPr lang="en-US" sz="1400" dirty="0">
                <a:solidFill>
                  <a:schemeClr val="tx1"/>
                </a:solidFill>
                <a:latin typeface="Times New Roman" panose="02020603050405020304" pitchFamily="18" charset="0"/>
                <a:cs typeface="Times New Roman" panose="02020603050405020304" pitchFamily="18" charset="0"/>
              </a:rPr>
              <a:t> 01ea, </a:t>
            </a:r>
            <a:r>
              <a:rPr lang="en-US" sz="1400" dirty="0" err="1">
                <a:solidFill>
                  <a:schemeClr val="tx1"/>
                </a:solidFill>
                <a:latin typeface="Times New Roman" panose="02020603050405020304" pitchFamily="18" charset="0"/>
                <a:cs typeface="Times New Roman" panose="02020603050405020304" pitchFamily="18" charset="0"/>
              </a:rPr>
              <a:t>tồn</a:t>
            </a:r>
            <a:r>
              <a:rPr lang="en-US" sz="1400" dirty="0">
                <a:solidFill>
                  <a:schemeClr val="tx1"/>
                </a:solidFill>
                <a:latin typeface="Times New Roman" panose="02020603050405020304" pitchFamily="18" charset="0"/>
                <a:cs typeface="Times New Roman" panose="02020603050405020304" pitchFamily="18" charset="0"/>
              </a:rPr>
              <a:t> 00ea</a:t>
            </a:r>
          </a:p>
        </p:txBody>
      </p:sp>
      <p:sp>
        <p:nvSpPr>
          <p:cNvPr id="26" name="TextBox 25"/>
          <p:cNvSpPr txBox="1"/>
          <p:nvPr/>
        </p:nvSpPr>
        <p:spPr>
          <a:xfrm>
            <a:off x="365449" y="533400"/>
            <a:ext cx="11674150" cy="30777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400" b="1" dirty="0">
                <a:latin typeface="Times New Roman" panose="02020603050405020304" pitchFamily="18" charset="0"/>
                <a:cs typeface="Times New Roman" panose="02020603050405020304" pitchFamily="18" charset="0"/>
              </a:rPr>
              <a:t>ADD ảnh hưởng dịch vụ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26: </a:t>
            </a:r>
            <a:r>
              <a:rPr lang="en-US" sz="1400" dirty="0" err="1">
                <a:latin typeface="Times New Roman" panose="02020603050405020304" pitchFamily="18" charset="0"/>
                <a:cs typeface="Times New Roman" panose="02020603050405020304" pitchFamily="18" charset="0"/>
              </a:rPr>
              <a:t>Tổng</a:t>
            </a:r>
            <a:r>
              <a:rPr lang="en-US" sz="1400" dirty="0">
                <a:latin typeface="Times New Roman" panose="02020603050405020304" pitchFamily="18" charset="0"/>
                <a:cs typeface="Times New Roman" panose="02020603050405020304" pitchFamily="18" charset="0"/>
              </a:rPr>
              <a:t> 237 (</a:t>
            </a:r>
            <a:r>
              <a:rPr lang="en-US" sz="1400" dirty="0" err="1">
                <a:latin typeface="Times New Roman" panose="02020603050405020304" pitchFamily="18" charset="0"/>
                <a:cs typeface="Times New Roman" panose="02020603050405020304" pitchFamily="18" charset="0"/>
              </a:rPr>
              <a:t>giảm</a:t>
            </a:r>
            <a:r>
              <a:rPr lang="en-US" sz="1400" dirty="0">
                <a:latin typeface="Times New Roman" panose="02020603050405020304" pitchFamily="18" charset="0"/>
                <a:cs typeface="Times New Roman" panose="02020603050405020304" pitchFamily="18" charset="0"/>
              </a:rPr>
              <a:t>  10% so </a:t>
            </a:r>
            <a:r>
              <a:rPr lang="en-US" sz="1400" dirty="0" err="1">
                <a:latin typeface="Times New Roman" panose="02020603050405020304" pitchFamily="18" charset="0"/>
                <a:cs typeface="Times New Roman" panose="02020603050405020304" pitchFamily="18" charset="0"/>
              </a:rPr>
              <a:t>với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tuần</a:t>
            </a:r>
            <a:r>
              <a:rPr lang="en-US" sz="1400" dirty="0">
                <a:latin typeface="Times New Roman" panose="02020603050405020304" pitchFamily="18" charset="0"/>
                <a:cs typeface="Times New Roman" panose="02020603050405020304" pitchFamily="18" charset="0"/>
              </a:rPr>
              <a:t> 25), khắc </a:t>
            </a:r>
            <a:r>
              <a:rPr lang="en-US" sz="1400" dirty="0" err="1">
                <a:latin typeface="Times New Roman" panose="02020603050405020304" pitchFamily="18" charset="0"/>
                <a:cs typeface="Times New Roman" panose="02020603050405020304" pitchFamily="18" charset="0"/>
              </a:rPr>
              <a:t>phục</a:t>
            </a:r>
            <a:r>
              <a:rPr lang="en-US" sz="1400" dirty="0">
                <a:latin typeface="Times New Roman" panose="02020603050405020304" pitchFamily="18" charset="0"/>
                <a:cs typeface="Times New Roman" panose="02020603050405020304" pitchFamily="18" charset="0"/>
              </a:rPr>
              <a:t> 80 ADD =&gt; tồn </a:t>
            </a:r>
            <a:r>
              <a:rPr lang="en-US" sz="1400" dirty="0" err="1">
                <a:latin typeface="Times New Roman" panose="02020603050405020304" pitchFamily="18" charset="0"/>
                <a:cs typeface="Times New Roman" panose="02020603050405020304" pitchFamily="18" charset="0"/>
              </a:rPr>
              <a:t>đọng</a:t>
            </a: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157 ADD</a:t>
            </a:r>
            <a:r>
              <a:rPr lang="en-US" sz="1400" dirty="0">
                <a:latin typeface="Times New Roman" panose="02020603050405020304" pitchFamily="18" charset="0"/>
                <a:cs typeface="Times New Roman" panose="02020603050405020304" pitchFamily="18" charset="0"/>
              </a:rPr>
              <a:t> </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tương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đương</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so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với</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14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400" dirty="0">
                <a:solidFill>
                  <a:schemeClr val="tx1">
                    <a:lumMod val="65000"/>
                    <a:lumOff val="35000"/>
                  </a:schemeClr>
                </a:solidFill>
                <a:latin typeface="Times New Roman" panose="02020603050405020304" pitchFamily="18" charset="0"/>
                <a:cs typeface="Times New Roman" panose="02020603050405020304" pitchFamily="18" charset="0"/>
              </a:rPr>
              <a:t> 25).</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50" y="770680"/>
            <a:ext cx="11674150" cy="10231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50000"/>
              </a:lnSpc>
            </a:pPr>
            <a:r>
              <a:rPr lang="en-US" sz="1400" b="1" dirty="0" err="1">
                <a:latin typeface="Times New Roman" panose="02020603050405020304" pitchFamily="18" charset="0"/>
                <a:cs typeface="Times New Roman" panose="02020603050405020304" pitchFamily="18" charset="0"/>
              </a:rPr>
              <a:t>Hỏng</a:t>
            </a:r>
            <a:r>
              <a:rPr lang="en-US" sz="1400" b="1" dirty="0">
                <a:latin typeface="Times New Roman" panose="02020603050405020304" pitchFamily="18" charset="0"/>
                <a:cs typeface="Times New Roman" panose="02020603050405020304" pitchFamily="18" charset="0"/>
              </a:rPr>
              <a:t> hóc Ghế thuộc diện cắt khách </a:t>
            </a:r>
            <a:r>
              <a:rPr lang="en-US" sz="1400" b="1" dirty="0" err="1">
                <a:latin typeface="Times New Roman" panose="02020603050405020304" pitchFamily="18" charset="0"/>
                <a:cs typeface="Times New Roman" panose="02020603050405020304" pitchFamily="18" charset="0"/>
              </a:rPr>
              <a:t>tuần</a:t>
            </a:r>
            <a:r>
              <a:rPr lang="en-US" sz="1400" b="1" dirty="0">
                <a:latin typeface="Times New Roman" panose="02020603050405020304" pitchFamily="18" charset="0"/>
                <a:cs typeface="Times New Roman" panose="02020603050405020304" pitchFamily="18" charset="0"/>
              </a:rPr>
              <a:t> 26</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05, </a:t>
            </a:r>
            <a:r>
              <a:rPr lang="en-US" sz="1400" dirty="0" err="1">
                <a:solidFill>
                  <a:srgbClr val="FF0000"/>
                </a:solidFill>
                <a:latin typeface="Times New Roman" panose="02020603050405020304" pitchFamily="18" charset="0"/>
                <a:cs typeface="Times New Roman" panose="02020603050405020304" pitchFamily="18" charset="0"/>
              </a:rPr>
              <a:t>khắc</a:t>
            </a:r>
            <a:r>
              <a:rPr lang="en-US" sz="1400"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04,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01.</a:t>
            </a:r>
          </a:p>
          <a:p>
            <a:pPr marL="285750" indent="-285750">
              <a:lnSpc>
                <a:spcPct val="150000"/>
              </a:lnSpc>
              <a:buFontTx/>
              <a:buChar char="-"/>
            </a:pPr>
            <a:r>
              <a:rPr lang="en-US" sz="1400" b="1" dirty="0" err="1">
                <a:latin typeface="Times New Roman" panose="02020603050405020304" pitchFamily="18" charset="0"/>
                <a:cs typeface="Times New Roman" panose="02020603050405020304" pitchFamily="18" charset="0"/>
              </a:rPr>
              <a:t>Ghế</a:t>
            </a:r>
            <a:r>
              <a:rPr lang="en-US" sz="1400" b="1" dirty="0">
                <a:latin typeface="Times New Roman" panose="02020603050405020304" pitchFamily="18" charset="0"/>
                <a:cs typeface="Times New Roman" panose="02020603050405020304" pitchFamily="18" charset="0"/>
              </a:rPr>
              <a:t> Y</a:t>
            </a:r>
            <a:r>
              <a:rPr lang="en-US" sz="1400" b="1" dirty="0">
                <a:solidFill>
                  <a:srgbClr val="FF0000"/>
                </a:solidFill>
                <a:latin typeface="Times New Roman" panose="02020603050405020304" pitchFamily="18" charset="0"/>
                <a:cs typeface="Times New Roman" panose="02020603050405020304" pitchFamily="18" charset="0"/>
              </a:rPr>
              <a:t>: </a:t>
            </a:r>
            <a:r>
              <a:rPr lang="en-US" sz="1400" dirty="0" err="1">
                <a:solidFill>
                  <a:srgbClr val="FF0000"/>
                </a:solidFill>
                <a:latin typeface="Times New Roman" panose="02020603050405020304" pitchFamily="18" charset="0"/>
                <a:cs typeface="Times New Roman" panose="02020603050405020304" pitchFamily="18" charset="0"/>
              </a:rPr>
              <a:t>hỏng</a:t>
            </a:r>
            <a:r>
              <a:rPr lang="en-US" sz="1400" dirty="0">
                <a:solidFill>
                  <a:srgbClr val="FF0000"/>
                </a:solidFill>
                <a:latin typeface="Times New Roman" panose="02020603050405020304" pitchFamily="18" charset="0"/>
                <a:cs typeface="Times New Roman" panose="02020603050405020304" pitchFamily="18" charset="0"/>
              </a:rPr>
              <a:t> 14 đã khắc </a:t>
            </a:r>
            <a:r>
              <a:rPr lang="en-US" sz="1400" dirty="0" err="1">
                <a:solidFill>
                  <a:srgbClr val="FF0000"/>
                </a:solidFill>
                <a:latin typeface="Times New Roman" panose="02020603050405020304" pitchFamily="18" charset="0"/>
                <a:cs typeface="Times New Roman" panose="02020603050405020304" pitchFamily="18" charset="0"/>
              </a:rPr>
              <a:t>phục</a:t>
            </a:r>
            <a:r>
              <a:rPr lang="en-US" sz="1400" dirty="0">
                <a:solidFill>
                  <a:srgbClr val="FF0000"/>
                </a:solidFill>
                <a:latin typeface="Times New Roman" panose="02020603050405020304" pitchFamily="18" charset="0"/>
                <a:cs typeface="Times New Roman" panose="02020603050405020304" pitchFamily="18" charset="0"/>
              </a:rPr>
              <a:t> 09, </a:t>
            </a:r>
            <a:r>
              <a:rPr lang="en-US" sz="1400" dirty="0" err="1">
                <a:solidFill>
                  <a:srgbClr val="FF0000"/>
                </a:solidFill>
                <a:latin typeface="Times New Roman" panose="02020603050405020304" pitchFamily="18" charset="0"/>
                <a:cs typeface="Times New Roman" panose="02020603050405020304" pitchFamily="18" charset="0"/>
              </a:rPr>
              <a:t>tồn</a:t>
            </a:r>
            <a:r>
              <a:rPr lang="en-US" sz="1400" dirty="0">
                <a:solidFill>
                  <a:srgbClr val="FF0000"/>
                </a:solidFill>
                <a:latin typeface="Times New Roman" panose="02020603050405020304" pitchFamily="18" charset="0"/>
                <a:cs typeface="Times New Roman" panose="02020603050405020304" pitchFamily="18" charset="0"/>
              </a:rPr>
              <a:t> 05</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399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43</a:t>
            </a:fld>
            <a:endParaRPr lang="en-US"/>
          </a:p>
        </p:txBody>
      </p:sp>
      <p:sp>
        <p:nvSpPr>
          <p:cNvPr id="5" name="Title 4"/>
          <p:cNvSpPr>
            <a:spLocks noGrp="1"/>
          </p:cNvSpPr>
          <p:nvPr>
            <p:ph type="title"/>
          </p:nvPr>
        </p:nvSpPr>
        <p:spPr>
          <a:xfrm>
            <a:off x="914400" y="762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1618405697"/>
              </p:ext>
            </p:extLst>
          </p:nvPr>
        </p:nvGraphicFramePr>
        <p:xfrm>
          <a:off x="4151862" y="558245"/>
          <a:ext cx="4116876" cy="23593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p:cNvGraphicFramePr>
            <a:graphicFrameLocks noGrp="1"/>
          </p:cNvGraphicFramePr>
          <p:nvPr>
            <p:extLst>
              <p:ext uri="{D42A27DB-BD31-4B8C-83A1-F6EECF244321}">
                <p14:modId xmlns:p14="http://schemas.microsoft.com/office/powerpoint/2010/main" val="806306466"/>
              </p:ext>
            </p:extLst>
          </p:nvPr>
        </p:nvGraphicFramePr>
        <p:xfrm>
          <a:off x="781010" y="3048000"/>
          <a:ext cx="10515601" cy="2626487"/>
        </p:xfrm>
        <a:graphic>
          <a:graphicData uri="http://schemas.openxmlformats.org/drawingml/2006/table">
            <a:tbl>
              <a:tblPr/>
              <a:tblGrid>
                <a:gridCol w="240759">
                  <a:extLst>
                    <a:ext uri="{9D8B030D-6E8A-4147-A177-3AD203B41FA5}">
                      <a16:colId xmlns:a16="http://schemas.microsoft.com/office/drawing/2014/main" val="1746801134"/>
                    </a:ext>
                  </a:extLst>
                </a:gridCol>
                <a:gridCol w="1539402">
                  <a:extLst>
                    <a:ext uri="{9D8B030D-6E8A-4147-A177-3AD203B41FA5}">
                      <a16:colId xmlns:a16="http://schemas.microsoft.com/office/drawing/2014/main" val="149603244"/>
                    </a:ext>
                  </a:extLst>
                </a:gridCol>
                <a:gridCol w="496111">
                  <a:extLst>
                    <a:ext uri="{9D8B030D-6E8A-4147-A177-3AD203B41FA5}">
                      <a16:colId xmlns:a16="http://schemas.microsoft.com/office/drawing/2014/main" val="251195201"/>
                    </a:ext>
                  </a:extLst>
                </a:gridCol>
                <a:gridCol w="535022">
                  <a:extLst>
                    <a:ext uri="{9D8B030D-6E8A-4147-A177-3AD203B41FA5}">
                      <a16:colId xmlns:a16="http://schemas.microsoft.com/office/drawing/2014/main" val="3776411196"/>
                    </a:ext>
                  </a:extLst>
                </a:gridCol>
                <a:gridCol w="4426085">
                  <a:extLst>
                    <a:ext uri="{9D8B030D-6E8A-4147-A177-3AD203B41FA5}">
                      <a16:colId xmlns:a16="http://schemas.microsoft.com/office/drawing/2014/main" val="1307626315"/>
                    </a:ext>
                  </a:extLst>
                </a:gridCol>
                <a:gridCol w="598251">
                  <a:extLst>
                    <a:ext uri="{9D8B030D-6E8A-4147-A177-3AD203B41FA5}">
                      <a16:colId xmlns:a16="http://schemas.microsoft.com/office/drawing/2014/main" val="864904793"/>
                    </a:ext>
                  </a:extLst>
                </a:gridCol>
                <a:gridCol w="707688">
                  <a:extLst>
                    <a:ext uri="{9D8B030D-6E8A-4147-A177-3AD203B41FA5}">
                      <a16:colId xmlns:a16="http://schemas.microsoft.com/office/drawing/2014/main" val="2076935407"/>
                    </a:ext>
                  </a:extLst>
                </a:gridCol>
                <a:gridCol w="1556425">
                  <a:extLst>
                    <a:ext uri="{9D8B030D-6E8A-4147-A177-3AD203B41FA5}">
                      <a16:colId xmlns:a16="http://schemas.microsoft.com/office/drawing/2014/main" val="1440273780"/>
                    </a:ext>
                  </a:extLst>
                </a:gridCol>
                <a:gridCol w="415858">
                  <a:extLst>
                    <a:ext uri="{9D8B030D-6E8A-4147-A177-3AD203B41FA5}">
                      <a16:colId xmlns:a16="http://schemas.microsoft.com/office/drawing/2014/main" val="890264726"/>
                    </a:ext>
                  </a:extLst>
                </a:gridCol>
              </a:tblGrid>
              <a:tr h="159731">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40915474"/>
                  </a:ext>
                </a:extLst>
              </a:tr>
              <a:tr h="159731">
                <a:tc>
                  <a:txBody>
                    <a:bodyPr/>
                    <a:lstStyle/>
                    <a:p>
                      <a:pPr algn="ctr" fontAlgn="ctr"/>
                      <a:r>
                        <a:rPr lang="en-US" sz="1100" b="1" i="0" u="none" strike="noStrike">
                          <a:solidFill>
                            <a:srgbClr val="000000"/>
                          </a:solidFill>
                          <a:effectLst/>
                          <a:latin typeface="Times New Roman" panose="02020603050405020304" pitchFamily="18" charset="0"/>
                        </a:rPr>
                        <a:t>No</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3230098"/>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1</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A320/A321FLEET-03/25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A32X</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TASK 72-ECO-00</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20-Jun-2025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72-ECO-00</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OPEN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488173"/>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2</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894-03-25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A350</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AMP 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24-Jun-2025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OPEN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90376251"/>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3</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889-01-25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A350</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CMP TASK: VN252100-05 &amp; VN252100-06</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20-Jun-2025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VN252100-05</a:t>
                      </a:r>
                      <a:br>
                        <a:rPr lang="en-US" sz="1050" b="0" i="0" u="none" strike="noStrike">
                          <a:solidFill>
                            <a:srgbClr val="000000"/>
                          </a:solidFill>
                          <a:effectLst/>
                          <a:latin typeface="Times New Roman" panose="02020603050405020304" pitchFamily="18" charset="0"/>
                        </a:rPr>
                      </a:br>
                      <a:r>
                        <a:rPr lang="en-US" sz="1050" b="0" i="0" u="none" strike="noStrike">
                          <a:solidFill>
                            <a:srgbClr val="000000"/>
                          </a:solidFill>
                          <a:effectLst/>
                          <a:latin typeface="Times New Roman" panose="02020603050405020304" pitchFamily="18" charset="0"/>
                        </a:rPr>
                        <a:t> VN252100-06</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OPEN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4192979"/>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4</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864-05-25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B787</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AMP 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20-Jun-2025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OPEN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6489166"/>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866-06-25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B787</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AMP 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20-Jun-2025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GROUP TASK</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OPEN</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5326193"/>
                  </a:ext>
                </a:extLst>
              </a:tr>
              <a:tr h="324453">
                <a:tc>
                  <a:txBody>
                    <a:bodyPr/>
                    <a:lstStyle/>
                    <a:p>
                      <a:pPr algn="ctr" fontAlgn="ctr"/>
                      <a:r>
                        <a:rPr lang="en-150" sz="1050" b="0" i="0" u="none" strike="noStrike">
                          <a:solidFill>
                            <a:srgbClr val="000000"/>
                          </a:solidFill>
                          <a:effectLst/>
                          <a:latin typeface="Times New Roman" panose="02020603050405020304" pitchFamily="18" charset="0"/>
                        </a:rPr>
                        <a:t>6</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HVN/VN-A877/2025-06-27/01</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A877</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B071 RAISED FOR BRAKE 6 DEACTIVATED IAW MEL 32-45-01, REV09, CAT C</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CAAV</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27-Jun-2025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 B071</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 </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5681188"/>
                  </a:ext>
                </a:extLst>
              </a:tr>
              <a:tr h="292839">
                <a:tc>
                  <a:txBody>
                    <a:bodyPr/>
                    <a:lstStyle/>
                    <a:p>
                      <a:pPr algn="ctr" fontAlgn="ctr"/>
                      <a:r>
                        <a:rPr lang="en-150" sz="1050" b="0" i="0" u="none" strike="noStrike">
                          <a:solidFill>
                            <a:srgbClr val="000000"/>
                          </a:solidFill>
                          <a:effectLst/>
                          <a:latin typeface="Times New Roman" panose="02020603050405020304" pitchFamily="18" charset="0"/>
                        </a:rPr>
                        <a:t>7</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871-05/25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A871</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050" b="0" i="0" u="none" strike="noStrike">
                          <a:solidFill>
                            <a:srgbClr val="000000"/>
                          </a:solidFill>
                          <a:effectLst/>
                          <a:latin typeface="Times New Roman" panose="02020603050405020304" pitchFamily="18" charset="0"/>
                        </a:rPr>
                        <a:t>ADD B2324 STS MSG "HYD VLV AUTO BLEED RSVR R” IAW MEL 29-31-03A Rev 09, CAT C, EXP 27-JUN-2025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SQD</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27-Jun-2025</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50" b="0" i="0" u="none" strike="noStrike">
                          <a:solidFill>
                            <a:srgbClr val="000000"/>
                          </a:solidFill>
                          <a:effectLst/>
                          <a:latin typeface="Times New Roman" panose="02020603050405020304" pitchFamily="18" charset="0"/>
                        </a:rPr>
                        <a:t>ADD B2324</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150" sz="1050" b="0" i="0" u="none" strike="noStrike">
                          <a:solidFill>
                            <a:srgbClr val="000000"/>
                          </a:solidFill>
                          <a:effectLst/>
                          <a:latin typeface="Times New Roman" panose="02020603050405020304" pitchFamily="18" charset="0"/>
                        </a:rPr>
                        <a:t> </a:t>
                      </a:r>
                    </a:p>
                  </a:txBody>
                  <a:tcPr marL="6655" marR="6655" marT="66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4175853"/>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extLst/>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This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249:25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142.56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1826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742:20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914:45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758:25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299:40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576:50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extLst/>
          </p:nvPr>
        </p:nvGraphicFramePr>
        <p:xfrm>
          <a:off x="6312510" y="3904053"/>
          <a:ext cx="5117489" cy="2822545"/>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smtClean="0">
                          <a:solidFill>
                            <a:srgbClr val="000000"/>
                          </a:solidFill>
                          <a:effectLst/>
                          <a:latin typeface="Times New Roman" panose="02020603050405020304" pitchFamily="18" charset="0"/>
                        </a:rPr>
                        <a:t>Next Week</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smtClean="0">
                          <a:solidFill>
                            <a:srgbClr val="000000"/>
                          </a:solidFill>
                          <a:effectLst/>
                          <a:latin typeface="Times New Roman" panose="02020603050405020304" pitchFamily="18" charset="0"/>
                        </a:rPr>
                        <a:t>A320</a:t>
                      </a: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smtClean="0">
                          <a:solidFill>
                            <a:srgbClr val="000000"/>
                          </a:solidFill>
                          <a:effectLst/>
                          <a:latin typeface="Times New Roman" panose="02020603050405020304" pitchFamily="18" charset="0"/>
                          <a:ea typeface="+mn-ea"/>
                          <a:cs typeface="+mn-cs"/>
                        </a:rPr>
                        <a:t>A320NEO</a:t>
                      </a:r>
                      <a:endParaRPr lang="en-US" sz="1400" b="0" i="0" u="none" strike="noStrike" kern="1200">
                        <a:solidFill>
                          <a:srgbClr val="000000"/>
                        </a:solidFill>
                        <a:effectLst/>
                        <a:latin typeface="Times New Roman" panose="02020603050405020304" pitchFamily="18" charset="0"/>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256:35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171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CEO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147.42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smtClean="0">
                          <a:solidFill>
                            <a:srgbClr val="000000"/>
                          </a:solidFill>
                          <a:effectLst/>
                          <a:latin typeface="Times New Roman" panose="02020603050405020304" pitchFamily="18" charset="0"/>
                        </a:rPr>
                        <a:t>A321 NEO</a:t>
                      </a:r>
                      <a:endParaRPr lang="en-US" sz="1400" b="0"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769:21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340:45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1065:35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325:25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78642">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617:40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0" name="Chart 9"/>
          <p:cNvGraphicFramePr>
            <a:graphicFrameLocks/>
          </p:cNvGraphicFramePr>
          <p:nvPr>
            <p:extLst/>
          </p:nvPr>
        </p:nvGraphicFramePr>
        <p:xfrm>
          <a:off x="1059507" y="857926"/>
          <a:ext cx="10370492"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100476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smtClean="0">
                <a:ln w="0"/>
                <a:solidFill>
                  <a:schemeClr val="accent4"/>
                </a:solidFill>
                <a:latin typeface="Times New Roman" panose="02020603050405020304" pitchFamily="18" charset="0"/>
                <a:cs typeface="Times New Roman" panose="02020603050405020304" pitchFamily="18" charset="0"/>
              </a:rPr>
              <a:t>Số chuyến bay theo ngày trong </a:t>
            </a:r>
            <a:r>
              <a:rPr lang="en-US" sz="2400">
                <a:ln w="0"/>
                <a:solidFill>
                  <a:schemeClr val="accent4"/>
                </a:solidFill>
                <a:latin typeface="Times New Roman" panose="02020603050405020304" pitchFamily="18" charset="0"/>
                <a:cs typeface="Times New Roman" panose="02020603050405020304" pitchFamily="18" charset="0"/>
              </a:rPr>
              <a:t>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nvPr>
        </p:nvGraphicFramePr>
        <p:xfrm>
          <a:off x="925417" y="3601492"/>
          <a:ext cx="5166913" cy="3074727"/>
        </p:xfrm>
        <a:graphic>
          <a:graphicData uri="http://schemas.openxmlformats.org/drawingml/2006/table">
            <a:tbl>
              <a:tblPr/>
              <a:tblGrid>
                <a:gridCol w="598583">
                  <a:extLst>
                    <a:ext uri="{9D8B030D-6E8A-4147-A177-3AD203B41FA5}">
                      <a16:colId xmlns:a16="http://schemas.microsoft.com/office/drawing/2014/main" val="4007203340"/>
                    </a:ext>
                  </a:extLst>
                </a:gridCol>
                <a:gridCol w="574752">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04181">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419836">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7.95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79389">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04181">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1.83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04181">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04181">
                <a:tc>
                  <a:txBody>
                    <a:bodyPr/>
                    <a:lstStyle/>
                    <a:p>
                      <a:pPr algn="ctr" fontAlgn="ctr"/>
                      <a:r>
                        <a:rPr lang="en-US" sz="1400" b="0" i="0" u="none" strike="noStrike" smtClean="0">
                          <a:solidFill>
                            <a:srgbClr val="000000"/>
                          </a:solidFill>
                          <a:effectLst/>
                          <a:latin typeface="Times New Roman" panose="02020603050405020304" pitchFamily="18" charset="0"/>
                        </a:rPr>
                        <a:t>ATR72</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extLst/>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smtClean="0">
                          <a:solidFill>
                            <a:srgbClr val="000000"/>
                          </a:solidFill>
                          <a:effectLst/>
                          <a:latin typeface="Times New Roman" panose="02020603050405020304" pitchFamily="18" charset="0"/>
                        </a:rPr>
                        <a:t>Next </a:t>
                      </a:r>
                      <a:r>
                        <a:rPr lang="en-US" sz="1400" b="0" i="0" u="none" strike="noStrike">
                          <a:solidFill>
                            <a:srgbClr val="000000"/>
                          </a:solidFill>
                          <a:effectLst/>
                          <a:latin typeface="Times New Roman" panose="02020603050405020304" pitchFamily="18" charset="0"/>
                        </a:rPr>
                        <a:t>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4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30-Jun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6-Jul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A320</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9.33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CEO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400" b="0" i="0" u="none" strike="noStrike" smtClean="0">
                          <a:solidFill>
                            <a:srgbClr val="000000"/>
                          </a:solidFill>
                          <a:effectLst/>
                          <a:latin typeface="Times New Roman" panose="02020603050405020304" pitchFamily="18" charset="0"/>
                        </a:rPr>
                        <a:t>A321</a:t>
                      </a:r>
                    </a:p>
                    <a:p>
                      <a:pPr algn="ctr" fontAlgn="ctr"/>
                      <a:r>
                        <a:rPr lang="en-US" sz="1400" b="0" i="0" u="none" strike="noStrike" smtClean="0">
                          <a:solidFill>
                            <a:srgbClr val="000000"/>
                          </a:solidFill>
                          <a:effectLst/>
                          <a:latin typeface="Times New Roman" panose="02020603050405020304" pitchFamily="18" charset="0"/>
                        </a:rPr>
                        <a:t>NEO</a:t>
                      </a:r>
                      <a:endParaRPr lang="en-US" sz="14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4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2.93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4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4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extLst/>
          </p:nvPr>
        </p:nvGraphicFramePr>
        <p:xfrm>
          <a:off x="925417" y="1341692"/>
          <a:ext cx="10521107" cy="20415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435804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a:t>
            </a:r>
            <a:r>
              <a:rPr lang="en-GB" sz="2400" smtClean="0">
                <a:ln w="0"/>
                <a:solidFill>
                  <a:schemeClr val="accent4"/>
                </a:solidFill>
                <a:latin typeface="Times New Roman" panose="02020603050405020304" pitchFamily="18" charset="0"/>
                <a:cs typeface="Times New Roman" panose="02020603050405020304" pitchFamily="18" charset="0"/>
              </a:rPr>
              <a:t>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extLst/>
          </p:nvPr>
        </p:nvGraphicFramePr>
        <p:xfrm>
          <a:off x="838199" y="1295400"/>
          <a:ext cx="11039475" cy="50292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42107858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47</a:t>
            </a:fld>
            <a:endParaRPr/>
          </a:p>
        </p:txBody>
      </p:sp>
      <p:sp>
        <p:nvSpPr>
          <p:cNvPr id="158" name="Google Shape;158;g31ccdae391d_0_248"/>
          <p:cNvSpPr/>
          <p:nvPr/>
        </p:nvSpPr>
        <p:spPr>
          <a:xfrm>
            <a:off x="137375" y="569550"/>
            <a:ext cx="117552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 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b="1">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A398: HAN - ENGCHG+EA13  (27/06/25-29/06): chưa có phát sinh</a:t>
            </a:r>
            <a:endParaRPr sz="1500">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A508: EVENTS+ENGCHG+ENGCHG+C01+C03+Y01+Y06+EA22-EA02 (25/05-15/07): đang chờ động cơ (DK 7/7) và lắp PTVT</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a:t>
            </a:r>
            <a:endParaRPr sz="1500" b="1">
              <a:solidFill>
                <a:schemeClr val="dk1"/>
              </a:solidFill>
              <a:latin typeface="Times New Roman"/>
              <a:ea typeface="Times New Roman"/>
              <a:cs typeface="Times New Roman"/>
              <a:sym typeface="Times New Roman"/>
            </a:endParaRPr>
          </a:p>
          <a:p>
            <a:pPr marL="914400" marR="0" lvl="1" indent="-323850" algn="just" rtl="0">
              <a:lnSpc>
                <a:spcPct val="110000"/>
              </a:lnSpc>
              <a:spcBef>
                <a:spcPts val="6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A332: hỏng Display unit PN C19298AF05: hiện đang giục STEA cấp hàng, 30/6 có tại HAN</a:t>
            </a:r>
            <a:endParaRPr sz="2100" b="1">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415901" y="2983276"/>
            <a:ext cx="10762600" cy="3643525"/>
          </a:xfrm>
          <a:prstGeom prst="rect">
            <a:avLst/>
          </a:prstGeom>
          <a:noFill/>
          <a:ln>
            <a:noFill/>
          </a:ln>
        </p:spPr>
      </p:pic>
    </p:spTree>
    <p:extLst>
      <p:ext uri="{BB962C8B-B14F-4D97-AF65-F5344CB8AC3E}">
        <p14:creationId xmlns:p14="http://schemas.microsoft.com/office/powerpoint/2010/main" val="38423628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4b80f439b0_0_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4b80f439b0_0_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48</a:t>
            </a:fld>
            <a:endParaRPr/>
          </a:p>
        </p:txBody>
      </p:sp>
      <p:sp>
        <p:nvSpPr>
          <p:cNvPr id="167" name="Google Shape;167;g34b80f439b0_0_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55 </a:t>
            </a:r>
            <a:r>
              <a:rPr lang="en-US" sz="2000" b="1" i="0" u="none" strike="noStrike" cap="none">
                <a:solidFill>
                  <a:srgbClr val="FF0000"/>
                </a:solidFill>
                <a:latin typeface="Times New Roman"/>
                <a:ea typeface="Times New Roman"/>
                <a:cs typeface="Times New Roman"/>
                <a:sym typeface="Times New Roman"/>
              </a:rPr>
              <a:t>đơn hàng quá hạn trong tổng số </a:t>
            </a:r>
            <a:r>
              <a:rPr lang="en-US" sz="2000" b="1">
                <a:solidFill>
                  <a:srgbClr val="FF0000"/>
                </a:solidFill>
                <a:latin typeface="Times New Roman"/>
                <a:ea typeface="Times New Roman"/>
                <a:cs typeface="Times New Roman"/>
                <a:sym typeface="Times New Roman"/>
              </a:rPr>
              <a:t>102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a:t>
            </a:r>
            <a:r>
              <a:rPr lang="en-US" sz="1500" b="1">
                <a:solidFill>
                  <a:schemeClr val="dk1"/>
                </a:solidFill>
                <a:latin typeface="Times New Roman"/>
                <a:ea typeface="Times New Roman"/>
                <a:cs typeface="Times New Roman"/>
                <a:sym typeface="Times New Roman"/>
              </a:rPr>
              <a:t>MBK</a:t>
            </a:r>
            <a:r>
              <a:rPr lang="en-US" sz="1500" b="1"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34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a:t>
            </a:r>
            <a:r>
              <a:rPr lang="en-US" sz="1500">
                <a:solidFill>
                  <a:schemeClr val="dk1"/>
                </a:solidFill>
                <a:latin typeface="Times New Roman"/>
                <a:ea typeface="Times New Roman"/>
                <a:cs typeface="Times New Roman"/>
                <a:sym typeface="Times New Roman"/>
              </a:rPr>
              <a:t> 51 orders</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a:t>
            </a:r>
            <a:r>
              <a:rPr lang="en-US" sz="1500" b="1">
                <a:solidFill>
                  <a:schemeClr val="dk1"/>
                </a:solidFill>
                <a:latin typeface="Times New Roman"/>
                <a:ea typeface="Times New Roman"/>
                <a:cs typeface="Times New Roman"/>
                <a:sym typeface="Times New Roman"/>
              </a:rPr>
              <a:t>cho </a:t>
            </a:r>
            <a:r>
              <a:rPr lang="en-US" sz="1500" b="1" i="0" u="none" strike="noStrike" cap="none">
                <a:solidFill>
                  <a:schemeClr val="dk1"/>
                </a:solidFill>
                <a:latin typeface="Times New Roman"/>
                <a:ea typeface="Times New Roman"/>
                <a:cs typeface="Times New Roman"/>
                <a:sym typeface="Times New Roman"/>
              </a:rPr>
              <a:t>Defect: </a:t>
            </a:r>
            <a:r>
              <a:rPr lang="en-US" sz="1500">
                <a:solidFill>
                  <a:schemeClr val="dk1"/>
                </a:solidFill>
                <a:latin typeface="Times New Roman"/>
                <a:ea typeface="Times New Roman"/>
                <a:cs typeface="Times New Roman"/>
                <a:sym typeface="Times New Roman"/>
              </a:rPr>
              <a:t>13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orders </a:t>
            </a:r>
            <a:r>
              <a:rPr lang="en-US" sz="1500" b="0" i="0" u="none" strike="noStrike" cap="none">
                <a:solidFill>
                  <a:schemeClr val="dk1"/>
                </a:solidFill>
                <a:latin typeface="Times New Roman"/>
                <a:ea typeface="Times New Roman"/>
                <a:cs typeface="Times New Roman"/>
                <a:sym typeface="Times New Roman"/>
              </a:rPr>
              <a:t>/ total </a:t>
            </a:r>
            <a:r>
              <a:rPr lang="en-US" sz="1500">
                <a:solidFill>
                  <a:schemeClr val="dk1"/>
                </a:solidFill>
                <a:latin typeface="Times New Roman"/>
                <a:ea typeface="Times New Roman"/>
                <a:cs typeface="Times New Roman"/>
                <a:sym typeface="Times New Roman"/>
              </a:rPr>
              <a:t>20 orders</a:t>
            </a:r>
            <a:endParaRPr sz="1500">
              <a:solidFill>
                <a:schemeClr val="dk1"/>
              </a:solidFill>
              <a:latin typeface="Times New Roman"/>
              <a:ea typeface="Times New Roman"/>
              <a:cs typeface="Times New Roman"/>
              <a:sym typeface="Times New Roman"/>
            </a:endParaRPr>
          </a:p>
          <a:p>
            <a:pPr marL="457200" lvl="0" indent="-323850" algn="just" rtl="0">
              <a:spcBef>
                <a:spcPts val="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Đơn hàng cho Hardtime/Softtime: </a:t>
            </a:r>
            <a:r>
              <a:rPr lang="en-US" sz="1500">
                <a:solidFill>
                  <a:schemeClr val="dk1"/>
                </a:solidFill>
                <a:latin typeface="Times New Roman"/>
                <a:ea typeface="Times New Roman"/>
                <a:cs typeface="Times New Roman"/>
                <a:sym typeface="Times New Roman"/>
              </a:rPr>
              <a:t>08 overdue orders / total 31 orders</a:t>
            </a:r>
            <a:endParaRPr sz="1500">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168" name="Google Shape;168;g34b80f439b0_0_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169" name="Google Shape;169;g34b80f439b0_0_3"/>
          <p:cNvPicPr preferRelativeResize="0"/>
          <p:nvPr/>
        </p:nvPicPr>
        <p:blipFill>
          <a:blip r:embed="rId3">
            <a:alphaModFix/>
          </a:blip>
          <a:stretch>
            <a:fillRect/>
          </a:stretch>
        </p:blipFill>
        <p:spPr>
          <a:xfrm>
            <a:off x="873675" y="2073800"/>
            <a:ext cx="9136453" cy="4503225"/>
          </a:xfrm>
          <a:prstGeom prst="rect">
            <a:avLst/>
          </a:prstGeom>
          <a:noFill/>
          <a:ln>
            <a:noFill/>
          </a:ln>
        </p:spPr>
      </p:pic>
    </p:spTree>
    <p:extLst>
      <p:ext uri="{BB962C8B-B14F-4D97-AF65-F5344CB8AC3E}">
        <p14:creationId xmlns:p14="http://schemas.microsoft.com/office/powerpoint/2010/main" val="68425779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a:t>
            </a:r>
            <a:endParaRPr sz="2800">
              <a:solidFill>
                <a:srgbClr val="FFC000"/>
              </a:solidFill>
              <a:latin typeface="Times New Roman"/>
              <a:ea typeface="Times New Roman"/>
              <a:cs typeface="Times New Roman"/>
              <a:sym typeface="Times New Roman"/>
            </a:endParaRPr>
          </a:p>
        </p:txBody>
      </p:sp>
      <p:sp>
        <p:nvSpPr>
          <p:cNvPr id="176" name="Google Shape;176;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49</a:t>
            </a:fld>
            <a:endParaRPr/>
          </a:p>
        </p:txBody>
      </p:sp>
      <p:sp>
        <p:nvSpPr>
          <p:cNvPr id="177" name="Google Shape;177;g31ccdae391d_0_285"/>
          <p:cNvSpPr txBox="1"/>
          <p:nvPr/>
        </p:nvSpPr>
        <p:spPr>
          <a:xfrm>
            <a:off x="469725" y="1005200"/>
            <a:ext cx="10884000" cy="4340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latin typeface="Times New Roman"/>
                <a:ea typeface="Times New Roman"/>
                <a:cs typeface="Times New Roman"/>
                <a:sym typeface="Times New Roman"/>
              </a:rPr>
              <a:t>1. Danh mục ngoài pool:  </a:t>
            </a:r>
            <a:r>
              <a:rPr lang="en-US" sz="1800">
                <a:latin typeface="Times New Roman"/>
                <a:ea typeface="Times New Roman"/>
                <a:cs typeface="Times New Roman"/>
                <a:sym typeface="Times New Roman"/>
              </a:rPr>
              <a:t>có 04 mục thiếu dự phòng so với yêu cầu:</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Translating sleeve, CNA, Inlet Cowl: đang giục sửa tại VAECO</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Rotating mech TPIS MLG: đang giục Safran cấp hàng (vật tư bị Global Shortage)</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b="1">
                <a:latin typeface="Times New Roman"/>
                <a:ea typeface="Times New Roman"/>
                <a:cs typeface="Times New Roman"/>
                <a:sym typeface="Times New Roman"/>
              </a:rPr>
              <a:t>2. Danh mục pool: </a:t>
            </a:r>
            <a:r>
              <a:rPr lang="en-US" sz="1800">
                <a:latin typeface="Times New Roman"/>
                <a:ea typeface="Times New Roman"/>
                <a:cs typeface="Times New Roman"/>
                <a:sym typeface="Times New Roman"/>
              </a:rPr>
              <a:t>có 16 mục thiếu dự phòng so với yêu cầu như sau:</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- 09 mới bị dùng cho tàu khai thác: sẽ về trước 30/6 (ACC Valve NEO, SSU FO, Side stick unit, control fuel unit APU,BSCU...)</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- 03 mục không có mức kho MBK (SSU captain, IPCV NEO)</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- 04 mục khó khăn trong việc cung ứng như sau:</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 Valve Surge Control: Honeywel sửa chữa TAT dài, có thể rob NEO khi có hỏng hóc</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 IFPC NEO: các khối trên tàu NEO bảo quản hỏng nhiều, OEM Collins sửa chi phí cao (&gt;100kUSD) và TAT dài (VNA tự gửi 3ea đi sửa thời gian dừng HĐ Pooling và các khối trên tàu bảo quản gửi ST cũng bị charge O&amp;A), có thể rob NEO khi có hỏng hóc</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 Fan Air Valve Body NEO: OEM Liebherr không có stock, các khối sửa bị BER, dự kiến tháng 7 ST/Liebherr mới có thể cấp hàng, có thể rob NEO khi có hỏng hóc</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   + APU Lube Module: Honeywell sửa có TAT dài</a:t>
            </a:r>
            <a:endParaRPr sz="1800">
              <a:latin typeface="Times New Roman"/>
              <a:ea typeface="Times New Roman"/>
              <a:cs typeface="Times New Roman"/>
              <a:sym typeface="Times New Roman"/>
            </a:endParaRPr>
          </a:p>
        </p:txBody>
      </p:sp>
    </p:spTree>
    <p:extLst>
      <p:ext uri="{BB962C8B-B14F-4D97-AF65-F5344CB8AC3E}">
        <p14:creationId xmlns:p14="http://schemas.microsoft.com/office/powerpoint/2010/main" val="19474128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5f1b08c610_0_9"/>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(Chi tiết)</a:t>
            </a:r>
            <a:endParaRPr sz="2800">
              <a:solidFill>
                <a:srgbClr val="FFC000"/>
              </a:solidFill>
              <a:latin typeface="Times New Roman"/>
              <a:ea typeface="Times New Roman"/>
              <a:cs typeface="Times New Roman"/>
              <a:sym typeface="Times New Roman"/>
            </a:endParaRPr>
          </a:p>
        </p:txBody>
      </p:sp>
      <p:sp>
        <p:nvSpPr>
          <p:cNvPr id="184" name="Google Shape;184;g35f1b08c610_0_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50</a:t>
            </a:fld>
            <a:endParaRPr/>
          </a:p>
        </p:txBody>
      </p:sp>
      <p:pic>
        <p:nvPicPr>
          <p:cNvPr id="185" name="Google Shape;185;g35f1b08c610_0_9"/>
          <p:cNvPicPr preferRelativeResize="0"/>
          <p:nvPr/>
        </p:nvPicPr>
        <p:blipFill>
          <a:blip r:embed="rId3">
            <a:alphaModFix/>
          </a:blip>
          <a:stretch>
            <a:fillRect/>
          </a:stretch>
        </p:blipFill>
        <p:spPr>
          <a:xfrm>
            <a:off x="941350" y="735635"/>
            <a:ext cx="8305800" cy="5859868"/>
          </a:xfrm>
          <a:prstGeom prst="rect">
            <a:avLst/>
          </a:prstGeom>
          <a:noFill/>
          <a:ln>
            <a:noFill/>
          </a:ln>
        </p:spPr>
      </p:pic>
    </p:spTree>
    <p:extLst>
      <p:ext uri="{BB962C8B-B14F-4D97-AF65-F5344CB8AC3E}">
        <p14:creationId xmlns:p14="http://schemas.microsoft.com/office/powerpoint/2010/main" val="266171478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92" name="Google Shape;192;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51</a:t>
            </a:fld>
            <a:endParaRPr/>
          </a:p>
        </p:txBody>
      </p:sp>
      <p:graphicFrame>
        <p:nvGraphicFramePr>
          <p:cNvPr id="193" name="Google Shape;193;g31ccdae391d_0_278"/>
          <p:cNvGraphicFramePr/>
          <p:nvPr/>
        </p:nvGraphicFramePr>
        <p:xfrm>
          <a:off x="558675" y="462325"/>
          <a:ext cx="10287000" cy="6141469"/>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do </a:t>
                      </a:r>
                      <a:r>
                        <a:rPr lang="en-US" sz="1300">
                          <a:latin typeface="Times New Roman"/>
                          <a:ea typeface="Times New Roman"/>
                          <a:cs typeface="Times New Roman"/>
                          <a:sym typeface="Times New Roman"/>
                        </a:rPr>
                        <a:t>không có mức kho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904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2</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không có mức kho MBK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421525">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2ea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4031875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0" name="Google Shape;200;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52</a:t>
            </a:fld>
            <a:endParaRPr/>
          </a:p>
        </p:txBody>
      </p:sp>
      <p:sp>
        <p:nvSpPr>
          <p:cNvPr id="201" name="Google Shape;201;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23</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60</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MBK: </a:t>
            </a:r>
            <a:r>
              <a:rPr lang="en-US" sz="1500" b="0" i="0" u="none" strike="noStrike" cap="none">
                <a:solidFill>
                  <a:schemeClr val="dk1"/>
                </a:solidFill>
                <a:latin typeface="Times New Roman"/>
                <a:ea typeface="Times New Roman"/>
                <a:cs typeface="Times New Roman"/>
                <a:sym typeface="Times New Roman"/>
              </a:rPr>
              <a:t> overdue </a:t>
            </a:r>
            <a:r>
              <a:rPr lang="en-US" sz="1500">
                <a:solidFill>
                  <a:schemeClr val="dk1"/>
                </a:solidFill>
                <a:latin typeface="Times New Roman"/>
                <a:ea typeface="Times New Roman"/>
                <a:cs typeface="Times New Roman"/>
                <a:sym typeface="Times New Roman"/>
              </a:rPr>
              <a:t>17 </a:t>
            </a:r>
            <a:r>
              <a:rPr lang="en-US" sz="1500" b="0" i="0" u="none" strike="noStrike" cap="none">
                <a:solidFill>
                  <a:schemeClr val="dk1"/>
                </a:solidFill>
                <a:latin typeface="Times New Roman"/>
                <a:ea typeface="Times New Roman"/>
                <a:cs typeface="Times New Roman"/>
                <a:sym typeface="Times New Roman"/>
              </a:rPr>
              <a:t>LO / total </a:t>
            </a:r>
            <a:r>
              <a:rPr lang="en-US" sz="1500">
                <a:solidFill>
                  <a:schemeClr val="dk1"/>
                </a:solidFill>
                <a:latin typeface="Times New Roman"/>
                <a:ea typeface="Times New Roman"/>
                <a:cs typeface="Times New Roman"/>
                <a:sym typeface="Times New Roman"/>
              </a:rPr>
              <a:t>26</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b="0" i="0" u="none" strike="noStrike" cap="none">
                <a:solidFill>
                  <a:schemeClr val="dk1"/>
                </a:solidFill>
                <a:latin typeface="Times New Roman"/>
                <a:ea typeface="Times New Roman"/>
                <a:cs typeface="Times New Roman"/>
                <a:sym typeface="Times New Roman"/>
              </a:rPr>
              <a:t>overdue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EO / total </a:t>
            </a:r>
            <a:r>
              <a:rPr lang="en-US" sz="1500">
                <a:solidFill>
                  <a:schemeClr val="dk1"/>
                </a:solidFill>
                <a:latin typeface="Times New Roman"/>
                <a:ea typeface="Times New Roman"/>
                <a:cs typeface="Times New Roman"/>
                <a:sym typeface="Times New Roman"/>
              </a:rPr>
              <a:t>34</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02" name="Google Shape;202;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3" name="Google Shape;203;g31ccdae391d_0_299"/>
          <p:cNvPicPr preferRelativeResize="0"/>
          <p:nvPr/>
        </p:nvPicPr>
        <p:blipFill>
          <a:blip r:embed="rId3">
            <a:alphaModFix/>
          </a:blip>
          <a:stretch>
            <a:fillRect/>
          </a:stretch>
        </p:blipFill>
        <p:spPr>
          <a:xfrm>
            <a:off x="2028825" y="1644249"/>
            <a:ext cx="7380099" cy="4485099"/>
          </a:xfrm>
          <a:prstGeom prst="rect">
            <a:avLst/>
          </a:prstGeom>
          <a:noFill/>
          <a:ln>
            <a:noFill/>
          </a:ln>
        </p:spPr>
      </p:pic>
    </p:spTree>
    <p:extLst>
      <p:ext uri="{BB962C8B-B14F-4D97-AF65-F5344CB8AC3E}">
        <p14:creationId xmlns:p14="http://schemas.microsoft.com/office/powerpoint/2010/main" val="40379634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0" name="Google Shape;210;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53</a:t>
            </a:fld>
            <a:endParaRPr/>
          </a:p>
        </p:txBody>
      </p:sp>
      <p:graphicFrame>
        <p:nvGraphicFramePr>
          <p:cNvPr id="211" name="Google Shape;211;g31ccdae391d_0_308"/>
          <p:cNvGraphicFramePr/>
          <p:nvPr>
            <p:extLst/>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dirty="0">
                          <a:solidFill>
                            <a:srgbClr val="FF0000"/>
                          </a:solidFill>
                          <a:latin typeface="Times New Roman"/>
                          <a:ea typeface="Times New Roman"/>
                          <a:cs typeface="Times New Roman"/>
                          <a:sym typeface="Times New Roman"/>
                        </a:rPr>
                        <a:t> </a:t>
                      </a:r>
                      <a:endParaRPr sz="1600" b="1" i="0" u="none" strike="noStrike" cap="none" dirty="0">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 + 01ea in Vip Kit.</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a:t>
                      </a:r>
                      <a:r>
                        <a:rPr lang="en-US" sz="1300">
                          <a:latin typeface="Times New Roman"/>
                          <a:ea typeface="Times New Roman"/>
                          <a:cs typeface="Times New Roman"/>
                          <a:sym typeface="Times New Roman"/>
                        </a:rPr>
                        <a:t>10</a:t>
                      </a:r>
                      <a:r>
                        <a:rPr lang="en-US" sz="1300" u="none" strike="noStrike" cap="none">
                          <a:latin typeface="Times New Roman"/>
                          <a:ea typeface="Times New Roman"/>
                          <a:cs typeface="Times New Roman"/>
                          <a:sym typeface="Times New Roman"/>
                        </a:rPr>
                        <a:t> hỏng hóc.</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NIL stock</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a:t>
                      </a:r>
                      <a:r>
                        <a:rPr lang="en-US" sz="1300" u="none" strike="noStrike" cap="none" dirty="0">
                          <a:latin typeface="Times New Roman"/>
                          <a:ea typeface="Times New Roman"/>
                          <a:cs typeface="Times New Roman"/>
                          <a:sym typeface="Times New Roman"/>
                        </a:rPr>
                        <a:t>0</a:t>
                      </a:r>
                      <a:r>
                        <a:rPr lang="en-US" sz="1300" dirty="0">
                          <a:latin typeface="Times New Roman"/>
                          <a:ea typeface="Times New Roman"/>
                          <a:cs typeface="Times New Roman"/>
                          <a:sym typeface="Times New Roman"/>
                        </a:rPr>
                        <a:t>5</a:t>
                      </a:r>
                      <a:r>
                        <a:rPr lang="en-US" sz="1300" u="none" strike="noStrike" cap="none" dirty="0">
                          <a:latin typeface="Times New Roman"/>
                          <a:ea typeface="Times New Roman"/>
                          <a:cs typeface="Times New Roman"/>
                          <a:sym typeface="Times New Roman"/>
                        </a:rPr>
                        <a:t>RO:</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+ 02ea </a:t>
                      </a:r>
                      <a:r>
                        <a:rPr lang="en-US" sz="1300" dirty="0" err="1">
                          <a:latin typeface="Times New Roman"/>
                          <a:ea typeface="Times New Roman"/>
                          <a:cs typeface="Times New Roman"/>
                          <a:sym typeface="Times New Roman"/>
                        </a:rPr>
                        <a:t>dự</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kiến</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về</a:t>
                      </a:r>
                      <a:r>
                        <a:rPr lang="en-US" sz="1300" dirty="0">
                          <a:latin typeface="Times New Roman"/>
                          <a:ea typeface="Times New Roman"/>
                          <a:cs typeface="Times New Roman"/>
                          <a:sym typeface="Times New Roman"/>
                        </a:rPr>
                        <a:t> HAN trong </a:t>
                      </a:r>
                      <a:r>
                        <a:rPr lang="en-US" sz="1300" dirty="0" err="1">
                          <a:latin typeface="Times New Roman"/>
                          <a:ea typeface="Times New Roman"/>
                          <a:cs typeface="Times New Roman"/>
                          <a:sym typeface="Times New Roman"/>
                        </a:rPr>
                        <a:t>tuần</a:t>
                      </a:r>
                      <a:r>
                        <a:rPr lang="en-US" sz="1300" dirty="0">
                          <a:latin typeface="Times New Roman"/>
                          <a:ea typeface="Times New Roman"/>
                          <a:cs typeface="Times New Roman"/>
                          <a:sym typeface="Times New Roman"/>
                        </a:rPr>
                        <a:t> 27.</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+ 02ea EDD </a:t>
                      </a:r>
                      <a:r>
                        <a:rPr lang="en-US" sz="1300" dirty="0" smtClean="0">
                          <a:latin typeface="Times New Roman"/>
                          <a:ea typeface="Times New Roman"/>
                          <a:cs typeface="Times New Roman"/>
                          <a:sym typeface="Times New Roman"/>
                        </a:rPr>
                        <a:t>04/07.</a:t>
                      </a:r>
                      <a:endParaRPr sz="13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dirty="0">
                          <a:latin typeface="Times New Roman"/>
                          <a:ea typeface="Times New Roman"/>
                          <a:cs typeface="Times New Roman"/>
                          <a:sym typeface="Times New Roman"/>
                        </a:rPr>
                        <a:t>+ 01ea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EDD.</a:t>
                      </a:r>
                      <a:endParaRPr sz="1300" dirty="0">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01ea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CMSC</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7000045H03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Hỏng hóc nhiều tại vị trí CAC chưa được làm nâng cấp lên H04 (dự kiến SB có trong tháng 9)</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dirty="0">
                          <a:latin typeface="Times New Roman"/>
                          <a:ea typeface="Times New Roman"/>
                          <a:cs typeface="Times New Roman"/>
                          <a:sym typeface="Times New Roman"/>
                        </a:rPr>
                        <a:t>01ea </a:t>
                      </a:r>
                      <a:r>
                        <a:rPr lang="en-US" sz="1300" dirty="0" smtClean="0">
                          <a:latin typeface="Times New Roman"/>
                          <a:ea typeface="Times New Roman"/>
                          <a:cs typeface="Times New Roman"/>
                          <a:sym typeface="Times New Roman"/>
                        </a:rPr>
                        <a:t>in </a:t>
                      </a:r>
                      <a:r>
                        <a:rPr lang="en-US" sz="1300" dirty="0" err="1">
                          <a:latin typeface="Times New Roman"/>
                          <a:ea typeface="Times New Roman"/>
                          <a:cs typeface="Times New Roman"/>
                          <a:sym typeface="Times New Roman"/>
                        </a:rPr>
                        <a:t>Vip</a:t>
                      </a:r>
                      <a:r>
                        <a:rPr lang="en-US" sz="1300" dirty="0">
                          <a:latin typeface="Times New Roman"/>
                          <a:ea typeface="Times New Roman"/>
                          <a:cs typeface="Times New Roman"/>
                          <a:sym typeface="Times New Roman"/>
                        </a:rPr>
                        <a:t> Kit + 01 </a:t>
                      </a:r>
                      <a:r>
                        <a:rPr lang="en-US" sz="1300" dirty="0" err="1">
                          <a:latin typeface="Times New Roman"/>
                          <a:ea typeface="Times New Roman"/>
                          <a:cs typeface="Times New Roman"/>
                          <a:sym typeface="Times New Roman"/>
                        </a:rPr>
                        <a:t>lấp</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đầy</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chưa</a:t>
                      </a:r>
                      <a:r>
                        <a:rPr lang="en-US" sz="1300" dirty="0">
                          <a:latin typeface="Times New Roman"/>
                          <a:ea typeface="Times New Roman"/>
                          <a:cs typeface="Times New Roman"/>
                          <a:sym typeface="Times New Roman"/>
                        </a:rPr>
                        <a:t> </a:t>
                      </a:r>
                      <a:r>
                        <a:rPr lang="en-US" sz="1300" dirty="0" err="1">
                          <a:latin typeface="Times New Roman"/>
                          <a:ea typeface="Times New Roman"/>
                          <a:cs typeface="Times New Roman"/>
                          <a:sym typeface="Times New Roman"/>
                        </a:rPr>
                        <a:t>có</a:t>
                      </a:r>
                      <a:r>
                        <a:rPr lang="en-US" sz="1300" dirty="0">
                          <a:latin typeface="Times New Roman"/>
                          <a:ea typeface="Times New Roman"/>
                          <a:cs typeface="Times New Roman"/>
                          <a:sym typeface="Times New Roman"/>
                        </a:rPr>
                        <a:t> EDD.</a:t>
                      </a:r>
                      <a:endParaRPr sz="1300" dirty="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8325459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8" name="Google Shape;218;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219" name="Google Shape;219;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dirty="0">
                <a:solidFill>
                  <a:schemeClr val="dk1"/>
                </a:solidFill>
                <a:latin typeface="Times New Roman"/>
                <a:ea typeface="Times New Roman"/>
                <a:cs typeface="Times New Roman"/>
                <a:sym typeface="Times New Roman"/>
              </a:rPr>
              <a:t>PTVT </a:t>
            </a:r>
            <a:r>
              <a:rPr lang="en-US" sz="1600" b="0" i="0" u="none" strike="noStrike" cap="none" dirty="0" err="1">
                <a:solidFill>
                  <a:schemeClr val="dk1"/>
                </a:solidFill>
                <a:latin typeface="Times New Roman"/>
                <a:ea typeface="Times New Roman"/>
                <a:cs typeface="Times New Roman"/>
                <a:sym typeface="Times New Roman"/>
              </a:rPr>
              <a:t>thay</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nhiều</a:t>
            </a:r>
            <a:r>
              <a:rPr lang="en-US" sz="1600" b="0" i="0" u="none" strike="noStrike" cap="none" dirty="0">
                <a:solidFill>
                  <a:schemeClr val="dk1"/>
                </a:solidFill>
                <a:latin typeface="Times New Roman"/>
                <a:ea typeface="Times New Roman"/>
                <a:cs typeface="Times New Roman"/>
                <a:sym typeface="Times New Roman"/>
              </a:rPr>
              <a:t>: VFSG,</a:t>
            </a:r>
            <a:r>
              <a:rPr lang="en-US" sz="1600" dirty="0">
                <a:solidFill>
                  <a:schemeClr val="dk1"/>
                </a:solidFill>
                <a:latin typeface="Times New Roman"/>
                <a:ea typeface="Times New Roman"/>
                <a:cs typeface="Times New Roman"/>
                <a:sym typeface="Times New Roman"/>
              </a:rPr>
              <a:t> CMSC</a:t>
            </a:r>
            <a:r>
              <a:rPr lang="en-US" sz="1600" b="0" i="0" u="none" strike="noStrike" cap="none" dirty="0">
                <a:solidFill>
                  <a:schemeClr val="dk1"/>
                </a:solidFill>
                <a:latin typeface="Times New Roman"/>
                <a:ea typeface="Times New Roman"/>
                <a:cs typeface="Times New Roman"/>
                <a:sym typeface="Times New Roman"/>
              </a:rPr>
              <a:t>, NSG, CAC, GWIV.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r>
              <a:rPr lang="en-US" sz="1600" b="0" i="0" u="none" strike="noStrike" cap="none"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A861, A871 - Brake worn to limit: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phanh</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smtClean="0">
                <a:solidFill>
                  <a:schemeClr val="dk1"/>
                </a:solidFill>
                <a:latin typeface="Times New Roman"/>
                <a:ea typeface="Times New Roman"/>
                <a:cs typeface="Times New Roman"/>
                <a:sym typeface="Times New Roman"/>
              </a:rPr>
              <a:t>cuối</a:t>
            </a:r>
            <a:r>
              <a:rPr lang="en-US" sz="1600" dirty="0" smtClean="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tuần</a:t>
            </a:r>
            <a:r>
              <a:rPr lang="en-US" sz="1600" dirty="0">
                <a:solidFill>
                  <a:schemeClr val="dk1"/>
                </a:solidFill>
                <a:latin typeface="Times New Roman"/>
                <a:ea typeface="Times New Roman"/>
                <a:cs typeface="Times New Roman"/>
                <a:sym typeface="Times New Roman"/>
              </a:rPr>
              <a:t> 27.</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A871 - FOUND A BROKEN WIRE IN THE CONNECTOR OF FLUSH SWITCH IN LAVATORY 3F-1L: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Wire </a:t>
            </a:r>
            <a:r>
              <a:rPr lang="en-US" sz="1600" dirty="0" err="1">
                <a:solidFill>
                  <a:schemeClr val="dk1"/>
                </a:solidFill>
                <a:latin typeface="Times New Roman"/>
                <a:ea typeface="Times New Roman"/>
                <a:cs typeface="Times New Roman"/>
                <a:sym typeface="Times New Roman"/>
              </a:rPr>
              <a:t>Assy</a:t>
            </a:r>
            <a:r>
              <a:rPr lang="en-US" sz="1600" dirty="0">
                <a:solidFill>
                  <a:schemeClr val="dk1"/>
                </a:solidFill>
                <a:latin typeface="Times New Roman"/>
                <a:ea typeface="Times New Roman"/>
                <a:cs typeface="Times New Roman"/>
                <a:sym typeface="Times New Roman"/>
              </a:rPr>
              <a:t>, EDD 08/2025.</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dirty="0">
                <a:solidFill>
                  <a:schemeClr val="dk1"/>
                </a:solidFill>
                <a:latin typeface="Times New Roman"/>
                <a:ea typeface="Times New Roman"/>
                <a:cs typeface="Times New Roman"/>
                <a:sym typeface="Times New Roman"/>
              </a:rPr>
              <a:t>• A877 - BRAKE 6 DEACTIVATED: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Harness,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01/07.</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p:txBody>
      </p:sp>
      <p:pic>
        <p:nvPicPr>
          <p:cNvPr id="220" name="Google Shape;220;g31ccdae391d_0_315"/>
          <p:cNvPicPr preferRelativeResize="0"/>
          <p:nvPr/>
        </p:nvPicPr>
        <p:blipFill>
          <a:blip r:embed="rId3">
            <a:alphaModFix/>
          </a:blip>
          <a:stretch>
            <a:fillRect/>
          </a:stretch>
        </p:blipFill>
        <p:spPr>
          <a:xfrm>
            <a:off x="938213" y="3128963"/>
            <a:ext cx="10620375" cy="2581275"/>
          </a:xfrm>
          <a:prstGeom prst="rect">
            <a:avLst/>
          </a:prstGeom>
          <a:noFill/>
          <a:ln>
            <a:noFill/>
          </a:ln>
        </p:spPr>
      </p:pic>
    </p:spTree>
    <p:extLst>
      <p:ext uri="{BB962C8B-B14F-4D97-AF65-F5344CB8AC3E}">
        <p14:creationId xmlns:p14="http://schemas.microsoft.com/office/powerpoint/2010/main" val="35462048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7" name="Google Shape;227;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sp>
        <p:nvSpPr>
          <p:cNvPr id="228" name="Google Shape;228;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39</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51 </a:t>
            </a:r>
            <a:r>
              <a:rPr lang="en-US" sz="2000" b="1" i="0" u="none" strike="noStrike" cap="none">
                <a:solidFill>
                  <a:srgbClr val="FF0000"/>
                </a:solidFill>
                <a:latin typeface="Times New Roman"/>
                <a:ea typeface="Times New Roman"/>
                <a:cs typeface="Times New Roman"/>
                <a:sym typeface="Times New Roman"/>
              </a:rPr>
              <a:t>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12</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13</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27</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38</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9" name="Google Shape;229;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30" name="Google Shape;230;g31ccdae391d_0_323"/>
          <p:cNvPicPr preferRelativeResize="0"/>
          <p:nvPr/>
        </p:nvPicPr>
        <p:blipFill>
          <a:blip r:embed="rId3">
            <a:alphaModFix/>
          </a:blip>
          <a:stretch>
            <a:fillRect/>
          </a:stretch>
        </p:blipFill>
        <p:spPr>
          <a:xfrm>
            <a:off x="2509850" y="2224150"/>
            <a:ext cx="6128525" cy="4200474"/>
          </a:xfrm>
          <a:prstGeom prst="rect">
            <a:avLst/>
          </a:prstGeom>
          <a:noFill/>
          <a:ln>
            <a:noFill/>
          </a:ln>
        </p:spPr>
      </p:pic>
    </p:spTree>
    <p:extLst>
      <p:ext uri="{BB962C8B-B14F-4D97-AF65-F5344CB8AC3E}">
        <p14:creationId xmlns:p14="http://schemas.microsoft.com/office/powerpoint/2010/main" val="179621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7" name="Google Shape;237;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238" name="Google Shape;238;g31ccdae391d_0_332"/>
          <p:cNvGraphicFramePr/>
          <p:nvPr>
            <p:extLst/>
          </p:nvPr>
        </p:nvGraphicFramePr>
        <p:xfrm>
          <a:off x="474783" y="301869"/>
          <a:ext cx="11561850" cy="5888409"/>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293671">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3671">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88088">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1</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Spoiler Servo control</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latin typeface="Times New Roman"/>
                          <a:ea typeface="Times New Roman"/>
                          <a:cs typeface="Times New Roman"/>
                          <a:sym typeface="Times New Roman"/>
                        </a:rPr>
                        <a:t>FCRM</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Spoiler Servo:</a:t>
                      </a:r>
                      <a:r>
                        <a:rPr lang="en-US" sz="1300" dirty="0">
                          <a:latin typeface="Times New Roman"/>
                          <a:ea typeface="Times New Roman"/>
                          <a:cs typeface="Times New Roman"/>
                          <a:sym typeface="Times New Roman"/>
                        </a:rPr>
                        <a:t> 01ea in stock</a:t>
                      </a:r>
                      <a:r>
                        <a:rPr lang="en-US" sz="1300" u="none" strike="noStrike" cap="none" dirty="0">
                          <a:latin typeface="Times New Roman"/>
                          <a:ea typeface="Times New Roman"/>
                          <a:cs typeface="Times New Roman"/>
                          <a:sym typeface="Times New Roman"/>
                        </a:rPr>
                        <a:t>. </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latin typeface="Times New Roman"/>
                          <a:ea typeface="Times New Roman"/>
                          <a:cs typeface="Times New Roman"/>
                          <a:sym typeface="Times New Roman"/>
                        </a:rPr>
                        <a:t>- FCRM: </a:t>
                      </a:r>
                      <a:r>
                        <a:rPr lang="en-US" sz="1300" u="none" strike="noStrike" cap="none" dirty="0">
                          <a:solidFill>
                            <a:schemeClr val="dk1"/>
                          </a:solidFill>
                          <a:latin typeface="Times New Roman"/>
                          <a:ea typeface="Times New Roman"/>
                          <a:cs typeface="Times New Roman"/>
                          <a:sym typeface="Times New Roman"/>
                        </a:rPr>
                        <a:t>0</a:t>
                      </a:r>
                      <a:r>
                        <a:rPr lang="en-US" sz="1300" dirty="0">
                          <a:solidFill>
                            <a:schemeClr val="dk1"/>
                          </a:solidFill>
                          <a:latin typeface="Times New Roman"/>
                          <a:ea typeface="Times New Roman"/>
                          <a:cs typeface="Times New Roman"/>
                          <a:sym typeface="Times New Roman"/>
                        </a:rPr>
                        <a:t>2e</a:t>
                      </a:r>
                      <a:r>
                        <a:rPr lang="en-US" sz="1300" u="none" strike="noStrike" cap="none" dirty="0">
                          <a:solidFill>
                            <a:schemeClr val="dk1"/>
                          </a:solidFill>
                          <a:latin typeface="Times New Roman"/>
                          <a:ea typeface="Times New Roman"/>
                          <a:cs typeface="Times New Roman"/>
                          <a:sym typeface="Times New Roman"/>
                        </a:rPr>
                        <a:t>a in </a:t>
                      </a:r>
                      <a:r>
                        <a:rPr lang="en-US" sz="1300" dirty="0" smtClean="0">
                          <a:solidFill>
                            <a:schemeClr val="dk1"/>
                          </a:solidFill>
                          <a:latin typeface="Times New Roman"/>
                          <a:ea typeface="Times New Roman"/>
                          <a:cs typeface="Times New Roman"/>
                          <a:sym typeface="Times New Roman"/>
                        </a:rPr>
                        <a:t>stock.</a:t>
                      </a:r>
                      <a:endParaRPr sz="1300" u="none" strike="noStrike" cap="none" dirty="0">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138558">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err="1">
                          <a:latin typeface="Times New Roman"/>
                          <a:ea typeface="Times New Roman"/>
                          <a:cs typeface="Times New Roman"/>
                          <a:sym typeface="Times New Roman"/>
                        </a:rPr>
                        <a:t>Hiện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cần</a:t>
                      </a:r>
                      <a:r>
                        <a:rPr lang="en-US" sz="1300" u="none" strike="noStrike" cap="none" dirty="0">
                          <a:latin typeface="Times New Roman"/>
                          <a:ea typeface="Times New Roman"/>
                          <a:cs typeface="Times New Roman"/>
                          <a:sym typeface="Times New Roman"/>
                        </a:rPr>
                        <a:t> 1</a:t>
                      </a:r>
                      <a:r>
                        <a:rPr lang="en-US" sz="1300" dirty="0">
                          <a:latin typeface="Times New Roman"/>
                          <a:ea typeface="Times New Roman"/>
                          <a:cs typeface="Times New Roman"/>
                          <a:sym typeface="Times New Roman"/>
                        </a:rPr>
                        <a:t>8</a:t>
                      </a:r>
                      <a:r>
                        <a:rPr lang="en-US" sz="1300" u="none" strike="noStrike" cap="none" dirty="0">
                          <a:latin typeface="Times New Roman"/>
                          <a:ea typeface="Times New Roman"/>
                          <a:cs typeface="Times New Roman"/>
                          <a:sym typeface="Times New Roman"/>
                        </a:rPr>
                        <a:t>ea (</a:t>
                      </a:r>
                      <a:r>
                        <a:rPr lang="en-US" sz="1300" dirty="0">
                          <a:latin typeface="Times New Roman"/>
                          <a:ea typeface="Times New Roman"/>
                          <a:cs typeface="Times New Roman"/>
                          <a:sym typeface="Times New Roman"/>
                        </a:rPr>
                        <a:t>15</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+ 0</a:t>
                      </a:r>
                      <a:r>
                        <a:rPr lang="en-US" sz="1300" dirty="0">
                          <a:latin typeface="Times New Roman"/>
                          <a:ea typeface="Times New Roman"/>
                          <a:cs typeface="Times New Roman"/>
                          <a:sym typeface="Times New Roman"/>
                        </a:rPr>
                        <a:t>3</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cho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tàu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bảo</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quản</a:t>
                      </a:r>
                      <a:r>
                        <a:rPr lang="en-US" sz="1300" u="none" strike="noStrike" cap="none" dirty="0">
                          <a:latin typeface="Times New Roman"/>
                          <a:ea typeface="Times New Roman"/>
                          <a:cs typeface="Times New Roman"/>
                          <a:sym typeface="Times New Roman"/>
                        </a:rPr>
                        <a:t>).</a:t>
                      </a:r>
                      <a:endParaRPr sz="1300" b="0" i="0" u="none" strike="noStrike" cap="none" dirty="0">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in stock (01ea lắp trả cho A886).</a:t>
                      </a:r>
                      <a:endParaRPr sz="130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- 06</a:t>
                      </a:r>
                      <a:r>
                        <a:rPr lang="en-US" sz="1300" u="none" strike="noStrike" cap="none">
                          <a:solidFill>
                            <a:schemeClr val="dk1"/>
                          </a:solidFill>
                          <a:latin typeface="Times New Roman"/>
                          <a:ea typeface="Times New Roman"/>
                          <a:cs typeface="Times New Roman"/>
                          <a:sym typeface="Times New Roman"/>
                        </a:rPr>
                        <a:t>RO</a:t>
                      </a:r>
                      <a:r>
                        <a:rPr lang="en-US" sz="1300">
                          <a:solidFill>
                            <a:schemeClr val="dk1"/>
                          </a:solidFill>
                          <a:latin typeface="Times New Roman"/>
                          <a:ea typeface="Times New Roman"/>
                          <a:cs typeface="Times New Roman"/>
                          <a:sym typeface="Times New Roman"/>
                        </a:rPr>
                        <a:t> hiện chưa có EDD.</a:t>
                      </a:r>
                      <a:endParaRPr sz="130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98808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phát</a:t>
                      </a:r>
                      <a:r>
                        <a:rPr lang="en-US" sz="1300" u="none" strike="noStrike" cap="none" dirty="0">
                          <a:latin typeface="Times New Roman"/>
                          <a:ea typeface="Times New Roman"/>
                          <a:cs typeface="Times New Roman"/>
                          <a:sym typeface="Times New Roman"/>
                        </a:rPr>
                        <a:t> sinh </a:t>
                      </a:r>
                      <a:r>
                        <a:rPr lang="en-US" sz="1300" u="none" strike="noStrike" cap="none" dirty="0" err="1">
                          <a:latin typeface="Times New Roman"/>
                          <a:ea typeface="Times New Roman"/>
                          <a:cs typeface="Times New Roman"/>
                          <a:sym typeface="Times New Roman"/>
                        </a:rPr>
                        <a:t>sẽ</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phải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cắt</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tải</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tiềm</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ẩn</a:t>
                      </a:r>
                      <a:r>
                        <a:rPr lang="en-US" sz="1300" u="none" strike="noStrike" cap="none" dirty="0">
                          <a:latin typeface="Times New Roman"/>
                          <a:ea typeface="Times New Roman"/>
                          <a:cs typeface="Times New Roman"/>
                          <a:sym typeface="Times New Roman"/>
                        </a:rPr>
                        <a:t> AOG.</a:t>
                      </a:r>
                      <a:endParaRPr sz="13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latin typeface="Times New Roman"/>
                          <a:ea typeface="Times New Roman"/>
                          <a:cs typeface="Times New Roman"/>
                          <a:sym typeface="Times New Roman"/>
                        </a:rPr>
                        <a:t>Vẫn</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hỏng</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hóc</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nhiều</a:t>
                      </a:r>
                      <a:r>
                        <a:rPr lang="en-US" sz="1300" u="none" strike="noStrike" cap="none" dirty="0">
                          <a:latin typeface="Times New Roman"/>
                          <a:ea typeface="Times New Roman"/>
                          <a:cs typeface="Times New Roman"/>
                          <a:sym typeface="Times New Roman"/>
                        </a:rPr>
                        <a:t> </a:t>
                      </a:r>
                      <a:r>
                        <a:rPr lang="en-US" sz="1300" u="none" strike="noStrike" cap="none" dirty="0" err="1">
                          <a:latin typeface="Times New Roman"/>
                          <a:ea typeface="Times New Roman"/>
                          <a:cs typeface="Times New Roman"/>
                          <a:sym typeface="Times New Roman"/>
                        </a:rPr>
                        <a:t>trên</a:t>
                      </a:r>
                      <a:r>
                        <a:rPr lang="en-US" sz="1300" u="none" strike="noStrike" cap="none" dirty="0">
                          <a:latin typeface="Times New Roman"/>
                          <a:ea typeface="Times New Roman"/>
                          <a:cs typeface="Times New Roman"/>
                          <a:sym typeface="Times New Roman"/>
                        </a:rPr>
                        <a:t> fleet A350. </a:t>
                      </a:r>
                      <a:endParaRPr sz="1300" u="none" strike="noStrike" cap="none" dirty="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04</a:t>
                      </a:r>
                      <a:r>
                        <a:rPr lang="en-US" sz="1300" u="none" strike="noStrike" cap="none" dirty="0">
                          <a:solidFill>
                            <a:schemeClr val="dk1"/>
                          </a:solidFill>
                          <a:latin typeface="Times New Roman"/>
                          <a:ea typeface="Times New Roman"/>
                          <a:cs typeface="Times New Roman"/>
                          <a:sym typeface="Times New Roman"/>
                        </a:rPr>
                        <a:t>ea in stock (</a:t>
                      </a:r>
                      <a:r>
                        <a:rPr lang="en-US" sz="1300" u="none" strike="noStrike" cap="none" dirty="0" err="1">
                          <a:solidFill>
                            <a:schemeClr val="dk1"/>
                          </a:solidFill>
                          <a:latin typeface="Times New Roman"/>
                          <a:ea typeface="Times New Roman"/>
                          <a:cs typeface="Times New Roman"/>
                          <a:sym typeface="Times New Roman"/>
                        </a:rPr>
                        <a:t>của</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BQ). 01 </a:t>
                      </a:r>
                      <a:r>
                        <a:rPr lang="en-US" sz="1300" u="none" strike="noStrike" cap="none" dirty="0" err="1">
                          <a:solidFill>
                            <a:schemeClr val="dk1"/>
                          </a:solidFill>
                          <a:latin typeface="Times New Roman"/>
                          <a:ea typeface="Times New Roman"/>
                          <a:cs typeface="Times New Roman"/>
                          <a:sym typeface="Times New Roman"/>
                        </a:rPr>
                        <a:t>l</a:t>
                      </a:r>
                      <a:r>
                        <a:rPr lang="en-US" sz="1300" dirty="0" err="1">
                          <a:solidFill>
                            <a:schemeClr val="dk1"/>
                          </a:solidFill>
                          <a:latin typeface="Times New Roman"/>
                          <a:ea typeface="Times New Roman"/>
                          <a:cs typeface="Times New Roman"/>
                          <a:sym typeface="Times New Roman"/>
                        </a:rPr>
                        <a:t>ấp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đầy</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dự</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kiến</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SGN 01/07.</a:t>
                      </a: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988088">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thêm</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lịch</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VCRU </a:t>
                      </a:r>
                      <a:r>
                        <a:rPr lang="en-US" sz="1300" dirty="0" err="1">
                          <a:solidFill>
                            <a:schemeClr val="dk1"/>
                          </a:solidFill>
                          <a:latin typeface="Times New Roman"/>
                          <a:ea typeface="Times New Roman"/>
                          <a:cs typeface="Times New Roman"/>
                          <a:sym typeface="Times New Roman"/>
                        </a:rPr>
                        <a:t>và</a:t>
                      </a:r>
                      <a:r>
                        <a:rPr lang="en-US" sz="1300" dirty="0">
                          <a:solidFill>
                            <a:schemeClr val="dk1"/>
                          </a:solidFill>
                          <a:latin typeface="Times New Roman"/>
                          <a:ea typeface="Times New Roman"/>
                          <a:cs typeface="Times New Roman"/>
                          <a:sym typeface="Times New Roman"/>
                        </a:rPr>
                        <a:t> Controller.</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r h="117975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Oven Safran</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X200100</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Hỏng hóc ảnh hưởng chất lượng dịch vụ.</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TAT ở shop rất dài do thiếu hụt sub part sửa chữa (PMSD). Độ tin cậy kém nên hỏng hóc rất nhiều.</a:t>
                      </a:r>
                      <a:endParaRPr sz="1300">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dirty="0" err="1">
                          <a:solidFill>
                            <a:schemeClr val="dk1"/>
                          </a:solidFill>
                          <a:latin typeface="Times New Roman"/>
                          <a:ea typeface="Times New Roman"/>
                          <a:cs typeface="Times New Roman"/>
                          <a:sym typeface="Times New Roman"/>
                        </a:rPr>
                        <a:t>đang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tập</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trung</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đủ</a:t>
                      </a:r>
                      <a:r>
                        <a:rPr lang="en-US" sz="1300" dirty="0">
                          <a:solidFill>
                            <a:schemeClr val="dk1"/>
                          </a:solidFill>
                          <a:latin typeface="Times New Roman"/>
                          <a:ea typeface="Times New Roman"/>
                          <a:cs typeface="Times New Roman"/>
                          <a:sym typeface="Times New Roman"/>
                        </a:rPr>
                        <a:t> 12ea oven </a:t>
                      </a:r>
                      <a:r>
                        <a:rPr lang="en-US" sz="1300" dirty="0" err="1">
                          <a:solidFill>
                            <a:schemeClr val="dk1"/>
                          </a:solidFill>
                          <a:latin typeface="Times New Roman"/>
                          <a:ea typeface="Times New Roman"/>
                          <a:cs typeface="Times New Roman"/>
                          <a:sym typeface="Times New Roman"/>
                        </a:rPr>
                        <a:t>về</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đủ</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trong</a:t>
                      </a:r>
                      <a:r>
                        <a:rPr lang="en-US" sz="1300" dirty="0">
                          <a:solidFill>
                            <a:schemeClr val="dk1"/>
                          </a:solidFill>
                          <a:latin typeface="Times New Roman"/>
                          <a:ea typeface="Times New Roman"/>
                          <a:cs typeface="Times New Roman"/>
                          <a:sym typeface="Times New Roman"/>
                        </a:rPr>
                        <a:t> </a:t>
                      </a:r>
                      <a:r>
                        <a:rPr lang="en-US" sz="1300" dirty="0" smtClean="0">
                          <a:solidFill>
                            <a:schemeClr val="dk1"/>
                          </a:solidFill>
                          <a:latin typeface="Times New Roman"/>
                          <a:ea typeface="Times New Roman"/>
                          <a:cs typeface="Times New Roman"/>
                          <a:sym typeface="Times New Roman"/>
                        </a:rPr>
                        <a:t>03/07</a:t>
                      </a:r>
                      <a:r>
                        <a:rPr lang="en-US" sz="1300" dirty="0">
                          <a:solidFill>
                            <a:schemeClr val="dk1"/>
                          </a:solidFill>
                          <a:latin typeface="Times New Roman"/>
                          <a:ea typeface="Times New Roman"/>
                          <a:cs typeface="Times New Roman"/>
                          <a:sym typeface="Times New Roman"/>
                        </a:rPr>
                        <a:t>, trong </a:t>
                      </a:r>
                      <a:r>
                        <a:rPr lang="en-US" sz="1300" dirty="0" err="1">
                          <a:solidFill>
                            <a:schemeClr val="dk1"/>
                          </a:solidFill>
                          <a:latin typeface="Times New Roman"/>
                          <a:ea typeface="Times New Roman"/>
                          <a:cs typeface="Times New Roman"/>
                          <a:sym typeface="Times New Roman"/>
                        </a:rPr>
                        <a:t>đó</a:t>
                      </a:r>
                      <a:r>
                        <a:rPr lang="en-US"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- 02ea </a:t>
                      </a:r>
                      <a:r>
                        <a:rPr lang="en-US" sz="1300" dirty="0" err="1">
                          <a:solidFill>
                            <a:schemeClr val="dk1"/>
                          </a:solidFill>
                          <a:latin typeface="Times New Roman"/>
                          <a:ea typeface="Times New Roman"/>
                          <a:cs typeface="Times New Roman"/>
                          <a:sym typeface="Times New Roman"/>
                        </a:rPr>
                        <a:t>đã</a:t>
                      </a:r>
                      <a:r>
                        <a:rPr lang="en-US" sz="1300" dirty="0">
                          <a:solidFill>
                            <a:schemeClr val="dk1"/>
                          </a:solidFill>
                          <a:latin typeface="Times New Roman"/>
                          <a:ea typeface="Times New Roman"/>
                          <a:cs typeface="Times New Roman"/>
                          <a:sym typeface="Times New Roman"/>
                        </a:rPr>
                        <a:t> issued.</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- 03ea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30/06.</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- 04ea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02/07.</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- 03ea </a:t>
                      </a:r>
                      <a:r>
                        <a:rPr lang="en-US" sz="1300" dirty="0" err="1">
                          <a:solidFill>
                            <a:schemeClr val="dk1"/>
                          </a:solidFill>
                          <a:latin typeface="Times New Roman"/>
                          <a:ea typeface="Times New Roman"/>
                          <a:cs typeface="Times New Roman"/>
                          <a:sym typeface="Times New Roman"/>
                        </a:rPr>
                        <a:t>giao</a:t>
                      </a:r>
                      <a:r>
                        <a:rPr lang="en-US" sz="1300" dirty="0">
                          <a:solidFill>
                            <a:schemeClr val="dk1"/>
                          </a:solidFill>
                          <a:latin typeface="Times New Roman"/>
                          <a:ea typeface="Times New Roman"/>
                          <a:cs typeface="Times New Roman"/>
                          <a:sym typeface="Times New Roman"/>
                        </a:rPr>
                        <a:t> 03/07.</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6651167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5" name="Google Shape;245;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sp>
        <p:nvSpPr>
          <p:cNvPr id="246" name="Google Shape;246;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flight control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smtClean="0">
                <a:solidFill>
                  <a:srgbClr val="000000"/>
                </a:solidFill>
                <a:latin typeface="Times New Roman"/>
                <a:ea typeface="Times New Roman"/>
                <a:cs typeface="Times New Roman"/>
                <a:sym typeface="Times New Roman"/>
              </a:rPr>
              <a:t>nhiều</a:t>
            </a:r>
            <a:r>
              <a:rPr lang="en-US" sz="1600" b="0" i="0" u="none" strike="noStrike" cap="none" dirty="0" smtClean="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A887 - CHILLER SYS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Motor Controller, </a:t>
            </a:r>
            <a:r>
              <a:rPr lang="en-US" sz="1600" dirty="0" err="1">
                <a:solidFill>
                  <a:schemeClr val="dk1"/>
                </a:solidFill>
                <a:latin typeface="Times New Roman"/>
                <a:ea typeface="Times New Roman"/>
                <a:cs typeface="Times New Roman"/>
                <a:sym typeface="Times New Roman"/>
              </a:rPr>
              <a:t>chờ</a:t>
            </a:r>
            <a:r>
              <a:rPr lang="en-US" sz="1600" dirty="0">
                <a:solidFill>
                  <a:schemeClr val="dk1"/>
                </a:solidFill>
                <a:latin typeface="Times New Roman"/>
                <a:ea typeface="Times New Roman"/>
                <a:cs typeface="Times New Roman"/>
                <a:sym typeface="Times New Roman"/>
              </a:rPr>
              <a:t> FHS </a:t>
            </a:r>
            <a:r>
              <a:rPr lang="en-US" sz="1600" dirty="0" err="1">
                <a:solidFill>
                  <a:schemeClr val="dk1"/>
                </a:solidFill>
                <a:latin typeface="Times New Roman"/>
                <a:ea typeface="Times New Roman"/>
                <a:cs typeface="Times New Roman"/>
                <a:sym typeface="Times New Roman"/>
              </a:rPr>
              <a:t>cập</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nhật</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A888, A892, A898 - CHILLER SYS INOP: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VCRU, 01ea in stock + 02ea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EDD.</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A893 - CHILLER AT AFT CREWREST INOP: </a:t>
            </a:r>
            <a:r>
              <a:rPr lang="en-US" sz="1600" dirty="0" err="1">
                <a:solidFill>
                  <a:schemeClr val="dk1"/>
                </a:solidFill>
                <a:latin typeface="Times New Roman"/>
                <a:ea typeface="Times New Roman"/>
                <a:cs typeface="Times New Roman"/>
                <a:sym typeface="Times New Roman"/>
              </a:rPr>
              <a:t>cần</a:t>
            </a:r>
            <a:r>
              <a:rPr lang="en-US" sz="1600" dirty="0">
                <a:solidFill>
                  <a:schemeClr val="dk1"/>
                </a:solidFill>
                <a:latin typeface="Times New Roman"/>
                <a:ea typeface="Times New Roman"/>
                <a:cs typeface="Times New Roman"/>
                <a:sym typeface="Times New Roman"/>
              </a:rPr>
              <a:t> I/O CON-TROLLER (in stock)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SWITCH PANEL (EDD 01/08).</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pic>
        <p:nvPicPr>
          <p:cNvPr id="247" name="Google Shape;247;g31ccdae391d_0_339"/>
          <p:cNvPicPr preferRelativeResize="0"/>
          <p:nvPr/>
        </p:nvPicPr>
        <p:blipFill>
          <a:blip r:embed="rId3">
            <a:alphaModFix/>
          </a:blip>
          <a:stretch>
            <a:fillRect/>
          </a:stretch>
        </p:blipFill>
        <p:spPr>
          <a:xfrm>
            <a:off x="790575" y="3395663"/>
            <a:ext cx="10610850" cy="1743075"/>
          </a:xfrm>
          <a:prstGeom prst="rect">
            <a:avLst/>
          </a:prstGeom>
          <a:noFill/>
          <a:ln>
            <a:noFill/>
          </a:ln>
        </p:spPr>
      </p:pic>
    </p:spTree>
    <p:extLst>
      <p:ext uri="{BB962C8B-B14F-4D97-AF65-F5344CB8AC3E}">
        <p14:creationId xmlns:p14="http://schemas.microsoft.com/office/powerpoint/2010/main" val="62680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4" name="Google Shape;254;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255" name="Google Shape;255;g31ccdae391d_0_347"/>
          <p:cNvGraphicFramePr/>
          <p:nvPr>
            <p:extLst/>
          </p:nvPr>
        </p:nvGraphicFramePr>
        <p:xfrm>
          <a:off x="439614" y="221847"/>
          <a:ext cx="11611325" cy="6315862"/>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5985">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985">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5677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1</a:t>
                      </a:r>
                      <a:endParaRPr sz="1400" i="0" u="none" strike="noStrike" cap="none" dirty="0">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Blade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dirty="0">
                          <a:solidFill>
                            <a:schemeClr val="dk1"/>
                          </a:solidFill>
                          <a:latin typeface="Times New Roman"/>
                          <a:ea typeface="Times New Roman"/>
                          <a:cs typeface="Times New Roman"/>
                          <a:sym typeface="Times New Roman"/>
                        </a:rPr>
                        <a:t>05</a:t>
                      </a:r>
                      <a:r>
                        <a:rPr lang="en-US" sz="1400" u="none" strike="noStrike" cap="none" dirty="0">
                          <a:solidFill>
                            <a:schemeClr val="dk1"/>
                          </a:solidFill>
                          <a:latin typeface="Times New Roman"/>
                          <a:ea typeface="Times New Roman"/>
                          <a:cs typeface="Times New Roman"/>
                          <a:sym typeface="Times New Roman"/>
                        </a:rPr>
                        <a:t>EA: STK SGN (</a:t>
                      </a:r>
                      <a:r>
                        <a:rPr lang="en-US" dirty="0" err="1">
                          <a:solidFill>
                            <a:schemeClr val="dk1"/>
                          </a:solidFill>
                          <a:latin typeface="Times New Roman"/>
                          <a:ea typeface="Times New Roman"/>
                          <a:cs typeface="Times New Roman"/>
                          <a:sym typeface="Times New Roman"/>
                        </a:rPr>
                        <a:t>p/n</a:t>
                      </a:r>
                      <a:r>
                        <a:rPr lang="en-US" sz="1400" u="none" strike="noStrike" cap="none" dirty="0">
                          <a:solidFill>
                            <a:schemeClr val="dk1"/>
                          </a:solidFill>
                          <a:latin typeface="Times New Roman"/>
                          <a:ea typeface="Times New Roman"/>
                          <a:cs typeface="Times New Roman"/>
                          <a:sym typeface="Times New Roman"/>
                        </a:rPr>
                        <a:t> R815505-9)</a:t>
                      </a:r>
                      <a:br>
                        <a:rPr lang="en-US" sz="1400" u="none" strike="noStrike" cap="none" dirty="0">
                          <a:solidFill>
                            <a:schemeClr val="dk1"/>
                          </a:solidFill>
                          <a:latin typeface="Times New Roman"/>
                          <a:ea typeface="Times New Roman"/>
                          <a:cs typeface="Times New Roman"/>
                          <a:sym typeface="Times New Roman"/>
                        </a:rPr>
                      </a:br>
                      <a:r>
                        <a:rPr lang="en-US" sz="1400" u="none" strike="noStrike" cap="none" dirty="0">
                          <a:solidFill>
                            <a:schemeClr val="dk1"/>
                          </a:solidFill>
                          <a:latin typeface="Times New Roman"/>
                          <a:ea typeface="Times New Roman"/>
                          <a:cs typeface="Times New Roman"/>
                          <a:sym typeface="Times New Roman"/>
                        </a:rPr>
                        <a:t>01PO: </a:t>
                      </a:r>
                      <a:r>
                        <a:rPr lang="en-US" dirty="0">
                          <a:solidFill>
                            <a:schemeClr val="dk1"/>
                          </a:solidFill>
                          <a:latin typeface="Times New Roman"/>
                          <a:ea typeface="Times New Roman"/>
                          <a:cs typeface="Times New Roman"/>
                          <a:sym typeface="Times New Roman"/>
                        </a:rPr>
                        <a:t>EST 30/06</a:t>
                      </a:r>
                      <a:br>
                        <a:rPr lang="en-US" dirty="0">
                          <a:solidFill>
                            <a:schemeClr val="dk1"/>
                          </a:solidFill>
                          <a:latin typeface="Times New Roman"/>
                          <a:ea typeface="Times New Roman"/>
                          <a:cs typeface="Times New Roman"/>
                          <a:sym typeface="Times New Roman"/>
                        </a:rPr>
                      </a:br>
                      <a:r>
                        <a:rPr lang="en-US" dirty="0">
                          <a:solidFill>
                            <a:schemeClr val="dk1"/>
                          </a:solidFill>
                          <a:latin typeface="Times New Roman"/>
                          <a:ea typeface="Times New Roman"/>
                          <a:cs typeface="Times New Roman"/>
                          <a:sym typeface="Times New Roman"/>
                        </a:rPr>
                        <a:t>01RO: SCRAP</a:t>
                      </a:r>
                      <a:br>
                        <a:rPr lang="en-US" dirty="0">
                          <a:solidFill>
                            <a:schemeClr val="dk1"/>
                          </a:solidFill>
                          <a:latin typeface="Times New Roman"/>
                          <a:ea typeface="Times New Roman"/>
                          <a:cs typeface="Times New Roman"/>
                          <a:sym typeface="Times New Roman"/>
                        </a:rPr>
                      </a:br>
                      <a:r>
                        <a:rPr lang="en-US" dirty="0">
                          <a:solidFill>
                            <a:schemeClr val="dk1"/>
                          </a:solidFill>
                          <a:latin typeface="Times New Roman"/>
                          <a:ea typeface="Times New Roman"/>
                          <a:cs typeface="Times New Roman"/>
                          <a:sym typeface="Times New Roman"/>
                        </a:rPr>
                        <a:t>01RO: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trên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đường</a:t>
                      </a:r>
                      <a:r>
                        <a:rPr lang="en-US" dirty="0">
                          <a:solidFill>
                            <a:schemeClr val="dk1"/>
                          </a:solidFill>
                          <a:latin typeface="Times New Roman"/>
                          <a:ea typeface="Times New Roman"/>
                          <a:cs typeface="Times New Roman"/>
                          <a:sym typeface="Times New Roman"/>
                        </a:rPr>
                        <a:t> sang </a:t>
                      </a:r>
                      <a:r>
                        <a:rPr lang="en-US" dirty="0" smtClean="0">
                          <a:solidFill>
                            <a:schemeClr val="dk1"/>
                          </a:solidFill>
                          <a:latin typeface="Times New Roman"/>
                          <a:ea typeface="Times New Roman"/>
                          <a:cs typeface="Times New Roman"/>
                          <a:sym typeface="Times New Roman"/>
                        </a:rPr>
                        <a:t>shop</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748362">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Hub Propeller</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9240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815585-7</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For Major Inspection</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dirty="0">
                          <a:latin typeface="Times New Roman"/>
                          <a:ea typeface="Times New Roman"/>
                          <a:cs typeface="Times New Roman"/>
                          <a:sym typeface="Times New Roman"/>
                        </a:rPr>
                        <a:t>02EA: STK </a:t>
                      </a:r>
                      <a:r>
                        <a:rPr lang="en-US" dirty="0" smtClean="0">
                          <a:latin typeface="Times New Roman"/>
                          <a:ea typeface="Times New Roman"/>
                          <a:cs typeface="Times New Roman"/>
                          <a:sym typeface="Times New Roman"/>
                        </a:rPr>
                        <a:t>SGN.</a:t>
                      </a:r>
                      <a:endParaRPr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692401">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dirty="0">
                          <a:solidFill>
                            <a:schemeClr val="dk1"/>
                          </a:solidFill>
                          <a:latin typeface="Times New Roman"/>
                          <a:ea typeface="Times New Roman"/>
                          <a:cs typeface="Times New Roman"/>
                          <a:sym typeface="Times New Roman"/>
                        </a:rPr>
                        <a:t>P/N S5741212100810: STK = 0</a:t>
                      </a:r>
                      <a:endParaRPr sz="1400" u="none" strike="noStrike" cap="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dirty="0">
                          <a:solidFill>
                            <a:schemeClr val="dk1"/>
                          </a:solidFill>
                          <a:latin typeface="Times New Roman"/>
                          <a:ea typeface="Times New Roman"/>
                          <a:cs typeface="Times New Roman"/>
                          <a:sym typeface="Times New Roman"/>
                        </a:rPr>
                        <a:t>0</a:t>
                      </a:r>
                      <a:r>
                        <a:rPr lang="en-US" dirty="0">
                          <a:solidFill>
                            <a:schemeClr val="dk1"/>
                          </a:solidFill>
                          <a:latin typeface="Times New Roman"/>
                          <a:ea typeface="Times New Roman"/>
                          <a:cs typeface="Times New Roman"/>
                          <a:sym typeface="Times New Roman"/>
                        </a:rPr>
                        <a:t>1</a:t>
                      </a:r>
                      <a:r>
                        <a:rPr lang="en-US" sz="1400" u="none" strike="noStrike" cap="none" dirty="0">
                          <a:solidFill>
                            <a:schemeClr val="dk1"/>
                          </a:solidFill>
                          <a:latin typeface="Times New Roman"/>
                          <a:ea typeface="Times New Roman"/>
                          <a:cs typeface="Times New Roman"/>
                          <a:sym typeface="Times New Roman"/>
                        </a:rPr>
                        <a:t>EA: STK SGN P/N S5741212100910</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921583">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dirty="0">
                          <a:solidFill>
                            <a:schemeClr val="dk1"/>
                          </a:solidFill>
                          <a:latin typeface="Times New Roman"/>
                          <a:ea typeface="Times New Roman"/>
                          <a:cs typeface="Times New Roman"/>
                          <a:sym typeface="Times New Roman"/>
                        </a:rPr>
                        <a:t>02EA: STK SGN</a:t>
                      </a:r>
                      <a:endParaRPr dirty="0"/>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498906">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a:t>
                      </a:r>
                      <a:r>
                        <a:rPr lang="en-US">
                          <a:latin typeface="Times New Roman"/>
                          <a:ea typeface="Times New Roman"/>
                          <a:cs typeface="Times New Roman"/>
                          <a:sym typeface="Times New Roman"/>
                        </a:rPr>
                        <a:t>6B</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RO R4580325: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1266968">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ACM</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2205120-4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Cabin Hot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05RO: </a:t>
                      </a:r>
                      <a:r>
                        <a:rPr lang="en-US" dirty="0" err="1">
                          <a:solidFill>
                            <a:schemeClr val="dk1"/>
                          </a:solidFill>
                          <a:latin typeface="Times New Roman"/>
                          <a:ea typeface="Times New Roman"/>
                          <a:cs typeface="Times New Roman"/>
                          <a:sym typeface="Times New Roman"/>
                        </a:rPr>
                        <a:t>chưa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EDD do </a:t>
                      </a:r>
                      <a:r>
                        <a:rPr lang="en-US" dirty="0" err="1">
                          <a:solidFill>
                            <a:schemeClr val="dk1"/>
                          </a:solidFill>
                          <a:latin typeface="Times New Roman"/>
                          <a:ea typeface="Times New Roman"/>
                          <a:cs typeface="Times New Roman"/>
                          <a:sym typeface="Times New Roman"/>
                        </a:rPr>
                        <a:t>thiếu</a:t>
                      </a:r>
                      <a:r>
                        <a:rPr lang="en-US" dirty="0">
                          <a:solidFill>
                            <a:schemeClr val="dk1"/>
                          </a:solidFill>
                          <a:latin typeface="Times New Roman"/>
                          <a:ea typeface="Times New Roman"/>
                          <a:cs typeface="Times New Roman"/>
                          <a:sym typeface="Times New Roman"/>
                        </a:rPr>
                        <a:t> PTVT </a:t>
                      </a:r>
                      <a:r>
                        <a:rPr lang="en-US" dirty="0" err="1">
                          <a:solidFill>
                            <a:schemeClr val="dk1"/>
                          </a:solidFill>
                          <a:latin typeface="Times New Roman"/>
                          <a:ea typeface="Times New Roman"/>
                          <a:cs typeface="Times New Roman"/>
                          <a:sym typeface="Times New Roman"/>
                        </a:rPr>
                        <a:t>thay</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thế</a:t>
                      </a:r>
                      <a:r>
                        <a:rPr lang="en-US" dirty="0">
                          <a:solidFill>
                            <a:schemeClr val="dk1"/>
                          </a:solidFill>
                          <a:latin typeface="Times New Roman"/>
                          <a:ea typeface="Times New Roman"/>
                          <a:cs typeface="Times New Roman"/>
                          <a:sym typeface="Times New Roman"/>
                        </a:rPr>
                        <a:t>. Trong </a:t>
                      </a:r>
                      <a:r>
                        <a:rPr lang="en-US" dirty="0" err="1">
                          <a:solidFill>
                            <a:schemeClr val="dk1"/>
                          </a:solidFill>
                          <a:latin typeface="Times New Roman"/>
                          <a:ea typeface="Times New Roman"/>
                          <a:cs typeface="Times New Roman"/>
                          <a:sym typeface="Times New Roman"/>
                        </a:rPr>
                        <a:t>đó</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có</a:t>
                      </a:r>
                      <a:r>
                        <a:rPr lang="en-US" dirty="0">
                          <a:solidFill>
                            <a:schemeClr val="dk1"/>
                          </a:solidFill>
                          <a:latin typeface="Times New Roman"/>
                          <a:ea typeface="Times New Roman"/>
                          <a:cs typeface="Times New Roman"/>
                          <a:sym typeface="Times New Roman"/>
                        </a:rPr>
                        <a:t> 4 warranty order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từ</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chối</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bảo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hành</a:t>
                      </a:r>
                      <a:r>
                        <a:rPr lang="en-US" dirty="0">
                          <a:solidFill>
                            <a:schemeClr val="dk1"/>
                          </a:solidFill>
                          <a:latin typeface="Times New Roman"/>
                          <a:ea typeface="Times New Roman"/>
                          <a:cs typeface="Times New Roman"/>
                          <a:sym typeface="Times New Roman"/>
                        </a:rPr>
                        <a:t> do </a:t>
                      </a:r>
                      <a:r>
                        <a:rPr lang="en-US" dirty="0" err="1">
                          <a:solidFill>
                            <a:schemeClr val="dk1"/>
                          </a:solidFill>
                          <a:latin typeface="Times New Roman"/>
                          <a:ea typeface="Times New Roman"/>
                          <a:cs typeface="Times New Roman"/>
                          <a:sym typeface="Times New Roman"/>
                        </a:rPr>
                        <a:t>bị</a:t>
                      </a:r>
                      <a:r>
                        <a:rPr lang="en-US" dirty="0">
                          <a:solidFill>
                            <a:schemeClr val="dk1"/>
                          </a:solidFill>
                          <a:latin typeface="Times New Roman"/>
                          <a:ea typeface="Times New Roman"/>
                          <a:cs typeface="Times New Roman"/>
                          <a:sym typeface="Times New Roman"/>
                        </a:rPr>
                        <a:t> oil and carbon contamination</a:t>
                      </a:r>
                      <a:endParaRPr sz="1100" dirty="0">
                        <a:solidFill>
                          <a:srgbClr val="1F497D"/>
                        </a:solidFill>
                        <a:latin typeface="Calibri"/>
                        <a:ea typeface="Calibri"/>
                        <a:cs typeface="Calibri"/>
                        <a:sym typeface="Calibri"/>
                      </a:endParaRPr>
                    </a:p>
                    <a:p>
                      <a:pPr marL="0" marR="0" lvl="0" indent="0" algn="l" rtl="0">
                        <a:spcBef>
                          <a:spcPts val="0"/>
                        </a:spcBef>
                        <a:spcAft>
                          <a:spcPts val="0"/>
                        </a:spcAft>
                        <a:buClr>
                          <a:schemeClr val="dk1"/>
                        </a:buClr>
                        <a:buSzPts val="1400"/>
                        <a:buFont typeface="Arial"/>
                        <a:buNone/>
                      </a:pPr>
                      <a:r>
                        <a:rPr lang="en-US" dirty="0">
                          <a:solidFill>
                            <a:schemeClr val="dk1"/>
                          </a:solidFill>
                          <a:latin typeface="Times New Roman"/>
                          <a:ea typeface="Times New Roman"/>
                          <a:cs typeface="Times New Roman"/>
                          <a:sym typeface="Times New Roman"/>
                        </a:rPr>
                        <a:t>01LO: </a:t>
                      </a:r>
                      <a:r>
                        <a:rPr lang="en-US" dirty="0" err="1">
                          <a:solidFill>
                            <a:schemeClr val="dk1"/>
                          </a:solidFill>
                          <a:latin typeface="Times New Roman"/>
                          <a:ea typeface="Times New Roman"/>
                          <a:cs typeface="Times New Roman"/>
                          <a:sym typeface="Times New Roman"/>
                        </a:rPr>
                        <a:t>vừa</a:t>
                      </a:r>
                      <a:r>
                        <a:rPr lang="en-US" dirty="0">
                          <a:solidFill>
                            <a:schemeClr val="dk1"/>
                          </a:solidFill>
                          <a:latin typeface="Times New Roman"/>
                          <a:ea typeface="Times New Roman"/>
                          <a:cs typeface="Times New Roman"/>
                          <a:sym typeface="Times New Roman"/>
                        </a:rPr>
                        <a:t> issue (27/6) </a:t>
                      </a:r>
                      <a:r>
                        <a:rPr lang="en-US" dirty="0" err="1">
                          <a:solidFill>
                            <a:schemeClr val="dk1"/>
                          </a:solidFill>
                          <a:latin typeface="Times New Roman"/>
                          <a:ea typeface="Times New Roman"/>
                          <a:cs typeface="Times New Roman"/>
                          <a:sym typeface="Times New Roman"/>
                        </a:rPr>
                        <a:t>cho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tàu</a:t>
                      </a:r>
                      <a:r>
                        <a:rPr lang="en-US" dirty="0">
                          <a:solidFill>
                            <a:schemeClr val="dk1"/>
                          </a:solidFill>
                          <a:latin typeface="Times New Roman"/>
                          <a:ea typeface="Times New Roman"/>
                          <a:cs typeface="Times New Roman"/>
                          <a:sym typeface="Times New Roman"/>
                        </a:rPr>
                        <a:t> B219 </a:t>
                      </a:r>
                      <a:r>
                        <a:rPr lang="en-US" dirty="0" err="1">
                          <a:solidFill>
                            <a:schemeClr val="dk1"/>
                          </a:solidFill>
                          <a:latin typeface="Times New Roman"/>
                          <a:ea typeface="Times New Roman"/>
                          <a:cs typeface="Times New Roman"/>
                          <a:sym typeface="Times New Roman"/>
                        </a:rPr>
                        <a:t>yêu</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cầu</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ngày</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05/7.</a:t>
                      </a:r>
                      <a:r>
                        <a:rPr lang="en-US" dirty="0">
                          <a:solidFill>
                            <a:schemeClr val="dk1"/>
                          </a:solidFill>
                          <a:latin typeface="Times New Roman"/>
                          <a:ea typeface="Times New Roman"/>
                          <a:cs typeface="Times New Roman"/>
                          <a:sym typeface="Times New Roman"/>
                        </a:rPr>
                        <a:t/>
                      </a:r>
                      <a:br>
                        <a:rPr lang="en-US" dirty="0">
                          <a:solidFill>
                            <a:schemeClr val="dk1"/>
                          </a:solidFill>
                          <a:latin typeface="Times New Roman"/>
                          <a:ea typeface="Times New Roman"/>
                          <a:cs typeface="Times New Roman"/>
                          <a:sym typeface="Times New Roman"/>
                        </a:rPr>
                      </a:br>
                      <a:r>
                        <a:rPr lang="en-US" dirty="0">
                          <a:solidFill>
                            <a:schemeClr val="dk1"/>
                          </a:solidFill>
                          <a:latin typeface="Times New Roman"/>
                          <a:ea typeface="Times New Roman"/>
                          <a:cs typeface="Times New Roman"/>
                          <a:sym typeface="Times New Roman"/>
                        </a:rPr>
                        <a:t>01EA: </a:t>
                      </a:r>
                      <a:r>
                        <a:rPr lang="en-US" dirty="0" err="1">
                          <a:solidFill>
                            <a:schemeClr val="dk1"/>
                          </a:solidFill>
                          <a:latin typeface="Times New Roman"/>
                          <a:ea typeface="Times New Roman"/>
                          <a:cs typeface="Times New Roman"/>
                          <a:sym typeface="Times New Roman"/>
                        </a:rPr>
                        <a:t>vừa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lắp</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đã</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báo</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hỏng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trên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tàu</a:t>
                      </a:r>
                      <a:r>
                        <a:rPr lang="en-US" dirty="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B219</a:t>
                      </a:r>
                      <a:r>
                        <a:rPr lang="en-US" dirty="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87722896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2" name="Google Shape;262;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graphicFrame>
        <p:nvGraphicFramePr>
          <p:cNvPr id="263" name="Google Shape;263;g31ccdae391d_0_354"/>
          <p:cNvGraphicFramePr/>
          <p:nvPr>
            <p:extLst/>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r>
                        <a:rPr lang="en-US">
                          <a:latin typeface="Times New Roman"/>
                          <a:ea typeface="Times New Roman"/>
                          <a:cs typeface="Times New Roman"/>
                          <a:sym typeface="Times New Roman"/>
                        </a:rPr>
                        <a:t>cho cao điểm hè 2025</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latin typeface="Times New Roman"/>
                          <a:ea typeface="Times New Roman"/>
                          <a:cs typeface="Times New Roman"/>
                          <a:sym typeface="Times New Roman"/>
                        </a:rPr>
                        <a:t>NIL stock + 01ea Vip Kit. Dự kiến cuối tuần 27 có 02 ea về.</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Times New Roman"/>
                          <a:ea typeface="Times New Roman"/>
                          <a:cs typeface="Times New Roman"/>
                          <a:sym typeface="Times New Roman"/>
                        </a:rPr>
                        <a:t>- Ban QLVT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làm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việc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với</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Safran</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thúc</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đẩy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các</a:t>
                      </a:r>
                      <a:r>
                        <a:rPr lang="en-US" sz="1400" u="none" strike="noStrike" cap="none" dirty="0">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cụm</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phanh</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đang</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sửa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chữa</a:t>
                      </a:r>
                      <a:r>
                        <a:rPr lang="en-US" sz="1400" b="0" i="0" u="none" strike="noStrike" cap="none" dirty="0">
                          <a:solidFill>
                            <a:srgbClr val="000000"/>
                          </a:solidFill>
                          <a:latin typeface="Times New Roman"/>
                          <a:ea typeface="Times New Roman"/>
                          <a:cs typeface="Times New Roman"/>
                          <a:sym typeface="Times New Roman"/>
                        </a:rPr>
                        <a:t> </a:t>
                      </a:r>
                      <a:r>
                        <a:rPr lang="en-US" sz="1400" b="0" i="0" u="none" strike="noStrike" cap="none" dirty="0" err="1">
                          <a:solidFill>
                            <a:srgbClr val="000000"/>
                          </a:solidFill>
                          <a:latin typeface="Times New Roman"/>
                          <a:ea typeface="Times New Roman"/>
                          <a:cs typeface="Times New Roman"/>
                          <a:sym typeface="Times New Roman"/>
                        </a:rPr>
                        <a:t>về</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Tần</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suất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B787 </a:t>
                      </a:r>
                      <a:r>
                        <a:rPr lang="en-US" sz="1400" u="none" strike="noStrike" cap="none" dirty="0" err="1">
                          <a:latin typeface="Times New Roman"/>
                          <a:ea typeface="Times New Roman"/>
                          <a:cs typeface="Times New Roman"/>
                          <a:sym typeface="Times New Roman"/>
                        </a:rPr>
                        <a:t>đang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gia</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tăng</a:t>
                      </a:r>
                      <a:r>
                        <a:rPr lang="en-US" sz="1400" u="none" strike="noStrike" cap="none" dirty="0">
                          <a:latin typeface="Times New Roman"/>
                          <a:ea typeface="Times New Roman"/>
                          <a:cs typeface="Times New Roman"/>
                          <a:sym typeface="Times New Roman"/>
                        </a:rPr>
                        <a:t>, Ban QLVT </a:t>
                      </a:r>
                      <a:r>
                        <a:rPr lang="en-US" sz="1400" u="none" strike="noStrike" cap="none" dirty="0" err="1">
                          <a:latin typeface="Times New Roman"/>
                          <a:ea typeface="Times New Roman"/>
                          <a:cs typeface="Times New Roman"/>
                          <a:sym typeface="Times New Roman"/>
                        </a:rPr>
                        <a:t>đã</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đề</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nghị</a:t>
                      </a:r>
                      <a:r>
                        <a:rPr lang="en-US" sz="1400" u="none" strike="noStrike" cap="none" dirty="0">
                          <a:latin typeface="Times New Roman"/>
                          <a:ea typeface="Times New Roman"/>
                          <a:cs typeface="Times New Roman"/>
                          <a:sym typeface="Times New Roman"/>
                        </a:rPr>
                        <a:t> Ban KT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VAECO </a:t>
                      </a:r>
                      <a:r>
                        <a:rPr lang="en-US" sz="1400" u="none" strike="noStrike" cap="none" dirty="0" err="1">
                          <a:latin typeface="Times New Roman"/>
                          <a:ea typeface="Times New Roman"/>
                          <a:cs typeface="Times New Roman"/>
                          <a:sym typeface="Times New Roman"/>
                        </a:rPr>
                        <a:t>cập</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nhật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kế</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hoạch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thay</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phanh</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cho</a:t>
                      </a:r>
                      <a:r>
                        <a:rPr lang="en-US" sz="1400" u="none" strike="noStrike" cap="none" dirty="0">
                          <a:latin typeface="Times New Roman"/>
                          <a:ea typeface="Times New Roman"/>
                          <a:cs typeface="Times New Roman"/>
                          <a:sym typeface="Times New Roman"/>
                        </a:rPr>
                        <a:t> 3 </a:t>
                      </a:r>
                      <a:r>
                        <a:rPr lang="en-US" sz="1400" u="none" strike="noStrike" cap="none" dirty="0" err="1">
                          <a:latin typeface="Times New Roman"/>
                          <a:ea typeface="Times New Roman"/>
                          <a:cs typeface="Times New Roman"/>
                          <a:sym typeface="Times New Roman"/>
                        </a:rPr>
                        <a:t>tháng</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tới</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và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rà</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soát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làm</a:t>
                      </a:r>
                      <a:r>
                        <a:rPr lang="en-US" sz="1400" u="none" strike="noStrike" cap="none" dirty="0">
                          <a:latin typeface="Times New Roman"/>
                          <a:ea typeface="Times New Roman"/>
                          <a:cs typeface="Times New Roman"/>
                          <a:sym typeface="Times New Roman"/>
                        </a:rPr>
                        <a:t> stagger </a:t>
                      </a:r>
                      <a:r>
                        <a:rPr lang="en-US" sz="1400" u="none" strike="noStrike" cap="none" dirty="0" err="1">
                          <a:solidFill>
                            <a:schemeClr val="dk1"/>
                          </a:solidFill>
                          <a:latin typeface="Times New Roman"/>
                          <a:ea typeface="Times New Roman"/>
                          <a:cs typeface="Times New Roman"/>
                          <a:sym typeface="Times New Roman"/>
                        </a:rPr>
                        <a:t>để</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tránh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tình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trạng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thay</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phanh</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hàng</a:t>
                      </a:r>
                      <a:r>
                        <a:rPr lang="en-US" sz="1400" u="none" strike="noStrike" cap="none" dirty="0">
                          <a:solidFill>
                            <a:schemeClr val="dk1"/>
                          </a:solidFill>
                          <a:latin typeface="Times New Roman"/>
                          <a:ea typeface="Times New Roman"/>
                          <a:cs typeface="Times New Roman"/>
                          <a:sym typeface="Times New Roman"/>
                        </a:rPr>
                        <a:t> </a:t>
                      </a:r>
                      <a:r>
                        <a:rPr lang="en-US" sz="1400" u="none" strike="noStrike" cap="none" dirty="0" err="1">
                          <a:solidFill>
                            <a:schemeClr val="dk1"/>
                          </a:solidFill>
                          <a:latin typeface="Times New Roman"/>
                          <a:ea typeface="Times New Roman"/>
                          <a:cs typeface="Times New Roman"/>
                          <a:sym typeface="Times New Roman"/>
                        </a:rPr>
                        <a:t>loạt</a:t>
                      </a:r>
                      <a:r>
                        <a:rPr lang="en-US" dirty="0">
                          <a:solidFill>
                            <a:schemeClr val="dk1"/>
                          </a:solidFill>
                          <a:latin typeface="Times New Roman"/>
                          <a:ea typeface="Times New Roman"/>
                          <a:cs typeface="Times New Roman"/>
                          <a:sym typeface="Times New Roman"/>
                        </a:rPr>
                        <a:t> </a:t>
                      </a:r>
                      <a:r>
                        <a:rPr lang="en-US" dirty="0" err="1" smtClean="0">
                          <a:solidFill>
                            <a:schemeClr val="dk1"/>
                          </a:solidFill>
                          <a:latin typeface="Times New Roman"/>
                          <a:ea typeface="Times New Roman"/>
                          <a:cs typeface="Times New Roman"/>
                          <a:sym typeface="Times New Roman"/>
                        </a:rPr>
                        <a:t>những</a:t>
                      </a:r>
                      <a:r>
                        <a:rPr lang="en-US" dirty="0" smtClean="0">
                          <a:solidFill>
                            <a:schemeClr val="dk1"/>
                          </a:solidFill>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02ea in stock. Dự kiến tuần 27 VSTEA xuất xưởng thêm 03 ea.</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a:solidFill>
                            <a:schemeClr val="dk1"/>
                          </a:solidFill>
                          <a:latin typeface="Times New Roman"/>
                          <a:ea typeface="Times New Roman"/>
                          <a:cs typeface="Times New Roman"/>
                          <a:sym typeface="Times New Roman"/>
                        </a:rPr>
                        <a:t>05ea in stock. trong tuần 27 dự kiến sẽ có thêm 05ea.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9940577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0" name="Google Shape;270;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sp>
        <p:nvSpPr>
          <p:cNvPr id="271" name="Google Shape;271;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NIL</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7</a:t>
            </a:r>
            <a:r>
              <a:rPr lang="en-US" sz="1500" b="0" i="0" u="none" strike="noStrike" cap="none" dirty="0">
                <a:solidFill>
                  <a:schemeClr val="dk1"/>
                </a:solidFill>
                <a:highlight>
                  <a:schemeClr val="lt1"/>
                </a:highlight>
                <a:latin typeface="Times New Roman"/>
                <a:ea typeface="Times New Roman"/>
                <a:cs typeface="Times New Roman"/>
                <a:sym typeface="Times New Roman"/>
              </a:rPr>
              <a:t>ea (0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21317, 21048</a:t>
            </a:r>
            <a:r>
              <a:rPr lang="en-US" sz="1500" dirty="0">
                <a:solidFill>
                  <a:schemeClr val="dk1"/>
                </a:solidFill>
                <a:highlight>
                  <a:schemeClr val="lt1"/>
                </a:highlight>
                <a:latin typeface="Times New Roman"/>
                <a:ea typeface="Times New Roman"/>
                <a:cs typeface="Times New Roman"/>
                <a:sym typeface="Times New Roman"/>
              </a:rPr>
              <a:t>, 21024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21316,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 </a:t>
            </a:r>
            <a:endParaRPr sz="1500" dirty="0">
              <a:solidFill>
                <a:schemeClr val="dk1"/>
              </a:solidFill>
              <a:highlight>
                <a:schemeClr val="lt1"/>
              </a:highlight>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01 </a:t>
            </a:r>
            <a:r>
              <a:rPr lang="en-US" sz="1500" dirty="0">
                <a:solidFill>
                  <a:schemeClr val="dk1"/>
                </a:solidFill>
                <a:highlight>
                  <a:schemeClr val="lt1"/>
                </a:highlight>
                <a:latin typeface="Times New Roman"/>
                <a:ea typeface="Times New Roman"/>
                <a:cs typeface="Times New Roman"/>
                <a:sym typeface="Times New Roman"/>
              </a:rPr>
              <a:t>ENG </a:t>
            </a:r>
            <a:r>
              <a:rPr lang="en-US" sz="1500" dirty="0">
                <a:solidFill>
                  <a:schemeClr val="dk1"/>
                </a:solidFill>
                <a:latin typeface="Times New Roman"/>
                <a:ea typeface="Times New Roman"/>
                <a:cs typeface="Times New Roman"/>
                <a:sym typeface="Times New Roman"/>
              </a:rPr>
              <a:t>21136 pickup 30Jun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SIN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10/July.</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01 </a:t>
            </a:r>
            <a:r>
              <a:rPr lang="en-US" sz="1500" dirty="0">
                <a:solidFill>
                  <a:schemeClr val="dk1"/>
                </a:solidFill>
                <a:highlight>
                  <a:schemeClr val="lt1"/>
                </a:highlight>
                <a:latin typeface="Times New Roman"/>
                <a:ea typeface="Times New Roman"/>
                <a:cs typeface="Times New Roman"/>
                <a:sym typeface="Times New Roman"/>
              </a:rPr>
              <a:t>ENG </a:t>
            </a:r>
            <a:r>
              <a:rPr lang="en-US" sz="1500" dirty="0">
                <a:solidFill>
                  <a:schemeClr val="dk1"/>
                </a:solidFill>
                <a:latin typeface="Times New Roman"/>
                <a:ea typeface="Times New Roman"/>
                <a:cs typeface="Times New Roman"/>
                <a:sym typeface="Times New Roman"/>
              </a:rPr>
              <a:t>21043 pickup 29Jul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N3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07/Aug.</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a:solidFill>
                  <a:schemeClr val="dk1"/>
                </a:solidFill>
                <a:latin typeface="Times New Roman"/>
                <a:ea typeface="Times New Roman"/>
                <a:cs typeface="Times New Roman"/>
                <a:sym typeface="Times New Roman"/>
              </a:rPr>
              <a:t>01 </a:t>
            </a:r>
            <a:r>
              <a:rPr lang="en-US" sz="1500" dirty="0">
                <a:solidFill>
                  <a:schemeClr val="dk1"/>
                </a:solidFill>
                <a:highlight>
                  <a:schemeClr val="lt1"/>
                </a:highlight>
                <a:latin typeface="Times New Roman"/>
                <a:ea typeface="Times New Roman"/>
                <a:cs typeface="Times New Roman"/>
                <a:sym typeface="Times New Roman"/>
              </a:rPr>
              <a:t>ENG </a:t>
            </a:r>
            <a:r>
              <a:rPr lang="en-US" sz="1500" dirty="0">
                <a:solidFill>
                  <a:schemeClr val="dk1"/>
                </a:solidFill>
                <a:latin typeface="Times New Roman"/>
                <a:ea typeface="Times New Roman"/>
                <a:cs typeface="Times New Roman"/>
                <a:sym typeface="Times New Roman"/>
              </a:rPr>
              <a:t>21137 pickup 07Aug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N3 </a:t>
            </a:r>
            <a:r>
              <a:rPr lang="en-US" sz="1500" dirty="0" err="1">
                <a:solidFill>
                  <a:schemeClr val="dk1"/>
                </a:solidFill>
                <a:latin typeface="Times New Roman"/>
                <a:ea typeface="Times New Roman"/>
                <a:cs typeface="Times New Roman"/>
                <a:sym typeface="Times New Roman"/>
              </a:rPr>
              <a:t>dự</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kiến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15/Aug.</a:t>
            </a:r>
            <a:endParaRPr sz="1500" dirty="0">
              <a:solidFill>
                <a:schemeClr val="dk1"/>
              </a:solidFill>
              <a:latin typeface="Times New Roman"/>
              <a:ea typeface="Times New Roman"/>
              <a:cs typeface="Times New Roman"/>
              <a:sym typeface="Times New Roman"/>
            </a:endParaRPr>
          </a:p>
          <a:p>
            <a:pPr marL="457200" lvl="0" indent="-323850" algn="just" rtl="0">
              <a:lnSpc>
                <a:spcPct val="115000"/>
              </a:lnSpc>
              <a:spcBef>
                <a:spcPts val="0"/>
              </a:spcBef>
              <a:spcAft>
                <a:spcPts val="0"/>
              </a:spcAft>
              <a:buClr>
                <a:schemeClr val="dk1"/>
              </a:buClr>
              <a:buSzPts val="1500"/>
              <a:buFont typeface="Times New Roman"/>
              <a:buChar char="+"/>
            </a:pPr>
            <a:r>
              <a:rPr lang="en-US" sz="1500" dirty="0" smtClean="0">
                <a:solidFill>
                  <a:schemeClr val="dk1"/>
                </a:solidFill>
                <a:latin typeface="Times New Roman"/>
                <a:ea typeface="Times New Roman"/>
                <a:cs typeface="Times New Roman"/>
                <a:sym typeface="Times New Roman"/>
              </a:rPr>
              <a:t>01 </a:t>
            </a:r>
            <a:r>
              <a:rPr lang="en-US" sz="1500" dirty="0">
                <a:solidFill>
                  <a:schemeClr val="dk1"/>
                </a:solidFill>
                <a:latin typeface="Times New Roman"/>
                <a:ea typeface="Times New Roman"/>
                <a:cs typeface="Times New Roman"/>
                <a:sym typeface="Times New Roman"/>
              </a:rPr>
              <a:t>ENG 21414 pickup 30July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SIN </a:t>
            </a:r>
            <a:r>
              <a:rPr lang="en-US" sz="1500" dirty="0" err="1">
                <a:solidFill>
                  <a:schemeClr val="dk1"/>
                </a:solidFill>
                <a:latin typeface="Times New Roman"/>
                <a:ea typeface="Times New Roman"/>
                <a:cs typeface="Times New Roman"/>
                <a:sym typeface="Times New Roman"/>
              </a:rPr>
              <a:t>giao</a:t>
            </a:r>
            <a:r>
              <a:rPr lang="en-US" sz="1500" dirty="0">
                <a:solidFill>
                  <a:schemeClr val="dk1"/>
                </a:solidFill>
                <a:latin typeface="Times New Roman"/>
                <a:ea typeface="Times New Roman"/>
                <a:cs typeface="Times New Roman"/>
                <a:sym typeface="Times New Roman"/>
              </a:rPr>
              <a:t> VAECO </a:t>
            </a:r>
            <a:r>
              <a:rPr lang="en-US" sz="1500" dirty="0" smtClean="0">
                <a:solidFill>
                  <a:schemeClr val="dk1"/>
                </a:solidFill>
                <a:latin typeface="Times New Roman"/>
                <a:ea typeface="Times New Roman"/>
                <a:cs typeface="Times New Roman"/>
                <a:sym typeface="Times New Roman"/>
              </a:rPr>
              <a:t>10/Aug.</a:t>
            </a:r>
            <a:endParaRPr sz="1500"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None/>
            </a:pP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10</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6</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M</a:t>
            </a:r>
            <a:r>
              <a:rPr lang="en-US" sz="1500" dirty="0">
                <a:solidFill>
                  <a:schemeClr val="dk1"/>
                </a:solidFill>
                <a:highlight>
                  <a:schemeClr val="lt1"/>
                </a:highlight>
                <a:latin typeface="Times New Roman"/>
                <a:ea typeface="Times New Roman"/>
                <a:cs typeface="Times New Roman"/>
                <a:sym typeface="Times New Roman"/>
              </a:rPr>
              <a:t>ar/2025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01ea in stock (ENG 956569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SGN 28/06)</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4</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a:t>
            </a:r>
            <a:r>
              <a:rPr lang="en-US" sz="1500"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a:solidFill>
                  <a:schemeClr val="dk1"/>
                </a:solidFill>
                <a:highlight>
                  <a:schemeClr val="lt1"/>
                </a:highlight>
                <a:latin typeface="Times New Roman"/>
                <a:ea typeface="Times New Roman"/>
                <a:cs typeface="Times New Roman"/>
                <a:sym typeface="Times New Roman"/>
              </a:rPr>
              <a:t>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956947, 956534</a:t>
            </a:r>
            <a:r>
              <a:rPr lang="en-US" sz="1500" dirty="0">
                <a:solidFill>
                  <a:schemeClr val="dk1"/>
                </a:solidFill>
                <a:highlight>
                  <a:schemeClr val="lt1"/>
                </a:highlight>
                <a:latin typeface="Times New Roman"/>
                <a:ea typeface="Times New Roman"/>
                <a:cs typeface="Times New Roman"/>
                <a:sym typeface="Times New Roman"/>
              </a:rPr>
              <a:t>, 956913 </a:t>
            </a:r>
            <a:r>
              <a:rPr lang="en-US" sz="1500" b="0" i="0" u="none" strike="noStrike" cap="none" dirty="0">
                <a:solidFill>
                  <a:schemeClr val="dk1"/>
                </a:solidFill>
                <a:highlight>
                  <a:schemeClr val="lt1"/>
                </a:highlight>
                <a:latin typeface="Times New Roman"/>
                <a:ea typeface="Times New Roman"/>
                <a:cs typeface="Times New Roman"/>
                <a:sym typeface="Times New Roman"/>
              </a:rPr>
              <a:t>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956599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07/7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chuyển</a:t>
            </a:r>
            <a:r>
              <a:rPr lang="en-US" sz="1500" dirty="0">
                <a:solidFill>
                  <a:schemeClr val="dk1"/>
                </a:solidFill>
                <a:highlight>
                  <a:schemeClr val="lt1"/>
                </a:highlight>
                <a:latin typeface="Times New Roman"/>
                <a:ea typeface="Times New Roman"/>
                <a:cs typeface="Times New Roman"/>
                <a:sym typeface="Times New Roman"/>
              </a:rPr>
              <a:t> 15/7.</a:t>
            </a:r>
            <a:endParaRPr sz="1500" dirty="0">
              <a:solidFill>
                <a:schemeClr val="dk1"/>
              </a:solidFill>
              <a:highlight>
                <a:schemeClr val="lt1"/>
              </a:highlight>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959395 </a:t>
            </a:r>
            <a:r>
              <a:rPr lang="en-US" sz="1500" dirty="0" err="1">
                <a:solidFill>
                  <a:schemeClr val="dk1"/>
                </a:solidFill>
                <a:highlight>
                  <a:schemeClr val="lt1"/>
                </a:highlight>
                <a:latin typeface="Times New Roman"/>
                <a:ea typeface="Times New Roman"/>
                <a:cs typeface="Times New Roman"/>
                <a:sym typeface="Times New Roman"/>
              </a:rPr>
              <a:t>đang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sửa</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GE shop </a:t>
            </a:r>
            <a:r>
              <a:rPr lang="en-US" sz="1500" dirty="0" err="1">
                <a:solidFill>
                  <a:schemeClr val="dk1"/>
                </a:solidFill>
                <a:highlight>
                  <a:schemeClr val="lt1"/>
                </a:highlight>
                <a:latin typeface="Times New Roman"/>
                <a:ea typeface="Times New Roman"/>
                <a:cs typeface="Times New Roman"/>
                <a:sym typeface="Times New Roman"/>
              </a:rPr>
              <a:t>dự</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kiến</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xong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cuối</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tháng</a:t>
            </a:r>
            <a:r>
              <a:rPr lang="en-US" sz="1500" dirty="0">
                <a:solidFill>
                  <a:schemeClr val="dk1"/>
                </a:solidFill>
                <a:highlight>
                  <a:schemeClr val="lt1"/>
                </a:highlight>
                <a:latin typeface="Times New Roman"/>
                <a:ea typeface="Times New Roman"/>
                <a:cs typeface="Times New Roman"/>
                <a:sym typeface="Times New Roman"/>
              </a:rPr>
              <a:t> 8/2025.</a:t>
            </a: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a:t>
            </a:r>
            <a:r>
              <a:rPr lang="en-US" sz="1500" dirty="0">
                <a:highlight>
                  <a:schemeClr val="lt1"/>
                </a:highlight>
                <a:latin typeface="Times New Roman"/>
                <a:ea typeface="Times New Roman"/>
                <a:cs typeface="Times New Roman"/>
                <a:sym typeface="Times New Roman"/>
              </a:rPr>
              <a:t>6</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956626, 956980)</a:t>
            </a:r>
            <a:r>
              <a:rPr lang="en-US" sz="1500" dirty="0">
                <a:highlight>
                  <a:schemeClr val="lt1"/>
                </a:highlight>
                <a:latin typeface="Times New Roman"/>
                <a:ea typeface="Times New Roman"/>
                <a:cs typeface="Times New Roman"/>
                <a:sym typeface="Times New Roman"/>
              </a:rPr>
              <a:t> trong </a:t>
            </a:r>
            <a:r>
              <a:rPr lang="en-US" sz="1500" dirty="0" err="1">
                <a:highlight>
                  <a:schemeClr val="lt1"/>
                </a:highlight>
                <a:latin typeface="Times New Roman"/>
                <a:ea typeface="Times New Roman"/>
                <a:cs typeface="Times New Roman"/>
                <a:sym typeface="Times New Roman"/>
              </a:rPr>
              <a:t>đó</a:t>
            </a:r>
            <a:r>
              <a:rPr lang="en-US" sz="1500" dirty="0">
                <a:highlight>
                  <a:schemeClr val="lt1"/>
                </a:highlight>
                <a:latin typeface="Times New Roman"/>
                <a:ea typeface="Times New Roman"/>
                <a:cs typeface="Times New Roman"/>
                <a:sym typeface="Times New Roman"/>
              </a:rPr>
              <a:t> 956980 </a:t>
            </a:r>
            <a:r>
              <a:rPr lang="en-US" sz="1500" dirty="0" err="1">
                <a:highlight>
                  <a:schemeClr val="lt1"/>
                </a:highlight>
                <a:latin typeface="Times New Roman"/>
                <a:ea typeface="Times New Roman"/>
                <a:cs typeface="Times New Roman"/>
                <a:sym typeface="Times New Roman"/>
              </a:rPr>
              <a:t>mới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do 01 </a:t>
            </a:r>
            <a:r>
              <a:rPr lang="en-US" sz="1500" dirty="0" err="1">
                <a:highlight>
                  <a:schemeClr val="lt1"/>
                </a:highlight>
                <a:latin typeface="Times New Roman"/>
                <a:ea typeface="Times New Roman"/>
                <a:cs typeface="Times New Roman"/>
                <a:sym typeface="Times New Roman"/>
              </a:rPr>
              <a:t>đc</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trên</a:t>
            </a:r>
            <a:r>
              <a:rPr lang="en-US" sz="1500" dirty="0">
                <a:highlight>
                  <a:schemeClr val="lt1"/>
                </a:highlight>
                <a:latin typeface="Times New Roman"/>
                <a:ea typeface="Times New Roman"/>
                <a:cs typeface="Times New Roman"/>
                <a:sym typeface="Times New Roman"/>
              </a:rPr>
              <a:t> A868 </a:t>
            </a:r>
            <a:r>
              <a:rPr lang="en-US" sz="1500" dirty="0" err="1">
                <a:highlight>
                  <a:schemeClr val="lt1"/>
                </a:highlight>
                <a:latin typeface="Times New Roman"/>
                <a:ea typeface="Times New Roman"/>
                <a:cs typeface="Times New Roman"/>
                <a:sym typeface="Times New Roman"/>
              </a:rPr>
              <a:t>phải</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tháo</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đầu</a:t>
            </a:r>
            <a:r>
              <a:rPr lang="en-US" sz="1500" dirty="0">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tháng</a:t>
            </a:r>
            <a:r>
              <a:rPr lang="en-US" sz="1500" dirty="0">
                <a:highlight>
                  <a:schemeClr val="lt1"/>
                </a:highlight>
                <a:latin typeface="Times New Roman"/>
                <a:ea typeface="Times New Roman"/>
                <a:cs typeface="Times New Roman"/>
                <a:sym typeface="Times New Roman"/>
              </a:rPr>
              <a:t> 4/2025</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endParaRPr sz="15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67500414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8" name="Google Shape;278;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79" name="Google Shape;279;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a:t>
            </a:r>
            <a:r>
              <a:rPr lang="en-US" sz="1600">
                <a:solidFill>
                  <a:schemeClr val="dk1"/>
                </a:solidFill>
                <a:latin typeface="Times New Roman"/>
                <a:ea typeface="Times New Roman"/>
                <a:cs typeface="Times New Roman"/>
                <a:sym typeface="Times New Roman"/>
              </a:rPr>
              <a:t> 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0ea</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11ea</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cho K6 thuê: 01ea (V12505) - dự kiến trả cuối tháng 8/2025</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Động cơ thuê chuẩn bị tháo trả : V10533 (dự kiến tháo 26/6, hoàn thiện tại VAECO 10/7 và chuyển đi)</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165547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6" name="Google Shape;286;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87" name="Google Shape;287;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8" name="Google Shape;288;g31ccdae391d_0_375"/>
          <p:cNvPicPr preferRelativeResize="0"/>
          <p:nvPr/>
        </p:nvPicPr>
        <p:blipFill>
          <a:blip r:embed="rId3">
            <a:alphaModFix/>
          </a:blip>
          <a:stretch>
            <a:fillRect/>
          </a:stretch>
        </p:blipFill>
        <p:spPr>
          <a:xfrm>
            <a:off x="607025" y="1050300"/>
            <a:ext cx="11203973" cy="3951025"/>
          </a:xfrm>
          <a:prstGeom prst="rect">
            <a:avLst/>
          </a:prstGeom>
          <a:noFill/>
          <a:ln>
            <a:noFill/>
          </a:ln>
        </p:spPr>
      </p:pic>
    </p:spTree>
    <p:extLst>
      <p:ext uri="{BB962C8B-B14F-4D97-AF65-F5344CB8AC3E}">
        <p14:creationId xmlns:p14="http://schemas.microsoft.com/office/powerpoint/2010/main" val="260816517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sp>
        <p:nvSpPr>
          <p:cNvPr id="295" name="Google Shape;295;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4 t</a:t>
            </a:r>
            <a:r>
              <a:rPr lang="en-US" sz="1500" b="0" i="0" u="none" strike="noStrike" cap="none">
                <a:solidFill>
                  <a:schemeClr val="dk1"/>
                </a:solidFill>
                <a:latin typeface="Times New Roman"/>
                <a:ea typeface="Times New Roman"/>
                <a:cs typeface="Times New Roman"/>
                <a:sym typeface="Times New Roman"/>
              </a:rPr>
              <a:t>ại ESA và 0</a:t>
            </a:r>
            <a:r>
              <a:rPr lang="en-US" sz="1500">
                <a:solidFill>
                  <a:schemeClr val="dk1"/>
                </a:solidFill>
                <a:latin typeface="Times New Roman"/>
                <a:ea typeface="Times New Roman"/>
                <a:cs typeface="Times New Roman"/>
                <a:sym typeface="Times New Roman"/>
              </a:rPr>
              <a:t>1</a:t>
            </a:r>
            <a:r>
              <a:rPr lang="en-US" sz="1500" b="0" i="0" u="none" strike="noStrike" cap="none">
                <a:solidFill>
                  <a:schemeClr val="dk1"/>
                </a:solidFill>
                <a:latin typeface="Times New Roman"/>
                <a:ea typeface="Times New Roman"/>
                <a:cs typeface="Times New Roman"/>
                <a:sym typeface="Times New Roman"/>
              </a:rPr>
              <a:t> tại IHI</a:t>
            </a:r>
            <a:r>
              <a:rPr lang="en-US" sz="1500">
                <a:solidFill>
                  <a:schemeClr val="dk1"/>
                </a:solidFill>
                <a:latin typeface="Times New Roman"/>
                <a:ea typeface="Times New Roman"/>
                <a:cs typeface="Times New Roman"/>
                <a:sym typeface="Times New Roman"/>
              </a:rPr>
              <a:t>, 01 tại MTU-H</a:t>
            </a:r>
            <a:r>
              <a:rPr lang="en-US" sz="1500" b="0" i="0" u="none" strike="noStrike" cap="none">
                <a:solidFill>
                  <a:schemeClr val="dk1"/>
                </a:solidFill>
                <a:latin typeface="Times New Roman"/>
                <a:ea typeface="Times New Roman"/>
                <a:cs typeface="Times New Roman"/>
                <a:sym typeface="Times New Roman"/>
              </a:rPr>
              <a:t>)</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Đang làm việc với shop, không có indution slot vào tháng 7</a:t>
            </a:r>
            <a:endParaRPr sz="1500" b="0" i="0" u="none" strike="noStrike" cap="none">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Đang đàm phán thuê thêm 2 động cơ </a:t>
            </a:r>
            <a:br>
              <a:rPr lang="en-US" sz="1500">
                <a:solidFill>
                  <a:schemeClr val="dk1"/>
                </a:solidFill>
                <a:latin typeface="Times New Roman"/>
                <a:ea typeface="Times New Roman"/>
                <a:cs typeface="Times New Roman"/>
                <a:sym typeface="Times New Roman"/>
              </a:rPr>
            </a:br>
            <a:r>
              <a:rPr lang="en-US" sz="1500">
                <a:solidFill>
                  <a:schemeClr val="dk1"/>
                </a:solidFill>
                <a:latin typeface="Times New Roman"/>
                <a:ea typeface="Times New Roman"/>
                <a:cs typeface="Times New Roman"/>
                <a:sym typeface="Times New Roman"/>
              </a:rPr>
              <a:t>- Đàm phán và kí LOI AERCAP, WLFC, Marathon </a:t>
            </a:r>
            <a:br>
              <a:rPr lang="en-US" sz="1500">
                <a:solidFill>
                  <a:schemeClr val="dk1"/>
                </a:solidFill>
                <a:latin typeface="Times New Roman"/>
                <a:ea typeface="Times New Roman"/>
                <a:cs typeface="Times New Roman"/>
                <a:sym typeface="Times New Roman"/>
              </a:rPr>
            </a:b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PTVT thiếu hụt, đặc biệt là khác khối AP51</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1682928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302" name="Google Shape;302;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rgbClr val="FF0000"/>
                </a:solidFill>
                <a:latin typeface="Times New Roman"/>
                <a:ea typeface="Times New Roman"/>
                <a:cs typeface="Times New Roman"/>
                <a:sym typeface="Times New Roman"/>
              </a:rPr>
              <a:t>-</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rgbClr val="FF0000"/>
                </a:solidFill>
                <a:latin typeface="Times New Roman"/>
                <a:ea typeface="Times New Roman"/>
                <a:cs typeface="Times New Roman"/>
                <a:sym typeface="Times New Roman"/>
              </a:rPr>
              <a:t>Đội bay ATR:</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Số</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lượng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dự</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smtClean="0">
                <a:solidFill>
                  <a:schemeClr val="dk1"/>
                </a:solidFill>
                <a:latin typeface="Times New Roman"/>
                <a:ea typeface="Times New Roman"/>
                <a:cs typeface="Times New Roman"/>
                <a:sym typeface="Times New Roman"/>
              </a:rPr>
              <a:t>phòng</a:t>
            </a:r>
            <a:r>
              <a:rPr lang="en-US" sz="1500" dirty="0">
                <a:solidFill>
                  <a:schemeClr val="dk1"/>
                </a:solidFill>
                <a:latin typeface="Times New Roman"/>
                <a:ea typeface="Times New Roman"/>
                <a:cs typeface="Times New Roman"/>
                <a:sym typeface="Times New Roman"/>
              </a:rPr>
              <a:t> </a:t>
            </a:r>
            <a:r>
              <a:rPr lang="en-US" sz="1500" dirty="0" smtClean="0">
                <a:solidFill>
                  <a:schemeClr val="dk1"/>
                </a:solidFill>
                <a:latin typeface="Times New Roman"/>
                <a:ea typeface="Times New Roman"/>
                <a:cs typeface="Times New Roman"/>
                <a:sym typeface="Times New Roman"/>
              </a:rPr>
              <a:t>- </a:t>
            </a:r>
            <a:r>
              <a:rPr lang="en-US" sz="1500" b="0" i="0" u="none" strike="noStrike" cap="none" dirty="0" smtClean="0">
                <a:solidFill>
                  <a:schemeClr val="dk1"/>
                </a:solidFill>
                <a:latin typeface="Times New Roman"/>
                <a:ea typeface="Times New Roman"/>
                <a:cs typeface="Times New Roman"/>
                <a:sym typeface="Times New Roman"/>
              </a:rPr>
              <a:t> 06 </a:t>
            </a:r>
            <a:r>
              <a:rPr lang="en-US" sz="1500" b="0" i="0" u="none" strike="noStrike" cap="none" dirty="0" err="1" smtClean="0">
                <a:solidFill>
                  <a:schemeClr val="dk1"/>
                </a:solidFill>
                <a:latin typeface="Times New Roman"/>
                <a:ea typeface="Times New Roman"/>
                <a:cs typeface="Times New Roman"/>
                <a:sym typeface="Times New Roman"/>
              </a:rPr>
              <a:t>gồm</a:t>
            </a:r>
            <a:r>
              <a:rPr lang="en-US" sz="1500" b="0" i="0" u="none" strike="noStrike" cap="none" dirty="0" smtClean="0">
                <a:solidFill>
                  <a:schemeClr val="dk1"/>
                </a:solidFill>
                <a:latin typeface="Times New Roman"/>
                <a:ea typeface="Times New Roman"/>
                <a:cs typeface="Times New Roman"/>
                <a:sym typeface="Times New Roman"/>
              </a:rPr>
              <a:t> </a:t>
            </a:r>
            <a:r>
              <a:rPr lang="en-US" sz="1500" b="0" i="0" u="none" strike="noStrike" cap="none" dirty="0">
                <a:solidFill>
                  <a:schemeClr val="dk1"/>
                </a:solidFill>
                <a:latin typeface="Times New Roman"/>
                <a:ea typeface="Times New Roman"/>
                <a:cs typeface="Times New Roman"/>
                <a:sym typeface="Times New Roman"/>
              </a:rPr>
              <a:t>03 ENG </a:t>
            </a:r>
            <a:r>
              <a:rPr lang="en-US" sz="1500" b="0" i="0" u="none" strike="noStrike" cap="none" dirty="0" err="1">
                <a:solidFill>
                  <a:schemeClr val="dk1"/>
                </a:solidFill>
                <a:latin typeface="Times New Roman"/>
                <a:ea typeface="Times New Roman"/>
                <a:cs typeface="Times New Roman"/>
                <a:sym typeface="Times New Roman"/>
              </a:rPr>
              <a:t>sở</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hữu</a:t>
            </a:r>
            <a:r>
              <a:rPr lang="en-US" sz="1500" b="0" i="0" u="none" strike="noStrike" cap="none" dirty="0">
                <a:solidFill>
                  <a:schemeClr val="dk1"/>
                </a:solidFill>
                <a:latin typeface="Times New Roman"/>
                <a:ea typeface="Times New Roman"/>
                <a:cs typeface="Times New Roman"/>
                <a:sym typeface="Times New Roman"/>
              </a:rPr>
              <a:t>, 03 ENG </a:t>
            </a:r>
            <a:r>
              <a:rPr lang="en-US" sz="1500" b="0" i="0" u="none" strike="noStrike" cap="none" dirty="0" err="1">
                <a:solidFill>
                  <a:schemeClr val="dk1"/>
                </a:solidFill>
                <a:latin typeface="Times New Roman"/>
                <a:ea typeface="Times New Roman"/>
                <a:cs typeface="Times New Roman"/>
                <a:sym typeface="Times New Roman"/>
              </a:rPr>
              <a:t>thuê</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ngắn</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hạn</a:t>
            </a:r>
            <a:r>
              <a:rPr lang="en-US" sz="1500" b="0" i="0" u="none" strike="noStrike" cap="none" dirty="0">
                <a:solidFill>
                  <a:schemeClr val="dk1"/>
                </a:solidFill>
                <a:latin typeface="Times New Roman"/>
                <a:ea typeface="Times New Roman"/>
                <a:cs typeface="Times New Roman"/>
                <a:sym typeface="Times New Roman"/>
              </a:rPr>
              <a:t>: (ED0321) (ED0036) (ED0715). </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ED0238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shop PWC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SING.</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ED0239, ED0217,ED0</a:t>
            </a:r>
            <a:r>
              <a:rPr lang="en-US" sz="1500" dirty="0">
                <a:solidFill>
                  <a:schemeClr val="dk1"/>
                </a:solidFill>
                <a:latin typeface="Times New Roman"/>
                <a:ea typeface="Times New Roman"/>
                <a:cs typeface="Times New Roman"/>
                <a:sym typeface="Times New Roman"/>
              </a:rPr>
              <a:t>233, ED0214</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đang</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sửa</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tại</a:t>
            </a:r>
            <a:r>
              <a:rPr lang="en-US" sz="1500" b="0" i="0" u="none" strike="noStrike" cap="none" dirty="0">
                <a:solidFill>
                  <a:schemeClr val="dk1"/>
                </a:solidFill>
                <a:latin typeface="Times New Roman"/>
                <a:ea typeface="Times New Roman"/>
                <a:cs typeface="Times New Roman"/>
                <a:sym typeface="Times New Roman"/>
              </a:rPr>
              <a:t> SA.</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Vướng</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mắc</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Khó</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khăn</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shop </a:t>
            </a:r>
            <a:r>
              <a:rPr lang="en-US" sz="1500" dirty="0" err="1">
                <a:solidFill>
                  <a:schemeClr val="dk1"/>
                </a:solidFill>
                <a:latin typeface="Times New Roman"/>
                <a:ea typeface="Times New Roman"/>
                <a:cs typeface="Times New Roman"/>
                <a:sym typeface="Times New Roman"/>
              </a:rPr>
              <a:t>vẫn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gặp</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trình</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trạng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thiếu</a:t>
            </a:r>
            <a:r>
              <a:rPr lang="en-US" sz="1500" dirty="0">
                <a:solidFill>
                  <a:schemeClr val="dk1"/>
                </a:solidFill>
                <a:latin typeface="Times New Roman"/>
                <a:ea typeface="Times New Roman"/>
                <a:cs typeface="Times New Roman"/>
                <a:sym typeface="Times New Roman"/>
              </a:rPr>
              <a:t> part, </a:t>
            </a:r>
            <a:r>
              <a:rPr lang="en-US" sz="1500" dirty="0" err="1">
                <a:solidFill>
                  <a:schemeClr val="dk1"/>
                </a:solidFill>
                <a:latin typeface="Times New Roman"/>
                <a:ea typeface="Times New Roman"/>
                <a:cs typeface="Times New Roman"/>
                <a:sym typeface="Times New Roman"/>
              </a:rPr>
              <a:t>dẫn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đến</a:t>
            </a:r>
            <a:r>
              <a:rPr lang="en-US" sz="1500" dirty="0">
                <a:solidFill>
                  <a:schemeClr val="dk1"/>
                </a:solidFill>
                <a:latin typeface="Times New Roman"/>
                <a:ea typeface="Times New Roman"/>
                <a:cs typeface="Times New Roman"/>
                <a:sym typeface="Times New Roman"/>
              </a:rPr>
              <a:t> TAT </a:t>
            </a:r>
            <a:r>
              <a:rPr lang="en-US" sz="1500" dirty="0" err="1">
                <a:solidFill>
                  <a:schemeClr val="dk1"/>
                </a:solidFill>
                <a:latin typeface="Times New Roman"/>
                <a:ea typeface="Times New Roman"/>
                <a:cs typeface="Times New Roman"/>
                <a:sym typeface="Times New Roman"/>
              </a:rPr>
              <a:t>bị</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kéo</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dài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cả</a:t>
            </a:r>
            <a:r>
              <a:rPr lang="en-US" sz="1500" dirty="0">
                <a:solidFill>
                  <a:schemeClr val="dk1"/>
                </a:solidFill>
                <a:latin typeface="Times New Roman"/>
                <a:ea typeface="Times New Roman"/>
                <a:cs typeface="Times New Roman"/>
                <a:sym typeface="Times New Roman"/>
              </a:rPr>
              <a:t> 02 shop. </a:t>
            </a:r>
            <a:r>
              <a:rPr lang="en-US" sz="1500" dirty="0" err="1">
                <a:solidFill>
                  <a:schemeClr val="dk1"/>
                </a:solidFill>
                <a:latin typeface="Times New Roman"/>
                <a:ea typeface="Times New Roman"/>
                <a:cs typeface="Times New Roman"/>
                <a:sym typeface="Times New Roman"/>
              </a:rPr>
              <a:t>Đặc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biệt</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cần</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giục</a:t>
            </a:r>
            <a:r>
              <a:rPr lang="en-US" sz="1500" dirty="0">
                <a:solidFill>
                  <a:schemeClr val="dk1"/>
                </a:solidFill>
                <a:latin typeface="Times New Roman"/>
                <a:ea typeface="Times New Roman"/>
                <a:cs typeface="Times New Roman"/>
                <a:sym typeface="Times New Roman"/>
              </a:rPr>
              <a:t> ED0239 </a:t>
            </a:r>
            <a:r>
              <a:rPr lang="en-US" sz="1500" dirty="0" err="1">
                <a:solidFill>
                  <a:schemeClr val="dk1"/>
                </a:solidFill>
                <a:latin typeface="Times New Roman"/>
                <a:ea typeface="Times New Roman"/>
                <a:cs typeface="Times New Roman"/>
                <a:sym typeface="Times New Roman"/>
              </a:rPr>
              <a:t>về</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sớm</a:t>
            </a:r>
            <a:r>
              <a:rPr lang="en-US" sz="1500" dirty="0">
                <a:solidFill>
                  <a:schemeClr val="dk1"/>
                </a:solidFill>
                <a:latin typeface="Times New Roman"/>
                <a:ea typeface="Times New Roman"/>
                <a:cs typeface="Times New Roman"/>
                <a:sym typeface="Times New Roman"/>
              </a:rPr>
              <a:t>.</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TAT </a:t>
            </a:r>
            <a:r>
              <a:rPr lang="en-US" sz="1500" dirty="0" err="1">
                <a:solidFill>
                  <a:schemeClr val="dk1"/>
                </a:solidFill>
                <a:latin typeface="Times New Roman"/>
                <a:ea typeface="Times New Roman"/>
                <a:cs typeface="Times New Roman"/>
                <a:sym typeface="Times New Roman"/>
              </a:rPr>
              <a:t>StandardAero</a:t>
            </a:r>
            <a:r>
              <a:rPr lang="en-US" sz="1500" dirty="0">
                <a:solidFill>
                  <a:schemeClr val="dk1"/>
                </a:solidFill>
                <a:latin typeface="Times New Roman"/>
                <a:ea typeface="Times New Roman"/>
                <a:cs typeface="Times New Roman"/>
                <a:sym typeface="Times New Roman"/>
              </a:rPr>
              <a:t>: 250 </a:t>
            </a:r>
            <a:r>
              <a:rPr lang="en-US" sz="1500" dirty="0" err="1">
                <a:solidFill>
                  <a:schemeClr val="dk1"/>
                </a:solidFill>
                <a:latin typeface="Times New Roman"/>
                <a:ea typeface="Times New Roman"/>
                <a:cs typeface="Times New Roman"/>
                <a:sym typeface="Times New Roman"/>
              </a:rPr>
              <a:t>ngày</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dirty="0">
                <a:solidFill>
                  <a:schemeClr val="dk1"/>
                </a:solidFill>
                <a:latin typeface="Times New Roman"/>
                <a:ea typeface="Times New Roman"/>
                <a:cs typeface="Times New Roman"/>
                <a:sym typeface="Times New Roman"/>
              </a:rPr>
              <a:t>TAT PWC: 180 </a:t>
            </a:r>
            <a:r>
              <a:rPr lang="en-US" sz="1500" dirty="0" err="1">
                <a:solidFill>
                  <a:schemeClr val="dk1"/>
                </a:solidFill>
                <a:latin typeface="Times New Roman"/>
                <a:ea typeface="Times New Roman"/>
                <a:cs typeface="Times New Roman"/>
                <a:sym typeface="Times New Roman"/>
              </a:rPr>
              <a:t>ngày</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Giải</a:t>
            </a:r>
            <a:r>
              <a:rPr lang="en-US" sz="1500" b="0" i="0" u="none" strike="noStrike" cap="none" dirty="0">
                <a:solidFill>
                  <a:srgbClr val="FF0000"/>
                </a:solidFill>
                <a:latin typeface="Times New Roman"/>
                <a:ea typeface="Times New Roman"/>
                <a:cs typeface="Times New Roman"/>
                <a:sym typeface="Times New Roman"/>
              </a:rPr>
              <a:t> </a:t>
            </a:r>
            <a:r>
              <a:rPr lang="en-US" sz="1500" b="0" i="0" u="none" strike="noStrike" cap="none" dirty="0" err="1">
                <a:solidFill>
                  <a:srgbClr val="FF0000"/>
                </a:solidFill>
                <a:latin typeface="Times New Roman"/>
                <a:ea typeface="Times New Roman"/>
                <a:cs typeface="Times New Roman"/>
                <a:sym typeface="Times New Roman"/>
              </a:rPr>
              <a:t>pháp</a:t>
            </a:r>
            <a:r>
              <a:rPr lang="en-US" sz="1500" b="0" i="0" u="none" strike="noStrike" cap="none" dirty="0">
                <a:solidFill>
                  <a:srgbClr val="FF0000"/>
                </a:solidFill>
                <a:latin typeface="Times New Roman"/>
                <a:ea typeface="Times New Roman"/>
                <a:cs typeface="Times New Roman"/>
                <a:sym typeface="Times New Roman"/>
              </a:rPr>
              <a:t>:</a:t>
            </a:r>
            <a:endParaRPr sz="15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Tiếp</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tục</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theo</a:t>
            </a:r>
            <a:r>
              <a:rPr lang="en-US" sz="1500" b="0" i="0" u="none" strike="noStrike" cap="none" dirty="0">
                <a:solidFill>
                  <a:schemeClr val="dk1"/>
                </a:solidFill>
                <a:latin typeface="Times New Roman"/>
                <a:ea typeface="Times New Roman"/>
                <a:cs typeface="Times New Roman"/>
                <a:sym typeface="Times New Roman"/>
              </a:rPr>
              <a:t> </a:t>
            </a:r>
            <a:r>
              <a:rPr lang="en-US" sz="1500" b="0" i="0" u="none" strike="noStrike" cap="none" dirty="0" err="1">
                <a:solidFill>
                  <a:schemeClr val="dk1"/>
                </a:solidFill>
                <a:latin typeface="Times New Roman"/>
                <a:ea typeface="Times New Roman"/>
                <a:cs typeface="Times New Roman"/>
                <a:sym typeface="Times New Roman"/>
              </a:rPr>
              <a:t>sát</a:t>
            </a:r>
            <a:r>
              <a:rPr lang="en-US" sz="1500" b="0" i="0" u="none" strike="noStrike" cap="none"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các</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động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cơ</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đang</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sửa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chữa</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tại</a:t>
            </a:r>
            <a:r>
              <a:rPr lang="en-US" sz="1500" dirty="0">
                <a:solidFill>
                  <a:schemeClr val="dk1"/>
                </a:solidFill>
                <a:latin typeface="Times New Roman"/>
                <a:ea typeface="Times New Roman"/>
                <a:cs typeface="Times New Roman"/>
                <a:sym typeface="Times New Roman"/>
              </a:rPr>
              <a:t> PWC </a:t>
            </a:r>
            <a:r>
              <a:rPr lang="en-US" sz="1500" dirty="0" err="1">
                <a:solidFill>
                  <a:schemeClr val="dk1"/>
                </a:solidFill>
                <a:latin typeface="Times New Roman"/>
                <a:ea typeface="Times New Roman"/>
                <a:cs typeface="Times New Roman"/>
                <a:sym typeface="Times New Roman"/>
              </a:rPr>
              <a:t>và</a:t>
            </a:r>
            <a:r>
              <a:rPr lang="en-US" sz="1500" dirty="0">
                <a:solidFill>
                  <a:schemeClr val="dk1"/>
                </a:solidFill>
                <a:latin typeface="Times New Roman"/>
                <a:ea typeface="Times New Roman"/>
                <a:cs typeface="Times New Roman"/>
                <a:sym typeface="Times New Roman"/>
              </a:rPr>
              <a:t> </a:t>
            </a:r>
            <a:r>
              <a:rPr lang="en-US" sz="1500" dirty="0" err="1">
                <a:solidFill>
                  <a:schemeClr val="dk1"/>
                </a:solidFill>
                <a:latin typeface="Times New Roman"/>
                <a:ea typeface="Times New Roman"/>
                <a:cs typeface="Times New Roman"/>
                <a:sym typeface="Times New Roman"/>
              </a:rPr>
              <a:t>StandardAero</a:t>
            </a:r>
            <a:r>
              <a:rPr lang="en-US" sz="1500" dirty="0">
                <a:solidFill>
                  <a:schemeClr val="dk1"/>
                </a:solidFill>
                <a:latin typeface="Times New Roman"/>
                <a:ea typeface="Times New Roman"/>
                <a:cs typeface="Times New Roman"/>
                <a:sym typeface="Times New Roman"/>
              </a:rPr>
              <a:t>.</a:t>
            </a:r>
            <a:endParaRPr sz="15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dirty="0">
              <a:solidFill>
                <a:srgbClr val="000000"/>
              </a:solidFill>
              <a:latin typeface="Times New Roman"/>
              <a:ea typeface="Times New Roman"/>
              <a:cs typeface="Times New Roman"/>
              <a:sym typeface="Times New Roman"/>
            </a:endParaRPr>
          </a:p>
        </p:txBody>
      </p:sp>
      <p:pic>
        <p:nvPicPr>
          <p:cNvPr id="303" name="Google Shape;303;g31ccdae391d_0_389"/>
          <p:cNvPicPr preferRelativeResize="0"/>
          <p:nvPr/>
        </p:nvPicPr>
        <p:blipFill>
          <a:blip r:embed="rId3">
            <a:alphaModFix/>
          </a:blip>
          <a:stretch>
            <a:fillRect/>
          </a:stretch>
        </p:blipFill>
        <p:spPr>
          <a:xfrm>
            <a:off x="0" y="2983510"/>
            <a:ext cx="12191999" cy="2552330"/>
          </a:xfrm>
          <a:prstGeom prst="rect">
            <a:avLst/>
          </a:prstGeom>
          <a:noFill/>
          <a:ln>
            <a:noFill/>
          </a:ln>
        </p:spPr>
      </p:pic>
    </p:spTree>
    <p:extLst>
      <p:ext uri="{BB962C8B-B14F-4D97-AF65-F5344CB8AC3E}">
        <p14:creationId xmlns:p14="http://schemas.microsoft.com/office/powerpoint/2010/main" val="58451870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31ccdae391d_0_396"/>
          <p:cNvSpPr txBox="1">
            <a:spLocks noGrp="1"/>
          </p:cNvSpPr>
          <p:nvPr>
            <p:ph type="title"/>
          </p:nvPr>
        </p:nvSpPr>
        <p:spPr>
          <a:xfrm>
            <a:off x="333829" y="-4096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10" name="Google Shape;310;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sp>
        <p:nvSpPr>
          <p:cNvPr id="311" name="Google Shape;311;g31ccdae391d_0_396"/>
          <p:cNvSpPr/>
          <p:nvPr/>
        </p:nvSpPr>
        <p:spPr>
          <a:xfrm>
            <a:off x="609900" y="30748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i="0" u="none" strike="noStrike" cap="none" dirty="0">
                <a:solidFill>
                  <a:schemeClr val="dk1"/>
                </a:solidFill>
                <a:latin typeface="Times New Roman"/>
                <a:ea typeface="Times New Roman"/>
                <a:cs typeface="Times New Roman"/>
                <a:sym typeface="Times New Roman"/>
              </a:rPr>
              <a:t>NIL </a:t>
            </a:r>
            <a:r>
              <a:rPr lang="en-US" sz="1600" dirty="0">
                <a:solidFill>
                  <a:schemeClr val="dk1"/>
                </a:solidFill>
                <a:latin typeface="Times New Roman"/>
                <a:ea typeface="Times New Roman"/>
                <a:cs typeface="Times New Roman"/>
                <a:sym typeface="Times New Roman"/>
              </a:rPr>
              <a:t>st</a:t>
            </a:r>
            <a:r>
              <a:rPr lang="en-US" sz="1600" i="0" u="none" strike="noStrike" cap="none" dirty="0">
                <a:solidFill>
                  <a:schemeClr val="dk1"/>
                </a:solidFill>
                <a:latin typeface="Times New Roman"/>
                <a:ea typeface="Times New Roman"/>
                <a:cs typeface="Times New Roman"/>
                <a:sym typeface="Times New Roman"/>
              </a:rPr>
              <a:t>ock.</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21136 pickup 30Jun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SIN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10/July.</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21043 pickup 29Jul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07/Aug.</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21137 pickup 07Aug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N3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15/Aug.</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21414 pickup 30July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10/Aug.</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 </a:t>
            </a:r>
            <a:r>
              <a:rPr lang="en-US" sz="1600" dirty="0">
                <a:solidFill>
                  <a:schemeClr val="dk1"/>
                </a:solidFill>
                <a:latin typeface="Times New Roman"/>
                <a:ea typeface="Times New Roman"/>
                <a:cs typeface="Times New Roman"/>
                <a:sym typeface="Times New Roman"/>
              </a:rPr>
              <a:t>01ea in stock (ENG 956569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SGN 28/06).</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965599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pickup 07July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15/Jul.</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ENG 958395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30/Aug.</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7: V16799 (1/7), V15858 (14/7).</a:t>
            </a: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P771041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12/07.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P771423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30/07.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P771387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07/07.</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P771373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HAN 23/09.</a:t>
            </a:r>
            <a:endParaRPr sz="1600" dirty="0">
              <a:solidFill>
                <a:schemeClr val="dk1"/>
              </a:solidFill>
              <a:latin typeface="Times New Roman"/>
              <a:ea typeface="Times New Roman"/>
              <a:cs typeface="Times New Roman"/>
              <a:sym typeface="Times New Roman"/>
            </a:endParaRPr>
          </a:p>
          <a:p>
            <a:pPr marL="457200" marR="0" lvl="0" indent="0" algn="l" rtl="0">
              <a:lnSpc>
                <a:spcPct val="115000"/>
              </a:lnSpc>
              <a:spcBef>
                <a:spcPts val="0"/>
              </a:spcBef>
              <a:spcAft>
                <a:spcPts val="0"/>
              </a:spcAft>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thuê</a:t>
            </a:r>
            <a:r>
              <a:rPr lang="en-US" sz="1600" dirty="0">
                <a:solidFill>
                  <a:schemeClr val="dk1"/>
                </a:solidFill>
                <a:latin typeface="Times New Roman"/>
                <a:ea typeface="Times New Roman"/>
                <a:cs typeface="Times New Roman"/>
                <a:sym typeface="Times New Roman"/>
              </a:rPr>
              <a:t> Marathon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15/07.</a:t>
            </a: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NIL stock</a:t>
            </a: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smtClean="0">
                <a:solidFill>
                  <a:schemeClr val="dk1"/>
                </a:solidFill>
                <a:latin typeface="Times New Roman"/>
                <a:ea typeface="Times New Roman"/>
                <a:cs typeface="Times New Roman"/>
                <a:sym typeface="Times New Roman"/>
              </a:rPr>
              <a:t>+ 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EST SGN 16/07.</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smtClean="0">
                <a:solidFill>
                  <a:schemeClr val="dk1"/>
                </a:solidFill>
                <a:latin typeface="Times New Roman"/>
                <a:ea typeface="Times New Roman"/>
                <a:cs typeface="Times New Roman"/>
                <a:sym typeface="Times New Roman"/>
              </a:rPr>
              <a:t>+ 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a:t>
            </a:r>
            <a:r>
              <a:rPr lang="en-US" sz="1600" dirty="0" err="1">
                <a:solidFill>
                  <a:schemeClr val="dk1"/>
                </a:solidFill>
                <a:latin typeface="Times New Roman"/>
                <a:ea typeface="Times New Roman"/>
                <a:cs typeface="Times New Roman"/>
                <a:sym typeface="Times New Roman"/>
              </a:rPr>
              <a:t>dk</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a:t>
            </a:r>
            <a:r>
              <a:rPr lang="en-US" sz="1600" dirty="0" smtClean="0">
                <a:solidFill>
                  <a:schemeClr val="dk1"/>
                </a:solidFill>
                <a:latin typeface="Times New Roman"/>
                <a:ea typeface="Times New Roman"/>
                <a:cs typeface="Times New Roman"/>
                <a:sym typeface="Times New Roman"/>
              </a:rPr>
              <a:t>8/2025.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425184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g31ccdae391d_0_403"/>
          <p:cNvSpPr txBox="1">
            <a:spLocks noGrp="1"/>
          </p:cNvSpPr>
          <p:nvPr>
            <p:ph type="title"/>
          </p:nvPr>
        </p:nvSpPr>
        <p:spPr>
          <a:xfrm>
            <a:off x="372775" y="85063"/>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dirty="0">
                <a:solidFill>
                  <a:srgbClr val="FFC000"/>
                </a:solidFill>
                <a:latin typeface="Times New Roman"/>
                <a:ea typeface="Times New Roman"/>
                <a:cs typeface="Times New Roman"/>
                <a:sym typeface="Times New Roman"/>
              </a:rPr>
              <a:t>APU</a:t>
            </a:r>
            <a:endParaRPr sz="2800" dirty="0">
              <a:solidFill>
                <a:srgbClr val="FFC000"/>
              </a:solidFill>
              <a:latin typeface="Times New Roman"/>
              <a:ea typeface="Times New Roman"/>
              <a:cs typeface="Times New Roman"/>
              <a:sym typeface="Times New Roman"/>
            </a:endParaRPr>
          </a:p>
        </p:txBody>
      </p:sp>
      <p:sp>
        <p:nvSpPr>
          <p:cNvPr id="318" name="Google Shape;318;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sp>
        <p:nvSpPr>
          <p:cNvPr id="319" name="Google Shape;319;g31ccdae391d_0_403"/>
          <p:cNvSpPr txBox="1"/>
          <p:nvPr/>
        </p:nvSpPr>
        <p:spPr>
          <a:xfrm>
            <a:off x="394052" y="819041"/>
            <a:ext cx="7612273" cy="39582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600" b="1" i="0" u="none" strike="noStrike" cap="none" dirty="0">
                <a:solidFill>
                  <a:schemeClr val="dk1"/>
                </a:solidFill>
                <a:latin typeface="Times New Roman"/>
                <a:ea typeface="Times New Roman"/>
                <a:cs typeface="Times New Roman"/>
                <a:sym typeface="Times New Roman"/>
              </a:rPr>
              <a:t>APU A321 </a:t>
            </a:r>
            <a:endParaRPr sz="16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700" b="0" i="0" u="none" strike="noStrike" cap="none" dirty="0">
                <a:solidFill>
                  <a:schemeClr val="dk1"/>
                </a:solidFill>
                <a:latin typeface="Times New Roman"/>
                <a:ea typeface="Times New Roman"/>
                <a:cs typeface="Times New Roman"/>
                <a:sym typeface="Times New Roman"/>
              </a:rPr>
              <a:t>+ </a:t>
            </a:r>
            <a:r>
              <a:rPr lang="en-US" sz="1400" b="0" i="0" u="none" strike="noStrike" cap="none" dirty="0">
                <a:solidFill>
                  <a:schemeClr val="dk1"/>
                </a:solidFill>
                <a:latin typeface="Times New Roman"/>
                <a:ea typeface="Times New Roman"/>
                <a:cs typeface="Times New Roman"/>
                <a:sym typeface="Times New Roman"/>
              </a:rPr>
              <a:t>STK: </a:t>
            </a:r>
            <a:r>
              <a:rPr lang="en-US" dirty="0">
                <a:solidFill>
                  <a:schemeClr val="dk1"/>
                </a:solidFill>
                <a:latin typeface="Times New Roman"/>
                <a:ea typeface="Times New Roman"/>
                <a:cs typeface="Times New Roman"/>
                <a:sym typeface="Times New Roman"/>
              </a:rPr>
              <a:t>02ea in stock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400" b="0" i="0" u="none" strike="noStrike" cap="none" dirty="0" smtClean="0">
                <a:solidFill>
                  <a:schemeClr val="dk1"/>
                </a:solidFill>
                <a:latin typeface="Times New Roman"/>
                <a:ea typeface="Times New Roman"/>
                <a:cs typeface="Times New Roman"/>
                <a:sym typeface="Times New Roman"/>
              </a:rPr>
              <a:t>+ </a:t>
            </a:r>
            <a:r>
              <a:rPr lang="en-US" dirty="0" smtClean="0">
                <a:solidFill>
                  <a:schemeClr val="dk1"/>
                </a:solidFill>
                <a:latin typeface="Times New Roman"/>
                <a:ea typeface="Times New Roman"/>
                <a:cs typeface="Times New Roman"/>
                <a:sym typeface="Times New Roman"/>
              </a:rPr>
              <a:t>P-6203 </a:t>
            </a:r>
            <a:r>
              <a:rPr lang="en-US" dirty="0" err="1">
                <a:solidFill>
                  <a:schemeClr val="dk1"/>
                </a:solidFill>
                <a:latin typeface="Times New Roman"/>
                <a:ea typeface="Times New Roman"/>
                <a:cs typeface="Times New Roman"/>
                <a:sym typeface="Times New Roman"/>
              </a:rPr>
              <a:t>dự</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kiến</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giao</a:t>
            </a:r>
            <a:r>
              <a:rPr lang="en-US" dirty="0">
                <a:solidFill>
                  <a:schemeClr val="dk1"/>
                </a:solidFill>
                <a:latin typeface="Times New Roman"/>
                <a:ea typeface="Times New Roman"/>
                <a:cs typeface="Times New Roman"/>
                <a:sym typeface="Times New Roman"/>
              </a:rPr>
              <a:t> HAN 02/07.</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endParaRPr sz="1500" b="1"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700"/>
              <a:buFont typeface="Arial"/>
              <a:buNone/>
            </a:pPr>
            <a:r>
              <a:rPr lang="en-US" sz="1500" b="1" i="0" u="none" strike="noStrike" cap="none" dirty="0">
                <a:solidFill>
                  <a:schemeClr val="dk1"/>
                </a:solidFill>
                <a:latin typeface="Times New Roman"/>
                <a:ea typeface="Times New Roman"/>
                <a:cs typeface="Times New Roman"/>
                <a:sym typeface="Times New Roman"/>
              </a:rPr>
              <a:t>APU A350</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01 (P-00304)</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+ 02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sửa</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chữa</a:t>
            </a:r>
            <a:r>
              <a:rPr lang="en-US" dirty="0">
                <a:solidFill>
                  <a:schemeClr val="dk1"/>
                </a:solidFill>
                <a:latin typeface="Times New Roman"/>
                <a:ea typeface="Times New Roman"/>
                <a:cs typeface="Times New Roman"/>
                <a:sym typeface="Times New Roman"/>
              </a:rPr>
              <a:t>: </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P-00113: EDD 15/07/2025</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P-00391: EDD </a:t>
            </a:r>
            <a:r>
              <a:rPr lang="en-US" dirty="0" smtClean="0">
                <a:solidFill>
                  <a:schemeClr val="dk1"/>
                </a:solidFill>
                <a:latin typeface="Times New Roman"/>
                <a:ea typeface="Times New Roman"/>
                <a:cs typeface="Times New Roman"/>
                <a:sym typeface="Times New Roman"/>
              </a:rPr>
              <a:t>01/08/2025.</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100" b="0" i="0" u="none" strike="noStrike" cap="none" dirty="0">
                <a:solidFill>
                  <a:schemeClr val="dk1"/>
                </a:solidFill>
                <a:latin typeface="Times New Roman"/>
                <a:ea typeface="Times New Roman"/>
                <a:cs typeface="Times New Roman"/>
                <a:sym typeface="Times New Roman"/>
              </a:rPr>
              <a:t> </a:t>
            </a:r>
            <a:endParaRPr sz="1100" b="0"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500" b="1" i="0" u="none" strike="noStrike" cap="none" dirty="0">
                <a:solidFill>
                  <a:schemeClr val="dk1"/>
                </a:solidFill>
                <a:latin typeface="Times New Roman"/>
                <a:ea typeface="Times New Roman"/>
                <a:cs typeface="Times New Roman"/>
                <a:sym typeface="Times New Roman"/>
              </a:rPr>
              <a:t>APU B787 </a:t>
            </a:r>
            <a:endParaRPr sz="1500" b="1" i="0" u="none" strike="noStrike" cap="none"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sz="1400" b="0" i="0" u="none" strike="noStrike" cap="none" dirty="0">
                <a:solidFill>
                  <a:schemeClr val="dk1"/>
                </a:solidFill>
                <a:latin typeface="Times New Roman"/>
                <a:ea typeface="Times New Roman"/>
                <a:cs typeface="Times New Roman"/>
                <a:sym typeface="Times New Roman"/>
              </a:rPr>
              <a:t>+ STK: </a:t>
            </a:r>
            <a:r>
              <a:rPr lang="en-US" dirty="0">
                <a:solidFill>
                  <a:schemeClr val="dk1"/>
                </a:solidFill>
                <a:latin typeface="Times New Roman"/>
                <a:ea typeface="Times New Roman"/>
                <a:cs typeface="Times New Roman"/>
                <a:sym typeface="Times New Roman"/>
              </a:rPr>
              <a:t>01ea in  stock.</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r>
              <a:rPr lang="en-US" dirty="0">
                <a:solidFill>
                  <a:schemeClr val="dk1"/>
                </a:solidFill>
                <a:latin typeface="Times New Roman"/>
                <a:ea typeface="Times New Roman"/>
                <a:cs typeface="Times New Roman"/>
                <a:sym typeface="Times New Roman"/>
              </a:rPr>
              <a:t>+ 01 APU </a:t>
            </a:r>
            <a:r>
              <a:rPr lang="en-US" dirty="0" err="1">
                <a:solidFill>
                  <a:schemeClr val="dk1"/>
                </a:solidFill>
                <a:latin typeface="Times New Roman"/>
                <a:ea typeface="Times New Roman"/>
                <a:cs typeface="Times New Roman"/>
                <a:sym typeface="Times New Roman"/>
              </a:rPr>
              <a:t>đang</a:t>
            </a:r>
            <a:r>
              <a:rPr lang="en-US" dirty="0">
                <a:solidFill>
                  <a:schemeClr val="dk1"/>
                </a:solidFill>
                <a:latin typeface="Times New Roman"/>
                <a:ea typeface="Times New Roman"/>
                <a:cs typeface="Times New Roman"/>
                <a:sym typeface="Times New Roman"/>
              </a:rPr>
              <a:t> </a:t>
            </a:r>
            <a:r>
              <a:rPr lang="en-US" dirty="0" err="1">
                <a:solidFill>
                  <a:schemeClr val="dk1"/>
                </a:solidFill>
                <a:latin typeface="Times New Roman"/>
                <a:ea typeface="Times New Roman"/>
                <a:cs typeface="Times New Roman"/>
                <a:sym typeface="Times New Roman"/>
              </a:rPr>
              <a:t>đến</a:t>
            </a:r>
            <a:r>
              <a:rPr lang="en-US" dirty="0">
                <a:solidFill>
                  <a:schemeClr val="dk1"/>
                </a:solidFill>
                <a:latin typeface="Times New Roman"/>
                <a:ea typeface="Times New Roman"/>
                <a:cs typeface="Times New Roman"/>
                <a:sym typeface="Times New Roman"/>
              </a:rPr>
              <a:t> shop (bay 26/06</a:t>
            </a:r>
            <a:r>
              <a:rPr lang="en-US" dirty="0" smtClean="0">
                <a:solidFill>
                  <a:schemeClr val="dk1"/>
                </a:solidFill>
                <a:latin typeface="Times New Roman"/>
                <a:ea typeface="Times New Roman"/>
                <a:cs typeface="Times New Roman"/>
                <a:sym typeface="Times New Roman"/>
              </a:rPr>
              <a:t>).</a:t>
            </a:r>
            <a:endParaRPr dirty="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chemeClr val="dk1"/>
              </a:buClr>
              <a:buSzPts val="1100"/>
              <a:buFont typeface="Arial"/>
              <a:buNone/>
            </a:pPr>
            <a:endParaRPr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7440621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g338eea6c084_0_0"/>
          <p:cNvSpPr txBox="1">
            <a:spLocks noGrp="1"/>
          </p:cNvSpPr>
          <p:nvPr>
            <p:ph type="title"/>
          </p:nvPr>
        </p:nvSpPr>
        <p:spPr>
          <a:xfrm>
            <a:off x="923510" y="457200"/>
            <a:ext cx="112320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CÔNG TÁC BAY NGA</a:t>
            </a:r>
            <a:endParaRPr sz="2800">
              <a:solidFill>
                <a:srgbClr val="FFC000"/>
              </a:solidFill>
              <a:latin typeface="Times New Roman"/>
              <a:ea typeface="Times New Roman"/>
              <a:cs typeface="Times New Roman"/>
              <a:sym typeface="Times New Roman"/>
            </a:endParaRPr>
          </a:p>
        </p:txBody>
      </p:sp>
      <p:sp>
        <p:nvSpPr>
          <p:cNvPr id="327" name="Google Shape;327;g338eea6c084_0_0"/>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D2A43B"/>
                </a:solidFill>
                <a:effectLst/>
                <a:uLnTx/>
                <a:uFillTx/>
                <a:latin typeface="Montserrat"/>
                <a:sym typeface="Montserrat"/>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67</a:t>
            </a:fld>
            <a:endParaRPr kumimoji="0" sz="1200" b="0" i="0" u="none" strike="noStrike" kern="0" cap="none" spc="0" normalizeH="0" baseline="0" noProof="0">
              <a:ln>
                <a:noFill/>
              </a:ln>
              <a:solidFill>
                <a:srgbClr val="D2A43B"/>
              </a:solidFill>
              <a:effectLst/>
              <a:uLnTx/>
              <a:uFillTx/>
              <a:latin typeface="Montserrat"/>
              <a:sym typeface="Montserrat"/>
            </a:endParaRPr>
          </a:p>
        </p:txBody>
      </p:sp>
      <p:sp>
        <p:nvSpPr>
          <p:cNvPr id="328" name="Google Shape;328;g338eea6c084_0_0"/>
          <p:cNvSpPr/>
          <p:nvPr/>
        </p:nvSpPr>
        <p:spPr>
          <a:xfrm>
            <a:off x="838200" y="838200"/>
            <a:ext cx="10743900" cy="5904138"/>
          </a:xfrm>
          <a:prstGeom prst="rect">
            <a:avLst/>
          </a:prstGeom>
          <a:no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15000"/>
              </a:lnSpc>
              <a:spcBef>
                <a:spcPts val="0"/>
              </a:spcBef>
              <a:spcAft>
                <a:spcPts val="0"/>
              </a:spcAft>
              <a:buClr>
                <a:srgbClr val="000000"/>
              </a:buClr>
              <a:buSzPts val="1600"/>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55600" algn="just" defTabSz="914400" rtl="0" eaLnBrk="1" fontAlgn="auto" latinLnBrk="0" hangingPunct="1">
              <a:lnSpc>
                <a:spcPct val="115000"/>
              </a:lnSpc>
              <a:spcBef>
                <a:spcPts val="0"/>
              </a:spcBef>
              <a:spcAft>
                <a:spcPts val="0"/>
              </a:spcAft>
              <a:buClr>
                <a:srgbClr val="000000"/>
              </a:buClr>
              <a:buSzPts val="2000"/>
              <a:buFont typeface="Times New Roman"/>
              <a:buAutoNum type="arabicPeriod"/>
              <a:tabLst/>
              <a:defRPr/>
            </a:pPr>
            <a:r>
              <a:rPr kumimoji="0" lang="en-US"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NHIÊN LIỆU:</a:t>
            </a:r>
            <a:endParaRPr kumimoji="0"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Nhà cung cấp tại SVO là công ty Skypec.</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45720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01600" marR="0" lvl="0" algn="just" defTabSz="914400" rtl="0" eaLnBrk="1" fontAlgn="auto" latinLnBrk="0" hangingPunct="1">
              <a:lnSpc>
                <a:spcPct val="115000"/>
              </a:lnSpc>
              <a:spcBef>
                <a:spcPts val="0"/>
              </a:spcBef>
              <a:spcAft>
                <a:spcPts val="0"/>
              </a:spcAft>
              <a:buClr>
                <a:srgbClr val="000000"/>
              </a:buClr>
              <a:buSzPts val="2000"/>
              <a:tabLst/>
              <a:defRPr/>
            </a:pPr>
            <a:r>
              <a:rPr kumimoji="0" lang="en-US" sz="20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2.  PTVT </a:t>
            </a:r>
            <a:r>
              <a:rPr kumimoji="0" lang="en-US"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DỰ PHÒNG FAK</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TGĐ đã phê duyệt mua 63 item (5.18 triệu USD) trong đó:</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56 item đã về và nhập kho.</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07 item lead time dài, đang tiếp tục giục hàng.</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101600" marR="0" lvl="0" algn="just" defTabSz="914400" rtl="0" eaLnBrk="1" fontAlgn="auto" latinLnBrk="0" hangingPunct="1">
              <a:lnSpc>
                <a:spcPct val="115000"/>
              </a:lnSpc>
              <a:spcBef>
                <a:spcPts val="0"/>
              </a:spcBef>
              <a:spcAft>
                <a:spcPts val="0"/>
              </a:spcAft>
              <a:buClr>
                <a:srgbClr val="000000"/>
              </a:buClr>
              <a:buSzPts val="2000"/>
              <a:tabLst/>
              <a:defRPr/>
            </a:pPr>
            <a:r>
              <a:rPr kumimoji="0" lang="en-US" sz="2000" b="1" i="0" u="none" strike="noStrike" kern="0" cap="none" spc="0" normalizeH="0" baseline="0" noProof="0" smtClean="0">
                <a:ln>
                  <a:noFill/>
                </a:ln>
                <a:solidFill>
                  <a:srgbClr val="000000"/>
                </a:solidFill>
                <a:effectLst/>
                <a:uLnTx/>
                <a:uFillTx/>
                <a:latin typeface="Times New Roman"/>
                <a:ea typeface="Times New Roman"/>
                <a:cs typeface="Times New Roman"/>
                <a:sym typeface="Times New Roman"/>
              </a:rPr>
              <a:t>3.  Thiết </a:t>
            </a:r>
            <a:r>
              <a:rPr kumimoji="0" lang="en-US"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lập kho ngoại quan ở sân bay SVO</a:t>
            </a:r>
            <a:endParaRPr kumimoji="0" sz="20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457200" marR="0" lvl="0" indent="-330200" algn="just" defTabSz="914400" rtl="0" eaLnBrk="1" fontAlgn="auto" latinLnBrk="0" hangingPunct="1">
              <a:lnSpc>
                <a:spcPct val="115000"/>
              </a:lnSpc>
              <a:spcBef>
                <a:spcPts val="0"/>
              </a:spcBef>
              <a:spcAft>
                <a:spcPts val="0"/>
              </a:spcAft>
              <a:buClr>
                <a:srgbClr val="000000"/>
              </a:buClr>
              <a:buSzPts val="1600"/>
              <a:buFont typeface="Times New Roman"/>
              <a:buChar char="-"/>
              <a:tabLst/>
              <a:defRPr/>
            </a:pPr>
            <a:r>
              <a:rPr kumimoji="0" lang="en-US"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Đại diện tại SVO đang làm việc với phía Nga (có nhờ hỗ trợ từ đại sứ quán VN tại Nga).</a:t>
            </a: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15000"/>
              </a:lnSpc>
              <a:spcBef>
                <a:spcPts val="0"/>
              </a:spcBef>
              <a:spcAft>
                <a:spcPts val="0"/>
              </a:spcAft>
              <a:buClr>
                <a:srgbClr val="000000"/>
              </a:buClr>
              <a:buSzTx/>
              <a:buFont typeface="Arial"/>
              <a:buNone/>
              <a:tabLst/>
              <a:defRPr/>
            </a:pPr>
            <a:endParaRPr kumimoji="0" sz="16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n-US"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  </a:t>
            </a: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a:p>
            <a:pPr marL="0" marR="0" lvl="0" indent="0" algn="just" defTabSz="914400" rtl="0" eaLnBrk="1" fontAlgn="auto" latinLnBrk="0" hangingPunct="1">
              <a:lnSpc>
                <a:spcPct val="100000"/>
              </a:lnSpc>
              <a:spcBef>
                <a:spcPts val="0"/>
              </a:spcBef>
              <a:spcAft>
                <a:spcPts val="0"/>
              </a:spcAft>
              <a:buClr>
                <a:srgbClr val="000000"/>
              </a:buClr>
              <a:buSzPts val="1500"/>
              <a:buFont typeface="Arial"/>
              <a:buNone/>
              <a:tabLst/>
              <a:defRPr/>
            </a:pPr>
            <a:endParaRPr kumimoji="0" sz="1500" b="0" i="0" u="none" strike="noStrike" kern="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45511369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8" descr="A blue background with yellow lines&#10;&#10;Description automatically generated"/>
          <p:cNvPicPr preferRelativeResize="0"/>
          <p:nvPr/>
        </p:nvPicPr>
        <p:blipFill rotWithShape="1">
          <a:blip r:embed="rId3">
            <a:alphaModFix/>
          </a:blip>
          <a:srcRect/>
          <a:stretch/>
        </p:blipFill>
        <p:spPr>
          <a:xfrm>
            <a:off x="0" y="1"/>
            <a:ext cx="12192000" cy="6972300"/>
          </a:xfrm>
          <a:prstGeom prst="rect">
            <a:avLst/>
          </a:prstGeom>
          <a:noFill/>
          <a:ln>
            <a:noFill/>
          </a:ln>
        </p:spPr>
      </p:pic>
      <p:sp>
        <p:nvSpPr>
          <p:cNvPr id="107" name="Google Shape;107;p8"/>
          <p:cNvSpPr txBox="1"/>
          <p:nvPr/>
        </p:nvSpPr>
        <p:spPr>
          <a:xfrm>
            <a:off x="1051901" y="2781528"/>
            <a:ext cx="6795451" cy="1446509"/>
          </a:xfrm>
          <a:prstGeom prst="rect">
            <a:avLst/>
          </a:prstGeom>
          <a:noFill/>
          <a:ln>
            <a:noFill/>
          </a:ln>
        </p:spPr>
        <p:txBody>
          <a:bodyPr spcFirstLastPara="1" wrap="square" lIns="91433" tIns="45700" rIns="91433"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rPr>
              <a:t>THANK YOU</a:t>
            </a:r>
            <a:endParaRPr kumimoji="0" sz="8800" b="1" i="1" u="none" strike="noStrike" kern="1200" cap="none" spc="0" normalizeH="0" baseline="0" noProof="0">
              <a:ln>
                <a:noFill/>
              </a:ln>
              <a:solidFill>
                <a:prstClr val="white"/>
              </a:solidFill>
              <a:effectLst/>
              <a:uLnTx/>
              <a:uFillTx/>
              <a:latin typeface="Times New Roman" panose="02020603050405020304" pitchFamily="18" charset="0"/>
              <a:ea typeface="Montserrat SemiBold"/>
              <a:cs typeface="Times New Roman" panose="02020603050405020304" pitchFamily="18" charset="0"/>
              <a:sym typeface="Montserrat SemiBold"/>
            </a:endParaRPr>
          </a:p>
        </p:txBody>
      </p:sp>
      <p:sp>
        <p:nvSpPr>
          <p:cNvPr id="108" name="Google Shape;108;p8"/>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928542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Props1.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3.xml><?xml version="1.0" encoding="utf-8"?>
<ds:datastoreItem xmlns:ds="http://schemas.openxmlformats.org/officeDocument/2006/customXml" ds:itemID="{7CE18D4A-261A-4850-B6EF-E8D1177C057C}">
  <ds:schemaRefs>
    <ds:schemaRef ds:uri="e189f61e-1295-4779-a752-040c7fad5177"/>
    <ds:schemaRef ds:uri="http://purl.org/dc/dcmitype/"/>
    <ds:schemaRef ds:uri="http://schemas.microsoft.com/office/2006/documentManagement/types"/>
    <ds:schemaRef ds:uri="http://purl.org/dc/elements/1.1/"/>
    <ds:schemaRef ds:uri="http://purl.org/dc/terms/"/>
    <ds:schemaRef ds:uri="http://schemas.microsoft.com/office/infopath/2007/PartnerControls"/>
    <ds:schemaRef ds:uri="http://schemas.openxmlformats.org/package/2006/metadata/core-properties"/>
    <ds:schemaRef ds:uri="b6015720-aa74-4be3-ba0d-eab08776cb9b"/>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77378</TotalTime>
  <Words>13879</Words>
  <Application>Microsoft Office PowerPoint</Application>
  <PresentationFormat>Widescreen</PresentationFormat>
  <Paragraphs>2500</Paragraphs>
  <Slides>69</Slides>
  <Notes>61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69</vt:i4>
      </vt:variant>
    </vt:vector>
  </HeadingPairs>
  <TitlesOfParts>
    <vt:vector size="82" baseType="lpstr">
      <vt:lpstr>MS PGothic</vt:lpstr>
      <vt:lpstr>Arial</vt:lpstr>
      <vt:lpstr>Calibri</vt:lpstr>
      <vt:lpstr>Cambria</vt:lpstr>
      <vt:lpstr>Exo</vt:lpstr>
      <vt:lpstr>Franklin Gothic Medium Cond</vt:lpstr>
      <vt:lpstr>Montserrat</vt:lpstr>
      <vt:lpstr>Montserrat SemiBold</vt:lpstr>
      <vt:lpstr>Tahoma</vt:lpstr>
      <vt:lpstr>Times New Roman</vt:lpstr>
      <vt:lpstr>Wingdings</vt:lpstr>
      <vt:lpstr>16-9 MASTER TEMPLATE</vt:lpstr>
      <vt:lpstr>Office Theme</vt:lpstr>
      <vt:lpstr>BÁO CÁO KỸ THUẬT (Tuần 26: 23/06/2025 – 29/06/2025)</vt:lpstr>
      <vt:lpstr>TỔNG HỢP AOG, DELAY VÀ GTB/ATB/DIV</vt:lpstr>
      <vt:lpstr>ATB/GTB COMPARISON</vt:lpstr>
      <vt:lpstr>CÁC SỰ KIỆN ATB/GTB/DIV</vt:lpstr>
      <vt:lpstr>PowerPoint Presentation</vt:lpstr>
      <vt:lpstr>TÌNH TRẠNG KỸ THUẬT ĐỘI BAY – A320/A321</vt:lpstr>
      <vt:lpstr>A338 – HỎNG HÓC RUDDER VÀ THS</vt:lpstr>
      <vt:lpstr>TÌNH TRẠNG KỸ THUẬT ĐỘI BAY – A320/A321</vt:lpstr>
      <vt:lpstr>TÌNH TRẠNG KỸ THUẬT ĐỘI BAY – A320/A321</vt:lpstr>
      <vt:lpstr>TÌNH TRẠNG KỸ THUẬT ĐỘI BAY – A350</vt:lpstr>
      <vt:lpstr>PowerPoint Presentation</vt:lpstr>
      <vt:lpstr>TÌNH TRẠNG KỸ THUẬT ĐỘI BAY – A350</vt:lpstr>
      <vt:lpstr>PowerPoint Presentation</vt:lpstr>
      <vt:lpstr>TÌNH TRẠNG KỸ THUẬT ĐỘI BAY – A350</vt:lpstr>
      <vt:lpstr>PowerPoint Presentation</vt:lpstr>
      <vt:lpstr>PowerPoint Presentation</vt:lpstr>
      <vt:lpstr>TÌNH TRẠNG KỸ THUẬT ĐỘI BAY – B787</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 ATR72</vt:lpstr>
      <vt:lpstr>TÌNH TRẠNG KỸ THUẬT ĐỘI BAY – ATR72</vt:lpstr>
      <vt:lpstr>DISPATCH RELIABILITY W26 (23/06/2025-29/06/2025)</vt:lpstr>
      <vt:lpstr>CÁC CÔNG VIỆC TRỌNG ĐIỂM TRONG TUẦN</vt:lpstr>
      <vt:lpstr>CÁC CÔNG VIỆC TRỌNG ĐIỂM TRONG TUẦN</vt:lpstr>
      <vt:lpstr>CÁC CÔNG VIỆC TRỌNG ĐIỂM TRONG TUẦN</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BẢO DƯỠNG</vt:lpstr>
      <vt:lpstr>CÁC TÀU BẢO DƯỠNG</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A321 CÁC VẬT TƯ VƯỚNG MẮC </vt:lpstr>
      <vt:lpstr>A321 CÁC VẬT TƯ VƯỚNG MẮC (Chi tiết)</vt:lpstr>
      <vt:lpstr>TÌNH TRẠNG APU LRU A321 </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lpstr>CÔNG TÁC BAY NGA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Vu Chi Thanh</cp:lastModifiedBy>
  <cp:revision>12044</cp:revision>
  <cp:lastPrinted>2019-03-27T09:25:07Z</cp:lastPrinted>
  <dcterms:created xsi:type="dcterms:W3CDTF">2018-12-27T04:50:36Z</dcterms:created>
  <dcterms:modified xsi:type="dcterms:W3CDTF">2025-06-29T13:56:15Z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