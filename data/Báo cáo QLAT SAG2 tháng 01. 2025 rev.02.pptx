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notesSlides/notesSlide4.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notesSlides/notesSlide7.xml" ContentType="application/vnd.openxmlformats-officedocument.presentationml.notesSlid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7.xml" ContentType="application/vnd.openxmlformats-officedocument.themeOverride+xml"/>
  <Override PartName="/ppt/charts/chart8.xml" ContentType="application/vnd.openxmlformats-officedocument.drawingml.chart+xml"/>
  <Override PartName="/ppt/theme/themeOverride8.xml" ContentType="application/vnd.openxmlformats-officedocument.themeOverride+xml"/>
  <Override PartName="/ppt/notesSlides/notesSlide8.xml" ContentType="application/vnd.openxmlformats-officedocument.presentationml.notesSlide+xml"/>
  <Override PartName="/ppt/charts/chart9.xml" ContentType="application/vnd.openxmlformats-officedocument.drawingml.chart+xml"/>
  <Override PartName="/ppt/theme/themeOverride9.xml" ContentType="application/vnd.openxmlformats-officedocument.themeOverr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0.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1.xml" ContentType="application/vnd.openxmlformats-officedocument.themeOverride+xml"/>
  <Override PartName="/ppt/charts/chart12.xml" ContentType="application/vnd.openxmlformats-officedocument.drawingml.chart+xml"/>
  <Override PartName="/ppt/theme/themeOverride12.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3.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6.xml" ContentType="application/vnd.openxmlformats-officedocument.presentationml.notesSlide+xml"/>
  <Override PartName="/ppt/charts/chart14.xml" ContentType="application/vnd.openxmlformats-officedocument.drawingml.chart+xml"/>
  <Override PartName="/ppt/theme/themeOverride13.xml" ContentType="application/vnd.openxmlformats-officedocument.themeOverride+xml"/>
  <Override PartName="/ppt/charts/chart15.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4.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6.xml" ContentType="application/vnd.openxmlformats-officedocument.drawingml.chart+xml"/>
  <Override PartName="/ppt/theme/themeOverride15.xml" ContentType="application/vnd.openxmlformats-officedocument.themeOverride+xml"/>
  <Override PartName="/ppt/charts/chart17.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6.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8.xml" ContentType="application/vnd.openxmlformats-officedocument.drawingml.chart+xml"/>
  <Override PartName="/ppt/theme/themeOverride17.xml" ContentType="application/vnd.openxmlformats-officedocument.themeOverride+xml"/>
  <Override PartName="/ppt/charts/chart19.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8.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0.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19.xml" ContentType="application/vnd.openxmlformats-officedocument.themeOverride+xml"/>
  <Override PartName="/ppt/charts/chart21.xml" ContentType="application/vnd.openxmlformats-officedocument.drawingml.chart+xml"/>
  <Override PartName="/ppt/theme/themeOverride20.xml" ContentType="application/vnd.openxmlformats-officedocument.themeOverr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38"/>
  </p:notesMasterIdLst>
  <p:sldIdLst>
    <p:sldId id="257" r:id="rId5"/>
    <p:sldId id="258" r:id="rId6"/>
    <p:sldId id="259" r:id="rId7"/>
    <p:sldId id="261" r:id="rId8"/>
    <p:sldId id="262" r:id="rId9"/>
    <p:sldId id="263" r:id="rId10"/>
    <p:sldId id="265" r:id="rId11"/>
    <p:sldId id="267" r:id="rId12"/>
    <p:sldId id="268" r:id="rId13"/>
    <p:sldId id="269" r:id="rId14"/>
    <p:sldId id="270" r:id="rId15"/>
    <p:sldId id="271" r:id="rId16"/>
    <p:sldId id="291" r:id="rId17"/>
    <p:sldId id="292" r:id="rId18"/>
    <p:sldId id="293" r:id="rId19"/>
    <p:sldId id="272" r:id="rId20"/>
    <p:sldId id="273" r:id="rId21"/>
    <p:sldId id="274" r:id="rId22"/>
    <p:sldId id="275" r:id="rId23"/>
    <p:sldId id="276" r:id="rId24"/>
    <p:sldId id="277" r:id="rId25"/>
    <p:sldId id="278" r:id="rId26"/>
    <p:sldId id="279" r:id="rId27"/>
    <p:sldId id="281" r:id="rId28"/>
    <p:sldId id="282" r:id="rId29"/>
    <p:sldId id="283" r:id="rId30"/>
    <p:sldId id="284" r:id="rId31"/>
    <p:sldId id="285" r:id="rId32"/>
    <p:sldId id="286" r:id="rId33"/>
    <p:sldId id="287" r:id="rId34"/>
    <p:sldId id="288" r:id="rId35"/>
    <p:sldId id="289" r:id="rId36"/>
    <p:sldId id="290" r:id="rId3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56F90"/>
    <a:srgbClr val="E4AA2F"/>
    <a:srgbClr val="D2A43B"/>
    <a:srgbClr val="0068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27" autoAdjust="0"/>
    <p:restoredTop sz="86327" autoAdjust="0"/>
  </p:normalViewPr>
  <p:slideViewPr>
    <p:cSldViewPr snapToGrid="0">
      <p:cViewPr varScale="1">
        <p:scale>
          <a:sx n="81" d="100"/>
          <a:sy n="81" d="100"/>
        </p:scale>
        <p:origin x="561" y="45"/>
      </p:cViewPr>
      <p:guideLst>
        <p:guide orient="horz" pos="2160"/>
        <p:guide pos="3840"/>
      </p:guideLst>
    </p:cSldViewPr>
  </p:slideViewPr>
  <p:notesTextViewPr>
    <p:cViewPr>
      <p:scale>
        <a:sx n="1" d="1"/>
        <a:sy n="1" d="1"/>
      </p:scale>
      <p:origin x="0" y="0"/>
    </p:cViewPr>
  </p:notesTextViewPr>
  <p:notesViewPr>
    <p:cSldViewPr snapToGrid="0">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6.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8.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8.xml"/></Relationships>
</file>

<file path=ppt/charts/_rels/chart9.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9.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D:\P.MOC\SAG2\Bao%20cao%20SAG2-2024\&#272;o%20l&#432;&#7901;ng%20th&#7921;c%20hi&#7879;n%20an%20to&#224;n%20b&#7897;%20ch&#7881;%20s&#7889;%20KPI%20n&#259;m%202025.xlsx" TargetMode="External"/></Relationships>
</file>

<file path=ppt/charts/_rels/chart12.xml.rels><?xml version="1.0" encoding="UTF-8" standalone="yes"?>
<Relationships xmlns="http://schemas.openxmlformats.org/package/2006/relationships"><Relationship Id="rId2" Type="http://schemas.openxmlformats.org/officeDocument/2006/relationships/oleObject" Target="file:///D:\P.MOC\SAG2\Bao%20cao%20SAG2-2024\&#272;o%20l&#432;&#7901;ng%20th&#7921;c%20hi&#7879;n%20an%20to&#224;n%20b&#7897;%20ch&#7881;%20s&#7889;%20KPI%20n&#259;m%202025.xlsx" TargetMode="External"/><Relationship Id="rId1" Type="http://schemas.openxmlformats.org/officeDocument/2006/relationships/themeOverride" Target="../theme/themeOverride12.xml"/></Relationships>
</file>

<file path=ppt/charts/_rels/chart13.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7.xml"/><Relationship Id="rId1" Type="http://schemas.microsoft.com/office/2011/relationships/chartStyle" Target="style7.xml"/></Relationships>
</file>

<file path=ppt/charts/_rels/chart14.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13.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16.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15.xm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18.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17.xm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8.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19.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SAG2\Bao%20cao%20SAG2-2025\Th&#225;ng%201\&#272;o%20l&#432;&#7901;ng%20th&#7921;c%20hi&#7879;n%20an%20to&#224;n%20b&#7897;%20ch&#7881;%20s&#7889;%20KPI%20n&#259;m%202025.xlsx" TargetMode="External"/></Relationships>
</file>

<file path=ppt/charts/_rels/chart21.xml.rels><?xml version="1.0" encoding="UTF-8" standalone="yes"?>
<Relationships xmlns="http://schemas.openxmlformats.org/package/2006/relationships"><Relationship Id="rId2" Type="http://schemas.openxmlformats.org/officeDocument/2006/relationships/oleObject" Target="file:///D:\P.MOC\SAG2\Bao%20cao%20SAG2-2025\Th&#225;ng%201\&#272;o%20l&#432;&#7901;ng%20th&#7921;c%20hi&#7879;n%20an%20to&#224;n%20b&#7897;%20ch&#7881;%20s&#7889;%20KPI%20n&#259;m%202025.xlsx" TargetMode="External"/><Relationship Id="rId1" Type="http://schemas.openxmlformats.org/officeDocument/2006/relationships/themeOverride" Target="../theme/themeOverrid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100"/>
              <a:t>Báo cáo sự cố MOR </a:t>
            </a: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'MOR sự cố A,B,C,D'!$AB$3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sự cố A,B,C,D'!$AA$4:$AA$5</c:f>
              <c:strCache>
                <c:ptCount val="2"/>
                <c:pt idx="0">
                  <c:v>Số vụ</c:v>
                </c:pt>
                <c:pt idx="1">
                  <c:v>Tỷ lệ/10000CB</c:v>
                </c:pt>
              </c:strCache>
            </c:strRef>
          </c:cat>
          <c:val>
            <c:numRef>
              <c:f>'MOR sự cố A,B,C,D'!$AB$4:$AB$5</c:f>
              <c:numCache>
                <c:formatCode>0.00</c:formatCode>
                <c:ptCount val="2"/>
                <c:pt idx="0" formatCode="General">
                  <c:v>0</c:v>
                </c:pt>
                <c:pt idx="1">
                  <c:v>0</c:v>
                </c:pt>
              </c:numCache>
            </c:numRef>
          </c:val>
          <c:extLst>
            <c:ext xmlns:c16="http://schemas.microsoft.com/office/drawing/2014/chart" uri="{C3380CC4-5D6E-409C-BE32-E72D297353CC}">
              <c16:uniqueId val="{00000000-2DD7-43CF-B8D4-117DE5574545}"/>
            </c:ext>
          </c:extLst>
        </c:ser>
        <c:ser>
          <c:idx val="1"/>
          <c:order val="1"/>
          <c:tx>
            <c:strRef>
              <c:f>'MOR sự cố A,B,C,D'!$AC$3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sự cố A,B,C,D'!$AA$4:$AA$5</c:f>
              <c:strCache>
                <c:ptCount val="2"/>
                <c:pt idx="0">
                  <c:v>Số vụ</c:v>
                </c:pt>
                <c:pt idx="1">
                  <c:v>Tỷ lệ/10000CB</c:v>
                </c:pt>
              </c:strCache>
            </c:strRef>
          </c:cat>
          <c:val>
            <c:numRef>
              <c:f>'MOR sự cố A,B,C,D'!$AC$4:$AC$5</c:f>
              <c:numCache>
                <c:formatCode>0.00</c:formatCode>
                <c:ptCount val="2"/>
                <c:pt idx="0" formatCode="0">
                  <c:v>1</c:v>
                </c:pt>
                <c:pt idx="1">
                  <c:v>0.7915149596327371</c:v>
                </c:pt>
              </c:numCache>
            </c:numRef>
          </c:val>
          <c:extLst>
            <c:ext xmlns:c16="http://schemas.microsoft.com/office/drawing/2014/chart" uri="{C3380CC4-5D6E-409C-BE32-E72D297353CC}">
              <c16:uniqueId val="{00000001-2DD7-43CF-B8D4-117DE5574545}"/>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2.5880345354891655E-3"/>
          <c:y val="0.93415568828748119"/>
          <c:w val="0.98877307073252008"/>
          <c:h val="4.8640736981273844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1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4748735398069828"/>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A,B,C,D'!$B$3:$B$26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sự cố A,B,C,D'!$D$3:$D$26</c:f>
              <c:numCache>
                <c:formatCode>General</c:formatCode>
                <c:ptCount val="13"/>
                <c:pt idx="0">
                  <c:v>0</c:v>
                </c:pt>
                <c:pt idx="1">
                  <c:v>0</c:v>
                </c:pt>
                <c:pt idx="2">
                  <c:v>0</c:v>
                </c:pt>
                <c:pt idx="3">
                  <c:v>0</c:v>
                </c:pt>
                <c:pt idx="4">
                  <c:v>0</c:v>
                </c:pt>
                <c:pt idx="5">
                  <c:v>0</c:v>
                </c:pt>
                <c:pt idx="6">
                  <c:v>0</c:v>
                </c:pt>
                <c:pt idx="7">
                  <c:v>0</c:v>
                </c:pt>
                <c:pt idx="8">
                  <c:v>0</c:v>
                </c:pt>
                <c:pt idx="9">
                  <c:v>0</c:v>
                </c:pt>
                <c:pt idx="10">
                  <c:v>1</c:v>
                </c:pt>
                <c:pt idx="11">
                  <c:v>1</c:v>
                </c:pt>
                <c:pt idx="12">
                  <c:v>1</c:v>
                </c:pt>
              </c:numCache>
              <c:extLst/>
            </c:numRef>
          </c:val>
          <c:extLst>
            <c:ext xmlns:c16="http://schemas.microsoft.com/office/drawing/2014/chart" uri="{C3380CC4-5D6E-409C-BE32-E72D297353CC}">
              <c16:uniqueId val="{00000000-E77E-4E45-AE76-7F20C1AD99AA}"/>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0-1A76-4A5A-81B9-6AF41E56D4CC}"/>
                </c:ext>
              </c:extLst>
            </c:dLbl>
            <c:dLbl>
              <c:idx val="1"/>
              <c:delete val="1"/>
              <c:extLst>
                <c:ext xmlns:c15="http://schemas.microsoft.com/office/drawing/2012/chart" uri="{CE6537A1-D6FC-4f65-9D91-7224C49458BB}"/>
                <c:ext xmlns:c16="http://schemas.microsoft.com/office/drawing/2014/chart" uri="{C3380CC4-5D6E-409C-BE32-E72D297353CC}">
                  <c16:uniqueId val="{00000001-1A76-4A5A-81B9-6AF41E56D4CC}"/>
                </c:ext>
              </c:extLst>
            </c:dLbl>
            <c:dLbl>
              <c:idx val="2"/>
              <c:delete val="1"/>
              <c:extLst>
                <c:ext xmlns:c15="http://schemas.microsoft.com/office/drawing/2012/chart" uri="{CE6537A1-D6FC-4f65-9D91-7224C49458BB}"/>
                <c:ext xmlns:c16="http://schemas.microsoft.com/office/drawing/2014/chart" uri="{C3380CC4-5D6E-409C-BE32-E72D297353CC}">
                  <c16:uniqueId val="{00000002-1A76-4A5A-81B9-6AF41E56D4CC}"/>
                </c:ext>
              </c:extLst>
            </c:dLbl>
            <c:dLbl>
              <c:idx val="3"/>
              <c:delete val="1"/>
              <c:extLst>
                <c:ext xmlns:c15="http://schemas.microsoft.com/office/drawing/2012/chart" uri="{CE6537A1-D6FC-4f65-9D91-7224C49458BB}"/>
                <c:ext xmlns:c16="http://schemas.microsoft.com/office/drawing/2014/chart" uri="{C3380CC4-5D6E-409C-BE32-E72D297353CC}">
                  <c16:uniqueId val="{00000003-1A76-4A5A-81B9-6AF41E56D4CC}"/>
                </c:ext>
              </c:extLst>
            </c:dLbl>
            <c:dLbl>
              <c:idx val="4"/>
              <c:delete val="1"/>
              <c:extLst>
                <c:ext xmlns:c15="http://schemas.microsoft.com/office/drawing/2012/chart" uri="{CE6537A1-D6FC-4f65-9D91-7224C49458BB}"/>
                <c:ext xmlns:c16="http://schemas.microsoft.com/office/drawing/2014/chart" uri="{C3380CC4-5D6E-409C-BE32-E72D297353CC}">
                  <c16:uniqueId val="{00000004-1A76-4A5A-81B9-6AF41E56D4CC}"/>
                </c:ext>
              </c:extLst>
            </c:dLbl>
            <c:dLbl>
              <c:idx val="5"/>
              <c:delete val="1"/>
              <c:extLst>
                <c:ext xmlns:c15="http://schemas.microsoft.com/office/drawing/2012/chart" uri="{CE6537A1-D6FC-4f65-9D91-7224C49458BB}"/>
                <c:ext xmlns:c16="http://schemas.microsoft.com/office/drawing/2014/chart" uri="{C3380CC4-5D6E-409C-BE32-E72D297353CC}">
                  <c16:uniqueId val="{00000005-1A76-4A5A-81B9-6AF41E56D4CC}"/>
                </c:ext>
              </c:extLst>
            </c:dLbl>
            <c:dLbl>
              <c:idx val="6"/>
              <c:delete val="1"/>
              <c:extLst>
                <c:ext xmlns:c15="http://schemas.microsoft.com/office/drawing/2012/chart" uri="{CE6537A1-D6FC-4f65-9D91-7224C49458BB}"/>
                <c:ext xmlns:c16="http://schemas.microsoft.com/office/drawing/2014/chart" uri="{C3380CC4-5D6E-409C-BE32-E72D297353CC}">
                  <c16:uniqueId val="{00000006-1A76-4A5A-81B9-6AF41E56D4CC}"/>
                </c:ext>
              </c:extLst>
            </c:dLbl>
            <c:dLbl>
              <c:idx val="7"/>
              <c:delete val="1"/>
              <c:extLst>
                <c:ext xmlns:c15="http://schemas.microsoft.com/office/drawing/2012/chart" uri="{CE6537A1-D6FC-4f65-9D91-7224C49458BB}"/>
                <c:ext xmlns:c16="http://schemas.microsoft.com/office/drawing/2014/chart" uri="{C3380CC4-5D6E-409C-BE32-E72D297353CC}">
                  <c16:uniqueId val="{00000007-1A76-4A5A-81B9-6AF41E56D4CC}"/>
                </c:ext>
              </c:extLst>
            </c:dLbl>
            <c:dLbl>
              <c:idx val="8"/>
              <c:delete val="1"/>
              <c:extLst>
                <c:ext xmlns:c15="http://schemas.microsoft.com/office/drawing/2012/chart" uri="{CE6537A1-D6FC-4f65-9D91-7224C49458BB}"/>
                <c:ext xmlns:c16="http://schemas.microsoft.com/office/drawing/2014/chart" uri="{C3380CC4-5D6E-409C-BE32-E72D297353CC}">
                  <c16:uniqueId val="{00000008-1A76-4A5A-81B9-6AF41E56D4CC}"/>
                </c:ext>
              </c:extLst>
            </c:dLbl>
            <c:dLbl>
              <c:idx val="9"/>
              <c:delete val="1"/>
              <c:extLst>
                <c:ext xmlns:c15="http://schemas.microsoft.com/office/drawing/2012/chart" uri="{CE6537A1-D6FC-4f65-9D91-7224C49458BB}"/>
                <c:ext xmlns:c16="http://schemas.microsoft.com/office/drawing/2014/chart" uri="{C3380CC4-5D6E-409C-BE32-E72D297353CC}">
                  <c16:uniqueId val="{00000009-1A76-4A5A-81B9-6AF41E56D4CC}"/>
                </c:ext>
              </c:extLst>
            </c:dLbl>
            <c:dLbl>
              <c:idx val="12"/>
              <c:layout>
                <c:manualLayout>
                  <c:x val="4.5288620210433457E-3"/>
                  <c:y val="4.2531853983913404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77E-4E45-AE76-7F20C1AD99AA}"/>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A,B,C,D'!$B$3:$B$26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sự cố A,B,C,D'!$E$3:$E$26</c:f>
              <c:numCache>
                <c:formatCode>0.00</c:formatCode>
                <c:ptCount val="13"/>
                <c:pt idx="0">
                  <c:v>0</c:v>
                </c:pt>
                <c:pt idx="1">
                  <c:v>0</c:v>
                </c:pt>
                <c:pt idx="2">
                  <c:v>0</c:v>
                </c:pt>
                <c:pt idx="3">
                  <c:v>0</c:v>
                </c:pt>
                <c:pt idx="4">
                  <c:v>0</c:v>
                </c:pt>
                <c:pt idx="5">
                  <c:v>0</c:v>
                </c:pt>
                <c:pt idx="6">
                  <c:v>0</c:v>
                </c:pt>
                <c:pt idx="7">
                  <c:v>0</c:v>
                </c:pt>
                <c:pt idx="8">
                  <c:v>0</c:v>
                </c:pt>
                <c:pt idx="9">
                  <c:v>0</c:v>
                </c:pt>
                <c:pt idx="10">
                  <c:v>1.0088781275221954</c:v>
                </c:pt>
                <c:pt idx="11">
                  <c:v>0.8693384334521429</c:v>
                </c:pt>
                <c:pt idx="12">
                  <c:v>0.7915149596327371</c:v>
                </c:pt>
              </c:numCache>
              <c:extLst/>
            </c:numRef>
          </c:val>
          <c:smooth val="0"/>
          <c:extLst>
            <c:ext xmlns:c16="http://schemas.microsoft.com/office/drawing/2014/chart" uri="{C3380CC4-5D6E-409C-BE32-E72D297353CC}">
              <c16:uniqueId val="{00000006-E77E-4E45-AE76-7F20C1AD99AA}"/>
            </c:ext>
          </c:extLst>
        </c:ser>
        <c:ser>
          <c:idx val="2"/>
          <c:order val="2"/>
          <c:spPr>
            <a:ln w="25400">
              <a:solidFill>
                <a:srgbClr val="00B0F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7-E77E-4E45-AE76-7F20C1AD99AA}"/>
                </c:ext>
              </c:extLst>
            </c:dLbl>
            <c:dLbl>
              <c:idx val="12"/>
              <c:layout>
                <c:manualLayout>
                  <c:x val="5.5228411729156286E-3"/>
                  <c:y val="-0.22812539864098999"/>
                </c:manualLayout>
              </c:layout>
              <c:spPr>
                <a:solidFill>
                  <a:srgbClr val="00B0F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6528113230198247E-2"/>
                      <c:h val="7.2690804990688362E-2"/>
                    </c:manualLayout>
                  </c15:layout>
                </c:ext>
                <c:ext xmlns:c16="http://schemas.microsoft.com/office/drawing/2014/chart" uri="{C3380CC4-5D6E-409C-BE32-E72D297353CC}">
                  <c16:uniqueId val="{00000008-E77E-4E45-AE76-7F20C1AD99AA}"/>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sự cố A,B,C,D'!$F$3:$F$26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3.8615171673610371</c:v>
                </c:pt>
                <c:pt idx="7">
                  <c:v>3.8615171673610371</c:v>
                </c:pt>
                <c:pt idx="8">
                  <c:v>3.8615171673610371</c:v>
                </c:pt>
                <c:pt idx="9">
                  <c:v>3.8615171673610371</c:v>
                </c:pt>
                <c:pt idx="10">
                  <c:v>3.8615171673610371</c:v>
                </c:pt>
                <c:pt idx="11">
                  <c:v>3.8615171673610371</c:v>
                </c:pt>
                <c:pt idx="12">
                  <c:v>0.33666759480645114</c:v>
                </c:pt>
              </c:numCache>
              <c:extLst/>
            </c:numRef>
          </c:val>
          <c:smooth val="0"/>
          <c:extLst>
            <c:ext xmlns:c16="http://schemas.microsoft.com/office/drawing/2014/chart" uri="{C3380CC4-5D6E-409C-BE32-E72D297353CC}">
              <c16:uniqueId val="{00000009-E77E-4E45-AE76-7F20C1AD99AA}"/>
            </c:ext>
          </c:extLst>
        </c:ser>
        <c:ser>
          <c:idx val="3"/>
          <c:order val="3"/>
          <c:spPr>
            <a:ln w="25400">
              <a:solidFill>
                <a:srgbClr val="FFC000"/>
              </a:solidFill>
            </a:ln>
          </c:spPr>
          <c:marker>
            <c:symbol val="none"/>
          </c:marker>
          <c:dLbls>
            <c:dLbl>
              <c:idx val="0"/>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A-E77E-4E45-AE76-7F20C1AD99AA}"/>
                </c:ext>
              </c:extLst>
            </c:dLbl>
            <c:dLbl>
              <c:idx val="1"/>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6="http://schemas.microsoft.com/office/drawing/2014/chart" uri="{C3380CC4-5D6E-409C-BE32-E72D297353CC}">
                  <c16:uniqueId val="{0000000B-E77E-4E45-AE76-7F20C1AD99AA}"/>
                </c:ext>
              </c:extLst>
            </c:dLbl>
            <c:dLbl>
              <c:idx val="12"/>
              <c:layout>
                <c:manualLayout>
                  <c:x val="5.5228411729156286E-3"/>
                  <c:y val="-0.27645705089543715"/>
                </c:manualLayout>
              </c:layout>
              <c:spPr>
                <a:solidFill>
                  <a:srgbClr val="FFC00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814320217963248E-2"/>
                      <c:h val="6.1091208449621064E-2"/>
                    </c:manualLayout>
                  </c15:layout>
                </c:ext>
                <c:ext xmlns:c16="http://schemas.microsoft.com/office/drawing/2014/chart" uri="{C3380CC4-5D6E-409C-BE32-E72D297353CC}">
                  <c16:uniqueId val="{0000000C-E77E-4E45-AE76-7F20C1AD99AA}"/>
                </c:ext>
              </c:extLst>
            </c:dLbl>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sự cố A,B,C,D'!$G$3:$G$26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4.7983825991721627</c:v>
                </c:pt>
                <c:pt idx="7">
                  <c:v>4.7983825991721627</c:v>
                </c:pt>
                <c:pt idx="8">
                  <c:v>4.7983825991721627</c:v>
                </c:pt>
                <c:pt idx="9">
                  <c:v>4.7983825991721627</c:v>
                </c:pt>
                <c:pt idx="10">
                  <c:v>4.7983825991721627</c:v>
                </c:pt>
                <c:pt idx="11">
                  <c:v>4.7983825991721627</c:v>
                </c:pt>
                <c:pt idx="12">
                  <c:v>0.52004559491059077</c:v>
                </c:pt>
              </c:numCache>
              <c:extLst/>
            </c:numRef>
          </c:val>
          <c:smooth val="0"/>
          <c:extLst>
            <c:ext xmlns:c16="http://schemas.microsoft.com/office/drawing/2014/chart" uri="{C3380CC4-5D6E-409C-BE32-E72D297353CC}">
              <c16:uniqueId val="{0000000D-E77E-4E45-AE76-7F20C1AD99AA}"/>
            </c:ext>
          </c:extLst>
        </c:ser>
        <c:ser>
          <c:idx val="4"/>
          <c:order val="4"/>
          <c:spPr>
            <a:ln w="25400">
              <a:solidFill>
                <a:srgbClr val="FF000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E-E77E-4E45-AE76-7F20C1AD99AA}"/>
                </c:ext>
              </c:extLst>
            </c:dLbl>
            <c:dLbl>
              <c:idx val="12"/>
              <c:layout>
                <c:manualLayout>
                  <c:x val="5.5228411729156286E-3"/>
                  <c:y val="-0.32092217096952835"/>
                </c:manualLayout>
              </c:layout>
              <c:spPr>
                <a:solidFill>
                  <a:srgbClr val="FF000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814320217963248E-2"/>
                      <c:h val="7.2690804990688362E-2"/>
                    </c:manualLayout>
                  </c15:layout>
                </c:ext>
                <c:ext xmlns:c16="http://schemas.microsoft.com/office/drawing/2014/chart" uri="{C3380CC4-5D6E-409C-BE32-E72D297353CC}">
                  <c16:uniqueId val="{0000000F-E77E-4E45-AE76-7F20C1AD99AA}"/>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sự cố A,B,C,D'!$H$3:$H$26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5.7352480309832883</c:v>
                </c:pt>
                <c:pt idx="7">
                  <c:v>5.7352480309832883</c:v>
                </c:pt>
                <c:pt idx="8">
                  <c:v>5.7352480309832883</c:v>
                </c:pt>
                <c:pt idx="9">
                  <c:v>5.7352480309832883</c:v>
                </c:pt>
                <c:pt idx="10">
                  <c:v>5.7352480309832883</c:v>
                </c:pt>
                <c:pt idx="11">
                  <c:v>5.7352480309832883</c:v>
                </c:pt>
                <c:pt idx="12">
                  <c:v>0.70342359501473029</c:v>
                </c:pt>
              </c:numCache>
              <c:extLst/>
            </c:numRef>
          </c:val>
          <c:smooth val="0"/>
          <c:extLst>
            <c:ext xmlns:c16="http://schemas.microsoft.com/office/drawing/2014/chart" uri="{C3380CC4-5D6E-409C-BE32-E72D297353CC}">
              <c16:uniqueId val="{00000010-E77E-4E45-AE76-7F20C1AD99AA}"/>
            </c:ext>
          </c:extLst>
        </c:ser>
        <c:ser>
          <c:idx val="5"/>
          <c:order val="5"/>
          <c:spPr>
            <a:ln w="25400">
              <a:solidFill>
                <a:srgbClr val="339933"/>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1-E77E-4E45-AE76-7F20C1AD99AA}"/>
                </c:ext>
              </c:extLst>
            </c:dLbl>
            <c:dLbl>
              <c:idx val="12"/>
              <c:layout>
                <c:manualLayout>
                  <c:x val="1.6150889494342357E-2"/>
                  <c:y val="-0.17206068202583147"/>
                </c:manualLayout>
              </c:layout>
              <c:spPr>
                <a:solidFill>
                  <a:srgbClr val="00B050"/>
                </a:solidFill>
                <a:ln>
                  <a:noFill/>
                </a:ln>
                <a:effectLst/>
              </c:spPr>
              <c:txPr>
                <a:bodyPr wrap="square" lIns="38100" tIns="19050" rIns="38100" bIns="19050" anchor="ctr">
                  <a:no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7515153858205872E-2"/>
                      <c:h val="8.4290401531755668E-2"/>
                    </c:manualLayout>
                  </c15:layout>
                </c:ext>
                <c:ext xmlns:c16="http://schemas.microsoft.com/office/drawing/2014/chart" uri="{C3380CC4-5D6E-409C-BE32-E72D297353CC}">
                  <c16:uniqueId val="{00000012-E77E-4E45-AE76-7F20C1AD99AA}"/>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sự cố A,B,C,D'!$I$3:$I$26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2.9246517355499115</c:v>
                </c:pt>
                <c:pt idx="7">
                  <c:v>2.9246517355499115</c:v>
                </c:pt>
                <c:pt idx="8">
                  <c:v>2.9246517355499115</c:v>
                </c:pt>
                <c:pt idx="9">
                  <c:v>2.9246517355499115</c:v>
                </c:pt>
                <c:pt idx="10">
                  <c:v>2.9246517355499115</c:v>
                </c:pt>
                <c:pt idx="11">
                  <c:v>2.9246517355499115</c:v>
                </c:pt>
                <c:pt idx="12">
                  <c:v>0.14562511496719602</c:v>
                </c:pt>
              </c:numCache>
              <c:extLst/>
            </c:numRef>
          </c:val>
          <c:smooth val="0"/>
          <c:extLst>
            <c:ext xmlns:c16="http://schemas.microsoft.com/office/drawing/2014/chart" uri="{C3380CC4-5D6E-409C-BE32-E72D297353CC}">
              <c16:uniqueId val="{00000013-E77E-4E45-AE76-7F20C1AD99AA}"/>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100"/>
              <a:t>Báo cáo vụ việc MOR </a:t>
            </a: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'MOR vụ việc E'!$AB$3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vụ việc E'!$AA$4:$AA$5</c:f>
              <c:strCache>
                <c:ptCount val="2"/>
                <c:pt idx="0">
                  <c:v>Số vụ</c:v>
                </c:pt>
                <c:pt idx="1">
                  <c:v>Tỷ lệ/10000CB</c:v>
                </c:pt>
              </c:strCache>
            </c:strRef>
          </c:cat>
          <c:val>
            <c:numRef>
              <c:f>'MOR vụ việc E'!$AB$4:$AB$5</c:f>
              <c:numCache>
                <c:formatCode>0.00</c:formatCode>
                <c:ptCount val="2"/>
                <c:pt idx="0" formatCode="General">
                  <c:v>2</c:v>
                </c:pt>
                <c:pt idx="1">
                  <c:v>1.8417902200939313</c:v>
                </c:pt>
              </c:numCache>
            </c:numRef>
          </c:val>
          <c:extLst>
            <c:ext xmlns:c16="http://schemas.microsoft.com/office/drawing/2014/chart" uri="{C3380CC4-5D6E-409C-BE32-E72D297353CC}">
              <c16:uniqueId val="{00000000-BAB4-44CC-BCD8-8F6E8EB0182B}"/>
            </c:ext>
          </c:extLst>
        </c:ser>
        <c:ser>
          <c:idx val="1"/>
          <c:order val="1"/>
          <c:tx>
            <c:strRef>
              <c:f>'MOR vụ việc E'!$AC$3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vụ việc E'!$AA$4:$AA$5</c:f>
              <c:strCache>
                <c:ptCount val="2"/>
                <c:pt idx="0">
                  <c:v>Số vụ</c:v>
                </c:pt>
                <c:pt idx="1">
                  <c:v>Tỷ lệ/10000CB</c:v>
                </c:pt>
              </c:strCache>
            </c:strRef>
          </c:cat>
          <c:val>
            <c:numRef>
              <c:f>'MOR vụ việc E'!$AC$4:$AC$5</c:f>
              <c:numCache>
                <c:formatCode>0.00</c:formatCode>
                <c:ptCount val="2"/>
                <c:pt idx="0" formatCode="0">
                  <c:v>3</c:v>
                </c:pt>
                <c:pt idx="1">
                  <c:v>2.3745448788982113</c:v>
                </c:pt>
              </c:numCache>
            </c:numRef>
          </c:val>
          <c:extLst>
            <c:ext xmlns:c16="http://schemas.microsoft.com/office/drawing/2014/chart" uri="{C3380CC4-5D6E-409C-BE32-E72D297353CC}">
              <c16:uniqueId val="{00000001-BAB4-44CC-BCD8-8F6E8EB0182B}"/>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1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vụ việc 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vụ việc E'!$D$3:$D$26</c:f>
              <c:numCache>
                <c:formatCode>General</c:formatCode>
                <c:ptCount val="13"/>
                <c:pt idx="0">
                  <c:v>2</c:v>
                </c:pt>
                <c:pt idx="1">
                  <c:v>4</c:v>
                </c:pt>
                <c:pt idx="2">
                  <c:v>3</c:v>
                </c:pt>
                <c:pt idx="3">
                  <c:v>1</c:v>
                </c:pt>
                <c:pt idx="4">
                  <c:v>6</c:v>
                </c:pt>
                <c:pt idx="5">
                  <c:v>2</c:v>
                </c:pt>
                <c:pt idx="6">
                  <c:v>5</c:v>
                </c:pt>
                <c:pt idx="7">
                  <c:v>8</c:v>
                </c:pt>
                <c:pt idx="8">
                  <c:v>7</c:v>
                </c:pt>
                <c:pt idx="9">
                  <c:v>5</c:v>
                </c:pt>
                <c:pt idx="10">
                  <c:v>4</c:v>
                </c:pt>
                <c:pt idx="11">
                  <c:v>4</c:v>
                </c:pt>
                <c:pt idx="12">
                  <c:v>3</c:v>
                </c:pt>
              </c:numCache>
              <c:extLst/>
            </c:numRef>
          </c:val>
          <c:extLst>
            <c:ext xmlns:c16="http://schemas.microsoft.com/office/drawing/2014/chart" uri="{C3380CC4-5D6E-409C-BE32-E72D297353CC}">
              <c16:uniqueId val="{00000000-B194-452B-8ADE-E977E1583617}"/>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layout>
                <c:manualLayout>
                  <c:x val="-6.0857357340505742E-2"/>
                  <c:y val="-6.534439384801241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194-452B-8ADE-E977E1583617}"/>
                </c:ext>
              </c:extLst>
            </c:dLbl>
            <c:dLbl>
              <c:idx val="1"/>
              <c:layout>
                <c:manualLayout>
                  <c:x val="-2.5624150459160312E-2"/>
                  <c:y val="-0.1040097156515701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B194-452B-8ADE-E977E1583617}"/>
                </c:ext>
              </c:extLst>
            </c:dLbl>
            <c:dLbl>
              <c:idx val="3"/>
              <c:layout>
                <c:manualLayout>
                  <c:x val="-3.6834716285042951E-2"/>
                  <c:y val="-0.1156093121926373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B194-452B-8ADE-E977E1583617}"/>
                </c:ext>
              </c:extLst>
            </c:dLbl>
            <c:dLbl>
              <c:idx val="5"/>
              <c:layout>
                <c:manualLayout>
                  <c:x val="-2.5624150459160371E-2"/>
                  <c:y val="-0.1581411661765507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194-452B-8ADE-E977E1583617}"/>
                </c:ext>
              </c:extLst>
            </c:dLbl>
            <c:dLbl>
              <c:idx val="6"/>
              <c:layout>
                <c:manualLayout>
                  <c:x val="-3.042867867025293E-2"/>
                  <c:y val="-0.1504081018158391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B194-452B-8ADE-E977E1583617}"/>
                </c:ext>
              </c:extLst>
            </c:dLbl>
            <c:dLbl>
              <c:idx val="7"/>
              <c:layout>
                <c:manualLayout>
                  <c:x val="-3.2030188073950507E-2"/>
                  <c:y val="-0.1620076983569064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B194-452B-8ADE-E977E1583617}"/>
                </c:ext>
              </c:extLst>
            </c:dLbl>
            <c:dLbl>
              <c:idx val="9"/>
              <c:layout>
                <c:manualLayout>
                  <c:x val="-2.5624150459160312E-2"/>
                  <c:y val="-0.1117427800122815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B194-452B-8ADE-E977E1583617}"/>
                </c:ext>
              </c:extLst>
            </c:dLbl>
            <c:dLbl>
              <c:idx val="11"/>
              <c:layout>
                <c:manualLayout>
                  <c:x val="-3.523320688134543E-2"/>
                  <c:y val="-0.1001431834712142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194-452B-8ADE-E977E1583617}"/>
                </c:ext>
              </c:extLst>
            </c:dLbl>
            <c:dLbl>
              <c:idx val="12"/>
              <c:layout>
                <c:manualLayout>
                  <c:x val="-1.1744266623011603E-16"/>
                  <c:y val="-8.467705474979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194-452B-8ADE-E977E1583617}"/>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vụ việc 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vụ việc E'!$E$3:$E$26</c:f>
              <c:numCache>
                <c:formatCode>0.00</c:formatCode>
                <c:ptCount val="13"/>
                <c:pt idx="0">
                  <c:v>1.8417902200939313</c:v>
                </c:pt>
                <c:pt idx="1">
                  <c:v>3.4482758620689653</c:v>
                </c:pt>
                <c:pt idx="2">
                  <c:v>2.7352297592997812</c:v>
                </c:pt>
                <c:pt idx="3">
                  <c:v>0.9722897423432183</c:v>
                </c:pt>
                <c:pt idx="4">
                  <c:v>5.9084194977843429</c:v>
                </c:pt>
                <c:pt idx="5">
                  <c:v>1.7253278122843341</c:v>
                </c:pt>
                <c:pt idx="6">
                  <c:v>3.8544557508479804</c:v>
                </c:pt>
                <c:pt idx="7">
                  <c:v>6.8125691901558376</c:v>
                </c:pt>
                <c:pt idx="8">
                  <c:v>7.4922401798137646</c:v>
                </c:pt>
                <c:pt idx="9">
                  <c:v>5.2410901467505244</c:v>
                </c:pt>
                <c:pt idx="10">
                  <c:v>4.0355125100887816</c:v>
                </c:pt>
                <c:pt idx="11">
                  <c:v>3.4773537338085716</c:v>
                </c:pt>
                <c:pt idx="12">
                  <c:v>2.3745448788982113</c:v>
                </c:pt>
              </c:numCache>
              <c:extLst/>
            </c:numRef>
          </c:val>
          <c:smooth val="0"/>
          <c:extLst>
            <c:ext xmlns:c16="http://schemas.microsoft.com/office/drawing/2014/chart" uri="{C3380CC4-5D6E-409C-BE32-E72D297353CC}">
              <c16:uniqueId val="{00000006-B194-452B-8ADE-E977E1583617}"/>
            </c:ext>
          </c:extLst>
        </c:ser>
        <c:ser>
          <c:idx val="2"/>
          <c:order val="2"/>
          <c:spPr>
            <a:ln w="25400">
              <a:solidFill>
                <a:srgbClr val="00B0F0"/>
              </a:solidFill>
            </a:ln>
          </c:spPr>
          <c:marker>
            <c:symbol val="none"/>
          </c:marker>
          <c:dLbls>
            <c:dLbl>
              <c:idx val="0"/>
              <c:layout>
                <c:manualLayout>
                  <c:x val="0.18257207202151723"/>
                  <c:y val="-3.0932257442846108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7-B194-452B-8ADE-E977E1583617}"/>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194-452B-8ADE-E977E1583617}"/>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vụ việc 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vụ việc E'!$F$3:$F$26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3.8615171673610371</c:v>
                </c:pt>
                <c:pt idx="7">
                  <c:v>3.8615171673610371</c:v>
                </c:pt>
                <c:pt idx="8">
                  <c:v>3.8615171673610371</c:v>
                </c:pt>
                <c:pt idx="9">
                  <c:v>3.8615171673610371</c:v>
                </c:pt>
                <c:pt idx="10">
                  <c:v>3.8615171673610371</c:v>
                </c:pt>
                <c:pt idx="11">
                  <c:v>3.8615171673610371</c:v>
                </c:pt>
                <c:pt idx="12">
                  <c:v>4.95</c:v>
                </c:pt>
              </c:numCache>
              <c:extLst/>
            </c:numRef>
          </c:val>
          <c:smooth val="0"/>
          <c:extLst>
            <c:ext xmlns:c16="http://schemas.microsoft.com/office/drawing/2014/chart" uri="{C3380CC4-5D6E-409C-BE32-E72D297353CC}">
              <c16:uniqueId val="{00000009-B194-452B-8ADE-E977E1583617}"/>
            </c:ext>
          </c:extLst>
        </c:ser>
        <c:ser>
          <c:idx val="3"/>
          <c:order val="3"/>
          <c:spPr>
            <a:ln w="25400">
              <a:solidFill>
                <a:srgbClr val="FFC000"/>
              </a:solidFill>
            </a:ln>
          </c:spPr>
          <c:marker>
            <c:symbol val="none"/>
          </c:marker>
          <c:dLbls>
            <c:dLbl>
              <c:idx val="0"/>
              <c:layout>
                <c:manualLayout>
                  <c:x val="0.18257207202151723"/>
                  <c:y val="-2.3199193082134653E-2"/>
                </c:manualLayout>
              </c:layout>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A-B194-452B-8ADE-E977E1583617}"/>
                </c:ext>
              </c:extLst>
            </c:dLbl>
            <c:dLbl>
              <c:idx val="1"/>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6="http://schemas.microsoft.com/office/drawing/2014/chart" uri="{C3380CC4-5D6E-409C-BE32-E72D297353CC}">
                  <c16:uniqueId val="{0000000B-B194-452B-8ADE-E977E1583617}"/>
                </c:ext>
              </c:extLst>
            </c:dLbl>
            <c:dLbl>
              <c:idx val="12"/>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194-452B-8ADE-E977E1583617}"/>
                </c:ext>
              </c:extLst>
            </c:dLbl>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vụ việc 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vụ việc E'!$G$3:$G$26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4.7983825991721627</c:v>
                </c:pt>
                <c:pt idx="7">
                  <c:v>4.7983825991721627</c:v>
                </c:pt>
                <c:pt idx="8">
                  <c:v>4.7983825991721627</c:v>
                </c:pt>
                <c:pt idx="9">
                  <c:v>4.7983825991721627</c:v>
                </c:pt>
                <c:pt idx="10">
                  <c:v>4.7983825991721627</c:v>
                </c:pt>
                <c:pt idx="11">
                  <c:v>4.7983825991721627</c:v>
                </c:pt>
                <c:pt idx="12">
                  <c:v>5.98</c:v>
                </c:pt>
              </c:numCache>
              <c:extLst/>
            </c:numRef>
          </c:val>
          <c:smooth val="0"/>
          <c:extLst>
            <c:ext xmlns:c16="http://schemas.microsoft.com/office/drawing/2014/chart" uri="{C3380CC4-5D6E-409C-BE32-E72D297353CC}">
              <c16:uniqueId val="{0000000D-B194-452B-8ADE-E977E1583617}"/>
            </c:ext>
          </c:extLst>
        </c:ser>
        <c:ser>
          <c:idx val="4"/>
          <c:order val="4"/>
          <c:spPr>
            <a:ln w="25400">
              <a:solidFill>
                <a:srgbClr val="FF0000"/>
              </a:solidFill>
            </a:ln>
          </c:spPr>
          <c:marker>
            <c:symbol val="none"/>
          </c:marker>
          <c:dLbls>
            <c:dLbl>
              <c:idx val="0"/>
              <c:layout>
                <c:manualLayout>
                  <c:x val="0.18097056261781971"/>
                  <c:y val="-3.0932257442846108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E-B194-452B-8ADE-E977E1583617}"/>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194-452B-8ADE-E977E1583617}"/>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vụ việc 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vụ việc E'!$H$3:$H$26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5.7352480309832883</c:v>
                </c:pt>
                <c:pt idx="7">
                  <c:v>5.7352480309832883</c:v>
                </c:pt>
                <c:pt idx="8">
                  <c:v>5.7352480309832883</c:v>
                </c:pt>
                <c:pt idx="9">
                  <c:v>5.7352480309832883</c:v>
                </c:pt>
                <c:pt idx="10">
                  <c:v>5.7352480309832883</c:v>
                </c:pt>
                <c:pt idx="11">
                  <c:v>5.7352480309832883</c:v>
                </c:pt>
                <c:pt idx="12">
                  <c:v>7.05</c:v>
                </c:pt>
              </c:numCache>
              <c:extLst/>
            </c:numRef>
          </c:val>
          <c:smooth val="0"/>
          <c:extLst>
            <c:ext xmlns:c16="http://schemas.microsoft.com/office/drawing/2014/chart" uri="{C3380CC4-5D6E-409C-BE32-E72D297353CC}">
              <c16:uniqueId val="{00000010-B194-452B-8ADE-E977E1583617}"/>
            </c:ext>
          </c:extLst>
        </c:ser>
        <c:ser>
          <c:idx val="5"/>
          <c:order val="5"/>
          <c:spPr>
            <a:ln w="25400">
              <a:solidFill>
                <a:srgbClr val="339933"/>
              </a:solidFill>
            </a:ln>
          </c:spPr>
          <c:marker>
            <c:symbol val="none"/>
          </c:marker>
          <c:dLbls>
            <c:dLbl>
              <c:idx val="0"/>
              <c:layout>
                <c:manualLayout>
                  <c:x val="0.18417358142521476"/>
                  <c:y val="-3.4798789623201945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1-B194-452B-8ADE-E977E1583617}"/>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B194-452B-8ADE-E977E1583617}"/>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vụ việc 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'MOR vụ việc E'!$I$3:$I$26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2.9246517355499115</c:v>
                </c:pt>
                <c:pt idx="7">
                  <c:v>2.9246517355499115</c:v>
                </c:pt>
                <c:pt idx="8">
                  <c:v>2.9246517355499115</c:v>
                </c:pt>
                <c:pt idx="9">
                  <c:v>2.9246517355499115</c:v>
                </c:pt>
                <c:pt idx="10">
                  <c:v>2.9246517355499115</c:v>
                </c:pt>
                <c:pt idx="11">
                  <c:v>2.9246517355499115</c:v>
                </c:pt>
                <c:pt idx="12">
                  <c:v>4.1043288981543933</c:v>
                </c:pt>
              </c:numCache>
              <c:extLst/>
            </c:numRef>
          </c:val>
          <c:smooth val="0"/>
          <c:extLst>
            <c:ext xmlns:c16="http://schemas.microsoft.com/office/drawing/2014/chart" uri="{C3380CC4-5D6E-409C-BE32-E72D297353CC}">
              <c16:uniqueId val="{00000013-B194-452B-8ADE-E977E1583617}"/>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Báo cáo vụ</a:t>
            </a:r>
            <a:r>
              <a:rPr lang="en-US" baseline="0"/>
              <a:t> việc </a:t>
            </a:r>
            <a:r>
              <a:rPr lang="en-US"/>
              <a:t>MOR </a:t>
            </a: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'Sự cố vụ việc bảo dưỡng tàu bay'!$AB$3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bảo dưỡng tàu bay'!$AA$4:$AA$5</c:f>
              <c:strCache>
                <c:ptCount val="2"/>
                <c:pt idx="0">
                  <c:v>Số vụ</c:v>
                </c:pt>
                <c:pt idx="1">
                  <c:v>Tỷ lệ/10000CB</c:v>
                </c:pt>
              </c:strCache>
            </c:strRef>
          </c:cat>
          <c:val>
            <c:numRef>
              <c:f>'Sự cố vụ việc bảo dưỡng tàu bay'!$AB$4:$AB$5</c:f>
              <c:numCache>
                <c:formatCode>0.00</c:formatCode>
                <c:ptCount val="2"/>
                <c:pt idx="0" formatCode="General">
                  <c:v>1</c:v>
                </c:pt>
                <c:pt idx="1">
                  <c:v>0.92089511004696567</c:v>
                </c:pt>
              </c:numCache>
            </c:numRef>
          </c:val>
          <c:extLst>
            <c:ext xmlns:c16="http://schemas.microsoft.com/office/drawing/2014/chart" uri="{C3380CC4-5D6E-409C-BE32-E72D297353CC}">
              <c16:uniqueId val="{00000000-5777-4F96-8566-6ACAA02A168D}"/>
            </c:ext>
          </c:extLst>
        </c:ser>
        <c:ser>
          <c:idx val="1"/>
          <c:order val="1"/>
          <c:tx>
            <c:strRef>
              <c:f>'Sự cố vụ việc bảo dưỡng tàu bay'!$AC$3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bảo dưỡng tàu bay'!$AA$4:$AA$5</c:f>
              <c:strCache>
                <c:ptCount val="2"/>
                <c:pt idx="0">
                  <c:v>Số vụ</c:v>
                </c:pt>
                <c:pt idx="1">
                  <c:v>Tỷ lệ/10000CB</c:v>
                </c:pt>
              </c:strCache>
            </c:strRef>
          </c:cat>
          <c:val>
            <c:numRef>
              <c:f>'Sự cố vụ việc bảo dưỡng tàu bay'!$AC$4:$AC$5</c:f>
              <c:numCache>
                <c:formatCode>0.00</c:formatCode>
                <c:ptCount val="2"/>
                <c:pt idx="0" formatCode="0">
                  <c:v>0</c:v>
                </c:pt>
                <c:pt idx="1">
                  <c:v>0</c:v>
                </c:pt>
              </c:numCache>
            </c:numRef>
          </c:val>
          <c:extLst>
            <c:ext xmlns:c16="http://schemas.microsoft.com/office/drawing/2014/chart" uri="{C3380CC4-5D6E-409C-BE32-E72D297353CC}">
              <c16:uniqueId val="{00000001-5777-4F96-8566-6ACAA02A168D}"/>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2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5885667958678222"/>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bảo dưỡng tàu bay'!$B$3:$B$26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bảo dưỡng tàu bay'!$D$3:$D$26</c:f>
              <c:numCache>
                <c:formatCode>General</c:formatCode>
                <c:ptCount val="13"/>
                <c:pt idx="0">
                  <c:v>1</c:v>
                </c:pt>
                <c:pt idx="1">
                  <c:v>0</c:v>
                </c:pt>
                <c:pt idx="2">
                  <c:v>1</c:v>
                </c:pt>
                <c:pt idx="3">
                  <c:v>0</c:v>
                </c:pt>
                <c:pt idx="4">
                  <c:v>0</c:v>
                </c:pt>
                <c:pt idx="5">
                  <c:v>0</c:v>
                </c:pt>
                <c:pt idx="6">
                  <c:v>0</c:v>
                </c:pt>
                <c:pt idx="7">
                  <c:v>0</c:v>
                </c:pt>
                <c:pt idx="8">
                  <c:v>0</c:v>
                </c:pt>
                <c:pt idx="9">
                  <c:v>0</c:v>
                </c:pt>
                <c:pt idx="10">
                  <c:v>0</c:v>
                </c:pt>
                <c:pt idx="11">
                  <c:v>1</c:v>
                </c:pt>
                <c:pt idx="12">
                  <c:v>0</c:v>
                </c:pt>
              </c:numCache>
              <c:extLst/>
            </c:numRef>
          </c:val>
          <c:extLst>
            <c:ext xmlns:c16="http://schemas.microsoft.com/office/drawing/2014/chart" uri="{C3380CC4-5D6E-409C-BE32-E72D297353CC}">
              <c16:uniqueId val="{00000000-22B5-4C2C-A975-E6D1AB3BCF55}"/>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1"/>
              <c:delete val="1"/>
              <c:extLst>
                <c:ext xmlns:c15="http://schemas.microsoft.com/office/drawing/2012/chart" uri="{CE6537A1-D6FC-4f65-9D91-7224C49458BB}"/>
                <c:ext xmlns:c16="http://schemas.microsoft.com/office/drawing/2014/chart" uri="{C3380CC4-5D6E-409C-BE32-E72D297353CC}">
                  <c16:uniqueId val="{00000009-4235-4192-BCC3-59C4B3DB3963}"/>
                </c:ext>
              </c:extLst>
            </c:dLbl>
            <c:dLbl>
              <c:idx val="3"/>
              <c:delete val="1"/>
              <c:extLst>
                <c:ext xmlns:c15="http://schemas.microsoft.com/office/drawing/2012/chart" uri="{CE6537A1-D6FC-4f65-9D91-7224C49458BB}"/>
                <c:ext xmlns:c16="http://schemas.microsoft.com/office/drawing/2014/chart" uri="{C3380CC4-5D6E-409C-BE32-E72D297353CC}">
                  <c16:uniqueId val="{00000008-4235-4192-BCC3-59C4B3DB3963}"/>
                </c:ext>
              </c:extLst>
            </c:dLbl>
            <c:dLbl>
              <c:idx val="4"/>
              <c:delete val="1"/>
              <c:extLst>
                <c:ext xmlns:c15="http://schemas.microsoft.com/office/drawing/2012/chart" uri="{CE6537A1-D6FC-4f65-9D91-7224C49458BB}"/>
                <c:ext xmlns:c16="http://schemas.microsoft.com/office/drawing/2014/chart" uri="{C3380CC4-5D6E-409C-BE32-E72D297353CC}">
                  <c16:uniqueId val="{00000007-4235-4192-BCC3-59C4B3DB3963}"/>
                </c:ext>
              </c:extLst>
            </c:dLbl>
            <c:dLbl>
              <c:idx val="5"/>
              <c:delete val="1"/>
              <c:extLst>
                <c:ext xmlns:c15="http://schemas.microsoft.com/office/drawing/2012/chart" uri="{CE6537A1-D6FC-4f65-9D91-7224C49458BB}"/>
                <c:ext xmlns:c16="http://schemas.microsoft.com/office/drawing/2014/chart" uri="{C3380CC4-5D6E-409C-BE32-E72D297353CC}">
                  <c16:uniqueId val="{00000006-4235-4192-BCC3-59C4B3DB3963}"/>
                </c:ext>
              </c:extLst>
            </c:dLbl>
            <c:dLbl>
              <c:idx val="6"/>
              <c:delete val="1"/>
              <c:extLst>
                <c:ext xmlns:c15="http://schemas.microsoft.com/office/drawing/2012/chart" uri="{CE6537A1-D6FC-4f65-9D91-7224C49458BB}"/>
                <c:ext xmlns:c16="http://schemas.microsoft.com/office/drawing/2014/chart" uri="{C3380CC4-5D6E-409C-BE32-E72D297353CC}">
                  <c16:uniqueId val="{00000005-4235-4192-BCC3-59C4B3DB3963}"/>
                </c:ext>
              </c:extLst>
            </c:dLbl>
            <c:dLbl>
              <c:idx val="7"/>
              <c:delete val="1"/>
              <c:extLst>
                <c:ext xmlns:c15="http://schemas.microsoft.com/office/drawing/2012/chart" uri="{CE6537A1-D6FC-4f65-9D91-7224C49458BB}"/>
                <c:ext xmlns:c16="http://schemas.microsoft.com/office/drawing/2014/chart" uri="{C3380CC4-5D6E-409C-BE32-E72D297353CC}">
                  <c16:uniqueId val="{00000004-4235-4192-BCC3-59C4B3DB3963}"/>
                </c:ext>
              </c:extLst>
            </c:dLbl>
            <c:dLbl>
              <c:idx val="8"/>
              <c:delete val="1"/>
              <c:extLst>
                <c:ext xmlns:c15="http://schemas.microsoft.com/office/drawing/2012/chart" uri="{CE6537A1-D6FC-4f65-9D91-7224C49458BB}"/>
                <c:ext xmlns:c16="http://schemas.microsoft.com/office/drawing/2014/chart" uri="{C3380CC4-5D6E-409C-BE32-E72D297353CC}">
                  <c16:uniqueId val="{00000003-4235-4192-BCC3-59C4B3DB3963}"/>
                </c:ext>
              </c:extLst>
            </c:dLbl>
            <c:dLbl>
              <c:idx val="9"/>
              <c:delete val="1"/>
              <c:extLst>
                <c:ext xmlns:c15="http://schemas.microsoft.com/office/drawing/2012/chart" uri="{CE6537A1-D6FC-4f65-9D91-7224C49458BB}"/>
                <c:ext xmlns:c16="http://schemas.microsoft.com/office/drawing/2014/chart" uri="{C3380CC4-5D6E-409C-BE32-E72D297353CC}">
                  <c16:uniqueId val="{00000002-4235-4192-BCC3-59C4B3DB3963}"/>
                </c:ext>
              </c:extLst>
            </c:dLbl>
            <c:dLbl>
              <c:idx val="10"/>
              <c:delete val="1"/>
              <c:extLst>
                <c:ext xmlns:c15="http://schemas.microsoft.com/office/drawing/2012/chart" uri="{CE6537A1-D6FC-4f65-9D91-7224C49458BB}"/>
                <c:ext xmlns:c16="http://schemas.microsoft.com/office/drawing/2014/chart" uri="{C3380CC4-5D6E-409C-BE32-E72D297353CC}">
                  <c16:uniqueId val="{00000001-4235-4192-BCC3-59C4B3DB3963}"/>
                </c:ext>
              </c:extLst>
            </c:dLbl>
            <c:dLbl>
              <c:idx val="12"/>
              <c:delete val="1"/>
              <c:extLst>
                <c:ext xmlns:c15="http://schemas.microsoft.com/office/drawing/2012/chart" uri="{CE6537A1-D6FC-4f65-9D91-7224C49458BB}"/>
                <c:ext xmlns:c16="http://schemas.microsoft.com/office/drawing/2014/chart" uri="{C3380CC4-5D6E-409C-BE32-E72D297353CC}">
                  <c16:uniqueId val="{00000000-4235-4192-BCC3-59C4B3DB3963}"/>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bảo dưỡng tàu bay'!$B$3:$B$26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bảo dưỡng tàu bay'!$E$3:$E$26</c:f>
              <c:numCache>
                <c:formatCode>0.00</c:formatCode>
                <c:ptCount val="13"/>
                <c:pt idx="0">
                  <c:v>0.92089511004696567</c:v>
                </c:pt>
                <c:pt idx="1">
                  <c:v>0</c:v>
                </c:pt>
                <c:pt idx="2">
                  <c:v>0.9117432530999271</c:v>
                </c:pt>
                <c:pt idx="3">
                  <c:v>0</c:v>
                </c:pt>
                <c:pt idx="4">
                  <c:v>0</c:v>
                </c:pt>
                <c:pt idx="5">
                  <c:v>0</c:v>
                </c:pt>
                <c:pt idx="6">
                  <c:v>0</c:v>
                </c:pt>
                <c:pt idx="7">
                  <c:v>0</c:v>
                </c:pt>
                <c:pt idx="8">
                  <c:v>0</c:v>
                </c:pt>
                <c:pt idx="9">
                  <c:v>0</c:v>
                </c:pt>
                <c:pt idx="10">
                  <c:v>0</c:v>
                </c:pt>
                <c:pt idx="11">
                  <c:v>0.8693384334521429</c:v>
                </c:pt>
                <c:pt idx="12">
                  <c:v>0</c:v>
                </c:pt>
              </c:numCache>
              <c:extLst/>
            </c:numRef>
          </c:val>
          <c:smooth val="0"/>
          <c:extLst>
            <c:ext xmlns:c16="http://schemas.microsoft.com/office/drawing/2014/chart" uri="{C3380CC4-5D6E-409C-BE32-E72D297353CC}">
              <c16:uniqueId val="{00000006-22B5-4C2C-A975-E6D1AB3BCF55}"/>
            </c:ext>
          </c:extLst>
        </c:ser>
        <c:ser>
          <c:idx val="2"/>
          <c:order val="2"/>
          <c:spPr>
            <a:ln w="25400">
              <a:solidFill>
                <a:srgbClr val="00B0F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7-22B5-4C2C-A975-E6D1AB3BCF55}"/>
                </c:ext>
              </c:extLst>
            </c:dLbl>
            <c:dLbl>
              <c:idx val="12"/>
              <c:layout>
                <c:manualLayout>
                  <c:x val="3.8097712217133239E-3"/>
                  <c:y val="-0.18366022265129553"/>
                </c:manualLayout>
              </c:layout>
              <c:spPr>
                <a:solidFill>
                  <a:srgbClr val="00B0F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7815094886608574E-2"/>
                      <c:h val="5.3358127843955334E-2"/>
                    </c:manualLayout>
                  </c15:layout>
                </c:ext>
                <c:ext xmlns:c16="http://schemas.microsoft.com/office/drawing/2014/chart" uri="{C3380CC4-5D6E-409C-BE32-E72D297353CC}">
                  <c16:uniqueId val="{00000008-22B5-4C2C-A975-E6D1AB3BCF55}"/>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bảo dưỡng tàu bay'!$F$3:$F$26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3.8615171673610371</c:v>
                </c:pt>
                <c:pt idx="7">
                  <c:v>3.8615171673610371</c:v>
                </c:pt>
                <c:pt idx="8">
                  <c:v>3.8615171673610371</c:v>
                </c:pt>
                <c:pt idx="9">
                  <c:v>3.8615171673610371</c:v>
                </c:pt>
                <c:pt idx="10">
                  <c:v>3.8615171673610371</c:v>
                </c:pt>
                <c:pt idx="11">
                  <c:v>3.8615171673610371</c:v>
                </c:pt>
                <c:pt idx="12">
                  <c:v>0.43368797490235522</c:v>
                </c:pt>
              </c:numCache>
              <c:extLst/>
            </c:numRef>
          </c:val>
          <c:smooth val="0"/>
          <c:extLst>
            <c:ext xmlns:c16="http://schemas.microsoft.com/office/drawing/2014/chart" uri="{C3380CC4-5D6E-409C-BE32-E72D297353CC}">
              <c16:uniqueId val="{00000009-22B5-4C2C-A975-E6D1AB3BCF55}"/>
            </c:ext>
          </c:extLst>
        </c:ser>
        <c:ser>
          <c:idx val="3"/>
          <c:order val="3"/>
          <c:spPr>
            <a:ln w="25400">
              <a:solidFill>
                <a:srgbClr val="FFC000"/>
              </a:solidFill>
            </a:ln>
          </c:spPr>
          <c:marker>
            <c:symbol val="none"/>
          </c:marker>
          <c:dLbls>
            <c:dLbl>
              <c:idx val="0"/>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A-22B5-4C2C-A975-E6D1AB3BCF55}"/>
                </c:ext>
              </c:extLst>
            </c:dLbl>
            <c:dLbl>
              <c:idx val="1"/>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6="http://schemas.microsoft.com/office/drawing/2014/chart" uri="{C3380CC4-5D6E-409C-BE32-E72D297353CC}">
                  <c16:uniqueId val="{0000000B-22B5-4C2C-A975-E6D1AB3BCF55}"/>
                </c:ext>
              </c:extLst>
            </c:dLbl>
            <c:dLbl>
              <c:idx val="12"/>
              <c:layout>
                <c:manualLayout>
                  <c:x val="1.8480973419952699E-3"/>
                  <c:y val="-0.22232538045751718"/>
                </c:manualLayout>
              </c:layout>
              <c:spPr>
                <a:solidFill>
                  <a:srgbClr val="FFC00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1002767879049143E-2"/>
                      <c:h val="6.8824251856695995E-2"/>
                    </c:manualLayout>
                  </c15:layout>
                </c:ext>
                <c:ext xmlns:c16="http://schemas.microsoft.com/office/drawing/2014/chart" uri="{C3380CC4-5D6E-409C-BE32-E72D297353CC}">
                  <c16:uniqueId val="{0000000C-22B5-4C2C-A975-E6D1AB3BCF55}"/>
                </c:ext>
              </c:extLst>
            </c:dLbl>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bảo dưỡng tàu bay'!$G$3:$G$26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4.7983825991721627</c:v>
                </c:pt>
                <c:pt idx="7">
                  <c:v>4.7983825991721627</c:v>
                </c:pt>
                <c:pt idx="8">
                  <c:v>4.7983825991721627</c:v>
                </c:pt>
                <c:pt idx="9">
                  <c:v>4.7983825991721627</c:v>
                </c:pt>
                <c:pt idx="10">
                  <c:v>4.7983825991721627</c:v>
                </c:pt>
                <c:pt idx="11">
                  <c:v>4.7983825991721627</c:v>
                </c:pt>
                <c:pt idx="12">
                  <c:v>0.637441557751243</c:v>
                </c:pt>
              </c:numCache>
              <c:extLst/>
            </c:numRef>
          </c:val>
          <c:smooth val="0"/>
          <c:extLst>
            <c:ext xmlns:c16="http://schemas.microsoft.com/office/drawing/2014/chart" uri="{C3380CC4-5D6E-409C-BE32-E72D297353CC}">
              <c16:uniqueId val="{0000000D-22B5-4C2C-A975-E6D1AB3BCF55}"/>
            </c:ext>
          </c:extLst>
        </c:ser>
        <c:ser>
          <c:idx val="4"/>
          <c:order val="4"/>
          <c:spPr>
            <a:ln w="25400">
              <a:solidFill>
                <a:srgbClr val="FF000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E-22B5-4C2C-A975-E6D1AB3BCF55}"/>
                </c:ext>
              </c:extLst>
            </c:dLbl>
            <c:dLbl>
              <c:idx val="12"/>
              <c:layout>
                <c:manualLayout>
                  <c:x val="2.542608457749842E-4"/>
                  <c:y val="-0.27259043572455444"/>
                </c:manualLayout>
              </c:layout>
              <c:spPr>
                <a:solidFill>
                  <a:srgbClr val="FF000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2596604375269432E-2"/>
                      <c:h val="6.8824251856696009E-2"/>
                    </c:manualLayout>
                  </c15:layout>
                </c:ext>
                <c:ext xmlns:c16="http://schemas.microsoft.com/office/drawing/2014/chart" uri="{C3380CC4-5D6E-409C-BE32-E72D297353CC}">
                  <c16:uniqueId val="{0000000F-22B5-4C2C-A975-E6D1AB3BCF55}"/>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bảo dưỡng tàu bay'!$H$3:$H$26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5.7352480309832883</c:v>
                </c:pt>
                <c:pt idx="7">
                  <c:v>5.7352480309832883</c:v>
                </c:pt>
                <c:pt idx="8">
                  <c:v>5.7352480309832883</c:v>
                </c:pt>
                <c:pt idx="9">
                  <c:v>5.7352480309832883</c:v>
                </c:pt>
                <c:pt idx="10">
                  <c:v>5.7352480309832883</c:v>
                </c:pt>
                <c:pt idx="11">
                  <c:v>5.7352480309832883</c:v>
                </c:pt>
                <c:pt idx="12">
                  <c:v>0.8411951406001309</c:v>
                </c:pt>
              </c:numCache>
              <c:extLst/>
            </c:numRef>
          </c:val>
          <c:smooth val="0"/>
          <c:extLst>
            <c:ext xmlns:c16="http://schemas.microsoft.com/office/drawing/2014/chart" uri="{C3380CC4-5D6E-409C-BE32-E72D297353CC}">
              <c16:uniqueId val="{00000010-22B5-4C2C-A975-E6D1AB3BCF55}"/>
            </c:ext>
          </c:extLst>
        </c:ser>
        <c:ser>
          <c:idx val="5"/>
          <c:order val="5"/>
          <c:spPr>
            <a:ln w="25400">
              <a:solidFill>
                <a:srgbClr val="339933"/>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1-22B5-4C2C-A975-E6D1AB3BCF55}"/>
                </c:ext>
              </c:extLst>
            </c:dLbl>
            <c:dLbl>
              <c:idx val="12"/>
              <c:layout>
                <c:manualLayout>
                  <c:x val="5.2105276038048771E-3"/>
                  <c:y val="-0.1372618506130735"/>
                </c:manualLayout>
              </c:layout>
              <c:spPr>
                <a:solidFill>
                  <a:srgbClr val="00B050"/>
                </a:solidFill>
                <a:ln>
                  <a:noFill/>
                </a:ln>
                <a:effectLst/>
              </c:spPr>
              <c:txPr>
                <a:bodyPr wrap="square" lIns="38100" tIns="19050" rIns="38100" bIns="19050" anchor="ctr">
                  <a:no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7640400366707886E-2"/>
                      <c:h val="8.4290375869436704E-2"/>
                    </c:manualLayout>
                  </c15:layout>
                </c:ext>
                <c:ext xmlns:c16="http://schemas.microsoft.com/office/drawing/2014/chart" uri="{C3380CC4-5D6E-409C-BE32-E72D297353CC}">
                  <c16:uniqueId val="{00000012-22B5-4C2C-A975-E6D1AB3BCF55}"/>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bảo dưỡng tàu bay'!$I$3:$I$26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2.9246517355499115</c:v>
                </c:pt>
                <c:pt idx="7">
                  <c:v>2.9246517355499115</c:v>
                </c:pt>
                <c:pt idx="8">
                  <c:v>2.9246517355499115</c:v>
                </c:pt>
                <c:pt idx="9">
                  <c:v>2.9246517355499115</c:v>
                </c:pt>
                <c:pt idx="10">
                  <c:v>2.9246517355499115</c:v>
                </c:pt>
                <c:pt idx="11">
                  <c:v>2.9246517355499115</c:v>
                </c:pt>
                <c:pt idx="12">
                  <c:v>0.21843767245079404</c:v>
                </c:pt>
              </c:numCache>
              <c:extLst/>
            </c:numRef>
          </c:val>
          <c:smooth val="0"/>
          <c:extLst>
            <c:ext xmlns:c16="http://schemas.microsoft.com/office/drawing/2014/chart" uri="{C3380CC4-5D6E-409C-BE32-E72D297353CC}">
              <c16:uniqueId val="{00000013-22B5-4C2C-A975-E6D1AB3BCF55}"/>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100"/>
              <a:t>Báo cáo vụ việc MOR </a:t>
            </a: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'Sự cố vụ việc sai lỗi con người'!$AB$3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sai lỗi con người'!$AA$4:$AA$5</c:f>
              <c:strCache>
                <c:ptCount val="2"/>
                <c:pt idx="0">
                  <c:v>Số vụ</c:v>
                </c:pt>
                <c:pt idx="1">
                  <c:v>Tỷ lệ/10000CB</c:v>
                </c:pt>
              </c:strCache>
            </c:strRef>
          </c:cat>
          <c:val>
            <c:numRef>
              <c:f>'Sự cố vụ việc sai lỗi con người'!$AB$4:$AB$5</c:f>
              <c:numCache>
                <c:formatCode>0.00</c:formatCode>
                <c:ptCount val="2"/>
                <c:pt idx="0" formatCode="General">
                  <c:v>2</c:v>
                </c:pt>
                <c:pt idx="1">
                  <c:v>1.8417902200939313</c:v>
                </c:pt>
              </c:numCache>
            </c:numRef>
          </c:val>
          <c:extLst>
            <c:ext xmlns:c16="http://schemas.microsoft.com/office/drawing/2014/chart" uri="{C3380CC4-5D6E-409C-BE32-E72D297353CC}">
              <c16:uniqueId val="{00000000-38FA-4EEA-9076-59F6BC78CD63}"/>
            </c:ext>
          </c:extLst>
        </c:ser>
        <c:ser>
          <c:idx val="1"/>
          <c:order val="1"/>
          <c:tx>
            <c:strRef>
              <c:f>'Sự cố vụ việc sai lỗi con người'!$AC$3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sai lỗi con người'!$AA$4:$AA$5</c:f>
              <c:strCache>
                <c:ptCount val="2"/>
                <c:pt idx="0">
                  <c:v>Số vụ</c:v>
                </c:pt>
                <c:pt idx="1">
                  <c:v>Tỷ lệ/10000CB</c:v>
                </c:pt>
              </c:strCache>
            </c:strRef>
          </c:cat>
          <c:val>
            <c:numRef>
              <c:f>'Sự cố vụ việc sai lỗi con người'!$AC$4:$AC$5</c:f>
              <c:numCache>
                <c:formatCode>0.00</c:formatCode>
                <c:ptCount val="2"/>
                <c:pt idx="0" formatCode="0">
                  <c:v>2</c:v>
                </c:pt>
                <c:pt idx="1">
                  <c:v>1.5830299192654742</c:v>
                </c:pt>
              </c:numCache>
            </c:numRef>
          </c:val>
          <c:extLst>
            <c:ext xmlns:c16="http://schemas.microsoft.com/office/drawing/2014/chart" uri="{C3380CC4-5D6E-409C-BE32-E72D297353CC}">
              <c16:uniqueId val="{00000001-38FA-4EEA-9076-59F6BC78CD63}"/>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1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4923612741487406"/>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sai lỗi con người'!$B$3:$B$26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sai lỗi con người'!$D$3:$D$26</c:f>
              <c:numCache>
                <c:formatCode>General</c:formatCode>
                <c:ptCount val="13"/>
                <c:pt idx="0">
                  <c:v>2</c:v>
                </c:pt>
                <c:pt idx="1">
                  <c:v>0</c:v>
                </c:pt>
                <c:pt idx="2">
                  <c:v>3</c:v>
                </c:pt>
                <c:pt idx="3">
                  <c:v>0</c:v>
                </c:pt>
                <c:pt idx="4">
                  <c:v>1</c:v>
                </c:pt>
                <c:pt idx="5">
                  <c:v>1</c:v>
                </c:pt>
                <c:pt idx="6">
                  <c:v>1</c:v>
                </c:pt>
                <c:pt idx="7">
                  <c:v>1</c:v>
                </c:pt>
                <c:pt idx="8">
                  <c:v>0</c:v>
                </c:pt>
                <c:pt idx="9">
                  <c:v>3</c:v>
                </c:pt>
                <c:pt idx="10">
                  <c:v>1</c:v>
                </c:pt>
                <c:pt idx="11">
                  <c:v>1</c:v>
                </c:pt>
                <c:pt idx="12">
                  <c:v>2</c:v>
                </c:pt>
              </c:numCache>
              <c:extLst/>
            </c:numRef>
          </c:val>
          <c:extLst>
            <c:ext xmlns:c16="http://schemas.microsoft.com/office/drawing/2014/chart" uri="{C3380CC4-5D6E-409C-BE32-E72D297353CC}">
              <c16:uniqueId val="{00000000-4384-49E1-914C-4C948B0319A6}"/>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1"/>
              <c:layout>
                <c:manualLayout>
                  <c:x val="-3.0501952415690193E-2"/>
                  <c:y val="-0.1370617858766206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384-49E1-914C-4C948B0319A6}"/>
                </c:ext>
              </c:extLst>
            </c:dLbl>
            <c:dLbl>
              <c:idx val="2"/>
              <c:layout>
                <c:manualLayout>
                  <c:x val="-3.291000129061307E-2"/>
                  <c:y val="-9.1247261349616596E-2"/>
                </c:manualLayout>
              </c:layout>
              <c:spPr>
                <a:noFill/>
                <a:ln>
                  <a:noFill/>
                </a:ln>
                <a:effectLst/>
              </c:spPr>
              <c:txPr>
                <a:bodyPr wrap="square" lIns="38100" tIns="19050" rIns="38100" bIns="19050" anchor="ctr">
                  <a:no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4.816097749845815E-2"/>
                      <c:h val="5.6504580249971743E-2"/>
                    </c:manualLayout>
                  </c15:layout>
                </c:ext>
                <c:ext xmlns:c16="http://schemas.microsoft.com/office/drawing/2014/chart" uri="{C3380CC4-5D6E-409C-BE32-E72D297353CC}">
                  <c16:uniqueId val="{00000002-4384-49E1-914C-4C948B0319A6}"/>
                </c:ext>
              </c:extLst>
            </c:dLbl>
            <c:dLbl>
              <c:idx val="3"/>
              <c:layout>
                <c:manualLayout>
                  <c:x val="-3.0501952415690193E-2"/>
                  <c:y val="-0.1332439088327036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384-49E1-914C-4C948B0319A6}"/>
                </c:ext>
              </c:extLst>
            </c:dLbl>
            <c:dLbl>
              <c:idx val="8"/>
              <c:layout>
                <c:manualLayout>
                  <c:x val="-3.371268424892071E-2"/>
                  <c:y val="-0.1332439088327036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4384-49E1-914C-4C948B0319A6}"/>
                </c:ext>
              </c:extLst>
            </c:dLbl>
            <c:dLbl>
              <c:idx val="10"/>
              <c:layout>
                <c:manualLayout>
                  <c:x val="-2.5685854665844349E-2"/>
                  <c:y val="-0.1027008924813675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384-49E1-914C-4C948B0319A6}"/>
                </c:ext>
              </c:extLst>
            </c:dLbl>
            <c:dLbl>
              <c:idx val="12"/>
              <c:layout>
                <c:manualLayout>
                  <c:x val="3.9989735812187011E-3"/>
                  <c:y val="-1.4889419851036659E-2"/>
                </c:manualLayout>
              </c:layout>
              <c:spPr>
                <a:noFill/>
                <a:ln>
                  <a:noFill/>
                </a:ln>
                <a:effectLst/>
              </c:spPr>
              <c:txPr>
                <a:bodyPr wrap="square" lIns="38100" tIns="19050" rIns="38100" bIns="19050" anchor="ctr">
                  <a:no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5.9369656494126101E-2"/>
                      <c:h val="7.1776088425639789E-2"/>
                    </c:manualLayout>
                  </c15:layout>
                </c:ext>
                <c:ext xmlns:c16="http://schemas.microsoft.com/office/drawing/2014/chart" uri="{C3380CC4-5D6E-409C-BE32-E72D297353CC}">
                  <c16:uniqueId val="{00000019-4384-49E1-914C-4C948B0319A6}"/>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sai lỗi con người'!$B$3:$B$26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sai lỗi con người'!$E$3:$E$26</c:f>
              <c:numCache>
                <c:formatCode>0.00</c:formatCode>
                <c:ptCount val="13"/>
                <c:pt idx="0">
                  <c:v>1.8417902200939313</c:v>
                </c:pt>
                <c:pt idx="1">
                  <c:v>0</c:v>
                </c:pt>
                <c:pt idx="2">
                  <c:v>2.7352297592997812</c:v>
                </c:pt>
                <c:pt idx="3">
                  <c:v>0</c:v>
                </c:pt>
                <c:pt idx="4">
                  <c:v>0.98473658296405708</c:v>
                </c:pt>
                <c:pt idx="5">
                  <c:v>0.86266390614216704</c:v>
                </c:pt>
                <c:pt idx="6">
                  <c:v>0.77089115016959608</c:v>
                </c:pt>
                <c:pt idx="7">
                  <c:v>0.8515711487694797</c:v>
                </c:pt>
                <c:pt idx="8">
                  <c:v>0</c:v>
                </c:pt>
                <c:pt idx="9">
                  <c:v>3.1446540880503147</c:v>
                </c:pt>
                <c:pt idx="10">
                  <c:v>1.0088781275221954</c:v>
                </c:pt>
                <c:pt idx="11">
                  <c:v>0.8693384334521429</c:v>
                </c:pt>
                <c:pt idx="12">
                  <c:v>1.5830299192654742</c:v>
                </c:pt>
              </c:numCache>
              <c:extLst/>
            </c:numRef>
          </c:val>
          <c:smooth val="0"/>
          <c:extLst>
            <c:ext xmlns:c16="http://schemas.microsoft.com/office/drawing/2014/chart" uri="{C3380CC4-5D6E-409C-BE32-E72D297353CC}">
              <c16:uniqueId val="{0000000A-4384-49E1-914C-4C948B0319A6}"/>
            </c:ext>
          </c:extLst>
        </c:ser>
        <c:ser>
          <c:idx val="2"/>
          <c:order val="2"/>
          <c:spPr>
            <a:ln w="25400">
              <a:solidFill>
                <a:srgbClr val="00B0F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B-4384-49E1-914C-4C948B0319A6}"/>
                </c:ext>
              </c:extLst>
            </c:dLbl>
            <c:dLbl>
              <c:idx val="12"/>
              <c:layout>
                <c:manualLayout>
                  <c:x val="0"/>
                  <c:y val="-0.179440221064099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384-49E1-914C-4C948B0319A6}"/>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sai lỗi con người'!$B$3:$B$26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sai lỗi con người'!$F$3:$F$26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3.8615171673610371</c:v>
                </c:pt>
                <c:pt idx="7">
                  <c:v>3.8615171673610371</c:v>
                </c:pt>
                <c:pt idx="8">
                  <c:v>3.8615171673610371</c:v>
                </c:pt>
                <c:pt idx="9">
                  <c:v>3.8615171673610371</c:v>
                </c:pt>
                <c:pt idx="10">
                  <c:v>3.8615171673610371</c:v>
                </c:pt>
                <c:pt idx="11">
                  <c:v>3.8615171673610371</c:v>
                </c:pt>
                <c:pt idx="12">
                  <c:v>1.5805742345107321</c:v>
                </c:pt>
              </c:numCache>
              <c:extLst/>
            </c:numRef>
          </c:val>
          <c:smooth val="0"/>
          <c:extLst>
            <c:ext xmlns:c16="http://schemas.microsoft.com/office/drawing/2014/chart" uri="{C3380CC4-5D6E-409C-BE32-E72D297353CC}">
              <c16:uniqueId val="{0000000D-4384-49E1-914C-4C948B0319A6}"/>
            </c:ext>
          </c:extLst>
        </c:ser>
        <c:ser>
          <c:idx val="3"/>
          <c:order val="3"/>
          <c:spPr>
            <a:ln w="25400">
              <a:solidFill>
                <a:srgbClr val="FFC000"/>
              </a:solidFill>
            </a:ln>
          </c:spPr>
          <c:marker>
            <c:symbol val="none"/>
          </c:marker>
          <c:dLbls>
            <c:dLbl>
              <c:idx val="0"/>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E-4384-49E1-914C-4C948B0319A6}"/>
                </c:ext>
              </c:extLst>
            </c:dLbl>
            <c:dLbl>
              <c:idx val="1"/>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6="http://schemas.microsoft.com/office/drawing/2014/chart" uri="{C3380CC4-5D6E-409C-BE32-E72D297353CC}">
                  <c16:uniqueId val="{0000000F-4384-49E1-914C-4C948B0319A6}"/>
                </c:ext>
              </c:extLst>
            </c:dLbl>
            <c:dLbl>
              <c:idx val="12"/>
              <c:layout>
                <c:manualLayout>
                  <c:x val="0"/>
                  <c:y val="-0.17562234402018251"/>
                </c:manualLayout>
              </c:layout>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384-49E1-914C-4C948B0319A6}"/>
                </c:ext>
              </c:extLst>
            </c:dLbl>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sai lỗi con người'!$B$3:$B$26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sai lỗi con người'!$G$3:$G$26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4.7983825991721627</c:v>
                </c:pt>
                <c:pt idx="7">
                  <c:v>4.7983825991721627</c:v>
                </c:pt>
                <c:pt idx="8">
                  <c:v>4.7983825991721627</c:v>
                </c:pt>
                <c:pt idx="9">
                  <c:v>4.7983825991721627</c:v>
                </c:pt>
                <c:pt idx="10">
                  <c:v>4.7983825991721627</c:v>
                </c:pt>
                <c:pt idx="11">
                  <c:v>4.7983825991721627</c:v>
                </c:pt>
                <c:pt idx="12">
                  <c:v>2.0881213061052835</c:v>
                </c:pt>
              </c:numCache>
              <c:extLst/>
            </c:numRef>
          </c:val>
          <c:smooth val="0"/>
          <c:extLst>
            <c:ext xmlns:c16="http://schemas.microsoft.com/office/drawing/2014/chart" uri="{C3380CC4-5D6E-409C-BE32-E72D297353CC}">
              <c16:uniqueId val="{00000011-4384-49E1-914C-4C948B0319A6}"/>
            </c:ext>
          </c:extLst>
        </c:ser>
        <c:ser>
          <c:idx val="4"/>
          <c:order val="4"/>
          <c:spPr>
            <a:ln w="25400">
              <a:solidFill>
                <a:srgbClr val="FF000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2-4384-49E1-914C-4C948B0319A6}"/>
                </c:ext>
              </c:extLst>
            </c:dLbl>
            <c:dLbl>
              <c:idx val="12"/>
              <c:layout>
                <c:manualLayout>
                  <c:x val="0"/>
                  <c:y val="-0.1756223440201824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384-49E1-914C-4C948B0319A6}"/>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sai lỗi con người'!$B$3:$B$26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sai lỗi con người'!$H$3:$H$26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5.7352480309832883</c:v>
                </c:pt>
                <c:pt idx="7">
                  <c:v>5.7352480309832883</c:v>
                </c:pt>
                <c:pt idx="8">
                  <c:v>5.7352480309832883</c:v>
                </c:pt>
                <c:pt idx="9">
                  <c:v>5.7352480309832883</c:v>
                </c:pt>
                <c:pt idx="10">
                  <c:v>5.7352480309832883</c:v>
                </c:pt>
                <c:pt idx="11">
                  <c:v>5.7352480309832883</c:v>
                </c:pt>
                <c:pt idx="12">
                  <c:v>2.5956683776998344</c:v>
                </c:pt>
              </c:numCache>
              <c:extLst/>
            </c:numRef>
          </c:val>
          <c:smooth val="0"/>
          <c:extLst>
            <c:ext xmlns:c16="http://schemas.microsoft.com/office/drawing/2014/chart" uri="{C3380CC4-5D6E-409C-BE32-E72D297353CC}">
              <c16:uniqueId val="{00000014-4384-49E1-914C-4C948B0319A6}"/>
            </c:ext>
          </c:extLst>
        </c:ser>
        <c:ser>
          <c:idx val="5"/>
          <c:order val="5"/>
          <c:spPr>
            <a:ln w="25400">
              <a:solidFill>
                <a:srgbClr val="339933"/>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5-4384-49E1-914C-4C948B0319A6}"/>
                </c:ext>
              </c:extLst>
            </c:dLbl>
            <c:dLbl>
              <c:idx val="12"/>
              <c:layout>
                <c:manualLayout>
                  <c:x val="0"/>
                  <c:y val="-0.179440221064099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4384-49E1-914C-4C948B0319A6}"/>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sai lỗi con người'!$B$3:$B$26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'Sự cố vụ việc sai lỗi con người'!$I$3:$I$26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2.9246517355499115</c:v>
                </c:pt>
                <c:pt idx="7">
                  <c:v>2.9246517355499115</c:v>
                </c:pt>
                <c:pt idx="8">
                  <c:v>2.9246517355499115</c:v>
                </c:pt>
                <c:pt idx="9">
                  <c:v>2.9246517355499115</c:v>
                </c:pt>
                <c:pt idx="10">
                  <c:v>2.9246517355499115</c:v>
                </c:pt>
                <c:pt idx="11">
                  <c:v>2.9246517355499115</c:v>
                </c:pt>
                <c:pt idx="12">
                  <c:v>1.019375804770372</c:v>
                </c:pt>
              </c:numCache>
              <c:extLst/>
            </c:numRef>
          </c:val>
          <c:smooth val="0"/>
          <c:extLst>
            <c:ext xmlns:c16="http://schemas.microsoft.com/office/drawing/2014/chart" uri="{C3380CC4-5D6E-409C-BE32-E72D297353CC}">
              <c16:uniqueId val="{00000017-4384-49E1-914C-4C948B0319A6}"/>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5545832735618989E-3"/>
          <c:y val="2.8326251094676794E-2"/>
          <c:w val="0.96659972266054606"/>
          <c:h val="0.87029079097910622"/>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'Concession Rate'!$B$3:$B$26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'Concession Rate'!$D$3:$D$26</c:f>
              <c:numCache>
                <c:formatCode>0</c:formatCode>
                <c:ptCount val="13"/>
                <c:pt idx="0">
                  <c:v>49</c:v>
                </c:pt>
                <c:pt idx="1">
                  <c:v>28</c:v>
                </c:pt>
                <c:pt idx="2">
                  <c:v>57</c:v>
                </c:pt>
                <c:pt idx="3">
                  <c:v>53</c:v>
                </c:pt>
                <c:pt idx="4">
                  <c:v>43</c:v>
                </c:pt>
                <c:pt idx="5">
                  <c:v>36</c:v>
                </c:pt>
                <c:pt idx="6">
                  <c:v>47</c:v>
                </c:pt>
                <c:pt idx="7">
                  <c:v>26</c:v>
                </c:pt>
                <c:pt idx="8">
                  <c:v>37</c:v>
                </c:pt>
                <c:pt idx="9">
                  <c:v>15</c:v>
                </c:pt>
                <c:pt idx="10">
                  <c:v>12</c:v>
                </c:pt>
                <c:pt idx="11">
                  <c:v>20</c:v>
                </c:pt>
                <c:pt idx="12">
                  <c:v>19</c:v>
                </c:pt>
              </c:numCache>
              <c:extLst/>
            </c:numRef>
          </c:val>
          <c:extLst>
            <c:ext xmlns:c16="http://schemas.microsoft.com/office/drawing/2014/chart" uri="{C3380CC4-5D6E-409C-BE32-E72D297353CC}">
              <c16:uniqueId val="{00000000-0F4F-41CC-A038-107A6276AE04}"/>
            </c:ext>
          </c:extLst>
        </c:ser>
        <c:dLbls>
          <c:showLegendKey val="0"/>
          <c:showVal val="0"/>
          <c:showCatName val="0"/>
          <c:showSerName val="0"/>
          <c:showPercent val="0"/>
          <c:showBubbleSize val="0"/>
        </c:dLbls>
        <c:gapWidth val="150"/>
        <c:axId val="459164208"/>
        <c:axId val="459164600"/>
      </c:barChart>
      <c:lineChart>
        <c:grouping val="standard"/>
        <c:varyColors val="0"/>
        <c:ser>
          <c:idx val="1"/>
          <c:order val="1"/>
          <c:spPr>
            <a:ln w="28575">
              <a:solidFill>
                <a:srgbClr val="7030A0"/>
              </a:solidFill>
            </a:ln>
          </c:spPr>
          <c:marker>
            <c:symbol val="none"/>
          </c:marker>
          <c:dLbls>
            <c:dLbl>
              <c:idx val="0"/>
              <c:layout>
                <c:manualLayout>
                  <c:x val="-3.7304226245726171E-2"/>
                  <c:y val="-9.16444205847336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F4F-41CC-A038-107A6276AE04}"/>
                </c:ext>
              </c:extLst>
            </c:dLbl>
            <c:dLbl>
              <c:idx val="1"/>
              <c:layout>
                <c:manualLayout>
                  <c:x val="-4.4765071494871404E-2"/>
                  <c:y val="-0.1943726796472670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F4F-41CC-A038-107A6276AE04}"/>
                </c:ext>
              </c:extLst>
            </c:dLbl>
            <c:dLbl>
              <c:idx val="2"/>
              <c:layout>
                <c:manualLayout>
                  <c:x val="-3.9169437558012478E-2"/>
                  <c:y val="-0.1132714224926354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F4F-41CC-A038-107A6276AE04}"/>
                </c:ext>
              </c:extLst>
            </c:dLbl>
            <c:dLbl>
              <c:idx val="4"/>
              <c:layout>
                <c:manualLayout>
                  <c:x val="-2.7978169684294629E-2"/>
                  <c:y val="-5.92039177228810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F4F-41CC-A038-107A6276AE04}"/>
                </c:ext>
              </c:extLst>
            </c:dLbl>
            <c:dLbl>
              <c:idx val="5"/>
              <c:layout>
                <c:manualLayout>
                  <c:x val="-3.7304226245726241E-2"/>
                  <c:y val="-0.1213815482080986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F4F-41CC-A038-107A6276AE04}"/>
                </c:ext>
              </c:extLst>
            </c:dLbl>
            <c:dLbl>
              <c:idx val="6"/>
              <c:layout>
                <c:manualLayout>
                  <c:x val="-3.7304226245726171E-2"/>
                  <c:y val="-0.2024828053627301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F4F-41CC-A038-107A6276AE04}"/>
                </c:ext>
              </c:extLst>
            </c:dLbl>
            <c:dLbl>
              <c:idx val="7"/>
              <c:layout>
                <c:manualLayout>
                  <c:x val="-4.289986018258516E-2"/>
                  <c:y val="-0.1348984244005372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F4F-41CC-A038-107A6276AE04}"/>
                </c:ext>
              </c:extLst>
            </c:dLbl>
            <c:dLbl>
              <c:idx val="9"/>
              <c:layout>
                <c:manualLayout>
                  <c:x val="-4.2899860182585098E-2"/>
                  <c:y val="-0.2430334339400460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8-0F4F-41CC-A038-107A6276AE04}"/>
                </c:ext>
              </c:extLst>
            </c:dLbl>
            <c:dLbl>
              <c:idx val="10"/>
              <c:layout>
                <c:manualLayout>
                  <c:x val="-4.228434044953075E-2"/>
                  <c:y val="-8.08309196307828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F4F-41CC-A038-107A6276AE04}"/>
                </c:ext>
              </c:extLst>
            </c:dLbl>
            <c:dLbl>
              <c:idx val="11"/>
              <c:layout>
                <c:manualLayout>
                  <c:x val="-7.2743241179166029E-2"/>
                  <c:y val="-7.81275443922951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F4F-41CC-A038-107A6276AE04}"/>
                </c:ext>
              </c:extLst>
            </c:dLbl>
            <c:dLbl>
              <c:idx val="12"/>
              <c:layout>
                <c:manualLayout>
                  <c:x val="-1.6726686327268113E-3"/>
                  <c:y val="-6.4610668199856489E-2"/>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F4F-41CC-A038-107A6276AE04}"/>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'Concession Rate'!$B$3:$B$26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'Concession Rate'!$E$3:$E$26</c:f>
              <c:numCache>
                <c:formatCode>0.00</c:formatCode>
                <c:ptCount val="13"/>
                <c:pt idx="0">
                  <c:v>45.123860392301317</c:v>
                </c:pt>
                <c:pt idx="1">
                  <c:v>24.137931034482758</c:v>
                </c:pt>
                <c:pt idx="2">
                  <c:v>51.969365426695845</c:v>
                </c:pt>
                <c:pt idx="3">
                  <c:v>51.53135634419057</c:v>
                </c:pt>
                <c:pt idx="4">
                  <c:v>42.343673067454453</c:v>
                </c:pt>
                <c:pt idx="5">
                  <c:v>31.055900621118013</c:v>
                </c:pt>
                <c:pt idx="6">
                  <c:v>36.231884057971016</c:v>
                </c:pt>
                <c:pt idx="7">
                  <c:v>22.140849868006473</c:v>
                </c:pt>
                <c:pt idx="8">
                  <c:v>39.601840950444185</c:v>
                </c:pt>
                <c:pt idx="9">
                  <c:v>15.723270440251572</c:v>
                </c:pt>
                <c:pt idx="10">
                  <c:v>12.106537530266344</c:v>
                </c:pt>
                <c:pt idx="11">
                  <c:v>17.386768669042858</c:v>
                </c:pt>
                <c:pt idx="12">
                  <c:v>15.835972662110352</c:v>
                </c:pt>
              </c:numCache>
              <c:extLst/>
            </c:numRef>
          </c:val>
          <c:smooth val="0"/>
          <c:extLst>
            <c:ext xmlns:c16="http://schemas.microsoft.com/office/drawing/2014/chart" uri="{C3380CC4-5D6E-409C-BE32-E72D297353CC}">
              <c16:uniqueId val="{0000000C-0F4F-41CC-A038-107A6276AE04}"/>
            </c:ext>
          </c:extLst>
        </c:ser>
        <c:ser>
          <c:idx val="2"/>
          <c:order val="2"/>
          <c:spPr>
            <a:ln w="25400">
              <a:solidFill>
                <a:srgbClr val="00B0F0"/>
              </a:solidFill>
            </a:ln>
          </c:spPr>
          <c:marker>
            <c:symbol val="none"/>
          </c:marker>
          <c:dLbls>
            <c:dLbl>
              <c:idx val="0"/>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D-0F4F-41CC-A038-107A6276AE04}"/>
                </c:ext>
              </c:extLst>
            </c:dLbl>
            <c:dLbl>
              <c:idx val="12"/>
              <c:layout>
                <c:manualLayout>
                  <c:x val="0.18465591991634453"/>
                  <c:y val="-1.89236226412523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F4F-41CC-A038-107A6276AE04}"/>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'Concession Rate'!$B$3:$B$26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'Concession Rate'!$F$3:$F$26</c:f>
              <c:numCache>
                <c:formatCode>0.00</c:formatCode>
                <c:ptCount val="13"/>
                <c:pt idx="0">
                  <c:v>20.5</c:v>
                </c:pt>
                <c:pt idx="1">
                  <c:v>20.5</c:v>
                </c:pt>
                <c:pt idx="2">
                  <c:v>20.5</c:v>
                </c:pt>
                <c:pt idx="3">
                  <c:v>20.5</c:v>
                </c:pt>
                <c:pt idx="4">
                  <c:v>20.5</c:v>
                </c:pt>
                <c:pt idx="5">
                  <c:v>20.5</c:v>
                </c:pt>
                <c:pt idx="6">
                  <c:v>20.5</c:v>
                </c:pt>
                <c:pt idx="7">
                  <c:v>20.5</c:v>
                </c:pt>
                <c:pt idx="8">
                  <c:v>20.5</c:v>
                </c:pt>
                <c:pt idx="9">
                  <c:v>20.5</c:v>
                </c:pt>
                <c:pt idx="10">
                  <c:v>20.5</c:v>
                </c:pt>
                <c:pt idx="11">
                  <c:v>20.5</c:v>
                </c:pt>
                <c:pt idx="12">
                  <c:v>35.659999999999997</c:v>
                </c:pt>
              </c:numCache>
              <c:extLst/>
            </c:numRef>
          </c:val>
          <c:smooth val="0"/>
          <c:extLst>
            <c:ext xmlns:c16="http://schemas.microsoft.com/office/drawing/2014/chart" uri="{C3380CC4-5D6E-409C-BE32-E72D297353CC}">
              <c16:uniqueId val="{0000000F-0F4F-41CC-A038-107A6276AE04}"/>
            </c:ext>
          </c:extLst>
        </c:ser>
        <c:ser>
          <c:idx val="3"/>
          <c:order val="3"/>
          <c:spPr>
            <a:ln w="25400">
              <a:solidFill>
                <a:srgbClr val="FFC000"/>
              </a:solidFill>
            </a:ln>
          </c:spPr>
          <c:marker>
            <c:symbol val="none"/>
          </c:marker>
          <c:dLbls>
            <c:dLbl>
              <c:idx val="0"/>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0-0F4F-41CC-A038-107A6276AE04}"/>
                </c:ext>
              </c:extLst>
            </c:dLbl>
            <c:dLbl>
              <c:idx val="12"/>
              <c:layout>
                <c:manualLayout>
                  <c:x val="0.18465591991634453"/>
                  <c:y val="-1.35168733151802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0F4F-41CC-A038-107A6276AE04}"/>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'Concession Rate'!$B$3:$B$26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'Concession Rate'!$G$3:$G$26</c:f>
              <c:numCache>
                <c:formatCode>0.00</c:formatCode>
                <c:ptCount val="13"/>
                <c:pt idx="0">
                  <c:v>24.9</c:v>
                </c:pt>
                <c:pt idx="1">
                  <c:v>24.9</c:v>
                </c:pt>
                <c:pt idx="2">
                  <c:v>24.9</c:v>
                </c:pt>
                <c:pt idx="3">
                  <c:v>24.9</c:v>
                </c:pt>
                <c:pt idx="4">
                  <c:v>24.9</c:v>
                </c:pt>
                <c:pt idx="5">
                  <c:v>24.9</c:v>
                </c:pt>
                <c:pt idx="6">
                  <c:v>24.9</c:v>
                </c:pt>
                <c:pt idx="7">
                  <c:v>24.9</c:v>
                </c:pt>
                <c:pt idx="8">
                  <c:v>24.9</c:v>
                </c:pt>
                <c:pt idx="9">
                  <c:v>24.9</c:v>
                </c:pt>
                <c:pt idx="10">
                  <c:v>24.9</c:v>
                </c:pt>
                <c:pt idx="11">
                  <c:v>24.9</c:v>
                </c:pt>
                <c:pt idx="12">
                  <c:v>46.17</c:v>
                </c:pt>
              </c:numCache>
              <c:extLst/>
            </c:numRef>
          </c:val>
          <c:smooth val="0"/>
          <c:extLst>
            <c:ext xmlns:c16="http://schemas.microsoft.com/office/drawing/2014/chart" uri="{C3380CC4-5D6E-409C-BE32-E72D297353CC}">
              <c16:uniqueId val="{00000012-0F4F-41CC-A038-107A6276AE04}"/>
            </c:ext>
          </c:extLst>
        </c:ser>
        <c:ser>
          <c:idx val="4"/>
          <c:order val="4"/>
          <c:spPr>
            <a:ln w="25400">
              <a:solidFill>
                <a:srgbClr val="FF0000"/>
              </a:solidFill>
            </a:ln>
          </c:spPr>
          <c:marker>
            <c:symbol val="none"/>
          </c:marker>
          <c:dLbls>
            <c:dLbl>
              <c:idx val="0"/>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3-0F4F-41CC-A038-107A6276AE04}"/>
                </c:ext>
              </c:extLst>
            </c:dLbl>
            <c:dLbl>
              <c:idx val="12"/>
              <c:layout>
                <c:manualLayout>
                  <c:x val="0.18652113122863084"/>
                  <c:y val="-1.62202479782163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0F4F-41CC-A038-107A6276AE04}"/>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'Concession Rate'!$B$3:$B$26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'Concession Rate'!$H$3:$H$26</c:f>
              <c:numCache>
                <c:formatCode>0.00</c:formatCode>
                <c:ptCount val="13"/>
                <c:pt idx="0">
                  <c:v>29.76</c:v>
                </c:pt>
                <c:pt idx="1">
                  <c:v>28.84</c:v>
                </c:pt>
                <c:pt idx="2">
                  <c:v>28.84</c:v>
                </c:pt>
                <c:pt idx="3">
                  <c:v>28.84</c:v>
                </c:pt>
                <c:pt idx="4">
                  <c:v>28.84</c:v>
                </c:pt>
                <c:pt idx="5">
                  <c:v>28.84</c:v>
                </c:pt>
                <c:pt idx="6">
                  <c:v>28.84</c:v>
                </c:pt>
                <c:pt idx="7">
                  <c:v>28.84</c:v>
                </c:pt>
                <c:pt idx="8">
                  <c:v>28.84</c:v>
                </c:pt>
                <c:pt idx="9">
                  <c:v>28.84</c:v>
                </c:pt>
                <c:pt idx="10">
                  <c:v>28.84</c:v>
                </c:pt>
                <c:pt idx="11">
                  <c:v>28.84</c:v>
                </c:pt>
                <c:pt idx="12">
                  <c:v>52.74</c:v>
                </c:pt>
              </c:numCache>
              <c:extLst/>
            </c:numRef>
          </c:val>
          <c:smooth val="0"/>
          <c:extLst>
            <c:ext xmlns:c16="http://schemas.microsoft.com/office/drawing/2014/chart" uri="{C3380CC4-5D6E-409C-BE32-E72D297353CC}">
              <c16:uniqueId val="{00000015-0F4F-41CC-A038-107A6276AE04}"/>
            </c:ext>
          </c:extLst>
        </c:ser>
        <c:ser>
          <c:idx val="5"/>
          <c:order val="5"/>
          <c:spPr>
            <a:ln w="25400">
              <a:solidFill>
                <a:srgbClr val="339933"/>
              </a:solidFill>
            </a:ln>
          </c:spPr>
          <c:marker>
            <c:symbol val="none"/>
          </c:marker>
          <c:dLbls>
            <c:dLbl>
              <c:idx val="0"/>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6-0F4F-41CC-A038-107A6276AE04}"/>
                </c:ext>
              </c:extLst>
            </c:dLbl>
            <c:dLbl>
              <c:idx val="12"/>
              <c:layout>
                <c:manualLayout>
                  <c:x val="0.1827907086040583"/>
                  <c:y val="-1.62202479782164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0F4F-41CC-A038-107A6276AE04}"/>
                </c:ext>
              </c:extLst>
            </c:dLbl>
            <c:spPr>
              <a:solidFill>
                <a:srgbClr val="339933"/>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'Concession Rate'!$B$3:$B$26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'Concession Rate'!$I$3:$I$26</c:f>
              <c:numCache>
                <c:formatCode>0.00</c:formatCode>
                <c:ptCount val="13"/>
                <c:pt idx="0">
                  <c:v>15.19</c:v>
                </c:pt>
                <c:pt idx="1">
                  <c:v>15.19</c:v>
                </c:pt>
                <c:pt idx="2">
                  <c:v>15.19</c:v>
                </c:pt>
                <c:pt idx="3">
                  <c:v>15.19</c:v>
                </c:pt>
                <c:pt idx="4">
                  <c:v>15.19</c:v>
                </c:pt>
                <c:pt idx="5">
                  <c:v>15.19</c:v>
                </c:pt>
                <c:pt idx="6">
                  <c:v>15.19</c:v>
                </c:pt>
                <c:pt idx="7">
                  <c:v>15.19</c:v>
                </c:pt>
                <c:pt idx="8">
                  <c:v>15.19</c:v>
                </c:pt>
                <c:pt idx="9">
                  <c:v>15.19</c:v>
                </c:pt>
                <c:pt idx="10">
                  <c:v>15.19</c:v>
                </c:pt>
                <c:pt idx="11">
                  <c:v>15.19</c:v>
                </c:pt>
                <c:pt idx="12">
                  <c:v>25.21</c:v>
                </c:pt>
              </c:numCache>
              <c:extLst/>
            </c:numRef>
          </c:val>
          <c:smooth val="0"/>
          <c:extLst>
            <c:ext xmlns:c16="http://schemas.microsoft.com/office/drawing/2014/chart" uri="{C3380CC4-5D6E-409C-BE32-E72D297353CC}">
              <c16:uniqueId val="{00000018-0F4F-41CC-A038-107A6276AE04}"/>
            </c:ext>
          </c:extLst>
        </c:ser>
        <c:dLbls>
          <c:showLegendKey val="0"/>
          <c:showVal val="1"/>
          <c:showCatName val="0"/>
          <c:showSerName val="0"/>
          <c:showPercent val="0"/>
          <c:showBubbleSize val="0"/>
        </c:dLbls>
        <c:marker val="1"/>
        <c:smooth val="0"/>
        <c:axId val="459164208"/>
        <c:axId val="459164600"/>
      </c:lineChart>
      <c:catAx>
        <c:axId val="45916420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9164600"/>
        <c:crosses val="autoZero"/>
        <c:auto val="1"/>
        <c:lblAlgn val="ctr"/>
        <c:lblOffset val="100"/>
        <c:noMultiLvlLbl val="0"/>
      </c:catAx>
      <c:valAx>
        <c:axId val="459164600"/>
        <c:scaling>
          <c:orientation val="minMax"/>
        </c:scaling>
        <c:delete val="1"/>
        <c:axPos val="l"/>
        <c:numFmt formatCode="0" sourceLinked="1"/>
        <c:majorTickMark val="out"/>
        <c:minorTickMark val="none"/>
        <c:tickLblPos val="nextTo"/>
        <c:crossAx val="45916420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200" b="0"/>
              <a:t>NHÂN NHƯỢNG</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'Concession Rate'!$Y$3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Rate'!$X$4:$X$5</c:f>
              <c:strCache>
                <c:ptCount val="2"/>
                <c:pt idx="0">
                  <c:v>Số vụ</c:v>
                </c:pt>
                <c:pt idx="1">
                  <c:v>Tỷ lệ/10000CB</c:v>
                </c:pt>
              </c:strCache>
            </c:strRef>
          </c:cat>
          <c:val>
            <c:numRef>
              <c:f>'Concession Rate'!$Y$4:$Y$5</c:f>
              <c:numCache>
                <c:formatCode>0.00</c:formatCode>
                <c:ptCount val="2"/>
                <c:pt idx="0" formatCode="0">
                  <c:v>49</c:v>
                </c:pt>
                <c:pt idx="1">
                  <c:v>45.123860392301317</c:v>
                </c:pt>
              </c:numCache>
            </c:numRef>
          </c:val>
          <c:extLst>
            <c:ext xmlns:c16="http://schemas.microsoft.com/office/drawing/2014/chart" uri="{C3380CC4-5D6E-409C-BE32-E72D297353CC}">
              <c16:uniqueId val="{00000000-6766-4051-B351-B2685F1BC2ED}"/>
            </c:ext>
          </c:extLst>
        </c:ser>
        <c:ser>
          <c:idx val="1"/>
          <c:order val="1"/>
          <c:tx>
            <c:strRef>
              <c:f>'Concession Rate'!$Z$3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Rate'!$X$4:$X$5</c:f>
              <c:strCache>
                <c:ptCount val="2"/>
                <c:pt idx="0">
                  <c:v>Số vụ</c:v>
                </c:pt>
                <c:pt idx="1">
                  <c:v>Tỷ lệ/10000CB</c:v>
                </c:pt>
              </c:strCache>
            </c:strRef>
          </c:cat>
          <c:val>
            <c:numRef>
              <c:f>'Concession Rate'!$Z$4:$Z$5</c:f>
              <c:numCache>
                <c:formatCode>0.00</c:formatCode>
                <c:ptCount val="2"/>
                <c:pt idx="0" formatCode="0">
                  <c:v>19</c:v>
                </c:pt>
                <c:pt idx="1">
                  <c:v>15.835972662110352</c:v>
                </c:pt>
              </c:numCache>
            </c:numRef>
          </c:val>
          <c:extLst>
            <c:ext xmlns:c16="http://schemas.microsoft.com/office/drawing/2014/chart" uri="{C3380CC4-5D6E-409C-BE32-E72D297353CC}">
              <c16:uniqueId val="{00000001-6766-4051-B351-B2685F1BC2ED}"/>
            </c:ext>
          </c:extLst>
        </c:ser>
        <c:dLbls>
          <c:showLegendKey val="0"/>
          <c:showVal val="0"/>
          <c:showCatName val="0"/>
          <c:showSerName val="0"/>
          <c:showPercent val="0"/>
          <c:showBubbleSize val="0"/>
        </c:dLbls>
        <c:gapWidth val="219"/>
        <c:overlap val="-27"/>
        <c:axId val="530330880"/>
        <c:axId val="530329704"/>
      </c:barChart>
      <c:catAx>
        <c:axId val="530330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29704"/>
        <c:crosses val="autoZero"/>
        <c:auto val="1"/>
        <c:lblAlgn val="ctr"/>
        <c:lblOffset val="100"/>
        <c:noMultiLvlLbl val="0"/>
      </c:catAx>
      <c:valAx>
        <c:axId val="5303297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30880"/>
        <c:crosses val="autoZero"/>
        <c:crossBetween val="between"/>
      </c:valAx>
      <c:spPr>
        <a:noFill/>
        <a:ln>
          <a:noFill/>
        </a:ln>
        <a:effectLst/>
      </c:spPr>
    </c:plotArea>
    <c:legend>
      <c:legendPos val="b"/>
      <c:layout>
        <c:manualLayout>
          <c:xMode val="edge"/>
          <c:yMode val="edge"/>
          <c:x val="6.3992077891956009E-3"/>
          <c:y val="0.91699108958854314"/>
          <c:w val="0.98984173878427872"/>
          <c:h val="6.132062851616289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100"/>
              <a:t>GIÁN ĐOẠN KHAI THÁC</a:t>
            </a: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GTB_ATB_RTO_DIV!$AA$3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GTB_ATB_RTO_DIV!$AA$4:$AA$5</c:f>
              <c:numCache>
                <c:formatCode>0.00</c:formatCode>
                <c:ptCount val="2"/>
                <c:pt idx="0" formatCode="0">
                  <c:v>10</c:v>
                </c:pt>
                <c:pt idx="1">
                  <c:v>9.2089511004696565</c:v>
                </c:pt>
              </c:numCache>
            </c:numRef>
          </c:val>
          <c:extLst>
            <c:ext xmlns:c16="http://schemas.microsoft.com/office/drawing/2014/chart" uri="{C3380CC4-5D6E-409C-BE32-E72D297353CC}">
              <c16:uniqueId val="{00000000-332C-4470-9EA1-3466C657FEBE}"/>
            </c:ext>
          </c:extLst>
        </c:ser>
        <c:ser>
          <c:idx val="1"/>
          <c:order val="1"/>
          <c:tx>
            <c:strRef>
              <c:f>GTB_ATB_RTO_DIV!$AB$3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GTB_ATB_RTO_DIV!$AB$4:$AB$5</c:f>
              <c:numCache>
                <c:formatCode>0.00</c:formatCode>
                <c:ptCount val="2"/>
                <c:pt idx="0" formatCode="0">
                  <c:v>9</c:v>
                </c:pt>
                <c:pt idx="1">
                  <c:v>7.5012502083680612</c:v>
                </c:pt>
              </c:numCache>
            </c:numRef>
          </c:val>
          <c:extLst>
            <c:ext xmlns:c16="http://schemas.microsoft.com/office/drawing/2014/chart" uri="{C3380CC4-5D6E-409C-BE32-E72D297353CC}">
              <c16:uniqueId val="{00000001-332C-4470-9EA1-3466C657FEBE}"/>
            </c:ext>
          </c:extLst>
        </c:ser>
        <c:dLbls>
          <c:showLegendKey val="0"/>
          <c:showVal val="0"/>
          <c:showCatName val="0"/>
          <c:showSerName val="0"/>
          <c:showPercent val="0"/>
          <c:showBubbleSize val="0"/>
        </c:dLbls>
        <c:gapWidth val="219"/>
        <c:overlap val="-27"/>
        <c:axId val="327494432"/>
        <c:axId val="327485416"/>
      </c:barChart>
      <c:catAx>
        <c:axId val="327494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85416"/>
        <c:crosses val="autoZero"/>
        <c:auto val="1"/>
        <c:lblAlgn val="ctr"/>
        <c:lblOffset val="100"/>
        <c:noMultiLvlLbl val="0"/>
      </c:catAx>
      <c:valAx>
        <c:axId val="3274854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94432"/>
        <c:crosses val="autoZero"/>
        <c:crossBetween val="between"/>
      </c:valAx>
      <c:spPr>
        <a:noFill/>
        <a:ln>
          <a:noFill/>
        </a:ln>
        <a:effectLst/>
      </c:spPr>
    </c:plotArea>
    <c:legend>
      <c:legendPos val="b"/>
      <c:layout>
        <c:manualLayout>
          <c:xMode val="edge"/>
          <c:yMode val="edge"/>
          <c:x val="0"/>
          <c:y val="0.92822092140665291"/>
          <c:w val="1"/>
          <c:h val="5.3024888434719177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100" b="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0833336181285019E-2"/>
          <c:y val="2.0887728459530026E-2"/>
          <c:w val="0.96180555033431081"/>
          <c:h val="0.87913698565477849"/>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GTB_ATB_RTO_DIV!$D$3:$D$26</c:f>
              <c:numCache>
                <c:formatCode>0</c:formatCode>
                <c:ptCount val="13"/>
                <c:pt idx="0">
                  <c:v>10</c:v>
                </c:pt>
                <c:pt idx="1">
                  <c:v>13</c:v>
                </c:pt>
                <c:pt idx="2">
                  <c:v>5</c:v>
                </c:pt>
                <c:pt idx="3">
                  <c:v>9</c:v>
                </c:pt>
                <c:pt idx="4">
                  <c:v>10</c:v>
                </c:pt>
                <c:pt idx="5">
                  <c:v>9</c:v>
                </c:pt>
                <c:pt idx="6">
                  <c:v>9</c:v>
                </c:pt>
                <c:pt idx="7">
                  <c:v>7</c:v>
                </c:pt>
                <c:pt idx="8">
                  <c:v>7</c:v>
                </c:pt>
                <c:pt idx="9">
                  <c:v>3</c:v>
                </c:pt>
                <c:pt idx="10">
                  <c:v>9</c:v>
                </c:pt>
                <c:pt idx="11">
                  <c:v>13</c:v>
                </c:pt>
                <c:pt idx="12">
                  <c:v>9</c:v>
                </c:pt>
              </c:numCache>
              <c:extLst/>
            </c:numRef>
          </c:val>
          <c:extLst>
            <c:ext xmlns:c16="http://schemas.microsoft.com/office/drawing/2014/chart" uri="{C3380CC4-5D6E-409C-BE32-E72D297353CC}">
              <c16:uniqueId val="{00000000-C592-4BC3-9CFD-A40743CC8F68}"/>
            </c:ext>
          </c:extLst>
        </c:ser>
        <c:dLbls>
          <c:showLegendKey val="0"/>
          <c:showVal val="0"/>
          <c:showCatName val="0"/>
          <c:showSerName val="0"/>
          <c:showPercent val="0"/>
          <c:showBubbleSize val="0"/>
        </c:dLbls>
        <c:gapWidth val="150"/>
        <c:axId val="327493648"/>
        <c:axId val="327487768"/>
      </c:barChart>
      <c:lineChart>
        <c:grouping val="standard"/>
        <c:varyColors val="0"/>
        <c:ser>
          <c:idx val="1"/>
          <c:order val="1"/>
          <c:spPr>
            <a:ln w="28575">
              <a:solidFill>
                <a:srgbClr val="7030A0"/>
              </a:solidFill>
            </a:ln>
          </c:spPr>
          <c:marker>
            <c:symbol val="none"/>
          </c:marker>
          <c:dLbls>
            <c:dLbl>
              <c:idx val="0"/>
              <c:layout>
                <c:manualLayout>
                  <c:x val="-6.1447812841115897E-2"/>
                  <c:y val="-6.3870206176175878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4.3660288071319192E-2"/>
                      <c:h val="6.7485500865393372E-2"/>
                    </c:manualLayout>
                  </c15:layout>
                </c:ext>
                <c:ext xmlns:c16="http://schemas.microsoft.com/office/drawing/2014/chart" uri="{C3380CC4-5D6E-409C-BE32-E72D297353CC}">
                  <c16:uniqueId val="{00000001-C592-4BC3-9CFD-A40743CC8F68}"/>
                </c:ext>
              </c:extLst>
            </c:dLbl>
            <c:dLbl>
              <c:idx val="1"/>
              <c:layout>
                <c:manualLayout>
                  <c:x val="-3.5493296528468929E-2"/>
                  <c:y val="-0.1570443775610665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592-4BC3-9CFD-A40743CC8F68}"/>
                </c:ext>
              </c:extLst>
            </c:dLbl>
            <c:dLbl>
              <c:idx val="2"/>
              <c:layout>
                <c:manualLayout>
                  <c:x val="-3.0723906420557948E-2"/>
                  <c:y val="-0.1522440763570481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592-4BC3-9CFD-A40743CC8F68}"/>
                </c:ext>
              </c:extLst>
            </c:dLbl>
            <c:dLbl>
              <c:idx val="4"/>
              <c:layout>
                <c:manualLayout>
                  <c:x val="-2.960074810278587E-2"/>
                  <c:y val="-0.1252775752406077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C592-4BC3-9CFD-A40743CC8F68}"/>
                </c:ext>
              </c:extLst>
            </c:dLbl>
            <c:dLbl>
              <c:idx val="5"/>
              <c:layout>
                <c:manualLayout>
                  <c:x val="-2.9106858714212851E-2"/>
                  <c:y val="-0.1040401471674814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592-4BC3-9CFD-A40743CC8F68}"/>
                </c:ext>
              </c:extLst>
            </c:dLbl>
            <c:dLbl>
              <c:idx val="6"/>
              <c:layout>
                <c:manualLayout>
                  <c:x val="-2.9972455431460286E-2"/>
                  <c:y val="-0.153955103476501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5-C592-4BC3-9CFD-A40743CC8F68}"/>
                </c:ext>
              </c:extLst>
            </c:dLbl>
            <c:dLbl>
              <c:idx val="7"/>
              <c:layout>
                <c:manualLayout>
                  <c:x val="-3.1845733895926549E-2"/>
                  <c:y val="-0.11878082675955015"/>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6-C592-4BC3-9CFD-A40743CC8F68}"/>
                </c:ext>
              </c:extLst>
            </c:dLbl>
            <c:dLbl>
              <c:idx val="11"/>
              <c:layout>
                <c:manualLayout>
                  <c:x val="-6.4148282510712418E-2"/>
                  <c:y val="-0.140193094059656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592-4BC3-9CFD-A40743CC8F68}"/>
                </c:ext>
              </c:extLst>
            </c:dLbl>
            <c:dLbl>
              <c:idx val="12"/>
              <c:layout>
                <c:manualLayout>
                  <c:x val="3.7206410690323057E-3"/>
                  <c:y val="8.2642720601286385E-2"/>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592-4BC3-9CFD-A40743CC8F68}"/>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GTB_ATB_RTO_DIV!$E$3:$E$26</c:f>
              <c:numCache>
                <c:formatCode>0.00</c:formatCode>
                <c:ptCount val="13"/>
                <c:pt idx="0">
                  <c:v>9.2089511004696565</c:v>
                </c:pt>
                <c:pt idx="1">
                  <c:v>11.206896551724139</c:v>
                </c:pt>
                <c:pt idx="2">
                  <c:v>4.5587162654996352</c:v>
                </c:pt>
                <c:pt idx="3">
                  <c:v>8.7506076810889653</c:v>
                </c:pt>
                <c:pt idx="4">
                  <c:v>9.8473658296405713</c:v>
                </c:pt>
                <c:pt idx="5">
                  <c:v>7.7639751552795033</c:v>
                </c:pt>
                <c:pt idx="6">
                  <c:v>6.9380203515263643</c:v>
                </c:pt>
                <c:pt idx="7">
                  <c:v>5.9609980413863575</c:v>
                </c:pt>
                <c:pt idx="8">
                  <c:v>7.4922401798137646</c:v>
                </c:pt>
                <c:pt idx="9">
                  <c:v>3.1446540880503147</c:v>
                </c:pt>
                <c:pt idx="10">
                  <c:v>9.079903147699758</c:v>
                </c:pt>
                <c:pt idx="11">
                  <c:v>11.301399634877859</c:v>
                </c:pt>
                <c:pt idx="12">
                  <c:v>7.5012502083680612</c:v>
                </c:pt>
              </c:numCache>
              <c:extLst/>
            </c:numRef>
          </c:val>
          <c:smooth val="0"/>
          <c:extLst>
            <c:ext xmlns:c16="http://schemas.microsoft.com/office/drawing/2014/chart" uri="{C3380CC4-5D6E-409C-BE32-E72D297353CC}">
              <c16:uniqueId val="{00000009-C592-4BC3-9CFD-A40743CC8F68}"/>
            </c:ext>
          </c:extLst>
        </c:ser>
        <c:ser>
          <c:idx val="2"/>
          <c:order val="2"/>
          <c:spPr>
            <a:ln w="25400">
              <a:solidFill>
                <a:srgbClr val="00B0F0"/>
              </a:solidFill>
            </a:ln>
          </c:spPr>
          <c:marker>
            <c:symbol val="none"/>
          </c:marker>
          <c:dLbls>
            <c:dLbl>
              <c:idx val="0"/>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A-C592-4BC3-9CFD-A40743CC8F68}"/>
                </c:ext>
              </c:extLst>
            </c:dLbl>
            <c:dLbl>
              <c:idx val="1"/>
              <c:layout>
                <c:manualLayout>
                  <c:x val="4.3622155098842305E-2"/>
                  <c:y val="-3.2434323686888741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B-C592-4BC3-9CFD-A40743CC8F68}"/>
                </c:ext>
              </c:extLst>
            </c:dLbl>
            <c:dLbl>
              <c:idx val="2"/>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C-C592-4BC3-9CFD-A40743CC8F68}"/>
                </c:ext>
              </c:extLst>
            </c:dLbl>
            <c:dLbl>
              <c:idx val="3"/>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D-C592-4BC3-9CFD-A40743CC8F68}"/>
                </c:ext>
              </c:extLst>
            </c:dLbl>
            <c:dLbl>
              <c:idx val="4"/>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E-C592-4BC3-9CFD-A40743CC8F68}"/>
                </c:ext>
              </c:extLst>
            </c:dLbl>
            <c:dLbl>
              <c:idx val="5"/>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F-C592-4BC3-9CFD-A40743CC8F68}"/>
                </c:ext>
              </c:extLst>
            </c:dLbl>
            <c:dLbl>
              <c:idx val="6"/>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0-C592-4BC3-9CFD-A40743CC8F68}"/>
                </c:ext>
              </c:extLst>
            </c:dLbl>
            <c:dLbl>
              <c:idx val="7"/>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1-C592-4BC3-9CFD-A40743CC8F68}"/>
                </c:ext>
              </c:extLst>
            </c:dLbl>
            <c:dLbl>
              <c:idx val="8"/>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2-C592-4BC3-9CFD-A40743CC8F68}"/>
                </c:ext>
              </c:extLst>
            </c:dLbl>
            <c:dLbl>
              <c:idx val="9"/>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3-C592-4BC3-9CFD-A40743CC8F68}"/>
                </c:ext>
              </c:extLst>
            </c:dLbl>
            <c:dLbl>
              <c:idx val="10"/>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4-C592-4BC3-9CFD-A40743CC8F68}"/>
                </c:ext>
              </c:extLst>
            </c:dLbl>
            <c:dLbl>
              <c:idx val="11"/>
              <c:delete val="1"/>
              <c:extLst>
                <c:ext xmlns:c15="http://schemas.microsoft.com/office/drawing/2012/chart" uri="{CE6537A1-D6FC-4f65-9D91-7224C49458BB}"/>
                <c:ext xmlns:c16="http://schemas.microsoft.com/office/drawing/2014/chart" uri="{C3380CC4-5D6E-409C-BE32-E72D297353CC}">
                  <c16:uniqueId val="{00000015-C592-4BC3-9CFD-A40743CC8F68}"/>
                </c:ext>
              </c:extLst>
            </c:dLbl>
            <c:dLbl>
              <c:idx val="12"/>
              <c:layout>
                <c:manualLayout>
                  <c:x val="3.7206410690323057E-3"/>
                  <c:y val="-5.54285353093583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592-4BC3-9CFD-A40743CC8F68}"/>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GTB_ATB_RTO_DIV!$F$3:$F$26</c:f>
              <c:numCache>
                <c:formatCode>0.00</c:formatCode>
                <c:ptCount val="13"/>
                <c:pt idx="0">
                  <c:v>13.300190648287957</c:v>
                </c:pt>
                <c:pt idx="1">
                  <c:v>13.300190648287957</c:v>
                </c:pt>
                <c:pt idx="2">
                  <c:v>13.300190648287957</c:v>
                </c:pt>
                <c:pt idx="3">
                  <c:v>13.300190648287957</c:v>
                </c:pt>
                <c:pt idx="4">
                  <c:v>13.300190648287957</c:v>
                </c:pt>
                <c:pt idx="5">
                  <c:v>13.300190648287957</c:v>
                </c:pt>
                <c:pt idx="6">
                  <c:v>13.300190648287957</c:v>
                </c:pt>
                <c:pt idx="7">
                  <c:v>13.300190648287957</c:v>
                </c:pt>
                <c:pt idx="8">
                  <c:v>13.300190648287957</c:v>
                </c:pt>
                <c:pt idx="9">
                  <c:v>13.300190648287957</c:v>
                </c:pt>
                <c:pt idx="10">
                  <c:v>13.300190648287957</c:v>
                </c:pt>
                <c:pt idx="11">
                  <c:v>13.300190648287957</c:v>
                </c:pt>
                <c:pt idx="12">
                  <c:v>8.9700000000000006</c:v>
                </c:pt>
              </c:numCache>
              <c:extLst/>
            </c:numRef>
          </c:val>
          <c:smooth val="0"/>
          <c:extLst>
            <c:ext xmlns:c16="http://schemas.microsoft.com/office/drawing/2014/chart" uri="{C3380CC4-5D6E-409C-BE32-E72D297353CC}">
              <c16:uniqueId val="{00000017-C592-4BC3-9CFD-A40743CC8F68}"/>
            </c:ext>
          </c:extLst>
        </c:ser>
        <c:ser>
          <c:idx val="3"/>
          <c:order val="3"/>
          <c:spPr>
            <a:ln w="25400">
              <a:solidFill>
                <a:srgbClr val="FFC000"/>
              </a:solidFill>
            </a:ln>
          </c:spPr>
          <c:marker>
            <c:symbol val="none"/>
          </c:marker>
          <c:dLbls>
            <c:dLbl>
              <c:idx val="0"/>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8-C592-4BC3-9CFD-A40743CC8F68}"/>
                </c:ext>
              </c:extLst>
            </c:dLbl>
            <c:dLbl>
              <c:idx val="1"/>
              <c:layout>
                <c:manualLayout>
                  <c:x val="4.3622155098842305E-2"/>
                  <c:y val="-2.4325742765166559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9-C592-4BC3-9CFD-A40743CC8F68}"/>
                </c:ext>
              </c:extLst>
            </c:dLbl>
            <c:dLbl>
              <c:idx val="2"/>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A-C592-4BC3-9CFD-A40743CC8F68}"/>
                </c:ext>
              </c:extLst>
            </c:dLbl>
            <c:dLbl>
              <c:idx val="3"/>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B-C592-4BC3-9CFD-A40743CC8F68}"/>
                </c:ext>
              </c:extLst>
            </c:dLbl>
            <c:dLbl>
              <c:idx val="4"/>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C-C592-4BC3-9CFD-A40743CC8F68}"/>
                </c:ext>
              </c:extLst>
            </c:dLbl>
            <c:dLbl>
              <c:idx val="5"/>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D-C592-4BC3-9CFD-A40743CC8F68}"/>
                </c:ext>
              </c:extLst>
            </c:dLbl>
            <c:dLbl>
              <c:idx val="6"/>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E-C592-4BC3-9CFD-A40743CC8F68}"/>
                </c:ext>
              </c:extLst>
            </c:dLbl>
            <c:dLbl>
              <c:idx val="7"/>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1F-C592-4BC3-9CFD-A40743CC8F68}"/>
                </c:ext>
              </c:extLst>
            </c:dLbl>
            <c:dLbl>
              <c:idx val="8"/>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0-C592-4BC3-9CFD-A40743CC8F68}"/>
                </c:ext>
              </c:extLst>
            </c:dLbl>
            <c:dLbl>
              <c:idx val="9"/>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1-C592-4BC3-9CFD-A40743CC8F68}"/>
                </c:ext>
              </c:extLst>
            </c:dLbl>
            <c:dLbl>
              <c:idx val="10"/>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2-C592-4BC3-9CFD-A40743CC8F68}"/>
                </c:ext>
              </c:extLst>
            </c:dLbl>
            <c:dLbl>
              <c:idx val="11"/>
              <c:delete val="1"/>
              <c:extLst>
                <c:ext xmlns:c15="http://schemas.microsoft.com/office/drawing/2012/chart" uri="{CE6537A1-D6FC-4f65-9D91-7224C49458BB}"/>
                <c:ext xmlns:c16="http://schemas.microsoft.com/office/drawing/2014/chart" uri="{C3380CC4-5D6E-409C-BE32-E72D297353CC}">
                  <c16:uniqueId val="{00000023-C592-4BC3-9CFD-A40743CC8F68}"/>
                </c:ext>
              </c:extLst>
            </c:dLbl>
            <c:dLbl>
              <c:idx val="12"/>
              <c:layout>
                <c:manualLayout>
                  <c:x val="-3.7000321768596244E-3"/>
                  <c:y val="-6.9609932564699453E-2"/>
                </c:manualLayout>
              </c:layout>
              <c:spPr>
                <a:solidFill>
                  <a:srgbClr val="FFC000"/>
                </a:solidFill>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3359243290548211E-2"/>
                      <c:h val="8.0274951125049648E-2"/>
                    </c:manualLayout>
                  </c15:layout>
                </c:ext>
                <c:ext xmlns:c16="http://schemas.microsoft.com/office/drawing/2014/chart" uri="{C3380CC4-5D6E-409C-BE32-E72D297353CC}">
                  <c16:uniqueId val="{00000024-C592-4BC3-9CFD-A40743CC8F68}"/>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GTB_ATB_RTO_DIV!$G$3:$G$26</c:f>
              <c:numCache>
                <c:formatCode>0.00</c:formatCode>
                <c:ptCount val="13"/>
                <c:pt idx="0">
                  <c:v>15.209632431802575</c:v>
                </c:pt>
                <c:pt idx="1">
                  <c:v>15.209632431802575</c:v>
                </c:pt>
                <c:pt idx="2">
                  <c:v>15.209632431802575</c:v>
                </c:pt>
                <c:pt idx="3">
                  <c:v>15.209632431802575</c:v>
                </c:pt>
                <c:pt idx="4">
                  <c:v>15.209632431802575</c:v>
                </c:pt>
                <c:pt idx="5">
                  <c:v>15.209632431802575</c:v>
                </c:pt>
                <c:pt idx="6">
                  <c:v>15.209632431802575</c:v>
                </c:pt>
                <c:pt idx="7">
                  <c:v>15.209632431802575</c:v>
                </c:pt>
                <c:pt idx="8">
                  <c:v>15.209632431802575</c:v>
                </c:pt>
                <c:pt idx="9">
                  <c:v>15.209632431802575</c:v>
                </c:pt>
                <c:pt idx="10">
                  <c:v>15.209632431802575</c:v>
                </c:pt>
                <c:pt idx="11">
                  <c:v>15.209632431802575</c:v>
                </c:pt>
                <c:pt idx="12">
                  <c:v>10.27</c:v>
                </c:pt>
              </c:numCache>
              <c:extLst/>
            </c:numRef>
          </c:val>
          <c:smooth val="0"/>
          <c:extLst>
            <c:ext xmlns:c16="http://schemas.microsoft.com/office/drawing/2014/chart" uri="{C3380CC4-5D6E-409C-BE32-E72D297353CC}">
              <c16:uniqueId val="{00000025-C592-4BC3-9CFD-A40743CC8F68}"/>
            </c:ext>
          </c:extLst>
        </c:ser>
        <c:ser>
          <c:idx val="4"/>
          <c:order val="4"/>
          <c:spPr>
            <a:ln w="25400">
              <a:solidFill>
                <a:srgbClr val="FF0000"/>
              </a:solidFill>
            </a:ln>
          </c:spPr>
          <c:marker>
            <c:symbol val="none"/>
          </c:marker>
          <c:dLbls>
            <c:dLbl>
              <c:idx val="0"/>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6-C592-4BC3-9CFD-A40743CC8F68}"/>
                </c:ext>
              </c:extLst>
            </c:dLbl>
            <c:dLbl>
              <c:idx val="1"/>
              <c:layout>
                <c:manualLayout>
                  <c:x val="4.5180089209515273E-2"/>
                  <c:y val="-2.838003322602765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7-C592-4BC3-9CFD-A40743CC8F68}"/>
                </c:ext>
              </c:extLst>
            </c:dLbl>
            <c:dLbl>
              <c:idx val="2"/>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8-C592-4BC3-9CFD-A40743CC8F68}"/>
                </c:ext>
              </c:extLst>
            </c:dLbl>
            <c:dLbl>
              <c:idx val="3"/>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9-C592-4BC3-9CFD-A40743CC8F68}"/>
                </c:ext>
              </c:extLst>
            </c:dLbl>
            <c:dLbl>
              <c:idx val="4"/>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A-C592-4BC3-9CFD-A40743CC8F68}"/>
                </c:ext>
              </c:extLst>
            </c:dLbl>
            <c:dLbl>
              <c:idx val="5"/>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B-C592-4BC3-9CFD-A40743CC8F68}"/>
                </c:ext>
              </c:extLst>
            </c:dLbl>
            <c:dLbl>
              <c:idx val="6"/>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C-C592-4BC3-9CFD-A40743CC8F68}"/>
                </c:ext>
              </c:extLst>
            </c:dLbl>
            <c:dLbl>
              <c:idx val="7"/>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D-C592-4BC3-9CFD-A40743CC8F68}"/>
                </c:ext>
              </c:extLst>
            </c:dLbl>
            <c:dLbl>
              <c:idx val="8"/>
              <c:delete val="1"/>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2E-C592-4BC3-9CFD-A40743CC8F68}"/>
                </c:ext>
              </c:extLst>
            </c:dLbl>
            <c:dLbl>
              <c:idx val="9"/>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F-C592-4BC3-9CFD-A40743CC8F68}"/>
                </c:ext>
              </c:extLst>
            </c:dLbl>
            <c:dLbl>
              <c:idx val="10"/>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30-C592-4BC3-9CFD-A40743CC8F68}"/>
                </c:ext>
              </c:extLst>
            </c:dLbl>
            <c:dLbl>
              <c:idx val="11"/>
              <c:delete val="1"/>
              <c:extLst>
                <c:ext xmlns:c15="http://schemas.microsoft.com/office/drawing/2012/chart" uri="{CE6537A1-D6FC-4f65-9D91-7224C49458BB}"/>
                <c:ext xmlns:c16="http://schemas.microsoft.com/office/drawing/2014/chart" uri="{C3380CC4-5D6E-409C-BE32-E72D297353CC}">
                  <c16:uniqueId val="{00000031-C592-4BC3-9CFD-A40743CC8F68}"/>
                </c:ext>
              </c:extLst>
            </c:dLbl>
            <c:dLbl>
              <c:idx val="12"/>
              <c:layout>
                <c:manualLayout>
                  <c:x val="0"/>
                  <c:y val="-8.2451498555140265E-2"/>
                </c:manualLayout>
              </c:layout>
              <c:spPr>
                <a:solidFill>
                  <a:srgbClr val="FF0000"/>
                </a:solidFill>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5.311009650481776E-2"/>
                      <c:h val="7.6220660664188561E-2"/>
                    </c:manualLayout>
                  </c15:layout>
                </c:ext>
                <c:ext xmlns:c16="http://schemas.microsoft.com/office/drawing/2014/chart" uri="{C3380CC4-5D6E-409C-BE32-E72D297353CC}">
                  <c16:uniqueId val="{00000032-C592-4BC3-9CFD-A40743CC8F68}"/>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GTB_ATB_RTO_DIV!$H$3:$H$26</c:f>
              <c:numCache>
                <c:formatCode>0.00</c:formatCode>
                <c:ptCount val="13"/>
                <c:pt idx="0">
                  <c:v>17.119074215317191</c:v>
                </c:pt>
                <c:pt idx="1">
                  <c:v>17.119074215317191</c:v>
                </c:pt>
                <c:pt idx="2">
                  <c:v>17.119074215317191</c:v>
                </c:pt>
                <c:pt idx="3">
                  <c:v>17.119074215317191</c:v>
                </c:pt>
                <c:pt idx="4">
                  <c:v>17.119074215317191</c:v>
                </c:pt>
                <c:pt idx="5">
                  <c:v>17.119074215317191</c:v>
                </c:pt>
                <c:pt idx="6">
                  <c:v>17.119074215317191</c:v>
                </c:pt>
                <c:pt idx="7">
                  <c:v>17.119074215317191</c:v>
                </c:pt>
                <c:pt idx="8">
                  <c:v>17.119074215317191</c:v>
                </c:pt>
                <c:pt idx="9">
                  <c:v>17.119074215317191</c:v>
                </c:pt>
                <c:pt idx="10">
                  <c:v>17.119074215317191</c:v>
                </c:pt>
                <c:pt idx="11">
                  <c:v>17.119074215317191</c:v>
                </c:pt>
                <c:pt idx="12">
                  <c:v>11.57</c:v>
                </c:pt>
              </c:numCache>
              <c:extLst/>
            </c:numRef>
          </c:val>
          <c:smooth val="0"/>
          <c:extLst>
            <c:ext xmlns:c16="http://schemas.microsoft.com/office/drawing/2014/chart" uri="{C3380CC4-5D6E-409C-BE32-E72D297353CC}">
              <c16:uniqueId val="{00000033-C592-4BC3-9CFD-A40743CC8F68}"/>
            </c:ext>
          </c:extLst>
        </c:ser>
        <c:ser>
          <c:idx val="5"/>
          <c:order val="5"/>
          <c:spPr>
            <a:ln w="25400">
              <a:solidFill>
                <a:srgbClr val="339933"/>
              </a:solidFill>
            </a:ln>
          </c:spPr>
          <c:marker>
            <c:symbol val="none"/>
          </c:marker>
          <c:dLbls>
            <c:dLbl>
              <c:idx val="1"/>
              <c:layout>
                <c:manualLayout>
                  <c:x val="4.5180089209515273E-2"/>
                  <c:y val="-1.216287138258328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34-C592-4BC3-9CFD-A40743CC8F68}"/>
                </c:ext>
              </c:extLst>
            </c:dLbl>
            <c:dLbl>
              <c:idx val="12"/>
              <c:layout>
                <c:manualLayout>
                  <c:x val="3.7206410690323057E-3"/>
                  <c:y val="-6.48858860891228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C592-4BC3-9CFD-A40743CC8F68}"/>
                </c:ext>
              </c:extLst>
            </c:dLbl>
            <c:spPr>
              <a:solidFill>
                <a:srgbClr val="92D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GTB_ATB_RTO_DIV!$B$3:$B$26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GTB_ATB_RTO_DIV!$I$3:$I$26</c:f>
              <c:numCache>
                <c:formatCode>0.00</c:formatCode>
                <c:ptCount val="13"/>
                <c:pt idx="0">
                  <c:v>11.390748864773339</c:v>
                </c:pt>
                <c:pt idx="1">
                  <c:v>11.390748864773339</c:v>
                </c:pt>
                <c:pt idx="2">
                  <c:v>11.390748864773339</c:v>
                </c:pt>
                <c:pt idx="3">
                  <c:v>11.390748864773339</c:v>
                </c:pt>
                <c:pt idx="4">
                  <c:v>11.390748864773339</c:v>
                </c:pt>
                <c:pt idx="5">
                  <c:v>11.390748864773339</c:v>
                </c:pt>
                <c:pt idx="6">
                  <c:v>11.390748864773339</c:v>
                </c:pt>
                <c:pt idx="7">
                  <c:v>11.390748864773339</c:v>
                </c:pt>
                <c:pt idx="8">
                  <c:v>11.390748864773339</c:v>
                </c:pt>
                <c:pt idx="9">
                  <c:v>11.390748864773339</c:v>
                </c:pt>
                <c:pt idx="10">
                  <c:v>11.390748864773339</c:v>
                </c:pt>
                <c:pt idx="11">
                  <c:v>11.390748864773339</c:v>
                </c:pt>
                <c:pt idx="12">
                  <c:v>7.28</c:v>
                </c:pt>
              </c:numCache>
              <c:extLst/>
            </c:numRef>
          </c:val>
          <c:smooth val="0"/>
          <c:extLst>
            <c:ext xmlns:c16="http://schemas.microsoft.com/office/drawing/2014/chart" uri="{C3380CC4-5D6E-409C-BE32-E72D297353CC}">
              <c16:uniqueId val="{00000036-C592-4BC3-9CFD-A40743CC8F68}"/>
            </c:ext>
          </c:extLst>
        </c:ser>
        <c:dLbls>
          <c:showLegendKey val="0"/>
          <c:showVal val="1"/>
          <c:showCatName val="0"/>
          <c:showSerName val="0"/>
          <c:showPercent val="0"/>
          <c:showBubbleSize val="0"/>
        </c:dLbls>
        <c:marker val="1"/>
        <c:smooth val="0"/>
        <c:axId val="327493648"/>
        <c:axId val="327487768"/>
      </c:lineChart>
      <c:catAx>
        <c:axId val="32749364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327487768"/>
        <c:crosses val="autoZero"/>
        <c:auto val="1"/>
        <c:lblAlgn val="ctr"/>
        <c:lblOffset val="100"/>
        <c:noMultiLvlLbl val="0"/>
      </c:catAx>
      <c:valAx>
        <c:axId val="327487768"/>
        <c:scaling>
          <c:orientation val="minMax"/>
        </c:scaling>
        <c:delete val="1"/>
        <c:axPos val="l"/>
        <c:numFmt formatCode="0" sourceLinked="1"/>
        <c:majorTickMark val="out"/>
        <c:minorTickMark val="none"/>
        <c:tickLblPos val="nextTo"/>
        <c:crossAx val="32749364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Số sự việc</c:v>
                </c:pt>
              </c:strCache>
            </c:strRef>
          </c:tx>
          <c:explosion val="10"/>
          <c:dPt>
            <c:idx val="0"/>
            <c:bubble3D val="0"/>
            <c:spPr>
              <a:solidFill>
                <a:schemeClr val="accent6"/>
              </a:solidFill>
              <a:ln w="19050">
                <a:solidFill>
                  <a:schemeClr val="lt1"/>
                </a:solidFill>
              </a:ln>
              <a:effectLst/>
            </c:spPr>
            <c:extLst>
              <c:ext xmlns:c16="http://schemas.microsoft.com/office/drawing/2014/chart" uri="{C3380CC4-5D6E-409C-BE32-E72D297353CC}">
                <c16:uniqueId val="{00000001-CDB8-4E2B-A700-8E1974DF32B7}"/>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CDB8-4E2B-A700-8E1974DF32B7}"/>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CDB8-4E2B-A700-8E1974DF32B7}"/>
              </c:ext>
            </c:extLst>
          </c:dPt>
          <c:dPt>
            <c:idx val="3"/>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07-CDB8-4E2B-A700-8E1974DF32B7}"/>
              </c:ext>
            </c:extLst>
          </c:dPt>
          <c:dPt>
            <c:idx val="4"/>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9-CDB8-4E2B-A700-8E1974DF32B7}"/>
              </c:ext>
            </c:extLst>
          </c:dPt>
          <c:dPt>
            <c:idx val="5"/>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0B-CDB8-4E2B-A700-8E1974DF32B7}"/>
              </c:ext>
            </c:extLst>
          </c:dPt>
          <c:dPt>
            <c:idx val="6"/>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0D-CDB8-4E2B-A700-8E1974DF32B7}"/>
              </c:ext>
            </c:extLst>
          </c:dPt>
          <c:dPt>
            <c:idx val="7"/>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0F-CDB8-4E2B-A700-8E1974DF32B7}"/>
              </c:ext>
            </c:extLst>
          </c:dPt>
          <c:dLbls>
            <c:dLbl>
              <c:idx val="0"/>
              <c:layout>
                <c:manualLayout>
                  <c:x val="0.19943019943019943"/>
                  <c:y val="6.1881941923553879E-3"/>
                </c:manualLayout>
              </c:layout>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DB8-4E2B-A700-8E1974DF32B7}"/>
                </c:ext>
              </c:extLst>
            </c:dLbl>
            <c:dLbl>
              <c:idx val="1"/>
              <c:layout>
                <c:manualLayout>
                  <c:x val="0.15384615384615385"/>
                  <c:y val="0.21658679673243855"/>
                </c:manualLayout>
              </c:layout>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DB8-4E2B-A700-8E1974DF32B7}"/>
                </c:ext>
              </c:extLst>
            </c:dLbl>
            <c:dLbl>
              <c:idx val="3"/>
              <c:layout>
                <c:manualLayout>
                  <c:x val="0.16714150047483381"/>
                  <c:y val="0"/>
                </c:manualLayout>
              </c:layout>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DB8-4E2B-A700-8E1974DF32B7}"/>
                </c:ext>
              </c:extLst>
            </c:dLbl>
            <c:spPr>
              <a:solidFill>
                <a:srgbClr val="FFFFFF"/>
              </a:solidFill>
              <a:ln w="9525">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14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Sheet1!$A$2:$A$9</c:f>
              <c:strCache>
                <c:ptCount val="8"/>
                <c:pt idx="0">
                  <c:v>Báo cáo môi trường làm việc</c:v>
                </c:pt>
                <c:pt idx="1">
                  <c:v>Báo cáo PTVT</c:v>
                </c:pt>
                <c:pt idx="2">
                  <c:v>Báo cáo DC/TTB MĐ</c:v>
                </c:pt>
                <c:pt idx="3">
                  <c:v>Báo cáo TLKT/ DLBD</c:v>
                </c:pt>
                <c:pt idx="4">
                  <c:v>Báo cáo về cơ sở vật chất</c:v>
                </c:pt>
                <c:pt idx="5">
                  <c:v>Báo cáo sai lỗi cá nhân</c:v>
                </c:pt>
                <c:pt idx="6">
                  <c:v>Góp ý quy trình, mẫu biểu</c:v>
                </c:pt>
                <c:pt idx="7">
                  <c:v>Báo cáo theo CV3245</c:v>
                </c:pt>
              </c:strCache>
            </c:strRef>
          </c:cat>
          <c:val>
            <c:numRef>
              <c:f>Sheet1!$B$2:$B$9</c:f>
              <c:numCache>
                <c:formatCode>General</c:formatCode>
                <c:ptCount val="8"/>
                <c:pt idx="0">
                  <c:v>1</c:v>
                </c:pt>
                <c:pt idx="1">
                  <c:v>8</c:v>
                </c:pt>
                <c:pt idx="2">
                  <c:v>16</c:v>
                </c:pt>
                <c:pt idx="3">
                  <c:v>3</c:v>
                </c:pt>
                <c:pt idx="4">
                  <c:v>5</c:v>
                </c:pt>
                <c:pt idx="5">
                  <c:v>5</c:v>
                </c:pt>
                <c:pt idx="6">
                  <c:v>8</c:v>
                </c:pt>
                <c:pt idx="7">
                  <c:v>6</c:v>
                </c:pt>
              </c:numCache>
            </c:numRef>
          </c:val>
          <c:extLst>
            <c:ext xmlns:c16="http://schemas.microsoft.com/office/drawing/2014/chart" uri="{C3380CC4-5D6E-409C-BE32-E72D297353CC}">
              <c16:uniqueId val="{00000010-CDB8-4E2B-A700-8E1974DF32B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solidFill>
      <a:schemeClr val="bg1"/>
    </a:solidFill>
    <a:ln>
      <a:solidFill>
        <a:schemeClr val="tx1"/>
      </a:solid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158956692913384E-2"/>
          <c:y val="3.1916487750823223E-2"/>
          <c:w val="0.97563918414248774"/>
          <c:h val="0.85748975750160061"/>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'Cut Tire Events'!$B$3:$B$26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'Cut Tire Events'!$D$3:$D$26</c:f>
              <c:numCache>
                <c:formatCode>0</c:formatCode>
                <c:ptCount val="13"/>
                <c:pt idx="0">
                  <c:v>5</c:v>
                </c:pt>
                <c:pt idx="1">
                  <c:v>6</c:v>
                </c:pt>
                <c:pt idx="2">
                  <c:v>6</c:v>
                </c:pt>
                <c:pt idx="3">
                  <c:v>8</c:v>
                </c:pt>
                <c:pt idx="4">
                  <c:v>1</c:v>
                </c:pt>
                <c:pt idx="5">
                  <c:v>5</c:v>
                </c:pt>
                <c:pt idx="6">
                  <c:v>9</c:v>
                </c:pt>
                <c:pt idx="7">
                  <c:v>5</c:v>
                </c:pt>
                <c:pt idx="8">
                  <c:v>7</c:v>
                </c:pt>
                <c:pt idx="9">
                  <c:v>5</c:v>
                </c:pt>
                <c:pt idx="10">
                  <c:v>5</c:v>
                </c:pt>
                <c:pt idx="11">
                  <c:v>12</c:v>
                </c:pt>
                <c:pt idx="12">
                  <c:v>2</c:v>
                </c:pt>
              </c:numCache>
              <c:extLst/>
            </c:numRef>
          </c:val>
          <c:extLst>
            <c:ext xmlns:c16="http://schemas.microsoft.com/office/drawing/2014/chart" uri="{C3380CC4-5D6E-409C-BE32-E72D297353CC}">
              <c16:uniqueId val="{00000000-DC51-4042-A4CB-2C9FD6911E4E}"/>
            </c:ext>
          </c:extLst>
        </c:ser>
        <c:dLbls>
          <c:showLegendKey val="0"/>
          <c:showVal val="0"/>
          <c:showCatName val="0"/>
          <c:showSerName val="0"/>
          <c:showPercent val="0"/>
          <c:showBubbleSize val="0"/>
        </c:dLbls>
        <c:gapWidth val="150"/>
        <c:axId val="530395304"/>
        <c:axId val="530385112"/>
      </c:barChart>
      <c:lineChart>
        <c:grouping val="standard"/>
        <c:varyColors val="0"/>
        <c:ser>
          <c:idx val="1"/>
          <c:order val="1"/>
          <c:spPr>
            <a:ln w="28575">
              <a:solidFill>
                <a:srgbClr val="7030A0"/>
              </a:solidFill>
            </a:ln>
          </c:spPr>
          <c:marker>
            <c:symbol val="none"/>
          </c:marker>
          <c:dLbls>
            <c:dLbl>
              <c:idx val="1"/>
              <c:layout>
                <c:manualLayout>
                  <c:x val="-2.6257175335260324E-2"/>
                  <c:y val="-8.467700318973495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DC51-4042-A4CB-2C9FD6911E4E}"/>
                </c:ext>
              </c:extLst>
            </c:dLbl>
            <c:dLbl>
              <c:idx val="3"/>
              <c:layout>
                <c:manualLayout>
                  <c:x val="-3.1180395710621606E-2"/>
                  <c:y val="-8.467700318973495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DC51-4042-A4CB-2C9FD6911E4E}"/>
                </c:ext>
              </c:extLst>
            </c:dLbl>
            <c:dLbl>
              <c:idx val="4"/>
              <c:layout>
                <c:manualLayout>
                  <c:x val="-2.4616101876806552E-2"/>
                  <c:y val="-0.1117427119718419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DC51-4042-A4CB-2C9FD6911E4E}"/>
                </c:ext>
              </c:extLst>
            </c:dLbl>
            <c:dLbl>
              <c:idx val="5"/>
              <c:layout>
                <c:manualLayout>
                  <c:x val="-2.4616101876806552E-2"/>
                  <c:y val="-9.62765926677808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DC51-4042-A4CB-2C9FD6911E4E}"/>
                </c:ext>
              </c:extLst>
            </c:dLbl>
            <c:dLbl>
              <c:idx val="6"/>
              <c:layout>
                <c:manualLayout>
                  <c:x val="-2.9344073276126752E-2"/>
                  <c:y val="-0.1454987351576250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1-DC51-4042-A4CB-2C9FD6911E4E}"/>
                </c:ext>
              </c:extLst>
            </c:dLbl>
            <c:dLbl>
              <c:idx val="7"/>
              <c:layout>
                <c:manualLayout>
                  <c:x val="-2.9539322252167863E-2"/>
                  <c:y val="-9.62765926677808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DC51-4042-A4CB-2C9FD6911E4E}"/>
                </c:ext>
              </c:extLst>
            </c:dLbl>
            <c:dLbl>
              <c:idx val="8"/>
              <c:layout>
                <c:manualLayout>
                  <c:x val="-3.1180395710621634E-2"/>
                  <c:y val="-0.1272088312759031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DC51-4042-A4CB-2C9FD6911E4E}"/>
                </c:ext>
              </c:extLst>
            </c:dLbl>
            <c:dLbl>
              <c:idx val="10"/>
              <c:layout>
                <c:manualLayout>
                  <c:x val="-4.4308983378251919E-2"/>
                  <c:y val="-8.854353301575017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DC51-4042-A4CB-2C9FD6911E4E}"/>
                </c:ext>
              </c:extLst>
            </c:dLbl>
            <c:dLbl>
              <c:idx val="11"/>
              <c:layout>
                <c:manualLayout>
                  <c:x val="-5.9078644504335608E-2"/>
                  <c:y val="-0.1078761821458266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DC51-4042-A4CB-2C9FD6911E4E}"/>
                </c:ext>
              </c:extLst>
            </c:dLbl>
            <c:dLbl>
              <c:idx val="12"/>
              <c:layout>
                <c:manualLayout>
                  <c:x val="-1.1401454766394486E-2"/>
                  <c:y val="-7.85158249150048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C51-4042-A4CB-2C9FD6911E4E}"/>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'Cut Tire Events'!$B$3:$B$26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'Cut Tire Events'!$E$3:$E$26</c:f>
              <c:numCache>
                <c:formatCode>0.00</c:formatCode>
                <c:ptCount val="13"/>
                <c:pt idx="0">
                  <c:v>4.6044755502348282</c:v>
                </c:pt>
                <c:pt idx="1">
                  <c:v>5.1724137931034484</c:v>
                </c:pt>
                <c:pt idx="2">
                  <c:v>5.4704595185995624</c:v>
                </c:pt>
                <c:pt idx="3">
                  <c:v>7.7783179387457464</c:v>
                </c:pt>
                <c:pt idx="4">
                  <c:v>0.98473658296405708</c:v>
                </c:pt>
                <c:pt idx="5">
                  <c:v>4.3133195307108352</c:v>
                </c:pt>
                <c:pt idx="6">
                  <c:v>6.9380203515263643</c:v>
                </c:pt>
                <c:pt idx="7">
                  <c:v>4.2578557438473981</c:v>
                </c:pt>
                <c:pt idx="8">
                  <c:v>7.4922401798137646</c:v>
                </c:pt>
                <c:pt idx="9">
                  <c:v>5.2410901467505244</c:v>
                </c:pt>
                <c:pt idx="10">
                  <c:v>5.0443906376109764</c:v>
                </c:pt>
                <c:pt idx="11">
                  <c:v>10.432061201425714</c:v>
                </c:pt>
                <c:pt idx="12">
                  <c:v>1.6669444907484581</c:v>
                </c:pt>
              </c:numCache>
              <c:extLst/>
            </c:numRef>
          </c:val>
          <c:smooth val="0"/>
          <c:extLst>
            <c:ext xmlns:c16="http://schemas.microsoft.com/office/drawing/2014/chart" uri="{C3380CC4-5D6E-409C-BE32-E72D297353CC}">
              <c16:uniqueId val="{00000003-DC51-4042-A4CB-2C9FD6911E4E}"/>
            </c:ext>
          </c:extLst>
        </c:ser>
        <c:ser>
          <c:idx val="2"/>
          <c:order val="2"/>
          <c:spPr>
            <a:ln w="25400">
              <a:solidFill>
                <a:srgbClr val="00B0F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4-DC51-4042-A4CB-2C9FD6911E4E}"/>
                </c:ext>
              </c:extLst>
            </c:dLbl>
            <c:dLbl>
              <c:idx val="12"/>
              <c:layout>
                <c:manualLayout>
                  <c:x val="0"/>
                  <c:y val="-6.18644772162446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51-4042-A4CB-2C9FD6911E4E}"/>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'Cut Tire Events'!$B$3:$B$26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'Cut Tire Events'!$F$3:$F$26</c:f>
              <c:numCache>
                <c:formatCode>0.00</c:formatCode>
                <c:ptCount val="13"/>
                <c:pt idx="0">
                  <c:v>11.683672056961605</c:v>
                </c:pt>
                <c:pt idx="1">
                  <c:v>11.683672056961605</c:v>
                </c:pt>
                <c:pt idx="2">
                  <c:v>11.683672056961605</c:v>
                </c:pt>
                <c:pt idx="3">
                  <c:v>11.683672056961605</c:v>
                </c:pt>
                <c:pt idx="4">
                  <c:v>11.683672056961605</c:v>
                </c:pt>
                <c:pt idx="5">
                  <c:v>11.683672056961605</c:v>
                </c:pt>
                <c:pt idx="6">
                  <c:v>11.683672056961605</c:v>
                </c:pt>
                <c:pt idx="7">
                  <c:v>11.683672056961605</c:v>
                </c:pt>
                <c:pt idx="8">
                  <c:v>11.683672056961605</c:v>
                </c:pt>
                <c:pt idx="9">
                  <c:v>11.683672056961605</c:v>
                </c:pt>
                <c:pt idx="10">
                  <c:v>11.683672056961605</c:v>
                </c:pt>
                <c:pt idx="11">
                  <c:v>11.683672056961605</c:v>
                </c:pt>
                <c:pt idx="12">
                  <c:v>6.8377802024731364</c:v>
                </c:pt>
              </c:numCache>
              <c:extLst/>
            </c:numRef>
          </c:val>
          <c:smooth val="0"/>
          <c:extLst>
            <c:ext xmlns:c16="http://schemas.microsoft.com/office/drawing/2014/chart" uri="{C3380CC4-5D6E-409C-BE32-E72D297353CC}">
              <c16:uniqueId val="{00000006-DC51-4042-A4CB-2C9FD6911E4E}"/>
            </c:ext>
          </c:extLst>
        </c:ser>
        <c:ser>
          <c:idx val="3"/>
          <c:order val="3"/>
          <c:spPr>
            <a:ln w="25400">
              <a:solidFill>
                <a:srgbClr val="FFC00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7-DC51-4042-A4CB-2C9FD6911E4E}"/>
                </c:ext>
              </c:extLst>
            </c:dLbl>
            <c:dLbl>
              <c:idx val="12"/>
              <c:layout>
                <c:manualLayout>
                  <c:x val="-3.2821469169075405E-3"/>
                  <c:y val="-7.34640666942905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C51-4042-A4CB-2C9FD6911E4E}"/>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'Cut Tire Events'!$B$3:$B$26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'Cut Tire Events'!$G$3:$G$26</c:f>
              <c:numCache>
                <c:formatCode>0.00</c:formatCode>
                <c:ptCount val="13"/>
                <c:pt idx="0">
                  <c:v>14.593388907273475</c:v>
                </c:pt>
                <c:pt idx="1">
                  <c:v>14.593388907273475</c:v>
                </c:pt>
                <c:pt idx="2">
                  <c:v>14.593388907273475</c:v>
                </c:pt>
                <c:pt idx="3">
                  <c:v>14.593388907273475</c:v>
                </c:pt>
                <c:pt idx="4">
                  <c:v>14.593388907273475</c:v>
                </c:pt>
                <c:pt idx="5">
                  <c:v>14.593388907273475</c:v>
                </c:pt>
                <c:pt idx="6">
                  <c:v>14.593388907273475</c:v>
                </c:pt>
                <c:pt idx="7">
                  <c:v>14.593388907273475</c:v>
                </c:pt>
                <c:pt idx="8">
                  <c:v>14.593388907273475</c:v>
                </c:pt>
                <c:pt idx="9">
                  <c:v>14.593388907273475</c:v>
                </c:pt>
                <c:pt idx="10">
                  <c:v>14.593388907273475</c:v>
                </c:pt>
                <c:pt idx="11">
                  <c:v>14.593388907273475</c:v>
                </c:pt>
                <c:pt idx="12">
                  <c:v>8.0038454009607438</c:v>
                </c:pt>
              </c:numCache>
              <c:extLst/>
            </c:numRef>
          </c:val>
          <c:smooth val="0"/>
          <c:extLst>
            <c:ext xmlns:c16="http://schemas.microsoft.com/office/drawing/2014/chart" uri="{C3380CC4-5D6E-409C-BE32-E72D297353CC}">
              <c16:uniqueId val="{00000009-DC51-4042-A4CB-2C9FD6911E4E}"/>
            </c:ext>
          </c:extLst>
        </c:ser>
        <c:ser>
          <c:idx val="4"/>
          <c:order val="4"/>
          <c:spPr>
            <a:ln w="25400">
              <a:solidFill>
                <a:srgbClr val="FF0000"/>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A-DC51-4042-A4CB-2C9FD6911E4E}"/>
                </c:ext>
              </c:extLst>
            </c:dLbl>
            <c:dLbl>
              <c:idx val="12"/>
              <c:layout>
                <c:manualLayout>
                  <c:x val="-3.2821469169075405E-3"/>
                  <c:y val="-8.119712634632111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C51-4042-A4CB-2C9FD6911E4E}"/>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'Cut Tire Events'!$B$3:$B$26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'Cut Tire Events'!$H$3:$H$26</c:f>
              <c:numCache>
                <c:formatCode>0.00</c:formatCode>
                <c:ptCount val="13"/>
                <c:pt idx="0">
                  <c:v>17.503105757585345</c:v>
                </c:pt>
                <c:pt idx="1">
                  <c:v>17.503105757585345</c:v>
                </c:pt>
                <c:pt idx="2">
                  <c:v>17.503105757585345</c:v>
                </c:pt>
                <c:pt idx="3">
                  <c:v>17.503105757585345</c:v>
                </c:pt>
                <c:pt idx="4">
                  <c:v>17.503105757585345</c:v>
                </c:pt>
                <c:pt idx="5">
                  <c:v>17.503105757585345</c:v>
                </c:pt>
                <c:pt idx="6">
                  <c:v>17.503105757585345</c:v>
                </c:pt>
                <c:pt idx="7">
                  <c:v>17.503105757585345</c:v>
                </c:pt>
                <c:pt idx="8">
                  <c:v>17.503105757585345</c:v>
                </c:pt>
                <c:pt idx="9">
                  <c:v>17.503105757585345</c:v>
                </c:pt>
                <c:pt idx="10">
                  <c:v>17.503105757585345</c:v>
                </c:pt>
                <c:pt idx="11">
                  <c:v>17.503105757585345</c:v>
                </c:pt>
                <c:pt idx="12">
                  <c:v>9.1699105994483503</c:v>
                </c:pt>
              </c:numCache>
              <c:extLst/>
            </c:numRef>
          </c:val>
          <c:smooth val="0"/>
          <c:extLst>
            <c:ext xmlns:c16="http://schemas.microsoft.com/office/drawing/2014/chart" uri="{C3380CC4-5D6E-409C-BE32-E72D297353CC}">
              <c16:uniqueId val="{0000000C-DC51-4042-A4CB-2C9FD6911E4E}"/>
            </c:ext>
          </c:extLst>
        </c:ser>
        <c:ser>
          <c:idx val="5"/>
          <c:order val="5"/>
          <c:spPr>
            <a:ln w="25400">
              <a:solidFill>
                <a:srgbClr val="339933"/>
              </a:solidFill>
            </a:ln>
          </c:spPr>
          <c:marker>
            <c:symbol val="none"/>
          </c:marker>
          <c:dLbls>
            <c:dLbl>
              <c:idx val="0"/>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D-DC51-4042-A4CB-2C9FD6911E4E}"/>
                </c:ext>
              </c:extLst>
            </c:dLbl>
            <c:dLbl>
              <c:idx val="12"/>
              <c:layout>
                <c:manualLayout>
                  <c:x val="0"/>
                  <c:y val="-4.63983579121834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DC51-4042-A4CB-2C9FD6911E4E}"/>
                </c:ext>
              </c:extLst>
            </c:dLbl>
            <c:spPr>
              <a:solidFill>
                <a:srgbClr val="00B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'Cut Tire Events'!$I$3:$I$26</c:f>
              <c:numCache>
                <c:formatCode>0.00</c:formatCode>
                <c:ptCount val="13"/>
                <c:pt idx="0">
                  <c:v>8.7739552066497346</c:v>
                </c:pt>
                <c:pt idx="1">
                  <c:v>8.7739552066497346</c:v>
                </c:pt>
                <c:pt idx="2">
                  <c:v>8.7739552066497346</c:v>
                </c:pt>
                <c:pt idx="3">
                  <c:v>8.7739552066497346</c:v>
                </c:pt>
                <c:pt idx="4">
                  <c:v>8.7739552066497346</c:v>
                </c:pt>
                <c:pt idx="5">
                  <c:v>8.7739552066497346</c:v>
                </c:pt>
                <c:pt idx="6">
                  <c:v>8.7739552066497346</c:v>
                </c:pt>
                <c:pt idx="7">
                  <c:v>8.7739552066497346</c:v>
                </c:pt>
                <c:pt idx="8">
                  <c:v>8.7739552066497346</c:v>
                </c:pt>
                <c:pt idx="9">
                  <c:v>8.7739552066497346</c:v>
                </c:pt>
                <c:pt idx="10">
                  <c:v>8.7739552066497346</c:v>
                </c:pt>
                <c:pt idx="11">
                  <c:v>8.7739552066497346</c:v>
                </c:pt>
                <c:pt idx="12">
                  <c:v>5.67</c:v>
                </c:pt>
              </c:numCache>
              <c:extLst/>
            </c:numRef>
          </c:val>
          <c:smooth val="0"/>
          <c:extLst>
            <c:ext xmlns:c16="http://schemas.microsoft.com/office/drawing/2014/chart" uri="{C3380CC4-5D6E-409C-BE32-E72D297353CC}">
              <c16:uniqueId val="{0000000F-DC51-4042-A4CB-2C9FD6911E4E}"/>
            </c:ext>
          </c:extLst>
        </c:ser>
        <c:dLbls>
          <c:showLegendKey val="0"/>
          <c:showVal val="1"/>
          <c:showCatName val="0"/>
          <c:showSerName val="0"/>
          <c:showPercent val="0"/>
          <c:showBubbleSize val="0"/>
        </c:dLbls>
        <c:marker val="1"/>
        <c:smooth val="0"/>
        <c:axId val="530395304"/>
        <c:axId val="530385112"/>
      </c:lineChart>
      <c:catAx>
        <c:axId val="530395304"/>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530385112"/>
        <c:crosses val="autoZero"/>
        <c:auto val="1"/>
        <c:lblAlgn val="ctr"/>
        <c:lblOffset val="100"/>
        <c:noMultiLvlLbl val="0"/>
      </c:catAx>
      <c:valAx>
        <c:axId val="530385112"/>
        <c:scaling>
          <c:orientation val="minMax"/>
        </c:scaling>
        <c:delete val="1"/>
        <c:axPos val="l"/>
        <c:numFmt formatCode="0" sourceLinked="1"/>
        <c:majorTickMark val="out"/>
        <c:minorTickMark val="none"/>
        <c:tickLblPos val="nextTo"/>
        <c:crossAx val="530395304"/>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100"/>
              <a:t>LỐP CẮT</a:t>
            </a: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'Cut Tire Events'!$AB$3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'Cut Tire Events'!$AA$4:$AA$5</c:f>
              <c:strCache>
                <c:ptCount val="2"/>
                <c:pt idx="0">
                  <c:v>Số vụ</c:v>
                </c:pt>
                <c:pt idx="1">
                  <c:v>Tỷ lệ/10000CB</c:v>
                </c:pt>
              </c:strCache>
            </c:strRef>
          </c:cat>
          <c:val>
            <c:numRef>
              <c:f>'Cut Tire Events'!$AB$4:$AB$5</c:f>
              <c:numCache>
                <c:formatCode>0.00</c:formatCode>
                <c:ptCount val="2"/>
                <c:pt idx="0" formatCode="0">
                  <c:v>5</c:v>
                </c:pt>
                <c:pt idx="1">
                  <c:v>4.6044755502348282</c:v>
                </c:pt>
              </c:numCache>
            </c:numRef>
          </c:val>
          <c:extLst>
            <c:ext xmlns:c16="http://schemas.microsoft.com/office/drawing/2014/chart" uri="{C3380CC4-5D6E-409C-BE32-E72D297353CC}">
              <c16:uniqueId val="{00000000-CB8C-446B-88FA-22400C60E3EC}"/>
            </c:ext>
          </c:extLst>
        </c:ser>
        <c:ser>
          <c:idx val="1"/>
          <c:order val="1"/>
          <c:tx>
            <c:strRef>
              <c:f>'Cut Tire Events'!$AC$3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'Cut Tire Events'!$AA$4:$AA$5</c:f>
              <c:strCache>
                <c:ptCount val="2"/>
                <c:pt idx="0">
                  <c:v>Số vụ</c:v>
                </c:pt>
                <c:pt idx="1">
                  <c:v>Tỷ lệ/10000CB</c:v>
                </c:pt>
              </c:strCache>
            </c:strRef>
          </c:cat>
          <c:val>
            <c:numRef>
              <c:f>'Cut Tire Events'!$AC$4:$AC$5</c:f>
              <c:numCache>
                <c:formatCode>0.00</c:formatCode>
                <c:ptCount val="2"/>
                <c:pt idx="0" formatCode="0">
                  <c:v>2</c:v>
                </c:pt>
                <c:pt idx="1">
                  <c:v>1.6669444907484581</c:v>
                </c:pt>
              </c:numCache>
            </c:numRef>
          </c:val>
          <c:extLst>
            <c:ext xmlns:c16="http://schemas.microsoft.com/office/drawing/2014/chart" uri="{C3380CC4-5D6E-409C-BE32-E72D297353CC}">
              <c16:uniqueId val="{00000001-CB8C-446B-88FA-22400C60E3EC}"/>
            </c:ext>
          </c:extLst>
        </c:ser>
        <c:dLbls>
          <c:showLegendKey val="0"/>
          <c:showVal val="0"/>
          <c:showCatName val="0"/>
          <c:showSerName val="0"/>
          <c:showPercent val="0"/>
          <c:showBubbleSize val="0"/>
        </c:dLbls>
        <c:gapWidth val="219"/>
        <c:overlap val="-27"/>
        <c:axId val="530391384"/>
        <c:axId val="530387072"/>
      </c:barChart>
      <c:catAx>
        <c:axId val="530391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0387072"/>
        <c:crosses val="autoZero"/>
        <c:auto val="1"/>
        <c:lblAlgn val="ctr"/>
        <c:lblOffset val="100"/>
        <c:noMultiLvlLbl val="0"/>
      </c:catAx>
      <c:valAx>
        <c:axId val="5303870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0391384"/>
        <c:crosses val="autoZero"/>
        <c:crossBetween val="between"/>
      </c:valAx>
      <c:spPr>
        <a:noFill/>
        <a:ln>
          <a:noFill/>
        </a:ln>
        <a:effectLst/>
      </c:spPr>
    </c:plotArea>
    <c:legend>
      <c:legendPos val="b"/>
      <c:layout>
        <c:manualLayout>
          <c:xMode val="edge"/>
          <c:yMode val="edge"/>
          <c:x val="0"/>
          <c:y val="0.92421064941139786"/>
          <c:w val="1"/>
          <c:h val="5.5987370390582367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1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PDA!$B$3:$B$26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PDA!$D$3:$D$26</c:f>
              <c:numCache>
                <c:formatCode>0</c:formatCode>
                <c:ptCount val="13"/>
                <c:pt idx="0">
                  <c:v>2</c:v>
                </c:pt>
                <c:pt idx="1">
                  <c:v>2</c:v>
                </c:pt>
                <c:pt idx="2">
                  <c:v>2</c:v>
                </c:pt>
                <c:pt idx="3">
                  <c:v>1</c:v>
                </c:pt>
                <c:pt idx="4">
                  <c:v>1</c:v>
                </c:pt>
                <c:pt idx="5">
                  <c:v>4</c:v>
                </c:pt>
                <c:pt idx="6">
                  <c:v>2</c:v>
                </c:pt>
                <c:pt idx="7">
                  <c:v>0</c:v>
                </c:pt>
                <c:pt idx="8">
                  <c:v>0</c:v>
                </c:pt>
                <c:pt idx="9">
                  <c:v>3</c:v>
                </c:pt>
                <c:pt idx="10">
                  <c:v>2</c:v>
                </c:pt>
                <c:pt idx="11">
                  <c:v>3</c:v>
                </c:pt>
                <c:pt idx="12">
                  <c:v>2</c:v>
                </c:pt>
              </c:numCache>
              <c:extLst/>
            </c:numRef>
          </c:val>
          <c:extLst>
            <c:ext xmlns:c16="http://schemas.microsoft.com/office/drawing/2014/chart" uri="{C3380CC4-5D6E-409C-BE32-E72D297353CC}">
              <c16:uniqueId val="{00000000-A38D-4452-8821-245B48D0347A}"/>
            </c:ext>
          </c:extLst>
        </c:ser>
        <c:dLbls>
          <c:showLegendKey val="0"/>
          <c:showVal val="0"/>
          <c:showCatName val="0"/>
          <c:showSerName val="0"/>
          <c:showPercent val="0"/>
          <c:showBubbleSize val="0"/>
        </c:dLbls>
        <c:gapWidth val="150"/>
        <c:axId val="527263552"/>
        <c:axId val="527259240"/>
      </c:barChart>
      <c:lineChart>
        <c:grouping val="standard"/>
        <c:varyColors val="0"/>
        <c:ser>
          <c:idx val="1"/>
          <c:order val="1"/>
          <c:spPr>
            <a:ln w="28575">
              <a:solidFill>
                <a:srgbClr val="7030A0"/>
              </a:solidFill>
            </a:ln>
          </c:spPr>
          <c:marker>
            <c:symbol val="none"/>
          </c:marker>
          <c:dLbls>
            <c:dLbl>
              <c:idx val="0"/>
              <c:layout>
                <c:manualLayout>
                  <c:x val="-4.8954016672715976E-2"/>
                  <c:y val="-7.694392011203807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38D-4452-8821-245B48D0347A}"/>
                </c:ext>
              </c:extLst>
            </c:dLbl>
            <c:dLbl>
              <c:idx val="1"/>
              <c:layout>
                <c:manualLayout>
                  <c:x val="-2.6845751078586194E-2"/>
                  <c:y val="-0.1504079644401144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38D-4452-8821-245B48D0347A}"/>
                </c:ext>
              </c:extLst>
            </c:dLbl>
            <c:dLbl>
              <c:idx val="4"/>
              <c:layout>
                <c:manualLayout>
                  <c:x val="-4.1058207531955333E-2"/>
                  <c:y val="-9.627656335626871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38D-4452-8821-245B48D0347A}"/>
                </c:ext>
              </c:extLst>
            </c:dLbl>
            <c:dLbl>
              <c:idx val="5"/>
              <c:layout>
                <c:manualLayout>
                  <c:x val="-2.6845751078586239E-2"/>
                  <c:y val="-0.1658740790354990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38D-4452-8821-245B48D0347A}"/>
                </c:ext>
              </c:extLst>
            </c:dLbl>
            <c:dLbl>
              <c:idx val="6"/>
              <c:layout>
                <c:manualLayout>
                  <c:x val="-3.0004074734890435E-2"/>
                  <c:y val="-0.1736071363331913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38D-4452-8821-245B48D0347A}"/>
                </c:ext>
              </c:extLst>
            </c:dLbl>
            <c:dLbl>
              <c:idx val="7"/>
              <c:delete val="1"/>
              <c:extLst>
                <c:ext xmlns:c15="http://schemas.microsoft.com/office/drawing/2012/chart" uri="{CE6537A1-D6FC-4f65-9D91-7224C49458BB}"/>
                <c:ext xmlns:c16="http://schemas.microsoft.com/office/drawing/2014/chart" uri="{C3380CC4-5D6E-409C-BE32-E72D297353CC}">
                  <c16:uniqueId val="{00000000-991B-4D48-9A72-EE9FCE162268}"/>
                </c:ext>
              </c:extLst>
            </c:dLbl>
            <c:dLbl>
              <c:idx val="8"/>
              <c:delete val="1"/>
              <c:extLst>
                <c:ext xmlns:c15="http://schemas.microsoft.com/office/drawing/2012/chart" uri="{CE6537A1-D6FC-4f65-9D91-7224C49458BB}"/>
                <c:ext xmlns:c16="http://schemas.microsoft.com/office/drawing/2014/chart" uri="{C3380CC4-5D6E-409C-BE32-E72D297353CC}">
                  <c16:uniqueId val="{00000001-991B-4D48-9A72-EE9FCE162268}"/>
                </c:ext>
              </c:extLst>
            </c:dLbl>
            <c:dLbl>
              <c:idx val="10"/>
              <c:layout>
                <c:manualLayout>
                  <c:x val="-3.1583236563042565E-2"/>
                  <c:y val="-0.1194757352493454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38D-4452-8821-245B48D0347A}"/>
                </c:ext>
              </c:extLst>
            </c:dLbl>
            <c:dLbl>
              <c:idx val="11"/>
              <c:layout>
                <c:manualLayout>
                  <c:x val="-3.6320722047498949E-2"/>
                  <c:y val="-0.142674907142422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38D-4452-8821-245B48D0347A}"/>
                </c:ext>
              </c:extLst>
            </c:dLbl>
            <c:dLbl>
              <c:idx val="12"/>
              <c:layout>
                <c:manualLayout>
                  <c:x val="3.1733692138795643E-3"/>
                  <c:y val="5.451805394873043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38D-4452-8821-245B48D0347A}"/>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PDA!$B$3:$B$26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PDA!$E$3:$E$26</c:f>
              <c:numCache>
                <c:formatCode>0.00</c:formatCode>
                <c:ptCount val="13"/>
                <c:pt idx="0">
                  <c:v>1.8417902200939313</c:v>
                </c:pt>
                <c:pt idx="1">
                  <c:v>1.7241379310344827</c:v>
                </c:pt>
                <c:pt idx="2">
                  <c:v>1.8234865061998542</c:v>
                </c:pt>
                <c:pt idx="3">
                  <c:v>0.9722897423432183</c:v>
                </c:pt>
                <c:pt idx="4">
                  <c:v>0.98473658296405708</c:v>
                </c:pt>
                <c:pt idx="5">
                  <c:v>3.4506556245686681</c:v>
                </c:pt>
                <c:pt idx="6">
                  <c:v>1.5417823003391922</c:v>
                </c:pt>
                <c:pt idx="7">
                  <c:v>0</c:v>
                </c:pt>
                <c:pt idx="8">
                  <c:v>0</c:v>
                </c:pt>
                <c:pt idx="9">
                  <c:v>3.1446540880503147</c:v>
                </c:pt>
                <c:pt idx="10">
                  <c:v>2.0177562550443908</c:v>
                </c:pt>
                <c:pt idx="11">
                  <c:v>2.6080153003564286</c:v>
                </c:pt>
                <c:pt idx="12">
                  <c:v>1.6669444907484581</c:v>
                </c:pt>
              </c:numCache>
              <c:extLst/>
            </c:numRef>
          </c:val>
          <c:smooth val="0"/>
          <c:extLst>
            <c:ext xmlns:c16="http://schemas.microsoft.com/office/drawing/2014/chart" uri="{C3380CC4-5D6E-409C-BE32-E72D297353CC}">
              <c16:uniqueId val="{00000001-A38D-4452-8821-245B48D0347A}"/>
            </c:ext>
          </c:extLst>
        </c:ser>
        <c:ser>
          <c:idx val="2"/>
          <c:order val="2"/>
          <c:spPr>
            <a:ln w="25400">
              <a:solidFill>
                <a:srgbClr val="00B0F0"/>
              </a:solidFill>
            </a:ln>
          </c:spPr>
          <c:marker>
            <c:symbol val="none"/>
          </c:marker>
          <c:dLbls>
            <c:dLbl>
              <c:idx val="5"/>
              <c:layout>
                <c:manualLayout>
                  <c:x val="-0.18491848229865285"/>
                  <c:y val="-1.623424465688364E-2"/>
                </c:manualLayout>
              </c:layout>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2-A38D-4452-8821-245B48D0347A}"/>
                </c:ext>
              </c:extLst>
            </c:dLbl>
            <c:dLbl>
              <c:idx val="12"/>
              <c:layout>
                <c:manualLayout>
                  <c:x val="1.5045557575307679E-5"/>
                  <c:y val="-4.60056018997747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38D-4452-8821-245B48D0347A}"/>
                </c:ext>
              </c:extLst>
            </c:dLbl>
            <c:spPr>
              <a:solidFill>
                <a:srgbClr val="00B0F0"/>
              </a:solidFill>
              <a:ln>
                <a:solidFill>
                  <a:srgbClr val="00B0F0"/>
                </a:solid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PDA!$B$3:$B$26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PDA!$F$3:$F$26</c:f>
              <c:numCache>
                <c:formatCode>0.00</c:formatCode>
                <c:ptCount val="13"/>
                <c:pt idx="0">
                  <c:v>3.2711236928020275</c:v>
                </c:pt>
                <c:pt idx="1">
                  <c:v>3.2711236928020275</c:v>
                </c:pt>
                <c:pt idx="2">
                  <c:v>3.2711236928020275</c:v>
                </c:pt>
                <c:pt idx="3">
                  <c:v>3.2711236928020275</c:v>
                </c:pt>
                <c:pt idx="4">
                  <c:v>3.2711236928020275</c:v>
                </c:pt>
                <c:pt idx="5">
                  <c:v>3.2711236928020275</c:v>
                </c:pt>
                <c:pt idx="6">
                  <c:v>3.2711236928020275</c:v>
                </c:pt>
                <c:pt idx="7">
                  <c:v>3.2711236928020275</c:v>
                </c:pt>
                <c:pt idx="8">
                  <c:v>3.2711236928020275</c:v>
                </c:pt>
                <c:pt idx="9">
                  <c:v>3.2711236928020275</c:v>
                </c:pt>
                <c:pt idx="10">
                  <c:v>3.2711236928020275</c:v>
                </c:pt>
                <c:pt idx="11">
                  <c:v>3.2711236928020275</c:v>
                </c:pt>
                <c:pt idx="12">
                  <c:v>2.2287462259104638</c:v>
                </c:pt>
              </c:numCache>
              <c:extLst/>
            </c:numRef>
          </c:val>
          <c:smooth val="0"/>
          <c:extLst>
            <c:ext xmlns:c16="http://schemas.microsoft.com/office/drawing/2014/chart" uri="{C3380CC4-5D6E-409C-BE32-E72D297353CC}">
              <c16:uniqueId val="{00000004-A38D-4452-8821-245B48D0347A}"/>
            </c:ext>
          </c:extLst>
        </c:ser>
        <c:ser>
          <c:idx val="3"/>
          <c:order val="3"/>
          <c:spPr>
            <a:ln w="25400">
              <a:solidFill>
                <a:srgbClr val="FFC000"/>
              </a:solidFill>
            </a:ln>
          </c:spPr>
          <c:marker>
            <c:symbol val="none"/>
          </c:marker>
          <c:dLbls>
            <c:dLbl>
              <c:idx val="5"/>
              <c:layout>
                <c:manualLayout>
                  <c:x val="-0.18361536293179975"/>
                  <c:y val="-2.7833830603422066E-2"/>
                </c:manualLayout>
              </c:layout>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5-A38D-4452-8821-245B48D0347A}"/>
                </c:ext>
              </c:extLst>
            </c:dLbl>
            <c:dLbl>
              <c:idx val="12"/>
              <c:layout>
                <c:manualLayout>
                  <c:x val="1.5045557575307679E-5"/>
                  <c:y val="-5.37386591974669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38D-4452-8821-245B48D0347A}"/>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PDA!$B$3:$B$26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PDA!$G$3:$G$26</c:f>
              <c:numCache>
                <c:formatCode>0.00</c:formatCode>
                <c:ptCount val="13"/>
                <c:pt idx="0">
                  <c:v>4.1222473856040551</c:v>
                </c:pt>
                <c:pt idx="1">
                  <c:v>4.1222473856040551</c:v>
                </c:pt>
                <c:pt idx="2">
                  <c:v>4.1222473856040551</c:v>
                </c:pt>
                <c:pt idx="3">
                  <c:v>4.1222473856040551</c:v>
                </c:pt>
                <c:pt idx="4">
                  <c:v>4.1222473856040551</c:v>
                </c:pt>
                <c:pt idx="5">
                  <c:v>4.1222473856040551</c:v>
                </c:pt>
                <c:pt idx="6">
                  <c:v>4.1222473856040551</c:v>
                </c:pt>
                <c:pt idx="7">
                  <c:v>4.1222473856040551</c:v>
                </c:pt>
                <c:pt idx="8">
                  <c:v>4.1222473856040551</c:v>
                </c:pt>
                <c:pt idx="9">
                  <c:v>4.1222473856040551</c:v>
                </c:pt>
                <c:pt idx="10">
                  <c:v>4.1222473856040551</c:v>
                </c:pt>
                <c:pt idx="11">
                  <c:v>4.1222473856040551</c:v>
                </c:pt>
                <c:pt idx="12">
                  <c:v>2.7713069100955003</c:v>
                </c:pt>
              </c:numCache>
              <c:extLst/>
            </c:numRef>
          </c:val>
          <c:smooth val="0"/>
          <c:extLst>
            <c:ext xmlns:c16="http://schemas.microsoft.com/office/drawing/2014/chart" uri="{C3380CC4-5D6E-409C-BE32-E72D297353CC}">
              <c16:uniqueId val="{00000007-A38D-4452-8821-245B48D0347A}"/>
            </c:ext>
          </c:extLst>
        </c:ser>
        <c:ser>
          <c:idx val="4"/>
          <c:order val="4"/>
          <c:spPr>
            <a:ln w="25400">
              <a:solidFill>
                <a:srgbClr val="FF0000"/>
              </a:solidFill>
            </a:ln>
          </c:spPr>
          <c:marker>
            <c:symbol val="none"/>
          </c:marker>
          <c:dLbls>
            <c:dLbl>
              <c:idx val="5"/>
              <c:layout>
                <c:manualLayout>
                  <c:x val="-0.18389128104964772"/>
                  <c:y val="-1.3528587955915484E-2"/>
                </c:manualLayout>
              </c:layout>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8-A38D-4452-8821-245B48D0347A}"/>
                </c:ext>
              </c:extLst>
            </c:dLbl>
            <c:dLbl>
              <c:idx val="12"/>
              <c:layout>
                <c:manualLayout>
                  <c:x val="1.5045557575307679E-5"/>
                  <c:y val="-5.25777872495890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38D-4452-8821-245B48D0347A}"/>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PDA!$B$3:$B$26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PDA!$H$3:$H$26</c:f>
              <c:numCache>
                <c:formatCode>0.00</c:formatCode>
                <c:ptCount val="13"/>
                <c:pt idx="0">
                  <c:v>4.9733710784060827</c:v>
                </c:pt>
                <c:pt idx="1">
                  <c:v>4.9733710784060827</c:v>
                </c:pt>
                <c:pt idx="2">
                  <c:v>4.9733710784060827</c:v>
                </c:pt>
                <c:pt idx="3">
                  <c:v>4.9733710784060827</c:v>
                </c:pt>
                <c:pt idx="4">
                  <c:v>4.9733710784060827</c:v>
                </c:pt>
                <c:pt idx="5">
                  <c:v>4.9733710784060827</c:v>
                </c:pt>
                <c:pt idx="6">
                  <c:v>4.9733710784060827</c:v>
                </c:pt>
                <c:pt idx="7">
                  <c:v>4.9733710784060827</c:v>
                </c:pt>
                <c:pt idx="8">
                  <c:v>4.9733710784060827</c:v>
                </c:pt>
                <c:pt idx="9">
                  <c:v>4.9733710784060827</c:v>
                </c:pt>
                <c:pt idx="10">
                  <c:v>4.9733710784060827</c:v>
                </c:pt>
                <c:pt idx="11">
                  <c:v>4.9733710784060827</c:v>
                </c:pt>
                <c:pt idx="12">
                  <c:v>3.3138675942805369</c:v>
                </c:pt>
              </c:numCache>
              <c:extLst/>
            </c:numRef>
          </c:val>
          <c:smooth val="0"/>
          <c:extLst>
            <c:ext xmlns:c16="http://schemas.microsoft.com/office/drawing/2014/chart" uri="{C3380CC4-5D6E-409C-BE32-E72D297353CC}">
              <c16:uniqueId val="{0000000A-A38D-4452-8821-245B48D0347A}"/>
            </c:ext>
          </c:extLst>
        </c:ser>
        <c:ser>
          <c:idx val="5"/>
          <c:order val="5"/>
          <c:spPr>
            <a:ln w="25400">
              <a:solidFill>
                <a:srgbClr val="339933"/>
              </a:solidFill>
            </a:ln>
          </c:spPr>
          <c:marker>
            <c:symbol val="none"/>
          </c:marker>
          <c:dLbls>
            <c:dLbl>
              <c:idx val="5"/>
              <c:layout>
                <c:manualLayout>
                  <c:x val="-0.18320129923985121"/>
                  <c:y val="-1.8939901357851792E-2"/>
                </c:manualLayout>
              </c:layout>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B-A38D-4452-8821-245B48D0347A}"/>
                </c:ext>
              </c:extLst>
            </c:dLbl>
            <c:dLbl>
              <c:idx val="12"/>
              <c:layout>
                <c:manualLayout>
                  <c:x val="3.1733692138795643E-3"/>
                  <c:y val="-4.32999451988065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38D-4452-8821-245B48D0347A}"/>
                </c:ext>
              </c:extLst>
            </c:dLbl>
            <c:spPr>
              <a:solidFill>
                <a:srgbClr val="00B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PDA!$B$3:$B$26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PDA!$I$3:$I$26</c:f>
              <c:numCache>
                <c:formatCode>0.00</c:formatCode>
                <c:ptCount val="13"/>
                <c:pt idx="0">
                  <c:v>2.42</c:v>
                </c:pt>
                <c:pt idx="1">
                  <c:v>2.42</c:v>
                </c:pt>
                <c:pt idx="2">
                  <c:v>2.42</c:v>
                </c:pt>
                <c:pt idx="3">
                  <c:v>2.42</c:v>
                </c:pt>
                <c:pt idx="4">
                  <c:v>2.42</c:v>
                </c:pt>
                <c:pt idx="5">
                  <c:v>2.42</c:v>
                </c:pt>
                <c:pt idx="6">
                  <c:v>2.42</c:v>
                </c:pt>
                <c:pt idx="7">
                  <c:v>2.42</c:v>
                </c:pt>
                <c:pt idx="8">
                  <c:v>2.42</c:v>
                </c:pt>
                <c:pt idx="9">
                  <c:v>2.42</c:v>
                </c:pt>
                <c:pt idx="10">
                  <c:v>2.42</c:v>
                </c:pt>
                <c:pt idx="11">
                  <c:v>2.42</c:v>
                </c:pt>
                <c:pt idx="12">
                  <c:v>1.69</c:v>
                </c:pt>
              </c:numCache>
              <c:extLst/>
            </c:numRef>
          </c:val>
          <c:smooth val="0"/>
          <c:extLst>
            <c:ext xmlns:c16="http://schemas.microsoft.com/office/drawing/2014/chart" uri="{C3380CC4-5D6E-409C-BE32-E72D297353CC}">
              <c16:uniqueId val="{0000000D-A38D-4452-8821-245B48D0347A}"/>
            </c:ext>
          </c:extLst>
        </c:ser>
        <c:dLbls>
          <c:showLegendKey val="0"/>
          <c:showVal val="1"/>
          <c:showCatName val="0"/>
          <c:showSerName val="0"/>
          <c:showPercent val="0"/>
          <c:showBubbleSize val="0"/>
        </c:dLbls>
        <c:marker val="1"/>
        <c:smooth val="0"/>
        <c:axId val="527263552"/>
        <c:axId val="527259240"/>
      </c:lineChart>
      <c:catAx>
        <c:axId val="527263552"/>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527259240"/>
        <c:crosses val="autoZero"/>
        <c:auto val="1"/>
        <c:lblAlgn val="ctr"/>
        <c:lblOffset val="100"/>
        <c:noMultiLvlLbl val="0"/>
      </c:catAx>
      <c:valAx>
        <c:axId val="527259240"/>
        <c:scaling>
          <c:orientation val="minMax"/>
        </c:scaling>
        <c:delete val="1"/>
        <c:axPos val="l"/>
        <c:numFmt formatCode="0" sourceLinked="1"/>
        <c:majorTickMark val="out"/>
        <c:minorTickMark val="none"/>
        <c:tickLblPos val="nextTo"/>
        <c:crossAx val="527263552"/>
        <c:crosses val="autoZero"/>
        <c:crossBetween val="between"/>
      </c:valAx>
    </c:plotArea>
    <c:plotVisOnly val="1"/>
    <c:dispBlanksAs val="gap"/>
    <c:showDLblsOverMax val="0"/>
  </c:chart>
  <c:spPr>
    <a:ln w="12700">
      <a:solidFill>
        <a:sysClr val="windowText" lastClr="000000"/>
      </a:solidFill>
    </a:ln>
  </c:sp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VỤ VIỆC PDA</a:t>
            </a:r>
          </a:p>
        </c:rich>
      </c:tx>
      <c:overlay val="0"/>
      <c:spPr>
        <a:noFill/>
        <a:ln>
          <a:noFill/>
        </a:ln>
        <a:effectLst/>
      </c:spPr>
      <c:txPr>
        <a:bodyPr rot="0" spcFirstLastPara="1" vertOverflow="ellipsis" vert="horz" wrap="square" anchor="ctr" anchorCtr="1"/>
        <a:lstStyle/>
        <a:p>
          <a:pPr>
            <a:defRPr sz="132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PDA!$AB$3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PDA!$AA$4:$AA$5</c:f>
              <c:strCache>
                <c:ptCount val="2"/>
                <c:pt idx="0">
                  <c:v>Số vụ</c:v>
                </c:pt>
                <c:pt idx="1">
                  <c:v>Tỷ lệ/10000CB</c:v>
                </c:pt>
              </c:strCache>
            </c:strRef>
          </c:cat>
          <c:val>
            <c:numRef>
              <c:f>PDA!$AB$4:$AB$5</c:f>
              <c:numCache>
                <c:formatCode>0.00</c:formatCode>
                <c:ptCount val="2"/>
                <c:pt idx="0" formatCode="0">
                  <c:v>2</c:v>
                </c:pt>
                <c:pt idx="1">
                  <c:v>1.8417902200939313</c:v>
                </c:pt>
              </c:numCache>
            </c:numRef>
          </c:val>
          <c:extLst>
            <c:ext xmlns:c16="http://schemas.microsoft.com/office/drawing/2014/chart" uri="{C3380CC4-5D6E-409C-BE32-E72D297353CC}">
              <c16:uniqueId val="{00000000-8689-4EA8-8AC2-1060D8CBD97A}"/>
            </c:ext>
          </c:extLst>
        </c:ser>
        <c:ser>
          <c:idx val="1"/>
          <c:order val="1"/>
          <c:tx>
            <c:strRef>
              <c:f>PDA!$AC$3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PDA!$AA$4:$AA$5</c:f>
              <c:strCache>
                <c:ptCount val="2"/>
                <c:pt idx="0">
                  <c:v>Số vụ</c:v>
                </c:pt>
                <c:pt idx="1">
                  <c:v>Tỷ lệ/10000CB</c:v>
                </c:pt>
              </c:strCache>
            </c:strRef>
          </c:cat>
          <c:val>
            <c:numRef>
              <c:f>PDA!$AC$4:$AC$5</c:f>
              <c:numCache>
                <c:formatCode>0.00</c:formatCode>
                <c:ptCount val="2"/>
                <c:pt idx="0" formatCode="0">
                  <c:v>2</c:v>
                </c:pt>
                <c:pt idx="1">
                  <c:v>1.6669444907484581</c:v>
                </c:pt>
              </c:numCache>
            </c:numRef>
          </c:val>
          <c:extLst>
            <c:ext xmlns:c16="http://schemas.microsoft.com/office/drawing/2014/chart" uri="{C3380CC4-5D6E-409C-BE32-E72D297353CC}">
              <c16:uniqueId val="{00000001-8689-4EA8-8AC2-1060D8CBD97A}"/>
            </c:ext>
          </c:extLst>
        </c:ser>
        <c:dLbls>
          <c:showLegendKey val="0"/>
          <c:showVal val="0"/>
          <c:showCatName val="0"/>
          <c:showSerName val="0"/>
          <c:showPercent val="0"/>
          <c:showBubbleSize val="0"/>
        </c:dLbls>
        <c:gapWidth val="219"/>
        <c:overlap val="-27"/>
        <c:axId val="527264336"/>
        <c:axId val="527259632"/>
      </c:barChart>
      <c:catAx>
        <c:axId val="527264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27259632"/>
        <c:crosses val="autoZero"/>
        <c:auto val="1"/>
        <c:lblAlgn val="ctr"/>
        <c:lblOffset val="100"/>
        <c:noMultiLvlLbl val="0"/>
      </c:catAx>
      <c:valAx>
        <c:axId val="5272596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27264336"/>
        <c:crosses val="autoZero"/>
        <c:crossBetween val="between"/>
      </c:valAx>
      <c:spPr>
        <a:noFill/>
        <a:ln>
          <a:noFill/>
        </a:ln>
        <a:effectLst/>
      </c:spPr>
    </c:plotArea>
    <c:legend>
      <c:legendPos val="b"/>
      <c:layout>
        <c:manualLayout>
          <c:xMode val="edge"/>
          <c:yMode val="edge"/>
          <c:x val="1.6233607808284693E-3"/>
          <c:y val="0.92846051953786146"/>
          <c:w val="0.99837663921917152"/>
          <c:h val="5.2847891677091766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100" b="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FOD!$B$3:$B$26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FOD!$D$3:$D$26</c:f>
              <c:numCache>
                <c:formatCode>0</c:formatCode>
                <c:ptCount val="13"/>
                <c:pt idx="0">
                  <c:v>1</c:v>
                </c:pt>
                <c:pt idx="1">
                  <c:v>5</c:v>
                </c:pt>
                <c:pt idx="2">
                  <c:v>8</c:v>
                </c:pt>
                <c:pt idx="3">
                  <c:v>5</c:v>
                </c:pt>
                <c:pt idx="4">
                  <c:v>20</c:v>
                </c:pt>
                <c:pt idx="5">
                  <c:v>8</c:v>
                </c:pt>
                <c:pt idx="6">
                  <c:v>12</c:v>
                </c:pt>
                <c:pt idx="7">
                  <c:v>12</c:v>
                </c:pt>
                <c:pt idx="8">
                  <c:v>8</c:v>
                </c:pt>
                <c:pt idx="9">
                  <c:v>13</c:v>
                </c:pt>
                <c:pt idx="10">
                  <c:v>12</c:v>
                </c:pt>
                <c:pt idx="11">
                  <c:v>6</c:v>
                </c:pt>
                <c:pt idx="12">
                  <c:v>3</c:v>
                </c:pt>
              </c:numCache>
              <c:extLst/>
            </c:numRef>
          </c:val>
          <c:extLst>
            <c:ext xmlns:c16="http://schemas.microsoft.com/office/drawing/2014/chart" uri="{C3380CC4-5D6E-409C-BE32-E72D297353CC}">
              <c16:uniqueId val="{00000000-81EA-4B28-8069-556C5770E49B}"/>
            </c:ext>
          </c:extLst>
        </c:ser>
        <c:dLbls>
          <c:showLegendKey val="0"/>
          <c:showVal val="0"/>
          <c:showCatName val="0"/>
          <c:showSerName val="0"/>
          <c:showPercent val="0"/>
          <c:showBubbleSize val="0"/>
        </c:dLbls>
        <c:gapWidth val="150"/>
        <c:axId val="532688864"/>
        <c:axId val="532690824"/>
      </c:barChart>
      <c:lineChart>
        <c:grouping val="standard"/>
        <c:varyColors val="0"/>
        <c:ser>
          <c:idx val="1"/>
          <c:order val="1"/>
          <c:spPr>
            <a:ln w="28575">
              <a:solidFill>
                <a:srgbClr val="7030A0"/>
              </a:solidFill>
            </a:ln>
          </c:spPr>
          <c:marker>
            <c:symbol val="none"/>
          </c:marker>
          <c:dLbls>
            <c:dLbl>
              <c:idx val="0"/>
              <c:layout>
                <c:manualLayout>
                  <c:x val="-2.9426172562246476E-2"/>
                  <c:y val="-0.1001686785365926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81EA-4B28-8069-556C5770E49B}"/>
                </c:ext>
              </c:extLst>
            </c:dLbl>
            <c:dLbl>
              <c:idx val="2"/>
              <c:layout>
                <c:manualLayout>
                  <c:x val="-1.7036205167616409E-2"/>
                  <c:y val="-5.375847998682006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81EA-4B28-8069-556C5770E49B}"/>
                </c:ext>
              </c:extLst>
            </c:dLbl>
            <c:dLbl>
              <c:idx val="3"/>
              <c:layout>
                <c:manualLayout>
                  <c:x val="1.5487459243287052E-3"/>
                  <c:y val="-3.828841380356243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81EA-4B28-8069-556C5770E49B}"/>
                </c:ext>
              </c:extLst>
            </c:dLbl>
            <c:dLbl>
              <c:idx val="5"/>
              <c:layout>
                <c:manualLayout>
                  <c:x val="-2.0133697016273905E-2"/>
                  <c:y val="-7.309606271589193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81EA-4B28-8069-556C5770E49B}"/>
                </c:ext>
              </c:extLst>
            </c:dLbl>
            <c:dLbl>
              <c:idx val="6"/>
              <c:layout>
                <c:manualLayout>
                  <c:x val="-6.170260316966758E-2"/>
                  <c:y val="-8.614350688289682E-2"/>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1-81EA-4B28-8069-556C5770E49B}"/>
                </c:ext>
              </c:extLst>
            </c:dLbl>
            <c:dLbl>
              <c:idx val="7"/>
              <c:layout>
                <c:manualLayout>
                  <c:x val="-4.8614172194283566E-2"/>
                  <c:y val="-0.13188342204195708"/>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2-81EA-4B28-8069-556C5770E49B}"/>
                </c:ext>
              </c:extLst>
            </c:dLbl>
            <c:dLbl>
              <c:idx val="8"/>
              <c:layout>
                <c:manualLayout>
                  <c:x val="-3.4072410335232874E-2"/>
                  <c:y val="-0.1001686785365926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81EA-4B28-8069-556C5770E49B}"/>
                </c:ext>
              </c:extLst>
            </c:dLbl>
            <c:dLbl>
              <c:idx val="9"/>
              <c:layout>
                <c:manualLayout>
                  <c:x val="-3.4072410335232874E-2"/>
                  <c:y val="-0.1195062612656645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81EA-4B28-8069-556C5770E49B}"/>
                </c:ext>
              </c:extLst>
            </c:dLbl>
            <c:dLbl>
              <c:idx val="11"/>
              <c:layout>
                <c:manualLayout>
                  <c:x val="-2.6328680713588952E-2"/>
                  <c:y val="-0.1233737778114790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1EA-4B28-8069-556C5770E49B}"/>
                </c:ext>
              </c:extLst>
            </c:dLbl>
            <c:dLbl>
              <c:idx val="12"/>
              <c:layout>
                <c:manualLayout>
                  <c:x val="-2.0133697016273905E-2"/>
                  <c:y val="-8.469861235333522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81EA-4B28-8069-556C5770E49B}"/>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FOD!$B$3:$B$26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FOD!$E$3:$E$26</c:f>
              <c:numCache>
                <c:formatCode>0.00</c:formatCode>
                <c:ptCount val="13"/>
                <c:pt idx="0">
                  <c:v>0.92089511004696567</c:v>
                </c:pt>
                <c:pt idx="1">
                  <c:v>4.3103448275862073</c:v>
                </c:pt>
                <c:pt idx="2">
                  <c:v>7.2939460247994168</c:v>
                </c:pt>
                <c:pt idx="3">
                  <c:v>4.8614487117160916</c:v>
                </c:pt>
                <c:pt idx="4">
                  <c:v>19.694731659281143</c:v>
                </c:pt>
                <c:pt idx="5">
                  <c:v>6.9013112491373363</c:v>
                </c:pt>
                <c:pt idx="6">
                  <c:v>9.250693802035153</c:v>
                </c:pt>
                <c:pt idx="7">
                  <c:v>10.218853785233756</c:v>
                </c:pt>
                <c:pt idx="8">
                  <c:v>8.5625602055014447</c:v>
                </c:pt>
                <c:pt idx="9">
                  <c:v>13.626834381551364</c:v>
                </c:pt>
                <c:pt idx="10">
                  <c:v>12.106537530266344</c:v>
                </c:pt>
                <c:pt idx="11">
                  <c:v>5.2160306007128572</c:v>
                </c:pt>
                <c:pt idx="12">
                  <c:v>2.3745448788982113</c:v>
                </c:pt>
              </c:numCache>
              <c:extLst/>
            </c:numRef>
          </c:val>
          <c:smooth val="0"/>
          <c:extLst>
            <c:ext xmlns:c16="http://schemas.microsoft.com/office/drawing/2014/chart" uri="{C3380CC4-5D6E-409C-BE32-E72D297353CC}">
              <c16:uniqueId val="{00000003-81EA-4B28-8069-556C5770E49B}"/>
            </c:ext>
          </c:extLst>
        </c:ser>
        <c:ser>
          <c:idx val="2"/>
          <c:order val="2"/>
          <c:spPr>
            <a:ln w="28575">
              <a:solidFill>
                <a:srgbClr val="00B0F0"/>
              </a:solidFill>
            </a:ln>
          </c:spPr>
          <c:marker>
            <c:symbol val="none"/>
          </c:marker>
          <c:dLbls>
            <c:dLbl>
              <c:idx val="1"/>
              <c:layout>
                <c:manualLayout>
                  <c:x val="-2.0133697016273905E-2"/>
                  <c:y val="-1.9337582729071941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4-81EA-4B28-8069-556C5770E49B}"/>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1EA-4B28-8069-556C5770E49B}"/>
                </c:ext>
              </c:extLst>
            </c:dLbl>
            <c:spPr>
              <a:solidFill>
                <a:srgbClr val="00B0F0"/>
              </a:solidFill>
              <a:ln>
                <a:solidFill>
                  <a:srgbClr val="00B0F0"/>
                </a:solid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FOD!$B$3:$B$26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FOD!$F$3:$F$26</c:f>
              <c:numCache>
                <c:formatCode>0.00</c:formatCode>
                <c:ptCount val="13"/>
                <c:pt idx="0">
                  <c:v>10.210000000000001</c:v>
                </c:pt>
                <c:pt idx="1">
                  <c:v>10.210000000000001</c:v>
                </c:pt>
                <c:pt idx="2">
                  <c:v>10.210000000000001</c:v>
                </c:pt>
                <c:pt idx="3">
                  <c:v>10.210000000000001</c:v>
                </c:pt>
                <c:pt idx="4">
                  <c:v>10.210000000000001</c:v>
                </c:pt>
                <c:pt idx="5">
                  <c:v>10.210000000000001</c:v>
                </c:pt>
                <c:pt idx="6">
                  <c:v>10.210000000000001</c:v>
                </c:pt>
                <c:pt idx="7">
                  <c:v>10.210000000000001</c:v>
                </c:pt>
                <c:pt idx="8">
                  <c:v>10.210000000000001</c:v>
                </c:pt>
                <c:pt idx="9">
                  <c:v>10.210000000000001</c:v>
                </c:pt>
                <c:pt idx="10">
                  <c:v>10.210000000000001</c:v>
                </c:pt>
                <c:pt idx="11">
                  <c:v>10.210000000000001</c:v>
                </c:pt>
                <c:pt idx="12">
                  <c:v>10.210000000000001</c:v>
                </c:pt>
              </c:numCache>
              <c:extLst/>
            </c:numRef>
          </c:val>
          <c:smooth val="0"/>
          <c:extLst>
            <c:ext xmlns:c16="http://schemas.microsoft.com/office/drawing/2014/chart" uri="{C3380CC4-5D6E-409C-BE32-E72D297353CC}">
              <c16:uniqueId val="{00000006-81EA-4B28-8069-556C5770E49B}"/>
            </c:ext>
          </c:extLst>
        </c:ser>
        <c:ser>
          <c:idx val="3"/>
          <c:order val="3"/>
          <c:spPr>
            <a:ln w="28575">
              <a:solidFill>
                <a:srgbClr val="FFC000"/>
              </a:solidFill>
            </a:ln>
          </c:spPr>
          <c:marker>
            <c:symbol val="none"/>
          </c:marker>
          <c:dLbls>
            <c:dLbl>
              <c:idx val="1"/>
              <c:layout>
                <c:manualLayout>
                  <c:x val="-2.4779873815011202E-2"/>
                  <c:y val="-2.1271341001979135E-2"/>
                </c:manualLayout>
              </c:layout>
              <c:spPr>
                <a:solidFill>
                  <a:srgbClr val="FFC00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15:layout>
                    <c:manualLayout>
                      <c:w val="5.7303599200164188E-2"/>
                      <c:h val="6.1106761423867326E-2"/>
                    </c:manualLayout>
                  </c15:layout>
                </c:ext>
                <c:ext xmlns:c16="http://schemas.microsoft.com/office/drawing/2014/chart" uri="{C3380CC4-5D6E-409C-BE32-E72D297353CC}">
                  <c16:uniqueId val="{00000007-81EA-4B28-8069-556C5770E49B}"/>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1EA-4B28-8069-556C5770E49B}"/>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FOD!$B$3:$B$26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FOD!$G$3:$G$26</c:f>
              <c:numCache>
                <c:formatCode>0.00</c:formatCode>
                <c:ptCount val="13"/>
                <c:pt idx="0">
                  <c:v>12.71</c:v>
                </c:pt>
                <c:pt idx="1">
                  <c:v>12.71</c:v>
                </c:pt>
                <c:pt idx="2">
                  <c:v>12.71</c:v>
                </c:pt>
                <c:pt idx="3">
                  <c:v>12.71</c:v>
                </c:pt>
                <c:pt idx="4">
                  <c:v>12.71</c:v>
                </c:pt>
                <c:pt idx="5">
                  <c:v>12.71</c:v>
                </c:pt>
                <c:pt idx="6">
                  <c:v>12.71</c:v>
                </c:pt>
                <c:pt idx="7">
                  <c:v>12.71</c:v>
                </c:pt>
                <c:pt idx="8">
                  <c:v>12.71</c:v>
                </c:pt>
                <c:pt idx="9">
                  <c:v>12.71</c:v>
                </c:pt>
                <c:pt idx="10">
                  <c:v>12.71</c:v>
                </c:pt>
                <c:pt idx="11">
                  <c:v>12.71</c:v>
                </c:pt>
                <c:pt idx="12">
                  <c:v>12.71</c:v>
                </c:pt>
              </c:numCache>
              <c:extLst/>
            </c:numRef>
          </c:val>
          <c:smooth val="0"/>
          <c:extLst>
            <c:ext xmlns:c16="http://schemas.microsoft.com/office/drawing/2014/chart" uri="{C3380CC4-5D6E-409C-BE32-E72D297353CC}">
              <c16:uniqueId val="{00000009-81EA-4B28-8069-556C5770E49B}"/>
            </c:ext>
          </c:extLst>
        </c:ser>
        <c:ser>
          <c:idx val="4"/>
          <c:order val="4"/>
          <c:spPr>
            <a:ln w="28575">
              <a:solidFill>
                <a:srgbClr val="FF0000"/>
              </a:solidFill>
            </a:ln>
          </c:spPr>
          <c:marker>
            <c:symbol val="none"/>
          </c:marker>
          <c:dLbls>
            <c:dLbl>
              <c:idx val="1"/>
              <c:layout>
                <c:manualLayout>
                  <c:x val="-2.0133697016273905E-2"/>
                  <c:y val="-2.7072615820700714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A-81EA-4B28-8069-556C5770E49B}"/>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1EA-4B28-8069-556C5770E49B}"/>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FOD!$B$3:$B$26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FOD!$H$3:$H$26</c:f>
              <c:numCache>
                <c:formatCode>0.00</c:formatCode>
                <c:ptCount val="13"/>
                <c:pt idx="0">
                  <c:v>15.22</c:v>
                </c:pt>
                <c:pt idx="1">
                  <c:v>15.22</c:v>
                </c:pt>
                <c:pt idx="2">
                  <c:v>15.22</c:v>
                </c:pt>
                <c:pt idx="3">
                  <c:v>15.22</c:v>
                </c:pt>
                <c:pt idx="4">
                  <c:v>15.22</c:v>
                </c:pt>
                <c:pt idx="5">
                  <c:v>15.22</c:v>
                </c:pt>
                <c:pt idx="6">
                  <c:v>15.22</c:v>
                </c:pt>
                <c:pt idx="7">
                  <c:v>15.22</c:v>
                </c:pt>
                <c:pt idx="8">
                  <c:v>15.22</c:v>
                </c:pt>
                <c:pt idx="9">
                  <c:v>15.22</c:v>
                </c:pt>
                <c:pt idx="10">
                  <c:v>15.22</c:v>
                </c:pt>
                <c:pt idx="11">
                  <c:v>15.22</c:v>
                </c:pt>
                <c:pt idx="12">
                  <c:v>15.22</c:v>
                </c:pt>
              </c:numCache>
              <c:extLst/>
            </c:numRef>
          </c:val>
          <c:smooth val="0"/>
          <c:extLst>
            <c:ext xmlns:c16="http://schemas.microsoft.com/office/drawing/2014/chart" uri="{C3380CC4-5D6E-409C-BE32-E72D297353CC}">
              <c16:uniqueId val="{0000000C-81EA-4B28-8069-556C5770E49B}"/>
            </c:ext>
          </c:extLst>
        </c:ser>
        <c:ser>
          <c:idx val="5"/>
          <c:order val="5"/>
          <c:spPr>
            <a:ln w="28575">
              <a:solidFill>
                <a:srgbClr val="00B050"/>
              </a:solidFill>
            </a:ln>
          </c:spPr>
          <c:marker>
            <c:symbol val="none"/>
          </c:marker>
          <c:dLbls>
            <c:dLbl>
              <c:idx val="1"/>
              <c:layout>
                <c:manualLayout>
                  <c:x val="-2.2881989340969584E-2"/>
                  <c:y val="-2.4971214409331251E-2"/>
                </c:manualLayout>
              </c:layout>
              <c:spPr>
                <a:solidFill>
                  <a:srgbClr val="00B05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15:layout>
                    <c:manualLayout>
                      <c:w val="5.492194503464129E-2"/>
                      <c:h val="5.4181470575964563E-2"/>
                    </c:manualLayout>
                  </c15:layout>
                </c:ext>
                <c:ext xmlns:c16="http://schemas.microsoft.com/office/drawing/2014/chart" uri="{C3380CC4-5D6E-409C-BE32-E72D297353CC}">
                  <c16:uniqueId val="{0000000D-81EA-4B28-8069-556C5770E49B}"/>
                </c:ext>
              </c:extLst>
            </c:dLbl>
            <c:dLbl>
              <c:idx val="12"/>
              <c:spPr>
                <a:solidFill>
                  <a:srgbClr val="00B05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81EA-4B28-8069-556C5770E49B}"/>
                </c:ext>
              </c:extLst>
            </c:dLbl>
            <c:spPr>
              <a:solidFill>
                <a:srgbClr val="00B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FOD!$B$3:$B$26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FOD!$I$3:$I$26</c:f>
              <c:numCache>
                <c:formatCode>0.00</c:formatCode>
                <c:ptCount val="13"/>
                <c:pt idx="0">
                  <c:v>7.6964519356576622</c:v>
                </c:pt>
                <c:pt idx="1">
                  <c:v>7.6964519356576622</c:v>
                </c:pt>
                <c:pt idx="2">
                  <c:v>7.6964519356576622</c:v>
                </c:pt>
                <c:pt idx="3">
                  <c:v>7.6964519356576622</c:v>
                </c:pt>
                <c:pt idx="4">
                  <c:v>7.6964519356576622</c:v>
                </c:pt>
                <c:pt idx="5">
                  <c:v>7.6964519356576622</c:v>
                </c:pt>
                <c:pt idx="6">
                  <c:v>7.6964519356576622</c:v>
                </c:pt>
                <c:pt idx="7">
                  <c:v>7.6964519356576622</c:v>
                </c:pt>
                <c:pt idx="8">
                  <c:v>7.6964519356576622</c:v>
                </c:pt>
                <c:pt idx="9">
                  <c:v>7.6964519356576622</c:v>
                </c:pt>
                <c:pt idx="10">
                  <c:v>7.6964519356576622</c:v>
                </c:pt>
                <c:pt idx="11">
                  <c:v>7.6964519356576622</c:v>
                </c:pt>
                <c:pt idx="12">
                  <c:v>7.6964519356576622</c:v>
                </c:pt>
              </c:numCache>
              <c:extLst/>
            </c:numRef>
          </c:val>
          <c:smooth val="0"/>
          <c:extLst>
            <c:ext xmlns:c16="http://schemas.microsoft.com/office/drawing/2014/chart" uri="{C3380CC4-5D6E-409C-BE32-E72D297353CC}">
              <c16:uniqueId val="{0000000F-81EA-4B28-8069-556C5770E49B}"/>
            </c:ext>
          </c:extLst>
        </c:ser>
        <c:dLbls>
          <c:showLegendKey val="0"/>
          <c:showVal val="1"/>
          <c:showCatName val="0"/>
          <c:showSerName val="0"/>
          <c:showPercent val="0"/>
          <c:showBubbleSize val="0"/>
        </c:dLbls>
        <c:marker val="1"/>
        <c:smooth val="0"/>
        <c:axId val="532688864"/>
        <c:axId val="532690824"/>
      </c:lineChart>
      <c:catAx>
        <c:axId val="532688864"/>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532690824"/>
        <c:crosses val="autoZero"/>
        <c:auto val="1"/>
        <c:lblAlgn val="ctr"/>
        <c:lblOffset val="100"/>
        <c:noMultiLvlLbl val="0"/>
      </c:catAx>
      <c:valAx>
        <c:axId val="532690824"/>
        <c:scaling>
          <c:orientation val="minMax"/>
        </c:scaling>
        <c:delete val="1"/>
        <c:axPos val="l"/>
        <c:numFmt formatCode="0" sourceLinked="1"/>
        <c:majorTickMark val="out"/>
        <c:minorTickMark val="none"/>
        <c:tickLblPos val="nextTo"/>
        <c:crossAx val="532688864"/>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100"/>
              <a:t>VỤ VIỆC FOD</a:t>
            </a:r>
          </a:p>
        </c:rich>
      </c:tx>
      <c:layout>
        <c:manualLayout>
          <c:xMode val="edge"/>
          <c:yMode val="edge"/>
          <c:x val="0.371748131197851"/>
          <c:y val="3.8585209003215437E-2"/>
        </c:manualLayout>
      </c:layout>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6.1220131213157288E-2"/>
          <c:y val="0.13529559207028383"/>
          <c:w val="0.89625708633320644"/>
          <c:h val="0.68785958427222316"/>
        </c:manualLayout>
      </c:layout>
      <c:barChart>
        <c:barDir val="col"/>
        <c:grouping val="clustered"/>
        <c:varyColors val="0"/>
        <c:ser>
          <c:idx val="0"/>
          <c:order val="0"/>
          <c:tx>
            <c:strRef>
              <c:f>FOD!$AA$3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FOD!$Z$4:$Z$5</c:f>
              <c:strCache>
                <c:ptCount val="2"/>
                <c:pt idx="0">
                  <c:v>Số vụ</c:v>
                </c:pt>
                <c:pt idx="1">
                  <c:v>Tỷ lệ/10000CB</c:v>
                </c:pt>
              </c:strCache>
            </c:strRef>
          </c:cat>
          <c:val>
            <c:numRef>
              <c:f>FOD!$AA$4:$AA$5</c:f>
              <c:numCache>
                <c:formatCode>0.00</c:formatCode>
                <c:ptCount val="2"/>
                <c:pt idx="0" formatCode="0">
                  <c:v>1</c:v>
                </c:pt>
                <c:pt idx="1">
                  <c:v>0.92089511004696567</c:v>
                </c:pt>
              </c:numCache>
            </c:numRef>
          </c:val>
          <c:extLst>
            <c:ext xmlns:c16="http://schemas.microsoft.com/office/drawing/2014/chart" uri="{C3380CC4-5D6E-409C-BE32-E72D297353CC}">
              <c16:uniqueId val="{00000000-8DDA-493A-B87C-6E05C448E582}"/>
            </c:ext>
          </c:extLst>
        </c:ser>
        <c:ser>
          <c:idx val="1"/>
          <c:order val="1"/>
          <c:tx>
            <c:strRef>
              <c:f>FOD!$AB$3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FOD!$Z$4:$Z$5</c:f>
              <c:strCache>
                <c:ptCount val="2"/>
                <c:pt idx="0">
                  <c:v>Số vụ</c:v>
                </c:pt>
                <c:pt idx="1">
                  <c:v>Tỷ lệ/10000CB</c:v>
                </c:pt>
              </c:strCache>
            </c:strRef>
          </c:cat>
          <c:val>
            <c:numRef>
              <c:f>FOD!$AB$4:$AB$5</c:f>
              <c:numCache>
                <c:formatCode>0.00</c:formatCode>
                <c:ptCount val="2"/>
                <c:pt idx="0" formatCode="0">
                  <c:v>3</c:v>
                </c:pt>
                <c:pt idx="1">
                  <c:v>2.3745448788982113</c:v>
                </c:pt>
              </c:numCache>
            </c:numRef>
          </c:val>
          <c:extLst>
            <c:ext xmlns:c16="http://schemas.microsoft.com/office/drawing/2014/chart" uri="{C3380CC4-5D6E-409C-BE32-E72D297353CC}">
              <c16:uniqueId val="{00000001-8DDA-493A-B87C-6E05C448E582}"/>
            </c:ext>
          </c:extLst>
        </c:ser>
        <c:dLbls>
          <c:showLegendKey val="0"/>
          <c:showVal val="0"/>
          <c:showCatName val="0"/>
          <c:showSerName val="0"/>
          <c:showPercent val="0"/>
          <c:showBubbleSize val="0"/>
        </c:dLbls>
        <c:gapWidth val="219"/>
        <c:overlap val="-27"/>
        <c:axId val="532691608"/>
        <c:axId val="532696312"/>
      </c:barChart>
      <c:catAx>
        <c:axId val="532691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6312"/>
        <c:crosses val="autoZero"/>
        <c:auto val="1"/>
        <c:lblAlgn val="ctr"/>
        <c:lblOffset val="100"/>
        <c:noMultiLvlLbl val="0"/>
      </c:catAx>
      <c:valAx>
        <c:axId val="53269631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1608"/>
        <c:crosses val="autoZero"/>
        <c:crossBetween val="between"/>
      </c:valAx>
      <c:spPr>
        <a:noFill/>
        <a:ln>
          <a:noFill/>
        </a:ln>
        <a:effectLst/>
      </c:spPr>
    </c:plotArea>
    <c:legend>
      <c:legendPos val="b"/>
      <c:layout>
        <c:manualLayout>
          <c:xMode val="edge"/>
          <c:yMode val="edge"/>
          <c:x val="3.1976756944170023E-3"/>
          <c:y val="0.91329847836544553"/>
          <c:w val="0.99680232430558302"/>
          <c:h val="6.507552446654627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100" b="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100"/>
              <a:t>VỤ VIỆC IFSD</a:t>
            </a:r>
          </a:p>
        </c:rich>
      </c:tx>
      <c:layout>
        <c:manualLayout>
          <c:xMode val="edge"/>
          <c:yMode val="edge"/>
          <c:x val="0.28423109539935976"/>
          <c:y val="2.698565455670817E-2"/>
        </c:manualLayout>
      </c:layout>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6.1220131213157288E-2"/>
          <c:y val="0.13529559207028383"/>
          <c:w val="0.89625708633320644"/>
          <c:h val="0.68785958427222316"/>
        </c:manualLayout>
      </c:layout>
      <c:barChart>
        <c:barDir val="col"/>
        <c:grouping val="clustered"/>
        <c:varyColors val="0"/>
        <c:ser>
          <c:idx val="0"/>
          <c:order val="0"/>
          <c:tx>
            <c:strRef>
              <c:f>IFSD!$AA$3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IFSD!$Z$4:$Z$5</c:f>
              <c:strCache>
                <c:ptCount val="2"/>
                <c:pt idx="0">
                  <c:v>Số vụ</c:v>
                </c:pt>
                <c:pt idx="1">
                  <c:v>Tỷ lệ/10000CB</c:v>
                </c:pt>
              </c:strCache>
            </c:strRef>
          </c:cat>
          <c:val>
            <c:numRef>
              <c:f>IFSD!$AA$4:$AA$5</c:f>
              <c:numCache>
                <c:formatCode>0.00</c:formatCode>
                <c:ptCount val="2"/>
                <c:pt idx="0" formatCode="0">
                  <c:v>0</c:v>
                </c:pt>
                <c:pt idx="1">
                  <c:v>0</c:v>
                </c:pt>
              </c:numCache>
            </c:numRef>
          </c:val>
          <c:extLst>
            <c:ext xmlns:c16="http://schemas.microsoft.com/office/drawing/2014/chart" uri="{C3380CC4-5D6E-409C-BE32-E72D297353CC}">
              <c16:uniqueId val="{00000000-5C39-45BC-9B45-6F620290214B}"/>
            </c:ext>
          </c:extLst>
        </c:ser>
        <c:ser>
          <c:idx val="1"/>
          <c:order val="1"/>
          <c:tx>
            <c:strRef>
              <c:f>IFSD!$AB$3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IFSD!$Z$4:$Z$5</c:f>
              <c:strCache>
                <c:ptCount val="2"/>
                <c:pt idx="0">
                  <c:v>Số vụ</c:v>
                </c:pt>
                <c:pt idx="1">
                  <c:v>Tỷ lệ/10000CB</c:v>
                </c:pt>
              </c:strCache>
            </c:strRef>
          </c:cat>
          <c:val>
            <c:numRef>
              <c:f>IFSD!$AB$4:$AB$5</c:f>
              <c:numCache>
                <c:formatCode>0.00</c:formatCode>
                <c:ptCount val="2"/>
                <c:pt idx="0" formatCode="0">
                  <c:v>0</c:v>
                </c:pt>
                <c:pt idx="1">
                  <c:v>0</c:v>
                </c:pt>
              </c:numCache>
            </c:numRef>
          </c:val>
          <c:extLst>
            <c:ext xmlns:c16="http://schemas.microsoft.com/office/drawing/2014/chart" uri="{C3380CC4-5D6E-409C-BE32-E72D297353CC}">
              <c16:uniqueId val="{00000001-5C39-45BC-9B45-6F620290214B}"/>
            </c:ext>
          </c:extLst>
        </c:ser>
        <c:dLbls>
          <c:showLegendKey val="0"/>
          <c:showVal val="0"/>
          <c:showCatName val="0"/>
          <c:showSerName val="0"/>
          <c:showPercent val="0"/>
          <c:showBubbleSize val="0"/>
        </c:dLbls>
        <c:gapWidth val="219"/>
        <c:overlap val="-27"/>
        <c:axId val="532692784"/>
        <c:axId val="532693176"/>
      </c:barChart>
      <c:catAx>
        <c:axId val="532692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3176"/>
        <c:crosses val="autoZero"/>
        <c:auto val="1"/>
        <c:lblAlgn val="ctr"/>
        <c:lblOffset val="100"/>
        <c:noMultiLvlLbl val="0"/>
      </c:catAx>
      <c:valAx>
        <c:axId val="532693176"/>
        <c:scaling>
          <c:orientation val="minMax"/>
          <c:max val="2"/>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2784"/>
        <c:crosses val="autoZero"/>
        <c:crossBetween val="between"/>
        <c:majorUnit val="1"/>
        <c:minorUnit val="0.5"/>
      </c:valAx>
      <c:spPr>
        <a:noFill/>
        <a:ln>
          <a:noFill/>
        </a:ln>
        <a:effectLst/>
      </c:spPr>
    </c:plotArea>
    <c:legend>
      <c:legendPos val="b"/>
      <c:layout>
        <c:manualLayout>
          <c:xMode val="edge"/>
          <c:yMode val="edge"/>
          <c:x val="7.1260224988870771E-4"/>
          <c:y val="0.91329847836544553"/>
          <c:w val="0.99503681778291087"/>
          <c:h val="5.4547180798541664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100" b="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IFSD!$B$3:$B$26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IFSD!$D$3:$D$26</c:f>
              <c:numCache>
                <c:formatCode>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extLst/>
            </c:numRef>
          </c:val>
          <c:extLst>
            <c:ext xmlns:c16="http://schemas.microsoft.com/office/drawing/2014/chart" uri="{C3380CC4-5D6E-409C-BE32-E72D297353CC}">
              <c16:uniqueId val="{00000000-7949-4D02-BA2F-F34D1FE2DBFB}"/>
            </c:ext>
          </c:extLst>
        </c:ser>
        <c:dLbls>
          <c:showLegendKey val="0"/>
          <c:showVal val="0"/>
          <c:showCatName val="0"/>
          <c:showSerName val="0"/>
          <c:showPercent val="0"/>
          <c:showBubbleSize val="0"/>
        </c:dLbls>
        <c:gapWidth val="150"/>
        <c:axId val="532698272"/>
        <c:axId val="532698664"/>
      </c:barChart>
      <c:lineChart>
        <c:grouping val="standard"/>
        <c:varyColors val="0"/>
        <c:ser>
          <c:idx val="1"/>
          <c:order val="1"/>
          <c:spPr>
            <a:ln w="28575">
              <a:solidFill>
                <a:srgbClr val="7030A0"/>
              </a:solidFill>
            </a:ln>
          </c:spPr>
          <c:marker>
            <c:symbol val="none"/>
          </c:marker>
          <c:dLbls>
            <c:delete val="1"/>
          </c:dLbls>
          <c:cat>
            <c:strRef>
              <c:f>IFSD!$B$3:$B$26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IFSD!$E$3:$E$26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extLst/>
            </c:numRef>
          </c:val>
          <c:smooth val="0"/>
          <c:extLst>
            <c:ext xmlns:c16="http://schemas.microsoft.com/office/drawing/2014/chart" uri="{C3380CC4-5D6E-409C-BE32-E72D297353CC}">
              <c16:uniqueId val="{00000003-7949-4D02-BA2F-F34D1FE2DBFB}"/>
            </c:ext>
          </c:extLst>
        </c:ser>
        <c:ser>
          <c:idx val="2"/>
          <c:order val="2"/>
          <c:spPr>
            <a:ln w="19050">
              <a:solidFill>
                <a:srgbClr val="00B0F0"/>
              </a:solidFill>
            </a:ln>
          </c:spPr>
          <c:marker>
            <c:symbol val="none"/>
          </c:marker>
          <c:dLbls>
            <c:delete val="1"/>
          </c:dLbls>
          <c:cat>
            <c:strRef>
              <c:f>IFSD!$B$3:$B$26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IFSD!$F$3:$F$26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extLst/>
            </c:numRef>
          </c:val>
          <c:smooth val="0"/>
          <c:extLst>
            <c:ext xmlns:c16="http://schemas.microsoft.com/office/drawing/2014/chart" uri="{C3380CC4-5D6E-409C-BE32-E72D297353CC}">
              <c16:uniqueId val="{00000006-7949-4D02-BA2F-F34D1FE2DBFB}"/>
            </c:ext>
          </c:extLst>
        </c:ser>
        <c:ser>
          <c:idx val="3"/>
          <c:order val="3"/>
          <c:spPr>
            <a:ln>
              <a:solidFill>
                <a:srgbClr val="FFC000"/>
              </a:solidFill>
            </a:ln>
          </c:spPr>
          <c:marker>
            <c:symbol val="none"/>
          </c:marker>
          <c:dLbls>
            <c:delete val="1"/>
          </c:dLbls>
          <c:cat>
            <c:strRef>
              <c:f>IFSD!$B$3:$B$26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IFSD!$G$3:$G$26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extLst/>
            </c:numRef>
          </c:val>
          <c:smooth val="0"/>
          <c:extLst>
            <c:ext xmlns:c16="http://schemas.microsoft.com/office/drawing/2014/chart" uri="{C3380CC4-5D6E-409C-BE32-E72D297353CC}">
              <c16:uniqueId val="{00000009-7949-4D02-BA2F-F34D1FE2DBFB}"/>
            </c:ext>
          </c:extLst>
        </c:ser>
        <c:ser>
          <c:idx val="4"/>
          <c:order val="4"/>
          <c:spPr>
            <a:ln>
              <a:solidFill>
                <a:srgbClr val="FF0000"/>
              </a:solidFill>
            </a:ln>
          </c:spPr>
          <c:marker>
            <c:symbol val="none"/>
          </c:marker>
          <c:dLbls>
            <c:delete val="1"/>
          </c:dLbls>
          <c:cat>
            <c:strRef>
              <c:f>IFSD!$B$3:$B$26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IFSD!$H$3:$H$26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extLst/>
            </c:numRef>
          </c:val>
          <c:smooth val="0"/>
          <c:extLst>
            <c:ext xmlns:c16="http://schemas.microsoft.com/office/drawing/2014/chart" uri="{C3380CC4-5D6E-409C-BE32-E72D297353CC}">
              <c16:uniqueId val="{0000000C-7949-4D02-BA2F-F34D1FE2DBFB}"/>
            </c:ext>
          </c:extLst>
        </c:ser>
        <c:ser>
          <c:idx val="5"/>
          <c:order val="5"/>
          <c:spPr>
            <a:ln w="19050">
              <a:solidFill>
                <a:srgbClr val="00B050"/>
              </a:solidFill>
            </a:ln>
          </c:spPr>
          <c:marker>
            <c:symbol val="none"/>
          </c:marker>
          <c:dLbls>
            <c:dLbl>
              <c:idx val="1"/>
              <c:layout>
                <c:manualLayout>
                  <c:x val="-5.7963051462415004E-2"/>
                  <c:y val="-2.032885118180465E-2"/>
                </c:manualLayout>
              </c:layout>
              <c:showLegendKey val="0"/>
              <c:showVal val="1"/>
              <c:showCatName val="0"/>
              <c:showSerName val="0"/>
              <c:showPercent val="0"/>
              <c:showBubbleSize val="0"/>
              <c:extLst xmlns:c15="http://schemas.microsoft.com/office/drawing/2012/chart" xmlns:c16="http://schemas.microsoft.com/office/drawing/2014/chart">
                <c:ext xmlns:c15="http://schemas.microsoft.com/office/drawing/2012/chart" uri="{CE6537A1-D6FC-4f65-9D91-7224C49458BB}"/>
                <c:ext xmlns:c16="http://schemas.microsoft.com/office/drawing/2014/chart" uri="{C3380CC4-5D6E-409C-BE32-E72D297353CC}">
                  <c16:uniqueId val="{0000000D-7949-4D02-BA2F-F34D1FE2DBFB}"/>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949-4D02-BA2F-F34D1FE2DBFB}"/>
                </c:ext>
              </c:extLst>
            </c:dLbl>
            <c:spPr>
              <a:solidFill>
                <a:srgbClr val="00B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IFSD!$B$3:$B$26</c:f>
              <c:strCache>
                <c:ptCount val="13"/>
                <c:pt idx="0">
                  <c:v>Jan.24</c:v>
                </c:pt>
                <c:pt idx="1">
                  <c:v>Feb.24</c:v>
                </c:pt>
                <c:pt idx="2">
                  <c:v>Mar.24</c:v>
                </c:pt>
                <c:pt idx="3">
                  <c:v>Apr.24</c:v>
                </c:pt>
                <c:pt idx="4">
                  <c:v>May.24</c:v>
                </c:pt>
                <c:pt idx="5">
                  <c:v>Jun.24</c:v>
                </c:pt>
                <c:pt idx="6">
                  <c:v>Jul.24</c:v>
                </c:pt>
                <c:pt idx="7">
                  <c:v>Aug.24</c:v>
                </c:pt>
                <c:pt idx="8">
                  <c:v>Sep.24</c:v>
                </c:pt>
                <c:pt idx="9">
                  <c:v>Oct.24</c:v>
                </c:pt>
                <c:pt idx="10">
                  <c:v>Nov.24</c:v>
                </c:pt>
                <c:pt idx="11">
                  <c:v>Dec.24</c:v>
                </c:pt>
                <c:pt idx="12">
                  <c:v>Jan.25</c:v>
                </c:pt>
              </c:strCache>
              <c:extLst/>
            </c:strRef>
          </c:cat>
          <c:val>
            <c:numRef>
              <c:f>IFSD!$I$3:$I$26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0.02</c:v>
                </c:pt>
              </c:numCache>
              <c:extLst/>
            </c:numRef>
          </c:val>
          <c:smooth val="0"/>
          <c:extLst>
            <c:ext xmlns:c16="http://schemas.microsoft.com/office/drawing/2014/chart" uri="{C3380CC4-5D6E-409C-BE32-E72D297353CC}">
              <c16:uniqueId val="{0000000F-7949-4D02-BA2F-F34D1FE2DBFB}"/>
            </c:ext>
          </c:extLst>
        </c:ser>
        <c:dLbls>
          <c:showLegendKey val="0"/>
          <c:showVal val="1"/>
          <c:showCatName val="0"/>
          <c:showSerName val="0"/>
          <c:showPercent val="0"/>
          <c:showBubbleSize val="0"/>
        </c:dLbls>
        <c:marker val="1"/>
        <c:smooth val="0"/>
        <c:axId val="532698272"/>
        <c:axId val="532698664"/>
      </c:lineChart>
      <c:catAx>
        <c:axId val="532698272"/>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532698664"/>
        <c:crosses val="autoZero"/>
        <c:auto val="1"/>
        <c:lblAlgn val="ctr"/>
        <c:lblOffset val="100"/>
        <c:noMultiLvlLbl val="0"/>
      </c:catAx>
      <c:valAx>
        <c:axId val="532698664"/>
        <c:scaling>
          <c:orientation val="minMax"/>
        </c:scaling>
        <c:delete val="1"/>
        <c:axPos val="l"/>
        <c:numFmt formatCode="0" sourceLinked="1"/>
        <c:majorTickMark val="out"/>
        <c:minorTickMark val="none"/>
        <c:tickLblPos val="nextTo"/>
        <c:crossAx val="532698272"/>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64E30043-8C10-7B47-A809-3F1C83F4798E}" type="datetimeFigureOut">
              <a:rPr lang="en-US" smtClean="0"/>
              <a:t>2/13/2025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5502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462740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Vụ</a:t>
            </a:r>
            <a:r>
              <a:rPr lang="en-US" dirty="0"/>
              <a:t> B225 </a:t>
            </a:r>
            <a:r>
              <a:rPr lang="en-US" dirty="0" err="1"/>
              <a:t>quên</a:t>
            </a:r>
            <a:r>
              <a:rPr lang="en-US" dirty="0"/>
              <a:t> </a:t>
            </a:r>
            <a:r>
              <a:rPr lang="en-US" dirty="0" err="1"/>
              <a:t>rút</a:t>
            </a:r>
            <a:r>
              <a:rPr lang="en-US" dirty="0"/>
              <a:t> </a:t>
            </a:r>
            <a:r>
              <a:rPr lang="en-US" dirty="0" err="1"/>
              <a:t>càng</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960940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562635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237904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045100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Vụ</a:t>
            </a:r>
            <a:r>
              <a:rPr lang="en-US" dirty="0"/>
              <a:t> B225 </a:t>
            </a:r>
            <a:r>
              <a:rPr lang="en-US" dirty="0" err="1"/>
              <a:t>quên</a:t>
            </a:r>
            <a:r>
              <a:rPr lang="en-US" dirty="0"/>
              <a:t> </a:t>
            </a:r>
            <a:r>
              <a:rPr lang="en-US" dirty="0" err="1"/>
              <a:t>rút</a:t>
            </a:r>
            <a:r>
              <a:rPr lang="en-US" dirty="0"/>
              <a:t> </a:t>
            </a:r>
            <a:r>
              <a:rPr lang="en-US" dirty="0" err="1"/>
              <a:t>chèn</a:t>
            </a:r>
            <a:r>
              <a:rPr lang="en-US" dirty="0"/>
              <a:t> </a:t>
            </a:r>
            <a:r>
              <a:rPr lang="en-US" dirty="0" err="1"/>
              <a:t>và</a:t>
            </a:r>
            <a:r>
              <a:rPr lang="en-US" dirty="0"/>
              <a:t> B218 </a:t>
            </a:r>
            <a:r>
              <a:rPr lang="en-US" dirty="0" err="1"/>
              <a:t>ấn</a:t>
            </a:r>
            <a:r>
              <a:rPr lang="en-US" dirty="0"/>
              <a:t> </a:t>
            </a:r>
            <a:r>
              <a:rPr lang="en-US" dirty="0" err="1"/>
              <a:t>nhầm</a:t>
            </a:r>
            <a:r>
              <a:rPr lang="en-US" dirty="0"/>
              <a:t> </a:t>
            </a:r>
            <a:r>
              <a:rPr lang="en-US" dirty="0" err="1"/>
              <a:t>dập</a:t>
            </a:r>
            <a:r>
              <a:rPr lang="en-US" dirty="0"/>
              <a:t> </a:t>
            </a:r>
            <a:r>
              <a:rPr lang="en-US" dirty="0" err="1"/>
              <a:t>cháy</a:t>
            </a:r>
            <a:r>
              <a:rPr lang="en-US" dirty="0"/>
              <a:t> </a:t>
            </a:r>
            <a:r>
              <a:rPr lang="en-US" dirty="0" err="1"/>
              <a:t>động</a:t>
            </a:r>
            <a:r>
              <a:rPr lang="en-US" dirty="0"/>
              <a:t> c</a:t>
            </a:r>
            <a:r>
              <a:rPr lang="vi-VN" dirty="0"/>
              <a:t>ơ</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383085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7 B787; 9 A321; 3 AMP Task </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61076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189057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938812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RTO: B223 TO </a:t>
            </a:r>
            <a:r>
              <a:rPr lang="en-US" dirty="0" err="1"/>
              <a:t>Configue</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645657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007560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130609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957000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atin typeface="Times New Roman" panose="02020603050405020304" pitchFamily="18" charset="0"/>
                <a:cs typeface="Times New Roman" panose="02020603050405020304" pitchFamily="18" charset="0"/>
              </a:rPr>
              <a:t>Máy bay A879 ngày 28/01/2025 trên chặng bay SGN-HAN gặp sự cố RTO : [RTO][GTB] ELEC GEN R DURING PREPARE FOR TAKE OFF, CAPT INFORM "ELEC GEN R", CAPT DECIDED RTO &amp; GTB.</a:t>
            </a:r>
          </a:p>
          <a:p>
            <a:pPr marL="0" lvl="0" indent="0" algn="l" rtl="0">
              <a:spcBef>
                <a:spcPts val="0"/>
              </a:spcBef>
              <a:spcAft>
                <a:spcPts val="0"/>
              </a:spcAft>
              <a:buNone/>
            </a:pPr>
            <a:r>
              <a:rPr lang="en-US">
                <a:latin typeface="Times New Roman" panose="02020603050405020304" pitchFamily="18" charset="0"/>
                <a:cs typeface="Times New Roman" panose="02020603050405020304" pitchFamily="18" charset="0"/>
              </a:rPr>
              <a:t>Máy bay A892 ngày 28/01/2025 trên chặng bay SGN-HAN gặp sự cố OGTB : DURING PUSH BACK CAPT INFORM "ENG 1 FADEC FAULT".</a:t>
            </a:r>
          </a:p>
          <a:p>
            <a:pPr marL="0" lvl="0" indent="0" algn="l" rtl="0">
              <a:spcBef>
                <a:spcPts val="0"/>
              </a:spcBef>
              <a:spcAft>
                <a:spcPts val="0"/>
              </a:spcAft>
              <a:buNone/>
            </a:pPr>
            <a:r>
              <a:rPr lang="en-US">
                <a:latin typeface="Times New Roman" panose="02020603050405020304" pitchFamily="18" charset="0"/>
                <a:cs typeface="Times New Roman" panose="02020603050405020304" pitchFamily="18" charset="0"/>
              </a:rPr>
              <a:t>Máy bay A889 ngày 25/01/2025 trên chặng bay ICN-HAN gặp sự cố OGTB : GTB MSG FUEL ENG 1 LP VLV FAULT VN415 ICN-HAN, A/C GTB AT ICN DUE TO msg no go FUEL ENG 1 LP VLV FAULT.</a:t>
            </a:r>
          </a:p>
          <a:p>
            <a:pPr marL="0" lvl="0" indent="0" algn="l" rtl="0">
              <a:spcBef>
                <a:spcPts val="0"/>
              </a:spcBef>
              <a:spcAft>
                <a:spcPts val="0"/>
              </a:spcAft>
              <a:buNone/>
            </a:pPr>
            <a:r>
              <a:rPr lang="en-US">
                <a:latin typeface="Times New Roman" panose="02020603050405020304" pitchFamily="18" charset="0"/>
                <a:cs typeface="Times New Roman" panose="02020603050405020304" pitchFamily="18" charset="0"/>
              </a:rPr>
              <a:t>Máy bay A890 ngày 23/01/2025 trên chặng bay SFO-SGN gặp sự cố OGTB : FUEL CTR TK L INLET VLV VN99 SFO-SGN, DURING TAXI OUT APPEAR MSG.</a:t>
            </a:r>
          </a:p>
          <a:p>
            <a:pPr marL="0" lvl="0" indent="0" algn="l" rtl="0">
              <a:spcBef>
                <a:spcPts val="0"/>
              </a:spcBef>
              <a:spcAft>
                <a:spcPts val="0"/>
              </a:spcAft>
              <a:buNone/>
            </a:pPr>
            <a:r>
              <a:rPr lang="en-US">
                <a:latin typeface="Times New Roman" panose="02020603050405020304" pitchFamily="18" charset="0"/>
                <a:cs typeface="Times New Roman" panose="02020603050405020304" pitchFamily="18" charset="0"/>
              </a:rPr>
              <a:t>Máy bay A339 ngày 16/01/2025 trên chặng bay SGN-VII gặp sự cố OGTB : GTB/MOR BRAKE #2 HOT DURING TAXI CAPT INFORM VIA VHF BRAKE #2 HOT, TSV ADVISED BUT CAPT DECIDED RETURN GATE.</a:t>
            </a:r>
          </a:p>
          <a:p>
            <a:pPr marL="0" lvl="0" indent="0" algn="l" rtl="0">
              <a:spcBef>
                <a:spcPts val="0"/>
              </a:spcBef>
              <a:spcAft>
                <a:spcPts val="0"/>
              </a:spcAft>
              <a:buNone/>
            </a:pPr>
            <a:r>
              <a:rPr lang="en-US">
                <a:latin typeface="Times New Roman" panose="02020603050405020304" pitchFamily="18" charset="0"/>
                <a:cs typeface="Times New Roman" panose="02020603050405020304" pitchFamily="18" charset="0"/>
              </a:rPr>
              <a:t>Máy bay A358 ngày 15/01/2025 trên chặng bay HAN-SGN gặp sự cố GTB do MCDU.</a:t>
            </a:r>
            <a:endParaRPr>
              <a:latin typeface="Times New Roman" panose="02020603050405020304" pitchFamily="18" charset="0"/>
              <a:cs typeface="Times New Roman" panose="02020603050405020304" pitchFamily="18" charset="0"/>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902838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941753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7194491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8780813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66270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6769957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9171116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6216781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4727109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3444926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736790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8887246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0242431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9981378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148372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0612124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1457734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3936978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43275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smtClean="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a:t>
            </a:fld>
            <a:endParaRPr kumimoji="0" lang="vi"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387348717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smtClean="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a:t>
            </a:fld>
            <a:endParaRPr kumimoji="0" lang="vi" sz="1333" b="0" i="0" u="none" strike="noStrike" kern="0" cap="none" spc="0" normalizeH="0" baseline="0" noProof="0">
              <a:ln>
                <a:noFill/>
              </a:ln>
              <a:solidFill>
                <a:srgbClr val="595959"/>
              </a:solidFill>
              <a:effectLst/>
              <a:uLnTx/>
              <a:uFillTx/>
              <a:latin typeface="Arial"/>
              <a:ea typeface="+mn-ea"/>
              <a:cs typeface="Arial"/>
              <a:sym typeface="Arial"/>
            </a:endParaRPr>
          </a:p>
        </p:txBody>
      </p:sp>
    </p:spTree>
    <p:extLst>
      <p:ext uri="{BB962C8B-B14F-4D97-AF65-F5344CB8AC3E}">
        <p14:creationId xmlns:p14="http://schemas.microsoft.com/office/powerpoint/2010/main" val="4274114783"/>
      </p:ext>
    </p:extLst>
  </p:cSld>
  <p:clrMap bg1="lt1" tx1="dk1" bg2="dk2" tx2="lt2" accent1="accent1" accent2="accent2" accent3="accent3" accent4="accent4" accent5="accent5" accent6="accent6" hlink="hlink" folHlink="folHlink"/>
  <p:sldLayoutIdLst>
    <p:sldLayoutId id="214748365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chart" Target="../charts/chart8.xml"/><Relationship Id="rId4" Type="http://schemas.openxmlformats.org/officeDocument/2006/relationships/chart" Target="../charts/char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10.xml"/><Relationship Id="rId4" Type="http://schemas.openxmlformats.org/officeDocument/2006/relationships/chart" Target="../charts/chart9.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chart" Target="../charts/chart12.xml"/><Relationship Id="rId4" Type="http://schemas.openxmlformats.org/officeDocument/2006/relationships/chart" Target="../charts/char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chart" Target="../charts/chart15.xml"/><Relationship Id="rId4" Type="http://schemas.openxmlformats.org/officeDocument/2006/relationships/chart" Target="../charts/char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chart" Target="../charts/chart17.xml"/><Relationship Id="rId4" Type="http://schemas.openxmlformats.org/officeDocument/2006/relationships/chart" Target="../charts/char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chart" Target="../charts/chart19.xml"/><Relationship Id="rId4" Type="http://schemas.openxmlformats.org/officeDocument/2006/relationships/chart" Target="../charts/char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chart" Target="../charts/chart21.xml"/><Relationship Id="rId4" Type="http://schemas.openxmlformats.org/officeDocument/2006/relationships/chart" Target="../charts/chart20.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547855" y="-699715"/>
            <a:ext cx="15478540" cy="8735833"/>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7" name="TextBox 1"/>
          <p:cNvSpPr txBox="1">
            <a:spLocks noChangeArrowheads="1"/>
          </p:cNvSpPr>
          <p:nvPr/>
        </p:nvSpPr>
        <p:spPr bwMode="auto">
          <a:xfrm>
            <a:off x="4143514" y="508566"/>
            <a:ext cx="7709357" cy="1323632"/>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0"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ỦY BAN AN TOÀN HÀNG KHÔNG</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TỔ CÔNG TÁC AN </a:t>
            </a:r>
            <a:r>
              <a:rPr kumimoji="0" lang="en-US" altLang="en-US" sz="2400"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26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 KỸ THUẬT - SAG2</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0" i="0" u="none" strike="noStrike" kern="0" cap="none" spc="0" normalizeH="0" baseline="0" noProof="0" dirty="0">
                <a:ln>
                  <a:noFill/>
                </a:ln>
                <a:solidFill>
                  <a:srgbClr val="FFFFFF"/>
                </a:solidFill>
                <a:effectLst/>
                <a:uLnTx/>
                <a:uFillTx/>
                <a:latin typeface="Arial"/>
                <a:ea typeface="+mn-ea"/>
                <a:cs typeface="Arial" panose="020B0604020202020204" pitchFamily="34" charset="0"/>
                <a:sym typeface="Wingdings"/>
              </a:rPr>
              <a:t></a:t>
            </a:r>
            <a:endParaRPr kumimoji="0" lang="en-US" altLang="en-US" sz="2667" b="0" i="0" u="none" strike="noStrike" kern="0" cap="none" spc="0" normalizeH="0" baseline="0" noProof="0" dirty="0">
              <a:ln>
                <a:noFill/>
              </a:ln>
              <a:solidFill>
                <a:srgbClr val="FFFFFF"/>
              </a:solidFill>
              <a:effectLst/>
              <a:uLnTx/>
              <a:uFillTx/>
              <a:latin typeface="Arial"/>
              <a:ea typeface="+mn-ea"/>
              <a:cs typeface="Arial" panose="020B0604020202020204" pitchFamily="34" charset="0"/>
              <a:sym typeface="Arial"/>
            </a:endParaRPr>
          </a:p>
        </p:txBody>
      </p:sp>
      <p:sp>
        <p:nvSpPr>
          <p:cNvPr id="8" name="Title 4">
            <a:extLst>
              <a:ext uri="{FF2B5EF4-FFF2-40B4-BE49-F238E27FC236}">
                <a16:creationId xmlns:a16="http://schemas.microsoft.com/office/drawing/2014/main" id="{6249D37E-0AC3-024F-BE7A-B0B092B12FC4}"/>
              </a:ext>
            </a:extLst>
          </p:cNvPr>
          <p:cNvSpPr>
            <a:spLocks noGrp="1"/>
          </p:cNvSpPr>
          <p:nvPr>
            <p:ph type="title"/>
          </p:nvPr>
        </p:nvSpPr>
        <p:spPr>
          <a:xfrm>
            <a:off x="1344460" y="2590800"/>
            <a:ext cx="10134816" cy="3626823"/>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lvl1pPr>
              <a:defRPr b="1" i="0">
                <a:solidFill>
                  <a:srgbClr val="D2A43B"/>
                </a:solidFill>
                <a:latin typeface="Montserrat" pitchFamily="2" charset="77"/>
              </a:defRPr>
            </a:lvl1pPr>
          </a:lstStyle>
          <a:p>
            <a:pPr algn="ctr"/>
            <a:r>
              <a:rPr lang="en-US" altLang="vi-VN" sz="4400">
                <a:solidFill>
                  <a:schemeClr val="accent1"/>
                </a:solidFill>
                <a:latin typeface="Times New Roman" panose="02020603050405020304" pitchFamily="18" charset="0"/>
                <a:cs typeface="Times New Roman" panose="02020603050405020304" pitchFamily="18" charset="0"/>
              </a:rPr>
              <a:t>BÁO CÁO QUẢN LÝ AN TOÀN</a:t>
            </a:r>
            <a:br>
              <a:rPr lang="en-US" altLang="vi-VN" sz="4400">
                <a:solidFill>
                  <a:schemeClr val="accent1"/>
                </a:solidFill>
                <a:latin typeface="Times New Roman" panose="02020603050405020304" pitchFamily="18" charset="0"/>
                <a:cs typeface="Times New Roman" panose="02020603050405020304" pitchFamily="18" charset="0"/>
              </a:rPr>
            </a:br>
            <a:r>
              <a:rPr lang="en-US" altLang="vi-VN" sz="4400">
                <a:solidFill>
                  <a:schemeClr val="accent1"/>
                </a:solidFill>
                <a:latin typeface="Times New Roman" panose="02020603050405020304" pitchFamily="18" charset="0"/>
                <a:cs typeface="Times New Roman" panose="02020603050405020304" pitchFamily="18" charset="0"/>
              </a:rPr>
              <a:t>THÁNG 01 NĂM 2025</a:t>
            </a:r>
            <a:r>
              <a:rPr lang="en-US" altLang="vi-VN" sz="4400" dirty="0">
                <a:solidFill>
                  <a:schemeClr val="accent1"/>
                </a:solidFill>
                <a:latin typeface="Times New Roman" panose="02020603050405020304" pitchFamily="18" charset="0"/>
                <a:cs typeface="Times New Roman" panose="02020603050405020304" pitchFamily="18" charset="0"/>
              </a:rPr>
              <a:t/>
            </a:r>
            <a:br>
              <a:rPr lang="en-US" altLang="vi-VN" sz="4400" dirty="0">
                <a:solidFill>
                  <a:schemeClr val="accent1"/>
                </a:solidFill>
                <a:latin typeface="Times New Roman" panose="02020603050405020304" pitchFamily="18" charset="0"/>
                <a:cs typeface="Times New Roman" panose="02020603050405020304" pitchFamily="18" charset="0"/>
              </a:rPr>
            </a:br>
            <a:r>
              <a:rPr lang="en-US" altLang="vi-VN" sz="2667" dirty="0">
                <a:solidFill>
                  <a:srgbClr val="404040"/>
                </a:solidFill>
                <a:latin typeface="Times New Roman" panose="02020603050405020304" pitchFamily="18" charset="0"/>
                <a:cs typeface="Times New Roman" panose="02020603050405020304" pitchFamily="18" charset="0"/>
              </a:rPr>
              <a:t/>
            </a:r>
            <a:br>
              <a:rPr lang="en-US" altLang="vi-VN" sz="2667" dirty="0">
                <a:solidFill>
                  <a:srgbClr val="404040"/>
                </a:solidFill>
                <a:latin typeface="Times New Roman" panose="02020603050405020304" pitchFamily="18" charset="0"/>
                <a:cs typeface="Times New Roman" panose="02020603050405020304" pitchFamily="18" charset="0"/>
              </a:rPr>
            </a:br>
            <a:r>
              <a:rPr lang="en-US" altLang="vi-VN" sz="2400" b="0" dirty="0">
                <a:solidFill>
                  <a:schemeClr val="bg1"/>
                </a:solidFill>
                <a:latin typeface="Times New Roman" panose="02020603050405020304" pitchFamily="18" charset="0"/>
                <a:cs typeface="Times New Roman" panose="02020603050405020304" pitchFamily="18" charset="0"/>
              </a:rPr>
              <a:t>(LĨNH VỰC KỸ THUẬT VÀ BẢO DƯỠNG TÀU BAY) </a:t>
            </a:r>
            <a:r>
              <a:rPr lang="en-US" altLang="vi-VN" sz="2400" dirty="0">
                <a:solidFill>
                  <a:schemeClr val="bg1"/>
                </a:solidFill>
                <a:latin typeface="Times New Roman" panose="02020603050405020304" pitchFamily="18" charset="0"/>
                <a:cs typeface="Times New Roman" panose="02020603050405020304" pitchFamily="18" charset="0"/>
              </a:rPr>
              <a:t/>
            </a:r>
            <a:br>
              <a:rPr lang="en-US" altLang="vi-VN" sz="2400" dirty="0">
                <a:solidFill>
                  <a:schemeClr val="bg1"/>
                </a:solidFill>
                <a:latin typeface="Times New Roman" panose="02020603050405020304" pitchFamily="18" charset="0"/>
                <a:cs typeface="Times New Roman" panose="02020603050405020304" pitchFamily="18" charset="0"/>
              </a:rPr>
            </a:br>
            <a:r>
              <a:rPr lang="en-US" altLang="vi-VN" sz="2667" b="0" dirty="0">
                <a:solidFill>
                  <a:srgbClr val="00FF00"/>
                </a:solidFill>
                <a:latin typeface="Times New Roman" panose="02020603050405020304" pitchFamily="18" charset="0"/>
                <a:cs typeface="Times New Roman" panose="02020603050405020304" pitchFamily="18" charset="0"/>
              </a:rPr>
              <a:t>            </a:t>
            </a:r>
            <a:br>
              <a:rPr lang="en-US" altLang="vi-VN" sz="2667" b="0" dirty="0">
                <a:solidFill>
                  <a:srgbClr val="00FF00"/>
                </a:solidFill>
                <a:latin typeface="Times New Roman" panose="02020603050405020304" pitchFamily="18" charset="0"/>
                <a:cs typeface="Times New Roman" panose="02020603050405020304" pitchFamily="18" charset="0"/>
              </a:rPr>
            </a:br>
            <a:r>
              <a:rPr lang="en-US" altLang="vi-VN" sz="2667">
                <a:solidFill>
                  <a:srgbClr val="00FF00"/>
                </a:solidFill>
                <a:latin typeface="Times New Roman" panose="02020603050405020304" pitchFamily="18" charset="0"/>
                <a:cs typeface="Times New Roman" panose="02020603050405020304" pitchFamily="18" charset="0"/>
              </a:rPr>
              <a:t>                                                </a:t>
            </a:r>
            <a:br>
              <a:rPr lang="en-US" altLang="vi-VN" sz="2667">
                <a:solidFill>
                  <a:srgbClr val="00FF00"/>
                </a:solidFill>
                <a:latin typeface="Times New Roman" panose="02020603050405020304" pitchFamily="18" charset="0"/>
                <a:cs typeface="Times New Roman" panose="02020603050405020304" pitchFamily="18" charset="0"/>
              </a:rPr>
            </a:br>
            <a:r>
              <a:rPr lang="en-US" altLang="vi-VN" sz="2667">
                <a:solidFill>
                  <a:srgbClr val="00FF00"/>
                </a:solidFill>
                <a:latin typeface="Times New Roman" panose="02020603050405020304" pitchFamily="18" charset="0"/>
                <a:cs typeface="Times New Roman" panose="02020603050405020304" pitchFamily="18" charset="0"/>
              </a:rPr>
              <a:t>                                                         </a:t>
            </a:r>
            <a:r>
              <a:rPr lang="en-US" altLang="vi-VN" sz="2000" b="0" i="1">
                <a:solidFill>
                  <a:schemeClr val="bg1"/>
                </a:solidFill>
                <a:latin typeface="Times New Roman" panose="02020603050405020304" pitchFamily="18" charset="0"/>
                <a:cs typeface="Times New Roman" panose="02020603050405020304" pitchFamily="18" charset="0"/>
              </a:rPr>
              <a:t>Hà </a:t>
            </a:r>
            <a:r>
              <a:rPr lang="en-US" altLang="vi-VN" sz="2000" b="0" i="1" dirty="0" err="1">
                <a:solidFill>
                  <a:schemeClr val="bg1"/>
                </a:solidFill>
                <a:latin typeface="Times New Roman" panose="02020603050405020304" pitchFamily="18" charset="0"/>
                <a:cs typeface="Times New Roman" panose="02020603050405020304" pitchFamily="18" charset="0"/>
              </a:rPr>
              <a:t>Nội</a:t>
            </a:r>
            <a:r>
              <a:rPr lang="en-US" altLang="vi-VN" sz="2000" b="0" i="1">
                <a:solidFill>
                  <a:schemeClr val="bg1"/>
                </a:solidFill>
                <a:latin typeface="Times New Roman" panose="02020603050405020304" pitchFamily="18" charset="0"/>
                <a:cs typeface="Times New Roman" panose="02020603050405020304" pitchFamily="18" charset="0"/>
              </a:rPr>
              <a:t>, ngày 05 tháng 02 </a:t>
            </a:r>
            <a:r>
              <a:rPr lang="en-US" altLang="vi-VN" sz="2000" b="0" i="1" err="1">
                <a:solidFill>
                  <a:schemeClr val="bg1"/>
                </a:solidFill>
                <a:latin typeface="Times New Roman" panose="02020603050405020304" pitchFamily="18" charset="0"/>
                <a:cs typeface="Times New Roman" panose="02020603050405020304" pitchFamily="18" charset="0"/>
              </a:rPr>
              <a:t>năm</a:t>
            </a:r>
            <a:r>
              <a:rPr lang="en-US" altLang="vi-VN" sz="2000" b="0" i="1">
                <a:solidFill>
                  <a:schemeClr val="bg1"/>
                </a:solidFill>
                <a:latin typeface="Times New Roman" panose="02020603050405020304" pitchFamily="18" charset="0"/>
                <a:cs typeface="Times New Roman" panose="02020603050405020304" pitchFamily="18" charset="0"/>
              </a:rPr>
              <a:t> 2025</a:t>
            </a:r>
            <a:r>
              <a:rPr lang="en-US" altLang="vi-VN" sz="2667" b="0" dirty="0">
                <a:solidFill>
                  <a:srgbClr val="00FF00"/>
                </a:solidFill>
                <a:latin typeface="Times New Roman" panose="02020603050405020304" pitchFamily="18" charset="0"/>
                <a:cs typeface="Times New Roman" panose="02020603050405020304" pitchFamily="18" charset="0"/>
              </a:rPr>
              <a:t>	</a:t>
            </a:r>
            <a:endParaRPr lang="en-US" sz="26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976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extBox 3"/>
          <p:cNvSpPr txBox="1">
            <a:spLocks noChangeArrowheads="1"/>
          </p:cNvSpPr>
          <p:nvPr/>
        </p:nvSpPr>
        <p:spPr bwMode="auto">
          <a:xfrm>
            <a:off x="1109134" y="863660"/>
            <a:ext cx="10286999" cy="74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42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NỘI DUNG BÁO CÁO </a:t>
            </a:r>
          </a:p>
        </p:txBody>
      </p:sp>
      <p:sp>
        <p:nvSpPr>
          <p:cNvPr id="5" name="TextBox 1"/>
          <p:cNvSpPr txBox="1">
            <a:spLocks noChangeArrowheads="1"/>
          </p:cNvSpPr>
          <p:nvPr/>
        </p:nvSpPr>
        <p:spPr bwMode="auto">
          <a:xfrm>
            <a:off x="1109134" y="2093417"/>
            <a:ext cx="10096905" cy="40729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thực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hiện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Bộ</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thực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hiện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KPIs.</a:t>
            </a: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khác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chất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lượng</a:t>
            </a:r>
            <a:endPar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Rà</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soát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TBKL SAG2 </a:t>
            </a: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Đề</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xuất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kiến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nghị</a:t>
            </a:r>
            <a:endPar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Phụ</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lục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p:txBody>
      </p:sp>
    </p:spTree>
    <p:extLst>
      <p:ext uri="{BB962C8B-B14F-4D97-AF65-F5344CB8AC3E}">
        <p14:creationId xmlns:p14="http://schemas.microsoft.com/office/powerpoint/2010/main" val="125833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3000" y="1005810"/>
            <a:ext cx="9601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1.1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SỰ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 B, C, D LĨNH VỰC KỸ THUẬT</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0" y="4963723"/>
            <a:ext cx="10726921" cy="1569660"/>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mức</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D</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bắng</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lang="en-US" sz="1600" kern="0" noProof="0" dirty="0" err="1">
                <a:solidFill>
                  <a:srgbClr val="000000"/>
                </a:solidFill>
                <a:latin typeface="Times New Roman" panose="02020603050405020304" pitchFamily="18" charset="0"/>
                <a:cs typeface="Times New Roman" panose="02020603050405020304" pitchFamily="18" charset="0"/>
                <a:sym typeface="Arial"/>
              </a:rPr>
              <a:t>tăng</a:t>
            </a:r>
            <a:r>
              <a:rPr lang="en-US" sz="1600" kern="0" noProof="0" dirty="0">
                <a:solidFill>
                  <a:srgbClr val="000000"/>
                </a:solidFill>
                <a:latin typeface="Times New Roman" panose="02020603050405020304" pitchFamily="18" charset="0"/>
                <a:cs typeface="Times New Roman" panose="02020603050405020304" pitchFamily="18" charset="0"/>
                <a:sym typeface="Arial"/>
              </a:rPr>
              <a:t> 01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0.79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/10000 CB;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0.08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lang="en-US" sz="1600" kern="0" noProof="0" dirty="0" err="1">
                <a:solidFill>
                  <a:srgbClr val="000000"/>
                </a:solidFill>
                <a:latin typeface="Times New Roman" panose="02020603050405020304" pitchFamily="18" charset="0"/>
                <a:cs typeface="Times New Roman" panose="02020603050405020304" pitchFamily="18" charset="0"/>
                <a:sym typeface="Arial"/>
              </a:rPr>
              <a:t>tăng</a:t>
            </a:r>
            <a:r>
              <a:rPr lang="en-US" sz="1600" kern="0" noProof="0" dirty="0">
                <a:solidFill>
                  <a:srgbClr val="000000"/>
                </a:solidFill>
                <a:latin typeface="Times New Roman" panose="02020603050405020304" pitchFamily="18" charset="0"/>
                <a:cs typeface="Times New Roman" panose="02020603050405020304" pitchFamily="18" charset="0"/>
                <a:sym typeface="Arial"/>
              </a:rPr>
              <a:t> 0.79 </a:t>
            </a:r>
            <a:r>
              <a:rPr lang="en-US" sz="1600" kern="0" noProof="0" dirty="0" err="1">
                <a:solidFill>
                  <a:srgbClr val="000000"/>
                </a:solidFill>
                <a:latin typeface="Times New Roman" panose="02020603050405020304" pitchFamily="18" charset="0"/>
                <a:cs typeface="Times New Roman" panose="02020603050405020304" pitchFamily="18" charset="0"/>
                <a:sym typeface="Arial"/>
              </a:rPr>
              <a:t>điểm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ạt</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0.15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/10000 CB. </a:t>
            </a:r>
          </a:p>
          <a:p>
            <a:pPr marR="0" lvl="0" algn="ctr" defTabSz="1219170" rtl="0" eaLnBrk="1" fontAlgn="auto" latinLnBrk="0" hangingPunct="1">
              <a:lnSpc>
                <a:spcPct val="100000"/>
              </a:lnSpc>
              <a:spcBef>
                <a:spcPts val="0"/>
              </a:spcBef>
              <a:spcAft>
                <a:spcPts val="0"/>
              </a:spcAft>
              <a:buClr>
                <a:srgbClr val="000000"/>
              </a:buClr>
              <a:buSzTx/>
              <a:tabLst/>
              <a:defRPr/>
            </a:pPr>
            <a:r>
              <a:rPr lang="en-US" sz="1600" i="1" kern="0" dirty="0">
                <a:solidFill>
                  <a:srgbClr val="000000"/>
                </a:solidFill>
                <a:latin typeface="Times New Roman" panose="02020603050405020304" pitchFamily="18" charset="0"/>
                <a:cs typeface="Times New Roman" panose="02020603050405020304" pitchFamily="18" charset="0"/>
                <a:sym typeface="Arial"/>
              </a:rPr>
              <a:t>Note: </a:t>
            </a:r>
            <a:r>
              <a:rPr lang="en-US" sz="1600" i="1" kern="0" dirty="0" err="1">
                <a:solidFill>
                  <a:srgbClr val="000000"/>
                </a:solidFill>
                <a:latin typeface="Times New Roman" panose="02020603050405020304" pitchFamily="18" charset="0"/>
                <a:cs typeface="Times New Roman" panose="02020603050405020304" pitchFamily="18" charset="0"/>
                <a:sym typeface="Arial"/>
              </a:rPr>
              <a:t>Tính</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cả</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các</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vụ</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việc</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liên</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quan</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đến</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sai</a:t>
            </a:r>
            <a:r>
              <a:rPr lang="en-US" sz="1600" i="1" kern="0" dirty="0">
                <a:solidFill>
                  <a:srgbClr val="000000"/>
                </a:solidFill>
                <a:latin typeface="Times New Roman" panose="02020603050405020304" pitchFamily="18" charset="0"/>
                <a:cs typeface="Times New Roman" panose="02020603050405020304" pitchFamily="18" charset="0"/>
                <a:sym typeface="Arial"/>
              </a:rPr>
              <a:t> </a:t>
            </a:r>
            <a:r>
              <a:rPr lang="en-US" sz="1600" i="1" kern="0" dirty="0" err="1">
                <a:solidFill>
                  <a:srgbClr val="000000"/>
                </a:solidFill>
                <a:latin typeface="Times New Roman" panose="02020603050405020304" pitchFamily="18" charset="0"/>
                <a:cs typeface="Times New Roman" panose="02020603050405020304" pitchFamily="18" charset="0"/>
                <a:sym typeface="Arial"/>
              </a:rPr>
              <a:t>lỗi</a:t>
            </a:r>
            <a:r>
              <a:rPr lang="en-US" sz="1600" i="1" kern="0" dirty="0">
                <a:solidFill>
                  <a:srgbClr val="000000"/>
                </a:solidFill>
                <a:latin typeface="Times New Roman" panose="02020603050405020304" pitchFamily="18" charset="0"/>
                <a:cs typeface="Times New Roman" panose="02020603050405020304" pitchFamily="18" charset="0"/>
                <a:sym typeface="Arial"/>
              </a:rPr>
              <a:t> con ng</a:t>
            </a:r>
            <a:r>
              <a:rPr lang="vi-VN" sz="1600" i="1" kern="0" dirty="0">
                <a:solidFill>
                  <a:srgbClr val="000000"/>
                </a:solidFill>
                <a:latin typeface="Times New Roman" panose="02020603050405020304" pitchFamily="18" charset="0"/>
                <a:cs typeface="Times New Roman" panose="02020603050405020304" pitchFamily="18" charset="0"/>
                <a:sym typeface="Arial"/>
              </a:rPr>
              <a:t>ư</a:t>
            </a:r>
            <a:r>
              <a:rPr lang="en-US" sz="1600" i="1" kern="0" dirty="0" err="1">
                <a:solidFill>
                  <a:srgbClr val="000000"/>
                </a:solidFill>
                <a:latin typeface="Times New Roman" panose="02020603050405020304" pitchFamily="18" charset="0"/>
                <a:cs typeface="Times New Roman" panose="02020603050405020304" pitchFamily="18" charset="0"/>
                <a:sym typeface="Arial"/>
              </a:rPr>
              <a:t>ời</a:t>
            </a:r>
            <a:r>
              <a:rPr lang="en-US" sz="1600" i="1" kern="0" dirty="0">
                <a:solidFill>
                  <a:srgbClr val="000000"/>
                </a:solidFill>
                <a:latin typeface="Times New Roman" panose="02020603050405020304" pitchFamily="18" charset="0"/>
                <a:cs typeface="Times New Roman" panose="02020603050405020304" pitchFamily="18" charset="0"/>
                <a:sym typeface="Arial"/>
              </a:rPr>
              <a:t>, FOD….</a:t>
            </a:r>
            <a:endParaRPr kumimoji="0" lang="en-US" sz="16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14" name="Chart 13">
            <a:extLst>
              <a:ext uri="{FF2B5EF4-FFF2-40B4-BE49-F238E27FC236}">
                <a16:creationId xmlns:a16="http://schemas.microsoft.com/office/drawing/2014/main" id="{2B24350F-4546-41B6-BA84-7A454B646DAE}"/>
              </a:ext>
            </a:extLst>
          </p:cNvPr>
          <p:cNvGraphicFramePr>
            <a:graphicFrameLocks/>
          </p:cNvGraphicFramePr>
          <p:nvPr>
            <p:extLst>
              <p:ext uri="{D42A27DB-BD31-4B8C-83A1-F6EECF244321}">
                <p14:modId xmlns:p14="http://schemas.microsoft.com/office/powerpoint/2010/main" val="2680687308"/>
              </p:ext>
            </p:extLst>
          </p:nvPr>
        </p:nvGraphicFramePr>
        <p:xfrm>
          <a:off x="9052561" y="1553226"/>
          <a:ext cx="2488084" cy="32845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2268770589"/>
              </p:ext>
            </p:extLst>
          </p:nvPr>
        </p:nvGraphicFramePr>
        <p:xfrm>
          <a:off x="985381" y="1553226"/>
          <a:ext cx="7863344" cy="328459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88164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2999" y="1005810"/>
            <a:ext cx="960120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1.2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LỆ VỤ VIỆC MỨC E</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0" y="4963723"/>
            <a:ext cx="10726921" cy="1323439"/>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03 báo cáo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kỹ</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thuật (03 loại E) phải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giảm</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báo cáo so với tháng trước và tăng 01 báo cáo cùng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là 2.37 báo cáo/10000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giảm 1.11 điểm so với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tăng 0.53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r>
              <a:rPr lang="en-US" sz="1600" kern="0" noProof="0">
                <a:solidFill>
                  <a:srgbClr val="000000"/>
                </a:solidFill>
                <a:latin typeface="Times New Roman" panose="02020603050405020304" pitchFamily="18" charset="0"/>
                <a:cs typeface="Times New Roman" panose="02020603050405020304" pitchFamily="18" charset="0"/>
                <a:sym typeface="Arial"/>
              </a:rPr>
              <a:t>Đ</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ạt mục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4.10 báo cáo/10000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p>
        </p:txBody>
      </p:sp>
      <p:graphicFrame>
        <p:nvGraphicFramePr>
          <p:cNvPr id="11" name="Chart 10">
            <a:extLst>
              <a:ext uri="{FF2B5EF4-FFF2-40B4-BE49-F238E27FC236}">
                <a16:creationId xmlns:a16="http://schemas.microsoft.com/office/drawing/2014/main" id="{2B24350F-4546-41B6-BA84-7A454B646DAE}"/>
              </a:ext>
            </a:extLst>
          </p:cNvPr>
          <p:cNvGraphicFramePr>
            <a:graphicFrameLocks/>
          </p:cNvGraphicFramePr>
          <p:nvPr>
            <p:extLst>
              <p:ext uri="{D42A27DB-BD31-4B8C-83A1-F6EECF244321}">
                <p14:modId xmlns:p14="http://schemas.microsoft.com/office/powerpoint/2010/main" val="448053590"/>
              </p:ext>
            </p:extLst>
          </p:nvPr>
        </p:nvGraphicFramePr>
        <p:xfrm>
          <a:off x="9110748" y="1553228"/>
          <a:ext cx="2429895" cy="32845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2459779175"/>
              </p:ext>
            </p:extLst>
          </p:nvPr>
        </p:nvGraphicFramePr>
        <p:xfrm>
          <a:off x="985381" y="1553228"/>
          <a:ext cx="7930019" cy="328459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531928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graphicFrame>
        <p:nvGraphicFramePr>
          <p:cNvPr id="5" name="Table 4">
            <a:extLst>
              <a:ext uri="{FF2B5EF4-FFF2-40B4-BE49-F238E27FC236}">
                <a16:creationId xmlns:a16="http://schemas.microsoft.com/office/drawing/2014/main" id="{391D7B56-DDD6-448C-843A-C5B1338CC229}"/>
              </a:ext>
            </a:extLst>
          </p:cNvPr>
          <p:cNvGraphicFramePr>
            <a:graphicFrameLocks noGrp="1"/>
          </p:cNvGraphicFramePr>
          <p:nvPr>
            <p:extLst>
              <p:ext uri="{D42A27DB-BD31-4B8C-83A1-F6EECF244321}">
                <p14:modId xmlns:p14="http://schemas.microsoft.com/office/powerpoint/2010/main" val="2589822979"/>
              </p:ext>
            </p:extLst>
          </p:nvPr>
        </p:nvGraphicFramePr>
        <p:xfrm>
          <a:off x="876561" y="1066791"/>
          <a:ext cx="10721496" cy="3472205"/>
        </p:xfrm>
        <a:graphic>
          <a:graphicData uri="http://schemas.openxmlformats.org/drawingml/2006/table">
            <a:tbl>
              <a:tblPr firstRow="1" firstCol="1" lastRow="1" lastCol="1" bandRow="1" bandCol="1"/>
              <a:tblGrid>
                <a:gridCol w="381065">
                  <a:extLst>
                    <a:ext uri="{9D8B030D-6E8A-4147-A177-3AD203B41FA5}">
                      <a16:colId xmlns:a16="http://schemas.microsoft.com/office/drawing/2014/main" val="20000"/>
                    </a:ext>
                  </a:extLst>
                </a:gridCol>
                <a:gridCol w="809636">
                  <a:extLst>
                    <a:ext uri="{9D8B030D-6E8A-4147-A177-3AD203B41FA5}">
                      <a16:colId xmlns:a16="http://schemas.microsoft.com/office/drawing/2014/main" val="20001"/>
                    </a:ext>
                  </a:extLst>
                </a:gridCol>
                <a:gridCol w="1438351">
                  <a:extLst>
                    <a:ext uri="{9D8B030D-6E8A-4147-A177-3AD203B41FA5}">
                      <a16:colId xmlns:a16="http://schemas.microsoft.com/office/drawing/2014/main" val="20002"/>
                    </a:ext>
                  </a:extLst>
                </a:gridCol>
                <a:gridCol w="7307376">
                  <a:extLst>
                    <a:ext uri="{9D8B030D-6E8A-4147-A177-3AD203B41FA5}">
                      <a16:colId xmlns:a16="http://schemas.microsoft.com/office/drawing/2014/main" val="20003"/>
                    </a:ext>
                  </a:extLst>
                </a:gridCol>
                <a:gridCol w="785068">
                  <a:extLst>
                    <a:ext uri="{9D8B030D-6E8A-4147-A177-3AD203B41FA5}">
                      <a16:colId xmlns:a16="http://schemas.microsoft.com/office/drawing/2014/main" val="20004"/>
                    </a:ext>
                  </a:extLst>
                </a:gridCol>
              </a:tblGrid>
              <a:tr h="650729">
                <a:tc>
                  <a:txBody>
                    <a:bodyPr/>
                    <a:lstStyle/>
                    <a:p>
                      <a:pPr algn="ctr">
                        <a:spcAft>
                          <a:spcPts val="0"/>
                        </a:spcAft>
                      </a:pPr>
                      <a:r>
                        <a:rPr lang="de-DE" sz="1200" b="1">
                          <a:solidFill>
                            <a:srgbClr val="000000"/>
                          </a:solidFill>
                          <a:effectLst/>
                          <a:latin typeface="Times New Roman" panose="02020603050405020304" pitchFamily="18" charset="0"/>
                          <a:ea typeface="Times New Roman"/>
                          <a:cs typeface="Times New Roman" panose="02020603050405020304" pitchFamily="18" charset="0"/>
                        </a:rPr>
                        <a:t>TT</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Thời gian</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Loại tầu bay/ </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Số </a:t>
                      </a:r>
                      <a:r>
                        <a:rPr lang="de-DE" sz="1200" b="1">
                          <a:solidFill>
                            <a:srgbClr val="000000"/>
                          </a:solidFill>
                          <a:effectLst/>
                          <a:latin typeface="Times New Roman" panose="02020603050405020304" pitchFamily="18" charset="0"/>
                          <a:ea typeface="Times New Roman"/>
                          <a:cs typeface="Times New Roman" panose="02020603050405020304" pitchFamily="18" charset="0"/>
                        </a:rPr>
                        <a:t>đăng ký</a:t>
                      </a: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Chặng</a:t>
                      </a:r>
                      <a:r>
                        <a:rPr lang="de-DE" sz="1200" b="1" baseline="0" dirty="0">
                          <a:solidFill>
                            <a:srgbClr val="000000"/>
                          </a:solidFill>
                          <a:effectLst/>
                          <a:latin typeface="Times New Roman" panose="02020603050405020304" pitchFamily="18" charset="0"/>
                          <a:ea typeface="Times New Roman"/>
                          <a:cs typeface="Times New Roman" panose="02020603050405020304" pitchFamily="18" charset="0"/>
                        </a:rPr>
                        <a:t> bay</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Nội dung sự cố</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Phân loại</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902156">
                <a:tc>
                  <a:txBody>
                    <a:bodyPr/>
                    <a:lstStyle/>
                    <a:p>
                      <a:pPr algn="ctr">
                        <a:spcAft>
                          <a:spcPts val="0"/>
                        </a:spcAft>
                      </a:pPr>
                      <a:r>
                        <a:rPr lang="en-SG" sz="1200" b="0">
                          <a:effectLst/>
                          <a:latin typeface="Times New Roman" panose="02020603050405020304" pitchFamily="18" charset="0"/>
                          <a:ea typeface="Times New Roman" panose="02020603050405020304" pitchFamily="18" charset="0"/>
                        </a:rPr>
                        <a:t>1</a:t>
                      </a:r>
                    </a:p>
                  </a:txBody>
                  <a:tcPr marL="81280" marR="812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09/01</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A350</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VN-A899</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VN240</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SGN-HAN</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DURING TAXI CAPT CALL VHF APPEAR MSG  "F/CTL STABILIZER“. C/O MAINTENANCE AND RAISED MEL STABILIZER ELECTRICAL MOTOR</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E</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6422877"/>
                  </a:ext>
                </a:extLst>
              </a:tr>
              <a:tr h="867423">
                <a:tc>
                  <a:txBody>
                    <a:bodyPr/>
                    <a:lstStyle/>
                    <a:p>
                      <a:pPr algn="ctr">
                        <a:spcAft>
                          <a:spcPts val="0"/>
                        </a:spcAft>
                      </a:pPr>
                      <a:r>
                        <a:rPr lang="en-SG" sz="1200" b="0">
                          <a:effectLst/>
                          <a:latin typeface="Times New Roman" panose="02020603050405020304" pitchFamily="18" charset="0"/>
                          <a:ea typeface="Times New Roman" panose="02020603050405020304" pitchFamily="18" charset="0"/>
                        </a:rPr>
                        <a:t>2</a:t>
                      </a:r>
                    </a:p>
                  </a:txBody>
                  <a:tcPr marL="81280" marR="812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06/01</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A350</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VN-A893</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VN781</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SGN-MEL</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DURING TAXI CAPT REPORT VIA VHF: FUEL CTR TK L PMP RUN CONTINOUSLY. CAPT DECIED A/C GTB FOR CHECK. C/O RPLD PRESS_SWITCH - STR TK PUMP 1. SATIS</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E</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4094317"/>
                  </a:ext>
                </a:extLst>
              </a:tr>
              <a:tr h="1051897">
                <a:tc>
                  <a:txBody>
                    <a:bodyPr/>
                    <a:lstStyle/>
                    <a:p>
                      <a:pPr algn="ctr">
                        <a:spcAft>
                          <a:spcPts val="0"/>
                        </a:spcAft>
                      </a:pPr>
                      <a:r>
                        <a:rPr lang="en-SG" sz="1200" b="0">
                          <a:effectLst/>
                          <a:latin typeface="Times New Roman" panose="02020603050405020304" pitchFamily="18" charset="0"/>
                          <a:ea typeface="Times New Roman" panose="02020603050405020304" pitchFamily="18" charset="0"/>
                        </a:rPr>
                        <a:t>3</a:t>
                      </a:r>
                    </a:p>
                  </a:txBody>
                  <a:tcPr marL="81280" marR="812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04/01</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ATR72</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VN-B223</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0V8073</a:t>
                      </a:r>
                    </a:p>
                    <a:p>
                      <a:pPr algn="ctr">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SGN-VCS</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DURING TAKE OFF CAPT INFORM VIA VHF TAKE OFF CONFIG (DEFECT REPETITIVE), CAPT DECIED RTO &amp; GTB FOR CHECK. REPLACED TRANSMITTER 16 CV, CHK FLAP LOCK ACTUATOR NO FOUND LEAK, CHECK SATIS</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E</a:t>
                      </a:r>
                    </a:p>
                  </a:txBody>
                  <a:tcPr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0737941"/>
                  </a:ext>
                </a:extLst>
              </a:tr>
            </a:tbl>
          </a:graphicData>
        </a:graphic>
      </p:graphicFrame>
      <p:sp>
        <p:nvSpPr>
          <p:cNvPr id="8" name="Rectangle 7">
            <a:extLst>
              <a:ext uri="{FF2B5EF4-FFF2-40B4-BE49-F238E27FC236}">
                <a16:creationId xmlns:a16="http://schemas.microsoft.com/office/drawing/2014/main" id="{390C36C0-A577-4B52-B73F-6CE05F198329}"/>
              </a:ext>
            </a:extLst>
          </p:cNvPr>
          <p:cNvSpPr/>
          <p:nvPr/>
        </p:nvSpPr>
        <p:spPr>
          <a:xfrm>
            <a:off x="784704" y="507399"/>
            <a:ext cx="10721496"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vụ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mức E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1335888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2999" y="1005810"/>
            <a:ext cx="960120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1.3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SỰ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VỤ VIỆC TRONG BẢO DƯỠNG TÀU BAY</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0" y="4963723"/>
            <a:ext cx="10726921" cy="1323439"/>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00 báo cáo sự</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cố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trong bảo</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dưỡng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giảm</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báo cáo so với tháng trước và giảm 01 báo cáo cùng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là 0.00 báo cáo/10000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giảm 0.87 điểm so với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giảm 0.92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r>
              <a:rPr lang="en-US" sz="1600" kern="0" noProof="0">
                <a:solidFill>
                  <a:srgbClr val="000000"/>
                </a:solidFill>
                <a:latin typeface="Times New Roman" panose="02020603050405020304" pitchFamily="18" charset="0"/>
                <a:cs typeface="Times New Roman" panose="02020603050405020304" pitchFamily="18" charset="0"/>
                <a:sym typeface="Arial"/>
              </a:rPr>
              <a:t>Đ</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ạt mục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0.22 báo cáo/10000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p>
        </p:txBody>
      </p:sp>
      <p:graphicFrame>
        <p:nvGraphicFramePr>
          <p:cNvPr id="14" name="Chart 13">
            <a:extLst>
              <a:ext uri="{FF2B5EF4-FFF2-40B4-BE49-F238E27FC236}">
                <a16:creationId xmlns:a16="http://schemas.microsoft.com/office/drawing/2014/main" id="{2B24350F-4546-41B6-BA84-7A454B646DAE}"/>
              </a:ext>
            </a:extLst>
          </p:cNvPr>
          <p:cNvGraphicFramePr>
            <a:graphicFrameLocks/>
          </p:cNvGraphicFramePr>
          <p:nvPr>
            <p:extLst>
              <p:ext uri="{D42A27DB-BD31-4B8C-83A1-F6EECF244321}">
                <p14:modId xmlns:p14="http://schemas.microsoft.com/office/powerpoint/2010/main" val="219039221"/>
              </p:ext>
            </p:extLst>
          </p:nvPr>
        </p:nvGraphicFramePr>
        <p:xfrm>
          <a:off x="9052560" y="1553226"/>
          <a:ext cx="2554891" cy="328459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1731207822"/>
              </p:ext>
            </p:extLst>
          </p:nvPr>
        </p:nvGraphicFramePr>
        <p:xfrm>
          <a:off x="880530" y="1553226"/>
          <a:ext cx="7968195" cy="328459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829849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3001" y="1005810"/>
            <a:ext cx="960120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1.4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VỤ VIỆC DO SAI LỖI CON NGƯỜI</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0" y="4963723"/>
            <a:ext cx="10726921" cy="1323439"/>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02 báo cáo sự</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cố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do sai lỗi</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con người</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tăng 01 báo cáo sự</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cố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tháng trước và bằng báo cáo cùng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là 1.58 sự</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cố</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tăng </a:t>
            </a:r>
            <a:r>
              <a:rPr lang="en-US" sz="1600" kern="0">
                <a:solidFill>
                  <a:srgbClr val="000000"/>
                </a:solidFill>
                <a:latin typeface="Times New Roman" panose="02020603050405020304" pitchFamily="18" charset="0"/>
                <a:cs typeface="Times New Roman" panose="02020603050405020304" pitchFamily="18" charset="0"/>
                <a:sym typeface="Arial"/>
              </a:rPr>
              <a:t>0.71</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điểm so với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giảm 0.26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Không đạt mục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1.02 sự</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cố</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p>
        </p:txBody>
      </p:sp>
      <p:graphicFrame>
        <p:nvGraphicFramePr>
          <p:cNvPr id="12" name="Chart 11">
            <a:extLst>
              <a:ext uri="{FF2B5EF4-FFF2-40B4-BE49-F238E27FC236}">
                <a16:creationId xmlns:a16="http://schemas.microsoft.com/office/drawing/2014/main" id="{2B24350F-4546-41B6-BA84-7A454B646DAE}"/>
              </a:ext>
            </a:extLst>
          </p:cNvPr>
          <p:cNvGraphicFramePr>
            <a:graphicFrameLocks/>
          </p:cNvGraphicFramePr>
          <p:nvPr>
            <p:extLst>
              <p:ext uri="{D42A27DB-BD31-4B8C-83A1-F6EECF244321}">
                <p14:modId xmlns:p14="http://schemas.microsoft.com/office/powerpoint/2010/main" val="3012916994"/>
              </p:ext>
            </p:extLst>
          </p:nvPr>
        </p:nvGraphicFramePr>
        <p:xfrm>
          <a:off x="9085811" y="1511366"/>
          <a:ext cx="2454833" cy="332645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1429224645"/>
              </p:ext>
            </p:extLst>
          </p:nvPr>
        </p:nvGraphicFramePr>
        <p:xfrm>
          <a:off x="985381" y="1511366"/>
          <a:ext cx="7939544" cy="332645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968109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555264"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2 - TỶ LỆ NHÂN NHƯỢNG TÀU BAY  </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3" y="5093504"/>
            <a:ext cx="10660112" cy="1282339"/>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01/2025 đã cấp 19 NN (19VT), giảm 01 NN so với tháng trước và giảm 30 NN so với cùng kỳ năm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01/2025 là 15.84 NN/10000 CB, giảm 1.55 điểm so với tháng tr</a:t>
            </a:r>
            <a:r>
              <a:rPr kumimoji="0" lang="vi-VN"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ư</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ớc và giảm 29.28 điểm so với cùng kỳ 2024. Đạt mục tiêu năm 2025 là 25.21 NN/10000CB.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333" b="0" i="1"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Ghi chú: Không tính các NN liên quan đến CMS, ECO Task, Ipad Holder, Placard, lý do thương mại/khai thác, AMS do VNA cấp. </a:t>
            </a:r>
            <a:endPar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10" name="Chart 9">
            <a:extLst>
              <a:ext uri="{FF2B5EF4-FFF2-40B4-BE49-F238E27FC236}">
                <a16:creationId xmlns:a16="http://schemas.microsoft.com/office/drawing/2014/main" id="{00000000-0008-0000-0200-000009000000}"/>
              </a:ext>
            </a:extLst>
          </p:cNvPr>
          <p:cNvGraphicFramePr>
            <a:graphicFrameLocks/>
          </p:cNvGraphicFramePr>
          <p:nvPr>
            <p:extLst>
              <p:ext uri="{D42A27DB-BD31-4B8C-83A1-F6EECF244321}">
                <p14:modId xmlns:p14="http://schemas.microsoft.com/office/powerpoint/2010/main" val="1627158405"/>
              </p:ext>
            </p:extLst>
          </p:nvPr>
        </p:nvGraphicFramePr>
        <p:xfrm>
          <a:off x="985380" y="1553228"/>
          <a:ext cx="8184997" cy="33807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5A4ADDF6-D5F0-44AE-BD9E-BDBB2B8BDDF6}"/>
              </a:ext>
            </a:extLst>
          </p:cNvPr>
          <p:cNvGraphicFramePr>
            <a:graphicFrameLocks/>
          </p:cNvGraphicFramePr>
          <p:nvPr>
            <p:extLst>
              <p:ext uri="{D42A27DB-BD31-4B8C-83A1-F6EECF244321}">
                <p14:modId xmlns:p14="http://schemas.microsoft.com/office/powerpoint/2010/main" val="2196450647"/>
              </p:ext>
            </p:extLst>
          </p:nvPr>
        </p:nvGraphicFramePr>
        <p:xfrm>
          <a:off x="9293469" y="1553228"/>
          <a:ext cx="2247176" cy="338072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0771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extBox 3">
            <a:extLst>
              <a:ext uri="{FF2B5EF4-FFF2-40B4-BE49-F238E27FC236}">
                <a16:creationId xmlns:a16="http://schemas.microsoft.com/office/drawing/2014/main" id="{0F1D4589-DA8C-4079-B9A4-00C42685A90E}"/>
              </a:ext>
            </a:extLst>
          </p:cNvPr>
          <p:cNvSpPr txBox="1"/>
          <p:nvPr/>
        </p:nvSpPr>
        <p:spPr>
          <a:xfrm>
            <a:off x="910224" y="742905"/>
            <a:ext cx="10839769" cy="379656"/>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nhượng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910224" y="1326225"/>
          <a:ext cx="10839770" cy="5450834"/>
        </p:xfrm>
        <a:graphic>
          <a:graphicData uri="http://schemas.openxmlformats.org/drawingml/2006/table">
            <a:tbl>
              <a:tblPr>
                <a:tableStyleId>{5C22544A-7EE6-4342-B048-85BDC9FD1C3A}</a:tableStyleId>
              </a:tblPr>
              <a:tblGrid>
                <a:gridCol w="383511">
                  <a:extLst>
                    <a:ext uri="{9D8B030D-6E8A-4147-A177-3AD203B41FA5}">
                      <a16:colId xmlns:a16="http://schemas.microsoft.com/office/drawing/2014/main" val="2775948120"/>
                    </a:ext>
                  </a:extLst>
                </a:gridCol>
                <a:gridCol w="691623">
                  <a:extLst>
                    <a:ext uri="{9D8B030D-6E8A-4147-A177-3AD203B41FA5}">
                      <a16:colId xmlns:a16="http://schemas.microsoft.com/office/drawing/2014/main" val="3142476265"/>
                    </a:ext>
                  </a:extLst>
                </a:gridCol>
                <a:gridCol w="1855165">
                  <a:extLst>
                    <a:ext uri="{9D8B030D-6E8A-4147-A177-3AD203B41FA5}">
                      <a16:colId xmlns:a16="http://schemas.microsoft.com/office/drawing/2014/main" val="1826772911"/>
                    </a:ext>
                  </a:extLst>
                </a:gridCol>
                <a:gridCol w="731476">
                  <a:extLst>
                    <a:ext uri="{9D8B030D-6E8A-4147-A177-3AD203B41FA5}">
                      <a16:colId xmlns:a16="http://schemas.microsoft.com/office/drawing/2014/main" val="2425298528"/>
                    </a:ext>
                  </a:extLst>
                </a:gridCol>
                <a:gridCol w="671339">
                  <a:extLst>
                    <a:ext uri="{9D8B030D-6E8A-4147-A177-3AD203B41FA5}">
                      <a16:colId xmlns:a16="http://schemas.microsoft.com/office/drawing/2014/main" val="3144982089"/>
                    </a:ext>
                  </a:extLst>
                </a:gridCol>
                <a:gridCol w="749883">
                  <a:extLst>
                    <a:ext uri="{9D8B030D-6E8A-4147-A177-3AD203B41FA5}">
                      <a16:colId xmlns:a16="http://schemas.microsoft.com/office/drawing/2014/main" val="1552011708"/>
                    </a:ext>
                  </a:extLst>
                </a:gridCol>
                <a:gridCol w="1516000">
                  <a:extLst>
                    <a:ext uri="{9D8B030D-6E8A-4147-A177-3AD203B41FA5}">
                      <a16:colId xmlns:a16="http://schemas.microsoft.com/office/drawing/2014/main" val="2189097087"/>
                    </a:ext>
                  </a:extLst>
                </a:gridCol>
                <a:gridCol w="2724396">
                  <a:extLst>
                    <a:ext uri="{9D8B030D-6E8A-4147-A177-3AD203B41FA5}">
                      <a16:colId xmlns:a16="http://schemas.microsoft.com/office/drawing/2014/main" val="74169935"/>
                    </a:ext>
                  </a:extLst>
                </a:gridCol>
                <a:gridCol w="891553">
                  <a:extLst>
                    <a:ext uri="{9D8B030D-6E8A-4147-A177-3AD203B41FA5}">
                      <a16:colId xmlns:a16="http://schemas.microsoft.com/office/drawing/2014/main" val="3478438467"/>
                    </a:ext>
                  </a:extLst>
                </a:gridCol>
                <a:gridCol w="624824">
                  <a:extLst>
                    <a:ext uri="{9D8B030D-6E8A-4147-A177-3AD203B41FA5}">
                      <a16:colId xmlns:a16="http://schemas.microsoft.com/office/drawing/2014/main" val="2325188638"/>
                    </a:ext>
                  </a:extLst>
                </a:gridCol>
              </a:tblGrid>
              <a:tr h="461880">
                <a:tc>
                  <a:txBody>
                    <a:bodyPr/>
                    <a:lstStyle/>
                    <a:p>
                      <a:pPr algn="ctr" fontAlgn="ctr">
                        <a:lnSpc>
                          <a:spcPct val="150000"/>
                        </a:lnSpc>
                      </a:pPr>
                      <a:r>
                        <a:rPr lang="en-SG" sz="1200" b="0" i="0" u="none" strike="noStrike">
                          <a:solidFill>
                            <a:srgbClr val="000000"/>
                          </a:solidFill>
                          <a:effectLst/>
                          <a:latin typeface="Times New Roman" panose="02020603050405020304" pitchFamily="18" charset="0"/>
                          <a:cs typeface="Times New Roman" panose="02020603050405020304" pitchFamily="18" charset="0"/>
                        </a:rPr>
                        <a:t>ID</a:t>
                      </a:r>
                      <a:endParaRPr lang="en-SG"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a:effectLst/>
                          <a:latin typeface="Times New Roman" panose="02020603050405020304" pitchFamily="18" charset="0"/>
                          <a:cs typeface="Times New Roman" panose="02020603050405020304" pitchFamily="18" charset="0"/>
                        </a:rPr>
                        <a:t>A/C Reg</a:t>
                      </a:r>
                      <a:r>
                        <a:rPr lang="en-SG" sz="1200" u="none" strike="noStrike" dirty="0">
                          <a:effectLst/>
                          <a:latin typeface="Times New Roman" panose="02020603050405020304" pitchFamily="18" charset="0"/>
                          <a:cs typeface="Times New Roman" panose="02020603050405020304" pitchFamily="18" charset="0"/>
                        </a:rPr>
                        <a:t>.</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err="1">
                          <a:effectLst/>
                          <a:latin typeface="Times New Roman" panose="02020603050405020304" pitchFamily="18" charset="0"/>
                          <a:cs typeface="Times New Roman" panose="02020603050405020304" pitchFamily="18" charset="0"/>
                        </a:rPr>
                        <a:t>Concess</a:t>
                      </a:r>
                      <a:r>
                        <a:rPr lang="en-SG" sz="1200" u="none" strike="noStrike" dirty="0">
                          <a:effectLst/>
                          <a:latin typeface="Times New Roman" panose="02020603050405020304" pitchFamily="18" charset="0"/>
                          <a:cs typeface="Times New Roman" panose="02020603050405020304" pitchFamily="18" charset="0"/>
                        </a:rPr>
                        <a:t>. No.</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Reason</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a:effectLst/>
                          <a:latin typeface="Times New Roman" panose="02020603050405020304" pitchFamily="18" charset="0"/>
                          <a:cs typeface="Times New Roman" panose="02020603050405020304" pitchFamily="18" charset="0"/>
                        </a:rPr>
                        <a:t>Conc. Type</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ADD No</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REF</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Contents</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Issue Date</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Issue by</a:t>
                      </a: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211553877"/>
                  </a:ext>
                </a:extLst>
              </a:tr>
              <a:tr h="4054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A395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HVN/VN-A395/2025-01-24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Difficult to Source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B1578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RH FLAP TRACK FIX</a:t>
                      </a:r>
                      <a:br>
                        <a:rPr lang="en-US" sz="1100" b="0" i="0" u="none" strike="noStrike" dirty="0">
                          <a:solidFill>
                            <a:schemeClr val="tx1"/>
                          </a:solidFill>
                          <a:effectLst/>
                          <a:latin typeface="Times New Roman" panose="02020603050405020304" pitchFamily="18" charset="0"/>
                          <a:cs typeface="Times New Roman" panose="02020603050405020304" pitchFamily="18" charset="0"/>
                        </a:rPr>
                      </a:br>
                      <a:r>
                        <a:rPr lang="en-US" sz="1100" b="0" i="0" u="none" strike="noStrike" dirty="0">
                          <a:solidFill>
                            <a:schemeClr val="tx1"/>
                          </a:solidFill>
                          <a:effectLst/>
                          <a:latin typeface="Times New Roman" panose="02020603050405020304" pitchFamily="18" charset="0"/>
                          <a:cs typeface="Times New Roman" panose="02020603050405020304" pitchFamily="18" charset="0"/>
                        </a:rPr>
                        <a:t>FAIRING SEAL 633EB DAMAGED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24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0088016"/>
                  </a:ext>
                </a:extLst>
              </a:tr>
              <a:tr h="3063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A396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VN-A396/2025/01/01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B921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FIXED FAIRING 533EB SEAL DAMAGE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9077216"/>
                  </a:ext>
                </a:extLst>
              </a:tr>
              <a:tr h="276155">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A396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HVN/VN-A396/2025-01-24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Difficult to Source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B942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FLAP TRACK FIXED FAIRING SEAL AT FIN 632 DAMAGED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24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786720"/>
                  </a:ext>
                </a:extLst>
              </a:tr>
              <a:tr h="558512">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4</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A398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VN-A398/2025/01/01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B1707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SEAL OF FLAP TRACK FIXED FAIRING 631 EB RH WING PARTIALLY DAMAGED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6833777"/>
                  </a:ext>
                </a:extLst>
              </a:tr>
              <a:tr h="589021">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5</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A601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VN-A601/2025/01/01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B2584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LH FLAP TRACK FAIRING (532EB) SEAL MISSING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16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7501275"/>
                  </a:ext>
                </a:extLst>
              </a:tr>
              <a:tr h="4054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6</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A618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HVN/VN-A618/2025-01-24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Difficult to Source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B613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SEALS AT FLAP FIX FAIRING #2 OF BOTH WINGS DAMAGED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24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4513421"/>
                  </a:ext>
                </a:extLst>
              </a:tr>
              <a:tr h="4054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7</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A620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HVN/VN-A620/2025-01-24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Difficult to Source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B687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FLAP TRACK 533 EB FIX FAIRING SEAL LEADING EDGE WORN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25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1643968"/>
                  </a:ext>
                </a:extLst>
              </a:tr>
              <a:tr h="4054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8</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A867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HVN/2024-01-02/A867/01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B1502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MEL 42-21-01-01-01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CCR GPM 8L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2621445"/>
                  </a:ext>
                </a:extLst>
              </a:tr>
              <a:tr h="592124">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9</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A603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HVN/VN-A603/2025/01/17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N/A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FLAP TRACK #3 FAIRING SEAL RH WING CUT AND LOOSEN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17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4215987"/>
                  </a:ext>
                </a:extLst>
              </a:tr>
              <a:tr h="398001">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10</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A864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HVN/VN-A864/2025-01-24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N/A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B787 AMP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AMP Task 28-025-00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24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7783335"/>
                  </a:ext>
                </a:extLst>
              </a:tr>
            </a:tbl>
          </a:graphicData>
        </a:graphic>
      </p:graphicFrame>
    </p:spTree>
    <p:extLst>
      <p:ext uri="{BB962C8B-B14F-4D97-AF65-F5344CB8AC3E}">
        <p14:creationId xmlns:p14="http://schemas.microsoft.com/office/powerpoint/2010/main" val="2136512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extBox 3">
            <a:extLst>
              <a:ext uri="{FF2B5EF4-FFF2-40B4-BE49-F238E27FC236}">
                <a16:creationId xmlns:a16="http://schemas.microsoft.com/office/drawing/2014/main" id="{0F1D4589-DA8C-4079-B9A4-00C42685A90E}"/>
              </a:ext>
            </a:extLst>
          </p:cNvPr>
          <p:cNvSpPr txBox="1"/>
          <p:nvPr/>
        </p:nvSpPr>
        <p:spPr>
          <a:xfrm>
            <a:off x="910224" y="742905"/>
            <a:ext cx="10839769" cy="379656"/>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nhượng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2756702893"/>
              </p:ext>
            </p:extLst>
          </p:nvPr>
        </p:nvGraphicFramePr>
        <p:xfrm>
          <a:off x="921308" y="1278359"/>
          <a:ext cx="10839770" cy="5043470"/>
        </p:xfrm>
        <a:graphic>
          <a:graphicData uri="http://schemas.openxmlformats.org/drawingml/2006/table">
            <a:tbl>
              <a:tblPr>
                <a:tableStyleId>{5C22544A-7EE6-4342-B048-85BDC9FD1C3A}</a:tableStyleId>
              </a:tblPr>
              <a:tblGrid>
                <a:gridCol w="383511">
                  <a:extLst>
                    <a:ext uri="{9D8B030D-6E8A-4147-A177-3AD203B41FA5}">
                      <a16:colId xmlns:a16="http://schemas.microsoft.com/office/drawing/2014/main" val="2775948120"/>
                    </a:ext>
                  </a:extLst>
                </a:gridCol>
                <a:gridCol w="691623">
                  <a:extLst>
                    <a:ext uri="{9D8B030D-6E8A-4147-A177-3AD203B41FA5}">
                      <a16:colId xmlns:a16="http://schemas.microsoft.com/office/drawing/2014/main" val="3142476265"/>
                    </a:ext>
                  </a:extLst>
                </a:gridCol>
                <a:gridCol w="1855165">
                  <a:extLst>
                    <a:ext uri="{9D8B030D-6E8A-4147-A177-3AD203B41FA5}">
                      <a16:colId xmlns:a16="http://schemas.microsoft.com/office/drawing/2014/main" val="1826772911"/>
                    </a:ext>
                  </a:extLst>
                </a:gridCol>
                <a:gridCol w="731476">
                  <a:extLst>
                    <a:ext uri="{9D8B030D-6E8A-4147-A177-3AD203B41FA5}">
                      <a16:colId xmlns:a16="http://schemas.microsoft.com/office/drawing/2014/main" val="2425298528"/>
                    </a:ext>
                  </a:extLst>
                </a:gridCol>
                <a:gridCol w="671339">
                  <a:extLst>
                    <a:ext uri="{9D8B030D-6E8A-4147-A177-3AD203B41FA5}">
                      <a16:colId xmlns:a16="http://schemas.microsoft.com/office/drawing/2014/main" val="3144982089"/>
                    </a:ext>
                  </a:extLst>
                </a:gridCol>
                <a:gridCol w="749883">
                  <a:extLst>
                    <a:ext uri="{9D8B030D-6E8A-4147-A177-3AD203B41FA5}">
                      <a16:colId xmlns:a16="http://schemas.microsoft.com/office/drawing/2014/main" val="1552011708"/>
                    </a:ext>
                  </a:extLst>
                </a:gridCol>
                <a:gridCol w="1516000">
                  <a:extLst>
                    <a:ext uri="{9D8B030D-6E8A-4147-A177-3AD203B41FA5}">
                      <a16:colId xmlns:a16="http://schemas.microsoft.com/office/drawing/2014/main" val="2189097087"/>
                    </a:ext>
                  </a:extLst>
                </a:gridCol>
                <a:gridCol w="2724396">
                  <a:extLst>
                    <a:ext uri="{9D8B030D-6E8A-4147-A177-3AD203B41FA5}">
                      <a16:colId xmlns:a16="http://schemas.microsoft.com/office/drawing/2014/main" val="74169935"/>
                    </a:ext>
                  </a:extLst>
                </a:gridCol>
                <a:gridCol w="891553">
                  <a:extLst>
                    <a:ext uri="{9D8B030D-6E8A-4147-A177-3AD203B41FA5}">
                      <a16:colId xmlns:a16="http://schemas.microsoft.com/office/drawing/2014/main" val="3478438467"/>
                    </a:ext>
                  </a:extLst>
                </a:gridCol>
                <a:gridCol w="624824">
                  <a:extLst>
                    <a:ext uri="{9D8B030D-6E8A-4147-A177-3AD203B41FA5}">
                      <a16:colId xmlns:a16="http://schemas.microsoft.com/office/drawing/2014/main" val="2325188638"/>
                    </a:ext>
                  </a:extLst>
                </a:gridCol>
              </a:tblGrid>
              <a:tr h="461880">
                <a:tc>
                  <a:txBody>
                    <a:bodyPr/>
                    <a:lstStyle/>
                    <a:p>
                      <a:pPr algn="ctr" fontAlgn="ctr">
                        <a:lnSpc>
                          <a:spcPct val="150000"/>
                        </a:lnSpc>
                      </a:pPr>
                      <a:r>
                        <a:rPr lang="en-SG" sz="1200" b="0" i="0" u="none" strike="noStrike">
                          <a:solidFill>
                            <a:srgbClr val="000000"/>
                          </a:solidFill>
                          <a:effectLst/>
                          <a:latin typeface="Times New Roman" panose="02020603050405020304" pitchFamily="18" charset="0"/>
                          <a:cs typeface="Times New Roman" panose="02020603050405020304" pitchFamily="18" charset="0"/>
                        </a:rPr>
                        <a:t>ID</a:t>
                      </a:r>
                      <a:endParaRPr lang="en-SG"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a:effectLst/>
                          <a:latin typeface="Times New Roman" panose="02020603050405020304" pitchFamily="18" charset="0"/>
                          <a:cs typeface="Times New Roman" panose="02020603050405020304" pitchFamily="18" charset="0"/>
                        </a:rPr>
                        <a:t>A/C Reg</a:t>
                      </a:r>
                      <a:r>
                        <a:rPr lang="en-SG" sz="1200" u="none" strike="noStrike" dirty="0">
                          <a:effectLst/>
                          <a:latin typeface="Times New Roman" panose="02020603050405020304" pitchFamily="18" charset="0"/>
                          <a:cs typeface="Times New Roman" panose="02020603050405020304" pitchFamily="18" charset="0"/>
                        </a:rPr>
                        <a:t>.</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err="1">
                          <a:effectLst/>
                          <a:latin typeface="Times New Roman" panose="02020603050405020304" pitchFamily="18" charset="0"/>
                          <a:cs typeface="Times New Roman" panose="02020603050405020304" pitchFamily="18" charset="0"/>
                        </a:rPr>
                        <a:t>Concess</a:t>
                      </a:r>
                      <a:r>
                        <a:rPr lang="en-SG" sz="1200" u="none" strike="noStrike" dirty="0">
                          <a:effectLst/>
                          <a:latin typeface="Times New Roman" panose="02020603050405020304" pitchFamily="18" charset="0"/>
                          <a:cs typeface="Times New Roman" panose="02020603050405020304" pitchFamily="18" charset="0"/>
                        </a:rPr>
                        <a:t>. No.</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Reason</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a:effectLst/>
                          <a:latin typeface="Times New Roman" panose="02020603050405020304" pitchFamily="18" charset="0"/>
                          <a:cs typeface="Times New Roman" panose="02020603050405020304" pitchFamily="18" charset="0"/>
                        </a:rPr>
                        <a:t>Conc. Type</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ADD No</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REF</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Contents</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Issue Date</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Issue by</a:t>
                      </a: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211553877"/>
                  </a:ext>
                </a:extLst>
              </a:tr>
              <a:tr h="4054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11</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A891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HVN/VN-A891/2025-01-24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Difficult to Source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N/A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A350 AMP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AMP Task 215200-00M03-01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24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0088016"/>
                  </a:ext>
                </a:extLst>
              </a:tr>
              <a:tr h="3063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12</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A873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HVN/VN-A873/2025-01-09/01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N/A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AMP 21-070-00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AMP TASK 21-070-00 (INTERVAL OF 3 YEARS) APPLY TO P/N: 7213609-3 &amp; S/N: 7167901 P/N: 7213609-4 &amp; S/N: 7167729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9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9077216"/>
                  </a:ext>
                </a:extLst>
              </a:tr>
              <a:tr h="276155">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13</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A513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513-01/25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B043, B044, B045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MEL 32-42-01A</a:t>
                      </a:r>
                      <a:br>
                        <a:rPr lang="en-US" sz="1100" b="0" i="0" u="none" strike="noStrike">
                          <a:solidFill>
                            <a:schemeClr val="tx1"/>
                          </a:solidFill>
                          <a:effectLst/>
                          <a:latin typeface="Times New Roman" panose="02020603050405020304" pitchFamily="18" charset="0"/>
                          <a:cs typeface="Times New Roman" panose="02020603050405020304" pitchFamily="18" charset="0"/>
                        </a:rPr>
                      </a:br>
                      <a:r>
                        <a:rPr lang="en-US" sz="1100" b="0" i="0" u="none" strike="noStrike">
                          <a:solidFill>
                            <a:schemeClr val="tx1"/>
                          </a:solidFill>
                          <a:effectLst/>
                          <a:latin typeface="Times New Roman" panose="02020603050405020304" pitchFamily="18" charset="0"/>
                          <a:cs typeface="Times New Roman" panose="02020603050405020304" pitchFamily="18" charset="0"/>
                        </a:rPr>
                        <a:t>32-42-05A</a:t>
                      </a:r>
                      <a:br>
                        <a:rPr lang="en-US" sz="1100" b="0" i="0" u="none" strike="noStrike">
                          <a:solidFill>
                            <a:schemeClr val="tx1"/>
                          </a:solidFill>
                          <a:effectLst/>
                          <a:latin typeface="Times New Roman" panose="02020603050405020304" pitchFamily="18" charset="0"/>
                          <a:cs typeface="Times New Roman" panose="02020603050405020304" pitchFamily="18" charset="0"/>
                        </a:rPr>
                      </a:br>
                      <a:r>
                        <a:rPr lang="en-US" sz="1100" b="0" i="0" u="none" strike="noStrike">
                          <a:solidFill>
                            <a:schemeClr val="tx1"/>
                          </a:solidFill>
                          <a:effectLst/>
                          <a:latin typeface="Times New Roman" panose="02020603050405020304" pitchFamily="18" charset="0"/>
                          <a:cs typeface="Times New Roman" panose="02020603050405020304" pitchFamily="18" charset="0"/>
                        </a:rPr>
                        <a:t>32-07-01A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MAIN WHEEL BRAKE#1 INOP WITH BRAKE REMOVED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10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786720"/>
                  </a:ext>
                </a:extLst>
              </a:tr>
              <a:tr h="478996">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14</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A602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602-01/25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100" b="0" i="0" u="none" strike="noStrike">
                          <a:solidFill>
                            <a:schemeClr val="tx1"/>
                          </a:solidFill>
                          <a:effectLst/>
                          <a:latin typeface="Times New Roman" panose="02020603050405020304" pitchFamily="18" charset="0"/>
                          <a:cs typeface="Times New Roman" panose="02020603050405020304" pitchFamily="18" charset="0"/>
                        </a:rPr>
                        <a:t>B1886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100" b="0" i="0" u="none" strike="noStrike">
                          <a:solidFill>
                            <a:schemeClr val="tx1"/>
                          </a:solidFill>
                          <a:effectLst/>
                          <a:latin typeface="Times New Roman" panose="02020603050405020304" pitchFamily="18" charset="0"/>
                          <a:cs typeface="Times New Roman" panose="02020603050405020304" pitchFamily="18" charset="0"/>
                        </a:rPr>
                        <a:t>MEL 36-07-03A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100" b="0" i="0" u="none" strike="noStrike">
                          <a:solidFill>
                            <a:schemeClr val="tx1"/>
                          </a:solidFill>
                          <a:effectLst/>
                          <a:latin typeface="Times New Roman" panose="02020603050405020304" pitchFamily="18" charset="0"/>
                          <a:cs typeface="Times New Roman" panose="02020603050405020304" pitchFamily="18" charset="0"/>
                        </a:rPr>
                        <a:t>ENG 2 HP VALVE WRONG INDICATION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15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6833777"/>
                  </a:ext>
                </a:extLst>
              </a:tr>
              <a:tr h="589021">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15</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A606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606-01/25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B1792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100" b="0" i="0" u="none" strike="noStrike">
                          <a:solidFill>
                            <a:schemeClr val="tx1"/>
                          </a:solidFill>
                          <a:effectLst/>
                          <a:latin typeface="Times New Roman" panose="02020603050405020304" pitchFamily="18" charset="0"/>
                          <a:cs typeface="Times New Roman" panose="02020603050405020304" pitchFamily="18" charset="0"/>
                        </a:rPr>
                        <a:t>MEL 36-11-07B</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100" b="0" i="0" u="none" strike="noStrike">
                          <a:solidFill>
                            <a:schemeClr val="tx1"/>
                          </a:solidFill>
                          <a:effectLst/>
                          <a:latin typeface="Times New Roman" panose="02020603050405020304" pitchFamily="18" charset="0"/>
                          <a:cs typeface="Times New Roman" panose="02020603050405020304" pitchFamily="18" charset="0"/>
                        </a:rPr>
                        <a:t>AIR ENG #2 HP VALVE FAULT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6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7501275"/>
                  </a:ext>
                </a:extLst>
              </a:tr>
              <a:tr h="4054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16</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A861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861-01/25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B1505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MEL 42-21-01-01-01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CCR GPM 8L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10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4513421"/>
                  </a:ext>
                </a:extLst>
              </a:tr>
              <a:tr h="4054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17</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A867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867-01/25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B1511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MEL 49-11-01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APU INOP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9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1643968"/>
                  </a:ext>
                </a:extLst>
              </a:tr>
              <a:tr h="40543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18</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A873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873-01/25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Difficult to Source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B495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MEL 32-42-02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 STS MSG: ANTISKID 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30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2621445"/>
                  </a:ext>
                </a:extLst>
              </a:tr>
              <a:tr h="592124">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19</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A879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879-01/25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B508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MEL 32-30-03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STS SEMI LEVEL GEAR LOCK (SEMI LEVEL GEAR LOCK SOL L&amp;R) DISPLAYED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 Jan 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4215987"/>
                  </a:ext>
                </a:extLst>
              </a:tr>
            </a:tbl>
          </a:graphicData>
        </a:graphic>
      </p:graphicFrame>
    </p:spTree>
    <p:extLst>
      <p:ext uri="{BB962C8B-B14F-4D97-AF65-F5344CB8AC3E}">
        <p14:creationId xmlns:p14="http://schemas.microsoft.com/office/powerpoint/2010/main" val="1181808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3"/>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3 – TỶ LỆ SỰ CỐ, VỤ VIỆC GIÁN ĐOẠN KHAI THÁC VÌ LÝ DO KỸ THUẬT</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3" y="4924584"/>
            <a:ext cx="10743620" cy="1323439"/>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lvl="0" indent="-380990" algn="just" defTabSz="1219170">
              <a:buClr>
                <a:srgbClr val="000000"/>
              </a:buClr>
              <a:buFontTx/>
              <a:buChar char="-"/>
              <a:defRPr/>
            </a:pPr>
            <a:r>
              <a:rPr lang="en-US" sz="1600" kern="0" dirty="0" err="1">
                <a:solidFill>
                  <a:srgbClr val="000000"/>
                </a:solidFill>
                <a:latin typeface="Times New Roman" panose="02020603050405020304" pitchFamily="18" charset="0"/>
                <a:cs typeface="Times New Roman" panose="02020603050405020304" pitchFamily="18" charset="0"/>
                <a:sym typeface="Arial"/>
              </a:rPr>
              <a:t>Tháng</a:t>
            </a:r>
            <a:r>
              <a:rPr lang="en-US" sz="1600" kern="0" dirty="0">
                <a:solidFill>
                  <a:srgbClr val="000000"/>
                </a:solidFill>
                <a:latin typeface="Times New Roman" panose="02020603050405020304" pitchFamily="18" charset="0"/>
                <a:cs typeface="Times New Roman" panose="02020603050405020304" pitchFamily="18" charset="0"/>
                <a:sym typeface="Arial"/>
              </a:rPr>
              <a:t> 01/2025 </a:t>
            </a:r>
            <a:r>
              <a:rPr lang="en-US" sz="1600" kern="0" dirty="0" err="1">
                <a:solidFill>
                  <a:srgbClr val="000000"/>
                </a:solidFill>
                <a:latin typeface="Times New Roman" panose="02020603050405020304" pitchFamily="18" charset="0"/>
                <a:cs typeface="Times New Roman" panose="02020603050405020304" pitchFamily="18" charset="0"/>
                <a:sym typeface="Arial"/>
              </a:rPr>
              <a:t>xảy</a:t>
            </a:r>
            <a:r>
              <a:rPr lang="en-US" sz="1600" kern="0" dirty="0">
                <a:solidFill>
                  <a:srgbClr val="000000"/>
                </a:solidFill>
                <a:latin typeface="Times New Roman" panose="02020603050405020304" pitchFamily="18" charset="0"/>
                <a:cs typeface="Times New Roman" panose="02020603050405020304" pitchFamily="18" charset="0"/>
                <a:sym typeface="Arial"/>
              </a:rPr>
              <a:t> ra 09 </a:t>
            </a:r>
            <a:r>
              <a:rPr lang="en-US" sz="1600" kern="0" dirty="0" err="1">
                <a:solidFill>
                  <a:srgbClr val="000000"/>
                </a:solidFill>
                <a:latin typeface="Times New Roman" panose="02020603050405020304" pitchFamily="18" charset="0"/>
                <a:cs typeface="Times New Roman" panose="02020603050405020304" pitchFamily="18" charset="0"/>
                <a:sym typeface="Arial"/>
              </a:rPr>
              <a:t>vụ</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việc</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tàu</a:t>
            </a:r>
            <a:r>
              <a:rPr lang="en-US" sz="1600" kern="0" dirty="0">
                <a:solidFill>
                  <a:srgbClr val="000000"/>
                </a:solidFill>
                <a:latin typeface="Times New Roman" panose="02020603050405020304" pitchFamily="18" charset="0"/>
                <a:cs typeface="Times New Roman" panose="02020603050405020304" pitchFamily="18" charset="0"/>
                <a:sym typeface="Arial"/>
              </a:rPr>
              <a:t> bay GĐKT </a:t>
            </a:r>
            <a:r>
              <a:rPr lang="en-US" sz="1600" kern="0" dirty="0" err="1">
                <a:solidFill>
                  <a:srgbClr val="000000"/>
                </a:solidFill>
                <a:latin typeface="Times New Roman" panose="02020603050405020304" pitchFamily="18" charset="0"/>
                <a:cs typeface="Times New Roman" panose="02020603050405020304" pitchFamily="18" charset="0"/>
                <a:sym typeface="Arial"/>
              </a:rPr>
              <a:t>vì</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lý</a:t>
            </a:r>
            <a:r>
              <a:rPr lang="en-US" sz="1600" kern="0" dirty="0">
                <a:solidFill>
                  <a:srgbClr val="000000"/>
                </a:solidFill>
                <a:latin typeface="Times New Roman" panose="02020603050405020304" pitchFamily="18" charset="0"/>
                <a:cs typeface="Times New Roman" panose="02020603050405020304" pitchFamily="18" charset="0"/>
                <a:sym typeface="Arial"/>
              </a:rPr>
              <a:t> do KT (01 R/TO+08GTB), </a:t>
            </a:r>
            <a:r>
              <a:rPr lang="en-US" sz="1600" kern="0" dirty="0" err="1">
                <a:solidFill>
                  <a:srgbClr val="000000"/>
                </a:solidFill>
                <a:latin typeface="Times New Roman" panose="02020603050405020304" pitchFamily="18" charset="0"/>
                <a:cs typeface="Times New Roman" panose="02020603050405020304" pitchFamily="18" charset="0"/>
                <a:sym typeface="Arial"/>
              </a:rPr>
              <a:t>giảm</a:t>
            </a:r>
            <a:r>
              <a:rPr lang="en-US" sz="1600" kern="0" dirty="0">
                <a:solidFill>
                  <a:srgbClr val="000000"/>
                </a:solidFill>
                <a:latin typeface="Times New Roman" panose="02020603050405020304" pitchFamily="18" charset="0"/>
                <a:cs typeface="Times New Roman" panose="02020603050405020304" pitchFamily="18" charset="0"/>
                <a:sym typeface="Arial"/>
              </a:rPr>
              <a:t> 04 </a:t>
            </a:r>
            <a:r>
              <a:rPr lang="en-US" sz="1600" kern="0" dirty="0" err="1">
                <a:solidFill>
                  <a:srgbClr val="000000"/>
                </a:solidFill>
                <a:latin typeface="Times New Roman" panose="02020603050405020304" pitchFamily="18" charset="0"/>
                <a:cs typeface="Times New Roman" panose="02020603050405020304" pitchFamily="18" charset="0"/>
                <a:sym typeface="Arial"/>
              </a:rPr>
              <a:t>vụ</a:t>
            </a:r>
            <a:r>
              <a:rPr lang="en-US" sz="1600" kern="0" dirty="0">
                <a:solidFill>
                  <a:srgbClr val="000000"/>
                </a:solidFill>
                <a:latin typeface="Times New Roman" panose="02020603050405020304" pitchFamily="18" charset="0"/>
                <a:cs typeface="Times New Roman" panose="02020603050405020304" pitchFamily="18" charset="0"/>
                <a:sym typeface="Arial"/>
              </a:rPr>
              <a:t> so </a:t>
            </a:r>
            <a:r>
              <a:rPr lang="en-US" sz="1600" kern="0" dirty="0" err="1">
                <a:solidFill>
                  <a:srgbClr val="000000"/>
                </a:solidFill>
                <a:latin typeface="Times New Roman" panose="02020603050405020304" pitchFamily="18" charset="0"/>
                <a:cs typeface="Times New Roman" panose="02020603050405020304" pitchFamily="18" charset="0"/>
                <a:sym typeface="Arial"/>
              </a:rPr>
              <a:t>với</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tháng</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trước</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và</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giảm</a:t>
            </a:r>
            <a:r>
              <a:rPr lang="en-US" sz="1600" kern="0" dirty="0">
                <a:solidFill>
                  <a:srgbClr val="000000"/>
                </a:solidFill>
                <a:latin typeface="Times New Roman" panose="02020603050405020304" pitchFamily="18" charset="0"/>
                <a:cs typeface="Times New Roman" panose="02020603050405020304" pitchFamily="18" charset="0"/>
                <a:sym typeface="Arial"/>
              </a:rPr>
              <a:t> 01 </a:t>
            </a:r>
            <a:r>
              <a:rPr lang="en-US" sz="1600" kern="0" dirty="0" err="1">
                <a:solidFill>
                  <a:srgbClr val="000000"/>
                </a:solidFill>
                <a:latin typeface="Times New Roman" panose="02020603050405020304" pitchFamily="18" charset="0"/>
                <a:cs typeface="Times New Roman" panose="02020603050405020304" pitchFamily="18" charset="0"/>
                <a:sym typeface="Arial"/>
              </a:rPr>
              <a:t>vụ</a:t>
            </a:r>
            <a:r>
              <a:rPr lang="en-US" sz="1600" kern="0" dirty="0">
                <a:solidFill>
                  <a:srgbClr val="000000"/>
                </a:solidFill>
                <a:latin typeface="Times New Roman" panose="02020603050405020304" pitchFamily="18" charset="0"/>
                <a:cs typeface="Times New Roman" panose="02020603050405020304" pitchFamily="18" charset="0"/>
                <a:sym typeface="Arial"/>
              </a:rPr>
              <a:t> so </a:t>
            </a:r>
            <a:r>
              <a:rPr lang="en-US" sz="1600" kern="0" dirty="0" err="1">
                <a:solidFill>
                  <a:srgbClr val="000000"/>
                </a:solidFill>
                <a:latin typeface="Times New Roman" panose="02020603050405020304" pitchFamily="18" charset="0"/>
                <a:cs typeface="Times New Roman" panose="02020603050405020304" pitchFamily="18" charset="0"/>
                <a:sym typeface="Arial"/>
              </a:rPr>
              <a:t>với</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cùng</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kỳ</a:t>
            </a:r>
            <a:r>
              <a:rPr lang="en-US" sz="1600" kern="0" dirty="0">
                <a:solidFill>
                  <a:srgbClr val="000000"/>
                </a:solidFill>
                <a:latin typeface="Times New Roman" panose="02020603050405020304" pitchFamily="18" charset="0"/>
                <a:cs typeface="Times New Roman" panose="02020603050405020304" pitchFamily="18" charset="0"/>
                <a:sym typeface="Arial"/>
              </a:rPr>
              <a:t> 2024</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p>
          <a:p>
            <a:pPr marL="380990" lvl="0" indent="-380990" algn="just" defTabSz="1219170">
              <a:buClr>
                <a:srgbClr val="000000"/>
              </a:buClr>
              <a:buFontTx/>
              <a:buChar char="-"/>
              <a:defRPr/>
            </a:pPr>
            <a:r>
              <a:rPr lang="en-US" sz="1600" kern="0" dirty="0">
                <a:solidFill>
                  <a:srgbClr val="000000"/>
                </a:solidFill>
                <a:latin typeface="Times New Roman" panose="02020603050405020304" pitchFamily="18" charset="0"/>
                <a:cs typeface="Times New Roman" panose="02020603050405020304" pitchFamily="18" charset="0"/>
                <a:sym typeface="Arial"/>
              </a:rPr>
              <a:t>KPI </a:t>
            </a:r>
            <a:r>
              <a:rPr lang="en-US" sz="1600" kern="0" dirty="0" err="1">
                <a:solidFill>
                  <a:srgbClr val="000000"/>
                </a:solidFill>
                <a:latin typeface="Times New Roman" panose="02020603050405020304" pitchFamily="18" charset="0"/>
                <a:cs typeface="Times New Roman" panose="02020603050405020304" pitchFamily="18" charset="0"/>
                <a:sym typeface="Arial"/>
              </a:rPr>
              <a:t>tháng</a:t>
            </a:r>
            <a:r>
              <a:rPr lang="en-US" sz="1600" kern="0" dirty="0">
                <a:solidFill>
                  <a:srgbClr val="000000"/>
                </a:solidFill>
                <a:latin typeface="Times New Roman" panose="02020603050405020304" pitchFamily="18" charset="0"/>
                <a:cs typeface="Times New Roman" panose="02020603050405020304" pitchFamily="18" charset="0"/>
                <a:sym typeface="Arial"/>
              </a:rPr>
              <a:t> 01/2025 </a:t>
            </a:r>
            <a:r>
              <a:rPr lang="en-US" sz="1600" kern="0" dirty="0" err="1">
                <a:solidFill>
                  <a:srgbClr val="000000"/>
                </a:solidFill>
                <a:latin typeface="Times New Roman" panose="02020603050405020304" pitchFamily="18" charset="0"/>
                <a:cs typeface="Times New Roman" panose="02020603050405020304" pitchFamily="18" charset="0"/>
                <a:sym typeface="Arial"/>
              </a:rPr>
              <a:t>là</a:t>
            </a:r>
            <a:r>
              <a:rPr lang="en-US" sz="1600" kern="0" dirty="0">
                <a:solidFill>
                  <a:srgbClr val="000000"/>
                </a:solidFill>
                <a:latin typeface="Times New Roman" panose="02020603050405020304" pitchFamily="18" charset="0"/>
                <a:cs typeface="Times New Roman" panose="02020603050405020304" pitchFamily="18" charset="0"/>
                <a:sym typeface="Arial"/>
              </a:rPr>
              <a:t> 7.50 </a:t>
            </a:r>
            <a:r>
              <a:rPr lang="en-US" sz="1600" kern="0" dirty="0" err="1">
                <a:solidFill>
                  <a:srgbClr val="000000"/>
                </a:solidFill>
                <a:latin typeface="Times New Roman" panose="02020603050405020304" pitchFamily="18" charset="0"/>
                <a:cs typeface="Times New Roman" panose="02020603050405020304" pitchFamily="18" charset="0"/>
                <a:sym typeface="Arial"/>
              </a:rPr>
              <a:t>vụ</a:t>
            </a:r>
            <a:r>
              <a:rPr lang="en-US" sz="1600" kern="0" dirty="0">
                <a:solidFill>
                  <a:srgbClr val="000000"/>
                </a:solidFill>
                <a:latin typeface="Times New Roman" panose="02020603050405020304" pitchFamily="18" charset="0"/>
                <a:cs typeface="Times New Roman" panose="02020603050405020304" pitchFamily="18" charset="0"/>
                <a:sym typeface="Arial"/>
              </a:rPr>
              <a:t>/10000CB, </a:t>
            </a:r>
            <a:r>
              <a:rPr lang="en-US" sz="1600" kern="0" dirty="0" err="1">
                <a:solidFill>
                  <a:srgbClr val="000000"/>
                </a:solidFill>
                <a:latin typeface="Times New Roman" panose="02020603050405020304" pitchFamily="18" charset="0"/>
                <a:cs typeface="Times New Roman" panose="02020603050405020304" pitchFamily="18" charset="0"/>
                <a:sym typeface="Arial"/>
              </a:rPr>
              <a:t>giảm</a:t>
            </a:r>
            <a:r>
              <a:rPr lang="en-US" sz="1600" kern="0" dirty="0">
                <a:solidFill>
                  <a:srgbClr val="000000"/>
                </a:solidFill>
                <a:latin typeface="Times New Roman" panose="02020603050405020304" pitchFamily="18" charset="0"/>
                <a:cs typeface="Times New Roman" panose="02020603050405020304" pitchFamily="18" charset="0"/>
                <a:sym typeface="Arial"/>
              </a:rPr>
              <a:t> 3.80 </a:t>
            </a:r>
            <a:r>
              <a:rPr lang="en-US" sz="1600" kern="0" dirty="0" err="1">
                <a:solidFill>
                  <a:srgbClr val="000000"/>
                </a:solidFill>
                <a:latin typeface="Times New Roman" panose="02020603050405020304" pitchFamily="18" charset="0"/>
                <a:cs typeface="Times New Roman" panose="02020603050405020304" pitchFamily="18" charset="0"/>
                <a:sym typeface="Arial"/>
              </a:rPr>
              <a:t>điểm</a:t>
            </a:r>
            <a:r>
              <a:rPr lang="en-US" sz="1600" kern="0" dirty="0">
                <a:solidFill>
                  <a:srgbClr val="000000"/>
                </a:solidFill>
                <a:latin typeface="Times New Roman" panose="02020603050405020304" pitchFamily="18" charset="0"/>
                <a:cs typeface="Times New Roman" panose="02020603050405020304" pitchFamily="18" charset="0"/>
                <a:sym typeface="Arial"/>
              </a:rPr>
              <a:t> so </a:t>
            </a:r>
            <a:r>
              <a:rPr lang="en-US" sz="1600" kern="0" dirty="0" err="1">
                <a:solidFill>
                  <a:srgbClr val="000000"/>
                </a:solidFill>
                <a:latin typeface="Times New Roman" panose="02020603050405020304" pitchFamily="18" charset="0"/>
                <a:cs typeface="Times New Roman" panose="02020603050405020304" pitchFamily="18" charset="0"/>
                <a:sym typeface="Arial"/>
              </a:rPr>
              <a:t>với</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tháng</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trước</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và</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giảm</a:t>
            </a:r>
            <a:r>
              <a:rPr lang="en-US" sz="1600" kern="0" dirty="0">
                <a:solidFill>
                  <a:srgbClr val="000000"/>
                </a:solidFill>
                <a:latin typeface="Times New Roman" panose="02020603050405020304" pitchFamily="18" charset="0"/>
                <a:cs typeface="Times New Roman" panose="02020603050405020304" pitchFamily="18" charset="0"/>
                <a:sym typeface="Arial"/>
              </a:rPr>
              <a:t> 1.71 </a:t>
            </a:r>
            <a:r>
              <a:rPr lang="en-US" sz="1600" kern="0" dirty="0" err="1">
                <a:solidFill>
                  <a:srgbClr val="000000"/>
                </a:solidFill>
                <a:latin typeface="Times New Roman" panose="02020603050405020304" pitchFamily="18" charset="0"/>
                <a:cs typeface="Times New Roman" panose="02020603050405020304" pitchFamily="18" charset="0"/>
                <a:sym typeface="Arial"/>
              </a:rPr>
              <a:t>điểm</a:t>
            </a:r>
            <a:r>
              <a:rPr lang="en-US" sz="1600" kern="0" dirty="0">
                <a:solidFill>
                  <a:srgbClr val="000000"/>
                </a:solidFill>
                <a:latin typeface="Times New Roman" panose="02020603050405020304" pitchFamily="18" charset="0"/>
                <a:cs typeface="Times New Roman" panose="02020603050405020304" pitchFamily="18" charset="0"/>
                <a:sym typeface="Arial"/>
              </a:rPr>
              <a:t> so </a:t>
            </a:r>
            <a:r>
              <a:rPr lang="en-US" sz="1600" kern="0" dirty="0" err="1">
                <a:solidFill>
                  <a:srgbClr val="000000"/>
                </a:solidFill>
                <a:latin typeface="Times New Roman" panose="02020603050405020304" pitchFamily="18" charset="0"/>
                <a:cs typeface="Times New Roman" panose="02020603050405020304" pitchFamily="18" charset="0"/>
                <a:sym typeface="Arial"/>
              </a:rPr>
              <a:t>với</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cùng</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kỳ</a:t>
            </a:r>
            <a:r>
              <a:rPr lang="en-US" sz="1600" kern="0" dirty="0">
                <a:solidFill>
                  <a:srgbClr val="000000"/>
                </a:solidFill>
                <a:latin typeface="Times New Roman" panose="02020603050405020304" pitchFamily="18" charset="0"/>
                <a:cs typeface="Times New Roman" panose="02020603050405020304" pitchFamily="18" charset="0"/>
                <a:sym typeface="Arial"/>
              </a:rPr>
              <a:t> 2024. </a:t>
            </a:r>
            <a:r>
              <a:rPr lang="en-US" sz="1600" kern="0" dirty="0" err="1">
                <a:solidFill>
                  <a:srgbClr val="000000"/>
                </a:solidFill>
                <a:latin typeface="Times New Roman" panose="02020603050405020304" pitchFamily="18" charset="0"/>
                <a:cs typeface="Times New Roman" panose="02020603050405020304" pitchFamily="18" charset="0"/>
                <a:sym typeface="Arial"/>
              </a:rPr>
              <a:t>Không</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đạt</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mục</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tiêu</a:t>
            </a:r>
            <a:r>
              <a:rPr lang="en-US" sz="1600" kern="0" dirty="0">
                <a:solidFill>
                  <a:srgbClr val="000000"/>
                </a:solidFill>
                <a:latin typeface="Times New Roman" panose="02020603050405020304" pitchFamily="18" charset="0"/>
                <a:cs typeface="Times New Roman" panose="02020603050405020304" pitchFamily="18" charset="0"/>
                <a:sym typeface="Arial"/>
              </a:rPr>
              <a:t> </a:t>
            </a:r>
            <a:r>
              <a:rPr lang="en-US" sz="1600" kern="0" dirty="0" err="1">
                <a:solidFill>
                  <a:srgbClr val="000000"/>
                </a:solidFill>
                <a:latin typeface="Times New Roman" panose="02020603050405020304" pitchFamily="18" charset="0"/>
                <a:cs typeface="Times New Roman" panose="02020603050405020304" pitchFamily="18" charset="0"/>
                <a:sym typeface="Arial"/>
              </a:rPr>
              <a:t>năm</a:t>
            </a:r>
            <a:r>
              <a:rPr lang="en-US" sz="1600" kern="0" dirty="0">
                <a:solidFill>
                  <a:srgbClr val="000000"/>
                </a:solidFill>
                <a:latin typeface="Times New Roman" panose="02020603050405020304" pitchFamily="18" charset="0"/>
                <a:cs typeface="Times New Roman" panose="02020603050405020304" pitchFamily="18" charset="0"/>
                <a:sym typeface="Arial"/>
              </a:rPr>
              <a:t> 2025 </a:t>
            </a:r>
            <a:r>
              <a:rPr lang="en-US" sz="1600" kern="0" dirty="0" err="1">
                <a:solidFill>
                  <a:srgbClr val="000000"/>
                </a:solidFill>
                <a:latin typeface="Times New Roman" panose="02020603050405020304" pitchFamily="18" charset="0"/>
                <a:cs typeface="Times New Roman" panose="02020603050405020304" pitchFamily="18" charset="0"/>
                <a:sym typeface="Arial"/>
              </a:rPr>
              <a:t>là</a:t>
            </a:r>
            <a:r>
              <a:rPr lang="en-US" sz="1600" kern="0" dirty="0">
                <a:solidFill>
                  <a:srgbClr val="000000"/>
                </a:solidFill>
                <a:latin typeface="Times New Roman" panose="02020603050405020304" pitchFamily="18" charset="0"/>
                <a:cs typeface="Times New Roman" panose="02020603050405020304" pitchFamily="18" charset="0"/>
                <a:sym typeface="Arial"/>
              </a:rPr>
              <a:t> 7.28 </a:t>
            </a:r>
            <a:r>
              <a:rPr lang="en-US" sz="1600" kern="0" dirty="0" err="1">
                <a:solidFill>
                  <a:srgbClr val="000000"/>
                </a:solidFill>
                <a:latin typeface="Times New Roman" panose="02020603050405020304" pitchFamily="18" charset="0"/>
                <a:cs typeface="Times New Roman" panose="02020603050405020304" pitchFamily="18" charset="0"/>
                <a:sym typeface="Arial"/>
              </a:rPr>
              <a:t>vụ</a:t>
            </a:r>
            <a:r>
              <a:rPr lang="en-US" sz="1600" kern="0" dirty="0">
                <a:solidFill>
                  <a:srgbClr val="000000"/>
                </a:solidFill>
                <a:latin typeface="Times New Roman" panose="02020603050405020304" pitchFamily="18" charset="0"/>
                <a:cs typeface="Times New Roman" panose="02020603050405020304" pitchFamily="18" charset="0"/>
                <a:sym typeface="Arial"/>
              </a:rPr>
              <a:t>/ 10000 CB</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p>
        </p:txBody>
      </p:sp>
      <p:graphicFrame>
        <p:nvGraphicFramePr>
          <p:cNvPr id="11" name="Chart 10">
            <a:extLst>
              <a:ext uri="{FF2B5EF4-FFF2-40B4-BE49-F238E27FC236}">
                <a16:creationId xmlns:a16="http://schemas.microsoft.com/office/drawing/2014/main" id="{029E13A4-1973-4FA2-913F-0486F9630CBD}"/>
              </a:ext>
            </a:extLst>
          </p:cNvPr>
          <p:cNvGraphicFramePr>
            <a:graphicFrameLocks/>
          </p:cNvGraphicFramePr>
          <p:nvPr>
            <p:extLst>
              <p:ext uri="{D42A27DB-BD31-4B8C-83A1-F6EECF244321}">
                <p14:modId xmlns:p14="http://schemas.microsoft.com/office/powerpoint/2010/main" val="1716317883"/>
              </p:ext>
            </p:extLst>
          </p:nvPr>
        </p:nvGraphicFramePr>
        <p:xfrm>
          <a:off x="9310255" y="1655647"/>
          <a:ext cx="2313898" cy="31324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1894638654"/>
              </p:ext>
            </p:extLst>
          </p:nvPr>
        </p:nvGraphicFramePr>
        <p:xfrm>
          <a:off x="967241" y="1655647"/>
          <a:ext cx="8151821" cy="313248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91490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Rectangle 3"/>
          <p:cNvSpPr/>
          <p:nvPr/>
        </p:nvSpPr>
        <p:spPr>
          <a:xfrm>
            <a:off x="1112459" y="145025"/>
            <a:ext cx="10549952"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kiện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đoạn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khai</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thác do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nguyên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kỹ</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thuật</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905596801"/>
              </p:ext>
            </p:extLst>
          </p:nvPr>
        </p:nvGraphicFramePr>
        <p:xfrm>
          <a:off x="1221955" y="697631"/>
          <a:ext cx="10507900" cy="5653114"/>
        </p:xfrm>
        <a:graphic>
          <a:graphicData uri="http://schemas.openxmlformats.org/drawingml/2006/table">
            <a:tbl>
              <a:tblPr/>
              <a:tblGrid>
                <a:gridCol w="294548">
                  <a:extLst>
                    <a:ext uri="{9D8B030D-6E8A-4147-A177-3AD203B41FA5}">
                      <a16:colId xmlns:a16="http://schemas.microsoft.com/office/drawing/2014/main" val="597640897"/>
                    </a:ext>
                  </a:extLst>
                </a:gridCol>
                <a:gridCol w="375781">
                  <a:extLst>
                    <a:ext uri="{9D8B030D-6E8A-4147-A177-3AD203B41FA5}">
                      <a16:colId xmlns:a16="http://schemas.microsoft.com/office/drawing/2014/main" val="3112661825"/>
                    </a:ext>
                  </a:extLst>
                </a:gridCol>
                <a:gridCol w="379536">
                  <a:extLst>
                    <a:ext uri="{9D8B030D-6E8A-4147-A177-3AD203B41FA5}">
                      <a16:colId xmlns:a16="http://schemas.microsoft.com/office/drawing/2014/main" val="2452639611"/>
                    </a:ext>
                  </a:extLst>
                </a:gridCol>
                <a:gridCol w="403312">
                  <a:extLst>
                    <a:ext uri="{9D8B030D-6E8A-4147-A177-3AD203B41FA5}">
                      <a16:colId xmlns:a16="http://schemas.microsoft.com/office/drawing/2014/main" val="3132563159"/>
                    </a:ext>
                  </a:extLst>
                </a:gridCol>
                <a:gridCol w="324229">
                  <a:extLst>
                    <a:ext uri="{9D8B030D-6E8A-4147-A177-3AD203B41FA5}">
                      <a16:colId xmlns:a16="http://schemas.microsoft.com/office/drawing/2014/main" val="1049592144"/>
                    </a:ext>
                  </a:extLst>
                </a:gridCol>
                <a:gridCol w="481239">
                  <a:extLst>
                    <a:ext uri="{9D8B030D-6E8A-4147-A177-3AD203B41FA5}">
                      <a16:colId xmlns:a16="http://schemas.microsoft.com/office/drawing/2014/main" val="2971342196"/>
                    </a:ext>
                  </a:extLst>
                </a:gridCol>
                <a:gridCol w="684453">
                  <a:extLst>
                    <a:ext uri="{9D8B030D-6E8A-4147-A177-3AD203B41FA5}">
                      <a16:colId xmlns:a16="http://schemas.microsoft.com/office/drawing/2014/main" val="2844994950"/>
                    </a:ext>
                  </a:extLst>
                </a:gridCol>
                <a:gridCol w="517689">
                  <a:extLst>
                    <a:ext uri="{9D8B030D-6E8A-4147-A177-3AD203B41FA5}">
                      <a16:colId xmlns:a16="http://schemas.microsoft.com/office/drawing/2014/main" val="2647951519"/>
                    </a:ext>
                  </a:extLst>
                </a:gridCol>
                <a:gridCol w="1351041">
                  <a:extLst>
                    <a:ext uri="{9D8B030D-6E8A-4147-A177-3AD203B41FA5}">
                      <a16:colId xmlns:a16="http://schemas.microsoft.com/office/drawing/2014/main" val="3725708236"/>
                    </a:ext>
                  </a:extLst>
                </a:gridCol>
                <a:gridCol w="1717167">
                  <a:extLst>
                    <a:ext uri="{9D8B030D-6E8A-4147-A177-3AD203B41FA5}">
                      <a16:colId xmlns:a16="http://schemas.microsoft.com/office/drawing/2014/main" val="1457096139"/>
                    </a:ext>
                  </a:extLst>
                </a:gridCol>
                <a:gridCol w="371677">
                  <a:extLst>
                    <a:ext uri="{9D8B030D-6E8A-4147-A177-3AD203B41FA5}">
                      <a16:colId xmlns:a16="http://schemas.microsoft.com/office/drawing/2014/main" val="1899391533"/>
                    </a:ext>
                  </a:extLst>
                </a:gridCol>
                <a:gridCol w="3607228">
                  <a:extLst>
                    <a:ext uri="{9D8B030D-6E8A-4147-A177-3AD203B41FA5}">
                      <a16:colId xmlns:a16="http://schemas.microsoft.com/office/drawing/2014/main" val="1162097116"/>
                    </a:ext>
                  </a:extLst>
                </a:gridCol>
              </a:tblGrid>
              <a:tr h="266636">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Flight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Engneering Assessment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764583858"/>
                  </a:ext>
                </a:extLst>
              </a:tr>
              <a:tr h="856388">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1</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B223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Times New Roman" panose="02020603050405020304" pitchFamily="18" charset="0"/>
                          <a:cs typeface="Times New Roman" panose="02020603050405020304" pitchFamily="18" charset="0"/>
                        </a:rPr>
                        <a:t>01/01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VN1885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SGN-VCS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DURING TAXI, CAPT REPORTED VIA VHF: FOUND NOISE FROM REAR SECTION A/C AND DECIED A/C GTB FOR CHECK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CRS PERFORMED INSP A/C. NO FINDING + ALL ACCESS PNL ARE CLOSED + TAIL PROP REMOVED AND SECURED + INSPECTION LANDING GEAR. NO FINDING</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1" i="0" u="none" strike="noStrike">
                          <a:solidFill>
                            <a:srgbClr val="FF0000"/>
                          </a:solidFill>
                          <a:effectLst/>
                          <a:latin typeface="Times New Roman" panose="02020603050405020304" pitchFamily="18" charset="0"/>
                        </a:rPr>
                        <a:t>Non tech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438062"/>
                  </a:ext>
                </a:extLst>
              </a:tr>
              <a:tr h="993527">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2</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B223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Times New Roman" panose="02020603050405020304" pitchFamily="18" charset="0"/>
                          <a:cs typeface="Times New Roman" panose="02020603050405020304" pitchFamily="18" charset="0"/>
                        </a:rPr>
                        <a:t>04/01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VN8073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SGN-VCS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RTO</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DURING TAKE OFF CAPT INFORM VIA VHF TAKE OFF CONFIG (DEFECT REPETITIVE), CAPT DECIED RTO &amp; GTB FOR CHECK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REPLACED TRANSMITTER 16 CV, CHK FLAP LOCK ACTUATOR NO FOUND LEAK, CHECK SATIS.TAKE OFF CONFIG (DEFECT REPETITIVE) EVENT CLOSED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Hỏng hóc "TO CONFIG" chỉ xảy ra trên B223, các lần bị như sau:  - Ngày 23/11/2023 =&gt; Kiểm tra hệ thống bình thường, OPT Test hệ thống, cảnh báo biến mất, khắc phục được hỏng hóc.  - Ngày 09/12/2024=&gt; Kiểm tra hệ thống bình thường, OPT Test hệ thống, cảnh báo biến mất. - Ngày 20/12/2024=&gt; Thay Flap Transmitter 15CV, OPT test hệ thống, cảnh báo biến mất - Ngày 04/01/2025, phát sinh hỏng hóc gây quay lại, đã thay Flap transmitter 16CV để khắc phục. Đánh giá: Hỏng hóc lặp lại nhiều lần nhưng khó trouble shooting bởi vì tàu bay ATR72 không có nhiều cảm biến để phát hiện cụ thể thiết bị hỏng hóc mà phải dựa vào sơ đồ nguyên lý làm việc để đánh giá, phân tích khả năng hỏng hóc. Ban KT/VAECO có tổ chức họp trực tiếp với chuyên gia ATR về hỏng hóc này. Chuyên gia ATR có tư vấn một số nguyên nhân hỏng hóc dựa trên các kinh nghiệm từ operator khác, nhưng cũng không chỉ ra được cụ thể hỏng hóc từ thiết bị nào mà phải thay thế từng thiết bị nghi ngờ để khắc phục, do đó mới bị xuất hiện nhiều lần. Có 4 nguyên nhân có khả năng gây ra hỏng hóc này: - Pitch Trim - Flap position - TLU - Aileron tab lock. Qua hiện tượng đánh giá sơ bộ, thì nghi ngờ cao do hệ thống cảm biến vị trí Flap. Có 2 vị trí bên LH và RH, ngày 20/12/2024, mới chỉ thay được 1 bên LH do chỉ có 1 spare trong kho. Đến ngày 03/01/2024 mới có vật tư mới, chưa kịp bố trí dừng tàu bay để khắc phục thì xuất hiện hỏng hóc ngày 04/01/2025.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9449205"/>
                  </a:ext>
                </a:extLst>
              </a:tr>
              <a:tr h="913116">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3</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A893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Times New Roman" panose="02020603050405020304" pitchFamily="18" charset="0"/>
                          <a:cs typeface="Times New Roman" panose="02020603050405020304" pitchFamily="18" charset="0"/>
                        </a:rPr>
                        <a:t>06/01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VN781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 SGN -MEL</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CAPT REPORT VIA VHF: </a:t>
                      </a:r>
                      <a:br>
                        <a:rPr lang="en-US" sz="800" b="0" i="0" u="none" strike="noStrike">
                          <a:solidFill>
                            <a:srgbClr val="000000"/>
                          </a:solidFill>
                          <a:effectLst/>
                          <a:latin typeface="Times New Roman" panose="02020603050405020304" pitchFamily="18" charset="0"/>
                        </a:rPr>
                      </a:br>
                      <a:r>
                        <a:rPr lang="en-US" sz="800" b="0" i="0" u="none" strike="noStrike">
                          <a:solidFill>
                            <a:srgbClr val="000000"/>
                          </a:solidFill>
                          <a:effectLst/>
                          <a:latin typeface="Times New Roman" panose="02020603050405020304" pitchFamily="18" charset="0"/>
                        </a:rPr>
                        <a:t>FUEL CTR TK L PMP RUN CONTINOUSLY DURING TAXI CAPT DECIED A/C GTB FOR CHECK</a:t>
                      </a:r>
                      <a:br>
                        <a:rPr lang="en-US" sz="800" b="0" i="0" u="none" strike="noStrike">
                          <a:solidFill>
                            <a:srgbClr val="000000"/>
                          </a:solidFill>
                          <a:effectLst/>
                          <a:latin typeface="Times New Roman" panose="02020603050405020304" pitchFamily="18" charset="0"/>
                        </a:rPr>
                      </a:br>
                      <a:endParaRPr lang="en-US" sz="8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RPLD PRESS_SWITCH - STR TK PUMP 1. SATIS. DM GONE </a:t>
                      </a:r>
                      <a:br>
                        <a:rPr lang="en-US" sz="800" b="0" i="0" u="none" strike="noStrike">
                          <a:solidFill>
                            <a:srgbClr val="000000"/>
                          </a:solidFill>
                          <a:effectLst/>
                          <a:latin typeface="Times New Roman" panose="02020603050405020304" pitchFamily="18" charset="0"/>
                        </a:rPr>
                      </a:br>
                      <a:endParaRPr lang="en-US" sz="8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Hỏng hóc FUEL CTR TK L PMP RUN CONTINOUSLY, có FM:  PRESS SW -CTR TK PMP (105QA1) do Pressure switch (105QA1) P/N F7-1170-1. Đây là thiết bị cảm biến áp suất nhiên liệu.  Đây là lẩn đầu tiên xảy ra trên đội tàu bay A350 của VNA. Tuy nhiên, trên worldwide, một số operator có ghi nhận cảnh báo Fuel Pump dẫn đến thay thế Pressure SW P/N F7-1170-1 này nhưng hầu hết đều là NFF khi gửi đi Shop. </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Airbus có ban hành TFU 28.21.00047 đề cập đến Pressure SW P/N F7-1170-1. Với thông tin như sau: Airbus suspects freezing of the pressure switch to be causing the fault as a result of environmental factors (flight duration, outside air temperature, humidity). The fault disappearing on ground would be explained by the warming of the system. Freezing may be occurring on the wet or dry side of the pressure switch, lab testing has proven that water accumulation on either side of the pressure switch is sufficient to replicate the fault. It was not possible to conclude if the wet or dry side is more affected in-service, but removed pressure switches showed signs of moisture on both the wet and dry side of the pressure switch.  Hiện tại, Airbus và Parker chưa có giải pháp nào cho hỏng hóc này. Chỉ khuyến cáo dự phòng. Mitigation actions are being studied to alleviate this issue at all pump positions. Currently an in-service evaluation is being carried out, updates will be shared here. These may be similar. The solution will be a change of the pump operation logic to be implemented in FQMS v7, which is expected in 2026.</a:t>
                      </a:r>
                      <a:br>
                        <a:rPr lang="vi-VN" sz="800" b="0" i="0" u="none" strike="noStrike">
                          <a:solidFill>
                            <a:srgbClr val="000000"/>
                          </a:solidFill>
                          <a:effectLst/>
                          <a:latin typeface="Times New Roman" panose="02020603050405020304" pitchFamily="18" charset="0"/>
                        </a:rPr>
                      </a:br>
                      <a:endParaRPr lang="vi-VN" sz="8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1879334"/>
                  </a:ext>
                </a:extLst>
              </a:tr>
            </a:tbl>
          </a:graphicData>
        </a:graphic>
      </p:graphicFrame>
    </p:spTree>
    <p:extLst>
      <p:ext uri="{BB962C8B-B14F-4D97-AF65-F5344CB8AC3E}">
        <p14:creationId xmlns:p14="http://schemas.microsoft.com/office/powerpoint/2010/main" val="1886591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Rectangle 3"/>
          <p:cNvSpPr/>
          <p:nvPr/>
        </p:nvSpPr>
        <p:spPr>
          <a:xfrm>
            <a:off x="1112459" y="145025"/>
            <a:ext cx="10549952"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kiện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đoạn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khai</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thác do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nguyên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kỹ</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thuật</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2600453447"/>
              </p:ext>
            </p:extLst>
          </p:nvPr>
        </p:nvGraphicFramePr>
        <p:xfrm>
          <a:off x="1221955" y="697631"/>
          <a:ext cx="10507900" cy="6024248"/>
        </p:xfrm>
        <a:graphic>
          <a:graphicData uri="http://schemas.openxmlformats.org/drawingml/2006/table">
            <a:tbl>
              <a:tblPr/>
              <a:tblGrid>
                <a:gridCol w="294548">
                  <a:extLst>
                    <a:ext uri="{9D8B030D-6E8A-4147-A177-3AD203B41FA5}">
                      <a16:colId xmlns:a16="http://schemas.microsoft.com/office/drawing/2014/main" val="597640897"/>
                    </a:ext>
                  </a:extLst>
                </a:gridCol>
                <a:gridCol w="375781">
                  <a:extLst>
                    <a:ext uri="{9D8B030D-6E8A-4147-A177-3AD203B41FA5}">
                      <a16:colId xmlns:a16="http://schemas.microsoft.com/office/drawing/2014/main" val="3112661825"/>
                    </a:ext>
                  </a:extLst>
                </a:gridCol>
                <a:gridCol w="379536">
                  <a:extLst>
                    <a:ext uri="{9D8B030D-6E8A-4147-A177-3AD203B41FA5}">
                      <a16:colId xmlns:a16="http://schemas.microsoft.com/office/drawing/2014/main" val="2452639611"/>
                    </a:ext>
                  </a:extLst>
                </a:gridCol>
                <a:gridCol w="403312">
                  <a:extLst>
                    <a:ext uri="{9D8B030D-6E8A-4147-A177-3AD203B41FA5}">
                      <a16:colId xmlns:a16="http://schemas.microsoft.com/office/drawing/2014/main" val="3132563159"/>
                    </a:ext>
                  </a:extLst>
                </a:gridCol>
                <a:gridCol w="324229">
                  <a:extLst>
                    <a:ext uri="{9D8B030D-6E8A-4147-A177-3AD203B41FA5}">
                      <a16:colId xmlns:a16="http://schemas.microsoft.com/office/drawing/2014/main" val="1049592144"/>
                    </a:ext>
                  </a:extLst>
                </a:gridCol>
                <a:gridCol w="481239">
                  <a:extLst>
                    <a:ext uri="{9D8B030D-6E8A-4147-A177-3AD203B41FA5}">
                      <a16:colId xmlns:a16="http://schemas.microsoft.com/office/drawing/2014/main" val="2971342196"/>
                    </a:ext>
                  </a:extLst>
                </a:gridCol>
                <a:gridCol w="684453">
                  <a:extLst>
                    <a:ext uri="{9D8B030D-6E8A-4147-A177-3AD203B41FA5}">
                      <a16:colId xmlns:a16="http://schemas.microsoft.com/office/drawing/2014/main" val="2844994950"/>
                    </a:ext>
                  </a:extLst>
                </a:gridCol>
                <a:gridCol w="517689">
                  <a:extLst>
                    <a:ext uri="{9D8B030D-6E8A-4147-A177-3AD203B41FA5}">
                      <a16:colId xmlns:a16="http://schemas.microsoft.com/office/drawing/2014/main" val="2647951519"/>
                    </a:ext>
                  </a:extLst>
                </a:gridCol>
                <a:gridCol w="1351041">
                  <a:extLst>
                    <a:ext uri="{9D8B030D-6E8A-4147-A177-3AD203B41FA5}">
                      <a16:colId xmlns:a16="http://schemas.microsoft.com/office/drawing/2014/main" val="3725708236"/>
                    </a:ext>
                  </a:extLst>
                </a:gridCol>
                <a:gridCol w="1717167">
                  <a:extLst>
                    <a:ext uri="{9D8B030D-6E8A-4147-A177-3AD203B41FA5}">
                      <a16:colId xmlns:a16="http://schemas.microsoft.com/office/drawing/2014/main" val="1457096139"/>
                    </a:ext>
                  </a:extLst>
                </a:gridCol>
                <a:gridCol w="371677">
                  <a:extLst>
                    <a:ext uri="{9D8B030D-6E8A-4147-A177-3AD203B41FA5}">
                      <a16:colId xmlns:a16="http://schemas.microsoft.com/office/drawing/2014/main" val="1899391533"/>
                    </a:ext>
                  </a:extLst>
                </a:gridCol>
                <a:gridCol w="3607228">
                  <a:extLst>
                    <a:ext uri="{9D8B030D-6E8A-4147-A177-3AD203B41FA5}">
                      <a16:colId xmlns:a16="http://schemas.microsoft.com/office/drawing/2014/main" val="1162097116"/>
                    </a:ext>
                  </a:extLst>
                </a:gridCol>
              </a:tblGrid>
              <a:tr h="266636">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Flight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Engneering Assessment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764583858"/>
                  </a:ext>
                </a:extLst>
              </a:tr>
              <a:tr h="1321733">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4</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A899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Times New Roman" panose="02020603050405020304" pitchFamily="18" charset="0"/>
                          <a:cs typeface="Times New Roman" panose="02020603050405020304" pitchFamily="18" charset="0"/>
                        </a:rPr>
                        <a:t>09/01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VN240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 - 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DURING TAXI CAPT CALL VHF APPEAR MSG  "F/CTL STABILIZER"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C/O MAINTENANCE AND RAISED MEL STABILIZER ELECTRICAL MOTOR E3.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Hỏng hóc này xuất hiện lặp lại, nhưng chưa khắc phục triệt để. Ngày 07.Dec.2024 =&gt; Do system test, MSG clear Ngày 10.Dec.2024 =&gt; Hỏng hóc xuất hiện lại, raise ADD B960. </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Ngày 13.Dec.2024,  REPLACE EMCU-THS ACTR,3 (101CH3), spare rob from A895 (BQDB) Ngày 16.Dec.2024, Hỏng hóc xuất hiện lại raise ADD B963. Clean and check all connector of Harness 411CH FOUND OK. REPLACE EMCU-THS ACTR,3 (101CH3). Rob từ A898(BQDB) Ngày 26.Dec.2024, Hỏng hóc xuất hiện lại raise ADD B969,  REPLACED THE ELECTRICAL HARNESS-THS ACTR,3(411CH) TO RECTIFY ADD  Ngày 09.Jan.2025, Hỏng hóc xuất hiện lại. raise ADD B797 Đang bố trí kế hoạch để thay khối MOTOR/BRAKE ASSY-THS ACTR, 201CH1, theo như hướng dẫn của AFI task và khuyến cáo của AIB TR 81512902.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914562"/>
                  </a:ext>
                </a:extLst>
              </a:tr>
              <a:tr h="1096077">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5</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A339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Times New Roman" panose="02020603050405020304" pitchFamily="18" charset="0"/>
                          <a:cs typeface="Times New Roman" panose="02020603050405020304" pitchFamily="18" charset="0"/>
                        </a:rPr>
                        <a:t>16/01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VN7046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SGN-VII</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DURING TAXI CAPT INFORM VIA VHF BRAKE #2 HOT,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RAISED ADD.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32-00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Theo báo của CRS thì sau khi xảy ra cảnh báo thì CRS đã advise pc thực hiện reset nhưng cảnh báo vẫn còn nên capt quyết định quay lại. Sau khi xác định là báo giả đã raise MEL và tiếp tục khai thác. Nguyên nhân là do brake temp sensor bị hỏng, đây là ww issue và hiện AIB vẫn đang nghiên cứu giải pháp, dự kiến cuối 2026 mới ban hành. Trong thời gian đợi AIB khuyến cáo tiếp tục dùng PN cũ và có thể sẽ ban hành biện pháp bọc đầu cắm để hạn chế bụi bẩn xâm nhập và lỏng đầu cắm do rung lắc trong quá trình hoạt động.</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Hiện đang triển khai clean connector theo tần suất 60 day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420230"/>
                  </a:ext>
                </a:extLst>
              </a:tr>
              <a:tr h="1140643">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6</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A890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23/01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SFO</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VN99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SFO-SGN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DURING TAXI OUT APPEAR MSG:</a:t>
                      </a:r>
                      <a:br>
                        <a:rPr lang="en-US" sz="800" b="0" i="0" u="none" strike="noStrike">
                          <a:solidFill>
                            <a:srgbClr val="000000"/>
                          </a:solidFill>
                          <a:effectLst/>
                          <a:latin typeface="Times New Roman" panose="02020603050405020304" pitchFamily="18" charset="0"/>
                        </a:rPr>
                      </a:br>
                      <a:r>
                        <a:rPr lang="en-US" sz="800" b="0" i="0" u="none" strike="noStrike">
                          <a:solidFill>
                            <a:srgbClr val="000000"/>
                          </a:solidFill>
                          <a:effectLst/>
                          <a:latin typeface="Times New Roman" panose="02020603050405020304" pitchFamily="18" charset="0"/>
                        </a:rPr>
                        <a:t>FUEL WEIGHT DATA DISAGREE</a:t>
                      </a:r>
                      <a:br>
                        <a:rPr lang="en-US" sz="800" b="0" i="0" u="none" strike="noStrike">
                          <a:solidFill>
                            <a:srgbClr val="000000"/>
                          </a:solidFill>
                          <a:effectLst/>
                          <a:latin typeface="Times New Roman" panose="02020603050405020304" pitchFamily="18" charset="0"/>
                        </a:rPr>
                      </a:br>
                      <a:r>
                        <a:rPr lang="en-US" sz="800" b="0" i="0" u="none" strike="noStrike">
                          <a:solidFill>
                            <a:srgbClr val="000000"/>
                          </a:solidFill>
                          <a:effectLst/>
                          <a:latin typeface="Times New Roman" panose="02020603050405020304" pitchFamily="18" charset="0"/>
                        </a:rPr>
                        <a:t>FUEL LEAK DET</a:t>
                      </a:r>
                      <a:br>
                        <a:rPr lang="en-US" sz="800" b="0" i="0" u="none" strike="noStrike">
                          <a:solidFill>
                            <a:srgbClr val="000000"/>
                          </a:solidFill>
                          <a:effectLst/>
                          <a:latin typeface="Times New Roman" panose="02020603050405020304" pitchFamily="18" charset="0"/>
                        </a:rPr>
                      </a:br>
                      <a:r>
                        <a:rPr lang="en-US" sz="800" b="0" i="0" u="none" strike="noStrike">
                          <a:solidFill>
                            <a:srgbClr val="000000"/>
                          </a:solidFill>
                          <a:effectLst/>
                          <a:latin typeface="Times New Roman" panose="02020603050405020304" pitchFamily="18" charset="0"/>
                        </a:rPr>
                        <a:t>FUEL CTR TK L INLET VLV.</a:t>
                      </a:r>
                      <a:br>
                        <a:rPr lang="en-US" sz="800" b="0" i="0" u="none" strike="noStrike">
                          <a:solidFill>
                            <a:srgbClr val="000000"/>
                          </a:solidFill>
                          <a:effectLst/>
                          <a:latin typeface="Times New Roman" panose="02020603050405020304" pitchFamily="18" charset="0"/>
                        </a:rPr>
                      </a:br>
                      <a:r>
                        <a:rPr lang="en-US" sz="800" b="0" i="0" u="none" strike="noStrike">
                          <a:solidFill>
                            <a:srgbClr val="000000"/>
                          </a:solidFill>
                          <a:effectLst/>
                          <a:latin typeface="Times New Roman" panose="02020603050405020304" pitchFamily="18" charset="0"/>
                        </a:rPr>
                        <a:t>A/C ON GROUND TURN BACK.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CRS KLM C/O RESET AND RAISED ADD FOR "FUEL CTR TK L INLET VLV"</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Theo báo cáo tổ bay dưới đây thì nguyên nhân ban đầu do MSG &gt; FUEL &gt; FUEL CTR TK L INLET VLV xuất hiện từ lúc PREPARE, tổ bay thực hiện reset được. Tuy nhiên, khi đẩy tàu bay ra khai thác thì cảnh báo xuất hiện lại. =&gt; Tổ bay thực hiện Manual Reset thì xuất hiện thêm các cảnh báo NOGO khác và phải RTG để deactivate Center tank fuel inlet valve (505QU1)</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Nguyên nhân do Fuel Valve Actuator failures (SPSA) gây cảnh báo &gt; FUEL CTR TK L INLET VLV. Hỏng hóc do cầu chì bị cháy do quá dòng (resulting from a short circuit in the motor commutator)</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Hỏng hóc này có thể raise MEL để đưa tàu bay vào khai thác.</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Giải pháp: </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Nâng cấp SPSA từ P/N PN 2080026-104 lên PN 2080026-105A. Tàu bay A890 đã thực hiện nâng cấp từ 24/12/2024. Các khối trên tàu là post-MOD và khối lắp lên tàu bay là NEW</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Sẽ tiếp tục làm việc với Airbus và chờ SFR để đánh giá thêm hỏng hóc.</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2086568"/>
                  </a:ext>
                </a:extLst>
              </a:tr>
              <a:tr h="1435100">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7</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A889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25/01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ICN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VN415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ICN-HAN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A/C GTB AT ICN- DUE TO msg no go FUEL ENG 1 LP VLV FAULT.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RESET TEST FQMS TEST OK ERU CHECK SATIS.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Khi thực hiện chuyến bay trước đó VN414, HAN-ICN, thì cảnh báo xuất hiện trên Skywise (landing phase), nhưng sau khi tàu bay hạ cánh tại ICN thì không có MSG nào trên ECAM, thực hiện OPT TEST thì không xuất hiện lỗi (NO FAULT CONFIRM).</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Khi thực hiện chuyến bay VN415, ICN-HAN, thì cảnh báo xuất hiện lại trong quá trình pushback, tổ bay quyết định quay lại. </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Sau khi quay lại thì thợ máy reset hết MSG và thực hiện chuyến bay về.</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Hỏng hóc nghi ngờ do Fuel LP valve bị intermittent. Khối bị hỏng là gốc của tàu bay, có TSN/CSN = 26076.88 FH/ 7456 FC. Đã thực hiện thay valve này khi tàu bay về main-base.</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 Hiện tại, không có tài liệu nào (kể cả AiB và operator khác) về độ tin cậy của valve này trên thế giới .Tính từ khi khai thác A350 thì có 5 lần thay valve này nhưng chỉ có 1 lần gây gián đoạn khai thác trên A887 năm 2016.</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 Đang chờ SFR và làm việc với AIB qua TR 81532467 để đánh giá thêm hỏng hóc.</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1603128"/>
                  </a:ext>
                </a:extLst>
              </a:tr>
            </a:tbl>
          </a:graphicData>
        </a:graphic>
      </p:graphicFrame>
    </p:spTree>
    <p:extLst>
      <p:ext uri="{BB962C8B-B14F-4D97-AF65-F5344CB8AC3E}">
        <p14:creationId xmlns:p14="http://schemas.microsoft.com/office/powerpoint/2010/main" val="1820213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Rectangle 3"/>
          <p:cNvSpPr/>
          <p:nvPr/>
        </p:nvSpPr>
        <p:spPr>
          <a:xfrm>
            <a:off x="1112459" y="519098"/>
            <a:ext cx="10549952"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kiện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đoạn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khai</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thác do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nguyên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kỹ</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thuật</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1328780351"/>
              </p:ext>
            </p:extLst>
          </p:nvPr>
        </p:nvGraphicFramePr>
        <p:xfrm>
          <a:off x="1154511" y="1163144"/>
          <a:ext cx="10507900" cy="4338323"/>
        </p:xfrm>
        <a:graphic>
          <a:graphicData uri="http://schemas.openxmlformats.org/drawingml/2006/table">
            <a:tbl>
              <a:tblPr/>
              <a:tblGrid>
                <a:gridCol w="294548">
                  <a:extLst>
                    <a:ext uri="{9D8B030D-6E8A-4147-A177-3AD203B41FA5}">
                      <a16:colId xmlns:a16="http://schemas.microsoft.com/office/drawing/2014/main" val="597640897"/>
                    </a:ext>
                  </a:extLst>
                </a:gridCol>
                <a:gridCol w="375781">
                  <a:extLst>
                    <a:ext uri="{9D8B030D-6E8A-4147-A177-3AD203B41FA5}">
                      <a16:colId xmlns:a16="http://schemas.microsoft.com/office/drawing/2014/main" val="3112661825"/>
                    </a:ext>
                  </a:extLst>
                </a:gridCol>
                <a:gridCol w="379536">
                  <a:extLst>
                    <a:ext uri="{9D8B030D-6E8A-4147-A177-3AD203B41FA5}">
                      <a16:colId xmlns:a16="http://schemas.microsoft.com/office/drawing/2014/main" val="2452639611"/>
                    </a:ext>
                  </a:extLst>
                </a:gridCol>
                <a:gridCol w="403312">
                  <a:extLst>
                    <a:ext uri="{9D8B030D-6E8A-4147-A177-3AD203B41FA5}">
                      <a16:colId xmlns:a16="http://schemas.microsoft.com/office/drawing/2014/main" val="3132563159"/>
                    </a:ext>
                  </a:extLst>
                </a:gridCol>
                <a:gridCol w="324229">
                  <a:extLst>
                    <a:ext uri="{9D8B030D-6E8A-4147-A177-3AD203B41FA5}">
                      <a16:colId xmlns:a16="http://schemas.microsoft.com/office/drawing/2014/main" val="1049592144"/>
                    </a:ext>
                  </a:extLst>
                </a:gridCol>
                <a:gridCol w="481239">
                  <a:extLst>
                    <a:ext uri="{9D8B030D-6E8A-4147-A177-3AD203B41FA5}">
                      <a16:colId xmlns:a16="http://schemas.microsoft.com/office/drawing/2014/main" val="2971342196"/>
                    </a:ext>
                  </a:extLst>
                </a:gridCol>
                <a:gridCol w="684453">
                  <a:extLst>
                    <a:ext uri="{9D8B030D-6E8A-4147-A177-3AD203B41FA5}">
                      <a16:colId xmlns:a16="http://schemas.microsoft.com/office/drawing/2014/main" val="2844994950"/>
                    </a:ext>
                  </a:extLst>
                </a:gridCol>
                <a:gridCol w="517689">
                  <a:extLst>
                    <a:ext uri="{9D8B030D-6E8A-4147-A177-3AD203B41FA5}">
                      <a16:colId xmlns:a16="http://schemas.microsoft.com/office/drawing/2014/main" val="2647951519"/>
                    </a:ext>
                  </a:extLst>
                </a:gridCol>
                <a:gridCol w="1351041">
                  <a:extLst>
                    <a:ext uri="{9D8B030D-6E8A-4147-A177-3AD203B41FA5}">
                      <a16:colId xmlns:a16="http://schemas.microsoft.com/office/drawing/2014/main" val="3725708236"/>
                    </a:ext>
                  </a:extLst>
                </a:gridCol>
                <a:gridCol w="1717167">
                  <a:extLst>
                    <a:ext uri="{9D8B030D-6E8A-4147-A177-3AD203B41FA5}">
                      <a16:colId xmlns:a16="http://schemas.microsoft.com/office/drawing/2014/main" val="1457096139"/>
                    </a:ext>
                  </a:extLst>
                </a:gridCol>
                <a:gridCol w="371677">
                  <a:extLst>
                    <a:ext uri="{9D8B030D-6E8A-4147-A177-3AD203B41FA5}">
                      <a16:colId xmlns:a16="http://schemas.microsoft.com/office/drawing/2014/main" val="1899391533"/>
                    </a:ext>
                  </a:extLst>
                </a:gridCol>
                <a:gridCol w="3607228">
                  <a:extLst>
                    <a:ext uri="{9D8B030D-6E8A-4147-A177-3AD203B41FA5}">
                      <a16:colId xmlns:a16="http://schemas.microsoft.com/office/drawing/2014/main" val="1162097116"/>
                    </a:ext>
                  </a:extLst>
                </a:gridCol>
              </a:tblGrid>
              <a:tr h="249579">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Flight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Engneering Assessment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764583858"/>
                  </a:ext>
                </a:extLst>
              </a:tr>
              <a:tr h="1014594">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8</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A353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26/01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VN7402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SGN-VDH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 DURING PUSH BACK AND START ENG: CAPT REPORT A/C HAS MSG : ANTI ICE STBY PROBES. AND NAV ILS 1 FAULT , A/C GTB NO CALL VHF,</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C/O RESET TEST OK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30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1" i="0" u="none" strike="noStrike">
                          <a:solidFill>
                            <a:srgbClr val="FF0000"/>
                          </a:solidFill>
                          <a:effectLst/>
                          <a:latin typeface="Times New Roman" panose="02020603050405020304" pitchFamily="18" charset="0"/>
                        </a:rPr>
                        <a:t>Non-Tech</a:t>
                      </a:r>
                    </a:p>
                    <a:p>
                      <a:pPr algn="l" fontAlgn="ctr"/>
                      <a:r>
                        <a:rPr lang="vi-VN" sz="800" b="0" i="0" u="none" strike="noStrike">
                          <a:solidFill>
                            <a:srgbClr val="000000"/>
                          </a:solidFill>
                          <a:effectLst/>
                          <a:latin typeface="Times New Roman" panose="02020603050405020304" pitchFamily="18" charset="0"/>
                        </a:rPr>
                        <a:t>A353 quay lại do msg anti ice probe, qua trao đổi riêng với capt Ngọc thì Capt Ngọc có thừa nhận là tổ bay chưa sử dụng FON 2024/007 để reset PHC. Capt có nói do không có nhiều thời gian để tra hết các tài liệu, nhiều tàu dừng chờ đằng sau và máy bay gần bãi đỗ nên tổ bay quyết định quay lại gate luôn. Sau khi tàu vào gate thì cũng reset lại máy tính là tàu khai thác bình thường.</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914562"/>
                  </a:ext>
                </a:extLst>
              </a:tr>
              <a:tr h="789709">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9</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A358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27/01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VN1641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HAN-VCL</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Capt report MCDU 1 INOP, reset nil help, A/C return to gate.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Raised ADD for MCDU 1 INOP, additional refuel 2 tons.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31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Hỏng hóc liên quan đến MCDU PN C19266AA01. Hỏng hóc được khắc phục sau khi thay part. Part hiện không có ISI, TFU liên quan đến ĐTC. Theo thống kê ĐTC: Tỉ lệ tháo ngoài kế hoạch các năm gần đây ít (2023: 2 lần, 2024: 3 lần). Theo SFR, các hỏng hóc thường gặp liên quan đến nút bấm và đèn hiển thị. Part hỏng được lắp lên tàu bay vào t2/2016, có TSN/CSN là 36392/25004. Theo dõi thêm.</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420230"/>
                  </a:ext>
                </a:extLst>
              </a:tr>
              <a:tr h="689956">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10</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A879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Times New Roman" panose="02020603050405020304" pitchFamily="18" charset="0"/>
                          <a:cs typeface="Times New Roman" panose="02020603050405020304" pitchFamily="18" charset="0"/>
                        </a:rPr>
                        <a:t>28/01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VN216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RTO</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DURING PREPARE FOR TAKE OFF, CAPT INFORM LEC GEN R, CAPT DECIDED RTO &amp; 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OPEN ADD FOR ELEC GEN R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24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Tàu A879 chuyến bay NRT-SGN trước đó cũng hiện MSG ELEC GEN SYS khi đang bay tuy nhiên lúc đáp SGN thợ máy kiểm tra tình trạng kĩ thuật tàu bay tốt, không có cảnh báo. VFSG R1 on wing trên A879 từ 2019 chưa thực hiện thay thế lần nào. Final action: thay VFSG R1, MSG clear.</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2086568"/>
                  </a:ext>
                </a:extLst>
              </a:tr>
              <a:tr h="1343297">
                <a:tc>
                  <a:txBody>
                    <a:bodyPr/>
                    <a:lstStyle/>
                    <a:p>
                      <a:pPr algn="ctr" fontAlgn="ctr"/>
                      <a:r>
                        <a:rPr lang="en-US" sz="800" b="0" i="0" u="none" strike="noStrike">
                          <a:solidFill>
                            <a:schemeClr val="tx1"/>
                          </a:solidFill>
                          <a:effectLst/>
                          <a:latin typeface="Times New Roman" panose="02020603050405020304" pitchFamily="18" charset="0"/>
                          <a:cs typeface="Times New Roman" panose="02020603050405020304" pitchFamily="18" charset="0"/>
                        </a:rPr>
                        <a:t>11</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A892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Times New Roman" panose="02020603050405020304" pitchFamily="18" charset="0"/>
                          <a:cs typeface="Times New Roman" panose="02020603050405020304" pitchFamily="18" charset="0"/>
                        </a:rPr>
                        <a:t>28/01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VN7452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SGN-HAN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DURING PUSH BACK CAPT INFORM "ENG 1 FADEC FAULT"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Times New Roman" panose="02020603050405020304" pitchFamily="18" charset="0"/>
                        </a:rPr>
                        <a:t>RESET TEST OK, ERU SATIS. A/C SERVICEABLE DURING PUSH BACK CAPT INFORM "ENG 1 FADEC FAULT" EVENT CLOSED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Times New Roman" panose="02020603050405020304" pitchFamily="18" charset="0"/>
                        </a:rPr>
                        <a:t>73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800" b="0" i="0" u="none" strike="noStrike">
                          <a:solidFill>
                            <a:srgbClr val="000000"/>
                          </a:solidFill>
                          <a:effectLst/>
                          <a:latin typeface="Times New Roman" panose="02020603050405020304" pitchFamily="18" charset="0"/>
                        </a:rPr>
                        <a:t>Vấn đề đã xảy ra nhiều lần trên đội bay, VNA đã triển khai thử nghiệm các giải pháp bao gồm tiến hành clear lỗi theo hướng dẫn của TFU 73.21.00.109 (luôn hiệu quả) và cập nhật quy trình nổ máy theo TFU 73.20.00006 (có hiệu quả nhưng không triệt để). Theo thống kê cho thấy lỗi này xuất hiện ngẫu nhiên trên các động cơ, không phụ thuộc vào giờ khai thác và không có tính lặp lại. Do vậy nghi ngờ nguyên nhân hỏng hóc do lỗi liên quan đến phần cứng/ phần mềm của EEC nói chung và cần giải pháp từ NSX để khắc phục triệt để. VNA liên tục làm việc và yêu cầu NSX đưa ra giải pháp cho vấn đề này, tuy nhiên đến nay NSX vẫn chưa đưa ra được nguyên nhân gốc cũng như giải pháp khắc phục. </a:t>
                      </a:r>
                      <a:br>
                        <a:rPr lang="vi-VN" sz="800" b="0" i="0" u="none" strike="noStrike">
                          <a:solidFill>
                            <a:srgbClr val="000000"/>
                          </a:solidFill>
                          <a:effectLst/>
                          <a:latin typeface="Times New Roman" panose="02020603050405020304" pitchFamily="18" charset="0"/>
                        </a:rPr>
                      </a:br>
                      <a:r>
                        <a:rPr lang="vi-VN" sz="800" b="0" i="0" u="none" strike="noStrike">
                          <a:solidFill>
                            <a:srgbClr val="000000"/>
                          </a:solidFill>
                          <a:effectLst/>
                          <a:latin typeface="Times New Roman" panose="02020603050405020304" pitchFamily="18" charset="0"/>
                        </a:rPr>
                        <a:t>Để giảm thiểu ảnh hưởng tới khai thác, Ban KT đã gửi TR đề nghị Airbus nghiên cứu và đưa hướng dẫn thực hiện quy trình reset cho tổ bay để tránh GTB và giảm thời gian delay, hiện đang đợi phản hồi. </a:t>
                      </a:r>
                      <a:br>
                        <a:rPr lang="vi-VN" sz="800" b="0" i="0" u="none" strike="noStrike">
                          <a:solidFill>
                            <a:srgbClr val="000000"/>
                          </a:solidFill>
                          <a:effectLst/>
                          <a:latin typeface="Times New Roman" panose="02020603050405020304" pitchFamily="18" charset="0"/>
                        </a:rPr>
                      </a:br>
                      <a:endParaRPr lang="vi-VN" sz="8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1603128"/>
                  </a:ext>
                </a:extLst>
              </a:tr>
            </a:tbl>
          </a:graphicData>
        </a:graphic>
      </p:graphicFrame>
    </p:spTree>
    <p:extLst>
      <p:ext uri="{BB962C8B-B14F-4D97-AF65-F5344CB8AC3E}">
        <p14:creationId xmlns:p14="http://schemas.microsoft.com/office/powerpoint/2010/main" val="3714847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4 – CHỈ SỐ BÁO CÁO TỰ NGUYỆN</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9" name="Rectangle 8"/>
          <p:cNvSpPr/>
          <p:nvPr/>
        </p:nvSpPr>
        <p:spPr>
          <a:xfrm>
            <a:off x="1672672" y="1349368"/>
            <a:ext cx="9623939" cy="584775"/>
          </a:xfrm>
          <a:prstGeom prst="rect">
            <a:avLst/>
          </a:prstGeom>
        </p:spPr>
        <p:txBody>
          <a:bodyPr wrap="square">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Char char="-"/>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 52 BCTN,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trong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Hệ</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thống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QLAT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VAECO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ghi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nhận</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46 BC + SQD</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chủ</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động</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600" b="0" i="0" u="none" strike="noStrike" kern="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06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theo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CV3245,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BCTN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được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phân</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loại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như</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sau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16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8" name="Rectangle 7"/>
          <p:cNvSpPr/>
          <p:nvPr/>
        </p:nvSpPr>
        <p:spPr>
          <a:xfrm>
            <a:off x="1452885" y="6141469"/>
            <a:ext cx="10743619" cy="338554"/>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KPI tháng 01/2025 không</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 năm 2025 là 53 BCTN/01 tháng. </a:t>
            </a:r>
          </a:p>
        </p:txBody>
      </p:sp>
      <p:graphicFrame>
        <p:nvGraphicFramePr>
          <p:cNvPr id="11" name="Chart 10"/>
          <p:cNvGraphicFramePr>
            <a:graphicFrameLocks/>
          </p:cNvGraphicFramePr>
          <p:nvPr>
            <p:extLst>
              <p:ext uri="{D42A27DB-BD31-4B8C-83A1-F6EECF244321}">
                <p14:modId xmlns:p14="http://schemas.microsoft.com/office/powerpoint/2010/main" val="461823197"/>
              </p:ext>
            </p:extLst>
          </p:nvPr>
        </p:nvGraphicFramePr>
        <p:xfrm>
          <a:off x="3984101" y="2079172"/>
          <a:ext cx="6686550" cy="39258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90298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5 - TỶ LỆ CẮT LỐP TÀU BAY</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1066800" y="5215635"/>
            <a:ext cx="10557353" cy="107721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01/2025 có 02 vụ việc tàu bay bị cắt lốp, giảm</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1</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 vụ việc tháng trước và giảm</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03 vụ so với 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01/2025 là 1.67 vụ/10000 CB, giảm 8.76 điểm so với tháng trước và giảm 2.93 điểm so với cùng kỳ 2024. </a:t>
            </a:r>
            <a:r>
              <a:rPr lang="en-US" sz="1600" kern="0" noProof="0">
                <a:solidFill>
                  <a:srgbClr val="000000"/>
                </a:solidFill>
                <a:latin typeface="Times New Roman" panose="02020603050405020304" pitchFamily="18" charset="0"/>
                <a:cs typeface="Times New Roman" panose="02020603050405020304" pitchFamily="18" charset="0"/>
                <a:sym typeface="Arial"/>
              </a:rPr>
              <a:t>Đ</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ạt mục tiêu năm 2025 là 5,67 vụ/ 10000 CB. </a:t>
            </a:r>
          </a:p>
        </p:txBody>
      </p:sp>
      <p:graphicFrame>
        <p:nvGraphicFramePr>
          <p:cNvPr id="11" name="Chart 10">
            <a:extLst>
              <a:ext uri="{FF2B5EF4-FFF2-40B4-BE49-F238E27FC236}">
                <a16:creationId xmlns:a16="http://schemas.microsoft.com/office/drawing/2014/main" id="{00000000-0008-0000-0400-000002000000}"/>
              </a:ext>
            </a:extLst>
          </p:cNvPr>
          <p:cNvGraphicFramePr>
            <a:graphicFrameLocks/>
          </p:cNvGraphicFramePr>
          <p:nvPr>
            <p:extLst>
              <p:ext uri="{D42A27DB-BD31-4B8C-83A1-F6EECF244321}">
                <p14:modId xmlns:p14="http://schemas.microsoft.com/office/powerpoint/2010/main" val="2767169519"/>
              </p:ext>
            </p:extLst>
          </p:nvPr>
        </p:nvGraphicFramePr>
        <p:xfrm>
          <a:off x="1160719" y="1553229"/>
          <a:ext cx="7738837" cy="328459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05930E83-BF54-42B2-B143-96E69E24AE6F}"/>
              </a:ext>
            </a:extLst>
          </p:cNvPr>
          <p:cNvGraphicFramePr>
            <a:graphicFrameLocks/>
          </p:cNvGraphicFramePr>
          <p:nvPr>
            <p:extLst>
              <p:ext uri="{D42A27DB-BD31-4B8C-83A1-F6EECF244321}">
                <p14:modId xmlns:p14="http://schemas.microsoft.com/office/powerpoint/2010/main" val="3460652855"/>
              </p:ext>
            </p:extLst>
          </p:nvPr>
        </p:nvGraphicFramePr>
        <p:xfrm>
          <a:off x="9077498" y="1553229"/>
          <a:ext cx="2463146" cy="328459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679604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Content Placeholder 4"/>
          <p:cNvSpPr txBox="1">
            <a:spLocks/>
          </p:cNvSpPr>
          <p:nvPr/>
        </p:nvSpPr>
        <p:spPr>
          <a:xfrm>
            <a:off x="804716" y="762000"/>
            <a:ext cx="10845572" cy="468569"/>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Bảng tổng hợp sự kiện lốp cắt tháng 01/2025</a:t>
            </a:r>
            <a:endParaRPr kumimoji="0" lang="en-US" sz="1867" b="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1670657948"/>
              </p:ext>
            </p:extLst>
          </p:nvPr>
        </p:nvGraphicFramePr>
        <p:xfrm>
          <a:off x="813029" y="1447800"/>
          <a:ext cx="10845573" cy="1722036"/>
        </p:xfrm>
        <a:graphic>
          <a:graphicData uri="http://schemas.openxmlformats.org/drawingml/2006/table">
            <a:tbl>
              <a:tblPr>
                <a:tableStyleId>{5C22544A-7EE6-4342-B048-85BDC9FD1C3A}</a:tableStyleId>
              </a:tblPr>
              <a:tblGrid>
                <a:gridCol w="262867">
                  <a:extLst>
                    <a:ext uri="{9D8B030D-6E8A-4147-A177-3AD203B41FA5}">
                      <a16:colId xmlns:a16="http://schemas.microsoft.com/office/drawing/2014/main" val="2556146720"/>
                    </a:ext>
                  </a:extLst>
                </a:gridCol>
                <a:gridCol w="703709">
                  <a:extLst>
                    <a:ext uri="{9D8B030D-6E8A-4147-A177-3AD203B41FA5}">
                      <a16:colId xmlns:a16="http://schemas.microsoft.com/office/drawing/2014/main" val="280978439"/>
                    </a:ext>
                  </a:extLst>
                </a:gridCol>
                <a:gridCol w="347041">
                  <a:extLst>
                    <a:ext uri="{9D8B030D-6E8A-4147-A177-3AD203B41FA5}">
                      <a16:colId xmlns:a16="http://schemas.microsoft.com/office/drawing/2014/main" val="1746553157"/>
                    </a:ext>
                  </a:extLst>
                </a:gridCol>
                <a:gridCol w="347041">
                  <a:extLst>
                    <a:ext uri="{9D8B030D-6E8A-4147-A177-3AD203B41FA5}">
                      <a16:colId xmlns:a16="http://schemas.microsoft.com/office/drawing/2014/main" val="789722712"/>
                    </a:ext>
                  </a:extLst>
                </a:gridCol>
                <a:gridCol w="470435">
                  <a:extLst>
                    <a:ext uri="{9D8B030D-6E8A-4147-A177-3AD203B41FA5}">
                      <a16:colId xmlns:a16="http://schemas.microsoft.com/office/drawing/2014/main" val="2014199728"/>
                    </a:ext>
                  </a:extLst>
                </a:gridCol>
                <a:gridCol w="358548">
                  <a:extLst>
                    <a:ext uri="{9D8B030D-6E8A-4147-A177-3AD203B41FA5}">
                      <a16:colId xmlns:a16="http://schemas.microsoft.com/office/drawing/2014/main" val="2145532655"/>
                    </a:ext>
                  </a:extLst>
                </a:gridCol>
                <a:gridCol w="353859">
                  <a:extLst>
                    <a:ext uri="{9D8B030D-6E8A-4147-A177-3AD203B41FA5}">
                      <a16:colId xmlns:a16="http://schemas.microsoft.com/office/drawing/2014/main" val="1204552570"/>
                    </a:ext>
                  </a:extLst>
                </a:gridCol>
                <a:gridCol w="556061">
                  <a:extLst>
                    <a:ext uri="{9D8B030D-6E8A-4147-A177-3AD203B41FA5}">
                      <a16:colId xmlns:a16="http://schemas.microsoft.com/office/drawing/2014/main" val="2320246163"/>
                    </a:ext>
                  </a:extLst>
                </a:gridCol>
                <a:gridCol w="798707">
                  <a:extLst>
                    <a:ext uri="{9D8B030D-6E8A-4147-A177-3AD203B41FA5}">
                      <a16:colId xmlns:a16="http://schemas.microsoft.com/office/drawing/2014/main" val="1665281072"/>
                    </a:ext>
                  </a:extLst>
                </a:gridCol>
                <a:gridCol w="647055">
                  <a:extLst>
                    <a:ext uri="{9D8B030D-6E8A-4147-A177-3AD203B41FA5}">
                      <a16:colId xmlns:a16="http://schemas.microsoft.com/office/drawing/2014/main" val="2420637937"/>
                    </a:ext>
                  </a:extLst>
                </a:gridCol>
                <a:gridCol w="556061">
                  <a:extLst>
                    <a:ext uri="{9D8B030D-6E8A-4147-A177-3AD203B41FA5}">
                      <a16:colId xmlns:a16="http://schemas.microsoft.com/office/drawing/2014/main" val="1784441051"/>
                    </a:ext>
                  </a:extLst>
                </a:gridCol>
                <a:gridCol w="444849">
                  <a:extLst>
                    <a:ext uri="{9D8B030D-6E8A-4147-A177-3AD203B41FA5}">
                      <a16:colId xmlns:a16="http://schemas.microsoft.com/office/drawing/2014/main" val="2454518777"/>
                    </a:ext>
                  </a:extLst>
                </a:gridCol>
                <a:gridCol w="606612">
                  <a:extLst>
                    <a:ext uri="{9D8B030D-6E8A-4147-A177-3AD203B41FA5}">
                      <a16:colId xmlns:a16="http://schemas.microsoft.com/office/drawing/2014/main" val="1946257698"/>
                    </a:ext>
                  </a:extLst>
                </a:gridCol>
                <a:gridCol w="687496">
                  <a:extLst>
                    <a:ext uri="{9D8B030D-6E8A-4147-A177-3AD203B41FA5}">
                      <a16:colId xmlns:a16="http://schemas.microsoft.com/office/drawing/2014/main" val="3539464948"/>
                    </a:ext>
                  </a:extLst>
                </a:gridCol>
                <a:gridCol w="606612">
                  <a:extLst>
                    <a:ext uri="{9D8B030D-6E8A-4147-A177-3AD203B41FA5}">
                      <a16:colId xmlns:a16="http://schemas.microsoft.com/office/drawing/2014/main" val="81123186"/>
                    </a:ext>
                  </a:extLst>
                </a:gridCol>
                <a:gridCol w="606612">
                  <a:extLst>
                    <a:ext uri="{9D8B030D-6E8A-4147-A177-3AD203B41FA5}">
                      <a16:colId xmlns:a16="http://schemas.microsoft.com/office/drawing/2014/main" val="2598074248"/>
                    </a:ext>
                  </a:extLst>
                </a:gridCol>
                <a:gridCol w="326055">
                  <a:extLst>
                    <a:ext uri="{9D8B030D-6E8A-4147-A177-3AD203B41FA5}">
                      <a16:colId xmlns:a16="http://schemas.microsoft.com/office/drawing/2014/main" val="3970312533"/>
                    </a:ext>
                  </a:extLst>
                </a:gridCol>
                <a:gridCol w="667273">
                  <a:extLst>
                    <a:ext uri="{9D8B030D-6E8A-4147-A177-3AD203B41FA5}">
                      <a16:colId xmlns:a16="http://schemas.microsoft.com/office/drawing/2014/main" val="3774492039"/>
                    </a:ext>
                  </a:extLst>
                </a:gridCol>
                <a:gridCol w="434741">
                  <a:extLst>
                    <a:ext uri="{9D8B030D-6E8A-4147-A177-3AD203B41FA5}">
                      <a16:colId xmlns:a16="http://schemas.microsoft.com/office/drawing/2014/main" val="637771663"/>
                    </a:ext>
                  </a:extLst>
                </a:gridCol>
                <a:gridCol w="1063939">
                  <a:extLst>
                    <a:ext uri="{9D8B030D-6E8A-4147-A177-3AD203B41FA5}">
                      <a16:colId xmlns:a16="http://schemas.microsoft.com/office/drawing/2014/main" val="3535789250"/>
                    </a:ext>
                  </a:extLst>
                </a:gridCol>
              </a:tblGrid>
              <a:tr h="783700">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STT</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Occur Date</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A/C</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 Type</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A/C </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err="1">
                          <a:effectLst/>
                          <a:latin typeface="Times New Roman" panose="02020603050405020304" pitchFamily="18" charset="0"/>
                          <a:cs typeface="Times New Roman" panose="02020603050405020304" pitchFamily="18" charset="0"/>
                        </a:rPr>
                        <a:t>Reg</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FLT No</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DEP</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ARR</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Station</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Location</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Phase</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Tire </a:t>
                      </a:r>
                      <a:r>
                        <a:rPr lang="en-US" sz="1100" u="none" strike="noStrike" dirty="0" err="1">
                          <a:effectLst/>
                          <a:latin typeface="Times New Roman" panose="02020603050405020304" pitchFamily="18" charset="0"/>
                          <a:cs typeface="Times New Roman" panose="02020603050405020304" pitchFamily="18" charset="0"/>
                        </a:rPr>
                        <a:t>Pos</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Áp suất </a:t>
                      </a:r>
                      <a:br>
                        <a:rPr lang="en-US" sz="1100" u="none" strike="noStrike">
                          <a:effectLst/>
                          <a:latin typeface="Times New Roman" panose="02020603050405020304" pitchFamily="18" charset="0"/>
                          <a:cs typeface="Times New Roman" panose="02020603050405020304" pitchFamily="18" charset="0"/>
                        </a:rPr>
                      </a:br>
                      <a:r>
                        <a:rPr lang="en-US" sz="1100" u="none" strike="noStrike">
                          <a:effectLst/>
                          <a:latin typeface="Times New Roman" panose="02020603050405020304" pitchFamily="18" charset="0"/>
                          <a:cs typeface="Times New Roman" panose="02020603050405020304" pitchFamily="18" charset="0"/>
                        </a:rPr>
                        <a:t>(psi)</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P/N WHEEL </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OFF</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S/N WHEEL </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OFF</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P/N</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TIRE OFF </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S/N</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TIRE OFF </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R/N</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Tire </a:t>
                      </a:r>
                      <a:r>
                        <a:rPr lang="en-US" sz="1100" u="none" strike="noStrike" dirty="0" err="1">
                          <a:effectLst/>
                          <a:latin typeface="Times New Roman" panose="02020603050405020304" pitchFamily="18" charset="0"/>
                          <a:cs typeface="Times New Roman" panose="02020603050405020304" pitchFamily="18" charset="0"/>
                        </a:rPr>
                        <a:t>manufacrer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err="1">
                          <a:effectLst/>
                          <a:latin typeface="Times New Roman" panose="02020603050405020304" pitchFamily="18" charset="0"/>
                          <a:cs typeface="Times New Roman" panose="02020603050405020304" pitchFamily="18" charset="0"/>
                        </a:rPr>
                        <a:t>Sô</a:t>
                      </a:r>
                      <a:r>
                        <a:rPr lang="en-US" sz="1100" u="none" strike="noStrike" dirty="0">
                          <a:effectLst/>
                          <a:latin typeface="Times New Roman" panose="02020603050405020304" pitchFamily="18" charset="0"/>
                          <a:cs typeface="Times New Roman" panose="02020603050405020304" pitchFamily="18" charset="0"/>
                        </a:rPr>
                        <a:t>́ CY</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Detailed Cut</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291912203"/>
                  </a:ext>
                </a:extLst>
              </a:tr>
              <a:tr h="422716">
                <a:tc>
                  <a:txBody>
                    <a:bodyPr/>
                    <a:lstStyle/>
                    <a:p>
                      <a:pPr algn="ctr" fontAlgn="ctr"/>
                      <a:r>
                        <a:rPr lang="en-US" sz="900" b="0" i="0" u="none" strike="noStrike">
                          <a:solidFill>
                            <a:srgbClr val="000000"/>
                          </a:solidFill>
                          <a:effectLst/>
                          <a:latin typeface="Times New Roman" panose="02020603050405020304" pitchFamily="18" charset="0"/>
                          <a:cs typeface="Times New Roman" panose="02020603050405020304" pitchFamily="18" charset="0"/>
                        </a:rPr>
                        <a:t>1</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26-Jan-25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A393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VN650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SIN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PARKING #12-TSN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RH NW</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3-1531-3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6824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M08201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4295T086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965566"/>
                  </a:ext>
                </a:extLst>
              </a:tr>
              <a:tr h="34031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06-Jan-25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ATR72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B218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VCS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0" i="0" u="none" strike="noStrike">
                          <a:solidFill>
                            <a:srgbClr val="000000"/>
                          </a:solidFill>
                          <a:effectLst/>
                          <a:latin typeface="Times New Roman" panose="02020603050405020304" pitchFamily="18" charset="0"/>
                          <a:cs typeface="Times New Roman" panose="02020603050405020304" pitchFamily="18" charset="0"/>
                        </a:rPr>
                        <a:t>SGN LINE</a:t>
                      </a:r>
                    </a:p>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MW</a:t>
                      </a:r>
                      <a:r>
                        <a:rPr lang="en-US" sz="1100" b="0" i="0" u="none" strike="noStrike" baseline="0">
                          <a:solidFill>
                            <a:srgbClr val="000000"/>
                          </a:solidFill>
                          <a:effectLst/>
                          <a:latin typeface="Times New Roman" panose="02020603050405020304" pitchFamily="18" charset="0"/>
                          <a:cs typeface="Times New Roman" panose="02020603050405020304" pitchFamily="18" charset="0"/>
                        </a:rPr>
                        <a:t> #1</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7010241"/>
                  </a:ext>
                </a:extLst>
              </a:tr>
            </a:tbl>
          </a:graphicData>
        </a:graphic>
      </p:graphicFrame>
    </p:spTree>
    <p:extLst>
      <p:ext uri="{BB962C8B-B14F-4D97-AF65-F5344CB8AC3E}">
        <p14:creationId xmlns:p14="http://schemas.microsoft.com/office/powerpoint/2010/main" val="345784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759111" y="1001892"/>
            <a:ext cx="10865043"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6 - TỶ LỆ DỮ LIỆU ĐẦU VÀO CHO HỆ THỐNG AGS/LOMS</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9" name="Table 8"/>
          <p:cNvGraphicFramePr>
            <a:graphicFrameLocks noGrp="1"/>
          </p:cNvGraphicFramePr>
          <p:nvPr>
            <p:extLst/>
          </p:nvPr>
        </p:nvGraphicFramePr>
        <p:xfrm>
          <a:off x="745254" y="5663096"/>
          <a:ext cx="10860874" cy="1079327"/>
        </p:xfrm>
        <a:graphic>
          <a:graphicData uri="http://schemas.openxmlformats.org/drawingml/2006/table">
            <a:tbl>
              <a:tblPr firstRow="1" bandRow="1">
                <a:tableStyleId>{5C22544A-7EE6-4342-B048-85BDC9FD1C3A}</a:tableStyleId>
              </a:tblPr>
              <a:tblGrid>
                <a:gridCol w="374651">
                  <a:extLst>
                    <a:ext uri="{9D8B030D-6E8A-4147-A177-3AD203B41FA5}">
                      <a16:colId xmlns:a16="http://schemas.microsoft.com/office/drawing/2014/main" val="20000"/>
                    </a:ext>
                  </a:extLst>
                </a:gridCol>
                <a:gridCol w="1795459">
                  <a:extLst>
                    <a:ext uri="{9D8B030D-6E8A-4147-A177-3AD203B41FA5}">
                      <a16:colId xmlns:a16="http://schemas.microsoft.com/office/drawing/2014/main" val="20001"/>
                    </a:ext>
                  </a:extLst>
                </a:gridCol>
                <a:gridCol w="413876">
                  <a:extLst>
                    <a:ext uri="{9D8B030D-6E8A-4147-A177-3AD203B41FA5}">
                      <a16:colId xmlns:a16="http://schemas.microsoft.com/office/drawing/2014/main" val="20002"/>
                    </a:ext>
                  </a:extLst>
                </a:gridCol>
                <a:gridCol w="2337184">
                  <a:extLst>
                    <a:ext uri="{9D8B030D-6E8A-4147-A177-3AD203B41FA5}">
                      <a16:colId xmlns:a16="http://schemas.microsoft.com/office/drawing/2014/main" val="20003"/>
                    </a:ext>
                  </a:extLst>
                </a:gridCol>
                <a:gridCol w="421992">
                  <a:extLst>
                    <a:ext uri="{9D8B030D-6E8A-4147-A177-3AD203B41FA5}">
                      <a16:colId xmlns:a16="http://schemas.microsoft.com/office/drawing/2014/main" val="20004"/>
                    </a:ext>
                  </a:extLst>
                </a:gridCol>
                <a:gridCol w="2556295">
                  <a:extLst>
                    <a:ext uri="{9D8B030D-6E8A-4147-A177-3AD203B41FA5}">
                      <a16:colId xmlns:a16="http://schemas.microsoft.com/office/drawing/2014/main" val="20005"/>
                    </a:ext>
                  </a:extLst>
                </a:gridCol>
                <a:gridCol w="421992">
                  <a:extLst>
                    <a:ext uri="{9D8B030D-6E8A-4147-A177-3AD203B41FA5}">
                      <a16:colId xmlns:a16="http://schemas.microsoft.com/office/drawing/2014/main" val="20006"/>
                    </a:ext>
                  </a:extLst>
                </a:gridCol>
                <a:gridCol w="2539425">
                  <a:extLst>
                    <a:ext uri="{9D8B030D-6E8A-4147-A177-3AD203B41FA5}">
                      <a16:colId xmlns:a16="http://schemas.microsoft.com/office/drawing/2014/main" val="20007"/>
                    </a:ext>
                  </a:extLst>
                </a:gridCol>
              </a:tblGrid>
              <a:tr h="1079327">
                <a:tc>
                  <a:txBody>
                    <a:bodyPr/>
                    <a:lstStyle/>
                    <a:p>
                      <a:endParaRPr lang="en-US" sz="2100" dirty="0">
                        <a:solidFill>
                          <a:schemeClr val="tx1"/>
                        </a:solidFill>
                      </a:endParaRPr>
                    </a:p>
                  </a:txBody>
                  <a:tcPr marL="121920" marR="121920" marT="60960" marB="6096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Đạt</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a:t>
                      </a:r>
                    </a:p>
                    <a:p>
                      <a:pPr algn="just"/>
                      <a:r>
                        <a:rPr lang="en-US" sz="1300" b="0" baseline="0" dirty="0" err="1">
                          <a:solidFill>
                            <a:schemeClr val="tx1"/>
                          </a:solidFill>
                          <a:latin typeface="Times New Roman" panose="02020603050405020304" pitchFamily="18" charset="0"/>
                          <a:cs typeface="Times New Roman" panose="02020603050405020304" pitchFamily="18" charset="0"/>
                        </a:rPr>
                        <a:t>Tiếp</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theo</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dõi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không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cần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hành</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động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bổ</a:t>
                      </a:r>
                      <a:r>
                        <a:rPr lang="en-US" sz="1300" b="0" baseline="0" dirty="0">
                          <a:solidFill>
                            <a:schemeClr val="tx1"/>
                          </a:solidFill>
                          <a:latin typeface="Times New Roman" panose="02020603050405020304" pitchFamily="18" charset="0"/>
                          <a:cs typeface="Times New Roman" panose="02020603050405020304" pitchFamily="18" charset="0"/>
                        </a:rPr>
                        <a:t> sung.</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đến</a:t>
                      </a:r>
                      <a:r>
                        <a:rPr lang="en-US" sz="1300" b="1" baseline="0" dirty="0">
                          <a:solidFill>
                            <a:schemeClr val="tx1"/>
                          </a:solidFill>
                          <a:latin typeface="Times New Roman" panose="02020603050405020304" pitchFamily="18" charset="0"/>
                          <a:cs typeface="Times New Roman" panose="02020603050405020304" pitchFamily="18" charset="0"/>
                        </a:rPr>
                        <a:t> 5%.</a:t>
                      </a:r>
                    </a:p>
                    <a:p>
                      <a:pPr algn="just"/>
                      <a:r>
                        <a:rPr lang="en-US" sz="1300" b="0" baseline="0" dirty="0">
                          <a:solidFill>
                            <a:schemeClr val="tx1"/>
                          </a:solidFill>
                          <a:latin typeface="Times New Roman" panose="02020603050405020304" pitchFamily="18" charset="0"/>
                          <a:cs typeface="Times New Roman" panose="02020603050405020304" pitchFamily="18" charset="0"/>
                        </a:rPr>
                        <a:t>Theo </a:t>
                      </a:r>
                      <a:r>
                        <a:rPr lang="en-US" sz="1300" b="0" baseline="0" dirty="0" err="1">
                          <a:solidFill>
                            <a:schemeClr val="tx1"/>
                          </a:solidFill>
                          <a:latin typeface="Times New Roman" panose="02020603050405020304" pitchFamily="18" charset="0"/>
                          <a:cs typeface="Times New Roman" panose="02020603050405020304" pitchFamily="18" charset="0"/>
                        </a:rPr>
                        <a:t>dõi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Nếu</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3 </a:t>
                      </a:r>
                      <a:r>
                        <a:rPr lang="en-US" sz="1300" b="0" baseline="0" dirty="0" err="1">
                          <a:solidFill>
                            <a:schemeClr val="tx1"/>
                          </a:solidFill>
                          <a:latin typeface="Times New Roman" panose="02020603050405020304" pitchFamily="18" charset="0"/>
                          <a:cs typeface="Times New Roman" panose="02020603050405020304" pitchFamily="18" charset="0"/>
                        </a:rPr>
                        <a:t>tháng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liên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thì</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tìm</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từ</a:t>
                      </a:r>
                      <a:r>
                        <a:rPr lang="en-US" sz="1300" b="1" baseline="0" dirty="0">
                          <a:solidFill>
                            <a:schemeClr val="tx1"/>
                          </a:solidFill>
                          <a:latin typeface="Times New Roman" panose="02020603050405020304" pitchFamily="18" charset="0"/>
                          <a:cs typeface="Times New Roman" panose="02020603050405020304" pitchFamily="18" charset="0"/>
                        </a:rPr>
                        <a:t> 6-10%.</a:t>
                      </a:r>
                    </a:p>
                    <a:p>
                      <a:pPr algn="just"/>
                      <a:r>
                        <a:rPr lang="en-US" sz="1300" b="0" baseline="0" dirty="0" err="1">
                          <a:solidFill>
                            <a:schemeClr val="tx1"/>
                          </a:solidFill>
                          <a:latin typeface="Times New Roman" panose="02020603050405020304" pitchFamily="18" charset="0"/>
                          <a:cs typeface="Times New Roman" panose="02020603050405020304" pitchFamily="18" charset="0"/>
                        </a:rPr>
                        <a:t>Nếu</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2 </a:t>
                      </a:r>
                      <a:r>
                        <a:rPr lang="en-US" sz="1300" b="0" baseline="0" dirty="0" err="1">
                          <a:solidFill>
                            <a:schemeClr val="tx1"/>
                          </a:solidFill>
                          <a:latin typeface="Times New Roman" panose="02020603050405020304" pitchFamily="18" charset="0"/>
                          <a:cs typeface="Times New Roman" panose="02020603050405020304" pitchFamily="18" charset="0"/>
                        </a:rPr>
                        <a:t>tháng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liên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thì</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tìm</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 </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từ</a:t>
                      </a:r>
                      <a:r>
                        <a:rPr lang="en-US" sz="1300" b="1" baseline="0" dirty="0">
                          <a:solidFill>
                            <a:schemeClr val="tx1"/>
                          </a:solidFill>
                          <a:latin typeface="Times New Roman" panose="02020603050405020304" pitchFamily="18" charset="0"/>
                          <a:cs typeface="Times New Roman" panose="02020603050405020304" pitchFamily="18" charset="0"/>
                        </a:rPr>
                        <a:t> 11%.</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b="0" baseline="0" dirty="0" err="1">
                          <a:solidFill>
                            <a:schemeClr val="tx1"/>
                          </a:solidFill>
                          <a:latin typeface="Times New Roman" panose="02020603050405020304" pitchFamily="18" charset="0"/>
                          <a:cs typeface="Times New Roman" panose="02020603050405020304" pitchFamily="18" charset="0"/>
                        </a:rPr>
                        <a:t>Khi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xác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định</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356522264"/>
              </p:ext>
            </p:extLst>
          </p:nvPr>
        </p:nvGraphicFramePr>
        <p:xfrm>
          <a:off x="759109" y="1462227"/>
          <a:ext cx="10823570" cy="3522909"/>
        </p:xfrm>
        <a:graphic>
          <a:graphicData uri="http://schemas.openxmlformats.org/drawingml/2006/table">
            <a:tbl>
              <a:tblPr firstRow="1" bandRow="1">
                <a:tableStyleId>{5C22544A-7EE6-4342-B048-85BDC9FD1C3A}</a:tableStyleId>
              </a:tblPr>
              <a:tblGrid>
                <a:gridCol w="693909">
                  <a:extLst>
                    <a:ext uri="{9D8B030D-6E8A-4147-A177-3AD203B41FA5}">
                      <a16:colId xmlns:a16="http://schemas.microsoft.com/office/drawing/2014/main" val="20000"/>
                    </a:ext>
                  </a:extLst>
                </a:gridCol>
                <a:gridCol w="826719">
                  <a:extLst>
                    <a:ext uri="{9D8B030D-6E8A-4147-A177-3AD203B41FA5}">
                      <a16:colId xmlns:a16="http://schemas.microsoft.com/office/drawing/2014/main" val="20001"/>
                    </a:ext>
                  </a:extLst>
                </a:gridCol>
                <a:gridCol w="634652">
                  <a:extLst>
                    <a:ext uri="{9D8B030D-6E8A-4147-A177-3AD203B41FA5}">
                      <a16:colId xmlns:a16="http://schemas.microsoft.com/office/drawing/2014/main" val="20002"/>
                    </a:ext>
                  </a:extLst>
                </a:gridCol>
                <a:gridCol w="509392">
                  <a:extLst>
                    <a:ext uri="{9D8B030D-6E8A-4147-A177-3AD203B41FA5}">
                      <a16:colId xmlns:a16="http://schemas.microsoft.com/office/drawing/2014/main" val="20003"/>
                    </a:ext>
                  </a:extLst>
                </a:gridCol>
                <a:gridCol w="542795">
                  <a:extLst>
                    <a:ext uri="{9D8B030D-6E8A-4147-A177-3AD203B41FA5}">
                      <a16:colId xmlns:a16="http://schemas.microsoft.com/office/drawing/2014/main" val="20004"/>
                    </a:ext>
                  </a:extLst>
                </a:gridCol>
                <a:gridCol w="630408">
                  <a:extLst>
                    <a:ext uri="{9D8B030D-6E8A-4147-A177-3AD203B41FA5}">
                      <a16:colId xmlns:a16="http://schemas.microsoft.com/office/drawing/2014/main" val="20005"/>
                    </a:ext>
                  </a:extLst>
                </a:gridCol>
                <a:gridCol w="518478">
                  <a:extLst>
                    <a:ext uri="{9D8B030D-6E8A-4147-A177-3AD203B41FA5}">
                      <a16:colId xmlns:a16="http://schemas.microsoft.com/office/drawing/2014/main" val="20006"/>
                    </a:ext>
                  </a:extLst>
                </a:gridCol>
                <a:gridCol w="543723">
                  <a:extLst>
                    <a:ext uri="{9D8B030D-6E8A-4147-A177-3AD203B41FA5}">
                      <a16:colId xmlns:a16="http://schemas.microsoft.com/office/drawing/2014/main" val="20007"/>
                    </a:ext>
                  </a:extLst>
                </a:gridCol>
                <a:gridCol w="641105">
                  <a:extLst>
                    <a:ext uri="{9D8B030D-6E8A-4147-A177-3AD203B41FA5}">
                      <a16:colId xmlns:a16="http://schemas.microsoft.com/office/drawing/2014/main" val="20008"/>
                    </a:ext>
                  </a:extLst>
                </a:gridCol>
                <a:gridCol w="608644">
                  <a:extLst>
                    <a:ext uri="{9D8B030D-6E8A-4147-A177-3AD203B41FA5}">
                      <a16:colId xmlns:a16="http://schemas.microsoft.com/office/drawing/2014/main" val="20009"/>
                    </a:ext>
                  </a:extLst>
                </a:gridCol>
                <a:gridCol w="592413">
                  <a:extLst>
                    <a:ext uri="{9D8B030D-6E8A-4147-A177-3AD203B41FA5}">
                      <a16:colId xmlns:a16="http://schemas.microsoft.com/office/drawing/2014/main" val="20010"/>
                    </a:ext>
                  </a:extLst>
                </a:gridCol>
                <a:gridCol w="624875">
                  <a:extLst>
                    <a:ext uri="{9D8B030D-6E8A-4147-A177-3AD203B41FA5}">
                      <a16:colId xmlns:a16="http://schemas.microsoft.com/office/drawing/2014/main" val="20011"/>
                    </a:ext>
                  </a:extLst>
                </a:gridCol>
                <a:gridCol w="543723">
                  <a:extLst>
                    <a:ext uri="{9D8B030D-6E8A-4147-A177-3AD203B41FA5}">
                      <a16:colId xmlns:a16="http://schemas.microsoft.com/office/drawing/2014/main" val="20012"/>
                    </a:ext>
                  </a:extLst>
                </a:gridCol>
                <a:gridCol w="559952">
                  <a:extLst>
                    <a:ext uri="{9D8B030D-6E8A-4147-A177-3AD203B41FA5}">
                      <a16:colId xmlns:a16="http://schemas.microsoft.com/office/drawing/2014/main" val="20013"/>
                    </a:ext>
                  </a:extLst>
                </a:gridCol>
                <a:gridCol w="608643">
                  <a:extLst>
                    <a:ext uri="{9D8B030D-6E8A-4147-A177-3AD203B41FA5}">
                      <a16:colId xmlns:a16="http://schemas.microsoft.com/office/drawing/2014/main" val="20014"/>
                    </a:ext>
                  </a:extLst>
                </a:gridCol>
                <a:gridCol w="665451">
                  <a:extLst>
                    <a:ext uri="{9D8B030D-6E8A-4147-A177-3AD203B41FA5}">
                      <a16:colId xmlns:a16="http://schemas.microsoft.com/office/drawing/2014/main" val="20015"/>
                    </a:ext>
                  </a:extLst>
                </a:gridCol>
                <a:gridCol w="1078688">
                  <a:extLst>
                    <a:ext uri="{9D8B030D-6E8A-4147-A177-3AD203B41FA5}">
                      <a16:colId xmlns:a16="http://schemas.microsoft.com/office/drawing/2014/main" val="20016"/>
                    </a:ext>
                  </a:extLst>
                </a:gridCol>
              </a:tblGrid>
              <a:tr h="364836">
                <a:tc rowSpan="2" gridSpan="2">
                  <a:txBody>
                    <a:bodyPr/>
                    <a:lstStyle/>
                    <a:p>
                      <a:pPr algn="ctr"/>
                      <a:r>
                        <a:rPr lang="en-US" sz="1200" b="1" dirty="0" err="1">
                          <a:solidFill>
                            <a:schemeClr val="tx1"/>
                          </a:solidFill>
                          <a:latin typeface="Times New Roman" panose="02020603050405020304" pitchFamily="18" charset="0"/>
                          <a:cs typeface="Times New Roman" panose="02020603050405020304" pitchFamily="18" charset="0"/>
                        </a:rPr>
                        <a:t>Đội</a:t>
                      </a:r>
                      <a:r>
                        <a:rPr lang="en-US" sz="1200" b="1" baseline="0" dirty="0">
                          <a:solidFill>
                            <a:schemeClr val="tx1"/>
                          </a:solidFill>
                          <a:latin typeface="Times New Roman" panose="02020603050405020304" pitchFamily="18" charset="0"/>
                          <a:cs typeface="Times New Roman" panose="02020603050405020304" pitchFamily="18" charset="0"/>
                        </a:rPr>
                        <a:t> bay</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ctr"/>
                      <a:endParaRPr lang="en-US" sz="1600" dirty="0"/>
                    </a:p>
                  </a:txBody>
                  <a:tcPr anchor="ctr"/>
                </a:tc>
                <a:tc rowSpan="2">
                  <a:txBody>
                    <a:bodyPr/>
                    <a:lstStyle/>
                    <a:p>
                      <a:pPr algn="ctr"/>
                      <a:r>
                        <a:rPr lang="en-US" sz="1200" b="1" dirty="0">
                          <a:solidFill>
                            <a:schemeClr val="tx1"/>
                          </a:solidFill>
                          <a:latin typeface="Times New Roman" panose="02020603050405020304" pitchFamily="18" charset="0"/>
                          <a:cs typeface="Times New Roman" panose="02020603050405020304" pitchFamily="18" charset="0"/>
                        </a:rPr>
                        <a:t>MT</a:t>
                      </a:r>
                    </a:p>
                    <a:p>
                      <a:pPr algn="ctr"/>
                      <a:r>
                        <a:rPr lang="en-US" sz="1200" b="1">
                          <a:solidFill>
                            <a:schemeClr val="tx1"/>
                          </a:solidFill>
                          <a:latin typeface="Times New Roman" panose="02020603050405020304" pitchFamily="18" charset="0"/>
                          <a:cs typeface="Times New Roman" panose="02020603050405020304" pitchFamily="18" charset="0"/>
                        </a:rPr>
                        <a:t>2025</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12">
                  <a:txBody>
                    <a:bodyPr/>
                    <a:lstStyle/>
                    <a:p>
                      <a:pPr algn="ctr"/>
                      <a:r>
                        <a:rPr lang="en-US" sz="1300" b="1" dirty="0" err="1">
                          <a:solidFill>
                            <a:schemeClr val="tx1"/>
                          </a:solidFill>
                          <a:latin typeface="Times New Roman" panose="02020603050405020304" pitchFamily="18" charset="0"/>
                          <a:cs typeface="Times New Roman" panose="02020603050405020304" pitchFamily="18" charset="0"/>
                        </a:rPr>
                        <a:t>Giá</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trị</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thực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hiện</a:t>
                      </a:r>
                      <a:r>
                        <a:rPr lang="en-US" sz="1300" b="1" baseline="0" dirty="0">
                          <a:solidFill>
                            <a:schemeClr val="tx1"/>
                          </a:solidFill>
                          <a:latin typeface="Times New Roman" panose="02020603050405020304" pitchFamily="18" charset="0"/>
                          <a:cs typeface="Times New Roman" panose="02020603050405020304" pitchFamily="18" charset="0"/>
                        </a:rPr>
                        <a:t>  (%)</a:t>
                      </a:r>
                      <a:endParaRPr lang="en-US" sz="13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rowSpan="2">
                  <a:txBody>
                    <a:bodyPr/>
                    <a:lstStyle/>
                    <a:p>
                      <a:pPr algn="ctr"/>
                      <a:r>
                        <a:rPr lang="en-US" sz="1200" b="1">
                          <a:solidFill>
                            <a:schemeClr val="tx1"/>
                          </a:solidFill>
                          <a:latin typeface="Times New Roman" panose="02020603050405020304" pitchFamily="18" charset="0"/>
                          <a:cs typeface="Times New Roman" panose="02020603050405020304" pitchFamily="18" charset="0"/>
                        </a:rPr>
                        <a:t>MT</a:t>
                      </a:r>
                      <a:endParaRPr lang="en-US" sz="1200" b="1" dirty="0">
                        <a:solidFill>
                          <a:schemeClr val="tx1"/>
                        </a:solidFill>
                        <a:latin typeface="Times New Roman" panose="02020603050405020304" pitchFamily="18" charset="0"/>
                        <a:cs typeface="Times New Roman" panose="02020603050405020304" pitchFamily="18" charset="0"/>
                      </a:endParaRPr>
                    </a:p>
                    <a:p>
                      <a:pPr algn="ctr"/>
                      <a:r>
                        <a:rPr lang="en-US" sz="1200" b="1">
                          <a:solidFill>
                            <a:schemeClr val="tx1"/>
                          </a:solidFill>
                          <a:latin typeface="Times New Roman" panose="02020603050405020304" pitchFamily="18" charset="0"/>
                          <a:cs typeface="Times New Roman" panose="02020603050405020304" pitchFamily="18" charset="0"/>
                        </a:rPr>
                        <a:t>2024</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1200" b="1" err="1">
                          <a:solidFill>
                            <a:schemeClr val="tx1"/>
                          </a:solidFill>
                          <a:latin typeface="Times New Roman" panose="02020603050405020304" pitchFamily="18" charset="0"/>
                          <a:cs typeface="Times New Roman" panose="02020603050405020304" pitchFamily="18" charset="0"/>
                        </a:rPr>
                        <a:t>Đánh</a:t>
                      </a:r>
                      <a:r>
                        <a:rPr lang="en-US" sz="1200" b="1" baseline="0">
                          <a:solidFill>
                            <a:schemeClr val="tx1"/>
                          </a:solidFill>
                          <a:latin typeface="Times New Roman" panose="02020603050405020304" pitchFamily="18" charset="0"/>
                          <a:cs typeface="Times New Roman" panose="02020603050405020304" pitchFamily="18" charset="0"/>
                        </a:rPr>
                        <a:t> giá 2025</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1103">
                <a:tc gridSpan="2" vMerge="1">
                  <a:txBody>
                    <a:bodyPr/>
                    <a:lstStyle/>
                    <a:p>
                      <a:endParaRPr lang="en-US" dirty="0"/>
                    </a:p>
                  </a:txBody>
                  <a:tcPr/>
                </a:tc>
                <a:tc hMerge="1" vMerge="1">
                  <a:txBody>
                    <a:bodyPr/>
                    <a:lstStyle/>
                    <a:p>
                      <a:endParaRPr lang="en-US" dirty="0"/>
                    </a:p>
                  </a:txBody>
                  <a:tcPr/>
                </a:tc>
                <a:tc vMerge="1">
                  <a:txBody>
                    <a:bodyPr/>
                    <a:lstStyle/>
                    <a:p>
                      <a:endParaRPr lang="en-US" dirty="0"/>
                    </a:p>
                  </a:txBody>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Jan</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Feb</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Mar</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Apr</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May</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Jun</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Jul</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Aug</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Sep</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Oct</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Nov</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Dec</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0001"/>
                  </a:ext>
                </a:extLst>
              </a:tr>
              <a:tr h="436498">
                <a:tc gridSpan="2">
                  <a:txBody>
                    <a:bodyPr/>
                    <a:lstStyle/>
                    <a:p>
                      <a:r>
                        <a:rPr lang="en-US" sz="1200">
                          <a:latin typeface="Times New Roman" panose="02020603050405020304" pitchFamily="18" charset="0"/>
                          <a:cs typeface="Times New Roman" panose="02020603050405020304" pitchFamily="18" charset="0"/>
                        </a:rPr>
                        <a:t>B787</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89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15000"/>
                        </a:lnSpc>
                        <a:spcAft>
                          <a:spcPts val="0"/>
                        </a:spcAft>
                      </a:pP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15000"/>
                        </a:lnSpc>
                        <a:spcAft>
                          <a:spcPts val="0"/>
                        </a:spcAft>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36498">
                <a:tc gridSpan="2">
                  <a:txBody>
                    <a:bodyPr/>
                    <a:lstStyle/>
                    <a:p>
                      <a:pPr marL="0" algn="l" defTabSz="914400" rtl="0" eaLnBrk="1" latinLnBrk="0" hangingPunct="1"/>
                      <a:r>
                        <a:rPr lang="en-US" sz="1200">
                          <a:latin typeface="Times New Roman" panose="02020603050405020304" pitchFamily="18" charset="0"/>
                          <a:cs typeface="Times New Roman" panose="02020603050405020304" pitchFamily="18" charset="0"/>
                        </a:rPr>
                        <a:t>A350</a:t>
                      </a:r>
                      <a:endParaRPr lang="en-US" sz="1200" b="1" kern="1200" dirty="0">
                        <a:solidFill>
                          <a:srgbClr val="0070C0"/>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98</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15000"/>
                        </a:lnSpc>
                        <a:spcAft>
                          <a:spcPts val="0"/>
                        </a:spcAft>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42952">
                <a:tc>
                  <a:txBody>
                    <a:bodyPr/>
                    <a:lstStyle/>
                    <a:p>
                      <a:r>
                        <a:rPr lang="en-US" sz="1300">
                          <a:latin typeface="Times New Roman" panose="02020603050405020304" pitchFamily="18" charset="0"/>
                          <a:cs typeface="Times New Roman" panose="02020603050405020304" pitchFamily="18" charset="0"/>
                        </a:rPr>
                        <a:t>A320A321</a:t>
                      </a:r>
                      <a:endParaRPr lang="en-US" sz="13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b="1">
                          <a:latin typeface="Times New Roman" panose="02020603050405020304" pitchFamily="18" charset="0"/>
                          <a:cs typeface="Times New Roman" panose="02020603050405020304" pitchFamily="18" charset="0"/>
                        </a:rPr>
                        <a:t>QAR</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92</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0"/>
                        </a:spcAft>
                      </a:pP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15000"/>
                        </a:lnSpc>
                        <a:spcAft>
                          <a:spcPts val="0"/>
                        </a:spcAft>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78026">
                <a:tc>
                  <a:txBody>
                    <a:bodyPr/>
                    <a:lstStyle/>
                    <a:p>
                      <a:r>
                        <a:rPr lang="en-US" sz="1300" dirty="0">
                          <a:latin typeface="Times New Roman" panose="02020603050405020304" pitchFamily="18" charset="0"/>
                          <a:cs typeface="Times New Roman" panose="02020603050405020304" pitchFamily="18" charset="0"/>
                        </a:rPr>
                        <a:t>A321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b="1">
                          <a:latin typeface="Times New Roman" panose="02020603050405020304" pitchFamily="18" charset="0"/>
                          <a:cs typeface="Times New Roman" panose="02020603050405020304" pitchFamily="18" charset="0"/>
                        </a:rPr>
                        <a:t>NEO</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96</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15000"/>
                        </a:lnSpc>
                        <a:spcAft>
                          <a:spcPts val="0"/>
                        </a:spcAft>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36498">
                <a:tc gridSpan="2">
                  <a:txBody>
                    <a:bodyPr/>
                    <a:lstStyle/>
                    <a:p>
                      <a:r>
                        <a:rPr lang="en-US" sz="1200">
                          <a:latin typeface="Times New Roman" panose="02020603050405020304" pitchFamily="18" charset="0"/>
                          <a:cs typeface="Times New Roman" panose="02020603050405020304" pitchFamily="18" charset="0"/>
                        </a:rPr>
                        <a:t>ATR</a:t>
                      </a:r>
                      <a:endParaRPr lang="en-US" sz="1200" b="1" kern="1200" dirty="0">
                        <a:solidFill>
                          <a:srgbClr val="0070C0"/>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99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15000"/>
                        </a:lnSpc>
                        <a:spcAft>
                          <a:spcPts val="0"/>
                        </a:spcAft>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36498">
                <a:tc gridSpan="2">
                  <a:txBody>
                    <a:bodyPr/>
                    <a:lstStyle/>
                    <a:p>
                      <a:r>
                        <a:rPr lang="en-US" sz="1200" b="1" i="1">
                          <a:latin typeface="Times New Roman" panose="02020603050405020304" pitchFamily="18" charset="0"/>
                          <a:cs typeface="Times New Roman" panose="02020603050405020304" pitchFamily="18" charset="0"/>
                        </a:rPr>
                        <a:t>Total</a:t>
                      </a:r>
                      <a:endParaRPr lang="en-US" sz="1200" b="1" i="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latin typeface="Times New Roman" panose="02020603050405020304" pitchFamily="18" charset="0"/>
                          <a:cs typeface="Times New Roman" panose="02020603050405020304" pitchFamily="18" charset="0"/>
                        </a:rPr>
                        <a:t>94</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kern="1200">
                          <a:solidFill>
                            <a:srgbClr val="000000"/>
                          </a:solidFill>
                          <a:effectLst/>
                          <a:latin typeface="Times New Roman" panose="02020603050405020304" pitchFamily="18" charset="0"/>
                          <a:ea typeface="Calibri"/>
                          <a:cs typeface="Times New Roman" panose="02020603050405020304" pitchFamily="18" charset="0"/>
                        </a:rPr>
                        <a:t>94%</a:t>
                      </a:r>
                      <a:endParaRPr lang="en-US" sz="1200"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479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7 - TỶ LỆ VỤ VIỆC THIẾT BỊ R</a:t>
            </a:r>
            <a:r>
              <a:rPr kumimoji="0" lang="vi-VN"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Ơ</a:t>
            </a: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I KHỎI MÁY BAY (PDA)</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3" y="4924584"/>
            <a:ext cx="10743619" cy="107721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01/2025 có 02 vụ việc thiết bị r</a:t>
            </a:r>
            <a:r>
              <a:rPr kumimoji="0" lang="vi-VN"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ơ</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i khỏi tàu bay, giảm 01 vụ so với tháng trước và bằng</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số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so với 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01/2025 là 1.67 vụ/10000CB, giảm</a:t>
            </a:r>
            <a:r>
              <a:rPr kumimoji="0" lang="en-US"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0.94</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điểm so với tháng trước và giảm 0.17 điểm so với cùng kỳ 2024. </a:t>
            </a:r>
            <a:r>
              <a:rPr lang="en-US" sz="1600" kern="0">
                <a:solidFill>
                  <a:srgbClr val="000000"/>
                </a:solidFill>
                <a:latin typeface="Times New Roman" panose="02020603050405020304" pitchFamily="18" charset="0"/>
                <a:cs typeface="Times New Roman" panose="02020603050405020304" pitchFamily="18" charset="0"/>
                <a:sym typeface="Arial"/>
              </a:rPr>
              <a:t>Đ</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ạt mục tiêu năm 2025 là 1.69 vụ/10000CB. </a:t>
            </a:r>
          </a:p>
        </p:txBody>
      </p:sp>
      <p:graphicFrame>
        <p:nvGraphicFramePr>
          <p:cNvPr id="11" name="Chart 10">
            <a:extLst>
              <a:ext uri="{FF2B5EF4-FFF2-40B4-BE49-F238E27FC236}">
                <a16:creationId xmlns:a16="http://schemas.microsoft.com/office/drawing/2014/main" id="{27C5D5AD-8D42-4015-9AB5-CEAD88A7C484}"/>
              </a:ext>
            </a:extLst>
          </p:cNvPr>
          <p:cNvGraphicFramePr>
            <a:graphicFrameLocks/>
          </p:cNvGraphicFramePr>
          <p:nvPr>
            <p:extLst>
              <p:ext uri="{D42A27DB-BD31-4B8C-83A1-F6EECF244321}">
                <p14:modId xmlns:p14="http://schemas.microsoft.com/office/powerpoint/2010/main" val="2228494789"/>
              </p:ext>
            </p:extLst>
          </p:nvPr>
        </p:nvGraphicFramePr>
        <p:xfrm>
          <a:off x="985381" y="1553228"/>
          <a:ext cx="8042241" cy="3284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EBE1F88D-F545-4B51-B0C1-D6E2B55435D3}"/>
              </a:ext>
            </a:extLst>
          </p:cNvPr>
          <p:cNvGraphicFramePr>
            <a:graphicFrameLocks/>
          </p:cNvGraphicFramePr>
          <p:nvPr>
            <p:extLst>
              <p:ext uri="{D42A27DB-BD31-4B8C-83A1-F6EECF244321}">
                <p14:modId xmlns:p14="http://schemas.microsoft.com/office/powerpoint/2010/main" val="497994861"/>
              </p:ext>
            </p:extLst>
          </p:nvPr>
        </p:nvGraphicFramePr>
        <p:xfrm>
          <a:off x="9177251" y="1553228"/>
          <a:ext cx="2363394" cy="32846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213796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graphicFrame>
        <p:nvGraphicFramePr>
          <p:cNvPr id="4" name="Table 3"/>
          <p:cNvGraphicFramePr>
            <a:graphicFrameLocks noGrp="1"/>
          </p:cNvGraphicFramePr>
          <p:nvPr>
            <p:extLst>
              <p:ext uri="{D42A27DB-BD31-4B8C-83A1-F6EECF244321}">
                <p14:modId xmlns:p14="http://schemas.microsoft.com/office/powerpoint/2010/main" val="1948533442"/>
              </p:ext>
            </p:extLst>
          </p:nvPr>
        </p:nvGraphicFramePr>
        <p:xfrm>
          <a:off x="908480" y="1508389"/>
          <a:ext cx="10633095" cy="3337017"/>
        </p:xfrm>
        <a:graphic>
          <a:graphicData uri="http://schemas.openxmlformats.org/drawingml/2006/table">
            <a:tbl>
              <a:tblPr/>
              <a:tblGrid>
                <a:gridCol w="328993">
                  <a:extLst>
                    <a:ext uri="{9D8B030D-6E8A-4147-A177-3AD203B41FA5}">
                      <a16:colId xmlns:a16="http://schemas.microsoft.com/office/drawing/2014/main" val="4288310163"/>
                    </a:ext>
                  </a:extLst>
                </a:gridCol>
                <a:gridCol w="566921">
                  <a:extLst>
                    <a:ext uri="{9D8B030D-6E8A-4147-A177-3AD203B41FA5}">
                      <a16:colId xmlns:a16="http://schemas.microsoft.com/office/drawing/2014/main" val="437831638"/>
                    </a:ext>
                  </a:extLst>
                </a:gridCol>
                <a:gridCol w="475181">
                  <a:extLst>
                    <a:ext uri="{9D8B030D-6E8A-4147-A177-3AD203B41FA5}">
                      <a16:colId xmlns:a16="http://schemas.microsoft.com/office/drawing/2014/main" val="3588523982"/>
                    </a:ext>
                  </a:extLst>
                </a:gridCol>
                <a:gridCol w="547667">
                  <a:extLst>
                    <a:ext uri="{9D8B030D-6E8A-4147-A177-3AD203B41FA5}">
                      <a16:colId xmlns:a16="http://schemas.microsoft.com/office/drawing/2014/main" val="3041379110"/>
                    </a:ext>
                  </a:extLst>
                </a:gridCol>
                <a:gridCol w="515449">
                  <a:extLst>
                    <a:ext uri="{9D8B030D-6E8A-4147-A177-3AD203B41FA5}">
                      <a16:colId xmlns:a16="http://schemas.microsoft.com/office/drawing/2014/main" val="4122108199"/>
                    </a:ext>
                  </a:extLst>
                </a:gridCol>
                <a:gridCol w="557077">
                  <a:extLst>
                    <a:ext uri="{9D8B030D-6E8A-4147-A177-3AD203B41FA5}">
                      <a16:colId xmlns:a16="http://schemas.microsoft.com/office/drawing/2014/main" val="1567101728"/>
                    </a:ext>
                  </a:extLst>
                </a:gridCol>
                <a:gridCol w="526093">
                  <a:extLst>
                    <a:ext uri="{9D8B030D-6E8A-4147-A177-3AD203B41FA5}">
                      <a16:colId xmlns:a16="http://schemas.microsoft.com/office/drawing/2014/main" val="189086330"/>
                    </a:ext>
                  </a:extLst>
                </a:gridCol>
                <a:gridCol w="1478072">
                  <a:extLst>
                    <a:ext uri="{9D8B030D-6E8A-4147-A177-3AD203B41FA5}">
                      <a16:colId xmlns:a16="http://schemas.microsoft.com/office/drawing/2014/main" val="3806539691"/>
                    </a:ext>
                  </a:extLst>
                </a:gridCol>
                <a:gridCol w="726509">
                  <a:extLst>
                    <a:ext uri="{9D8B030D-6E8A-4147-A177-3AD203B41FA5}">
                      <a16:colId xmlns:a16="http://schemas.microsoft.com/office/drawing/2014/main" val="2040033175"/>
                    </a:ext>
                  </a:extLst>
                </a:gridCol>
                <a:gridCol w="609411">
                  <a:extLst>
                    <a:ext uri="{9D8B030D-6E8A-4147-A177-3AD203B41FA5}">
                      <a16:colId xmlns:a16="http://schemas.microsoft.com/office/drawing/2014/main" val="2018227743"/>
                    </a:ext>
                  </a:extLst>
                </a:gridCol>
                <a:gridCol w="676595">
                  <a:extLst>
                    <a:ext uri="{9D8B030D-6E8A-4147-A177-3AD203B41FA5}">
                      <a16:colId xmlns:a16="http://schemas.microsoft.com/office/drawing/2014/main" val="510124"/>
                    </a:ext>
                  </a:extLst>
                </a:gridCol>
                <a:gridCol w="726509">
                  <a:extLst>
                    <a:ext uri="{9D8B030D-6E8A-4147-A177-3AD203B41FA5}">
                      <a16:colId xmlns:a16="http://schemas.microsoft.com/office/drawing/2014/main" val="497708624"/>
                    </a:ext>
                  </a:extLst>
                </a:gridCol>
                <a:gridCol w="649871">
                  <a:extLst>
                    <a:ext uri="{9D8B030D-6E8A-4147-A177-3AD203B41FA5}">
                      <a16:colId xmlns:a16="http://schemas.microsoft.com/office/drawing/2014/main" val="3062081063"/>
                    </a:ext>
                  </a:extLst>
                </a:gridCol>
                <a:gridCol w="1370995">
                  <a:extLst>
                    <a:ext uri="{9D8B030D-6E8A-4147-A177-3AD203B41FA5}">
                      <a16:colId xmlns:a16="http://schemas.microsoft.com/office/drawing/2014/main" val="1003420114"/>
                    </a:ext>
                  </a:extLst>
                </a:gridCol>
                <a:gridCol w="877752">
                  <a:extLst>
                    <a:ext uri="{9D8B030D-6E8A-4147-A177-3AD203B41FA5}">
                      <a16:colId xmlns:a16="http://schemas.microsoft.com/office/drawing/2014/main" val="1962478193"/>
                    </a:ext>
                  </a:extLst>
                </a:gridCol>
              </a:tblGrid>
              <a:tr h="746852">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STT</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Occur Date</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Reg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FLT No</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ARR from</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Occur Location </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Phase</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DESCREPTION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(of drop Part  )</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Drop part Dimension</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Drop part weight</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Catergory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(I/II/III)</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GB" sz="1100" b="0" i="0" u="none" strike="noStrike" dirty="0">
                          <a:solidFill>
                            <a:srgbClr val="000000"/>
                          </a:solidFill>
                          <a:effectLst/>
                          <a:latin typeface="Times New Roman" panose="02020603050405020304" pitchFamily="18" charset="0"/>
                          <a:cs typeface="Times New Roman" panose="02020603050405020304" pitchFamily="18" charset="0"/>
                        </a:rPr>
                        <a:t>Impact to flight </a:t>
                      </a:r>
                      <a:br>
                        <a:rPr lang="en-GB" sz="1100" b="0" i="0" u="none" strike="noStrike" dirty="0">
                          <a:solidFill>
                            <a:srgbClr val="000000"/>
                          </a:solidFill>
                          <a:effectLst/>
                          <a:latin typeface="Times New Roman" panose="02020603050405020304" pitchFamily="18" charset="0"/>
                          <a:cs typeface="Times New Roman" panose="02020603050405020304" pitchFamily="18" charset="0"/>
                        </a:rPr>
                      </a:br>
                      <a:r>
                        <a:rPr lang="en-GB" sz="1100" b="0" i="0" u="none" strike="noStrike" dirty="0">
                          <a:solidFill>
                            <a:srgbClr val="000000"/>
                          </a:solidFill>
                          <a:effectLst/>
                          <a:latin typeface="Times New Roman" panose="02020603050405020304" pitchFamily="18" charset="0"/>
                          <a:cs typeface="Times New Roman" panose="02020603050405020304" pitchFamily="18" charset="0"/>
                        </a:rPr>
                        <a:t>(DELAY, AOG..) </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Impact Time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(minute)</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Cause by</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700" marR="12700" marT="12700" marB="609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135460928"/>
                  </a:ext>
                </a:extLst>
              </a:tr>
              <a:tr h="71431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08-Jan</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A879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VN409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ICN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FOUND RH WING SLAT INB#08 FAIRING PANEL MISSING.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S = 20 CM x 10 CM = 200 CM2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5</a:t>
                      </a:r>
                      <a:r>
                        <a:rPr lang="en-US" sz="1100" b="0" i="0" u="none" strike="noStrike" baseline="0" dirty="0">
                          <a:solidFill>
                            <a:srgbClr val="000000"/>
                          </a:solidFill>
                          <a:effectLst/>
                          <a:latin typeface="Times New Roman" panose="02020603050405020304" pitchFamily="18" charset="0"/>
                          <a:cs typeface="Times New Roman" panose="02020603050405020304" pitchFamily="18" charset="0"/>
                        </a:rPr>
                        <a:t> Gram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REPLACED RH WING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LE SLAT INB NO#08 FAIRING </a:t>
                      </a:r>
                      <a:r>
                        <a:rPr lang="en-US" sz="1100" b="0" i="0" u="none" strike="noStrike">
                          <a:solidFill>
                            <a:srgbClr val="000000"/>
                          </a:solidFill>
                          <a:effectLst/>
                          <a:latin typeface="Times New Roman" panose="02020603050405020304" pitchFamily="18" charset="0"/>
                          <a:cs typeface="Times New Roman" panose="02020603050405020304" pitchFamily="18" charset="0"/>
                        </a:rPr>
                        <a:t>PANEL I.A.W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AMM 30-11-05-03A-720A REV 149, </a:t>
                      </a:r>
                      <a:r>
                        <a:rPr lang="en-US" sz="1100" b="0" i="0" u="none" strike="noStrike">
                          <a:solidFill>
                            <a:srgbClr val="000000"/>
                          </a:solidFill>
                          <a:effectLst/>
                          <a:latin typeface="Times New Roman" panose="02020603050405020304" pitchFamily="18" charset="0"/>
                          <a:cs typeface="Times New Roman" panose="02020603050405020304" pitchFamily="18" charset="0"/>
                        </a:rPr>
                        <a:t>SATISFIED.</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EQUIPMENT RELIABILITY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4394027"/>
                  </a:ext>
                </a:extLst>
              </a:tr>
              <a:tr h="71431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25-Jan</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A606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VN1623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UIH</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T/X CHECK FOUND CRACK AND MISSING SOME RIVET AT BLISTER FAIRING AT RH TR ENG 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 ENG 1 RH TR SLEEVE ASSY REF AMM 78-32-76-04 CONF 13 REV85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8937155"/>
                  </a:ext>
                </a:extLst>
              </a:tr>
              <a:tr h="723900">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5579214"/>
                  </a:ext>
                </a:extLst>
              </a:tr>
            </a:tbl>
          </a:graphicData>
        </a:graphic>
      </p:graphicFrame>
      <p:sp>
        <p:nvSpPr>
          <p:cNvPr id="5" name="TextBox 4">
            <a:extLst>
              <a:ext uri="{FF2B5EF4-FFF2-40B4-BE49-F238E27FC236}">
                <a16:creationId xmlns:a16="http://schemas.microsoft.com/office/drawing/2014/main" id="{0F1D4589-DA8C-4079-B9A4-00C42685A90E}"/>
              </a:ext>
            </a:extLst>
          </p:cNvPr>
          <p:cNvSpPr txBox="1"/>
          <p:nvPr/>
        </p:nvSpPr>
        <p:spPr>
          <a:xfrm>
            <a:off x="1017039" y="919353"/>
            <a:ext cx="10641812" cy="379656"/>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sự kiện PDA </a:t>
            </a:r>
            <a:r>
              <a:rPr kumimoji="0" lang="en-US" altLang="en-US"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altLang="en-US"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01/2025</a:t>
            </a:r>
            <a:endParaRPr kumimoji="0" lang="en-US" altLang="en-US"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3545340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8 - TỶ LỆ VỤ VIỆC FOD</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3" y="4924584"/>
            <a:ext cx="10743619" cy="1077218"/>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01/2025 có 03 vụ việc FOD (03 vụ chim va)</a:t>
            </a:r>
            <a:r>
              <a:rPr kumimoji="0" lang="fr-FR"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giảm</a:t>
            </a:r>
            <a:r>
              <a:rPr kumimoji="0" lang="fr-FR"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fr-FR"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03 vụ so với tháng trước và tăng</a:t>
            </a:r>
            <a:r>
              <a:rPr kumimoji="0" lang="fr-FR" sz="1600" b="0" i="0" u="none" strike="noStrike" kern="0" cap="none" spc="0" normalizeH="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02 vụ </a:t>
            </a:r>
            <a:r>
              <a:rPr kumimoji="0" lang="fr-FR"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01/2025 là 2.37 vụ/10000CB, giảm 2.85 điểm so với tháng trước và tăng 0.02 điểm so với cùng kỳ 2024. Đạt mục tiêu năm 2025 là 7,70 vụ/10000CB. </a:t>
            </a:r>
          </a:p>
        </p:txBody>
      </p:sp>
      <p:graphicFrame>
        <p:nvGraphicFramePr>
          <p:cNvPr id="10" name="Chart 9">
            <a:extLst>
              <a:ext uri="{FF2B5EF4-FFF2-40B4-BE49-F238E27FC236}">
                <a16:creationId xmlns:a16="http://schemas.microsoft.com/office/drawing/2014/main" id="{D3F15087-8C48-45D9-A684-D1D86CBD9C67}"/>
              </a:ext>
            </a:extLst>
          </p:cNvPr>
          <p:cNvGraphicFramePr>
            <a:graphicFrameLocks/>
          </p:cNvGraphicFramePr>
          <p:nvPr>
            <p:extLst>
              <p:ext uri="{D42A27DB-BD31-4B8C-83A1-F6EECF244321}">
                <p14:modId xmlns:p14="http://schemas.microsoft.com/office/powerpoint/2010/main" val="4232397933"/>
              </p:ext>
            </p:extLst>
          </p:nvPr>
        </p:nvGraphicFramePr>
        <p:xfrm>
          <a:off x="985380" y="1560521"/>
          <a:ext cx="8200183" cy="328376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EBE1F88D-F545-4B51-B0C1-D6E2B55435D3}"/>
              </a:ext>
            </a:extLst>
          </p:cNvPr>
          <p:cNvGraphicFramePr>
            <a:graphicFrameLocks/>
          </p:cNvGraphicFramePr>
          <p:nvPr>
            <p:extLst>
              <p:ext uri="{D42A27DB-BD31-4B8C-83A1-F6EECF244321}">
                <p14:modId xmlns:p14="http://schemas.microsoft.com/office/powerpoint/2010/main" val="4064000296"/>
              </p:ext>
            </p:extLst>
          </p:nvPr>
        </p:nvGraphicFramePr>
        <p:xfrm>
          <a:off x="9376755" y="1560520"/>
          <a:ext cx="2163889" cy="328376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732224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Content Placeholder 4"/>
          <p:cNvSpPr txBox="1">
            <a:spLocks/>
          </p:cNvSpPr>
          <p:nvPr/>
        </p:nvSpPr>
        <p:spPr>
          <a:xfrm>
            <a:off x="1146693" y="1096136"/>
            <a:ext cx="10401840" cy="457197"/>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en-US" altLang="en-US" sz="2133"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Bảng tổng hợp sự kiện FOD tháng 01/ 2025</a:t>
            </a:r>
            <a:endParaRPr kumimoji="0" lang="en-US" sz="2133" b="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2301760524"/>
              </p:ext>
            </p:extLst>
          </p:nvPr>
        </p:nvGraphicFramePr>
        <p:xfrm>
          <a:off x="1260570" y="1728703"/>
          <a:ext cx="10401841" cy="2201412"/>
        </p:xfrm>
        <a:graphic>
          <a:graphicData uri="http://schemas.openxmlformats.org/drawingml/2006/table">
            <a:tbl>
              <a:tblPr/>
              <a:tblGrid>
                <a:gridCol w="343472">
                  <a:extLst>
                    <a:ext uri="{9D8B030D-6E8A-4147-A177-3AD203B41FA5}">
                      <a16:colId xmlns:a16="http://schemas.microsoft.com/office/drawing/2014/main" val="1214785010"/>
                    </a:ext>
                  </a:extLst>
                </a:gridCol>
                <a:gridCol w="421048">
                  <a:extLst>
                    <a:ext uri="{9D8B030D-6E8A-4147-A177-3AD203B41FA5}">
                      <a16:colId xmlns:a16="http://schemas.microsoft.com/office/drawing/2014/main" val="465361344"/>
                    </a:ext>
                  </a:extLst>
                </a:gridCol>
                <a:gridCol w="460347">
                  <a:extLst>
                    <a:ext uri="{9D8B030D-6E8A-4147-A177-3AD203B41FA5}">
                      <a16:colId xmlns:a16="http://schemas.microsoft.com/office/drawing/2014/main" val="2775212924"/>
                    </a:ext>
                  </a:extLst>
                </a:gridCol>
                <a:gridCol w="538941">
                  <a:extLst>
                    <a:ext uri="{9D8B030D-6E8A-4147-A177-3AD203B41FA5}">
                      <a16:colId xmlns:a16="http://schemas.microsoft.com/office/drawing/2014/main" val="1629208302"/>
                    </a:ext>
                  </a:extLst>
                </a:gridCol>
                <a:gridCol w="412713">
                  <a:extLst>
                    <a:ext uri="{9D8B030D-6E8A-4147-A177-3AD203B41FA5}">
                      <a16:colId xmlns:a16="http://schemas.microsoft.com/office/drawing/2014/main" val="534488100"/>
                    </a:ext>
                  </a:extLst>
                </a:gridCol>
                <a:gridCol w="636931">
                  <a:extLst>
                    <a:ext uri="{9D8B030D-6E8A-4147-A177-3AD203B41FA5}">
                      <a16:colId xmlns:a16="http://schemas.microsoft.com/office/drawing/2014/main" val="2392973619"/>
                    </a:ext>
                  </a:extLst>
                </a:gridCol>
                <a:gridCol w="677760">
                  <a:extLst>
                    <a:ext uri="{9D8B030D-6E8A-4147-A177-3AD203B41FA5}">
                      <a16:colId xmlns:a16="http://schemas.microsoft.com/office/drawing/2014/main" val="1661087426"/>
                    </a:ext>
                  </a:extLst>
                </a:gridCol>
                <a:gridCol w="2800861">
                  <a:extLst>
                    <a:ext uri="{9D8B030D-6E8A-4147-A177-3AD203B41FA5}">
                      <a16:colId xmlns:a16="http://schemas.microsoft.com/office/drawing/2014/main" val="2980937143"/>
                    </a:ext>
                  </a:extLst>
                </a:gridCol>
                <a:gridCol w="3258145">
                  <a:extLst>
                    <a:ext uri="{9D8B030D-6E8A-4147-A177-3AD203B41FA5}">
                      <a16:colId xmlns:a16="http://schemas.microsoft.com/office/drawing/2014/main" val="654224780"/>
                    </a:ext>
                  </a:extLst>
                </a:gridCol>
                <a:gridCol w="851623">
                  <a:extLst>
                    <a:ext uri="{9D8B030D-6E8A-4147-A177-3AD203B41FA5}">
                      <a16:colId xmlns:a16="http://schemas.microsoft.com/office/drawing/2014/main" val="3916574977"/>
                    </a:ext>
                  </a:extLst>
                </a:gridCol>
              </a:tblGrid>
              <a:tr h="371335">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ID</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CAT.</a:t>
                      </a:r>
                    </a:p>
                  </a:txBody>
                  <a:tcPr marL="10219" marR="10219" marT="102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19762196"/>
                  </a:ext>
                </a:extLst>
              </a:tr>
              <a:tr h="465818">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29/01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VN976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DEL-SGN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T/X CHK FOUND BIRD STRIKE ON RADOME OUT OF LIMIT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NEW RADOME RPLD. CHKD SATIS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effectLst/>
                          <a:latin typeface="Times New Roman" panose="02020603050405020304" pitchFamily="18" charset="0"/>
                          <a:cs typeface="Times New Roman" panose="02020603050405020304" pitchFamily="18" charset="0"/>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738815"/>
                  </a:ext>
                </a:extLst>
              </a:tr>
              <a:tr h="742609">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A514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PXU</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VN7422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PXU-SGN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BIRD STRIKE ENG 2 BIRD STRIKE ENG 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C/O VISUAL INSP OF EGN#2 INLET AREA FOUNS SIGN OF BIRS DEBRIS AT AREA B, AFTER CLEANED FOUND NO DAMAGED. REF FLOW CHART.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effectLst/>
                          <a:latin typeface="Times New Roman" panose="02020603050405020304" pitchFamily="18" charset="0"/>
                          <a:cs typeface="Times New Roman" panose="02020603050405020304" pitchFamily="18" charset="0"/>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930229"/>
                  </a:ext>
                </a:extLst>
              </a:tr>
              <a:tr h="621650">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18/01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BKK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VN602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BKK-SGN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BIRD STRIKE ON WINDSHIELD F/O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CLEAN F/O WINDSHIELD AND REINSPECTION NO DAMAGED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17960"/>
                  </a:ext>
                </a:extLst>
              </a:tr>
            </a:tbl>
          </a:graphicData>
        </a:graphic>
      </p:graphicFrame>
    </p:spTree>
    <p:extLst>
      <p:ext uri="{BB962C8B-B14F-4D97-AF65-F5344CB8AC3E}">
        <p14:creationId xmlns:p14="http://schemas.microsoft.com/office/powerpoint/2010/main" val="2365923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9 – CHỈ SỐ TẮT ĐỘNG CƠ TRÊN KHÔNG</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65294" y="5053814"/>
            <a:ext cx="10743619" cy="830997"/>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01/2025 có 00 vụ việc tắt động cơ trên không.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01/2025 là 0,00 vụ/10000CB, đạt mục tiêu năm 2025 là 0.02 vụ/10000CB. </a:t>
            </a:r>
          </a:p>
        </p:txBody>
      </p:sp>
      <p:graphicFrame>
        <p:nvGraphicFramePr>
          <p:cNvPr id="10" name="Chart 9">
            <a:extLst>
              <a:ext uri="{FF2B5EF4-FFF2-40B4-BE49-F238E27FC236}">
                <a16:creationId xmlns:a16="http://schemas.microsoft.com/office/drawing/2014/main" id="{EBE1F88D-F545-4B51-B0C1-D6E2B55435D3}"/>
              </a:ext>
            </a:extLst>
          </p:cNvPr>
          <p:cNvGraphicFramePr>
            <a:graphicFrameLocks/>
          </p:cNvGraphicFramePr>
          <p:nvPr>
            <p:extLst>
              <p:ext uri="{D42A27DB-BD31-4B8C-83A1-F6EECF244321}">
                <p14:modId xmlns:p14="http://schemas.microsoft.com/office/powerpoint/2010/main" val="3112458695"/>
              </p:ext>
            </p:extLst>
          </p:nvPr>
        </p:nvGraphicFramePr>
        <p:xfrm>
          <a:off x="9343505" y="1567553"/>
          <a:ext cx="2197139" cy="32845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D3F15087-8C48-45D9-A684-D1D86CBD9C67}"/>
              </a:ext>
            </a:extLst>
          </p:cNvPr>
          <p:cNvGraphicFramePr>
            <a:graphicFrameLocks/>
          </p:cNvGraphicFramePr>
          <p:nvPr>
            <p:extLst>
              <p:ext uri="{D42A27DB-BD31-4B8C-83A1-F6EECF244321}">
                <p14:modId xmlns:p14="http://schemas.microsoft.com/office/powerpoint/2010/main" val="4164318138"/>
              </p:ext>
            </p:extLst>
          </p:nvPr>
        </p:nvGraphicFramePr>
        <p:xfrm>
          <a:off x="865293" y="1567552"/>
          <a:ext cx="8296813" cy="328459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843454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1130530" y="583927"/>
            <a:ext cx="10543799" cy="714901"/>
          </a:xfrm>
        </p:spPr>
        <p:txBody>
          <a:bodyPr>
            <a:noAutofit/>
          </a:bodyPr>
          <a:lstStyle/>
          <a:p>
            <a:pPr algn="l"/>
            <a:r>
              <a:rPr lang="en-US" altLang="en-US" sz="3200">
                <a:solidFill>
                  <a:schemeClr val="accent1"/>
                </a:solidFill>
                <a:latin typeface="Times New Roman" panose="02020603050405020304" pitchFamily="18" charset="0"/>
                <a:cs typeface="Times New Roman" panose="02020603050405020304" pitchFamily="18" charset="0"/>
              </a:rPr>
              <a:t>2. </a:t>
            </a:r>
            <a:r>
              <a:rPr lang="en-US" sz="3200">
                <a:solidFill>
                  <a:schemeClr val="accent1"/>
                </a:solidFill>
                <a:latin typeface="Times New Roman" panose="02020603050405020304" pitchFamily="18" charset="0"/>
                <a:ea typeface="Times New Roman"/>
                <a:cs typeface="Times New Roman" panose="02020603050405020304" pitchFamily="18" charset="0"/>
                <a:sym typeface="Times New Roman"/>
              </a:rPr>
              <a:t>Các vụ việc an toàn khác tháng 01.2025</a:t>
            </a:r>
            <a:endParaRPr lang="en-US" sz="3200" dirty="0">
              <a:ln w="0"/>
              <a:solidFill>
                <a:schemeClr val="accent1"/>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1130529" y="1330963"/>
          <a:ext cx="10528073" cy="5349240"/>
        </p:xfrm>
        <a:graphic>
          <a:graphicData uri="http://schemas.openxmlformats.org/drawingml/2006/table">
            <a:tbl>
              <a:tblPr firstRow="1" bandRow="1">
                <a:tableStyleId>{5C22544A-7EE6-4342-B048-85BDC9FD1C3A}</a:tableStyleId>
              </a:tblPr>
              <a:tblGrid>
                <a:gridCol w="5041671">
                  <a:extLst>
                    <a:ext uri="{9D8B030D-6E8A-4147-A177-3AD203B41FA5}">
                      <a16:colId xmlns:a16="http://schemas.microsoft.com/office/drawing/2014/main" val="3521703937"/>
                    </a:ext>
                  </a:extLst>
                </a:gridCol>
                <a:gridCol w="2667000">
                  <a:extLst>
                    <a:ext uri="{9D8B030D-6E8A-4147-A177-3AD203B41FA5}">
                      <a16:colId xmlns:a16="http://schemas.microsoft.com/office/drawing/2014/main" val="4294047070"/>
                    </a:ext>
                  </a:extLst>
                </a:gridCol>
                <a:gridCol w="2819402">
                  <a:extLst>
                    <a:ext uri="{9D8B030D-6E8A-4147-A177-3AD203B41FA5}">
                      <a16:colId xmlns:a16="http://schemas.microsoft.com/office/drawing/2014/main" val="3319095434"/>
                    </a:ext>
                  </a:extLst>
                </a:gridCol>
              </a:tblGrid>
              <a:tr h="366567">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aseline="0">
                          <a:solidFill>
                            <a:schemeClr val="tx1"/>
                          </a:solidFill>
                          <a:latin typeface="Times New Roman" panose="02020603050405020304" pitchFamily="18" charset="0"/>
                          <a:cs typeface="Times New Roman" panose="02020603050405020304" pitchFamily="18" charset="0"/>
                        </a:rPr>
                        <a:t>B225 không rút chèn bánh mũi</a:t>
                      </a:r>
                      <a:endParaRPr lang="en-US" sz="1800" baseline="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7108425"/>
                  </a:ext>
                </a:extLst>
              </a:tr>
              <a:tr h="324271">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Mô</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tả</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Nguyên</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nhân</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Khắc</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phục</a:t>
                      </a:r>
                      <a:r>
                        <a:rPr lang="en-US" sz="1500" b="1" kern="1200" dirty="0">
                          <a:solidFill>
                            <a:schemeClr val="tx1"/>
                          </a:solidFill>
                          <a:latin typeface="Times New Roman" panose="02020603050405020304" pitchFamily="18" charset="0"/>
                          <a:ea typeface="+mn-ea"/>
                          <a:cs typeface="Times New Roman" panose="02020603050405020304" pitchFamily="18" charset="0"/>
                        </a:rPr>
                        <a:t> – </a:t>
                      </a:r>
                      <a:r>
                        <a:rPr lang="en-US" sz="1500" b="1" kern="1200" dirty="0" err="1">
                          <a:solidFill>
                            <a:schemeClr val="tx1"/>
                          </a:solidFill>
                          <a:latin typeface="Times New Roman" panose="02020603050405020304" pitchFamily="18" charset="0"/>
                          <a:ea typeface="+mn-ea"/>
                          <a:cs typeface="Times New Roman" panose="02020603050405020304" pitchFamily="18" charset="0"/>
                        </a:rPr>
                        <a:t>Phòng</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ngừa</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495605"/>
                  </a:ext>
                </a:extLst>
              </a:tr>
              <a:tr h="4455199">
                <a:tc>
                  <a:txBody>
                    <a:bodyPr/>
                    <a:lstStyle/>
                    <a:p>
                      <a:pPr marL="177800" indent="-177800" algn="just">
                        <a:buFontTx/>
                        <a:buChar char="-"/>
                      </a:pP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Ngày 08/01/2025, tàu bay B225 thực hiện chuyến bay VCS-SGN tại bãi số 2 của sân bay côn đảo. NVKT sau khi thực hiện kiểm tra vòng kín (final walk around), tháo chèn bánh chính, khởi động 2 động cơ và tổ bay yêu cầu ngắt liên lạc thông qua headset. </a:t>
                      </a:r>
                    </a:p>
                    <a:p>
                      <a:pPr marL="177800" indent="-177800" algn="just">
                        <a:buFontTx/>
                        <a:buChar char="-"/>
                      </a:pP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Sau khi NVKT ngắt headset với tổ bay đã quên không rút chèn bánh mũi mà tiến hành đẩy xe đựng chèn chóp tới vị trí đã được quy định bởi sân bay.</a:t>
                      </a:r>
                    </a:p>
                    <a:p>
                      <a:pPr marL="177800" indent="-177800" algn="just">
                        <a:buFontTx/>
                        <a:buChar char="-"/>
                      </a:pP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Trong quá trình di chuyển xe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dựng chèn chóp</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đến vị trí</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quy định</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tàu bay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đã lăn bánh và lốp bánh</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mũi</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va vào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chèn tr</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ước và đẩy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chèn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ra xa khoảng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0.5m</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a:t>
                      </a:r>
                      <a:endPar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p>
                      <a:pPr marL="177800" indent="-177800" algn="just">
                        <a:buFontTx/>
                        <a:buChar char="-"/>
                      </a:pP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Sau khi đẩy xe đựng chèn chóp tới vị trí quy định, NVKT quay lại và phát hiện ra sự việc đã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ra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tín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hiệu bằng tay cho</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tổ bay dừng tàu bay để rút các chèn còn lại</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Sau đó, NVKT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kiểm tra tình trạng của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bánh mũi tàu bay</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và không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phát hiện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bất kỳ dấu hiệu bất thường nào.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Tàu bay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vẫn tiếp tục </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khai thác bình thường</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a:t>
                      </a:r>
                      <a:endPar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p>
                      <a:pPr marL="177800" indent="-177800" algn="just">
                        <a:buFontTx/>
                        <a:buChar char="-"/>
                      </a:pP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Dựa trên video cung cấp bởi cảng vụ hàng không tại sân bay VCS phát hiện giữa tổ bay và NVKT không có sự phối hợp theo quy định. Trong khi NVKT đang đẩy xe đựng chèn tới vị trí quy định, chưa ra tín hiệu “thumb up”, Tổ bay đã thực hiện cho tàu bay lăn</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a:t>
                      </a:r>
                      <a:endParaRPr lang="en-US" sz="1400" kern="120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228600" rtl="0" eaLnBrk="1" fontAlgn="auto" latinLnBrk="0" hangingPunct="1">
                        <a:lnSpc>
                          <a:spcPct val="100000"/>
                        </a:lnSpc>
                        <a:spcBef>
                          <a:spcPts val="0"/>
                        </a:spcBef>
                        <a:spcAft>
                          <a:spcPts val="0"/>
                        </a:spcAft>
                        <a:buClrTx/>
                        <a:buSzTx/>
                        <a:buFontTx/>
                        <a:buNone/>
                        <a:tabLst>
                          <a:tab pos="173038" algn="l"/>
                        </a:tabLst>
                        <a:defRPr/>
                      </a:pP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a.	Nguyên nhân</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chính:</a:t>
                      </a:r>
                    </a:p>
                    <a:p>
                      <a:pPr marL="285750" marR="0" indent="-285750" algn="just" defTabSz="173038" rtl="0" eaLnBrk="1" fontAlgn="auto" latinLnBrk="0" hangingPunct="1">
                        <a:lnSpc>
                          <a:spcPct val="100000"/>
                        </a:lnSpc>
                        <a:spcBef>
                          <a:spcPts val="0"/>
                        </a:spcBef>
                        <a:spcAft>
                          <a:spcPts val="0"/>
                        </a:spcAft>
                        <a:buClrTx/>
                        <a:buSzTx/>
                        <a:buFontTx/>
                        <a:buChar char="-"/>
                        <a:tabLst/>
                        <a:defRPr/>
                      </a:pP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NVKT sao nhãng khi thực hiện công việc dẫn tới quên rút chèn bánh mũi.</a:t>
                      </a:r>
                      <a:endPar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p>
                      <a:pPr marL="285750" marR="0" indent="-285750" algn="just" defTabSz="173038" rtl="0" eaLnBrk="1" fontAlgn="auto" latinLnBrk="0" hangingPunct="1">
                        <a:lnSpc>
                          <a:spcPct val="100000"/>
                        </a:lnSpc>
                        <a:spcBef>
                          <a:spcPts val="0"/>
                        </a:spcBef>
                        <a:spcAft>
                          <a:spcPts val="0"/>
                        </a:spcAft>
                        <a:buClrTx/>
                        <a:buSzTx/>
                        <a:buFontTx/>
                        <a:buChar char="-"/>
                        <a:tabLst/>
                        <a:defRPr/>
                      </a:pP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Tổ bay thực hiện lăn tàu bay khi chưa có tín hiệu tay của NVKT (tín hiệu hướng dẫn) theo quy định.</a:t>
                      </a:r>
                      <a:endParaRPr lang="vi-VN" sz="1400" b="0" kern="1200" baseline="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baseline="0" noProof="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rPr>
                        <a:t>Khắc phục:</a:t>
                      </a:r>
                    </a:p>
                    <a:p>
                      <a:pPr marL="228600" lvl="0" indent="-228600" algn="just">
                        <a:buFontTx/>
                        <a:buChar char="-"/>
                        <a:tabLst>
                          <a:tab pos="119063" algn="l"/>
                        </a:tabLst>
                      </a:pPr>
                      <a:r>
                        <a:rPr lang="vi-VN"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rPr>
                        <a:t>Kiểm tra tình trạng của càng mũi và chèn bánh mũi không phát hiện bất thường</a:t>
                      </a:r>
                      <a:r>
                        <a:rPr lang="en-US"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baseline="0" noProof="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rPr>
                        <a:t>Phòng ngừa:</a:t>
                      </a:r>
                    </a:p>
                    <a:p>
                      <a:pPr marL="228600" indent="-228600" algn="just">
                        <a:buFontTx/>
                        <a:buChar char="-"/>
                      </a:pPr>
                      <a:r>
                        <a:rPr lang="en-US"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rPr>
                        <a:t>Yêu cầu SQD-VNA: phổ biến và quán triệt tới đoàn bay</a:t>
                      </a:r>
                      <a:r>
                        <a:rPr lang="vi-VN"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rPr>
                        <a:t> tuân thủ các quy trình LMM trước khi khởi hành</a:t>
                      </a:r>
                      <a:r>
                        <a:rPr lang="en-US"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rPr>
                        <a:t> tàu bay.</a:t>
                      </a:r>
                    </a:p>
                    <a:p>
                      <a:pPr marL="228600" indent="-228600" algn="just">
                        <a:buFontTx/>
                        <a:buChar char="-"/>
                      </a:pPr>
                      <a:r>
                        <a:rPr lang="en-US" sz="1400" kern="120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NVKT liên quan đọc hiểu báo cáo điều tra để rút kinh nghiệm.</a:t>
                      </a:r>
                    </a:p>
                    <a:p>
                      <a:pPr marL="228600" indent="-228600" algn="just">
                        <a:buFontTx/>
                        <a:buChar char="-"/>
                      </a:pPr>
                      <a:r>
                        <a:rPr lang="en-US" sz="1400" kern="120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Phổ biến báo cáo điều tra đến tất cả NVKT của Công ty. </a:t>
                      </a:r>
                      <a:endParaRPr lang="vi-VN" sz="1400" b="0" i="0" u="none" strike="noStrike" kern="1200" cap="none" baseline="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302729"/>
                  </a:ext>
                </a:extLst>
              </a:tr>
            </a:tbl>
          </a:graphicData>
        </a:graphic>
      </p:graphicFrame>
    </p:spTree>
    <p:extLst>
      <p:ext uri="{BB962C8B-B14F-4D97-AF65-F5344CB8AC3E}">
        <p14:creationId xmlns:p14="http://schemas.microsoft.com/office/powerpoint/2010/main" val="3542895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1130530" y="583927"/>
            <a:ext cx="10543799" cy="714901"/>
          </a:xfrm>
        </p:spPr>
        <p:txBody>
          <a:bodyPr>
            <a:noAutofit/>
          </a:bodyPr>
          <a:lstStyle/>
          <a:p>
            <a:pPr algn="l"/>
            <a:r>
              <a:rPr lang="en-US" altLang="en-US" sz="3200">
                <a:solidFill>
                  <a:schemeClr val="accent1"/>
                </a:solidFill>
                <a:latin typeface="Times New Roman" panose="02020603050405020304" pitchFamily="18" charset="0"/>
                <a:cs typeface="Times New Roman" panose="02020603050405020304" pitchFamily="18" charset="0"/>
              </a:rPr>
              <a:t>2. </a:t>
            </a:r>
            <a:r>
              <a:rPr lang="en-US" sz="3200">
                <a:solidFill>
                  <a:schemeClr val="accent1"/>
                </a:solidFill>
                <a:latin typeface="Times New Roman" panose="02020603050405020304" pitchFamily="18" charset="0"/>
                <a:ea typeface="Times New Roman"/>
                <a:cs typeface="Times New Roman" panose="02020603050405020304" pitchFamily="18" charset="0"/>
                <a:sym typeface="Times New Roman"/>
              </a:rPr>
              <a:t>Các vụ việc an toàn khác tháng 01.2025</a:t>
            </a:r>
            <a:endParaRPr lang="en-US" sz="3200" dirty="0">
              <a:ln w="0"/>
              <a:solidFill>
                <a:schemeClr val="accent1"/>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1130529" y="1330963"/>
          <a:ext cx="10528073" cy="5349240"/>
        </p:xfrm>
        <a:graphic>
          <a:graphicData uri="http://schemas.openxmlformats.org/drawingml/2006/table">
            <a:tbl>
              <a:tblPr firstRow="1" bandRow="1">
                <a:tableStyleId>{5C22544A-7EE6-4342-B048-85BDC9FD1C3A}</a:tableStyleId>
              </a:tblPr>
              <a:tblGrid>
                <a:gridCol w="5041671">
                  <a:extLst>
                    <a:ext uri="{9D8B030D-6E8A-4147-A177-3AD203B41FA5}">
                      <a16:colId xmlns:a16="http://schemas.microsoft.com/office/drawing/2014/main" val="3521703937"/>
                    </a:ext>
                  </a:extLst>
                </a:gridCol>
                <a:gridCol w="2514600">
                  <a:extLst>
                    <a:ext uri="{9D8B030D-6E8A-4147-A177-3AD203B41FA5}">
                      <a16:colId xmlns:a16="http://schemas.microsoft.com/office/drawing/2014/main" val="4294047070"/>
                    </a:ext>
                  </a:extLst>
                </a:gridCol>
                <a:gridCol w="2971802">
                  <a:extLst>
                    <a:ext uri="{9D8B030D-6E8A-4147-A177-3AD203B41FA5}">
                      <a16:colId xmlns:a16="http://schemas.microsoft.com/office/drawing/2014/main" val="3319095434"/>
                    </a:ext>
                  </a:extLst>
                </a:gridCol>
              </a:tblGrid>
              <a:tr h="366567">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aseline="0">
                          <a:solidFill>
                            <a:schemeClr val="tx1"/>
                          </a:solidFill>
                          <a:latin typeface="Times New Roman" panose="02020603050405020304" pitchFamily="18" charset="0"/>
                          <a:cs typeface="Times New Roman" panose="02020603050405020304" pitchFamily="18" charset="0"/>
                        </a:rPr>
                        <a:t>B218 Bình dập cháy bị xả</a:t>
                      </a:r>
                      <a:endParaRPr lang="en-US" sz="1800" baseline="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7108425"/>
                  </a:ext>
                </a:extLst>
              </a:tr>
              <a:tr h="324271">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Mô</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tả</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Nguyên</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nhân</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Khắc</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phục</a:t>
                      </a:r>
                      <a:r>
                        <a:rPr lang="en-US" sz="1500" b="1" kern="1200" dirty="0">
                          <a:solidFill>
                            <a:schemeClr val="tx1"/>
                          </a:solidFill>
                          <a:latin typeface="Times New Roman" panose="02020603050405020304" pitchFamily="18" charset="0"/>
                          <a:ea typeface="+mn-ea"/>
                          <a:cs typeface="Times New Roman" panose="02020603050405020304" pitchFamily="18" charset="0"/>
                        </a:rPr>
                        <a:t> – </a:t>
                      </a:r>
                      <a:r>
                        <a:rPr lang="en-US" sz="1500" b="1" kern="1200" dirty="0" err="1">
                          <a:solidFill>
                            <a:schemeClr val="tx1"/>
                          </a:solidFill>
                          <a:latin typeface="Times New Roman" panose="02020603050405020304" pitchFamily="18" charset="0"/>
                          <a:ea typeface="+mn-ea"/>
                          <a:cs typeface="Times New Roman" panose="02020603050405020304" pitchFamily="18" charset="0"/>
                        </a:rPr>
                        <a:t>Phòng</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ngừa</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495605"/>
                  </a:ext>
                </a:extLst>
              </a:tr>
              <a:tr h="4455199">
                <a:tc>
                  <a:txBody>
                    <a:bodyPr/>
                    <a:lstStyle/>
                    <a:p>
                      <a:pPr marL="177800" indent="-177800" algn="just">
                        <a:buFontTx/>
                        <a:buChar char="-"/>
                      </a:pP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Ngày 02/01/2025, NV CRS B1 và CRS B2 thực hiện WO 6875092 “Impeller blending repair” bao gồm cả tháo và lắp bottom cowl do CRS B1 là người phụ trách, CRS B1 có trách nhiệm kết nối đầu nối graviner của hệ thống chữa cháy (bước 4H(1) của task ATR-A-54-12-60-00001-720A-A - Installation of the Bottom Cowl (gọi là [A]).</a:t>
                      </a:r>
                    </a:p>
                    <a:p>
                      <a:pPr marL="177800" indent="0" algn="just"/>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Tại bước thiết lập công việc của [A] phải nhả Engine fire handle và 4 squid circuit breakers. </a:t>
                      </a:r>
                    </a:p>
                    <a:p>
                      <a:pPr marL="177800" indent="-177800" algn="just">
                        <a:buFontTx/>
                        <a:buChar char="-"/>
                      </a:pP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Khoảng 00:30, CRS B2 kết nối đầu nối graviner của hệ thống chữa cháy, sau đó thực hiện task ATR-A-26-12-XX-00001-320A-A (gọi là [B]) để xác nhận không có vấn đề gì sau khi kết nối graviner RAI như thường lệ. Theo [B] không có bất kỳ yêu cầu nào liên quan đến vị trí của engine fire handle nên CRS B2 đã không đẩy engine fire handle. </a:t>
                      </a:r>
                    </a:p>
                    <a:p>
                      <a:pPr marL="177800" indent="-177800" algn="just">
                        <a:buFontTx/>
                        <a:buChar char="-"/>
                      </a:pP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Sau đó CRS B2 nhấn 04 cầu dao điện squib (như yêu cầu của [B]) thì đèn của nút AGENT 1 BẬT (vì tay cầm chữa cháy động cơ đã bị kéo ra); Do CRS B2 hiểu nhầm đèn LOOP A và đèn AGENT 1 (AGENT 1 bên cạnh LOOP A), nghĩ rằng nút LOOP A đã được ai đó nhả ra (thông thường, nút nhấn LOOP A là nút Nhấn VÀO) khiến đèn sáng. Vì vậy, CRS B2 đã nhấn nút mà không nhận ra đó là nút AGENT khiến bình chữa cháy bị xả.</a:t>
                      </a:r>
                      <a:endParaRPr lang="en-US" sz="1400" b="0" kern="1200" baseline="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just" defTabSz="173038" rtl="0" eaLnBrk="1" fontAlgn="auto" latinLnBrk="0" hangingPunct="1">
                        <a:lnSpc>
                          <a:spcPct val="100000"/>
                        </a:lnSpc>
                        <a:spcBef>
                          <a:spcPts val="0"/>
                        </a:spcBef>
                        <a:spcAft>
                          <a:spcPts val="0"/>
                        </a:spcAft>
                        <a:buClrTx/>
                        <a:buSzTx/>
                        <a:buFontTx/>
                        <a:buChar char="-"/>
                        <a:tabLst/>
                        <a:defRPr/>
                      </a:pP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NV CRS B2 làm việc theo thói quen, không tuân thủ đúng các bước trong tài liệu bảo dưỡng dẫn tới làm xả bình dập cháy.</a:t>
                      </a:r>
                      <a:endParaRPr lang="vi-VN" sz="1400" b="0" kern="1200" baseline="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baseline="0" noProof="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rPr>
                        <a:t>Khắc phục:</a:t>
                      </a:r>
                    </a:p>
                    <a:p>
                      <a:pPr marL="228600" lvl="0" indent="-228600" algn="just">
                        <a:buFontTx/>
                        <a:buChar char="-"/>
                        <a:tabLst>
                          <a:tab pos="119063" algn="l"/>
                        </a:tabLst>
                      </a:pPr>
                      <a:r>
                        <a:rPr lang="vi-VN"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rPr>
                        <a:t>Thay thế bình dập cháy</a:t>
                      </a:r>
                      <a:r>
                        <a:rPr lang="en-US"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baseline="0" noProof="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rPr>
                        <a:t>Phòng ngừa:</a:t>
                      </a:r>
                    </a:p>
                    <a:p>
                      <a:pPr marL="228600" indent="-228600" algn="just">
                        <a:buFontTx/>
                        <a:buChar char="-"/>
                      </a:pPr>
                      <a:r>
                        <a:rPr lang="en-US"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rPr>
                        <a:t>Sát hạch lại NV CRS B2 về quy trình SOP 7.3.5 (6) - Maintenance inspection.</a:t>
                      </a:r>
                    </a:p>
                    <a:p>
                      <a:pPr marL="228600" indent="-228600" algn="just">
                        <a:buFontTx/>
                        <a:buChar char="-"/>
                      </a:pPr>
                      <a:r>
                        <a:rPr lang="en-US" sz="1400" kern="120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NVKT liên quan đọc hiểu báo cáo điều tra để rút kinh nghiệm.</a:t>
                      </a:r>
                    </a:p>
                    <a:p>
                      <a:pPr marL="228600" indent="-228600" algn="just">
                        <a:buFontTx/>
                        <a:buChar char="-"/>
                      </a:pPr>
                      <a:r>
                        <a:rPr lang="en-US" sz="1400" kern="120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Phổ biến báo cáo điều tra đến tất cả NVKT của Công ty. </a:t>
                      </a:r>
                      <a:endParaRPr lang="vi-VN" sz="1400" kern="120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302729"/>
                  </a:ext>
                </a:extLst>
              </a:tr>
            </a:tbl>
          </a:graphicData>
        </a:graphic>
      </p:graphicFrame>
    </p:spTree>
    <p:extLst>
      <p:ext uri="{BB962C8B-B14F-4D97-AF65-F5344CB8AC3E}">
        <p14:creationId xmlns:p14="http://schemas.microsoft.com/office/powerpoint/2010/main" val="2894612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853294" y="418447"/>
            <a:ext cx="8320951"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p:nvPr/>
        </p:nvSpPr>
        <p:spPr>
          <a:xfrm>
            <a:off x="1252604" y="1054507"/>
            <a:ext cx="10254641" cy="4345420"/>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3.1.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dirty="0">
              <a:ln>
                <a:noFill/>
              </a:ln>
              <a:solidFill>
                <a:srgbClr val="F4981C">
                  <a:lumMod val="50000"/>
                </a:srgbClr>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 of A:</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Tháng 01/2025, Cục HKVN đã tiến hành kiểm tra gia hạn Giấy chứng nhận đủ điều kiện bay cho 08 tàu bay của TCT đã được kiểm tra trong tháng 01/2025 </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theo định kỳ: VN-A336, VN-A338, VN-A358, VN-A862, VN-A863, VN-A878, VN-A879</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Sau khi kiểm tra Cục HKVN đã đưa ra 09 Finding về các hư hại trên tàu bay chưa được kiểm soát. Ban ATCL đã phối hợp cùng Ban KT và VAECO khắc phục, đưa ra các biện pháp phòng ngừa và báo cáo Cục HKVN. Hiện các tàu bay đã được gia hạn Chứng chỉ đúng thời hạn.</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Tàu bay </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A619, </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A509, </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A616, </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A625 sau khi tháo bảo quản dừng bay đã được Cục HKVN kiểm tra và cấp chứng chỉ CoA đúng hạn.</a:t>
            </a:r>
            <a:endPar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Tháng 022/025, Ban ATCL tiếp tục phối hợp với Cục HKVN kiểm tra và gia hạn CoA cho 08 tàu bay hết hạn vào 28/02/2025: </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VN-A339, VN-A605, VN-A606, VN-A611, VN-A612, VN-A613, VN-A872, VN-A893</a:t>
            </a:r>
            <a:r>
              <a:rPr kumimoji="0" lang="pt-BR"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p:txBody>
      </p:sp>
    </p:spTree>
    <p:extLst>
      <p:ext uri="{BB962C8B-B14F-4D97-AF65-F5344CB8AC3E}">
        <p14:creationId xmlns:p14="http://schemas.microsoft.com/office/powerpoint/2010/main" val="1396137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853294" y="418447"/>
            <a:ext cx="8320951"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p:nvPr/>
        </p:nvSpPr>
        <p:spPr>
          <a:xfrm>
            <a:off x="1252604" y="1054507"/>
            <a:ext cx="10254641" cy="2144241"/>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3.1.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dirty="0">
              <a:ln>
                <a:noFill/>
              </a:ln>
              <a:solidFill>
                <a:srgbClr val="F4981C">
                  <a:lumMod val="50000"/>
                </a:srgbClr>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 of </a:t>
            </a:r>
            <a:r>
              <a:rPr kumimoji="0" lang="en-US" sz="24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a:t>
            </a:r>
            <a:endParaRPr kumimoji="0" lang="pt-BR" altLang="en-US" sz="1867"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0"/>
              </a:spcAft>
              <a:buClr>
                <a:srgbClr val="000000"/>
              </a:buClr>
              <a:buSzTx/>
              <a:buFontTx/>
              <a:buChar char="-"/>
              <a:tabLst/>
              <a:defRPr/>
            </a:pPr>
            <a:r>
              <a:rPr kumimoji="0" lang="en-SG"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Một số finding đáng chú ý trong đợt kiểm tra CoA vừa qua: </a:t>
            </a:r>
          </a:p>
          <a:p>
            <a:pPr marL="457189" marR="0" lvl="0" indent="-457189" algn="just" defTabSz="1219170" rtl="0" eaLnBrk="1" fontAlgn="auto" latinLnBrk="0" hangingPunct="1">
              <a:lnSpc>
                <a:spcPct val="100000"/>
              </a:lnSpc>
              <a:spcBef>
                <a:spcPts val="800"/>
              </a:spcBef>
              <a:spcAft>
                <a:spcPts val="0"/>
              </a:spcAft>
              <a:buClr>
                <a:srgbClr val="000000"/>
              </a:buClr>
              <a:buSzTx/>
              <a:buFontTx/>
              <a:buChar char="-"/>
              <a:tabLst/>
              <a:defRPr/>
            </a:pPr>
            <a:endParaRPr kumimoji="0" lang="en-SG"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0"/>
              </a:spcAft>
              <a:buClr>
                <a:srgbClr val="000000"/>
              </a:buClr>
              <a:buSzTx/>
              <a:buFontTx/>
              <a:buChar char="-"/>
              <a:tabLst/>
              <a:defRPr/>
            </a:pPr>
            <a:endParaRPr kumimoji="0" lang="pt-BR" altLang="en-US" sz="2133"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7" name="Rectangle 6"/>
          <p:cNvSpPr/>
          <p:nvPr/>
        </p:nvSpPr>
        <p:spPr>
          <a:xfrm>
            <a:off x="1287239" y="5981598"/>
            <a:ext cx="4275361"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VN-A358 PENNIB FAIRING CN17 LH (01) AND RH (01) RIVET IS LOOSEN</a:t>
            </a:r>
            <a:endParaRPr kumimoji="0" lang="vi-V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9"/>
          <p:cNvSpPr/>
          <p:nvPr/>
        </p:nvSpPr>
        <p:spPr>
          <a:xfrm>
            <a:off x="7035259" y="5986619"/>
            <a:ext cx="4166141"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VN-A338 ENG#2: RUBBER SEAL AT 3 O’CLOCK POSITION CRACK</a:t>
            </a:r>
            <a:endParaRPr kumimoji="0" lang="vi-VN"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11" name="Picture 10"/>
          <p:cNvPicPr/>
          <p:nvPr/>
        </p:nvPicPr>
        <p:blipFill>
          <a:blip r:embed="rId4"/>
          <a:stretch>
            <a:fillRect/>
          </a:stretch>
        </p:blipFill>
        <p:spPr>
          <a:xfrm>
            <a:off x="1287239" y="2559599"/>
            <a:ext cx="4275361" cy="3305676"/>
          </a:xfrm>
          <a:prstGeom prst="rect">
            <a:avLst/>
          </a:prstGeom>
        </p:spPr>
      </p:pic>
      <p:pic>
        <p:nvPicPr>
          <p:cNvPr id="12" name="Picture 11"/>
          <p:cNvPicPr/>
          <p:nvPr/>
        </p:nvPicPr>
        <p:blipFill>
          <a:blip r:embed="rId5"/>
          <a:stretch>
            <a:fillRect/>
          </a:stretch>
        </p:blipFill>
        <p:spPr>
          <a:xfrm>
            <a:off x="7035260" y="2559599"/>
            <a:ext cx="4166140" cy="3121538"/>
          </a:xfrm>
          <a:prstGeom prst="rect">
            <a:avLst/>
          </a:prstGeom>
        </p:spPr>
      </p:pic>
    </p:spTree>
    <p:extLst>
      <p:ext uri="{BB962C8B-B14F-4D97-AF65-F5344CB8AC3E}">
        <p14:creationId xmlns:p14="http://schemas.microsoft.com/office/powerpoint/2010/main" val="4074976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914400" y="385395"/>
            <a:ext cx="8176480"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a:spLocks noChangeArrowheads="1"/>
          </p:cNvSpPr>
          <p:nvPr/>
        </p:nvSpPr>
        <p:spPr bwMode="auto">
          <a:xfrm>
            <a:off x="1308835" y="1065616"/>
            <a:ext cx="9987776" cy="502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3.2.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của</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ban SQD</a:t>
            </a:r>
          </a:p>
        </p:txBody>
      </p:sp>
      <p:sp>
        <p:nvSpPr>
          <p:cNvPr id="6" name="TextBox 5"/>
          <p:cNvSpPr txBox="1"/>
          <p:nvPr/>
        </p:nvSpPr>
        <p:spPr>
          <a:xfrm>
            <a:off x="1308835" y="1599096"/>
            <a:ext cx="10123253" cy="3149645"/>
          </a:xfrm>
          <a:prstGeom prst="rect">
            <a:avLst/>
          </a:prstGeom>
          <a:noFill/>
          <a:ln w="6350">
            <a:no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CMR:</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tháng 01, Ban ATCL đã thực hiện gia hạn Chứng chỉ CMR cho 16 tàu bay (VN-A339, VN-A353, VN-A356, VN-A505, VN-A515, VN-A601, VN-A605, VN-A606, VN-A611, VN-A612, VN-A613, VN-A893, VN-A898, VN-A872, VN-A874, VN-A877) hết hạn tháng 01/2025.</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Ngoài ra ban ATCL đã thực hiện bổ sung CMR cho tàu bay VN-A509, VN-A616, VN-A619 sau khi tháo báo quản vào 01/2025.</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Ban ATCL sẽ tiến hành kiểm tra hồ sơ và thực tế 13 tàu bay hết hạn trong tháng 02/2025 (VN-A329, VN-A331, VN-A390, VN-A392, VN-A393, VN-A514, VN-A602, VN-A603, VN-A610, VN-A868, VN-A873, VN-A887, VN-A896).</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Một số Finding đáng chú ý: Nil</a:t>
            </a:r>
          </a:p>
        </p:txBody>
      </p:sp>
    </p:spTree>
    <p:extLst>
      <p:ext uri="{BB962C8B-B14F-4D97-AF65-F5344CB8AC3E}">
        <p14:creationId xmlns:p14="http://schemas.microsoft.com/office/powerpoint/2010/main" val="1911042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016001" y="354778"/>
            <a:ext cx="8110689"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a:extLst>
              <a:ext uri="{FF2B5EF4-FFF2-40B4-BE49-F238E27FC236}">
                <a16:creationId xmlns:a16="http://schemas.microsoft.com/office/drawing/2014/main" id="{6B0B1C0E-A6D2-430E-B998-576FFBFC494D}"/>
              </a:ext>
            </a:extLst>
          </p:cNvPr>
          <p:cNvSpPr txBox="1"/>
          <p:nvPr/>
        </p:nvSpPr>
        <p:spPr>
          <a:xfrm>
            <a:off x="1488439" y="997877"/>
            <a:ext cx="10080468" cy="1446614"/>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3.3.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nước</a:t>
            </a:r>
            <a:r>
              <a:rPr kumimoji="0" lang="en-US" sz="2667"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667" b="1" i="0" u="none" strike="noStrike" kern="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ngoài</a:t>
            </a:r>
            <a:r>
              <a:rPr kumimoji="0" lang="en-US" sz="2667"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p>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Ngày 09/01/2025, </a:t>
            </a:r>
            <a:r>
              <a:rPr kumimoji="0" lang="en-SG"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khi kiểm tra tàu bay A897 của TCT tại sân bay CDG, Nhà chức trách Hàng không Pháp đã đưa ra 02 khuyến nghị liên quan tới tính trạng kỹ thuật tàu bay. Ngay sau khi nhận được thông tin, Ban ATCL đã phối hợp cùng Ban KT, VAECO tiến hành khắc phục và trả lời Nhà chức trách Hàng không Pháp.</a:t>
            </a:r>
            <a:endParaRPr kumimoji="0" lang="en-US" sz="2667"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p:txBody>
      </p:sp>
      <p:pic>
        <p:nvPicPr>
          <p:cNvPr id="7" name="Picture 6"/>
          <p:cNvPicPr>
            <a:picLocks noChangeAspect="1"/>
          </p:cNvPicPr>
          <p:nvPr/>
        </p:nvPicPr>
        <p:blipFill>
          <a:blip r:embed="rId4"/>
          <a:stretch>
            <a:fillRect/>
          </a:stretch>
        </p:blipFill>
        <p:spPr>
          <a:xfrm>
            <a:off x="1593696" y="2629158"/>
            <a:ext cx="9836304" cy="1235864"/>
          </a:xfrm>
          <a:prstGeom prst="rect">
            <a:avLst/>
          </a:prstGeom>
          <a:ln w="9525">
            <a:solidFill>
              <a:schemeClr val="tx1"/>
            </a:solidFill>
          </a:ln>
        </p:spPr>
      </p:pic>
      <p:pic>
        <p:nvPicPr>
          <p:cNvPr id="8" name="Picture 7"/>
          <p:cNvPicPr>
            <a:picLocks noChangeAspect="1"/>
          </p:cNvPicPr>
          <p:nvPr/>
        </p:nvPicPr>
        <p:blipFill>
          <a:blip r:embed="rId5"/>
          <a:stretch>
            <a:fillRect/>
          </a:stretch>
        </p:blipFill>
        <p:spPr>
          <a:xfrm>
            <a:off x="1593696" y="4021667"/>
            <a:ext cx="3663044" cy="2674146"/>
          </a:xfrm>
          <a:prstGeom prst="rect">
            <a:avLst/>
          </a:prstGeom>
        </p:spPr>
      </p:pic>
      <p:pic>
        <p:nvPicPr>
          <p:cNvPr id="9" name="Picture 8"/>
          <p:cNvPicPr>
            <a:picLocks noChangeAspect="1"/>
          </p:cNvPicPr>
          <p:nvPr/>
        </p:nvPicPr>
        <p:blipFill>
          <a:blip r:embed="rId6"/>
          <a:stretch>
            <a:fillRect/>
          </a:stretch>
        </p:blipFill>
        <p:spPr>
          <a:xfrm>
            <a:off x="5334000" y="4021667"/>
            <a:ext cx="2895600" cy="2674146"/>
          </a:xfrm>
          <a:prstGeom prst="rect">
            <a:avLst/>
          </a:prstGeom>
        </p:spPr>
      </p:pic>
      <p:pic>
        <p:nvPicPr>
          <p:cNvPr id="10" name="Picture 9"/>
          <p:cNvPicPr>
            <a:picLocks noChangeAspect="1"/>
          </p:cNvPicPr>
          <p:nvPr/>
        </p:nvPicPr>
        <p:blipFill>
          <a:blip r:embed="rId7"/>
          <a:stretch>
            <a:fillRect/>
          </a:stretch>
        </p:blipFill>
        <p:spPr>
          <a:xfrm>
            <a:off x="8306860" y="4021667"/>
            <a:ext cx="3199340" cy="2836333"/>
          </a:xfrm>
          <a:prstGeom prst="rect">
            <a:avLst/>
          </a:prstGeom>
        </p:spPr>
      </p:pic>
    </p:spTree>
    <p:extLst>
      <p:ext uri="{BB962C8B-B14F-4D97-AF65-F5344CB8AC3E}">
        <p14:creationId xmlns:p14="http://schemas.microsoft.com/office/powerpoint/2010/main" val="2429756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016001" y="354778"/>
            <a:ext cx="8110689"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a:extLst>
              <a:ext uri="{FF2B5EF4-FFF2-40B4-BE49-F238E27FC236}">
                <a16:creationId xmlns:a16="http://schemas.microsoft.com/office/drawing/2014/main" id="{6B0B1C0E-A6D2-430E-B998-576FFBFC494D}"/>
              </a:ext>
            </a:extLst>
          </p:cNvPr>
          <p:cNvSpPr txBox="1"/>
          <p:nvPr/>
        </p:nvSpPr>
        <p:spPr>
          <a:xfrm>
            <a:off x="1488439" y="997877"/>
            <a:ext cx="10080468" cy="2985561"/>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6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3.4. </a:t>
            </a:r>
            <a:r>
              <a:rPr kumimoji="0" lang="en-US" altLang="en-US" sz="26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 cáo Quản lý rủi ro an toàn: </a:t>
            </a:r>
          </a:p>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6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3.5. Chương trình đánh giá ATCL nội bộ:</a:t>
            </a:r>
          </a:p>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Trong tháng 01/2025, Ban ATCL đã thực hiện kiểm gia giám sát tăng cường cao điểm Tết Ất Tỵ -2025 về công tác đảm bảo an toàn, chuẩn bị tày bay trước chuyến bay của VAECO tại các sân bay HAN, DAD, SGN. Nhìn chung VAECO đã thực hiện đầy đủ công tác bảo dưỡng tàu bay trước chuyến bay, tuy nhiên vẫn còn một số tồn tại như công tác ghi chép Techlog, kiểm soát hỏng hóc… Đoàn công tác Ban ATCL đã đưa ra 22 điểm không phù hợp và 11 khuyến nghị tới VAECO để thực hiện khắc phục và rút kinh nghiệm, phòng ngừa.</a:t>
            </a: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315000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072821" y="746721"/>
            <a:ext cx="841114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4.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Rà</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soát</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thực</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hiện</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TBKL SAG2</a:t>
            </a:r>
            <a:endPar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endParaRPr>
          </a:p>
        </p:txBody>
      </p:sp>
      <p:sp>
        <p:nvSpPr>
          <p:cNvPr id="5" name="Content Placeholder 1">
            <a:extLst>
              <a:ext uri="{FF2B5EF4-FFF2-40B4-BE49-F238E27FC236}">
                <a16:creationId xmlns:a16="http://schemas.microsoft.com/office/drawing/2014/main" id="{A48FD03A-A3A2-400F-9862-F7429338E7A7}"/>
              </a:ext>
            </a:extLst>
          </p:cNvPr>
          <p:cNvSpPr txBox="1">
            <a:spLocks/>
          </p:cNvSpPr>
          <p:nvPr/>
        </p:nvSpPr>
        <p:spPr>
          <a:xfrm>
            <a:off x="1206151" y="1639050"/>
            <a:ext cx="10401301" cy="4770542"/>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19657" lvl="0" indent="-342900" algn="just" defTabSz="1219170">
              <a:lnSpc>
                <a:spcPct val="120000"/>
              </a:lnSpc>
              <a:spcBef>
                <a:spcPts val="800"/>
              </a:spcBef>
              <a:spcAft>
                <a:spcPts val="800"/>
              </a:spcAft>
              <a:buFont typeface="+mj-lt"/>
              <a:buAutoNum type="arabicPeriod"/>
              <a:defRPr/>
            </a:pPr>
            <a:r>
              <a:rPr kumimoji="0" lang="en-US"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SAG2-01/2025-01: </a:t>
            </a:r>
            <a:r>
              <a:rPr lang="en-US" kern="0">
                <a:latin typeface="Times New Roman" panose="02020603050405020304" pitchFamily="18" charset="0"/>
                <a:cs typeface="Times New Roman" panose="02020603050405020304" pitchFamily="18" charset="0"/>
              </a:rPr>
              <a:t>Đối với 03 khuyến cáo của CHK đưa ra khi thực hiện kiểm tra, gia hạn COA tàu bay ATR/VN-B225</a:t>
            </a:r>
            <a:r>
              <a:rPr kumimoji="0" lang="en-US"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Wingdings" panose="05000000000000000000" pitchFamily="2" charset="2"/>
              </a:rPr>
              <a:t></a:t>
            </a:r>
            <a:r>
              <a:rPr kumimoji="0" lang="en-US"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 Ban KT đã</a:t>
            </a:r>
            <a:r>
              <a:rPr kumimoji="0" lang="en-US" b="0" i="0" u="none" strike="noStrike" kern="0" cap="none" spc="0" normalizeH="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 phối hợp với Ban SQD và VAECO khắc phục và trả lời đúng hạn.</a:t>
            </a:r>
            <a:endParaRPr kumimoji="0" lang="en-US"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684212" indent="-342900" algn="just">
              <a:lnSpc>
                <a:spcPct val="120000"/>
              </a:lnSpc>
              <a:spcBef>
                <a:spcPts val="300"/>
              </a:spcBef>
              <a:buFont typeface="+mj-lt"/>
              <a:buAutoNum type="arabicPeriod"/>
            </a:pPr>
            <a:r>
              <a:rPr kumimoji="0" lang="en-US"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SAG2-01/2025-02: </a:t>
            </a:r>
          </a:p>
          <a:p>
            <a:pPr marL="1141412" lvl="1" indent="-342900" algn="just">
              <a:lnSpc>
                <a:spcPct val="120000"/>
              </a:lnSpc>
              <a:spcBef>
                <a:spcPts val="300"/>
              </a:spcBef>
              <a:buFont typeface="+mj-lt"/>
              <a:buAutoNum type="alphaLcPeriod"/>
            </a:pPr>
            <a:r>
              <a:rPr lang="en-US">
                <a:latin typeface="Times New Roman" panose="02020603050405020304" pitchFamily="18" charset="0"/>
                <a:cs typeface="Times New Roman" panose="02020603050405020304" pitchFamily="18" charset="0"/>
              </a:rPr>
              <a:t>Đối với tỷ lệ dữ liệu đầu vào hệ thống LOMS/AGS đội bay A321 chưa đạt yêu cầu: VAECO đang tiến hành điều tra xác định nguyên nhân, khắc phục các hỏng hóc phát sinh, chủ động download các dữ liệu còn thiếu để đảm bảo tỷ lệ đạt yêu cầu.</a:t>
            </a:r>
          </a:p>
          <a:p>
            <a:pPr marL="1604963" lvl="2" indent="-342900" algn="just">
              <a:lnSpc>
                <a:spcPct val="120000"/>
              </a:lnSpc>
              <a:spcBef>
                <a:spcPts val="300"/>
              </a:spcBef>
              <a:buFont typeface="Wingdings" panose="05000000000000000000" pitchFamily="2" charset="2"/>
              <a:buChar char="Ø"/>
            </a:pPr>
            <a:r>
              <a:rPr lang="en-US">
                <a:latin typeface="Times New Roman" panose="02020603050405020304" pitchFamily="18" charset="0"/>
                <a:cs typeface="Times New Roman" panose="02020603050405020304" pitchFamily="18" charset="0"/>
              </a:rPr>
              <a:t>Do tần suất yêu cầu download dữ liệu tăng (hiện tại là 3 ngày/lần so với 7 ngày/lần như trước) nên lượng dữ liệu cần download tăng nhiều dẫn đến xảy một số lỗi (NVKT đặt nhầm tên file, copy nhầm tệp lưu trữ, chưa chủ động rà soát lại các lỗi phát sinh trong quá trình cập nhật dữ liệu theo quy trình,…). Ban An toàn – Chất lượng VAECO đã yêu cầu các đơn vị tuyệt đối tuân thủ quy trình, chủ động rà soát khắc phục sớm các lỗi phát sinh. </a:t>
            </a:r>
          </a:p>
          <a:p>
            <a:pPr marL="1147763" lvl="1" indent="-342900" algn="just">
              <a:lnSpc>
                <a:spcPct val="120000"/>
              </a:lnSpc>
              <a:spcBef>
                <a:spcPts val="300"/>
              </a:spcBef>
              <a:buFont typeface="+mj-lt"/>
              <a:buAutoNum type="alphaLcPeriod"/>
            </a:pPr>
            <a:r>
              <a:rPr lang="en-US">
                <a:latin typeface="Times New Roman" panose="02020603050405020304" pitchFamily="18" charset="0"/>
                <a:cs typeface="Times New Roman" panose="02020603050405020304" pitchFamily="18" charset="0"/>
              </a:rPr>
              <a:t>Tỷ lệ dữ liệu đầu vào LOM/AGS các đội tàu B787, A321 chưa đạt mục tiêu: Đề nghị các đơn vị tiếp tục triển khai các giải pháp để khắc phục.</a:t>
            </a:r>
          </a:p>
          <a:p>
            <a:pPr marL="1604963" lvl="2" indent="-342900" algn="just">
              <a:lnSpc>
                <a:spcPct val="120000"/>
              </a:lnSpc>
              <a:spcBef>
                <a:spcPts val="300"/>
              </a:spcBef>
              <a:buFont typeface="Wingdings" panose="05000000000000000000" pitchFamily="2" charset="2"/>
              <a:buChar char="Ø"/>
            </a:pPr>
            <a:r>
              <a:rPr lang="en-US">
                <a:latin typeface="Times New Roman" panose="02020603050405020304" pitchFamily="18" charset="0"/>
                <a:cs typeface="Times New Roman" panose="02020603050405020304" pitchFamily="18" charset="0"/>
              </a:rPr>
              <a:t>VAECO tiếp tục phối hợp với các đơn vị liên quan để khắc phục với giải pháp như sau: </a:t>
            </a:r>
          </a:p>
          <a:p>
            <a:pPr marL="2005013" lvl="3" indent="-285750" algn="just">
              <a:lnSpc>
                <a:spcPct val="120000"/>
              </a:lnSpc>
              <a:spcBef>
                <a:spcPts val="300"/>
              </a:spcBef>
              <a:buFont typeface="Wingdings" panose="05000000000000000000" pitchFamily="2" charset="2"/>
              <a:buChar char="§"/>
            </a:pPr>
            <a:r>
              <a:rPr lang="vi-VN">
                <a:latin typeface="Times New Roman" panose="02020603050405020304" pitchFamily="18" charset="0"/>
                <a:cs typeface="Times New Roman" panose="02020603050405020304" pitchFamily="18" charset="0"/>
              </a:rPr>
              <a:t>Hàng ngày</a:t>
            </a:r>
            <a:r>
              <a:rPr lang="en-US">
                <a:latin typeface="Times New Roman" panose="02020603050405020304" pitchFamily="18" charset="0"/>
                <a:cs typeface="Times New Roman" panose="02020603050405020304" pitchFamily="18" charset="0"/>
              </a:rPr>
              <a:t>,</a:t>
            </a:r>
            <a:r>
              <a:rPr lang="vi-VN">
                <a:latin typeface="Times New Roman" panose="02020603050405020304" pitchFamily="18" charset="0"/>
                <a:cs typeface="Times New Roman" panose="02020603050405020304" pitchFamily="18" charset="0"/>
              </a:rPr>
              <a:t> MCC</a:t>
            </a:r>
            <a:r>
              <a:rPr lang="en-US">
                <a:latin typeface="Times New Roman" panose="02020603050405020304" pitchFamily="18" charset="0"/>
                <a:cs typeface="Times New Roman" panose="02020603050405020304" pitchFamily="18" charset="0"/>
              </a:rPr>
              <a:t> VAECO</a:t>
            </a:r>
            <a:r>
              <a:rPr lang="vi-VN">
                <a:latin typeface="Times New Roman" panose="02020603050405020304" pitchFamily="18" charset="0"/>
                <a:cs typeface="Times New Roman" panose="02020603050405020304" pitchFamily="18" charset="0"/>
              </a:rPr>
              <a:t> sẽ gửi lên nhóm </a:t>
            </a:r>
            <a:r>
              <a:rPr lang="en-US">
                <a:latin typeface="Times New Roman" panose="02020603050405020304" pitchFamily="18" charset="0"/>
                <a:cs typeface="Times New Roman" panose="02020603050405020304" pitchFamily="18" charset="0"/>
              </a:rPr>
              <a:t>viber “Theo dõi tỷ lệ AGS/LOMS” </a:t>
            </a:r>
            <a:r>
              <a:rPr lang="vi-VN">
                <a:latin typeface="Times New Roman" panose="02020603050405020304" pitchFamily="18" charset="0"/>
                <a:cs typeface="Times New Roman" panose="02020603050405020304" pitchFamily="18" charset="0"/>
              </a:rPr>
              <a:t> danh sách các tàu</a:t>
            </a:r>
            <a:r>
              <a:rPr lang="en-US">
                <a:latin typeface="Times New Roman" panose="02020603050405020304" pitchFamily="18" charset="0"/>
                <a:cs typeface="Times New Roman" panose="02020603050405020304" pitchFamily="18" charset="0"/>
              </a:rPr>
              <a:t> bay</a:t>
            </a:r>
            <a:r>
              <a:rPr lang="vi-VN">
                <a:latin typeface="Times New Roman" panose="02020603050405020304" pitchFamily="18" charset="0"/>
                <a:cs typeface="Times New Roman" panose="02020603050405020304" pitchFamily="18" charset="0"/>
              </a:rPr>
              <a:t>/đơn vị thực hiện lấy đĩa của ngày hôm trước</a:t>
            </a:r>
            <a:r>
              <a:rPr lang="en-US">
                <a:latin typeface="Times New Roman" panose="02020603050405020304" pitchFamily="18" charset="0"/>
                <a:cs typeface="Times New Roman" panose="02020603050405020304" pitchFamily="18" charset="0"/>
              </a:rPr>
              <a:t>;</a:t>
            </a:r>
          </a:p>
          <a:p>
            <a:pPr marL="2005013" lvl="3" indent="-285750" algn="just">
              <a:lnSpc>
                <a:spcPct val="120000"/>
              </a:lnSpc>
              <a:spcBef>
                <a:spcPts val="300"/>
              </a:spcBef>
              <a:buFont typeface="Wingdings" panose="05000000000000000000" pitchFamily="2" charset="2"/>
              <a:buChar char="§"/>
            </a:pPr>
            <a:r>
              <a:rPr lang="vi-VN">
                <a:latin typeface="Times New Roman" panose="02020603050405020304" pitchFamily="18" charset="0"/>
                <a:cs typeface="Times New Roman" panose="02020603050405020304" pitchFamily="18" charset="0"/>
              </a:rPr>
              <a:t>Các TTBD sẽ rà soát, crosscheck lại và kịp thời upload các file còn thiếu</a:t>
            </a:r>
            <a:r>
              <a:rPr lang="en-US">
                <a:latin typeface="Times New Roman" panose="02020603050405020304" pitchFamily="18" charset="0"/>
                <a:cs typeface="Times New Roman" panose="02020603050405020304" pitchFamily="18" charset="0"/>
              </a:rPr>
              <a:t>; </a:t>
            </a:r>
          </a:p>
          <a:p>
            <a:pPr marL="2005013" lvl="3" indent="-285750" algn="just">
              <a:lnSpc>
                <a:spcPct val="120000"/>
              </a:lnSpc>
              <a:spcBef>
                <a:spcPts val="300"/>
              </a:spcBef>
              <a:buFont typeface="Wingdings" panose="05000000000000000000" pitchFamily="2" charset="2"/>
              <a:buChar char="§"/>
            </a:pPr>
            <a:r>
              <a:rPr lang="vi-VN">
                <a:latin typeface="Times New Roman" panose="02020603050405020304" pitchFamily="18" charset="0"/>
                <a:cs typeface="Times New Roman" panose="02020603050405020304" pitchFamily="18" charset="0"/>
              </a:rPr>
              <a:t>SQD</a:t>
            </a:r>
            <a:r>
              <a:rPr lang="en-US">
                <a:latin typeface="Times New Roman" panose="02020603050405020304" pitchFamily="18" charset="0"/>
                <a:cs typeface="Times New Roman" panose="02020603050405020304" pitchFamily="18" charset="0"/>
              </a:rPr>
              <a:t> VNA</a:t>
            </a:r>
            <a:r>
              <a:rPr lang="vi-VN">
                <a:latin typeface="Times New Roman" panose="02020603050405020304" pitchFamily="18" charset="0"/>
                <a:cs typeface="Times New Roman" panose="02020603050405020304" pitchFamily="18" charset="0"/>
              </a:rPr>
              <a:t> trợ giúp phân tích và phản hồi kịp thời nếu không nhận được file, file lỗi, thiếu dữ liệu. </a:t>
            </a:r>
            <a:endParaRPr kumimoji="0" lang="en-US"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91146" lvl="1" indent="-457189" algn="just" defTabSz="1219170">
              <a:lnSpc>
                <a:spcPct val="120000"/>
              </a:lnSpc>
              <a:spcBef>
                <a:spcPts val="800"/>
              </a:spcBef>
              <a:spcAft>
                <a:spcPts val="800"/>
              </a:spcAft>
              <a:buFont typeface="+mj-lt"/>
              <a:buAutoNum type="arabicPeriod"/>
              <a:defRPr/>
            </a:pPr>
            <a:endParaRPr kumimoji="0" lang="en-US" sz="16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2399898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6" name="Title 1"/>
          <p:cNvSpPr>
            <a:spLocks noGrp="1"/>
          </p:cNvSpPr>
          <p:nvPr>
            <p:ph type="title"/>
          </p:nvPr>
        </p:nvSpPr>
        <p:spPr>
          <a:xfrm>
            <a:off x="953668" y="455114"/>
            <a:ext cx="9759821" cy="847593"/>
          </a:xfrm>
        </p:spPr>
        <p:txBody>
          <a:bodyPr>
            <a:noAutofit/>
          </a:bodyPr>
          <a:lstStyle/>
          <a:p>
            <a:pPr algn="l"/>
            <a:r>
              <a:rPr lang="en-US" altLang="en-US" sz="3200" dirty="0">
                <a:solidFill>
                  <a:schemeClr val="accent1"/>
                </a:solidFill>
                <a:latin typeface="Times New Roman" panose="02020603050405020304" pitchFamily="18" charset="0"/>
                <a:cs typeface="Times New Roman" panose="02020603050405020304" pitchFamily="18" charset="0"/>
              </a:rPr>
              <a:t>5. </a:t>
            </a:r>
            <a:r>
              <a:rPr lang="en-US" altLang="en-US" sz="3200" dirty="0" err="1">
                <a:solidFill>
                  <a:schemeClr val="accent1"/>
                </a:solidFill>
                <a:latin typeface="Times New Roman" panose="02020603050405020304" pitchFamily="18" charset="0"/>
                <a:cs typeface="Times New Roman" panose="02020603050405020304" pitchFamily="18" charset="0"/>
              </a:rPr>
              <a:t>Đề</a:t>
            </a:r>
            <a:r>
              <a:rPr lang="en-US" altLang="en-US" sz="3200" dirty="0">
                <a:solidFill>
                  <a:schemeClr val="accent1"/>
                </a:solidFill>
                <a:latin typeface="Times New Roman" panose="02020603050405020304" pitchFamily="18" charset="0"/>
                <a:cs typeface="Times New Roman" panose="02020603050405020304" pitchFamily="18" charset="0"/>
              </a:rPr>
              <a:t> </a:t>
            </a:r>
            <a:r>
              <a:rPr lang="en-US" altLang="en-US" sz="3200" dirty="0" err="1">
                <a:solidFill>
                  <a:schemeClr val="accent1"/>
                </a:solidFill>
                <a:latin typeface="Times New Roman" panose="02020603050405020304" pitchFamily="18" charset="0"/>
                <a:cs typeface="Times New Roman" panose="02020603050405020304" pitchFamily="18" charset="0"/>
              </a:rPr>
              <a:t>xuất</a:t>
            </a:r>
            <a:r>
              <a:rPr lang="en-US" altLang="en-US" sz="3200" dirty="0">
                <a:solidFill>
                  <a:schemeClr val="accent1"/>
                </a:solidFill>
                <a:latin typeface="Times New Roman" panose="02020603050405020304" pitchFamily="18" charset="0"/>
                <a:cs typeface="Times New Roman" panose="02020603050405020304" pitchFamily="18" charset="0"/>
              </a:rPr>
              <a:t>, </a:t>
            </a:r>
            <a:r>
              <a:rPr lang="en-US" altLang="en-US" sz="3200" dirty="0" err="1">
                <a:solidFill>
                  <a:schemeClr val="accent1"/>
                </a:solidFill>
                <a:latin typeface="Times New Roman" panose="02020603050405020304" pitchFamily="18" charset="0"/>
                <a:cs typeface="Times New Roman" panose="02020603050405020304" pitchFamily="18" charset="0"/>
              </a:rPr>
              <a:t>kiến</a:t>
            </a:r>
            <a:r>
              <a:rPr lang="en-US" altLang="en-US" sz="3200" dirty="0">
                <a:solidFill>
                  <a:schemeClr val="accent1"/>
                </a:solidFill>
                <a:latin typeface="Times New Roman" panose="02020603050405020304" pitchFamily="18" charset="0"/>
                <a:cs typeface="Times New Roman" panose="02020603050405020304" pitchFamily="18" charset="0"/>
              </a:rPr>
              <a:t> </a:t>
            </a:r>
            <a:r>
              <a:rPr lang="en-US" altLang="en-US" sz="3200" err="1">
                <a:solidFill>
                  <a:schemeClr val="accent1"/>
                </a:solidFill>
                <a:latin typeface="Times New Roman" panose="02020603050405020304" pitchFamily="18" charset="0"/>
                <a:cs typeface="Times New Roman" panose="02020603050405020304" pitchFamily="18" charset="0"/>
              </a:rPr>
              <a:t>nghị</a:t>
            </a:r>
            <a:r>
              <a:rPr lang="en-US" altLang="en-US" sz="3200">
                <a:solidFill>
                  <a:schemeClr val="accent1"/>
                </a:solidFill>
                <a:latin typeface="Times New Roman" panose="02020603050405020304" pitchFamily="18" charset="0"/>
                <a:cs typeface="Times New Roman" panose="02020603050405020304" pitchFamily="18" charset="0"/>
              </a:rPr>
              <a:t>:</a:t>
            </a:r>
            <a:endParaRPr lang="en-US" sz="3200" dirty="0">
              <a:ln w="0"/>
              <a:solidFill>
                <a:schemeClr val="accent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Rectangle 6"/>
          <p:cNvSpPr/>
          <p:nvPr/>
        </p:nvSpPr>
        <p:spPr>
          <a:xfrm>
            <a:off x="1369689" y="1110641"/>
            <a:ext cx="10104152" cy="584775"/>
          </a:xfrm>
          <a:prstGeom prst="rect">
            <a:avLst/>
          </a:prstGeom>
        </p:spPr>
        <p:txBody>
          <a:bodyPr wrap="square">
            <a:spAutoFit/>
          </a:bodyPr>
          <a:lstStyle/>
          <a:p>
            <a:pPr algn="just" defTabSz="1219170">
              <a:buClr>
                <a:srgbClr val="000000"/>
              </a:buClr>
              <a:defRPr/>
            </a:pPr>
            <a:r>
              <a:rPr lang="en-US" sz="1600">
                <a:ln w="0"/>
                <a:latin typeface="Times New Roman" panose="02020603050405020304" pitchFamily="18" charset="0"/>
                <a:ea typeface="Tahoma" panose="020B0604030504040204" pitchFamily="34" charset="0"/>
                <a:cs typeface="Times New Roman" panose="02020603050405020304" pitchFamily="18" charset="0"/>
              </a:rPr>
              <a:t>- Bổ sung nội dung kiểm tra “LANYARD FUEL COUPLING” vào Weekly check đối với tầu bay A320/A321. VAECO đã gửi yêu cầu tới VNA MPP đề nghị cập nhật từ 27/10/2024 nhưng vẫn chưa được cập nhật.</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855540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vi" sz="8800" b="1" i="1" u="none" strike="noStrike" kern="0" cap="none" spc="0" normalizeH="0" baseline="0" noProof="0">
                <a:ln>
                  <a:noFill/>
                </a:ln>
                <a:solidFill>
                  <a:srgbClr val="FFFFFF"/>
                </a:solidFill>
                <a:effectLst/>
                <a:uLnTx/>
                <a:uFillTx/>
                <a:latin typeface="Montserrat SemiBold"/>
                <a:ea typeface="Montserrat SemiBold"/>
                <a:cs typeface="Montserrat SemiBold"/>
                <a:sym typeface="Montserrat SemiBold"/>
              </a:rPr>
              <a:t>THANK YOU</a:t>
            </a:r>
            <a:endParaRPr kumimoji="0" sz="8800" b="1" i="1" u="none" strike="noStrike" kern="0" cap="none" spc="0" normalizeH="0" baseline="0" noProof="0">
              <a:ln>
                <a:noFill/>
              </a:ln>
              <a:solidFill>
                <a:srgbClr val="FFFFFF"/>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Tree>
    <p:extLst>
      <p:ext uri="{BB962C8B-B14F-4D97-AF65-F5344CB8AC3E}">
        <p14:creationId xmlns:p14="http://schemas.microsoft.com/office/powerpoint/2010/main" val="1538314447"/>
      </p:ext>
    </p:extLst>
  </p:cSld>
  <p:clrMapOvr>
    <a:masterClrMapping/>
  </p:clrMapOvr>
</p:sld>
</file>

<file path=ppt/theme/theme1.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4981C"/>
      </a:accent1>
      <a:accent2>
        <a:srgbClr val="212121"/>
      </a:accent2>
      <a:accent3>
        <a:srgbClr val="9CD6DF"/>
      </a:accent3>
      <a:accent4>
        <a:srgbClr val="FFBD0E"/>
      </a:accent4>
      <a:accent5>
        <a:srgbClr val="0097A7"/>
      </a:accent5>
      <a:accent6>
        <a:srgbClr val="DEA610"/>
      </a:accent6>
      <a:hlink>
        <a:srgbClr val="00688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http://purl.org/dc/dcmitype/"/>
    <ds:schemaRef ds:uri="e189f61e-1295-4779-a752-040c7fad5177"/>
    <ds:schemaRef ds:uri="http://schemas.microsoft.com/office/2006/documentManagement/types"/>
    <ds:schemaRef ds:uri="http://purl.org/dc/elements/1.1/"/>
    <ds:schemaRef ds:uri="http://schemas.openxmlformats.org/package/2006/metadata/core-properties"/>
    <ds:schemaRef ds:uri="http://www.w3.org/XML/1998/namespace"/>
    <ds:schemaRef ds:uri="http://schemas.microsoft.com/office/infopath/2007/PartnerControls"/>
    <ds:schemaRef ds:uri="b6015720-aa74-4be3-ba0d-eab08776cb9b"/>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0/xmlns/"/>
    <ds:schemaRef ds:uri="http://www.w3.org/2001/XMLSchema"/>
    <ds:schemaRef ds:uri="e189f61e-1295-4779-a752-040c7fad5177"/>
    <ds:schemaRef ds:uri="b6015720-aa74-4be3-ba0d-eab08776cb9b"/>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16-9 MASTER TEMPLATE</Template>
  <TotalTime>44809</TotalTime>
  <Words>6106</Words>
  <Application>Microsoft Office PowerPoint</Application>
  <PresentationFormat>Widescreen</PresentationFormat>
  <Paragraphs>835</Paragraphs>
  <Slides>33</Slides>
  <Notes>33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MS PGothic</vt:lpstr>
      <vt:lpstr>Arial</vt:lpstr>
      <vt:lpstr>Calibri</vt:lpstr>
      <vt:lpstr>Cambria</vt:lpstr>
      <vt:lpstr>Montserrat</vt:lpstr>
      <vt:lpstr>Montserrat SemiBold</vt:lpstr>
      <vt:lpstr>Tahoma</vt:lpstr>
      <vt:lpstr>Times New Roman</vt:lpstr>
      <vt:lpstr>Wingdings</vt:lpstr>
      <vt:lpstr>1_Simple Light</vt:lpstr>
      <vt:lpstr>BÁO CÁO QUẢN LÝ AN TOÀN THÁNG 01 NĂM 2025  (LĨNH VỰC KỸ THUẬT VÀ BẢO DƯỠNG TÀU BAY)                                                                                                                         Hà Nội, ngày 05 tháng 02 năm 2025 </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1. Tình hình sự cố, vụ việc an toàn (MOR M&amp;E) &amp; KPI</vt:lpstr>
      <vt:lpstr>PowerPoint Presentation</vt:lpstr>
      <vt:lpstr>PowerPoint Presentation</vt:lpstr>
      <vt:lpstr>1. Tình hình sự cố, vụ việc an toàn (MOR M&amp;E) &amp; KPI</vt:lpstr>
      <vt:lpstr>PowerPoint Presentation</vt:lpstr>
      <vt:lpstr>PowerPoint Presentation</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PowerPoint Presentation</vt:lpstr>
      <vt:lpstr>1. Tình hình sự cố, vụ việc an toàn (MOR M&amp;E) &amp; KPI</vt:lpstr>
      <vt:lpstr>2. Các vụ việc an toàn khác tháng 01.2025</vt:lpstr>
      <vt:lpstr>2. Các vụ việc an toàn khác tháng 01.2025</vt:lpstr>
      <vt:lpstr>PowerPoint Presentation</vt:lpstr>
      <vt:lpstr>PowerPoint Presentation</vt:lpstr>
      <vt:lpstr>PowerPoint Presentation</vt:lpstr>
      <vt:lpstr>PowerPoint Presentation</vt:lpstr>
      <vt:lpstr>PowerPoint Presentation</vt:lpstr>
      <vt:lpstr>PowerPoint Presentation</vt:lpstr>
      <vt:lpstr>5. Đề xuất, kiến nghị:</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Van Nguyen</dc:creator>
  <cp:lastModifiedBy>Thang Nguyen Chien</cp:lastModifiedBy>
  <cp:revision>1597</cp:revision>
  <cp:lastPrinted>2019-10-17T05:58:57Z</cp:lastPrinted>
  <dcterms:created xsi:type="dcterms:W3CDTF">2018-12-27T04:50:36Z</dcterms:created>
  <dcterms:modified xsi:type="dcterms:W3CDTF">2025-02-13T10:42:51Z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